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Profile before you touch</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330448"/>
            <a:ext cx="10820095" cy="1020064"/>
          </a:xfrm>
          <a:prstGeom prst="rect">
            <a:avLst/>
          </a:prstGeom>
          <a:noFill/>
        </p:spPr>
        <p:txBody>
          <a:bodyPr wrap="square" anchor="t">
            <a:spAutoFit/>
          </a:bodyPr>
          <a:lstStyle/>
          <a:p>
            <a:pPr>
              <a:spcAft>
                <a:spcPts val="900"/>
              </a:spcAft>
            </a:pPr>
            <a:r>
              <a:rPr sz="2000" b="0">
                <a:solidFill>
                  <a:srgbClr val="1C1C1A"/>
                </a:solidFill>
                <a:latin typeface="Calibri"/>
              </a:rPr>
              <a:t>Yesterday somebody told you which orders were dirty.</a:t>
            </a:r>
          </a:p>
          <a:p>
            <a:pPr>
              <a:spcAft>
                <a:spcPts val="900"/>
              </a:spcAft>
            </a:pPr>
            <a:r>
              <a:rPr sz="2000" b="0">
                <a:solidFill>
                  <a:srgbClr val="1C1C1A"/>
                </a:solidFill>
                <a:latin typeface="Calibri"/>
              </a:rPr>
              <a:t>Today nobody tells you.</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 / 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Two profiles, one question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45567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Two printouts of the same Kalpa Retail order book. Which of these would you trust?</a:t>
            </a:r>
          </a:p>
        </p:txBody>
      </p:sp>
      <p:sp>
        <p:nvSpPr>
          <p:cNvPr id="7" name="Rectangle 6"/>
          <p:cNvSpPr/>
          <p:nvPr/>
        </p:nvSpPr>
        <p:spPr>
          <a:xfrm>
            <a:off x="685800" y="3148584"/>
            <a:ext cx="10820095" cy="134721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3148584"/>
            <a:ext cx="50292" cy="134721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3249168"/>
            <a:ext cx="10417759" cy="1164336"/>
          </a:xfrm>
          <a:prstGeom prst="rect">
            <a:avLst/>
          </a:prstGeom>
          <a:noFill/>
        </p:spPr>
        <p:txBody>
          <a:bodyPr wrap="square" anchor="t">
            <a:spAutoFit/>
          </a:bodyPr>
          <a:lstStyle/>
          <a:p>
            <a:pPr>
              <a:spcAft>
                <a:spcPts val="200"/>
              </a:spcAft>
            </a:pPr>
            <a:r>
              <a:rPr sz="1600" b="0">
                <a:solidFill>
                  <a:srgbClr val="E4ECF7"/>
                </a:solidFill>
                <a:latin typeface="Consolas"/>
              </a:rPr>
              <a:t>                 A                              B</a:t>
            </a:r>
          </a:p>
          <a:p>
            <a:pPr>
              <a:spcAft>
                <a:spcPts val="200"/>
              </a:spcAft>
            </a:pPr>
            <a:r>
              <a:rPr sz="1600" b="0">
                <a:solidFill>
                  <a:srgbClr val="E4ECF7"/>
                </a:solidFill>
                <a:latin typeface="Consolas"/>
              </a:rPr>
              <a:t>amount    present 48/50  converts 44/50   present 50/50  converts 50/50</a:t>
            </a:r>
          </a:p>
          <a:p>
            <a:pPr>
              <a:spcAft>
                <a:spcPts val="200"/>
              </a:spcAft>
            </a:pPr>
            <a:r>
              <a:rPr sz="1600" b="0">
                <a:solidFill>
                  <a:srgbClr val="E4ECF7"/>
                </a:solidFill>
                <a:latin typeface="Consolas"/>
              </a:rPr>
              <a:t>          distinct 46                     distinct 42</a:t>
            </a:r>
          </a:p>
          <a:p>
            <a:pPr>
              <a:spcAft>
                <a:spcPts val="200"/>
              </a:spcAft>
            </a:pPr>
            <a:r>
              <a:rPr sz="1600" b="0">
                <a:solidFill>
                  <a:srgbClr val="E4ECF7"/>
                </a:solidFill>
                <a:latin typeface="Consolas"/>
              </a:rPr>
              <a:t>discount  present 11/50                   present 50/50</a:t>
            </a:r>
          </a:p>
        </p:txBody>
      </p:sp>
      <p:sp>
        <p:nvSpPr>
          <p:cNvPr id="10" name="TextBox 9"/>
          <p:cNvSpPr txBox="1"/>
          <p:nvPr/>
        </p:nvSpPr>
        <p:spPr>
          <a:xfrm>
            <a:off x="685800" y="4660391"/>
            <a:ext cx="10820095" cy="564896"/>
          </a:xfrm>
          <a:prstGeom prst="rect">
            <a:avLst/>
          </a:prstGeom>
          <a:noFill/>
        </p:spPr>
        <p:txBody>
          <a:bodyPr wrap="square" anchor="t">
            <a:spAutoFit/>
          </a:bodyPr>
          <a:lstStyle/>
          <a:p>
            <a:pPr>
              <a:spcAft>
                <a:spcPts val="900"/>
              </a:spcAft>
            </a:pPr>
            <a:r>
              <a:rPr sz="2000" b="0">
                <a:solidFill>
                  <a:srgbClr val="1C1C1A"/>
                </a:solidFill>
                <a:latin typeface="Calibri"/>
              </a:rPr>
              <a:t>Take thirty seconds. Then say which, and why.</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 / 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The answer</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330448"/>
            <a:ext cx="10820095" cy="1020064"/>
          </a:xfrm>
          <a:prstGeom prst="rect">
            <a:avLst/>
          </a:prstGeom>
          <a:noFill/>
        </p:spPr>
        <p:txBody>
          <a:bodyPr wrap="square" anchor="t">
            <a:spAutoFit/>
          </a:bodyPr>
          <a:lstStyle/>
          <a:p>
            <a:pPr>
              <a:spcAft>
                <a:spcPts val="900"/>
              </a:spcAft>
            </a:pPr>
            <a:r>
              <a:rPr sz="2000" b="0">
                <a:solidFill>
                  <a:srgbClr val="1C1C1A"/>
                </a:solidFill>
                <a:latin typeface="Calibri"/>
              </a:rPr>
              <a:t>A.</a:t>
            </a:r>
          </a:p>
          <a:p>
            <a:pPr>
              <a:spcAft>
                <a:spcPts val="900"/>
              </a:spcAft>
            </a:pPr>
            <a:r>
              <a:rPr sz="2000" b="0">
                <a:solidFill>
                  <a:srgbClr val="1C1C1A"/>
                </a:solidFill>
                <a:latin typeface="Calibri"/>
              </a:rPr>
              <a:t>B is A after somebody replaced every failure with a stated default of zero.</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 / 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What B cost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30144"/>
            <a:ext cx="10820095" cy="1820672"/>
          </a:xfrm>
          <a:prstGeom prst="rect">
            <a:avLst/>
          </a:prstGeom>
          <a:noFill/>
        </p:spPr>
        <p:txBody>
          <a:bodyPr wrap="square" anchor="t">
            <a:spAutoFit/>
          </a:bodyPr>
          <a:lstStyle/>
          <a:p>
            <a:pPr>
              <a:spcAft>
                <a:spcPts val="900"/>
              </a:spcAft>
            </a:pPr>
            <a:r>
              <a:rPr sz="2000" b="0">
                <a:solidFill>
                  <a:srgbClr val="1C1C1A"/>
                </a:solidFill>
                <a:latin typeface="Calibri"/>
              </a:rPr>
              <a:t>Every count in B moved the way you want counts to move, and the dataset got worse.</a:t>
            </a:r>
          </a:p>
          <a:p>
            <a:pPr>
              <a:spcAft>
                <a:spcPts val="900"/>
              </a:spcAft>
            </a:pPr>
            <a:r>
              <a:rPr sz="2000" b="0">
                <a:solidFill>
                  <a:srgbClr val="1C1C1A"/>
                </a:solidFill>
                <a:latin typeface="Calibri"/>
              </a:rPr>
              <a:t>Thirty nine orders in B carry a discount that nobody ever recorded.</a:t>
            </a:r>
          </a:p>
          <a:p>
            <a:pPr>
              <a:spcAft>
                <a:spcPts val="900"/>
              </a:spcAft>
            </a:pPr>
            <a:r>
              <a:rPr sz="2000" b="0">
                <a:solidFill>
                  <a:srgbClr val="1C1C1A"/>
                </a:solidFill>
                <a:latin typeface="Calibri"/>
              </a:rPr>
              <a:t>Six amounts that could not be read are now the number zero, and nothing on the page says which six.</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 / 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The number that tells you</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57728"/>
            <a:ext cx="10820095" cy="1365504"/>
          </a:xfrm>
          <a:prstGeom prst="rect">
            <a:avLst/>
          </a:prstGeom>
          <a:noFill/>
        </p:spPr>
        <p:txBody>
          <a:bodyPr wrap="square" anchor="t">
            <a:spAutoFit/>
          </a:bodyPr>
          <a:lstStyle/>
          <a:p>
            <a:pPr>
              <a:spcAft>
                <a:spcPts val="900"/>
              </a:spcAft>
            </a:pPr>
            <a:r>
              <a:rPr sz="2000" b="0">
                <a:solidFill>
                  <a:srgbClr val="1C1C1A"/>
                </a:solidFill>
                <a:latin typeface="Calibri"/>
              </a:rPr>
              <a:t>distinct is the only count that fell, from 46 to 42.</a:t>
            </a:r>
          </a:p>
          <a:p>
            <a:pPr>
              <a:spcAft>
                <a:spcPts val="900"/>
              </a:spcAft>
            </a:pPr>
            <a:r>
              <a:rPr sz="2000" b="0">
                <a:solidFill>
                  <a:srgbClr val="1C1C1A"/>
                </a:solidFill>
                <a:latin typeface="Calibri"/>
              </a:rPr>
              <a:t>Five different broken values collapsed into one. Counts that only ever rise are counts that cannot warn you.</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 / 87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Why distinct is the count that catches a silent fix</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2007108"/>
            <a:ext cx="10820095" cy="564896"/>
          </a:xfrm>
          <a:prstGeom prst="rect">
            <a:avLst/>
          </a:prstGeom>
          <a:noFill/>
        </p:spPr>
        <p:txBody>
          <a:bodyPr wrap="square" anchor="t">
            <a:spAutoFit/>
          </a:bodyPr>
          <a:lstStyle/>
          <a:p>
            <a:pPr>
              <a:spcAft>
                <a:spcPts val="900"/>
              </a:spcAft>
            </a:pPr>
            <a:r>
              <a:rPr sz="2000" b="0">
                <a:solidFill>
                  <a:srgbClr val="1C1C1A"/>
                </a:solidFill>
                <a:latin typeface="Calibri"/>
              </a:rPr>
              <a:t>Every other count moves the wrong way when somebody quietly fills a gap.</a:t>
            </a:r>
          </a:p>
        </p:txBody>
      </p:sp>
      <p:graphicFrame>
        <p:nvGraphicFramePr>
          <p:cNvPr id="8" name="Table 7"/>
          <p:cNvGraphicFramePr>
            <a:graphicFrameLocks noGrp="1"/>
          </p:cNvGraphicFramePr>
          <p:nvPr/>
        </p:nvGraphicFramePr>
        <p:xfrm>
          <a:off x="685800" y="2700020"/>
          <a:ext cx="10820095" cy="1807464"/>
        </p:xfrm>
        <a:graphic>
          <a:graphicData uri="http://schemas.openxmlformats.org/drawingml/2006/table">
            <a:tbl>
              <a:tblPr firstRow="0" bandRow="0">
                <a:tableStyleId>{2D5ABB26-0587-4C30-8999-92F81FD0307C}</a:tableStyleId>
              </a:tblPr>
              <a:tblGrid>
                <a:gridCol w="3606698"/>
                <a:gridCol w="3606698"/>
                <a:gridCol w="3606699"/>
              </a:tblGrid>
              <a:tr h="387096">
                <a:tc>
                  <a:txBody>
                    <a:bodyPr/>
                    <a:lstStyle/>
                    <a:p>
                      <a:r>
                        <a:rPr sz="1600" b="1">
                          <a:solidFill>
                            <a:srgbClr val="FFFFFF"/>
                          </a:solidFill>
                          <a:latin typeface="Calibri"/>
                        </a:rPr>
                        <a:t>Count</a:t>
                      </a:r>
                    </a:p>
                  </a:txBody>
                  <a:tcPr marL="101600" marR="101600" marT="38100" marB="38100" anchor="ctr">
                    <a:solidFill>
                      <a:srgbClr val="2B4A7D"/>
                    </a:solidFill>
                  </a:tcPr>
                </a:tc>
                <a:tc>
                  <a:txBody>
                    <a:bodyPr/>
                    <a:lstStyle/>
                    <a:p>
                      <a:r>
                        <a:rPr sz="1600" b="1">
                          <a:solidFill>
                            <a:srgbClr val="FFFFFF"/>
                          </a:solidFill>
                          <a:latin typeface="Calibri"/>
                        </a:rPr>
                        <a:t>After a silent fill</a:t>
                      </a:r>
                    </a:p>
                  </a:txBody>
                  <a:tcPr marL="101600" marR="101600" marT="38100" marB="38100" anchor="ctr">
                    <a:solidFill>
                      <a:srgbClr val="2B4A7D"/>
                    </a:solidFill>
                  </a:tcPr>
                </a:tc>
                <a:tc>
                  <a:txBody>
                    <a:bodyPr/>
                    <a:lstStyle/>
                    <a:p>
                      <a:r>
                        <a:rPr sz="1600" b="1">
                          <a:solidFill>
                            <a:srgbClr val="FFFFFF"/>
                          </a:solidFill>
                          <a:latin typeface="Calibri"/>
                        </a:rPr>
                        <a:t>What that looks like to a reader</a:t>
                      </a:r>
                    </a:p>
                  </a:txBody>
                  <a:tcPr marL="101600" marR="101600" marT="38100" marB="38100" anchor="ctr">
                    <a:solidFill>
                      <a:srgbClr val="2B4A7D"/>
                    </a:solidFill>
                  </a:tcPr>
                </a:tc>
              </a:tr>
              <a:tr h="387096">
                <a:tc>
                  <a:txBody>
                    <a:bodyPr/>
                    <a:lstStyle/>
                    <a:p>
                      <a:r>
                        <a:rPr sz="1500" b="0">
                          <a:solidFill>
                            <a:srgbClr val="1C1C1A"/>
                          </a:solidFill>
                          <a:latin typeface="Calibri"/>
                        </a:rPr>
                        <a:t>present</a:t>
                      </a:r>
                    </a:p>
                  </a:txBody>
                  <a:tcPr marL="101600" marR="101600" marT="38100" marB="38100" anchor="ctr">
                    <a:solidFill>
                      <a:srgbClr val="FFFFFF"/>
                    </a:solidFill>
                  </a:tcPr>
                </a:tc>
                <a:tc>
                  <a:txBody>
                    <a:bodyPr/>
                    <a:lstStyle/>
                    <a:p>
                      <a:r>
                        <a:rPr sz="1500" b="0">
                          <a:solidFill>
                            <a:srgbClr val="1C1C1A"/>
                          </a:solidFill>
                          <a:latin typeface="Calibri"/>
                        </a:rPr>
                        <a:t>Rises to 50 of 50</a:t>
                      </a:r>
                    </a:p>
                  </a:txBody>
                  <a:tcPr marL="101600" marR="101600" marT="38100" marB="38100" anchor="ctr">
                    <a:solidFill>
                      <a:srgbClr val="FFFFFF"/>
                    </a:solidFill>
                  </a:tcPr>
                </a:tc>
                <a:tc>
                  <a:txBody>
                    <a:bodyPr/>
                    <a:lstStyle/>
                    <a:p>
                      <a:r>
                        <a:rPr sz="1500" b="0">
                          <a:solidFill>
                            <a:srgbClr val="1C1C1A"/>
                          </a:solidFill>
                          <a:latin typeface="Calibri"/>
                        </a:rPr>
                        <a:t>The field looks complete</a:t>
                      </a:r>
                    </a:p>
                  </a:txBody>
                  <a:tcPr marL="101600" marR="101600" marT="38100" marB="38100" anchor="ctr">
                    <a:solidFill>
                      <a:srgbClr val="FFFFFF"/>
                    </a:solidFill>
                  </a:tcPr>
                </a:tc>
              </a:tr>
              <a:tr h="387096">
                <a:tc>
                  <a:txBody>
                    <a:bodyPr/>
                    <a:lstStyle/>
                    <a:p>
                      <a:r>
                        <a:rPr sz="1500" b="0">
                          <a:solidFill>
                            <a:srgbClr val="1C1C1A"/>
                          </a:solidFill>
                          <a:latin typeface="Calibri"/>
                        </a:rPr>
                        <a:t>converts</a:t>
                      </a:r>
                    </a:p>
                  </a:txBody>
                  <a:tcPr marL="101600" marR="101600" marT="38100" marB="38100" anchor="ctr">
                    <a:solidFill>
                      <a:srgbClr val="F7F7F5"/>
                    </a:solidFill>
                  </a:tcPr>
                </a:tc>
                <a:tc>
                  <a:txBody>
                    <a:bodyPr/>
                    <a:lstStyle/>
                    <a:p>
                      <a:r>
                        <a:rPr sz="1500" b="0">
                          <a:solidFill>
                            <a:srgbClr val="1C1C1A"/>
                          </a:solidFill>
                          <a:latin typeface="Calibri"/>
                        </a:rPr>
                        <a:t>Rises to 50 of 50</a:t>
                      </a:r>
                    </a:p>
                  </a:txBody>
                  <a:tcPr marL="101600" marR="101600" marT="38100" marB="38100" anchor="ctr">
                    <a:solidFill>
                      <a:srgbClr val="F7F7F5"/>
                    </a:solidFill>
                  </a:tcPr>
                </a:tc>
                <a:tc>
                  <a:txBody>
                    <a:bodyPr/>
                    <a:lstStyle/>
                    <a:p>
                      <a:r>
                        <a:rPr sz="1500" b="0">
                          <a:solidFill>
                            <a:srgbClr val="1C1C1A"/>
                          </a:solidFill>
                          <a:latin typeface="Calibri"/>
                        </a:rPr>
                        <a:t>The field looks clean</a:t>
                      </a:r>
                    </a:p>
                  </a:txBody>
                  <a:tcPr marL="101600" marR="101600" marT="38100" marB="38100" anchor="ctr">
                    <a:solidFill>
                      <a:srgbClr val="F7F7F5"/>
                    </a:solidFill>
                  </a:tcPr>
                </a:tc>
              </a:tr>
              <a:tr h="646176">
                <a:tc>
                  <a:txBody>
                    <a:bodyPr/>
                    <a:lstStyle/>
                    <a:p>
                      <a:r>
                        <a:rPr sz="1500" b="0">
                          <a:solidFill>
                            <a:srgbClr val="1C1C1A"/>
                          </a:solidFill>
                          <a:latin typeface="Calibri"/>
                        </a:rPr>
                        <a:t>distinct</a:t>
                      </a:r>
                    </a:p>
                  </a:txBody>
                  <a:tcPr marL="101600" marR="101600" marT="38100" marB="38100" anchor="ctr">
                    <a:solidFill>
                      <a:srgbClr val="FFFFFF"/>
                    </a:solidFill>
                  </a:tcPr>
                </a:tc>
                <a:tc>
                  <a:txBody>
                    <a:bodyPr/>
                    <a:lstStyle/>
                    <a:p>
                      <a:r>
                        <a:rPr sz="1500" b="0">
                          <a:solidFill>
                            <a:srgbClr val="1C1C1A"/>
                          </a:solidFill>
                          <a:latin typeface="Calibri"/>
                        </a:rPr>
                        <a:t>Falls, because many different broken values became one value</a:t>
                      </a:r>
                    </a:p>
                  </a:txBody>
                  <a:tcPr marL="101600" marR="101600" marT="38100" marB="38100" anchor="ctr">
                    <a:solidFill>
                      <a:srgbClr val="FFFFFF"/>
                    </a:solidFill>
                  </a:tcPr>
                </a:tc>
                <a:tc>
                  <a:txBody>
                    <a:bodyPr/>
                    <a:lstStyle/>
                    <a:p>
                      <a:r>
                        <a:rPr sz="1500" b="0">
                          <a:solidFill>
                            <a:srgbClr val="1C1C1A"/>
                          </a:solidFill>
                          <a:latin typeface="Calibri"/>
                        </a:rPr>
                        <a:t>The only signal in the room, and it is easy to miss</a:t>
                      </a:r>
                    </a:p>
                  </a:txBody>
                  <a:tcPr marL="101600" marR="101600" marT="38100" marB="38100" anchor="ctr">
                    <a:solidFill>
                      <a:srgbClr val="FFFFFF"/>
                    </a:solidFill>
                  </a:tcPr>
                </a:tc>
              </a:tr>
            </a:tbl>
          </a:graphicData>
        </a:graphic>
      </p:graphicFrame>
      <p:sp>
        <p:nvSpPr>
          <p:cNvPr id="9" name="TextBox 8"/>
          <p:cNvSpPr txBox="1"/>
          <p:nvPr/>
        </p:nvSpPr>
        <p:spPr>
          <a:xfrm>
            <a:off x="685800" y="4763516"/>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The direction is the whole point. A metric that only improves when somebody damages the data is a metric that cannot protect you, so the one that falls is the one to read first.</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 / 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S6</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Where we are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685800" y="3219704"/>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profile the columns</a:t>
            </a:r>
          </a:p>
        </p:txBody>
      </p:sp>
      <p:sp>
        <p:nvSpPr>
          <p:cNvPr id="7" name="Rounded Rectangle 6"/>
          <p:cNvSpPr/>
          <p:nvPr/>
        </p:nvSpPr>
        <p:spPr>
          <a:xfrm>
            <a:off x="2871764" y="3219704"/>
            <a:ext cx="207623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decide per field</a:t>
            </a:r>
          </a:p>
        </p:txBody>
      </p:sp>
      <p:sp>
        <p:nvSpPr>
          <p:cNvPr id="8" name="Rounded Rectangle 7"/>
          <p:cNvSpPr/>
          <p:nvPr/>
        </p:nvSpPr>
        <p:spPr>
          <a:xfrm>
            <a:off x="5057729" y="3219704"/>
            <a:ext cx="207623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find the hidden rows</a:t>
            </a:r>
          </a:p>
        </p:txBody>
      </p:sp>
      <p:sp>
        <p:nvSpPr>
          <p:cNvPr id="9" name="Rounded Rectangle 8"/>
          <p:cNvSpPr/>
          <p:nvPr/>
        </p:nvSpPr>
        <p:spPr>
          <a:xfrm>
            <a:off x="7243693" y="3219704"/>
            <a:ext cx="207623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investigate the extremes</a:t>
            </a:r>
          </a:p>
        </p:txBody>
      </p:sp>
      <p:sp>
        <p:nvSpPr>
          <p:cNvPr id="10" name="Rounded Rectangle 9"/>
          <p:cNvSpPr/>
          <p:nvPr/>
        </p:nvSpPr>
        <p:spPr>
          <a:xfrm>
            <a:off x="9429658" y="3219704"/>
            <a:ext cx="2076236" cy="475488"/>
          </a:xfrm>
          <a:prstGeom prst="roundRect">
            <a:avLst/>
          </a:prstGeom>
          <a:solidFill>
            <a:srgbClr val="FFFFFF"/>
          </a:solidFill>
          <a:ln w="9525">
            <a:solidFill>
              <a:srgbClr val="C9C9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5F6360"/>
                </a:solidFill>
                <a:latin typeface="Calibri"/>
              </a:rPr>
              <a:t>ship with the log</a:t>
            </a:r>
          </a:p>
        </p:txBody>
      </p:sp>
      <p:sp>
        <p:nvSpPr>
          <p:cNvPr id="11" name="TextBox 10"/>
          <p:cNvSpPr txBox="1"/>
          <p:nvPr/>
        </p:nvSpPr>
        <p:spPr>
          <a:xfrm>
            <a:off x="685800" y="3896360"/>
            <a:ext cx="10820095" cy="564896"/>
          </a:xfrm>
          <a:prstGeom prst="rect">
            <a:avLst/>
          </a:prstGeom>
          <a:noFill/>
        </p:spPr>
        <p:txBody>
          <a:bodyPr wrap="square" anchor="t">
            <a:spAutoFit/>
          </a:bodyPr>
          <a:lstStyle/>
          <a:p>
            <a:pPr>
              <a:spcAft>
                <a:spcPts val="900"/>
              </a:spcAft>
            </a:pPr>
            <a:r>
              <a:rPr sz="2000" b="0">
                <a:solidFill>
                  <a:srgbClr val="1C1C1A"/>
                </a:solidFill>
                <a:latin typeface="Calibri"/>
              </a:rPr>
              <a:t>Profiling is what you do before you have permission to change anything.</a:t>
            </a:r>
          </a:p>
        </p:txBody>
      </p:sp>
      <p:sp>
        <p:nvSpPr>
          <p:cNvPr id="12" name="Rectangle 11"/>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4" name="TextBox 13"/>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 / 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S7</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The whole day in one picture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179aa8474bbddd9a.png"/>
          <p:cNvPicPr>
            <a:picLocks noChangeAspect="1"/>
          </p:cNvPicPr>
          <p:nvPr/>
        </p:nvPicPr>
        <p:blipFill>
          <a:blip r:embed="rId2"/>
          <a:stretch>
            <a:fillRect/>
          </a:stretch>
        </p:blipFill>
        <p:spPr>
          <a:xfrm>
            <a:off x="685800" y="3191667"/>
            <a:ext cx="10820095" cy="677864"/>
          </a:xfrm>
          <a:prstGeom prst="rect">
            <a:avLst/>
          </a:prstGeom>
        </p:spPr>
      </p:pic>
      <p:sp>
        <p:nvSpPr>
          <p:cNvPr id="7" name="TextBox 6"/>
          <p:cNvSpPr txBox="1"/>
          <p:nvPr/>
        </p:nvSpPr>
        <p:spPr>
          <a:xfrm>
            <a:off x="685800" y="5543296"/>
            <a:ext cx="10820095" cy="510032"/>
          </a:xfrm>
          <a:prstGeom prst="rect">
            <a:avLst/>
          </a:prstGeom>
          <a:noFill/>
        </p:spPr>
        <p:txBody>
          <a:bodyPr wrap="square" anchor="t">
            <a:spAutoFit/>
          </a:bodyPr>
          <a:lstStyle/>
          <a:p>
            <a:r>
              <a:rPr sz="2000" b="0">
                <a:solidFill>
                  <a:srgbClr val="1C1C1A"/>
                </a:solidFill>
                <a:latin typeface="Calibri"/>
              </a:rPr>
              <a:t>Half one is the first two stops. Half two is the rest.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 / 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1: THE PROFILER</a:t>
            </a:r>
          </a:p>
        </p:txBody>
      </p:sp>
      <p:sp>
        <p:nvSpPr>
          <p:cNvPr id="4" name="Rounded Rectangle 3"/>
          <p:cNvSpPr/>
          <p:nvPr/>
        </p:nvSpPr>
        <p:spPr>
          <a:xfrm>
            <a:off x="685800"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9 / 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S8</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Monday's counter, grown up</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6c85794adc860de8.png"/>
          <p:cNvPicPr>
            <a:picLocks noChangeAspect="1"/>
          </p:cNvPicPr>
          <p:nvPr/>
        </p:nvPicPr>
        <p:blipFill>
          <a:blip r:embed="rId2"/>
          <a:stretch>
            <a:fillRect/>
          </a:stretch>
        </p:blipFill>
        <p:spPr>
          <a:xfrm>
            <a:off x="1590995" y="1627632"/>
            <a:ext cx="2842250" cy="4425696"/>
          </a:xfrm>
          <a:prstGeom prst="rect">
            <a:avLst/>
          </a:prstGeom>
        </p:spPr>
      </p:pic>
      <p:sp>
        <p:nvSpPr>
          <p:cNvPr id="7" name="TextBox 6"/>
          <p:cNvSpPr txBox="1"/>
          <p:nvPr/>
        </p:nvSpPr>
        <p:spPr>
          <a:xfrm>
            <a:off x="5771244" y="3471672"/>
            <a:ext cx="5734650" cy="737616"/>
          </a:xfrm>
          <a:prstGeom prst="rect">
            <a:avLst/>
          </a:prstGeom>
          <a:noFill/>
        </p:spPr>
        <p:txBody>
          <a:bodyPr wrap="square" anchor="t">
            <a:spAutoFit/>
          </a:bodyPr>
          <a:lstStyle/>
          <a:p>
            <a:pPr>
              <a:spcAft>
                <a:spcPts val="700"/>
              </a:spcAft>
            </a:pPr>
            <a:r>
              <a:rPr sz="1500" b="0">
                <a:solidFill>
                  <a:srgbClr val="1C1C1A"/>
                </a:solidFill>
                <a:latin typeface="Calibri"/>
              </a:rPr>
              <a:t>Monday you counted how many orders had a value. That counter is today's profiler with two more questions attached.</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10 / 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S9</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Three counts, per field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1078992"/>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1078992"/>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1728216"/>
            <a:ext cx="10417759" cy="896112"/>
          </a:xfrm>
          <a:prstGeom prst="rect">
            <a:avLst/>
          </a:prstGeom>
          <a:noFill/>
        </p:spPr>
        <p:txBody>
          <a:bodyPr wrap="square" anchor="t">
            <a:spAutoFit/>
          </a:bodyPr>
          <a:lstStyle/>
          <a:p>
            <a:pPr>
              <a:spcAft>
                <a:spcPts val="200"/>
              </a:spcAft>
            </a:pPr>
            <a:r>
              <a:rPr sz="1600" b="0">
                <a:solidFill>
                  <a:srgbClr val="E4ECF7"/>
                </a:solidFill>
                <a:latin typeface="Consolas"/>
              </a:rPr>
              <a:t>present     how many have anything at all</a:t>
            </a:r>
          </a:p>
          <a:p>
            <a:pPr>
              <a:spcAft>
                <a:spcPts val="200"/>
              </a:spcAft>
            </a:pPr>
            <a:r>
              <a:rPr sz="1600" b="0">
                <a:solidFill>
                  <a:srgbClr val="E4ECF7"/>
                </a:solidFill>
                <a:latin typeface="Consolas"/>
              </a:rPr>
              <a:t>converts    how many become the type you need</a:t>
            </a:r>
          </a:p>
          <a:p>
            <a:pPr>
              <a:spcAft>
                <a:spcPts val="200"/>
              </a:spcAft>
            </a:pPr>
            <a:r>
              <a:rPr sz="1600" b="0">
                <a:solidFill>
                  <a:srgbClr val="E4ECF7"/>
                </a:solidFill>
                <a:latin typeface="Consolas"/>
              </a:rPr>
              <a:t>distinct    how many different values there are</a:t>
            </a:r>
          </a:p>
        </p:txBody>
      </p:sp>
      <p:sp>
        <p:nvSpPr>
          <p:cNvPr id="9" name="TextBox 8"/>
          <p:cNvSpPr txBox="1"/>
          <p:nvPr/>
        </p:nvSpPr>
        <p:spPr>
          <a:xfrm>
            <a:off x="685800" y="2871216"/>
            <a:ext cx="10820095" cy="564896"/>
          </a:xfrm>
          <a:prstGeom prst="rect">
            <a:avLst/>
          </a:prstGeom>
          <a:noFill/>
        </p:spPr>
        <p:txBody>
          <a:bodyPr wrap="square" anchor="t">
            <a:spAutoFit/>
          </a:bodyPr>
          <a:lstStyle/>
          <a:p>
            <a:pPr>
              <a:spcAft>
                <a:spcPts val="900"/>
              </a:spcAft>
            </a:pPr>
            <a:r>
              <a:rPr sz="2000" b="0">
                <a:solidFill>
                  <a:srgbClr val="1C1C1A"/>
                </a:solidFill>
                <a:latin typeface="Calibri"/>
              </a:rPr>
              <a:t>Three numbers per column. That is the whole tool.</a:t>
            </a:r>
          </a:p>
        </p:txBody>
      </p:sp>
      <p:pic>
        <p:nvPicPr>
          <p:cNvPr id="10" name="Picture 9" descr="b829f0043cc7c79c.png"/>
          <p:cNvPicPr>
            <a:picLocks noChangeAspect="1"/>
          </p:cNvPicPr>
          <p:nvPr/>
        </p:nvPicPr>
        <p:blipFill>
          <a:blip r:embed="rId2"/>
          <a:stretch>
            <a:fillRect/>
          </a:stretch>
        </p:blipFill>
        <p:spPr>
          <a:xfrm>
            <a:off x="1208294" y="3564128"/>
            <a:ext cx="9775106" cy="2489199"/>
          </a:xfrm>
          <a:prstGeom prst="rect">
            <a:avLst/>
          </a:prstGeom>
        </p:spPr>
      </p:pic>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11 / 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S10</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What the profiler is actually doing</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74df7dfb7a66f0ae.png"/>
          <p:cNvPicPr>
            <a:picLocks noChangeAspect="1"/>
          </p:cNvPicPr>
          <p:nvPr/>
        </p:nvPicPr>
        <p:blipFill>
          <a:blip r:embed="rId2"/>
          <a:stretch>
            <a:fillRect/>
          </a:stretch>
        </p:blipFill>
        <p:spPr>
          <a:xfrm>
            <a:off x="1211623" y="1627632"/>
            <a:ext cx="3600993" cy="4425696"/>
          </a:xfrm>
          <a:prstGeom prst="rect">
            <a:avLst/>
          </a:prstGeom>
        </p:spPr>
      </p:pic>
      <p:sp>
        <p:nvSpPr>
          <p:cNvPr id="7" name="TextBox 6"/>
          <p:cNvSpPr txBox="1"/>
          <p:nvPr/>
        </p:nvSpPr>
        <p:spPr>
          <a:xfrm>
            <a:off x="5771244" y="3601212"/>
            <a:ext cx="5734650" cy="478536"/>
          </a:xfrm>
          <a:prstGeom prst="rect">
            <a:avLst/>
          </a:prstGeom>
          <a:noFill/>
        </p:spPr>
        <p:txBody>
          <a:bodyPr wrap="square" anchor="t">
            <a:spAutoFit/>
          </a:bodyPr>
          <a:lstStyle/>
          <a:p>
            <a:pPr>
              <a:spcAft>
                <a:spcPts val="700"/>
              </a:spcAft>
            </a:pPr>
            <a:r>
              <a:rPr sz="1500" b="0">
                <a:solidFill>
                  <a:srgbClr val="1C1C1A"/>
                </a:solidFill>
                <a:latin typeface="Calibri"/>
              </a:rPr>
              <a:t>Two nested loops and a set. You wrote the outer one on Monday.</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12 / 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What each one catches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1627632"/>
          <a:ext cx="10820095" cy="1548384"/>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Count</a:t>
                      </a:r>
                    </a:p>
                  </a:txBody>
                  <a:tcPr marL="101600" marR="101600" marT="38100" marB="38100" anchor="ctr">
                    <a:solidFill>
                      <a:srgbClr val="2B4A7D"/>
                    </a:solidFill>
                  </a:tcPr>
                </a:tc>
                <a:tc>
                  <a:txBody>
                    <a:bodyPr/>
                    <a:lstStyle/>
                    <a:p>
                      <a:r>
                        <a:rPr sz="1600" b="1">
                          <a:solidFill>
                            <a:srgbClr val="FFFFFF"/>
                          </a:solidFill>
                          <a:latin typeface="Calibri"/>
                        </a:rPr>
                        <a:t>The question it answers</a:t>
                      </a:r>
                    </a:p>
                  </a:txBody>
                  <a:tcPr marL="101600" marR="101600" marT="38100" marB="38100" anchor="ctr">
                    <a:solidFill>
                      <a:srgbClr val="2B4A7D"/>
                    </a:solidFill>
                  </a:tcPr>
                </a:tc>
              </a:tr>
              <a:tr h="387096">
                <a:tc>
                  <a:txBody>
                    <a:bodyPr/>
                    <a:lstStyle/>
                    <a:p>
                      <a:r>
                        <a:rPr sz="1500" b="0">
                          <a:solidFill>
                            <a:srgbClr val="1C1C1A"/>
                          </a:solidFill>
                          <a:latin typeface="Calibri"/>
                        </a:rPr>
                        <a:t>present</a:t>
                      </a:r>
                    </a:p>
                  </a:txBody>
                  <a:tcPr marL="101600" marR="101600" marT="38100" marB="38100" anchor="ctr">
                    <a:solidFill>
                      <a:srgbClr val="FFFFFF"/>
                    </a:solidFill>
                  </a:tcPr>
                </a:tc>
                <a:tc>
                  <a:txBody>
                    <a:bodyPr/>
                    <a:lstStyle/>
                    <a:p>
                      <a:r>
                        <a:rPr sz="1500" b="0">
                          <a:solidFill>
                            <a:srgbClr val="1C1C1A"/>
                          </a:solidFill>
                          <a:latin typeface="Calibri"/>
                        </a:rPr>
                        <a:t>Is this field being filled in?</a:t>
                      </a:r>
                    </a:p>
                  </a:txBody>
                  <a:tcPr marL="101600" marR="101600" marT="38100" marB="38100" anchor="ctr">
                    <a:solidFill>
                      <a:srgbClr val="FFFFFF"/>
                    </a:solidFill>
                  </a:tcPr>
                </a:tc>
              </a:tr>
              <a:tr h="387096">
                <a:tc>
                  <a:txBody>
                    <a:bodyPr/>
                    <a:lstStyle/>
                    <a:p>
                      <a:r>
                        <a:rPr sz="1500" b="0">
                          <a:solidFill>
                            <a:srgbClr val="1C1C1A"/>
                          </a:solidFill>
                          <a:latin typeface="Calibri"/>
                        </a:rPr>
                        <a:t>converts</a:t>
                      </a:r>
                    </a:p>
                  </a:txBody>
                  <a:tcPr marL="101600" marR="101600" marT="38100" marB="38100" anchor="ctr">
                    <a:solidFill>
                      <a:srgbClr val="F7F7F5"/>
                    </a:solidFill>
                  </a:tcPr>
                </a:tc>
                <a:tc>
                  <a:txBody>
                    <a:bodyPr/>
                    <a:lstStyle/>
                    <a:p>
                      <a:r>
                        <a:rPr sz="1500" b="0">
                          <a:solidFill>
                            <a:srgbClr val="1C1C1A"/>
                          </a:solidFill>
                          <a:latin typeface="Calibri"/>
                        </a:rPr>
                        <a:t>Is what is filled in usable?</a:t>
                      </a:r>
                    </a:p>
                  </a:txBody>
                  <a:tcPr marL="101600" marR="101600" marT="38100" marB="38100" anchor="ctr">
                    <a:solidFill>
                      <a:srgbClr val="F7F7F5"/>
                    </a:solidFill>
                  </a:tcPr>
                </a:tc>
              </a:tr>
              <a:tr h="387096">
                <a:tc>
                  <a:txBody>
                    <a:bodyPr/>
                    <a:lstStyle/>
                    <a:p>
                      <a:r>
                        <a:rPr sz="1500" b="0">
                          <a:solidFill>
                            <a:srgbClr val="1C1C1A"/>
                          </a:solidFill>
                          <a:latin typeface="Calibri"/>
                        </a:rPr>
                        <a:t>distinct</a:t>
                      </a:r>
                    </a:p>
                  </a:txBody>
                  <a:tcPr marL="101600" marR="101600" marT="38100" marB="38100" anchor="ctr">
                    <a:solidFill>
                      <a:srgbClr val="FFFFFF"/>
                    </a:solidFill>
                  </a:tcPr>
                </a:tc>
                <a:tc>
                  <a:txBody>
                    <a:bodyPr/>
                    <a:lstStyle/>
                    <a:p>
                      <a:r>
                        <a:rPr sz="1500" b="0">
                          <a:solidFill>
                            <a:srgbClr val="1C1C1A"/>
                          </a:solidFill>
                          <a:latin typeface="Calibri"/>
                        </a:rPr>
                        <a:t>Is this a category, a free text box, or an id?</a:t>
                      </a:r>
                    </a:p>
                  </a:txBody>
                  <a:tcPr marL="101600" marR="101600" marT="38100" marB="38100" anchor="ctr">
                    <a:solidFill>
                      <a:srgbClr val="FFFFFF"/>
                    </a:solidFill>
                  </a:tcPr>
                </a:tc>
              </a:tr>
            </a:tbl>
          </a:graphicData>
        </a:graphic>
      </p:graphicFrame>
      <p:sp>
        <p:nvSpPr>
          <p:cNvPr id="7" name="TextBox 6"/>
          <p:cNvSpPr txBox="1"/>
          <p:nvPr/>
        </p:nvSpPr>
        <p:spPr>
          <a:xfrm>
            <a:off x="685800" y="3432048"/>
            <a:ext cx="10820095" cy="564896"/>
          </a:xfrm>
          <a:prstGeom prst="rect">
            <a:avLst/>
          </a:prstGeom>
          <a:noFill/>
        </p:spPr>
        <p:txBody>
          <a:bodyPr wrap="square" anchor="t">
            <a:spAutoFit/>
          </a:bodyPr>
          <a:lstStyle/>
          <a:p>
            <a:pPr>
              <a:spcAft>
                <a:spcPts val="900"/>
              </a:spcAft>
            </a:pPr>
            <a:r>
              <a:rPr sz="2000" b="0">
                <a:solidFill>
                  <a:srgbClr val="1C1C1A"/>
                </a:solidFill>
                <a:latin typeface="Calibri"/>
              </a:rPr>
              <a:t>present minus converts is the number of values that look fine and are not.</a:t>
            </a:r>
          </a:p>
        </p:txBody>
      </p:sp>
      <p:pic>
        <p:nvPicPr>
          <p:cNvPr id="8" name="Picture 7" descr="62546f190d156b11.png"/>
          <p:cNvPicPr>
            <a:picLocks noChangeAspect="1"/>
          </p:cNvPicPr>
          <p:nvPr/>
        </p:nvPicPr>
        <p:blipFill>
          <a:blip r:embed="rId2"/>
          <a:stretch>
            <a:fillRect/>
          </a:stretch>
        </p:blipFill>
        <p:spPr>
          <a:xfrm>
            <a:off x="1298254" y="4124960"/>
            <a:ext cx="9595185" cy="1928368"/>
          </a:xfrm>
          <a:prstGeom prst="rect">
            <a:avLst/>
          </a:prstGeom>
        </p:spPr>
      </p:pic>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13 / 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D2</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three counts as rates, so columns can be compared</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4567936"/>
          </a:xfrm>
          <a:prstGeom prst="rect">
            <a:avLst/>
          </a:prstGeom>
          <a:noFill/>
        </p:spPr>
        <p:txBody>
          <a:bodyPr wrap="square" anchor="t">
            <a:spAutoFit/>
          </a:bodyPr>
          <a:lstStyle/>
          <a:p>
            <a:pPr>
              <a:spcAft>
                <a:spcPts val="900"/>
              </a:spcAft>
            </a:pPr>
            <a:r>
              <a:rPr sz="2000" b="0">
                <a:solidFill>
                  <a:srgbClr val="1C1C1A"/>
                </a:solidFill>
                <a:latin typeface="Calibri"/>
              </a:rPr>
              <a:t>Counts tell you about one column. Rates let you rank every column in the file by where the work is.</a:t>
            </a:r>
          </a:p>
          <a:p>
            <a:pPr>
              <a:spcAft>
                <a:spcPts val="900"/>
              </a:spcAft>
            </a:pPr>
            <a:r>
              <a:rPr sz="2000" b="0">
                <a:solidFill>
                  <a:srgbClr val="1C1C1A"/>
                </a:solidFill>
                <a:latin typeface="Calibri"/>
              </a:rPr>
              <a:t>$$\text{presence rate} = \frac{\text{present}}{n} \qquad \text{convertibility rate} = \frac{\text{converts}}{n}$$</a:t>
            </a:r>
          </a:p>
          <a:p>
            <a:pPr>
              <a:spcAft>
                <a:spcPts val="900"/>
              </a:spcAft>
            </a:pPr>
            <a:r>
              <a:rPr sz="2000" b="0">
                <a:solidFill>
                  <a:srgbClr val="1C1C1A"/>
                </a:solidFill>
                <a:latin typeface="Calibri"/>
              </a:rPr>
              <a:t>$$\text{the trap rate} = \frac{\text{present} - \text{converts}}{n}$$</a:t>
            </a:r>
          </a:p>
          <a:p>
            <a:pPr>
              <a:spcAft>
                <a:spcPts val="900"/>
              </a:spcAft>
            </a:pPr>
            <a:r>
              <a:rPr sz="2000" b="0">
                <a:solidFill>
                  <a:srgbClr val="1C1C1A"/>
                </a:solidFill>
                <a:latin typeface="Calibri"/>
              </a:rPr>
              <a:t>For amount in today's file, with $n = 50$:</a:t>
            </a:r>
          </a:p>
          <a:p>
            <a:pPr>
              <a:spcAft>
                <a:spcPts val="900"/>
              </a:spcAft>
            </a:pPr>
            <a:r>
              <a:rPr sz="2000" b="0">
                <a:solidFill>
                  <a:srgbClr val="1C1C1A"/>
                </a:solidFill>
                <a:latin typeface="Calibri"/>
              </a:rPr>
              <a:t>$$\frac{48}{50} = 96\% \text{ present} \qquad \frac{44}{50} = 88\% \text{ converts} \qquad \frac{48 - 44}{50} = 8\% \text{ present and unusable}$$</a:t>
            </a:r>
          </a:p>
          <a:p>
            <a:pPr>
              <a:spcAft>
                <a:spcPts val="900"/>
              </a:spcAft>
            </a:pPr>
            <a:r>
              <a:rPr sz="2000" b="0">
                <a:solidFill>
                  <a:srgbClr val="1C1C1A"/>
                </a:solidFill>
                <a:latin typeface="Calibri"/>
              </a:rPr>
              <a:t>That last 8 percent is the dangerous group. Those rows are not empty, so a presence check passes them, and they are not numbers, so anything downstream that adds them up fails or lies.</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14 / 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D3</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600" b="1">
                <a:solidFill>
                  <a:srgbClr val="1C1C1A"/>
                </a:solidFill>
                <a:latin typeface="Calibri"/>
              </a:rPr>
              <a:t>The whole file, profiled</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This is the printout the profiler gives you on today's fifty orders.</a:t>
            </a:r>
          </a:p>
        </p:txBody>
      </p:sp>
      <p:graphicFrame>
        <p:nvGraphicFramePr>
          <p:cNvPr id="8" name="Table 7"/>
          <p:cNvGraphicFramePr>
            <a:graphicFrameLocks noGrp="1"/>
          </p:cNvGraphicFramePr>
          <p:nvPr/>
        </p:nvGraphicFramePr>
        <p:xfrm>
          <a:off x="685800" y="2320544"/>
          <a:ext cx="10820095" cy="3641341"/>
        </p:xfrm>
        <a:graphic>
          <a:graphicData uri="http://schemas.openxmlformats.org/drawingml/2006/table">
            <a:tbl>
              <a:tblPr firstRow="0" bandRow="0">
                <a:tableStyleId>{2D5ABB26-0587-4C30-8999-92F81FD0307C}</a:tableStyleId>
              </a:tblPr>
              <a:tblGrid>
                <a:gridCol w="2164019"/>
                <a:gridCol w="2164019"/>
                <a:gridCol w="2164019"/>
                <a:gridCol w="2164019"/>
                <a:gridCol w="2164019"/>
              </a:tblGrid>
              <a:tr h="215254">
                <a:tc>
                  <a:txBody>
                    <a:bodyPr/>
                    <a:lstStyle/>
                    <a:p>
                      <a:r>
                        <a:rPr sz="1400" b="1">
                          <a:solidFill>
                            <a:srgbClr val="FFFFFF"/>
                          </a:solidFill>
                          <a:latin typeface="Calibri"/>
                        </a:rPr>
                        <a:t>Field</a:t>
                      </a:r>
                    </a:p>
                  </a:txBody>
                  <a:tcPr marL="101600" marR="101600" marT="38100" marB="38100" anchor="ctr">
                    <a:solidFill>
                      <a:srgbClr val="2B4A7D"/>
                    </a:solidFill>
                  </a:tcPr>
                </a:tc>
                <a:tc>
                  <a:txBody>
                    <a:bodyPr/>
                    <a:lstStyle/>
                    <a:p>
                      <a:r>
                        <a:rPr sz="1400" b="1">
                          <a:solidFill>
                            <a:srgbClr val="FFFFFF"/>
                          </a:solidFill>
                          <a:latin typeface="Calibri"/>
                        </a:rPr>
                        <a:t>present</a:t>
                      </a:r>
                    </a:p>
                  </a:txBody>
                  <a:tcPr marL="101600" marR="101600" marT="38100" marB="38100" anchor="ctr">
                    <a:solidFill>
                      <a:srgbClr val="2B4A7D"/>
                    </a:solidFill>
                  </a:tcPr>
                </a:tc>
                <a:tc>
                  <a:txBody>
                    <a:bodyPr/>
                    <a:lstStyle/>
                    <a:p>
                      <a:r>
                        <a:rPr sz="1400" b="1">
                          <a:solidFill>
                            <a:srgbClr val="FFFFFF"/>
                          </a:solidFill>
                          <a:latin typeface="Calibri"/>
                        </a:rPr>
                        <a:t>converts to int</a:t>
                      </a:r>
                    </a:p>
                  </a:txBody>
                  <a:tcPr marL="101600" marR="101600" marT="38100" marB="38100" anchor="ctr">
                    <a:solidFill>
                      <a:srgbClr val="2B4A7D"/>
                    </a:solidFill>
                  </a:tcPr>
                </a:tc>
                <a:tc>
                  <a:txBody>
                    <a:bodyPr/>
                    <a:lstStyle/>
                    <a:p>
                      <a:r>
                        <a:rPr sz="1400" b="1">
                          <a:solidFill>
                            <a:srgbClr val="FFFFFF"/>
                          </a:solidFill>
                          <a:latin typeface="Calibri"/>
                        </a:rPr>
                        <a:t>distinct</a:t>
                      </a:r>
                    </a:p>
                  </a:txBody>
                  <a:tcPr marL="101600" marR="101600" marT="38100" marB="38100" anchor="ctr">
                    <a:solidFill>
                      <a:srgbClr val="2B4A7D"/>
                    </a:solidFill>
                  </a:tcPr>
                </a:tc>
                <a:tc>
                  <a:txBody>
                    <a:bodyPr/>
                    <a:lstStyle/>
                    <a:p>
                      <a:r>
                        <a:rPr sz="1400" b="1">
                          <a:solidFill>
                            <a:srgbClr val="FFFFFF"/>
                          </a:solidFill>
                          <a:latin typeface="Calibri"/>
                        </a:rPr>
                        <a:t>What it tells you</a:t>
                      </a:r>
                    </a:p>
                  </a:txBody>
                  <a:tcPr marL="101600" marR="101600" marT="38100" marB="38100" anchor="ctr">
                    <a:solidFill>
                      <a:srgbClr val="2B4A7D"/>
                    </a:solidFill>
                  </a:tcPr>
                </a:tc>
              </a:tr>
              <a:tr h="626534">
                <a:tc>
                  <a:txBody>
                    <a:bodyPr/>
                    <a:lstStyle/>
                    <a:p>
                      <a:r>
                        <a:rPr sz="1300" b="0">
                          <a:solidFill>
                            <a:srgbClr val="1C1C1A"/>
                          </a:solidFill>
                          <a:latin typeface="Calibri"/>
                        </a:rPr>
                        <a:t>order_id</a:t>
                      </a:r>
                    </a:p>
                  </a:txBody>
                  <a:tcPr marL="101600" marR="101600" marT="38100" marB="38100" anchor="ctr">
                    <a:solidFill>
                      <a:srgbClr val="FFFFFF"/>
                    </a:solidFill>
                  </a:tcPr>
                </a:tc>
                <a:tc>
                  <a:txBody>
                    <a:bodyPr/>
                    <a:lstStyle/>
                    <a:p>
                      <a:r>
                        <a:rPr sz="1300" b="0">
                          <a:solidFill>
                            <a:srgbClr val="1C1C1A"/>
                          </a:solidFill>
                          <a:latin typeface="Calibri"/>
                        </a:rPr>
                        <a:t>50 of 50</a:t>
                      </a:r>
                    </a:p>
                  </a:txBody>
                  <a:tcPr marL="101600" marR="101600" marT="38100" marB="38100" anchor="ctr">
                    <a:solidFill>
                      <a:srgbClr val="FFFFFF"/>
                    </a:solidFill>
                  </a:tcPr>
                </a:tc>
                <a:tc>
                  <a:txBody>
                    <a:bodyPr/>
                    <a:lstStyle/>
                    <a:p>
                      <a:r>
                        <a:rPr sz="1300" b="0">
                          <a:solidFill>
                            <a:srgbClr val="1C1C1A"/>
                          </a:solidFill>
                          <a:latin typeface="Calibri"/>
                        </a:rPr>
                        <a:t>0</a:t>
                      </a:r>
                    </a:p>
                  </a:txBody>
                  <a:tcPr marL="101600" marR="101600" marT="38100" marB="38100" anchor="ctr">
                    <a:solidFill>
                      <a:srgbClr val="FFFFFF"/>
                    </a:solidFill>
                  </a:tcPr>
                </a:tc>
                <a:tc>
                  <a:txBody>
                    <a:bodyPr/>
                    <a:lstStyle/>
                    <a:p>
                      <a:r>
                        <a:rPr sz="1300" b="0">
                          <a:solidFill>
                            <a:srgbClr val="1C1C1A"/>
                          </a:solidFill>
                          <a:latin typeface="Calibri"/>
                        </a:rPr>
                        <a:t>49</a:t>
                      </a:r>
                    </a:p>
                  </a:txBody>
                  <a:tcPr marL="101600" marR="101600" marT="38100" marB="38100" anchor="ctr">
                    <a:solidFill>
                      <a:srgbClr val="FFFFFF"/>
                    </a:solidFill>
                  </a:tcPr>
                </a:tc>
                <a:tc>
                  <a:txBody>
                    <a:bodyPr/>
                    <a:lstStyle/>
                    <a:p>
                      <a:r>
                        <a:rPr sz="1300" b="0">
                          <a:solidFill>
                            <a:srgbClr val="1C1C1A"/>
                          </a:solidFill>
                          <a:latin typeface="Calibri"/>
                        </a:rPr>
                        <a:t>An identifier, and 49 distinct across 50 rows is a problem you meet in half two.</a:t>
                      </a:r>
                    </a:p>
                  </a:txBody>
                  <a:tcPr marL="101600" marR="101600" marT="38100" marB="38100" anchor="ctr">
                    <a:solidFill>
                      <a:srgbClr val="FFFFFF"/>
                    </a:solidFill>
                  </a:tcPr>
                </a:tc>
              </a:tr>
              <a:tr h="489441">
                <a:tc>
                  <a:txBody>
                    <a:bodyPr/>
                    <a:lstStyle/>
                    <a:p>
                      <a:r>
                        <a:rPr sz="1300" b="0">
                          <a:solidFill>
                            <a:srgbClr val="1C1C1A"/>
                          </a:solidFill>
                          <a:latin typeface="Calibri"/>
                        </a:rPr>
                        <a:t>customer_id</a:t>
                      </a:r>
                    </a:p>
                  </a:txBody>
                  <a:tcPr marL="101600" marR="101600" marT="38100" marB="38100" anchor="ctr">
                    <a:solidFill>
                      <a:srgbClr val="F7F7F5"/>
                    </a:solidFill>
                  </a:tcPr>
                </a:tc>
                <a:tc>
                  <a:txBody>
                    <a:bodyPr/>
                    <a:lstStyle/>
                    <a:p>
                      <a:r>
                        <a:rPr sz="1300" b="0">
                          <a:solidFill>
                            <a:srgbClr val="1C1C1A"/>
                          </a:solidFill>
                          <a:latin typeface="Calibri"/>
                        </a:rPr>
                        <a:t>50 of 50</a:t>
                      </a:r>
                    </a:p>
                  </a:txBody>
                  <a:tcPr marL="101600" marR="101600" marT="38100" marB="38100" anchor="ctr">
                    <a:solidFill>
                      <a:srgbClr val="F7F7F5"/>
                    </a:solidFill>
                  </a:tcPr>
                </a:tc>
                <a:tc>
                  <a:txBody>
                    <a:bodyPr/>
                    <a:lstStyle/>
                    <a:p>
                      <a:r>
                        <a:rPr sz="1300" b="0">
                          <a:solidFill>
                            <a:srgbClr val="1C1C1A"/>
                          </a:solidFill>
                          <a:latin typeface="Calibri"/>
                        </a:rPr>
                        <a:t>0</a:t>
                      </a:r>
                    </a:p>
                  </a:txBody>
                  <a:tcPr marL="101600" marR="101600" marT="38100" marB="38100" anchor="ctr">
                    <a:solidFill>
                      <a:srgbClr val="F7F7F5"/>
                    </a:solidFill>
                  </a:tcPr>
                </a:tc>
                <a:tc>
                  <a:txBody>
                    <a:bodyPr/>
                    <a:lstStyle/>
                    <a:p>
                      <a:r>
                        <a:rPr sz="1300" b="0">
                          <a:solidFill>
                            <a:srgbClr val="1C1C1A"/>
                          </a:solidFill>
                          <a:latin typeface="Calibri"/>
                        </a:rPr>
                        <a:t>47</a:t>
                      </a:r>
                    </a:p>
                  </a:txBody>
                  <a:tcPr marL="101600" marR="101600" marT="38100" marB="38100" anchor="ctr">
                    <a:solidFill>
                      <a:srgbClr val="F7F7F5"/>
                    </a:solidFill>
                  </a:tcPr>
                </a:tc>
                <a:tc>
                  <a:txBody>
                    <a:bodyPr/>
                    <a:lstStyle/>
                    <a:p>
                      <a:r>
                        <a:rPr sz="1300" b="0">
                          <a:solidFill>
                            <a:srgbClr val="1C1C1A"/>
                          </a:solidFill>
                          <a:latin typeface="Calibri"/>
                        </a:rPr>
                        <a:t>An identifier. Some customers ordered more than once, which is expected.</a:t>
                      </a:r>
                    </a:p>
                  </a:txBody>
                  <a:tcPr marL="101600" marR="101600" marT="38100" marB="38100" anchor="ctr">
                    <a:solidFill>
                      <a:srgbClr val="F7F7F5"/>
                    </a:solidFill>
                  </a:tcPr>
                </a:tc>
              </a:tr>
              <a:tr h="489441">
                <a:tc>
                  <a:txBody>
                    <a:bodyPr/>
                    <a:lstStyle/>
                    <a:p>
                      <a:r>
                        <a:rPr sz="1300" b="0">
                          <a:solidFill>
                            <a:srgbClr val="1C1C1A"/>
                          </a:solidFill>
                          <a:latin typeface="Calibri"/>
                        </a:rPr>
                        <a:t>segment</a:t>
                      </a:r>
                    </a:p>
                  </a:txBody>
                  <a:tcPr marL="101600" marR="101600" marT="38100" marB="38100" anchor="ctr">
                    <a:solidFill>
                      <a:srgbClr val="FFFFFF"/>
                    </a:solidFill>
                  </a:tcPr>
                </a:tc>
                <a:tc>
                  <a:txBody>
                    <a:bodyPr/>
                    <a:lstStyle/>
                    <a:p>
                      <a:r>
                        <a:rPr sz="1300" b="0">
                          <a:solidFill>
                            <a:srgbClr val="1C1C1A"/>
                          </a:solidFill>
                          <a:latin typeface="Calibri"/>
                        </a:rPr>
                        <a:t>50 of 50</a:t>
                      </a:r>
                    </a:p>
                  </a:txBody>
                  <a:tcPr marL="101600" marR="101600" marT="38100" marB="38100" anchor="ctr">
                    <a:solidFill>
                      <a:srgbClr val="FFFFFF"/>
                    </a:solidFill>
                  </a:tcPr>
                </a:tc>
                <a:tc>
                  <a:txBody>
                    <a:bodyPr/>
                    <a:lstStyle/>
                    <a:p>
                      <a:r>
                        <a:rPr sz="1300" b="0">
                          <a:solidFill>
                            <a:srgbClr val="1C1C1A"/>
                          </a:solidFill>
                          <a:latin typeface="Calibri"/>
                        </a:rPr>
                        <a:t>0</a:t>
                      </a:r>
                    </a:p>
                  </a:txBody>
                  <a:tcPr marL="101600" marR="101600" marT="38100" marB="38100" anchor="ctr">
                    <a:solidFill>
                      <a:srgbClr val="FFFFFF"/>
                    </a:solidFill>
                  </a:tcPr>
                </a:tc>
                <a:tc>
                  <a:txBody>
                    <a:bodyPr/>
                    <a:lstStyle/>
                    <a:p>
                      <a:r>
                        <a:rPr sz="1300" b="0">
                          <a:solidFill>
                            <a:srgbClr val="1C1C1A"/>
                          </a:solidFill>
                          <a:latin typeface="Calibri"/>
                        </a:rPr>
                        <a:t>4</a:t>
                      </a:r>
                    </a:p>
                  </a:txBody>
                  <a:tcPr marL="101600" marR="101600" marT="38100" marB="38100" anchor="ctr">
                    <a:solidFill>
                      <a:srgbClr val="FFFFFF"/>
                    </a:solidFill>
                  </a:tcPr>
                </a:tc>
                <a:tc>
                  <a:txBody>
                    <a:bodyPr/>
                    <a:lstStyle/>
                    <a:p>
                      <a:r>
                        <a:rPr sz="1300" b="0">
                          <a:solidFill>
                            <a:srgbClr val="1C1C1A"/>
                          </a:solidFill>
                          <a:latin typeface="Calibri"/>
                        </a:rPr>
                        <a:t>A category with four values, so it can be grouped and counted safely.</a:t>
                      </a:r>
                    </a:p>
                  </a:txBody>
                  <a:tcPr marL="101600" marR="101600" marT="38100" marB="38100" anchor="ctr">
                    <a:solidFill>
                      <a:srgbClr val="FFFFFF"/>
                    </a:solidFill>
                  </a:tcPr>
                </a:tc>
              </a:tr>
              <a:tr h="489441">
                <a:tc>
                  <a:txBody>
                    <a:bodyPr/>
                    <a:lstStyle/>
                    <a:p>
                      <a:r>
                        <a:rPr sz="1300" b="0">
                          <a:solidFill>
                            <a:srgbClr val="1C1C1A"/>
                          </a:solidFill>
                          <a:latin typeface="Calibri"/>
                        </a:rPr>
                        <a:t>amount</a:t>
                      </a:r>
                    </a:p>
                  </a:txBody>
                  <a:tcPr marL="101600" marR="101600" marT="38100" marB="38100" anchor="ctr">
                    <a:solidFill>
                      <a:srgbClr val="F7F7F5"/>
                    </a:solidFill>
                  </a:tcPr>
                </a:tc>
                <a:tc>
                  <a:txBody>
                    <a:bodyPr/>
                    <a:lstStyle/>
                    <a:p>
                      <a:r>
                        <a:rPr sz="1300" b="0">
                          <a:solidFill>
                            <a:srgbClr val="1C1C1A"/>
                          </a:solidFill>
                          <a:latin typeface="Calibri"/>
                        </a:rPr>
                        <a:t>48 of 50</a:t>
                      </a:r>
                    </a:p>
                  </a:txBody>
                  <a:tcPr marL="101600" marR="101600" marT="38100" marB="38100" anchor="ctr">
                    <a:solidFill>
                      <a:srgbClr val="F7F7F5"/>
                    </a:solidFill>
                  </a:tcPr>
                </a:tc>
                <a:tc>
                  <a:txBody>
                    <a:bodyPr/>
                    <a:lstStyle/>
                    <a:p>
                      <a:r>
                        <a:rPr sz="1300" b="0">
                          <a:solidFill>
                            <a:srgbClr val="1C1C1A"/>
                          </a:solidFill>
                          <a:latin typeface="Calibri"/>
                        </a:rPr>
                        <a:t>44</a:t>
                      </a:r>
                    </a:p>
                  </a:txBody>
                  <a:tcPr marL="101600" marR="101600" marT="38100" marB="38100" anchor="ctr">
                    <a:solidFill>
                      <a:srgbClr val="F7F7F5"/>
                    </a:solidFill>
                  </a:tcPr>
                </a:tc>
                <a:tc>
                  <a:txBody>
                    <a:bodyPr/>
                    <a:lstStyle/>
                    <a:p>
                      <a:r>
                        <a:rPr sz="1300" b="0">
                          <a:solidFill>
                            <a:srgbClr val="1C1C1A"/>
                          </a:solidFill>
                          <a:latin typeface="Calibri"/>
                        </a:rPr>
                        <a:t>46</a:t>
                      </a:r>
                    </a:p>
                  </a:txBody>
                  <a:tcPr marL="101600" marR="101600" marT="38100" marB="38100" anchor="ctr">
                    <a:solidFill>
                      <a:srgbClr val="F7F7F5"/>
                    </a:solidFill>
                  </a:tcPr>
                </a:tc>
                <a:tc>
                  <a:txBody>
                    <a:bodyPr/>
                    <a:lstStyle/>
                    <a:p>
                      <a:r>
                        <a:rPr sz="1300" b="0">
                          <a:solidFill>
                            <a:srgbClr val="1C1C1A"/>
                          </a:solidFill>
                          <a:latin typeface="Calibri"/>
                        </a:rPr>
                        <a:t>A measure. Two absent and four present but unusable.</a:t>
                      </a:r>
                    </a:p>
                  </a:txBody>
                  <a:tcPr marL="101600" marR="101600" marT="38100" marB="38100" anchor="ctr">
                    <a:solidFill>
                      <a:srgbClr val="F7F7F5"/>
                    </a:solidFill>
                  </a:tcPr>
                </a:tc>
              </a:tr>
              <a:tr h="352348">
                <a:tc>
                  <a:txBody>
                    <a:bodyPr/>
                    <a:lstStyle/>
                    <a:p>
                      <a:r>
                        <a:rPr sz="1300" b="0">
                          <a:solidFill>
                            <a:srgbClr val="1C1C1A"/>
                          </a:solidFill>
                          <a:latin typeface="Calibri"/>
                        </a:rPr>
                        <a:t>status</a:t>
                      </a:r>
                    </a:p>
                  </a:txBody>
                  <a:tcPr marL="101600" marR="101600" marT="38100" marB="38100" anchor="ctr">
                    <a:solidFill>
                      <a:srgbClr val="FFFFFF"/>
                    </a:solidFill>
                  </a:tcPr>
                </a:tc>
                <a:tc>
                  <a:txBody>
                    <a:bodyPr/>
                    <a:lstStyle/>
                    <a:p>
                      <a:r>
                        <a:rPr sz="1300" b="0">
                          <a:solidFill>
                            <a:srgbClr val="1C1C1A"/>
                          </a:solidFill>
                          <a:latin typeface="Calibri"/>
                        </a:rPr>
                        <a:t>50 of 50</a:t>
                      </a:r>
                    </a:p>
                  </a:txBody>
                  <a:tcPr marL="101600" marR="101600" marT="38100" marB="38100" anchor="ctr">
                    <a:solidFill>
                      <a:srgbClr val="FFFFFF"/>
                    </a:solidFill>
                  </a:tcPr>
                </a:tc>
                <a:tc>
                  <a:txBody>
                    <a:bodyPr/>
                    <a:lstStyle/>
                    <a:p>
                      <a:r>
                        <a:rPr sz="1300" b="0">
                          <a:solidFill>
                            <a:srgbClr val="1C1C1A"/>
                          </a:solidFill>
                          <a:latin typeface="Calibri"/>
                        </a:rPr>
                        <a:t>0</a:t>
                      </a:r>
                    </a:p>
                  </a:txBody>
                  <a:tcPr marL="101600" marR="101600" marT="38100" marB="38100" anchor="ctr">
                    <a:solidFill>
                      <a:srgbClr val="FFFFFF"/>
                    </a:solidFill>
                  </a:tcPr>
                </a:tc>
                <a:tc>
                  <a:txBody>
                    <a:bodyPr/>
                    <a:lstStyle/>
                    <a:p>
                      <a:r>
                        <a:rPr sz="1300" b="0">
                          <a:solidFill>
                            <a:srgbClr val="1C1C1A"/>
                          </a:solidFill>
                          <a:latin typeface="Calibri"/>
                        </a:rPr>
                        <a:t>3</a:t>
                      </a:r>
                    </a:p>
                  </a:txBody>
                  <a:tcPr marL="101600" marR="101600" marT="38100" marB="38100" anchor="ctr">
                    <a:solidFill>
                      <a:srgbClr val="FFFFFF"/>
                    </a:solidFill>
                  </a:tcPr>
                </a:tc>
                <a:tc>
                  <a:txBody>
                    <a:bodyPr/>
                    <a:lstStyle/>
                    <a:p>
                      <a:r>
                        <a:rPr sz="1300" b="0">
                          <a:solidFill>
                            <a:srgbClr val="1C1C1A"/>
                          </a:solidFill>
                          <a:latin typeface="Calibri"/>
                        </a:rPr>
                        <a:t>A category with three values.</a:t>
                      </a:r>
                    </a:p>
                  </a:txBody>
                  <a:tcPr marL="101600" marR="101600" marT="38100" marB="38100" anchor="ctr">
                    <a:solidFill>
                      <a:srgbClr val="FFFFFF"/>
                    </a:solidFill>
                  </a:tcPr>
                </a:tc>
              </a:tr>
              <a:tr h="352348">
                <a:tc>
                  <a:txBody>
                    <a:bodyPr/>
                    <a:lstStyle/>
                    <a:p>
                      <a:r>
                        <a:rPr sz="1300" b="0">
                          <a:solidFill>
                            <a:srgbClr val="1C1C1A"/>
                          </a:solidFill>
                          <a:latin typeface="Calibri"/>
                        </a:rPr>
                        <a:t>order_date</a:t>
                      </a:r>
                    </a:p>
                  </a:txBody>
                  <a:tcPr marL="101600" marR="101600" marT="38100" marB="38100" anchor="ctr">
                    <a:solidFill>
                      <a:srgbClr val="F7F7F5"/>
                    </a:solidFill>
                  </a:tcPr>
                </a:tc>
                <a:tc>
                  <a:txBody>
                    <a:bodyPr/>
                    <a:lstStyle/>
                    <a:p>
                      <a:r>
                        <a:rPr sz="1300" b="0">
                          <a:solidFill>
                            <a:srgbClr val="1C1C1A"/>
                          </a:solidFill>
                          <a:latin typeface="Calibri"/>
                        </a:rPr>
                        <a:t>50 of 50</a:t>
                      </a:r>
                    </a:p>
                  </a:txBody>
                  <a:tcPr marL="101600" marR="101600" marT="38100" marB="38100" anchor="ctr">
                    <a:solidFill>
                      <a:srgbClr val="F7F7F5"/>
                    </a:solidFill>
                  </a:tcPr>
                </a:tc>
                <a:tc>
                  <a:txBody>
                    <a:bodyPr/>
                    <a:lstStyle/>
                    <a:p>
                      <a:r>
                        <a:rPr sz="1300" b="0">
                          <a:solidFill>
                            <a:srgbClr val="1C1C1A"/>
                          </a:solidFill>
                          <a:latin typeface="Calibri"/>
                        </a:rPr>
                        <a:t>0</a:t>
                      </a:r>
                    </a:p>
                  </a:txBody>
                  <a:tcPr marL="101600" marR="101600" marT="38100" marB="38100" anchor="ctr">
                    <a:solidFill>
                      <a:srgbClr val="F7F7F5"/>
                    </a:solidFill>
                  </a:tcPr>
                </a:tc>
                <a:tc>
                  <a:txBody>
                    <a:bodyPr/>
                    <a:lstStyle/>
                    <a:p>
                      <a:r>
                        <a:rPr sz="1300" b="0">
                          <a:solidFill>
                            <a:srgbClr val="1C1C1A"/>
                          </a:solidFill>
                          <a:latin typeface="Calibri"/>
                        </a:rPr>
                        <a:t>20</a:t>
                      </a:r>
                    </a:p>
                  </a:txBody>
                  <a:tcPr marL="101600" marR="101600" marT="38100" marB="38100" anchor="ctr">
                    <a:solidFill>
                      <a:srgbClr val="F7F7F5"/>
                    </a:solidFill>
                  </a:tcPr>
                </a:tc>
                <a:tc>
                  <a:txBody>
                    <a:bodyPr/>
                    <a:lstStyle/>
                    <a:p>
                      <a:r>
                        <a:rPr sz="1300" b="0">
                          <a:solidFill>
                            <a:srgbClr val="1C1C1A"/>
                          </a:solidFill>
                          <a:latin typeface="Calibri"/>
                        </a:rPr>
                        <a:t>Twenty different dates across fifty orders.</a:t>
                      </a:r>
                    </a:p>
                  </a:txBody>
                  <a:tcPr marL="101600" marR="101600" marT="38100" marB="38100" anchor="ctr">
                    <a:solidFill>
                      <a:srgbClr val="F7F7F5"/>
                    </a:solidFill>
                  </a:tcPr>
                </a:tc>
              </a:tr>
              <a:tr h="626534">
                <a:tc>
                  <a:txBody>
                    <a:bodyPr/>
                    <a:lstStyle/>
                    <a:p>
                      <a:r>
                        <a:rPr sz="1300" b="0">
                          <a:solidFill>
                            <a:srgbClr val="1C1C1A"/>
                          </a:solidFill>
                          <a:latin typeface="Calibri"/>
                        </a:rPr>
                        <a:t>discount</a:t>
                      </a:r>
                    </a:p>
                  </a:txBody>
                  <a:tcPr marL="101600" marR="101600" marT="38100" marB="38100" anchor="ctr">
                    <a:solidFill>
                      <a:srgbClr val="FFFFFF"/>
                    </a:solidFill>
                  </a:tcPr>
                </a:tc>
                <a:tc>
                  <a:txBody>
                    <a:bodyPr/>
                    <a:lstStyle/>
                    <a:p>
                      <a:r>
                        <a:rPr sz="1300" b="0">
                          <a:solidFill>
                            <a:srgbClr val="1C1C1A"/>
                          </a:solidFill>
                          <a:latin typeface="Calibri"/>
                        </a:rPr>
                        <a:t>11 of 50</a:t>
                      </a:r>
                    </a:p>
                  </a:txBody>
                  <a:tcPr marL="101600" marR="101600" marT="38100" marB="38100" anchor="ctr">
                    <a:solidFill>
                      <a:srgbClr val="FFFFFF"/>
                    </a:solidFill>
                  </a:tcPr>
                </a:tc>
                <a:tc>
                  <a:txBody>
                    <a:bodyPr/>
                    <a:lstStyle/>
                    <a:p>
                      <a:r>
                        <a:rPr sz="1300" b="0">
                          <a:solidFill>
                            <a:srgbClr val="1C1C1A"/>
                          </a:solidFill>
                          <a:latin typeface="Calibri"/>
                        </a:rPr>
                        <a:t>11</a:t>
                      </a:r>
                    </a:p>
                  </a:txBody>
                  <a:tcPr marL="101600" marR="101600" marT="38100" marB="38100" anchor="ctr">
                    <a:solidFill>
                      <a:srgbClr val="FFFFFF"/>
                    </a:solidFill>
                  </a:tcPr>
                </a:tc>
                <a:tc>
                  <a:txBody>
                    <a:bodyPr/>
                    <a:lstStyle/>
                    <a:p>
                      <a:r>
                        <a:rPr sz="1300" b="0">
                          <a:solidFill>
                            <a:srgbClr val="1C1C1A"/>
                          </a:solidFill>
                          <a:latin typeface="Calibri"/>
                        </a:rPr>
                        <a:t>9</a:t>
                      </a:r>
                    </a:p>
                  </a:txBody>
                  <a:tcPr marL="101600" marR="101600" marT="38100" marB="38100" anchor="ctr">
                    <a:solidFill>
                      <a:srgbClr val="FFFFFF"/>
                    </a:solidFill>
                  </a:tcPr>
                </a:tc>
                <a:tc>
                  <a:txBody>
                    <a:bodyPr/>
                    <a:lstStyle/>
                    <a:p>
                      <a:r>
                        <a:rPr sz="1300" b="0">
                          <a:solidFill>
                            <a:srgbClr val="1C1C1A"/>
                          </a:solidFill>
                          <a:latin typeface="Calibri"/>
                        </a:rPr>
                        <a:t>Optional. Everything present converts, so the gap here is absence rather than mess.</a:t>
                      </a:r>
                    </a:p>
                  </a:txBody>
                  <a:tcPr marL="101600" marR="101600" marT="38100" marB="38100" anchor="ctr">
                    <a:solidFill>
                      <a:srgbClr val="FFFFFF"/>
                    </a:solidFill>
                  </a:tcPr>
                </a:tc>
              </a:tr>
            </a:tbl>
          </a:graphicData>
        </a:graphic>
      </p:graphicFrame>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15 / 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Read a real column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2804160"/>
            <a:ext cx="10820095" cy="5425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804160"/>
            <a:ext cx="50292" cy="5425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2904744"/>
            <a:ext cx="10417759" cy="359663"/>
          </a:xfrm>
          <a:prstGeom prst="rect">
            <a:avLst/>
          </a:prstGeom>
          <a:noFill/>
        </p:spPr>
        <p:txBody>
          <a:bodyPr wrap="square" anchor="t">
            <a:spAutoFit/>
          </a:bodyPr>
          <a:lstStyle/>
          <a:p>
            <a:pPr>
              <a:spcAft>
                <a:spcPts val="200"/>
              </a:spcAft>
            </a:pPr>
            <a:r>
              <a:rPr sz="1600" b="0">
                <a:solidFill>
                  <a:srgbClr val="E4ECF7"/>
                </a:solidFill>
                <a:latin typeface="Consolas"/>
              </a:rPr>
              <a:t>amount    present 48/50   converts 44/50   distinct 46</a:t>
            </a:r>
          </a:p>
        </p:txBody>
      </p:sp>
      <p:sp>
        <p:nvSpPr>
          <p:cNvPr id="9" name="TextBox 8"/>
          <p:cNvSpPr txBox="1"/>
          <p:nvPr/>
        </p:nvSpPr>
        <p:spPr>
          <a:xfrm>
            <a:off x="685800" y="3511296"/>
            <a:ext cx="10820095" cy="1365504"/>
          </a:xfrm>
          <a:prstGeom prst="rect">
            <a:avLst/>
          </a:prstGeom>
          <a:noFill/>
        </p:spPr>
        <p:txBody>
          <a:bodyPr wrap="square" anchor="t">
            <a:spAutoFit/>
          </a:bodyPr>
          <a:lstStyle/>
          <a:p>
            <a:pPr>
              <a:spcAft>
                <a:spcPts val="900"/>
              </a:spcAft>
            </a:pPr>
            <a:r>
              <a:rPr sz="2000" b="0">
                <a:solidFill>
                  <a:srgbClr val="1C1C1A"/>
                </a:solidFill>
                <a:latin typeface="Calibri"/>
              </a:rPr>
              <a:t>Two orders have no amount. Four more have something that will not become a number. Forty six different values, so this is not a category.</a:t>
            </a:r>
          </a:p>
          <a:p>
            <a:pPr>
              <a:spcAft>
                <a:spcPts val="900"/>
              </a:spcAft>
            </a:pPr>
            <a:r>
              <a:rPr sz="2000" b="0">
                <a:solidFill>
                  <a:srgbClr val="1C1C1A"/>
                </a:solidFill>
                <a:latin typeface="Calibri"/>
              </a:rPr>
              <a:t>You have not touched the data and you already know where the work is.</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16 / 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D4</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six failures, named, and who fixes each</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A count tells you how many. A list tells you what to do about them.</a:t>
            </a:r>
          </a:p>
        </p:txBody>
      </p:sp>
      <p:graphicFrame>
        <p:nvGraphicFramePr>
          <p:cNvPr id="8" name="Table 7"/>
          <p:cNvGraphicFramePr>
            <a:graphicFrameLocks noGrp="1"/>
          </p:cNvGraphicFramePr>
          <p:nvPr/>
        </p:nvGraphicFramePr>
        <p:xfrm>
          <a:off x="685800" y="2320544"/>
          <a:ext cx="10820095" cy="3641341"/>
        </p:xfrm>
        <a:graphic>
          <a:graphicData uri="http://schemas.openxmlformats.org/drawingml/2006/table">
            <a:tbl>
              <a:tblPr firstRow="0" bandRow="0">
                <a:tableStyleId>{2D5ABB26-0587-4C30-8999-92F81FD0307C}</a:tableStyleId>
              </a:tblPr>
              <a:tblGrid>
                <a:gridCol w="2705023"/>
                <a:gridCol w="2705023"/>
                <a:gridCol w="2705023"/>
                <a:gridCol w="2705026"/>
              </a:tblGrid>
              <a:tr h="301059">
                <a:tc>
                  <a:txBody>
                    <a:bodyPr/>
                    <a:lstStyle/>
                    <a:p>
                      <a:r>
                        <a:rPr sz="1400" b="1">
                          <a:solidFill>
                            <a:srgbClr val="FFFFFF"/>
                          </a:solidFill>
                          <a:latin typeface="Calibri"/>
                        </a:rPr>
                        <a:t>Order</a:t>
                      </a:r>
                    </a:p>
                  </a:txBody>
                  <a:tcPr marL="101600" marR="101600" marT="38100" marB="38100" anchor="ctr">
                    <a:solidFill>
                      <a:srgbClr val="2B4A7D"/>
                    </a:solidFill>
                  </a:tcPr>
                </a:tc>
                <a:tc>
                  <a:txBody>
                    <a:bodyPr/>
                    <a:lstStyle/>
                    <a:p>
                      <a:r>
                        <a:rPr sz="1400" b="1">
                          <a:solidFill>
                            <a:srgbClr val="FFFFFF"/>
                          </a:solidFill>
                          <a:latin typeface="Calibri"/>
                        </a:rPr>
                        <a:t>The value that arrived</a:t>
                      </a:r>
                    </a:p>
                  </a:txBody>
                  <a:tcPr marL="101600" marR="101600" marT="38100" marB="38100" anchor="ctr">
                    <a:solidFill>
                      <a:srgbClr val="2B4A7D"/>
                    </a:solidFill>
                  </a:tcPr>
                </a:tc>
                <a:tc>
                  <a:txBody>
                    <a:bodyPr/>
                    <a:lstStyle/>
                    <a:p>
                      <a:r>
                        <a:rPr sz="1400" b="1">
                          <a:solidFill>
                            <a:srgbClr val="FFFFFF"/>
                          </a:solidFill>
                          <a:latin typeface="Calibri"/>
                        </a:rPr>
                        <a:t>What it actually is</a:t>
                      </a:r>
                    </a:p>
                  </a:txBody>
                  <a:tcPr marL="101600" marR="101600" marT="38100" marB="38100" anchor="ctr">
                    <a:solidFill>
                      <a:srgbClr val="2B4A7D"/>
                    </a:solidFill>
                  </a:tcPr>
                </a:tc>
                <a:tc>
                  <a:txBody>
                    <a:bodyPr/>
                    <a:lstStyle/>
                    <a:p>
                      <a:r>
                        <a:rPr sz="1400" b="1">
                          <a:solidFill>
                            <a:srgbClr val="FFFFFF"/>
                          </a:solidFill>
                          <a:latin typeface="Calibri"/>
                        </a:rPr>
                        <a:t>Who fixes it</a:t>
                      </a:r>
                    </a:p>
                  </a:txBody>
                  <a:tcPr marL="101600" marR="101600" marT="38100" marB="38100" anchor="ctr">
                    <a:solidFill>
                      <a:srgbClr val="2B4A7D"/>
                    </a:solidFill>
                  </a:tcPr>
                </a:tc>
              </a:tr>
              <a:tr h="492800">
                <a:tc>
                  <a:txBody>
                    <a:bodyPr/>
                    <a:lstStyle/>
                    <a:p>
                      <a:r>
                        <a:rPr sz="1300" b="0">
                          <a:solidFill>
                            <a:srgbClr val="1C1C1A"/>
                          </a:solidFill>
                          <a:latin typeface="Calibri"/>
                        </a:rPr>
                        <a:t>KR4210</a:t>
                      </a:r>
                    </a:p>
                  </a:txBody>
                  <a:tcPr marL="101600" marR="101600" marT="38100" marB="38100" anchor="ctr">
                    <a:solidFill>
                      <a:srgbClr val="FFFFFF"/>
                    </a:solidFill>
                  </a:tcPr>
                </a:tc>
                <a:tc>
                  <a:txBody>
                    <a:bodyPr/>
                    <a:lstStyle/>
                    <a:p>
                      <a:r>
                        <a:rPr sz="1300" b="0">
                          <a:solidFill>
                            <a:srgbClr val="1C1C1A"/>
                          </a:solidFill>
                          <a:latin typeface="Calibri"/>
                        </a:rPr>
                        <a:t>twelve</a:t>
                      </a:r>
                    </a:p>
                  </a:txBody>
                  <a:tcPr marL="101600" marR="101600" marT="38100" marB="38100" anchor="ctr">
                    <a:solidFill>
                      <a:srgbClr val="FFFFFF"/>
                    </a:solidFill>
                  </a:tcPr>
                </a:tc>
                <a:tc>
                  <a:txBody>
                    <a:bodyPr/>
                    <a:lstStyle/>
                    <a:p>
                      <a:r>
                        <a:rPr sz="1300" b="0">
                          <a:solidFill>
                            <a:srgbClr val="1C1C1A"/>
                          </a:solidFill>
                          <a:latin typeface="Calibri"/>
                        </a:rPr>
                        <a:t>A word where a number belongs, probably typed by a person</a:t>
                      </a:r>
                    </a:p>
                  </a:txBody>
                  <a:tcPr marL="101600" marR="101600" marT="38100" marB="38100" anchor="ctr">
                    <a:solidFill>
                      <a:srgbClr val="FFFFFF"/>
                    </a:solidFill>
                  </a:tcPr>
                </a:tc>
                <a:tc>
                  <a:txBody>
                    <a:bodyPr/>
                    <a:lstStyle/>
                    <a:p>
                      <a:r>
                        <a:rPr sz="1300" b="0">
                          <a:solidFill>
                            <a:srgbClr val="1C1C1A"/>
                          </a:solidFill>
                          <a:latin typeface="Calibri"/>
                        </a:rPr>
                        <a:t>Whoever owns data entry upstream</a:t>
                      </a:r>
                    </a:p>
                  </a:txBody>
                  <a:tcPr marL="101600" marR="101600" marT="38100" marB="38100" anchor="ctr">
                    <a:solidFill>
                      <a:srgbClr val="FFFFFF"/>
                    </a:solidFill>
                  </a:tcPr>
                </a:tc>
              </a:tr>
              <a:tr h="684541">
                <a:tc>
                  <a:txBody>
                    <a:bodyPr/>
                    <a:lstStyle/>
                    <a:p>
                      <a:r>
                        <a:rPr sz="1300" b="0">
                          <a:solidFill>
                            <a:srgbClr val="1C1C1A"/>
                          </a:solidFill>
                          <a:latin typeface="Calibri"/>
                        </a:rPr>
                        <a:t>KR4214</a:t>
                      </a:r>
                    </a:p>
                  </a:txBody>
                  <a:tcPr marL="101600" marR="101600" marT="38100" marB="38100" anchor="ctr">
                    <a:solidFill>
                      <a:srgbClr val="F7F7F5"/>
                    </a:solidFill>
                  </a:tcPr>
                </a:tc>
                <a:tc>
                  <a:txBody>
                    <a:bodyPr/>
                    <a:lstStyle/>
                    <a:p>
                      <a:r>
                        <a:rPr sz="1300" b="0">
                          <a:solidFill>
                            <a:srgbClr val="1C1C1A"/>
                          </a:solidFill>
                          <a:latin typeface="Calibri"/>
                        </a:rPr>
                        <a:t>empty</a:t>
                      </a:r>
                    </a:p>
                  </a:txBody>
                  <a:tcPr marL="101600" marR="101600" marT="38100" marB="38100" anchor="ctr">
                    <a:solidFill>
                      <a:srgbClr val="F7F7F5"/>
                    </a:solidFill>
                  </a:tcPr>
                </a:tc>
                <a:tc>
                  <a:txBody>
                    <a:bodyPr/>
                    <a:lstStyle/>
                    <a:p>
                      <a:r>
                        <a:rPr sz="1300" b="0">
                          <a:solidFill>
                            <a:srgbClr val="1C1C1A"/>
                          </a:solidFill>
                          <a:latin typeface="Calibri"/>
                        </a:rPr>
                        <a:t>The value is absent in the CSV, and the JSON still carries 2840 one level down</a:t>
                      </a:r>
                    </a:p>
                  </a:txBody>
                  <a:tcPr marL="101600" marR="101600" marT="38100" marB="38100" anchor="ctr">
                    <a:solidFill>
                      <a:srgbClr val="F7F7F5"/>
                    </a:solidFill>
                  </a:tcPr>
                </a:tc>
                <a:tc>
                  <a:txBody>
                    <a:bodyPr/>
                    <a:lstStyle/>
                    <a:p>
                      <a:r>
                        <a:rPr sz="1300" b="0">
                          <a:solidFill>
                            <a:srgbClr val="1C1C1A"/>
                          </a:solidFill>
                          <a:latin typeface="Calibri"/>
                        </a:rPr>
                        <a:t>Recoverable by you, from the other file</a:t>
                      </a:r>
                    </a:p>
                  </a:txBody>
                  <a:tcPr marL="101600" marR="101600" marT="38100" marB="38100" anchor="ctr">
                    <a:solidFill>
                      <a:srgbClr val="F7F7F5"/>
                    </a:solidFill>
                  </a:tcPr>
                </a:tc>
              </a:tr>
              <a:tr h="492800">
                <a:tc>
                  <a:txBody>
                    <a:bodyPr/>
                    <a:lstStyle/>
                    <a:p>
                      <a:r>
                        <a:rPr sz="1300" b="0">
                          <a:solidFill>
                            <a:srgbClr val="1C1C1A"/>
                          </a:solidFill>
                          <a:latin typeface="Calibri"/>
                        </a:rPr>
                        <a:t>KR4237</a:t>
                      </a:r>
                    </a:p>
                  </a:txBody>
                  <a:tcPr marL="101600" marR="101600" marT="38100" marB="38100" anchor="ctr">
                    <a:solidFill>
                      <a:srgbClr val="FFFFFF"/>
                    </a:solidFill>
                  </a:tcPr>
                </a:tc>
                <a:tc>
                  <a:txBody>
                    <a:bodyPr/>
                    <a:lstStyle/>
                    <a:p>
                      <a:r>
                        <a:rPr sz="1300" b="0">
                          <a:solidFill>
                            <a:srgbClr val="1C1C1A"/>
                          </a:solidFill>
                          <a:latin typeface="Calibri"/>
                        </a:rPr>
                        <a:t>empty</a:t>
                      </a:r>
                    </a:p>
                  </a:txBody>
                  <a:tcPr marL="101600" marR="101600" marT="38100" marB="38100" anchor="ctr">
                    <a:solidFill>
                      <a:srgbClr val="FFFFFF"/>
                    </a:solidFill>
                  </a:tcPr>
                </a:tc>
                <a:tc>
                  <a:txBody>
                    <a:bodyPr/>
                    <a:lstStyle/>
                    <a:p>
                      <a:r>
                        <a:rPr sz="1300" b="0">
                          <a:solidFill>
                            <a:srgbClr val="1C1C1A"/>
                          </a:solidFill>
                          <a:latin typeface="Calibri"/>
                        </a:rPr>
                        <a:t>Absent in both files, so genuinely lost</a:t>
                      </a:r>
                    </a:p>
                  </a:txBody>
                  <a:tcPr marL="101600" marR="101600" marT="38100" marB="38100" anchor="ctr">
                    <a:solidFill>
                      <a:srgbClr val="FFFFFF"/>
                    </a:solidFill>
                  </a:tcPr>
                </a:tc>
                <a:tc>
                  <a:txBody>
                    <a:bodyPr/>
                    <a:lstStyle/>
                    <a:p>
                      <a:r>
                        <a:rPr sz="1300" b="0">
                          <a:solidFill>
                            <a:srgbClr val="1C1C1A"/>
                          </a:solidFill>
                          <a:latin typeface="Calibri"/>
                        </a:rPr>
                        <a:t>Nobody. It is rejected and reported.</a:t>
                      </a:r>
                    </a:p>
                  </a:txBody>
                  <a:tcPr marL="101600" marR="101600" marT="38100" marB="38100" anchor="ctr">
                    <a:solidFill>
                      <a:srgbClr val="FFFFFF"/>
                    </a:solidFill>
                  </a:tcPr>
                </a:tc>
              </a:tr>
              <a:tr h="684541">
                <a:tc>
                  <a:txBody>
                    <a:bodyPr/>
                    <a:lstStyle/>
                    <a:p>
                      <a:r>
                        <a:rPr sz="1300" b="0">
                          <a:solidFill>
                            <a:srgbClr val="1C1C1A"/>
                          </a:solidFill>
                          <a:latin typeface="Calibri"/>
                        </a:rPr>
                        <a:t>KR4231</a:t>
                      </a:r>
                    </a:p>
                  </a:txBody>
                  <a:tcPr marL="101600" marR="101600" marT="38100" marB="38100" anchor="ctr">
                    <a:solidFill>
                      <a:srgbClr val="F7F7F5"/>
                    </a:solidFill>
                  </a:tcPr>
                </a:tc>
                <a:tc>
                  <a:txBody>
                    <a:bodyPr/>
                    <a:lstStyle/>
                    <a:p>
                      <a:r>
                        <a:rPr sz="1300" b="0">
                          <a:solidFill>
                            <a:srgbClr val="1C1C1A"/>
                          </a:solidFill>
                          <a:latin typeface="Calibri"/>
                        </a:rPr>
                        <a:t>12,400</a:t>
                      </a:r>
                    </a:p>
                  </a:txBody>
                  <a:tcPr marL="101600" marR="101600" marT="38100" marB="38100" anchor="ctr">
                    <a:solidFill>
                      <a:srgbClr val="F7F7F5"/>
                    </a:solidFill>
                  </a:tcPr>
                </a:tc>
                <a:tc>
                  <a:txBody>
                    <a:bodyPr/>
                    <a:lstStyle/>
                    <a:p>
                      <a:r>
                        <a:rPr sz="1300" b="0">
                          <a:solidFill>
                            <a:srgbClr val="1C1C1A"/>
                          </a:solidFill>
                          <a:latin typeface="Calibri"/>
                        </a:rPr>
                        <a:t>A number with a thousands separator, so a formatting convention leaked into the data</a:t>
                      </a:r>
                    </a:p>
                  </a:txBody>
                  <a:tcPr marL="101600" marR="101600" marT="38100" marB="38100" anchor="ctr">
                    <a:solidFill>
                      <a:srgbClr val="F7F7F5"/>
                    </a:solidFill>
                  </a:tcPr>
                </a:tc>
                <a:tc>
                  <a:txBody>
                    <a:bodyPr/>
                    <a:lstStyle/>
                    <a:p>
                      <a:r>
                        <a:rPr sz="1300" b="0">
                          <a:solidFill>
                            <a:srgbClr val="1C1C1A"/>
                          </a:solidFill>
                          <a:latin typeface="Calibri"/>
                        </a:rPr>
                        <a:t>A parsing rule you can write</a:t>
                      </a:r>
                    </a:p>
                  </a:txBody>
                  <a:tcPr marL="101600" marR="101600" marT="38100" marB="38100" anchor="ctr">
                    <a:solidFill>
                      <a:srgbClr val="F7F7F5"/>
                    </a:solidFill>
                  </a:tcPr>
                </a:tc>
              </a:tr>
              <a:tr h="684541">
                <a:tc>
                  <a:txBody>
                    <a:bodyPr/>
                    <a:lstStyle/>
                    <a:p>
                      <a:r>
                        <a:rPr sz="1300" b="0">
                          <a:solidFill>
                            <a:srgbClr val="1C1C1A"/>
                          </a:solidFill>
                          <a:latin typeface="Calibri"/>
                        </a:rPr>
                        <a:t>KR4235</a:t>
                      </a:r>
                    </a:p>
                  </a:txBody>
                  <a:tcPr marL="101600" marR="101600" marT="38100" marB="38100" anchor="ctr">
                    <a:solidFill>
                      <a:srgbClr val="FFFFFF"/>
                    </a:solidFill>
                  </a:tcPr>
                </a:tc>
                <a:tc>
                  <a:txBody>
                    <a:bodyPr/>
                    <a:lstStyle/>
                    <a:p>
                      <a:r>
                        <a:rPr sz="1300" b="0">
                          <a:solidFill>
                            <a:srgbClr val="1C1C1A"/>
                          </a:solidFill>
                          <a:latin typeface="Calibri"/>
                        </a:rPr>
                        <a:t>24 500</a:t>
                      </a:r>
                    </a:p>
                  </a:txBody>
                  <a:tcPr marL="101600" marR="101600" marT="38100" marB="38100" anchor="ctr">
                    <a:solidFill>
                      <a:srgbClr val="FFFFFF"/>
                    </a:solidFill>
                  </a:tcPr>
                </a:tc>
                <a:tc>
                  <a:txBody>
                    <a:bodyPr/>
                    <a:lstStyle/>
                    <a:p>
                      <a:r>
                        <a:rPr sz="1300" b="0">
                          <a:solidFill>
                            <a:srgbClr val="1C1C1A"/>
                          </a:solidFill>
                          <a:latin typeface="Calibri"/>
                        </a:rPr>
                        <a:t>A number with a space inside it, from a locale that groups that way</a:t>
                      </a:r>
                    </a:p>
                  </a:txBody>
                  <a:tcPr marL="101600" marR="101600" marT="38100" marB="38100" anchor="ctr">
                    <a:solidFill>
                      <a:srgbClr val="FFFFFF"/>
                    </a:solidFill>
                  </a:tcPr>
                </a:tc>
                <a:tc>
                  <a:txBody>
                    <a:bodyPr/>
                    <a:lstStyle/>
                    <a:p>
                      <a:r>
                        <a:rPr sz="1300" b="0">
                          <a:solidFill>
                            <a:srgbClr val="1C1C1A"/>
                          </a:solidFill>
                          <a:latin typeface="Calibri"/>
                        </a:rPr>
                        <a:t>The same parsing rule</a:t>
                      </a:r>
                    </a:p>
                  </a:txBody>
                  <a:tcPr marL="101600" marR="101600" marT="38100" marB="38100" anchor="ctr">
                    <a:solidFill>
                      <a:srgbClr val="FFFFFF"/>
                    </a:solidFill>
                  </a:tcPr>
                </a:tc>
              </a:tr>
              <a:tr h="301059">
                <a:tc>
                  <a:txBody>
                    <a:bodyPr/>
                    <a:lstStyle/>
                    <a:p>
                      <a:r>
                        <a:rPr sz="1300" b="0">
                          <a:solidFill>
                            <a:srgbClr val="1C1C1A"/>
                          </a:solidFill>
                          <a:latin typeface="Calibri"/>
                        </a:rPr>
                        <a:t>KR4240</a:t>
                      </a:r>
                    </a:p>
                  </a:txBody>
                  <a:tcPr marL="101600" marR="101600" marT="38100" marB="38100" anchor="ctr">
                    <a:solidFill>
                      <a:srgbClr val="F7F7F5"/>
                    </a:solidFill>
                  </a:tcPr>
                </a:tc>
                <a:tc>
                  <a:txBody>
                    <a:bodyPr/>
                    <a:lstStyle/>
                    <a:p>
                      <a:r>
                        <a:rPr sz="1300" b="0">
                          <a:solidFill>
                            <a:srgbClr val="1C1C1A"/>
                          </a:solidFill>
                          <a:latin typeface="Calibri"/>
                        </a:rPr>
                        <a:t>Rs 8000</a:t>
                      </a:r>
                    </a:p>
                  </a:txBody>
                  <a:tcPr marL="101600" marR="101600" marT="38100" marB="38100" anchor="ctr">
                    <a:solidFill>
                      <a:srgbClr val="F7F7F5"/>
                    </a:solidFill>
                  </a:tcPr>
                </a:tc>
                <a:tc>
                  <a:txBody>
                    <a:bodyPr/>
                    <a:lstStyle/>
                    <a:p>
                      <a:r>
                        <a:rPr sz="1300" b="0">
                          <a:solidFill>
                            <a:srgbClr val="1C1C1A"/>
                          </a:solidFill>
                          <a:latin typeface="Calibri"/>
                        </a:rPr>
                        <a:t>A number with its unit attached</a:t>
                      </a:r>
                    </a:p>
                  </a:txBody>
                  <a:tcPr marL="101600" marR="101600" marT="38100" marB="38100" anchor="ctr">
                    <a:solidFill>
                      <a:srgbClr val="F7F7F5"/>
                    </a:solidFill>
                  </a:tcPr>
                </a:tc>
                <a:tc>
                  <a:txBody>
                    <a:bodyPr/>
                    <a:lstStyle/>
                    <a:p>
                      <a:r>
                        <a:rPr sz="1300" b="0">
                          <a:solidFill>
                            <a:srgbClr val="1C1C1A"/>
                          </a:solidFill>
                          <a:latin typeface="Calibri"/>
                        </a:rPr>
                        <a:t>The same parsing rule</a:t>
                      </a:r>
                    </a:p>
                  </a:txBody>
                  <a:tcPr marL="101600" marR="101600" marT="38100" marB="38100" anchor="ctr">
                    <a:solidFill>
                      <a:srgbClr val="F7F7F5"/>
                    </a:solidFill>
                  </a:tcPr>
                </a:tc>
              </a:tr>
            </a:tbl>
          </a:graphicData>
        </a:graphic>
      </p:graphicFrame>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17 / 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D5</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What distinct tells you about a field's job</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98ebd04075ad6547.png"/>
          <p:cNvPicPr>
            <a:picLocks noChangeAspect="1"/>
          </p:cNvPicPr>
          <p:nvPr/>
        </p:nvPicPr>
        <p:blipFill>
          <a:blip r:embed="rId2"/>
          <a:stretch>
            <a:fillRect/>
          </a:stretch>
        </p:blipFill>
        <p:spPr>
          <a:xfrm>
            <a:off x="1579668" y="1627632"/>
            <a:ext cx="9032359" cy="3115055"/>
          </a:xfrm>
          <a:prstGeom prst="rect">
            <a:avLst/>
          </a:prstGeom>
        </p:spPr>
      </p:pic>
      <p:sp>
        <p:nvSpPr>
          <p:cNvPr id="8" name="TextBox 7"/>
          <p:cNvSpPr txBox="1"/>
          <p:nvPr/>
        </p:nvSpPr>
        <p:spPr>
          <a:xfrm>
            <a:off x="685800" y="4852416"/>
            <a:ext cx="10820095" cy="1200912"/>
          </a:xfrm>
          <a:prstGeom prst="rect">
            <a:avLst/>
          </a:prstGeom>
          <a:noFill/>
        </p:spPr>
        <p:txBody>
          <a:bodyPr wrap="square" anchor="t">
            <a:spAutoFit/>
          </a:bodyPr>
          <a:lstStyle/>
          <a:p>
            <a:r>
              <a:rPr sz="2000" b="0">
                <a:solidFill>
                  <a:srgbClr val="1C1C1A"/>
                </a:solidFill>
                <a:latin typeface="Calibri"/>
              </a:rPr>
              <a:t>The count of distinct values against the row count tells you what kind of field you are holding, before anybody explains the schema. A field with four distinct values across fifty rows is something you can put on an axis. A field with forty six is not.</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18 / 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S13</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Step card, section 1</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882392"/>
            <a:ext cx="457200" cy="437896"/>
          </a:xfrm>
          <a:prstGeom prst="rect">
            <a:avLst/>
          </a:prstGeom>
          <a:noFill/>
        </p:spPr>
        <p:txBody>
          <a:bodyPr wrap="square" anchor="t">
            <a:spAutoFit/>
          </a:bodyPr>
          <a:lstStyle/>
          <a:p>
            <a:r>
              <a:rPr sz="1900" b="1">
                <a:solidFill>
                  <a:srgbClr val="2B4A7D"/>
                </a:solidFill>
                <a:latin typeface="Calibri"/>
              </a:rPr>
              <a:t>1</a:t>
            </a:r>
          </a:p>
        </p:txBody>
      </p:sp>
      <p:sp>
        <p:nvSpPr>
          <p:cNvPr id="7" name="TextBox 6"/>
          <p:cNvSpPr txBox="1"/>
          <p:nvPr/>
        </p:nvSpPr>
        <p:spPr>
          <a:xfrm>
            <a:off x="1143000" y="2882392"/>
            <a:ext cx="10362895" cy="437896"/>
          </a:xfrm>
          <a:prstGeom prst="rect">
            <a:avLst/>
          </a:prstGeom>
          <a:noFill/>
        </p:spPr>
        <p:txBody>
          <a:bodyPr wrap="square" anchor="t">
            <a:spAutoFit/>
          </a:bodyPr>
          <a:lstStyle/>
          <a:p>
            <a:r>
              <a:rPr sz="1900" b="0">
                <a:solidFill>
                  <a:srgbClr val="1C1C1A"/>
                </a:solidFill>
                <a:latin typeface="Calibri"/>
              </a:rPr>
              <a:t>Profile every field before changing any of them.</a:t>
            </a:r>
          </a:p>
        </p:txBody>
      </p:sp>
      <p:sp>
        <p:nvSpPr>
          <p:cNvPr id="8" name="TextBox 7"/>
          <p:cNvSpPr txBox="1"/>
          <p:nvPr/>
        </p:nvSpPr>
        <p:spPr>
          <a:xfrm>
            <a:off x="685800" y="3375152"/>
            <a:ext cx="457200" cy="437896"/>
          </a:xfrm>
          <a:prstGeom prst="rect">
            <a:avLst/>
          </a:prstGeom>
          <a:noFill/>
        </p:spPr>
        <p:txBody>
          <a:bodyPr wrap="square" anchor="t">
            <a:spAutoFit/>
          </a:bodyPr>
          <a:lstStyle/>
          <a:p>
            <a:r>
              <a:rPr sz="1900" b="1">
                <a:solidFill>
                  <a:srgbClr val="2B4A7D"/>
                </a:solidFill>
                <a:latin typeface="Calibri"/>
              </a:rPr>
              <a:t>2</a:t>
            </a:r>
          </a:p>
        </p:txBody>
      </p:sp>
      <p:sp>
        <p:nvSpPr>
          <p:cNvPr id="9" name="TextBox 8"/>
          <p:cNvSpPr txBox="1"/>
          <p:nvPr/>
        </p:nvSpPr>
        <p:spPr>
          <a:xfrm>
            <a:off x="1143000" y="3375152"/>
            <a:ext cx="10362895" cy="437896"/>
          </a:xfrm>
          <a:prstGeom prst="rect">
            <a:avLst/>
          </a:prstGeom>
          <a:noFill/>
        </p:spPr>
        <p:txBody>
          <a:bodyPr wrap="square" anchor="t">
            <a:spAutoFit/>
          </a:bodyPr>
          <a:lstStyle/>
          <a:p>
            <a:r>
              <a:rPr sz="1900" b="0">
                <a:solidFill>
                  <a:srgbClr val="1C1C1A"/>
                </a:solidFill>
                <a:latin typeface="Calibri"/>
              </a:rPr>
              <a:t>Three counts: present, converts, distinct.</a:t>
            </a:r>
          </a:p>
        </p:txBody>
      </p:sp>
      <p:sp>
        <p:nvSpPr>
          <p:cNvPr id="10" name="TextBox 9"/>
          <p:cNvSpPr txBox="1"/>
          <p:nvPr/>
        </p:nvSpPr>
        <p:spPr>
          <a:xfrm>
            <a:off x="685800" y="3867912"/>
            <a:ext cx="457200" cy="437896"/>
          </a:xfrm>
          <a:prstGeom prst="rect">
            <a:avLst/>
          </a:prstGeom>
          <a:noFill/>
        </p:spPr>
        <p:txBody>
          <a:bodyPr wrap="square" anchor="t">
            <a:spAutoFit/>
          </a:bodyPr>
          <a:lstStyle/>
          <a:p>
            <a:r>
              <a:rPr sz="1900" b="1">
                <a:solidFill>
                  <a:srgbClr val="2B4A7D"/>
                </a:solidFill>
                <a:latin typeface="Calibri"/>
              </a:rPr>
              <a:t>3</a:t>
            </a:r>
          </a:p>
        </p:txBody>
      </p:sp>
      <p:sp>
        <p:nvSpPr>
          <p:cNvPr id="11" name="TextBox 10"/>
          <p:cNvSpPr txBox="1"/>
          <p:nvPr/>
        </p:nvSpPr>
        <p:spPr>
          <a:xfrm>
            <a:off x="1143000" y="3867912"/>
            <a:ext cx="10362895" cy="437896"/>
          </a:xfrm>
          <a:prstGeom prst="rect">
            <a:avLst/>
          </a:prstGeom>
          <a:noFill/>
        </p:spPr>
        <p:txBody>
          <a:bodyPr wrap="square" anchor="t">
            <a:spAutoFit/>
          </a:bodyPr>
          <a:lstStyle/>
          <a:p>
            <a:r>
              <a:rPr sz="1900" b="0">
                <a:solidFill>
                  <a:srgbClr val="1C1C1A"/>
                </a:solidFill>
                <a:latin typeface="Calibri"/>
              </a:rPr>
              <a:t>The gap between present and converts is your work list.</a:t>
            </a:r>
          </a:p>
        </p:txBody>
      </p:sp>
      <p:sp>
        <p:nvSpPr>
          <p:cNvPr id="12" name="TextBox 11"/>
          <p:cNvSpPr txBox="1"/>
          <p:nvPr/>
        </p:nvSpPr>
        <p:spPr>
          <a:xfrm>
            <a:off x="685800" y="4360672"/>
            <a:ext cx="457200" cy="437896"/>
          </a:xfrm>
          <a:prstGeom prst="rect">
            <a:avLst/>
          </a:prstGeom>
          <a:noFill/>
        </p:spPr>
        <p:txBody>
          <a:bodyPr wrap="square" anchor="t">
            <a:spAutoFit/>
          </a:bodyPr>
          <a:lstStyle/>
          <a:p>
            <a:r>
              <a:rPr sz="1900" b="1">
                <a:solidFill>
                  <a:srgbClr val="2B4A7D"/>
                </a:solidFill>
                <a:latin typeface="Calibri"/>
              </a:rPr>
              <a:t>4</a:t>
            </a:r>
          </a:p>
        </p:txBody>
      </p:sp>
      <p:sp>
        <p:nvSpPr>
          <p:cNvPr id="13" name="TextBox 12"/>
          <p:cNvSpPr txBox="1"/>
          <p:nvPr/>
        </p:nvSpPr>
        <p:spPr>
          <a:xfrm>
            <a:off x="1143000" y="4360672"/>
            <a:ext cx="10362895" cy="437896"/>
          </a:xfrm>
          <a:prstGeom prst="rect">
            <a:avLst/>
          </a:prstGeom>
          <a:noFill/>
        </p:spPr>
        <p:txBody>
          <a:bodyPr wrap="square" anchor="t">
            <a:spAutoFit/>
          </a:bodyPr>
          <a:lstStyle/>
          <a:p>
            <a:r>
              <a:rPr sz="1900" b="0">
                <a:solidFill>
                  <a:srgbClr val="1C1C1A"/>
                </a:solidFill>
                <a:latin typeface="Calibri"/>
              </a:rPr>
              <a:t>A count that only rises cannot warn you.</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19 / 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2: DECIDING PER FIELD</a:t>
            </a:r>
          </a:p>
        </p:txBody>
      </p:sp>
      <p:sp>
        <p:nvSpPr>
          <p:cNvPr id="4" name="Rounded Rectangle 3"/>
          <p:cNvSpPr/>
          <p:nvPr/>
        </p:nvSpPr>
        <p:spPr>
          <a:xfrm>
            <a:off x="685800"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20 / 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S14</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A missing value is a decision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52b7276b00217747.png"/>
          <p:cNvPicPr>
            <a:picLocks noChangeAspect="1"/>
          </p:cNvPicPr>
          <p:nvPr/>
        </p:nvPicPr>
        <p:blipFill>
          <a:blip r:embed="rId2"/>
          <a:stretch>
            <a:fillRect/>
          </a:stretch>
        </p:blipFill>
        <p:spPr>
          <a:xfrm>
            <a:off x="685800" y="2417584"/>
            <a:ext cx="4652640" cy="2845790"/>
          </a:xfrm>
          <a:prstGeom prst="rect">
            <a:avLst/>
          </a:prstGeom>
        </p:spPr>
      </p:pic>
      <p:sp>
        <p:nvSpPr>
          <p:cNvPr id="7" name="TextBox 6"/>
          <p:cNvSpPr txBox="1"/>
          <p:nvPr/>
        </p:nvSpPr>
        <p:spPr>
          <a:xfrm>
            <a:off x="5771244" y="3385312"/>
            <a:ext cx="5734650" cy="910336"/>
          </a:xfrm>
          <a:prstGeom prst="rect">
            <a:avLst/>
          </a:prstGeom>
          <a:noFill/>
        </p:spPr>
        <p:txBody>
          <a:bodyPr wrap="square" anchor="t">
            <a:spAutoFit/>
          </a:bodyPr>
          <a:lstStyle/>
          <a:p>
            <a:pPr>
              <a:spcAft>
                <a:spcPts val="900"/>
              </a:spcAft>
            </a:pPr>
            <a:r>
              <a:rPr sz="2000" b="0">
                <a:solidFill>
                  <a:srgbClr val="1C1C1A"/>
                </a:solidFill>
                <a:latin typeface="Calibri"/>
              </a:rPr>
              <a:t>Not a defect to be removed. A decision, with three defensible answers and one written reason.</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21 / 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S15</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The decision, drawn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46caee4a3c94e2ce.png"/>
          <p:cNvPicPr>
            <a:picLocks noChangeAspect="1"/>
          </p:cNvPicPr>
          <p:nvPr/>
        </p:nvPicPr>
        <p:blipFill>
          <a:blip r:embed="rId2"/>
          <a:stretch>
            <a:fillRect/>
          </a:stretch>
        </p:blipFill>
        <p:spPr>
          <a:xfrm>
            <a:off x="1468273" y="1627632"/>
            <a:ext cx="3087694" cy="4425696"/>
          </a:xfrm>
          <a:prstGeom prst="rect">
            <a:avLst/>
          </a:prstGeom>
        </p:spPr>
      </p:pic>
      <p:sp>
        <p:nvSpPr>
          <p:cNvPr id="7" name="TextBox 6"/>
          <p:cNvSpPr txBox="1"/>
          <p:nvPr/>
        </p:nvSpPr>
        <p:spPr>
          <a:xfrm>
            <a:off x="5771244" y="3342132"/>
            <a:ext cx="5734650" cy="996696"/>
          </a:xfrm>
          <a:prstGeom prst="rect">
            <a:avLst/>
          </a:prstGeom>
          <a:noFill/>
        </p:spPr>
        <p:txBody>
          <a:bodyPr wrap="square" anchor="t">
            <a:spAutoFit/>
          </a:bodyPr>
          <a:lstStyle/>
          <a:p>
            <a:pPr>
              <a:spcAft>
                <a:spcPts val="700"/>
              </a:spcAft>
            </a:pPr>
            <a:r>
              <a:rPr sz="1500" b="0">
                <a:solidFill>
                  <a:srgbClr val="1C1C1A"/>
                </a:solidFill>
                <a:latin typeface="Calibri"/>
              </a:rPr>
              <a:t>Three branches, and the box at the bottom is the price of the middle one. It is a price worth paying sometimes, and never worth paying by accident.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22 / 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S16</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The three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685800" y="2677668"/>
          <a:ext cx="10820095" cy="2325624"/>
        </p:xfrm>
        <a:graphic>
          <a:graphicData uri="http://schemas.openxmlformats.org/drawingml/2006/table">
            <a:tbl>
              <a:tblPr firstRow="0" bandRow="0">
                <a:tableStyleId>{2D5ABB26-0587-4C30-8999-92F81FD0307C}</a:tableStyleId>
              </a:tblPr>
              <a:tblGrid>
                <a:gridCol w="3606698"/>
                <a:gridCol w="3606698"/>
                <a:gridCol w="3606699"/>
              </a:tblGrid>
              <a:tr h="387096">
                <a:tc>
                  <a:txBody>
                    <a:bodyPr/>
                    <a:lstStyle/>
                    <a:p>
                      <a:r>
                        <a:rPr sz="1600" b="1">
                          <a:solidFill>
                            <a:srgbClr val="FFFFFF"/>
                          </a:solidFill>
                          <a:latin typeface="Calibri"/>
                        </a:rPr>
                        <a:t>Choice</a:t>
                      </a:r>
                    </a:p>
                  </a:txBody>
                  <a:tcPr marL="101600" marR="101600" marT="38100" marB="38100" anchor="ctr">
                    <a:solidFill>
                      <a:srgbClr val="2B4A7D"/>
                    </a:solidFill>
                  </a:tcPr>
                </a:tc>
                <a:tc>
                  <a:txBody>
                    <a:bodyPr/>
                    <a:lstStyle/>
                    <a:p>
                      <a:r>
                        <a:rPr sz="1600" b="1">
                          <a:solidFill>
                            <a:srgbClr val="FFFFFF"/>
                          </a:solidFill>
                          <a:latin typeface="Calibri"/>
                        </a:rPr>
                        <a:t>Use it when</a:t>
                      </a:r>
                    </a:p>
                  </a:txBody>
                  <a:tcPr marL="101600" marR="101600" marT="38100" marB="38100" anchor="ctr">
                    <a:solidFill>
                      <a:srgbClr val="2B4A7D"/>
                    </a:solidFill>
                  </a:tcPr>
                </a:tc>
                <a:tc>
                  <a:txBody>
                    <a:bodyPr/>
                    <a:lstStyle/>
                    <a:p>
                      <a:r>
                        <a:rPr sz="1600" b="1">
                          <a:solidFill>
                            <a:srgbClr val="FFFFFF"/>
                          </a:solidFill>
                          <a:latin typeface="Calibri"/>
                        </a:rPr>
                        <a:t>It costs you</a:t>
                      </a:r>
                    </a:p>
                  </a:txBody>
                  <a:tcPr marL="101600" marR="101600" marT="38100" marB="38100" anchor="ctr">
                    <a:solidFill>
                      <a:srgbClr val="2B4A7D"/>
                    </a:solidFill>
                  </a:tcPr>
                </a:tc>
              </a:tr>
              <a:tr h="646176">
                <a:tc>
                  <a:txBody>
                    <a:bodyPr/>
                    <a:lstStyle/>
                    <a:p>
                      <a:r>
                        <a:rPr sz="1500" b="0">
                          <a:solidFill>
                            <a:srgbClr val="1C1C1A"/>
                          </a:solidFill>
                          <a:latin typeface="Calibri"/>
                        </a:rPr>
                        <a:t>Drop the record</a:t>
                      </a:r>
                    </a:p>
                  </a:txBody>
                  <a:tcPr marL="101600" marR="101600" marT="38100" marB="38100" anchor="ctr">
                    <a:solidFill>
                      <a:srgbClr val="FFFFFF"/>
                    </a:solidFill>
                  </a:tcPr>
                </a:tc>
                <a:tc>
                  <a:txBody>
                    <a:bodyPr/>
                    <a:lstStyle/>
                    <a:p>
                      <a:r>
                        <a:rPr sz="1500" b="0">
                          <a:solidFill>
                            <a:srgbClr val="1C1C1A"/>
                          </a:solidFill>
                          <a:latin typeface="Calibri"/>
                        </a:rPr>
                        <a:t>The field is required and the record is unusable without it</a:t>
                      </a:r>
                    </a:p>
                  </a:txBody>
                  <a:tcPr marL="101600" marR="101600" marT="38100" marB="38100" anchor="ctr">
                    <a:solidFill>
                      <a:srgbClr val="FFFFFF"/>
                    </a:solidFill>
                  </a:tcPr>
                </a:tc>
                <a:tc>
                  <a:txBody>
                    <a:bodyPr/>
                    <a:lstStyle/>
                    <a:p>
                      <a:r>
                        <a:rPr sz="1500" b="0">
                          <a:solidFill>
                            <a:srgbClr val="1C1C1A"/>
                          </a:solidFill>
                          <a:latin typeface="Calibri"/>
                        </a:rPr>
                        <a:t>Every other field on that record</a:t>
                      </a:r>
                    </a:p>
                  </a:txBody>
                  <a:tcPr marL="101600" marR="101600" marT="38100" marB="38100" anchor="ctr">
                    <a:solidFill>
                      <a:srgbClr val="FFFFFF"/>
                    </a:solidFill>
                  </a:tcPr>
                </a:tc>
              </a:tr>
              <a:tr h="646176">
                <a:tc>
                  <a:txBody>
                    <a:bodyPr/>
                    <a:lstStyle/>
                    <a:p>
                      <a:r>
                        <a:rPr sz="1500" b="0">
                          <a:solidFill>
                            <a:srgbClr val="1C1C1A"/>
                          </a:solidFill>
                          <a:latin typeface="Calibri"/>
                        </a:rPr>
                        <a:t>Use a stated default</a:t>
                      </a:r>
                    </a:p>
                  </a:txBody>
                  <a:tcPr marL="101600" marR="101600" marT="38100" marB="38100" anchor="ctr">
                    <a:solidFill>
                      <a:srgbClr val="F7F7F5"/>
                    </a:solidFill>
                  </a:tcPr>
                </a:tc>
                <a:tc>
                  <a:txBody>
                    <a:bodyPr/>
                    <a:lstStyle/>
                    <a:p>
                      <a:r>
                        <a:rPr sz="1500" b="0">
                          <a:solidFill>
                            <a:srgbClr val="1C1C1A"/>
                          </a:solidFill>
                          <a:latin typeface="Calibri"/>
                        </a:rPr>
                        <a:t>Absence genuinely means something, and you can say what</a:t>
                      </a:r>
                    </a:p>
                  </a:txBody>
                  <a:tcPr marL="101600" marR="101600" marT="38100" marB="38100" anchor="ctr">
                    <a:solidFill>
                      <a:srgbClr val="F7F7F5"/>
                    </a:solidFill>
                  </a:tcPr>
                </a:tc>
                <a:tc>
                  <a:txBody>
                    <a:bodyPr/>
                    <a:lstStyle/>
                    <a:p>
                      <a:r>
                        <a:rPr sz="1500" b="0">
                          <a:solidFill>
                            <a:srgbClr val="1C1C1A"/>
                          </a:solidFill>
                          <a:latin typeface="Calibri"/>
                        </a:rPr>
                        <a:t>The ability to tell absent from present-and-equal-to-the-default</a:t>
                      </a:r>
                    </a:p>
                  </a:txBody>
                  <a:tcPr marL="101600" marR="101600" marT="38100" marB="38100" anchor="ctr">
                    <a:solidFill>
                      <a:srgbClr val="F7F7F5"/>
                    </a:solidFill>
                  </a:tcPr>
                </a:tc>
              </a:tr>
              <a:tr h="646176">
                <a:tc>
                  <a:txBody>
                    <a:bodyPr/>
                    <a:lstStyle/>
                    <a:p>
                      <a:r>
                        <a:rPr sz="1500" b="0">
                          <a:solidFill>
                            <a:srgbClr val="1C1C1A"/>
                          </a:solidFill>
                          <a:latin typeface="Calibri"/>
                        </a:rPr>
                        <a:t>Keep and flag</a:t>
                      </a:r>
                    </a:p>
                  </a:txBody>
                  <a:tcPr marL="101600" marR="101600" marT="38100" marB="38100" anchor="ctr">
                    <a:solidFill>
                      <a:srgbClr val="FFFFFF"/>
                    </a:solidFill>
                  </a:tcPr>
                </a:tc>
                <a:tc>
                  <a:txBody>
                    <a:bodyPr/>
                    <a:lstStyle/>
                    <a:p>
                      <a:r>
                        <a:rPr sz="1500" b="0">
                          <a:solidFill>
                            <a:srgbClr val="1C1C1A"/>
                          </a:solidFill>
                          <a:latin typeface="Calibri"/>
                        </a:rPr>
                        <a:t>You need the record and the gap must travel with it</a:t>
                      </a:r>
                    </a:p>
                  </a:txBody>
                  <a:tcPr marL="101600" marR="101600" marT="38100" marB="38100" anchor="ctr">
                    <a:solidFill>
                      <a:srgbClr val="FFFFFF"/>
                    </a:solidFill>
                  </a:tcPr>
                </a:tc>
                <a:tc>
                  <a:txBody>
                    <a:bodyPr/>
                    <a:lstStyle/>
                    <a:p>
                      <a:r>
                        <a:rPr sz="1500" b="0">
                          <a:solidFill>
                            <a:srgbClr val="1C1C1A"/>
                          </a:solidFill>
                          <a:latin typeface="Calibri"/>
                        </a:rPr>
                        <a:t>Every downstream reader has to handle the flag</a:t>
                      </a:r>
                    </a:p>
                  </a:txBody>
                  <a:tcPr marL="101600" marR="101600" marT="38100" marB="38100" anchor="ctr">
                    <a:solidFill>
                      <a:srgbClr val="FFFFFF"/>
                    </a:solidFill>
                  </a:tcPr>
                </a:tc>
              </a:tr>
            </a:tbl>
          </a:graphicData>
        </a:graphic>
      </p:graphicFrame>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23 / 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S17</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Applied to two real columns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30144"/>
            <a:ext cx="10820095" cy="1820672"/>
          </a:xfrm>
          <a:prstGeom prst="rect">
            <a:avLst/>
          </a:prstGeom>
          <a:noFill/>
        </p:spPr>
        <p:txBody>
          <a:bodyPr wrap="square" anchor="t">
            <a:spAutoFit/>
          </a:bodyPr>
          <a:lstStyle/>
          <a:p>
            <a:pPr>
              <a:spcAft>
                <a:spcPts val="900"/>
              </a:spcAft>
            </a:pPr>
            <a:r>
              <a:rPr sz="2000" b="0">
                <a:solidFill>
                  <a:srgbClr val="1C1C1A"/>
                </a:solidFill>
                <a:latin typeface="Calibri"/>
              </a:rPr>
              <a:t>amount is required. Two orders have none, so they are set aside with a reason.</a:t>
            </a:r>
          </a:p>
          <a:p>
            <a:pPr>
              <a:spcAft>
                <a:spcPts val="900"/>
              </a:spcAft>
            </a:pPr>
            <a:r>
              <a:rPr sz="2000" b="0">
                <a:solidFill>
                  <a:srgbClr val="1C1C1A"/>
                </a:solidFill>
                <a:latin typeface="Calibri"/>
              </a:rPr>
              <a:t>discount is optional and absent on 39 of 50. Absence there means no discount was applied, which is a fact rather than a gap.</a:t>
            </a:r>
          </a:p>
          <a:p>
            <a:pPr>
              <a:spcAft>
                <a:spcPts val="900"/>
              </a:spcAft>
            </a:pPr>
            <a:r>
              <a:rPr sz="2000" b="0">
                <a:solidFill>
                  <a:srgbClr val="1C1C1A"/>
                </a:solidFill>
                <a:latin typeface="Calibri"/>
              </a:rPr>
              <a:t>Same dataset, same day, opposite decisions, and both are written down.</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24 / 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D6</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same two columns, and what each choice costs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Suppose you took the easy option on both and filled every gap with zero.</a:t>
            </a:r>
          </a:p>
        </p:txBody>
      </p:sp>
      <p:graphicFrame>
        <p:nvGraphicFramePr>
          <p:cNvPr id="8" name="Table 7"/>
          <p:cNvGraphicFramePr>
            <a:graphicFrameLocks noGrp="1"/>
          </p:cNvGraphicFramePr>
          <p:nvPr/>
        </p:nvGraphicFramePr>
        <p:xfrm>
          <a:off x="685800" y="2320544"/>
          <a:ext cx="10820095" cy="2404872"/>
        </p:xfrm>
        <a:graphic>
          <a:graphicData uri="http://schemas.openxmlformats.org/drawingml/2006/table">
            <a:tbl>
              <a:tblPr firstRow="0" bandRow="0">
                <a:tableStyleId>{2D5ABB26-0587-4C30-8999-92F81FD0307C}</a:tableStyleId>
              </a:tblPr>
              <a:tblGrid>
                <a:gridCol w="2705023"/>
                <a:gridCol w="2705023"/>
                <a:gridCol w="2705023"/>
                <a:gridCol w="2705026"/>
              </a:tblGrid>
              <a:tr h="352552">
                <a:tc>
                  <a:txBody>
                    <a:bodyPr/>
                    <a:lstStyle/>
                    <a:p>
                      <a:r>
                        <a:rPr sz="1400" b="1">
                          <a:solidFill>
                            <a:srgbClr val="FFFFFF"/>
                          </a:solidFill>
                          <a:latin typeface="Calibri"/>
                        </a:rPr>
                        <a:t>Column</a:t>
                      </a:r>
                    </a:p>
                  </a:txBody>
                  <a:tcPr marL="101600" marR="101600" marT="38100" marB="38100" anchor="ctr">
                    <a:solidFill>
                      <a:srgbClr val="2B4A7D"/>
                    </a:solidFill>
                  </a:tcPr>
                </a:tc>
                <a:tc>
                  <a:txBody>
                    <a:bodyPr/>
                    <a:lstStyle/>
                    <a:p>
                      <a:r>
                        <a:rPr sz="1400" b="1">
                          <a:solidFill>
                            <a:srgbClr val="FFFFFF"/>
                          </a:solidFill>
                          <a:latin typeface="Calibri"/>
                        </a:rPr>
                        <a:t>Rows affected</a:t>
                      </a:r>
                    </a:p>
                  </a:txBody>
                  <a:tcPr marL="101600" marR="101600" marT="38100" marB="38100" anchor="ctr">
                    <a:solidFill>
                      <a:srgbClr val="2B4A7D"/>
                    </a:solidFill>
                  </a:tcPr>
                </a:tc>
                <a:tc>
                  <a:txBody>
                    <a:bodyPr/>
                    <a:lstStyle/>
                    <a:p>
                      <a:r>
                        <a:rPr sz="1400" b="1">
                          <a:solidFill>
                            <a:srgbClr val="FFFFFF"/>
                          </a:solidFill>
                          <a:latin typeface="Calibri"/>
                        </a:rPr>
                        <a:t>What the number becomes</a:t>
                      </a:r>
                    </a:p>
                  </a:txBody>
                  <a:tcPr marL="101600" marR="101600" marT="38100" marB="38100" anchor="ctr">
                    <a:solidFill>
                      <a:srgbClr val="2B4A7D"/>
                    </a:solidFill>
                  </a:tcPr>
                </a:tc>
                <a:tc>
                  <a:txBody>
                    <a:bodyPr/>
                    <a:lstStyle/>
                    <a:p>
                      <a:r>
                        <a:rPr sz="1400" b="1">
                          <a:solidFill>
                            <a:srgbClr val="FFFFFF"/>
                          </a:solidFill>
                          <a:latin typeface="Calibri"/>
                        </a:rPr>
                        <a:t>What you can no longer answer</a:t>
                      </a:r>
                    </a:p>
                  </a:txBody>
                  <a:tcPr marL="101600" marR="101600" marT="38100" marB="38100" anchor="ctr">
                    <a:solidFill>
                      <a:srgbClr val="2B4A7D"/>
                    </a:solidFill>
                  </a:tcPr>
                </a:tc>
              </a:tr>
              <a:tr h="1026160">
                <a:tc>
                  <a:txBody>
                    <a:bodyPr/>
                    <a:lstStyle/>
                    <a:p>
                      <a:r>
                        <a:rPr sz="1300" b="0">
                          <a:solidFill>
                            <a:srgbClr val="1C1C1A"/>
                          </a:solidFill>
                          <a:latin typeface="Calibri"/>
                        </a:rPr>
                        <a:t>amount</a:t>
                      </a:r>
                    </a:p>
                  </a:txBody>
                  <a:tcPr marL="101600" marR="101600" marT="38100" marB="38100" anchor="ctr">
                    <a:solidFill>
                      <a:srgbClr val="FFFFFF"/>
                    </a:solidFill>
                  </a:tcPr>
                </a:tc>
                <a:tc>
                  <a:txBody>
                    <a:bodyPr/>
                    <a:lstStyle/>
                    <a:p>
                      <a:r>
                        <a:rPr sz="1300" b="0">
                          <a:solidFill>
                            <a:srgbClr val="1C1C1A"/>
                          </a:solidFill>
                          <a:latin typeface="Calibri"/>
                        </a:rPr>
                        <a:t>6 of 50</a:t>
                      </a:r>
                    </a:p>
                  </a:txBody>
                  <a:tcPr marL="101600" marR="101600" marT="38100" marB="38100" anchor="ctr">
                    <a:solidFill>
                      <a:srgbClr val="FFFFFF"/>
                    </a:solidFill>
                  </a:tcPr>
                </a:tc>
                <a:tc>
                  <a:txBody>
                    <a:bodyPr/>
                    <a:lstStyle/>
                    <a:p>
                      <a:r>
                        <a:rPr sz="1300" b="0">
                          <a:solidFill>
                            <a:srgbClr val="1C1C1A"/>
                          </a:solidFill>
                          <a:latin typeface="Calibri"/>
                        </a:rPr>
                        <a:t>Six orders worth Rs 0, so the order count rises to 50 and the total does not move</a:t>
                      </a:r>
                    </a:p>
                  </a:txBody>
                  <a:tcPr marL="101600" marR="101600" marT="38100" marB="38100" anchor="ctr">
                    <a:solidFill>
                      <a:srgbClr val="FFFFFF"/>
                    </a:solidFill>
                  </a:tcPr>
                </a:tc>
                <a:tc>
                  <a:txBody>
                    <a:bodyPr/>
                    <a:lstStyle/>
                    <a:p>
                      <a:r>
                        <a:rPr sz="1300" b="0">
                          <a:solidFill>
                            <a:srgbClr val="1C1C1A"/>
                          </a:solidFill>
                          <a:latin typeface="Calibri"/>
                        </a:rPr>
                        <a:t>How many orders you actually have a value for, which is the denominator of every average you will compute tomorrow</a:t>
                      </a:r>
                    </a:p>
                  </a:txBody>
                  <a:tcPr marL="101600" marR="101600" marT="38100" marB="38100" anchor="ctr">
                    <a:solidFill>
                      <a:srgbClr val="FFFFFF"/>
                    </a:solidFill>
                  </a:tcPr>
                </a:tc>
              </a:tr>
              <a:tr h="1026160">
                <a:tc>
                  <a:txBody>
                    <a:bodyPr/>
                    <a:lstStyle/>
                    <a:p>
                      <a:r>
                        <a:rPr sz="1300" b="0">
                          <a:solidFill>
                            <a:srgbClr val="1C1C1A"/>
                          </a:solidFill>
                          <a:latin typeface="Calibri"/>
                        </a:rPr>
                        <a:t>discount</a:t>
                      </a:r>
                    </a:p>
                  </a:txBody>
                  <a:tcPr marL="101600" marR="101600" marT="38100" marB="38100" anchor="ctr">
                    <a:solidFill>
                      <a:srgbClr val="F7F7F5"/>
                    </a:solidFill>
                  </a:tcPr>
                </a:tc>
                <a:tc>
                  <a:txBody>
                    <a:bodyPr/>
                    <a:lstStyle/>
                    <a:p>
                      <a:r>
                        <a:rPr sz="1300" b="0">
                          <a:solidFill>
                            <a:srgbClr val="1C1C1A"/>
                          </a:solidFill>
                          <a:latin typeface="Calibri"/>
                        </a:rPr>
                        <a:t>39 of 50</a:t>
                      </a:r>
                    </a:p>
                  </a:txBody>
                  <a:tcPr marL="101600" marR="101600" marT="38100" marB="38100" anchor="ctr">
                    <a:solidFill>
                      <a:srgbClr val="F7F7F5"/>
                    </a:solidFill>
                  </a:tcPr>
                </a:tc>
                <a:tc>
                  <a:txBody>
                    <a:bodyPr/>
                    <a:lstStyle/>
                    <a:p>
                      <a:r>
                        <a:rPr sz="1300" b="0">
                          <a:solidFill>
                            <a:srgbClr val="1C1C1A"/>
                          </a:solidFill>
                          <a:latin typeface="Calibri"/>
                        </a:rPr>
                        <a:t>Thirty nine orders carrying a discount that was never recorded</a:t>
                      </a:r>
                    </a:p>
                  </a:txBody>
                  <a:tcPr marL="101600" marR="101600" marT="38100" marB="38100" anchor="ctr">
                    <a:solidFill>
                      <a:srgbClr val="F7F7F5"/>
                    </a:solidFill>
                  </a:tcPr>
                </a:tc>
                <a:tc>
                  <a:txBody>
                    <a:bodyPr/>
                    <a:lstStyle/>
                    <a:p>
                      <a:r>
                        <a:rPr sz="1300" b="0">
                          <a:solidFill>
                            <a:srgbClr val="1C1C1A"/>
                          </a:solidFill>
                          <a:latin typeface="Calibri"/>
                        </a:rPr>
                        <a:t>Whether a discount of zero was a decision or an absence, which is the question a pricing analyst will ask first</a:t>
                      </a:r>
                    </a:p>
                  </a:txBody>
                  <a:tcPr marL="101600" marR="101600" marT="38100" marB="38100" anchor="ctr">
                    <a:solidFill>
                      <a:srgbClr val="F7F7F5"/>
                    </a:solidFill>
                  </a:tcPr>
                </a:tc>
              </a:tr>
            </a:tbl>
          </a:graphicData>
        </a:graphic>
      </p:graphicFrame>
      <p:sp>
        <p:nvSpPr>
          <p:cNvPr id="9" name="TextBox 8"/>
          <p:cNvSpPr txBox="1"/>
          <p:nvPr/>
        </p:nvSpPr>
        <p:spPr>
          <a:xfrm>
            <a:off x="685800" y="4981448"/>
            <a:ext cx="10820095" cy="564896"/>
          </a:xfrm>
          <a:prstGeom prst="rect">
            <a:avLst/>
          </a:prstGeom>
          <a:noFill/>
        </p:spPr>
        <p:txBody>
          <a:bodyPr wrap="square" anchor="t">
            <a:spAutoFit/>
          </a:bodyPr>
          <a:lstStyle/>
          <a:p>
            <a:pPr>
              <a:spcAft>
                <a:spcPts val="900"/>
              </a:spcAft>
            </a:pPr>
            <a:r>
              <a:rPr sz="2000" b="0">
                <a:solidFill>
                  <a:srgbClr val="1C1C1A"/>
                </a:solidFill>
                <a:latin typeface="Calibri"/>
              </a:rPr>
              <a:t>Neither fill corrupts a single existing value. Both destroy a question you will be asked.</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25 / 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S18</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The one that looks harmless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57728"/>
            <a:ext cx="10820095" cy="1365504"/>
          </a:xfrm>
          <a:prstGeom prst="rect">
            <a:avLst/>
          </a:prstGeom>
          <a:noFill/>
        </p:spPr>
        <p:txBody>
          <a:bodyPr wrap="square" anchor="t">
            <a:spAutoFit/>
          </a:bodyPr>
          <a:lstStyle/>
          <a:p>
            <a:pPr>
              <a:spcAft>
                <a:spcPts val="900"/>
              </a:spcAft>
            </a:pPr>
            <a:r>
              <a:rPr sz="2000" b="0">
                <a:solidFill>
                  <a:srgbClr val="1C1C1A"/>
                </a:solidFill>
                <a:latin typeface="Calibri"/>
              </a:rPr>
              <a:t>Filling discount with zero is defensible.</a:t>
            </a:r>
          </a:p>
          <a:p>
            <a:pPr>
              <a:spcAft>
                <a:spcPts val="900"/>
              </a:spcAft>
            </a:pPr>
            <a:r>
              <a:rPr sz="2000" b="0">
                <a:solidFill>
                  <a:srgbClr val="1C1C1A"/>
                </a:solidFill>
                <a:latin typeface="Calibri"/>
              </a:rPr>
              <a:t>It also means you can never again tell an order that had no discount from an order whose discount was zero. That is a decision you are allowed to make once you have said it out loud.</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26 / 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S19</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Coercion at dataset scale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4e2b24d4be84580e.png"/>
          <p:cNvPicPr>
            <a:picLocks noChangeAspect="1"/>
          </p:cNvPicPr>
          <p:nvPr/>
        </p:nvPicPr>
        <p:blipFill>
          <a:blip r:embed="rId2"/>
          <a:stretch>
            <a:fillRect/>
          </a:stretch>
        </p:blipFill>
        <p:spPr>
          <a:xfrm>
            <a:off x="685800" y="2134336"/>
            <a:ext cx="10820095" cy="2101647"/>
          </a:xfrm>
          <a:prstGeom prst="rect">
            <a:avLst/>
          </a:prstGeom>
        </p:spPr>
      </p:pic>
      <p:sp>
        <p:nvSpPr>
          <p:cNvPr id="7" name="TextBox 6"/>
          <p:cNvSpPr txBox="1"/>
          <p:nvPr/>
        </p:nvSpPr>
        <p:spPr>
          <a:xfrm>
            <a:off x="685800" y="4852416"/>
            <a:ext cx="10820095" cy="1200912"/>
          </a:xfrm>
          <a:prstGeom prst="rect">
            <a:avLst/>
          </a:prstGeom>
          <a:noFill/>
        </p:spPr>
        <p:txBody>
          <a:bodyPr wrap="square" anchor="t">
            <a:spAutoFit/>
          </a:bodyPr>
          <a:lstStyle/>
          <a:p>
            <a:r>
              <a:rPr sz="2000" b="0">
                <a:solidFill>
                  <a:srgbClr val="1C1C1A"/>
                </a:solidFill>
                <a:latin typeface="Calibri"/>
              </a:rPr>
              <a:t>Yesterday's clean_record already handles one bad value correctly. Point it at fifty and it keeps working, because you wrote it to reject rather than to guess. Nothing in it changes today. That was the promise.</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27 / 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D7</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coerce-everything pass, and what it hides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A single line turns every failure into a number and nothing on screen changes colour.</a:t>
            </a:r>
          </a:p>
        </p:txBody>
      </p:sp>
      <p:sp>
        <p:nvSpPr>
          <p:cNvPr id="8" name="Rectangle 7"/>
          <p:cNvSpPr/>
          <p:nvPr/>
        </p:nvSpPr>
        <p:spPr>
          <a:xfrm>
            <a:off x="685800" y="2320544"/>
            <a:ext cx="10820095" cy="2420112"/>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85800" y="2320544"/>
            <a:ext cx="50292" cy="2420112"/>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23544" y="2421128"/>
            <a:ext cx="10417759" cy="2237231"/>
          </a:xfrm>
          <a:prstGeom prst="rect">
            <a:avLst/>
          </a:prstGeom>
          <a:noFill/>
        </p:spPr>
        <p:txBody>
          <a:bodyPr wrap="square" anchor="t">
            <a:spAutoFit/>
          </a:bodyPr>
          <a:lstStyle/>
          <a:p>
            <a:pPr>
              <a:spcAft>
                <a:spcPts val="200"/>
              </a:spcAft>
            </a:pPr>
            <a:r>
              <a:rPr sz="1600" b="0">
                <a:solidFill>
                  <a:srgbClr val="E4ECF7"/>
                </a:solidFill>
                <a:latin typeface="Consolas"/>
              </a:rPr>
              <a:t>amounts = []</a:t>
            </a:r>
          </a:p>
          <a:p>
            <a:pPr>
              <a:spcAft>
                <a:spcPts val="200"/>
              </a:spcAft>
            </a:pPr>
            <a:r>
              <a:rPr sz="1600" b="0">
                <a:solidFill>
                  <a:srgbClr val="E4ECF7"/>
                </a:solidFill>
                <a:latin typeface="Consolas"/>
              </a:rPr>
              <a:t>for r in rows:</a:t>
            </a:r>
          </a:p>
          <a:p>
            <a:pPr>
              <a:spcAft>
                <a:spcPts val="200"/>
              </a:spcAft>
            </a:pPr>
            <a:r>
              <a:rPr sz="1600" b="0">
                <a:solidFill>
                  <a:srgbClr val="E4ECF7"/>
                </a:solidFill>
                <a:latin typeface="Consolas"/>
              </a:rPr>
              <a:t>    try:</a:t>
            </a:r>
          </a:p>
          <a:p>
            <a:pPr>
              <a:spcAft>
                <a:spcPts val="200"/>
              </a:spcAft>
            </a:pPr>
            <a:r>
              <a:rPr sz="1600" b="0">
                <a:solidFill>
                  <a:srgbClr val="E4ECF7"/>
                </a:solidFill>
                <a:latin typeface="Consolas"/>
              </a:rPr>
              <a:t>        amounts.append(int(r["amount"]))</a:t>
            </a:r>
          </a:p>
          <a:p>
            <a:pPr>
              <a:spcAft>
                <a:spcPts val="200"/>
              </a:spcAft>
            </a:pPr>
            <a:r>
              <a:rPr sz="1600" b="0">
                <a:solidFill>
                  <a:srgbClr val="E4ECF7"/>
                </a:solidFill>
                <a:latin typeface="Consolas"/>
              </a:rPr>
              <a:t>    except ValueError:</a:t>
            </a:r>
          </a:p>
          <a:p>
            <a:pPr>
              <a:spcAft>
                <a:spcPts val="200"/>
              </a:spcAft>
            </a:pPr>
            <a:r>
              <a:rPr sz="1600" b="0">
                <a:solidFill>
                  <a:srgbClr val="E4ECF7"/>
                </a:solidFill>
                <a:latin typeface="Consolas"/>
              </a:rPr>
              <a:t>        amounts.append(0)</a:t>
            </a:r>
          </a:p>
          <a:p>
            <a:pPr>
              <a:spcAft>
                <a:spcPts val="200"/>
              </a:spcAft>
            </a:pPr>
          </a:p>
          <a:p>
            <a:pPr>
              <a:spcAft>
                <a:spcPts val="200"/>
              </a:spcAft>
            </a:pPr>
            <a:r>
              <a:rPr sz="1600" b="0">
                <a:solidFill>
                  <a:srgbClr val="E4ECF7"/>
                </a:solidFill>
                <a:latin typeface="Consolas"/>
              </a:rPr>
              <a:t>print(len(amounts), sum(amounts))</a:t>
            </a:r>
          </a:p>
        </p:txBody>
      </p:sp>
      <p:sp>
        <p:nvSpPr>
          <p:cNvPr id="11" name="Rectangle 10"/>
          <p:cNvSpPr/>
          <p:nvPr/>
        </p:nvSpPr>
        <p:spPr>
          <a:xfrm>
            <a:off x="685800" y="4905248"/>
            <a:ext cx="10820095" cy="5425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85800" y="4905248"/>
            <a:ext cx="50292" cy="5425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23544" y="5005832"/>
            <a:ext cx="10417759" cy="359663"/>
          </a:xfrm>
          <a:prstGeom prst="rect">
            <a:avLst/>
          </a:prstGeom>
          <a:noFill/>
        </p:spPr>
        <p:txBody>
          <a:bodyPr wrap="square" anchor="t">
            <a:spAutoFit/>
          </a:bodyPr>
          <a:lstStyle/>
          <a:p>
            <a:pPr>
              <a:spcAft>
                <a:spcPts val="200"/>
              </a:spcAft>
            </a:pPr>
            <a:r>
              <a:rPr sz="1600" b="0">
                <a:solidFill>
                  <a:srgbClr val="E4ECF7"/>
                </a:solidFill>
                <a:latin typeface="Consolas"/>
              </a:rPr>
              <a:t>50 561145</a:t>
            </a:r>
          </a:p>
        </p:txBody>
      </p:sp>
      <p:sp>
        <p:nvSpPr>
          <p:cNvPr id="14" name="TextBox 13"/>
          <p:cNvSpPr txBox="1"/>
          <p:nvPr/>
        </p:nvSpPr>
        <p:spPr>
          <a:xfrm>
            <a:off x="685800" y="5612384"/>
            <a:ext cx="10820095" cy="1710944"/>
          </a:xfrm>
          <a:prstGeom prst="rect">
            <a:avLst/>
          </a:prstGeom>
          <a:noFill/>
        </p:spPr>
        <p:txBody>
          <a:bodyPr wrap="square" anchor="t">
            <a:spAutoFit/>
          </a:bodyPr>
          <a:lstStyle/>
          <a:p>
            <a:pPr>
              <a:spcAft>
                <a:spcPts val="900"/>
              </a:spcAft>
            </a:pPr>
            <a:r>
              <a:rPr sz="2000" b="0">
                <a:solidFill>
                  <a:srgbClr val="1C1C1A"/>
                </a:solidFill>
                <a:latin typeface="Calibri"/>
              </a:rPr>
              <a:t>Fifty amounts, and the total is exactly the same as the honest one, because the six failures each became zero. The count is now a lie and the total is now unauditable, since nothing records which six moved.</a:t>
            </a:r>
          </a:p>
          <a:p>
            <a:pPr>
              <a:spcAft>
                <a:spcPts val="900"/>
              </a:spcAft>
            </a:pPr>
            <a:r>
              <a:rPr sz="2000" b="0">
                <a:solidFill>
                  <a:srgbClr val="1C1C1A"/>
                </a:solidFill>
                <a:latin typeface="Calibri"/>
              </a:rPr>
              <a:t>The honest version differs by one list:</a:t>
            </a:r>
          </a:p>
        </p:txBody>
      </p:sp>
      <p:sp>
        <p:nvSpPr>
          <p:cNvPr id="15" name="Rectangle 14"/>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7" name="TextBox 16"/>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28 / 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S20</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From the field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a:spAutoFit/>
          </a:bodyPr>
          <a:lstStyle/>
          <a:p>
            <a:pPr>
              <a:spcAft>
                <a:spcPts val="900"/>
              </a:spcAft>
            </a:pPr>
            <a:r>
              <a:rPr sz="2000" b="0">
                <a:solidFill>
                  <a:srgbClr val="1C1C1A"/>
                </a:solidFill>
                <a:latin typeface="Calibri"/>
              </a:rPr>
              <a:t>HGNC, 2020. About 27 human genes were formally renamed because spreadsheets silently coerced names like SEPT1 into dates.</a:t>
            </a:r>
          </a:p>
          <a:p>
            <a:pPr>
              <a:spcAft>
                <a:spcPts val="900"/>
              </a:spcAft>
            </a:pPr>
            <a:r>
              <a:rPr sz="2000" b="0">
                <a:solidFill>
                  <a:srgbClr val="1C1C1A"/>
                </a:solidFill>
                <a:latin typeface="Calibri"/>
              </a:rPr>
              <a:t>A 2016 audit had found gene-name errors in roughly a fifth of genetics papers with spreadsheet supplements.</a:t>
            </a:r>
          </a:p>
          <a:p>
            <a:pPr>
              <a:spcAft>
                <a:spcPts val="900"/>
              </a:spcAft>
            </a:pPr>
            <a:r>
              <a:rPr sz="2000" b="0">
                <a:solidFill>
                  <a:srgbClr val="1C1C1A"/>
                </a:solidFill>
                <a:latin typeface="Calibri"/>
              </a:rPr>
              <a:t>Nobody chose to corrupt anything. A default was applied quietly, at scale, for years.</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29 / 87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D8</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gene name case, the mechanism</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 name="Picture 6" descr="ecbbad2871597231.png"/>
          <p:cNvPicPr>
            <a:picLocks noChangeAspect="1"/>
          </p:cNvPicPr>
          <p:nvPr/>
        </p:nvPicPr>
        <p:blipFill>
          <a:blip r:embed="rId2"/>
          <a:stretch>
            <a:fillRect/>
          </a:stretch>
        </p:blipFill>
        <p:spPr>
          <a:xfrm>
            <a:off x="1979161" y="1627632"/>
            <a:ext cx="2065918" cy="4425696"/>
          </a:xfrm>
          <a:prstGeom prst="rect">
            <a:avLst/>
          </a:prstGeom>
        </p:spPr>
      </p:pic>
      <p:sp>
        <p:nvSpPr>
          <p:cNvPr id="8" name="TextBox 7"/>
          <p:cNvSpPr txBox="1"/>
          <p:nvPr/>
        </p:nvSpPr>
        <p:spPr>
          <a:xfrm>
            <a:off x="5771244" y="3385312"/>
            <a:ext cx="5734650" cy="910336"/>
          </a:xfrm>
          <a:prstGeom prst="rect">
            <a:avLst/>
          </a:prstGeom>
          <a:noFill/>
        </p:spPr>
        <p:txBody>
          <a:bodyPr wrap="square" anchor="t">
            <a:spAutoFit/>
          </a:bodyPr>
          <a:lstStyle/>
          <a:p>
            <a:pPr>
              <a:spcAft>
                <a:spcPts val="900"/>
              </a:spcAft>
            </a:pPr>
            <a:r>
              <a:rPr sz="2000" b="0">
                <a:solidFill>
                  <a:srgbClr val="1C1C1A"/>
                </a:solidFill>
                <a:latin typeface="Calibri"/>
              </a:rPr>
              <a:t>Not one person made a decision here. A default did, silently, at the moment of paste.</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30 / 87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D9</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gene name case, what it cost and how it was fixed</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1627632"/>
          <a:ext cx="10820095" cy="2840736"/>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Fact</a:t>
                      </a:r>
                    </a:p>
                  </a:txBody>
                  <a:tcPr marL="101600" marR="101600" marT="38100" marB="38100" anchor="ctr">
                    <a:solidFill>
                      <a:srgbClr val="2B4A7D"/>
                    </a:solidFill>
                  </a:tcPr>
                </a:tc>
                <a:tc>
                  <a:txBody>
                    <a:bodyPr/>
                    <a:lstStyle/>
                    <a:p>
                      <a:r>
                        <a:rPr sz="1600" b="1">
                          <a:solidFill>
                            <a:srgbClr val="FFFFFF"/>
                          </a:solidFill>
                          <a:latin typeface="Calibri"/>
                        </a:rPr>
                        <a:t>Figure</a:t>
                      </a:r>
                    </a:p>
                  </a:txBody>
                  <a:tcPr marL="101600" marR="101600" marT="38100" marB="38100" anchor="ctr">
                    <a:solidFill>
                      <a:srgbClr val="2B4A7D"/>
                    </a:solidFill>
                  </a:tcPr>
                </a:tc>
              </a:tr>
              <a:tr h="387096">
                <a:tc>
                  <a:txBody>
                    <a:bodyPr/>
                    <a:lstStyle/>
                    <a:p>
                      <a:r>
                        <a:rPr sz="1500" b="0">
                          <a:solidFill>
                            <a:srgbClr val="1C1C1A"/>
                          </a:solidFill>
                          <a:latin typeface="Calibri"/>
                        </a:rPr>
                        <a:t>Genes formally renamed</a:t>
                      </a:r>
                    </a:p>
                  </a:txBody>
                  <a:tcPr marL="101600" marR="101600" marT="38100" marB="38100" anchor="ctr">
                    <a:solidFill>
                      <a:srgbClr val="FFFFFF"/>
                    </a:solidFill>
                  </a:tcPr>
                </a:tc>
                <a:tc>
                  <a:txBody>
                    <a:bodyPr/>
                    <a:lstStyle/>
                    <a:p>
                      <a:r>
                        <a:rPr sz="1500" b="0">
                          <a:solidFill>
                            <a:srgbClr val="1C1C1A"/>
                          </a:solidFill>
                          <a:latin typeface="Calibri"/>
                        </a:rPr>
                        <a:t>About 27</a:t>
                      </a:r>
                    </a:p>
                  </a:txBody>
                  <a:tcPr marL="101600" marR="101600" marT="38100" marB="38100" anchor="ctr">
                    <a:solidFill>
                      <a:srgbClr val="FFFFFF"/>
                    </a:solidFill>
                  </a:tcPr>
                </a:tc>
              </a:tr>
              <a:tr h="387096">
                <a:tc>
                  <a:txBody>
                    <a:bodyPr/>
                    <a:lstStyle/>
                    <a:p>
                      <a:r>
                        <a:rPr sz="1500" b="0">
                          <a:solidFill>
                            <a:srgbClr val="1C1C1A"/>
                          </a:solidFill>
                          <a:latin typeface="Calibri"/>
                        </a:rPr>
                        <a:t>Examples</a:t>
                      </a:r>
                    </a:p>
                  </a:txBody>
                  <a:tcPr marL="101600" marR="101600" marT="38100" marB="38100" anchor="ctr">
                    <a:solidFill>
                      <a:srgbClr val="F7F7F5"/>
                    </a:solidFill>
                  </a:tcPr>
                </a:tc>
                <a:tc>
                  <a:txBody>
                    <a:bodyPr/>
                    <a:lstStyle/>
                    <a:p>
                      <a:r>
                        <a:rPr sz="1500" b="0">
                          <a:solidFill>
                            <a:srgbClr val="1C1C1A"/>
                          </a:solidFill>
                          <a:latin typeface="Calibri"/>
                        </a:rPr>
                        <a:t>SEPT1 became SEPTIN1, and MARCH1 became MARCHF1</a:t>
                      </a:r>
                    </a:p>
                  </a:txBody>
                  <a:tcPr marL="101600" marR="101600" marT="38100" marB="38100" anchor="ctr">
                    <a:solidFill>
                      <a:srgbClr val="F7F7F5"/>
                    </a:solidFill>
                  </a:tcPr>
                </a:tc>
              </a:tr>
              <a:tr h="646176">
                <a:tc>
                  <a:txBody>
                    <a:bodyPr/>
                    <a:lstStyle/>
                    <a:p>
                      <a:r>
                        <a:rPr sz="1500" b="0">
                          <a:solidFill>
                            <a:srgbClr val="1C1C1A"/>
                          </a:solidFill>
                          <a:latin typeface="Calibri"/>
                        </a:rPr>
                        <a:t>The 2016 audit</a:t>
                      </a:r>
                    </a:p>
                  </a:txBody>
                  <a:tcPr marL="101600" marR="101600" marT="38100" marB="38100" anchor="ctr">
                    <a:solidFill>
                      <a:srgbClr val="FFFFFF"/>
                    </a:solidFill>
                  </a:tcPr>
                </a:tc>
                <a:tc>
                  <a:txBody>
                    <a:bodyPr/>
                    <a:lstStyle/>
                    <a:p>
                      <a:r>
                        <a:rPr sz="1500" b="0">
                          <a:solidFill>
                            <a:srgbClr val="1C1C1A"/>
                          </a:solidFill>
                          <a:latin typeface="Calibri"/>
                        </a:rPr>
                        <a:t>Roughly a fifth of papers with spreadsheet gene lists carried the corruption</a:t>
                      </a:r>
                    </a:p>
                  </a:txBody>
                  <a:tcPr marL="101600" marR="101600" marT="38100" marB="38100" anchor="ctr">
                    <a:solidFill>
                      <a:srgbClr val="FFFFFF"/>
                    </a:solidFill>
                  </a:tcPr>
                </a:tc>
              </a:tr>
              <a:tr h="387096">
                <a:tc>
                  <a:txBody>
                    <a:bodyPr/>
                    <a:lstStyle/>
                    <a:p>
                      <a:r>
                        <a:rPr sz="1500" b="0">
                          <a:solidFill>
                            <a:srgbClr val="1C1C1A"/>
                          </a:solidFill>
                          <a:latin typeface="Calibri"/>
                        </a:rPr>
                        <a:t>The follow-up, 2021</a:t>
                      </a:r>
                    </a:p>
                  </a:txBody>
                  <a:tcPr marL="101600" marR="101600" marT="38100" marB="38100" anchor="ctr">
                    <a:solidFill>
                      <a:srgbClr val="F7F7F5"/>
                    </a:solidFill>
                  </a:tcPr>
                </a:tc>
                <a:tc>
                  <a:txBody>
                    <a:bodyPr/>
                    <a:lstStyle/>
                    <a:p>
                      <a:r>
                        <a:rPr sz="1500" b="0">
                          <a:solidFill>
                            <a:srgbClr val="1C1C1A"/>
                          </a:solidFill>
                          <a:latin typeface="Calibri"/>
                        </a:rPr>
                        <a:t>The rate had not improved</a:t>
                      </a:r>
                    </a:p>
                  </a:txBody>
                  <a:tcPr marL="101600" marR="101600" marT="38100" marB="38100" anchor="ctr">
                    <a:solidFill>
                      <a:srgbClr val="F7F7F5"/>
                    </a:solidFill>
                  </a:tcPr>
                </a:tc>
              </a:tr>
              <a:tr h="646176">
                <a:tc>
                  <a:txBody>
                    <a:bodyPr/>
                    <a:lstStyle/>
                    <a:p>
                      <a:r>
                        <a:rPr sz="1500" b="0">
                          <a:solidFill>
                            <a:srgbClr val="1C1C1A"/>
                          </a:solidFill>
                          <a:latin typeface="Calibri"/>
                        </a:rPr>
                        <a:t>Who moved in the end</a:t>
                      </a:r>
                    </a:p>
                  </a:txBody>
                  <a:tcPr marL="101600" marR="101600" marT="38100" marB="38100" anchor="ctr">
                    <a:solidFill>
                      <a:srgbClr val="FFFFFF"/>
                    </a:solidFill>
                  </a:tcPr>
                </a:tc>
                <a:tc>
                  <a:txBody>
                    <a:bodyPr/>
                    <a:lstStyle/>
                    <a:p>
                      <a:r>
                        <a:rPr sz="1500" b="0">
                          <a:solidFill>
                            <a:srgbClr val="1C1C1A"/>
                          </a:solidFill>
                          <a:latin typeface="Calibri"/>
                        </a:rPr>
                        <a:t>The naming committee changed the names of the genes, because the spreadsheet would not change its behaviour</a:t>
                      </a:r>
                    </a:p>
                  </a:txBody>
                  <a:tcPr marL="101600" marR="101600" marT="38100" marB="38100" anchor="ctr">
                    <a:solidFill>
                      <a:srgbClr val="FFFFFF"/>
                    </a:solidFill>
                  </a:tcPr>
                </a:tc>
              </a:tr>
            </a:tbl>
          </a:graphicData>
        </a:graphic>
      </p:graphicFrame>
      <p:sp>
        <p:nvSpPr>
          <p:cNvPr id="8" name="TextBox 7"/>
          <p:cNvSpPr txBox="1"/>
          <p:nvPr/>
        </p:nvSpPr>
        <p:spPr>
          <a:xfrm>
            <a:off x="685800" y="4724400"/>
            <a:ext cx="10820095" cy="1601216"/>
          </a:xfrm>
          <a:prstGeom prst="rect">
            <a:avLst/>
          </a:prstGeom>
          <a:noFill/>
        </p:spPr>
        <p:txBody>
          <a:bodyPr wrap="square" anchor="t">
            <a:spAutoFit/>
          </a:bodyPr>
          <a:lstStyle/>
          <a:p>
            <a:pPr>
              <a:spcAft>
                <a:spcPts val="900"/>
              </a:spcAft>
            </a:pPr>
            <a:r>
              <a:rPr sz="2000" b="0">
                <a:solidFill>
                  <a:srgbClr val="1C1C1A"/>
                </a:solidFill>
                <a:latin typeface="Calibri"/>
              </a:rPr>
              <a:t>Sources, verified 09 September 2026: the naming guidelines in Nature Genetics volume 52, pages 754 to 758, published 03 August 2020, https://www.nature.com/articles/s41588-020-0669-3 and the 2021 follow-up in PLOS Computational Biology, https://journals.plos.org/ploscompbiol/article?id=10.1371/journal.pcbi.1008984</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31 / 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D10</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Why that case belongs in a Python session</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2411984"/>
            <a:ext cx="10820095" cy="2856992"/>
          </a:xfrm>
          <a:prstGeom prst="rect">
            <a:avLst/>
          </a:prstGeom>
          <a:noFill/>
        </p:spPr>
        <p:txBody>
          <a:bodyPr wrap="square" anchor="t">
            <a:spAutoFit/>
          </a:bodyPr>
          <a:lstStyle/>
          <a:p>
            <a:pPr>
              <a:spcAft>
                <a:spcPts val="900"/>
              </a:spcAft>
            </a:pPr>
            <a:r>
              <a:rPr sz="2000" b="0">
                <a:solidFill>
                  <a:srgbClr val="1C1C1A"/>
                </a:solidFill>
                <a:latin typeface="Calibri"/>
              </a:rPr>
              <a:t>The lesson is not about spreadsheets. It is about defaults applied by software at the moment data crosses a boundary, with no record that anything happened.</a:t>
            </a:r>
          </a:p>
          <a:p>
            <a:pPr>
              <a:spcAft>
                <a:spcPts val="900"/>
              </a:spcAft>
            </a:pPr>
            <a:r>
              <a:rPr sz="2000" b="0">
                <a:solidFill>
                  <a:srgbClr val="1C1C1A"/>
                </a:solidFill>
                <a:latin typeface="Calibri"/>
              </a:rPr>
              <a:t>Your except ValueError: amounts.append(0) is the same event. It is quiet, it is well meant, it is applied uniformly, and afterwards nothing in the file says which values it touched.</a:t>
            </a:r>
          </a:p>
          <a:p>
            <a:pPr>
              <a:spcAft>
                <a:spcPts val="900"/>
              </a:spcAft>
            </a:pPr>
            <a:r>
              <a:rPr sz="2000" b="0">
                <a:solidFill>
                  <a:srgbClr val="1C1C1A"/>
                </a:solidFill>
                <a:latin typeface="Calibri"/>
              </a:rPr>
              <a:t>The committee's response is the one worth copying. When the silent conversion could not be stopped, they changed the data so the conversion had nothing to catch. Your version of that is to reject rather than to coerce, and to carry the rejects file alongside the clean one.</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32 / 87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Step card, section 2</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882392"/>
            <a:ext cx="457200" cy="437896"/>
          </a:xfrm>
          <a:prstGeom prst="rect">
            <a:avLst/>
          </a:prstGeom>
          <a:noFill/>
        </p:spPr>
        <p:txBody>
          <a:bodyPr wrap="square" anchor="t">
            <a:spAutoFit/>
          </a:bodyPr>
          <a:lstStyle/>
          <a:p>
            <a:r>
              <a:rPr sz="1900" b="1">
                <a:solidFill>
                  <a:srgbClr val="2B4A7D"/>
                </a:solidFill>
                <a:latin typeface="Calibri"/>
              </a:rPr>
              <a:t>1</a:t>
            </a:r>
          </a:p>
        </p:txBody>
      </p:sp>
      <p:sp>
        <p:nvSpPr>
          <p:cNvPr id="7" name="TextBox 6"/>
          <p:cNvSpPr txBox="1"/>
          <p:nvPr/>
        </p:nvSpPr>
        <p:spPr>
          <a:xfrm>
            <a:off x="1143000" y="2882392"/>
            <a:ext cx="10362895" cy="437896"/>
          </a:xfrm>
          <a:prstGeom prst="rect">
            <a:avLst/>
          </a:prstGeom>
          <a:noFill/>
        </p:spPr>
        <p:txBody>
          <a:bodyPr wrap="square" anchor="t">
            <a:spAutoFit/>
          </a:bodyPr>
          <a:lstStyle/>
          <a:p>
            <a:r>
              <a:rPr sz="1900" b="0">
                <a:solidFill>
                  <a:srgbClr val="1C1C1A"/>
                </a:solidFill>
                <a:latin typeface="Calibri"/>
              </a:rPr>
              <a:t>Missing is a decision, never a reflex.</a:t>
            </a:r>
          </a:p>
        </p:txBody>
      </p:sp>
      <p:sp>
        <p:nvSpPr>
          <p:cNvPr id="8" name="TextBox 7"/>
          <p:cNvSpPr txBox="1"/>
          <p:nvPr/>
        </p:nvSpPr>
        <p:spPr>
          <a:xfrm>
            <a:off x="685800" y="3375152"/>
            <a:ext cx="457200" cy="437896"/>
          </a:xfrm>
          <a:prstGeom prst="rect">
            <a:avLst/>
          </a:prstGeom>
          <a:noFill/>
        </p:spPr>
        <p:txBody>
          <a:bodyPr wrap="square" anchor="t">
            <a:spAutoFit/>
          </a:bodyPr>
          <a:lstStyle/>
          <a:p>
            <a:r>
              <a:rPr sz="1900" b="1">
                <a:solidFill>
                  <a:srgbClr val="2B4A7D"/>
                </a:solidFill>
                <a:latin typeface="Calibri"/>
              </a:rPr>
              <a:t>2</a:t>
            </a:r>
          </a:p>
        </p:txBody>
      </p:sp>
      <p:sp>
        <p:nvSpPr>
          <p:cNvPr id="9" name="TextBox 8"/>
          <p:cNvSpPr txBox="1"/>
          <p:nvPr/>
        </p:nvSpPr>
        <p:spPr>
          <a:xfrm>
            <a:off x="1143000" y="3375152"/>
            <a:ext cx="10362895" cy="437896"/>
          </a:xfrm>
          <a:prstGeom prst="rect">
            <a:avLst/>
          </a:prstGeom>
          <a:noFill/>
        </p:spPr>
        <p:txBody>
          <a:bodyPr wrap="square" anchor="t">
            <a:spAutoFit/>
          </a:bodyPr>
          <a:lstStyle/>
          <a:p>
            <a:r>
              <a:rPr sz="1900" b="0">
                <a:solidFill>
                  <a:srgbClr val="1C1C1A"/>
                </a:solidFill>
                <a:latin typeface="Calibri"/>
              </a:rPr>
              <a:t>Drop, default, or keep and flag, each with a written reason.</a:t>
            </a:r>
          </a:p>
        </p:txBody>
      </p:sp>
      <p:sp>
        <p:nvSpPr>
          <p:cNvPr id="10" name="TextBox 9"/>
          <p:cNvSpPr txBox="1"/>
          <p:nvPr/>
        </p:nvSpPr>
        <p:spPr>
          <a:xfrm>
            <a:off x="685800" y="3867912"/>
            <a:ext cx="457200" cy="437896"/>
          </a:xfrm>
          <a:prstGeom prst="rect">
            <a:avLst/>
          </a:prstGeom>
          <a:noFill/>
        </p:spPr>
        <p:txBody>
          <a:bodyPr wrap="square" anchor="t">
            <a:spAutoFit/>
          </a:bodyPr>
          <a:lstStyle/>
          <a:p>
            <a:r>
              <a:rPr sz="1900" b="1">
                <a:solidFill>
                  <a:srgbClr val="2B4A7D"/>
                </a:solidFill>
                <a:latin typeface="Calibri"/>
              </a:rPr>
              <a:t>3</a:t>
            </a:r>
          </a:p>
        </p:txBody>
      </p:sp>
      <p:sp>
        <p:nvSpPr>
          <p:cNvPr id="11" name="TextBox 10"/>
          <p:cNvSpPr txBox="1"/>
          <p:nvPr/>
        </p:nvSpPr>
        <p:spPr>
          <a:xfrm>
            <a:off x="1143000" y="3867912"/>
            <a:ext cx="10362895" cy="437896"/>
          </a:xfrm>
          <a:prstGeom prst="rect">
            <a:avLst/>
          </a:prstGeom>
          <a:noFill/>
        </p:spPr>
        <p:txBody>
          <a:bodyPr wrap="square" anchor="t">
            <a:spAutoFit/>
          </a:bodyPr>
          <a:lstStyle/>
          <a:p>
            <a:r>
              <a:rPr sz="1900" b="0">
                <a:solidFill>
                  <a:srgbClr val="1C1C1A"/>
                </a:solidFill>
                <a:latin typeface="Calibri"/>
              </a:rPr>
              <a:t>A default you did not state is data you invented.</a:t>
            </a:r>
          </a:p>
        </p:txBody>
      </p:sp>
      <p:sp>
        <p:nvSpPr>
          <p:cNvPr id="12" name="TextBox 11"/>
          <p:cNvSpPr txBox="1"/>
          <p:nvPr/>
        </p:nvSpPr>
        <p:spPr>
          <a:xfrm>
            <a:off x="685800" y="4360672"/>
            <a:ext cx="457200" cy="437896"/>
          </a:xfrm>
          <a:prstGeom prst="rect">
            <a:avLst/>
          </a:prstGeom>
          <a:noFill/>
        </p:spPr>
        <p:txBody>
          <a:bodyPr wrap="square" anchor="t">
            <a:spAutoFit/>
          </a:bodyPr>
          <a:lstStyle/>
          <a:p>
            <a:r>
              <a:rPr sz="1900" b="1">
                <a:solidFill>
                  <a:srgbClr val="2B4A7D"/>
                </a:solidFill>
                <a:latin typeface="Calibri"/>
              </a:rPr>
              <a:t>4</a:t>
            </a:r>
          </a:p>
        </p:txBody>
      </p:sp>
      <p:sp>
        <p:nvSpPr>
          <p:cNvPr id="13" name="TextBox 12"/>
          <p:cNvSpPr txBox="1"/>
          <p:nvPr/>
        </p:nvSpPr>
        <p:spPr>
          <a:xfrm>
            <a:off x="1143000" y="4360672"/>
            <a:ext cx="10362895" cy="437896"/>
          </a:xfrm>
          <a:prstGeom prst="rect">
            <a:avLst/>
          </a:prstGeom>
          <a:noFill/>
        </p:spPr>
        <p:txBody>
          <a:bodyPr wrap="square" anchor="t">
            <a:spAutoFit/>
          </a:bodyPr>
          <a:lstStyle/>
          <a:p>
            <a:r>
              <a:rPr sz="1900" b="0">
                <a:solidFill>
                  <a:srgbClr val="1C1C1A"/>
                </a:solidFill>
                <a:latin typeface="Calibri"/>
              </a:rPr>
              <a:t>Yesterday's function is today's tool, unchanged.</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33 / 87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3: THE ROWS THAT HIDE</a:t>
            </a:r>
          </a:p>
        </p:txBody>
      </p:sp>
      <p:sp>
        <p:nvSpPr>
          <p:cNvPr id="4" name="Rounded Rectangle 3"/>
          <p:cNvSpPr/>
          <p:nvPr/>
        </p:nvSpPr>
        <p:spPr>
          <a:xfrm>
            <a:off x="685800"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34 / 87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The check that finds nothing</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5425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5425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1728216"/>
            <a:ext cx="10417759" cy="359663"/>
          </a:xfrm>
          <a:prstGeom prst="rect">
            <a:avLst/>
          </a:prstGeom>
          <a:noFill/>
        </p:spPr>
        <p:txBody>
          <a:bodyPr wrap="square" anchor="t">
            <a:spAutoFit/>
          </a:bodyPr>
          <a:lstStyle/>
          <a:p>
            <a:pPr>
              <a:spcAft>
                <a:spcPts val="200"/>
              </a:spcAft>
            </a:pPr>
            <a:r>
              <a:rPr sz="1600" b="0">
                <a:solidFill>
                  <a:srgbClr val="E4ECF7"/>
                </a:solidFill>
                <a:latin typeface="Consolas"/>
              </a:rPr>
              <a:t>duplicate rows by whole-record comparison: 0</a:t>
            </a:r>
          </a:p>
        </p:txBody>
      </p:sp>
      <p:sp>
        <p:nvSpPr>
          <p:cNvPr id="9" name="TextBox 8"/>
          <p:cNvSpPr txBox="1"/>
          <p:nvPr/>
        </p:nvSpPr>
        <p:spPr>
          <a:xfrm>
            <a:off x="685800" y="2334768"/>
            <a:ext cx="10820095" cy="564896"/>
          </a:xfrm>
          <a:prstGeom prst="rect">
            <a:avLst/>
          </a:prstGeom>
          <a:noFill/>
        </p:spPr>
        <p:txBody>
          <a:bodyPr wrap="square" anchor="t">
            <a:spAutoFit/>
          </a:bodyPr>
          <a:lstStyle/>
          <a:p>
            <a:pPr>
              <a:spcAft>
                <a:spcPts val="900"/>
              </a:spcAft>
            </a:pPr>
            <a:r>
              <a:rPr sz="2000" b="0">
                <a:solidFill>
                  <a:srgbClr val="1C1C1A"/>
                </a:solidFill>
                <a:latin typeface="Calibri"/>
              </a:rPr>
              <a:t>Clean dataset. Move on.</a:t>
            </a:r>
          </a:p>
        </p:txBody>
      </p:sp>
      <p:pic>
        <p:nvPicPr>
          <p:cNvPr id="10" name="Picture 9" descr="466d0cbe12496797.png"/>
          <p:cNvPicPr>
            <a:picLocks noChangeAspect="1"/>
          </p:cNvPicPr>
          <p:nvPr/>
        </p:nvPicPr>
        <p:blipFill>
          <a:blip r:embed="rId2"/>
          <a:stretch>
            <a:fillRect/>
          </a:stretch>
        </p:blipFill>
        <p:spPr>
          <a:xfrm>
            <a:off x="1905723" y="3027680"/>
            <a:ext cx="8380248" cy="3025648"/>
          </a:xfrm>
          <a:prstGeom prst="rect">
            <a:avLst/>
          </a:prstGeom>
        </p:spPr>
      </p:pic>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35 / 87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S23</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Except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3031744"/>
            <a:ext cx="10820095" cy="5425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3031744"/>
            <a:ext cx="50292" cy="5425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3132328"/>
            <a:ext cx="10417759" cy="359663"/>
          </a:xfrm>
          <a:prstGeom prst="rect">
            <a:avLst/>
          </a:prstGeom>
          <a:noFill/>
        </p:spPr>
        <p:txBody>
          <a:bodyPr wrap="square" anchor="t">
            <a:spAutoFit/>
          </a:bodyPr>
          <a:lstStyle/>
          <a:p>
            <a:pPr>
              <a:spcAft>
                <a:spcPts val="200"/>
              </a:spcAft>
            </a:pPr>
            <a:r>
              <a:rPr sz="1600" b="0">
                <a:solidFill>
                  <a:srgbClr val="E4ECF7"/>
                </a:solidFill>
                <a:latin typeface="Consolas"/>
              </a:rPr>
              <a:t>distinct order_ids: 49 across 50 rows</a:t>
            </a:r>
          </a:p>
        </p:txBody>
      </p:sp>
      <p:sp>
        <p:nvSpPr>
          <p:cNvPr id="9" name="TextBox 8"/>
          <p:cNvSpPr txBox="1"/>
          <p:nvPr/>
        </p:nvSpPr>
        <p:spPr>
          <a:xfrm>
            <a:off x="685800" y="3738880"/>
            <a:ext cx="10820095" cy="910336"/>
          </a:xfrm>
          <a:prstGeom prst="rect">
            <a:avLst/>
          </a:prstGeom>
          <a:noFill/>
        </p:spPr>
        <p:txBody>
          <a:bodyPr wrap="square" anchor="t">
            <a:spAutoFit/>
          </a:bodyPr>
          <a:lstStyle/>
          <a:p>
            <a:pPr>
              <a:spcAft>
                <a:spcPts val="900"/>
              </a:spcAft>
            </a:pPr>
            <a:r>
              <a:rPr sz="2000" b="0">
                <a:solidFill>
                  <a:srgbClr val="1C1C1A"/>
                </a:solidFill>
                <a:latin typeface="Calibri"/>
              </a:rPr>
              <a:t>Nothing raised. Nothing was highlighted. Two numbers on two different lines disagree, and only you can notice.</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36 / 87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S24</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Why the first check missed it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9c7b53da576a55c4.png"/>
          <p:cNvPicPr>
            <a:picLocks noChangeAspect="1"/>
          </p:cNvPicPr>
          <p:nvPr/>
        </p:nvPicPr>
        <p:blipFill>
          <a:blip r:embed="rId2"/>
          <a:stretch>
            <a:fillRect/>
          </a:stretch>
        </p:blipFill>
        <p:spPr>
          <a:xfrm>
            <a:off x="1251110" y="1627632"/>
            <a:ext cx="3522019" cy="4425696"/>
          </a:xfrm>
          <a:prstGeom prst="rect">
            <a:avLst/>
          </a:prstGeom>
        </p:spPr>
      </p:pic>
      <p:sp>
        <p:nvSpPr>
          <p:cNvPr id="7" name="TextBox 6"/>
          <p:cNvSpPr txBox="1"/>
          <p:nvPr/>
        </p:nvSpPr>
        <p:spPr>
          <a:xfrm>
            <a:off x="5771244" y="3039872"/>
            <a:ext cx="5734650" cy="1601216"/>
          </a:xfrm>
          <a:prstGeom prst="rect">
            <a:avLst/>
          </a:prstGeom>
          <a:noFill/>
        </p:spPr>
        <p:txBody>
          <a:bodyPr wrap="square" anchor="t">
            <a:spAutoFit/>
          </a:bodyPr>
          <a:lstStyle/>
          <a:p>
            <a:pPr>
              <a:spcAft>
                <a:spcPts val="900"/>
              </a:spcAft>
            </a:pPr>
            <a:r>
              <a:rPr sz="2000" b="0">
                <a:solidFill>
                  <a:srgbClr val="1C1C1A"/>
                </a:solidFill>
                <a:latin typeface="Calibri"/>
              </a:rPr>
              <a:t>A whole-record check answers "are these the same bytes". The question you actually had was "are these the same order", and nothing in the file knows which fields decide that.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37 / 87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S25</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The pair</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3070352"/>
            <a:ext cx="10820095" cy="81076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3070352"/>
            <a:ext cx="50292" cy="81076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3170936"/>
            <a:ext cx="10417759" cy="627888"/>
          </a:xfrm>
          <a:prstGeom prst="rect">
            <a:avLst/>
          </a:prstGeom>
          <a:noFill/>
        </p:spPr>
        <p:txBody>
          <a:bodyPr wrap="square" anchor="t">
            <a:spAutoFit/>
          </a:bodyPr>
          <a:lstStyle/>
          <a:p>
            <a:pPr>
              <a:spcAft>
                <a:spcPts val="200"/>
              </a:spcAft>
            </a:pPr>
            <a:r>
              <a:rPr sz="1600" b="0">
                <a:solidFill>
                  <a:srgbClr val="E4ECF7"/>
                </a:solidFill>
                <a:latin typeface="Consolas"/>
              </a:rPr>
              <a:t>KR4201  C1022  Retail-Core  1865  returned  2026-08-03</a:t>
            </a:r>
          </a:p>
          <a:p>
            <a:pPr>
              <a:spcAft>
                <a:spcPts val="200"/>
              </a:spcAft>
            </a:pPr>
            <a:r>
              <a:rPr sz="1600" b="0">
                <a:solidFill>
                  <a:srgbClr val="E4ECF7"/>
                </a:solidFill>
                <a:latin typeface="Consolas"/>
              </a:rPr>
              <a:t>KR4201  C1022  Retail-Core  1865  returned  2026-09-14</a:t>
            </a:r>
          </a:p>
        </p:txBody>
      </p:sp>
      <p:sp>
        <p:nvSpPr>
          <p:cNvPr id="9" name="TextBox 8"/>
          <p:cNvSpPr txBox="1"/>
          <p:nvPr/>
        </p:nvSpPr>
        <p:spPr>
          <a:xfrm>
            <a:off x="685800" y="404571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Same order id. Same customer. Same amount. Same status. Six weeks apart.</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38 / 87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S26</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So what is it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02864"/>
            <a:ext cx="10820095" cy="1475232"/>
          </a:xfrm>
          <a:prstGeom prst="rect">
            <a:avLst/>
          </a:prstGeom>
          <a:noFill/>
        </p:spPr>
        <p:txBody>
          <a:bodyPr wrap="square" anchor="t">
            <a:spAutoFit/>
          </a:bodyPr>
          <a:lstStyle/>
          <a:p>
            <a:pPr>
              <a:spcAft>
                <a:spcPts val="900"/>
              </a:spcAft>
            </a:pPr>
            <a:r>
              <a:rPr sz="2000" b="0">
                <a:solidFill>
                  <a:srgbClr val="1C1C1A"/>
                </a:solidFill>
                <a:latin typeface="Calibri"/>
              </a:rPr>
              <a:t>The same order, exported twice, with the second export stamping the wrong date?</a:t>
            </a:r>
          </a:p>
          <a:p>
            <a:pPr>
              <a:spcAft>
                <a:spcPts val="900"/>
              </a:spcAft>
            </a:pPr>
            <a:r>
              <a:rPr sz="2000" b="0">
                <a:solidFill>
                  <a:srgbClr val="1C1C1A"/>
                </a:solidFill>
                <a:latin typeface="Calibri"/>
              </a:rPr>
              <a:t>Or a real repeat order that reused an id it should not have?</a:t>
            </a:r>
          </a:p>
          <a:p>
            <a:pPr>
              <a:spcAft>
                <a:spcPts val="900"/>
              </a:spcAft>
            </a:pPr>
            <a:r>
              <a:rPr sz="2000" b="0">
                <a:solidFill>
                  <a:srgbClr val="1C1C1A"/>
                </a:solidFill>
                <a:latin typeface="Calibri"/>
              </a:rPr>
              <a:t>The data cannot tell you. It never could.</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39 / 87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D11</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two readings, and what each costs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2158492"/>
          <a:ext cx="10820095" cy="2197608"/>
        </p:xfrm>
        <a:graphic>
          <a:graphicData uri="http://schemas.openxmlformats.org/drawingml/2006/table">
            <a:tbl>
              <a:tblPr firstRow="0" bandRow="0">
                <a:tableStyleId>{2D5ABB26-0587-4C30-8999-92F81FD0307C}</a:tableStyleId>
              </a:tblPr>
              <a:tblGrid>
                <a:gridCol w="3606698"/>
                <a:gridCol w="3606698"/>
                <a:gridCol w="3606699"/>
              </a:tblGrid>
              <a:tr h="387096">
                <a:tc>
                  <a:txBody>
                    <a:bodyPr/>
                    <a:lstStyle/>
                    <a:p>
                      <a:r>
                        <a:rPr sz="1600" b="1">
                          <a:solidFill>
                            <a:srgbClr val="FFFFFF"/>
                          </a:solidFill>
                          <a:latin typeface="Calibri"/>
                        </a:rPr>
                        <a:t>If you decide</a:t>
                      </a:r>
                    </a:p>
                  </a:txBody>
                  <a:tcPr marL="101600" marR="101600" marT="38100" marB="38100" anchor="ctr">
                    <a:solidFill>
                      <a:srgbClr val="2B4A7D"/>
                    </a:solidFill>
                  </a:tcPr>
                </a:tc>
                <a:tc>
                  <a:txBody>
                    <a:bodyPr/>
                    <a:lstStyle/>
                    <a:p>
                      <a:r>
                        <a:rPr sz="1600" b="1">
                          <a:solidFill>
                            <a:srgbClr val="FFFFFF"/>
                          </a:solidFill>
                          <a:latin typeface="Calibri"/>
                        </a:rPr>
                        <a:t>And you are right</a:t>
                      </a:r>
                    </a:p>
                  </a:txBody>
                  <a:tcPr marL="101600" marR="101600" marT="38100" marB="38100" anchor="ctr">
                    <a:solidFill>
                      <a:srgbClr val="2B4A7D"/>
                    </a:solidFill>
                  </a:tcPr>
                </a:tc>
                <a:tc>
                  <a:txBody>
                    <a:bodyPr/>
                    <a:lstStyle/>
                    <a:p>
                      <a:r>
                        <a:rPr sz="1600" b="1">
                          <a:solidFill>
                            <a:srgbClr val="FFFFFF"/>
                          </a:solidFill>
                          <a:latin typeface="Calibri"/>
                        </a:rPr>
                        <a:t>And you are wrong</a:t>
                      </a:r>
                    </a:p>
                  </a:txBody>
                  <a:tcPr marL="101600" marR="101600" marT="38100" marB="38100" anchor="ctr">
                    <a:solidFill>
                      <a:srgbClr val="2B4A7D"/>
                    </a:solidFill>
                  </a:tcPr>
                </a:tc>
              </a:tr>
              <a:tr h="905256">
                <a:tc>
                  <a:txBody>
                    <a:bodyPr/>
                    <a:lstStyle/>
                    <a:p>
                      <a:r>
                        <a:rPr sz="1500" b="0">
                          <a:solidFill>
                            <a:srgbClr val="1C1C1A"/>
                          </a:solidFill>
                          <a:latin typeface="Calibri"/>
                        </a:rPr>
                        <a:t>They are one order, so drop one</a:t>
                      </a:r>
                    </a:p>
                  </a:txBody>
                  <a:tcPr marL="101600" marR="101600" marT="38100" marB="38100" anchor="ctr">
                    <a:solidFill>
                      <a:srgbClr val="FFFFFF"/>
                    </a:solidFill>
                  </a:tcPr>
                </a:tc>
                <a:tc>
                  <a:txBody>
                    <a:bodyPr/>
                    <a:lstStyle/>
                    <a:p>
                      <a:r>
                        <a:rPr sz="1500" b="0">
                          <a:solidFill>
                            <a:srgbClr val="1C1C1A"/>
                          </a:solidFill>
                          <a:latin typeface="Calibri"/>
                        </a:rPr>
                        <a:t>Your count of 50 becomes 49 and the total loses Rs 1,865, both correctly</a:t>
                      </a:r>
                    </a:p>
                  </a:txBody>
                  <a:tcPr marL="101600" marR="101600" marT="38100" marB="38100" anchor="ctr">
                    <a:solidFill>
                      <a:srgbClr val="FFFFFF"/>
                    </a:solidFill>
                  </a:tcPr>
                </a:tc>
                <a:tc>
                  <a:txBody>
                    <a:bodyPr/>
                    <a:lstStyle/>
                    <a:p>
                      <a:r>
                        <a:rPr sz="1500" b="0">
                          <a:solidFill>
                            <a:srgbClr val="1C1C1A"/>
                          </a:solidFill>
                          <a:latin typeface="Calibri"/>
                        </a:rPr>
                        <a:t>You have deleted a real order and no downstream reader will ever know a row is missing</a:t>
                      </a:r>
                    </a:p>
                  </a:txBody>
                  <a:tcPr marL="101600" marR="101600" marT="38100" marB="38100" anchor="ctr">
                    <a:solidFill>
                      <a:srgbClr val="FFFFFF"/>
                    </a:solidFill>
                  </a:tcPr>
                </a:tc>
              </a:tr>
              <a:tr h="905256">
                <a:tc>
                  <a:txBody>
                    <a:bodyPr/>
                    <a:lstStyle/>
                    <a:p>
                      <a:r>
                        <a:rPr sz="1500" b="0">
                          <a:solidFill>
                            <a:srgbClr val="1C1C1A"/>
                          </a:solidFill>
                          <a:latin typeface="Calibri"/>
                        </a:rPr>
                        <a:t>They are two orders, so keep both</a:t>
                      </a:r>
                    </a:p>
                  </a:txBody>
                  <a:tcPr marL="101600" marR="101600" marT="38100" marB="38100" anchor="ctr">
                    <a:solidFill>
                      <a:srgbClr val="F7F7F5"/>
                    </a:solidFill>
                  </a:tcPr>
                </a:tc>
                <a:tc>
                  <a:txBody>
                    <a:bodyPr/>
                    <a:lstStyle/>
                    <a:p>
                      <a:r>
                        <a:rPr sz="1500" b="0">
                          <a:solidFill>
                            <a:srgbClr val="1C1C1A"/>
                          </a:solidFill>
                          <a:latin typeface="Calibri"/>
                        </a:rPr>
                        <a:t>Your figures include a genuine repeat purchase</a:t>
                      </a:r>
                    </a:p>
                  </a:txBody>
                  <a:tcPr marL="101600" marR="101600" marT="38100" marB="38100" anchor="ctr">
                    <a:solidFill>
                      <a:srgbClr val="F7F7F5"/>
                    </a:solidFill>
                  </a:tcPr>
                </a:tc>
                <a:tc>
                  <a:txBody>
                    <a:bodyPr/>
                    <a:lstStyle/>
                    <a:p>
                      <a:r>
                        <a:rPr sz="1500" b="0">
                          <a:solidFill>
                            <a:srgbClr val="1C1C1A"/>
                          </a:solidFill>
                          <a:latin typeface="Calibri"/>
                        </a:rPr>
                        <a:t>You are double counting one order, and every total, average and customer-level figure carries it</a:t>
                      </a:r>
                    </a:p>
                  </a:txBody>
                  <a:tcPr marL="101600" marR="101600" marT="38100" marB="38100" anchor="ctr">
                    <a:solidFill>
                      <a:srgbClr val="F7F7F5"/>
                    </a:solidFill>
                  </a:tcPr>
                </a:tc>
              </a:tr>
            </a:tbl>
          </a:graphicData>
        </a:graphic>
      </p:graphicFrame>
      <p:sp>
        <p:nvSpPr>
          <p:cNvPr id="8" name="TextBox 7"/>
          <p:cNvSpPr txBox="1"/>
          <p:nvPr/>
        </p:nvSpPr>
        <p:spPr>
          <a:xfrm>
            <a:off x="685800" y="4612132"/>
            <a:ext cx="10820095" cy="910336"/>
          </a:xfrm>
          <a:prstGeom prst="rect">
            <a:avLst/>
          </a:prstGeom>
          <a:noFill/>
        </p:spPr>
        <p:txBody>
          <a:bodyPr wrap="square" anchor="t">
            <a:spAutoFit/>
          </a:bodyPr>
          <a:lstStyle/>
          <a:p>
            <a:pPr>
              <a:spcAft>
                <a:spcPts val="900"/>
              </a:spcAft>
            </a:pPr>
            <a:r>
              <a:rPr sz="2000" b="0">
                <a:solidFill>
                  <a:srgbClr val="1C1C1A"/>
                </a:solidFill>
                <a:latin typeface="Calibri"/>
              </a:rPr>
              <a:t>Neither error announces itself. That asymmetry is the reason this decision leaves your desk and goes to whoever owns the order book.</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40 / 87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S27</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 identity rule is something you state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58830e24bb04d72e.png"/>
          <p:cNvPicPr>
            <a:picLocks noChangeAspect="1"/>
          </p:cNvPicPr>
          <p:nvPr/>
        </p:nvPicPr>
        <p:blipFill>
          <a:blip r:embed="rId2"/>
          <a:stretch>
            <a:fillRect/>
          </a:stretch>
        </p:blipFill>
        <p:spPr>
          <a:xfrm>
            <a:off x="685800" y="2532010"/>
            <a:ext cx="10820095" cy="1306298"/>
          </a:xfrm>
          <a:prstGeom prst="rect">
            <a:avLst/>
          </a:prstGeom>
        </p:spPr>
      </p:pic>
      <p:sp>
        <p:nvSpPr>
          <p:cNvPr id="7" name="TextBox 6"/>
          <p:cNvSpPr txBox="1"/>
          <p:nvPr/>
        </p:nvSpPr>
        <p:spPr>
          <a:xfrm>
            <a:off x="685800" y="4852416"/>
            <a:ext cx="10820095" cy="1200912"/>
          </a:xfrm>
          <a:prstGeom prst="rect">
            <a:avLst/>
          </a:prstGeom>
          <a:noFill/>
        </p:spPr>
        <p:txBody>
          <a:bodyPr wrap="square" anchor="t">
            <a:spAutoFit/>
          </a:bodyPr>
          <a:lstStyle/>
          <a:p>
            <a:r>
              <a:rPr sz="2000" b="0">
                <a:solidFill>
                  <a:srgbClr val="1C1C1A"/>
                </a:solidFill>
                <a:latin typeface="Calibri"/>
              </a:rPr>
              <a:t>"Two rows are the same order when they share an order_id and an order_date." That is a rule. It can be applied by someone else, argued with, and written into a decisions log. "They look like duplicates" is not a rule.</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41 / 87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S28</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The duplicate ladder, from cheapest to most useful</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a6b5ef4dadb2c06.png"/>
          <p:cNvPicPr>
            <a:picLocks noChangeAspect="1"/>
          </p:cNvPicPr>
          <p:nvPr/>
        </p:nvPicPr>
        <p:blipFill>
          <a:blip r:embed="rId2"/>
          <a:stretch>
            <a:fillRect/>
          </a:stretch>
        </p:blipFill>
        <p:spPr>
          <a:xfrm>
            <a:off x="685800" y="2357183"/>
            <a:ext cx="4652640" cy="2966592"/>
          </a:xfrm>
          <a:prstGeom prst="rect">
            <a:avLst/>
          </a:prstGeom>
        </p:spPr>
      </p:pic>
      <p:sp>
        <p:nvSpPr>
          <p:cNvPr id="7" name="TextBox 6"/>
          <p:cNvSpPr txBox="1"/>
          <p:nvPr/>
        </p:nvSpPr>
        <p:spPr>
          <a:xfrm>
            <a:off x="5771244" y="3471672"/>
            <a:ext cx="5734650" cy="737616"/>
          </a:xfrm>
          <a:prstGeom prst="rect">
            <a:avLst/>
          </a:prstGeom>
          <a:noFill/>
        </p:spPr>
        <p:txBody>
          <a:bodyPr wrap="square" anchor="t">
            <a:spAutoFit/>
          </a:bodyPr>
          <a:lstStyle/>
          <a:p>
            <a:pPr>
              <a:spcAft>
                <a:spcPts val="700"/>
              </a:spcAft>
            </a:pPr>
            <a:r>
              <a:rPr sz="1500" b="0">
                <a:solidFill>
                  <a:srgbClr val="1C1C1A"/>
                </a:solidFill>
                <a:latin typeface="Calibri"/>
              </a:rPr>
              <a:t>Today you climb to the third rung and stop. The fourth is a whole discipline and it is not Week 1.</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42 / 87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D12</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Writing the two checks so they disagree in public</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141728"/>
            <a:ext cx="10820095" cy="1347216"/>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2141728"/>
            <a:ext cx="50292" cy="1347216"/>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2242312"/>
            <a:ext cx="10417759" cy="1164336"/>
          </a:xfrm>
          <a:prstGeom prst="rect">
            <a:avLst/>
          </a:prstGeom>
          <a:noFill/>
        </p:spPr>
        <p:txBody>
          <a:bodyPr wrap="square" anchor="t">
            <a:spAutoFit/>
          </a:bodyPr>
          <a:lstStyle/>
          <a:p>
            <a:pPr>
              <a:spcAft>
                <a:spcPts val="200"/>
              </a:spcAft>
            </a:pPr>
            <a:r>
              <a:rPr sz="1600" b="0">
                <a:solidFill>
                  <a:srgbClr val="E4ECF7"/>
                </a:solidFill>
                <a:latin typeface="Consolas"/>
              </a:rPr>
              <a:t>whole = len(rows) - len({tuple(sorted(r.items())) for r in rows})</a:t>
            </a:r>
          </a:p>
          <a:p>
            <a:pPr>
              <a:spcAft>
                <a:spcPts val="200"/>
              </a:spcAft>
            </a:pPr>
            <a:r>
              <a:rPr sz="1600" b="0">
                <a:solidFill>
                  <a:srgbClr val="E4ECF7"/>
                </a:solidFill>
                <a:latin typeface="Consolas"/>
              </a:rPr>
              <a:t>by_id = len(rows) - len({r["order_id"] for r in rows})</a:t>
            </a:r>
          </a:p>
          <a:p>
            <a:pPr>
              <a:spcAft>
                <a:spcPts val="200"/>
              </a:spcAft>
            </a:pPr>
            <a:r>
              <a:rPr sz="1600" b="0">
                <a:solidFill>
                  <a:srgbClr val="E4ECF7"/>
                </a:solidFill>
                <a:latin typeface="Consolas"/>
              </a:rPr>
              <a:t>print("whole-record duplicates:", whole)</a:t>
            </a:r>
          </a:p>
          <a:p>
            <a:pPr>
              <a:spcAft>
                <a:spcPts val="200"/>
              </a:spcAft>
            </a:pPr>
            <a:r>
              <a:rPr sz="1600" b="0">
                <a:solidFill>
                  <a:srgbClr val="E4ECF7"/>
                </a:solidFill>
                <a:latin typeface="Consolas"/>
              </a:rPr>
              <a:t>print("rows sharing an order_id:", by_id)</a:t>
            </a:r>
          </a:p>
        </p:txBody>
      </p:sp>
      <p:sp>
        <p:nvSpPr>
          <p:cNvPr id="10" name="Rectangle 9"/>
          <p:cNvSpPr/>
          <p:nvPr/>
        </p:nvSpPr>
        <p:spPr>
          <a:xfrm>
            <a:off x="685800" y="3653536"/>
            <a:ext cx="10820095" cy="81076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3653536"/>
            <a:ext cx="50292" cy="81076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3754120"/>
            <a:ext cx="10417759" cy="627888"/>
          </a:xfrm>
          <a:prstGeom prst="rect">
            <a:avLst/>
          </a:prstGeom>
          <a:noFill/>
        </p:spPr>
        <p:txBody>
          <a:bodyPr wrap="square" anchor="t">
            <a:spAutoFit/>
          </a:bodyPr>
          <a:lstStyle/>
          <a:p>
            <a:pPr>
              <a:spcAft>
                <a:spcPts val="200"/>
              </a:spcAft>
            </a:pPr>
            <a:r>
              <a:rPr sz="1600" b="0">
                <a:solidFill>
                  <a:srgbClr val="E4ECF7"/>
                </a:solidFill>
                <a:latin typeface="Consolas"/>
              </a:rPr>
              <a:t>whole-record duplicates: 0</a:t>
            </a:r>
          </a:p>
          <a:p>
            <a:pPr>
              <a:spcAft>
                <a:spcPts val="200"/>
              </a:spcAft>
            </a:pPr>
            <a:r>
              <a:rPr sz="1600" b="0">
                <a:solidFill>
                  <a:srgbClr val="E4ECF7"/>
                </a:solidFill>
                <a:latin typeface="Consolas"/>
              </a:rPr>
              <a:t>rows sharing an order_id: 1</a:t>
            </a:r>
          </a:p>
        </p:txBody>
      </p:sp>
      <p:sp>
        <p:nvSpPr>
          <p:cNvPr id="13" name="TextBox 12"/>
          <p:cNvSpPr txBox="1"/>
          <p:nvPr/>
        </p:nvSpPr>
        <p:spPr>
          <a:xfrm>
            <a:off x="685800" y="4628896"/>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Two lines, printed together, on purpose. A single check that returns zero reads as an all clear. Two checks that disagree read as a question, and the question is the finding.</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43 / 87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S29</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And who decides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b74e539d892983fd.png"/>
          <p:cNvPicPr>
            <a:picLocks noChangeAspect="1"/>
          </p:cNvPicPr>
          <p:nvPr/>
        </p:nvPicPr>
        <p:blipFill>
          <a:blip r:embed="rId2"/>
          <a:stretch>
            <a:fillRect/>
          </a:stretch>
        </p:blipFill>
        <p:spPr>
          <a:xfrm>
            <a:off x="685800" y="2496462"/>
            <a:ext cx="4652640" cy="2688034"/>
          </a:xfrm>
          <a:prstGeom prst="rect">
            <a:avLst/>
          </a:prstGeom>
        </p:spPr>
      </p:pic>
      <p:sp>
        <p:nvSpPr>
          <p:cNvPr id="7" name="TextBox 6"/>
          <p:cNvSpPr txBox="1"/>
          <p:nvPr/>
        </p:nvSpPr>
        <p:spPr>
          <a:xfrm>
            <a:off x="5771244" y="3157728"/>
            <a:ext cx="5734650" cy="1365504"/>
          </a:xfrm>
          <a:prstGeom prst="rect">
            <a:avLst/>
          </a:prstGeom>
          <a:noFill/>
        </p:spPr>
        <p:txBody>
          <a:bodyPr wrap="square" anchor="t">
            <a:spAutoFit/>
          </a:bodyPr>
          <a:lstStyle/>
          <a:p>
            <a:pPr>
              <a:spcAft>
                <a:spcPts val="700"/>
              </a:spcAft>
            </a:pPr>
            <a:r>
              <a:rPr sz="1500" b="0">
                <a:solidFill>
                  <a:srgbClr val="1C1C1A"/>
                </a:solidFill>
                <a:latin typeface="Calibri"/>
              </a:rPr>
              <a:t>Not you, on your own, on a Wednesday.</a:t>
            </a:r>
          </a:p>
          <a:p>
            <a:pPr>
              <a:spcAft>
                <a:spcPts val="700"/>
              </a:spcAft>
            </a:pPr>
            <a:r>
              <a:rPr sz="1500" b="0">
                <a:solidFill>
                  <a:srgbClr val="1C1C1A"/>
                </a:solidFill>
                <a:latin typeface="Calibri"/>
              </a:rPr>
              <a:t>You take the pair to whoever owns the order book, with both rows on screen and your proposed rule underneath. That conversation is the job.</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44 / 87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D13</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What you actually send, and why it fits in six lines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The message that gets an answer is short, carries the evidence, and proposes a rule so the reply can be a yes.</a:t>
            </a:r>
          </a:p>
        </p:txBody>
      </p:sp>
      <p:sp>
        <p:nvSpPr>
          <p:cNvPr id="8" name="Rectangle 7"/>
          <p:cNvSpPr/>
          <p:nvPr/>
        </p:nvSpPr>
        <p:spPr>
          <a:xfrm>
            <a:off x="685800" y="2665984"/>
            <a:ext cx="10820095" cy="2420112"/>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85800" y="2665984"/>
            <a:ext cx="50292" cy="2420112"/>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23544" y="2766568"/>
            <a:ext cx="10417759" cy="2237231"/>
          </a:xfrm>
          <a:prstGeom prst="rect">
            <a:avLst/>
          </a:prstGeom>
          <a:noFill/>
        </p:spPr>
        <p:txBody>
          <a:bodyPr wrap="square" anchor="t">
            <a:spAutoFit/>
          </a:bodyPr>
          <a:lstStyle/>
          <a:p>
            <a:pPr>
              <a:spcAft>
                <a:spcPts val="200"/>
              </a:spcAft>
            </a:pPr>
            <a:r>
              <a:rPr sz="1600" b="0">
                <a:solidFill>
                  <a:srgbClr val="E4ECF7"/>
                </a:solidFill>
                <a:latin typeface="Consolas"/>
              </a:rPr>
              <a:t>Two rows in the 50 order extract share order_id KR4201.</a:t>
            </a:r>
          </a:p>
          <a:p>
            <a:pPr>
              <a:spcAft>
                <a:spcPts val="200"/>
              </a:spcAft>
            </a:pPr>
            <a:r>
              <a:rPr sz="1600" b="0">
                <a:solidFill>
                  <a:srgbClr val="E4ECF7"/>
                </a:solidFill>
                <a:latin typeface="Consolas"/>
              </a:rPr>
              <a:t>They match on customer, amount and status, and differ only on order_date</a:t>
            </a:r>
          </a:p>
          <a:p>
            <a:pPr>
              <a:spcAft>
                <a:spcPts val="200"/>
              </a:spcAft>
            </a:pPr>
            <a:r>
              <a:rPr sz="1600" b="0">
                <a:solidFill>
                  <a:srgbClr val="E4ECF7"/>
                </a:solidFill>
                <a:latin typeface="Consolas"/>
              </a:rPr>
              <a:t>(2026-08-03 and 2026-09-14).</a:t>
            </a:r>
          </a:p>
          <a:p>
            <a:pPr>
              <a:spcAft>
                <a:spcPts val="200"/>
              </a:spcAft>
            </a:pPr>
          </a:p>
          <a:p>
            <a:pPr>
              <a:spcAft>
                <a:spcPts val="200"/>
              </a:spcAft>
            </a:pPr>
            <a:r>
              <a:rPr sz="1600" b="0">
                <a:solidFill>
                  <a:srgbClr val="E4ECF7"/>
                </a:solidFill>
                <a:latin typeface="Consolas"/>
              </a:rPr>
              <a:t>Proposed rule: two rows are the same order when order_id and order_date match,</a:t>
            </a:r>
          </a:p>
          <a:p>
            <a:pPr>
              <a:spcAft>
                <a:spcPts val="200"/>
              </a:spcAft>
            </a:pPr>
            <a:r>
              <a:rPr sz="1600" b="0">
                <a:solidFill>
                  <a:srgbClr val="E4ECF7"/>
                </a:solidFill>
                <a:latin typeface="Consolas"/>
              </a:rPr>
              <a:t>so these are two orders and both are kept.</a:t>
            </a:r>
          </a:p>
          <a:p>
            <a:pPr>
              <a:spcAft>
                <a:spcPts val="200"/>
              </a:spcAft>
            </a:pPr>
          </a:p>
          <a:p>
            <a:pPr>
              <a:spcAft>
                <a:spcPts val="200"/>
              </a:spcAft>
            </a:pPr>
            <a:r>
              <a:rPr sz="1600" b="0">
                <a:solidFill>
                  <a:srgbClr val="E4ECF7"/>
                </a:solidFill>
                <a:latin typeface="Consolas"/>
              </a:rPr>
              <a:t>If that is wrong, which field decides?</a:t>
            </a:r>
          </a:p>
        </p:txBody>
      </p:sp>
      <p:sp>
        <p:nvSpPr>
          <p:cNvPr id="11" name="TextBox 10"/>
          <p:cNvSpPr txBox="1"/>
          <p:nvPr/>
        </p:nvSpPr>
        <p:spPr>
          <a:xfrm>
            <a:off x="685800" y="5250688"/>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The last line is the one that works. It asks for a rule rather than a verdict, so the answer covers every future pair as well as this one.</a:t>
            </a:r>
          </a:p>
        </p:txBody>
      </p:sp>
      <p:sp>
        <p:nvSpPr>
          <p:cNvPr id="12" name="Rectangle 11"/>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4" name="TextBox 13"/>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45 / 87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S30</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Step card, section 3</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882392"/>
            <a:ext cx="457200" cy="437896"/>
          </a:xfrm>
          <a:prstGeom prst="rect">
            <a:avLst/>
          </a:prstGeom>
          <a:noFill/>
        </p:spPr>
        <p:txBody>
          <a:bodyPr wrap="square" anchor="t">
            <a:spAutoFit/>
          </a:bodyPr>
          <a:lstStyle/>
          <a:p>
            <a:r>
              <a:rPr sz="1900" b="1">
                <a:solidFill>
                  <a:srgbClr val="2B4A7D"/>
                </a:solidFill>
                <a:latin typeface="Calibri"/>
              </a:rPr>
              <a:t>1</a:t>
            </a:r>
          </a:p>
        </p:txBody>
      </p:sp>
      <p:sp>
        <p:nvSpPr>
          <p:cNvPr id="7" name="TextBox 6"/>
          <p:cNvSpPr txBox="1"/>
          <p:nvPr/>
        </p:nvSpPr>
        <p:spPr>
          <a:xfrm>
            <a:off x="1143000" y="2882392"/>
            <a:ext cx="10362895" cy="437896"/>
          </a:xfrm>
          <a:prstGeom prst="rect">
            <a:avLst/>
          </a:prstGeom>
          <a:noFill/>
        </p:spPr>
        <p:txBody>
          <a:bodyPr wrap="square" anchor="t">
            <a:spAutoFit/>
          </a:bodyPr>
          <a:lstStyle/>
          <a:p>
            <a:r>
              <a:rPr sz="1900" b="0">
                <a:solidFill>
                  <a:srgbClr val="1C1C1A"/>
                </a:solidFill>
                <a:latin typeface="Calibri"/>
              </a:rPr>
              <a:t>A whole-record check finds only exact copies.</a:t>
            </a:r>
          </a:p>
        </p:txBody>
      </p:sp>
      <p:sp>
        <p:nvSpPr>
          <p:cNvPr id="8" name="TextBox 7"/>
          <p:cNvSpPr txBox="1"/>
          <p:nvPr/>
        </p:nvSpPr>
        <p:spPr>
          <a:xfrm>
            <a:off x="685800" y="3375152"/>
            <a:ext cx="457200" cy="437896"/>
          </a:xfrm>
          <a:prstGeom prst="rect">
            <a:avLst/>
          </a:prstGeom>
          <a:noFill/>
        </p:spPr>
        <p:txBody>
          <a:bodyPr wrap="square" anchor="t">
            <a:spAutoFit/>
          </a:bodyPr>
          <a:lstStyle/>
          <a:p>
            <a:r>
              <a:rPr sz="1900" b="1">
                <a:solidFill>
                  <a:srgbClr val="2B4A7D"/>
                </a:solidFill>
                <a:latin typeface="Calibri"/>
              </a:rPr>
              <a:t>2</a:t>
            </a:r>
          </a:p>
        </p:txBody>
      </p:sp>
      <p:sp>
        <p:nvSpPr>
          <p:cNvPr id="9" name="TextBox 8"/>
          <p:cNvSpPr txBox="1"/>
          <p:nvPr/>
        </p:nvSpPr>
        <p:spPr>
          <a:xfrm>
            <a:off x="1143000" y="3375152"/>
            <a:ext cx="10362895" cy="437896"/>
          </a:xfrm>
          <a:prstGeom prst="rect">
            <a:avLst/>
          </a:prstGeom>
          <a:noFill/>
        </p:spPr>
        <p:txBody>
          <a:bodyPr wrap="square" anchor="t">
            <a:spAutoFit/>
          </a:bodyPr>
          <a:lstStyle/>
          <a:p>
            <a:r>
              <a:rPr sz="1900" b="0">
                <a:solidFill>
                  <a:srgbClr val="1C1C1A"/>
                </a:solidFill>
                <a:latin typeface="Calibri"/>
              </a:rPr>
              <a:t>Compare the id count against the row count, every time.</a:t>
            </a:r>
          </a:p>
        </p:txBody>
      </p:sp>
      <p:sp>
        <p:nvSpPr>
          <p:cNvPr id="10" name="TextBox 9"/>
          <p:cNvSpPr txBox="1"/>
          <p:nvPr/>
        </p:nvSpPr>
        <p:spPr>
          <a:xfrm>
            <a:off x="685800" y="3867912"/>
            <a:ext cx="457200" cy="437896"/>
          </a:xfrm>
          <a:prstGeom prst="rect">
            <a:avLst/>
          </a:prstGeom>
          <a:noFill/>
        </p:spPr>
        <p:txBody>
          <a:bodyPr wrap="square" anchor="t">
            <a:spAutoFit/>
          </a:bodyPr>
          <a:lstStyle/>
          <a:p>
            <a:r>
              <a:rPr sz="1900" b="1">
                <a:solidFill>
                  <a:srgbClr val="2B4A7D"/>
                </a:solidFill>
                <a:latin typeface="Calibri"/>
              </a:rPr>
              <a:t>3</a:t>
            </a:r>
          </a:p>
        </p:txBody>
      </p:sp>
      <p:sp>
        <p:nvSpPr>
          <p:cNvPr id="11" name="TextBox 10"/>
          <p:cNvSpPr txBox="1"/>
          <p:nvPr/>
        </p:nvSpPr>
        <p:spPr>
          <a:xfrm>
            <a:off x="1143000" y="3867912"/>
            <a:ext cx="10362895" cy="437896"/>
          </a:xfrm>
          <a:prstGeom prst="rect">
            <a:avLst/>
          </a:prstGeom>
          <a:noFill/>
        </p:spPr>
        <p:txBody>
          <a:bodyPr wrap="square" anchor="t">
            <a:spAutoFit/>
          </a:bodyPr>
          <a:lstStyle/>
          <a:p>
            <a:r>
              <a:rPr sz="1900" b="0">
                <a:solidFill>
                  <a:srgbClr val="1C1C1A"/>
                </a:solidFill>
                <a:latin typeface="Calibri"/>
              </a:rPr>
              <a:t>Write the identity rule down before you delete anything.</a:t>
            </a:r>
          </a:p>
        </p:txBody>
      </p:sp>
      <p:sp>
        <p:nvSpPr>
          <p:cNvPr id="12" name="TextBox 11"/>
          <p:cNvSpPr txBox="1"/>
          <p:nvPr/>
        </p:nvSpPr>
        <p:spPr>
          <a:xfrm>
            <a:off x="685800" y="4360672"/>
            <a:ext cx="457200" cy="437896"/>
          </a:xfrm>
          <a:prstGeom prst="rect">
            <a:avLst/>
          </a:prstGeom>
          <a:noFill/>
        </p:spPr>
        <p:txBody>
          <a:bodyPr wrap="square" anchor="t">
            <a:spAutoFit/>
          </a:bodyPr>
          <a:lstStyle/>
          <a:p>
            <a:r>
              <a:rPr sz="1900" b="1">
                <a:solidFill>
                  <a:srgbClr val="2B4A7D"/>
                </a:solidFill>
                <a:latin typeface="Calibri"/>
              </a:rPr>
              <a:t>4</a:t>
            </a:r>
          </a:p>
        </p:txBody>
      </p:sp>
      <p:sp>
        <p:nvSpPr>
          <p:cNvPr id="13" name="TextBox 12"/>
          <p:cNvSpPr txBox="1"/>
          <p:nvPr/>
        </p:nvSpPr>
        <p:spPr>
          <a:xfrm>
            <a:off x="1143000" y="4360672"/>
            <a:ext cx="10362895" cy="437896"/>
          </a:xfrm>
          <a:prstGeom prst="rect">
            <a:avLst/>
          </a:prstGeom>
          <a:noFill/>
        </p:spPr>
        <p:txBody>
          <a:bodyPr wrap="square" anchor="t">
            <a:spAutoFit/>
          </a:bodyPr>
          <a:lstStyle/>
          <a:p>
            <a:r>
              <a:rPr sz="1900" b="0">
                <a:solidFill>
                  <a:srgbClr val="1C1C1A"/>
                </a:solidFill>
                <a:latin typeface="Calibri"/>
              </a:rPr>
              <a:t>Who owns the record decides what counts as the same record.</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46 / 87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4: THE EXTREMES</a:t>
            </a:r>
          </a:p>
        </p:txBody>
      </p:sp>
      <p:sp>
        <p:nvSpPr>
          <p:cNvPr id="4" name="Rounded Rectangle 3"/>
          <p:cNvSpPr/>
          <p:nvPr/>
        </p:nvSpPr>
        <p:spPr>
          <a:xfrm>
            <a:off x="685800"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47 / 87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Sort the column and look at the end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f5eab02730c939c7.png"/>
          <p:cNvPicPr>
            <a:picLocks noChangeAspect="1"/>
          </p:cNvPicPr>
          <p:nvPr/>
        </p:nvPicPr>
        <p:blipFill>
          <a:blip r:embed="rId2"/>
          <a:stretch>
            <a:fillRect/>
          </a:stretch>
        </p:blipFill>
        <p:spPr>
          <a:xfrm>
            <a:off x="916768" y="1627632"/>
            <a:ext cx="4190703" cy="4425696"/>
          </a:xfrm>
          <a:prstGeom prst="rect">
            <a:avLst/>
          </a:prstGeom>
        </p:spPr>
      </p:pic>
      <p:sp>
        <p:nvSpPr>
          <p:cNvPr id="7" name="Rectangle 6"/>
          <p:cNvSpPr/>
          <p:nvPr/>
        </p:nvSpPr>
        <p:spPr>
          <a:xfrm>
            <a:off x="5771244" y="3031744"/>
            <a:ext cx="5734650" cy="542543"/>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3031744"/>
            <a:ext cx="50292" cy="542543"/>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08988" y="3132328"/>
            <a:ext cx="5332314" cy="359663"/>
          </a:xfrm>
          <a:prstGeom prst="rect">
            <a:avLst/>
          </a:prstGeom>
          <a:noFill/>
        </p:spPr>
        <p:txBody>
          <a:bodyPr wrap="square" anchor="t">
            <a:spAutoFit/>
          </a:bodyPr>
          <a:lstStyle/>
          <a:p>
            <a:pPr>
              <a:spcAft>
                <a:spcPts val="200"/>
              </a:spcAft>
            </a:pPr>
            <a:r>
              <a:rPr sz="1600" b="0">
                <a:solidFill>
                  <a:srgbClr val="E4ECF7"/>
                </a:solidFill>
                <a:latin typeface="Consolas"/>
              </a:rPr>
              <a:t>... 2895, 2895, 2930, 2990, 2995, 480000</a:t>
            </a:r>
          </a:p>
        </p:txBody>
      </p:sp>
      <p:sp>
        <p:nvSpPr>
          <p:cNvPr id="10" name="TextBox 9"/>
          <p:cNvSpPr txBox="1"/>
          <p:nvPr/>
        </p:nvSpPr>
        <p:spPr>
          <a:xfrm>
            <a:off x="5771244" y="3738880"/>
            <a:ext cx="5734650" cy="910336"/>
          </a:xfrm>
          <a:prstGeom prst="rect">
            <a:avLst/>
          </a:prstGeom>
          <a:noFill/>
        </p:spPr>
        <p:txBody>
          <a:bodyPr wrap="square" anchor="t">
            <a:spAutoFit/>
          </a:bodyPr>
          <a:lstStyle/>
          <a:p>
            <a:pPr>
              <a:spcAft>
                <a:spcPts val="900"/>
              </a:spcAft>
            </a:pPr>
            <a:r>
              <a:rPr sz="2000" b="0">
                <a:solidFill>
                  <a:srgbClr val="1C1C1A"/>
                </a:solidFill>
                <a:latin typeface="Calibri"/>
              </a:rPr>
              <a:t>Five ordinary orders and then one that is 160 times the one before it.</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48 / 87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What it does to the total</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102864"/>
            <a:ext cx="10820095" cy="1475232"/>
          </a:xfrm>
          <a:prstGeom prst="rect">
            <a:avLst/>
          </a:prstGeom>
          <a:noFill/>
        </p:spPr>
        <p:txBody>
          <a:bodyPr wrap="square" anchor="t">
            <a:spAutoFit/>
          </a:bodyPr>
          <a:lstStyle/>
          <a:p>
            <a:pPr>
              <a:spcAft>
                <a:spcPts val="900"/>
              </a:spcAft>
            </a:pPr>
            <a:r>
              <a:rPr sz="2000" b="0">
                <a:solidFill>
                  <a:srgbClr val="1C1C1A"/>
                </a:solidFill>
                <a:latin typeface="Calibri"/>
              </a:rPr>
              <a:t>The order book totals Rs 561,145 across 44 usable orders.</a:t>
            </a:r>
          </a:p>
          <a:p>
            <a:pPr>
              <a:spcAft>
                <a:spcPts val="900"/>
              </a:spcAft>
            </a:pPr>
            <a:r>
              <a:rPr sz="2000" b="0">
                <a:solidFill>
                  <a:srgbClr val="1C1C1A"/>
                </a:solidFill>
                <a:latin typeface="Calibri"/>
              </a:rPr>
              <a:t>That one order is Rs 480,000 of it, which is 85.5 percent.</a:t>
            </a:r>
          </a:p>
          <a:p>
            <a:pPr>
              <a:spcAft>
                <a:spcPts val="900"/>
              </a:spcAft>
            </a:pPr>
            <a:r>
              <a:rPr sz="2000" b="0">
                <a:solidFill>
                  <a:srgbClr val="1C1C1A"/>
                </a:solidFill>
                <a:latin typeface="Calibri"/>
              </a:rPr>
              <a:t>Remove it and the total is Rs 81,145.</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49 / 87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D14</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What it does to every number you might report</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2151380"/>
          <a:ext cx="10820095" cy="2211832"/>
        </p:xfrm>
        <a:graphic>
          <a:graphicData uri="http://schemas.openxmlformats.org/drawingml/2006/table">
            <a:tbl>
              <a:tblPr firstRow="0" bandRow="0">
                <a:tableStyleId>{2D5ABB26-0587-4C30-8999-92F81FD0307C}</a:tableStyleId>
              </a:tblPr>
              <a:tblGrid>
                <a:gridCol w="2705023"/>
                <a:gridCol w="2705023"/>
                <a:gridCol w="2705023"/>
                <a:gridCol w="2705026"/>
              </a:tblGrid>
              <a:tr h="352552">
                <a:tc>
                  <a:txBody>
                    <a:bodyPr/>
                    <a:lstStyle/>
                    <a:p>
                      <a:r>
                        <a:rPr sz="1400" b="1">
                          <a:solidFill>
                            <a:srgbClr val="FFFFFF"/>
                          </a:solidFill>
                          <a:latin typeface="Calibri"/>
                        </a:rPr>
                        <a:t>Figure</a:t>
                      </a:r>
                    </a:p>
                  </a:txBody>
                  <a:tcPr marL="101600" marR="101600" marT="38100" marB="38100" anchor="ctr">
                    <a:solidFill>
                      <a:srgbClr val="2B4A7D"/>
                    </a:solidFill>
                  </a:tcPr>
                </a:tc>
                <a:tc>
                  <a:txBody>
                    <a:bodyPr/>
                    <a:lstStyle/>
                    <a:p>
                      <a:r>
                        <a:rPr sz="1400" b="1">
                          <a:solidFill>
                            <a:srgbClr val="FFFFFF"/>
                          </a:solidFill>
                          <a:latin typeface="Calibri"/>
                        </a:rPr>
                        <a:t>With the order</a:t>
                      </a:r>
                    </a:p>
                  </a:txBody>
                  <a:tcPr marL="101600" marR="101600" marT="38100" marB="38100" anchor="ctr">
                    <a:solidFill>
                      <a:srgbClr val="2B4A7D"/>
                    </a:solidFill>
                  </a:tcPr>
                </a:tc>
                <a:tc>
                  <a:txBody>
                    <a:bodyPr/>
                    <a:lstStyle/>
                    <a:p>
                      <a:r>
                        <a:rPr sz="1400" b="1">
                          <a:solidFill>
                            <a:srgbClr val="FFFFFF"/>
                          </a:solidFill>
                          <a:latin typeface="Calibri"/>
                        </a:rPr>
                        <a:t>Without it</a:t>
                      </a:r>
                    </a:p>
                  </a:txBody>
                  <a:tcPr marL="101600" marR="101600" marT="38100" marB="38100" anchor="ctr">
                    <a:solidFill>
                      <a:srgbClr val="2B4A7D"/>
                    </a:solidFill>
                  </a:tcPr>
                </a:tc>
                <a:tc>
                  <a:txBody>
                    <a:bodyPr/>
                    <a:lstStyle/>
                    <a:p>
                      <a:r>
                        <a:rPr sz="1400" b="1">
                          <a:solidFill>
                            <a:srgbClr val="FFFFFF"/>
                          </a:solidFill>
                          <a:latin typeface="Calibri"/>
                        </a:rPr>
                        <a:t>What moved</a:t>
                      </a:r>
                    </a:p>
                  </a:txBody>
                  <a:tcPr marL="101600" marR="101600" marT="38100" marB="38100" anchor="ctr">
                    <a:solidFill>
                      <a:srgbClr val="2B4A7D"/>
                    </a:solidFill>
                  </a:tcPr>
                </a:tc>
              </a:tr>
              <a:tr h="577088">
                <a:tc>
                  <a:txBody>
                    <a:bodyPr/>
                    <a:lstStyle/>
                    <a:p>
                      <a:r>
                        <a:rPr sz="1300" b="0">
                          <a:solidFill>
                            <a:srgbClr val="1C1C1A"/>
                          </a:solidFill>
                          <a:latin typeface="Calibri"/>
                        </a:rPr>
                        <a:t>Total</a:t>
                      </a:r>
                    </a:p>
                  </a:txBody>
                  <a:tcPr marL="101600" marR="101600" marT="38100" marB="38100" anchor="ctr">
                    <a:solidFill>
                      <a:srgbClr val="FFFFFF"/>
                    </a:solidFill>
                  </a:tcPr>
                </a:tc>
                <a:tc>
                  <a:txBody>
                    <a:bodyPr/>
                    <a:lstStyle/>
                    <a:p>
                      <a:r>
                        <a:rPr sz="1300" b="0">
                          <a:solidFill>
                            <a:srgbClr val="1C1C1A"/>
                          </a:solidFill>
                          <a:latin typeface="Calibri"/>
                        </a:rPr>
                        <a:t>Rs 561,145</a:t>
                      </a:r>
                    </a:p>
                  </a:txBody>
                  <a:tcPr marL="101600" marR="101600" marT="38100" marB="38100" anchor="ctr">
                    <a:solidFill>
                      <a:srgbClr val="FFFFFF"/>
                    </a:solidFill>
                  </a:tcPr>
                </a:tc>
                <a:tc>
                  <a:txBody>
                    <a:bodyPr/>
                    <a:lstStyle/>
                    <a:p>
                      <a:r>
                        <a:rPr sz="1300" b="0">
                          <a:solidFill>
                            <a:srgbClr val="1C1C1A"/>
                          </a:solidFill>
                          <a:latin typeface="Calibri"/>
                        </a:rPr>
                        <a:t>Rs 81,145</a:t>
                      </a:r>
                    </a:p>
                  </a:txBody>
                  <a:tcPr marL="101600" marR="101600" marT="38100" marB="38100" anchor="ctr">
                    <a:solidFill>
                      <a:srgbClr val="FFFFFF"/>
                    </a:solidFill>
                  </a:tcPr>
                </a:tc>
                <a:tc>
                  <a:txBody>
                    <a:bodyPr/>
                    <a:lstStyle/>
                    <a:p>
                      <a:r>
                        <a:rPr sz="1300" b="0">
                          <a:solidFill>
                            <a:srgbClr val="1C1C1A"/>
                          </a:solidFill>
                          <a:latin typeface="Calibri"/>
                        </a:rPr>
                        <a:t>The total is almost entirely one order</a:t>
                      </a:r>
                    </a:p>
                  </a:txBody>
                  <a:tcPr marL="101600" marR="101600" marT="38100" marB="38100" anchor="ctr">
                    <a:solidFill>
                      <a:srgbClr val="FFFFFF"/>
                    </a:solidFill>
                  </a:tcPr>
                </a:tc>
              </a:tr>
              <a:tr h="577088">
                <a:tc>
                  <a:txBody>
                    <a:bodyPr/>
                    <a:lstStyle/>
                    <a:p>
                      <a:r>
                        <a:rPr sz="1300" b="0">
                          <a:solidFill>
                            <a:srgbClr val="1C1C1A"/>
                          </a:solidFill>
                          <a:latin typeface="Calibri"/>
                        </a:rPr>
                        <a:t>Mean order value</a:t>
                      </a:r>
                    </a:p>
                  </a:txBody>
                  <a:tcPr marL="101600" marR="101600" marT="38100" marB="38100" anchor="ctr">
                    <a:solidFill>
                      <a:srgbClr val="F7F7F5"/>
                    </a:solidFill>
                  </a:tcPr>
                </a:tc>
                <a:tc>
                  <a:txBody>
                    <a:bodyPr/>
                    <a:lstStyle/>
                    <a:p>
                      <a:r>
                        <a:rPr sz="1300" b="0">
                          <a:solidFill>
                            <a:srgbClr val="1C1C1A"/>
                          </a:solidFill>
                          <a:latin typeface="Calibri"/>
                        </a:rPr>
                        <a:t>Rs 12,753.30</a:t>
                      </a:r>
                    </a:p>
                  </a:txBody>
                  <a:tcPr marL="101600" marR="101600" marT="38100" marB="38100" anchor="ctr">
                    <a:solidFill>
                      <a:srgbClr val="F7F7F5"/>
                    </a:solidFill>
                  </a:tcPr>
                </a:tc>
                <a:tc>
                  <a:txBody>
                    <a:bodyPr/>
                    <a:lstStyle/>
                    <a:p>
                      <a:r>
                        <a:rPr sz="1300" b="0">
                          <a:solidFill>
                            <a:srgbClr val="1C1C1A"/>
                          </a:solidFill>
                          <a:latin typeface="Calibri"/>
                        </a:rPr>
                        <a:t>Rs 1,887.09</a:t>
                      </a:r>
                    </a:p>
                  </a:txBody>
                  <a:tcPr marL="101600" marR="101600" marT="38100" marB="38100" anchor="ctr">
                    <a:solidFill>
                      <a:srgbClr val="F7F7F5"/>
                    </a:solidFill>
                  </a:tcPr>
                </a:tc>
                <a:tc>
                  <a:txBody>
                    <a:bodyPr/>
                    <a:lstStyle/>
                    <a:p>
                      <a:r>
                        <a:rPr sz="1300" b="0">
                          <a:solidFill>
                            <a:srgbClr val="1C1C1A"/>
                          </a:solidFill>
                          <a:latin typeface="Calibri"/>
                        </a:rPr>
                        <a:t>The mean is nearly seven times too high</a:t>
                      </a:r>
                    </a:p>
                  </a:txBody>
                  <a:tcPr marL="101600" marR="101600" marT="38100" marB="38100" anchor="ctr">
                    <a:solidFill>
                      <a:srgbClr val="F7F7F5"/>
                    </a:solidFill>
                  </a:tcPr>
                </a:tc>
              </a:tr>
              <a:tr h="352552">
                <a:tc>
                  <a:txBody>
                    <a:bodyPr/>
                    <a:lstStyle/>
                    <a:p>
                      <a:r>
                        <a:rPr sz="1300" b="0">
                          <a:solidFill>
                            <a:srgbClr val="1C1C1A"/>
                          </a:solidFill>
                          <a:latin typeface="Calibri"/>
                        </a:rPr>
                        <a:t>Median order value</a:t>
                      </a:r>
                    </a:p>
                  </a:txBody>
                  <a:tcPr marL="101600" marR="101600" marT="38100" marB="38100" anchor="ctr">
                    <a:solidFill>
                      <a:srgbClr val="FFFFFF"/>
                    </a:solidFill>
                  </a:tcPr>
                </a:tc>
                <a:tc>
                  <a:txBody>
                    <a:bodyPr/>
                    <a:lstStyle/>
                    <a:p>
                      <a:r>
                        <a:rPr sz="1300" b="0">
                          <a:solidFill>
                            <a:srgbClr val="1C1C1A"/>
                          </a:solidFill>
                          <a:latin typeface="Calibri"/>
                        </a:rPr>
                        <a:t>Rs 1,910</a:t>
                      </a:r>
                    </a:p>
                  </a:txBody>
                  <a:tcPr marL="101600" marR="101600" marT="38100" marB="38100" anchor="ctr">
                    <a:solidFill>
                      <a:srgbClr val="FFFFFF"/>
                    </a:solidFill>
                  </a:tcPr>
                </a:tc>
                <a:tc>
                  <a:txBody>
                    <a:bodyPr/>
                    <a:lstStyle/>
                    <a:p>
                      <a:r>
                        <a:rPr sz="1300" b="0">
                          <a:solidFill>
                            <a:srgbClr val="1C1C1A"/>
                          </a:solidFill>
                          <a:latin typeface="Calibri"/>
                        </a:rPr>
                        <a:t>Rs 1,865</a:t>
                      </a:r>
                    </a:p>
                  </a:txBody>
                  <a:tcPr marL="101600" marR="101600" marT="38100" marB="38100" anchor="ctr">
                    <a:solidFill>
                      <a:srgbClr val="FFFFFF"/>
                    </a:solidFill>
                  </a:tcPr>
                </a:tc>
                <a:tc>
                  <a:txBody>
                    <a:bodyPr/>
                    <a:lstStyle/>
                    <a:p>
                      <a:r>
                        <a:rPr sz="1300" b="0">
                          <a:solidFill>
                            <a:srgbClr val="1C1C1A"/>
                          </a:solidFill>
                          <a:latin typeface="Calibri"/>
                        </a:rPr>
                        <a:t>The median barely notices</a:t>
                      </a:r>
                    </a:p>
                  </a:txBody>
                  <a:tcPr marL="101600" marR="101600" marT="38100" marB="38100" anchor="ctr">
                    <a:solidFill>
                      <a:srgbClr val="FFFFFF"/>
                    </a:solidFill>
                  </a:tcPr>
                </a:tc>
              </a:tr>
              <a:tr h="352552">
                <a:tc>
                  <a:txBody>
                    <a:bodyPr/>
                    <a:lstStyle/>
                    <a:p>
                      <a:r>
                        <a:rPr sz="1300" b="0">
                          <a:solidFill>
                            <a:srgbClr val="1C1C1A"/>
                          </a:solidFill>
                          <a:latin typeface="Calibri"/>
                        </a:rPr>
                        <a:t>Usable orders</a:t>
                      </a:r>
                    </a:p>
                  </a:txBody>
                  <a:tcPr marL="101600" marR="101600" marT="38100" marB="38100" anchor="ctr">
                    <a:solidFill>
                      <a:srgbClr val="F7F7F5"/>
                    </a:solidFill>
                  </a:tcPr>
                </a:tc>
                <a:tc>
                  <a:txBody>
                    <a:bodyPr/>
                    <a:lstStyle/>
                    <a:p>
                      <a:r>
                        <a:rPr sz="1300" b="0">
                          <a:solidFill>
                            <a:srgbClr val="1C1C1A"/>
                          </a:solidFill>
                          <a:latin typeface="Calibri"/>
                        </a:rPr>
                        <a:t>44</a:t>
                      </a:r>
                    </a:p>
                  </a:txBody>
                  <a:tcPr marL="101600" marR="101600" marT="38100" marB="38100" anchor="ctr">
                    <a:solidFill>
                      <a:srgbClr val="F7F7F5"/>
                    </a:solidFill>
                  </a:tcPr>
                </a:tc>
                <a:tc>
                  <a:txBody>
                    <a:bodyPr/>
                    <a:lstStyle/>
                    <a:p>
                      <a:r>
                        <a:rPr sz="1300" b="0">
                          <a:solidFill>
                            <a:srgbClr val="1C1C1A"/>
                          </a:solidFill>
                          <a:latin typeface="Calibri"/>
                        </a:rPr>
                        <a:t>43</a:t>
                      </a:r>
                    </a:p>
                  </a:txBody>
                  <a:tcPr marL="101600" marR="101600" marT="38100" marB="38100" anchor="ctr">
                    <a:solidFill>
                      <a:srgbClr val="F7F7F5"/>
                    </a:solidFill>
                  </a:tcPr>
                </a:tc>
                <a:tc>
                  <a:txBody>
                    <a:bodyPr/>
                    <a:lstStyle/>
                    <a:p>
                      <a:r>
                        <a:rPr sz="1300" b="0">
                          <a:solidFill>
                            <a:srgbClr val="1C1C1A"/>
                          </a:solidFill>
                          <a:latin typeface="Calibri"/>
                        </a:rPr>
                        <a:t>One row</a:t>
                      </a:r>
                    </a:p>
                  </a:txBody>
                  <a:tcPr marL="101600" marR="101600" marT="38100" marB="38100" anchor="ctr">
                    <a:solidFill>
                      <a:srgbClr val="F7F7F5"/>
                    </a:solidFill>
                  </a:tcPr>
                </a:tc>
              </a:tr>
            </a:tbl>
          </a:graphicData>
        </a:graphic>
      </p:graphicFrame>
      <p:sp>
        <p:nvSpPr>
          <p:cNvPr id="8" name="TextBox 7"/>
          <p:cNvSpPr txBox="1"/>
          <p:nvPr/>
        </p:nvSpPr>
        <p:spPr>
          <a:xfrm>
            <a:off x="685800" y="4619244"/>
            <a:ext cx="10820095" cy="910336"/>
          </a:xfrm>
          <a:prstGeom prst="rect">
            <a:avLst/>
          </a:prstGeom>
          <a:noFill/>
        </p:spPr>
        <p:txBody>
          <a:bodyPr wrap="square" anchor="t">
            <a:spAutoFit/>
          </a:bodyPr>
          <a:lstStyle/>
          <a:p>
            <a:pPr>
              <a:spcAft>
                <a:spcPts val="900"/>
              </a:spcAft>
            </a:pPr>
            <a:r>
              <a:rPr sz="2000" b="0">
                <a:solidFill>
                  <a:srgbClr val="1C1C1A"/>
                </a:solidFill>
                <a:latin typeface="Calibri"/>
              </a:rPr>
              <a:t>One row moved the mean by a factor of seven and the median by Rs 45. That contrast is tomorrow's entire lesson and you have already met it.</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50 / 87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S33</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The instinct, and why it is wrong</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9b5796fe4da5031b.png"/>
          <p:cNvPicPr>
            <a:picLocks noChangeAspect="1"/>
          </p:cNvPicPr>
          <p:nvPr/>
        </p:nvPicPr>
        <p:blipFill>
          <a:blip r:embed="rId2"/>
          <a:stretch>
            <a:fillRect/>
          </a:stretch>
        </p:blipFill>
        <p:spPr>
          <a:xfrm>
            <a:off x="3420981" y="1627632"/>
            <a:ext cx="5349731" cy="2769615"/>
          </a:xfrm>
          <a:prstGeom prst="rect">
            <a:avLst/>
          </a:prstGeom>
        </p:spPr>
      </p:pic>
      <p:sp>
        <p:nvSpPr>
          <p:cNvPr id="7" name="TextBox 6"/>
          <p:cNvSpPr txBox="1"/>
          <p:nvPr/>
        </p:nvSpPr>
        <p:spPr>
          <a:xfrm>
            <a:off x="685800" y="4506976"/>
            <a:ext cx="10820095" cy="1546352"/>
          </a:xfrm>
          <a:prstGeom prst="rect">
            <a:avLst/>
          </a:prstGeom>
          <a:noFill/>
        </p:spPr>
        <p:txBody>
          <a:bodyPr wrap="square" anchor="t">
            <a:spAutoFit/>
          </a:bodyPr>
          <a:lstStyle/>
          <a:p>
            <a:r>
              <a:rPr sz="2000" b="0">
                <a:solidFill>
                  <a:srgbClr val="1C1C1A"/>
                </a:solidFill>
                <a:latin typeface="Calibri"/>
              </a:rPr>
              <a:t>The instinct is to delete it. It is ruining every number. An outlier is a finding before it is a row. Rs 480,000 in a business where a typical order is Rs 800 to Rs 3,000 is either the most interesting customer in the file or a data entry error, and those need opposite responses.</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51 / 87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S34</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The outlier decision, drawn</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923d865ce243bd20.png"/>
          <p:cNvPicPr>
            <a:picLocks noChangeAspect="1"/>
          </p:cNvPicPr>
          <p:nvPr/>
        </p:nvPicPr>
        <p:blipFill>
          <a:blip r:embed="rId2"/>
          <a:stretch>
            <a:fillRect/>
          </a:stretch>
        </p:blipFill>
        <p:spPr>
          <a:xfrm>
            <a:off x="1331178" y="1627632"/>
            <a:ext cx="3361883" cy="4425696"/>
          </a:xfrm>
          <a:prstGeom prst="rect">
            <a:avLst/>
          </a:prstGeom>
        </p:spPr>
      </p:pic>
      <p:sp>
        <p:nvSpPr>
          <p:cNvPr id="7" name="TextBox 6"/>
          <p:cNvSpPr txBox="1"/>
          <p:nvPr/>
        </p:nvSpPr>
        <p:spPr>
          <a:xfrm>
            <a:off x="5771244" y="3471672"/>
            <a:ext cx="5734650" cy="737616"/>
          </a:xfrm>
          <a:prstGeom prst="rect">
            <a:avLst/>
          </a:prstGeom>
          <a:noFill/>
        </p:spPr>
        <p:txBody>
          <a:bodyPr wrap="square" anchor="t">
            <a:spAutoFit/>
          </a:bodyPr>
          <a:lstStyle/>
          <a:p>
            <a:pPr>
              <a:spcAft>
                <a:spcPts val="700"/>
              </a:spcAft>
            </a:pPr>
            <a:r>
              <a:rPr sz="1500" b="0">
                <a:solidFill>
                  <a:srgbClr val="1C1C1A"/>
                </a:solidFill>
                <a:latin typeface="Calibri"/>
              </a:rPr>
              <a:t>At no point does the tree reach a box that says delete. That is deliberate.</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52 / 87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S35</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A simple fence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02560"/>
            <a:ext cx="10820095" cy="2275840"/>
          </a:xfrm>
          <a:prstGeom prst="rect">
            <a:avLst/>
          </a:prstGeom>
          <a:noFill/>
        </p:spPr>
        <p:txBody>
          <a:bodyPr wrap="square" anchor="t">
            <a:spAutoFit/>
          </a:bodyPr>
          <a:lstStyle/>
          <a:p>
            <a:pPr>
              <a:spcAft>
                <a:spcPts val="900"/>
              </a:spcAft>
            </a:pPr>
            <a:r>
              <a:rPr sz="2000" b="0">
                <a:solidFill>
                  <a:srgbClr val="1C1C1A"/>
                </a:solidFill>
                <a:latin typeface="Calibri"/>
              </a:rPr>
              <a:t>A fence is arithmetic that flags a value for a human to look at. It is not a filter.</a:t>
            </a:r>
          </a:p>
          <a:p>
            <a:pPr>
              <a:spcAft>
                <a:spcPts val="900"/>
              </a:spcAft>
            </a:pPr>
            <a:r>
              <a:rPr sz="2000" b="0">
                <a:solidFill>
                  <a:srgbClr val="1C1C1A"/>
                </a:solidFill>
                <a:latin typeface="Calibri"/>
              </a:rPr>
              <a:t>Today's version is deliberately crude. Take the middle order and multiply it by ten.</a:t>
            </a:r>
          </a:p>
          <a:p>
            <a:pPr>
              <a:spcAft>
                <a:spcPts val="900"/>
              </a:spcAft>
            </a:pPr>
            <a:r>
              <a:rPr sz="2000" b="0">
                <a:solidFill>
                  <a:srgbClr val="1C1C1A"/>
                </a:solidFill>
                <a:latin typeface="Calibri"/>
              </a:rPr>
              <a:t>$$\text{fence} = 10 \times \text{median} = 10 \times 1910 = 19{,}100$$</a:t>
            </a:r>
          </a:p>
          <a:p>
            <a:pPr>
              <a:spcAft>
                <a:spcPts val="900"/>
              </a:spcAft>
            </a:pPr>
            <a:r>
              <a:rPr sz="2000" b="0">
                <a:solidFill>
                  <a:srgbClr val="1C1C1A"/>
                </a:solidFill>
                <a:latin typeface="Calibri"/>
              </a:rPr>
              <a:t>Somebody chose the ten, and that somebody is you. Tomorrow you replace it with a threshold built from the spread of the data itself, so that nobody has to choose a number.</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53 / 87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S36</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What the fence catches here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757424"/>
            <a:ext cx="10820095" cy="2166112"/>
          </a:xfrm>
          <a:prstGeom prst="rect">
            <a:avLst/>
          </a:prstGeom>
          <a:noFill/>
        </p:spPr>
        <p:txBody>
          <a:bodyPr wrap="square" anchor="t">
            <a:spAutoFit/>
          </a:bodyPr>
          <a:lstStyle/>
          <a:p>
            <a:pPr>
              <a:spcAft>
                <a:spcPts val="900"/>
              </a:spcAft>
            </a:pPr>
            <a:r>
              <a:rPr sz="2000" b="0">
                <a:solidFill>
                  <a:srgbClr val="1C1C1A"/>
                </a:solidFill>
                <a:latin typeface="Calibri"/>
              </a:rPr>
              <a:t>Exactly one value sits above Rs 19,100, and it is the Rs 480,000 order.</a:t>
            </a:r>
          </a:p>
          <a:p>
            <a:pPr>
              <a:spcAft>
                <a:spcPts val="900"/>
              </a:spcAft>
            </a:pPr>
            <a:r>
              <a:rPr sz="2000" b="0">
                <a:solidFill>
                  <a:srgbClr val="1C1C1A"/>
                </a:solidFill>
                <a:latin typeface="Calibri"/>
              </a:rPr>
              <a:t>The largest ordinary order is Rs 2,995, which is not close to the fence, so nothing borderline is being swept up with it.</a:t>
            </a:r>
          </a:p>
          <a:p>
            <a:pPr>
              <a:spcAft>
                <a:spcPts val="900"/>
              </a:spcAft>
            </a:pPr>
            <a:r>
              <a:rPr sz="2000" b="0">
                <a:solidFill>
                  <a:srgbClr val="1C1C1A"/>
                </a:solidFill>
                <a:latin typeface="Calibri"/>
              </a:rPr>
              <a:t>The fence found the row you had already spotted by sorting. That agreement is what tells you the number you picked is doing its job on this column.</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54 / 87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D15</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What is wrong with choosing the ten</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839968"/>
          </a:xfrm>
          <a:prstGeom prst="rect">
            <a:avLst/>
          </a:prstGeom>
          <a:noFill/>
        </p:spPr>
        <p:txBody>
          <a:bodyPr wrap="square" anchor="t">
            <a:spAutoFit/>
          </a:bodyPr>
          <a:lstStyle/>
          <a:p>
            <a:pPr>
              <a:spcAft>
                <a:spcPts val="900"/>
              </a:spcAft>
            </a:pPr>
            <a:r>
              <a:rPr sz="2000" b="0">
                <a:solidFill>
                  <a:srgbClr val="1C1C1A"/>
                </a:solidFill>
                <a:latin typeface="Calibri"/>
              </a:rPr>
              <a:t>The fence works and it is still crude, because the ten came from your judgement rather than from the data.</a:t>
            </a:r>
          </a:p>
          <a:p>
            <a:pPr>
              <a:spcAft>
                <a:spcPts val="900"/>
              </a:spcAft>
            </a:pPr>
            <a:r>
              <a:rPr sz="2000" b="0">
                <a:solidFill>
                  <a:srgbClr val="1C1C1A"/>
                </a:solidFill>
                <a:latin typeface="Calibri"/>
              </a:rPr>
              <a:t>Two consequences you should be able to state.</a:t>
            </a:r>
          </a:p>
          <a:p>
            <a:pPr>
              <a:spcAft>
                <a:spcPts val="900"/>
              </a:spcAft>
            </a:pPr>
            <a:r>
              <a:rPr sz="2000" b="0">
                <a:solidFill>
                  <a:srgbClr val="1C1C1A"/>
                </a:solidFill>
                <a:latin typeface="Calibri"/>
              </a:rPr>
              <a:t>The first is that the number does not travel. Ten times the median is a sensible fence on order amounts in this business and a useless one on delivery times, on ages, or on a column where the median is near zero. Every new column needs you to choose again, and there is nothing to argue with when somebody disagrees with your choice.</a:t>
            </a:r>
          </a:p>
          <a:p>
            <a:pPr>
              <a:spcAft>
                <a:spcPts val="900"/>
              </a:spcAft>
            </a:pPr>
            <a:r>
              <a:rPr sz="2000" b="0">
                <a:solidFill>
                  <a:srgbClr val="1C1C1A"/>
                </a:solidFill>
                <a:latin typeface="Calibri"/>
              </a:rPr>
              <a:t>The second is that it moves when the data moves. The median here is Rs 1,910 and the whale is inside the same file, so a fence built from the median is already being pulled by the record it is meant to catch.</a:t>
            </a:r>
          </a:p>
          <a:p>
            <a:pPr>
              <a:spcAft>
                <a:spcPts val="900"/>
              </a:spcAft>
            </a:pPr>
            <a:r>
              <a:rPr sz="2000" b="0">
                <a:solidFill>
                  <a:srgbClr val="1C1C1A"/>
                </a:solidFill>
                <a:latin typeface="Calibri"/>
              </a:rPr>
              <a:t>Tomorrow's version fixes both. It builds the threshold out of the spread of the middle half of the data, which ignores the tail by construction, and it is the same arithmetic on every column so nobody has to pick a number. Today's fence is the version you can compute in your head, and the point of computing it today is that tomorrow you will know what the better one is better than.</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55 / 87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D16</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Three ways to flag an extreme, and when each is honest</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1627632"/>
          <a:ext cx="10820095" cy="3102864"/>
        </p:xfrm>
        <a:graphic>
          <a:graphicData uri="http://schemas.openxmlformats.org/drawingml/2006/table">
            <a:tbl>
              <a:tblPr firstRow="0" bandRow="0">
                <a:tableStyleId>{2D5ABB26-0587-4C30-8999-92F81FD0307C}</a:tableStyleId>
              </a:tblPr>
              <a:tblGrid>
                <a:gridCol w="3606698"/>
                <a:gridCol w="3606698"/>
                <a:gridCol w="3606699"/>
              </a:tblGrid>
              <a:tr h="387096">
                <a:tc>
                  <a:txBody>
                    <a:bodyPr/>
                    <a:lstStyle/>
                    <a:p>
                      <a:r>
                        <a:rPr sz="1600" b="1">
                          <a:solidFill>
                            <a:srgbClr val="FFFFFF"/>
                          </a:solidFill>
                          <a:latin typeface="Calibri"/>
                        </a:rPr>
                        <a:t>Method</a:t>
                      </a:r>
                    </a:p>
                  </a:txBody>
                  <a:tcPr marL="101600" marR="101600" marT="38100" marB="38100" anchor="ctr">
                    <a:solidFill>
                      <a:srgbClr val="2B4A7D"/>
                    </a:solidFill>
                  </a:tcPr>
                </a:tc>
                <a:tc>
                  <a:txBody>
                    <a:bodyPr/>
                    <a:lstStyle/>
                    <a:p>
                      <a:r>
                        <a:rPr sz="1600" b="1">
                          <a:solidFill>
                            <a:srgbClr val="FFFFFF"/>
                          </a:solidFill>
                          <a:latin typeface="Calibri"/>
                        </a:rPr>
                        <a:t>How it works</a:t>
                      </a:r>
                    </a:p>
                  </a:txBody>
                  <a:tcPr marL="101600" marR="101600" marT="38100" marB="38100" anchor="ctr">
                    <a:solidFill>
                      <a:srgbClr val="2B4A7D"/>
                    </a:solidFill>
                  </a:tcPr>
                </a:tc>
                <a:tc>
                  <a:txBody>
                    <a:bodyPr/>
                    <a:lstStyle/>
                    <a:p>
                      <a:r>
                        <a:rPr sz="1600" b="1">
                          <a:solidFill>
                            <a:srgbClr val="FFFFFF"/>
                          </a:solidFill>
                          <a:latin typeface="Calibri"/>
                        </a:rPr>
                        <a:t>When it is the right tool</a:t>
                      </a:r>
                    </a:p>
                  </a:txBody>
                  <a:tcPr marL="101600" marR="101600" marT="38100" marB="38100" anchor="ctr">
                    <a:solidFill>
                      <a:srgbClr val="2B4A7D"/>
                    </a:solidFill>
                  </a:tcPr>
                </a:tc>
              </a:tr>
              <a:tr h="905256">
                <a:tc>
                  <a:txBody>
                    <a:bodyPr/>
                    <a:lstStyle/>
                    <a:p>
                      <a:r>
                        <a:rPr sz="1500" b="0">
                          <a:solidFill>
                            <a:srgbClr val="1C1C1A"/>
                          </a:solidFill>
                          <a:latin typeface="Calibri"/>
                        </a:rPr>
                        <a:t>Sort and read the tail</a:t>
                      </a:r>
                    </a:p>
                  </a:txBody>
                  <a:tcPr marL="101600" marR="101600" marT="38100" marB="38100" anchor="ctr">
                    <a:solidFill>
                      <a:srgbClr val="FFFFFF"/>
                    </a:solidFill>
                  </a:tcPr>
                </a:tc>
                <a:tc>
                  <a:txBody>
                    <a:bodyPr/>
                    <a:lstStyle/>
                    <a:p>
                      <a:r>
                        <a:rPr sz="1500" b="0">
                          <a:solidFill>
                            <a:srgbClr val="1C1C1A"/>
                          </a:solidFill>
                          <a:latin typeface="Calibri"/>
                        </a:rPr>
                        <a:t>You look at the largest and smallest values yourself</a:t>
                      </a:r>
                    </a:p>
                  </a:txBody>
                  <a:tcPr marL="101600" marR="101600" marT="38100" marB="38100" anchor="ctr">
                    <a:solidFill>
                      <a:srgbClr val="FFFFFF"/>
                    </a:solidFill>
                  </a:tcPr>
                </a:tc>
                <a:tc>
                  <a:txBody>
                    <a:bodyPr/>
                    <a:lstStyle/>
                    <a:p>
                      <a:r>
                        <a:rPr sz="1500" b="0">
                          <a:solidFill>
                            <a:srgbClr val="1C1C1A"/>
                          </a:solidFill>
                          <a:latin typeface="Calibri"/>
                        </a:rPr>
                        <a:t>Always do this first. It costs nothing and it is the only method that shows you the actual values</a:t>
                      </a:r>
                    </a:p>
                  </a:txBody>
                  <a:tcPr marL="101600" marR="101600" marT="38100" marB="38100" anchor="ctr">
                    <a:solidFill>
                      <a:srgbClr val="FFFFFF"/>
                    </a:solidFill>
                  </a:tcPr>
                </a:tc>
              </a:tr>
              <a:tr h="905256">
                <a:tc>
                  <a:txBody>
                    <a:bodyPr/>
                    <a:lstStyle/>
                    <a:p>
                      <a:r>
                        <a:rPr sz="1500" b="0">
                          <a:solidFill>
                            <a:srgbClr val="1C1C1A"/>
                          </a:solidFill>
                          <a:latin typeface="Calibri"/>
                        </a:rPr>
                        <a:t>The IQR fence</a:t>
                      </a:r>
                    </a:p>
                  </a:txBody>
                  <a:tcPr marL="101600" marR="101600" marT="38100" marB="38100" anchor="ctr">
                    <a:solidFill>
                      <a:srgbClr val="F7F7F5"/>
                    </a:solidFill>
                  </a:tcPr>
                </a:tc>
                <a:tc>
                  <a:txBody>
                    <a:bodyPr/>
                    <a:lstStyle/>
                    <a:p>
                      <a:r>
                        <a:rPr sz="1500" b="0">
                          <a:solidFill>
                            <a:srgbClr val="1C1C1A"/>
                          </a:solidFill>
                          <a:latin typeface="Calibri"/>
                        </a:rPr>
                        <a:t>Flag anything beyond 1.5 times the interquartile range from the quartiles</a:t>
                      </a:r>
                    </a:p>
                  </a:txBody>
                  <a:tcPr marL="101600" marR="101600" marT="38100" marB="38100" anchor="ctr">
                    <a:solidFill>
                      <a:srgbClr val="F7F7F5"/>
                    </a:solidFill>
                  </a:tcPr>
                </a:tc>
                <a:tc>
                  <a:txBody>
                    <a:bodyPr/>
                    <a:lstStyle/>
                    <a:p>
                      <a:r>
                        <a:rPr sz="1500" b="0">
                          <a:solidFill>
                            <a:srgbClr val="1C1C1A"/>
                          </a:solidFill>
                          <a:latin typeface="Calibri"/>
                        </a:rPr>
                        <a:t>When you need a rule somebody else can reproduce, and the column is not wildly skewed</a:t>
                      </a:r>
                    </a:p>
                  </a:txBody>
                  <a:tcPr marL="101600" marR="101600" marT="38100" marB="38100" anchor="ctr">
                    <a:solidFill>
                      <a:srgbClr val="F7F7F5"/>
                    </a:solidFill>
                  </a:tcPr>
                </a:tc>
              </a:tr>
              <a:tr h="905256">
                <a:tc>
                  <a:txBody>
                    <a:bodyPr/>
                    <a:lstStyle/>
                    <a:p>
                      <a:r>
                        <a:rPr sz="1500" b="0">
                          <a:solidFill>
                            <a:srgbClr val="1C1C1A"/>
                          </a:solidFill>
                          <a:latin typeface="Calibri"/>
                        </a:rPr>
                        <a:t>A business rule</a:t>
                      </a:r>
                    </a:p>
                  </a:txBody>
                  <a:tcPr marL="101600" marR="101600" marT="38100" marB="38100" anchor="ctr">
                    <a:solidFill>
                      <a:srgbClr val="FFFFFF"/>
                    </a:solidFill>
                  </a:tcPr>
                </a:tc>
                <a:tc>
                  <a:txBody>
                    <a:bodyPr/>
                    <a:lstStyle/>
                    <a:p>
                      <a:r>
                        <a:rPr sz="1500" b="0">
                          <a:solidFill>
                            <a:srgbClr val="1C1C1A"/>
                          </a:solidFill>
                          <a:latin typeface="Calibri"/>
                        </a:rPr>
                        <a:t>Flag anything above an amount the business says is implausible</a:t>
                      </a:r>
                    </a:p>
                  </a:txBody>
                  <a:tcPr marL="101600" marR="101600" marT="38100" marB="38100" anchor="ctr">
                    <a:solidFill>
                      <a:srgbClr val="FFFFFF"/>
                    </a:solidFill>
                  </a:tcPr>
                </a:tc>
                <a:tc>
                  <a:txBody>
                    <a:bodyPr/>
                    <a:lstStyle/>
                    <a:p>
                      <a:r>
                        <a:rPr sz="1500" b="0">
                          <a:solidFill>
                            <a:srgbClr val="1C1C1A"/>
                          </a:solidFill>
                          <a:latin typeface="Calibri"/>
                        </a:rPr>
                        <a:t>When somebody who owns the domain will give you the number, which is better than any statistic</a:t>
                      </a:r>
                    </a:p>
                  </a:txBody>
                  <a:tcPr marL="101600" marR="101600" marT="38100" marB="38100" anchor="ctr">
                    <a:solidFill>
                      <a:srgbClr val="FFFFFF"/>
                    </a:solidFill>
                  </a:tcPr>
                </a:tc>
              </a:tr>
            </a:tbl>
          </a:graphicData>
        </a:graphic>
      </p:graphicFrame>
      <p:sp>
        <p:nvSpPr>
          <p:cNvPr id="8" name="TextBox 7"/>
          <p:cNvSpPr txBox="1"/>
          <p:nvPr/>
        </p:nvSpPr>
        <p:spPr>
          <a:xfrm>
            <a:off x="685800" y="4986528"/>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The third one beats the other two whenever you can get it. Ask for it before you reach for arithmetic.</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56 / 87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S37</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So you investigate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85008"/>
            <a:ext cx="10820095" cy="1710944"/>
          </a:xfrm>
          <a:prstGeom prst="rect">
            <a:avLst/>
          </a:prstGeom>
          <a:noFill/>
        </p:spPr>
        <p:txBody>
          <a:bodyPr wrap="square" anchor="t">
            <a:spAutoFit/>
          </a:bodyPr>
          <a:lstStyle/>
          <a:p>
            <a:pPr>
              <a:spcAft>
                <a:spcPts val="900"/>
              </a:spcAft>
            </a:pPr>
            <a:r>
              <a:rPr sz="2000" b="0">
                <a:solidFill>
                  <a:srgbClr val="1C1C1A"/>
                </a:solidFill>
                <a:latin typeface="Calibri"/>
              </a:rPr>
              <a:t>Order KR4232 converts cleanly. It has a customer, a date, a status and a segment like every other order.</a:t>
            </a:r>
          </a:p>
          <a:p>
            <a:pPr>
              <a:spcAft>
                <a:spcPts val="900"/>
              </a:spcAft>
            </a:pPr>
            <a:r>
              <a:rPr sz="2000" b="0">
                <a:solidFill>
                  <a:srgbClr val="1C1C1A"/>
                </a:solidFill>
                <a:latin typeface="Calibri"/>
              </a:rPr>
              <a:t>Nothing about it is malformed. It is simply large, so it survives cleaning and goes to Thursday as a question rather than a deletion.</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57 / 87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D17</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What investigating it actually means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1627632"/>
            <a:ext cx="10820095" cy="564896"/>
          </a:xfrm>
          <a:prstGeom prst="rect">
            <a:avLst/>
          </a:prstGeom>
          <a:noFill/>
        </p:spPr>
        <p:txBody>
          <a:bodyPr wrap="square" anchor="t">
            <a:spAutoFit/>
          </a:bodyPr>
          <a:lstStyle/>
          <a:p>
            <a:pPr>
              <a:spcAft>
                <a:spcPts val="900"/>
              </a:spcAft>
            </a:pPr>
            <a:r>
              <a:rPr sz="2000" b="0">
                <a:solidFill>
                  <a:srgbClr val="1C1C1A"/>
                </a:solidFill>
                <a:latin typeface="Calibri"/>
              </a:rPr>
              <a:t>You have four questions and the file answers two of them.</a:t>
            </a:r>
          </a:p>
        </p:txBody>
      </p:sp>
      <p:graphicFrame>
        <p:nvGraphicFramePr>
          <p:cNvPr id="8" name="Table 7"/>
          <p:cNvGraphicFramePr>
            <a:graphicFrameLocks noGrp="1"/>
          </p:cNvGraphicFramePr>
          <p:nvPr/>
        </p:nvGraphicFramePr>
        <p:xfrm>
          <a:off x="685800" y="2320544"/>
          <a:ext cx="10820095" cy="2194560"/>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Question</a:t>
                      </a:r>
                    </a:p>
                  </a:txBody>
                  <a:tcPr marL="101600" marR="101600" marT="38100" marB="38100" anchor="ctr">
                    <a:solidFill>
                      <a:srgbClr val="2B4A7D"/>
                    </a:solidFill>
                  </a:tcPr>
                </a:tc>
                <a:tc>
                  <a:txBody>
                    <a:bodyPr/>
                    <a:lstStyle/>
                    <a:p>
                      <a:r>
                        <a:rPr sz="1600" b="1">
                          <a:solidFill>
                            <a:srgbClr val="FFFFFF"/>
                          </a:solidFill>
                          <a:latin typeface="Calibri"/>
                        </a:rPr>
                        <a:t>Where the answer is</a:t>
                      </a:r>
                    </a:p>
                  </a:txBody>
                  <a:tcPr marL="101600" marR="101600" marT="38100" marB="38100" anchor="ctr">
                    <a:solidFill>
                      <a:srgbClr val="2B4A7D"/>
                    </a:solidFill>
                  </a:tcPr>
                </a:tc>
              </a:tr>
              <a:tr h="387096">
                <a:tc>
                  <a:txBody>
                    <a:bodyPr/>
                    <a:lstStyle/>
                    <a:p>
                      <a:r>
                        <a:rPr sz="1500" b="0">
                          <a:solidFill>
                            <a:srgbClr val="1C1C1A"/>
                          </a:solidFill>
                          <a:latin typeface="Calibri"/>
                        </a:rPr>
                        <a:t>Is the value well formed?</a:t>
                      </a:r>
                    </a:p>
                  </a:txBody>
                  <a:tcPr marL="101600" marR="101600" marT="38100" marB="38100" anchor="ctr">
                    <a:solidFill>
                      <a:srgbClr val="FFFFFF"/>
                    </a:solidFill>
                  </a:tcPr>
                </a:tc>
                <a:tc>
                  <a:txBody>
                    <a:bodyPr/>
                    <a:lstStyle/>
                    <a:p>
                      <a:r>
                        <a:rPr sz="1500" b="0">
                          <a:solidFill>
                            <a:srgbClr val="1C1C1A"/>
                          </a:solidFill>
                          <a:latin typeface="Calibri"/>
                        </a:rPr>
                        <a:t>In the file. It converts, so yes.</a:t>
                      </a:r>
                    </a:p>
                  </a:txBody>
                  <a:tcPr marL="101600" marR="101600" marT="38100" marB="38100" anchor="ctr">
                    <a:solidFill>
                      <a:srgbClr val="FFFFFF"/>
                    </a:solidFill>
                  </a:tcPr>
                </a:tc>
              </a:tr>
              <a:tr h="646176">
                <a:tc>
                  <a:txBody>
                    <a:bodyPr/>
                    <a:lstStyle/>
                    <a:p>
                      <a:r>
                        <a:rPr sz="1500" b="0">
                          <a:solidFill>
                            <a:srgbClr val="1C1C1A"/>
                          </a:solidFill>
                          <a:latin typeface="Calibri"/>
                        </a:rPr>
                        <a:t>Is the rest of the record consistent?</a:t>
                      </a:r>
                    </a:p>
                  </a:txBody>
                  <a:tcPr marL="101600" marR="101600" marT="38100" marB="38100" anchor="ctr">
                    <a:solidFill>
                      <a:srgbClr val="F7F7F5"/>
                    </a:solidFill>
                  </a:tcPr>
                </a:tc>
                <a:tc>
                  <a:txBody>
                    <a:bodyPr/>
                    <a:lstStyle/>
                    <a:p>
                      <a:r>
                        <a:rPr sz="1500" b="0">
                          <a:solidFill>
                            <a:srgbClr val="1C1C1A"/>
                          </a:solidFill>
                          <a:latin typeface="Calibri"/>
                        </a:rPr>
                        <a:t>In the file. Customer C1749, Retail-Core, delivered, 19 August 2026, and nothing is missing.</a:t>
                      </a:r>
                    </a:p>
                  </a:txBody>
                  <a:tcPr marL="101600" marR="101600" marT="38100" marB="38100" anchor="ctr">
                    <a:solidFill>
                      <a:srgbClr val="F7F7F5"/>
                    </a:solidFill>
                  </a:tcPr>
                </a:tc>
              </a:tr>
              <a:tr h="387096">
                <a:tc>
                  <a:txBody>
                    <a:bodyPr/>
                    <a:lstStyle/>
                    <a:p>
                      <a:r>
                        <a:rPr sz="1500" b="0">
                          <a:solidFill>
                            <a:srgbClr val="1C1C1A"/>
                          </a:solidFill>
                          <a:latin typeface="Calibri"/>
                        </a:rPr>
                        <a:t>Has this customer ordered like this before?</a:t>
                      </a:r>
                    </a:p>
                  </a:txBody>
                  <a:tcPr marL="101600" marR="101600" marT="38100" marB="38100" anchor="ctr">
                    <a:solidFill>
                      <a:srgbClr val="FFFFFF"/>
                    </a:solidFill>
                  </a:tcPr>
                </a:tc>
                <a:tc>
                  <a:txBody>
                    <a:bodyPr/>
                    <a:lstStyle/>
                    <a:p>
                      <a:r>
                        <a:rPr sz="1500" b="0">
                          <a:solidFill>
                            <a:srgbClr val="1C1C1A"/>
                          </a:solidFill>
                          <a:latin typeface="Calibri"/>
                        </a:rPr>
                        <a:t>Not in this extract. It needs the wider order book.</a:t>
                      </a:r>
                    </a:p>
                  </a:txBody>
                  <a:tcPr marL="101600" marR="101600" marT="38100" marB="38100" anchor="ctr">
                    <a:solidFill>
                      <a:srgbClr val="FFFFFF"/>
                    </a:solidFill>
                  </a:tcPr>
                </a:tc>
              </a:tr>
              <a:tr h="387096">
                <a:tc>
                  <a:txBody>
                    <a:bodyPr/>
                    <a:lstStyle/>
                    <a:p>
                      <a:r>
                        <a:rPr sz="1500" b="0">
                          <a:solidFill>
                            <a:srgbClr val="1C1C1A"/>
                          </a:solidFill>
                          <a:latin typeface="Calibri"/>
                        </a:rPr>
                        <a:t>Is an order of this size possible in this business?</a:t>
                      </a:r>
                    </a:p>
                  </a:txBody>
                  <a:tcPr marL="101600" marR="101600" marT="38100" marB="38100" anchor="ctr">
                    <a:solidFill>
                      <a:srgbClr val="F7F7F5"/>
                    </a:solidFill>
                  </a:tcPr>
                </a:tc>
                <a:tc>
                  <a:txBody>
                    <a:bodyPr/>
                    <a:lstStyle/>
                    <a:p>
                      <a:r>
                        <a:rPr sz="1500" b="0">
                          <a:solidFill>
                            <a:srgbClr val="1C1C1A"/>
                          </a:solidFill>
                          <a:latin typeface="Calibri"/>
                        </a:rPr>
                        <a:t>Not in any file. It needs a person who knows the business.</a:t>
                      </a:r>
                    </a:p>
                  </a:txBody>
                  <a:tcPr marL="101600" marR="101600" marT="38100" marB="38100" anchor="ctr">
                    <a:solidFill>
                      <a:srgbClr val="F7F7F5"/>
                    </a:solidFill>
                  </a:tcPr>
                </a:tc>
              </a:tr>
            </a:tbl>
          </a:graphicData>
        </a:graphic>
      </p:graphicFrame>
      <p:sp>
        <p:nvSpPr>
          <p:cNvPr id="9" name="TextBox 8"/>
          <p:cNvSpPr txBox="1"/>
          <p:nvPr/>
        </p:nvSpPr>
        <p:spPr>
          <a:xfrm>
            <a:off x="685800" y="4771136"/>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Two of four leave your desk. That is normal, and saying so is the difference between an analyst and someone who guesses confidently.</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58 / 87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S38</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Step card, section 4</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882392"/>
            <a:ext cx="457200" cy="437896"/>
          </a:xfrm>
          <a:prstGeom prst="rect">
            <a:avLst/>
          </a:prstGeom>
          <a:noFill/>
        </p:spPr>
        <p:txBody>
          <a:bodyPr wrap="square" anchor="t">
            <a:spAutoFit/>
          </a:bodyPr>
          <a:lstStyle/>
          <a:p>
            <a:r>
              <a:rPr sz="1900" b="1">
                <a:solidFill>
                  <a:srgbClr val="2B4A7D"/>
                </a:solidFill>
                <a:latin typeface="Calibri"/>
              </a:rPr>
              <a:t>1</a:t>
            </a:r>
          </a:p>
        </p:txBody>
      </p:sp>
      <p:sp>
        <p:nvSpPr>
          <p:cNvPr id="7" name="TextBox 6"/>
          <p:cNvSpPr txBox="1"/>
          <p:nvPr/>
        </p:nvSpPr>
        <p:spPr>
          <a:xfrm>
            <a:off x="1143000" y="2882392"/>
            <a:ext cx="10362895" cy="437896"/>
          </a:xfrm>
          <a:prstGeom prst="rect">
            <a:avLst/>
          </a:prstGeom>
          <a:noFill/>
        </p:spPr>
        <p:txBody>
          <a:bodyPr wrap="square" anchor="t">
            <a:spAutoFit/>
          </a:bodyPr>
          <a:lstStyle/>
          <a:p>
            <a:r>
              <a:rPr sz="1900" b="0">
                <a:solidFill>
                  <a:srgbClr val="1C1C1A"/>
                </a:solidFill>
                <a:latin typeface="Calibri"/>
              </a:rPr>
              <a:t>Sort the column and read the tail.</a:t>
            </a:r>
          </a:p>
        </p:txBody>
      </p:sp>
      <p:sp>
        <p:nvSpPr>
          <p:cNvPr id="8" name="TextBox 7"/>
          <p:cNvSpPr txBox="1"/>
          <p:nvPr/>
        </p:nvSpPr>
        <p:spPr>
          <a:xfrm>
            <a:off x="685800" y="3375152"/>
            <a:ext cx="457200" cy="437896"/>
          </a:xfrm>
          <a:prstGeom prst="rect">
            <a:avLst/>
          </a:prstGeom>
          <a:noFill/>
        </p:spPr>
        <p:txBody>
          <a:bodyPr wrap="square" anchor="t">
            <a:spAutoFit/>
          </a:bodyPr>
          <a:lstStyle/>
          <a:p>
            <a:r>
              <a:rPr sz="1900" b="1">
                <a:solidFill>
                  <a:srgbClr val="2B4A7D"/>
                </a:solidFill>
                <a:latin typeface="Calibri"/>
              </a:rPr>
              <a:t>2</a:t>
            </a:r>
          </a:p>
        </p:txBody>
      </p:sp>
      <p:sp>
        <p:nvSpPr>
          <p:cNvPr id="9" name="TextBox 8"/>
          <p:cNvSpPr txBox="1"/>
          <p:nvPr/>
        </p:nvSpPr>
        <p:spPr>
          <a:xfrm>
            <a:off x="1143000" y="3375152"/>
            <a:ext cx="10362895" cy="437896"/>
          </a:xfrm>
          <a:prstGeom prst="rect">
            <a:avLst/>
          </a:prstGeom>
          <a:noFill/>
        </p:spPr>
        <p:txBody>
          <a:bodyPr wrap="square" anchor="t">
            <a:spAutoFit/>
          </a:bodyPr>
          <a:lstStyle/>
          <a:p>
            <a:r>
              <a:rPr sz="1900" b="0">
                <a:solidFill>
                  <a:srgbClr val="1C1C1A"/>
                </a:solidFill>
                <a:latin typeface="Calibri"/>
              </a:rPr>
              <a:t>An outlier is a finding to investigate.</a:t>
            </a:r>
          </a:p>
        </p:txBody>
      </p:sp>
      <p:sp>
        <p:nvSpPr>
          <p:cNvPr id="10" name="TextBox 9"/>
          <p:cNvSpPr txBox="1"/>
          <p:nvPr/>
        </p:nvSpPr>
        <p:spPr>
          <a:xfrm>
            <a:off x="685800" y="3867912"/>
            <a:ext cx="457200" cy="437896"/>
          </a:xfrm>
          <a:prstGeom prst="rect">
            <a:avLst/>
          </a:prstGeom>
          <a:noFill/>
        </p:spPr>
        <p:txBody>
          <a:bodyPr wrap="square" anchor="t">
            <a:spAutoFit/>
          </a:bodyPr>
          <a:lstStyle/>
          <a:p>
            <a:r>
              <a:rPr sz="1900" b="1">
                <a:solidFill>
                  <a:srgbClr val="2B4A7D"/>
                </a:solidFill>
                <a:latin typeface="Calibri"/>
              </a:rPr>
              <a:t>3</a:t>
            </a:r>
          </a:p>
        </p:txBody>
      </p:sp>
      <p:sp>
        <p:nvSpPr>
          <p:cNvPr id="11" name="TextBox 10"/>
          <p:cNvSpPr txBox="1"/>
          <p:nvPr/>
        </p:nvSpPr>
        <p:spPr>
          <a:xfrm>
            <a:off x="1143000" y="3867912"/>
            <a:ext cx="10362895" cy="437896"/>
          </a:xfrm>
          <a:prstGeom prst="rect">
            <a:avLst/>
          </a:prstGeom>
          <a:noFill/>
        </p:spPr>
        <p:txBody>
          <a:bodyPr wrap="square" anchor="t">
            <a:spAutoFit/>
          </a:bodyPr>
          <a:lstStyle/>
          <a:p>
            <a:r>
              <a:rPr sz="1900" b="0">
                <a:solidFill>
                  <a:srgbClr val="1C1C1A"/>
                </a:solidFill>
                <a:latin typeface="Calibri"/>
              </a:rPr>
              <a:t>Convertible and extreme means real until someone says otherwise.</a:t>
            </a:r>
          </a:p>
        </p:txBody>
      </p:sp>
      <p:sp>
        <p:nvSpPr>
          <p:cNvPr id="12" name="TextBox 11"/>
          <p:cNvSpPr txBox="1"/>
          <p:nvPr/>
        </p:nvSpPr>
        <p:spPr>
          <a:xfrm>
            <a:off x="685800" y="4360672"/>
            <a:ext cx="457200" cy="437896"/>
          </a:xfrm>
          <a:prstGeom prst="rect">
            <a:avLst/>
          </a:prstGeom>
          <a:noFill/>
        </p:spPr>
        <p:txBody>
          <a:bodyPr wrap="square" anchor="t">
            <a:spAutoFit/>
          </a:bodyPr>
          <a:lstStyle/>
          <a:p>
            <a:r>
              <a:rPr sz="1900" b="1">
                <a:solidFill>
                  <a:srgbClr val="2B4A7D"/>
                </a:solidFill>
                <a:latin typeface="Calibri"/>
              </a:rPr>
              <a:t>4</a:t>
            </a:r>
          </a:p>
        </p:txBody>
      </p:sp>
      <p:sp>
        <p:nvSpPr>
          <p:cNvPr id="13" name="TextBox 12"/>
          <p:cNvSpPr txBox="1"/>
          <p:nvPr/>
        </p:nvSpPr>
        <p:spPr>
          <a:xfrm>
            <a:off x="1143000" y="4360672"/>
            <a:ext cx="10362895" cy="437896"/>
          </a:xfrm>
          <a:prstGeom prst="rect">
            <a:avLst/>
          </a:prstGeom>
          <a:noFill/>
        </p:spPr>
        <p:txBody>
          <a:bodyPr wrap="square" anchor="t">
            <a:spAutoFit/>
          </a:bodyPr>
          <a:lstStyle/>
          <a:p>
            <a:r>
              <a:rPr sz="1900" b="0">
                <a:solidFill>
                  <a:srgbClr val="1C1C1A"/>
                </a:solidFill>
                <a:latin typeface="Calibri"/>
              </a:rPr>
              <a:t>Record what you kept and why, alongside what you dropped.</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59 / 87</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5: WHAT SHIPS</a:t>
            </a:r>
          </a:p>
        </p:txBody>
      </p:sp>
      <p:sp>
        <p:nvSpPr>
          <p:cNvPr id="4" name="Rounded Rectangle 3"/>
          <p:cNvSpPr/>
          <p:nvPr/>
        </p:nvSpPr>
        <p:spPr>
          <a:xfrm>
            <a:off x="685800"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60 / 87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S39</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Two artifacts, not one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2230401"/>
            <a:ext cx="10820095" cy="81076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230401"/>
            <a:ext cx="50292" cy="81076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2330985"/>
            <a:ext cx="10417759" cy="627888"/>
          </a:xfrm>
          <a:prstGeom prst="rect">
            <a:avLst/>
          </a:prstGeom>
          <a:noFill/>
        </p:spPr>
        <p:txBody>
          <a:bodyPr wrap="square" anchor="t">
            <a:spAutoFit/>
          </a:bodyPr>
          <a:lstStyle/>
          <a:p>
            <a:pPr>
              <a:spcAft>
                <a:spcPts val="200"/>
              </a:spcAft>
            </a:pPr>
            <a:r>
              <a:rPr sz="1600" b="0">
                <a:solidFill>
                  <a:srgbClr val="E4ECF7"/>
                </a:solidFill>
                <a:latin typeface="Consolas"/>
              </a:rPr>
              <a:t>the profiled dataset     the orders you would compute on</a:t>
            </a:r>
          </a:p>
          <a:p>
            <a:pPr>
              <a:spcAft>
                <a:spcPts val="200"/>
              </a:spcAft>
            </a:pPr>
            <a:r>
              <a:rPr sz="1600" b="0">
                <a:solidFill>
                  <a:srgbClr val="E4ECF7"/>
                </a:solidFill>
                <a:latin typeface="Consolas"/>
              </a:rPr>
              <a:t>the decisions log        every change, and why you made it</a:t>
            </a:r>
          </a:p>
        </p:txBody>
      </p:sp>
      <p:sp>
        <p:nvSpPr>
          <p:cNvPr id="9" name="TextBox 8"/>
          <p:cNvSpPr txBox="1"/>
          <p:nvPr/>
        </p:nvSpPr>
        <p:spPr>
          <a:xfrm>
            <a:off x="685800" y="3205761"/>
            <a:ext cx="10820095" cy="564896"/>
          </a:xfrm>
          <a:prstGeom prst="rect">
            <a:avLst/>
          </a:prstGeom>
          <a:noFill/>
        </p:spPr>
        <p:txBody>
          <a:bodyPr wrap="square" anchor="t">
            <a:spAutoFit/>
          </a:bodyPr>
          <a:lstStyle/>
          <a:p>
            <a:pPr>
              <a:spcAft>
                <a:spcPts val="900"/>
              </a:spcAft>
            </a:pPr>
            <a:r>
              <a:rPr sz="2000" b="0">
                <a:solidFill>
                  <a:srgbClr val="1C1C1A"/>
                </a:solidFill>
                <a:latin typeface="Calibri"/>
              </a:rPr>
              <a:t>The first without the second is an opinion.</a:t>
            </a:r>
          </a:p>
        </p:txBody>
      </p:sp>
      <p:pic>
        <p:nvPicPr>
          <p:cNvPr id="10" name="Picture 9" descr="d584f9fc887d0cea.png"/>
          <p:cNvPicPr>
            <a:picLocks noChangeAspect="1"/>
          </p:cNvPicPr>
          <p:nvPr/>
        </p:nvPicPr>
        <p:blipFill>
          <a:blip r:embed="rId2"/>
          <a:stretch>
            <a:fillRect/>
          </a:stretch>
        </p:blipFill>
        <p:spPr>
          <a:xfrm>
            <a:off x="685800" y="3898673"/>
            <a:ext cx="10820095" cy="1551886"/>
          </a:xfrm>
          <a:prstGeom prst="rect">
            <a:avLst/>
          </a:prstGeom>
        </p:spPr>
      </p:pic>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61 / 87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S40</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600" b="1">
                <a:solidFill>
                  <a:srgbClr val="1C1C1A"/>
                </a:solidFill>
                <a:latin typeface="Calibri"/>
              </a:rPr>
              <a:t>What a log line looks like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2668016"/>
            <a:ext cx="10820095" cy="1615440"/>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2668016"/>
            <a:ext cx="50292" cy="16154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23544" y="2768600"/>
            <a:ext cx="10417759" cy="1432560"/>
          </a:xfrm>
          <a:prstGeom prst="rect">
            <a:avLst/>
          </a:prstGeom>
          <a:noFill/>
        </p:spPr>
        <p:txBody>
          <a:bodyPr wrap="square" anchor="t">
            <a:spAutoFit/>
          </a:bodyPr>
          <a:lstStyle/>
          <a:p>
            <a:pPr>
              <a:spcAft>
                <a:spcPts val="200"/>
              </a:spcAft>
            </a:pPr>
            <a:r>
              <a:rPr sz="1600" b="0">
                <a:solidFill>
                  <a:srgbClr val="E4ECF7"/>
                </a:solidFill>
                <a:latin typeface="Consolas"/>
              </a:rPr>
              <a:t>amount, 2 orders absent      -&gt; rejected, amount is required, ids in rejects file</a:t>
            </a:r>
          </a:p>
          <a:p>
            <a:pPr>
              <a:spcAft>
                <a:spcPts val="200"/>
              </a:spcAft>
            </a:pPr>
            <a:r>
              <a:rPr sz="1600" b="0">
                <a:solidFill>
                  <a:srgbClr val="E4ECF7"/>
                </a:solidFill>
                <a:latin typeface="Consolas"/>
              </a:rPr>
              <a:t>amount, 4 orders unusable    -&gt; rejected, value present but not a number, ids listed</a:t>
            </a:r>
          </a:p>
          <a:p>
            <a:pPr>
              <a:spcAft>
                <a:spcPts val="200"/>
              </a:spcAft>
            </a:pPr>
            <a:r>
              <a:rPr sz="1600" b="0">
                <a:solidFill>
                  <a:srgbClr val="E4ECF7"/>
                </a:solidFill>
                <a:latin typeface="Consolas"/>
              </a:rPr>
              <a:t>discount, 39 orders absent   -&gt; kept absent, absence means no discount applied</a:t>
            </a:r>
          </a:p>
          <a:p>
            <a:pPr>
              <a:spcAft>
                <a:spcPts val="200"/>
              </a:spcAft>
            </a:pPr>
            <a:r>
              <a:rPr sz="1600" b="0">
                <a:solidFill>
                  <a:srgbClr val="E4ECF7"/>
                </a:solidFill>
                <a:latin typeface="Consolas"/>
              </a:rPr>
              <a:t>KR4201, duplicate order_id   -&gt; both kept and flagged, identity rule pending owner</a:t>
            </a:r>
          </a:p>
          <a:p>
            <a:pPr>
              <a:spcAft>
                <a:spcPts val="200"/>
              </a:spcAft>
            </a:pPr>
            <a:r>
              <a:rPr sz="1600" b="0">
                <a:solidFill>
                  <a:srgbClr val="E4ECF7"/>
                </a:solidFill>
                <a:latin typeface="Consolas"/>
              </a:rPr>
              <a:t>KR4232, 480000               -&gt; kept, converts cleanly, raised with the owner</a:t>
            </a:r>
          </a:p>
        </p:txBody>
      </p:sp>
      <p:sp>
        <p:nvSpPr>
          <p:cNvPr id="9" name="TextBox 8"/>
          <p:cNvSpPr txBox="1"/>
          <p:nvPr/>
        </p:nvSpPr>
        <p:spPr>
          <a:xfrm>
            <a:off x="685800" y="4448048"/>
            <a:ext cx="10820095" cy="564896"/>
          </a:xfrm>
          <a:prstGeom prst="rect">
            <a:avLst/>
          </a:prstGeom>
          <a:noFill/>
        </p:spPr>
        <p:txBody>
          <a:bodyPr wrap="square" anchor="t">
            <a:spAutoFit/>
          </a:bodyPr>
          <a:lstStyle/>
          <a:p>
            <a:pPr>
              <a:spcAft>
                <a:spcPts val="900"/>
              </a:spcAft>
            </a:pPr>
            <a:r>
              <a:rPr sz="2000" b="0">
                <a:solidFill>
                  <a:srgbClr val="1C1C1A"/>
                </a:solidFill>
                <a:latin typeface="Calibri"/>
              </a:rPr>
              <a:t>Five lines. A reviewer who was not in the room can follow every one.</a:t>
            </a:r>
          </a:p>
        </p:txBody>
      </p:sp>
      <p:sp>
        <p:nvSpPr>
          <p:cNvPr id="10" name="Rectangle 9"/>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2" name="TextBox 11"/>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62 / 87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D18</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fields a decisions log line needs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7" name="Table 6"/>
          <p:cNvGraphicFramePr>
            <a:graphicFrameLocks noGrp="1"/>
          </p:cNvGraphicFramePr>
          <p:nvPr/>
        </p:nvGraphicFramePr>
        <p:xfrm>
          <a:off x="685800" y="1627632"/>
          <a:ext cx="10820095" cy="3617976"/>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Field</a:t>
                      </a:r>
                    </a:p>
                  </a:txBody>
                  <a:tcPr marL="101600" marR="101600" marT="38100" marB="38100" anchor="ctr">
                    <a:solidFill>
                      <a:srgbClr val="2B4A7D"/>
                    </a:solidFill>
                  </a:tcPr>
                </a:tc>
                <a:tc>
                  <a:txBody>
                    <a:bodyPr/>
                    <a:lstStyle/>
                    <a:p>
                      <a:r>
                        <a:rPr sz="1600" b="1">
                          <a:solidFill>
                            <a:srgbClr val="FFFFFF"/>
                          </a:solidFill>
                          <a:latin typeface="Calibri"/>
                        </a:rPr>
                        <a:t>Why it is there</a:t>
                      </a:r>
                    </a:p>
                  </a:txBody>
                  <a:tcPr marL="101600" marR="101600" marT="38100" marB="38100" anchor="ctr">
                    <a:solidFill>
                      <a:srgbClr val="2B4A7D"/>
                    </a:solidFill>
                  </a:tcPr>
                </a:tc>
              </a:tr>
              <a:tr h="646176">
                <a:tc>
                  <a:txBody>
                    <a:bodyPr/>
                    <a:lstStyle/>
                    <a:p>
                      <a:r>
                        <a:rPr sz="1500" b="0">
                          <a:solidFill>
                            <a:srgbClr val="1C1C1A"/>
                          </a:solidFill>
                          <a:latin typeface="Calibri"/>
                        </a:rPr>
                        <a:t>What was affected</a:t>
                      </a:r>
                    </a:p>
                  </a:txBody>
                  <a:tcPr marL="101600" marR="101600" marT="38100" marB="38100" anchor="ctr">
                    <a:solidFill>
                      <a:srgbClr val="FFFFFF"/>
                    </a:solidFill>
                  </a:tcPr>
                </a:tc>
                <a:tc>
                  <a:txBody>
                    <a:bodyPr/>
                    <a:lstStyle/>
                    <a:p>
                      <a:r>
                        <a:rPr sz="1500" b="0">
                          <a:solidFill>
                            <a:srgbClr val="1C1C1A"/>
                          </a:solidFill>
                          <a:latin typeface="Calibri"/>
                        </a:rPr>
                        <a:t>The field name, or the record id when the decision is about one row.</a:t>
                      </a:r>
                    </a:p>
                  </a:txBody>
                  <a:tcPr marL="101600" marR="101600" marT="38100" marB="38100" anchor="ctr">
                    <a:solidFill>
                      <a:srgbClr val="FFFFFF"/>
                    </a:solidFill>
                  </a:tcPr>
                </a:tc>
              </a:tr>
              <a:tr h="646176">
                <a:tc>
                  <a:txBody>
                    <a:bodyPr/>
                    <a:lstStyle/>
                    <a:p>
                      <a:r>
                        <a:rPr sz="1500" b="0">
                          <a:solidFill>
                            <a:srgbClr val="1C1C1A"/>
                          </a:solidFill>
                          <a:latin typeface="Calibri"/>
                        </a:rPr>
                        <a:t>How many</a:t>
                      </a:r>
                    </a:p>
                  </a:txBody>
                  <a:tcPr marL="101600" marR="101600" marT="38100" marB="38100" anchor="ctr">
                    <a:solidFill>
                      <a:srgbClr val="F7F7F5"/>
                    </a:solidFill>
                  </a:tcPr>
                </a:tc>
                <a:tc>
                  <a:txBody>
                    <a:bodyPr/>
                    <a:lstStyle/>
                    <a:p>
                      <a:r>
                        <a:rPr sz="1500" b="0">
                          <a:solidFill>
                            <a:srgbClr val="1C1C1A"/>
                          </a:solidFill>
                          <a:latin typeface="Calibri"/>
                        </a:rPr>
                        <a:t>The count, so a reader can judge whether the decision was large or small without opening the data.</a:t>
                      </a:r>
                    </a:p>
                  </a:txBody>
                  <a:tcPr marL="101600" marR="101600" marT="38100" marB="38100" anchor="ctr">
                    <a:solidFill>
                      <a:srgbClr val="F7F7F5"/>
                    </a:solidFill>
                  </a:tcPr>
                </a:tc>
              </a:tr>
              <a:tr h="646176">
                <a:tc>
                  <a:txBody>
                    <a:bodyPr/>
                    <a:lstStyle/>
                    <a:p>
                      <a:r>
                        <a:rPr sz="1500" b="0">
                          <a:solidFill>
                            <a:srgbClr val="1C1C1A"/>
                          </a:solidFill>
                          <a:latin typeface="Calibri"/>
                        </a:rPr>
                        <a:t>What you did</a:t>
                      </a:r>
                    </a:p>
                  </a:txBody>
                  <a:tcPr marL="101600" marR="101600" marT="38100" marB="38100" anchor="ctr">
                    <a:solidFill>
                      <a:srgbClr val="FFFFFF"/>
                    </a:solidFill>
                  </a:tcPr>
                </a:tc>
                <a:tc>
                  <a:txBody>
                    <a:bodyPr/>
                    <a:lstStyle/>
                    <a:p>
                      <a:r>
                        <a:rPr sz="1500" b="0">
                          <a:solidFill>
                            <a:srgbClr val="1C1C1A"/>
                          </a:solidFill>
                          <a:latin typeface="Calibri"/>
                        </a:rPr>
                        <a:t>Dropped, defaulted, kept and flagged, or raised. One of a small set of words, so the log can be scanned.</a:t>
                      </a:r>
                    </a:p>
                  </a:txBody>
                  <a:tcPr marL="101600" marR="101600" marT="38100" marB="38100" anchor="ctr">
                    <a:solidFill>
                      <a:srgbClr val="FFFFFF"/>
                    </a:solidFill>
                  </a:tcPr>
                </a:tc>
              </a:tr>
              <a:tr h="646176">
                <a:tc>
                  <a:txBody>
                    <a:bodyPr/>
                    <a:lstStyle/>
                    <a:p>
                      <a:r>
                        <a:rPr sz="1500" b="0">
                          <a:solidFill>
                            <a:srgbClr val="1C1C1A"/>
                          </a:solidFill>
                          <a:latin typeface="Calibri"/>
                        </a:rPr>
                        <a:t>Why</a:t>
                      </a:r>
                    </a:p>
                  </a:txBody>
                  <a:tcPr marL="101600" marR="101600" marT="38100" marB="38100" anchor="ctr">
                    <a:solidFill>
                      <a:srgbClr val="F7F7F5"/>
                    </a:solidFill>
                  </a:tcPr>
                </a:tc>
                <a:tc>
                  <a:txBody>
                    <a:bodyPr/>
                    <a:lstStyle/>
                    <a:p>
                      <a:r>
                        <a:rPr sz="1500" b="0">
                          <a:solidFill>
                            <a:srgbClr val="1C1C1A"/>
                          </a:solidFill>
                          <a:latin typeface="Calibri"/>
                        </a:rPr>
                        <a:t>The sentence that makes it defensible. This is the only field that cannot be generated.</a:t>
                      </a:r>
                    </a:p>
                  </a:txBody>
                  <a:tcPr marL="101600" marR="101600" marT="38100" marB="38100" anchor="ctr">
                    <a:solidFill>
                      <a:srgbClr val="F7F7F5"/>
                    </a:solidFill>
                  </a:tcPr>
                </a:tc>
              </a:tr>
              <a:tr h="646176">
                <a:tc>
                  <a:txBody>
                    <a:bodyPr/>
                    <a:lstStyle/>
                    <a:p>
                      <a:r>
                        <a:rPr sz="1500" b="0">
                          <a:solidFill>
                            <a:srgbClr val="1C1C1A"/>
                          </a:solidFill>
                          <a:latin typeface="Calibri"/>
                        </a:rPr>
                        <a:t>Where the evidence went</a:t>
                      </a:r>
                    </a:p>
                  </a:txBody>
                  <a:tcPr marL="101600" marR="101600" marT="38100" marB="38100" anchor="ctr">
                    <a:solidFill>
                      <a:srgbClr val="FFFFFF"/>
                    </a:solidFill>
                  </a:tcPr>
                </a:tc>
                <a:tc>
                  <a:txBody>
                    <a:bodyPr/>
                    <a:lstStyle/>
                    <a:p>
                      <a:r>
                        <a:rPr sz="1500" b="0">
                          <a:solidFill>
                            <a:srgbClr val="1C1C1A"/>
                          </a:solidFill>
                          <a:latin typeface="Calibri"/>
                        </a:rPr>
                        <a:t>The rejects file, the flag column, or the name of the person it was raised with.</a:t>
                      </a:r>
                    </a:p>
                  </a:txBody>
                  <a:tcPr marL="101600" marR="101600" marT="38100" marB="38100" anchor="ctr">
                    <a:solidFill>
                      <a:srgbClr val="FFFFFF"/>
                    </a:solidFill>
                  </a:tcPr>
                </a:tc>
              </a:tr>
            </a:tbl>
          </a:graphicData>
        </a:graphic>
      </p:graphicFrame>
      <p:sp>
        <p:nvSpPr>
          <p:cNvPr id="8" name="TextBox 7"/>
          <p:cNvSpPr txBox="1"/>
          <p:nvPr/>
        </p:nvSpPr>
        <p:spPr>
          <a:xfrm>
            <a:off x="685800" y="5501640"/>
            <a:ext cx="10820095" cy="910336"/>
          </a:xfrm>
          <a:prstGeom prst="rect">
            <a:avLst/>
          </a:prstGeom>
          <a:noFill/>
        </p:spPr>
        <p:txBody>
          <a:bodyPr wrap="square" anchor="t">
            <a:spAutoFit/>
          </a:bodyPr>
          <a:lstStyle/>
          <a:p>
            <a:pPr>
              <a:spcAft>
                <a:spcPts val="900"/>
              </a:spcAft>
            </a:pPr>
            <a:r>
              <a:rPr sz="2000" b="0">
                <a:solidFill>
                  <a:srgbClr val="1C1C1A"/>
                </a:solidFill>
                <a:latin typeface="Calibri"/>
              </a:rPr>
              <a:t>A log whose entries all read "cleaned" is a log nobody can use. The value is in the fourth column.</a:t>
            </a:r>
          </a:p>
        </p:txBody>
      </p:sp>
      <p:sp>
        <p:nvSpPr>
          <p:cNvPr id="9" name="Rectangle 8"/>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63 / 87</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The reconciliation, one level up</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8a7d487931d080f3.png"/>
          <p:cNvPicPr>
            <a:picLocks noChangeAspect="1"/>
          </p:cNvPicPr>
          <p:nvPr/>
        </p:nvPicPr>
        <p:blipFill>
          <a:blip r:embed="rId2"/>
          <a:stretch>
            <a:fillRect/>
          </a:stretch>
        </p:blipFill>
        <p:spPr>
          <a:xfrm>
            <a:off x="685800" y="1915656"/>
            <a:ext cx="4652640" cy="3849647"/>
          </a:xfrm>
          <a:prstGeom prst="rect">
            <a:avLst/>
          </a:prstGeom>
        </p:spPr>
      </p:pic>
      <p:sp>
        <p:nvSpPr>
          <p:cNvPr id="7" name="TextBox 6"/>
          <p:cNvSpPr txBox="1"/>
          <p:nvPr/>
        </p:nvSpPr>
        <p:spPr>
          <a:xfrm>
            <a:off x="5771244" y="2342896"/>
            <a:ext cx="5734650" cy="2056384"/>
          </a:xfrm>
          <a:prstGeom prst="rect">
            <a:avLst/>
          </a:prstGeom>
          <a:noFill/>
        </p:spPr>
        <p:txBody>
          <a:bodyPr wrap="square" anchor="t">
            <a:spAutoFit/>
          </a:bodyPr>
          <a:lstStyle/>
          <a:p>
            <a:pPr>
              <a:spcAft>
                <a:spcPts val="900"/>
              </a:spcAft>
            </a:pPr>
            <a:r>
              <a:rPr sz="2000" b="0">
                <a:solidFill>
                  <a:srgbClr val="1C1C1A"/>
                </a:solidFill>
                <a:latin typeface="Calibri"/>
              </a:rPr>
              <a:t>Yesterday it was input equals clean plus rejected.</a:t>
            </a:r>
          </a:p>
          <a:p>
            <a:pPr>
              <a:spcAft>
                <a:spcPts val="900"/>
              </a:spcAft>
            </a:pPr>
            <a:r>
              <a:rPr sz="2000" b="0">
                <a:solidFill>
                  <a:srgbClr val="1C1C1A"/>
                </a:solidFill>
                <a:latin typeface="Calibri"/>
              </a:rPr>
              <a:t>Today it also has to survive drops, defaults and any dedupe you applied. Same check, more ways to fail it.</a:t>
            </a:r>
          </a:p>
        </p:txBody>
      </p:sp>
      <p:sp>
        <p:nvSpPr>
          <p:cNvPr id="8" name="Rectangle 7"/>
          <p:cNvSpPr/>
          <p:nvPr/>
        </p:nvSpPr>
        <p:spPr>
          <a:xfrm>
            <a:off x="5771244" y="4527296"/>
            <a:ext cx="5734650" cy="81076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771244" y="4527296"/>
            <a:ext cx="50292" cy="81076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008988" y="4627880"/>
            <a:ext cx="5332314" cy="627888"/>
          </a:xfrm>
          <a:prstGeom prst="rect">
            <a:avLst/>
          </a:prstGeom>
          <a:noFill/>
        </p:spPr>
        <p:txBody>
          <a:bodyPr wrap="square" anchor="t">
            <a:spAutoFit/>
          </a:bodyPr>
          <a:lstStyle/>
          <a:p>
            <a:pPr>
              <a:spcAft>
                <a:spcPts val="200"/>
              </a:spcAft>
            </a:pPr>
            <a:r>
              <a:rPr sz="1600" b="0">
                <a:solidFill>
                  <a:srgbClr val="E4ECF7"/>
                </a:solidFill>
                <a:latin typeface="Consolas"/>
              </a:rPr>
              <a:t>50 in = clean + rejected + anything you removed on purpose</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64 / 87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D19</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reconciliation, with today's numbers</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2529840"/>
            <a:ext cx="10820095" cy="2621280"/>
          </a:xfrm>
          <a:prstGeom prst="rect">
            <a:avLst/>
          </a:prstGeom>
          <a:noFill/>
        </p:spPr>
        <p:txBody>
          <a:bodyPr wrap="square" anchor="t">
            <a:spAutoFit/>
          </a:bodyPr>
          <a:lstStyle/>
          <a:p>
            <a:pPr>
              <a:spcAft>
                <a:spcPts val="900"/>
              </a:spcAft>
            </a:pPr>
            <a:r>
              <a:rPr sz="2000" b="0">
                <a:solidFill>
                  <a:srgbClr val="1C1C1A"/>
                </a:solidFill>
                <a:latin typeface="Calibri"/>
              </a:rPr>
              <a:t>$$n_{\text{in}} = n_{\text{clean}} + n_{\text{rejected}} + n_{\text{removed on purpose}}$$</a:t>
            </a:r>
          </a:p>
          <a:p>
            <a:pPr>
              <a:spcAft>
                <a:spcPts val="900"/>
              </a:spcAft>
            </a:pPr>
            <a:r>
              <a:rPr sz="2000" b="0">
                <a:solidFill>
                  <a:srgbClr val="1C1C1A"/>
                </a:solidFill>
                <a:latin typeface="Calibri"/>
              </a:rPr>
              <a:t>Today, with both duplicate rows kept pending the owner's rule:</a:t>
            </a:r>
          </a:p>
          <a:p>
            <a:pPr>
              <a:spcAft>
                <a:spcPts val="900"/>
              </a:spcAft>
            </a:pPr>
            <a:r>
              <a:rPr sz="2000" b="0">
                <a:solidFill>
                  <a:srgbClr val="1C1C1A"/>
                </a:solidFill>
                <a:latin typeface="Calibri"/>
              </a:rPr>
              <a:t>$$50 = 44 + 6 + 0$$</a:t>
            </a:r>
          </a:p>
          <a:p>
            <a:pPr>
              <a:spcAft>
                <a:spcPts val="900"/>
              </a:spcAft>
            </a:pPr>
            <a:r>
              <a:rPr sz="2000" b="0">
                <a:solidFill>
                  <a:srgbClr val="1C1C1A"/>
                </a:solidFill>
                <a:latin typeface="Calibri"/>
              </a:rPr>
              <a:t>The third term is the one that grows as a project matures, and it is the one people forget to print. Every row you remove for a reason belongs in it, and a row removed for no stated reason belongs nowhere, which is the point.</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65 / 87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D20</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whole day, as one runnable check</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10820095" cy="2151887"/>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5800" y="1627632"/>
            <a:ext cx="50292" cy="2151887"/>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23544" y="1728216"/>
            <a:ext cx="10417759" cy="1969007"/>
          </a:xfrm>
          <a:prstGeom prst="rect">
            <a:avLst/>
          </a:prstGeom>
          <a:noFill/>
        </p:spPr>
        <p:txBody>
          <a:bodyPr wrap="square" anchor="t">
            <a:spAutoFit/>
          </a:bodyPr>
          <a:lstStyle/>
          <a:p>
            <a:pPr>
              <a:spcAft>
                <a:spcPts val="200"/>
              </a:spcAft>
            </a:pPr>
            <a:r>
              <a:rPr sz="1600" b="0">
                <a:solidFill>
                  <a:srgbClr val="E4ECF7"/>
                </a:solidFill>
                <a:latin typeface="Consolas"/>
              </a:rPr>
              <a:t>print("rows in        ", len(rows))</a:t>
            </a:r>
          </a:p>
          <a:p>
            <a:pPr>
              <a:spcAft>
                <a:spcPts val="200"/>
              </a:spcAft>
            </a:pPr>
            <a:r>
              <a:rPr sz="1600" b="0">
                <a:solidFill>
                  <a:srgbClr val="E4ECF7"/>
                </a:solidFill>
                <a:latin typeface="Consolas"/>
              </a:rPr>
              <a:t>print("clean          ", len(clean))</a:t>
            </a:r>
          </a:p>
          <a:p>
            <a:pPr>
              <a:spcAft>
                <a:spcPts val="200"/>
              </a:spcAft>
            </a:pPr>
            <a:r>
              <a:rPr sz="1600" b="0">
                <a:solidFill>
                  <a:srgbClr val="E4ECF7"/>
                </a:solidFill>
                <a:latin typeface="Consolas"/>
              </a:rPr>
              <a:t>print("rejected       ", len(rejects))</a:t>
            </a:r>
          </a:p>
          <a:p>
            <a:pPr>
              <a:spcAft>
                <a:spcPts val="200"/>
              </a:spcAft>
            </a:pPr>
            <a:r>
              <a:rPr sz="1600" b="0">
                <a:solidFill>
                  <a:srgbClr val="E4ECF7"/>
                </a:solidFill>
                <a:latin typeface="Consolas"/>
              </a:rPr>
              <a:t>print("removed        ", len(removed))</a:t>
            </a:r>
          </a:p>
          <a:p>
            <a:pPr>
              <a:spcAft>
                <a:spcPts val="200"/>
              </a:spcAft>
            </a:pPr>
            <a:r>
              <a:rPr sz="1600" b="0">
                <a:solidFill>
                  <a:srgbClr val="E4ECF7"/>
                </a:solidFill>
                <a:latin typeface="Consolas"/>
              </a:rPr>
              <a:t>assert len(rows) == len(clean) + len(rejects) + len(removed)</a:t>
            </a:r>
          </a:p>
          <a:p>
            <a:pPr>
              <a:spcAft>
                <a:spcPts val="200"/>
              </a:spcAft>
            </a:pPr>
            <a:r>
              <a:rPr sz="1600" b="0">
                <a:solidFill>
                  <a:srgbClr val="E4ECF7"/>
                </a:solidFill>
                <a:latin typeface="Consolas"/>
              </a:rPr>
              <a:t>print("distinct ids   ", len({r["order_id"] for r in rows}))</a:t>
            </a:r>
          </a:p>
          <a:p>
            <a:pPr>
              <a:spcAft>
                <a:spcPts val="200"/>
              </a:spcAft>
            </a:pPr>
            <a:r>
              <a:rPr sz="1600" b="0">
                <a:solidFill>
                  <a:srgbClr val="E4ECF7"/>
                </a:solidFill>
                <a:latin typeface="Consolas"/>
              </a:rPr>
              <a:t>print("flagged extremes", len(flagged))</a:t>
            </a:r>
          </a:p>
        </p:txBody>
      </p:sp>
      <p:sp>
        <p:nvSpPr>
          <p:cNvPr id="10" name="Rectangle 9"/>
          <p:cNvSpPr/>
          <p:nvPr/>
        </p:nvSpPr>
        <p:spPr>
          <a:xfrm>
            <a:off x="685800" y="3944111"/>
            <a:ext cx="10820095" cy="1883664"/>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3944111"/>
            <a:ext cx="50292" cy="188366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23544" y="4044695"/>
            <a:ext cx="10417759" cy="1700784"/>
          </a:xfrm>
          <a:prstGeom prst="rect">
            <a:avLst/>
          </a:prstGeom>
          <a:noFill/>
        </p:spPr>
        <p:txBody>
          <a:bodyPr wrap="square" anchor="t">
            <a:spAutoFit/>
          </a:bodyPr>
          <a:lstStyle/>
          <a:p>
            <a:pPr>
              <a:spcAft>
                <a:spcPts val="200"/>
              </a:spcAft>
            </a:pPr>
            <a:r>
              <a:rPr sz="1600" b="0">
                <a:solidFill>
                  <a:srgbClr val="E4ECF7"/>
                </a:solidFill>
                <a:latin typeface="Consolas"/>
              </a:rPr>
              <a:t>rows in         50</a:t>
            </a:r>
          </a:p>
          <a:p>
            <a:pPr>
              <a:spcAft>
                <a:spcPts val="200"/>
              </a:spcAft>
            </a:pPr>
            <a:r>
              <a:rPr sz="1600" b="0">
                <a:solidFill>
                  <a:srgbClr val="E4ECF7"/>
                </a:solidFill>
                <a:latin typeface="Consolas"/>
              </a:rPr>
              <a:t>clean           44</a:t>
            </a:r>
          </a:p>
          <a:p>
            <a:pPr>
              <a:spcAft>
                <a:spcPts val="200"/>
              </a:spcAft>
            </a:pPr>
            <a:r>
              <a:rPr sz="1600" b="0">
                <a:solidFill>
                  <a:srgbClr val="E4ECF7"/>
                </a:solidFill>
                <a:latin typeface="Consolas"/>
              </a:rPr>
              <a:t>rejected        6</a:t>
            </a:r>
          </a:p>
          <a:p>
            <a:pPr>
              <a:spcAft>
                <a:spcPts val="200"/>
              </a:spcAft>
            </a:pPr>
            <a:r>
              <a:rPr sz="1600" b="0">
                <a:solidFill>
                  <a:srgbClr val="E4ECF7"/>
                </a:solidFill>
                <a:latin typeface="Consolas"/>
              </a:rPr>
              <a:t>removed         0</a:t>
            </a:r>
          </a:p>
          <a:p>
            <a:pPr>
              <a:spcAft>
                <a:spcPts val="200"/>
              </a:spcAft>
            </a:pPr>
            <a:r>
              <a:rPr sz="1600" b="0">
                <a:solidFill>
                  <a:srgbClr val="E4ECF7"/>
                </a:solidFill>
                <a:latin typeface="Consolas"/>
              </a:rPr>
              <a:t>distinct ids    49</a:t>
            </a:r>
          </a:p>
          <a:p>
            <a:pPr>
              <a:spcAft>
                <a:spcPts val="200"/>
              </a:spcAft>
            </a:pPr>
            <a:r>
              <a:rPr sz="1600" b="0">
                <a:solidFill>
                  <a:srgbClr val="E4ECF7"/>
                </a:solidFill>
                <a:latin typeface="Consolas"/>
              </a:rPr>
              <a:t>flagged extremes 1</a:t>
            </a:r>
          </a:p>
        </p:txBody>
      </p:sp>
      <p:sp>
        <p:nvSpPr>
          <p:cNvPr id="13" name="Rectangle 12"/>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5" name="TextBox 14"/>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66 / 87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463040"/>
          </a:xfrm>
          <a:prstGeom prst="rect">
            <a:avLst/>
          </a:prstGeom>
          <a:noFill/>
        </p:spPr>
        <p:txBody>
          <a:bodyPr wrap="square" anchor="ctr">
            <a:spAutoFit/>
          </a:bodyPr>
          <a:lstStyle/>
          <a:p>
            <a:pPr algn="ctr"/>
            <a:r>
              <a:rPr sz="4000" b="1">
                <a:solidFill>
                  <a:srgbClr val="FFFFFF"/>
                </a:solidFill>
                <a:latin typeface="Calibri"/>
              </a:rPr>
              <a:t>SECTION 6: THE INTERVIEW BLOCK</a:t>
            </a:r>
          </a:p>
        </p:txBody>
      </p:sp>
      <p:sp>
        <p:nvSpPr>
          <p:cNvPr id="4" name="Rounded Rectangle 3"/>
          <p:cNvSpPr/>
          <p:nvPr/>
        </p:nvSpPr>
        <p:spPr>
          <a:xfrm>
            <a:off x="685800"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profile the columns</a:t>
            </a:r>
          </a:p>
        </p:txBody>
      </p:sp>
      <p:sp>
        <p:nvSpPr>
          <p:cNvPr id="5" name="Rounded Rectangle 4"/>
          <p:cNvSpPr/>
          <p:nvPr/>
        </p:nvSpPr>
        <p:spPr>
          <a:xfrm>
            <a:off x="2871764"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decide per field</a:t>
            </a:r>
          </a:p>
        </p:txBody>
      </p:sp>
      <p:sp>
        <p:nvSpPr>
          <p:cNvPr id="6" name="Rounded Rectangle 5"/>
          <p:cNvSpPr/>
          <p:nvPr/>
        </p:nvSpPr>
        <p:spPr>
          <a:xfrm>
            <a:off x="5057729"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find the hidden rows</a:t>
            </a:r>
          </a:p>
        </p:txBody>
      </p:sp>
      <p:sp>
        <p:nvSpPr>
          <p:cNvPr id="7" name="Rounded Rectangle 6"/>
          <p:cNvSpPr/>
          <p:nvPr/>
        </p:nvSpPr>
        <p:spPr>
          <a:xfrm>
            <a:off x="7243693" y="4754880"/>
            <a:ext cx="2076236" cy="475488"/>
          </a:xfrm>
          <a:prstGeom prst="roundRect">
            <a:avLst/>
          </a:prstGeom>
          <a:no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a:solidFill>
                  <a:srgbClr val="FFFFFF"/>
                </a:solidFill>
                <a:latin typeface="Calibri"/>
              </a:rPr>
              <a:t>investigate the extremes</a:t>
            </a:r>
          </a:p>
        </p:txBody>
      </p:sp>
      <p:sp>
        <p:nvSpPr>
          <p:cNvPr id="8" name="Rounded Rectangle 7"/>
          <p:cNvSpPr/>
          <p:nvPr/>
        </p:nvSpPr>
        <p:spPr>
          <a:xfrm>
            <a:off x="9429658" y="4754880"/>
            <a:ext cx="2076236" cy="475488"/>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Calibri"/>
              </a:rPr>
              <a:t>ship with the log</a:t>
            </a:r>
          </a:p>
        </p:txBody>
      </p:sp>
      <p:sp>
        <p:nvSpPr>
          <p:cNvPr id="9" name="Rectangle 8"/>
          <p:cNvSpPr/>
          <p:nvPr/>
        </p:nvSpPr>
        <p:spPr>
          <a:xfrm>
            <a:off x="685800" y="6327648"/>
            <a:ext cx="10820095" cy="128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85800" y="6391656"/>
            <a:ext cx="9722815" cy="292608"/>
          </a:xfrm>
          <a:prstGeom prst="rect">
            <a:avLst/>
          </a:prstGeom>
          <a:noFill/>
        </p:spPr>
        <p:txBody>
          <a:bodyPr wrap="square" anchor="t">
            <a:spAutoFit/>
          </a:bodyPr>
          <a:lstStyle/>
          <a:p>
            <a:r>
              <a:rPr sz="1000">
                <a:solidFill>
                  <a:srgbClr val="FFFFFF"/>
                </a:solidFill>
                <a:latin typeface="Calibri"/>
              </a:rPr>
              <a:t>Week 1, Day 3. Profile before you touch: load, clean and defend a real dataset</a:t>
            </a:r>
          </a:p>
        </p:txBody>
      </p:sp>
      <p:sp>
        <p:nvSpPr>
          <p:cNvPr id="11" name="TextBox 10"/>
          <p:cNvSpPr txBox="1"/>
          <p:nvPr/>
        </p:nvSpPr>
        <p:spPr>
          <a:xfrm>
            <a:off x="10408615" y="6391656"/>
            <a:ext cx="1097280" cy="292608"/>
          </a:xfrm>
          <a:prstGeom prst="rect">
            <a:avLst/>
          </a:prstGeom>
          <a:noFill/>
        </p:spPr>
        <p:txBody>
          <a:bodyPr wrap="square" anchor="t">
            <a:spAutoFit/>
          </a:bodyPr>
          <a:lstStyle/>
          <a:p>
            <a:pPr algn="r"/>
            <a:r>
              <a:rPr sz="1000">
                <a:solidFill>
                  <a:srgbClr val="FFFFFF"/>
                </a:solidFill>
                <a:latin typeface="Calibri"/>
              </a:rPr>
              <a:t>67 / 87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What this section is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212592"/>
            <a:ext cx="10820095" cy="1255776"/>
          </a:xfrm>
          <a:prstGeom prst="rect">
            <a:avLst/>
          </a:prstGeom>
          <a:noFill/>
        </p:spPr>
        <p:txBody>
          <a:bodyPr wrap="square" anchor="t">
            <a:spAutoFit/>
          </a:bodyPr>
          <a:lstStyle/>
          <a:p>
            <a:pPr>
              <a:spcAft>
                <a:spcPts val="900"/>
              </a:spcAft>
            </a:pPr>
            <a:r>
              <a:rPr sz="2000" b="0">
                <a:solidFill>
                  <a:srgbClr val="1C1C1A"/>
                </a:solidFill>
                <a:latin typeface="Calibri"/>
              </a:rPr>
              <a:t>The first two questions below are on this week's own question set and will be on Saturday's paper. The rest are asked often enough at this level that this programme puts them in front of you now.</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68 / 87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S43</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What this section is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3212592"/>
            <a:ext cx="10820095" cy="1255776"/>
          </a:xfrm>
          <a:prstGeom prst="rect">
            <a:avLst/>
          </a:prstGeom>
          <a:noFill/>
        </p:spPr>
        <p:txBody>
          <a:bodyPr wrap="square" anchor="t">
            <a:spAutoFit/>
          </a:bodyPr>
          <a:lstStyle/>
          <a:p>
            <a:pPr>
              <a:spcAft>
                <a:spcPts val="900"/>
              </a:spcAft>
            </a:pPr>
            <a:r>
              <a:rPr sz="2000" b="0">
                <a:solidFill>
                  <a:srgbClr val="1C1C1A"/>
                </a:solidFill>
                <a:latin typeface="Calibri"/>
              </a:rPr>
              <a:t>The first question below is on this week's own question set and will be on Saturday's paper. The rest are asked often enough at this level that this programme puts them in front of you now.</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69 / 87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S44</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zero rejects on a file you know is dirty?</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Your pass reports zero rejections. What do you check first?</a:t>
            </a:r>
          </a:p>
          <a:p>
            <a:pPr>
              <a:spcAft>
                <a:spcPts val="900"/>
              </a:spcAft>
            </a:pPr>
            <a:r>
              <a:rPr sz="2000" b="0">
                <a:solidFill>
                  <a:srgbClr val="1C1C1A"/>
                </a:solidFill>
                <a:latin typeface="Calibri"/>
              </a:rPr>
              <a:t>a) Whether the input file was the one you meant</a:t>
            </a:r>
          </a:p>
          <a:p>
            <a:pPr>
              <a:spcAft>
                <a:spcPts val="900"/>
              </a:spcAft>
            </a:pPr>
            <a:r>
              <a:rPr sz="2000" b="0">
                <a:solidFill>
                  <a:srgbClr val="1C1C1A"/>
                </a:solidFill>
                <a:latin typeface="Calibri"/>
              </a:rPr>
              <a:t>b) Whether the handler ever appended anything</a:t>
            </a:r>
          </a:p>
          <a:p>
            <a:pPr>
              <a:spcAft>
                <a:spcPts val="900"/>
              </a:spcAft>
            </a:pPr>
            <a:r>
              <a:rPr sz="2000" b="0">
                <a:solidFill>
                  <a:srgbClr val="1C1C1A"/>
                </a:solidFill>
                <a:latin typeface="Calibri"/>
              </a:rPr>
              <a:t>c) Whether the output folder exists</a:t>
            </a:r>
          </a:p>
          <a:p>
            <a:pPr>
              <a:spcAft>
                <a:spcPts val="900"/>
              </a:spcAft>
            </a:pPr>
            <a:r>
              <a:rPr sz="2000" b="0">
                <a:solidFill>
                  <a:srgbClr val="1C1C1A"/>
                </a:solidFill>
                <a:latin typeface="Calibri"/>
              </a:rPr>
              <a:t>d) Whether the file had any rows at all</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70 / 87</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S44a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whether anything was caught, then reconcile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8a7d487931d080f3.png"/>
          <p:cNvPicPr>
            <a:picLocks noChangeAspect="1"/>
          </p:cNvPicPr>
          <p:nvPr/>
        </p:nvPicPr>
        <p:blipFill>
          <a:blip r:embed="rId2"/>
          <a:stretch>
            <a:fillRect/>
          </a:stretch>
        </p:blipFill>
        <p:spPr>
          <a:xfrm>
            <a:off x="685800" y="1915656"/>
            <a:ext cx="4652640" cy="3849647"/>
          </a:xfrm>
          <a:prstGeom prst="rect">
            <a:avLst/>
          </a:prstGeom>
        </p:spPr>
      </p:pic>
      <p:sp>
        <p:nvSpPr>
          <p:cNvPr id="7" name="Rectangle 6"/>
          <p:cNvSpPr/>
          <p:nvPr/>
        </p:nvSpPr>
        <p:spPr>
          <a:xfrm>
            <a:off x="5771244" y="1627632"/>
            <a:ext cx="5734650" cy="131064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1627632"/>
            <a:ext cx="50292" cy="13106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27276" y="1719072"/>
            <a:ext cx="5277450" cy="116433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A bare except with a pass reports zero rejects by construction, so the first check is whether the handler ever ran.</a:t>
            </a:r>
          </a:p>
        </p:txBody>
      </p:sp>
      <p:graphicFrame>
        <p:nvGraphicFramePr>
          <p:cNvPr id="10" name="Table 9"/>
          <p:cNvGraphicFramePr>
            <a:graphicFrameLocks noGrp="1"/>
          </p:cNvGraphicFramePr>
          <p:nvPr/>
        </p:nvGraphicFramePr>
        <p:xfrm>
          <a:off x="5771244" y="3102864"/>
          <a:ext cx="5734650" cy="2584704"/>
        </p:xfrm>
        <a:graphic>
          <a:graphicData uri="http://schemas.openxmlformats.org/drawingml/2006/table">
            <a:tbl>
              <a:tblPr firstRow="0" bandRow="0">
                <a:tableStyleId>{2D5ABB26-0587-4C30-8999-92F81FD0307C}</a:tableStyleId>
              </a:tblPr>
              <a:tblGrid>
                <a:gridCol w="2867325"/>
                <a:gridCol w="2867325"/>
              </a:tblGrid>
              <a:tr h="387096">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905256">
                <a:tc>
                  <a:txBody>
                    <a:bodyPr/>
                    <a:lstStyle/>
                    <a:p>
                      <a:r>
                        <a:rPr sz="1500" b="0">
                          <a:solidFill>
                            <a:srgbClr val="1C1C1A"/>
                          </a:solidFill>
                          <a:latin typeface="Calibri"/>
                        </a:rPr>
                        <a:t>a) The wrong file</a:t>
                      </a:r>
                    </a:p>
                  </a:txBody>
                  <a:tcPr marL="101600" marR="101600" marT="38100" marB="38100" anchor="ctr">
                    <a:solidFill>
                      <a:srgbClr val="FFFFFF"/>
                    </a:solidFill>
                  </a:tcPr>
                </a:tc>
                <a:tc>
                  <a:txBody>
                    <a:bodyPr/>
                    <a:lstStyle/>
                    <a:p>
                      <a:r>
                        <a:rPr sz="1500" b="0">
                          <a:solidFill>
                            <a:srgbClr val="1C1C1A"/>
                          </a:solidFill>
                          <a:latin typeface="Calibri"/>
                        </a:rPr>
                        <a:t>Worth checking, and it shows as a low row count rather than as zero rejects.</a:t>
                      </a:r>
                    </a:p>
                  </a:txBody>
                  <a:tcPr marL="101600" marR="101600" marT="38100" marB="38100" anchor="ctr">
                    <a:solidFill>
                      <a:srgbClr val="FFFFFF"/>
                    </a:solidFill>
                  </a:tcPr>
                </a:tc>
              </a:tr>
              <a:tr h="646176">
                <a:tc>
                  <a:txBody>
                    <a:bodyPr/>
                    <a:lstStyle/>
                    <a:p>
                      <a:r>
                        <a:rPr sz="1500" b="0">
                          <a:solidFill>
                            <a:srgbClr val="1C1C1A"/>
                          </a:solidFill>
                          <a:latin typeface="Calibri"/>
                        </a:rPr>
                        <a:t>c) The output folder</a:t>
                      </a:r>
                    </a:p>
                  </a:txBody>
                  <a:tcPr marL="101600" marR="101600" marT="38100" marB="38100" anchor="ctr">
                    <a:solidFill>
                      <a:srgbClr val="F7F7F5"/>
                    </a:solidFill>
                  </a:tcPr>
                </a:tc>
                <a:tc>
                  <a:txBody>
                    <a:bodyPr/>
                    <a:lstStyle/>
                    <a:p>
                      <a:r>
                        <a:rPr sz="1500" b="0">
                          <a:solidFill>
                            <a:srgbClr val="1C1C1A"/>
                          </a:solidFill>
                          <a:latin typeface="Calibri"/>
                        </a:rPr>
                        <a:t>A missing folder raises on write.</a:t>
                      </a:r>
                    </a:p>
                  </a:txBody>
                  <a:tcPr marL="101600" marR="101600" marT="38100" marB="38100" anchor="ctr">
                    <a:solidFill>
                      <a:srgbClr val="F7F7F5"/>
                    </a:solidFill>
                  </a:tcPr>
                </a:tc>
              </a:tr>
              <a:tr h="646176">
                <a:tc>
                  <a:txBody>
                    <a:bodyPr/>
                    <a:lstStyle/>
                    <a:p>
                      <a:r>
                        <a:rPr sz="1500" b="0">
                          <a:solidFill>
                            <a:srgbClr val="1C1C1A"/>
                          </a:solidFill>
                          <a:latin typeface="Calibri"/>
                        </a:rPr>
                        <a:t>d) An empty input</a:t>
                      </a:r>
                    </a:p>
                  </a:txBody>
                  <a:tcPr marL="101600" marR="101600" marT="38100" marB="38100" anchor="ctr">
                    <a:solidFill>
                      <a:srgbClr val="FFFFFF"/>
                    </a:solidFill>
                  </a:tcPr>
                </a:tc>
                <a:tc>
                  <a:txBody>
                    <a:bodyPr/>
                    <a:lstStyle/>
                    <a:p>
                      <a:r>
                        <a:rPr sz="1500" b="0">
                          <a:solidFill>
                            <a:srgbClr val="1C1C1A"/>
                          </a:solidFill>
                          <a:latin typeface="Calibri"/>
                        </a:rPr>
                        <a:t>That gives zero clean rows too, which you would have seen.</a:t>
                      </a:r>
                    </a:p>
                  </a:txBody>
                  <a:tcPr marL="101600" marR="101600" marT="38100" marB="38100" anchor="ctr">
                    <a:solidFill>
                      <a:srgbClr val="FFFFFF"/>
                    </a:solidFill>
                  </a:tcPr>
                </a:tc>
              </a:tr>
            </a:tbl>
          </a:graphicData>
        </a:graphic>
      </p:graphicFrame>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71 / 87</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D21</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Zero rejects, one level deeper</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2239264"/>
            <a:ext cx="10820095" cy="3202432"/>
          </a:xfrm>
          <a:prstGeom prst="rect">
            <a:avLst/>
          </a:prstGeom>
          <a:noFill/>
        </p:spPr>
        <p:txBody>
          <a:bodyPr wrap="square" anchor="t">
            <a:spAutoFit/>
          </a:bodyPr>
          <a:lstStyle/>
          <a:p>
            <a:pPr>
              <a:spcAft>
                <a:spcPts val="900"/>
              </a:spcAft>
            </a:pPr>
            <a:r>
              <a:rPr sz="2000" b="0">
                <a:solidFill>
                  <a:srgbClr val="1C1C1A"/>
                </a:solidFill>
                <a:latin typeface="Calibri"/>
              </a:rPr>
              <a:t>Add the direction-of-movement argument, because almost nobody does.</a:t>
            </a:r>
          </a:p>
          <a:p>
            <a:pPr>
              <a:spcAft>
                <a:spcPts val="900"/>
              </a:spcAft>
            </a:pPr>
            <a:r>
              <a:rPr sz="2000" b="0">
                <a:solidFill>
                  <a:srgbClr val="1C1C1A"/>
                </a:solidFill>
                <a:latin typeface="Calibri"/>
              </a:rPr>
              <a:t>Say that you look at which counts moved and in which direction. A fix that improves every count at once is suspicious, because real cleaning trades one count against another: rejecting bad rows lowers your usable count, and recovering values raises it while lowering your reject count. A run where present, converts and the reject count all improved together did not clean the data, it filled it.</a:t>
            </a:r>
          </a:p>
          <a:p>
            <a:pPr>
              <a:spcAft>
                <a:spcPts val="900"/>
              </a:spcAft>
            </a:pPr>
            <a:r>
              <a:rPr sz="2000" b="0">
                <a:solidFill>
                  <a:srgbClr val="1C1C1A"/>
                </a:solidFill>
                <a:latin typeface="Calibri"/>
              </a:rPr>
              <a:t>Then name distinct, and say it is the only count that falls when values are silently collapsed.</a:t>
            </a:r>
          </a:p>
        </p:txBody>
      </p:sp>
      <p:sp>
        <p:nvSpPr>
          <p:cNvPr id="8" name="Rectangle 7"/>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0" name="TextBox 9"/>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72 / 87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S45</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what is profiling, and why before cleaning?</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Why does the profile come first?</a:t>
            </a:r>
          </a:p>
          <a:p>
            <a:pPr>
              <a:spcAft>
                <a:spcPts val="900"/>
              </a:spcAft>
            </a:pPr>
            <a:r>
              <a:rPr sz="2000" b="0">
                <a:solidFill>
                  <a:srgbClr val="1C1C1A"/>
                </a:solidFill>
                <a:latin typeface="Calibri"/>
              </a:rPr>
              <a:t>a) It is faster than cleaning</a:t>
            </a:r>
          </a:p>
          <a:p>
            <a:pPr>
              <a:spcAft>
                <a:spcPts val="900"/>
              </a:spcAft>
            </a:pPr>
            <a:r>
              <a:rPr sz="2000" b="0">
                <a:solidFill>
                  <a:srgbClr val="1C1C1A"/>
                </a:solidFill>
                <a:latin typeface="Calibri"/>
              </a:rPr>
              <a:t>b) It tells you what you are about to change, before you can change it</a:t>
            </a:r>
          </a:p>
          <a:p>
            <a:pPr>
              <a:spcAft>
                <a:spcPts val="900"/>
              </a:spcAft>
            </a:pPr>
            <a:r>
              <a:rPr sz="2000" b="0">
                <a:solidFill>
                  <a:srgbClr val="1C1C1A"/>
                </a:solidFill>
                <a:latin typeface="Calibri"/>
              </a:rPr>
              <a:t>c) It is required by the style guide</a:t>
            </a:r>
          </a:p>
          <a:p>
            <a:pPr>
              <a:spcAft>
                <a:spcPts val="900"/>
              </a:spcAft>
            </a:pPr>
            <a:r>
              <a:rPr sz="2000" b="0">
                <a:solidFill>
                  <a:srgbClr val="1C1C1A"/>
                </a:solidFill>
                <a:latin typeface="Calibri"/>
              </a:rPr>
              <a:t>d) It produces the chart the stakeholder wants</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73 / 87</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S45a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it is the only record of what the file was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6c85794adc860de8.png"/>
          <p:cNvPicPr>
            <a:picLocks noChangeAspect="1"/>
          </p:cNvPicPr>
          <p:nvPr/>
        </p:nvPicPr>
        <p:blipFill>
          <a:blip r:embed="rId2"/>
          <a:stretch>
            <a:fillRect/>
          </a:stretch>
        </p:blipFill>
        <p:spPr>
          <a:xfrm>
            <a:off x="1590995" y="1627632"/>
            <a:ext cx="2842250" cy="4425696"/>
          </a:xfrm>
          <a:prstGeom prst="rect">
            <a:avLst/>
          </a:prstGeom>
        </p:spPr>
      </p:pic>
      <p:sp>
        <p:nvSpPr>
          <p:cNvPr id="7" name="Rectangle 6"/>
          <p:cNvSpPr/>
          <p:nvPr/>
        </p:nvSpPr>
        <p:spPr>
          <a:xfrm>
            <a:off x="5771244" y="1627632"/>
            <a:ext cx="5734650" cy="131064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1627632"/>
            <a:ext cx="50292" cy="13106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27276" y="1719072"/>
            <a:ext cx="5277450" cy="1164336"/>
          </a:xfrm>
          <a:prstGeom prst="rect">
            <a:avLst/>
          </a:prstGeom>
          <a:noFill/>
        </p:spPr>
        <p:txBody>
          <a:bodyPr wrap="square" anchor="ctr">
            <a:spAutoFit/>
          </a:bodyPr>
          <a:lstStyle/>
          <a:p>
            <a:r>
              <a:rPr sz="1500" b="1">
                <a:solidFill>
                  <a:srgbClr val="2B4A7D"/>
                </a:solidFill>
                <a:latin typeface="Calibri"/>
              </a:rPr>
              <a:t>The claim. </a:t>
            </a:r>
            <a:r>
              <a:rPr sz="1500" b="0">
                <a:solidFill>
                  <a:srgbClr val="1C1C1A"/>
                </a:solidFill>
                <a:latin typeface="Calibri"/>
              </a:rPr>
              <a:t>Three counts per field, taken before you have permission to change anything. Once you clean, the file no longer says what it said, and the profile is the only record of what it was.</a:t>
            </a:r>
          </a:p>
        </p:txBody>
      </p:sp>
      <p:graphicFrame>
        <p:nvGraphicFramePr>
          <p:cNvPr id="10" name="Table 9"/>
          <p:cNvGraphicFramePr>
            <a:graphicFrameLocks noGrp="1"/>
          </p:cNvGraphicFramePr>
          <p:nvPr/>
        </p:nvGraphicFramePr>
        <p:xfrm>
          <a:off x="5771244" y="3102864"/>
          <a:ext cx="5734650" cy="1853184"/>
        </p:xfrm>
        <a:graphic>
          <a:graphicData uri="http://schemas.openxmlformats.org/drawingml/2006/table">
            <a:tbl>
              <a:tblPr firstRow="0" bandRow="0">
                <a:tableStyleId>{2D5ABB26-0587-4C30-8999-92F81FD0307C}</a:tableStyleId>
              </a:tblPr>
              <a:tblGrid>
                <a:gridCol w="2867325"/>
                <a:gridCol w="2867325"/>
              </a:tblGrid>
              <a:tr h="329184">
                <a:tc>
                  <a:txBody>
                    <a:bodyPr/>
                    <a:lstStyle/>
                    <a:p>
                      <a:r>
                        <a:rPr sz="1200" b="1">
                          <a:solidFill>
                            <a:srgbClr val="FFFFFF"/>
                          </a:solidFill>
                          <a:latin typeface="Calibri"/>
                        </a:rPr>
                        <a:t>Option</a:t>
                      </a:r>
                    </a:p>
                  </a:txBody>
                  <a:tcPr marL="101600" marR="101600" marT="38100" marB="38100" anchor="ctr">
                    <a:solidFill>
                      <a:srgbClr val="2B4A7D"/>
                    </a:solidFill>
                  </a:tcPr>
                </a:tc>
                <a:tc>
                  <a:txBody>
                    <a:bodyPr/>
                    <a:lstStyle/>
                    <a:p>
                      <a:r>
                        <a:rPr sz="1200" b="1">
                          <a:solidFill>
                            <a:srgbClr val="FFFFFF"/>
                          </a:solidFill>
                          <a:latin typeface="Calibri"/>
                        </a:rPr>
                        <a:t>Why it does not hold</a:t>
                      </a:r>
                    </a:p>
                  </a:txBody>
                  <a:tcPr marL="101600" marR="101600" marT="38100" marB="38100" anchor="ctr">
                    <a:solidFill>
                      <a:srgbClr val="2B4A7D"/>
                    </a:solidFill>
                  </a:tcPr>
                </a:tc>
              </a:tr>
              <a:tr h="508000">
                <a:tc>
                  <a:txBody>
                    <a:bodyPr/>
                    <a:lstStyle/>
                    <a:p>
                      <a:r>
                        <a:rPr sz="1100" b="0">
                          <a:solidFill>
                            <a:srgbClr val="1C1C1A"/>
                          </a:solidFill>
                          <a:latin typeface="Calibri"/>
                        </a:rPr>
                        <a:t>a) Faster</a:t>
                      </a:r>
                    </a:p>
                  </a:txBody>
                  <a:tcPr marL="101600" marR="101600" marT="38100" marB="38100" anchor="ctr">
                    <a:solidFill>
                      <a:srgbClr val="FFFFFF"/>
                    </a:solidFill>
                  </a:tcPr>
                </a:tc>
                <a:tc>
                  <a:txBody>
                    <a:bodyPr/>
                    <a:lstStyle/>
                    <a:p>
                      <a:r>
                        <a:rPr sz="1100" b="0">
                          <a:solidFill>
                            <a:srgbClr val="1C1C1A"/>
                          </a:solidFill>
                          <a:latin typeface="Calibri"/>
                        </a:rPr>
                        <a:t>True and irrelevant; speed is not why it goes first.</a:t>
                      </a:r>
                    </a:p>
                  </a:txBody>
                  <a:tcPr marL="101600" marR="101600" marT="38100" marB="38100" anchor="ctr">
                    <a:solidFill>
                      <a:srgbClr val="FFFFFF"/>
                    </a:solidFill>
                  </a:tcPr>
                </a:tc>
              </a:tr>
              <a:tr h="508000">
                <a:tc>
                  <a:txBody>
                    <a:bodyPr/>
                    <a:lstStyle/>
                    <a:p>
                      <a:r>
                        <a:rPr sz="1100" b="0">
                          <a:solidFill>
                            <a:srgbClr val="1C1C1A"/>
                          </a:solidFill>
                          <a:latin typeface="Calibri"/>
                        </a:rPr>
                        <a:t>c) The style guide</a:t>
                      </a:r>
                    </a:p>
                  </a:txBody>
                  <a:tcPr marL="101600" marR="101600" marT="38100" marB="38100" anchor="ctr">
                    <a:solidFill>
                      <a:srgbClr val="F7F7F5"/>
                    </a:solidFill>
                  </a:tcPr>
                </a:tc>
                <a:tc>
                  <a:txBody>
                    <a:bodyPr/>
                    <a:lstStyle/>
                    <a:p>
                      <a:r>
                        <a:rPr sz="1100" b="0">
                          <a:solidFill>
                            <a:srgbClr val="1C1C1A"/>
                          </a:solidFill>
                          <a:latin typeface="Calibri"/>
                        </a:rPr>
                        <a:t>An appeal to authority, which loses a review.</a:t>
                      </a:r>
                    </a:p>
                  </a:txBody>
                  <a:tcPr marL="101600" marR="101600" marT="38100" marB="38100" anchor="ctr">
                    <a:solidFill>
                      <a:srgbClr val="F7F7F5"/>
                    </a:solidFill>
                  </a:tcPr>
                </a:tc>
              </a:tr>
              <a:tr h="508000">
                <a:tc>
                  <a:txBody>
                    <a:bodyPr/>
                    <a:lstStyle/>
                    <a:p>
                      <a:r>
                        <a:rPr sz="1100" b="0">
                          <a:solidFill>
                            <a:srgbClr val="1C1C1A"/>
                          </a:solidFill>
                          <a:latin typeface="Calibri"/>
                        </a:rPr>
                        <a:t>d) A chart</a:t>
                      </a:r>
                    </a:p>
                  </a:txBody>
                  <a:tcPr marL="101600" marR="101600" marT="38100" marB="38100" anchor="ctr">
                    <a:solidFill>
                      <a:srgbClr val="FFFFFF"/>
                    </a:solidFill>
                  </a:tcPr>
                </a:tc>
                <a:tc>
                  <a:txBody>
                    <a:bodyPr/>
                    <a:lstStyle/>
                    <a:p>
                      <a:r>
                        <a:rPr sz="1100" b="0">
                          <a:solidFill>
                            <a:srgbClr val="1C1C1A"/>
                          </a:solidFill>
                          <a:latin typeface="Calibri"/>
                        </a:rPr>
                        <a:t>Three integers per field fit in a log. A chart does not.</a:t>
                      </a:r>
                    </a:p>
                  </a:txBody>
                  <a:tcPr marL="101600" marR="101600" marT="38100" marB="38100" anchor="ctr">
                    <a:solidFill>
                      <a:srgbClr val="FFFFFF"/>
                    </a:solidFill>
                  </a:tcPr>
                </a:tc>
              </a:tr>
            </a:tbl>
          </a:graphicData>
        </a:graphic>
      </p:graphicFrame>
      <p:sp>
        <p:nvSpPr>
          <p:cNvPr id="11" name="Rectangle 10"/>
          <p:cNvSpPr/>
          <p:nvPr/>
        </p:nvSpPr>
        <p:spPr>
          <a:xfrm>
            <a:off x="5771244" y="5212079"/>
            <a:ext cx="5734650" cy="79248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771244" y="5212079"/>
            <a:ext cx="50292" cy="79248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027276" y="5303519"/>
            <a:ext cx="5277450" cy="646176"/>
          </a:xfrm>
          <a:prstGeom prst="rect">
            <a:avLst/>
          </a:prstGeom>
          <a:noFill/>
        </p:spPr>
        <p:txBody>
          <a:bodyPr wrap="square" anchor="ctr">
            <a:spAutoFit/>
          </a:bodyPr>
          <a:lstStyle/>
          <a:p>
            <a:r>
              <a:rPr sz="1500" b="1">
                <a:solidFill>
                  <a:srgbClr val="2B4A7D"/>
                </a:solidFill>
                <a:latin typeface="Calibri"/>
              </a:rPr>
              <a:t>The mental model. </a:t>
            </a:r>
            <a:r>
              <a:rPr sz="1500" b="0">
                <a:solidFill>
                  <a:srgbClr val="1C1C1A"/>
                </a:solidFill>
                <a:latin typeface="Calibri"/>
              </a:rPr>
              <a:t>Profiling is what you do before you have permission to change anything.</a:t>
            </a:r>
          </a:p>
        </p:txBody>
      </p:sp>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74 / 87</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S46</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a column is 40 percent empty. What now?</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Forty percent of a column is empty. What is your first move?</a:t>
            </a:r>
          </a:p>
          <a:p>
            <a:pPr>
              <a:spcAft>
                <a:spcPts val="900"/>
              </a:spcAft>
            </a:pPr>
            <a:r>
              <a:rPr sz="2000" b="0">
                <a:solidFill>
                  <a:srgbClr val="1C1C1A"/>
                </a:solidFill>
                <a:latin typeface="Calibri"/>
              </a:rPr>
              <a:t>a) Fill it with the mean of what is present</a:t>
            </a:r>
          </a:p>
          <a:p>
            <a:pPr>
              <a:spcAft>
                <a:spcPts val="900"/>
              </a:spcAft>
            </a:pPr>
            <a:r>
              <a:rPr sz="2000" b="0">
                <a:solidFill>
                  <a:srgbClr val="1C1C1A"/>
                </a:solidFill>
                <a:latin typeface="Calibri"/>
              </a:rPr>
              <a:t>b) Ask what the absence means</a:t>
            </a:r>
          </a:p>
          <a:p>
            <a:pPr>
              <a:spcAft>
                <a:spcPts val="900"/>
              </a:spcAft>
            </a:pPr>
            <a:r>
              <a:rPr sz="2000" b="0">
                <a:solidFill>
                  <a:srgbClr val="1C1C1A"/>
                </a:solidFill>
                <a:latin typeface="Calibri"/>
              </a:rPr>
              <a:t>c) Drop the column</a:t>
            </a:r>
          </a:p>
          <a:p>
            <a:pPr>
              <a:spcAft>
                <a:spcPts val="900"/>
              </a:spcAft>
            </a:pPr>
            <a:r>
              <a:rPr sz="2000" b="0">
                <a:solidFill>
                  <a:srgbClr val="1C1C1A"/>
                </a:solidFill>
                <a:latin typeface="Calibri"/>
              </a:rPr>
              <a:t>d) Drop the rows</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75 / 87</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S46a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ask what the absence means, then choose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52b7276b00217747.png"/>
          <p:cNvPicPr>
            <a:picLocks noChangeAspect="1"/>
          </p:cNvPicPr>
          <p:nvPr/>
        </p:nvPicPr>
        <p:blipFill>
          <a:blip r:embed="rId2"/>
          <a:stretch>
            <a:fillRect/>
          </a:stretch>
        </p:blipFill>
        <p:spPr>
          <a:xfrm>
            <a:off x="685800" y="2417584"/>
            <a:ext cx="4652640" cy="2845790"/>
          </a:xfrm>
          <a:prstGeom prst="rect">
            <a:avLst/>
          </a:prstGeom>
        </p:spPr>
      </p:pic>
      <p:sp>
        <p:nvSpPr>
          <p:cNvPr id="7" name="Rectangle 6"/>
          <p:cNvSpPr/>
          <p:nvPr/>
        </p:nvSpPr>
        <p:spPr>
          <a:xfrm>
            <a:off x="5771244" y="1627632"/>
            <a:ext cx="5734650" cy="200152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1627632"/>
            <a:ext cx="50292" cy="200152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27276" y="1719072"/>
            <a:ext cx="5277450" cy="185521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The answer depends entirely on whether the absence means something. Kalpa's discount is absent on 39 of 50 because no discount ran, and that is a fact rather than a gap.</a:t>
            </a:r>
          </a:p>
        </p:txBody>
      </p:sp>
      <p:graphicFrame>
        <p:nvGraphicFramePr>
          <p:cNvPr id="10" name="Table 9"/>
          <p:cNvGraphicFramePr>
            <a:graphicFrameLocks noGrp="1"/>
          </p:cNvGraphicFramePr>
          <p:nvPr/>
        </p:nvGraphicFramePr>
        <p:xfrm>
          <a:off x="5771244" y="3793744"/>
          <a:ext cx="5734650" cy="2168143"/>
        </p:xfrm>
        <a:graphic>
          <a:graphicData uri="http://schemas.openxmlformats.org/drawingml/2006/table">
            <a:tbl>
              <a:tblPr firstRow="0" bandRow="0">
                <a:tableStyleId>{2D5ABB26-0587-4C30-8999-92F81FD0307C}</a:tableStyleId>
              </a:tblPr>
              <a:tblGrid>
                <a:gridCol w="2867325"/>
                <a:gridCol w="2867325"/>
              </a:tblGrid>
              <a:tr h="324710">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759361">
                <a:tc>
                  <a:txBody>
                    <a:bodyPr/>
                    <a:lstStyle/>
                    <a:p>
                      <a:r>
                        <a:rPr sz="1500" b="0">
                          <a:solidFill>
                            <a:srgbClr val="1C1C1A"/>
                          </a:solidFill>
                          <a:latin typeface="Calibri"/>
                        </a:rPr>
                        <a:t>a) The mean</a:t>
                      </a:r>
                    </a:p>
                  </a:txBody>
                  <a:tcPr marL="101600" marR="101600" marT="38100" marB="38100" anchor="ctr">
                    <a:solidFill>
                      <a:srgbClr val="FFFFFF"/>
                    </a:solidFill>
                  </a:tcPr>
                </a:tc>
                <a:tc>
                  <a:txBody>
                    <a:bodyPr/>
                    <a:lstStyle/>
                    <a:p>
                      <a:r>
                        <a:rPr sz="1500" b="0">
                          <a:solidFill>
                            <a:srgbClr val="1C1C1A"/>
                          </a:solidFill>
                          <a:latin typeface="Calibri"/>
                        </a:rPr>
                        <a:t>Invents money, and makes absent indistinguishable from a real value.</a:t>
                      </a:r>
                    </a:p>
                  </a:txBody>
                  <a:tcPr marL="101600" marR="101600" marT="38100" marB="38100" anchor="ctr">
                    <a:solidFill>
                      <a:srgbClr val="FFFFFF"/>
                    </a:solidFill>
                  </a:tcPr>
                </a:tc>
              </a:tr>
              <a:tr h="542036">
                <a:tc>
                  <a:txBody>
                    <a:bodyPr/>
                    <a:lstStyle/>
                    <a:p>
                      <a:r>
                        <a:rPr sz="1500" b="0">
                          <a:solidFill>
                            <a:srgbClr val="1C1C1A"/>
                          </a:solidFill>
                          <a:latin typeface="Calibri"/>
                        </a:rPr>
                        <a:t>c) Drop the column</a:t>
                      </a:r>
                    </a:p>
                  </a:txBody>
                  <a:tcPr marL="101600" marR="101600" marT="38100" marB="38100" anchor="ctr">
                    <a:solidFill>
                      <a:srgbClr val="F7F7F5"/>
                    </a:solidFill>
                  </a:tcPr>
                </a:tc>
                <a:tc>
                  <a:txBody>
                    <a:bodyPr/>
                    <a:lstStyle/>
                    <a:p>
                      <a:r>
                        <a:rPr sz="1500" b="0">
                          <a:solidFill>
                            <a:srgbClr val="1C1C1A"/>
                          </a:solidFill>
                          <a:latin typeface="Calibri"/>
                        </a:rPr>
                        <a:t>Throws away eleven real discounts to avoid a decision.</a:t>
                      </a:r>
                    </a:p>
                  </a:txBody>
                  <a:tcPr marL="101600" marR="101600" marT="38100" marB="38100" anchor="ctr">
                    <a:solidFill>
                      <a:srgbClr val="F7F7F5"/>
                    </a:solidFill>
                  </a:tcPr>
                </a:tc>
              </a:tr>
              <a:tr h="542036">
                <a:tc>
                  <a:txBody>
                    <a:bodyPr/>
                    <a:lstStyle/>
                    <a:p>
                      <a:r>
                        <a:rPr sz="1500" b="0">
                          <a:solidFill>
                            <a:srgbClr val="1C1C1A"/>
                          </a:solidFill>
                          <a:latin typeface="Calibri"/>
                        </a:rPr>
                        <a:t>d) Drop the rows</a:t>
                      </a:r>
                    </a:p>
                  </a:txBody>
                  <a:tcPr marL="101600" marR="101600" marT="38100" marB="38100" anchor="ctr">
                    <a:solidFill>
                      <a:srgbClr val="FFFFFF"/>
                    </a:solidFill>
                  </a:tcPr>
                </a:tc>
                <a:tc>
                  <a:txBody>
                    <a:bodyPr/>
                    <a:lstStyle/>
                    <a:p>
                      <a:r>
                        <a:rPr sz="1500" b="0">
                          <a:solidFill>
                            <a:srgbClr val="1C1C1A"/>
                          </a:solidFill>
                          <a:latin typeface="Calibri"/>
                        </a:rPr>
                        <a:t>Throws away 39 orders to fix a field nobody required.</a:t>
                      </a:r>
                    </a:p>
                  </a:txBody>
                  <a:tcPr marL="101600" marR="101600" marT="38100" marB="38100" anchor="ctr">
                    <a:solidFill>
                      <a:srgbClr val="FFFFFF"/>
                    </a:solidFill>
                  </a:tcPr>
                </a:tc>
              </a:tr>
            </a:tbl>
          </a:graphicData>
        </a:graphic>
      </p:graphicFrame>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76 / 87</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S47</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how do you find duplicates in a dataset?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What do you do first?</a:t>
            </a:r>
          </a:p>
          <a:p>
            <a:pPr>
              <a:spcAft>
                <a:spcPts val="900"/>
              </a:spcAft>
            </a:pPr>
            <a:r>
              <a:rPr sz="2000" b="0">
                <a:solidFill>
                  <a:srgbClr val="1C1C1A"/>
                </a:solidFill>
                <a:latin typeface="Calibri"/>
              </a:rPr>
              <a:t>a) Compare whole rows and count exact copies</a:t>
            </a:r>
          </a:p>
          <a:p>
            <a:pPr>
              <a:spcAft>
                <a:spcPts val="900"/>
              </a:spcAft>
            </a:pPr>
            <a:r>
              <a:rPr sz="2000" b="0">
                <a:solidFill>
                  <a:srgbClr val="1C1C1A"/>
                </a:solidFill>
                <a:latin typeface="Calibri"/>
              </a:rPr>
              <a:t>b) State the identity rule, then group by it</a:t>
            </a:r>
          </a:p>
          <a:p>
            <a:pPr>
              <a:spcAft>
                <a:spcPts val="900"/>
              </a:spcAft>
            </a:pPr>
            <a:r>
              <a:rPr sz="2000" b="0">
                <a:solidFill>
                  <a:srgbClr val="1C1C1A"/>
                </a:solidFill>
                <a:latin typeface="Calibri"/>
              </a:rPr>
              <a:t>c) Sort the file and look</a:t>
            </a:r>
          </a:p>
          <a:p>
            <a:pPr>
              <a:spcAft>
                <a:spcPts val="900"/>
              </a:spcAft>
            </a:pPr>
            <a:r>
              <a:rPr sz="2000" b="0">
                <a:solidFill>
                  <a:srgbClr val="1C1C1A"/>
                </a:solidFill>
                <a:latin typeface="Calibri"/>
              </a:rPr>
              <a:t>d) Drop everything after the first occurrence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77 / 87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S47a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state the rule, and the number follows</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96520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9652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41832" y="1719072"/>
            <a:ext cx="10362895" cy="81889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Same record is a rule you state, not a fact the data holds. Four defensible rules on the Kalpa pair give three different answers.</a:t>
            </a:r>
          </a:p>
        </p:txBody>
      </p:sp>
      <p:graphicFrame>
        <p:nvGraphicFramePr>
          <p:cNvPr id="9" name="Table 8"/>
          <p:cNvGraphicFramePr>
            <a:graphicFrameLocks noGrp="1"/>
          </p:cNvGraphicFramePr>
          <p:nvPr/>
        </p:nvGraphicFramePr>
        <p:xfrm>
          <a:off x="685800" y="2757424"/>
          <a:ext cx="10820095" cy="2066544"/>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646176">
                <a:tc>
                  <a:txBody>
                    <a:bodyPr/>
                    <a:lstStyle/>
                    <a:p>
                      <a:r>
                        <a:rPr sz="1500" b="0">
                          <a:solidFill>
                            <a:srgbClr val="1C1C1A"/>
                          </a:solidFill>
                          <a:latin typeface="Calibri"/>
                        </a:rPr>
                        <a:t>a) Whole rows</a:t>
                      </a:r>
                    </a:p>
                  </a:txBody>
                  <a:tcPr marL="101600" marR="101600" marT="38100" marB="38100" anchor="ctr">
                    <a:solidFill>
                      <a:srgbClr val="FFFFFF"/>
                    </a:solidFill>
                  </a:tcPr>
                </a:tc>
                <a:tc>
                  <a:txBody>
                    <a:bodyPr/>
                    <a:lstStyle/>
                    <a:p>
                      <a:r>
                        <a:rPr sz="1500" b="0">
                          <a:solidFill>
                            <a:srgbClr val="1C1C1A"/>
                          </a:solidFill>
                          <a:latin typeface="Calibri"/>
                        </a:rPr>
                        <a:t>Finds only exact copies, which is why it reported zero here.</a:t>
                      </a:r>
                    </a:p>
                  </a:txBody>
                  <a:tcPr marL="101600" marR="101600" marT="38100" marB="38100" anchor="ctr">
                    <a:solidFill>
                      <a:srgbClr val="FFFFFF"/>
                    </a:solidFill>
                  </a:tcPr>
                </a:tc>
              </a:tr>
              <a:tr h="387096">
                <a:tc>
                  <a:txBody>
                    <a:bodyPr/>
                    <a:lstStyle/>
                    <a:p>
                      <a:r>
                        <a:rPr sz="1500" b="0">
                          <a:solidFill>
                            <a:srgbClr val="1C1C1A"/>
                          </a:solidFill>
                          <a:latin typeface="Calibri"/>
                        </a:rPr>
                        <a:t>c) Sort and look</a:t>
                      </a:r>
                    </a:p>
                  </a:txBody>
                  <a:tcPr marL="101600" marR="101600" marT="38100" marB="38100" anchor="ctr">
                    <a:solidFill>
                      <a:srgbClr val="F7F7F5"/>
                    </a:solidFill>
                  </a:tcPr>
                </a:tc>
                <a:tc>
                  <a:txBody>
                    <a:bodyPr/>
                    <a:lstStyle/>
                    <a:p>
                      <a:r>
                        <a:rPr sz="1500" b="0">
                          <a:solidFill>
                            <a:srgbClr val="1C1C1A"/>
                          </a:solidFill>
                          <a:latin typeface="Calibri"/>
                        </a:rPr>
                        <a:t>Works on fifty rows and on nothing larger.</a:t>
                      </a:r>
                    </a:p>
                  </a:txBody>
                  <a:tcPr marL="101600" marR="101600" marT="38100" marB="38100" anchor="ctr">
                    <a:solidFill>
                      <a:srgbClr val="F7F7F5"/>
                    </a:solidFill>
                  </a:tcPr>
                </a:tc>
              </a:tr>
              <a:tr h="646176">
                <a:tc>
                  <a:txBody>
                    <a:bodyPr/>
                    <a:lstStyle/>
                    <a:p>
                      <a:r>
                        <a:rPr sz="1500" b="0">
                          <a:solidFill>
                            <a:srgbClr val="1C1C1A"/>
                          </a:solidFill>
                          <a:latin typeface="Calibri"/>
                        </a:rPr>
                        <a:t>d) Drop after the first</a:t>
                      </a:r>
                    </a:p>
                  </a:txBody>
                  <a:tcPr marL="101600" marR="101600" marT="38100" marB="38100" anchor="ctr">
                    <a:solidFill>
                      <a:srgbClr val="FFFFFF"/>
                    </a:solidFill>
                  </a:tcPr>
                </a:tc>
                <a:tc>
                  <a:txBody>
                    <a:bodyPr/>
                    <a:lstStyle/>
                    <a:p>
                      <a:r>
                        <a:rPr sz="1500" b="0">
                          <a:solidFill>
                            <a:srgbClr val="1C1C1A"/>
                          </a:solidFill>
                          <a:latin typeface="Calibri"/>
                        </a:rPr>
                        <a:t>Deletes a row before anybody has decided the two are the same record.</a:t>
                      </a:r>
                    </a:p>
                  </a:txBody>
                  <a:tcPr marL="101600" marR="101600" marT="38100" marB="38100" anchor="ctr">
                    <a:solidFill>
                      <a:srgbClr val="FFFFFF"/>
                    </a:solidFill>
                  </a:tcPr>
                </a:tc>
              </a:tr>
            </a:tbl>
          </a:graphicData>
        </a:graphic>
      </p:graphicFrame>
      <p:sp>
        <p:nvSpPr>
          <p:cNvPr id="10" name="Rectangle 9"/>
          <p:cNvSpPr/>
          <p:nvPr/>
        </p:nvSpPr>
        <p:spPr>
          <a:xfrm>
            <a:off x="685800" y="5080000"/>
            <a:ext cx="10820095" cy="61976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5080000"/>
            <a:ext cx="50292" cy="61976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5171440"/>
            <a:ext cx="10362895" cy="473456"/>
          </a:xfrm>
          <a:prstGeom prst="rect">
            <a:avLst/>
          </a:prstGeom>
          <a:noFill/>
        </p:spPr>
        <p:txBody>
          <a:bodyPr wrap="square" anchor="ctr">
            <a:spAutoFit/>
          </a:bodyPr>
          <a:lstStyle/>
          <a:p>
            <a:r>
              <a:rPr sz="2000" b="1">
                <a:solidFill>
                  <a:srgbClr val="2B4A7D"/>
                </a:solidFill>
                <a:latin typeface="Calibri"/>
              </a:rPr>
              <a:t>The mental model. </a:t>
            </a:r>
            <a:r>
              <a:rPr sz="2000" b="0">
                <a:solidFill>
                  <a:srgbClr val="1C1C1A"/>
                </a:solidFill>
                <a:latin typeface="Calibri"/>
              </a:rPr>
              <a:t>The rule is the decision and the number follows from it.</a:t>
            </a:r>
          </a:p>
        </p:txBody>
      </p:sp>
      <p:sp>
        <p:nvSpPr>
          <p:cNvPr id="13" name="Rectangle 12"/>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5" name="TextBox 14"/>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78 / 87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S48</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how do you handle an outlier?</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One order is Rs 480,000 against a next-largest under Rs 3,000. What do you do?</a:t>
            </a:r>
          </a:p>
          <a:p>
            <a:pPr>
              <a:spcAft>
                <a:spcPts val="900"/>
              </a:spcAft>
            </a:pPr>
            <a:r>
              <a:rPr sz="2000" b="0">
                <a:solidFill>
                  <a:srgbClr val="1C1C1A"/>
                </a:solidFill>
                <a:latin typeface="Calibri"/>
              </a:rPr>
              <a:t>a) Delete it</a:t>
            </a:r>
          </a:p>
          <a:p>
            <a:pPr>
              <a:spcAft>
                <a:spcPts val="900"/>
              </a:spcAft>
            </a:pPr>
            <a:r>
              <a:rPr sz="2000" b="0">
                <a:solidFill>
                  <a:srgbClr val="1C1C1A"/>
                </a:solidFill>
                <a:latin typeface="Calibri"/>
              </a:rPr>
              <a:t>b) Cap it at a fence</a:t>
            </a:r>
          </a:p>
          <a:p>
            <a:pPr>
              <a:spcAft>
                <a:spcPts val="900"/>
              </a:spcAft>
            </a:pPr>
            <a:r>
              <a:rPr sz="2000" b="0">
                <a:solidFill>
                  <a:srgbClr val="1C1C1A"/>
                </a:solidFill>
                <a:latin typeface="Calibri"/>
              </a:rPr>
              <a:t>c) Investigate it first</a:t>
            </a:r>
          </a:p>
          <a:p>
            <a:pPr>
              <a:spcAft>
                <a:spcPts val="900"/>
              </a:spcAft>
            </a:pPr>
            <a:r>
              <a:rPr sz="2000" b="0">
                <a:solidFill>
                  <a:srgbClr val="1C1C1A"/>
                </a:solidFill>
                <a:latin typeface="Calibri"/>
              </a:rPr>
              <a:t>d) Split it into smaller orders</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79 / 87</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S48a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investigate, because it is a finding first</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131064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13106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41832" y="1719072"/>
            <a:ext cx="10362895" cy="116433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It converts, and it has a customer, a date, a segment and a status like every other order. Nothing about the record is wrong, so it is a finding to investigate before it is a row to delete.</a:t>
            </a:r>
          </a:p>
        </p:txBody>
      </p:sp>
      <p:graphicFrame>
        <p:nvGraphicFramePr>
          <p:cNvPr id="9" name="Table 8"/>
          <p:cNvGraphicFramePr>
            <a:graphicFrameLocks noGrp="1"/>
          </p:cNvGraphicFramePr>
          <p:nvPr/>
        </p:nvGraphicFramePr>
        <p:xfrm>
          <a:off x="685800" y="3102864"/>
          <a:ext cx="10820095" cy="2066544"/>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646176">
                <a:tc>
                  <a:txBody>
                    <a:bodyPr/>
                    <a:lstStyle/>
                    <a:p>
                      <a:r>
                        <a:rPr sz="1500" b="0">
                          <a:solidFill>
                            <a:srgbClr val="1C1C1A"/>
                          </a:solidFill>
                          <a:latin typeface="Calibri"/>
                        </a:rPr>
                        <a:t>a) Delete</a:t>
                      </a:r>
                    </a:p>
                  </a:txBody>
                  <a:tcPr marL="101600" marR="101600" marT="38100" marB="38100" anchor="ctr">
                    <a:solidFill>
                      <a:srgbClr val="FFFFFF"/>
                    </a:solidFill>
                  </a:tcPr>
                </a:tc>
                <a:tc>
                  <a:txBody>
                    <a:bodyPr/>
                    <a:lstStyle/>
                    <a:p>
                      <a:r>
                        <a:rPr sz="1500" b="0">
                          <a:solidFill>
                            <a:srgbClr val="1C1C1A"/>
                          </a:solidFill>
                          <a:latin typeface="Calibri"/>
                        </a:rPr>
                        <a:t>Changes the business the file describes, and somebody reconciling revenue will find Rs 480,000 missing.</a:t>
                      </a:r>
                    </a:p>
                  </a:txBody>
                  <a:tcPr marL="101600" marR="101600" marT="38100" marB="38100" anchor="ctr">
                    <a:solidFill>
                      <a:srgbClr val="FFFFFF"/>
                    </a:solidFill>
                  </a:tcPr>
                </a:tc>
              </a:tr>
              <a:tr h="646176">
                <a:tc>
                  <a:txBody>
                    <a:bodyPr/>
                    <a:lstStyle/>
                    <a:p>
                      <a:r>
                        <a:rPr sz="1500" b="0">
                          <a:solidFill>
                            <a:srgbClr val="1C1C1A"/>
                          </a:solidFill>
                          <a:latin typeface="Calibri"/>
                        </a:rPr>
                        <a:t>b) Cap</a:t>
                      </a:r>
                    </a:p>
                  </a:txBody>
                  <a:tcPr marL="101600" marR="101600" marT="38100" marB="38100" anchor="ctr">
                    <a:solidFill>
                      <a:srgbClr val="F7F7F5"/>
                    </a:solidFill>
                  </a:tcPr>
                </a:tc>
                <a:tc>
                  <a:txBody>
                    <a:bodyPr/>
                    <a:lstStyle/>
                    <a:p>
                      <a:r>
                        <a:rPr sz="1500" b="0">
                          <a:solidFill>
                            <a:srgbClr val="1C1C1A"/>
                          </a:solidFill>
                          <a:latin typeface="Calibri"/>
                        </a:rPr>
                        <a:t>Puts a value nobody wrote into the file, which is the coercion trap in another costume.</a:t>
                      </a:r>
                    </a:p>
                  </a:txBody>
                  <a:tcPr marL="101600" marR="101600" marT="38100" marB="38100" anchor="ctr">
                    <a:solidFill>
                      <a:srgbClr val="F7F7F5"/>
                    </a:solidFill>
                  </a:tcPr>
                </a:tc>
              </a:tr>
              <a:tr h="387096">
                <a:tc>
                  <a:txBody>
                    <a:bodyPr/>
                    <a:lstStyle/>
                    <a:p>
                      <a:r>
                        <a:rPr sz="1500" b="0">
                          <a:solidFill>
                            <a:srgbClr val="1C1C1A"/>
                          </a:solidFill>
                          <a:latin typeface="Calibri"/>
                        </a:rPr>
                        <a:t>d) Split</a:t>
                      </a:r>
                    </a:p>
                  </a:txBody>
                  <a:tcPr marL="101600" marR="101600" marT="38100" marB="38100" anchor="ctr">
                    <a:solidFill>
                      <a:srgbClr val="FFFFFF"/>
                    </a:solidFill>
                  </a:tcPr>
                </a:tc>
                <a:tc>
                  <a:txBody>
                    <a:bodyPr/>
                    <a:lstStyle/>
                    <a:p>
                      <a:r>
                        <a:rPr sz="1500" b="0">
                          <a:solidFill>
                            <a:srgbClr val="1C1C1A"/>
                          </a:solidFill>
                          <a:latin typeface="Calibri"/>
                        </a:rPr>
                        <a:t>Invents orders that never happened.</a:t>
                      </a:r>
                    </a:p>
                  </a:txBody>
                  <a:tcPr marL="101600" marR="101600" marT="38100" marB="38100" anchor="ctr">
                    <a:solidFill>
                      <a:srgbClr val="FFFFFF"/>
                    </a:solidFill>
                  </a:tcPr>
                </a:tc>
              </a:tr>
            </a:tbl>
          </a:graphicData>
        </a:graphic>
      </p:graphicFrame>
      <p:sp>
        <p:nvSpPr>
          <p:cNvPr id="10" name="TextBox 9"/>
          <p:cNvSpPr txBox="1"/>
          <p:nvPr/>
        </p:nvSpPr>
        <p:spPr>
          <a:xfrm>
            <a:off x="685800" y="5425440"/>
            <a:ext cx="10820095" cy="910336"/>
          </a:xfrm>
          <a:prstGeom prst="rect">
            <a:avLst/>
          </a:prstGeom>
          <a:noFill/>
        </p:spPr>
        <p:txBody>
          <a:bodyPr wrap="square" anchor="t">
            <a:spAutoFit/>
          </a:bodyPr>
          <a:lstStyle/>
          <a:p>
            <a:pPr>
              <a:spcAft>
                <a:spcPts val="900"/>
              </a:spcAft>
            </a:pPr>
            <a:r>
              <a:rPr sz="2000" b="0">
                <a:solidFill>
                  <a:srgbClr val="1C1C1A"/>
                </a:solidFill>
                <a:latin typeface="Calibri"/>
              </a:rPr>
              <a:t>That one order is 86 percent of the money in the file, which is a true fact worth putting on the flag.</a:t>
            </a:r>
          </a:p>
        </p:txBody>
      </p:sp>
      <p:sp>
        <p:nvSpPr>
          <p:cNvPr id="11" name="Rectangle 10"/>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3" name="TextBox 12"/>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80 / 87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D22</a:t>
            </a:r>
          </a:p>
        </p:txBody>
      </p:sp>
      <p:sp>
        <p:nvSpPr>
          <p:cNvPr id="4" name="Rounded Rectangle 3"/>
          <p:cNvSpPr/>
          <p:nvPr/>
        </p:nvSpPr>
        <p:spPr>
          <a:xfrm>
            <a:off x="10573207" y="603504"/>
            <a:ext cx="932688" cy="274320"/>
          </a:xfrm>
          <a:prstGeom prst="round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DEPTH</a:t>
            </a:r>
          </a:p>
        </p:txBody>
      </p:sp>
      <p:sp>
        <p:nvSpPr>
          <p:cNvPr id="5" name="TextBox 4"/>
          <p:cNvSpPr txBox="1"/>
          <p:nvPr/>
        </p:nvSpPr>
        <p:spPr>
          <a:xfrm>
            <a:off x="1618488" y="493776"/>
            <a:ext cx="8790127" cy="786384"/>
          </a:xfrm>
          <a:prstGeom prst="rect">
            <a:avLst/>
          </a:prstGeom>
          <a:noFill/>
        </p:spPr>
        <p:txBody>
          <a:bodyPr wrap="square" anchor="ctr">
            <a:spAutoFit/>
          </a:bodyPr>
          <a:lstStyle/>
          <a:p>
            <a:r>
              <a:rPr sz="2300" b="1">
                <a:solidFill>
                  <a:srgbClr val="1C1C1A"/>
                </a:solidFill>
                <a:latin typeface="Calibri"/>
              </a:rPr>
              <a:t>The outlier numbers that make it land</a:t>
            </a:r>
          </a:p>
        </p:txBody>
      </p:sp>
      <p:sp>
        <p:nvSpPr>
          <p:cNvPr id="6" name="Rectangle 5"/>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5800" y="2378456"/>
            <a:ext cx="10820095" cy="564896"/>
          </a:xfrm>
          <a:prstGeom prst="rect">
            <a:avLst/>
          </a:prstGeom>
          <a:noFill/>
        </p:spPr>
        <p:txBody>
          <a:bodyPr wrap="square" anchor="t">
            <a:spAutoFit/>
          </a:bodyPr>
          <a:lstStyle/>
          <a:p>
            <a:pPr>
              <a:spcAft>
                <a:spcPts val="900"/>
              </a:spcAft>
            </a:pPr>
            <a:r>
              <a:rPr sz="2000" b="0">
                <a:solidFill>
                  <a:srgbClr val="1C1C1A"/>
                </a:solidFill>
                <a:latin typeface="Calibri"/>
              </a:rPr>
              <a:t>Bring the contrast, not the principle.</a:t>
            </a:r>
          </a:p>
        </p:txBody>
      </p:sp>
      <p:sp>
        <p:nvSpPr>
          <p:cNvPr id="8" name="Rectangle 7"/>
          <p:cNvSpPr/>
          <p:nvPr/>
        </p:nvSpPr>
        <p:spPr>
          <a:xfrm>
            <a:off x="685800" y="3071368"/>
            <a:ext cx="10820095" cy="810768"/>
          </a:xfrm>
          <a:prstGeom prst="rect">
            <a:avLst/>
          </a:prstGeom>
          <a:solidFill>
            <a:srgbClr val="1C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85800" y="3071368"/>
            <a:ext cx="50292" cy="810768"/>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23544" y="3171952"/>
            <a:ext cx="10417759" cy="627888"/>
          </a:xfrm>
          <a:prstGeom prst="rect">
            <a:avLst/>
          </a:prstGeom>
          <a:noFill/>
        </p:spPr>
        <p:txBody>
          <a:bodyPr wrap="square" anchor="t">
            <a:spAutoFit/>
          </a:bodyPr>
          <a:lstStyle/>
          <a:p>
            <a:pPr>
              <a:spcAft>
                <a:spcPts val="200"/>
              </a:spcAft>
            </a:pPr>
            <a:r>
              <a:rPr sz="1600" b="0">
                <a:solidFill>
                  <a:srgbClr val="E4ECF7"/>
                </a:solidFill>
                <a:latin typeface="Consolas"/>
              </a:rPr>
              <a:t>with the Rs 480,000 order:     mean Rs 12,753.30    median Rs 1,910</a:t>
            </a:r>
          </a:p>
          <a:p>
            <a:pPr>
              <a:spcAft>
                <a:spcPts val="200"/>
              </a:spcAft>
            </a:pPr>
            <a:r>
              <a:rPr sz="1600" b="0">
                <a:solidFill>
                  <a:srgbClr val="E4ECF7"/>
                </a:solidFill>
                <a:latin typeface="Consolas"/>
              </a:rPr>
              <a:t>without it:                    mean Rs  1,887.09    median Rs 1,865</a:t>
            </a:r>
          </a:p>
        </p:txBody>
      </p:sp>
      <p:sp>
        <p:nvSpPr>
          <p:cNvPr id="11" name="TextBox 10"/>
          <p:cNvSpPr txBox="1"/>
          <p:nvPr/>
        </p:nvSpPr>
        <p:spPr>
          <a:xfrm>
            <a:off x="685800" y="4046728"/>
            <a:ext cx="10820095" cy="1255776"/>
          </a:xfrm>
          <a:prstGeom prst="rect">
            <a:avLst/>
          </a:prstGeom>
          <a:noFill/>
        </p:spPr>
        <p:txBody>
          <a:bodyPr wrap="square" anchor="t">
            <a:spAutoFit/>
          </a:bodyPr>
          <a:lstStyle/>
          <a:p>
            <a:pPr>
              <a:spcAft>
                <a:spcPts val="900"/>
              </a:spcAft>
            </a:pPr>
            <a:r>
              <a:rPr sz="2000" b="0">
                <a:solidFill>
                  <a:srgbClr val="1C1C1A"/>
                </a:solidFill>
                <a:latin typeface="Calibri"/>
              </a:rPr>
              <a:t>One row moved the mean by nearly seven times and the median by Rs 45. Say those four numbers and you have made the case for investigating rather than deleting, and for reporting a median on a money column, in one breath.</a:t>
            </a:r>
          </a:p>
        </p:txBody>
      </p:sp>
      <p:sp>
        <p:nvSpPr>
          <p:cNvPr id="12" name="Rectangle 11"/>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4" name="TextBox 13"/>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81 / 87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S49</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what is a decisions log, and why keep one?</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What does the log let somebody do that the clean file alone does not?</a:t>
            </a:r>
          </a:p>
          <a:p>
            <a:pPr>
              <a:spcAft>
                <a:spcPts val="900"/>
              </a:spcAft>
            </a:pPr>
            <a:r>
              <a:rPr sz="2000" b="0">
                <a:solidFill>
                  <a:srgbClr val="1C1C1A"/>
                </a:solidFill>
                <a:latin typeface="Calibri"/>
              </a:rPr>
              <a:t>a) Rerun your code</a:t>
            </a:r>
          </a:p>
          <a:p>
            <a:pPr>
              <a:spcAft>
                <a:spcPts val="900"/>
              </a:spcAft>
            </a:pPr>
            <a:r>
              <a:rPr sz="2000" b="0">
                <a:solidFill>
                  <a:srgbClr val="1C1C1A"/>
                </a:solidFill>
                <a:latin typeface="Calibri"/>
              </a:rPr>
              <a:t>b) Rebuild your count and argue with your reasoning</a:t>
            </a:r>
          </a:p>
          <a:p>
            <a:pPr>
              <a:spcAft>
                <a:spcPts val="900"/>
              </a:spcAft>
            </a:pPr>
            <a:r>
              <a:rPr sz="2000" b="0">
                <a:solidFill>
                  <a:srgbClr val="1C1C1A"/>
                </a:solidFill>
                <a:latin typeface="Calibri"/>
              </a:rPr>
              <a:t>c) Find the file faster</a:t>
            </a:r>
          </a:p>
          <a:p>
            <a:pPr>
              <a:spcAft>
                <a:spcPts val="900"/>
              </a:spcAft>
            </a:pPr>
            <a:r>
              <a:rPr sz="2000" b="0">
                <a:solidFill>
                  <a:srgbClr val="1C1C1A"/>
                </a:solidFill>
                <a:latin typeface="Calibri"/>
              </a:rPr>
              <a:t>d) Skip reading the data</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82 / 87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S49a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rebuild the count and argue with the reasoning</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85800" y="1627632"/>
            <a:ext cx="10820095" cy="96520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5800" y="1627632"/>
            <a:ext cx="50292" cy="96520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41832" y="1719072"/>
            <a:ext cx="10362895" cy="81889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Every cleaning act is a decision, and the log carries the field, the finding, the choice and the reason. That is what makes 44 rather than 50 defensible.</a:t>
            </a:r>
          </a:p>
        </p:txBody>
      </p:sp>
      <p:graphicFrame>
        <p:nvGraphicFramePr>
          <p:cNvPr id="9" name="Table 8"/>
          <p:cNvGraphicFramePr>
            <a:graphicFrameLocks noGrp="1"/>
          </p:cNvGraphicFramePr>
          <p:nvPr/>
        </p:nvGraphicFramePr>
        <p:xfrm>
          <a:off x="685800" y="2757424"/>
          <a:ext cx="10820095" cy="1548384"/>
        </p:xfrm>
        <a:graphic>
          <a:graphicData uri="http://schemas.openxmlformats.org/drawingml/2006/table">
            <a:tbl>
              <a:tblPr firstRow="0" bandRow="0">
                <a:tableStyleId>{2D5ABB26-0587-4C30-8999-92F81FD0307C}</a:tableStyleId>
              </a:tblPr>
              <a:tblGrid>
                <a:gridCol w="5410047"/>
                <a:gridCol w="5410048"/>
              </a:tblGrid>
              <a:tr h="387096">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387096">
                <a:tc>
                  <a:txBody>
                    <a:bodyPr/>
                    <a:lstStyle/>
                    <a:p>
                      <a:r>
                        <a:rPr sz="1500" b="0">
                          <a:solidFill>
                            <a:srgbClr val="1C1C1A"/>
                          </a:solidFill>
                          <a:latin typeface="Calibri"/>
                        </a:rPr>
                        <a:t>a) Rerun the code</a:t>
                      </a:r>
                    </a:p>
                  </a:txBody>
                  <a:tcPr marL="101600" marR="101600" marT="38100" marB="38100" anchor="ctr">
                    <a:solidFill>
                      <a:srgbClr val="FFFFFF"/>
                    </a:solidFill>
                  </a:tcPr>
                </a:tc>
                <a:tc>
                  <a:txBody>
                    <a:bodyPr/>
                    <a:lstStyle/>
                    <a:p>
                      <a:r>
                        <a:rPr sz="1500" b="0">
                          <a:solidFill>
                            <a:srgbClr val="1C1C1A"/>
                          </a:solidFill>
                          <a:latin typeface="Calibri"/>
                        </a:rPr>
                        <a:t>The notebook does that, and it says how rather than why.</a:t>
                      </a:r>
                    </a:p>
                  </a:txBody>
                  <a:tcPr marL="101600" marR="101600" marT="38100" marB="38100" anchor="ctr">
                    <a:solidFill>
                      <a:srgbClr val="FFFFFF"/>
                    </a:solidFill>
                  </a:tcPr>
                </a:tc>
              </a:tr>
              <a:tr h="387096">
                <a:tc>
                  <a:txBody>
                    <a:bodyPr/>
                    <a:lstStyle/>
                    <a:p>
                      <a:r>
                        <a:rPr sz="1500" b="0">
                          <a:solidFill>
                            <a:srgbClr val="1C1C1A"/>
                          </a:solidFill>
                          <a:latin typeface="Calibri"/>
                        </a:rPr>
                        <a:t>c) Find the file</a:t>
                      </a:r>
                    </a:p>
                  </a:txBody>
                  <a:tcPr marL="101600" marR="101600" marT="38100" marB="38100" anchor="ctr">
                    <a:solidFill>
                      <a:srgbClr val="F7F7F5"/>
                    </a:solidFill>
                  </a:tcPr>
                </a:tc>
                <a:tc>
                  <a:txBody>
                    <a:bodyPr/>
                    <a:lstStyle/>
                    <a:p>
                      <a:r>
                        <a:rPr sz="1500" b="0">
                          <a:solidFill>
                            <a:srgbClr val="1C1C1A"/>
                          </a:solidFill>
                          <a:latin typeface="Calibri"/>
                        </a:rPr>
                        <a:t>A locator, not a reason.</a:t>
                      </a:r>
                    </a:p>
                  </a:txBody>
                  <a:tcPr marL="101600" marR="101600" marT="38100" marB="38100" anchor="ctr">
                    <a:solidFill>
                      <a:srgbClr val="F7F7F5"/>
                    </a:solidFill>
                  </a:tcPr>
                </a:tc>
              </a:tr>
              <a:tr h="387096">
                <a:tc>
                  <a:txBody>
                    <a:bodyPr/>
                    <a:lstStyle/>
                    <a:p>
                      <a:r>
                        <a:rPr sz="1500" b="0">
                          <a:solidFill>
                            <a:srgbClr val="1C1C1A"/>
                          </a:solidFill>
                          <a:latin typeface="Calibri"/>
                        </a:rPr>
                        <a:t>d) Skip the data</a:t>
                      </a:r>
                    </a:p>
                  </a:txBody>
                  <a:tcPr marL="101600" marR="101600" marT="38100" marB="38100" anchor="ctr">
                    <a:solidFill>
                      <a:srgbClr val="FFFFFF"/>
                    </a:solidFill>
                  </a:tcPr>
                </a:tc>
                <a:tc>
                  <a:txBody>
                    <a:bodyPr/>
                    <a:lstStyle/>
                    <a:p>
                      <a:r>
                        <a:rPr sz="1500" b="0">
                          <a:solidFill>
                            <a:srgbClr val="1C1C1A"/>
                          </a:solidFill>
                          <a:latin typeface="Calibri"/>
                        </a:rPr>
                        <a:t>The log is beside the data, never instead of it.</a:t>
                      </a:r>
                    </a:p>
                  </a:txBody>
                  <a:tcPr marL="101600" marR="101600" marT="38100" marB="38100" anchor="ctr">
                    <a:solidFill>
                      <a:srgbClr val="FFFFFF"/>
                    </a:solidFill>
                  </a:tcPr>
                </a:tc>
              </a:tr>
            </a:tbl>
          </a:graphicData>
        </a:graphic>
      </p:graphicFrame>
      <p:sp>
        <p:nvSpPr>
          <p:cNvPr id="10" name="Rectangle 9"/>
          <p:cNvSpPr/>
          <p:nvPr/>
        </p:nvSpPr>
        <p:spPr>
          <a:xfrm>
            <a:off x="685800" y="4561840"/>
            <a:ext cx="10820095" cy="61976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85800" y="4561840"/>
            <a:ext cx="50292" cy="61976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41832" y="4653280"/>
            <a:ext cx="10362895" cy="473456"/>
          </a:xfrm>
          <a:prstGeom prst="rect">
            <a:avLst/>
          </a:prstGeom>
          <a:noFill/>
        </p:spPr>
        <p:txBody>
          <a:bodyPr wrap="square" anchor="ctr">
            <a:spAutoFit/>
          </a:bodyPr>
          <a:lstStyle/>
          <a:p>
            <a:r>
              <a:rPr sz="2000" b="1">
                <a:solidFill>
                  <a:srgbClr val="2B4A7D"/>
                </a:solidFill>
                <a:latin typeface="Calibri"/>
              </a:rPr>
              <a:t>The mental model. </a:t>
            </a:r>
            <a:r>
              <a:rPr sz="2000" b="0">
                <a:solidFill>
                  <a:srgbClr val="1C1C1A"/>
                </a:solidFill>
                <a:latin typeface="Calibri"/>
              </a:rPr>
              <a:t>What ships is the data plus every decision taken on it.</a:t>
            </a:r>
          </a:p>
        </p:txBody>
      </p:sp>
      <p:pic>
        <p:nvPicPr>
          <p:cNvPr id="13" name="Picture 12" descr="d584f9fc887d0cea.png"/>
          <p:cNvPicPr>
            <a:picLocks noChangeAspect="1"/>
          </p:cNvPicPr>
          <p:nvPr/>
        </p:nvPicPr>
        <p:blipFill>
          <a:blip r:embed="rId2"/>
          <a:stretch>
            <a:fillRect/>
          </a:stretch>
        </p:blipFill>
        <p:spPr>
          <a:xfrm>
            <a:off x="2270607" y="5346192"/>
            <a:ext cx="7650480" cy="1097280"/>
          </a:xfrm>
          <a:prstGeom prst="rect">
            <a:avLst/>
          </a:prstGeom>
        </p:spPr>
      </p:pic>
      <p:sp>
        <p:nvSpPr>
          <p:cNvPr id="14" name="Rectangle 13"/>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6" name="TextBox 15"/>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83 / 87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S50</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Question: what does it mean to reconcile a load?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647696"/>
            <a:ext cx="10820095" cy="2385568"/>
          </a:xfrm>
          <a:prstGeom prst="rect">
            <a:avLst/>
          </a:prstGeom>
          <a:noFill/>
        </p:spPr>
        <p:txBody>
          <a:bodyPr wrap="square" anchor="t">
            <a:spAutoFit/>
          </a:bodyPr>
          <a:lstStyle/>
          <a:p>
            <a:pPr>
              <a:spcAft>
                <a:spcPts val="900"/>
              </a:spcAft>
            </a:pPr>
            <a:r>
              <a:rPr sz="2000" b="0">
                <a:solidFill>
                  <a:srgbClr val="1C1C1A"/>
                </a:solidFill>
                <a:latin typeface="Calibri"/>
              </a:rPr>
              <a:t>What is the identity you assert?</a:t>
            </a:r>
          </a:p>
          <a:p>
            <a:pPr>
              <a:spcAft>
                <a:spcPts val="900"/>
              </a:spcAft>
            </a:pPr>
            <a:r>
              <a:rPr sz="2000" b="0">
                <a:solidFill>
                  <a:srgbClr val="1C1C1A"/>
                </a:solidFill>
                <a:latin typeface="Calibri"/>
              </a:rPr>
              <a:t>a) The clean file has more rows than the rejects file</a:t>
            </a:r>
          </a:p>
          <a:p>
            <a:pPr>
              <a:spcAft>
                <a:spcPts val="900"/>
              </a:spcAft>
            </a:pPr>
            <a:r>
              <a:rPr sz="2000" b="0">
                <a:solidFill>
                  <a:srgbClr val="1C1C1A"/>
                </a:solidFill>
                <a:latin typeface="Calibri"/>
              </a:rPr>
              <a:t>b) Input equals clean plus rejected</a:t>
            </a:r>
          </a:p>
          <a:p>
            <a:pPr>
              <a:spcAft>
                <a:spcPts val="900"/>
              </a:spcAft>
            </a:pPr>
            <a:r>
              <a:rPr sz="2000" b="0">
                <a:solidFill>
                  <a:srgbClr val="1C1C1A"/>
                </a:solidFill>
                <a:latin typeface="Calibri"/>
              </a:rPr>
              <a:t>c) The clean file parses</a:t>
            </a:r>
          </a:p>
          <a:p>
            <a:pPr>
              <a:spcAft>
                <a:spcPts val="900"/>
              </a:spcAft>
            </a:pPr>
            <a:r>
              <a:rPr sz="2000" b="0">
                <a:solidFill>
                  <a:srgbClr val="1C1C1A"/>
                </a:solidFill>
                <a:latin typeface="Calibri"/>
              </a:rPr>
              <a:t>d) The row count is above zero</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84 / 87</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S50a</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2300" b="1">
                <a:solidFill>
                  <a:srgbClr val="1C1C1A"/>
                </a:solidFill>
                <a:latin typeface="Calibri"/>
              </a:rPr>
              <a:t>Answer: input equals clean plus rejected, asserted</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8a7d487931d080f3.png"/>
          <p:cNvPicPr>
            <a:picLocks noChangeAspect="1"/>
          </p:cNvPicPr>
          <p:nvPr/>
        </p:nvPicPr>
        <p:blipFill>
          <a:blip r:embed="rId2"/>
          <a:stretch>
            <a:fillRect/>
          </a:stretch>
        </p:blipFill>
        <p:spPr>
          <a:xfrm>
            <a:off x="685800" y="1915656"/>
            <a:ext cx="4652640" cy="3849647"/>
          </a:xfrm>
          <a:prstGeom prst="rect">
            <a:avLst/>
          </a:prstGeom>
        </p:spPr>
      </p:pic>
      <p:sp>
        <p:nvSpPr>
          <p:cNvPr id="7" name="Rectangle 6"/>
          <p:cNvSpPr/>
          <p:nvPr/>
        </p:nvSpPr>
        <p:spPr>
          <a:xfrm>
            <a:off x="5771244" y="1627632"/>
            <a:ext cx="5734650" cy="1310640"/>
          </a:xfrm>
          <a:prstGeom prst="rect">
            <a:avLst/>
          </a:prstGeom>
          <a:solidFill>
            <a:srgbClr val="E4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71244" y="1627632"/>
            <a:ext cx="50292" cy="1310640"/>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027276" y="1719072"/>
            <a:ext cx="5277450" cy="1164336"/>
          </a:xfrm>
          <a:prstGeom prst="rect">
            <a:avLst/>
          </a:prstGeom>
          <a:noFill/>
        </p:spPr>
        <p:txBody>
          <a:bodyPr wrap="square" anchor="ctr">
            <a:spAutoFit/>
          </a:bodyPr>
          <a:lstStyle/>
          <a:p>
            <a:r>
              <a:rPr sz="2000" b="1">
                <a:solidFill>
                  <a:srgbClr val="2B4A7D"/>
                </a:solidFill>
                <a:latin typeface="Calibri"/>
              </a:rPr>
              <a:t>The claim. </a:t>
            </a:r>
            <a:r>
              <a:rPr sz="2000" b="0">
                <a:solidFill>
                  <a:srgbClr val="1C1C1A"/>
                </a:solidFill>
                <a:latin typeface="Calibri"/>
              </a:rPr>
              <a:t>One line, run every time, and today it runs again against the files reopened from disk.</a:t>
            </a:r>
          </a:p>
        </p:txBody>
      </p:sp>
      <p:graphicFrame>
        <p:nvGraphicFramePr>
          <p:cNvPr id="10" name="Table 9"/>
          <p:cNvGraphicFramePr>
            <a:graphicFrameLocks noGrp="1"/>
          </p:cNvGraphicFramePr>
          <p:nvPr/>
        </p:nvGraphicFramePr>
        <p:xfrm>
          <a:off x="5771244" y="3102864"/>
          <a:ext cx="5734650" cy="2066544"/>
        </p:xfrm>
        <a:graphic>
          <a:graphicData uri="http://schemas.openxmlformats.org/drawingml/2006/table">
            <a:tbl>
              <a:tblPr firstRow="0" bandRow="0">
                <a:tableStyleId>{2D5ABB26-0587-4C30-8999-92F81FD0307C}</a:tableStyleId>
              </a:tblPr>
              <a:tblGrid>
                <a:gridCol w="2867325"/>
                <a:gridCol w="2867325"/>
              </a:tblGrid>
              <a:tr h="387096">
                <a:tc>
                  <a:txBody>
                    <a:bodyPr/>
                    <a:lstStyle/>
                    <a:p>
                      <a:r>
                        <a:rPr sz="1600" b="1">
                          <a:solidFill>
                            <a:srgbClr val="FFFFFF"/>
                          </a:solidFill>
                          <a:latin typeface="Calibri"/>
                        </a:rPr>
                        <a:t>Option</a:t>
                      </a:r>
                    </a:p>
                  </a:txBody>
                  <a:tcPr marL="101600" marR="101600" marT="38100" marB="38100" anchor="ctr">
                    <a:solidFill>
                      <a:srgbClr val="2B4A7D"/>
                    </a:solidFill>
                  </a:tcPr>
                </a:tc>
                <a:tc>
                  <a:txBody>
                    <a:bodyPr/>
                    <a:lstStyle/>
                    <a:p>
                      <a:r>
                        <a:rPr sz="1600" b="1">
                          <a:solidFill>
                            <a:srgbClr val="FFFFFF"/>
                          </a:solidFill>
                          <a:latin typeface="Calibri"/>
                        </a:rPr>
                        <a:t>Why it does not hold</a:t>
                      </a:r>
                    </a:p>
                  </a:txBody>
                  <a:tcPr marL="101600" marR="101600" marT="38100" marB="38100" anchor="ctr">
                    <a:solidFill>
                      <a:srgbClr val="2B4A7D"/>
                    </a:solidFill>
                  </a:tcPr>
                </a:tc>
              </a:tr>
              <a:tr h="646176">
                <a:tc>
                  <a:txBody>
                    <a:bodyPr/>
                    <a:lstStyle/>
                    <a:p>
                      <a:r>
                        <a:rPr sz="1500" b="0">
                          <a:solidFill>
                            <a:srgbClr val="1C1C1A"/>
                          </a:solidFill>
                          <a:latin typeface="Calibri"/>
                        </a:rPr>
                        <a:t>a) More clean than rejects</a:t>
                      </a:r>
                    </a:p>
                  </a:txBody>
                  <a:tcPr marL="101600" marR="101600" marT="38100" marB="38100" anchor="ctr">
                    <a:solidFill>
                      <a:srgbClr val="FFFFFF"/>
                    </a:solidFill>
                  </a:tcPr>
                </a:tc>
                <a:tc>
                  <a:txBody>
                    <a:bodyPr/>
                    <a:lstStyle/>
                    <a:p>
                      <a:r>
                        <a:rPr sz="1500" b="0">
                          <a:solidFill>
                            <a:srgbClr val="1C1C1A"/>
                          </a:solidFill>
                          <a:latin typeface="Calibri"/>
                        </a:rPr>
                        <a:t>True of almost every run, and it proves nothing.</a:t>
                      </a:r>
                    </a:p>
                  </a:txBody>
                  <a:tcPr marL="101600" marR="101600" marT="38100" marB="38100" anchor="ctr">
                    <a:solidFill>
                      <a:srgbClr val="FFFFFF"/>
                    </a:solidFill>
                  </a:tcPr>
                </a:tc>
              </a:tr>
              <a:tr h="387096">
                <a:tc>
                  <a:txBody>
                    <a:bodyPr/>
                    <a:lstStyle/>
                    <a:p>
                      <a:r>
                        <a:rPr sz="1500" b="0">
                          <a:solidFill>
                            <a:srgbClr val="1C1C1A"/>
                          </a:solidFill>
                          <a:latin typeface="Calibri"/>
                        </a:rPr>
                        <a:t>c) It parses</a:t>
                      </a:r>
                    </a:p>
                  </a:txBody>
                  <a:tcPr marL="101600" marR="101600" marT="38100" marB="38100" anchor="ctr">
                    <a:solidFill>
                      <a:srgbClr val="F7F7F5"/>
                    </a:solidFill>
                  </a:tcPr>
                </a:tc>
                <a:tc>
                  <a:txBody>
                    <a:bodyPr/>
                    <a:lstStyle/>
                    <a:p>
                      <a:r>
                        <a:rPr sz="1500" b="0">
                          <a:solidFill>
                            <a:srgbClr val="1C1C1A"/>
                          </a:solidFill>
                          <a:latin typeface="Calibri"/>
                        </a:rPr>
                        <a:t>An empty file parses.</a:t>
                      </a:r>
                    </a:p>
                  </a:txBody>
                  <a:tcPr marL="101600" marR="101600" marT="38100" marB="38100" anchor="ctr">
                    <a:solidFill>
                      <a:srgbClr val="F7F7F5"/>
                    </a:solidFill>
                  </a:tcPr>
                </a:tc>
              </a:tr>
              <a:tr h="646176">
                <a:tc>
                  <a:txBody>
                    <a:bodyPr/>
                    <a:lstStyle/>
                    <a:p>
                      <a:r>
                        <a:rPr sz="1500" b="0">
                          <a:solidFill>
                            <a:srgbClr val="1C1C1A"/>
                          </a:solidFill>
                          <a:latin typeface="Calibri"/>
                        </a:rPr>
                        <a:t>d) Above zero</a:t>
                      </a:r>
                    </a:p>
                  </a:txBody>
                  <a:tcPr marL="101600" marR="101600" marT="38100" marB="38100" anchor="ctr">
                    <a:solidFill>
                      <a:srgbClr val="FFFFFF"/>
                    </a:solidFill>
                  </a:tcPr>
                </a:tc>
                <a:tc>
                  <a:txBody>
                    <a:bodyPr/>
                    <a:lstStyle/>
                    <a:p>
                      <a:r>
                        <a:rPr sz="1500" b="0">
                          <a:solidFill>
                            <a:srgbClr val="1C1C1A"/>
                          </a:solidFill>
                          <a:latin typeface="Calibri"/>
                        </a:rPr>
                        <a:t>A file with one row is above zero.</a:t>
                      </a:r>
                    </a:p>
                  </a:txBody>
                  <a:tcPr marL="101600" marR="101600" marT="38100" marB="38100" anchor="ctr">
                    <a:solidFill>
                      <a:srgbClr val="FFFFFF"/>
                    </a:solidFill>
                  </a:tcPr>
                </a:tc>
              </a:tr>
            </a:tbl>
          </a:graphicData>
        </a:graphic>
      </p:graphicFrame>
      <p:sp>
        <p:nvSpPr>
          <p:cNvPr id="11" name="TextBox 10"/>
          <p:cNvSpPr txBox="1"/>
          <p:nvPr/>
        </p:nvSpPr>
        <p:spPr>
          <a:xfrm>
            <a:off x="5771244" y="5425440"/>
            <a:ext cx="5734650" cy="910336"/>
          </a:xfrm>
          <a:prstGeom prst="rect">
            <a:avLst/>
          </a:prstGeom>
          <a:noFill/>
        </p:spPr>
        <p:txBody>
          <a:bodyPr wrap="square" anchor="t">
            <a:spAutoFit/>
          </a:bodyPr>
          <a:lstStyle/>
          <a:p>
            <a:pPr>
              <a:spcAft>
                <a:spcPts val="900"/>
              </a:spcAft>
            </a:pPr>
            <a:r>
              <a:rPr sz="2000" b="0">
                <a:solidFill>
                  <a:srgbClr val="1C1C1A"/>
                </a:solidFill>
                <a:latin typeface="Calibri"/>
              </a:rPr>
              <a:t>A record in neither file is a record nobody will ever go looking for again.</a:t>
            </a:r>
          </a:p>
        </p:txBody>
      </p:sp>
      <p:sp>
        <p:nvSpPr>
          <p:cNvPr id="12" name="Rectangle 11"/>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14" name="TextBox 13"/>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85 / 87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S51</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Crux</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30144"/>
            <a:ext cx="10820095" cy="1820672"/>
          </a:xfrm>
          <a:prstGeom prst="rect">
            <a:avLst/>
          </a:prstGeom>
          <a:noFill/>
        </p:spPr>
        <p:txBody>
          <a:bodyPr wrap="square" anchor="t">
            <a:spAutoFit/>
          </a:bodyPr>
          <a:lstStyle/>
          <a:p>
            <a:pPr>
              <a:spcAft>
                <a:spcPts val="900"/>
              </a:spcAft>
            </a:pPr>
            <a:r>
              <a:rPr sz="2000" b="0">
                <a:solidFill>
                  <a:srgbClr val="1C1C1A"/>
                </a:solidFill>
                <a:latin typeface="Calibri"/>
              </a:rPr>
              <a:t>Profiling is what you do before you have permission to change anything.</a:t>
            </a:r>
          </a:p>
          <a:p>
            <a:pPr>
              <a:spcAft>
                <a:spcPts val="900"/>
              </a:spcAft>
            </a:pPr>
            <a:r>
              <a:rPr sz="2000" b="0">
                <a:solidFill>
                  <a:srgbClr val="1C1C1A"/>
                </a:solidFill>
                <a:latin typeface="Calibri"/>
              </a:rPr>
              <a:t>Every cleaning act is a decision, and a decision nobody wrote down did not happen.</a:t>
            </a:r>
          </a:p>
          <a:p>
            <a:pPr>
              <a:spcAft>
                <a:spcPts val="900"/>
              </a:spcAft>
            </a:pPr>
            <a:r>
              <a:rPr sz="2000" b="0">
                <a:solidFill>
                  <a:srgbClr val="1C1C1A"/>
                </a:solidFill>
                <a:latin typeface="Calibri"/>
              </a:rPr>
              <a:t>An outlier is a finding to investigate before it is a row to delete, and two checks that disagree are worth more than one check that says zero.</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86 / 87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603504"/>
            <a:ext cx="786384" cy="274320"/>
          </a:xfrm>
          <a:prstGeom prst="round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S52</a:t>
            </a:r>
          </a:p>
        </p:txBody>
      </p:sp>
      <p:sp>
        <p:nvSpPr>
          <p:cNvPr id="4" name="TextBox 3"/>
          <p:cNvSpPr txBox="1"/>
          <p:nvPr/>
        </p:nvSpPr>
        <p:spPr>
          <a:xfrm>
            <a:off x="1618488" y="493776"/>
            <a:ext cx="9704527" cy="786384"/>
          </a:xfrm>
          <a:prstGeom prst="rect">
            <a:avLst/>
          </a:prstGeom>
          <a:noFill/>
        </p:spPr>
        <p:txBody>
          <a:bodyPr wrap="square" anchor="ctr">
            <a:spAutoFit/>
          </a:bodyPr>
          <a:lstStyle/>
          <a:p>
            <a:r>
              <a:rPr sz="3000" b="1">
                <a:solidFill>
                  <a:srgbClr val="1C1C1A"/>
                </a:solidFill>
                <a:latin typeface="Calibri"/>
              </a:rPr>
              <a:t>Tomorrow</a:t>
            </a:r>
          </a:p>
        </p:txBody>
      </p:sp>
      <p:sp>
        <p:nvSpPr>
          <p:cNvPr id="5" name="Rectangle 4"/>
          <p:cNvSpPr/>
          <p:nvPr/>
        </p:nvSpPr>
        <p:spPr>
          <a:xfrm>
            <a:off x="685800" y="1335024"/>
            <a:ext cx="10820095" cy="32004"/>
          </a:xfrm>
          <a:prstGeom prst="rect">
            <a:avLst/>
          </a:prstGeom>
          <a:solidFill>
            <a:srgbClr val="2B4A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85800" y="2985008"/>
            <a:ext cx="10820095" cy="1710944"/>
          </a:xfrm>
          <a:prstGeom prst="rect">
            <a:avLst/>
          </a:prstGeom>
          <a:noFill/>
        </p:spPr>
        <p:txBody>
          <a:bodyPr wrap="square" anchor="t">
            <a:spAutoFit/>
          </a:bodyPr>
          <a:lstStyle/>
          <a:p>
            <a:pPr>
              <a:spcAft>
                <a:spcPts val="900"/>
              </a:spcAft>
            </a:pPr>
            <a:r>
              <a:rPr sz="2000" b="0">
                <a:solidFill>
                  <a:srgbClr val="1C1C1A"/>
                </a:solidFill>
                <a:latin typeface="Calibri"/>
              </a:rPr>
              <a:t>You have a dataset you can defend and a whale you decided to keep.</a:t>
            </a:r>
          </a:p>
          <a:p>
            <a:pPr>
              <a:spcAft>
                <a:spcPts val="900"/>
              </a:spcAft>
            </a:pPr>
            <a:r>
              <a:rPr sz="2000" b="0">
                <a:solidFill>
                  <a:srgbClr val="1C1C1A"/>
                </a:solidFill>
                <a:latin typeface="Calibri"/>
              </a:rPr>
              <a:t>Tomorrow you compute the average order value and find out what that whale does to it. You have already seen the answer on slide D14, and tomorrow you learn what to say to the person who asked for an average.</a:t>
            </a:r>
          </a:p>
        </p:txBody>
      </p:sp>
      <p:sp>
        <p:nvSpPr>
          <p:cNvPr id="7" name="Rectangle 6"/>
          <p:cNvSpPr/>
          <p:nvPr/>
        </p:nvSpPr>
        <p:spPr>
          <a:xfrm>
            <a:off x="685800" y="6327648"/>
            <a:ext cx="10820095" cy="12801"/>
          </a:xfrm>
          <a:prstGeom prst="rect">
            <a:avLst/>
          </a:prstGeom>
          <a:solidFill>
            <a:srgbClr val="C9C9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5800" y="6391656"/>
            <a:ext cx="9722815" cy="292608"/>
          </a:xfrm>
          <a:prstGeom prst="rect">
            <a:avLst/>
          </a:prstGeom>
          <a:noFill/>
        </p:spPr>
        <p:txBody>
          <a:bodyPr wrap="square" anchor="t">
            <a:spAutoFit/>
          </a:bodyPr>
          <a:lstStyle/>
          <a:p>
            <a:r>
              <a:rPr sz="1000">
                <a:solidFill>
                  <a:srgbClr val="5F6360"/>
                </a:solidFill>
                <a:latin typeface="Calibri"/>
              </a:rPr>
              <a:t>Week 1, Day 3. Profile before you touch: load, clean and defend a real dataset</a:t>
            </a:r>
          </a:p>
        </p:txBody>
      </p:sp>
      <p:sp>
        <p:nvSpPr>
          <p:cNvPr id="9" name="TextBox 8"/>
          <p:cNvSpPr txBox="1"/>
          <p:nvPr/>
        </p:nvSpPr>
        <p:spPr>
          <a:xfrm>
            <a:off x="10408615" y="6391656"/>
            <a:ext cx="1097280" cy="292608"/>
          </a:xfrm>
          <a:prstGeom prst="rect">
            <a:avLst/>
          </a:prstGeom>
          <a:noFill/>
        </p:spPr>
        <p:txBody>
          <a:bodyPr wrap="square" anchor="t">
            <a:spAutoFit/>
          </a:bodyPr>
          <a:lstStyle/>
          <a:p>
            <a:pPr algn="r"/>
            <a:r>
              <a:rPr sz="1000">
                <a:solidFill>
                  <a:srgbClr val="5F6360"/>
                </a:solidFill>
                <a:latin typeface="Calibri"/>
              </a:rPr>
              <a:t>87 / 87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