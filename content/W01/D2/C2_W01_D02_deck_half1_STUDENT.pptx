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Package the logic, survive bad data</a:t>
            </a:r>
          </a:p>
        </p:txBody>
      </p:sp>
      <p:sp>
        <p:nvSpPr>
          <p:cNvPr id="4" name="TextBox 3"/>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The three questions this half answers: what do I call again tomorrow, what do I do when a value is wrong, and who finds out.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we are</a:t>
            </a:r>
          </a:p>
        </p:txBody>
      </p:sp>
      <p:sp>
        <p:nvSpPr>
          <p:cNvPr id="4" name="TextBox 3"/>
          <p:cNvSpPr txBox="1"/>
          <p:nvPr/>
        </p:nvSpPr>
        <p:spPr>
          <a:xfrm>
            <a:off x="777240" y="1965960"/>
            <a:ext cx="10607040" cy="1781175"/>
          </a:xfrm>
          <a:prstGeom prst="rect">
            <a:avLst/>
          </a:prstGeom>
          <a:noFill/>
        </p:spPr>
        <p:txBody>
          <a:bodyPr wrap="square">
            <a:spAutoFit/>
          </a:bodyPr>
          <a:lstStyle/>
          <a:p>
            <a:pPr>
              <a:spcAft>
                <a:spcPts val="1000"/>
              </a:spcAft>
            </a:pPr>
            <a:r>
              <a:rPr sz="2100" b="0">
                <a:solidFill>
                  <a:srgbClr val="1C1C1A"/>
                </a:solidFill>
                <a:latin typeface="Calibri"/>
              </a:rPr>
              <a:t>[inline cell] &gt; [packaged decision] &gt; [read the failure] &gt; [log the rejection] &gt; [cross the boundary]</a:t>
            </a:r>
          </a:p>
          <a:p>
            <a:pPr>
              <a:spcAft>
                <a:spcPts val="1000"/>
              </a:spcAft>
            </a:pPr>
            <a:r>
              <a:rPr sz="2100" b="0">
                <a:solidFill>
                  <a:srgbClr val="1C1C1A"/>
                </a:solidFill>
                <a:latin typeface="Calibri"/>
              </a:rPr>
              <a:t>Every order in this file is a Kalpa Retail order, and it will still be Kalpa Retail in Week 15.</a:t>
            </a:r>
          </a:p>
          <a:p>
            <a:pPr>
              <a:spcAft>
                <a:spcPts val="1000"/>
              </a:spcAft>
            </a:pPr>
            <a:r>
              <a:rPr sz="2100" b="0">
                <a:solidFill>
                  <a:srgbClr val="1C1C1A"/>
                </a:solidFill>
                <a:latin typeface="Calibri"/>
              </a:rPr>
              <a:t>Yesterday you answered a question about the orders. Today that answer becomes something you can run again on records you have not seen.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this is going</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clean_record, on three records from today's file:</a:t>
            </a:r>
          </a:p>
        </p:txBody>
      </p:sp>
      <p:sp>
        <p:nvSpPr>
          <p:cNvPr id="5" name="TextBox 4"/>
          <p:cNvSpPr txBox="1"/>
          <p:nvPr/>
        </p:nvSpPr>
        <p:spPr>
          <a:xfrm>
            <a:off x="777240" y="2646045"/>
            <a:ext cx="10607040" cy="914400"/>
          </a:xfrm>
          <a:prstGeom prst="rect">
            <a:avLst/>
          </a:prstGeom>
          <a:noFill/>
        </p:spPr>
        <p:txBody>
          <a:bodyPr wrap="square">
            <a:spAutoFit/>
          </a:bodyPr>
          <a:lstStyle/>
          <a:p>
            <a:pPr>
              <a:spcAft>
                <a:spcPts val="400"/>
              </a:spcAft>
            </a:pPr>
            <a:r>
              <a:rPr sz="1700" b="0">
                <a:solidFill>
                  <a:srgbClr val="2B4A7D"/>
                </a:solidFill>
                <a:latin typeface="Consolas"/>
              </a:rPr>
              <a:t>rejected KR4210 because: invalid literal for int() with base 10: 'twelve'</a:t>
            </a:r>
          </a:p>
          <a:p>
            <a:pPr>
              <a:spcAft>
                <a:spcPts val="400"/>
              </a:spcAft>
            </a:pPr>
            <a:r>
              <a:rPr sz="1700" b="0">
                <a:solidFill>
                  <a:srgbClr val="2B4A7D"/>
                </a:solidFill>
                <a:latin typeface="Consolas"/>
              </a:rPr>
              <a:t>rejected KR4214 because: invalid literal for int() with base 10: ''</a:t>
            </a:r>
          </a:p>
          <a:p>
            <a:pPr>
              <a:spcAft>
                <a:spcPts val="400"/>
              </a:spcAft>
            </a:pPr>
            <a:r>
              <a:rPr sz="1700" b="0">
                <a:solidFill>
                  <a:srgbClr val="2B4A7D"/>
                </a:solidFill>
                <a:latin typeface="Consolas"/>
              </a:rPr>
              <a:t>kept     KR4200 4500</a:t>
            </a:r>
          </a:p>
        </p:txBody>
      </p:sp>
      <p:sp>
        <p:nvSpPr>
          <p:cNvPr id="6" name="TextBox 5"/>
          <p:cNvSpPr txBox="1"/>
          <p:nvPr/>
        </p:nvSpPr>
        <p:spPr>
          <a:xfrm>
            <a:off x="777240" y="3697604"/>
            <a:ext cx="10607040" cy="914400"/>
          </a:xfrm>
          <a:prstGeom prst="rect">
            <a:avLst/>
          </a:prstGeom>
          <a:noFill/>
        </p:spPr>
        <p:txBody>
          <a:bodyPr wrap="square">
            <a:spAutoFit/>
          </a:bodyPr>
          <a:lstStyle/>
          <a:p>
            <a:pPr>
              <a:spcAft>
                <a:spcPts val="1000"/>
              </a:spcAft>
            </a:pPr>
            <a:r>
              <a:rPr sz="2100" b="0">
                <a:solidFill>
                  <a:srgbClr val="1C1C1A"/>
                </a:solidFill>
                <a:latin typeface="Calibri"/>
              </a:rPr>
              <a:t>One function. Three records. Three outcomes, and the rejected ones say why.</a:t>
            </a:r>
          </a:p>
          <a:p>
            <a:pPr>
              <a:spcAft>
                <a:spcPts val="1000"/>
              </a:spcAft>
            </a:pPr>
            <a:r>
              <a:rPr sz="2100" b="0">
                <a:solidFill>
                  <a:srgbClr val="1C1C1A"/>
                </a:solidFill>
                <a:latin typeface="Calibri"/>
              </a:rPr>
              <a:t>You will have written this within the hour.</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whole day in one picture</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Today has five stops and you will pass through all of them before the close.</a:t>
            </a:r>
          </a:p>
        </p:txBody>
      </p:sp>
      <p:pic>
        <p:nvPicPr>
          <p:cNvPr id="5" name="Picture 4" descr="de9589cb5e2a9668.png"/>
          <p:cNvPicPr>
            <a:picLocks noChangeAspect="1"/>
          </p:cNvPicPr>
          <p:nvPr/>
        </p:nvPicPr>
        <p:blipFill>
          <a:blip r:embed="rId2"/>
          <a:stretch>
            <a:fillRect/>
          </a:stretch>
        </p:blipFill>
        <p:spPr>
          <a:xfrm>
            <a:off x="777240" y="2646045"/>
            <a:ext cx="10607040" cy="787684"/>
          </a:xfrm>
          <a:prstGeom prst="rect">
            <a:avLst/>
          </a:prstGeom>
        </p:spPr>
      </p:pic>
      <p:sp>
        <p:nvSpPr>
          <p:cNvPr id="6" name="TextBox 5"/>
          <p:cNvSpPr txBox="1"/>
          <p:nvPr/>
        </p:nvSpPr>
        <p:spPr>
          <a:xfrm>
            <a:off x="777240" y="3570889"/>
            <a:ext cx="10607040" cy="542925"/>
          </a:xfrm>
          <a:prstGeom prst="rect">
            <a:avLst/>
          </a:prstGeom>
          <a:noFill/>
        </p:spPr>
        <p:txBody>
          <a:bodyPr wrap="square">
            <a:spAutoFit/>
          </a:bodyPr>
          <a:lstStyle/>
          <a:p>
            <a:pPr>
              <a:spcAft>
                <a:spcPts val="1000"/>
              </a:spcAft>
            </a:pPr>
            <a:r>
              <a:rPr sz="2100" b="0">
                <a:solidFill>
                  <a:srgbClr val="1C1C1A"/>
                </a:solidFill>
                <a:latin typeface="Calibri"/>
              </a:rPr>
              <a:t>Half one is the first four boxes. Half two is the last two.</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anchor</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You have written this cell three times already.</a:t>
            </a:r>
          </a:p>
        </p:txBody>
      </p:sp>
      <p:sp>
        <p:nvSpPr>
          <p:cNvPr id="5" name="TextBox 4"/>
          <p:cNvSpPr txBox="1"/>
          <p:nvPr/>
        </p:nvSpPr>
        <p:spPr>
          <a:xfrm>
            <a:off x="777240" y="2646045"/>
            <a:ext cx="10607040" cy="1162050"/>
          </a:xfrm>
          <a:prstGeom prst="rect">
            <a:avLst/>
          </a:prstGeom>
          <a:noFill/>
        </p:spPr>
        <p:txBody>
          <a:bodyPr wrap="square">
            <a:spAutoFit/>
          </a:bodyPr>
          <a:lstStyle/>
          <a:p>
            <a:pPr>
              <a:spcAft>
                <a:spcPts val="400"/>
              </a:spcAft>
            </a:pPr>
            <a:r>
              <a:rPr sz="1700" b="0">
                <a:solidFill>
                  <a:srgbClr val="2B4A7D"/>
                </a:solidFill>
                <a:latin typeface="Consolas"/>
              </a:rPr>
              <a:t>total = 0</a:t>
            </a:r>
          </a:p>
          <a:p>
            <a:pPr>
              <a:spcAft>
                <a:spcPts val="400"/>
              </a:spcAft>
            </a:pPr>
            <a:r>
              <a:rPr sz="1700" b="0">
                <a:solidFill>
                  <a:srgbClr val="2B4A7D"/>
                </a:solidFill>
                <a:latin typeface="Consolas"/>
              </a:rPr>
              <a:t>for r in records:</a:t>
            </a:r>
          </a:p>
          <a:p>
            <a:pPr>
              <a:spcAft>
                <a:spcPts val="400"/>
              </a:spcAft>
            </a:pPr>
            <a:r>
              <a:rPr sz="1700" b="0">
                <a:solidFill>
                  <a:srgbClr val="2B4A7D"/>
                </a:solidFill>
                <a:latin typeface="Consolas"/>
              </a:rPr>
              <a:t>    if r["status"] == "delivered":</a:t>
            </a:r>
          </a:p>
          <a:p>
            <a:pPr>
              <a:spcAft>
                <a:spcPts val="400"/>
              </a:spcAft>
            </a:pPr>
            <a:r>
              <a:rPr sz="1700" b="0">
                <a:solidFill>
                  <a:srgbClr val="2B4A7D"/>
                </a:solidFill>
                <a:latin typeface="Consolas"/>
              </a:rPr>
              <a:t>        total = total + int(r["amount"])</a:t>
            </a:r>
          </a:p>
        </p:txBody>
      </p:sp>
      <p:sp>
        <p:nvSpPr>
          <p:cNvPr id="6" name="TextBox 5"/>
          <p:cNvSpPr txBox="1"/>
          <p:nvPr/>
        </p:nvSpPr>
        <p:spPr>
          <a:xfrm>
            <a:off x="777240" y="3945255"/>
            <a:ext cx="10607040" cy="542925"/>
          </a:xfrm>
          <a:prstGeom prst="rect">
            <a:avLst/>
          </a:prstGeom>
          <a:noFill/>
        </p:spPr>
        <p:txBody>
          <a:bodyPr wrap="square">
            <a:spAutoFit/>
          </a:bodyPr>
          <a:lstStyle/>
          <a:p>
            <a:pPr>
              <a:spcAft>
                <a:spcPts val="1000"/>
              </a:spcAft>
            </a:pPr>
            <a:r>
              <a:rPr sz="2100" b="0">
                <a:solidFill>
                  <a:srgbClr val="1C1C1A"/>
                </a:solidFill>
                <a:latin typeface="Calibri"/>
              </a:rPr>
              <a:t>Three copies. One of them has a typo. Which one?</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problem with three copies</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A rule that lives in three cells is three rules.</a:t>
            </a:r>
          </a:p>
          <a:p>
            <a:pPr>
              <a:spcAft>
                <a:spcPts val="1000"/>
              </a:spcAft>
            </a:pPr>
            <a:r>
              <a:rPr sz="2100" b="0">
                <a:solidFill>
                  <a:srgbClr val="1C1C1A"/>
                </a:solidFill>
                <a:latin typeface="Calibri"/>
              </a:rPr>
              <a:t>When the rule changes, you have to remember where all three are. The one you forget is the one that ships.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three copies costs, counted</a:t>
            </a:r>
          </a:p>
        </p:txBody>
      </p:sp>
      <p:sp>
        <p:nvSpPr>
          <p:cNvPr id="5" name="TextBox 4"/>
          <p:cNvSpPr txBox="1"/>
          <p:nvPr/>
        </p:nvSpPr>
        <p:spPr>
          <a:xfrm>
            <a:off x="777240" y="1965960"/>
            <a:ext cx="10607040" cy="2152650"/>
          </a:xfrm>
          <a:prstGeom prst="rect">
            <a:avLst/>
          </a:prstGeom>
          <a:noFill/>
        </p:spPr>
        <p:txBody>
          <a:bodyPr wrap="square">
            <a:spAutoFit/>
          </a:bodyPr>
          <a:lstStyle/>
          <a:p>
            <a:pPr>
              <a:spcAft>
                <a:spcPts val="1000"/>
              </a:spcAft>
            </a:pPr>
            <a:r>
              <a:rPr sz="2100" b="0">
                <a:solidFill>
                  <a:srgbClr val="1C1C1A"/>
                </a:solidFill>
                <a:latin typeface="Calibri"/>
              </a:rPr>
              <a:t>Suppose the rule changes four times over a project, and each change has to be applied by hand in three places.</a:t>
            </a:r>
          </a:p>
          <a:p>
            <a:pPr>
              <a:spcAft>
                <a:spcPts val="1000"/>
              </a:spcAft>
            </a:pPr>
            <a:r>
              <a:rPr sz="2100" b="0">
                <a:solidFill>
                  <a:srgbClr val="1C1C1A"/>
                </a:solidFill>
                <a:latin typeface="Calibri"/>
              </a:rPr>
              <a:t>$$\text{edits} = \text{changes} \times \text{copies} = 4 \times 3 = 12$$</a:t>
            </a:r>
          </a:p>
          <a:p>
            <a:pPr>
              <a:spcAft>
                <a:spcPts val="1000"/>
              </a:spcAft>
            </a:pPr>
            <a:r>
              <a:rPr sz="2100" b="0">
                <a:solidFill>
                  <a:srgbClr val="1C1C1A"/>
                </a:solidFill>
                <a:latin typeface="Calibri"/>
              </a:rPr>
              <a:t>$$\text{chances to forget one} = \text{changes} \times (\text{copies} - 1) = 4 \times 2 = 8$$</a:t>
            </a:r>
          </a:p>
          <a:p>
            <a:pPr>
              <a:spcAft>
                <a:spcPts val="1000"/>
              </a:spcAft>
            </a:pPr>
            <a:r>
              <a:rPr sz="2100" b="0">
                <a:solidFill>
                  <a:srgbClr val="1C1C1A"/>
                </a:solidFill>
                <a:latin typeface="Calibri"/>
              </a:rPr>
              <a:t>With the rule in one function, the same four changes are four edits and there is nothing to forget. The arithmetic is small and it is the whole argument for the next twenty slides.</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1: THE PACKAGED DECISION</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[inline cell] &gt; </a:t>
            </a:r>
            <a:r>
              <a:rPr sz="2100" b="1">
                <a:solidFill>
                  <a:srgbClr val="FFFFFF"/>
                </a:solidFill>
                <a:latin typeface="Calibri"/>
              </a:rPr>
              <a:t>[packaged decision]</a:t>
            </a:r>
            <a:r>
              <a:rPr sz="2100" b="0">
                <a:solidFill>
                  <a:srgbClr val="FFFFFF"/>
                </a:solidFill>
                <a:latin typeface="Calibri"/>
              </a:rPr>
              <a:t> &gt; [read the failure] &gt; [log the rejection] &gt; [cross the boundary]</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Same rule, one place</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400"/>
              </a:spcAft>
            </a:pPr>
            <a:r>
              <a:rPr sz="1700" b="0">
                <a:solidFill>
                  <a:srgbClr val="2B4A7D"/>
                </a:solidFill>
                <a:latin typeface="Consolas"/>
              </a:rPr>
              <a:t>def delivered_total(records):</a:t>
            </a:r>
          </a:p>
          <a:p>
            <a:pPr>
              <a:spcAft>
                <a:spcPts val="400"/>
              </a:spcAft>
            </a:pPr>
            <a:r>
              <a:rPr sz="1700" b="0">
                <a:solidFill>
                  <a:srgbClr val="2B4A7D"/>
                </a:solidFill>
                <a:latin typeface="Consolas"/>
              </a:rPr>
              <a:t>    total = 0</a:t>
            </a:r>
          </a:p>
          <a:p>
            <a:pPr>
              <a:spcAft>
                <a:spcPts val="400"/>
              </a:spcAft>
            </a:pPr>
            <a:r>
              <a:rPr sz="1700" b="0">
                <a:solidFill>
                  <a:srgbClr val="2B4A7D"/>
                </a:solidFill>
                <a:latin typeface="Consolas"/>
              </a:rPr>
              <a:t>    for r in records:</a:t>
            </a:r>
          </a:p>
          <a:p>
            <a:pPr>
              <a:spcAft>
                <a:spcPts val="400"/>
              </a:spcAft>
            </a:pPr>
            <a:r>
              <a:rPr sz="1700" b="0">
                <a:solidFill>
                  <a:srgbClr val="2B4A7D"/>
                </a:solidFill>
                <a:latin typeface="Consolas"/>
              </a:rPr>
              <a:t>        if r["status"] == "delivered":</a:t>
            </a:r>
          </a:p>
          <a:p>
            <a:pPr>
              <a:spcAft>
                <a:spcPts val="400"/>
              </a:spcAft>
            </a:pPr>
            <a:r>
              <a:rPr sz="1700" b="0">
                <a:solidFill>
                  <a:srgbClr val="2B4A7D"/>
                </a:solidFill>
                <a:latin typeface="Consolas"/>
              </a:rPr>
              <a:t>            total = total + int(r["amount"])</a:t>
            </a:r>
          </a:p>
          <a:p>
            <a:pPr>
              <a:spcAft>
                <a:spcPts val="400"/>
              </a:spcAft>
            </a:pPr>
            <a:r>
              <a:rPr sz="1700" b="0">
                <a:solidFill>
                  <a:srgbClr val="2B4A7D"/>
                </a:solidFill>
                <a:latin typeface="Consolas"/>
              </a:rPr>
              <a:t>    return total</a:t>
            </a:r>
          </a:p>
        </p:txBody>
      </p:sp>
      <p:sp>
        <p:nvSpPr>
          <p:cNvPr id="5" name="TextBox 4"/>
          <p:cNvSpPr txBox="1"/>
          <p:nvPr/>
        </p:nvSpPr>
        <p:spPr>
          <a:xfrm>
            <a:off x="777240" y="3760470"/>
            <a:ext cx="10607040" cy="542925"/>
          </a:xfrm>
          <a:prstGeom prst="rect">
            <a:avLst/>
          </a:prstGeom>
          <a:noFill/>
        </p:spPr>
        <p:txBody>
          <a:bodyPr wrap="square">
            <a:spAutoFit/>
          </a:bodyPr>
          <a:lstStyle/>
          <a:p>
            <a:pPr>
              <a:spcAft>
                <a:spcPts val="1000"/>
              </a:spcAft>
            </a:pPr>
            <a:r>
              <a:rPr sz="2100" b="0">
                <a:solidFill>
                  <a:srgbClr val="1C1C1A"/>
                </a:solidFill>
                <a:latin typeface="Calibri"/>
              </a:rPr>
              <a:t>The rule now has a name and one home.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anatomy of a function</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Four parts, and each one has a job you can name.</a:t>
            </a:r>
          </a:p>
        </p:txBody>
      </p:sp>
      <p:pic>
        <p:nvPicPr>
          <p:cNvPr id="5" name="Picture 4" descr="0bf16e48cee81d09.png"/>
          <p:cNvPicPr>
            <a:picLocks noChangeAspect="1"/>
          </p:cNvPicPr>
          <p:nvPr/>
        </p:nvPicPr>
        <p:blipFill>
          <a:blip r:embed="rId2"/>
          <a:stretch>
            <a:fillRect/>
          </a:stretch>
        </p:blipFill>
        <p:spPr>
          <a:xfrm>
            <a:off x="777240" y="2646045"/>
            <a:ext cx="10607040" cy="1191707"/>
          </a:xfrm>
          <a:prstGeom prst="rect">
            <a:avLst/>
          </a:prstGeom>
        </p:spPr>
      </p:pic>
      <p:sp>
        <p:nvSpPr>
          <p:cNvPr id="6" name="TextBox 5"/>
          <p:cNvSpPr txBox="1"/>
          <p:nvPr/>
        </p:nvSpPr>
        <p:spPr>
          <a:xfrm>
            <a:off x="777240" y="3974912"/>
            <a:ext cx="10607040" cy="790575"/>
          </a:xfrm>
          <a:prstGeom prst="rect">
            <a:avLst/>
          </a:prstGeom>
          <a:noFill/>
        </p:spPr>
        <p:txBody>
          <a:bodyPr wrap="square">
            <a:spAutoFit/>
          </a:bodyPr>
          <a:lstStyle/>
          <a:p>
            <a:pPr>
              <a:spcAft>
                <a:spcPts val="1000"/>
              </a:spcAft>
            </a:pPr>
            <a:r>
              <a:rPr sz="2100" b="0">
                <a:solidFill>
                  <a:srgbClr val="1C1C1A"/>
                </a:solidFill>
                <a:latin typeface="Calibri"/>
              </a:rPr>
              <a:t>The parameter is the only door in. The return is the only door out. Everything else is inside and is nobody else's business.</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the name buys you</a:t>
            </a:r>
          </a:p>
        </p:txBody>
      </p:sp>
      <p:sp>
        <p:nvSpPr>
          <p:cNvPr id="4" name="TextBox 3"/>
          <p:cNvSpPr txBox="1"/>
          <p:nvPr/>
        </p:nvSpPr>
        <p:spPr>
          <a:xfrm>
            <a:off x="777240" y="1965960"/>
            <a:ext cx="10607040" cy="1285875"/>
          </a:xfrm>
          <a:prstGeom prst="rect">
            <a:avLst/>
          </a:prstGeom>
          <a:noFill/>
        </p:spPr>
        <p:txBody>
          <a:bodyPr wrap="square">
            <a:spAutoFit/>
          </a:bodyPr>
          <a:lstStyle/>
          <a:p>
            <a:pPr>
              <a:spcAft>
                <a:spcPts val="1000"/>
              </a:spcAft>
            </a:pPr>
            <a:r>
              <a:rPr sz="2100" b="0">
                <a:solidFill>
                  <a:srgbClr val="1C1C1A"/>
                </a:solidFill>
                <a:latin typeface="Calibri"/>
              </a:rPr>
              <a:t>You can say the name out loud to a colleague.</a:t>
            </a:r>
          </a:p>
          <a:p>
            <a:pPr>
              <a:spcAft>
                <a:spcPts val="1000"/>
              </a:spcAft>
            </a:pPr>
            <a:r>
              <a:rPr sz="2100" b="0">
                <a:solidFill>
                  <a:srgbClr val="1C1C1A"/>
                </a:solidFill>
                <a:latin typeface="Calibri"/>
              </a:rPr>
              <a:t>You can change the rule in one place.</a:t>
            </a:r>
          </a:p>
          <a:p>
            <a:pPr>
              <a:spcAft>
                <a:spcPts val="1000"/>
              </a:spcAft>
            </a:pPr>
            <a:r>
              <a:rPr sz="2100" b="0">
                <a:solidFill>
                  <a:srgbClr val="1C1C1A"/>
                </a:solidFill>
                <a:latin typeface="Calibri"/>
              </a:rPr>
              <a:t>You can run it on a file that arrives next week.</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parameter is the promise</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1000"/>
              </a:spcAft>
            </a:pPr>
            <a:r>
              <a:rPr sz="2100" b="0">
                <a:solidFill>
                  <a:srgbClr val="1C1C1A"/>
                </a:solidFill>
                <a:latin typeface="Calibri"/>
              </a:rPr>
              <a:t>def delivered_total(records) says: give me records, I give you a number.</a:t>
            </a:r>
          </a:p>
          <a:p>
            <a:pPr>
              <a:spcAft>
                <a:spcPts val="1000"/>
              </a:spcAft>
            </a:pPr>
            <a:r>
              <a:rPr sz="2100" b="0">
                <a:solidFill>
                  <a:srgbClr val="1C1C1A"/>
                </a:solidFill>
                <a:latin typeface="Calibri"/>
              </a:rPr>
              <a:t>The function cannot see anything you did not hand it. That is the whole of scope for today.</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Scope, drawn once</a:t>
            </a:r>
          </a:p>
        </p:txBody>
      </p:sp>
      <p:sp>
        <p:nvSpPr>
          <p:cNvPr id="5" name="TextBox 4"/>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The bench you worked on yesterday is the global bench. A call builds a small second bench, uses it, and throws it away.</a:t>
            </a:r>
          </a:p>
        </p:txBody>
      </p:sp>
      <p:pic>
        <p:nvPicPr>
          <p:cNvPr id="6" name="Picture 5" descr="18b33c0d456b2c28.png"/>
          <p:cNvPicPr>
            <a:picLocks noChangeAspect="1"/>
          </p:cNvPicPr>
          <p:nvPr/>
        </p:nvPicPr>
        <p:blipFill>
          <a:blip r:embed="rId2"/>
          <a:stretch>
            <a:fillRect/>
          </a:stretch>
        </p:blipFill>
        <p:spPr>
          <a:xfrm>
            <a:off x="2319348" y="2893695"/>
            <a:ext cx="7522823" cy="3095625"/>
          </a:xfrm>
          <a:prstGeom prst="rect">
            <a:avLst/>
          </a:prstGeom>
        </p:spPr>
      </p:pic>
      <p:sp>
        <p:nvSpPr>
          <p:cNvPr id="7" name="TextBox 6"/>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Two names spelled total can hold two different numbers at the same time. The one inside the call disappears when the call ends, and the one outside never noticed.</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Prove it to yourself in four lines</a:t>
            </a:r>
          </a:p>
        </p:txBody>
      </p:sp>
      <p:sp>
        <p:nvSpPr>
          <p:cNvPr id="5" name="TextBox 4"/>
          <p:cNvSpPr txBox="1"/>
          <p:nvPr/>
        </p:nvSpPr>
        <p:spPr>
          <a:xfrm>
            <a:off x="777240" y="1965960"/>
            <a:ext cx="10607040" cy="1905000"/>
          </a:xfrm>
          <a:prstGeom prst="rect">
            <a:avLst/>
          </a:prstGeom>
          <a:noFill/>
        </p:spPr>
        <p:txBody>
          <a:bodyPr wrap="square">
            <a:spAutoFit/>
          </a:bodyPr>
          <a:lstStyle/>
          <a:p>
            <a:pPr>
              <a:spcAft>
                <a:spcPts val="400"/>
              </a:spcAft>
            </a:pPr>
            <a:r>
              <a:rPr sz="1700" b="0">
                <a:solidFill>
                  <a:srgbClr val="2B4A7D"/>
                </a:solidFill>
                <a:latin typeface="Consolas"/>
              </a:rPr>
              <a:t>total = 99</a:t>
            </a:r>
          </a:p>
          <a:p>
            <a:pPr>
              <a:spcAft>
                <a:spcPts val="400"/>
              </a:spcAft>
            </a:pPr>
          </a:p>
          <a:p>
            <a:pPr>
              <a:spcAft>
                <a:spcPts val="400"/>
              </a:spcAft>
            </a:pPr>
            <a:r>
              <a:rPr sz="1700" b="0">
                <a:solidFill>
                  <a:srgbClr val="2B4A7D"/>
                </a:solidFill>
                <a:latin typeface="Consolas"/>
              </a:rPr>
              <a:t>def delivered_total(records):</a:t>
            </a:r>
          </a:p>
          <a:p>
            <a:pPr>
              <a:spcAft>
                <a:spcPts val="400"/>
              </a:spcAft>
            </a:pPr>
            <a:r>
              <a:rPr sz="1700" b="0">
                <a:solidFill>
                  <a:srgbClr val="2B4A7D"/>
                </a:solidFill>
                <a:latin typeface="Consolas"/>
              </a:rPr>
              <a:t>    total = 0</a:t>
            </a:r>
          </a:p>
          <a:p>
            <a:pPr>
              <a:spcAft>
                <a:spcPts val="400"/>
              </a:spcAft>
            </a:pPr>
            <a:r>
              <a:rPr sz="1700" b="0">
                <a:solidFill>
                  <a:srgbClr val="2B4A7D"/>
                </a:solidFill>
                <a:latin typeface="Consolas"/>
              </a:rPr>
              <a:t>    return total</a:t>
            </a:r>
          </a:p>
          <a:p>
            <a:pPr>
              <a:spcAft>
                <a:spcPts val="400"/>
              </a:spcAft>
            </a:pPr>
          </a:p>
          <a:p>
            <a:pPr>
              <a:spcAft>
                <a:spcPts val="400"/>
              </a:spcAft>
            </a:pPr>
            <a:r>
              <a:rPr sz="1700" b="0">
                <a:solidFill>
                  <a:srgbClr val="2B4A7D"/>
                </a:solidFill>
                <a:latin typeface="Consolas"/>
              </a:rPr>
              <a:t>print(delivered_total([]), total)</a:t>
            </a:r>
          </a:p>
        </p:txBody>
      </p:sp>
      <p:sp>
        <p:nvSpPr>
          <p:cNvPr id="6" name="TextBox 5"/>
          <p:cNvSpPr txBox="1"/>
          <p:nvPr/>
        </p:nvSpPr>
        <p:spPr>
          <a:xfrm>
            <a:off x="777240" y="4008119"/>
            <a:ext cx="10607040" cy="502920"/>
          </a:xfrm>
          <a:prstGeom prst="rect">
            <a:avLst/>
          </a:prstGeom>
          <a:noFill/>
        </p:spPr>
        <p:txBody>
          <a:bodyPr wrap="square">
            <a:spAutoFit/>
          </a:bodyPr>
          <a:lstStyle/>
          <a:p>
            <a:pPr>
              <a:spcAft>
                <a:spcPts val="400"/>
              </a:spcAft>
            </a:pPr>
            <a:r>
              <a:rPr sz="1700" b="0">
                <a:solidFill>
                  <a:srgbClr val="2B4A7D"/>
                </a:solidFill>
                <a:latin typeface="Consolas"/>
              </a:rPr>
              <a:t>0 99</a:t>
            </a:r>
          </a:p>
        </p:txBody>
      </p:sp>
      <p:sp>
        <p:nvSpPr>
          <p:cNvPr id="7" name="TextBox 6"/>
          <p:cNvSpPr txBox="1"/>
          <p:nvPr/>
        </p:nvSpPr>
        <p:spPr>
          <a:xfrm>
            <a:off x="777240" y="4648200"/>
            <a:ext cx="10607040" cy="1038225"/>
          </a:xfrm>
          <a:prstGeom prst="rect">
            <a:avLst/>
          </a:prstGeom>
          <a:noFill/>
        </p:spPr>
        <p:txBody>
          <a:bodyPr wrap="square">
            <a:spAutoFit/>
          </a:bodyPr>
          <a:lstStyle/>
          <a:p>
            <a:pPr>
              <a:spcAft>
                <a:spcPts val="1000"/>
              </a:spcAft>
            </a:pPr>
            <a:r>
              <a:rPr sz="2100" b="0">
                <a:solidFill>
                  <a:srgbClr val="1C1C1A"/>
                </a:solidFill>
                <a:latin typeface="Calibri"/>
              </a:rPr>
              <a:t>The function set total to zero and the outer total is still 99. If you expected 0 0, that expectation is the single most common source of confusion in this room, and now you have watched it not happen.</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Live demo</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1000"/>
              </a:spcAft>
            </a:pPr>
            <a:r>
              <a:rPr sz="2100" b="0">
                <a:solidFill>
                  <a:srgbClr val="1C1C1A"/>
                </a:solidFill>
                <a:latin typeface="Calibri"/>
              </a:rPr>
              <a:t>Carve delivered_total out of the inline cell together.</a:t>
            </a:r>
          </a:p>
          <a:p>
            <a:pPr>
              <a:spcAft>
                <a:spcPts val="1000"/>
              </a:spcAft>
            </a:pPr>
            <a:r>
              <a:rPr sz="2100" b="0">
                <a:solidFill>
                  <a:srgbClr val="1C1C1A"/>
                </a:solidFill>
                <a:latin typeface="Calibri"/>
              </a:rPr>
              <a:t>Then break it: rename the variable outside the function and watch the function keep working.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return against print</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400"/>
              </a:spcAft>
            </a:pPr>
            <a:r>
              <a:rPr sz="1700" b="0">
                <a:solidFill>
                  <a:srgbClr val="2B4A7D"/>
                </a:solidFill>
                <a:latin typeface="Consolas"/>
              </a:rPr>
              <a:t>def fix(record):</a:t>
            </a:r>
          </a:p>
          <a:p>
            <a:pPr>
              <a:spcAft>
                <a:spcPts val="400"/>
              </a:spcAft>
            </a:pPr>
            <a:r>
              <a:rPr sz="1700" b="0">
                <a:solidFill>
                  <a:srgbClr val="2B4A7D"/>
                </a:solidFill>
                <a:latin typeface="Consolas"/>
              </a:rPr>
              <a:t>    print(record["order_id"])</a:t>
            </a:r>
          </a:p>
          <a:p>
            <a:pPr>
              <a:spcAft>
                <a:spcPts val="400"/>
              </a:spcAft>
            </a:pPr>
          </a:p>
          <a:p>
            <a:pPr>
              <a:spcAft>
                <a:spcPts val="400"/>
              </a:spcAft>
            </a:pPr>
            <a:r>
              <a:rPr sz="1700" b="0">
                <a:solidFill>
                  <a:srgbClr val="2B4A7D"/>
                </a:solidFill>
                <a:latin typeface="Consolas"/>
              </a:rPr>
              <a:t>result = fix(rec)</a:t>
            </a:r>
          </a:p>
        </p:txBody>
      </p:sp>
      <p:sp>
        <p:nvSpPr>
          <p:cNvPr id="5" name="TextBox 4"/>
          <p:cNvSpPr txBox="1"/>
          <p:nvPr/>
        </p:nvSpPr>
        <p:spPr>
          <a:xfrm>
            <a:off x="777240" y="3265169"/>
            <a:ext cx="10607040" cy="542925"/>
          </a:xfrm>
          <a:prstGeom prst="rect">
            <a:avLst/>
          </a:prstGeom>
          <a:noFill/>
        </p:spPr>
        <p:txBody>
          <a:bodyPr wrap="square">
            <a:spAutoFit/>
          </a:bodyPr>
          <a:lstStyle/>
          <a:p>
            <a:pPr>
              <a:spcAft>
                <a:spcPts val="1000"/>
              </a:spcAft>
            </a:pPr>
            <a:r>
              <a:rPr sz="2100" b="0">
                <a:solidFill>
                  <a:srgbClr val="1C1C1A"/>
                </a:solidFill>
                <a:latin typeface="Calibri"/>
              </a:rPr>
              <a:t>What is inside result now?</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break</a:t>
            </a:r>
          </a:p>
        </p:txBody>
      </p:sp>
      <p:sp>
        <p:nvSpPr>
          <p:cNvPr id="4" name="TextBox 3"/>
          <p:cNvSpPr txBox="1"/>
          <p:nvPr/>
        </p:nvSpPr>
        <p:spPr>
          <a:xfrm>
            <a:off x="777240" y="1965960"/>
            <a:ext cx="10607040" cy="502920"/>
          </a:xfrm>
          <a:prstGeom prst="rect">
            <a:avLst/>
          </a:prstGeom>
          <a:noFill/>
        </p:spPr>
        <p:txBody>
          <a:bodyPr wrap="square">
            <a:spAutoFit/>
          </a:bodyPr>
          <a:lstStyle/>
          <a:p>
            <a:pPr>
              <a:spcAft>
                <a:spcPts val="400"/>
              </a:spcAft>
            </a:pPr>
            <a:r>
              <a:rPr sz="1700" b="0">
                <a:solidFill>
                  <a:srgbClr val="2B4A7D"/>
                </a:solidFill>
                <a:latin typeface="Consolas"/>
              </a:rPr>
              <a:t>TypeError: 'NoneType' object is not subscriptable</a:t>
            </a:r>
          </a:p>
        </p:txBody>
      </p:sp>
      <p:sp>
        <p:nvSpPr>
          <p:cNvPr id="5" name="TextBox 4"/>
          <p:cNvSpPr txBox="1"/>
          <p:nvPr/>
        </p:nvSpPr>
        <p:spPr>
          <a:xfrm>
            <a:off x="777240" y="2606040"/>
            <a:ext cx="10607040" cy="790575"/>
          </a:xfrm>
          <a:prstGeom prst="rect">
            <a:avLst/>
          </a:prstGeom>
          <a:noFill/>
        </p:spPr>
        <p:txBody>
          <a:bodyPr wrap="square">
            <a:spAutoFit/>
          </a:bodyPr>
          <a:lstStyle/>
          <a:p>
            <a:pPr>
              <a:spcAft>
                <a:spcPts val="1000"/>
              </a:spcAft>
            </a:pPr>
            <a:r>
              <a:rPr sz="2100" b="0">
                <a:solidFill>
                  <a:srgbClr val="1C1C1A"/>
                </a:solidFill>
                <a:latin typeface="Calibri"/>
              </a:rPr>
              <a:t>print shows a human. return hands a value back to the code. A function that only prints returns None, and None cannot be indexed.</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same function, both ways, side by side</a:t>
            </a:r>
          </a:p>
        </p:txBody>
      </p:sp>
      <p:sp>
        <p:nvSpPr>
          <p:cNvPr id="5" name="TextBox 4"/>
          <p:cNvSpPr txBox="1"/>
          <p:nvPr/>
        </p:nvSpPr>
        <p:spPr>
          <a:xfrm>
            <a:off x="777240" y="1965960"/>
            <a:ext cx="10607040" cy="2400300"/>
          </a:xfrm>
          <a:prstGeom prst="rect">
            <a:avLst/>
          </a:prstGeom>
          <a:noFill/>
        </p:spPr>
        <p:txBody>
          <a:bodyPr wrap="square">
            <a:spAutoFit/>
          </a:bodyPr>
          <a:lstStyle/>
          <a:p>
            <a:pPr>
              <a:spcAft>
                <a:spcPts val="400"/>
              </a:spcAft>
            </a:pPr>
            <a:r>
              <a:rPr sz="1700" b="0">
                <a:solidFill>
                  <a:srgbClr val="2B4A7D"/>
                </a:solidFill>
                <a:latin typeface="Consolas"/>
              </a:rPr>
              <a:t>def with_print(record):</a:t>
            </a:r>
          </a:p>
          <a:p>
            <a:pPr>
              <a:spcAft>
                <a:spcPts val="400"/>
              </a:spcAft>
            </a:pPr>
            <a:r>
              <a:rPr sz="1700" b="0">
                <a:solidFill>
                  <a:srgbClr val="2B4A7D"/>
                </a:solidFill>
                <a:latin typeface="Consolas"/>
              </a:rPr>
              <a:t>    print(int(record["amount"]))</a:t>
            </a:r>
          </a:p>
          <a:p>
            <a:pPr>
              <a:spcAft>
                <a:spcPts val="400"/>
              </a:spcAft>
            </a:pPr>
          </a:p>
          <a:p>
            <a:pPr>
              <a:spcAft>
                <a:spcPts val="400"/>
              </a:spcAft>
            </a:pPr>
            <a:r>
              <a:rPr sz="1700" b="0">
                <a:solidFill>
                  <a:srgbClr val="2B4A7D"/>
                </a:solidFill>
                <a:latin typeface="Consolas"/>
              </a:rPr>
              <a:t>def with_return(record):</a:t>
            </a:r>
          </a:p>
          <a:p>
            <a:pPr>
              <a:spcAft>
                <a:spcPts val="400"/>
              </a:spcAft>
            </a:pPr>
            <a:r>
              <a:rPr sz="1700" b="0">
                <a:solidFill>
                  <a:srgbClr val="2B4A7D"/>
                </a:solidFill>
                <a:latin typeface="Consolas"/>
              </a:rPr>
              <a:t>    return int(record["amount"])</a:t>
            </a:r>
          </a:p>
          <a:p>
            <a:pPr>
              <a:spcAft>
                <a:spcPts val="400"/>
              </a:spcAft>
            </a:pPr>
          </a:p>
          <a:p>
            <a:pPr>
              <a:spcAft>
                <a:spcPts val="400"/>
              </a:spcAft>
            </a:pPr>
            <a:r>
              <a:rPr sz="1700" b="0">
                <a:solidFill>
                  <a:srgbClr val="2B4A7D"/>
                </a:solidFill>
                <a:latin typeface="Consolas"/>
              </a:rPr>
              <a:t>a = with_print(orders[0])</a:t>
            </a:r>
          </a:p>
          <a:p>
            <a:pPr>
              <a:spcAft>
                <a:spcPts val="400"/>
              </a:spcAft>
            </a:pPr>
            <a:r>
              <a:rPr sz="1700" b="0">
                <a:solidFill>
                  <a:srgbClr val="2B4A7D"/>
                </a:solidFill>
                <a:latin typeface="Consolas"/>
              </a:rPr>
              <a:t>b = with_return(orders[0])</a:t>
            </a:r>
          </a:p>
          <a:p>
            <a:pPr>
              <a:spcAft>
                <a:spcPts val="400"/>
              </a:spcAft>
            </a:pPr>
            <a:r>
              <a:rPr sz="1700" b="0">
                <a:solidFill>
                  <a:srgbClr val="2B4A7D"/>
                </a:solidFill>
                <a:latin typeface="Consolas"/>
              </a:rPr>
              <a:t>print("a is", a, "and b is", b)</a:t>
            </a:r>
          </a:p>
        </p:txBody>
      </p:sp>
      <p:sp>
        <p:nvSpPr>
          <p:cNvPr id="6" name="TextBox 5"/>
          <p:cNvSpPr txBox="1"/>
          <p:nvPr/>
        </p:nvSpPr>
        <p:spPr>
          <a:xfrm>
            <a:off x="777240" y="4503420"/>
            <a:ext cx="10607040" cy="666750"/>
          </a:xfrm>
          <a:prstGeom prst="rect">
            <a:avLst/>
          </a:prstGeom>
          <a:noFill/>
        </p:spPr>
        <p:txBody>
          <a:bodyPr wrap="square">
            <a:spAutoFit/>
          </a:bodyPr>
          <a:lstStyle/>
          <a:p>
            <a:pPr>
              <a:spcAft>
                <a:spcPts val="400"/>
              </a:spcAft>
            </a:pPr>
            <a:r>
              <a:rPr sz="1700" b="0">
                <a:solidFill>
                  <a:srgbClr val="2B4A7D"/>
                </a:solidFill>
                <a:latin typeface="Consolas"/>
              </a:rPr>
              <a:t>4500</a:t>
            </a:r>
          </a:p>
          <a:p>
            <a:pPr>
              <a:spcAft>
                <a:spcPts val="400"/>
              </a:spcAft>
            </a:pPr>
            <a:r>
              <a:rPr sz="1700" b="0">
                <a:solidFill>
                  <a:srgbClr val="2B4A7D"/>
                </a:solidFill>
                <a:latin typeface="Consolas"/>
              </a:rPr>
              <a:t>a is None and b is 4500</a:t>
            </a:r>
          </a:p>
        </p:txBody>
      </p:sp>
      <p:sp>
        <p:nvSpPr>
          <p:cNvPr id="7" name="TextBox 6"/>
          <p:cNvSpPr txBox="1"/>
          <p:nvPr/>
        </p:nvSpPr>
        <p:spPr>
          <a:xfrm>
            <a:off x="777240" y="5307330"/>
            <a:ext cx="10607040" cy="542925"/>
          </a:xfrm>
          <a:prstGeom prst="rect">
            <a:avLst/>
          </a:prstGeom>
          <a:noFill/>
        </p:spPr>
        <p:txBody>
          <a:bodyPr wrap="square">
            <a:spAutoFit/>
          </a:bodyPr>
          <a:lstStyle/>
          <a:p>
            <a:pPr>
              <a:spcAft>
                <a:spcPts val="1000"/>
              </a:spcAft>
            </a:pPr>
            <a:r>
              <a:rPr sz="2100" b="0">
                <a:solidFill>
                  <a:srgbClr val="1C1C1A"/>
                </a:solidFill>
                <a:latin typeface="Calibri"/>
              </a:rPr>
              <a:t>Both put 4500 in front of you. Only one of them put it anywhere your next line can reach.</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rule</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1000"/>
              </a:spcAft>
            </a:pPr>
            <a:r>
              <a:rPr sz="2100" b="0">
                <a:solidFill>
                  <a:srgbClr val="1C1C1A"/>
                </a:solidFill>
                <a:latin typeface="Calibri"/>
              </a:rPr>
              <a:t>Print is for you. Return is for the next line of code.</a:t>
            </a:r>
          </a:p>
          <a:p>
            <a:pPr>
              <a:spcAft>
                <a:spcPts val="1000"/>
              </a:spcAft>
            </a:pPr>
            <a:r>
              <a:rPr sz="2100" b="0">
                <a:solidFill>
                  <a:srgbClr val="1C1C1A"/>
                </a:solidFill>
                <a:latin typeface="Calibri"/>
              </a:rPr>
              <a:t>If the caller needs the answer, the function returns it.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compact loop, once, as notation</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A list comprehension is the same loop written on one line. It is notation, not a new idea.</a:t>
            </a:r>
          </a:p>
        </p:txBody>
      </p:sp>
      <p:sp>
        <p:nvSpPr>
          <p:cNvPr id="6" name="TextBox 5"/>
          <p:cNvSpPr txBox="1"/>
          <p:nvPr/>
        </p:nvSpPr>
        <p:spPr>
          <a:xfrm>
            <a:off x="777240" y="2646045"/>
            <a:ext cx="10607040" cy="1409700"/>
          </a:xfrm>
          <a:prstGeom prst="rect">
            <a:avLst/>
          </a:prstGeom>
          <a:noFill/>
        </p:spPr>
        <p:txBody>
          <a:bodyPr wrap="square">
            <a:spAutoFit/>
          </a:bodyPr>
          <a:lstStyle/>
          <a:p>
            <a:pPr>
              <a:spcAft>
                <a:spcPts val="400"/>
              </a:spcAft>
            </a:pPr>
            <a:r>
              <a:rPr sz="1700" b="0">
                <a:solidFill>
                  <a:srgbClr val="2B4A7D"/>
                </a:solidFill>
                <a:latin typeface="Consolas"/>
              </a:rPr>
              <a:t>amounts = []</a:t>
            </a:r>
          </a:p>
          <a:p>
            <a:pPr>
              <a:spcAft>
                <a:spcPts val="400"/>
              </a:spcAft>
            </a:pPr>
            <a:r>
              <a:rPr sz="1700" b="0">
                <a:solidFill>
                  <a:srgbClr val="2B4A7D"/>
                </a:solidFill>
                <a:latin typeface="Consolas"/>
              </a:rPr>
              <a:t>for r in orders:</a:t>
            </a:r>
          </a:p>
          <a:p>
            <a:pPr>
              <a:spcAft>
                <a:spcPts val="400"/>
              </a:spcAft>
            </a:pPr>
            <a:r>
              <a:rPr sz="1700" b="0">
                <a:solidFill>
                  <a:srgbClr val="2B4A7D"/>
                </a:solidFill>
                <a:latin typeface="Consolas"/>
              </a:rPr>
              <a:t>    amounts.append(r["amount"])</a:t>
            </a:r>
          </a:p>
          <a:p>
            <a:pPr>
              <a:spcAft>
                <a:spcPts val="400"/>
              </a:spcAft>
            </a:pPr>
          </a:p>
          <a:p>
            <a:pPr>
              <a:spcAft>
                <a:spcPts val="400"/>
              </a:spcAft>
            </a:pPr>
            <a:r>
              <a:rPr sz="1700" b="0">
                <a:solidFill>
                  <a:srgbClr val="2B4A7D"/>
                </a:solidFill>
                <a:latin typeface="Consolas"/>
              </a:rPr>
              <a:t>amounts = [r["amount"] for r in orders]</a:t>
            </a:r>
          </a:p>
        </p:txBody>
      </p:sp>
      <p:sp>
        <p:nvSpPr>
          <p:cNvPr id="7" name="TextBox 6"/>
          <p:cNvSpPr txBox="1"/>
          <p:nvPr/>
        </p:nvSpPr>
        <p:spPr>
          <a:xfrm>
            <a:off x="777240" y="4192904"/>
            <a:ext cx="10607040" cy="1162050"/>
          </a:xfrm>
          <a:prstGeom prst="rect">
            <a:avLst/>
          </a:prstGeom>
          <a:noFill/>
        </p:spPr>
        <p:txBody>
          <a:bodyPr wrap="square">
            <a:spAutoFit/>
          </a:bodyPr>
          <a:lstStyle/>
          <a:p>
            <a:pPr>
              <a:spcAft>
                <a:spcPts val="1000"/>
              </a:spcAft>
            </a:pPr>
            <a:r>
              <a:rPr sz="2100" b="0">
                <a:solidFill>
                  <a:srgbClr val="1C1C1A"/>
                </a:solidFill>
                <a:latin typeface="Calibri"/>
              </a:rPr>
              <a:t>Both build the same list. Read the second one right to left: for every r in orders, take r["amount"].</a:t>
            </a:r>
          </a:p>
          <a:p>
            <a:pPr>
              <a:spcAft>
                <a:spcPts val="1000"/>
              </a:spcAft>
            </a:pPr>
            <a:r>
              <a:rPr sz="2100" b="0">
                <a:solidFill>
                  <a:srgbClr val="1C1C1A"/>
                </a:solidFill>
                <a:latin typeface="Calibri"/>
              </a:rPr>
              <a:t>You will meet it in other people's code today. You are not required to write one.</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1</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Name the rule with def.</a:t>
            </a:r>
          </a:p>
          <a:p>
            <a:pPr>
              <a:spcAft>
                <a:spcPts val="1000"/>
              </a:spcAft>
            </a:pPr>
            <a:r>
              <a:rPr sz="2100" b="0">
                <a:solidFill>
                  <a:srgbClr val="1C1C1A"/>
                </a:solidFill>
                <a:latin typeface="Calibri"/>
              </a:rPr>
              <a:t>2. Take what you need as parameters.</a:t>
            </a:r>
          </a:p>
          <a:p>
            <a:pPr>
              <a:spcAft>
                <a:spcPts val="1000"/>
              </a:spcAft>
            </a:pPr>
            <a:r>
              <a:rPr sz="2100" b="0">
                <a:solidFill>
                  <a:srgbClr val="1C1C1A"/>
                </a:solidFill>
                <a:latin typeface="Calibri"/>
              </a:rPr>
              <a:t>3. Hand the answer back with return.</a:t>
            </a:r>
          </a:p>
          <a:p>
            <a:pPr>
              <a:spcAft>
                <a:spcPts val="1000"/>
              </a:spcAft>
            </a:pPr>
            <a:r>
              <a:rPr sz="2100" b="0">
                <a:solidFill>
                  <a:srgbClr val="1C1C1A"/>
                </a:solidFill>
                <a:latin typeface="Calibri"/>
              </a:rPr>
              <a:t>4. Use print only to show a human.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2: READ THE FAILURE</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[inline cell] &gt; [packaged decision] &gt; </a:t>
            </a:r>
            <a:r>
              <a:rPr sz="2100" b="1">
                <a:solidFill>
                  <a:srgbClr val="FFFFFF"/>
                </a:solidFill>
                <a:latin typeface="Calibri"/>
              </a:rPr>
              <a:t>[read the failure]</a:t>
            </a:r>
            <a:r>
              <a:rPr sz="2100" b="0">
                <a:solidFill>
                  <a:srgbClr val="FFFFFF"/>
                </a:solidFill>
                <a:latin typeface="Calibri"/>
              </a:rPr>
              <a:t> &gt; [log the rejection] &gt; [cross the boundary]</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Yesterday you saw three of these</a:t>
            </a:r>
          </a:p>
        </p:txBody>
      </p:sp>
      <p:sp>
        <p:nvSpPr>
          <p:cNvPr id="4" name="TextBox 3"/>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A traceback is not the computer being angry. It is the computer telling you where it stopped and what it was holding.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Read it bottom-up</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400"/>
              </a:spcAft>
            </a:pPr>
            <a:r>
              <a:rPr sz="1700" b="0">
                <a:solidFill>
                  <a:srgbClr val="2B4A7D"/>
                </a:solidFill>
                <a:latin typeface="Consolas"/>
              </a:rPr>
              <a:t>Traceback (most recent call last):</a:t>
            </a:r>
          </a:p>
          <a:p>
            <a:pPr>
              <a:spcAft>
                <a:spcPts val="400"/>
              </a:spcAft>
            </a:pPr>
            <a:r>
              <a:rPr sz="1700" b="0">
                <a:solidFill>
                  <a:srgbClr val="2B4A7D"/>
                </a:solidFill>
                <a:latin typeface="Consolas"/>
              </a:rPr>
              <a:t>  File "clean.py", line 12, in &lt;module&gt;</a:t>
            </a:r>
          </a:p>
          <a:p>
            <a:pPr>
              <a:spcAft>
                <a:spcPts val="400"/>
              </a:spcAft>
            </a:pPr>
            <a:r>
              <a:rPr sz="1700" b="0">
                <a:solidFill>
                  <a:srgbClr val="2B4A7D"/>
                </a:solidFill>
                <a:latin typeface="Consolas"/>
              </a:rPr>
              <a:t>    total = total + int(record["amount"])</a:t>
            </a:r>
          </a:p>
          <a:p>
            <a:pPr>
              <a:spcAft>
                <a:spcPts val="400"/>
              </a:spcAft>
            </a:pPr>
            <a:r>
              <a:rPr sz="1700" b="0">
                <a:solidFill>
                  <a:srgbClr val="2B4A7D"/>
                </a:solidFill>
                <a:latin typeface="Consolas"/>
              </a:rPr>
              <a:t>                    ^^^^^^^^^^^^^^^^^^^^</a:t>
            </a:r>
          </a:p>
          <a:p>
            <a:pPr>
              <a:spcAft>
                <a:spcPts val="400"/>
              </a:spcAft>
            </a:pPr>
            <a:r>
              <a:rPr sz="1700" b="0">
                <a:solidFill>
                  <a:srgbClr val="2B4A7D"/>
                </a:solidFill>
                <a:latin typeface="Consolas"/>
              </a:rPr>
              <a:t>ValueError: invalid literal for int() with base 10: 'twelve'</a:t>
            </a:r>
          </a:p>
        </p:txBody>
      </p:sp>
      <p:sp>
        <p:nvSpPr>
          <p:cNvPr id="5" name="TextBox 4"/>
          <p:cNvSpPr txBox="1"/>
          <p:nvPr/>
        </p:nvSpPr>
        <p:spPr>
          <a:xfrm>
            <a:off x="777240" y="3512820"/>
            <a:ext cx="10607040" cy="542925"/>
          </a:xfrm>
          <a:prstGeom prst="rect">
            <a:avLst/>
          </a:prstGeom>
          <a:noFill/>
        </p:spPr>
        <p:txBody>
          <a:bodyPr wrap="square">
            <a:spAutoFit/>
          </a:bodyPr>
          <a:lstStyle/>
          <a:p>
            <a:pPr>
              <a:spcAft>
                <a:spcPts val="1000"/>
              </a:spcAft>
            </a:pPr>
            <a:r>
              <a:rPr sz="2100" b="0">
                <a:solidFill>
                  <a:srgbClr val="1C1C1A"/>
                </a:solidFill>
                <a:latin typeface="Calibri"/>
              </a:rPr>
              <a:t>Last line: what went wrong. Line above it: where. Everything else: how you got there.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Every part of a traceback, labelled</a:t>
            </a:r>
          </a:p>
        </p:txBody>
      </p:sp>
      <p:pic>
        <p:nvPicPr>
          <p:cNvPr id="5" name="Picture 4" descr="e2904787d5fed662.png"/>
          <p:cNvPicPr>
            <a:picLocks noChangeAspect="1"/>
          </p:cNvPicPr>
          <p:nvPr/>
        </p:nvPicPr>
        <p:blipFill>
          <a:blip r:embed="rId2"/>
          <a:stretch>
            <a:fillRect/>
          </a:stretch>
        </p:blipFill>
        <p:spPr>
          <a:xfrm>
            <a:off x="5405305" y="1965960"/>
            <a:ext cx="1350909" cy="4023360"/>
          </a:xfrm>
          <a:prstGeom prst="rect">
            <a:avLst/>
          </a:prstGeom>
        </p:spPr>
      </p:pic>
      <p:sp>
        <p:nvSpPr>
          <p:cNvPr id="6" name="TextBox 5"/>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Read it from the bottom. The value at the end is the part people skip, and it is the part that names the record.</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three questions</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What is the exception type?</a:t>
            </a:r>
          </a:p>
          <a:p>
            <a:pPr>
              <a:spcAft>
                <a:spcPts val="1000"/>
              </a:spcAft>
            </a:pPr>
            <a:r>
              <a:rPr sz="2100" b="0">
                <a:solidFill>
                  <a:srgbClr val="1C1C1A"/>
                </a:solidFill>
                <a:latin typeface="Calibri"/>
              </a:rPr>
              <a:t>2. Which line is mine?</a:t>
            </a:r>
          </a:p>
          <a:p>
            <a:pPr>
              <a:spcAft>
                <a:spcPts val="1000"/>
              </a:spcAft>
            </a:pPr>
            <a:r>
              <a:rPr sz="2100" b="0">
                <a:solidFill>
                  <a:srgbClr val="1C1C1A"/>
                </a:solidFill>
                <a:latin typeface="Calibri"/>
              </a:rPr>
              <a:t>3. What value was it holding?</a:t>
            </a:r>
          </a:p>
          <a:p>
            <a:pPr>
              <a:spcAft>
                <a:spcPts val="1000"/>
              </a:spcAft>
            </a:pPr>
            <a:r>
              <a:rPr sz="2100" b="0">
                <a:solidFill>
                  <a:srgbClr val="1C1C1A"/>
                </a:solidFill>
                <a:latin typeface="Calibri"/>
              </a:rPr>
              <a:t>The third question is the one people skip.</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Why the stack reads bottom-up</a:t>
            </a:r>
          </a:p>
        </p:txBody>
      </p:sp>
      <p:sp>
        <p:nvSpPr>
          <p:cNvPr id="5" name="TextBox 4"/>
          <p:cNvSpPr txBox="1"/>
          <p:nvPr/>
        </p:nvSpPr>
        <p:spPr>
          <a:xfrm>
            <a:off x="777240" y="1965960"/>
            <a:ext cx="10607040" cy="1038225"/>
          </a:xfrm>
          <a:prstGeom prst="rect">
            <a:avLst/>
          </a:prstGeom>
          <a:noFill/>
        </p:spPr>
        <p:txBody>
          <a:bodyPr wrap="square">
            <a:spAutoFit/>
          </a:bodyPr>
          <a:lstStyle/>
          <a:p>
            <a:pPr>
              <a:spcAft>
                <a:spcPts val="1000"/>
              </a:spcAft>
            </a:pPr>
            <a:r>
              <a:rPr sz="2100" b="0">
                <a:solidFill>
                  <a:srgbClr val="1C1C1A"/>
                </a:solidFill>
                <a:latin typeface="Calibri"/>
              </a:rPr>
              <a:t>When one function calls another, each call is pushed onto a stack. The traceback prints the stack from the outside in, so the last frame printed is the innermost call, which is where the failure actually happened.</a:t>
            </a:r>
          </a:p>
        </p:txBody>
      </p:sp>
      <p:pic>
        <p:nvPicPr>
          <p:cNvPr id="6" name="Picture 5" descr="511bca4d40676dd3.png"/>
          <p:cNvPicPr>
            <a:picLocks noChangeAspect="1"/>
          </p:cNvPicPr>
          <p:nvPr/>
        </p:nvPicPr>
        <p:blipFill>
          <a:blip r:embed="rId2"/>
          <a:stretch>
            <a:fillRect/>
          </a:stretch>
        </p:blipFill>
        <p:spPr>
          <a:xfrm>
            <a:off x="5297850" y="3141345"/>
            <a:ext cx="1565818" cy="2847974"/>
          </a:xfrm>
          <a:prstGeom prst="rect">
            <a:avLst/>
          </a:prstGeom>
        </p:spPr>
      </p:pic>
      <p:sp>
        <p:nvSpPr>
          <p:cNvPr id="7" name="TextBox 6"/>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In a long traceback, the deepest frame is almost always library code you did not write. Scan upward until you reach the first line that lives in your own file, and start there.</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Catching it</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400"/>
              </a:spcAft>
            </a:pPr>
            <a:r>
              <a:rPr sz="1700" b="0">
                <a:solidFill>
                  <a:srgbClr val="2B4A7D"/>
                </a:solidFill>
                <a:latin typeface="Consolas"/>
              </a:rPr>
              <a:t>try:</a:t>
            </a:r>
          </a:p>
          <a:p>
            <a:pPr>
              <a:spcAft>
                <a:spcPts val="400"/>
              </a:spcAft>
            </a:pPr>
            <a:r>
              <a:rPr sz="1700" b="0">
                <a:solidFill>
                  <a:srgbClr val="2B4A7D"/>
                </a:solidFill>
                <a:latin typeface="Consolas"/>
              </a:rPr>
              <a:t>    value = int(record["amount"])</a:t>
            </a:r>
          </a:p>
          <a:p>
            <a:pPr>
              <a:spcAft>
                <a:spcPts val="400"/>
              </a:spcAft>
            </a:pPr>
            <a:r>
              <a:rPr sz="1700" b="0">
                <a:solidFill>
                  <a:srgbClr val="2B4A7D"/>
                </a:solidFill>
                <a:latin typeface="Consolas"/>
              </a:rPr>
              <a:t>except ValueError:</a:t>
            </a:r>
          </a:p>
          <a:p>
            <a:pPr>
              <a:spcAft>
                <a:spcPts val="400"/>
              </a:spcAft>
            </a:pPr>
            <a:r>
              <a:rPr sz="1700" b="0">
                <a:solidFill>
                  <a:srgbClr val="2B4A7D"/>
                </a:solidFill>
                <a:latin typeface="Consolas"/>
              </a:rPr>
              <a:t>    ...</a:t>
            </a:r>
          </a:p>
        </p:txBody>
      </p:sp>
      <p:sp>
        <p:nvSpPr>
          <p:cNvPr id="5" name="TextBox 4"/>
          <p:cNvSpPr txBox="1"/>
          <p:nvPr/>
        </p:nvSpPr>
        <p:spPr>
          <a:xfrm>
            <a:off x="777240" y="3265169"/>
            <a:ext cx="10607040" cy="790575"/>
          </a:xfrm>
          <a:prstGeom prst="rect">
            <a:avLst/>
          </a:prstGeom>
          <a:noFill/>
        </p:spPr>
        <p:txBody>
          <a:bodyPr wrap="square">
            <a:spAutoFit/>
          </a:bodyPr>
          <a:lstStyle/>
          <a:p>
            <a:pPr>
              <a:spcAft>
                <a:spcPts val="1000"/>
              </a:spcAft>
            </a:pPr>
            <a:r>
              <a:rPr sz="2100" b="0">
                <a:solidFill>
                  <a:srgbClr val="1C1C1A"/>
                </a:solidFill>
                <a:latin typeface="Calibri"/>
              </a:rPr>
              <a:t>You name the exception you expected. Anything else still stops the program, which is what you want.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try and except actually do to the flow</a:t>
            </a:r>
          </a:p>
        </p:txBody>
      </p:sp>
      <p:pic>
        <p:nvPicPr>
          <p:cNvPr id="4" name="Picture 3" descr="6b749401cdc1e57a.png"/>
          <p:cNvPicPr>
            <a:picLocks noChangeAspect="1"/>
          </p:cNvPicPr>
          <p:nvPr/>
        </p:nvPicPr>
        <p:blipFill>
          <a:blip r:embed="rId2"/>
          <a:stretch>
            <a:fillRect/>
          </a:stretch>
        </p:blipFill>
        <p:spPr>
          <a:xfrm>
            <a:off x="4002226" y="1965960"/>
            <a:ext cx="4157066" cy="4023360"/>
          </a:xfrm>
          <a:prstGeom prst="rect">
            <a:avLst/>
          </a:prstGeom>
        </p:spPr>
      </p:pic>
      <p:sp>
        <p:nvSpPr>
          <p:cNvPr id="5" name="TextBox 4"/>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An exception you did not name is not ignored. It carries on upward, which is exactly the behaviour you want for a failure you did not anticipate.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exception family, and why the name you choose matters</a:t>
            </a:r>
          </a:p>
        </p:txBody>
      </p:sp>
      <p:pic>
        <p:nvPicPr>
          <p:cNvPr id="5" name="Picture 4" descr="b33d8bf07bfc9960.png"/>
          <p:cNvPicPr>
            <a:picLocks noChangeAspect="1"/>
          </p:cNvPicPr>
          <p:nvPr/>
        </p:nvPicPr>
        <p:blipFill>
          <a:blip r:embed="rId2"/>
          <a:stretch>
            <a:fillRect/>
          </a:stretch>
        </p:blipFill>
        <p:spPr>
          <a:xfrm>
            <a:off x="777240" y="1965960"/>
            <a:ext cx="10607040" cy="3018263"/>
          </a:xfrm>
          <a:prstGeom prst="rect">
            <a:avLst/>
          </a:prstGeom>
        </p:spPr>
      </p:pic>
      <p:sp>
        <p:nvSpPr>
          <p:cNvPr id="6" name="TextBox 5"/>
          <p:cNvSpPr txBox="1"/>
          <p:nvPr/>
        </p:nvSpPr>
        <p:spPr>
          <a:xfrm>
            <a:off x="777240" y="5121383"/>
            <a:ext cx="10607040" cy="790575"/>
          </a:xfrm>
          <a:prstGeom prst="rect">
            <a:avLst/>
          </a:prstGeom>
          <a:noFill/>
        </p:spPr>
        <p:txBody>
          <a:bodyPr wrap="square">
            <a:spAutoFit/>
          </a:bodyPr>
          <a:lstStyle/>
          <a:p>
            <a:pPr>
              <a:spcAft>
                <a:spcPts val="1000"/>
              </a:spcAft>
            </a:pPr>
            <a:r>
              <a:rPr sz="2100" b="0">
                <a:solidFill>
                  <a:srgbClr val="1C1C1A"/>
                </a:solidFill>
                <a:latin typeface="Calibri"/>
              </a:rPr>
              <a:t>Catching Exception catches every branch of this tree, including the ones you never thought about. Catching ValueError catches the branch you reasoned about and lets the rest travel.</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Two defensive stances, and when each wins</a:t>
            </a:r>
          </a:p>
        </p:txBody>
      </p:sp>
      <p:graphicFrame>
        <p:nvGraphicFramePr>
          <p:cNvPr id="5" name="Table 4"/>
          <p:cNvGraphicFramePr>
            <a:graphicFrameLocks noGrp="1"/>
          </p:cNvGraphicFramePr>
          <p:nvPr/>
        </p:nvGraphicFramePr>
        <p:xfrm>
          <a:off x="777240" y="1965960"/>
          <a:ext cx="10607040" cy="1152144"/>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Stance</a:t>
                      </a:r>
                    </a:p>
                  </a:txBody>
                  <a:tcPr marT="25400" marB="25400"/>
                </a:tc>
                <a:tc>
                  <a:txBody>
                    <a:bodyPr/>
                    <a:lstStyle/>
                    <a:p>
                      <a:r>
                        <a:rPr sz="1300" b="1">
                          <a:solidFill>
                            <a:srgbClr val="2B4A7D"/>
                          </a:solidFill>
                          <a:latin typeface="Calibri"/>
                        </a:rPr>
                        <a:t>What it looks like</a:t>
                      </a:r>
                    </a:p>
                  </a:txBody>
                  <a:tcPr marT="25400" marB="25400"/>
                </a:tc>
                <a:tc>
                  <a:txBody>
                    <a:bodyPr/>
                    <a:lstStyle/>
                    <a:p>
                      <a:r>
                        <a:rPr sz="1300" b="1">
                          <a:solidFill>
                            <a:srgbClr val="2B4A7D"/>
                          </a:solidFill>
                          <a:latin typeface="Calibri"/>
                        </a:rPr>
                        <a:t>When it wins</a:t>
                      </a:r>
                    </a:p>
                  </a:txBody>
                  <a:tcPr marT="25400" marB="25400"/>
                </a:tc>
              </a:tr>
              <a:tr h="384048">
                <a:tc>
                  <a:txBody>
                    <a:bodyPr/>
                    <a:lstStyle/>
                    <a:p>
                      <a:r>
                        <a:rPr sz="1400" b="0">
                          <a:solidFill>
                            <a:srgbClr val="1C1C1A"/>
                          </a:solidFill>
                          <a:latin typeface="Calibri"/>
                        </a:rPr>
                        <a:t>Look before you leap</a:t>
                      </a:r>
                    </a:p>
                  </a:txBody>
                  <a:tcPr marT="25400" marB="25400"/>
                </a:tc>
                <a:tc>
                  <a:txBody>
                    <a:bodyPr/>
                    <a:lstStyle/>
                    <a:p>
                      <a:r>
                        <a:rPr sz="1400" b="0">
                          <a:solidFill>
                            <a:srgbClr val="1C1C1A"/>
                          </a:solidFill>
                          <a:latin typeface="Calibri"/>
                        </a:rPr>
                        <a:t>You test the value first with something like a digit check before converting it.</a:t>
                      </a:r>
                    </a:p>
                  </a:txBody>
                  <a:tcPr marT="25400" marB="25400"/>
                </a:tc>
                <a:tc>
                  <a:txBody>
                    <a:bodyPr/>
                    <a:lstStyle/>
                    <a:p>
                      <a:r>
                        <a:rPr sz="1400" b="0">
                          <a:solidFill>
                            <a:srgbClr val="1C1C1A"/>
                          </a:solidFill>
                          <a:latin typeface="Calibri"/>
                        </a:rPr>
                        <a:t>The check is cheap and total, and there is one clear condition to test.</a:t>
                      </a:r>
                    </a:p>
                  </a:txBody>
                  <a:tcPr marT="25400" marB="25400"/>
                </a:tc>
              </a:tr>
              <a:tr h="384048">
                <a:tc>
                  <a:txBody>
                    <a:bodyPr/>
                    <a:lstStyle/>
                    <a:p>
                      <a:r>
                        <a:rPr sz="1400" b="0">
                          <a:solidFill>
                            <a:srgbClr val="1C1C1A"/>
                          </a:solidFill>
                          <a:latin typeface="Calibri"/>
                        </a:rPr>
                        <a:t>Ask forgiveness, not permission</a:t>
                      </a:r>
                    </a:p>
                  </a:txBody>
                  <a:tcPr marT="25400" marB="25400"/>
                </a:tc>
                <a:tc>
                  <a:txBody>
                    <a:bodyPr/>
                    <a:lstStyle/>
                    <a:p>
                      <a:r>
                        <a:rPr sz="1400" b="0">
                          <a:solidFill>
                            <a:srgbClr val="1C1C1A"/>
                          </a:solidFill>
                          <a:latin typeface="Calibri"/>
                        </a:rPr>
                        <a:t>You attempt the conversion inside a try and catch the failure it raises.</a:t>
                      </a:r>
                    </a:p>
                  </a:txBody>
                  <a:tcPr marT="25400" marB="25400"/>
                </a:tc>
                <a:tc>
                  <a:txBody>
                    <a:bodyPr/>
                    <a:lstStyle/>
                    <a:p>
                      <a:r>
                        <a:rPr sz="1400" b="0">
                          <a:solidFill>
                            <a:srgbClr val="1C1C1A"/>
                          </a:solidFill>
                          <a:latin typeface="Calibri"/>
                        </a:rPr>
                        <a:t>The check would have to duplicate the conversion's own rules, which is exactly the case for int().</a:t>
                      </a:r>
                    </a:p>
                  </a:txBody>
                  <a:tcPr marT="25400" marB="25400"/>
                </a:tc>
              </a:tr>
            </a:tbl>
          </a:graphicData>
        </a:graphic>
      </p:graphicFrame>
      <p:sp>
        <p:nvSpPr>
          <p:cNvPr id="6" name="TextBox 5"/>
          <p:cNvSpPr txBox="1"/>
          <p:nvPr/>
        </p:nvSpPr>
        <p:spPr>
          <a:xfrm>
            <a:off x="777240" y="3300984"/>
            <a:ext cx="10607040" cy="1038225"/>
          </a:xfrm>
          <a:prstGeom prst="rect">
            <a:avLst/>
          </a:prstGeom>
          <a:noFill/>
        </p:spPr>
        <p:txBody>
          <a:bodyPr wrap="square">
            <a:spAutoFit/>
          </a:bodyPr>
          <a:lstStyle/>
          <a:p>
            <a:pPr>
              <a:spcAft>
                <a:spcPts val="1000"/>
              </a:spcAft>
            </a:pPr>
            <a:r>
              <a:rPr sz="2100" b="0">
                <a:solidFill>
                  <a:srgbClr val="1C1C1A"/>
                </a:solidFill>
                <a:latin typeface="Calibri"/>
              </a:rPr>
              <a:t>Python leans on the second stance, and int() is the reason why. Writing a test that predicts every string int() accepts means rewriting int(), including the leading sign, the surrounding whitespace and the underscores it allows.</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trap</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400"/>
              </a:spcAft>
            </a:pPr>
            <a:r>
              <a:rPr sz="1700" b="0">
                <a:solidFill>
                  <a:srgbClr val="2B4A7D"/>
                </a:solidFill>
                <a:latin typeface="Consolas"/>
              </a:rPr>
              <a:t>try:</a:t>
            </a:r>
          </a:p>
          <a:p>
            <a:pPr>
              <a:spcAft>
                <a:spcPts val="400"/>
              </a:spcAft>
            </a:pPr>
            <a:r>
              <a:rPr sz="1700" b="0">
                <a:solidFill>
                  <a:srgbClr val="2B4A7D"/>
                </a:solidFill>
                <a:latin typeface="Consolas"/>
              </a:rPr>
              <a:t>    value = int(record["amount"])</a:t>
            </a:r>
          </a:p>
          <a:p>
            <a:pPr>
              <a:spcAft>
                <a:spcPts val="400"/>
              </a:spcAft>
            </a:pPr>
            <a:r>
              <a:rPr sz="1700" b="0">
                <a:solidFill>
                  <a:srgbClr val="2B4A7D"/>
                </a:solidFill>
                <a:latin typeface="Consolas"/>
              </a:rPr>
              <a:t>except:</a:t>
            </a:r>
          </a:p>
          <a:p>
            <a:pPr>
              <a:spcAft>
                <a:spcPts val="400"/>
              </a:spcAft>
            </a:pPr>
            <a:r>
              <a:rPr sz="1700" b="0">
                <a:solidFill>
                  <a:srgbClr val="2B4A7D"/>
                </a:solidFill>
                <a:latin typeface="Consolas"/>
              </a:rPr>
              <a:t>    pass</a:t>
            </a:r>
          </a:p>
        </p:txBody>
      </p:sp>
      <p:sp>
        <p:nvSpPr>
          <p:cNvPr id="5" name="TextBox 4"/>
          <p:cNvSpPr txBox="1"/>
          <p:nvPr/>
        </p:nvSpPr>
        <p:spPr>
          <a:xfrm>
            <a:off x="777240" y="3265169"/>
            <a:ext cx="10607040" cy="542925"/>
          </a:xfrm>
          <a:prstGeom prst="rect">
            <a:avLst/>
          </a:prstGeom>
          <a:noFill/>
        </p:spPr>
        <p:txBody>
          <a:bodyPr wrap="square">
            <a:spAutoFit/>
          </a:bodyPr>
          <a:lstStyle/>
          <a:p>
            <a:pPr>
              <a:spcAft>
                <a:spcPts val="1000"/>
              </a:spcAft>
            </a:pPr>
            <a:r>
              <a:rPr sz="2100" b="0">
                <a:solidFill>
                  <a:srgbClr val="1C1C1A"/>
                </a:solidFill>
                <a:latin typeface="Calibri"/>
              </a:rPr>
              <a:t>This runs. It produces a number. The number is wrong and nothing on screen says so.</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Watch it happen</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Bare except, on today's 30 records:</a:t>
            </a:r>
          </a:p>
        </p:txBody>
      </p:sp>
      <p:sp>
        <p:nvSpPr>
          <p:cNvPr id="5" name="TextBox 4"/>
          <p:cNvSpPr txBox="1"/>
          <p:nvPr/>
        </p:nvSpPr>
        <p:spPr>
          <a:xfrm>
            <a:off x="777240" y="2646045"/>
            <a:ext cx="10607040" cy="502920"/>
          </a:xfrm>
          <a:prstGeom prst="rect">
            <a:avLst/>
          </a:prstGeom>
          <a:noFill/>
        </p:spPr>
        <p:txBody>
          <a:bodyPr wrap="square">
            <a:spAutoFit/>
          </a:bodyPr>
          <a:lstStyle/>
          <a:p>
            <a:pPr>
              <a:spcAft>
                <a:spcPts val="400"/>
              </a:spcAft>
            </a:pPr>
            <a:r>
              <a:rPr sz="1700" b="0">
                <a:solidFill>
                  <a:srgbClr val="2B4A7D"/>
                </a:solidFill>
                <a:latin typeface="Consolas"/>
              </a:rPr>
              <a:t>Processed 30 records. Total: 53745</a:t>
            </a:r>
          </a:p>
        </p:txBody>
      </p:sp>
      <p:sp>
        <p:nvSpPr>
          <p:cNvPr id="6" name="TextBox 5"/>
          <p:cNvSpPr txBox="1"/>
          <p:nvPr/>
        </p:nvSpPr>
        <p:spPr>
          <a:xfrm>
            <a:off x="777240" y="3286125"/>
            <a:ext cx="10607040" cy="542925"/>
          </a:xfrm>
          <a:prstGeom prst="rect">
            <a:avLst/>
          </a:prstGeom>
          <a:noFill/>
        </p:spPr>
        <p:txBody>
          <a:bodyPr wrap="square">
            <a:spAutoFit/>
          </a:bodyPr>
          <a:lstStyle/>
          <a:p>
            <a:pPr>
              <a:spcAft>
                <a:spcPts val="1000"/>
              </a:spcAft>
            </a:pPr>
            <a:r>
              <a:rPr sz="2100" b="0">
                <a:solidFill>
                  <a:srgbClr val="1C1C1A"/>
                </a:solidFill>
                <a:latin typeface="Calibri"/>
              </a:rPr>
              <a:t>Narrow except, same 30 records:</a:t>
            </a:r>
          </a:p>
        </p:txBody>
      </p:sp>
      <p:sp>
        <p:nvSpPr>
          <p:cNvPr id="7" name="TextBox 6"/>
          <p:cNvSpPr txBox="1"/>
          <p:nvPr/>
        </p:nvSpPr>
        <p:spPr>
          <a:xfrm>
            <a:off x="777240" y="3966210"/>
            <a:ext cx="10607040" cy="502920"/>
          </a:xfrm>
          <a:prstGeom prst="rect">
            <a:avLst/>
          </a:prstGeom>
          <a:noFill/>
        </p:spPr>
        <p:txBody>
          <a:bodyPr wrap="square">
            <a:spAutoFit/>
          </a:bodyPr>
          <a:lstStyle/>
          <a:p>
            <a:pPr>
              <a:spcAft>
                <a:spcPts val="400"/>
              </a:spcAft>
            </a:pPr>
            <a:r>
              <a:rPr sz="1700" b="0">
                <a:solidFill>
                  <a:srgbClr val="2B4A7D"/>
                </a:solidFill>
                <a:latin typeface="Consolas"/>
              </a:rPr>
              <a:t>Clean 28, rejected 2, total 53745</a:t>
            </a:r>
          </a:p>
        </p:txBody>
      </p:sp>
      <p:sp>
        <p:nvSpPr>
          <p:cNvPr id="8" name="TextBox 7"/>
          <p:cNvSpPr txBox="1"/>
          <p:nvPr/>
        </p:nvSpPr>
        <p:spPr>
          <a:xfrm>
            <a:off x="777240" y="4606290"/>
            <a:ext cx="10607040" cy="542925"/>
          </a:xfrm>
          <a:prstGeom prst="rect">
            <a:avLst/>
          </a:prstGeom>
          <a:noFill/>
        </p:spPr>
        <p:txBody>
          <a:bodyPr wrap="square">
            <a:spAutoFit/>
          </a:bodyPr>
          <a:lstStyle/>
          <a:p>
            <a:pPr>
              <a:spcAft>
                <a:spcPts val="1000"/>
              </a:spcAft>
            </a:pPr>
            <a:r>
              <a:rPr sz="2100" b="0">
                <a:solidFill>
                  <a:srgbClr val="1C1C1A"/>
                </a:solidFill>
                <a:latin typeface="Calibri"/>
              </a:rPr>
              <a:t>Same number. One of these two lines is a lie.</a:t>
            </a:r>
          </a:p>
        </p:txBody>
      </p:sp>
      <p:sp>
        <p:nvSpPr>
          <p:cNvPr id="9" name="TextBox 8"/>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Which one lied</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The first line claims 30 records went into that total. Two of them did not.</a:t>
            </a:r>
          </a:p>
          <a:p>
            <a:pPr>
              <a:spcAft>
                <a:spcPts val="1000"/>
              </a:spcAft>
            </a:pPr>
            <a:r>
              <a:rPr sz="2100" b="0">
                <a:solidFill>
                  <a:srgbClr val="1C1C1A"/>
                </a:solidFill>
                <a:latin typeface="Calibri"/>
              </a:rPr>
              <a:t>A crash costs you an hour. A plausible wrong number costs you the quarter, because nobody goes looking for it.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size of the lie, as a formula</a:t>
            </a:r>
          </a:p>
        </p:txBody>
      </p:sp>
      <p:sp>
        <p:nvSpPr>
          <p:cNvPr id="5" name="TextBox 4"/>
          <p:cNvSpPr txBox="1"/>
          <p:nvPr/>
        </p:nvSpPr>
        <p:spPr>
          <a:xfrm>
            <a:off x="777240" y="1965960"/>
            <a:ext cx="10607040" cy="3019425"/>
          </a:xfrm>
          <a:prstGeom prst="rect">
            <a:avLst/>
          </a:prstGeom>
          <a:noFill/>
        </p:spPr>
        <p:txBody>
          <a:bodyPr wrap="square">
            <a:spAutoFit/>
          </a:bodyPr>
          <a:lstStyle/>
          <a:p>
            <a:pPr>
              <a:spcAft>
                <a:spcPts val="1000"/>
              </a:spcAft>
            </a:pPr>
            <a:r>
              <a:rPr sz="2100" b="0">
                <a:solidFill>
                  <a:srgbClr val="1C1C1A"/>
                </a:solidFill>
                <a:latin typeface="Calibri"/>
              </a:rPr>
              <a:t>Write $n$ for the records that arrived, $r$ for the records that failed to convert, and $\bar{x}$ for the average of the ones that did.</a:t>
            </a:r>
          </a:p>
          <a:p>
            <a:pPr>
              <a:spcAft>
                <a:spcPts val="1000"/>
              </a:spcAft>
            </a:pPr>
            <a:r>
              <a:rPr sz="2100" b="0">
                <a:solidFill>
                  <a:srgbClr val="1C1C1A"/>
                </a:solidFill>
                <a:latin typeface="Calibri"/>
              </a:rPr>
              <a:t>The honest total comes from the ones that converted. The gap between that and the total somebody assumes covers all $n$ records is</a:t>
            </a:r>
          </a:p>
          <a:p>
            <a:pPr>
              <a:spcAft>
                <a:spcPts val="1000"/>
              </a:spcAft>
            </a:pPr>
            <a:r>
              <a:rPr sz="2100" b="0">
                <a:solidFill>
                  <a:srgbClr val="1C1C1A"/>
                </a:solidFill>
                <a:latin typeface="Calibri"/>
              </a:rPr>
              <a:t>$$\text{understatement} \approx r \times \bar{x}$$</a:t>
            </a:r>
          </a:p>
          <a:p>
            <a:pPr>
              <a:spcAft>
                <a:spcPts val="1000"/>
              </a:spcAft>
            </a:pPr>
            <a:r>
              <a:rPr sz="2100" b="0">
                <a:solidFill>
                  <a:srgbClr val="1C1C1A"/>
                </a:solidFill>
                <a:latin typeface="Calibri"/>
              </a:rPr>
              <a:t>Today $r = 2$ and $\bar{x} = 53745 / 28 \approx 1920$, so the silent gap is about Rs 3,840 on a reported Rs 53,745, which is roughly 7 percent.</a:t>
            </a:r>
          </a:p>
          <a:p>
            <a:pPr>
              <a:spcAft>
                <a:spcPts val="1000"/>
              </a:spcAft>
            </a:pPr>
            <a:r>
              <a:rPr sz="2100" b="0">
                <a:solidFill>
                  <a:srgbClr val="1C1C1A"/>
                </a:solidFill>
                <a:latin typeface="Calibri"/>
              </a:rPr>
              <a:t>Nothing on the screen carries that 7 percent. The only way it reaches anybody is if you write $r$ down.</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2</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Read the traceback from the bottom.</a:t>
            </a:r>
          </a:p>
          <a:p>
            <a:pPr>
              <a:spcAft>
                <a:spcPts val="1000"/>
              </a:spcAft>
            </a:pPr>
            <a:r>
              <a:rPr sz="2100" b="0">
                <a:solidFill>
                  <a:srgbClr val="1C1C1A"/>
                </a:solidFill>
                <a:latin typeface="Calibri"/>
              </a:rPr>
              <a:t>2. Name the exception you expected.</a:t>
            </a:r>
          </a:p>
          <a:p>
            <a:pPr>
              <a:spcAft>
                <a:spcPts val="1000"/>
              </a:spcAft>
            </a:pPr>
            <a:r>
              <a:rPr sz="2100" b="0">
                <a:solidFill>
                  <a:srgbClr val="1C1C1A"/>
                </a:solidFill>
                <a:latin typeface="Calibri"/>
              </a:rPr>
              <a:t>3. Never catch everything.</a:t>
            </a:r>
          </a:p>
          <a:p>
            <a:pPr>
              <a:spcAft>
                <a:spcPts val="1000"/>
              </a:spcAft>
            </a:pPr>
            <a:r>
              <a:rPr sz="2100" b="0">
                <a:solidFill>
                  <a:srgbClr val="1C1C1A"/>
                </a:solidFill>
                <a:latin typeface="Calibri"/>
              </a:rPr>
              <a:t>4. If the count and the claim disagree, the claim is wrong.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3: LOG THE REJECTION</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[inline cell] &gt; [packaged decision] &gt; [read the failure] &gt; </a:t>
            </a:r>
            <a:r>
              <a:rPr sz="2100" b="1">
                <a:solidFill>
                  <a:srgbClr val="FFFFFF"/>
                </a:solidFill>
                <a:latin typeface="Calibri"/>
              </a:rPr>
              <a:t>[log the rejection]</a:t>
            </a:r>
            <a:r>
              <a:rPr sz="2100" b="0">
                <a:solidFill>
                  <a:srgbClr val="FFFFFF"/>
                </a:solidFill>
                <a:latin typeface="Calibri"/>
              </a:rPr>
              <a:t> &gt; [cross the boundary]</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does the bad record go</a:t>
            </a:r>
          </a:p>
        </p:txBody>
      </p:sp>
      <p:sp>
        <p:nvSpPr>
          <p:cNvPr id="4" name="TextBox 3"/>
          <p:cNvSpPr txBox="1"/>
          <p:nvPr/>
        </p:nvSpPr>
        <p:spPr>
          <a:xfrm>
            <a:off x="777240" y="1965960"/>
            <a:ext cx="10607040" cy="1285875"/>
          </a:xfrm>
          <a:prstGeom prst="rect">
            <a:avLst/>
          </a:prstGeom>
          <a:noFill/>
        </p:spPr>
        <p:txBody>
          <a:bodyPr wrap="square">
            <a:spAutoFit/>
          </a:bodyPr>
          <a:lstStyle/>
          <a:p>
            <a:pPr>
              <a:spcAft>
                <a:spcPts val="1000"/>
              </a:spcAft>
            </a:pPr>
            <a:r>
              <a:rPr sz="2100" b="0">
                <a:solidFill>
                  <a:srgbClr val="1C1C1A"/>
                </a:solidFill>
                <a:latin typeface="Calibri"/>
              </a:rPr>
              <a:t>You have three choices when a record will not convert.</a:t>
            </a:r>
          </a:p>
          <a:p>
            <a:pPr>
              <a:spcAft>
                <a:spcPts val="1000"/>
              </a:spcAft>
            </a:pPr>
            <a:r>
              <a:rPr sz="2100" b="0">
                <a:solidFill>
                  <a:srgbClr val="1C1C1A"/>
                </a:solidFill>
                <a:latin typeface="Calibri"/>
              </a:rPr>
              <a:t>Fix it silently. Drop it silently. Set it aside with a reason.</a:t>
            </a:r>
          </a:p>
          <a:p>
            <a:pPr>
              <a:spcAft>
                <a:spcPts val="1000"/>
              </a:spcAft>
            </a:pPr>
            <a:r>
              <a:rPr sz="2100" b="0">
                <a:solidFill>
                  <a:srgbClr val="1C1C1A"/>
                </a:solidFill>
                <a:latin typeface="Calibri"/>
              </a:rPr>
              <a:t>Only the third one survives a question from your manager.</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three choices, and what each one costs later</a:t>
            </a:r>
          </a:p>
        </p:txBody>
      </p:sp>
      <p:pic>
        <p:nvPicPr>
          <p:cNvPr id="4" name="Picture 3" descr="ae76df01fb2cb2f3.png"/>
          <p:cNvPicPr>
            <a:picLocks noChangeAspect="1"/>
          </p:cNvPicPr>
          <p:nvPr/>
        </p:nvPicPr>
        <p:blipFill>
          <a:blip r:embed="rId2"/>
          <a:stretch>
            <a:fillRect/>
          </a:stretch>
        </p:blipFill>
        <p:spPr>
          <a:xfrm>
            <a:off x="1965437" y="1965960"/>
            <a:ext cx="8230645" cy="4023360"/>
          </a:xfrm>
          <a:prstGeom prst="rect">
            <a:avLst/>
          </a:prstGeom>
        </p:spPr>
      </p:pic>
      <p:sp>
        <p:nvSpPr>
          <p:cNvPr id="5" name="TextBox 4"/>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The first two are faster today and cost you the conversation you cannot win in three weeks. The third is the job.</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rejects list</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400"/>
              </a:spcAft>
            </a:pPr>
            <a:r>
              <a:rPr sz="1700" b="0">
                <a:solidFill>
                  <a:srgbClr val="2B4A7D"/>
                </a:solidFill>
                <a:latin typeface="Consolas"/>
              </a:rPr>
              <a:t>def clean_record(record):</a:t>
            </a:r>
          </a:p>
          <a:p>
            <a:pPr>
              <a:spcAft>
                <a:spcPts val="400"/>
              </a:spcAft>
            </a:pPr>
            <a:r>
              <a:rPr sz="1700" b="0">
                <a:solidFill>
                  <a:srgbClr val="2B4A7D"/>
                </a:solidFill>
                <a:latin typeface="Consolas"/>
              </a:rPr>
              <a:t>    keeper = dict(record)</a:t>
            </a:r>
          </a:p>
          <a:p>
            <a:pPr>
              <a:spcAft>
                <a:spcPts val="400"/>
              </a:spcAft>
            </a:pPr>
            <a:r>
              <a:rPr sz="1700" b="0">
                <a:solidFill>
                  <a:srgbClr val="2B4A7D"/>
                </a:solidFill>
                <a:latin typeface="Consolas"/>
              </a:rPr>
              <a:t>    keeper["amount"] = normalise_amount(record["amount"])</a:t>
            </a:r>
          </a:p>
          <a:p>
            <a:pPr>
              <a:spcAft>
                <a:spcPts val="400"/>
              </a:spcAft>
            </a:pPr>
            <a:r>
              <a:rPr sz="1700" b="0">
                <a:solidFill>
                  <a:srgbClr val="2B4A7D"/>
                </a:solidFill>
                <a:latin typeface="Consolas"/>
              </a:rPr>
              <a:t>    return keeper</a:t>
            </a:r>
          </a:p>
        </p:txBody>
      </p:sp>
      <p:sp>
        <p:nvSpPr>
          <p:cNvPr id="5" name="TextBox 4"/>
          <p:cNvSpPr txBox="1"/>
          <p:nvPr/>
        </p:nvSpPr>
        <p:spPr>
          <a:xfrm>
            <a:off x="777240" y="3265169"/>
            <a:ext cx="10607040" cy="790575"/>
          </a:xfrm>
          <a:prstGeom prst="rect">
            <a:avLst/>
          </a:prstGeom>
          <a:noFill/>
        </p:spPr>
        <p:txBody>
          <a:bodyPr wrap="square">
            <a:spAutoFit/>
          </a:bodyPr>
          <a:lstStyle/>
          <a:p>
            <a:pPr>
              <a:spcAft>
                <a:spcPts val="1000"/>
              </a:spcAft>
            </a:pPr>
            <a:r>
              <a:rPr sz="2100" b="0">
                <a:solidFill>
                  <a:srgbClr val="1C1C1A"/>
                </a:solidFill>
                <a:latin typeface="Calibri"/>
              </a:rPr>
              <a:t>clean_record handles one record and decides nothing about failure. clean_records handles the list and owns that decision.</a:t>
            </a:r>
          </a:p>
        </p:txBody>
      </p:sp>
      <p:sp>
        <p:nvSpPr>
          <p:cNvPr id="6" name="TextBox 5"/>
          <p:cNvSpPr txBox="1"/>
          <p:nvPr/>
        </p:nvSpPr>
        <p:spPr>
          <a:xfrm>
            <a:off x="777240" y="4192904"/>
            <a:ext cx="10607040" cy="666750"/>
          </a:xfrm>
          <a:prstGeom prst="rect">
            <a:avLst/>
          </a:prstGeom>
          <a:noFill/>
        </p:spPr>
        <p:txBody>
          <a:bodyPr wrap="square">
            <a:spAutoFit/>
          </a:bodyPr>
          <a:lstStyle/>
          <a:p>
            <a:pPr>
              <a:spcAft>
                <a:spcPts val="400"/>
              </a:spcAft>
            </a:pPr>
            <a:r>
              <a:rPr sz="1700" b="0">
                <a:solidFill>
                  <a:srgbClr val="2B4A7D"/>
                </a:solidFill>
                <a:latin typeface="Consolas"/>
              </a:rPr>
              <a:t>except ValueError as e:</a:t>
            </a:r>
          </a:p>
          <a:p>
            <a:pPr>
              <a:spcAft>
                <a:spcPts val="400"/>
              </a:spcAft>
            </a:pPr>
            <a:r>
              <a:rPr sz="1700" b="0">
                <a:solidFill>
                  <a:srgbClr val="2B4A7D"/>
                </a:solidFill>
                <a:latin typeface="Consolas"/>
              </a:rPr>
              <a:t>    rejects.append({"order_id": record["order_id"], "reason": str(e)})</a:t>
            </a:r>
          </a:p>
        </p:txBody>
      </p:sp>
      <p:sp>
        <p:nvSpPr>
          <p:cNvPr id="7" name="TextBox 6"/>
          <p:cNvSpPr txBox="1"/>
          <p:nvPr/>
        </p:nvSpPr>
        <p:spPr>
          <a:xfrm>
            <a:off x="777240" y="4996814"/>
            <a:ext cx="10607040" cy="542925"/>
          </a:xfrm>
          <a:prstGeom prst="rect">
            <a:avLst/>
          </a:prstGeom>
          <a:noFill/>
        </p:spPr>
        <p:txBody>
          <a:bodyPr wrap="square">
            <a:spAutoFit/>
          </a:bodyPr>
          <a:lstStyle/>
          <a:p>
            <a:pPr>
              <a:spcAft>
                <a:spcPts val="1000"/>
              </a:spcAft>
            </a:pPr>
            <a:r>
              <a:rPr sz="2100" b="0">
                <a:solidFill>
                  <a:srgbClr val="1C1C1A"/>
                </a:solidFill>
                <a:latin typeface="Calibri"/>
              </a:rPr>
              <a:t>str(e) carries the exact reason the interpreter gave you. You do not have to invent wording.</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Who decides what, and why the split matters</a:t>
            </a:r>
          </a:p>
        </p:txBody>
      </p:sp>
      <p:pic>
        <p:nvPicPr>
          <p:cNvPr id="5" name="Picture 4" descr="11372511503d74b1.png"/>
          <p:cNvPicPr>
            <a:picLocks noChangeAspect="1"/>
          </p:cNvPicPr>
          <p:nvPr/>
        </p:nvPicPr>
        <p:blipFill>
          <a:blip r:embed="rId2"/>
          <a:stretch>
            <a:fillRect/>
          </a:stretch>
        </p:blipFill>
        <p:spPr>
          <a:xfrm>
            <a:off x="777240" y="1965960"/>
            <a:ext cx="10607040" cy="2570508"/>
          </a:xfrm>
          <a:prstGeom prst="rect">
            <a:avLst/>
          </a:prstGeom>
        </p:spPr>
      </p:pic>
      <p:sp>
        <p:nvSpPr>
          <p:cNvPr id="6" name="TextBox 5"/>
          <p:cNvSpPr txBox="1"/>
          <p:nvPr/>
        </p:nvSpPr>
        <p:spPr>
          <a:xfrm>
            <a:off x="777240" y="4673628"/>
            <a:ext cx="10607040" cy="1038225"/>
          </a:xfrm>
          <a:prstGeom prst="rect">
            <a:avLst/>
          </a:prstGeom>
          <a:noFill/>
        </p:spPr>
        <p:txBody>
          <a:bodyPr wrap="square">
            <a:spAutoFit/>
          </a:bodyPr>
          <a:lstStyle/>
          <a:p>
            <a:pPr>
              <a:spcAft>
                <a:spcPts val="1000"/>
              </a:spcAft>
            </a:pPr>
            <a:r>
              <a:rPr sz="2100" b="0">
                <a:solidFill>
                  <a:srgbClr val="1C1C1A"/>
                </a:solidFill>
                <a:latin typeface="Calibri"/>
              </a:rPr>
              <a:t>One function knows how to convert and nothing about policy. The other knows the policy and nothing about conversion. That split is why the same clean_record is called unchanged tomorrow on a dataset four times the size.</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a good reason looks like</a:t>
            </a:r>
          </a:p>
        </p:txBody>
      </p:sp>
      <p:sp>
        <p:nvSpPr>
          <p:cNvPr id="4" name="TextBox 3"/>
          <p:cNvSpPr txBox="1"/>
          <p:nvPr/>
        </p:nvSpPr>
        <p:spPr>
          <a:xfrm>
            <a:off x="777240" y="1965960"/>
            <a:ext cx="10607040" cy="666750"/>
          </a:xfrm>
          <a:prstGeom prst="rect">
            <a:avLst/>
          </a:prstGeom>
          <a:noFill/>
        </p:spPr>
        <p:txBody>
          <a:bodyPr wrap="square">
            <a:spAutoFit/>
          </a:bodyPr>
          <a:lstStyle/>
          <a:p>
            <a:pPr>
              <a:spcAft>
                <a:spcPts val="400"/>
              </a:spcAft>
            </a:pPr>
            <a:r>
              <a:rPr sz="1700" b="0">
                <a:solidFill>
                  <a:srgbClr val="2B4A7D"/>
                </a:solidFill>
                <a:latin typeface="Consolas"/>
              </a:rPr>
              <a:t>{"id": "KR4210", "reason": "invalid literal for int() with base 10: 'twelve'"}</a:t>
            </a:r>
          </a:p>
          <a:p>
            <a:pPr>
              <a:spcAft>
                <a:spcPts val="400"/>
              </a:spcAft>
            </a:pPr>
            <a:r>
              <a:rPr sz="1700" b="0">
                <a:solidFill>
                  <a:srgbClr val="2B4A7D"/>
                </a:solidFill>
                <a:latin typeface="Consolas"/>
              </a:rPr>
              <a:t>{"id": "KR4214", "reason": "invalid literal for int() with base 10: ''"}</a:t>
            </a:r>
          </a:p>
        </p:txBody>
      </p:sp>
      <p:sp>
        <p:nvSpPr>
          <p:cNvPr id="5" name="TextBox 4"/>
          <p:cNvSpPr txBox="1"/>
          <p:nvPr/>
        </p:nvSpPr>
        <p:spPr>
          <a:xfrm>
            <a:off x="777240" y="2769870"/>
            <a:ext cx="10607040" cy="542925"/>
          </a:xfrm>
          <a:prstGeom prst="rect">
            <a:avLst/>
          </a:prstGeom>
          <a:noFill/>
        </p:spPr>
        <p:txBody>
          <a:bodyPr wrap="square">
            <a:spAutoFit/>
          </a:bodyPr>
          <a:lstStyle/>
          <a:p>
            <a:pPr>
              <a:spcAft>
                <a:spcPts val="1000"/>
              </a:spcAft>
            </a:pPr>
            <a:r>
              <a:rPr sz="2100" b="0">
                <a:solidFill>
                  <a:srgbClr val="1C1C1A"/>
                </a:solidFill>
                <a:latin typeface="Calibri"/>
              </a:rPr>
              <a:t>Someone who was not in the room can act on both of these.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fields a reject row needs, and why</a:t>
            </a:r>
          </a:p>
        </p:txBody>
      </p:sp>
      <p:graphicFrame>
        <p:nvGraphicFramePr>
          <p:cNvPr id="5" name="Table 4"/>
          <p:cNvGraphicFramePr>
            <a:graphicFrameLocks noGrp="1"/>
          </p:cNvGraphicFramePr>
          <p:nvPr/>
        </p:nvGraphicFramePr>
        <p:xfrm>
          <a:off x="777240" y="1965960"/>
          <a:ext cx="10607040" cy="1920240"/>
        </p:xfrm>
        <a:graphic>
          <a:graphicData uri="http://schemas.openxmlformats.org/drawingml/2006/table">
            <a:tbl>
              <a:tblPr firstRow="1" bandRow="1">
                <a:tableStyleId>{5C22544A-7EE6-4342-B048-85BDC9FD1C3A}</a:tableStyleId>
              </a:tblPr>
              <a:tblGrid>
                <a:gridCol w="5303520"/>
                <a:gridCol w="5303520"/>
              </a:tblGrid>
              <a:tr h="384048">
                <a:tc>
                  <a:txBody>
                    <a:bodyPr/>
                    <a:lstStyle/>
                    <a:p>
                      <a:r>
                        <a:rPr sz="1300" b="1">
                          <a:solidFill>
                            <a:srgbClr val="2B4A7D"/>
                          </a:solidFill>
                          <a:latin typeface="Calibri"/>
                        </a:rPr>
                        <a:t>Field</a:t>
                      </a:r>
                    </a:p>
                  </a:txBody>
                  <a:tcPr marT="25400" marB="25400"/>
                </a:tc>
                <a:tc>
                  <a:txBody>
                    <a:bodyPr/>
                    <a:lstStyle/>
                    <a:p>
                      <a:r>
                        <a:rPr sz="1300" b="1">
                          <a:solidFill>
                            <a:srgbClr val="2B4A7D"/>
                          </a:solidFill>
                          <a:latin typeface="Calibri"/>
                        </a:rPr>
                        <a:t>Why it is there</a:t>
                      </a:r>
                    </a:p>
                  </a:txBody>
                  <a:tcPr marT="25400" marB="25400"/>
                </a:tc>
              </a:tr>
              <a:tr h="384048">
                <a:tc>
                  <a:txBody>
                    <a:bodyPr/>
                    <a:lstStyle/>
                    <a:p>
                      <a:r>
                        <a:rPr sz="1400" b="0">
                          <a:solidFill>
                            <a:srgbClr val="1C1C1A"/>
                          </a:solidFill>
                          <a:latin typeface="Calibri"/>
                        </a:rPr>
                        <a:t>The identifier</a:t>
                      </a:r>
                    </a:p>
                  </a:txBody>
                  <a:tcPr marT="25400" marB="25400"/>
                </a:tc>
                <a:tc>
                  <a:txBody>
                    <a:bodyPr/>
                    <a:lstStyle/>
                    <a:p>
                      <a:r>
                        <a:rPr sz="1400" b="0">
                          <a:solidFill>
                            <a:srgbClr val="1C1C1A"/>
                          </a:solidFill>
                          <a:latin typeface="Calibri"/>
                        </a:rPr>
                        <a:t>Without it nobody can find the record in the source system, so the row is a complaint rather than a task.</a:t>
                      </a:r>
                    </a:p>
                  </a:txBody>
                  <a:tcPr marT="25400" marB="25400"/>
                </a:tc>
              </a:tr>
              <a:tr h="384048">
                <a:tc>
                  <a:txBody>
                    <a:bodyPr/>
                    <a:lstStyle/>
                    <a:p>
                      <a:r>
                        <a:rPr sz="1400" b="0">
                          <a:solidFill>
                            <a:srgbClr val="1C1C1A"/>
                          </a:solidFill>
                          <a:latin typeface="Calibri"/>
                        </a:rPr>
                        <a:t>The reason, verbatim from the interpreter</a:t>
                      </a:r>
                    </a:p>
                  </a:txBody>
                  <a:tcPr marT="25400" marB="25400"/>
                </a:tc>
                <a:tc>
                  <a:txBody>
                    <a:bodyPr/>
                    <a:lstStyle/>
                    <a:p>
                      <a:r>
                        <a:rPr sz="1400" b="0">
                          <a:solidFill>
                            <a:srgbClr val="1C1C1A"/>
                          </a:solidFill>
                          <a:latin typeface="Calibri"/>
                        </a:rPr>
                        <a:t>It distinguishes a word where a number belongs from an empty cell, and those two go to different people.</a:t>
                      </a:r>
                    </a:p>
                  </a:txBody>
                  <a:tcPr marT="25400" marB="25400"/>
                </a:tc>
              </a:tr>
              <a:tr h="384048">
                <a:tc>
                  <a:txBody>
                    <a:bodyPr/>
                    <a:lstStyle/>
                    <a:p>
                      <a:r>
                        <a:rPr sz="1400" b="0">
                          <a:solidFill>
                            <a:srgbClr val="1C1C1A"/>
                          </a:solidFill>
                          <a:latin typeface="Calibri"/>
                        </a:rPr>
                        <a:t>The field that failed</a:t>
                      </a:r>
                    </a:p>
                  </a:txBody>
                  <a:tcPr marT="25400" marB="25400"/>
                </a:tc>
                <a:tc>
                  <a:txBody>
                    <a:bodyPr/>
                    <a:lstStyle/>
                    <a:p>
                      <a:r>
                        <a:rPr sz="1400" b="0">
                          <a:solidFill>
                            <a:srgbClr val="1C1C1A"/>
                          </a:solidFill>
                          <a:latin typeface="Calibri"/>
                        </a:rPr>
                        <a:t>A record can fail on the amount or on the date, and a fixer needs to know which without opening the file.</a:t>
                      </a:r>
                    </a:p>
                  </a:txBody>
                  <a:tcPr marT="25400" marB="25400"/>
                </a:tc>
              </a:tr>
              <a:tr h="384048">
                <a:tc>
                  <a:txBody>
                    <a:bodyPr/>
                    <a:lstStyle/>
                    <a:p>
                      <a:r>
                        <a:rPr sz="1400" b="0">
                          <a:solidFill>
                            <a:srgbClr val="1C1C1A"/>
                          </a:solidFill>
                          <a:latin typeface="Calibri"/>
                        </a:rPr>
                        <a:t>The raw value</a:t>
                      </a:r>
                    </a:p>
                  </a:txBody>
                  <a:tcPr marT="25400" marB="25400"/>
                </a:tc>
                <a:tc>
                  <a:txBody>
                    <a:bodyPr/>
                    <a:lstStyle/>
                    <a:p>
                      <a:r>
                        <a:rPr sz="1400" b="0">
                          <a:solidFill>
                            <a:srgbClr val="1C1C1A"/>
                          </a:solidFill>
                          <a:latin typeface="Calibri"/>
                        </a:rPr>
                        <a:t>The person who fixes it upstream needs to see exactly what arrived, including the spaces you cannot see.</a:t>
                      </a:r>
                    </a:p>
                  </a:txBody>
                  <a:tcPr marT="25400" marB="25400"/>
                </a:tc>
              </a:tr>
            </a:tbl>
          </a:graphicData>
        </a:graphic>
      </p:graphicFrame>
      <p:sp>
        <p:nvSpPr>
          <p:cNvPr id="6" name="TextBox 5"/>
          <p:cNvSpPr txBox="1"/>
          <p:nvPr/>
        </p:nvSpPr>
        <p:spPr>
          <a:xfrm>
            <a:off x="777240" y="4069080"/>
            <a:ext cx="10607040" cy="790575"/>
          </a:xfrm>
          <a:prstGeom prst="rect">
            <a:avLst/>
          </a:prstGeom>
          <a:noFill/>
        </p:spPr>
        <p:txBody>
          <a:bodyPr wrap="square">
            <a:spAutoFit/>
          </a:bodyPr>
          <a:lstStyle/>
          <a:p>
            <a:pPr>
              <a:spcAft>
                <a:spcPts val="1000"/>
              </a:spcAft>
            </a:pPr>
            <a:r>
              <a:rPr sz="2100" b="0">
                <a:solidFill>
                  <a:srgbClr val="1C1C1A"/>
                </a:solidFill>
                <a:latin typeface="Calibri"/>
              </a:rPr>
              <a:t>Today you ship the first two, which is the minimum that works. Tomorrow's profiler adds the rest.</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reconciliation</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30 records in. 28 clean. 2 rejected.</a:t>
            </a:r>
          </a:p>
          <a:p>
            <a:pPr>
              <a:spcAft>
                <a:spcPts val="1000"/>
              </a:spcAft>
            </a:pPr>
            <a:r>
              <a:rPr sz="2100" b="0">
                <a:solidFill>
                  <a:srgbClr val="1C1C1A"/>
                </a:solidFill>
                <a:latin typeface="Calibri"/>
              </a:rPr>
              <a:t>Input equals clean plus rejected. When that sum does not hold, something disappeared and you do not yet know what.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reconciliation, as an identity you check every time</a:t>
            </a:r>
          </a:p>
        </p:txBody>
      </p:sp>
      <p:sp>
        <p:nvSpPr>
          <p:cNvPr id="5" name="TextBox 4"/>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$$n_{\text{in}} = n_{\text{clean}} + n_{\text{rejected}}$$</a:t>
            </a:r>
          </a:p>
          <a:p>
            <a:pPr>
              <a:spcAft>
                <a:spcPts val="1000"/>
              </a:spcAft>
            </a:pPr>
            <a:r>
              <a:rPr sz="2100" b="0">
                <a:solidFill>
                  <a:srgbClr val="1C1C1A"/>
                </a:solidFill>
                <a:latin typeface="Calibri"/>
              </a:rPr>
              <a:t>Today that reads $30 = 28 + 2$, and it holds.</a:t>
            </a:r>
          </a:p>
          <a:p>
            <a:pPr>
              <a:spcAft>
                <a:spcPts val="1000"/>
              </a:spcAft>
            </a:pPr>
            <a:r>
              <a:rPr sz="2100" b="0">
                <a:solidFill>
                  <a:srgbClr val="1C1C1A"/>
                </a:solidFill>
                <a:latin typeface="Calibri"/>
              </a:rPr>
              <a:t>The identity is worth writing as an assertion in your own code, because the day it fails is the day you learn something you did not know about the data:</a:t>
            </a:r>
          </a:p>
        </p:txBody>
      </p:sp>
      <p:sp>
        <p:nvSpPr>
          <p:cNvPr id="6" name="TextBox 5"/>
          <p:cNvSpPr txBox="1"/>
          <p:nvPr/>
        </p:nvSpPr>
        <p:spPr>
          <a:xfrm>
            <a:off x="777240" y="3636644"/>
            <a:ext cx="10607040" cy="502920"/>
          </a:xfrm>
          <a:prstGeom prst="rect">
            <a:avLst/>
          </a:prstGeom>
          <a:noFill/>
        </p:spPr>
        <p:txBody>
          <a:bodyPr wrap="square">
            <a:spAutoFit/>
          </a:bodyPr>
          <a:lstStyle/>
          <a:p>
            <a:pPr>
              <a:spcAft>
                <a:spcPts val="400"/>
              </a:spcAft>
            </a:pPr>
            <a:r>
              <a:rPr sz="1700" b="0">
                <a:solidFill>
                  <a:srgbClr val="2B4A7D"/>
                </a:solidFill>
                <a:latin typeface="Consolas"/>
              </a:rPr>
              <a:t>assert len(rows) == len(kept) + len(rejects), "records went missing"</a:t>
            </a:r>
          </a:p>
        </p:txBody>
      </p:sp>
      <p:sp>
        <p:nvSpPr>
          <p:cNvPr id="7" name="TextBox 6"/>
          <p:cNvSpPr txBox="1"/>
          <p:nvPr/>
        </p:nvSpPr>
        <p:spPr>
          <a:xfrm>
            <a:off x="777240" y="4276725"/>
            <a:ext cx="10607040" cy="790575"/>
          </a:xfrm>
          <a:prstGeom prst="rect">
            <a:avLst/>
          </a:prstGeom>
          <a:noFill/>
        </p:spPr>
        <p:txBody>
          <a:bodyPr wrap="square">
            <a:spAutoFit/>
          </a:bodyPr>
          <a:lstStyle/>
          <a:p>
            <a:pPr>
              <a:spcAft>
                <a:spcPts val="1000"/>
              </a:spcAft>
            </a:pPr>
            <a:r>
              <a:rPr sz="2100" b="0">
                <a:solidFill>
                  <a:srgbClr val="1C1C1A"/>
                </a:solidFill>
                <a:latin typeface="Calibri"/>
              </a:rPr>
              <a:t>A total with no reconciliation beside it is a number somebody has to take on trust. A total with one is a number they can check in two seconds.</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From the field</a:t>
            </a:r>
          </a:p>
        </p:txBody>
      </p:sp>
      <p:sp>
        <p:nvSpPr>
          <p:cNvPr id="4" name="TextBox 3"/>
          <p:cNvSpPr txBox="1"/>
          <p:nvPr/>
        </p:nvSpPr>
        <p:spPr>
          <a:xfrm>
            <a:off x="777240" y="1965960"/>
            <a:ext cx="10607040" cy="1781175"/>
          </a:xfrm>
          <a:prstGeom prst="rect">
            <a:avLst/>
          </a:prstGeom>
          <a:noFill/>
        </p:spPr>
        <p:txBody>
          <a:bodyPr wrap="square">
            <a:spAutoFit/>
          </a:bodyPr>
          <a:lstStyle/>
          <a:p>
            <a:pPr>
              <a:spcAft>
                <a:spcPts val="1000"/>
              </a:spcAft>
            </a:pPr>
            <a:r>
              <a:rPr sz="2100" b="0">
                <a:solidFill>
                  <a:srgbClr val="1C1C1A"/>
                </a:solidFill>
                <a:latin typeface="Calibri"/>
              </a:rPr>
              <a:t>Knight Capital, 1 August 2012. About USD 440 million lost in 45 minutes.</a:t>
            </a:r>
          </a:p>
          <a:p>
            <a:pPr>
              <a:spcAft>
                <a:spcPts val="1000"/>
              </a:spcAft>
            </a:pPr>
            <a:r>
              <a:rPr sz="2100" b="0">
                <a:solidFill>
                  <a:srgbClr val="1C1C1A"/>
                </a:solidFill>
                <a:latin typeface="Calibri"/>
              </a:rPr>
              <a:t>A deployment reused an old flag. The system did not fail loudly. It kept trading, at speed, on the wrong rule.</a:t>
            </a:r>
          </a:p>
          <a:p>
            <a:pPr>
              <a:spcAft>
                <a:spcPts val="1000"/>
              </a:spcAft>
            </a:pPr>
            <a:r>
              <a:rPr sz="2100" b="0">
                <a:solidFill>
                  <a:srgbClr val="1C1C1A"/>
                </a:solidFill>
                <a:latin typeface="Calibri"/>
              </a:rPr>
              <a:t>The argument for validating early and failing loudly is not a style preference. It is that number.</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Knight Capital, the mechanism</a:t>
            </a:r>
          </a:p>
        </p:txBody>
      </p:sp>
      <p:pic>
        <p:nvPicPr>
          <p:cNvPr id="5" name="Picture 4" descr="9d8d84e7a7bc5b2b.png"/>
          <p:cNvPicPr>
            <a:picLocks noChangeAspect="1"/>
          </p:cNvPicPr>
          <p:nvPr/>
        </p:nvPicPr>
        <p:blipFill>
          <a:blip r:embed="rId2"/>
          <a:stretch>
            <a:fillRect/>
          </a:stretch>
        </p:blipFill>
        <p:spPr>
          <a:xfrm>
            <a:off x="5481166" y="1965960"/>
            <a:ext cx="1199187" cy="4023360"/>
          </a:xfrm>
          <a:prstGeom prst="rect">
            <a:avLst/>
          </a:prstGeom>
        </p:spPr>
      </p:pic>
      <p:sp>
        <p:nvSpPr>
          <p:cNvPr id="6" name="TextBox 5"/>
          <p:cNvSpPr txBox="1"/>
          <p:nvPr/>
        </p:nvSpPr>
        <p:spPr>
          <a:xfrm>
            <a:off x="777240" y="6126480"/>
            <a:ext cx="10607040" cy="542925"/>
          </a:xfrm>
          <a:prstGeom prst="rect">
            <a:avLst/>
          </a:prstGeom>
          <a:noFill/>
        </p:spPr>
        <p:txBody>
          <a:bodyPr wrap="square">
            <a:spAutoFit/>
          </a:bodyPr>
          <a:lstStyle/>
          <a:p>
            <a:pPr>
              <a:spcAft>
                <a:spcPts val="1000"/>
              </a:spcAft>
            </a:pPr>
            <a:r>
              <a:rPr sz="2100" b="0">
                <a:solidFill>
                  <a:srgbClr val="1C1C1A"/>
                </a:solidFill>
                <a:latin typeface="Calibri"/>
              </a:rPr>
              <a:t>The dead code was never deleted, only stopped being called. Reusing its flag called it again.</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Knight Capital, what it cost</a:t>
            </a:r>
          </a:p>
        </p:txBody>
      </p:sp>
      <p:graphicFrame>
        <p:nvGraphicFramePr>
          <p:cNvPr id="5" name="Table 4"/>
          <p:cNvGraphicFramePr>
            <a:graphicFrameLocks noGrp="1"/>
          </p:cNvGraphicFramePr>
          <p:nvPr/>
        </p:nvGraphicFramePr>
        <p:xfrm>
          <a:off x="777240" y="1965960"/>
          <a:ext cx="10607040" cy="2688336"/>
        </p:xfrm>
        <a:graphic>
          <a:graphicData uri="http://schemas.openxmlformats.org/drawingml/2006/table">
            <a:tbl>
              <a:tblPr firstRow="1" bandRow="1">
                <a:tableStyleId>{5C22544A-7EE6-4342-B048-85BDC9FD1C3A}</a:tableStyleId>
              </a:tblPr>
              <a:tblGrid>
                <a:gridCol w="5303520"/>
                <a:gridCol w="5303520"/>
              </a:tblGrid>
              <a:tr h="384048">
                <a:tc>
                  <a:txBody>
                    <a:bodyPr/>
                    <a:lstStyle/>
                    <a:p>
                      <a:r>
                        <a:rPr sz="1300" b="1">
                          <a:solidFill>
                            <a:srgbClr val="2B4A7D"/>
                          </a:solidFill>
                          <a:latin typeface="Calibri"/>
                        </a:rPr>
                        <a:t>Fact</a:t>
                      </a:r>
                    </a:p>
                  </a:txBody>
                  <a:tcPr marT="25400" marB="25400"/>
                </a:tc>
                <a:tc>
                  <a:txBody>
                    <a:bodyPr/>
                    <a:lstStyle/>
                    <a:p>
                      <a:r>
                        <a:rPr sz="1300" b="1">
                          <a:solidFill>
                            <a:srgbClr val="2B4A7D"/>
                          </a:solidFill>
                          <a:latin typeface="Calibri"/>
                        </a:rPr>
                        <a:t>Figure</a:t>
                      </a:r>
                    </a:p>
                  </a:txBody>
                  <a:tcPr marT="25400" marB="25400"/>
                </a:tc>
              </a:tr>
              <a:tr h="384048">
                <a:tc>
                  <a:txBody>
                    <a:bodyPr/>
                    <a:lstStyle/>
                    <a:p>
                      <a:r>
                        <a:rPr sz="1400" b="0">
                          <a:solidFill>
                            <a:srgbClr val="1C1C1A"/>
                          </a:solidFill>
                          <a:latin typeface="Calibri"/>
                        </a:rPr>
                        <a:t>Date</a:t>
                      </a:r>
                    </a:p>
                  </a:txBody>
                  <a:tcPr marT="25400" marB="25400"/>
                </a:tc>
                <a:tc>
                  <a:txBody>
                    <a:bodyPr/>
                    <a:lstStyle/>
                    <a:p>
                      <a:r>
                        <a:rPr sz="1400" b="0">
                          <a:solidFill>
                            <a:srgbClr val="1C1C1A"/>
                          </a:solidFill>
                          <a:latin typeface="Calibri"/>
                        </a:rPr>
                        <a:t>1 August 2012</a:t>
                      </a:r>
                    </a:p>
                  </a:txBody>
                  <a:tcPr marT="25400" marB="25400"/>
                </a:tc>
              </a:tr>
              <a:tr h="384048">
                <a:tc>
                  <a:txBody>
                    <a:bodyPr/>
                    <a:lstStyle/>
                    <a:p>
                      <a:r>
                        <a:rPr sz="1400" b="0">
                          <a:solidFill>
                            <a:srgbClr val="1C1C1A"/>
                          </a:solidFill>
                          <a:latin typeface="Calibri"/>
                        </a:rPr>
                        <a:t>Time to the loss</a:t>
                      </a:r>
                    </a:p>
                  </a:txBody>
                  <a:tcPr marT="25400" marB="25400"/>
                </a:tc>
                <a:tc>
                  <a:txBody>
                    <a:bodyPr/>
                    <a:lstStyle/>
                    <a:p>
                      <a:r>
                        <a:rPr sz="1400" b="0">
                          <a:solidFill>
                            <a:srgbClr val="1C1C1A"/>
                          </a:solidFill>
                          <a:latin typeface="Calibri"/>
                        </a:rPr>
                        <a:t>About 45 minutes</a:t>
                      </a:r>
                    </a:p>
                  </a:txBody>
                  <a:tcPr marT="25400" marB="25400"/>
                </a:tc>
              </a:tr>
              <a:tr h="384048">
                <a:tc>
                  <a:txBody>
                    <a:bodyPr/>
                    <a:lstStyle/>
                    <a:p>
                      <a:r>
                        <a:rPr sz="1400" b="0">
                          <a:solidFill>
                            <a:srgbClr val="1C1C1A"/>
                          </a:solidFill>
                          <a:latin typeface="Calibri"/>
                        </a:rPr>
                        <a:t>Executions</a:t>
                      </a:r>
                    </a:p>
                  </a:txBody>
                  <a:tcPr marT="25400" marB="25400"/>
                </a:tc>
                <a:tc>
                  <a:txBody>
                    <a:bodyPr/>
                    <a:lstStyle/>
                    <a:p>
                      <a:r>
                        <a:rPr sz="1400" b="0">
                          <a:solidFill>
                            <a:srgbClr val="1C1C1A"/>
                          </a:solidFill>
                          <a:latin typeface="Calibri"/>
                        </a:rPr>
                        <a:t>More than 4 million, in 154 stocks</a:t>
                      </a:r>
                    </a:p>
                  </a:txBody>
                  <a:tcPr marT="25400" marB="25400"/>
                </a:tc>
              </a:tr>
              <a:tr h="384048">
                <a:tc>
                  <a:txBody>
                    <a:bodyPr/>
                    <a:lstStyle/>
                    <a:p>
                      <a:r>
                        <a:rPr sz="1400" b="0">
                          <a:solidFill>
                            <a:srgbClr val="1C1C1A"/>
                          </a:solidFill>
                          <a:latin typeface="Calibri"/>
                        </a:rPr>
                        <a:t>Shares</a:t>
                      </a:r>
                    </a:p>
                  </a:txBody>
                  <a:tcPr marT="25400" marB="25400"/>
                </a:tc>
                <a:tc>
                  <a:txBody>
                    <a:bodyPr/>
                    <a:lstStyle/>
                    <a:p>
                      <a:r>
                        <a:rPr sz="1400" b="0">
                          <a:solidFill>
                            <a:srgbClr val="1C1C1A"/>
                          </a:solidFill>
                          <a:latin typeface="Calibri"/>
                        </a:rPr>
                        <a:t>More than 397 million</a:t>
                      </a:r>
                    </a:p>
                  </a:txBody>
                  <a:tcPr marT="25400" marB="25400"/>
                </a:tc>
              </a:tr>
              <a:tr h="384048">
                <a:tc>
                  <a:txBody>
                    <a:bodyPr/>
                    <a:lstStyle/>
                    <a:p>
                      <a:r>
                        <a:rPr sz="1400" b="0">
                          <a:solidFill>
                            <a:srgbClr val="1C1C1A"/>
                          </a:solidFill>
                          <a:latin typeface="Calibri"/>
                        </a:rPr>
                        <a:t>Realised pre-tax loss</a:t>
                      </a:r>
                    </a:p>
                  </a:txBody>
                  <a:tcPr marT="25400" marB="25400"/>
                </a:tc>
                <a:tc>
                  <a:txBody>
                    <a:bodyPr/>
                    <a:lstStyle/>
                    <a:p>
                      <a:r>
                        <a:rPr sz="1400" b="0">
                          <a:solidFill>
                            <a:srgbClr val="1C1C1A"/>
                          </a:solidFill>
                          <a:latin typeface="Calibri"/>
                        </a:rPr>
                        <a:t>About USD 440 million</a:t>
                      </a:r>
                    </a:p>
                  </a:txBody>
                  <a:tcPr marT="25400" marB="25400"/>
                </a:tc>
              </a:tr>
              <a:tr h="384048">
                <a:tc>
                  <a:txBody>
                    <a:bodyPr/>
                    <a:lstStyle/>
                    <a:p>
                      <a:r>
                        <a:rPr sz="1400" b="0">
                          <a:solidFill>
                            <a:srgbClr val="1C1C1A"/>
                          </a:solidFill>
                          <a:latin typeface="Calibri"/>
                        </a:rPr>
                        <a:t>What followed</a:t>
                      </a:r>
                    </a:p>
                  </a:txBody>
                  <a:tcPr marT="25400" marB="25400"/>
                </a:tc>
                <a:tc>
                  <a:txBody>
                    <a:bodyPr/>
                    <a:lstStyle/>
                    <a:p>
                      <a:r>
                        <a:rPr sz="1400" b="0">
                          <a:solidFill>
                            <a:srgbClr val="1C1C1A"/>
                          </a:solidFill>
                          <a:latin typeface="Calibri"/>
                        </a:rPr>
                        <a:t>The firm raised about USD 400 million within days to survive, and was acquired within months</a:t>
                      </a:r>
                    </a:p>
                  </a:txBody>
                  <a:tcPr marT="25400" marB="25400"/>
                </a:tc>
              </a:tr>
            </a:tbl>
          </a:graphicData>
        </a:graphic>
      </p:graphicFrame>
      <p:sp>
        <p:nvSpPr>
          <p:cNvPr id="6" name="TextBox 5"/>
          <p:cNvSpPr txBox="1"/>
          <p:nvPr/>
        </p:nvSpPr>
        <p:spPr>
          <a:xfrm>
            <a:off x="777240" y="4837176"/>
            <a:ext cx="10607040" cy="790575"/>
          </a:xfrm>
          <a:prstGeom prst="rect">
            <a:avLst/>
          </a:prstGeom>
          <a:noFill/>
        </p:spPr>
        <p:txBody>
          <a:bodyPr wrap="square">
            <a:spAutoFit/>
          </a:bodyPr>
          <a:lstStyle/>
          <a:p>
            <a:pPr>
              <a:spcAft>
                <a:spcPts val="1000"/>
              </a:spcAft>
            </a:pPr>
            <a:r>
              <a:rPr sz="2100" b="0">
                <a:solidFill>
                  <a:srgbClr val="1C1C1A"/>
                </a:solidFill>
                <a:latin typeface="Calibri"/>
              </a:rPr>
              <a:t>Source: Knight Capital Group, Wikipedia: https://en.wikipedia.org/wiki/Knight_Capital_Group (verified 09 September 2026)</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line from that to your cell today</a:t>
            </a:r>
          </a:p>
        </p:txBody>
      </p:sp>
      <p:sp>
        <p:nvSpPr>
          <p:cNvPr id="5" name="TextBox 4"/>
          <p:cNvSpPr txBox="1"/>
          <p:nvPr/>
        </p:nvSpPr>
        <p:spPr>
          <a:xfrm>
            <a:off x="777240" y="1965960"/>
            <a:ext cx="10607040" cy="2028825"/>
          </a:xfrm>
          <a:prstGeom prst="rect">
            <a:avLst/>
          </a:prstGeom>
          <a:noFill/>
        </p:spPr>
        <p:txBody>
          <a:bodyPr wrap="square">
            <a:spAutoFit/>
          </a:bodyPr>
          <a:lstStyle/>
          <a:p>
            <a:pPr>
              <a:spcAft>
                <a:spcPts val="1000"/>
              </a:spcAft>
            </a:pPr>
            <a:r>
              <a:rPr sz="2100" b="0">
                <a:solidFill>
                  <a:srgbClr val="1C1C1A"/>
                </a:solidFill>
                <a:latin typeface="Calibri"/>
              </a:rPr>
              <a:t>Knight had no shortage of engineers. It had a deployment that half succeeded and nothing that said so.</a:t>
            </a:r>
          </a:p>
          <a:p>
            <a:pPr>
              <a:spcAft>
                <a:spcPts val="1000"/>
              </a:spcAft>
            </a:pPr>
            <a:r>
              <a:rPr sz="2100" b="0">
                <a:solidFill>
                  <a:srgbClr val="1C1C1A"/>
                </a:solidFill>
                <a:latin typeface="Calibri"/>
              </a:rPr>
              <a:t>Your clean_records half succeeds every time you run it, because two records will not convert. The difference between you and that morning is one list and one printed count.</a:t>
            </a:r>
          </a:p>
          <a:p>
            <a:pPr>
              <a:spcAft>
                <a:spcPts val="1000"/>
              </a:spcAft>
            </a:pPr>
            <a:r>
              <a:rPr sz="2100" b="0">
                <a:solidFill>
                  <a:srgbClr val="1C1C1A"/>
                </a:solidFill>
                <a:latin typeface="Calibri"/>
              </a:rPr>
              <a:t>The habit is small and it is the same habit at every scale. When part of the work fails, make the failure a value the program carries, rather than a thing that happens and is gone.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a rejects log lives in production</a:t>
            </a:r>
          </a:p>
        </p:txBody>
      </p:sp>
      <p:sp>
        <p:nvSpPr>
          <p:cNvPr id="5" name="TextBox 4"/>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A data pipeline at any size writes the same two outputs you are about to write. The rejects side gets a name and a rule attached to it.</a:t>
            </a:r>
          </a:p>
        </p:txBody>
      </p:sp>
      <p:graphicFrame>
        <p:nvGraphicFramePr>
          <p:cNvPr id="6" name="Table 5"/>
          <p:cNvGraphicFramePr>
            <a:graphicFrameLocks noGrp="1"/>
          </p:cNvGraphicFramePr>
          <p:nvPr/>
        </p:nvGraphicFramePr>
        <p:xfrm>
          <a:off x="777240" y="2893695"/>
          <a:ext cx="10607040" cy="1536192"/>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In production it is called</a:t>
                      </a:r>
                    </a:p>
                  </a:txBody>
                  <a:tcPr marT="25400" marB="25400"/>
                </a:tc>
                <a:tc>
                  <a:txBody>
                    <a:bodyPr/>
                    <a:lstStyle/>
                    <a:p>
                      <a:r>
                        <a:rPr sz="1300" b="1">
                          <a:solidFill>
                            <a:srgbClr val="2B4A7D"/>
                          </a:solidFill>
                          <a:latin typeface="Calibri"/>
                        </a:rPr>
                        <a:t>What it holds</a:t>
                      </a:r>
                    </a:p>
                  </a:txBody>
                  <a:tcPr marT="25400" marB="25400"/>
                </a:tc>
                <a:tc>
                  <a:txBody>
                    <a:bodyPr/>
                    <a:lstStyle/>
                    <a:p>
                      <a:r>
                        <a:rPr sz="1300" b="1">
                          <a:solidFill>
                            <a:srgbClr val="2B4A7D"/>
                          </a:solidFill>
                          <a:latin typeface="Calibri"/>
                        </a:rPr>
                        <a:t>The rule attached</a:t>
                      </a:r>
                    </a:p>
                  </a:txBody>
                  <a:tcPr marT="25400" marB="25400"/>
                </a:tc>
              </a:tr>
              <a:tr h="384048">
                <a:tc>
                  <a:txBody>
                    <a:bodyPr/>
                    <a:lstStyle/>
                    <a:p>
                      <a:r>
                        <a:rPr sz="1400" b="0">
                          <a:solidFill>
                            <a:srgbClr val="1C1C1A"/>
                          </a:solidFill>
                          <a:latin typeface="Calibri"/>
                        </a:rPr>
                        <a:t>A dead letter queue</a:t>
                      </a:r>
                    </a:p>
                  </a:txBody>
                  <a:tcPr marT="25400" marB="25400"/>
                </a:tc>
                <a:tc>
                  <a:txBody>
                    <a:bodyPr/>
                    <a:lstStyle/>
                    <a:p>
                      <a:r>
                        <a:rPr sz="1400" b="0">
                          <a:solidFill>
                            <a:srgbClr val="1C1C1A"/>
                          </a:solidFill>
                          <a:latin typeface="Calibri"/>
                        </a:rPr>
                        <a:t>Messages the consumer could not process</a:t>
                      </a:r>
                    </a:p>
                  </a:txBody>
                  <a:tcPr marT="25400" marB="25400"/>
                </a:tc>
                <a:tc>
                  <a:txBody>
                    <a:bodyPr/>
                    <a:lstStyle/>
                    <a:p>
                      <a:r>
                        <a:rPr sz="1400" b="0">
                          <a:solidFill>
                            <a:srgbClr val="1C1C1A"/>
                          </a:solidFill>
                          <a:latin typeface="Calibri"/>
                        </a:rPr>
                        <a:t>Retry a fixed number of times, then park it for a human</a:t>
                      </a:r>
                    </a:p>
                  </a:txBody>
                  <a:tcPr marT="25400" marB="25400"/>
                </a:tc>
              </a:tr>
              <a:tr h="384048">
                <a:tc>
                  <a:txBody>
                    <a:bodyPr/>
                    <a:lstStyle/>
                    <a:p>
                      <a:r>
                        <a:rPr sz="1400" b="0">
                          <a:solidFill>
                            <a:srgbClr val="1C1C1A"/>
                          </a:solidFill>
                          <a:latin typeface="Calibri"/>
                        </a:rPr>
                        <a:t>A quarantine table</a:t>
                      </a:r>
                    </a:p>
                  </a:txBody>
                  <a:tcPr marT="25400" marB="25400"/>
                </a:tc>
                <a:tc>
                  <a:txBody>
                    <a:bodyPr/>
                    <a:lstStyle/>
                    <a:p>
                      <a:r>
                        <a:rPr sz="1400" b="0">
                          <a:solidFill>
                            <a:srgbClr val="1C1C1A"/>
                          </a:solidFill>
                          <a:latin typeface="Calibri"/>
                        </a:rPr>
                        <a:t>Rows that failed validation on load</a:t>
                      </a:r>
                    </a:p>
                  </a:txBody>
                  <a:tcPr marT="25400" marB="25400"/>
                </a:tc>
                <a:tc>
                  <a:txBody>
                    <a:bodyPr/>
                    <a:lstStyle/>
                    <a:p>
                      <a:r>
                        <a:rPr sz="1400" b="0">
                          <a:solidFill>
                            <a:srgbClr val="1C1C1A"/>
                          </a:solidFill>
                          <a:latin typeface="Calibri"/>
                        </a:rPr>
                        <a:t>Nothing downstream reads it, and someone owns clearing it</a:t>
                      </a:r>
                    </a:p>
                  </a:txBody>
                  <a:tcPr marT="25400" marB="25400"/>
                </a:tc>
              </a:tr>
              <a:tr h="384048">
                <a:tc>
                  <a:txBody>
                    <a:bodyPr/>
                    <a:lstStyle/>
                    <a:p>
                      <a:r>
                        <a:rPr sz="1400" b="0">
                          <a:solidFill>
                            <a:srgbClr val="1C1C1A"/>
                          </a:solidFill>
                          <a:latin typeface="Calibri"/>
                        </a:rPr>
                        <a:t>A rejects file beside the clean file</a:t>
                      </a:r>
                    </a:p>
                  </a:txBody>
                  <a:tcPr marT="25400" marB="25400"/>
                </a:tc>
                <a:tc>
                  <a:txBody>
                    <a:bodyPr/>
                    <a:lstStyle/>
                    <a:p>
                      <a:r>
                        <a:rPr sz="1400" b="0">
                          <a:solidFill>
                            <a:srgbClr val="1C1C1A"/>
                          </a:solidFill>
                          <a:latin typeface="Calibri"/>
                        </a:rPr>
                        <a:t>Exactly what you are writing today</a:t>
                      </a:r>
                    </a:p>
                  </a:txBody>
                  <a:tcPr marT="25400" marB="25400"/>
                </a:tc>
                <a:tc>
                  <a:txBody>
                    <a:bodyPr/>
                    <a:lstStyle/>
                    <a:p>
                      <a:r>
                        <a:rPr sz="1400" b="0">
                          <a:solidFill>
                            <a:srgbClr val="1C1C1A"/>
                          </a:solidFill>
                          <a:latin typeface="Calibri"/>
                        </a:rPr>
                        <a:t>The load is not finished until the counts reconcile</a:t>
                      </a:r>
                    </a:p>
                  </a:txBody>
                  <a:tcPr marT="25400" marB="25400"/>
                </a:tc>
              </a:tr>
            </a:tbl>
          </a:graphicData>
        </a:graphic>
      </p:graphicFrame>
      <p:sp>
        <p:nvSpPr>
          <p:cNvPr id="7" name="TextBox 6"/>
          <p:cNvSpPr txBox="1"/>
          <p:nvPr/>
        </p:nvSpPr>
        <p:spPr>
          <a:xfrm>
            <a:off x="777240" y="4612767"/>
            <a:ext cx="10607040" cy="542925"/>
          </a:xfrm>
          <a:prstGeom prst="rect">
            <a:avLst/>
          </a:prstGeom>
          <a:noFill/>
        </p:spPr>
        <p:txBody>
          <a:bodyPr wrap="square">
            <a:spAutoFit/>
          </a:bodyPr>
          <a:lstStyle/>
          <a:p>
            <a:pPr>
              <a:spcAft>
                <a:spcPts val="1000"/>
              </a:spcAft>
            </a:pPr>
            <a:r>
              <a:rPr sz="2100" b="0">
                <a:solidFill>
                  <a:srgbClr val="1C1C1A"/>
                </a:solidFill>
                <a:latin typeface="Calibri"/>
              </a:rPr>
              <a:t>The names change with the tool. The identity in D17 does not.</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Interview question</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1000"/>
              </a:spcAft>
            </a:pPr>
            <a:r>
              <a:rPr sz="2100" b="0">
                <a:solidFill>
                  <a:srgbClr val="1C1C1A"/>
                </a:solidFill>
                <a:latin typeface="Calibri"/>
              </a:rPr>
              <a:t>"Why is a bare except worse than letting the code crash?"</a:t>
            </a:r>
          </a:p>
          <a:p>
            <a:pPr>
              <a:spcAft>
                <a:spcPts val="1000"/>
              </a:spcAft>
            </a:pPr>
            <a:r>
              <a:rPr sz="2100" b="0">
                <a:solidFill>
                  <a:srgbClr val="1C1C1A"/>
                </a:solidFill>
                <a:latin typeface="Calibri"/>
              </a:rPr>
              <a:t>You can answer this now, with today's two output lines as your evidence.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3</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Set the bad record aside, never drop it.</a:t>
            </a:r>
          </a:p>
          <a:p>
            <a:pPr>
              <a:spcAft>
                <a:spcPts val="1000"/>
              </a:spcAft>
            </a:pPr>
            <a:r>
              <a:rPr sz="2100" b="0">
                <a:solidFill>
                  <a:srgbClr val="1C1C1A"/>
                </a:solidFill>
                <a:latin typeface="Calibri"/>
              </a:rPr>
              <a:t>2. Carry the interpreter's own reason.</a:t>
            </a:r>
          </a:p>
          <a:p>
            <a:pPr>
              <a:spcAft>
                <a:spcPts val="1000"/>
              </a:spcAft>
            </a:pPr>
            <a:r>
              <a:rPr sz="2100" b="0">
                <a:solidFill>
                  <a:srgbClr val="1C1C1A"/>
                </a:solidFill>
                <a:latin typeface="Calibri"/>
              </a:rPr>
              <a:t>3. Reconcile: input equals clean plus rejected.</a:t>
            </a:r>
          </a:p>
          <a:p>
            <a:pPr>
              <a:spcAft>
                <a:spcPts val="1000"/>
              </a:spcAft>
            </a:pPr>
            <a:r>
              <a:rPr sz="2100" b="0">
                <a:solidFill>
                  <a:srgbClr val="1C1C1A"/>
                </a:solidFill>
                <a:latin typeface="Calibri"/>
              </a:rPr>
              <a:t>4. Ship the rejects list as part of the job.</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4: THE INTERVIEW BLOCK</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[inline cell] &gt; [packaged decision] &gt; [read the failure] &gt; [log the rejection] &gt; [cross the boundary]</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this section is</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Two of the questions below are on this week's own question set and will be on Saturday's paper. The rest are asked often enough at this level that this programme puts them in front of you now.</a:t>
            </a:r>
          </a:p>
          <a:p>
            <a:pPr>
              <a:spcAft>
                <a:spcPts val="1000"/>
              </a:spcAft>
            </a:pPr>
            <a:r>
              <a:rPr sz="2100" b="0">
                <a:solidFill>
                  <a:srgbClr val="1C1C1A"/>
                </a:solidFill>
                <a:latin typeface="Calibri"/>
              </a:rPr>
              <a:t>Each one gets the same treatment: what the question is really testing, the answer, and the follow-up you should expect.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1: how do you read a Python traceback</a:t>
            </a:r>
          </a:p>
        </p:txBody>
      </p:sp>
      <p:sp>
        <p:nvSpPr>
          <p:cNvPr id="4" name="TextBox 3"/>
          <p:cNvSpPr txBox="1"/>
          <p:nvPr/>
        </p:nvSpPr>
        <p:spPr>
          <a:xfrm>
            <a:off x="777240" y="1965960"/>
            <a:ext cx="10607040" cy="3143250"/>
          </a:xfrm>
          <a:prstGeom prst="rect">
            <a:avLst/>
          </a:prstGeom>
          <a:noFill/>
        </p:spPr>
        <p:txBody>
          <a:bodyPr wrap="square">
            <a:spAutoFit/>
          </a:bodyPr>
          <a:lstStyle/>
          <a:p>
            <a:pPr>
              <a:spcAft>
                <a:spcPts val="1000"/>
              </a:spcAft>
            </a:pPr>
            <a:r>
              <a:rPr sz="2100" b="0">
                <a:solidFill>
                  <a:srgbClr val="1C1C1A"/>
                </a:solidFill>
                <a:latin typeface="Calibri"/>
              </a:rPr>
              <a:t>This is on the week's question set.</a:t>
            </a:r>
          </a:p>
          <a:p>
            <a:pPr>
              <a:spcAft>
                <a:spcPts val="1000"/>
              </a:spcAft>
            </a:pPr>
            <a:r>
              <a:rPr sz="2100" b="1">
                <a:solidFill>
                  <a:srgbClr val="1C1C1A"/>
                </a:solidFill>
                <a:latin typeface="Calibri"/>
              </a:rPr>
              <a:t>What it is really testing.</a:t>
            </a:r>
            <a:r>
              <a:rPr sz="2100" b="0">
                <a:solidFill>
                  <a:srgbClr val="1C1C1A"/>
                </a:solidFill>
                <a:latin typeface="Calibri"/>
              </a:rPr>
              <a:t> Whether you have debugged anything yourself, or only watched someone else do it.</a:t>
            </a:r>
          </a:p>
          <a:p>
            <a:pPr>
              <a:spcAft>
                <a:spcPts val="1000"/>
              </a:spcAft>
            </a:pPr>
            <a:r>
              <a:rPr sz="2100" b="1">
                <a:solidFill>
                  <a:srgbClr val="1C1C1A"/>
                </a:solidFill>
                <a:latin typeface="Calibri"/>
              </a:rPr>
              <a:t>The answer, in three beats.</a:t>
            </a:r>
            <a:r>
              <a:rPr sz="2100" b="0">
                <a:solidFill>
                  <a:srgbClr val="1C1C1A"/>
                </a:solidFill>
                <a:latin typeface="Calibri"/>
              </a:rPr>
              <a:t> I read it bottom-up. The last line gives me the exception type and the offending value. The line above tells me the file and the line number, and I scan up to the first frame in my own code, because the deepest frame is usually library code. Then I ask what value it was holding, because that names the record.</a:t>
            </a:r>
          </a:p>
          <a:p>
            <a:pPr>
              <a:spcAft>
                <a:spcPts val="1000"/>
              </a:spcAft>
            </a:pPr>
            <a:r>
              <a:rPr sz="2100" b="1">
                <a:solidFill>
                  <a:srgbClr val="1C1C1A"/>
                </a:solidFill>
                <a:latin typeface="Calibri"/>
              </a:rPr>
              <a:t>The follow-up.</a:t>
            </a:r>
            <a:r>
              <a:rPr sz="2100" b="0">
                <a:solidFill>
                  <a:srgbClr val="1C1C1A"/>
                </a:solidFill>
                <a:latin typeface="Calibri"/>
              </a:rPr>
              <a:t> "What if the traceback is fifty lines?" Then the top and the bottom are the only parts that matter at first. The bottom says what broke, and I scan down from the top for the first file path that is mine.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1, the deeper version</a:t>
            </a:r>
          </a:p>
        </p:txBody>
      </p:sp>
      <p:sp>
        <p:nvSpPr>
          <p:cNvPr id="5" name="TextBox 4"/>
          <p:cNvSpPr txBox="1"/>
          <p:nvPr/>
        </p:nvSpPr>
        <p:spPr>
          <a:xfrm>
            <a:off x="777240" y="1965960"/>
            <a:ext cx="10607040" cy="2152650"/>
          </a:xfrm>
          <a:prstGeom prst="rect">
            <a:avLst/>
          </a:prstGeom>
          <a:noFill/>
        </p:spPr>
        <p:txBody>
          <a:bodyPr wrap="square">
            <a:spAutoFit/>
          </a:bodyPr>
          <a:lstStyle/>
          <a:p>
            <a:pPr>
              <a:spcAft>
                <a:spcPts val="1000"/>
              </a:spcAft>
            </a:pPr>
            <a:r>
              <a:rPr sz="2100" b="0">
                <a:solidFill>
                  <a:srgbClr val="1C1C1A"/>
                </a:solidFill>
                <a:latin typeface="Calibri"/>
              </a:rPr>
              <a:t>An interviewer who wants to separate you from the room asks what a re-raised exception means, or why a traceback sometimes shows two failures joined by the line "During handling of the above exception, another exception occurred".</a:t>
            </a:r>
          </a:p>
          <a:p>
            <a:pPr>
              <a:spcAft>
                <a:spcPts val="1000"/>
              </a:spcAft>
            </a:pPr>
            <a:r>
              <a:rPr sz="2100" b="0">
                <a:solidFill>
                  <a:srgbClr val="1C1C1A"/>
                </a:solidFill>
                <a:latin typeface="Calibri"/>
              </a:rPr>
              <a:t>The honest answer at your stage: that second form means an error happened inside an except block, and Python shows both so the original cause is not lost. Say that, and say you have not used chained exceptions in anger yet. Naming the edge of what you know is worth more than guessing at it.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2: why is a bare except worse than letting the code crash</a:t>
            </a:r>
          </a:p>
        </p:txBody>
      </p:sp>
      <p:sp>
        <p:nvSpPr>
          <p:cNvPr id="4" name="TextBox 3"/>
          <p:cNvSpPr txBox="1"/>
          <p:nvPr/>
        </p:nvSpPr>
        <p:spPr>
          <a:xfrm>
            <a:off x="777240" y="1965960"/>
            <a:ext cx="10607040" cy="3390900"/>
          </a:xfrm>
          <a:prstGeom prst="rect">
            <a:avLst/>
          </a:prstGeom>
          <a:noFill/>
        </p:spPr>
        <p:txBody>
          <a:bodyPr wrap="square">
            <a:spAutoFit/>
          </a:bodyPr>
          <a:lstStyle/>
          <a:p>
            <a:pPr>
              <a:spcAft>
                <a:spcPts val="1000"/>
              </a:spcAft>
            </a:pPr>
            <a:r>
              <a:rPr sz="2100" b="0">
                <a:solidFill>
                  <a:srgbClr val="1C1C1A"/>
                </a:solidFill>
                <a:latin typeface="Calibri"/>
              </a:rPr>
              <a:t>This is on the week's question set.</a:t>
            </a:r>
          </a:p>
          <a:p>
            <a:pPr>
              <a:spcAft>
                <a:spcPts val="1000"/>
              </a:spcAft>
            </a:pPr>
            <a:r>
              <a:rPr sz="2100" b="1">
                <a:solidFill>
                  <a:srgbClr val="1C1C1A"/>
                </a:solidFill>
                <a:latin typeface="Calibri"/>
              </a:rPr>
              <a:t>What it is really testing.</a:t>
            </a:r>
            <a:r>
              <a:rPr sz="2100" b="0">
                <a:solidFill>
                  <a:srgbClr val="1C1C1A"/>
                </a:solidFill>
                <a:latin typeface="Calibri"/>
              </a:rPr>
              <a:t> Whether you can argue about failure modes rather than recite a style rule.</a:t>
            </a:r>
          </a:p>
          <a:p>
            <a:pPr>
              <a:spcAft>
                <a:spcPts val="1000"/>
              </a:spcAft>
            </a:pPr>
            <a:r>
              <a:rPr sz="2100" b="1">
                <a:solidFill>
                  <a:srgbClr val="1C1C1A"/>
                </a:solidFill>
                <a:latin typeface="Calibri"/>
              </a:rPr>
              <a:t>The answer, in three beats.</a:t>
            </a:r>
            <a:r>
              <a:rPr sz="2100" b="0">
                <a:solidFill>
                  <a:srgbClr val="1C1C1A"/>
                </a:solidFill>
                <a:latin typeface="Calibri"/>
              </a:rPr>
              <a:t> A crash is loud and it stops the wrong number from travelling. A bare except catches everything, including errors I never reasoned about, and it usually leaves the program producing a plausible number nobody questions. In today's file a bare except reports thirty records processed when only twenty-eight converted, and the total is understated by roughly seven percent with nothing on screen to say so.</a:t>
            </a:r>
          </a:p>
          <a:p>
            <a:pPr>
              <a:spcAft>
                <a:spcPts val="1000"/>
              </a:spcAft>
            </a:pPr>
            <a:r>
              <a:rPr sz="2100" b="1">
                <a:solidFill>
                  <a:srgbClr val="1C1C1A"/>
                </a:solidFill>
                <a:latin typeface="Calibri"/>
              </a:rPr>
              <a:t>The follow-up.</a:t>
            </a:r>
            <a:r>
              <a:rPr sz="2100" b="0">
                <a:solidFill>
                  <a:srgbClr val="1C1C1A"/>
                </a:solidFill>
                <a:latin typeface="Calibri"/>
              </a:rPr>
              <a:t> "So never catch anything?" No. Catch the exception you expected, by name, and write down what you set aside. That is the difference between surviving a bad record and hiding it.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2, the numbers that make it land</a:t>
            </a:r>
          </a:p>
        </p:txBody>
      </p:sp>
      <p:sp>
        <p:nvSpPr>
          <p:cNvPr id="5" name="TextBox 4"/>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Bring the arithmetic, not the adjective. The claim "it hides errors" is a slogan. The claim below is evidence.</a:t>
            </a:r>
          </a:p>
        </p:txBody>
      </p:sp>
      <p:sp>
        <p:nvSpPr>
          <p:cNvPr id="6" name="TextBox 5"/>
          <p:cNvSpPr txBox="1"/>
          <p:nvPr/>
        </p:nvSpPr>
        <p:spPr>
          <a:xfrm>
            <a:off x="777240" y="2893695"/>
            <a:ext cx="10607040" cy="666750"/>
          </a:xfrm>
          <a:prstGeom prst="rect">
            <a:avLst/>
          </a:prstGeom>
          <a:noFill/>
        </p:spPr>
        <p:txBody>
          <a:bodyPr wrap="square">
            <a:spAutoFit/>
          </a:bodyPr>
          <a:lstStyle/>
          <a:p>
            <a:pPr>
              <a:spcAft>
                <a:spcPts val="400"/>
              </a:spcAft>
            </a:pPr>
            <a:r>
              <a:rPr sz="1700" b="0">
                <a:solidFill>
                  <a:srgbClr val="2B4A7D"/>
                </a:solidFill>
                <a:latin typeface="Consolas"/>
              </a:rPr>
              <a:t>bare except:    Processed 30 records. Total: 53745</a:t>
            </a:r>
          </a:p>
          <a:p>
            <a:pPr>
              <a:spcAft>
                <a:spcPts val="400"/>
              </a:spcAft>
            </a:pPr>
            <a:r>
              <a:rPr sz="1700" b="0">
                <a:solidFill>
                  <a:srgbClr val="2B4A7D"/>
                </a:solidFill>
                <a:latin typeface="Consolas"/>
              </a:rPr>
              <a:t>named except:   Clean 28, rejected 2, total 53745</a:t>
            </a:r>
          </a:p>
        </p:txBody>
      </p:sp>
      <p:sp>
        <p:nvSpPr>
          <p:cNvPr id="7" name="TextBox 6"/>
          <p:cNvSpPr txBox="1"/>
          <p:nvPr/>
        </p:nvSpPr>
        <p:spPr>
          <a:xfrm>
            <a:off x="777240" y="3697605"/>
            <a:ext cx="10607040" cy="790575"/>
          </a:xfrm>
          <a:prstGeom prst="rect">
            <a:avLst/>
          </a:prstGeom>
          <a:noFill/>
        </p:spPr>
        <p:txBody>
          <a:bodyPr wrap="square">
            <a:spAutoFit/>
          </a:bodyPr>
          <a:lstStyle/>
          <a:p>
            <a:pPr>
              <a:spcAft>
                <a:spcPts val="1000"/>
              </a:spcAft>
            </a:pPr>
            <a:r>
              <a:rPr sz="2100" b="0">
                <a:solidFill>
                  <a:srgbClr val="1C1C1A"/>
                </a:solidFill>
                <a:latin typeface="Calibri"/>
              </a:rPr>
              <a:t>Same total, and one of them is a lie about its own denominator. Say the two numbers, then say the identity: input equals clean plus rejected.</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3: what is the difference between return and print</a:t>
            </a:r>
          </a:p>
        </p:txBody>
      </p:sp>
      <p:sp>
        <p:nvSpPr>
          <p:cNvPr id="4" name="TextBox 3"/>
          <p:cNvSpPr txBox="1"/>
          <p:nvPr/>
        </p:nvSpPr>
        <p:spPr>
          <a:xfrm>
            <a:off x="777240" y="1965960"/>
            <a:ext cx="10607040" cy="2524125"/>
          </a:xfrm>
          <a:prstGeom prst="rect">
            <a:avLst/>
          </a:prstGeom>
          <a:noFill/>
        </p:spPr>
        <p:txBody>
          <a:bodyPr wrap="square">
            <a:spAutoFit/>
          </a:bodyPr>
          <a:lstStyle/>
          <a:p>
            <a:pPr>
              <a:spcAft>
                <a:spcPts val="1000"/>
              </a:spcAft>
            </a:pPr>
            <a:r>
              <a:rPr sz="2100" b="0">
                <a:solidFill>
                  <a:srgbClr val="1C1C1A"/>
                </a:solidFill>
                <a:latin typeface="Calibri"/>
              </a:rPr>
              <a:t>Asked constantly at entry level. This programme puts it here because it is the fastest way to tell whether somebody has written a function or only read about one.</a:t>
            </a:r>
          </a:p>
          <a:p>
            <a:pPr>
              <a:spcAft>
                <a:spcPts val="1000"/>
              </a:spcAft>
            </a:pPr>
            <a:r>
              <a:rPr sz="2100" b="1">
                <a:solidFill>
                  <a:srgbClr val="1C1C1A"/>
                </a:solidFill>
                <a:latin typeface="Calibri"/>
              </a:rPr>
              <a:t>The answer.</a:t>
            </a:r>
            <a:r>
              <a:rPr sz="2100" b="0">
                <a:solidFill>
                  <a:srgbClr val="1C1C1A"/>
                </a:solidFill>
                <a:latin typeface="Calibri"/>
              </a:rPr>
              <a:t> print writes to the screen for a human and hands nothing back. return gives a value to the line that called the function. A function that only prints hands back None, and the caller gets None, which is why result["order_id"] then raises TypeError: 'NoneType' object is not subscriptable.</a:t>
            </a:r>
          </a:p>
          <a:p>
            <a:pPr>
              <a:spcAft>
                <a:spcPts val="1000"/>
              </a:spcAft>
            </a:pPr>
            <a:r>
              <a:rPr sz="2100" b="1">
                <a:solidFill>
                  <a:srgbClr val="1C1C1A"/>
                </a:solidFill>
                <a:latin typeface="Calibri"/>
              </a:rPr>
              <a:t>The follow-up.</a:t>
            </a:r>
            <a:r>
              <a:rPr sz="2100" b="0">
                <a:solidFill>
                  <a:srgbClr val="1C1C1A"/>
                </a:solidFill>
                <a:latin typeface="Calibri"/>
              </a:rPr>
              <a:t> "When would you print inside a function?" When it is genuinely a message for a person, such as a progress line in a long job. Never as the way the answer gets out.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4: what does a function's parameter list guarantee</a:t>
            </a:r>
          </a:p>
        </p:txBody>
      </p:sp>
      <p:sp>
        <p:nvSpPr>
          <p:cNvPr id="4" name="TextBox 3"/>
          <p:cNvSpPr txBox="1"/>
          <p:nvPr/>
        </p:nvSpPr>
        <p:spPr>
          <a:xfrm>
            <a:off x="777240" y="1965960"/>
            <a:ext cx="10607040" cy="2524125"/>
          </a:xfrm>
          <a:prstGeom prst="rect">
            <a:avLst/>
          </a:prstGeom>
          <a:noFill/>
        </p:spPr>
        <p:txBody>
          <a:bodyPr wrap="square">
            <a:spAutoFit/>
          </a:bodyPr>
          <a:lstStyle/>
          <a:p>
            <a:pPr>
              <a:spcAft>
                <a:spcPts val="1000"/>
              </a:spcAft>
            </a:pPr>
            <a:r>
              <a:rPr sz="2100" b="0">
                <a:solidFill>
                  <a:srgbClr val="1C1C1A"/>
                </a:solidFill>
                <a:latin typeface="Calibri"/>
              </a:rPr>
              <a:t>This programme's own calibration, because it is the shortest way to explain scope without using the word scope.</a:t>
            </a:r>
          </a:p>
          <a:p>
            <a:pPr>
              <a:spcAft>
                <a:spcPts val="1000"/>
              </a:spcAft>
            </a:pPr>
            <a:r>
              <a:rPr sz="2100" b="1">
                <a:solidFill>
                  <a:srgbClr val="1C1C1A"/>
                </a:solidFill>
                <a:latin typeface="Calibri"/>
              </a:rPr>
              <a:t>The answer.</a:t>
            </a:r>
            <a:r>
              <a:rPr sz="2100" b="0">
                <a:solidFill>
                  <a:srgbClr val="1C1C1A"/>
                </a:solidFill>
                <a:latin typeface="Calibri"/>
              </a:rPr>
              <a:t> It is the only door in. The function cannot see a variable I did not hand it, and a name it assigns inside the body does not touch the name outside. That is why the same function runs unchanged on today's thirty records and tomorrow's fifty.</a:t>
            </a:r>
          </a:p>
          <a:p>
            <a:pPr>
              <a:spcAft>
                <a:spcPts val="1000"/>
              </a:spcAft>
            </a:pPr>
            <a:r>
              <a:rPr sz="2100" b="1">
                <a:solidFill>
                  <a:srgbClr val="1C1C1A"/>
                </a:solidFill>
                <a:latin typeface="Calibri"/>
              </a:rPr>
              <a:t>The follow-up.</a:t>
            </a:r>
            <a:r>
              <a:rPr sz="2100" b="0">
                <a:solidFill>
                  <a:srgbClr val="1C1C1A"/>
                </a:solidFill>
                <a:latin typeface="Calibri"/>
              </a:rPr>
              <a:t> "What if I do want to change something outside?" Return the new value and let the caller assign it. Reaching outside a function is possible in Python and it is a decision I would want a reason for.</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5: your cleaning run reported zero rejects on a file you know is dirty</a:t>
            </a:r>
          </a:p>
        </p:txBody>
      </p:sp>
      <p:sp>
        <p:nvSpPr>
          <p:cNvPr id="4" name="TextBox 3"/>
          <p:cNvSpPr txBox="1"/>
          <p:nvPr/>
        </p:nvSpPr>
        <p:spPr>
          <a:xfrm>
            <a:off x="777240" y="1965960"/>
            <a:ext cx="10607040" cy="2524125"/>
          </a:xfrm>
          <a:prstGeom prst="rect">
            <a:avLst/>
          </a:prstGeom>
          <a:noFill/>
        </p:spPr>
        <p:txBody>
          <a:bodyPr wrap="square">
            <a:spAutoFit/>
          </a:bodyPr>
          <a:lstStyle/>
          <a:p>
            <a:pPr>
              <a:spcAft>
                <a:spcPts val="1000"/>
              </a:spcAft>
            </a:pPr>
            <a:r>
              <a:rPr sz="2100" b="0">
                <a:solidFill>
                  <a:srgbClr val="1C1C1A"/>
                </a:solidFill>
                <a:latin typeface="Calibri"/>
              </a:rPr>
              <a:t>This one is on the week's question set for Saturday and it belongs to tomorrow's material, so treat it as a preview.</a:t>
            </a:r>
          </a:p>
          <a:p>
            <a:pPr>
              <a:spcAft>
                <a:spcPts val="1000"/>
              </a:spcAft>
            </a:pPr>
            <a:r>
              <a:rPr sz="2100" b="1">
                <a:solidFill>
                  <a:srgbClr val="1C1C1A"/>
                </a:solidFill>
                <a:latin typeface="Calibri"/>
              </a:rPr>
              <a:t>The answer, in three beats.</a:t>
            </a:r>
            <a:r>
              <a:rPr sz="2100" b="0">
                <a:solidFill>
                  <a:srgbClr val="1C1C1A"/>
                </a:solidFill>
                <a:latin typeface="Calibri"/>
              </a:rPr>
              <a:t> First I check whether anything was actually caught, since a bare except with a pass reports zero rejects by construction. Second I check that the counts reconcile, because input equals clean plus rejected only tells me something when I compute all three. Third I check that the dirt I expect is the dirt the code tests for, since a row can be present, convertible and still wrong.</a:t>
            </a:r>
          </a:p>
          <a:p>
            <a:pPr>
              <a:spcAft>
                <a:spcPts val="1000"/>
              </a:spcAft>
            </a:pPr>
            <a:r>
              <a:rPr sz="2100" b="0">
                <a:solidFill>
                  <a:srgbClr val="1C1C1A"/>
                </a:solidFill>
                <a:latin typeface="Calibri"/>
              </a:rPr>
              <a:t>You will build the evidence for this answer tomorrow.</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Crux, half one</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You have clean_record. That was the promise on the third slide.</a:t>
            </a:r>
          </a:p>
          <a:p>
            <a:pPr>
              <a:spcAft>
                <a:spcPts val="1000"/>
              </a:spcAft>
            </a:pPr>
            <a:r>
              <a:rPr sz="2100" b="0">
                <a:solidFill>
                  <a:srgbClr val="1C1C1A"/>
                </a:solidFill>
                <a:latin typeface="Calibri"/>
              </a:rPr>
              <a:t>A function is a decision you can call again. A named exception is a failure you chose to survive. A rejects log is the difference between a number and a number you can defend.</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one: package the logic, survive bad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