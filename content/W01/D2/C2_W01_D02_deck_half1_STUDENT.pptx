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C1C1A"/>
                </a:solidFill>
                <a:latin typeface="Calibri"/>
              </a:rPr>
              <a:t>Package the logic, survive bad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6596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100">
                <a:solidFill>
                  <a:srgbClr val="1C1C1A"/>
                </a:solidFill>
                <a:latin typeface="Calibri"/>
              </a:rPr>
              <a:t>The three questions this half answers: what do I call again tomorrow, what do I do when a value is wrong, and who finds out.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263640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F6360"/>
                </a:solidFill>
                <a:latin typeface="Calibri"/>
              </a:rPr>
              <a:t>Week 1 Day 2, half one: package the logic, survive bad data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C1C1A"/>
                </a:solidFill>
                <a:latin typeface="Calibri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6596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100">
                <a:solidFill>
                  <a:srgbClr val="1C1C1A"/>
                </a:solidFill>
                <a:latin typeface="Calibri"/>
              </a:rPr>
              <a:t>[inline cell] &gt; [packaged decision] &gt; [read the failure] &gt; [log the rejection] &gt; [cross the boundary]</a:t>
            </a:r>
          </a:p>
          <a:p>
            <a:pPr>
              <a:spcAft>
                <a:spcPts val="1000"/>
              </a:spcAft>
            </a:pPr>
            <a:r>
              <a:rPr sz="2100">
                <a:solidFill>
                  <a:srgbClr val="1C1C1A"/>
                </a:solidFill>
                <a:latin typeface="Calibri"/>
              </a:rPr>
              <a:t>Yesterday you answered a question about the records. Today that answer becomes something you can run again on records you have not seen.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263640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F6360"/>
                </a:solidFill>
                <a:latin typeface="Calibri"/>
              </a:rPr>
              <a:t>Week 1 Day 2, half one: package the logic, survive bad data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C1C1A"/>
                </a:solidFill>
                <a:latin typeface="Calibri"/>
              </a:rPr>
              <a:t>S2b. Where this is going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6596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100">
                <a:solidFill>
                  <a:srgbClr val="1C1C1A"/>
                </a:solidFill>
                <a:latin typeface="Calibri"/>
              </a:rPr>
              <a:t>clean_record, on three records from today's file:</a:t>
            </a:r>
          </a:p>
          <a:p>
            <a:pPr>
              <a:spcAft>
                <a:spcPts val="400"/>
              </a:spcAft>
            </a:pPr>
            <a:r>
              <a:rPr sz="1700">
                <a:solidFill>
                  <a:srgbClr val="2B4A7D"/>
                </a:solidFill>
                <a:latin typeface="Consolas"/>
              </a:rPr>
              <a:t>rejected 1011 because: invalid literal for int() with base 10: 'twelve'</a:t>
            </a:r>
          </a:p>
          <a:p>
            <a:pPr>
              <a:spcAft>
                <a:spcPts val="400"/>
              </a:spcAft>
            </a:pPr>
            <a:r>
              <a:rPr sz="1700">
                <a:solidFill>
                  <a:srgbClr val="2B4A7D"/>
                </a:solidFill>
                <a:latin typeface="Consolas"/>
              </a:rPr>
              <a:t>rejected 1015 because: invalid literal for int() with base 10: ''</a:t>
            </a:r>
          </a:p>
          <a:p>
            <a:pPr>
              <a:spcAft>
                <a:spcPts val="400"/>
              </a:spcAft>
            </a:pPr>
            <a:r>
              <a:rPr sz="1700">
                <a:solidFill>
                  <a:srgbClr val="2B4A7D"/>
                </a:solidFill>
                <a:latin typeface="Consolas"/>
              </a:rPr>
              <a:t>kept     {'id': '1001', 'amount': 4500, ...}</a:t>
            </a:r>
          </a:p>
          <a:p>
            <a:pPr>
              <a:spcAft>
                <a:spcPts val="1000"/>
              </a:spcAft>
            </a:pPr>
            <a:r>
              <a:rPr sz="2100">
                <a:solidFill>
                  <a:srgbClr val="1C1C1A"/>
                </a:solidFill>
                <a:latin typeface="Calibri"/>
              </a:rPr>
              <a:t>One function. Three records. Three outcomes, and the rejected ones say why.</a:t>
            </a:r>
          </a:p>
          <a:p>
            <a:pPr>
              <a:spcAft>
                <a:spcPts val="1000"/>
              </a:spcAft>
            </a:pPr>
            <a:r>
              <a:rPr sz="2100">
                <a:solidFill>
                  <a:srgbClr val="1C1C1A"/>
                </a:solidFill>
                <a:latin typeface="Calibri"/>
              </a:rPr>
              <a:t>You will have written this within the hour.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263640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F6360"/>
                </a:solidFill>
                <a:latin typeface="Calibri"/>
              </a:rPr>
              <a:t>Week 1 Day 2, half one: package the logic, survive bad 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C1C1A"/>
                </a:solidFill>
                <a:latin typeface="Calibri"/>
              </a:rPr>
              <a:t>The anchor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6596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100">
                <a:solidFill>
                  <a:srgbClr val="1C1C1A"/>
                </a:solidFill>
                <a:latin typeface="Calibri"/>
              </a:rPr>
              <a:t>You have written this cell three times already.</a:t>
            </a:r>
          </a:p>
          <a:p>
            <a:pPr>
              <a:spcAft>
                <a:spcPts val="400"/>
              </a:spcAft>
            </a:pPr>
            <a:r>
              <a:rPr sz="1700">
                <a:solidFill>
                  <a:srgbClr val="2B4A7D"/>
                </a:solidFill>
                <a:latin typeface="Consolas"/>
              </a:rPr>
              <a:t>total = 0</a:t>
            </a:r>
          </a:p>
          <a:p>
            <a:pPr>
              <a:spcAft>
                <a:spcPts val="400"/>
              </a:spcAft>
            </a:pPr>
            <a:r>
              <a:rPr sz="1700">
                <a:solidFill>
                  <a:srgbClr val="2B4A7D"/>
                </a:solidFill>
                <a:latin typeface="Consolas"/>
              </a:rPr>
              <a:t>for r in records:</a:t>
            </a:r>
          </a:p>
          <a:p>
            <a:pPr>
              <a:spcAft>
                <a:spcPts val="400"/>
              </a:spcAft>
            </a:pPr>
            <a:r>
              <a:rPr sz="1700">
                <a:solidFill>
                  <a:srgbClr val="2B4A7D"/>
                </a:solidFill>
                <a:latin typeface="Consolas"/>
              </a:rPr>
              <a:t>    if r["outcome"] == "accepted":</a:t>
            </a:r>
          </a:p>
          <a:p>
            <a:pPr>
              <a:spcAft>
                <a:spcPts val="400"/>
              </a:spcAft>
            </a:pPr>
            <a:r>
              <a:rPr sz="1700">
                <a:solidFill>
                  <a:srgbClr val="2B4A7D"/>
                </a:solidFill>
                <a:latin typeface="Consolas"/>
              </a:rPr>
              <a:t>        total = total + int(r["amount"])</a:t>
            </a:r>
          </a:p>
          <a:p>
            <a:pPr>
              <a:spcAft>
                <a:spcPts val="1000"/>
              </a:spcAft>
            </a:pPr>
            <a:r>
              <a:rPr sz="2100">
                <a:solidFill>
                  <a:srgbClr val="1C1C1A"/>
                </a:solidFill>
                <a:latin typeface="Calibri"/>
              </a:rPr>
              <a:t>Three copies. One of them has a typo. Which one?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263640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F6360"/>
                </a:solidFill>
                <a:latin typeface="Calibri"/>
              </a:rPr>
              <a:t>Week 1 Day 2, half one: package the logic, survive bad data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C1C1A"/>
                </a:solidFill>
                <a:latin typeface="Calibri"/>
              </a:rPr>
              <a:t>The problem with three copies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6596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100">
                <a:solidFill>
                  <a:srgbClr val="1C1C1A"/>
                </a:solidFill>
                <a:latin typeface="Calibri"/>
              </a:rPr>
              <a:t>A rule that lives in three cells is three rules.</a:t>
            </a:r>
          </a:p>
          <a:p>
            <a:pPr>
              <a:spcAft>
                <a:spcPts val="1000"/>
              </a:spcAft>
            </a:pPr>
            <a:r>
              <a:rPr sz="2100">
                <a:solidFill>
                  <a:srgbClr val="1C1C1A"/>
                </a:solidFill>
                <a:latin typeface="Calibri"/>
              </a:rPr>
              <a:t>When the rule changes, you have to remember where all three are. The one you forget is the one that ships.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263640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F6360"/>
                </a:solidFill>
                <a:latin typeface="Calibri"/>
              </a:rPr>
              <a:t>Week 1 Day 2, half one: package the logic, survive bad data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SECTION 1: THE PACKAGED DECISION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6596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sz="2100">
                <a:solidFill>
                  <a:srgbClr val="FFFFFF"/>
                </a:solidFill>
                <a:latin typeface="Calibri"/>
              </a:rPr>
              <a:t>[inline cell] &gt; **[packaged decision]** &gt; [read the failure] &gt; [log the rejection] &gt; [cross the boundary]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263640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F6360"/>
                </a:solidFill>
                <a:latin typeface="Calibri"/>
              </a:rPr>
              <a:t>Week 1 Day 2, half one: package the logic, survive bad data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C1C1A"/>
                </a:solidFill>
                <a:latin typeface="Calibri"/>
              </a:rPr>
              <a:t>Same rule, one place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6596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700">
                <a:solidFill>
                  <a:srgbClr val="2B4A7D"/>
                </a:solidFill>
                <a:latin typeface="Consolas"/>
              </a:rPr>
              <a:t>def accepted_total(records):</a:t>
            </a:r>
          </a:p>
          <a:p>
            <a:pPr>
              <a:spcAft>
                <a:spcPts val="400"/>
              </a:spcAft>
            </a:pPr>
            <a:r>
              <a:rPr sz="1700">
                <a:solidFill>
                  <a:srgbClr val="2B4A7D"/>
                </a:solidFill>
                <a:latin typeface="Consolas"/>
              </a:rPr>
              <a:t>    total = 0</a:t>
            </a:r>
          </a:p>
          <a:p>
            <a:pPr>
              <a:spcAft>
                <a:spcPts val="400"/>
              </a:spcAft>
            </a:pPr>
            <a:r>
              <a:rPr sz="1700">
                <a:solidFill>
                  <a:srgbClr val="2B4A7D"/>
                </a:solidFill>
                <a:latin typeface="Consolas"/>
              </a:rPr>
              <a:t>    for r in records:</a:t>
            </a:r>
          </a:p>
          <a:p>
            <a:pPr>
              <a:spcAft>
                <a:spcPts val="400"/>
              </a:spcAft>
            </a:pPr>
            <a:r>
              <a:rPr sz="1700">
                <a:solidFill>
                  <a:srgbClr val="2B4A7D"/>
                </a:solidFill>
                <a:latin typeface="Consolas"/>
              </a:rPr>
              <a:t>        if r["outcome"] == "accepted":</a:t>
            </a:r>
          </a:p>
          <a:p>
            <a:pPr>
              <a:spcAft>
                <a:spcPts val="400"/>
              </a:spcAft>
            </a:pPr>
            <a:r>
              <a:rPr sz="1700">
                <a:solidFill>
                  <a:srgbClr val="2B4A7D"/>
                </a:solidFill>
                <a:latin typeface="Consolas"/>
              </a:rPr>
              <a:t>            total = total + int(r["amount"])</a:t>
            </a:r>
          </a:p>
          <a:p>
            <a:pPr>
              <a:spcAft>
                <a:spcPts val="400"/>
              </a:spcAft>
            </a:pPr>
            <a:r>
              <a:rPr sz="1700">
                <a:solidFill>
                  <a:srgbClr val="2B4A7D"/>
                </a:solidFill>
                <a:latin typeface="Consolas"/>
              </a:rPr>
              <a:t>    return total</a:t>
            </a:r>
          </a:p>
          <a:p>
            <a:pPr>
              <a:spcAft>
                <a:spcPts val="1000"/>
              </a:spcAft>
            </a:pPr>
            <a:r>
              <a:rPr sz="2100">
                <a:solidFill>
                  <a:srgbClr val="1C1C1A"/>
                </a:solidFill>
                <a:latin typeface="Calibri"/>
              </a:rPr>
              <a:t>The rule now has a name and one home.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263640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F6360"/>
                </a:solidFill>
                <a:latin typeface="Calibri"/>
              </a:rPr>
              <a:t>Week 1 Day 2, half one: package the logic, survive bad data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C1C1A"/>
                </a:solidFill>
                <a:latin typeface="Calibri"/>
              </a:rPr>
              <a:t>What the name buys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6596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100">
                <a:solidFill>
                  <a:srgbClr val="1C1C1A"/>
                </a:solidFill>
                <a:latin typeface="Calibri"/>
              </a:rPr>
              <a:t>You can say the name out loud to a colleague.</a:t>
            </a:r>
          </a:p>
          <a:p>
            <a:pPr>
              <a:spcAft>
                <a:spcPts val="1000"/>
              </a:spcAft>
            </a:pPr>
            <a:r>
              <a:rPr sz="2100">
                <a:solidFill>
                  <a:srgbClr val="1C1C1A"/>
                </a:solidFill>
                <a:latin typeface="Calibri"/>
              </a:rPr>
              <a:t>You can change the rule in one place.</a:t>
            </a:r>
          </a:p>
          <a:p>
            <a:pPr>
              <a:spcAft>
                <a:spcPts val="1000"/>
              </a:spcAft>
            </a:pPr>
            <a:r>
              <a:rPr sz="2100">
                <a:solidFill>
                  <a:srgbClr val="1C1C1A"/>
                </a:solidFill>
                <a:latin typeface="Calibri"/>
              </a:rPr>
              <a:t>You can run it on a file that arrives next week.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263640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F6360"/>
                </a:solidFill>
                <a:latin typeface="Calibri"/>
              </a:rPr>
              <a:t>Week 1 Day 2, half one: package the logic, survive bad data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C1C1A"/>
                </a:solidFill>
                <a:latin typeface="Calibri"/>
              </a:rPr>
              <a:t>The parameter is the promise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6596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100">
                <a:solidFill>
                  <a:srgbClr val="1C1C1A"/>
                </a:solidFill>
                <a:latin typeface="Calibri"/>
              </a:rPr>
              <a:t>def accepted_total(records) says: give me records, I give you a number.</a:t>
            </a:r>
          </a:p>
          <a:p>
            <a:pPr>
              <a:spcAft>
                <a:spcPts val="1000"/>
              </a:spcAft>
            </a:pPr>
            <a:r>
              <a:rPr sz="2100">
                <a:solidFill>
                  <a:srgbClr val="1C1C1A"/>
                </a:solidFill>
                <a:latin typeface="Calibri"/>
              </a:rPr>
              <a:t>The function cannot see anything you did not hand it. That is the whole of scope for today.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263640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F6360"/>
                </a:solidFill>
                <a:latin typeface="Calibri"/>
              </a:rPr>
              <a:t>Week 1 Day 2, half one: package the logic, survive bad data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C1C1A"/>
                </a:solidFill>
                <a:latin typeface="Calibri"/>
              </a:rPr>
              <a:t>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6596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100">
                <a:solidFill>
                  <a:srgbClr val="1C1C1A"/>
                </a:solidFill>
                <a:latin typeface="Calibri"/>
              </a:rPr>
              <a:t>Carve accepted_total out of the inline cell together.</a:t>
            </a:r>
          </a:p>
          <a:p>
            <a:pPr>
              <a:spcAft>
                <a:spcPts val="1000"/>
              </a:spcAft>
            </a:pPr>
            <a:r>
              <a:rPr sz="2100">
                <a:solidFill>
                  <a:srgbClr val="1C1C1A"/>
                </a:solidFill>
                <a:latin typeface="Calibri"/>
              </a:rPr>
              <a:t>Then break it: rename the variable outside the function and watch the function keep working.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263640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F6360"/>
                </a:solidFill>
                <a:latin typeface="Calibri"/>
              </a:rPr>
              <a:t>Week 1 Day 2, half one: package the logic, survive bad data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C1C1A"/>
                </a:solidFill>
                <a:latin typeface="Calibri"/>
              </a:rPr>
              <a:t>return against print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6596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700">
                <a:solidFill>
                  <a:srgbClr val="2B4A7D"/>
                </a:solidFill>
                <a:latin typeface="Consolas"/>
              </a:rPr>
              <a:t>def fix(record):</a:t>
            </a:r>
          </a:p>
          <a:p>
            <a:pPr>
              <a:spcAft>
                <a:spcPts val="400"/>
              </a:spcAft>
            </a:pPr>
            <a:r>
              <a:rPr sz="1700">
                <a:solidFill>
                  <a:srgbClr val="2B4A7D"/>
                </a:solidFill>
                <a:latin typeface="Consolas"/>
              </a:rPr>
              <a:t>    print(record["id"])</a:t>
            </a:r>
          </a:p>
          <a:p>
            <a:pPr>
              <a:spcAft>
                <a:spcPts val="400"/>
              </a:spcAft>
            </a:pPr>
            <a:r>
              <a:rPr sz="1700">
                <a:solidFill>
                  <a:srgbClr val="2B4A7D"/>
                </a:solidFill>
                <a:latin typeface="Consolas"/>
              </a:rPr>
              <a:t>result = fix(rec)</a:t>
            </a:r>
          </a:p>
          <a:p>
            <a:pPr>
              <a:spcAft>
                <a:spcPts val="1000"/>
              </a:spcAft>
            </a:pPr>
            <a:r>
              <a:rPr sz="2100">
                <a:solidFill>
                  <a:srgbClr val="1C1C1A"/>
                </a:solidFill>
                <a:latin typeface="Calibri"/>
              </a:rPr>
              <a:t>What is inside result now?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263640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F6360"/>
                </a:solidFill>
                <a:latin typeface="Calibri"/>
              </a:rPr>
              <a:t>Week 1 Day 2, half one: package the logic, survive bad data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C1C1A"/>
                </a:solidFill>
                <a:latin typeface="Calibri"/>
              </a:rPr>
              <a:t>The break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6596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700">
                <a:solidFill>
                  <a:srgbClr val="2B4A7D"/>
                </a:solidFill>
                <a:latin typeface="Consolas"/>
              </a:rPr>
              <a:t>TypeError: 'NoneType' object is not subscriptable</a:t>
            </a:r>
          </a:p>
          <a:p>
            <a:pPr>
              <a:spcAft>
                <a:spcPts val="1000"/>
              </a:spcAft>
            </a:pPr>
            <a:r>
              <a:rPr sz="2100">
                <a:solidFill>
                  <a:srgbClr val="1C1C1A"/>
                </a:solidFill>
                <a:latin typeface="Calibri"/>
              </a:rPr>
              <a:t>print shows a human. return hands a value back to the code. A function that only prints returns None, and None cannot be indexed.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263640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F6360"/>
                </a:solidFill>
                <a:latin typeface="Calibri"/>
              </a:rPr>
              <a:t>Week 1 Day 2, half one: package the logic, survive bad data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C1C1A"/>
                </a:solidFill>
                <a:latin typeface="Calibri"/>
              </a:rPr>
              <a:t>The rule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6596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100">
                <a:solidFill>
                  <a:srgbClr val="1C1C1A"/>
                </a:solidFill>
                <a:latin typeface="Calibri"/>
              </a:rPr>
              <a:t>Print is for you. Return is for the next line of code.</a:t>
            </a:r>
          </a:p>
          <a:p>
            <a:pPr>
              <a:spcAft>
                <a:spcPts val="1000"/>
              </a:spcAft>
            </a:pPr>
            <a:r>
              <a:rPr sz="2100">
                <a:solidFill>
                  <a:srgbClr val="1C1C1A"/>
                </a:solidFill>
                <a:latin typeface="Calibri"/>
              </a:rPr>
              <a:t>If the caller needs the answer, the function returns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263640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F6360"/>
                </a:solidFill>
                <a:latin typeface="Calibri"/>
              </a:rPr>
              <a:t>Week 1 Day 2, half one: package the logic, survive bad data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C1C1A"/>
                </a:solidFill>
                <a:latin typeface="Calibri"/>
              </a:rPr>
              <a:t>Step card, section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6596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100">
                <a:solidFill>
                  <a:srgbClr val="1C1C1A"/>
                </a:solidFill>
                <a:latin typeface="Calibri"/>
              </a:rPr>
              <a:t>1. Name the rule with def.</a:t>
            </a:r>
          </a:p>
          <a:p>
            <a:pPr>
              <a:spcAft>
                <a:spcPts val="1000"/>
              </a:spcAft>
            </a:pPr>
            <a:r>
              <a:rPr sz="2100">
                <a:solidFill>
                  <a:srgbClr val="1C1C1A"/>
                </a:solidFill>
                <a:latin typeface="Calibri"/>
              </a:rPr>
              <a:t>2. Take what you need as parameters.</a:t>
            </a:r>
          </a:p>
          <a:p>
            <a:pPr>
              <a:spcAft>
                <a:spcPts val="1000"/>
              </a:spcAft>
            </a:pPr>
            <a:r>
              <a:rPr sz="2100">
                <a:solidFill>
                  <a:srgbClr val="1C1C1A"/>
                </a:solidFill>
                <a:latin typeface="Calibri"/>
              </a:rPr>
              <a:t>3. Hand the answer back with return.</a:t>
            </a:r>
          </a:p>
          <a:p>
            <a:pPr>
              <a:spcAft>
                <a:spcPts val="1000"/>
              </a:spcAft>
            </a:pPr>
            <a:r>
              <a:rPr sz="2100">
                <a:solidFill>
                  <a:srgbClr val="1C1C1A"/>
                </a:solidFill>
                <a:latin typeface="Calibri"/>
              </a:rPr>
              <a:t>4. Use print only to show a human.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263640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F6360"/>
                </a:solidFill>
                <a:latin typeface="Calibri"/>
              </a:rPr>
              <a:t>Week 1 Day 2, half one: package the logic, survive bad data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SECTION 2: READ THE FAILURE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6596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sz="2100">
                <a:solidFill>
                  <a:srgbClr val="FFFFFF"/>
                </a:solidFill>
                <a:latin typeface="Calibri"/>
              </a:rPr>
              <a:t>[inline cell] &gt; [packaged decision] &gt; **[read the failure]** &gt; [log the rejection] &gt; [cross the boundary]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263640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F6360"/>
                </a:solidFill>
                <a:latin typeface="Calibri"/>
              </a:rPr>
              <a:t>Week 1 Day 2, half one: package the logic, survive bad data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C1C1A"/>
                </a:solidFill>
                <a:latin typeface="Calibri"/>
              </a:rPr>
              <a:t>Yesterday you saw three of these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6596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100">
                <a:solidFill>
                  <a:srgbClr val="1C1C1A"/>
                </a:solidFill>
                <a:latin typeface="Calibri"/>
              </a:rPr>
              <a:t>A traceback is not the computer being angry. It is the computer telling you where it stopped and what it was holding.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263640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F6360"/>
                </a:solidFill>
                <a:latin typeface="Calibri"/>
              </a:rPr>
              <a:t>Week 1 Day 2, half one: package the logic, survive bad data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C1C1A"/>
                </a:solidFill>
                <a:latin typeface="Calibri"/>
              </a:rPr>
              <a:t>Read it bottom-up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6596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700">
                <a:solidFill>
                  <a:srgbClr val="2B4A7D"/>
                </a:solidFill>
                <a:latin typeface="Consolas"/>
              </a:rPr>
              <a:t>Traceback (most recent call last):</a:t>
            </a:r>
          </a:p>
          <a:p>
            <a:pPr>
              <a:spcAft>
                <a:spcPts val="400"/>
              </a:spcAft>
            </a:pPr>
            <a:r>
              <a:rPr sz="1700">
                <a:solidFill>
                  <a:srgbClr val="2B4A7D"/>
                </a:solidFill>
                <a:latin typeface="Consolas"/>
              </a:rPr>
              <a:t>  File "clean.py", line 12, in &lt;module&gt;</a:t>
            </a:r>
          </a:p>
          <a:p>
            <a:pPr>
              <a:spcAft>
                <a:spcPts val="400"/>
              </a:spcAft>
            </a:pPr>
            <a:r>
              <a:rPr sz="1700">
                <a:solidFill>
                  <a:srgbClr val="2B4A7D"/>
                </a:solidFill>
                <a:latin typeface="Consolas"/>
              </a:rPr>
              <a:t>    total = total + int(record["amount"])</a:t>
            </a:r>
          </a:p>
          <a:p>
            <a:pPr>
              <a:spcAft>
                <a:spcPts val="400"/>
              </a:spcAft>
            </a:pPr>
            <a:r>
              <a:rPr sz="1700">
                <a:solidFill>
                  <a:srgbClr val="2B4A7D"/>
                </a:solidFill>
                <a:latin typeface="Consolas"/>
              </a:rPr>
              <a:t>                    ^^^^^^^^^^^^^^^^^^^^</a:t>
            </a:r>
          </a:p>
          <a:p>
            <a:pPr>
              <a:spcAft>
                <a:spcPts val="400"/>
              </a:spcAft>
            </a:pPr>
            <a:r>
              <a:rPr sz="1700">
                <a:solidFill>
                  <a:srgbClr val="2B4A7D"/>
                </a:solidFill>
                <a:latin typeface="Consolas"/>
              </a:rPr>
              <a:t>ValueError: invalid literal for int() with base 10: 'twelve'</a:t>
            </a:r>
          </a:p>
          <a:p>
            <a:pPr>
              <a:spcAft>
                <a:spcPts val="1000"/>
              </a:spcAft>
            </a:pPr>
            <a:r>
              <a:rPr sz="2100">
                <a:solidFill>
                  <a:srgbClr val="1C1C1A"/>
                </a:solidFill>
                <a:latin typeface="Calibri"/>
              </a:rPr>
              <a:t>Last line: what went wrong. Line above it: where. Everything else: how you got there.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263640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F6360"/>
                </a:solidFill>
                <a:latin typeface="Calibri"/>
              </a:rPr>
              <a:t>Week 1 Day 2, half one: package the logic, survive bad data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C1C1A"/>
                </a:solidFill>
                <a:latin typeface="Calibri"/>
              </a:rPr>
              <a:t>The three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6596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100">
                <a:solidFill>
                  <a:srgbClr val="1C1C1A"/>
                </a:solidFill>
                <a:latin typeface="Calibri"/>
              </a:rPr>
              <a:t>1. What is the exception type?</a:t>
            </a:r>
          </a:p>
          <a:p>
            <a:pPr>
              <a:spcAft>
                <a:spcPts val="1000"/>
              </a:spcAft>
            </a:pPr>
            <a:r>
              <a:rPr sz="2100">
                <a:solidFill>
                  <a:srgbClr val="1C1C1A"/>
                </a:solidFill>
                <a:latin typeface="Calibri"/>
              </a:rPr>
              <a:t>2. Which line is mine?</a:t>
            </a:r>
          </a:p>
          <a:p>
            <a:pPr>
              <a:spcAft>
                <a:spcPts val="1000"/>
              </a:spcAft>
            </a:pPr>
            <a:r>
              <a:rPr sz="2100">
                <a:solidFill>
                  <a:srgbClr val="1C1C1A"/>
                </a:solidFill>
                <a:latin typeface="Calibri"/>
              </a:rPr>
              <a:t>3. What value was it holding?</a:t>
            </a:r>
          </a:p>
          <a:p>
            <a:pPr>
              <a:spcAft>
                <a:spcPts val="1000"/>
              </a:spcAft>
            </a:pPr>
            <a:r>
              <a:rPr sz="2100">
                <a:solidFill>
                  <a:srgbClr val="1C1C1A"/>
                </a:solidFill>
                <a:latin typeface="Calibri"/>
              </a:rPr>
              <a:t>The third question is the one people skip.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263640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F6360"/>
                </a:solidFill>
                <a:latin typeface="Calibri"/>
              </a:rPr>
              <a:t>Week 1 Day 2, half one: package the logic, survive bad data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C1C1A"/>
                </a:solidFill>
                <a:latin typeface="Calibri"/>
              </a:rPr>
              <a:t>Catching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6596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700">
                <a:solidFill>
                  <a:srgbClr val="2B4A7D"/>
                </a:solidFill>
                <a:latin typeface="Consolas"/>
              </a:rPr>
              <a:t>try:</a:t>
            </a:r>
          </a:p>
          <a:p>
            <a:pPr>
              <a:spcAft>
                <a:spcPts val="400"/>
              </a:spcAft>
            </a:pPr>
            <a:r>
              <a:rPr sz="1700">
                <a:solidFill>
                  <a:srgbClr val="2B4A7D"/>
                </a:solidFill>
                <a:latin typeface="Consolas"/>
              </a:rPr>
              <a:t>    value = int(record["amount"])</a:t>
            </a:r>
          </a:p>
          <a:p>
            <a:pPr>
              <a:spcAft>
                <a:spcPts val="400"/>
              </a:spcAft>
            </a:pPr>
            <a:r>
              <a:rPr sz="1700">
                <a:solidFill>
                  <a:srgbClr val="2B4A7D"/>
                </a:solidFill>
                <a:latin typeface="Consolas"/>
              </a:rPr>
              <a:t>except ValueError:</a:t>
            </a:r>
          </a:p>
          <a:p>
            <a:pPr>
              <a:spcAft>
                <a:spcPts val="400"/>
              </a:spcAft>
            </a:pPr>
            <a:r>
              <a:rPr sz="1700">
                <a:solidFill>
                  <a:srgbClr val="2B4A7D"/>
                </a:solidFill>
                <a:latin typeface="Consolas"/>
              </a:rPr>
              <a:t>    ...</a:t>
            </a:r>
          </a:p>
          <a:p>
            <a:pPr>
              <a:spcAft>
                <a:spcPts val="1000"/>
              </a:spcAft>
            </a:pPr>
            <a:r>
              <a:rPr sz="2100">
                <a:solidFill>
                  <a:srgbClr val="1C1C1A"/>
                </a:solidFill>
                <a:latin typeface="Calibri"/>
              </a:rPr>
              <a:t>You name the exception you expected. Anything else still stops the program, which is what you want.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263640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F6360"/>
                </a:solidFill>
                <a:latin typeface="Calibri"/>
              </a:rPr>
              <a:t>Week 1 Day 2, half one: package the logic, survive bad data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C1C1A"/>
                </a:solidFill>
                <a:latin typeface="Calibri"/>
              </a:rPr>
              <a:t>The trap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6596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700">
                <a:solidFill>
                  <a:srgbClr val="2B4A7D"/>
                </a:solidFill>
                <a:latin typeface="Consolas"/>
              </a:rPr>
              <a:t>try:</a:t>
            </a:r>
          </a:p>
          <a:p>
            <a:pPr>
              <a:spcAft>
                <a:spcPts val="400"/>
              </a:spcAft>
            </a:pPr>
            <a:r>
              <a:rPr sz="1700">
                <a:solidFill>
                  <a:srgbClr val="2B4A7D"/>
                </a:solidFill>
                <a:latin typeface="Consolas"/>
              </a:rPr>
              <a:t>    value = int(record["amount"])</a:t>
            </a:r>
          </a:p>
          <a:p>
            <a:pPr>
              <a:spcAft>
                <a:spcPts val="400"/>
              </a:spcAft>
            </a:pPr>
            <a:r>
              <a:rPr sz="1700">
                <a:solidFill>
                  <a:srgbClr val="2B4A7D"/>
                </a:solidFill>
                <a:latin typeface="Consolas"/>
              </a:rPr>
              <a:t>except:</a:t>
            </a:r>
          </a:p>
          <a:p>
            <a:pPr>
              <a:spcAft>
                <a:spcPts val="400"/>
              </a:spcAft>
            </a:pPr>
            <a:r>
              <a:rPr sz="1700">
                <a:solidFill>
                  <a:srgbClr val="2B4A7D"/>
                </a:solidFill>
                <a:latin typeface="Consolas"/>
              </a:rPr>
              <a:t>    pass</a:t>
            </a:r>
          </a:p>
          <a:p>
            <a:pPr>
              <a:spcAft>
                <a:spcPts val="1000"/>
              </a:spcAft>
            </a:pPr>
            <a:r>
              <a:rPr sz="2100">
                <a:solidFill>
                  <a:srgbClr val="1C1C1A"/>
                </a:solidFill>
                <a:latin typeface="Calibri"/>
              </a:rPr>
              <a:t>This runs. It produces a number. The number is wrong and nothing on screen says so.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263640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F6360"/>
                </a:solidFill>
                <a:latin typeface="Calibri"/>
              </a:rPr>
              <a:t>Week 1 Day 2, half one: package the logic, survive bad data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C1C1A"/>
                </a:solidFill>
                <a:latin typeface="Calibri"/>
              </a:rPr>
              <a:t>Watch it happen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6596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100">
                <a:solidFill>
                  <a:srgbClr val="1C1C1A"/>
                </a:solidFill>
                <a:latin typeface="Calibri"/>
              </a:rPr>
              <a:t>Bare except, on today's 30 records:</a:t>
            </a:r>
          </a:p>
          <a:p>
            <a:pPr>
              <a:spcAft>
                <a:spcPts val="400"/>
              </a:spcAft>
            </a:pPr>
            <a:r>
              <a:rPr sz="1700">
                <a:solidFill>
                  <a:srgbClr val="2B4A7D"/>
                </a:solidFill>
                <a:latin typeface="Consolas"/>
              </a:rPr>
              <a:t>Processed 30 records. Total: 230380</a:t>
            </a:r>
          </a:p>
          <a:p>
            <a:pPr>
              <a:spcAft>
                <a:spcPts val="1000"/>
              </a:spcAft>
            </a:pPr>
            <a:r>
              <a:rPr sz="2100">
                <a:solidFill>
                  <a:srgbClr val="1C1C1A"/>
                </a:solidFill>
                <a:latin typeface="Calibri"/>
              </a:rPr>
              <a:t>Narrow except, same 30 records:</a:t>
            </a:r>
          </a:p>
          <a:p>
            <a:pPr>
              <a:spcAft>
                <a:spcPts val="400"/>
              </a:spcAft>
            </a:pPr>
            <a:r>
              <a:rPr sz="1700">
                <a:solidFill>
                  <a:srgbClr val="2B4A7D"/>
                </a:solidFill>
                <a:latin typeface="Consolas"/>
              </a:rPr>
              <a:t>Clean 28, rejected 2, total 230380</a:t>
            </a:r>
          </a:p>
          <a:p>
            <a:pPr>
              <a:spcAft>
                <a:spcPts val="1000"/>
              </a:spcAft>
            </a:pPr>
            <a:r>
              <a:rPr sz="2100">
                <a:solidFill>
                  <a:srgbClr val="1C1C1A"/>
                </a:solidFill>
                <a:latin typeface="Calibri"/>
              </a:rPr>
              <a:t>Same number. One of these two lines is a lie.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263640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F6360"/>
                </a:solidFill>
                <a:latin typeface="Calibri"/>
              </a:rPr>
              <a:t>Week 1 Day 2, half one: package the logic, survive bad data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C1C1A"/>
                </a:solidFill>
                <a:latin typeface="Calibri"/>
              </a:rPr>
              <a:t>Which one lied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6596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100">
                <a:solidFill>
                  <a:srgbClr val="1C1C1A"/>
                </a:solidFill>
                <a:latin typeface="Calibri"/>
              </a:rPr>
              <a:t>The first line claims 30 records went into that total. Two of them did not.</a:t>
            </a:r>
          </a:p>
          <a:p>
            <a:pPr>
              <a:spcAft>
                <a:spcPts val="1000"/>
              </a:spcAft>
            </a:pPr>
            <a:r>
              <a:rPr sz="2100">
                <a:solidFill>
                  <a:srgbClr val="1C1C1A"/>
                </a:solidFill>
                <a:latin typeface="Calibri"/>
              </a:rPr>
              <a:t>A crash costs you an hour. A plausible wrong number costs you the quarter, because nobody goes looking for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263640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F6360"/>
                </a:solidFill>
                <a:latin typeface="Calibri"/>
              </a:rPr>
              <a:t>Week 1 Day 2, half one: package the logic, survive bad data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C1C1A"/>
                </a:solidFill>
                <a:latin typeface="Calibri"/>
              </a:rPr>
              <a:t>Step card, section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6596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100">
                <a:solidFill>
                  <a:srgbClr val="1C1C1A"/>
                </a:solidFill>
                <a:latin typeface="Calibri"/>
              </a:rPr>
              <a:t>1. Read the traceback from the bottom.</a:t>
            </a:r>
          </a:p>
          <a:p>
            <a:pPr>
              <a:spcAft>
                <a:spcPts val="1000"/>
              </a:spcAft>
            </a:pPr>
            <a:r>
              <a:rPr sz="2100">
                <a:solidFill>
                  <a:srgbClr val="1C1C1A"/>
                </a:solidFill>
                <a:latin typeface="Calibri"/>
              </a:rPr>
              <a:t>2. Name the exception you expected.</a:t>
            </a:r>
          </a:p>
          <a:p>
            <a:pPr>
              <a:spcAft>
                <a:spcPts val="1000"/>
              </a:spcAft>
            </a:pPr>
            <a:r>
              <a:rPr sz="2100">
                <a:solidFill>
                  <a:srgbClr val="1C1C1A"/>
                </a:solidFill>
                <a:latin typeface="Calibri"/>
              </a:rPr>
              <a:t>3. Never catch everything.</a:t>
            </a:r>
          </a:p>
          <a:p>
            <a:pPr>
              <a:spcAft>
                <a:spcPts val="1000"/>
              </a:spcAft>
            </a:pPr>
            <a:r>
              <a:rPr sz="2100">
                <a:solidFill>
                  <a:srgbClr val="1C1C1A"/>
                </a:solidFill>
                <a:latin typeface="Calibri"/>
              </a:rPr>
              <a:t>4. If the count and the claim disagree, the claim is wrong.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263640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F6360"/>
                </a:solidFill>
                <a:latin typeface="Calibri"/>
              </a:rPr>
              <a:t>Week 1 Day 2, half one: package the logic, survive bad data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SECTION 3: LOG THE REJECTION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6596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sz="2100">
                <a:solidFill>
                  <a:srgbClr val="FFFFFF"/>
                </a:solidFill>
                <a:latin typeface="Calibri"/>
              </a:rPr>
              <a:t>[inline cell] &gt; [packaged decision] &gt; [read the failure] &gt; **[log the rejection]** &gt; [cross the boundary]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263640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F6360"/>
                </a:solidFill>
                <a:latin typeface="Calibri"/>
              </a:rPr>
              <a:t>Week 1 Day 2, half one: package the logic, survive bad data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C1C1A"/>
                </a:solidFill>
                <a:latin typeface="Calibri"/>
              </a:rPr>
              <a:t>Where does the bad record 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6596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100">
                <a:solidFill>
                  <a:srgbClr val="1C1C1A"/>
                </a:solidFill>
                <a:latin typeface="Calibri"/>
              </a:rPr>
              <a:t>You have three choices when a record will not convert.</a:t>
            </a:r>
          </a:p>
          <a:p>
            <a:pPr>
              <a:spcAft>
                <a:spcPts val="1000"/>
              </a:spcAft>
            </a:pPr>
            <a:r>
              <a:rPr sz="2100">
                <a:solidFill>
                  <a:srgbClr val="1C1C1A"/>
                </a:solidFill>
                <a:latin typeface="Calibri"/>
              </a:rPr>
              <a:t>Fix it silently. Drop it silently. Set it aside with a reason.</a:t>
            </a:r>
          </a:p>
          <a:p>
            <a:pPr>
              <a:spcAft>
                <a:spcPts val="1000"/>
              </a:spcAft>
            </a:pPr>
            <a:r>
              <a:rPr sz="2100">
                <a:solidFill>
                  <a:srgbClr val="1C1C1A"/>
                </a:solidFill>
                <a:latin typeface="Calibri"/>
              </a:rPr>
              <a:t>Only the third one survives a question from your manager.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263640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F6360"/>
                </a:solidFill>
                <a:latin typeface="Calibri"/>
              </a:rPr>
              <a:t>Week 1 Day 2, half one: package the logic, survive bad data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C1C1A"/>
                </a:solidFill>
                <a:latin typeface="Calibri"/>
              </a:rPr>
              <a:t>The rejects 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6596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700">
                <a:solidFill>
                  <a:srgbClr val="2B4A7D"/>
                </a:solidFill>
                <a:latin typeface="Consolas"/>
              </a:rPr>
              <a:t>def clean_record(record):</a:t>
            </a:r>
          </a:p>
          <a:p>
            <a:pPr>
              <a:spcAft>
                <a:spcPts val="400"/>
              </a:spcAft>
            </a:pPr>
            <a:r>
              <a:rPr sz="1700">
                <a:solidFill>
                  <a:srgbClr val="2B4A7D"/>
                </a:solidFill>
                <a:latin typeface="Consolas"/>
              </a:rPr>
              <a:t>    keeper = dict(record)</a:t>
            </a:r>
          </a:p>
          <a:p>
            <a:pPr>
              <a:spcAft>
                <a:spcPts val="400"/>
              </a:spcAft>
            </a:pPr>
            <a:r>
              <a:rPr sz="1700">
                <a:solidFill>
                  <a:srgbClr val="2B4A7D"/>
                </a:solidFill>
                <a:latin typeface="Consolas"/>
              </a:rPr>
              <a:t>    keeper["amount"] = normalise_amount(record["amount"])</a:t>
            </a:r>
          </a:p>
          <a:p>
            <a:pPr>
              <a:spcAft>
                <a:spcPts val="400"/>
              </a:spcAft>
            </a:pPr>
            <a:r>
              <a:rPr sz="1700">
                <a:solidFill>
                  <a:srgbClr val="2B4A7D"/>
                </a:solidFill>
                <a:latin typeface="Consolas"/>
              </a:rPr>
              <a:t>    return keeper</a:t>
            </a:r>
          </a:p>
          <a:p>
            <a:pPr>
              <a:spcAft>
                <a:spcPts val="1000"/>
              </a:spcAft>
            </a:pPr>
            <a:r>
              <a:rPr sz="2100">
                <a:solidFill>
                  <a:srgbClr val="1C1C1A"/>
                </a:solidFill>
                <a:latin typeface="Calibri"/>
              </a:rPr>
              <a:t>clean_record handles one record and decides nothing about failure. clean_records handles the list and owns that decision.</a:t>
            </a:r>
          </a:p>
          <a:p>
            <a:pPr>
              <a:spcAft>
                <a:spcPts val="400"/>
              </a:spcAft>
            </a:pPr>
            <a:r>
              <a:rPr sz="1700">
                <a:solidFill>
                  <a:srgbClr val="2B4A7D"/>
                </a:solidFill>
                <a:latin typeface="Consolas"/>
              </a:rPr>
              <a:t>except ValueError as e:</a:t>
            </a:r>
          </a:p>
          <a:p>
            <a:pPr>
              <a:spcAft>
                <a:spcPts val="400"/>
              </a:spcAft>
            </a:pPr>
            <a:r>
              <a:rPr sz="1700">
                <a:solidFill>
                  <a:srgbClr val="2B4A7D"/>
                </a:solidFill>
                <a:latin typeface="Consolas"/>
              </a:rPr>
              <a:t>    rejects.append({"id": record["id"], "reason": str(e)})</a:t>
            </a:r>
          </a:p>
          <a:p>
            <a:pPr>
              <a:spcAft>
                <a:spcPts val="1000"/>
              </a:spcAft>
            </a:pPr>
            <a:r>
              <a:rPr sz="2100">
                <a:solidFill>
                  <a:srgbClr val="1C1C1A"/>
                </a:solidFill>
                <a:latin typeface="Calibri"/>
              </a:rPr>
              <a:t>str(e) carries the exact reason the interpreter gave you. You do not have to invent wording.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263640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F6360"/>
                </a:solidFill>
                <a:latin typeface="Calibri"/>
              </a:rPr>
              <a:t>Week 1 Day 2, half one: package the logic, survive bad data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C1C1A"/>
                </a:solidFill>
                <a:latin typeface="Calibri"/>
              </a:rPr>
              <a:t>What a good reason looks like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6596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700">
                <a:solidFill>
                  <a:srgbClr val="2B4A7D"/>
                </a:solidFill>
                <a:latin typeface="Consolas"/>
              </a:rPr>
              <a:t>{"id": "1011", "reason": "invalid literal for int() with base 10: 'twelve'"}</a:t>
            </a:r>
          </a:p>
          <a:p>
            <a:pPr>
              <a:spcAft>
                <a:spcPts val="400"/>
              </a:spcAft>
            </a:pPr>
            <a:r>
              <a:rPr sz="1700">
                <a:solidFill>
                  <a:srgbClr val="2B4A7D"/>
                </a:solidFill>
                <a:latin typeface="Consolas"/>
              </a:rPr>
              <a:t>{"id": "1015", "reason": "invalid literal for int() with base 10: ''"}</a:t>
            </a:r>
          </a:p>
          <a:p>
            <a:pPr>
              <a:spcAft>
                <a:spcPts val="1000"/>
              </a:spcAft>
            </a:pPr>
            <a:r>
              <a:rPr sz="2100">
                <a:solidFill>
                  <a:srgbClr val="1C1C1A"/>
                </a:solidFill>
                <a:latin typeface="Calibri"/>
              </a:rPr>
              <a:t>Someone who was not in the room can act on both of these.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263640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F6360"/>
                </a:solidFill>
                <a:latin typeface="Calibri"/>
              </a:rPr>
              <a:t>Week 1 Day 2, half one: package the logic, survive bad data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C1C1A"/>
                </a:solidFill>
                <a:latin typeface="Calibri"/>
              </a:rPr>
              <a:t>The reconciliation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6596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100">
                <a:solidFill>
                  <a:srgbClr val="1C1C1A"/>
                </a:solidFill>
                <a:latin typeface="Calibri"/>
              </a:rPr>
              <a:t>30 records in. 28 clean. 2 rejected.</a:t>
            </a:r>
          </a:p>
          <a:p>
            <a:pPr>
              <a:spcAft>
                <a:spcPts val="1000"/>
              </a:spcAft>
            </a:pPr>
            <a:r>
              <a:rPr sz="2100">
                <a:solidFill>
                  <a:srgbClr val="1C1C1A"/>
                </a:solidFill>
                <a:latin typeface="Calibri"/>
              </a:rPr>
              <a:t>Input equals clean plus rejected. When that sum does not hold, something disappeared and you do not yet know what.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263640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F6360"/>
                </a:solidFill>
                <a:latin typeface="Calibri"/>
              </a:rPr>
              <a:t>Week 1 Day 2, half one: package the logic, survive bad data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C1C1A"/>
                </a:solidFill>
                <a:latin typeface="Calibri"/>
              </a:rPr>
              <a:t>From the field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6596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100">
                <a:solidFill>
                  <a:srgbClr val="1C1C1A"/>
                </a:solidFill>
                <a:latin typeface="Calibri"/>
              </a:rPr>
              <a:t>Knight Capital, 1 August 2012. About USD 440 million lost in 45 minutes.</a:t>
            </a:r>
          </a:p>
          <a:p>
            <a:pPr>
              <a:spcAft>
                <a:spcPts val="1000"/>
              </a:spcAft>
            </a:pPr>
            <a:r>
              <a:rPr sz="2100">
                <a:solidFill>
                  <a:srgbClr val="1C1C1A"/>
                </a:solidFill>
                <a:latin typeface="Calibri"/>
              </a:rPr>
              <a:t>A deployment reused an old flag. The system did not fail loudly. It kept trading, at speed, on the wrong rule.</a:t>
            </a:r>
          </a:p>
          <a:p>
            <a:pPr>
              <a:spcAft>
                <a:spcPts val="1000"/>
              </a:spcAft>
            </a:pPr>
            <a:r>
              <a:rPr sz="2100">
                <a:solidFill>
                  <a:srgbClr val="1C1C1A"/>
                </a:solidFill>
                <a:latin typeface="Calibri"/>
              </a:rPr>
              <a:t>The argument for validating early and failing loudly is not a style preference. It is that number.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263640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F6360"/>
                </a:solidFill>
                <a:latin typeface="Calibri"/>
              </a:rPr>
              <a:t>Week 1 Day 2, half one: package the logic, survive bad data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C1C1A"/>
                </a:solidFill>
                <a:latin typeface="Calibri"/>
              </a:rPr>
              <a:t>Interview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6596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100">
                <a:solidFill>
                  <a:srgbClr val="1C1C1A"/>
                </a:solidFill>
                <a:latin typeface="Calibri"/>
              </a:rPr>
              <a:t>"Why is a bare except worse than letting the code crash?"</a:t>
            </a:r>
          </a:p>
          <a:p>
            <a:pPr>
              <a:spcAft>
                <a:spcPts val="1000"/>
              </a:spcAft>
            </a:pPr>
            <a:r>
              <a:rPr sz="2100">
                <a:solidFill>
                  <a:srgbClr val="1C1C1A"/>
                </a:solidFill>
                <a:latin typeface="Calibri"/>
              </a:rPr>
              <a:t>You can answer this now, with today's two output lines as your evidence.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263640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F6360"/>
                </a:solidFill>
                <a:latin typeface="Calibri"/>
              </a:rPr>
              <a:t>Week 1 Day 2, half one: package the logic, survive bad data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C1C1A"/>
                </a:solidFill>
                <a:latin typeface="Calibri"/>
              </a:rPr>
              <a:t>Step card, section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6596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100">
                <a:solidFill>
                  <a:srgbClr val="1C1C1A"/>
                </a:solidFill>
                <a:latin typeface="Calibri"/>
              </a:rPr>
              <a:t>1. Set the bad record aside, never drop it.</a:t>
            </a:r>
          </a:p>
          <a:p>
            <a:pPr>
              <a:spcAft>
                <a:spcPts val="1000"/>
              </a:spcAft>
            </a:pPr>
            <a:r>
              <a:rPr sz="2100">
                <a:solidFill>
                  <a:srgbClr val="1C1C1A"/>
                </a:solidFill>
                <a:latin typeface="Calibri"/>
              </a:rPr>
              <a:t>2. Carry the interpreter's own reason.</a:t>
            </a:r>
          </a:p>
          <a:p>
            <a:pPr>
              <a:spcAft>
                <a:spcPts val="1000"/>
              </a:spcAft>
            </a:pPr>
            <a:r>
              <a:rPr sz="2100">
                <a:solidFill>
                  <a:srgbClr val="1C1C1A"/>
                </a:solidFill>
                <a:latin typeface="Calibri"/>
              </a:rPr>
              <a:t>3. Reconcile: input equals clean plus rejected.</a:t>
            </a:r>
          </a:p>
          <a:p>
            <a:pPr>
              <a:spcAft>
                <a:spcPts val="1000"/>
              </a:spcAft>
            </a:pPr>
            <a:r>
              <a:rPr sz="2100">
                <a:solidFill>
                  <a:srgbClr val="1C1C1A"/>
                </a:solidFill>
                <a:latin typeface="Calibri"/>
              </a:rPr>
              <a:t>4. Ship the rejects list as part of the job.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263640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F6360"/>
                </a:solidFill>
                <a:latin typeface="Calibri"/>
              </a:rPr>
              <a:t>Week 1 Day 2, half one: package the logic, survive bad data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C1C1A"/>
                </a:solidFill>
                <a:latin typeface="Calibri"/>
              </a:rPr>
              <a:t>Crux, half 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6596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100">
                <a:solidFill>
                  <a:srgbClr val="1C1C1A"/>
                </a:solidFill>
                <a:latin typeface="Calibri"/>
              </a:rPr>
              <a:t>You have clean_record. That was the promise on the third slide.</a:t>
            </a:r>
          </a:p>
          <a:p>
            <a:pPr>
              <a:spcAft>
                <a:spcPts val="1000"/>
              </a:spcAft>
            </a:pPr>
            <a:r>
              <a:rPr sz="2100">
                <a:solidFill>
                  <a:srgbClr val="1C1C1A"/>
                </a:solidFill>
                <a:latin typeface="Calibri"/>
              </a:rPr>
              <a:t>A function is a decision you can call again. A named exception is a failure you chose to survive. A rejects log is the difference between a number and a number you can defend.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263640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F6360"/>
                </a:solidFill>
                <a:latin typeface="Calibri"/>
              </a:rPr>
              <a:t>Week 1 Day 2, half one: package the logic, survive bad data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