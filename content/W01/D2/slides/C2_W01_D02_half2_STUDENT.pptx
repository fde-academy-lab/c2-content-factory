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climbed three rungs: the drop is real at 11.0 percent, the branch is</a:t>
            </a:r>
          </a:p>
          <a:p>
            <a:r>
              <a:t>orders per customer, and the room ran the segment split itself. The afternoon climbs rungs 4 and 5:</a:t>
            </a:r>
          </a:p>
          <a:p>
            <a:r>
              <a:t>mix against rate, then a hypothesis that Marketing attacks. From here on, the segment is named.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60 minutes, unguided: 5 to brief, 50 working in</a:t>
            </a:r>
          </a:p>
          <a:p>
            <a:r>
              <a:t>notebooks/C2_W01_D02_04_escalated_case_STUDENT.ipynb, 5 to collect. The trainer does not teach</a:t>
            </a:r>
          </a:p>
          <a:p>
            <a:r>
              <a:t>during the block; the support TA answers environment problems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Meera's line here restates the case brief in her voice. The case brief in</a:t>
            </a:r>
          </a:p>
          <a:p>
            <a:r>
              <a:t>the exercises folder carries every part in full. Say only that the case is unguided and that the</a:t>
            </a:r>
          </a:p>
          <a:p>
            <a:r>
              <a:t>notebook's checks will tell each learner whether a number is right. Do not warn anyone about the</a:t>
            </a:r>
          </a:p>
          <a:p>
            <a:r>
              <a:t>helper.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the helper as the brief hands it over and move on. Kavya's line is the only</a:t>
            </a:r>
          </a:p>
          <a:p>
            <a:r>
              <a:t>hint the room gets. The debrief opens on what this function does to the summary.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shown with the brief. The same idea as the morning's weighted roll-up, turned the</a:t>
            </a:r>
          </a:p>
          <a:p>
            <a:r>
              <a:t>other way: a blend moves when its weights move, even if no part of it changed. The morning showed</a:t>
            </a:r>
          </a:p>
          <a:p>
            <a:r>
              <a:t>that a bridge's split depends on which branch moves first; the same holds here, and the debrief puts</a:t>
            </a:r>
          </a:p>
          <a:p>
            <a:r>
              <a:t>both orders side by side. Then release the room to the notebook for 50 minutes.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Use the room's own wrong answers where you heard them; name no</a:t>
            </a:r>
          </a:p>
          <a:p>
            <a:r>
              <a:t>learner. Each slide shows the wrong answer first and the check second.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Student gained 2 orders, which a bar chart of losses cannot show, so say it aloud:</a:t>
            </a:r>
          </a:p>
          <a:p>
            <a:r>
              <a:t>114 to 86 is Retail-Core minus 2, Retail-Plus minus 25, Business minus 3, Student plus 2.</a:t>
            </a:r>
          </a:p>
          <a:p>
            <a:r>
              <a:t>Retail-Plus is 25 of the 28 lost orders, 89 percent. In rupees, Business is Rs 22,29,720 of the</a:t>
            </a:r>
          </a:p>
          <a:p>
            <a:r>
              <a:t>Rs 23,00,000 fall because each Business order is worth lakhs. Both are true; the wrong answer is</a:t>
            </a:r>
          </a:p>
          <a:p>
            <a:r>
              <a:t>picking one lens and calling it the story. Consumer segments fell from Rs 2,28,820 to Rs 1,58,540.</a:t>
            </a:r>
          </a:p>
          <a:p>
            <a:r>
              <a:t>Tie it to the morning's describe: the Business median held, the middle half of its orders widened</a:t>
            </a:r>
          </a:p>
          <a:p>
            <a:r>
              <a:t>only 13 percent, and one order of Rs 29,45,460 stretched the range. Twenty orders a quarter, each</a:t>
            </a:r>
          </a:p>
          <a:p>
            <a:r>
              <a:t>worth lakhs, is lumpy revenue: three orders landing a week later would move this lens by lakhs, which</a:t>
            </a:r>
          </a:p>
          <a:p>
            <a:r>
              <a:t>is why it gets checked before anyone acts, and why Thursday asks what chance alone can produce.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summary read "orders per customer fell in every segment, most in Business,</a:t>
            </a:r>
          </a:p>
          <a:p>
            <a:r>
              <a:t>15.0 percent". Two lines, "check by hand: -49.0%" and "check by hand: +40.0%", printed above it</a:t>
            </a:r>
          </a:p>
          <a:p>
            <a:r>
              <a:t>with no segment name, and nobody connected them. The decision it misleads: Business accounts</a:t>
            </a:r>
          </a:p>
          <a:p>
            <a:r>
              <a:t>opened first, and the head of Retail-Plus is told his tier is not in the table. The check: four</a:t>
            </a:r>
          </a:p>
          <a:p>
            <a:r>
              <a:t>segments in against two rows out, or None in changes.values(). The fix: return the change on every</a:t>
            </a:r>
          </a:p>
          <a:p>
            <a:r>
              <a:t>path and put the flag in a separate column. The comprehension is the colleague's code; the room</a:t>
            </a:r>
          </a:p>
          <a:p>
            <a:r>
              <a:t>reads it and does not need to write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Now the segment rows can be shown. Student's two customers rising to 3.50 pull</a:t>
            </a:r>
          </a:p>
          <a:p>
            <a:r>
              <a:t>the average up as much as Retail-Core's thirty-four. Retail-Plus is the segment the room found at</a:t>
            </a:r>
          </a:p>
          <a:p>
            <a:r>
              <a:t>the end of the morning; say so and credit the room.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At Q2's order mix and Q1's per-segment revenue per order, revenue per order would</a:t>
            </a:r>
          </a:p>
          <a:p>
            <a:r>
              <a:t>have been Rs 2,07,112, so the mix alone explains Rs 22,902 of the Rs 33,231 rise. Business took a</a:t>
            </a:r>
          </a:p>
          <a:p>
            <a:r>
              <a:t>larger share of fewer orders and Retail-Plus a smaller one. Nobody has to have paid more for the</a:t>
            </a:r>
          </a:p>
          <a:p>
            <a:r>
              <a:t>average order to grow. Move the rates first instead, at Q1's shares, and the rates explain Rs 9,203</a:t>
            </a:r>
          </a:p>
          <a:p>
            <a:r>
              <a:t>and the mix Rs 24,028, 72 percent: the split moves by three points and the answer does not. Say the</a:t>
            </a:r>
          </a:p>
          <a:p>
            <a:r>
              <a:t>order you used, as in the morning's bridge. Interview question 7 is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first line is Q1, the second Q2. Nobody left the tier; the whole distribution</a:t>
            </a:r>
          </a:p>
          <a:p>
            <a:r>
              <a:t>slid left. That shape matters for the second case: a cause that hit a few members would leave most</a:t>
            </a:r>
          </a:p>
          <a:p>
            <a:r>
              <a:t>of them where they were, and this one moved nearly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break for 10 minutes. The honest read: in behaviour the fall is</a:t>
            </a:r>
          </a:p>
          <a:p>
            <a:r>
              <a:t>Retail-Plus, the same 22 members with 51 orders then 26; in rupees most of it is three fewer</a:t>
            </a:r>
          </a:p>
          <a:p>
            <a:r>
              <a:t>Business orders out of twenty, each worth lakhs, too few to call a trend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45 minutes in pairs, in</a:t>
            </a:r>
          </a:p>
          <a:p>
            <a:r>
              <a:t>notebooks/C2_W01_D02_05_second_case_STUDENT.ipynb. Brief for 3 minutes, 35 in pairs, 7 to hear</a:t>
            </a:r>
          </a:p>
          <a:p>
            <a:r>
              <a:t>two pairs make their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split the roles once: one partner defends the numbers, the other plays</a:t>
            </a:r>
          </a:p>
          <a:p>
            <a:r>
              <a:t>Marketing. Switch halfway. The notebook carries four tests: overlap, share of the fall, timing and</a:t>
            </a:r>
          </a:p>
          <a:p>
            <a:r>
              <a:t>channel.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Marketing's pushback is a fair one: a flat count does not prove nobody left.</a:t>
            </a:r>
          </a:p>
          <a:p>
            <a:r>
              <a:t>Take letters, then run the overlap cell.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a. This is interview question 10: a flat count never proves no</a:t>
            </a:r>
          </a:p>
          <a:p>
            <a:r>
              <a:t>churn; the overlap of ids does. Marketing's second pushback comes next.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rehearse this reply aloud. The strength of evidence is part of the answer:</a:t>
            </a:r>
          </a:p>
          <a:p>
            <a:r>
              <a:t>a change carried by 22 people is harder to explain away than one carried by three orders, even</a:t>
            </a:r>
          </a:p>
          <a:p>
            <a:r>
              <a:t>when the rupees are smaller. The cost argument comes from the morning's S3: HBR (Gallo, 2014)</a:t>
            </a:r>
          </a:p>
          <a:p>
            <a:r>
              <a:t>summarises studies putting acquisition at 5 to 25 times the cost of retention; those are estimates</a:t>
            </a:r>
          </a:p>
          <a:p>
            <a:r>
              <a:t>across industries, not Kalpa's figures, so pairs say "estimates" when they use them. The frequency</a:t>
            </a:r>
          </a:p>
          <a:p>
            <a:r>
              <a:t>lever works on the 22 members Kalpa already has. Interview question 11 is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first line is Retail-Plus and the second Retail-Core. The timing test: a</a:t>
            </a:r>
          </a:p>
          <a:p>
            <a:r>
              <a:t>cause cannot come after its effect. The fall began in July, before the break the complaint dates,</a:t>
            </a:r>
          </a:p>
          <a:p>
            <a:r>
              <a:t>so the break cannot be the whole story. Whether it deepened the fall rests on eight orders, which</a:t>
            </a:r>
          </a:p>
          <a:p>
            <a:r>
              <a:t>is Thursday's kind of question. The rival explanation a sharp pair raises is the season: July opens</a:t>
            </a:r>
          </a:p>
          <a:p>
            <a:r>
              <a:t>the monsoon quarter, and a seasonal dip would also start in July. Retail-Core, flat through the same</a:t>
            </a:r>
          </a:p>
          <a:p>
            <a:r>
              <a:t>months, is evidence against a season that hits everyone; a season that hits members harder is still</a:t>
            </a:r>
          </a:p>
          <a:p>
            <a:r>
              <a:t>possible, and last year's Q2 by segment settles it. Hold questions about any single month for</a:t>
            </a:r>
          </a:p>
          <a:p>
            <a:r>
              <a:t>Wednesday, when the export is profiled row by row.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channel test: where the cause should act, the effect should be largest.</a:t>
            </a:r>
          </a:p>
          <a:p>
            <a:r>
              <a:t>Web fell most. The reorder feature may still have hurt; the file cannot say how much, which is</a:t>
            </a:r>
          </a:p>
          <a:p>
            <a:r>
              <a:t>why the next slide asks for data.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then two pairs present in 7 minutes. Listen for pairs who say "the cause is" and</a:t>
            </a:r>
          </a:p>
          <a:p>
            <a:r>
              <a:t>for pairs who say "the evidence would be". Only the second earns Meera's trust. One systems point on</a:t>
            </a:r>
          </a:p>
          <a:p>
            <a:r>
              <a:t>the reorder logs: ask how they are written before trusting them. A failure log that records only the</a:t>
            </a:r>
          </a:p>
          <a:p>
            <a:r>
              <a:t>attempts that reached the server misses every member whose tap never got that far, and that absence</a:t>
            </a:r>
          </a:p>
          <a:p>
            <a:r>
              <a:t>is not random, which is the morning's missing-field lesson in a new place. Interview question 12 is</a:t>
            </a:r>
          </a:p>
          <a:p>
            <a:r>
              <a:t>this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30 minutes. Ask each question aloud to a named pair, give them one breath to</a:t>
            </a:r>
          </a:p>
          <a:p>
            <a:r>
              <a:t>answer, then read the model answer from the notes. Tags: [S] staple asked everywhere, [F] frequent</a:t>
            </a:r>
          </a:p>
          <a:p>
            <a:r>
              <a:t>in GCC and product screens, [SV] service-major screen opener, [D]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1. Confirm the drop on matched windows, compare like with like, decompose into customers, orders</a:t>
            </a:r>
          </a:p>
          <a:p>
            <a:r>
              <a:t>per customer and revenue per order, isolate the segment, then name a hypothesis with the evidence</a:t>
            </a:r>
          </a:p>
          <a:p>
            <a:r>
              <a:t>that would settle it, timing first.</a:t>
            </a:r>
          </a:p>
          <a:p>
            <a:r>
              <a:t>2. Without the denominator nobody can check it, compare it or know how many cases it rests on:</a:t>
            </a:r>
          </a:p>
          <a:p>
            <a:r>
              <a:t>40 percent of five orders and of five thousand are different claims.</a:t>
            </a:r>
          </a:p>
          <a:p>
            <a:r>
              <a:t>3. The caller receives None, so the next step either crashes or silently drops that group, and</a:t>
            </a:r>
          </a:p>
          <a:p>
            <a:r>
              <a:t>the screen looked right the whole time.</a:t>
            </a:r>
          </a:p>
          <a:p>
            <a:r>
              <a:t>4. The window's length and dates, the metric's definition, and the population counted; compare</a:t>
            </a:r>
          </a:p>
          <a:p>
            <a:r>
              <a:t>closed quarters, or the same weeks of each; and name the season, which only the same quarter last</a:t>
            </a:r>
          </a:p>
          <a:p>
            <a:r>
              <a:t>year removes, the reason retailers keep a 4-5-4 calendar.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5. Show the tree for both quarters, show that the same customers bought in both, agree in advance</a:t>
            </a:r>
          </a:p>
          <a:p>
            <a:r>
              <a:t>what evidence would change your mind, and propose a check before the spend rather than a refusal;</a:t>
            </a:r>
          </a:p>
          <a:p>
            <a:r>
              <a:t>the frequency lever works on customers already won, which published estimates put at a fraction of</a:t>
            </a:r>
          </a:p>
          <a:p>
            <a:r>
              <a:t>the cost of acquiring new ones.</a:t>
            </a:r>
          </a:p>
          <a:p>
            <a:r>
              <a:t>6. Move one branch at a time in a bridge: customers at the old rates, then frequency at the old</a:t>
            </a:r>
          </a:p>
          <a:p>
            <a:r>
              <a:t>order value, then order value on the new orders, and check the moves sum to the change. Say which</a:t>
            </a:r>
          </a:p>
          <a:p>
            <a:r>
              <a:t>branch moved first, because moving order value first charges frequency Rs 60.9 lakh instead of</a:t>
            </a:r>
          </a:p>
          <a:p>
            <a:r>
              <a:t>Rs 51.6 lakh, or use the symmetric logarithmic split, which gives Rs 55.9 lakh whatever the order.</a:t>
            </a:r>
          </a:p>
          <a:p>
            <a:r>
              <a:t>7. Not necessarily: hold the segment mix still and recompute; here about 69 percent of the rise</a:t>
            </a:r>
          </a:p>
          <a:p>
            <a:r>
              <a:t>was mix, because small orders disappeared.</a:t>
            </a:r>
          </a:p>
          <a:p>
            <a:r>
              <a:t>8. No: absent is unknown; count the records without it, report them separately, write down the</a:t>
            </a:r>
          </a:p>
          <a:p>
            <a:r>
              <a:t>default and why, and bound how much it could matter. Ask which system left it empty, because absence</a:t>
            </a:r>
          </a:p>
          <a:p>
            <a:r>
              <a:t>is rarely random, and whichever of in, try/except or get you use, it encodes that decision.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9. Each segment's rate carries its own customers as weight; total orders over total customers</a:t>
            </a:r>
          </a:p>
          <a:p>
            <a:r>
              <a:t>reproduces the company figure, and a plain average gives two customers the same vote as</a:t>
            </a:r>
          </a:p>
          <a:p>
            <a:r>
              <a:t>thirty-four. A ratio of totals, never a mean of ratios: reports that store averages and average</a:t>
            </a:r>
          </a:p>
          <a:p>
            <a:r>
              <a:t>them again make the same mistake at every level.</a:t>
            </a:r>
          </a:p>
          <a:p>
            <a:r>
              <a:t>10. No: churn replaced by new customers keeps a count flat; compare the ids, lost and new.</a:t>
            </a:r>
          </a:p>
          <a:p>
            <a:r>
              <a:t>11. Both, each with what it rests on: the behaviour change covers a whole tier and is the stronger</a:t>
            </a:r>
          </a:p>
          <a:p>
            <a:r>
              <a:t>evidence; the rupee change rests on a few large orders and gets checked before anyone acts.</a:t>
            </a:r>
          </a:p>
          <a:p>
            <a:r>
              <a:t>12. Test timing first, then where the cause should act most, then name the data that would</a:t>
            </a:r>
          </a:p>
          <a:p>
            <a:r>
              <a:t>settle it and what result would disprove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20 minutes: Kahoot 10, the sentence and the crux lines 7, tomorrow's question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Run the pack from the kahoot folder. Pause on any question below 60 percent</a:t>
            </a:r>
          </a:p>
          <a:p>
            <a:r>
              <a:t>correct and ask a learner who got it right to explain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it aloud once, slowly. Ask two learners to compare it with the sentence they</a:t>
            </a:r>
          </a:p>
          <a:p>
            <a:r>
              <a:t>wrote in the escalated case: which part did theirs miss? Most miss the caveat or the data to ask for.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seven lines aloud with the room. The small chain maps them onto the</a:t>
            </a:r>
          </a:p>
          <a:p>
            <a:r>
              <a:t>ladder: lines 1 and 2 prove the drop, 3 and 4 decompose it, 5 and 6 keep the roll-up honest, and</a:t>
            </a:r>
          </a:p>
          <a:p>
            <a:r>
              <a:t>7 names the cause.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line and stop. Do not predict the answer. Remind the room that every</a:t>
            </a:r>
          </a:p>
          <a:p>
            <a:r>
              <a:t>number today was on the export as it stands, and point to the take-home brief. The TA-led</a:t>
            </a:r>
          </a:p>
          <a:p>
            <a:r>
              <a:t>practice lab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5.png"/><Relationship Id="rId6"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5.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Mix, rate and the cause on trial</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“Marketing says more customers. Prove it or disprove it.”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83676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220813"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7" name="TextBox 16"/>
          <p:cNvSpPr txBox="1"/>
          <p:nvPr/>
        </p:nvSpPr>
        <p:spPr>
          <a:xfrm>
            <a:off x="547382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5857874"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19" name="TextBox 18"/>
          <p:cNvSpPr txBox="1"/>
          <p:nvPr/>
        </p:nvSpPr>
        <p:spPr>
          <a:xfrm>
            <a:off x="73474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731537"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 on trial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Meera asks for the split by segment in rupees and in behaviour, and a colleague's helper comes with it.</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rupees and behaviour, per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Rung 4 asks whether revenue per order rose on price or on the mix of orders.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"You say frequency fell and order value rose. Show me which segments did it, in rupees and in orders, and tell me whether anyone is paying more."</a:t>
            </a:r>
          </a:p>
        </p:txBody>
      </p:sp>
      <p:sp>
        <p:nvSpPr>
          <p:cNvPr id="14" name="Rectangle 13"/>
          <p:cNvSpPr/>
          <p:nvPr/>
        </p:nvSpPr>
        <p:spPr>
          <a:xfrm>
            <a:off x="1853145" y="381000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752561"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The tree per segment</a:t>
            </a:r>
          </a:p>
        </p:txBody>
      </p:sp>
      <p:sp>
        <p:nvSpPr>
          <p:cNvPr id="19" name="TextBox 18"/>
          <p:cNvSpPr txBox="1"/>
          <p:nvPr/>
        </p:nvSpPr>
        <p:spPr>
          <a:xfrm>
            <a:off x="694944" y="4564126"/>
            <a:ext cx="2316403" cy="531876"/>
          </a:xfrm>
          <a:prstGeom prst="rect">
            <a:avLst/>
          </a:prstGeom>
          <a:noFill/>
        </p:spPr>
        <p:txBody>
          <a:bodyPr wrap="square" anchor="t" lIns="0" rIns="0" tIns="0" bIns="0">
            <a:spAutoFit/>
          </a:bodyPr>
          <a:lstStyle/>
          <a:p>
            <a:pPr algn="l"/>
            <a:r>
              <a:rPr sz="1000" b="0" i="0">
                <a:solidFill>
                  <a:srgbClr val="6B6690"/>
                </a:solidFill>
                <a:latin typeface="Calibri"/>
              </a:rPr>
              <a:t>Customers, orders per customer and revenue per order for four segments and two quarters.</a:t>
            </a:r>
          </a:p>
        </p:txBody>
      </p:sp>
      <p:sp>
        <p:nvSpPr>
          <p:cNvPr id="20" name="TextBox 19"/>
          <p:cNvSpPr txBox="1"/>
          <p:nvPr/>
        </p:nvSpPr>
        <p:spPr>
          <a:xfrm>
            <a:off x="3358819"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458102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358819" y="413004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23411"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Two bridges</a:t>
            </a:r>
          </a:p>
        </p:txBody>
      </p:sp>
      <p:sp>
        <p:nvSpPr>
          <p:cNvPr id="24" name="TextBox 23"/>
          <p:cNvSpPr txBox="1"/>
          <p:nvPr/>
        </p:nvSpPr>
        <p:spPr>
          <a:xfrm>
            <a:off x="3523411" y="4564126"/>
            <a:ext cx="2316403" cy="531876"/>
          </a:xfrm>
          <a:prstGeom prst="rect">
            <a:avLst/>
          </a:prstGeom>
          <a:noFill/>
        </p:spPr>
        <p:txBody>
          <a:bodyPr wrap="square" anchor="t" lIns="0" rIns="0" tIns="0" bIns="0">
            <a:spAutoFit/>
          </a:bodyPr>
          <a:lstStyle/>
          <a:p>
            <a:pPr algn="l"/>
            <a:r>
              <a:rPr sz="1000" b="0" i="0">
                <a:solidFill>
                  <a:srgbClr val="6B6690"/>
                </a:solidFill>
                <a:latin typeface="Calibri"/>
              </a:rPr>
              <a:t>Orders from 114 to 86, and rupees from Rs 2.10 crore to Rs 1.87 crore, segment by segment.</a:t>
            </a:r>
          </a:p>
        </p:txBody>
      </p:sp>
      <p:sp>
        <p:nvSpPr>
          <p:cNvPr id="25" name="TextBox 24"/>
          <p:cNvSpPr txBox="1"/>
          <p:nvPr/>
        </p:nvSpPr>
        <p:spPr>
          <a:xfrm>
            <a:off x="6187287"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740949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413004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Mix against rate</a:t>
            </a:r>
          </a:p>
        </p:txBody>
      </p:sp>
      <p:sp>
        <p:nvSpPr>
          <p:cNvPr id="29" name="TextBox 28"/>
          <p:cNvSpPr txBox="1"/>
          <p:nvPr/>
        </p:nvSpPr>
        <p:spPr>
          <a:xfrm>
            <a:off x="6351879"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Revenue per order at Q2's mix and Q1's per-segment rates.</a:t>
            </a:r>
          </a:p>
        </p:txBody>
      </p:sp>
      <p:sp>
        <p:nvSpPr>
          <p:cNvPr id="30" name="TextBox 29"/>
          <p:cNvSpPr txBox="1"/>
          <p:nvPr/>
        </p:nvSpPr>
        <p:spPr>
          <a:xfrm>
            <a:off x="9015755"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10237965"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015755" y="4130040"/>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80347" y="4276344"/>
            <a:ext cx="2316403" cy="251205"/>
          </a:xfrm>
          <a:prstGeom prst="rect">
            <a:avLst/>
          </a:prstGeom>
          <a:noFill/>
        </p:spPr>
        <p:txBody>
          <a:bodyPr wrap="square" anchor="t" lIns="0" rIns="0" tIns="0" bIns="0">
            <a:spAutoFit/>
          </a:bodyPr>
          <a:lstStyle/>
          <a:p>
            <a:pPr algn="l"/>
            <a:r>
              <a:rPr sz="1300" b="1" i="0">
                <a:solidFill>
                  <a:srgbClr val="FFFFFF"/>
                </a:solidFill>
                <a:latin typeface="Calibri"/>
              </a:rPr>
              <a:t>The summary</a:t>
            </a:r>
          </a:p>
        </p:txBody>
      </p:sp>
      <p:sp>
        <p:nvSpPr>
          <p:cNvPr id="34" name="TextBox 33"/>
          <p:cNvSpPr txBox="1"/>
          <p:nvPr/>
        </p:nvSpPr>
        <p:spPr>
          <a:xfrm>
            <a:off x="9180347" y="4564126"/>
            <a:ext cx="2316403" cy="531876"/>
          </a:xfrm>
          <a:prstGeom prst="rect">
            <a:avLst/>
          </a:prstGeom>
          <a:noFill/>
        </p:spPr>
        <p:txBody>
          <a:bodyPr wrap="square" anchor="t" lIns="0" rIns="0" tIns="0" bIns="0">
            <a:spAutoFit/>
          </a:bodyPr>
          <a:lstStyle/>
          <a:p>
            <a:pPr algn="l"/>
            <a:r>
              <a:rPr sz="1000" b="0" i="0">
                <a:solidFill>
                  <a:srgbClr val="CFC9EE"/>
                </a:solidFill>
                <a:latin typeface="Calibri"/>
              </a:rPr>
              <a:t>A percentage change per segment, using the helper a colleague left behind.</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7" name="Oval 3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9" name="Oval 3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1" name="Oval 4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3" name="Oval 4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colleague's helper from last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computed quarter-on-quarter change for the last review, and the brief says to reuse it.</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pct_change(before, after):</a:t>
            </a:r>
          </a:p>
          <a:p>
            <a:pPr>
              <a:spcAft>
                <a:spcPts val="200"/>
              </a:spcAft>
            </a:pPr>
            <a:r>
              <a:rPr sz="1400" b="0" i="0">
                <a:solidFill>
                  <a:srgbClr val="E4E1F1"/>
                </a:solidFill>
                <a:latin typeface="Consolas"/>
              </a:rPr>
              <a:t>    change = 100 * (after - before) / before</a:t>
            </a:r>
          </a:p>
          <a:p>
            <a:pPr>
              <a:spcAft>
                <a:spcPts val="200"/>
              </a:spcAft>
            </a:pPr>
            <a:r>
              <a:rPr sz="1400" b="0" i="0">
                <a:solidFill>
                  <a:srgbClr val="E4E1F1"/>
                </a:solidFill>
                <a:latin typeface="Consolas"/>
              </a:rPr>
              <a:t>    if abs(change) &gt; 30:</a:t>
            </a:r>
          </a:p>
          <a:p>
            <a:pPr>
              <a:spcAft>
                <a:spcPts val="200"/>
              </a:spcAft>
            </a:pPr>
            <a:r>
              <a:rPr sz="1400" b="0" i="0">
                <a:solidFill>
                  <a:srgbClr val="E4E1F1"/>
                </a:solidFill>
                <a:latin typeface="Consolas"/>
              </a:rPr>
              <a:t>        print(f"  check by hand: {change:+.1f}%")</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return round(change, 1)</a:t>
            </a:r>
          </a:p>
        </p:txBody>
      </p:sp>
      <p:sp>
        <p:nvSpPr>
          <p:cNvPr id="14" name="Rounded Rectangle 13"/>
          <p:cNvSpPr/>
          <p:nvPr/>
        </p:nvSpPr>
        <p:spPr>
          <a:xfrm>
            <a:off x="530352" y="4093463"/>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29615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search-check_6571e64a041f.png"/>
          <p:cNvPicPr>
            <a:picLocks noChangeAspect="1"/>
          </p:cNvPicPr>
          <p:nvPr/>
        </p:nvPicPr>
        <p:blipFill>
          <a:blip r:embed="rId4"/>
          <a:stretch>
            <a:fillRect/>
          </a:stretch>
        </p:blipFill>
        <p:spPr>
          <a:xfrm>
            <a:off x="868680" y="4405883"/>
            <a:ext cx="237744" cy="237744"/>
          </a:xfrm>
          <a:prstGeom prst="rect">
            <a:avLst/>
          </a:prstGeom>
        </p:spPr>
      </p:pic>
      <p:sp>
        <p:nvSpPr>
          <p:cNvPr id="17" name="TextBox 16"/>
          <p:cNvSpPr txBox="1"/>
          <p:nvPr/>
        </p:nvSpPr>
        <p:spPr>
          <a:xfrm>
            <a:off x="1399031" y="423976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8" name="TextBox 17"/>
          <p:cNvSpPr txBox="1"/>
          <p:nvPr/>
        </p:nvSpPr>
        <p:spPr>
          <a:xfrm>
            <a:off x="1399031" y="4459223"/>
            <a:ext cx="9987991" cy="423672"/>
          </a:xfrm>
          <a:prstGeom prst="rect">
            <a:avLst/>
          </a:prstGeom>
          <a:noFill/>
        </p:spPr>
        <p:txBody>
          <a:bodyPr wrap="square" anchor="t" lIns="0" rIns="0" tIns="0" bIns="0">
            <a:spAutoFit/>
          </a:bodyPr>
          <a:lstStyle/>
          <a:p>
            <a:r>
              <a:rPr sz="1500" b="0" i="0">
                <a:solidFill>
                  <a:srgbClr val="1A1440"/>
                </a:solidFill>
                <a:latin typeface="Calibri"/>
              </a:rPr>
              <a:t>"Reuse is good. Know what a function hands back on every path before you trust its output."</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1" name="Oval 2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3" name="Oval 22"/>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per order is a blend of segment rates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company's revenue per order is each segment's rate, weighted by its share of orders.</a:t>
            </a:r>
          </a:p>
        </p:txBody>
      </p:sp>
      <p:pic>
        <p:nvPicPr>
          <p:cNvPr id="9" name="mermaid diagram" descr="4d80b5ce6e26da86.png"/>
          <p:cNvPicPr>
            <a:picLocks noChangeAspect="1"/>
          </p:cNvPicPr>
          <p:nvPr/>
        </p:nvPicPr>
        <p:blipFill>
          <a:blip r:embed="rId6"/>
          <a:stretch>
            <a:fillRect/>
          </a:stretch>
        </p:blipFill>
        <p:spPr>
          <a:xfrm>
            <a:off x="1580997" y="1956816"/>
            <a:ext cx="9029700"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Hold one part still and move the other: Q2's shares with Q1's rates isolates the mix, and what is left is the rate. As with the morning's bridge, the order is a choice, so say which part moved first.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Four wrong answers the room reached, each plausible, each with the check that catches it.</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1: Business is the whole 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rupees Business carries the fall; in orders Retail-Plus carries it.</a:t>
            </a:r>
          </a:p>
        </p:txBody>
      </p:sp>
      <p:pic>
        <p:nvPicPr>
          <p:cNvPr id="9" name="mermaid diagram" descr="6ef1c86c16d8cc02.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In rupees, Business is -Rs 22,29,720 of the Rs 23,00,000 fall, 97 percent of it on three fewer orders; Retail-Plus is -Rs 65,250, which is 93 percent of the consumer fall. The typical Business order barely moved (median Rs 9,83,780 to Rs 9,52,000), so the Business rupees are a count of three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2: two segments vanished from the summary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helper printed two changes and returned None for them, and the filter dropped both.</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changes = {seg: pct_change(q1[seg], q2[seg]) for seg in SEGMENTS}</a:t>
            </a:r>
          </a:p>
          <a:p>
            <a:pPr>
              <a:spcAft>
                <a:spcPts val="200"/>
              </a:spcAft>
            </a:pPr>
            <a:r>
              <a:rPr sz="1400" b="0" i="0">
                <a:solidFill>
                  <a:srgbClr val="E4E1F1"/>
                </a:solidFill>
                <a:latin typeface="Consolas"/>
              </a:rPr>
              <a:t>falls = {seg: ch for seg, ch in changes.items() if ch and ch &lt; 0}</a:t>
            </a:r>
          </a:p>
          <a:p>
            <a:pPr>
              <a:spcAft>
                <a:spcPts val="200"/>
              </a:spcAft>
            </a:pPr>
            <a:r>
              <a:rPr sz="1400" b="0" i="0">
                <a:solidFill>
                  <a:srgbClr val="E4E1F1"/>
                </a:solidFill>
                <a:latin typeface="Consolas"/>
              </a:rPr>
              <a:t>print(falls)    # {'Retail-Core': -5.3, 'Business': -15.0}</a:t>
            </a:r>
          </a:p>
        </p:txBody>
      </p:sp>
      <p:pic>
        <p:nvPicPr>
          <p:cNvPr id="14" name="mermaid diagram" descr="3bec39ac2ca0a938.png"/>
          <p:cNvPicPr>
            <a:picLocks noChangeAspect="1"/>
          </p:cNvPicPr>
          <p:nvPr/>
        </p:nvPicPr>
        <p:blipFill>
          <a:blip r:embed="rId5"/>
          <a:stretch>
            <a:fillRect/>
          </a:stretch>
        </p:blipFill>
        <p:spPr>
          <a:xfrm>
            <a:off x="2309660" y="3336036"/>
            <a:ext cx="7572375" cy="11287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3: frequency fell only 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Averaged averages hide one tier that halved its orders per member.</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2301833"/>
                <a:gridCol w="1875962"/>
                <a:gridCol w="3019397"/>
                <a:gridCol w="3019397"/>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Per customer, Q1</a:t>
                      </a:r>
                    </a:p>
                  </a:txBody>
                  <a:tcPr marL="101600" marR="101600" marT="38100" marB="38100" anchor="ctr">
                    <a:solidFill>
                      <a:srgbClr val="1A0F5C"/>
                    </a:solidFill>
                  </a:tcPr>
                </a:tc>
                <a:tc>
                  <a:txBody>
                    <a:bodyPr/>
                    <a:lstStyle/>
                    <a:p>
                      <a:r>
                        <a:rPr sz="1250" b="1" i="0">
                          <a:solidFill>
                            <a:srgbClr val="FFFFFF"/>
                          </a:solidFill>
                          <a:latin typeface="Calibri"/>
                        </a:rPr>
                        <a:t>Per customer, 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34</a:t>
                      </a:r>
                    </a:p>
                  </a:txBody>
                  <a:tcPr marL="101600" marR="101600" marT="38100" marB="38100" anchor="ctr">
                    <a:solidFill>
                      <a:srgbClr val="FFFFFF"/>
                    </a:solidFill>
                  </a:tcPr>
                </a:tc>
                <a:tc>
                  <a:txBody>
                    <a:bodyPr/>
                    <a:lstStyle/>
                    <a:p>
                      <a:r>
                        <a:rPr sz="1200" b="0" i="0">
                          <a:solidFill>
                            <a:srgbClr val="1A1440"/>
                          </a:solidFill>
                          <a:latin typeface="Calibri"/>
                        </a:rPr>
                        <a:t>1.12</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-5.3%</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22</a:t>
                      </a:r>
                    </a:p>
                  </a:txBody>
                  <a:tcPr marL="101600" marR="101600" marT="38100" marB="38100" anchor="ctr">
                    <a:solidFill>
                      <a:srgbClr val="F4F2FA"/>
                    </a:solidFill>
                  </a:tcPr>
                </a:tc>
                <a:tc>
                  <a:txBody>
                    <a:bodyPr/>
                    <a:lstStyle/>
                    <a:p>
                      <a:r>
                        <a:rPr sz="1200" b="0" i="0">
                          <a:solidFill>
                            <a:srgbClr val="1A1440"/>
                          </a:solidFill>
                          <a:latin typeface="Calibri"/>
                        </a:rPr>
                        <a:t>2.32</a:t>
                      </a:r>
                    </a:p>
                  </a:txBody>
                  <a:tcPr marL="101600" marR="101600" marT="38100" marB="38100" anchor="ctr">
                    <a:solidFill>
                      <a:srgbClr val="F4F2FA"/>
                    </a:solidFill>
                  </a:tcPr>
                </a:tc>
                <a:tc>
                  <a:txBody>
                    <a:bodyPr/>
                    <a:lstStyle/>
                    <a:p>
                      <a:r>
                        <a:rPr sz="1200" b="0" i="0">
                          <a:solidFill>
                            <a:srgbClr val="1A1440"/>
                          </a:solidFill>
                          <a:latin typeface="Calibri"/>
                        </a:rPr>
                        <a:t>1.18</a:t>
                      </a:r>
                    </a:p>
                  </a:txBody>
                  <a:tcPr marL="101600" marR="101600" marT="38100" marB="38100" anchor="ctr">
                    <a:solidFill>
                      <a:srgbClr val="F4F2FA"/>
                    </a:solidFill>
                  </a:tcPr>
                </a:tc>
                <a:tc>
                  <a:txBody>
                    <a:bodyPr/>
                    <a:lstStyle/>
                    <a:p>
                      <a:r>
                        <a:rPr sz="1200" b="0" i="0">
                          <a:solidFill>
                            <a:srgbClr val="1A1440"/>
                          </a:solidFill>
                          <a:latin typeface="Calibri"/>
                        </a:rPr>
                        <a:t>-49.0%</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1.55</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2.50</a:t>
                      </a:r>
                    </a:p>
                  </a:txBody>
                  <a:tcPr marL="101600" marR="101600" marT="38100" marB="38100" anchor="ctr">
                    <a:solidFill>
                      <a:srgbClr val="F4F2FA"/>
                    </a:solidFill>
                  </a:tcPr>
                </a:tc>
                <a:tc>
                  <a:txBody>
                    <a:bodyPr/>
                    <a:lstStyle/>
                    <a:p>
                      <a:r>
                        <a:rPr sz="1200" b="0" i="0">
                          <a:solidFill>
                            <a:srgbClr val="1A1440"/>
                          </a:solidFill>
                          <a:latin typeface="Calibri"/>
                        </a:rPr>
                        <a:t>3.50</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r>
              <a:tr h="335280">
                <a:tc>
                  <a:txBody>
                    <a:bodyPr/>
                    <a:lstStyle/>
                    <a:p>
                      <a:r>
                        <a:rPr sz="1200" b="0" i="0">
                          <a:solidFill>
                            <a:srgbClr val="1A1440"/>
                          </a:solidFill>
                          <a:latin typeface="Calibri"/>
                        </a:rPr>
                        <a:t>Weighted, all</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1.65</a:t>
                      </a:r>
                    </a:p>
                  </a:txBody>
                  <a:tcPr marL="101600" marR="101600" marT="38100" marB="38100" anchor="ctr">
                    <a:solidFill>
                      <a:srgbClr val="FFFFFF"/>
                    </a:solidFill>
                  </a:tcPr>
                </a:tc>
                <a:tc>
                  <a:txBody>
                    <a:bodyPr/>
                    <a:lstStyle/>
                    <a:p>
                      <a:r>
                        <a:rPr sz="1200" b="0" i="0">
                          <a:solidFill>
                            <a:srgbClr val="1A1440"/>
                          </a:solidFill>
                          <a:latin typeface="Calibri"/>
                        </a:rPr>
                        <a:t>1.25</a:t>
                      </a:r>
                    </a:p>
                  </a:txBody>
                  <a:tcPr marL="101600" marR="101600" marT="38100" marB="38100" anchor="ctr">
                    <a:solidFill>
                      <a:srgbClr val="FFFFFF"/>
                    </a:solidFill>
                  </a:tcPr>
                </a:tc>
                <a:tc>
                  <a:txBody>
                    <a:bodyPr/>
                    <a:lstStyle/>
                    <a:p>
                      <a:r>
                        <a:rPr sz="1200" b="0" i="0">
                          <a:solidFill>
                            <a:srgbClr val="1A1440"/>
                          </a:solidFill>
                          <a:latin typeface="Calibri"/>
                        </a:rPr>
                        <a:t>-24.6%</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average of the four rows says 1.94 to 1.82; the weighted row reproduces the company figure, and the averaged one does not.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7" name="Oval 16"/>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4: revenue per order rose, so prices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About 69 percent of the rise is mix: small Retail-Plus orders disappeared.</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302191"/>
                <a:gridCol w="914400"/>
                <a:gridCol w="914400"/>
              </a:tblGrid>
              <a:tr h="369824">
                <a:tc>
                  <a:txBody>
                    <a:bodyPr/>
                    <a:lstStyle/>
                    <a:p>
                      <a:r>
                        <a:rPr sz="1450" b="1" i="0">
                          <a:solidFill>
                            <a:srgbClr val="FFFFFF"/>
                          </a:solidFill>
                          <a:latin typeface="Calibri"/>
                        </a:rPr>
                        <a:t>Order share</a:t>
                      </a:r>
                    </a:p>
                  </a:txBody>
                  <a:tcPr marL="101600" marR="101600" marT="38100" marB="38100" anchor="ctr">
                    <a:solidFill>
                      <a:srgbClr val="1A0F5C"/>
                    </a:solidFill>
                  </a:tcPr>
                </a:tc>
                <a:tc>
                  <a:txBody>
                    <a:bodyPr/>
                    <a:lstStyle/>
                    <a:p>
                      <a:r>
                        <a:rPr sz="1450" b="1" i="0">
                          <a:solidFill>
                            <a:srgbClr val="FFFFFF"/>
                          </a:solidFill>
                          <a:latin typeface="Calibri"/>
                        </a:rPr>
                        <a:t>Q1</a:t>
                      </a:r>
                    </a:p>
                  </a:txBody>
                  <a:tcPr marL="101600" marR="101600" marT="38100" marB="38100" anchor="ctr">
                    <a:solidFill>
                      <a:srgbClr val="1A0F5C"/>
                    </a:solidFill>
                  </a:tcPr>
                </a:tc>
                <a:tc>
                  <a:txBody>
                    <a:bodyPr/>
                    <a:lstStyle/>
                    <a:p>
                      <a:r>
                        <a:rPr sz="1450" b="1" i="0">
                          <a:solidFill>
                            <a:srgbClr val="FFFFFF"/>
                          </a:solidFill>
                          <a:latin typeface="Calibri"/>
                        </a:rPr>
                        <a:t>Q2</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33.3%</a:t>
                      </a:r>
                    </a:p>
                  </a:txBody>
                  <a:tcPr marL="101600" marR="101600" marT="38100" marB="38100" anchor="ctr">
                    <a:solidFill>
                      <a:srgbClr val="FFFFFF"/>
                    </a:solidFill>
                  </a:tcPr>
                </a:tc>
                <a:tc>
                  <a:txBody>
                    <a:bodyPr/>
                    <a:lstStyle/>
                    <a:p>
                      <a:r>
                        <a:rPr sz="1400" b="0" i="0">
                          <a:solidFill>
                            <a:srgbClr val="1A1440"/>
                          </a:solidFill>
                          <a:latin typeface="Calibri"/>
                        </a:rPr>
                        <a:t>41.9%</a:t>
                      </a:r>
                    </a:p>
                  </a:txBody>
                  <a:tcPr marL="101600" marR="101600" marT="38100" marB="38100" anchor="ctr">
                    <a:solidFill>
                      <a:srgbClr val="FFFFFF"/>
                    </a:solidFill>
                  </a:tcPr>
                </a:tc>
              </a:tr>
              <a:tr h="369824">
                <a:tc>
                  <a:txBody>
                    <a:bodyPr/>
                    <a:lstStyle/>
                    <a:p>
                      <a:r>
                        <a:rPr sz="1400" b="0" i="0">
                          <a:solidFill>
                            <a:srgbClr val="1A1440"/>
                          </a:solidFill>
                          <a:latin typeface="Calibri"/>
                        </a:rPr>
                        <a:t>Retail-Plus</a:t>
                      </a:r>
                    </a:p>
                  </a:txBody>
                  <a:tcPr marL="101600" marR="101600" marT="38100" marB="38100" anchor="ctr">
                    <a:solidFill>
                      <a:srgbClr val="F4F2FA"/>
                    </a:solidFill>
                  </a:tcPr>
                </a:tc>
                <a:tc>
                  <a:txBody>
                    <a:bodyPr/>
                    <a:lstStyle/>
                    <a:p>
                      <a:r>
                        <a:rPr sz="1400" b="0" i="0">
                          <a:solidFill>
                            <a:srgbClr val="1A1440"/>
                          </a:solidFill>
                          <a:latin typeface="Calibri"/>
                        </a:rPr>
                        <a:t>44.7%</a:t>
                      </a:r>
                    </a:p>
                  </a:txBody>
                  <a:tcPr marL="101600" marR="101600" marT="38100" marB="38100" anchor="ctr">
                    <a:solidFill>
                      <a:srgbClr val="F4F2FA"/>
                    </a:solidFill>
                  </a:tcPr>
                </a:tc>
                <a:tc>
                  <a:txBody>
                    <a:bodyPr/>
                    <a:lstStyle/>
                    <a:p>
                      <a:r>
                        <a:rPr sz="1400" b="0" i="0">
                          <a:solidFill>
                            <a:srgbClr val="1A1440"/>
                          </a:solidFill>
                          <a:latin typeface="Calibri"/>
                        </a:rPr>
                        <a:t>30.2%</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17.5%</a:t>
                      </a:r>
                    </a:p>
                  </a:txBody>
                  <a:tcPr marL="101600" marR="101600" marT="38100" marB="38100" anchor="ctr">
                    <a:solidFill>
                      <a:srgbClr val="FFFFFF"/>
                    </a:solidFill>
                  </a:tcPr>
                </a:tc>
                <a:tc>
                  <a:txBody>
                    <a:bodyPr/>
                    <a:lstStyle/>
                    <a:p>
                      <a:r>
                        <a:rPr sz="1400" b="0" i="0">
                          <a:solidFill>
                            <a:srgbClr val="1A1440"/>
                          </a:solidFill>
                          <a:latin typeface="Calibri"/>
                        </a:rPr>
                        <a:t>19.8%</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4.4%</a:t>
                      </a:r>
                    </a:p>
                  </a:txBody>
                  <a:tcPr marL="101600" marR="101600" marT="38100" marB="38100" anchor="ctr">
                    <a:solidFill>
                      <a:srgbClr val="F4F2FA"/>
                    </a:solidFill>
                  </a:tcPr>
                </a:tc>
                <a:tc>
                  <a:txBody>
                    <a:bodyPr/>
                    <a:lstStyle/>
                    <a:p>
                      <a:r>
                        <a:rPr sz="1400" b="0" i="0">
                          <a:solidFill>
                            <a:srgbClr val="1A1440"/>
                          </a:solidFill>
                          <a:latin typeface="Calibri"/>
                        </a:rPr>
                        <a:t>8.1%</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33,231</a:t>
            </a:r>
          </a:p>
        </p:txBody>
      </p:sp>
      <p:sp>
        <p:nvSpPr>
          <p:cNvPr id="11" name="TextBox 10"/>
          <p:cNvSpPr txBox="1"/>
          <p:nvPr/>
        </p:nvSpPr>
        <p:spPr>
          <a:xfrm>
            <a:off x="530352" y="479704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2" name="TextBox 11"/>
          <p:cNvSpPr txBox="1"/>
          <p:nvPr/>
        </p:nvSpPr>
        <p:spPr>
          <a:xfrm>
            <a:off x="530352" y="4998212"/>
            <a:ext cx="3527450" cy="193421"/>
          </a:xfrm>
          <a:prstGeom prst="rect">
            <a:avLst/>
          </a:prstGeom>
          <a:noFill/>
        </p:spPr>
        <p:txBody>
          <a:bodyPr wrap="square" anchor="t" lIns="0" rIns="0" tIns="0" bIns="0">
            <a:spAutoFit/>
          </a:bodyPr>
          <a:lstStyle/>
          <a:p>
            <a:pPr algn="l"/>
            <a:r>
              <a:rPr sz="950" b="0" i="0">
                <a:solidFill>
                  <a:srgbClr val="6B6690"/>
                </a:solidFill>
                <a:latin typeface="Calibri"/>
              </a:rPr>
              <a:t>Rs 1,84,211 to Rs 2,17,442</a:t>
            </a:r>
          </a:p>
        </p:txBody>
      </p:sp>
      <p:sp>
        <p:nvSpPr>
          <p:cNvPr id="13" name="Rectangle 12"/>
          <p:cNvSpPr/>
          <p:nvPr/>
        </p:nvSpPr>
        <p:spPr>
          <a:xfrm>
            <a:off x="530352" y="525068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4061968"/>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22,902</a:t>
            </a:r>
          </a:p>
        </p:txBody>
      </p:sp>
      <p:sp>
        <p:nvSpPr>
          <p:cNvPr id="15" name="TextBox 14"/>
          <p:cNvSpPr txBox="1"/>
          <p:nvPr/>
        </p:nvSpPr>
        <p:spPr>
          <a:xfrm>
            <a:off x="4332122" y="479704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MIX, MOVED FIRST</a:t>
            </a:r>
          </a:p>
        </p:txBody>
      </p:sp>
      <p:sp>
        <p:nvSpPr>
          <p:cNvPr id="16" name="TextBox 15"/>
          <p:cNvSpPr txBox="1"/>
          <p:nvPr/>
        </p:nvSpPr>
        <p:spPr>
          <a:xfrm>
            <a:off x="4332122" y="4998212"/>
            <a:ext cx="3527450" cy="193421"/>
          </a:xfrm>
          <a:prstGeom prst="rect">
            <a:avLst/>
          </a:prstGeom>
          <a:noFill/>
        </p:spPr>
        <p:txBody>
          <a:bodyPr wrap="square" anchor="t" lIns="0" rIns="0" tIns="0" bIns="0">
            <a:spAutoFit/>
          </a:bodyPr>
          <a:lstStyle/>
          <a:p>
            <a:pPr algn="l"/>
            <a:r>
              <a:rPr sz="950" b="0" i="0">
                <a:solidFill>
                  <a:srgbClr val="6B6690"/>
                </a:solidFill>
                <a:latin typeface="Calibri"/>
              </a:rPr>
              <a:t>69 percent; 72 if moved second</a:t>
            </a:r>
          </a:p>
        </p:txBody>
      </p:sp>
      <p:sp>
        <p:nvSpPr>
          <p:cNvPr id="17" name="Rectangle 16"/>
          <p:cNvSpPr/>
          <p:nvPr/>
        </p:nvSpPr>
        <p:spPr>
          <a:xfrm>
            <a:off x="4332122" y="525068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4061968"/>
            <a:ext cx="3527450" cy="698500"/>
          </a:xfrm>
          <a:prstGeom prst="rect">
            <a:avLst/>
          </a:prstGeom>
          <a:noFill/>
        </p:spPr>
        <p:txBody>
          <a:bodyPr wrap="square" anchor="t" lIns="0" rIns="0" tIns="0" bIns="0">
            <a:spAutoFit/>
          </a:bodyPr>
          <a:lstStyle/>
          <a:p>
            <a:pPr algn="l"/>
            <a:r>
              <a:rPr sz="4400" b="0" i="0">
                <a:solidFill>
                  <a:srgbClr val="5B3FD6"/>
                </a:solidFill>
                <a:latin typeface="Georgia"/>
              </a:rPr>
              <a:t>+Rs 10,330</a:t>
            </a:r>
          </a:p>
        </p:txBody>
      </p:sp>
      <p:sp>
        <p:nvSpPr>
          <p:cNvPr id="19" name="TextBox 18"/>
          <p:cNvSpPr txBox="1"/>
          <p:nvPr/>
        </p:nvSpPr>
        <p:spPr>
          <a:xfrm>
            <a:off x="8133892" y="479704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RATES</a:t>
            </a:r>
          </a:p>
        </p:txBody>
      </p:sp>
      <p:sp>
        <p:nvSpPr>
          <p:cNvPr id="20" name="TextBox 19"/>
          <p:cNvSpPr txBox="1"/>
          <p:nvPr/>
        </p:nvSpPr>
        <p:spPr>
          <a:xfrm>
            <a:off x="8133892" y="4998212"/>
            <a:ext cx="3527450" cy="193421"/>
          </a:xfrm>
          <a:prstGeom prst="rect">
            <a:avLst/>
          </a:prstGeom>
          <a:noFill/>
        </p:spPr>
        <p:txBody>
          <a:bodyPr wrap="square" anchor="t" lIns="0" rIns="0" tIns="0" bIns="0">
            <a:spAutoFit/>
          </a:bodyPr>
          <a:lstStyle/>
          <a:p>
            <a:pPr algn="l"/>
            <a:r>
              <a:rPr sz="950" b="0" i="0">
                <a:solidFill>
                  <a:srgbClr val="6B6690"/>
                </a:solidFill>
                <a:latin typeface="Calibri"/>
              </a:rPr>
              <a:t>Rs 9,203 if moved first</a:t>
            </a:r>
          </a:p>
        </p:txBody>
      </p:sp>
      <p:sp>
        <p:nvSpPr>
          <p:cNvPr id="21" name="Rectangle 20"/>
          <p:cNvSpPr/>
          <p:nvPr/>
        </p:nvSpPr>
        <p:spPr>
          <a:xfrm>
            <a:off x="8133892" y="525068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6" name="Oval 2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8" name="Oval 2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Retail-Plus member still buys,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22 members placed 26 orders against 51; three-times buyers now buy once.</a:t>
            </a:r>
          </a:p>
        </p:txBody>
      </p:sp>
      <p:pic>
        <p:nvPicPr>
          <p:cNvPr id="9" name="mermaid diagram" descr="ba0923e467e1a923.png"/>
          <p:cNvPicPr>
            <a:picLocks noChangeAspect="1"/>
          </p:cNvPicPr>
          <p:nvPr/>
        </p:nvPicPr>
        <p:blipFill>
          <a:blip r:embed="rId5"/>
          <a:stretch>
            <a:fillRect/>
          </a:stretch>
        </p:blipFill>
        <p:spPr>
          <a:xfrm>
            <a:off x="2010511" y="1664208"/>
            <a:ext cx="8170672"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In Q1, 10 members ordered three times; in Q2, none did, and 18 of the 22 ordered once.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escalated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Behaviour and rupees point at different segments, and both go to Meera.</a:t>
            </a:r>
          </a:p>
        </p:txBody>
      </p:sp>
      <p:pic>
        <p:nvPicPr>
          <p:cNvPr id="9" name="mermaid diagram" descr="6edb22b25a41b90d.png"/>
          <p:cNvPicPr>
            <a:picLocks noChangeAspect="1"/>
          </p:cNvPicPr>
          <p:nvPr/>
        </p:nvPicPr>
        <p:blipFill>
          <a:blip r:embed="rId6"/>
          <a:stretch>
            <a:fillRect/>
          </a:stretch>
        </p:blipFill>
        <p:spPr>
          <a:xfrm>
            <a:off x="2916878" y="1956816"/>
            <a:ext cx="6357937"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"Say both lenses and what each rests on: 22 members in one, three orders in the other. Tomorrow's reconciliation and Thursday's test check them before anyone acts."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head of Retail-Plus names a cause, Marketing names another, and pairs test both on the same numbers.</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voices, one set of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stakeholder hands you a cause; your job is to test both.</a:t>
            </a:r>
          </a:p>
        </p:txBody>
      </p:sp>
      <p:sp>
        <p:nvSpPr>
          <p:cNvPr id="9" name="Rounded Rectangle 8"/>
          <p:cNvSpPr/>
          <p:nvPr/>
        </p:nvSpPr>
        <p:spPr>
          <a:xfrm>
            <a:off x="530352"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HEAD OF RETAIL-PLUS</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"It is the broken reorder button"</a:t>
            </a:r>
          </a:p>
        </p:txBody>
      </p:sp>
      <p:sp>
        <p:nvSpPr>
          <p:cNvPr id="14" name="TextBox 13"/>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A member's complaint says the app's reorder feature has been broken for six weeks.</a:t>
            </a:r>
          </a:p>
        </p:txBody>
      </p:sp>
      <p:sp>
        <p:nvSpPr>
          <p:cNvPr id="15" name="Rounded Rectangle 14"/>
          <p:cNvSpPr/>
          <p:nvPr/>
        </p:nvSpPr>
        <p:spPr>
          <a:xfrm>
            <a:off x="6187287"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76c78891bb4f.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THE MARKETING LEAD</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flat count can hide churn"</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New customers may have replaced lost ones, and Retail-Plus is too small to matter.</a:t>
            </a:r>
          </a:p>
        </p:txBody>
      </p:sp>
      <p:sp>
        <p:nvSpPr>
          <p:cNvPr id="21" name="Rounded Rectangle 20"/>
          <p:cNvSpPr/>
          <p:nvPr/>
        </p:nvSpPr>
        <p:spPr>
          <a:xfrm>
            <a:off x="530352" y="41041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42321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4223004"/>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Name each cause as a hypothesis, say what evidence would settle it, and hold the numbers steady when either voice pushes.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Q2 customers bought in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a flat count of 69 can hide customers lost and replaced.</a:t>
            </a:r>
          </a:p>
        </p:txBody>
      </p:sp>
      <p:pic>
        <p:nvPicPr>
          <p:cNvPr id="9" name="mermaid diagram" descr="f20cbf70a464da7f.png"/>
          <p:cNvPicPr>
            <a:picLocks noChangeAspect="1"/>
          </p:cNvPicPr>
          <p:nvPr/>
        </p:nvPicPr>
        <p:blipFill>
          <a:blip r:embed="rId5"/>
          <a:stretch>
            <a:fillRect/>
          </a:stretch>
        </p:blipFill>
        <p:spPr>
          <a:xfrm>
            <a:off x="4759966" y="1956816"/>
            <a:ext cx="2671762"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the overlap of customer ids: a) all 69; b) 52, with 17 replaced; c) 35, half replaced; d) it cannot be known from order rows.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69 bought in both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lost and none new, so acquisition is not the branch that moved.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IN BOTH</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Q2 customer bought in Q1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LOST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bought in Q1, not in Q2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NEW</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bought in Q2, not in Q1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count is flat because the customers are the same people; they bought less often.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is small in rupees and large in behaviour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Rs 65,250 of a Rs 23 lakh fall does not matter.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 CONSUMER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65,250 of Rs 70,280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 of 28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LOST ORDERS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89 percent of them</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 of 22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BOUGHT LESS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whole tier moved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reply. </a:t>
            </a:r>
            <a:r>
              <a:rPr sz="1500" b="0" i="0">
                <a:solidFill>
                  <a:srgbClr val="1A1440"/>
                </a:solidFill>
                <a:latin typeface="Calibri"/>
              </a:rPr>
              <a:t>The rupee fall in Business rests on three orders; the Retail-Plus fall rests on every member of a paid tier buying half as often. Members already won are the cheaper lever: published estimates put acquiring a customer at 5 to 25 times the cost of keeping one.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fall began before the reorder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dropped in July; six weeks back from this week is late August.</a:t>
            </a:r>
          </a:p>
        </p:txBody>
      </p:sp>
      <p:pic>
        <p:nvPicPr>
          <p:cNvPr id="9" name="mermaid diagram" descr="cf38f28011ad068f.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Retail-Plus placed 18 orders from 1 July to 24 August and 8 from 25 August to 30 September. Retail-Core, the comparison segment, stayed flat, which argues against a season that hit every customer, though only last year's Q2 can rule the season out for the tier.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channel fell, the app no faster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 app-only cause would have shown the app falling first and alone.</a:t>
            </a:r>
          </a:p>
        </p:txBody>
      </p:sp>
      <p:graphicFrame>
        <p:nvGraphicFramePr>
          <p:cNvPr id="9" name="Table 8"/>
          <p:cNvGraphicFramePr>
            <a:graphicFrameLocks noGrp="1"/>
          </p:cNvGraphicFramePr>
          <p:nvPr/>
        </p:nvGraphicFramePr>
        <p:xfrm>
          <a:off x="530352" y="1956816"/>
          <a:ext cx="11130991" cy="1243584"/>
        </p:xfrm>
        <a:graphic>
          <a:graphicData uri="http://schemas.openxmlformats.org/drawingml/2006/table">
            <a:tbl>
              <a:tblPr firstRow="0" bandRow="0">
                <a:tableStyleId>{2D5ABB26-0587-4C30-8999-92F81FD0307C}</a:tableStyleId>
              </a:tblPr>
              <a:tblGrid>
                <a:gridCol w="8387791"/>
                <a:gridCol w="914400"/>
                <a:gridCol w="914400"/>
                <a:gridCol w="914400"/>
              </a:tblGrid>
              <a:tr h="310896">
                <a:tc>
                  <a:txBody>
                    <a:bodyPr/>
                    <a:lstStyle/>
                    <a:p>
                      <a:r>
                        <a:rPr sz="950" b="1" i="0">
                          <a:solidFill>
                            <a:srgbClr val="FFFFFF"/>
                          </a:solidFill>
                          <a:latin typeface="Calibri"/>
                        </a:rPr>
                        <a:t>Retail-Plus orders</a:t>
                      </a:r>
                    </a:p>
                  </a:txBody>
                  <a:tcPr marL="101600" marR="101600" marT="38100" marB="38100" anchor="ctr">
                    <a:solidFill>
                      <a:srgbClr val="1A0F5C"/>
                    </a:solidFill>
                  </a:tcPr>
                </a:tc>
                <a:tc>
                  <a:txBody>
                    <a:bodyPr/>
                    <a:lstStyle/>
                    <a:p>
                      <a:r>
                        <a:rPr sz="950" b="1" i="0">
                          <a:solidFill>
                            <a:srgbClr val="FFFFFF"/>
                          </a:solidFill>
                          <a:latin typeface="Calibri"/>
                        </a:rPr>
                        <a:t>Q1</a:t>
                      </a:r>
                    </a:p>
                  </a:txBody>
                  <a:tcPr marL="101600" marR="101600" marT="38100" marB="38100" anchor="ctr">
                    <a:solidFill>
                      <a:srgbClr val="1A0F5C"/>
                    </a:solidFill>
                  </a:tcPr>
                </a:tc>
                <a:tc>
                  <a:txBody>
                    <a:bodyPr/>
                    <a:lstStyle/>
                    <a:p>
                      <a:r>
                        <a:rPr sz="950" b="1" i="0">
                          <a:solidFill>
                            <a:srgbClr val="FFFFFF"/>
                          </a:solidFill>
                          <a:latin typeface="Calibri"/>
                        </a:rPr>
                        <a:t>Q2</a:t>
                      </a:r>
                    </a:p>
                  </a:txBody>
                  <a:tcPr marL="101600" marR="101600" marT="38100" marB="38100" anchor="ctr">
                    <a:solidFill>
                      <a:srgbClr val="1A0F5C"/>
                    </a:solidFill>
                  </a:tcPr>
                </a:tc>
                <a:tc>
                  <a:txBody>
                    <a:bodyPr/>
                    <a:lstStyle/>
                    <a:p>
                      <a:r>
                        <a:rPr sz="950" b="1" i="0">
                          <a:solidFill>
                            <a:srgbClr val="FFFFFF"/>
                          </a:solidFill>
                          <a:latin typeface="Calibri"/>
                        </a:rPr>
                        <a:t>Change</a:t>
                      </a:r>
                    </a:p>
                  </a:txBody>
                  <a:tcPr marL="101600" marR="101600" marT="38100" marB="38100" anchor="ctr">
                    <a:solidFill>
                      <a:srgbClr val="1A0F5C"/>
                    </a:solidFill>
                  </a:tcPr>
                </a:tc>
              </a:tr>
              <a:tr h="310896">
                <a:tc>
                  <a:txBody>
                    <a:bodyPr/>
                    <a:lstStyle/>
                    <a:p>
                      <a:r>
                        <a:rPr sz="900" b="0" i="0">
                          <a:solidFill>
                            <a:srgbClr val="1A1440"/>
                          </a:solidFill>
                          <a:latin typeface="Calibri"/>
                        </a:rPr>
                        <a:t>Web</a:t>
                      </a:r>
                    </a:p>
                  </a:txBody>
                  <a:tcPr marL="101600" marR="101600" marT="38100" marB="38100" anchor="ctr">
                    <a:solidFill>
                      <a:srgbClr val="FFFFFF"/>
                    </a:solidFill>
                  </a:tcPr>
                </a:tc>
                <a:tc>
                  <a:txBody>
                    <a:bodyPr/>
                    <a:lstStyle/>
                    <a:p>
                      <a:r>
                        <a:rPr sz="900" b="0" i="0">
                          <a:solidFill>
                            <a:srgbClr val="1A1440"/>
                          </a:solidFill>
                          <a:latin typeface="Calibri"/>
                        </a:rPr>
                        <a:t>24</a:t>
                      </a:r>
                    </a:p>
                  </a:txBody>
                  <a:tcPr marL="101600" marR="101600" marT="38100" marB="38100" anchor="ctr">
                    <a:solidFill>
                      <a:srgbClr val="FFFFFF"/>
                    </a:solidFill>
                  </a:tcPr>
                </a:tc>
                <a:tc>
                  <a:txBody>
                    <a:bodyPr/>
                    <a:lstStyle/>
                    <a:p>
                      <a:r>
                        <a:rPr sz="900" b="0" i="0">
                          <a:solidFill>
                            <a:srgbClr val="1A1440"/>
                          </a:solidFill>
                          <a:latin typeface="Calibri"/>
                        </a:rPr>
                        <a:t>9</a:t>
                      </a:r>
                    </a:p>
                  </a:txBody>
                  <a:tcPr marL="101600" marR="101600" marT="38100" marB="38100" anchor="ctr">
                    <a:solidFill>
                      <a:srgbClr val="FFFFFF"/>
                    </a:solidFill>
                  </a:tcPr>
                </a:tc>
                <a:tc>
                  <a:txBody>
                    <a:bodyPr/>
                    <a:lstStyle/>
                    <a:p>
                      <a:r>
                        <a:rPr sz="900" b="0" i="0">
                          <a:solidFill>
                            <a:srgbClr val="1A1440"/>
                          </a:solidFill>
                          <a:latin typeface="Calibri"/>
                        </a:rPr>
                        <a:t>-15</a:t>
                      </a:r>
                    </a:p>
                  </a:txBody>
                  <a:tcPr marL="101600" marR="101600" marT="38100" marB="38100" anchor="ctr">
                    <a:solidFill>
                      <a:srgbClr val="FFFFFF"/>
                    </a:solidFill>
                  </a:tcPr>
                </a:tc>
              </a:tr>
              <a:tr h="310896">
                <a:tc>
                  <a:txBody>
                    <a:bodyPr/>
                    <a:lstStyle/>
                    <a:p>
                      <a:r>
                        <a:rPr sz="900" b="0" i="0">
                          <a:solidFill>
                            <a:srgbClr val="1A1440"/>
                          </a:solidFill>
                          <a:latin typeface="Calibri"/>
                        </a:rPr>
                        <a:t>Store</a:t>
                      </a:r>
                    </a:p>
                  </a:txBody>
                  <a:tcPr marL="101600" marR="101600" marT="38100" marB="38100" anchor="ctr">
                    <a:solidFill>
                      <a:srgbClr val="F4F2FA"/>
                    </a:solidFill>
                  </a:tcPr>
                </a:tc>
                <a:tc>
                  <a:txBody>
                    <a:bodyPr/>
                    <a:lstStyle/>
                    <a:p>
                      <a:r>
                        <a:rPr sz="900" b="0" i="0">
                          <a:solidFill>
                            <a:srgbClr val="1A1440"/>
                          </a:solidFill>
                          <a:latin typeface="Calibri"/>
                        </a:rPr>
                        <a:t>14</a:t>
                      </a:r>
                    </a:p>
                  </a:txBody>
                  <a:tcPr marL="101600" marR="101600" marT="38100" marB="38100" anchor="ctr">
                    <a:solidFill>
                      <a:srgbClr val="F4F2FA"/>
                    </a:solidFill>
                  </a:tcPr>
                </a:tc>
                <a:tc>
                  <a:txBody>
                    <a:bodyPr/>
                    <a:lstStyle/>
                    <a:p>
                      <a:r>
                        <a:rPr sz="900" b="0" i="0">
                          <a:solidFill>
                            <a:srgbClr val="1A1440"/>
                          </a:solidFill>
                          <a:latin typeface="Calibri"/>
                        </a:rPr>
                        <a:t>9</a:t>
                      </a:r>
                    </a:p>
                  </a:txBody>
                  <a:tcPr marL="101600" marR="101600" marT="38100" marB="38100" anchor="ctr">
                    <a:solidFill>
                      <a:srgbClr val="F4F2FA"/>
                    </a:solidFill>
                  </a:tcPr>
                </a:tc>
                <a:tc>
                  <a:txBody>
                    <a:bodyPr/>
                    <a:lstStyle/>
                    <a:p>
                      <a:r>
                        <a:rPr sz="900" b="0" i="0">
                          <a:solidFill>
                            <a:srgbClr val="1A1440"/>
                          </a:solidFill>
                          <a:latin typeface="Calibri"/>
                        </a:rPr>
                        <a:t>-5</a:t>
                      </a:r>
                    </a:p>
                  </a:txBody>
                  <a:tcPr marL="101600" marR="101600" marT="38100" marB="38100" anchor="ctr">
                    <a:solidFill>
                      <a:srgbClr val="F4F2FA"/>
                    </a:solidFill>
                  </a:tcPr>
                </a:tc>
              </a:tr>
              <a:tr h="310896">
                <a:tc>
                  <a:txBody>
                    <a:bodyPr/>
                    <a:lstStyle/>
                    <a:p>
                      <a:r>
                        <a:rPr sz="900" b="0" i="0">
                          <a:solidFill>
                            <a:srgbClr val="1A1440"/>
                          </a:solidFill>
                          <a:latin typeface="Calibri"/>
                        </a:rPr>
                        <a:t>App</a:t>
                      </a:r>
                    </a:p>
                  </a:txBody>
                  <a:tcPr marL="101600" marR="101600" marT="38100" marB="38100" anchor="ctr">
                    <a:solidFill>
                      <a:srgbClr val="FFFFFF"/>
                    </a:solidFill>
                  </a:tcPr>
                </a:tc>
                <a:tc>
                  <a:txBody>
                    <a:bodyPr/>
                    <a:lstStyle/>
                    <a:p>
                      <a:r>
                        <a:rPr sz="900" b="0" i="0">
                          <a:solidFill>
                            <a:srgbClr val="1A1440"/>
                          </a:solidFill>
                          <a:latin typeface="Calibri"/>
                        </a:rPr>
                        <a:t>13</a:t>
                      </a:r>
                    </a:p>
                  </a:txBody>
                  <a:tcPr marL="101600" marR="101600" marT="38100" marB="38100" anchor="ctr">
                    <a:solidFill>
                      <a:srgbClr val="FFFFFF"/>
                    </a:solidFill>
                  </a:tcPr>
                </a:tc>
                <a:tc>
                  <a:txBody>
                    <a:bodyPr/>
                    <a:lstStyle/>
                    <a:p>
                      <a:r>
                        <a:rPr sz="900" b="0" i="0">
                          <a:solidFill>
                            <a:srgbClr val="1A1440"/>
                          </a:solidFill>
                          <a:latin typeface="Calibri"/>
                        </a:rPr>
                        <a:t>8</a:t>
                      </a:r>
                    </a:p>
                  </a:txBody>
                  <a:tcPr marL="101600" marR="101600" marT="38100" marB="38100" anchor="ctr">
                    <a:solidFill>
                      <a:srgbClr val="FFFFFF"/>
                    </a:solidFill>
                  </a:tcPr>
                </a:tc>
                <a:tc>
                  <a:txBody>
                    <a:bodyPr/>
                    <a:lstStyle/>
                    <a:p>
                      <a:r>
                        <a:rPr sz="900" b="0" i="0">
                          <a:solidFill>
                            <a:srgbClr val="1A1440"/>
                          </a:solidFill>
                          <a:latin typeface="Calibri"/>
                        </a:rPr>
                        <a:t>-5</a:t>
                      </a:r>
                    </a:p>
                  </a:txBody>
                  <a:tcPr marL="101600" marR="101600" marT="38100" marB="38100" anchor="ctr">
                    <a:solidFill>
                      <a:srgbClr val="FFFFFF"/>
                    </a:solidFill>
                  </a:tcPr>
                </a:tc>
              </a:tr>
            </a:tbl>
          </a:graphicData>
        </a:graphic>
      </p:graphicFrame>
      <p:pic>
        <p:nvPicPr>
          <p:cNvPr id="10" name="mermaid diagram" descr="7ba9bceba968e311.png"/>
          <p:cNvPicPr>
            <a:picLocks noChangeAspect="1"/>
          </p:cNvPicPr>
          <p:nvPr/>
        </p:nvPicPr>
        <p:blipFill>
          <a:blip r:embed="rId5"/>
          <a:stretch>
            <a:fillRect/>
          </a:stretch>
        </p:blipFill>
        <p:spPr>
          <a:xfrm>
            <a:off x="2716853" y="3456432"/>
            <a:ext cx="6757987" cy="1128712"/>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hypotheses, a rival, and the data for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can be settled from this file, so the answer names the data to ask for.</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4533b8fac61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HYPOTHESIS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broken reorder feature</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Settled by the app's reorder events and failures by week, the release that broke it, and whether members who used reorder in Q1 fell more than those who did not.</a:t>
            </a:r>
          </a:p>
        </p:txBody>
      </p:sp>
      <p:sp>
        <p:nvSpPr>
          <p:cNvPr id="15" name="Rounded Rectangle 14"/>
          <p:cNvSpPr/>
          <p:nvPr/>
        </p:nvSpPr>
        <p:spPr>
          <a:xfrm>
            <a:off x="430164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clock_65f01296de83.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HYPOTHESIS 2</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Something changed for members in July</a:t>
            </a:r>
          </a:p>
        </p:txBody>
      </p:sp>
      <p:sp>
        <p:nvSpPr>
          <p:cNvPr id="20" name="TextBox 19"/>
          <p:cNvSpPr txBox="1"/>
          <p:nvPr/>
        </p:nvSpPr>
        <p:spPr>
          <a:xfrm>
            <a:off x="4502810" y="3534664"/>
            <a:ext cx="3186074" cy="581406"/>
          </a:xfrm>
          <a:prstGeom prst="rect">
            <a:avLst/>
          </a:prstGeom>
          <a:noFill/>
        </p:spPr>
        <p:txBody>
          <a:bodyPr wrap="square" anchor="t" lIns="0" rIns="0" tIns="0" bIns="0">
            <a:spAutoFit/>
          </a:bodyPr>
          <a:lstStyle/>
          <a:p>
            <a:pPr algn="l"/>
            <a:r>
              <a:rPr sz="1100" b="0" i="0">
                <a:solidFill>
                  <a:srgbClr val="CFC9EE"/>
                </a:solidFill>
                <a:latin typeface="Calibri"/>
              </a:rPr>
              <a:t>Settled by the tier's change log for benefits, prices or delivery terms, renewals, and members' support tickets.</a:t>
            </a:r>
          </a:p>
        </p:txBody>
      </p:sp>
      <p:sp>
        <p:nvSpPr>
          <p:cNvPr id="21" name="Rounded Rectangle 20"/>
          <p:cNvSpPr/>
          <p:nvPr/>
        </p:nvSpPr>
        <p:spPr>
          <a:xfrm>
            <a:off x="807293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loud-rain_994c880de426.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RIVAL</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season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monsoon dip that hit members harder. Settled by last year's Q2 for Retail-Plus against Retail-Core.</a:t>
            </a:r>
          </a:p>
        </p:txBody>
      </p:sp>
      <p:sp>
        <p:nvSpPr>
          <p:cNvPr id="27" name="Rounded Rectangle 26"/>
          <p:cNvSpPr/>
          <p:nvPr/>
        </p:nvSpPr>
        <p:spPr>
          <a:xfrm>
            <a:off x="530352" y="45252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8574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967224"/>
            <a:ext cx="237744" cy="237744"/>
          </a:xfrm>
          <a:prstGeom prst="rect">
            <a:avLst/>
          </a:prstGeom>
        </p:spPr>
      </p:pic>
      <p:sp>
        <p:nvSpPr>
          <p:cNvPr id="30" name="TextBox 29"/>
          <p:cNvSpPr txBox="1"/>
          <p:nvPr/>
        </p:nvSpPr>
        <p:spPr>
          <a:xfrm>
            <a:off x="1399031" y="46715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891024"/>
            <a:ext cx="9987991" cy="682752"/>
          </a:xfrm>
          <a:prstGeom prst="rect">
            <a:avLst/>
          </a:prstGeom>
          <a:noFill/>
        </p:spPr>
        <p:txBody>
          <a:bodyPr wrap="square" anchor="t" lIns="0" rIns="0" tIns="0" bIns="0">
            <a:spAutoFit/>
          </a:bodyPr>
          <a:lstStyle/>
          <a:p>
            <a:r>
              <a:rPr sz="1500" b="0" i="0">
                <a:solidFill>
                  <a:srgbClr val="1A1440"/>
                </a:solidFill>
                <a:latin typeface="Calibri"/>
              </a:rPr>
              <a:t>"A cause is a hypothesis until the evidence that would settle it is in hand. Timing first, then where, then the data you still need."</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6" name="Oval 3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8" name="Oval 3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0" name="Oval 3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asked aloud, one breath each, the way a GCC screen asks them.</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1 to 4: the ladder and the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Asked aloud, answered in one breath, then compared with the model answer.</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1. Sales dropped 15 percent last month; how would you investigate?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2. Why is a rate without a denominator meaningless?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3. Why does a function that prints instead of returning break a pipeline?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 What has to match before a quarter-on-quarter comparison is fair?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5 to 8: the tree and the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decomposition questions, where a plausible number is waiting.</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5. Marketing insists the answer is acquisition and your data says frequency; how do you make the case in the room?</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6. Revenue fell 11 percent; how do you split the change between customers, frequency and order value?</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7. Revenue per order rose 18 percent while revenue fell; did prices go up?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8. A field is missing on some records; do you fill it with zero?</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9 to 12: weights, churn and causes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case-style follow-ups that separate candidates.</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9. You have orders per customer for four segments; why can't you average them for the company figure?</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10. The customer count is flat quarter on quarter; does that prove no customers were lost?</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11. The fall is in rupees in one segment and in behaviour in another; which do you put in front of the CEO first?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12. A stakeholder hands you a cause; how do you test it with the data you have and name the data you need?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sentence to Meera, the seven lines to keep, and tomorrow's question.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nine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per idea from today, plus Monday's return question.</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eight from today, one from Monday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 this week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PLAY AND DISCUSS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answers talked through</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5" name="Oval 2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7" name="Oval 2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9" name="Oval 28"/>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that goes to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claim, its evidence, its caveat and the next step, in the order she needs them.</a:t>
            </a:r>
          </a:p>
        </p:txBody>
      </p:sp>
      <p:sp>
        <p:nvSpPr>
          <p:cNvPr id="9" name="Rounded Rectangle 8"/>
          <p:cNvSpPr/>
          <p:nvPr/>
        </p:nvSpPr>
        <p:spPr>
          <a:xfrm>
            <a:off x="530352" y="1956816"/>
            <a:ext cx="45720" cy="24485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448560"/>
          </a:xfrm>
          <a:prstGeom prst="rect">
            <a:avLst/>
          </a:prstGeom>
          <a:noFill/>
        </p:spPr>
        <p:txBody>
          <a:bodyPr wrap="square" anchor="t" lIns="0" rIns="0" tIns="0" bIns="0">
            <a:spAutoFit/>
          </a:bodyPr>
          <a:lstStyle/>
          <a:p>
            <a:r>
              <a:rPr sz="1600" b="0" i="1">
                <a:solidFill>
                  <a:srgbClr val="1A0F5C"/>
                </a:solidFill>
                <a:latin typeface="Georgia"/>
              </a:rPr>
              <a:t>"Revenue fell 11.0 percent between two closed quarters, Rs 2.10 crore to Rs 1.87 crore on the export as it stands. Customers held at 69, and every one of them bought in both quarters, so acquisition is not the branch that moved; orders per customer fell from 1.65 to 1.25. In behaviour the fall sits in Retail-Plus, where the same 22 members placed 26 orders against 51; in rupees most of it is three fewer Business orders, which tomorrow's reconciliation checks before anyone acts. The broken reorder feature is a hypothesis: the fall began in July, before the break the complaint dates, so we are asking for the app's reorder logs."</a:t>
            </a:r>
          </a:p>
          <a:p>
            <a:pPr>
              <a:spcBef>
                <a:spcPts val="400"/>
              </a:spcBef>
            </a:pPr>
            <a:r>
              <a:rPr sz="1000" b="0" i="0">
                <a:solidFill>
                  <a:srgbClr val="6B6690"/>
                </a:solidFill>
                <a:latin typeface="Calibri"/>
              </a:rPr>
              <a:t>The data and AI team, to Meera Raghavan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day's rules, word for word as the cheat sheet prints them.</a:t>
            </a:r>
          </a:p>
        </p:txBody>
      </p:sp>
      <p:sp>
        <p:nvSpPr>
          <p:cNvPr id="9" name="TextBox 8"/>
          <p:cNvSpPr txBox="1"/>
          <p:nvPr/>
        </p:nvSpPr>
        <p:spPr>
          <a:xfrm>
            <a:off x="530352" y="1866995"/>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03571"/>
            <a:ext cx="10564063" cy="368808"/>
          </a:xfrm>
          <a:prstGeom prst="rect">
            <a:avLst/>
          </a:prstGeom>
          <a:noFill/>
        </p:spPr>
        <p:txBody>
          <a:bodyPr wrap="square" anchor="t" lIns="0" rIns="0" tIns="0" bIns="0">
            <a:spAutoFit/>
          </a:bodyPr>
          <a:lstStyle/>
          <a:p>
            <a:r>
              <a:rPr sz="1500" b="0" i="0">
                <a:solidFill>
                  <a:srgbClr val="1A1440"/>
                </a:solidFill>
                <a:latin typeface="Calibri"/>
              </a:rPr>
              <a:t>Confirm the drop on matched windows before you explain it.</a:t>
            </a:r>
          </a:p>
        </p:txBody>
      </p:sp>
      <p:sp>
        <p:nvSpPr>
          <p:cNvPr id="11" name="TextBox 10"/>
          <p:cNvSpPr txBox="1"/>
          <p:nvPr/>
        </p:nvSpPr>
        <p:spPr>
          <a:xfrm>
            <a:off x="530352" y="2308955"/>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45531"/>
            <a:ext cx="10564063" cy="368808"/>
          </a:xfrm>
          <a:prstGeom prst="rect">
            <a:avLst/>
          </a:prstGeom>
          <a:noFill/>
        </p:spPr>
        <p:txBody>
          <a:bodyPr wrap="square" anchor="t" lIns="0" rIns="0" tIns="0" bIns="0">
            <a:spAutoFit/>
          </a:bodyPr>
          <a:lstStyle/>
          <a:p>
            <a:r>
              <a:rPr sz="1500" b="0" i="0">
                <a:solidFill>
                  <a:srgbClr val="1A1440"/>
                </a:solidFill>
                <a:latin typeface="Calibri"/>
              </a:rPr>
              <a:t>A rate without its denominator is a rumour.</a:t>
            </a:r>
          </a:p>
        </p:txBody>
      </p:sp>
      <p:sp>
        <p:nvSpPr>
          <p:cNvPr id="13" name="TextBox 12"/>
          <p:cNvSpPr txBox="1"/>
          <p:nvPr/>
        </p:nvSpPr>
        <p:spPr>
          <a:xfrm>
            <a:off x="530352" y="2750915"/>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787491"/>
            <a:ext cx="10564063" cy="368808"/>
          </a:xfrm>
          <a:prstGeom prst="rect">
            <a:avLst/>
          </a:prstGeom>
          <a:noFill/>
        </p:spPr>
        <p:txBody>
          <a:bodyPr wrap="square" anchor="t" lIns="0" rIns="0" tIns="0" bIns="0">
            <a:spAutoFit/>
          </a:bodyPr>
          <a:lstStyle/>
          <a:p>
            <a:r>
              <a:rPr sz="1500" b="0" i="0">
                <a:solidFill>
                  <a:srgbClr val="1A1440"/>
                </a:solidFill>
                <a:latin typeface="Calibri"/>
              </a:rPr>
              <a:t>Decompose along the tree: customers, orders per customer, revenue per order.</a:t>
            </a:r>
          </a:p>
        </p:txBody>
      </p:sp>
      <p:sp>
        <p:nvSpPr>
          <p:cNvPr id="15" name="TextBox 14"/>
          <p:cNvSpPr txBox="1"/>
          <p:nvPr/>
        </p:nvSpPr>
        <p:spPr>
          <a:xfrm>
            <a:off x="530352" y="3192875"/>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29451"/>
            <a:ext cx="10564063" cy="368808"/>
          </a:xfrm>
          <a:prstGeom prst="rect">
            <a:avLst/>
          </a:prstGeom>
          <a:noFill/>
        </p:spPr>
        <p:txBody>
          <a:bodyPr wrap="square" anchor="t" lIns="0" rIns="0" tIns="0" bIns="0">
            <a:spAutoFit/>
          </a:bodyPr>
          <a:lstStyle/>
          <a:p>
            <a:r>
              <a:rPr sz="1500" b="0" i="0">
                <a:solidFill>
                  <a:srgbClr val="1A1440"/>
                </a:solidFill>
                <a:latin typeface="Calibri"/>
              </a:rPr>
              <a:t>Missing means unknown until someone chooses a default and writes down why.</a:t>
            </a:r>
          </a:p>
        </p:txBody>
      </p:sp>
      <p:sp>
        <p:nvSpPr>
          <p:cNvPr id="17" name="TextBox 16"/>
          <p:cNvSpPr txBox="1"/>
          <p:nvPr/>
        </p:nvSpPr>
        <p:spPr>
          <a:xfrm>
            <a:off x="530352" y="3634835"/>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671411"/>
            <a:ext cx="10564063" cy="368808"/>
          </a:xfrm>
          <a:prstGeom prst="rect">
            <a:avLst/>
          </a:prstGeom>
          <a:noFill/>
        </p:spPr>
        <p:txBody>
          <a:bodyPr wrap="square" anchor="t" lIns="0" rIns="0" tIns="0" bIns="0">
            <a:spAutoFit/>
          </a:bodyPr>
          <a:lstStyle/>
          <a:p>
            <a:r>
              <a:rPr sz="1500" b="0" i="0">
                <a:solidFill>
                  <a:srgbClr val="1A1440"/>
                </a:solidFill>
                <a:latin typeface="Calibri"/>
              </a:rPr>
              <a:t>Roll a rate up with its weights; never average the averages.</a:t>
            </a:r>
          </a:p>
        </p:txBody>
      </p:sp>
      <p:sp>
        <p:nvSpPr>
          <p:cNvPr id="19" name="TextBox 18"/>
          <p:cNvSpPr txBox="1"/>
          <p:nvPr/>
        </p:nvSpPr>
        <p:spPr>
          <a:xfrm>
            <a:off x="530352" y="4076795"/>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4113371"/>
            <a:ext cx="10564063" cy="368808"/>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a:t>
            </a:r>
          </a:p>
        </p:txBody>
      </p:sp>
      <p:sp>
        <p:nvSpPr>
          <p:cNvPr id="21" name="TextBox 20"/>
          <p:cNvSpPr txBox="1"/>
          <p:nvPr/>
        </p:nvSpPr>
        <p:spPr>
          <a:xfrm>
            <a:off x="530352" y="4518755"/>
            <a:ext cx="502920" cy="333756"/>
          </a:xfrm>
          <a:prstGeom prst="rect">
            <a:avLst/>
          </a:prstGeom>
          <a:noFill/>
        </p:spPr>
        <p:txBody>
          <a:bodyPr wrap="square" anchor="t" lIns="0" rIns="0" tIns="0" bIns="0">
            <a:spAutoFit/>
          </a:bodyPr>
          <a:lstStyle/>
          <a:p>
            <a:pPr algn="l"/>
            <a:r>
              <a:rPr sz="1800" b="0" i="0">
                <a:solidFill>
                  <a:srgbClr val="5B3FD6"/>
                </a:solidFill>
                <a:latin typeface="Georgia"/>
              </a:rPr>
              <a:t>07</a:t>
            </a:r>
          </a:p>
        </p:txBody>
      </p:sp>
      <p:sp>
        <p:nvSpPr>
          <p:cNvPr id="22" name="TextBox 21"/>
          <p:cNvSpPr txBox="1"/>
          <p:nvPr/>
        </p:nvSpPr>
        <p:spPr>
          <a:xfrm>
            <a:off x="1097280" y="4555331"/>
            <a:ext cx="10564063" cy="368808"/>
          </a:xfrm>
          <a:prstGeom prst="rect">
            <a:avLst/>
          </a:prstGeom>
          <a:noFill/>
        </p:spPr>
        <p:txBody>
          <a:bodyPr wrap="square" anchor="t" lIns="0" rIns="0" tIns="0" bIns="0">
            <a:spAutoFit/>
          </a:bodyPr>
          <a:lstStyle/>
          <a:p>
            <a:r>
              <a:rPr sz="1500" b="0" i="0">
                <a:solidFill>
                  <a:srgbClr val="1A1440"/>
                </a:solidFill>
                <a:latin typeface="Calibri"/>
              </a:rPr>
              <a:t>Name the cause as a hypothesis, with the evidence that would settle it.</a:t>
            </a:r>
          </a:p>
        </p:txBody>
      </p:sp>
      <p:pic>
        <p:nvPicPr>
          <p:cNvPr id="23" name="mermaid diagram" descr="f3c84093597cb54d.png"/>
          <p:cNvPicPr>
            <a:picLocks noChangeAspect="1"/>
          </p:cNvPicPr>
          <p:nvPr/>
        </p:nvPicPr>
        <p:blipFill>
          <a:blip r:embed="rId5"/>
          <a:stretch>
            <a:fillRect/>
          </a:stretch>
        </p:blipFill>
        <p:spPr>
          <a:xfrm>
            <a:off x="3738410" y="5107019"/>
            <a:ext cx="4714875" cy="871537"/>
          </a:xfrm>
          <a:prstGeom prst="rect">
            <a:avLst/>
          </a:prstGeom>
        </p:spPr>
      </p:pic>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Anand questions tonight's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Finance's books and the dashboard disagree about Q1, and the answer waits for Wednesday.</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"Your dashboard says Rs 2.1 crore for Q1 and my books say 1.9. Reconcile before anyone acts on tonight's numbers."</a:t>
            </a:r>
          </a:p>
          <a:p>
            <a:pPr>
              <a:spcBef>
                <a:spcPts val="400"/>
              </a:spcBef>
            </a:pPr>
            <a:r>
              <a:rPr sz="1000" b="0" i="0">
                <a:solidFill>
                  <a:srgbClr val="6B6690"/>
                </a:solidFill>
                <a:latin typeface="Calibri"/>
              </a:rPr>
              <a:t>Anand Iyer, finance controller, Kalpa Retail</a:t>
            </a:r>
          </a:p>
        </p:txBody>
      </p:sp>
      <p:pic>
        <p:nvPicPr>
          <p:cNvPr id="11" name="mermaid diagram" descr="d4af99bbb50894b7.png"/>
          <p:cNvPicPr>
            <a:picLocks noChangeAspect="1"/>
          </p:cNvPicPr>
          <p:nvPr/>
        </p:nvPicPr>
        <p:blipFill>
          <a:blip r:embed="rId5"/>
          <a:stretch>
            <a:fillRect/>
          </a:stretch>
        </p:blipFill>
        <p:spPr>
          <a:xfrm>
            <a:off x="3745553" y="3129280"/>
            <a:ext cx="4700587" cy="1800225"/>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