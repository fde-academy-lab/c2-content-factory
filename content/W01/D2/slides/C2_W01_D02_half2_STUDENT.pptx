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chapter 6's first minutes. The morning climbed five chapters: the drop is real at 11.0 percent, the branch is</a:t>
            </a:r>
          </a:p>
          <a:p>
            <a:r>
              <a:t>orders per customer, the segment is Retail-Plus, the rise in order value is mostly mix, and</a:t>
            </a:r>
          </a:p>
          <a:p>
            <a:r>
              <a:t>Marketing's churn claim fails the overlap. The afternoon opens on chapter 6, the cause the head of</a:t>
            </a:r>
          </a:p>
          <a:p>
            <a:r>
              <a:t>Retail-Plus hands us, then the escalated case, the debrief, the second case, the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5 on the need and Sonos, 4 on the options, 4 on the monthly line, 8</a:t>
            </a:r>
          </a:p>
          <a:p>
            <a:r>
              <a:t>on the trap and its ceiling, 5 on the season, the channel and the second route, 4 on the memo and</a:t>
            </a:r>
          </a:p>
          <a:p>
            <a:r>
              <a:t>Kavya's review. Open notebooks/C2_W01_D02_06_the_memo_STUDENT.ipynb. The chapter opener is numbered 6 on</a:t>
            </a:r>
          </a:p>
          <a:p>
            <a:r>
              <a:t>purpose; it continues the morning's five.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Sonos third quarter fiscal 2024 results (the chief</a:t>
            </a:r>
          </a:p>
          <a:p>
            <a:r>
              <a:t>executive's statement that the app's rollout required a reduced fiscal 2024 guidance) and the fiscal</a:t>
            </a:r>
          </a:p>
          <a:p>
            <a:r>
              <a:t>2024 annual report on Form 10-K (short-term costs of up to $30 million). No revenue figure for the</a:t>
            </a:r>
          </a:p>
          <a:p>
            <a:r>
              <a:t>app's effect was verified on a primary page, so none is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cause cannot come after its effect, so timing leads. Each of A to C reads the</a:t>
            </a:r>
          </a:p>
          <a:p>
            <a:r>
              <a:t>export already open in milliseconds; D is days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monthly cell with count_by, chapter 1's accumulator grown</a:t>
            </a:r>
          </a:p>
          <a:p>
            <a:r>
              <a:t>into a function that takes any 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button may still matter; it cannot be the whole story. Keep to the Q2 months.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comparison spans the whole quarter, so it charges the button</a:t>
            </a:r>
          </a:p>
          <a:p>
            <a:r>
              <a:t>with about eight weeks of orders lost before it broke.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check is chapter 1's lesson: a rate with its window. What changed: "the button</a:t>
            </a:r>
          </a:p>
          <a:p>
            <a:r>
              <a:t>cost 25 orders" became "at most about 4; the rest needs another cause". Engineering still fixes it;</a:t>
            </a:r>
          </a:p>
          <a:p>
            <a:r>
              <a:t>the memo stops promising it fixes the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predictions tested, two rivals capped. Something touched members in every</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draws the cumulative line against the pace and asserts the two routes</a:t>
            </a:r>
          </a:p>
          <a:p>
            <a:r>
              <a:t>agree.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rival, a monsoon dip that hit members harder, goes on the same data request as</a:t>
            </a:r>
          </a:p>
          <a:p>
            <a:r>
              <a:t>last year's Q2 by segment. One breath: restate as a hypothesis, test timing, then the comparison and</a:t>
            </a:r>
          </a:p>
          <a:p>
            <a:r>
              <a:t>the channel, cap it, and name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Walk the room from minute 10. The trap in part 3 is</a:t>
            </a:r>
          </a:p>
          <a:p>
            <a:r>
              <a:t>the escalated one: customers with a delivered order fell from 54 to 50, and Marketing would read that</a:t>
            </a:r>
          </a:p>
          <a:p>
            <a:r>
              <a:t>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3-minute brief, before work starts. Remind the room that the notebook stops at the first placeholder</a:t>
            </a:r>
          </a:p>
          <a:p>
            <a:r>
              <a:t>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who wrote "customers fell 7.4 percent" in part 2 and stopped there. The part 3</a:t>
            </a:r>
          </a:p>
          <a:p>
            <a:r>
              <a:t>set, (delivered Q1 minus 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then write one reply together, with the one data</a:t>
            </a:r>
          </a:p>
          <a:p>
            <a:r>
              <a:t>request that settles most.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Say that every member still ordered, which</a:t>
            </a:r>
          </a:p>
          <a:p>
            <a:r>
              <a:t>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compare it or know how many cases it rests on: 40 percent of five orders.</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request the data</a:t>
            </a:r>
          </a:p>
          <a:p>
            <a:r>
              <a:t>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Ask one learner which part their own</a:t>
            </a:r>
          </a:p>
          <a:p>
            <a:r>
              <a:t>sentence 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9.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cause on trial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memo and its evidence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6648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The debrief of wrong answers</a:t>
            </a:r>
          </a:p>
        </p:txBody>
      </p:sp>
      <p:sp>
        <p:nvSpPr>
          <p:cNvPr id="17" name="TextBox 16"/>
          <p:cNvSpPr txBox="1"/>
          <p:nvPr/>
        </p:nvSpPr>
        <p:spPr>
          <a:xfrm>
            <a:off x="707088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memo and its evidence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6. The tier hands us a cause and Meera wants one page: what we know, what we guess, and what would settle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Engineering's priority and the story Meera tells the board both ride on whether the button explains the fall.</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an app rollout to its guidance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loyal customer base, an app rollout that went wrong, and a company that put it into its guidance.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ROLLED 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problems it caused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company can put a broken app into its numbers, and the head of Retail-Plus is asking whether his tier is the same story.</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0" name="Oval 2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2" name="Oval 3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a cause,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cheap tests in order, timing first, and request the one that settles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for comparison.</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stepped down in July while Retail-Core held level through the same months.</a:t>
            </a:r>
          </a:p>
        </p:txBody>
      </p:sp>
      <p:pic>
        <p:nvPicPr>
          <p:cNvPr id="9" name="mermaid diagram" descr="70e24821516b80ec.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The line that falls from 13 to 9 in July is Retail-Plus; the level line is Retail-Core.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memo charges the button with the tier's whole quarter.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and the ceiling: about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Q2 at the break and give each side its window; the rate had fallen by more than a third already.</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At the pre-break pace, 37 days would have carried about 12.1 orders; the tier placed 8. The button explains at most about 4 orders, about Rs 12,400, and that is a ceiling.</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season and the channel, both tested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season that hit everyone would move Retail-Core; an app-only cause would leave the web and store alone.</a:t>
            </a:r>
          </a:p>
        </p:txBody>
      </p:sp>
      <p:pic>
        <p:nvPicPr>
          <p:cNvPr id="9" name="mermaid diagram" descr="1c13bac17419749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What it says. </a:t>
            </a:r>
            <a:r>
              <a:rPr sz="1500" b="0" i="0">
                <a:solidFill>
                  <a:srgbClr val="1A1440"/>
                </a:solidFill>
                <a:latin typeface="Calibri"/>
              </a:rPr>
              <a:t>Retail-Core kept 95 percent of its Q1 orders and Retail-Plus 51, so an across-the-board season does not fit; every channel fell, so an app-only cause does not fit. A season that hit members harder still fits, and last year's Q2 by segment settles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pace the tier had set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Carry the pre-break pace forward and count the shortfall after the break: the same 4.1 orders.</a:t>
            </a:r>
          </a:p>
        </p:txBody>
      </p:sp>
      <p:pic>
        <p:nvPicPr>
          <p:cNvPr id="9" name="mermaid diagram" descr="cf313b1da446c501.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rate route in the memo; draw the counting route, since a line bending away from its own pace is what a room can see.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what we know, what we are guessing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claim, two hypotheses with the evidence that settles each, and a rival.</a:t>
            </a:r>
          </a:p>
        </p:txBody>
      </p:sp>
      <p:pic>
        <p:nvPicPr>
          <p:cNvPr id="9" name="mermaid diagram" descr="103ced1a8663a069.png"/>
          <p:cNvPicPr>
            <a:picLocks noChangeAspect="1"/>
          </p:cNvPicPr>
          <p:nvPr/>
        </p:nvPicPr>
        <p:blipFill>
          <a:blip r:embed="rId7"/>
          <a:stretch>
            <a:fillRect/>
          </a:stretch>
        </p:blipFill>
        <p:spPr>
          <a:xfrm>
            <a:off x="982979" y="1682496"/>
            <a:ext cx="3881071"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"You gave the tier a number for his cause, a ceiling of about 4 orders, instead of a yes or a no. Say what you know, then what you are guessing, and stop."</a:t>
            </a:r>
          </a:p>
        </p:txBody>
      </p:sp>
      <p:sp>
        <p:nvSpPr>
          <p:cNvPr id="15" name="Rounded Rectangle 14"/>
          <p:cNvSpPr/>
          <p:nvPr/>
        </p:nvSpPr>
        <p:spPr>
          <a:xfrm>
            <a:off x="5761917" y="3761232"/>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2230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6100245" y="4332732"/>
            <a:ext cx="237744" cy="237744"/>
          </a:xfrm>
          <a:prstGeom prst="rect">
            <a:avLst/>
          </a:prstGeom>
        </p:spPr>
      </p:pic>
      <p:sp>
        <p:nvSpPr>
          <p:cNvPr id="18" name="TextBox 17"/>
          <p:cNvSpPr txBox="1"/>
          <p:nvPr/>
        </p:nvSpPr>
        <p:spPr>
          <a:xfrm>
            <a:off x="6630597" y="39075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6630597" y="4126992"/>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whole ladder again, alone, on the orders that reached customers.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if the story survives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board pack reports what reached customers and stayed, and one branch that held this morning moves.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tree on delivered</a:t>
            </a:r>
          </a:p>
        </p:txBody>
      </p:sp>
      <p:sp>
        <p:nvSpPr>
          <p:cNvPr id="24" name="TextBox 23"/>
          <p:cNvSpPr txBox="1"/>
          <p:nvPr/>
        </p:nvSpPr>
        <p:spPr>
          <a:xfrm>
            <a:off x="2957718"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branch that held now moves.</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Compare the delivered and the booked overlap.</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Four segments, rolled up</a:t>
            </a:r>
          </a:p>
        </p:txBody>
      </p:sp>
      <p:sp>
        <p:nvSpPr>
          <p:cNvPr id="34" name="TextBox 33"/>
          <p:cNvSpPr txBox="1"/>
          <p:nvPr/>
        </p:nvSpPr>
        <p:spPr>
          <a:xfrm>
            <a:off x="7483266"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tree_for, the weighted roll-up,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465836"/>
          </a:xfrm>
          <a:prstGeom prst="rect">
            <a:avLst/>
          </a:prstGeom>
          <a:noFill/>
        </p:spPr>
        <p:txBody>
          <a:bodyPr wrap="square" anchor="t" lIns="0" rIns="0" tIns="0" bIns="0">
            <a:spAutoFit/>
          </a:bodyPr>
          <a:lstStyle/>
          <a:p>
            <a:pPr algn="l"/>
            <a:r>
              <a:rPr sz="1300" b="1" i="0">
                <a:solidFill>
                  <a:srgbClr val="FFFFFF"/>
                </a:solidFill>
                <a:latin typeface="Calibri"/>
              </a:rPr>
              <a:t>Mix or rate on delivered</a:t>
            </a:r>
          </a:p>
        </p:txBody>
      </p:sp>
      <p:sp>
        <p:nvSpPr>
          <p:cNvPr id="39" name="TextBox 38"/>
          <p:cNvSpPr txBox="1"/>
          <p:nvPr/>
        </p:nvSpPr>
        <p:spPr>
          <a:xfrm>
            <a:off x="9746040" y="477875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42" name="Oval 4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46" name="Oval 4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8" name="Oval 4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goes in, and what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seven lettered choices in the notebook, and one line of letters posted at the end.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 of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four wrong answers the room is most likely to have reached, with their exact numbers.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customers fell from 54 to 50 and the bridge charges them Rs 10,74,442.</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cancellations and returns, to be split by reason,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average of four delivered segment rates says minus 9.2 percent; the weighted figure says minus 24.0.</a:t>
            </a:r>
          </a:p>
        </p:txBody>
      </p:sp>
      <p:pic>
        <p:nvPicPr>
          <p:cNvPr id="9" name="mermaid diagram" descr="4a03608887a649cb.png"/>
          <p:cNvPicPr>
            <a:picLocks noChangeAspect="1"/>
          </p:cNvPicPr>
          <p:nvPr/>
        </p:nvPicPr>
        <p:blipFill>
          <a:blip r:embed="rId5"/>
          <a:stretch>
            <a:fillRect/>
          </a:stretch>
        </p:blipFill>
        <p:spPr>
          <a:xfrm>
            <a:off x="2311755" y="1664208"/>
            <a:ext cx="7568184" cy="3784092"/>
          </a:xfrm>
          <a:prstGeom prst="rect">
            <a:avLst/>
          </a:prstGeom>
        </p:spPr>
      </p:pic>
      <p:sp>
        <p:nvSpPr>
          <p:cNvPr id="10" name="Rounded Rectangle 9"/>
          <p:cNvSpPr/>
          <p:nvPr/>
        </p:nvSpPr>
        <p:spPr>
          <a:xfrm>
            <a:off x="530352" y="5494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22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6128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the mix explains 44 percent of the rise, and some read the rest as a price rise.</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11 percent" is true on both definitions, at 11.0 and 11.3, and says neither.</a:t>
            </a:r>
          </a:p>
        </p:txBody>
      </p:sp>
      <p:pic>
        <p:nvPicPr>
          <p:cNvPr id="9" name="mermaid diagram" descr="42df9b6a0735c156.png"/>
          <p:cNvPicPr>
            <a:picLocks noChangeAspect="1"/>
          </p:cNvPicPr>
          <p:nvPr/>
        </p:nvPicPr>
        <p:blipFill>
          <a:blip r:embed="rId6"/>
          <a:stretch>
            <a:fillRect/>
          </a:stretch>
        </p:blipFill>
        <p:spPr>
          <a:xfrm>
            <a:off x="3607649" y="1664208"/>
            <a:ext cx="497639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Retail-Plus at minus 42.6 percent per member, and the same two hypotheses. The branch that moved was fulfilment. Put the definition beside every number, and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In pairs: Marketing's new deck, and the tier asks who to call first.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new deck, and the tier's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of each pair answers Marketing, the other the head of Retail-Plus,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Student rose 40 percent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"Our campus push worked, so acquisition works."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6" name="Oval 3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8" name="Oval 3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0" name="Oval 3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2" name="Oval 41"/>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pairs should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claim, taken apart, and the call list with its size.</a:t>
            </a:r>
          </a:p>
        </p:txBody>
      </p:sp>
      <p:graphicFrame>
        <p:nvGraphicFramePr>
          <p:cNvPr id="9" name="Table 8"/>
          <p:cNvGraphicFramePr>
            <a:graphicFrameLocks noGrp="1"/>
          </p:cNvGraphicFramePr>
          <p:nvPr/>
        </p:nvGraphicFramePr>
        <p:xfrm>
          <a:off x="530352" y="1956816"/>
          <a:ext cx="11130989" cy="1962912"/>
        </p:xfrm>
        <a:graphic>
          <a:graphicData uri="http://schemas.openxmlformats.org/drawingml/2006/table">
            <a:tbl>
              <a:tblPr firstRow="0" bandRow="0">
                <a:tableStyleId>{2D5ABB26-0587-4C30-8999-92F81FD0307C}</a:tableStyleId>
              </a:tblPr>
              <a:tblGrid>
                <a:gridCol w="1855937"/>
                <a:gridCol w="4025600"/>
                <a:gridCol w="5249452"/>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Student +40 percent</a:t>
                      </a:r>
                    </a:p>
                  </a:txBody>
                  <a:tcPr marL="101600" marR="101600" marT="38100" marB="38100" anchor="ctr">
                    <a:solidFill>
                      <a:srgbClr val="FFFFFF"/>
                    </a:solidFill>
                  </a:tcPr>
                </a:tc>
                <a:tc>
                  <a:txBody>
                    <a:bodyPr/>
                    <a:lstStyle/>
                    <a:p>
                      <a:r>
                        <a:rPr sz="1400" b="0" i="0">
                          <a:solidFill>
                            <a:srgbClr val="1A1440"/>
                          </a:solidFill>
                          <a:latin typeface="Calibri"/>
                        </a:rPr>
                        <a:t>The same 2 customers, 5 orders to 7</a:t>
                      </a:r>
                    </a:p>
                  </a:txBody>
                  <a:tcPr marL="101600" marR="101600" marT="38100" marB="38100" anchor="ctr">
                    <a:solidFill>
                      <a:srgbClr val="FFFFFF"/>
                    </a:solidFill>
                  </a:tcPr>
                </a:tc>
                <a:tc>
                  <a:txBody>
                    <a:bodyPr/>
                    <a:lstStyle/>
                    <a:p>
                      <a:r>
                        <a:rPr sz="1400" b="0" i="0">
                          <a:solidFill>
                            <a:srgbClr val="1A1440"/>
                          </a:solidFill>
                          <a:latin typeface="Calibri"/>
                        </a:rPr>
                        <a:t>No new customer, and one order moves a rate on 2 customers by 20 percent</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624840"/>
          </a:xfrm>
          <a:prstGeom prst="rect">
            <a:avLst/>
          </a:prstGeom>
          <a:noFill/>
        </p:spPr>
        <p:txBody>
          <a:bodyPr wrap="square" anchor="ctr" lIns="0" rIns="0" tIns="0" bIns="0">
            <a:spAutoFit/>
          </a:bodyPr>
          <a:lstStyle/>
          <a:p>
            <a:r>
              <a:rPr sz="1500" b="1">
                <a:solidFill>
                  <a:srgbClr val="5B3FD6"/>
                </a:solidFill>
                <a:latin typeface="Calibri"/>
              </a:rPr>
              <a:t>The one request. </a:t>
            </a:r>
            <a:r>
              <a:rPr sz="1500" b="0" i="0">
                <a:solidFill>
                  <a:srgbClr val="1A1440"/>
                </a:solidFill>
                <a:latin typeface="Calibri"/>
              </a:rPr>
              <a:t>The tier's July change log, renewals and support tickets, since the fall began in July; the reorder logs second.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design question among them.</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6: the ladder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anchors and the decomposition questions, where a plausible number is waiting.</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7 to 12: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and the design questions that separate candidates.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does that prove no customers were lost?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same metrics are needed for every segment and quarter: copy, function or group by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eight lines to keep, and tomorrow's question.</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73303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each worth lakhs and too few to call a trend. The fall began in July, before the reorder button broke, so the button explains at most about 4 orders;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