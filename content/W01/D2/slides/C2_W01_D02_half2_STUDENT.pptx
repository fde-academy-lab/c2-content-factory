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inside chapter 6's first minutes. The morning climbed five chapters: the drop is real at 11.0 percent, the branch is</a:t>
            </a:r>
          </a:p>
          <a:p>
            <a:r>
              <a:t>orders per customer, the segment is Retail-Plus, the rise in order value is mostly mix, and</a:t>
            </a:r>
          </a:p>
          <a:p>
            <a:r>
              <a:t>Marketing's churn claim fails the overlap. The afternoon opens on chapter 6, the cause the head of</a:t>
            </a:r>
          </a:p>
          <a:p>
            <a:r>
              <a:t>Retail-Plus hands us, then the escalated case, the debrief, the second case, the drill and the close.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Chapter 6 runs 30 minutes: 5 on the need and Sonos, 4 on the options, 4 on the monthly line, 8</a:t>
            </a:r>
          </a:p>
          <a:p>
            <a:r>
              <a:t>on the trap and its ceiling, 5 on the season, the channel and the second route, 4 on the memo and</a:t>
            </a:r>
          </a:p>
          <a:p>
            <a:r>
              <a:t>Kavya's review. Open notebooks/C2_W01_D02_06_the_memo_STUDENT.ipynb. The chapter opener is numbered 6 on</a:t>
            </a:r>
          </a:p>
          <a:p>
            <a:r>
              <a:t>purpose; it continues the morning's five.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metric at stake is Retail-Plus orders per week before and after the break. Six</a:t>
            </a:r>
          </a:p>
          <a:p>
            <a:r>
              <a:t>weeks back from the week of 6 October is 25 August; say it is the complaint taken at its word. A</a:t>
            </a:r>
          </a:p>
          <a:p>
            <a:r>
              <a:t>wrong answer costs a quarter: blame the button for everything, fix it, and the tier keeps falling.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Sources checked 30 Sep 2026: Sonos third quarter fiscal 2024 results (the chief</a:t>
            </a:r>
          </a:p>
          <a:p>
            <a:r>
              <a:t>executive's statement that the app's rollout required a reduced fiscal 2024 guidance) and the fiscal</a:t>
            </a:r>
          </a:p>
          <a:p>
            <a:r>
              <a:t>2024 annual report on Form 10-K (short-term costs of up to $30 million). No revenue figure for the</a:t>
            </a:r>
          </a:p>
          <a:p>
            <a:r>
              <a:t>app's effect was verified on a primary page, so none is quoted.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 cause cannot come after its effect, so timing leads. Each of A to C reads the</a:t>
            </a:r>
          </a:p>
          <a:p>
            <a:r>
              <a:t>export already open in milliseconds; D is days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then run the monthly cell with count_by, chapter 1's accumulator grown</a:t>
            </a:r>
          </a:p>
          <a:p>
            <a:r>
              <a:t>into a function that takes any key.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c. The button may still matter; it cannot be the whole story. Keep to the Q2 months.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chapter's trap. The comparison spans the whole quarter, so it charges the button</a:t>
            </a:r>
          </a:p>
          <a:p>
            <a:r>
              <a:t>with about eight weeks of orders lost before it broke.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check is chapter 1's lesson: a rate with its window. What changed: "the button</a:t>
            </a:r>
          </a:p>
          <a:p>
            <a:r>
              <a:t>cost 25 orders" became "at most about 4; the rest needs another cause". Engineering still fixes it;</a:t>
            </a:r>
          </a:p>
          <a:p>
            <a:r>
              <a:t>the memo stops promising it fixes the tier.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Two predictions tested, two rivals capped. Something touched members in every</a:t>
            </a:r>
          </a:p>
          <a:p>
            <a:r>
              <a:t>channel.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Retail-Core placed 22 orders in the 55 days before 25 August and 14 in the 37 after,</a:t>
            </a:r>
          </a:p>
          <a:p>
            <a:r>
              <a:t>a pace 0.946 of what it had been. Scale the tier's expected 12.1 by it: 11.5, against 8 placed, about</a:t>
            </a:r>
          </a:p>
          <a:p>
            <a:r>
              <a:t>3.5 orders. The route could have come out above the ceiling of 4.1 and lands below it, which is what</a:t>
            </a:r>
          </a:p>
          <a:p>
            <a:r>
              <a:t>a ceiling predicts. The notebook also draws section 2's cumulative line against the pre-break pace.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rival, a monsoon dip that hit members harder, goes on the same data request as</a:t>
            </a:r>
          </a:p>
          <a:p>
            <a:r>
              <a:t>last year's Q2 by segment. One breath: restate as a hypothesis, test timing, then the comparison and</a:t>
            </a:r>
          </a:p>
          <a:p>
            <a:r>
              <a:t>the channel, cap it, and name the data that settles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escalated case runs 50 minutes, unguided. Hand out</a:t>
            </a:r>
          </a:p>
          <a:p>
            <a:r>
              <a:t>exercises/unguided/C2_W01_D02_escalated_case_STUDENT.md; learners work in</a:t>
            </a:r>
          </a:p>
          <a:p>
            <a:r>
              <a:t>notebooks/C2_W01_D02_ex1_escalated_case_STUDENT.ipynb. The solution opens after the debrief.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to brief, then 47 of silent work. Walk the room from minute 10. The trap in part 3 is</a:t>
            </a:r>
          </a:p>
          <a:p>
            <a:r>
              <a:t>the escalated one: customers with a delivered order fell from 54 to 50, and Marketing would read that</a:t>
            </a:r>
          </a:p>
          <a:p>
            <a:r>
              <a:t>as churn. Do not hint at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inside the 3-minute brief, before work starts. Remind the room that the notebook stops at the first placeholder</a:t>
            </a:r>
          </a:p>
          <a:p>
            <a:r>
              <a:t>until it is filled, which is intended.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debrief runs 15 minutes, before the break. Put each wrong answer up, ask who reached it,</a:t>
            </a:r>
          </a:p>
          <a:p>
            <a:r>
              <a:t>and let a learner who avoided it say the check. Release the solution notebook in</a:t>
            </a:r>
          </a:p>
          <a:p>
            <a:r>
              <a:t>exercises/solutions/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Ask who wrote "customers fell 7.4 percent" in part 2 and stopped there. The part 3</a:t>
            </a:r>
          </a:p>
          <a:p>
            <a:r>
              <a:t>set, (delivered Q1 minus delivered Q2) and booked Q2, finds all 19 still ordering.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morning's trap in a new place. Anyone who averaged has the reason on the board</a:t>
            </a:r>
          </a:p>
          <a:p>
            <a:r>
              <a:t>from chapter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definition moved the split without creating a price rise anyone paid. Ask a</a:t>
            </a:r>
          </a:p>
          <a:p>
            <a:r>
              <a:t>learner to read Retail-Plus delivered revenue per order: Rs 2,748 to Rs 2,806.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then the 10-minute break. Release the solution notebook.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second case runs 40 minutes in pairs: 3 to brief, 30 to work, 7 to hear two replies. Hand</a:t>
            </a:r>
          </a:p>
          <a:p>
            <a:r>
              <a:t>out exercises/unguided/C2_W01_D02_second_case_STUDENT.md; the notebook is</a:t>
            </a:r>
          </a:p>
          <a:p>
            <a:r>
              <a:t>notebooks/C2_W01_D02_ex2_second_case_STUDENT.ipynb.</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to brief. Pairs split the roles, then write one reply together, with the one data</a:t>
            </a:r>
          </a:p>
          <a:p>
            <a:r>
              <a:t>request that settles most.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after the work. Hear two pairs' replies. Say that every member still ordered, which</a:t>
            </a:r>
          </a:p>
          <a:p>
            <a:r>
              <a:t>fits a broken habit more than a tier people left.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drill runs 20 minutes. Ask each question aloud to a named learner, give one breath, then</a:t>
            </a:r>
          </a:p>
          <a:p>
            <a:r>
              <a:t>read the model answer from the notes. Tags: [S] staple asked everywhere, [F] frequent in GCC and</a:t>
            </a:r>
          </a:p>
          <a:p>
            <a:r>
              <a:t>product screens, [SV] service-major screen opener, [D]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a:t>
            </a:r>
          </a:p>
          <a:p>
            <a:r>
              <a:t>1. Confirm on matched windows, decompose into customers, orders per customer and revenue per order,</a:t>
            </a:r>
          </a:p>
          <a:p>
            <a:r>
              <a:t>isolate the segment, split mix from rate, then name a hypothesis with its evidence, timing first.</a:t>
            </a:r>
          </a:p>
          <a:p>
            <a:r>
              <a:t>2. Nobody can check it or compare it: orders per customer is 1.25 over 69 booked customers and 1.14</a:t>
            </a:r>
          </a:p>
          <a:p>
            <a:r>
              <a:t>over 50 delivered ones, so the denominator decides the number.</a:t>
            </a:r>
          </a:p>
          <a:p>
            <a:r>
              <a:t>3. The caller gets None, and the next step crashes or silently drops that group.</a:t>
            </a:r>
          </a:p>
          <a:p>
            <a:r>
              <a:t>4. Window length and dates, the definition, the population and the denominator; closed quarters, or</a:t>
            </a:r>
          </a:p>
          <a:p>
            <a:r>
              <a:t>the same weeks of each; the season needs last year.</a:t>
            </a:r>
          </a:p>
          <a:p>
            <a:r>
              <a:t>5. Test their claim in its own terms: the overlap shows none lost and none new; show where the fall</a:t>
            </a:r>
          </a:p>
          <a:p>
            <a:r>
              <a:t>is; end on what would change my mind.</a:t>
            </a:r>
          </a:p>
          <a:p>
            <a:r>
              <a:t>6. A bridge one leaf at a time in a fixed order; say the order, or use the symmetric split.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a:t>
            </a:r>
          </a:p>
          <a:p>
            <a:r>
              <a:t>7. Mostly mix: small orders fell away; 69 percent of the rise on booked orders.</a:t>
            </a:r>
          </a:p>
          <a:p>
            <a:r>
              <a:t>8. No: absent is unknown; count it, report it, write the rule, bound it.</a:t>
            </a:r>
          </a:p>
          <a:p>
            <a:r>
              <a:t>9. Each rate has its own denominator; total over total reproduces the company figure.</a:t>
            </a:r>
          </a:p>
          <a:p>
            <a:r>
              <a:t>10. No: compare ids, lost and new; here 69, 0 and 0.</a:t>
            </a:r>
          </a:p>
          <a:p>
            <a:r>
              <a:t>11. A function when groups are asked one at a time and definitions change; one pass by key when the</a:t>
            </a:r>
          </a:p>
          <a:p>
            <a:r>
              <a:t>file is large and every group is needed at once.</a:t>
            </a:r>
          </a:p>
          <a:p>
            <a:r>
              <a:t>12. Timing first, then a comparison group, then the channel it predicts; cap it; request the data</a:t>
            </a:r>
          </a:p>
          <a:p>
            <a:r>
              <a:t>that settles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close runs 15 minutes: Kahoot 8, the sentence and the lines 5, tomorrow's question 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after the Kahoot. Read it aloud once, slowly. Ask one learner which part their own</a:t>
            </a:r>
          </a:p>
          <a:p>
            <a:r>
              <a:t>sentence missed; most miss the ceiling or the data to ask for. The Kahoot pack is</a:t>
            </a:r>
          </a:p>
          <a:p>
            <a:r>
              <a:t>kahoot/C2_W01_D02_quiz_STUDENT.md, eight items, ungraded.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eight lines aloud with the room. The chain maps them onto the chapters.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Anand's line and stop. Do not predict the answer. Every number today was on the</a:t>
            </a:r>
          </a:p>
          <a:p>
            <a:r>
              <a:t>export as it stands; point to the take-home brief. The TA-led practice lab follows.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xml"/><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12.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9.png"/><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38512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TUESDAY  ·  HALF TWO</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The cause on trial</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“It is the broken reorder button. One of my members says it has been broken for six weeks.”</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The head of Retail-Plus, Kalpa's paid membership tier</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The memo and its evidence</a:t>
            </a:r>
          </a:p>
        </p:txBody>
      </p:sp>
      <p:sp>
        <p:nvSpPr>
          <p:cNvPr id="13" name="TextBox 12"/>
          <p:cNvSpPr txBox="1"/>
          <p:nvPr/>
        </p:nvSpPr>
        <p:spPr>
          <a:xfrm>
            <a:off x="285035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234404" y="5248656"/>
            <a:ext cx="1247584" cy="185166"/>
          </a:xfrm>
          <a:prstGeom prst="rect">
            <a:avLst/>
          </a:prstGeom>
          <a:noFill/>
        </p:spPr>
        <p:txBody>
          <a:bodyPr wrap="square" anchor="t" lIns="0" rIns="0" tIns="0" bIns="0">
            <a:spAutoFit/>
          </a:bodyPr>
          <a:lstStyle/>
          <a:p>
            <a:pPr algn="l"/>
            <a:r>
              <a:rPr sz="900" b="0" i="0">
                <a:solidFill>
                  <a:srgbClr val="FFFFFF"/>
                </a:solidFill>
                <a:latin typeface="Calibri"/>
              </a:rPr>
              <a:t>The escalated case</a:t>
            </a:r>
          </a:p>
        </p:txBody>
      </p:sp>
      <p:sp>
        <p:nvSpPr>
          <p:cNvPr id="15" name="TextBox 14"/>
          <p:cNvSpPr txBox="1"/>
          <p:nvPr/>
        </p:nvSpPr>
        <p:spPr>
          <a:xfrm>
            <a:off x="4664868"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048916" y="5248656"/>
            <a:ext cx="1839087" cy="185166"/>
          </a:xfrm>
          <a:prstGeom prst="rect">
            <a:avLst/>
          </a:prstGeom>
          <a:noFill/>
        </p:spPr>
        <p:txBody>
          <a:bodyPr wrap="square" anchor="t" lIns="0" rIns="0" tIns="0" bIns="0">
            <a:spAutoFit/>
          </a:bodyPr>
          <a:lstStyle/>
          <a:p>
            <a:pPr algn="l"/>
            <a:r>
              <a:rPr sz="900" b="0" i="0">
                <a:solidFill>
                  <a:srgbClr val="FFFFFF"/>
                </a:solidFill>
                <a:latin typeface="Calibri"/>
              </a:rPr>
              <a:t>The debrief of wrong answers</a:t>
            </a:r>
          </a:p>
        </p:txBody>
      </p:sp>
      <p:sp>
        <p:nvSpPr>
          <p:cNvPr id="17" name="TextBox 16"/>
          <p:cNvSpPr txBox="1"/>
          <p:nvPr/>
        </p:nvSpPr>
        <p:spPr>
          <a:xfrm>
            <a:off x="7070883"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454931" y="5248656"/>
            <a:ext cx="1070133" cy="185166"/>
          </a:xfrm>
          <a:prstGeom prst="rect">
            <a:avLst/>
          </a:prstGeom>
          <a:noFill/>
        </p:spPr>
        <p:txBody>
          <a:bodyPr wrap="square" anchor="t" lIns="0" rIns="0" tIns="0" bIns="0">
            <a:spAutoFit/>
          </a:bodyPr>
          <a:lstStyle/>
          <a:p>
            <a:pPr algn="l"/>
            <a:r>
              <a:rPr sz="900" b="0" i="0">
                <a:solidFill>
                  <a:srgbClr val="FFFFFF"/>
                </a:solidFill>
                <a:latin typeface="Calibri"/>
              </a:rPr>
              <a:t>The second case</a:t>
            </a:r>
          </a:p>
        </p:txBody>
      </p:sp>
      <p:sp>
        <p:nvSpPr>
          <p:cNvPr id="19" name="TextBox 18"/>
          <p:cNvSpPr txBox="1"/>
          <p:nvPr/>
        </p:nvSpPr>
        <p:spPr>
          <a:xfrm>
            <a:off x="8707945"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9091993" y="5248656"/>
            <a:ext cx="1306734" cy="185166"/>
          </a:xfrm>
          <a:prstGeom prst="rect">
            <a:avLst/>
          </a:prstGeom>
          <a:noFill/>
        </p:spPr>
        <p:txBody>
          <a:bodyPr wrap="square" anchor="t" lIns="0" rIns="0" tIns="0" bIns="0">
            <a:spAutoFit/>
          </a:bodyPr>
          <a:lstStyle/>
          <a:p>
            <a:pPr algn="l"/>
            <a:r>
              <a:rPr sz="900" b="0" i="0">
                <a:solidFill>
                  <a:srgbClr val="FFFFFF"/>
                </a:solidFill>
                <a:latin typeface="Calibri"/>
              </a:rPr>
              <a:t>The interview drill</a:t>
            </a:r>
          </a:p>
        </p:txBody>
      </p:sp>
      <p:sp>
        <p:nvSpPr>
          <p:cNvPr id="21" name="TextBox 2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memo and its evidence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Chapter 6. The tier hands us a cause and Meera wants one page: what we know, what we guess, and what would settle it.</a:t>
            </a:r>
          </a:p>
        </p:txBody>
      </p:sp>
      <p:sp>
        <p:nvSpPr>
          <p:cNvPr id="10" name="Rounded Rectangle 9"/>
          <p:cNvSpPr/>
          <p:nvPr/>
        </p:nvSpPr>
        <p:spPr>
          <a:xfrm>
            <a:off x="731519"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memo and its evidence</a:t>
            </a:r>
          </a:p>
        </p:txBody>
      </p:sp>
      <p:sp>
        <p:nvSpPr>
          <p:cNvPr id="11" name="Rounded Rectangle 10"/>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28782"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debrief of wrong answers</a:t>
            </a:r>
          </a:p>
        </p:txBody>
      </p:sp>
      <p:sp>
        <p:nvSpPr>
          <p:cNvPr id="13" name="Rounded Rectangle 12"/>
          <p:cNvSpPr/>
          <p:nvPr/>
        </p:nvSpPr>
        <p:spPr>
          <a:xfrm>
            <a:off x="6362318" y="5074920"/>
            <a:ext cx="125399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a:t>
            </a:r>
          </a:p>
        </p:txBody>
      </p:sp>
      <p:sp>
        <p:nvSpPr>
          <p:cNvPr id="14" name="Rounded Rectangle 13"/>
          <p:cNvSpPr/>
          <p:nvPr/>
        </p:nvSpPr>
        <p:spPr>
          <a:xfrm>
            <a:off x="7726045"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326637"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tier blames the button; Meera wants a page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Engineering's priority and the story Meera tells the board both ride on whether the button explains the fall.</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"Which branch, which segment, and what you would bet on. Tell me what you know and what you are guessing." (Meera Raghavan)</a:t>
            </a:r>
          </a:p>
        </p:txBody>
      </p:sp>
      <p:pic>
        <p:nvPicPr>
          <p:cNvPr id="14" name="mermaid diagram" descr="6d7380f3bb203e04.png"/>
          <p:cNvPicPr>
            <a:picLocks noChangeAspect="1"/>
          </p:cNvPicPr>
          <p:nvPr/>
        </p:nvPicPr>
        <p:blipFill>
          <a:blip r:embed="rId6"/>
          <a:stretch>
            <a:fillRect/>
          </a:stretch>
        </p:blipFill>
        <p:spPr>
          <a:xfrm>
            <a:off x="2745428" y="3243072"/>
            <a:ext cx="6700837" cy="871537"/>
          </a:xfrm>
          <a:prstGeom prst="rect">
            <a:avLst/>
          </a:prstGeom>
        </p:spPr>
      </p:pic>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9" name="Oval 1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3" name="Oval 22"/>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5" name="Oval 24"/>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Sonos tied an app rollout to its guidance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loyal customer base, an app rollout gone wrong, and a cut in guidance, the revenue promised to investors.</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2024</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REDESIGNED APP ROLLED OUT</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problems it caused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FY2024</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GUIDANCE REDUCED</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CEO tied it to the app's rollout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up to $30 m</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SHORT-TERM COST TO FIX</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set out in the annual report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The claim. </a:t>
            </a:r>
            <a:r>
              <a:rPr sz="1500" b="0" i="0">
                <a:solidFill>
                  <a:srgbClr val="1A1440"/>
                </a:solidFill>
                <a:latin typeface="Calibri"/>
              </a:rPr>
              <a:t>A company can put a broken app into its numbers, and the head of Retail-Plus is asking whether his tier is the same story.</a:t>
            </a:r>
          </a:p>
        </p:txBody>
      </p:sp>
      <p:sp>
        <p:nvSpPr>
          <p:cNvPr id="24" name="Oval 2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26" name="Oval 2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28" name="Oval 2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30" name="Oval 2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32" name="Oval 31"/>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4" name="Oval 33"/>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tests of a cause, and the call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Run the cheap tests in order, timing first, and request the one that settles it.</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3523233"/>
                <a:gridCol w="3523233"/>
                <a:gridCol w="4084524"/>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Reads</a:t>
                      </a:r>
                    </a:p>
                  </a:txBody>
                  <a:tcPr marL="101600" marR="101600" marT="38100" marB="38100" anchor="ctr">
                    <a:solidFill>
                      <a:srgbClr val="1A0F5C"/>
                    </a:solidFill>
                  </a:tcPr>
                </a:tc>
                <a:tc>
                  <a:txBody>
                    <a:bodyPr/>
                    <a:lstStyle/>
                    <a:p>
                      <a:r>
                        <a:rPr sz="1450" b="1" i="0">
                          <a:solidFill>
                            <a:srgbClr val="FFFFFF"/>
                          </a:solidFill>
                          <a:latin typeface="Calibri"/>
                        </a:rPr>
                        <a:t>Can rule out</a:t>
                      </a:r>
                    </a:p>
                  </a:txBody>
                  <a:tcPr marL="101600" marR="101600" marT="38100" marB="38100" anchor="ctr">
                    <a:solidFill>
                      <a:srgbClr val="1A0F5C"/>
                    </a:solidFill>
                  </a:tcPr>
                </a:tc>
              </a:tr>
              <a:tr h="369824">
                <a:tc>
                  <a:txBody>
                    <a:bodyPr/>
                    <a:lstStyle/>
                    <a:p>
                      <a:r>
                        <a:rPr sz="1400" b="0" i="0">
                          <a:solidFill>
                            <a:srgbClr val="1A1440"/>
                          </a:solidFill>
                          <a:latin typeface="Calibri"/>
                        </a:rPr>
                        <a:t>A. Before and after the break</a:t>
                      </a:r>
                    </a:p>
                  </a:txBody>
                  <a:tcPr marL="101600" marR="101600" marT="38100" marB="38100" anchor="ctr">
                    <a:solidFill>
                      <a:srgbClr val="FFFFFF"/>
                    </a:solidFill>
                  </a:tcPr>
                </a:tc>
                <a:tc>
                  <a:txBody>
                    <a:bodyPr/>
                    <a:lstStyle/>
                    <a:p>
                      <a:r>
                        <a:rPr sz="1400" b="0" i="0">
                          <a:solidFill>
                            <a:srgbClr val="1A1440"/>
                          </a:solidFill>
                          <a:latin typeface="Calibri"/>
                        </a:rPr>
                        <a:t>Retail-Plus orders, by date</a:t>
                      </a:r>
                    </a:p>
                  </a:txBody>
                  <a:tcPr marL="101600" marR="101600" marT="38100" marB="38100" anchor="ctr">
                    <a:solidFill>
                      <a:srgbClr val="FFFFFF"/>
                    </a:solidFill>
                  </a:tcPr>
                </a:tc>
                <a:tc>
                  <a:txBody>
                    <a:bodyPr/>
                    <a:lstStyle/>
                    <a:p>
                      <a:r>
                        <a:rPr sz="1400" b="0" i="0">
                          <a:solidFill>
                            <a:srgbClr val="1A1440"/>
                          </a:solidFill>
                          <a:latin typeface="Calibri"/>
                        </a:rPr>
                        <a:t>The button as the whole story</a:t>
                      </a:r>
                    </a:p>
                  </a:txBody>
                  <a:tcPr marL="101600" marR="101600" marT="38100" marB="38100" anchor="ctr">
                    <a:solidFill>
                      <a:srgbClr val="FFFFFF"/>
                    </a:solidFill>
                  </a:tcPr>
                </a:tc>
              </a:tr>
              <a:tr h="369824">
                <a:tc>
                  <a:txBody>
                    <a:bodyPr/>
                    <a:lstStyle/>
                    <a:p>
                      <a:r>
                        <a:rPr sz="1400" b="0" i="0">
                          <a:solidFill>
                            <a:srgbClr val="1A1440"/>
                          </a:solidFill>
                          <a:latin typeface="Calibri"/>
                        </a:rPr>
                        <a:t>B. A comparison segment</a:t>
                      </a:r>
                    </a:p>
                  </a:txBody>
                  <a:tcPr marL="101600" marR="101600" marT="38100" marB="38100" anchor="ctr">
                    <a:solidFill>
                      <a:srgbClr val="F4F2FA"/>
                    </a:solidFill>
                  </a:tcPr>
                </a:tc>
                <a:tc>
                  <a:txBody>
                    <a:bodyPr/>
                    <a:lstStyle/>
                    <a:p>
                      <a:r>
                        <a:rPr sz="1400" b="0" i="0">
                          <a:solidFill>
                            <a:srgbClr val="1A1440"/>
                          </a:solidFill>
                          <a:latin typeface="Calibri"/>
                        </a:rPr>
                        <a:t>Retail-Core, same months</a:t>
                      </a:r>
                    </a:p>
                  </a:txBody>
                  <a:tcPr marL="101600" marR="101600" marT="38100" marB="38100" anchor="ctr">
                    <a:solidFill>
                      <a:srgbClr val="F4F2FA"/>
                    </a:solidFill>
                  </a:tcPr>
                </a:tc>
                <a:tc>
                  <a:txBody>
                    <a:bodyPr/>
                    <a:lstStyle/>
                    <a:p>
                      <a:r>
                        <a:rPr sz="1400" b="0" i="0">
                          <a:solidFill>
                            <a:srgbClr val="1A1440"/>
                          </a:solidFill>
                          <a:latin typeface="Calibri"/>
                        </a:rPr>
                        <a:t>A season that hit everyone</a:t>
                      </a:r>
                    </a:p>
                  </a:txBody>
                  <a:tcPr marL="101600" marR="101600" marT="38100" marB="38100" anchor="ctr">
                    <a:solidFill>
                      <a:srgbClr val="F4F2FA"/>
                    </a:solidFill>
                  </a:tcPr>
                </a:tc>
              </a:tr>
              <a:tr h="369824">
                <a:tc>
                  <a:txBody>
                    <a:bodyPr/>
                    <a:lstStyle/>
                    <a:p>
                      <a:r>
                        <a:rPr sz="1400" b="0" i="0">
                          <a:solidFill>
                            <a:srgbClr val="1A1440"/>
                          </a:solidFill>
                          <a:latin typeface="Calibri"/>
                        </a:rPr>
                        <a:t>C. The channel it predicts</a:t>
                      </a:r>
                    </a:p>
                  </a:txBody>
                  <a:tcPr marL="101600" marR="101600" marT="38100" marB="38100" anchor="ctr">
                    <a:solidFill>
                      <a:srgbClr val="FFFFFF"/>
                    </a:solidFill>
                  </a:tcPr>
                </a:tc>
                <a:tc>
                  <a:txBody>
                    <a:bodyPr/>
                    <a:lstStyle/>
                    <a:p>
                      <a:r>
                        <a:rPr sz="1400" b="0" i="0">
                          <a:solidFill>
                            <a:srgbClr val="1A1440"/>
                          </a:solidFill>
                          <a:latin typeface="Calibri"/>
                        </a:rPr>
                        <a:t>Retail-Plus orders by channel</a:t>
                      </a:r>
                    </a:p>
                  </a:txBody>
                  <a:tcPr marL="101600" marR="101600" marT="38100" marB="38100" anchor="ctr">
                    <a:solidFill>
                      <a:srgbClr val="FFFFFF"/>
                    </a:solidFill>
                  </a:tcPr>
                </a:tc>
                <a:tc>
                  <a:txBody>
                    <a:bodyPr/>
                    <a:lstStyle/>
                    <a:p>
                      <a:r>
                        <a:rPr sz="1400" b="0" i="0">
                          <a:solidFill>
                            <a:srgbClr val="1A1440"/>
                          </a:solidFill>
                          <a:latin typeface="Calibri"/>
                        </a:rPr>
                        <a:t>An app-only cause</a:t>
                      </a:r>
                    </a:p>
                  </a:txBody>
                  <a:tcPr marL="101600" marR="101600" marT="38100" marB="38100" anchor="ctr">
                    <a:solidFill>
                      <a:srgbClr val="FFFFFF"/>
                    </a:solidFill>
                  </a:tcPr>
                </a:tc>
              </a:tr>
              <a:tr h="369824">
                <a:tc>
                  <a:txBody>
                    <a:bodyPr/>
                    <a:lstStyle/>
                    <a:p>
                      <a:r>
                        <a:rPr sz="1400" b="0" i="0">
                          <a:solidFill>
                            <a:srgbClr val="1A1440"/>
                          </a:solidFill>
                          <a:latin typeface="Calibri"/>
                        </a:rPr>
                        <a:t>D. The app's reorder logs</a:t>
                      </a:r>
                    </a:p>
                  </a:txBody>
                  <a:tcPr marL="101600" marR="101600" marT="38100" marB="38100" anchor="ctr">
                    <a:solidFill>
                      <a:srgbClr val="F4F2FA"/>
                    </a:solidFill>
                  </a:tcPr>
                </a:tc>
                <a:tc>
                  <a:txBody>
                    <a:bodyPr/>
                    <a:lstStyle/>
                    <a:p>
                      <a:r>
                        <a:rPr sz="1400" b="0" i="0">
                          <a:solidFill>
                            <a:srgbClr val="1A1440"/>
                          </a:solidFill>
                          <a:latin typeface="Calibri"/>
                        </a:rPr>
                        <a:t>A data request</a:t>
                      </a:r>
                    </a:p>
                  </a:txBody>
                  <a:tcPr marL="101600" marR="101600" marT="38100" marB="38100" anchor="ctr">
                    <a:solidFill>
                      <a:srgbClr val="F4F2FA"/>
                    </a:solidFill>
                  </a:tcPr>
                </a:tc>
                <a:tc>
                  <a:txBody>
                    <a:bodyPr/>
                    <a:lstStyle/>
                    <a:p>
                      <a:r>
                        <a:rPr sz="1400" b="0" i="0">
                          <a:solidFill>
                            <a:srgbClr val="1A1440"/>
                          </a:solidFill>
                          <a:latin typeface="Calibri"/>
                        </a:rPr>
                        <a:t>Nothing today; it settles it later</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A, B and C now, D requested today. </a:t>
            </a:r>
            <a:r>
              <a:rPr sz="1500" b="1" i="0">
                <a:solidFill>
                  <a:srgbClr val="1A1440"/>
                </a:solidFill>
                <a:latin typeface="Calibri"/>
              </a:rPr>
              <a:t>What would change it:</a:t>
            </a:r>
            <a:r>
              <a:rPr sz="1500" b="0" i="0">
                <a:solidFill>
                  <a:srgbClr val="1A1440"/>
                </a:solidFill>
                <a:latin typeface="Calibri"/>
              </a:rPr>
              <a:t> if the break turned out to be in June, A's verdict flips, and D's release date is how we would learn it.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when did the tier drop below Q1?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Retail-Plus orders by month, with Retail-Core beside it for comparison.</a:t>
            </a:r>
          </a:p>
        </p:txBody>
      </p:sp>
      <p:pic>
        <p:nvPicPr>
          <p:cNvPr id="9" name="mermaid diagram" descr="54c2b0eb5abb27a0.png"/>
          <p:cNvPicPr>
            <a:picLocks noChangeAspect="1"/>
          </p:cNvPicPr>
          <p:nvPr/>
        </p:nvPicPr>
        <p:blipFill>
          <a:blip r:embed="rId5"/>
          <a:stretch>
            <a:fillRect/>
          </a:stretch>
        </p:blipFill>
        <p:spPr>
          <a:xfrm>
            <a:off x="3074041" y="1956816"/>
            <a:ext cx="6043612" cy="871537"/>
          </a:xfrm>
          <a:prstGeom prst="rect">
            <a:avLst/>
          </a:prstGeom>
        </p:spPr>
      </p:pic>
      <p:sp>
        <p:nvSpPr>
          <p:cNvPr id="10" name="Rounded Rectangle 9"/>
          <p:cNvSpPr/>
          <p:nvPr/>
        </p:nvSpPr>
        <p:spPr>
          <a:xfrm>
            <a:off x="530352" y="2974657"/>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 September, after the break; b) August, when it broke; c) July, before it broke; d) never.</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July, weeks before the button broke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Retail-Plus stepped down in July while Retail-Core held level through the same months.</a:t>
            </a:r>
          </a:p>
        </p:txBody>
      </p:sp>
      <p:pic>
        <p:nvPicPr>
          <p:cNvPr id="9" name="mermaid diagram" descr="bba7da84cfbe1350.png"/>
          <p:cNvPicPr>
            <a:picLocks noChangeAspect="1"/>
          </p:cNvPicPr>
          <p:nvPr/>
        </p:nvPicPr>
        <p:blipFill>
          <a:blip r:embed="rId5"/>
          <a:stretch>
            <a:fillRect/>
          </a:stretch>
        </p:blipFill>
        <p:spPr>
          <a:xfrm>
            <a:off x="2010511" y="1664208"/>
            <a:ext cx="8170672" cy="4085336"/>
          </a:xfrm>
          <a:prstGeom prst="rect">
            <a:avLst/>
          </a:prstGeom>
        </p:spPr>
      </p:pic>
      <p:sp>
        <p:nvSpPr>
          <p:cNvPr id="10" name="TextBox 9"/>
          <p:cNvSpPr txBox="1"/>
          <p:nvPr/>
        </p:nvSpPr>
        <p:spPr>
          <a:xfrm>
            <a:off x="530352" y="5795264"/>
            <a:ext cx="11130991" cy="404367"/>
          </a:xfrm>
          <a:prstGeom prst="rect">
            <a:avLst/>
          </a:prstGeom>
          <a:noFill/>
        </p:spPr>
        <p:txBody>
          <a:bodyPr wrap="square" anchor="t" lIns="0" rIns="0" tIns="0" bIns="0">
            <a:spAutoFit/>
          </a:bodyPr>
          <a:lstStyle/>
          <a:p>
            <a:r>
              <a:rPr sz="1600" b="0" i="0">
                <a:solidFill>
                  <a:srgbClr val="1A1440"/>
                </a:solidFill>
                <a:latin typeface="Calibri"/>
              </a:rPr>
              <a:t>The line that falls from 13 to 9 in July is Retail-Plus; the level line is Retail-Core.</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19" name="Oval 18"/>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1" name="Oval 20"/>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the button cost 25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hurried memo charges the button with the tier's whole quarter.</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ORDERS THE BUTTON "COST"</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51 in Q1 less 26 in Q2</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65,250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RUPEES THE BUTTON "COST"</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whole tier's fall</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DAYS CHECKED BEFORE THE BREAK</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missing check</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ug_39ada6eff46d.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Engineering is told the fix recovers 25 orders a quarter; it ships, recovers a handful, and the tier's real problem has had another quarter to run.</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28" name="Oval 2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0" name="Oval 2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32" name="Oval 3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34" name="Oval 33"/>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6" name="Oval 35"/>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and the ceiling: about 4</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Split Q2 at the break and give each side its window; the rate had fallen by more than a third already.</a:t>
            </a:r>
          </a:p>
        </p:txBody>
      </p:sp>
      <p:graphicFrame>
        <p:nvGraphicFramePr>
          <p:cNvPr id="9" name="Table 8"/>
          <p:cNvGraphicFramePr>
            <a:graphicFrameLocks noGrp="1"/>
          </p:cNvGraphicFramePr>
          <p:nvPr/>
        </p:nvGraphicFramePr>
        <p:xfrm>
          <a:off x="530352" y="1956816"/>
          <a:ext cx="11130991" cy="1341120"/>
        </p:xfrm>
        <a:graphic>
          <a:graphicData uri="http://schemas.openxmlformats.org/drawingml/2006/table">
            <a:tbl>
              <a:tblPr firstRow="0" bandRow="0">
                <a:tableStyleId>{2D5ABB26-0587-4C30-8999-92F81FD0307C}</a:tableStyleId>
              </a:tblPr>
              <a:tblGrid>
                <a:gridCol w="6138359"/>
                <a:gridCol w="914400"/>
                <a:gridCol w="914400"/>
                <a:gridCol w="3163832"/>
              </a:tblGrid>
              <a:tr h="335280">
                <a:tc>
                  <a:txBody>
                    <a:bodyPr/>
                    <a:lstStyle/>
                    <a:p>
                      <a:r>
                        <a:rPr sz="1250" b="1" i="0">
                          <a:solidFill>
                            <a:srgbClr val="FFFFFF"/>
                          </a:solidFill>
                          <a:latin typeface="Calibri"/>
                        </a:rPr>
                        <a:t>Window</a:t>
                      </a:r>
                    </a:p>
                  </a:txBody>
                  <a:tcPr marL="101600" marR="101600" marT="38100" marB="38100" anchor="ctr">
                    <a:solidFill>
                      <a:srgbClr val="1A0F5C"/>
                    </a:solidFill>
                  </a:tcPr>
                </a:tc>
                <a:tc>
                  <a:txBody>
                    <a:bodyPr/>
                    <a:lstStyle/>
                    <a:p>
                      <a:r>
                        <a:rPr sz="1250" b="1" i="0">
                          <a:solidFill>
                            <a:srgbClr val="FFFFFF"/>
                          </a:solidFill>
                          <a:latin typeface="Calibri"/>
                        </a:rPr>
                        <a:t>Days</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Per week</a:t>
                      </a:r>
                    </a:p>
                  </a:txBody>
                  <a:tcPr marL="101600" marR="101600" marT="38100" marB="38100" anchor="ctr">
                    <a:solidFill>
                      <a:srgbClr val="1A0F5C"/>
                    </a:solidFill>
                  </a:tcPr>
                </a:tc>
              </a:tr>
              <a:tr h="335280">
                <a:tc>
                  <a:txBody>
                    <a:bodyPr/>
                    <a:lstStyle/>
                    <a:p>
                      <a:r>
                        <a:rPr sz="1200" b="0" i="0">
                          <a:solidFill>
                            <a:srgbClr val="1A1440"/>
                          </a:solidFill>
                          <a:latin typeface="Calibri"/>
                        </a:rPr>
                        <a:t>Q1, 1 Apr to 30 Jun</a:t>
                      </a:r>
                    </a:p>
                  </a:txBody>
                  <a:tcPr marL="101600" marR="101600" marT="38100" marB="38100" anchor="ctr">
                    <a:solidFill>
                      <a:srgbClr val="FFFFFF"/>
                    </a:solidFill>
                  </a:tcPr>
                </a:tc>
                <a:tc>
                  <a:txBody>
                    <a:bodyPr/>
                    <a:lstStyle/>
                    <a:p>
                      <a:r>
                        <a:rPr sz="1200" b="0" i="0">
                          <a:solidFill>
                            <a:srgbClr val="1A1440"/>
                          </a:solidFill>
                          <a:latin typeface="Calibri"/>
                        </a:rPr>
                        <a:t>91</a:t>
                      </a:r>
                    </a:p>
                  </a:txBody>
                  <a:tcPr marL="101600" marR="101600" marT="38100" marB="38100" anchor="ctr">
                    <a:solidFill>
                      <a:srgbClr val="FFFFFF"/>
                    </a:solidFill>
                  </a:tcPr>
                </a:tc>
                <a:tc>
                  <a:txBody>
                    <a:bodyPr/>
                    <a:lstStyle/>
                    <a:p>
                      <a:r>
                        <a:rPr sz="1200" b="0" i="0">
                          <a:solidFill>
                            <a:srgbClr val="1A1440"/>
                          </a:solidFill>
                          <a:latin typeface="Calibri"/>
                        </a:rPr>
                        <a:t>51</a:t>
                      </a:r>
                    </a:p>
                  </a:txBody>
                  <a:tcPr marL="101600" marR="101600" marT="38100" marB="38100" anchor="ctr">
                    <a:solidFill>
                      <a:srgbClr val="FFFFFF"/>
                    </a:solidFill>
                  </a:tcPr>
                </a:tc>
                <a:tc>
                  <a:txBody>
                    <a:bodyPr/>
                    <a:lstStyle/>
                    <a:p>
                      <a:r>
                        <a:rPr sz="1200" b="0" i="0">
                          <a:solidFill>
                            <a:srgbClr val="1A1440"/>
                          </a:solidFill>
                          <a:latin typeface="Calibri"/>
                        </a:rPr>
                        <a:t>3.92</a:t>
                      </a:r>
                    </a:p>
                  </a:txBody>
                  <a:tcPr marL="101600" marR="101600" marT="38100" marB="38100" anchor="ctr">
                    <a:solidFill>
                      <a:srgbClr val="FFFFFF"/>
                    </a:solidFill>
                  </a:tcPr>
                </a:tc>
              </a:tr>
              <a:tr h="335280">
                <a:tc>
                  <a:txBody>
                    <a:bodyPr/>
                    <a:lstStyle/>
                    <a:p>
                      <a:r>
                        <a:rPr sz="1200" b="0" i="0">
                          <a:solidFill>
                            <a:srgbClr val="1A1440"/>
                          </a:solidFill>
                          <a:latin typeface="Calibri"/>
                        </a:rPr>
                        <a:t>Q2, 1 Jul to 24 Aug</a:t>
                      </a:r>
                    </a:p>
                  </a:txBody>
                  <a:tcPr marL="101600" marR="101600" marT="38100" marB="38100" anchor="ctr">
                    <a:solidFill>
                      <a:srgbClr val="F4F2FA"/>
                    </a:solidFill>
                  </a:tcPr>
                </a:tc>
                <a:tc>
                  <a:txBody>
                    <a:bodyPr/>
                    <a:lstStyle/>
                    <a:p>
                      <a:r>
                        <a:rPr sz="1200" b="0" i="0">
                          <a:solidFill>
                            <a:srgbClr val="1A1440"/>
                          </a:solidFill>
                          <a:latin typeface="Calibri"/>
                        </a:rPr>
                        <a:t>55</a:t>
                      </a:r>
                    </a:p>
                  </a:txBody>
                  <a:tcPr marL="101600" marR="101600" marT="38100" marB="38100" anchor="ctr">
                    <a:solidFill>
                      <a:srgbClr val="F4F2FA"/>
                    </a:solidFill>
                  </a:tcPr>
                </a:tc>
                <a:tc>
                  <a:txBody>
                    <a:bodyPr/>
                    <a:lstStyle/>
                    <a:p>
                      <a:r>
                        <a:rPr sz="1200" b="0" i="0">
                          <a:solidFill>
                            <a:srgbClr val="1A1440"/>
                          </a:solidFill>
                          <a:latin typeface="Calibri"/>
                        </a:rPr>
                        <a:t>18</a:t>
                      </a:r>
                    </a:p>
                  </a:txBody>
                  <a:tcPr marL="101600" marR="101600" marT="38100" marB="38100" anchor="ctr">
                    <a:solidFill>
                      <a:srgbClr val="F4F2FA"/>
                    </a:solidFill>
                  </a:tcPr>
                </a:tc>
                <a:tc>
                  <a:txBody>
                    <a:bodyPr/>
                    <a:lstStyle/>
                    <a:p>
                      <a:r>
                        <a:rPr sz="1200" b="0" i="0">
                          <a:solidFill>
                            <a:srgbClr val="1A1440"/>
                          </a:solidFill>
                          <a:latin typeface="Calibri"/>
                        </a:rPr>
                        <a:t>2.29</a:t>
                      </a:r>
                    </a:p>
                  </a:txBody>
                  <a:tcPr marL="101600" marR="101600" marT="38100" marB="38100" anchor="ctr">
                    <a:solidFill>
                      <a:srgbClr val="F4F2FA"/>
                    </a:solidFill>
                  </a:tcPr>
                </a:tc>
              </a:tr>
              <a:tr h="335280">
                <a:tc>
                  <a:txBody>
                    <a:bodyPr/>
                    <a:lstStyle/>
                    <a:p>
                      <a:r>
                        <a:rPr sz="1200" b="0" i="0">
                          <a:solidFill>
                            <a:srgbClr val="1A1440"/>
                          </a:solidFill>
                          <a:latin typeface="Calibri"/>
                        </a:rPr>
                        <a:t>Q2, 25 Aug to 30 Sep</a:t>
                      </a:r>
                    </a:p>
                  </a:txBody>
                  <a:tcPr marL="101600" marR="101600" marT="38100" marB="38100" anchor="ctr">
                    <a:solidFill>
                      <a:srgbClr val="FFFFFF"/>
                    </a:solidFill>
                  </a:tcPr>
                </a:tc>
                <a:tc>
                  <a:txBody>
                    <a:bodyPr/>
                    <a:lstStyle/>
                    <a:p>
                      <a:r>
                        <a:rPr sz="1200" b="0" i="0">
                          <a:solidFill>
                            <a:srgbClr val="1A1440"/>
                          </a:solidFill>
                          <a:latin typeface="Calibri"/>
                        </a:rPr>
                        <a:t>37</a:t>
                      </a:r>
                    </a:p>
                  </a:txBody>
                  <a:tcPr marL="101600" marR="101600" marT="38100" marB="38100" anchor="ctr">
                    <a:solidFill>
                      <a:srgbClr val="FFFFFF"/>
                    </a:solidFill>
                  </a:tcPr>
                </a:tc>
                <a:tc>
                  <a:txBody>
                    <a:bodyPr/>
                    <a:lstStyle/>
                    <a:p>
                      <a:r>
                        <a:rPr sz="1200" b="0" i="0">
                          <a:solidFill>
                            <a:srgbClr val="1A1440"/>
                          </a:solidFill>
                          <a:latin typeface="Calibri"/>
                        </a:rPr>
                        <a:t>8</a:t>
                      </a:r>
                    </a:p>
                  </a:txBody>
                  <a:tcPr marL="101600" marR="101600" marT="38100" marB="38100" anchor="ctr">
                    <a:solidFill>
                      <a:srgbClr val="FFFFFF"/>
                    </a:solidFill>
                  </a:tcPr>
                </a:tc>
                <a:tc>
                  <a:txBody>
                    <a:bodyPr/>
                    <a:lstStyle/>
                    <a:p>
                      <a:r>
                        <a:rPr sz="1200" b="0" i="0">
                          <a:solidFill>
                            <a:srgbClr val="1A1440"/>
                          </a:solidFill>
                          <a:latin typeface="Calibri"/>
                        </a:rPr>
                        <a:t>1.51</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624840"/>
          </a:xfrm>
          <a:prstGeom prst="rect">
            <a:avLst/>
          </a:prstGeom>
          <a:noFill/>
        </p:spPr>
        <p:txBody>
          <a:bodyPr wrap="square" anchor="ctr" lIns="0" rIns="0" tIns="0" bIns="0">
            <a:spAutoFit/>
          </a:bodyPr>
          <a:lstStyle/>
          <a:p>
            <a:r>
              <a:rPr sz="1500" b="1">
                <a:solidFill>
                  <a:srgbClr val="5B3FD6"/>
                </a:solidFill>
                <a:latin typeface="Calibri"/>
              </a:rPr>
              <a:t>The fix. </a:t>
            </a:r>
            <a:r>
              <a:rPr sz="1500" b="0" i="0">
                <a:solidFill>
                  <a:srgbClr val="1A1440"/>
                </a:solidFill>
                <a:latin typeface="Calibri"/>
              </a:rPr>
              <a:t>At the pre-break pace, 37 days would have carried about 12.1 orders; the tier placed 8. The button explains at most about 4 orders, about Rs 12,400, and that is a ceiling.</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season and the channel, both tested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season that hit everyone would move Retail-Core; an app-only cause would leave the web and store alone.</a:t>
            </a:r>
          </a:p>
        </p:txBody>
      </p:sp>
      <p:pic>
        <p:nvPicPr>
          <p:cNvPr id="9" name="mermaid diagram" descr="ee8eda15507f32b1.png"/>
          <p:cNvPicPr>
            <a:picLocks noChangeAspect="1"/>
          </p:cNvPicPr>
          <p:nvPr/>
        </p:nvPicPr>
        <p:blipFill>
          <a:blip r:embed="rId5"/>
          <a:stretch>
            <a:fillRect/>
          </a:stretch>
        </p:blipFill>
        <p:spPr>
          <a:xfrm>
            <a:off x="2845155" y="1664208"/>
            <a:ext cx="6501384"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What it says. </a:t>
            </a:r>
            <a:r>
              <a:rPr sz="1500" b="0" i="0">
                <a:solidFill>
                  <a:srgbClr val="1A1440"/>
                </a:solidFill>
                <a:latin typeface="Calibri"/>
              </a:rPr>
              <a:t>Retail-Core kept 95 percent of its Q1 orders and Retail-Plus 51, so an across-the-board season does not fit; every channel fell, so an app-only cause does not fit. A season that hit members harder still fits, and last year's Q2 by segment settles it.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the pace, corrected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Take out what slowed Retail-Core across the same date, and the button's share shrinks to about 3.5.</a:t>
            </a:r>
          </a:p>
        </p:txBody>
      </p:sp>
      <p:pic>
        <p:nvPicPr>
          <p:cNvPr id="9" name="mermaid diagram" descr="4e3c2ff9ff805db1.png"/>
          <p:cNvPicPr>
            <a:picLocks noChangeAspect="1"/>
          </p:cNvPicPr>
          <p:nvPr/>
        </p:nvPicPr>
        <p:blipFill>
          <a:blip r:embed="rId5"/>
          <a:stretch>
            <a:fillRect/>
          </a:stretch>
        </p:blipFill>
        <p:spPr>
          <a:xfrm>
            <a:off x="1209522" y="1956816"/>
            <a:ext cx="9772650" cy="1128712"/>
          </a:xfrm>
          <a:prstGeom prst="rect">
            <a:avLst/>
          </a:prstGeom>
        </p:spPr>
      </p:pic>
      <p:sp>
        <p:nvSpPr>
          <p:cNvPr id="10" name="Rounded Rectangle 9"/>
          <p:cNvSpPr/>
          <p:nvPr/>
        </p:nvSpPr>
        <p:spPr>
          <a:xfrm>
            <a:off x="530352" y="32318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598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50704"/>
            <a:ext cx="10564063" cy="624840"/>
          </a:xfrm>
          <a:prstGeom prst="rect">
            <a:avLst/>
          </a:prstGeom>
          <a:noFill/>
        </p:spPr>
        <p:txBody>
          <a:bodyPr wrap="square" anchor="ctr" lIns="0" rIns="0" tIns="0" bIns="0">
            <a:spAutoFit/>
          </a:bodyPr>
          <a:lstStyle/>
          <a:p>
            <a:r>
              <a:rPr sz="1500" b="1">
                <a:solidFill>
                  <a:srgbClr val="5B3FD6"/>
                </a:solidFill>
                <a:latin typeface="Calibri"/>
              </a:rPr>
              <a:t>When to switch. </a:t>
            </a:r>
            <a:r>
              <a:rPr sz="1500" b="0" i="0">
                <a:solidFill>
                  <a:srgbClr val="1A1440"/>
                </a:solidFill>
                <a:latin typeface="Calibri"/>
              </a:rPr>
              <a:t>Write the ceiling in the memo; bring the corrected route when someone argues for the season.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memo: what we know, what we are guessing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claim, two hypotheses with the evidence that settles each, and a rival.</a:t>
            </a:r>
          </a:p>
        </p:txBody>
      </p:sp>
      <p:pic>
        <p:nvPicPr>
          <p:cNvPr id="9" name="mermaid diagram" descr="cfa4af3c787dbdc1.png"/>
          <p:cNvPicPr>
            <a:picLocks noChangeAspect="1"/>
          </p:cNvPicPr>
          <p:nvPr/>
        </p:nvPicPr>
        <p:blipFill>
          <a:blip r:embed="rId7"/>
          <a:stretch>
            <a:fillRect/>
          </a:stretch>
        </p:blipFill>
        <p:spPr>
          <a:xfrm>
            <a:off x="530352" y="2749872"/>
            <a:ext cx="4786326" cy="2382383"/>
          </a:xfrm>
          <a:prstGeom prst="rect">
            <a:avLst/>
          </a:prstGeom>
        </p:spPr>
      </p:pic>
      <p:sp>
        <p:nvSpPr>
          <p:cNvPr id="10" name="Rounded Rectangle 9"/>
          <p:cNvSpPr/>
          <p:nvPr/>
        </p:nvSpPr>
        <p:spPr>
          <a:xfrm>
            <a:off x="5761917" y="1956816"/>
            <a:ext cx="5899425" cy="163982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90517" y="25481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6100245" y="2657856"/>
            <a:ext cx="237744" cy="237744"/>
          </a:xfrm>
          <a:prstGeom prst="rect">
            <a:avLst/>
          </a:prstGeom>
        </p:spPr>
      </p:pic>
      <p:sp>
        <p:nvSpPr>
          <p:cNvPr id="13" name="TextBox 12"/>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6630597" y="2322576"/>
            <a:ext cx="4756425" cy="1200912"/>
          </a:xfrm>
          <a:prstGeom prst="rect">
            <a:avLst/>
          </a:prstGeom>
          <a:noFill/>
        </p:spPr>
        <p:txBody>
          <a:bodyPr wrap="square" anchor="t" lIns="0" rIns="0" tIns="0" bIns="0">
            <a:spAutoFit/>
          </a:bodyPr>
          <a:lstStyle/>
          <a:p>
            <a:r>
              <a:rPr sz="1500" b="0" i="0">
                <a:solidFill>
                  <a:srgbClr val="1A1440"/>
                </a:solidFill>
                <a:latin typeface="Calibri"/>
              </a:rPr>
              <a:t>"You gave the tier a number for his cause, a ceiling of about 4 orders, instead of a yes or a no. Say what you know, then what you are guessing, and stop."</a:t>
            </a:r>
          </a:p>
        </p:txBody>
      </p:sp>
      <p:sp>
        <p:nvSpPr>
          <p:cNvPr id="15" name="Rounded Rectangle 14"/>
          <p:cNvSpPr/>
          <p:nvPr/>
        </p:nvSpPr>
        <p:spPr>
          <a:xfrm>
            <a:off x="5761917" y="3761232"/>
            <a:ext cx="5899425"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5990517" y="422300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6100245" y="4332732"/>
            <a:ext cx="237744" cy="237744"/>
          </a:xfrm>
          <a:prstGeom prst="rect">
            <a:avLst/>
          </a:prstGeom>
        </p:spPr>
      </p:pic>
      <p:sp>
        <p:nvSpPr>
          <p:cNvPr id="18" name="TextBox 17"/>
          <p:cNvSpPr txBox="1"/>
          <p:nvPr/>
        </p:nvSpPr>
        <p:spPr>
          <a:xfrm>
            <a:off x="6630597" y="3907536"/>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6630597" y="4126992"/>
            <a:ext cx="4756425" cy="941832"/>
          </a:xfrm>
          <a:prstGeom prst="rect">
            <a:avLst/>
          </a:prstGeom>
          <a:noFill/>
        </p:spPr>
        <p:txBody>
          <a:bodyPr wrap="square" anchor="t" lIns="0" rIns="0" tIns="0" bIns="0">
            <a:spAutoFit/>
          </a:bodyPr>
          <a:lstStyle/>
          <a:p>
            <a:r>
              <a:rPr sz="1500" b="0" i="0">
                <a:solidFill>
                  <a:srgbClr val="1A1440"/>
                </a:solidFill>
                <a:latin typeface="Calibri"/>
              </a:rPr>
              <a:t>[D] A stakeholder hands you a cause; how do you test it with the data you have and name the data you need?</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memo and its evidence</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24" name="Oval 2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26" name="Oval 2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8" name="Oval 27"/>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0" name="Oval 29"/>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escalated case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whole ladder again, alone, on the orders that reached customers.</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memo and its evidence</a:t>
            </a:r>
          </a:p>
        </p:txBody>
      </p:sp>
      <p:sp>
        <p:nvSpPr>
          <p:cNvPr id="11" name="Rounded Rectangle 10"/>
          <p:cNvSpPr/>
          <p:nvPr/>
        </p:nvSpPr>
        <p:spPr>
          <a:xfrm>
            <a:off x="2687407"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escalated case</a:t>
            </a:r>
          </a:p>
        </p:txBody>
      </p:sp>
      <p:sp>
        <p:nvSpPr>
          <p:cNvPr id="12" name="Rounded Rectangle 11"/>
          <p:cNvSpPr/>
          <p:nvPr/>
        </p:nvSpPr>
        <p:spPr>
          <a:xfrm>
            <a:off x="4228782"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debrief of wrong answers</a:t>
            </a:r>
          </a:p>
        </p:txBody>
      </p:sp>
      <p:sp>
        <p:nvSpPr>
          <p:cNvPr id="13" name="Rounded Rectangle 12"/>
          <p:cNvSpPr/>
          <p:nvPr/>
        </p:nvSpPr>
        <p:spPr>
          <a:xfrm>
            <a:off x="6362318" y="5074920"/>
            <a:ext cx="125399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a:t>
            </a:r>
          </a:p>
        </p:txBody>
      </p:sp>
      <p:sp>
        <p:nvSpPr>
          <p:cNvPr id="14" name="Rounded Rectangle 13"/>
          <p:cNvSpPr/>
          <p:nvPr/>
        </p:nvSpPr>
        <p:spPr>
          <a:xfrm>
            <a:off x="7726045"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326637"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asks if the story survives delivery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board pack, the numbers the board reads, counts only what reached customers and stayed.</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"The board pack reports revenue on orders that reached the customer and stayed there. Does your story survive on delivered orders? Which branch, which segment, and what would you bet on?"</a:t>
            </a:r>
          </a:p>
        </p:txBody>
      </p:sp>
      <p:sp>
        <p:nvSpPr>
          <p:cNvPr id="14" name="Rectangle 13"/>
          <p:cNvSpPr/>
          <p:nvPr/>
        </p:nvSpPr>
        <p:spPr>
          <a:xfrm>
            <a:off x="1570299" y="3810000"/>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0352"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6" name="Oval 15"/>
          <p:cNvSpPr/>
          <p:nvPr/>
        </p:nvSpPr>
        <p:spPr>
          <a:xfrm>
            <a:off x="1469715"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4130040"/>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4944" y="4276344"/>
            <a:ext cx="1750710" cy="465836"/>
          </a:xfrm>
          <a:prstGeom prst="rect">
            <a:avLst/>
          </a:prstGeom>
          <a:noFill/>
        </p:spPr>
        <p:txBody>
          <a:bodyPr wrap="square" anchor="t" lIns="0" rIns="0" tIns="0" bIns="0">
            <a:spAutoFit/>
          </a:bodyPr>
          <a:lstStyle/>
          <a:p>
            <a:pPr algn="l"/>
            <a:r>
              <a:rPr sz="1300" b="1" i="0">
                <a:solidFill>
                  <a:srgbClr val="1A0F5C"/>
                </a:solidFill>
                <a:latin typeface="Calibri"/>
              </a:rPr>
              <a:t>Is the delivered drop real?</a:t>
            </a:r>
          </a:p>
        </p:txBody>
      </p:sp>
      <p:sp>
        <p:nvSpPr>
          <p:cNvPr id="19" name="TextBox 18"/>
          <p:cNvSpPr txBox="1"/>
          <p:nvPr/>
        </p:nvSpPr>
        <p:spPr>
          <a:xfrm>
            <a:off x="694944" y="4778756"/>
            <a:ext cx="1750710" cy="366776"/>
          </a:xfrm>
          <a:prstGeom prst="rect">
            <a:avLst/>
          </a:prstGeom>
          <a:noFill/>
        </p:spPr>
        <p:txBody>
          <a:bodyPr wrap="square" anchor="t" lIns="0" rIns="0" tIns="0" bIns="0">
            <a:spAutoFit/>
          </a:bodyPr>
          <a:lstStyle/>
          <a:p>
            <a:pPr algn="l"/>
            <a:r>
              <a:rPr sz="1000" b="0" i="0">
                <a:solidFill>
                  <a:srgbClr val="6B6690"/>
                </a:solidFill>
                <a:latin typeface="Calibri"/>
              </a:rPr>
              <a:t>Filter to delivered orders; compare closed quarters.</a:t>
            </a:r>
          </a:p>
        </p:txBody>
      </p:sp>
      <p:sp>
        <p:nvSpPr>
          <p:cNvPr id="20" name="TextBox 19"/>
          <p:cNvSpPr txBox="1"/>
          <p:nvPr/>
        </p:nvSpPr>
        <p:spPr>
          <a:xfrm>
            <a:off x="2793126"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21" name="Oval 20"/>
          <p:cNvSpPr/>
          <p:nvPr/>
        </p:nvSpPr>
        <p:spPr>
          <a:xfrm>
            <a:off x="3732489"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793126" y="4130040"/>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957718" y="4276344"/>
            <a:ext cx="1750710" cy="465836"/>
          </a:xfrm>
          <a:prstGeom prst="rect">
            <a:avLst/>
          </a:prstGeom>
          <a:noFill/>
        </p:spPr>
        <p:txBody>
          <a:bodyPr wrap="square" anchor="t" lIns="0" rIns="0" tIns="0" bIns="0">
            <a:spAutoFit/>
          </a:bodyPr>
          <a:lstStyle/>
          <a:p>
            <a:pPr algn="l"/>
            <a:r>
              <a:rPr sz="1300" b="1" i="0">
                <a:solidFill>
                  <a:srgbClr val="1A0F5C"/>
                </a:solidFill>
                <a:latin typeface="Calibri"/>
              </a:rPr>
              <a:t>The tree on delivered</a:t>
            </a:r>
          </a:p>
        </p:txBody>
      </p:sp>
      <p:sp>
        <p:nvSpPr>
          <p:cNvPr id="24" name="TextBox 23"/>
          <p:cNvSpPr txBox="1"/>
          <p:nvPr/>
        </p:nvSpPr>
        <p:spPr>
          <a:xfrm>
            <a:off x="2957718" y="4778756"/>
            <a:ext cx="1750710" cy="366776"/>
          </a:xfrm>
          <a:prstGeom prst="rect">
            <a:avLst/>
          </a:prstGeom>
          <a:noFill/>
        </p:spPr>
        <p:txBody>
          <a:bodyPr wrap="square" anchor="t" lIns="0" rIns="0" tIns="0" bIns="0">
            <a:spAutoFit/>
          </a:bodyPr>
          <a:lstStyle/>
          <a:p>
            <a:pPr algn="l"/>
            <a:r>
              <a:rPr sz="1000" b="0" i="0">
                <a:solidFill>
                  <a:srgbClr val="6B6690"/>
                </a:solidFill>
                <a:latin typeface="Calibri"/>
              </a:rPr>
              <a:t>A bridge in the tree's order, one leaf at a time.</a:t>
            </a:r>
          </a:p>
        </p:txBody>
      </p:sp>
      <p:sp>
        <p:nvSpPr>
          <p:cNvPr id="25" name="TextBox 24"/>
          <p:cNvSpPr txBox="1"/>
          <p:nvPr/>
        </p:nvSpPr>
        <p:spPr>
          <a:xfrm>
            <a:off x="5055900"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6" name="Oval 25"/>
          <p:cNvSpPr/>
          <p:nvPr/>
        </p:nvSpPr>
        <p:spPr>
          <a:xfrm>
            <a:off x="5995263"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055900" y="4130040"/>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20492" y="4276344"/>
            <a:ext cx="1750710" cy="465836"/>
          </a:xfrm>
          <a:prstGeom prst="rect">
            <a:avLst/>
          </a:prstGeom>
          <a:noFill/>
        </p:spPr>
        <p:txBody>
          <a:bodyPr wrap="square" anchor="t" lIns="0" rIns="0" tIns="0" bIns="0">
            <a:spAutoFit/>
          </a:bodyPr>
          <a:lstStyle/>
          <a:p>
            <a:pPr algn="l"/>
            <a:r>
              <a:rPr sz="1300" b="1" i="0">
                <a:solidFill>
                  <a:srgbClr val="1A0F5C"/>
                </a:solidFill>
                <a:latin typeface="Calibri"/>
              </a:rPr>
              <a:t>Are those lost customers?</a:t>
            </a:r>
          </a:p>
        </p:txBody>
      </p:sp>
      <p:sp>
        <p:nvSpPr>
          <p:cNvPr id="29" name="TextBox 28"/>
          <p:cNvSpPr txBox="1"/>
          <p:nvPr/>
        </p:nvSpPr>
        <p:spPr>
          <a:xfrm>
            <a:off x="5220492" y="4778756"/>
            <a:ext cx="1750710" cy="531876"/>
          </a:xfrm>
          <a:prstGeom prst="rect">
            <a:avLst/>
          </a:prstGeom>
          <a:noFill/>
        </p:spPr>
        <p:txBody>
          <a:bodyPr wrap="square" anchor="t" lIns="0" rIns="0" tIns="0" bIns="0">
            <a:spAutoFit/>
          </a:bodyPr>
          <a:lstStyle/>
          <a:p>
            <a:pPr algn="l"/>
            <a:r>
              <a:rPr sz="1000" b="0" i="0">
                <a:solidFill>
                  <a:srgbClr val="6B6690"/>
                </a:solidFill>
                <a:latin typeface="Calibri"/>
              </a:rPr>
              <a:t>Find out what the customers who left the count did in Q2.</a:t>
            </a:r>
          </a:p>
        </p:txBody>
      </p:sp>
      <p:sp>
        <p:nvSpPr>
          <p:cNvPr id="30" name="TextBox 29"/>
          <p:cNvSpPr txBox="1"/>
          <p:nvPr/>
        </p:nvSpPr>
        <p:spPr>
          <a:xfrm>
            <a:off x="7318674"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31" name="Oval 30"/>
          <p:cNvSpPr/>
          <p:nvPr/>
        </p:nvSpPr>
        <p:spPr>
          <a:xfrm>
            <a:off x="8258037"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318674" y="4130040"/>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83266" y="4276344"/>
            <a:ext cx="1750710" cy="465836"/>
          </a:xfrm>
          <a:prstGeom prst="rect">
            <a:avLst/>
          </a:prstGeom>
          <a:noFill/>
        </p:spPr>
        <p:txBody>
          <a:bodyPr wrap="square" anchor="t" lIns="0" rIns="0" tIns="0" bIns="0">
            <a:spAutoFit/>
          </a:bodyPr>
          <a:lstStyle/>
          <a:p>
            <a:pPr algn="l"/>
            <a:r>
              <a:rPr sz="1300" b="1" i="0">
                <a:solidFill>
                  <a:srgbClr val="1A0F5C"/>
                </a:solidFill>
                <a:latin typeface="Calibri"/>
              </a:rPr>
              <a:t>Four segments on delivered</a:t>
            </a:r>
          </a:p>
        </p:txBody>
      </p:sp>
      <p:sp>
        <p:nvSpPr>
          <p:cNvPr id="34" name="TextBox 33"/>
          <p:cNvSpPr txBox="1"/>
          <p:nvPr/>
        </p:nvSpPr>
        <p:spPr>
          <a:xfrm>
            <a:off x="7483266" y="4778756"/>
            <a:ext cx="1750710" cy="531876"/>
          </a:xfrm>
          <a:prstGeom prst="rect">
            <a:avLst/>
          </a:prstGeom>
          <a:noFill/>
        </p:spPr>
        <p:txBody>
          <a:bodyPr wrap="square" anchor="t" lIns="0" rIns="0" tIns="0" bIns="0">
            <a:spAutoFit/>
          </a:bodyPr>
          <a:lstStyle/>
          <a:p>
            <a:pPr algn="l"/>
            <a:r>
              <a:rPr sz="1000" b="0" i="0">
                <a:solidFill>
                  <a:srgbClr val="6B6690"/>
                </a:solidFill>
                <a:latin typeface="Calibri"/>
              </a:rPr>
              <a:t>tree_for per segment, the rate rolled up, every group counted.</a:t>
            </a:r>
          </a:p>
        </p:txBody>
      </p:sp>
      <p:sp>
        <p:nvSpPr>
          <p:cNvPr id="35" name="TextBox 34"/>
          <p:cNvSpPr txBox="1"/>
          <p:nvPr/>
        </p:nvSpPr>
        <p:spPr>
          <a:xfrm>
            <a:off x="9581448"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6" name="Oval 35"/>
          <p:cNvSpPr/>
          <p:nvPr/>
        </p:nvSpPr>
        <p:spPr>
          <a:xfrm>
            <a:off x="10520812" y="371856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581448" y="4130040"/>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746040" y="4276344"/>
            <a:ext cx="1750710" cy="465836"/>
          </a:xfrm>
          <a:prstGeom prst="rect">
            <a:avLst/>
          </a:prstGeom>
          <a:noFill/>
        </p:spPr>
        <p:txBody>
          <a:bodyPr wrap="square" anchor="t" lIns="0" rIns="0" tIns="0" bIns="0">
            <a:spAutoFit/>
          </a:bodyPr>
          <a:lstStyle/>
          <a:p>
            <a:pPr algn="l"/>
            <a:r>
              <a:rPr sz="1300" b="1" i="0">
                <a:solidFill>
                  <a:srgbClr val="FFFFFF"/>
                </a:solidFill>
                <a:latin typeface="Calibri"/>
              </a:rPr>
              <a:t>Mix or rate on delivered</a:t>
            </a:r>
          </a:p>
        </p:txBody>
      </p:sp>
      <p:sp>
        <p:nvSpPr>
          <p:cNvPr id="39" name="TextBox 38"/>
          <p:cNvSpPr txBox="1"/>
          <p:nvPr/>
        </p:nvSpPr>
        <p:spPr>
          <a:xfrm>
            <a:off x="9746040" y="4778756"/>
            <a:ext cx="1750710" cy="366776"/>
          </a:xfrm>
          <a:prstGeom prst="rect">
            <a:avLst/>
          </a:prstGeom>
          <a:noFill/>
        </p:spPr>
        <p:txBody>
          <a:bodyPr wrap="square" anchor="t" lIns="0" rIns="0" tIns="0" bIns="0">
            <a:spAutoFit/>
          </a:bodyPr>
          <a:lstStyle/>
          <a:p>
            <a:pPr algn="l"/>
            <a:r>
              <a:rPr sz="1000" b="0" i="0">
                <a:solidFill>
                  <a:srgbClr val="CFC9EE"/>
                </a:solidFill>
                <a:latin typeface="Calibri"/>
              </a:rPr>
              <a:t>The split, and the sentence to Meera.</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42" name="Oval 41"/>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The escalated case</a:t>
            </a:r>
          </a:p>
        </p:txBody>
      </p:sp>
      <p:sp>
        <p:nvSpPr>
          <p:cNvPr id="44" name="Oval 4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46" name="Oval 4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48" name="Oval 47"/>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50" name="Oval 49"/>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52" name="TextBox 5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goes in, and what comes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parts, seven lettered choices in the notebook, and one line of letters posted at the end.</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PARTS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one item each in the brief</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7</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LETTERED TODOS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each with a check that says if it holds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SENTENCE TO MEERA</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branch, segment, hypotheses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checks_bd88901d2a37.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Every number carries its definition: say "delivered" beside each one, and "booked" beside anything from this morning.</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28" name="Oval 27"/>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The escalated case</a:t>
            </a:r>
          </a:p>
        </p:txBody>
      </p:sp>
      <p:sp>
        <p:nvSpPr>
          <p:cNvPr id="30" name="Oval 2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32" name="Oval 3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34" name="Oval 33"/>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6" name="Oval 35"/>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debrief of wrong answers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four wrong answers the room is most likely to have reached, with their exact numbers.</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memo and its evidence</a:t>
            </a:r>
          </a:p>
        </p:txBody>
      </p:sp>
      <p:sp>
        <p:nvSpPr>
          <p:cNvPr id="11" name="Rounded Rectangle 10"/>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28782" y="5074920"/>
            <a:ext cx="202380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debrief of wrong answers</a:t>
            </a:r>
          </a:p>
        </p:txBody>
      </p:sp>
      <p:sp>
        <p:nvSpPr>
          <p:cNvPr id="13" name="Rounded Rectangle 12"/>
          <p:cNvSpPr/>
          <p:nvPr/>
        </p:nvSpPr>
        <p:spPr>
          <a:xfrm>
            <a:off x="6362318" y="5074920"/>
            <a:ext cx="125399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a:t>
            </a:r>
          </a:p>
        </p:txBody>
      </p:sp>
      <p:sp>
        <p:nvSpPr>
          <p:cNvPr id="14" name="Rounded Rectangle 13"/>
          <p:cNvSpPr/>
          <p:nvPr/>
        </p:nvSpPr>
        <p:spPr>
          <a:xfrm>
            <a:off x="7726045"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326637"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Wrong answer 1: customers fell, Marketing wins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 delivered orders customers fell from 54 to 50 and the bridge charges them Rs 10,74,442.</a:t>
            </a:r>
          </a:p>
        </p:txBody>
      </p:sp>
      <p:pic>
        <p:nvPicPr>
          <p:cNvPr id="9" name="mermaid diagram" descr="3fe3c6a4f48645f0.png"/>
          <p:cNvPicPr>
            <a:picLocks noChangeAspect="1"/>
          </p:cNvPicPr>
          <p:nvPr/>
        </p:nvPicPr>
        <p:blipFill>
          <a:blip r:embed="rId5"/>
          <a:stretch>
            <a:fillRect/>
          </a:stretch>
        </p:blipFill>
        <p:spPr>
          <a:xfrm>
            <a:off x="666597" y="1956816"/>
            <a:ext cx="10858500" cy="871537"/>
          </a:xfrm>
          <a:prstGeom prst="rect">
            <a:avLst/>
          </a:prstGeom>
        </p:spPr>
      </p:pic>
      <p:sp>
        <p:nvSpPr>
          <p:cNvPr id="10" name="Rounded Rectangle 9"/>
          <p:cNvSpPr/>
          <p:nvPr/>
        </p:nvSpPr>
        <p:spPr>
          <a:xfrm>
            <a:off x="530352" y="2974657"/>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booked overlap is 69, 0 and 0. The branch that moved is cancellations and returns, to be split by reason, and acquisition still has nothing to replace.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Wrong answer 2: delivered frequency fell 9.2%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average of four delivered segment rates says minus 9.2 percent; the weighted figure says minus 24.0.</a:t>
            </a:r>
          </a:p>
        </p:txBody>
      </p:sp>
      <p:pic>
        <p:nvPicPr>
          <p:cNvPr id="9" name="mermaid diagram" descr="2f6362d59040854e.png"/>
          <p:cNvPicPr>
            <a:picLocks noChangeAspect="1"/>
          </p:cNvPicPr>
          <p:nvPr/>
        </p:nvPicPr>
        <p:blipFill>
          <a:blip r:embed="rId5"/>
          <a:stretch>
            <a:fillRect/>
          </a:stretch>
        </p:blipFill>
        <p:spPr>
          <a:xfrm>
            <a:off x="2311755" y="1664208"/>
            <a:ext cx="7568184" cy="3784092"/>
          </a:xfrm>
          <a:prstGeom prst="rect">
            <a:avLst/>
          </a:prstGeom>
        </p:spPr>
      </p:pic>
      <p:sp>
        <p:nvSpPr>
          <p:cNvPr id="10" name="Rounded Rectangle 9"/>
          <p:cNvSpPr/>
          <p:nvPr/>
        </p:nvSpPr>
        <p:spPr>
          <a:xfrm>
            <a:off x="530352" y="549402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62203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612892"/>
            <a:ext cx="10564063" cy="3581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roll-up must reproduce 81 orders over 54 customers and 57 over 50: 1.50 and 1.14.</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Wrong answer 3: mix is 44%, so prices rose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 delivered orders the mix explains 44 percent of the rise, and some read the rest as a price rise.</a:t>
            </a:r>
          </a:p>
        </p:txBody>
      </p:sp>
      <p:graphicFrame>
        <p:nvGraphicFramePr>
          <p:cNvPr id="9" name="Table 8"/>
          <p:cNvGraphicFramePr>
            <a:graphicFrameLocks noGrp="1"/>
          </p:cNvGraphicFramePr>
          <p:nvPr/>
        </p:nvGraphicFramePr>
        <p:xfrm>
          <a:off x="530352" y="1956816"/>
          <a:ext cx="11130989" cy="1005840"/>
        </p:xfrm>
        <a:graphic>
          <a:graphicData uri="http://schemas.openxmlformats.org/drawingml/2006/table">
            <a:tbl>
              <a:tblPr firstRow="0" bandRow="0">
                <a:tableStyleId>{2D5ABB26-0587-4C30-8999-92F81FD0307C}</a:tableStyleId>
              </a:tblPr>
              <a:tblGrid>
                <a:gridCol w="1389019"/>
                <a:gridCol w="2724137"/>
                <a:gridCol w="1277760"/>
                <a:gridCol w="5740073"/>
              </a:tblGrid>
              <a:tr h="335280">
                <a:tc>
                  <a:txBody>
                    <a:bodyPr/>
                    <a:lstStyle/>
                    <a:p>
                      <a:r>
                        <a:rPr sz="1250" b="1" i="0">
                          <a:solidFill>
                            <a:srgbClr val="FFFFFF"/>
                          </a:solidFill>
                          <a:latin typeface="Calibri"/>
                        </a:rPr>
                        <a:t>Definition</a:t>
                      </a:r>
                    </a:p>
                  </a:txBody>
                  <a:tcPr marL="101600" marR="101600" marT="38100" marB="38100" anchor="ctr">
                    <a:solidFill>
                      <a:srgbClr val="1A0F5C"/>
                    </a:solidFill>
                  </a:tcPr>
                </a:tc>
                <a:tc>
                  <a:txBody>
                    <a:bodyPr/>
                    <a:lstStyle/>
                    <a:p>
                      <a:r>
                        <a:rPr sz="1250" b="1" i="0">
                          <a:solidFill>
                            <a:srgbClr val="FFFFFF"/>
                          </a:solidFill>
                          <a:latin typeface="Calibri"/>
                        </a:rPr>
                        <a:t>Revenue per order rise</a:t>
                      </a:r>
                    </a:p>
                  </a:txBody>
                  <a:tcPr marL="101600" marR="101600" marT="38100" marB="38100" anchor="ctr">
                    <a:solidFill>
                      <a:srgbClr val="1A0F5C"/>
                    </a:solidFill>
                  </a:tcPr>
                </a:tc>
                <a:tc>
                  <a:txBody>
                    <a:bodyPr/>
                    <a:lstStyle/>
                    <a:p>
                      <a:r>
                        <a:rPr sz="1250" b="1" i="0">
                          <a:solidFill>
                            <a:srgbClr val="FFFFFF"/>
                          </a:solidFill>
                          <a:latin typeface="Calibri"/>
                        </a:rPr>
                        <a:t>Mix share</a:t>
                      </a:r>
                    </a:p>
                  </a:txBody>
                  <a:tcPr marL="101600" marR="101600" marT="38100" marB="38100" anchor="ctr">
                    <a:solidFill>
                      <a:srgbClr val="1A0F5C"/>
                    </a:solidFill>
                  </a:tcPr>
                </a:tc>
                <a:tc>
                  <a:txBody>
                    <a:bodyPr/>
                    <a:lstStyle/>
                    <a:p>
                      <a:r>
                        <a:rPr sz="1250" b="1" i="0">
                          <a:solidFill>
                            <a:srgbClr val="FFFFFF"/>
                          </a:solidFill>
                          <a:latin typeface="Calibri"/>
                        </a:rPr>
                        <a:t>Rate carried by</a:t>
                      </a:r>
                    </a:p>
                  </a:txBody>
                  <a:tcPr marL="101600" marR="101600" marT="38100" marB="38100" anchor="ctr">
                    <a:solidFill>
                      <a:srgbClr val="1A0F5C"/>
                    </a:solidFill>
                  </a:tcPr>
                </a:tc>
              </a:tr>
              <a:tr h="335280">
                <a:tc>
                  <a:txBody>
                    <a:bodyPr/>
                    <a:lstStyle/>
                    <a:p>
                      <a:r>
                        <a:rPr sz="1200" b="0" i="0">
                          <a:solidFill>
                            <a:srgbClr val="1A1440"/>
                          </a:solidFill>
                          <a:latin typeface="Calibri"/>
                        </a:rPr>
                        <a:t>Booked</a:t>
                      </a:r>
                    </a:p>
                  </a:txBody>
                  <a:tcPr marL="101600" marR="101600" marT="38100" marB="38100" anchor="ctr">
                    <a:solidFill>
                      <a:srgbClr val="FFFFFF"/>
                    </a:solidFill>
                  </a:tcPr>
                </a:tc>
                <a:tc>
                  <a:txBody>
                    <a:bodyPr/>
                    <a:lstStyle/>
                    <a:p>
                      <a:r>
                        <a:rPr sz="1200" b="0" i="0">
                          <a:solidFill>
                            <a:srgbClr val="1A1440"/>
                          </a:solidFill>
                          <a:latin typeface="Calibri"/>
                        </a:rPr>
                        <a:t>+18.0%</a:t>
                      </a:r>
                    </a:p>
                  </a:txBody>
                  <a:tcPr marL="101600" marR="101600" marT="38100" marB="38100" anchor="ctr">
                    <a:solidFill>
                      <a:srgbClr val="FFFFFF"/>
                    </a:solidFill>
                  </a:tcPr>
                </a:tc>
                <a:tc>
                  <a:txBody>
                    <a:bodyPr/>
                    <a:lstStyle/>
                    <a:p>
                      <a:r>
                        <a:rPr sz="1200" b="0" i="0">
                          <a:solidFill>
                            <a:srgbClr val="1A1440"/>
                          </a:solidFill>
                          <a:latin typeface="Calibri"/>
                        </a:rPr>
                        <a:t>69%</a:t>
                      </a:r>
                    </a:p>
                  </a:txBody>
                  <a:tcPr marL="101600" marR="101600" marT="38100" marB="38100" anchor="ctr">
                    <a:solidFill>
                      <a:srgbClr val="FFFFFF"/>
                    </a:solidFill>
                  </a:tcPr>
                </a:tc>
                <a:tc>
                  <a:txBody>
                    <a:bodyPr/>
                    <a:lstStyle/>
                    <a:p>
                      <a:r>
                        <a:rPr sz="1200" b="0" i="0">
                          <a:solidFill>
                            <a:srgbClr val="1A1440"/>
                          </a:solidFill>
                          <a:latin typeface="Calibri"/>
                        </a:rPr>
                        <a:t>Business, one large order</a:t>
                      </a:r>
                    </a:p>
                  </a:txBody>
                  <a:tcPr marL="101600" marR="101600" marT="38100" marB="38100" anchor="ctr">
                    <a:solidFill>
                      <a:srgbClr val="FFFFFF"/>
                    </a:solidFill>
                  </a:tcPr>
                </a:tc>
              </a:tr>
              <a:tr h="335280">
                <a:tc>
                  <a:txBody>
                    <a:bodyPr/>
                    <a:lstStyle/>
                    <a:p>
                      <a:r>
                        <a:rPr sz="1200" b="0" i="0">
                          <a:solidFill>
                            <a:srgbClr val="1A1440"/>
                          </a:solidFill>
                          <a:latin typeface="Calibri"/>
                        </a:rPr>
                        <a:t>Delivered</a:t>
                      </a:r>
                    </a:p>
                  </a:txBody>
                  <a:tcPr marL="101600" marR="101600" marT="38100" marB="38100" anchor="ctr">
                    <a:solidFill>
                      <a:srgbClr val="F4F2FA"/>
                    </a:solidFill>
                  </a:tcPr>
                </a:tc>
                <a:tc>
                  <a:txBody>
                    <a:bodyPr/>
                    <a:lstStyle/>
                    <a:p>
                      <a:r>
                        <a:rPr sz="1200" b="0" i="0">
                          <a:solidFill>
                            <a:srgbClr val="1A1440"/>
                          </a:solidFill>
                          <a:latin typeface="Calibri"/>
                        </a:rPr>
                        <a:t>+26.0%</a:t>
                      </a:r>
                    </a:p>
                  </a:txBody>
                  <a:tcPr marL="101600" marR="101600" marT="38100" marB="38100" anchor="ctr">
                    <a:solidFill>
                      <a:srgbClr val="F4F2FA"/>
                    </a:solidFill>
                  </a:tcPr>
                </a:tc>
                <a:tc>
                  <a:txBody>
                    <a:bodyPr/>
                    <a:lstStyle/>
                    <a:p>
                      <a:r>
                        <a:rPr sz="1200" b="0" i="0">
                          <a:solidFill>
                            <a:srgbClr val="1A1440"/>
                          </a:solidFill>
                          <a:latin typeface="Calibri"/>
                        </a:rPr>
                        <a:t>44%</a:t>
                      </a:r>
                    </a:p>
                  </a:txBody>
                  <a:tcPr marL="101600" marR="101600" marT="38100" marB="38100" anchor="ctr">
                    <a:solidFill>
                      <a:srgbClr val="F4F2FA"/>
                    </a:solidFill>
                  </a:tcPr>
                </a:tc>
                <a:tc>
                  <a:txBody>
                    <a:bodyPr/>
                    <a:lstStyle/>
                    <a:p>
                      <a:r>
                        <a:rPr sz="1200" b="0" i="0">
                          <a:solidFill>
                            <a:srgbClr val="1A1440"/>
                          </a:solidFill>
                          <a:latin typeface="Calibri"/>
                        </a:rPr>
                        <a:t>Business, delivered orders Rs 10,24,651 to Rs 11,60,405</a:t>
                      </a:r>
                    </a:p>
                  </a:txBody>
                  <a:tcPr marL="101600" marR="101600" marT="38100" marB="38100" anchor="ctr">
                    <a:solidFill>
                      <a:srgbClr val="F4F2FA"/>
                    </a:solidFill>
                  </a:tcPr>
                </a:tc>
              </a:tr>
            </a:tbl>
          </a:graphicData>
        </a:graphic>
      </p:graphicFrame>
      <p:sp>
        <p:nvSpPr>
          <p:cNvPr id="10" name="Rounded Rectangle 9"/>
          <p:cNvSpPr/>
          <p:nvPr/>
        </p:nvSpPr>
        <p:spPr>
          <a:xfrm>
            <a:off x="530352" y="321868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4670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37560"/>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rate part is Business's lakh-sized orders; the consumer segments' own delivered order values moved by about a hundred rupees at most, so there is still no consumer price signal.</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The debrief of wrong answers</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Wrong answer 4: a sentence with no definition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"Revenue fell 11 percent" is true on both definitions, at 11.0 and 11.3, and says neither.</a:t>
            </a:r>
          </a:p>
        </p:txBody>
      </p:sp>
      <p:pic>
        <p:nvPicPr>
          <p:cNvPr id="9" name="mermaid diagram" descr="19cba92fe2b2741c.png"/>
          <p:cNvPicPr>
            <a:picLocks noChangeAspect="1"/>
          </p:cNvPicPr>
          <p:nvPr/>
        </p:nvPicPr>
        <p:blipFill>
          <a:blip r:embed="rId6"/>
          <a:stretch>
            <a:fillRect/>
          </a:stretch>
        </p:blipFill>
        <p:spPr>
          <a:xfrm>
            <a:off x="3731266" y="1956816"/>
            <a:ext cx="4729162" cy="2300287"/>
          </a:xfrm>
          <a:prstGeom prst="rect">
            <a:avLst/>
          </a:prstGeom>
        </p:spPr>
      </p:pic>
      <p:sp>
        <p:nvSpPr>
          <p:cNvPr id="10" name="Rounded Rectangle 9"/>
          <p:cNvSpPr/>
          <p:nvPr/>
        </p:nvSpPr>
        <p:spPr>
          <a:xfrm>
            <a:off x="530352" y="4403407"/>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86517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4974907"/>
            <a:ext cx="237744" cy="237744"/>
          </a:xfrm>
          <a:prstGeom prst="rect">
            <a:avLst/>
          </a:prstGeom>
        </p:spPr>
      </p:pic>
      <p:sp>
        <p:nvSpPr>
          <p:cNvPr id="13" name="TextBox 12"/>
          <p:cNvSpPr txBox="1"/>
          <p:nvPr/>
        </p:nvSpPr>
        <p:spPr>
          <a:xfrm>
            <a:off x="1399031" y="454971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769167"/>
            <a:ext cx="9987991" cy="941832"/>
          </a:xfrm>
          <a:prstGeom prst="rect">
            <a:avLst/>
          </a:prstGeom>
          <a:noFill/>
        </p:spPr>
        <p:txBody>
          <a:bodyPr wrap="square" anchor="t" lIns="0" rIns="0" tIns="0" bIns="0">
            <a:spAutoFit/>
          </a:bodyPr>
          <a:lstStyle/>
          <a:p>
            <a:r>
              <a:rPr sz="1500" b="0" i="0">
                <a:solidFill>
                  <a:srgbClr val="1A1440"/>
                </a:solidFill>
                <a:latin typeface="Calibri"/>
              </a:rPr>
              <a:t>"On delivered orders the story held: frequency, Retail-Plus at minus 42.6 percent per member, and the same two hypotheses. The branch that moved was fulfilment, getting orders to customers intact. Put the definition beside every number, and the solution is open now."</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9" name="Oval 18"/>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The debrief of wrong answers</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3" name="Oval 22"/>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5" name="Oval 24"/>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second case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In pairs: Marketing's new deck, and the tier asks who to call first.</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memo and its evidence</a:t>
            </a:r>
          </a:p>
        </p:txBody>
      </p:sp>
      <p:sp>
        <p:nvSpPr>
          <p:cNvPr id="11" name="Rounded Rectangle 10"/>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28782"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debrief of wrong answers</a:t>
            </a:r>
          </a:p>
        </p:txBody>
      </p:sp>
      <p:sp>
        <p:nvSpPr>
          <p:cNvPr id="13" name="Rounded Rectangle 12"/>
          <p:cNvSpPr/>
          <p:nvPr/>
        </p:nvSpPr>
        <p:spPr>
          <a:xfrm>
            <a:off x="6362318" y="5074920"/>
            <a:ext cx="125399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second case</a:t>
            </a:r>
          </a:p>
        </p:txBody>
      </p:sp>
      <p:sp>
        <p:nvSpPr>
          <p:cNvPr id="14" name="Rounded Rectangle 13"/>
          <p:cNvSpPr/>
          <p:nvPr/>
        </p:nvSpPr>
        <p:spPr>
          <a:xfrm>
            <a:off x="7726045"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326637"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Marketing's new deck, and the tier's call list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One of each pair answers Marketing, the other the head of Retail-Plus, from the same file.</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gaphone_df6318bcf2f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CLAIM 1</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7 percent more per order</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"Members spend more each time, so the tier is healthy."</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globe_fca372603d1d.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CLAIM 2</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Web fell hardest</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"Retail-Plus web orders fell 24 to 9, so it is the website team's problem."</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phone_74e7f1db6e6c.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TIER</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Who do I call first?</a:t>
            </a:r>
          </a:p>
        </p:txBody>
      </p:sp>
      <p:sp>
        <p:nvSpPr>
          <p:cNvPr id="26" name="TextBox 25"/>
          <p:cNvSpPr txBox="1"/>
          <p:nvPr/>
        </p:nvSpPr>
        <p:spPr>
          <a:xfrm>
            <a:off x="8274100" y="3303524"/>
            <a:ext cx="3186074" cy="218186"/>
          </a:xfrm>
          <a:prstGeom prst="rect">
            <a:avLst/>
          </a:prstGeom>
          <a:noFill/>
        </p:spPr>
        <p:txBody>
          <a:bodyPr wrap="square" anchor="t" lIns="0" rIns="0" tIns="0" bIns="0">
            <a:spAutoFit/>
          </a:bodyPr>
          <a:lstStyle/>
          <a:p>
            <a:pPr algn="l"/>
            <a:r>
              <a:rPr sz="1100" b="0" i="0">
                <a:solidFill>
                  <a:srgbClr val="CFC9EE"/>
                </a:solidFill>
                <a:latin typeface="Calibri"/>
              </a:rPr>
              <a:t>"Which of my members do I call first?"</a:t>
            </a:r>
          </a:p>
        </p:txBody>
      </p:sp>
      <p:sp>
        <p:nvSpPr>
          <p:cNvPr id="27" name="Rounded Rectangle 26"/>
          <p:cNvSpPr/>
          <p:nvPr/>
        </p:nvSpPr>
        <p:spPr>
          <a:xfrm>
            <a:off x="530352" y="4104132"/>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30682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checks_bd88901d2a37.png"/>
          <p:cNvPicPr>
            <a:picLocks noChangeAspect="1"/>
          </p:cNvPicPr>
          <p:nvPr/>
        </p:nvPicPr>
        <p:blipFill>
          <a:blip r:embed="rId7"/>
          <a:stretch>
            <a:fillRect/>
          </a:stretch>
        </p:blipFill>
        <p:spPr>
          <a:xfrm>
            <a:off x="868680" y="4416552"/>
            <a:ext cx="237744" cy="237744"/>
          </a:xfrm>
          <a:prstGeom prst="rect">
            <a:avLst/>
          </a:prstGeom>
        </p:spPr>
      </p:pic>
      <p:sp>
        <p:nvSpPr>
          <p:cNvPr id="30" name="TextBox 29"/>
          <p:cNvSpPr txBox="1"/>
          <p:nvPr/>
        </p:nvSpPr>
        <p:spPr>
          <a:xfrm>
            <a:off x="1399031" y="42504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31" name="TextBox 30"/>
          <p:cNvSpPr txBox="1"/>
          <p:nvPr/>
        </p:nvSpPr>
        <p:spPr>
          <a:xfrm>
            <a:off x="1399031" y="4469892"/>
            <a:ext cx="9987991" cy="423672"/>
          </a:xfrm>
          <a:prstGeom prst="rect">
            <a:avLst/>
          </a:prstGeom>
          <a:noFill/>
        </p:spPr>
        <p:txBody>
          <a:bodyPr wrap="square" anchor="t" lIns="0" rIns="0" tIns="0" bIns="0">
            <a:spAutoFit/>
          </a:bodyPr>
          <a:lstStyle/>
          <a:p>
            <a:r>
              <a:rPr sz="1500" b="0" i="0">
                <a:solidFill>
                  <a:srgbClr val="1A1440"/>
                </a:solidFill>
                <a:latin typeface="Calibri"/>
              </a:rPr>
              <a:t>Find what each number is made of before you agree or disagree.</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34" name="Oval 3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6" name="Oval 3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38" name="Oval 37"/>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332952"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The second case</a:t>
            </a:r>
          </a:p>
        </p:txBody>
      </p:sp>
      <p:sp>
        <p:nvSpPr>
          <p:cNvPr id="40" name="Oval 39"/>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42" name="Oval 41"/>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the pairs should reach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claim, taken apart, and the call list with its size.</a:t>
            </a:r>
          </a:p>
        </p:txBody>
      </p:sp>
      <p:graphicFrame>
        <p:nvGraphicFramePr>
          <p:cNvPr id="9" name="Table 8"/>
          <p:cNvGraphicFramePr>
            <a:graphicFrameLocks noGrp="1"/>
          </p:cNvGraphicFramePr>
          <p:nvPr/>
        </p:nvGraphicFramePr>
        <p:xfrm>
          <a:off x="530352" y="1956816"/>
          <a:ext cx="11130990" cy="1962912"/>
        </p:xfrm>
        <a:graphic>
          <a:graphicData uri="http://schemas.openxmlformats.org/drawingml/2006/table">
            <a:tbl>
              <a:tblPr firstRow="0" bandRow="0">
                <a:tableStyleId>{2D5ABB26-0587-4C30-8999-92F81FD0307C}</a:tableStyleId>
              </a:tblPr>
              <a:tblGrid>
                <a:gridCol w="1993038"/>
                <a:gridCol w="4568976"/>
                <a:gridCol w="4568976"/>
              </a:tblGrid>
              <a:tr h="369824">
                <a:tc>
                  <a:txBody>
                    <a:bodyPr/>
                    <a:lstStyle/>
                    <a:p>
                      <a:r>
                        <a:rPr sz="1450" b="1" i="0">
                          <a:solidFill>
                            <a:srgbClr val="FFFFFF"/>
                          </a:solidFill>
                          <a:latin typeface="Calibri"/>
                        </a:rPr>
                        <a:t>Claim</a:t>
                      </a:r>
                    </a:p>
                  </a:txBody>
                  <a:tcPr marL="101600" marR="101600" marT="38100" marB="38100" anchor="ctr">
                    <a:solidFill>
                      <a:srgbClr val="1A0F5C"/>
                    </a:solidFill>
                  </a:tcPr>
                </a:tc>
                <a:tc>
                  <a:txBody>
                    <a:bodyPr/>
                    <a:lstStyle/>
                    <a:p>
                      <a:r>
                        <a:rPr sz="1450" b="1" i="0">
                          <a:solidFill>
                            <a:srgbClr val="FFFFFF"/>
                          </a:solidFill>
                          <a:latin typeface="Calibri"/>
                        </a:rPr>
                        <a:t>What it is made of</a:t>
                      </a:r>
                    </a:p>
                  </a:txBody>
                  <a:tcPr marL="101600" marR="101600" marT="38100" marB="38100" anchor="ctr">
                    <a:solidFill>
                      <a:srgbClr val="1A0F5C"/>
                    </a:solidFill>
                  </a:tcPr>
                </a:tc>
                <a:tc>
                  <a:txBody>
                    <a:bodyPr/>
                    <a:lstStyle/>
                    <a:p>
                      <a:r>
                        <a:rPr sz="1450" b="1" i="0">
                          <a:solidFill>
                            <a:srgbClr val="FFFFFF"/>
                          </a:solidFill>
                          <a:latin typeface="Calibri"/>
                        </a:rPr>
                        <a:t>The reply</a:t>
                      </a:r>
                    </a:p>
                  </a:txBody>
                  <a:tcPr marL="101600" marR="101600" marT="38100" marB="38100" anchor="ctr">
                    <a:solidFill>
                      <a:srgbClr val="1A0F5C"/>
                    </a:solidFill>
                  </a:tcPr>
                </a:tc>
              </a:tr>
              <a:tr h="611632">
                <a:tc>
                  <a:txBody>
                    <a:bodyPr/>
                    <a:lstStyle/>
                    <a:p>
                      <a:r>
                        <a:rPr sz="1400" b="0" i="0">
                          <a:solidFill>
                            <a:srgbClr val="1A1440"/>
                          </a:solidFill>
                          <a:latin typeface="Calibri"/>
                        </a:rPr>
                        <a:t>7 percent more per order</a:t>
                      </a:r>
                    </a:p>
                  </a:txBody>
                  <a:tcPr marL="101600" marR="101600" marT="38100" marB="38100" anchor="ctr">
                    <a:solidFill>
                      <a:srgbClr val="FFFFFF"/>
                    </a:solidFill>
                  </a:tcPr>
                </a:tc>
                <a:tc>
                  <a:txBody>
                    <a:bodyPr/>
                    <a:lstStyle/>
                    <a:p>
                      <a:r>
                        <a:rPr sz="1400" b="0" i="0">
                          <a:solidFill>
                            <a:srgbClr val="1A1440"/>
                          </a:solidFill>
                          <a:latin typeface="Calibri"/>
                        </a:rPr>
                        <a:t>The same 22 members at about half the orders: 1.000 x 0.510 x 1.070, about 0.55</a:t>
                      </a:r>
                    </a:p>
                  </a:txBody>
                  <a:tcPr marL="101600" marR="101600" marT="38100" marB="38100" anchor="ctr">
                    <a:solidFill>
                      <a:srgbClr val="FFFFFF"/>
                    </a:solidFill>
                  </a:tcPr>
                </a:tc>
                <a:tc>
                  <a:txBody>
                    <a:bodyPr/>
                    <a:lstStyle/>
                    <a:p>
                      <a:r>
                        <a:rPr sz="1400" b="0" i="0">
                          <a:solidFill>
                            <a:srgbClr val="1A1440"/>
                          </a:solidFill>
                          <a:latin typeface="Calibri"/>
                        </a:rPr>
                        <a:t>Tier revenue fell about 45 percent; one leaf that rose is not the tier</a:t>
                      </a:r>
                    </a:p>
                  </a:txBody>
                  <a:tcPr marL="101600" marR="101600" marT="38100" marB="38100" anchor="ctr">
                    <a:solidFill>
                      <a:srgbClr val="FFFFFF"/>
                    </a:solidFill>
                  </a:tcPr>
                </a:tc>
              </a:tr>
              <a:tr h="611632">
                <a:tc>
                  <a:txBody>
                    <a:bodyPr/>
                    <a:lstStyle/>
                    <a:p>
                      <a:r>
                        <a:rPr sz="1400" b="0" i="0">
                          <a:solidFill>
                            <a:srgbClr val="1A1440"/>
                          </a:solidFill>
                          <a:latin typeface="Calibri"/>
                        </a:rPr>
                        <a:t>Web fell hardest</a:t>
                      </a:r>
                    </a:p>
                  </a:txBody>
                  <a:tcPr marL="101600" marR="101600" marT="38100" marB="38100" anchor="ctr">
                    <a:solidFill>
                      <a:srgbClr val="F4F2FA"/>
                    </a:solidFill>
                  </a:tcPr>
                </a:tc>
                <a:tc>
                  <a:txBody>
                    <a:bodyPr/>
                    <a:lstStyle/>
                    <a:p>
                      <a:r>
                        <a:rPr sz="1400" b="0" i="0">
                          <a:solidFill>
                            <a:srgbClr val="1A1440"/>
                          </a:solidFill>
                          <a:latin typeface="Calibri"/>
                        </a:rPr>
                        <a:t>Retail-Core web held, 13 to 12, same website</a:t>
                      </a:r>
                    </a:p>
                  </a:txBody>
                  <a:tcPr marL="101600" marR="101600" marT="38100" marB="38100" anchor="ctr">
                    <a:solidFill>
                      <a:srgbClr val="F4F2FA"/>
                    </a:solidFill>
                  </a:tcPr>
                </a:tc>
                <a:tc>
                  <a:txBody>
                    <a:bodyPr/>
                    <a:lstStyle/>
                    <a:p>
                      <a:r>
                        <a:rPr sz="1400" b="0" i="0">
                          <a:solidFill>
                            <a:srgbClr val="1A1440"/>
                          </a:solidFill>
                          <a:latin typeface="Calibri"/>
                        </a:rPr>
                        <a:t>A site-wide fault does not fit; members fell on every channel</a:t>
                      </a:r>
                    </a:p>
                  </a:txBody>
                  <a:tcPr marL="101600" marR="101600" marT="38100" marB="38100" anchor="ctr">
                    <a:solidFill>
                      <a:srgbClr val="F4F2FA"/>
                    </a:solidFill>
                  </a:tcPr>
                </a:tc>
              </a:tr>
              <a:tr h="369824">
                <a:tc>
                  <a:txBody>
                    <a:bodyPr/>
                    <a:lstStyle/>
                    <a:p>
                      <a:r>
                        <a:rPr sz="1400" b="0" i="0">
                          <a:solidFill>
                            <a:srgbClr val="1A1440"/>
                          </a:solidFill>
                          <a:latin typeface="Calibri"/>
                        </a:rPr>
                        <a:t>Who to call first</a:t>
                      </a:r>
                    </a:p>
                  </a:txBody>
                  <a:tcPr marL="101600" marR="101600" marT="38100" marB="38100" anchor="ctr">
                    <a:solidFill>
                      <a:srgbClr val="FFFFFF"/>
                    </a:solidFill>
                  </a:tcPr>
                </a:tc>
                <a:tc>
                  <a:txBody>
                    <a:bodyPr/>
                    <a:lstStyle/>
                    <a:p>
                      <a:r>
                        <a:rPr sz="1400" b="0" i="0">
                          <a:solidFill>
                            <a:srgbClr val="1A1440"/>
                          </a:solidFill>
                          <a:latin typeface="Calibri"/>
                        </a:rPr>
                        <a:t>7 members went from 3 orders to 1</a:t>
                      </a:r>
                    </a:p>
                  </a:txBody>
                  <a:tcPr marL="101600" marR="101600" marT="38100" marB="38100" anchor="ctr">
                    <a:solidFill>
                      <a:srgbClr val="FFFFFF"/>
                    </a:solidFill>
                  </a:tcPr>
                </a:tc>
                <a:tc>
                  <a:txBody>
                    <a:bodyPr/>
                    <a:lstStyle/>
                    <a:p>
                      <a:r>
                        <a:rPr sz="1400" b="0" i="0">
                          <a:solidFill>
                            <a:srgbClr val="1A1440"/>
                          </a:solidFill>
                          <a:latin typeface="Calibri"/>
                        </a:rPr>
                        <a:t>Call the 7, then the 11 who fell by one</a:t>
                      </a:r>
                    </a:p>
                  </a:txBody>
                  <a:tcPr marL="101600" marR="101600" marT="38100" marB="38100" anchor="ctr">
                    <a:solidFill>
                      <a:srgbClr val="FFFFFF"/>
                    </a:solidFill>
                  </a:tcPr>
                </a:tc>
              </a:tr>
            </a:tbl>
          </a:graphicData>
        </a:graphic>
      </p:graphicFrame>
      <p:sp>
        <p:nvSpPr>
          <p:cNvPr id="10" name="Rounded Rectangle 9"/>
          <p:cNvSpPr/>
          <p:nvPr/>
        </p:nvSpPr>
        <p:spPr>
          <a:xfrm>
            <a:off x="530352" y="417576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03775"/>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294632"/>
            <a:ext cx="10564063" cy="624840"/>
          </a:xfrm>
          <a:prstGeom prst="rect">
            <a:avLst/>
          </a:prstGeom>
          <a:noFill/>
        </p:spPr>
        <p:txBody>
          <a:bodyPr wrap="square" anchor="ctr" lIns="0" rIns="0" tIns="0" bIns="0">
            <a:spAutoFit/>
          </a:bodyPr>
          <a:lstStyle/>
          <a:p>
            <a:r>
              <a:rPr sz="1500" b="1">
                <a:solidFill>
                  <a:srgbClr val="5B3FD6"/>
                </a:solidFill>
                <a:latin typeface="Calibri"/>
              </a:rPr>
              <a:t>The one request. </a:t>
            </a:r>
            <a:r>
              <a:rPr sz="1500" b="0" i="0">
                <a:solidFill>
                  <a:srgbClr val="1A1440"/>
                </a:solidFill>
                <a:latin typeface="Calibri"/>
              </a:rPr>
              <a:t>The tier's July change log, renewals and support tickets, since the fall began in July; the reorder logs second.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9" name="Oval 1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964406" cy="152146"/>
          </a:xfrm>
          <a:prstGeom prst="rect">
            <a:avLst/>
          </a:prstGeom>
          <a:noFill/>
        </p:spPr>
        <p:txBody>
          <a:bodyPr wrap="square" anchor="t" lIns="0" rIns="0" tIns="0" bIns="0">
            <a:spAutoFit/>
          </a:bodyPr>
          <a:lstStyle/>
          <a:p>
            <a:pPr algn="l"/>
            <a:r>
              <a:rPr sz="700" b="1" i="0">
                <a:solidFill>
                  <a:srgbClr val="5B3FD6"/>
                </a:solidFill>
                <a:latin typeface="Calibri"/>
              </a:rPr>
              <a:t>The second case</a:t>
            </a:r>
          </a:p>
        </p:txBody>
      </p:sp>
      <p:sp>
        <p:nvSpPr>
          <p:cNvPr id="21" name="Oval 20"/>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interview drill</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Twelve questions asked aloud, one breath each, the design question among them.</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memo and its evidence</a:t>
            </a:r>
          </a:p>
        </p:txBody>
      </p:sp>
      <p:sp>
        <p:nvSpPr>
          <p:cNvPr id="11" name="Rounded Rectangle 10"/>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28782"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debrief of wrong answers</a:t>
            </a:r>
          </a:p>
        </p:txBody>
      </p:sp>
      <p:sp>
        <p:nvSpPr>
          <p:cNvPr id="13" name="Rounded Rectangle 12"/>
          <p:cNvSpPr/>
          <p:nvPr/>
        </p:nvSpPr>
        <p:spPr>
          <a:xfrm>
            <a:off x="6362318" y="5074920"/>
            <a:ext cx="125399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a:t>
            </a:r>
          </a:p>
        </p:txBody>
      </p:sp>
      <p:sp>
        <p:nvSpPr>
          <p:cNvPr id="14" name="Rounded Rectangle 13"/>
          <p:cNvSpPr/>
          <p:nvPr/>
        </p:nvSpPr>
        <p:spPr>
          <a:xfrm>
            <a:off x="7726045" y="5074920"/>
            <a:ext cx="149086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interview drill</a:t>
            </a:r>
          </a:p>
        </p:txBody>
      </p:sp>
      <p:sp>
        <p:nvSpPr>
          <p:cNvPr id="15" name="Rounded Rectangle 14"/>
          <p:cNvSpPr/>
          <p:nvPr/>
        </p:nvSpPr>
        <p:spPr>
          <a:xfrm>
            <a:off x="9326637"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Questions 1 to 6: the ladder and the tree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row's anchors and the decomposition questions, where a plausible number is waiting.</a:t>
            </a:r>
          </a:p>
        </p:txBody>
      </p:sp>
      <p:graphicFrame>
        <p:nvGraphicFramePr>
          <p:cNvPr id="9" name="Table 8"/>
          <p:cNvGraphicFramePr>
            <a:graphicFrameLocks noGrp="1"/>
          </p:cNvGraphicFramePr>
          <p:nvPr/>
        </p:nvGraphicFramePr>
        <p:xfrm>
          <a:off x="530352" y="1956816"/>
          <a:ext cx="11130991" cy="2830576"/>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1. Sales dropped 15 percent last month; how would you investigate?</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2. Why is a rate without a denominator meaningless?</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3. Why does a function that prints instead of returning break a pipeline?</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4. What has to match before a quarter-on-quarter comparison is fair?</a:t>
                      </a:r>
                    </a:p>
                  </a:txBody>
                  <a:tcPr marL="101600" marR="101600" marT="38100" marB="38100" anchor="ctr">
                    <a:solidFill>
                      <a:srgbClr val="F4F2FA"/>
                    </a:solidFill>
                  </a:tcPr>
                </a:tc>
              </a:tr>
              <a:tr h="611632">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5. Marketing insists the answer is acquisition and your data says frequency; how do you make the case in the room?</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6. Revenue fell 11 percent; how do you split the change between customers, frequency and order value?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2" name="Oval 1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18" name="Oval 17"/>
          <p:cNvSpPr/>
          <p:nvPr/>
        </p:nvSpPr>
        <p:spPr>
          <a:xfrm>
            <a:off x="63887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8526"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The interview drill</a:t>
            </a:r>
          </a:p>
        </p:txBody>
      </p:sp>
      <p:sp>
        <p:nvSpPr>
          <p:cNvPr id="20" name="Oval 19"/>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Questions 7 to 12: weights, churn and design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case-style follow-ups and the design questions that separate candidates.</a:t>
            </a:r>
          </a:p>
        </p:txBody>
      </p:sp>
      <p:graphicFrame>
        <p:nvGraphicFramePr>
          <p:cNvPr id="9" name="Table 8"/>
          <p:cNvGraphicFramePr>
            <a:graphicFrameLocks noGrp="1"/>
          </p:cNvGraphicFramePr>
          <p:nvPr/>
        </p:nvGraphicFramePr>
        <p:xfrm>
          <a:off x="530352" y="1956816"/>
          <a:ext cx="11130991" cy="2588768"/>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7. Revenue per order rose 18 percent while revenue fell; did prices go up?</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8. A field is missing on some records; do you fill it with zero?</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9. You have orders per customer for four segments; why can't you average them?</a:t>
                      </a:r>
                    </a:p>
                  </a:txBody>
                  <a:tcPr marL="101600" marR="101600" marT="38100" marB="38100" anchor="ctr">
                    <a:solidFill>
                      <a:srgbClr val="FFFFFF"/>
                    </a:solidFill>
                  </a:tcPr>
                </a:tc>
              </a:tr>
              <a:tr h="369824">
                <a:tc>
                  <a:txBody>
                    <a:bodyPr/>
                    <a:lstStyle/>
                    <a:p>
                      <a:r>
                        <a:rPr sz="1400" b="0" i="0">
                          <a:solidFill>
                            <a:srgbClr val="1A1440"/>
                          </a:solidFill>
                          <a:latin typeface="Calibri"/>
                        </a:rPr>
                        <a:t>[SV]</a:t>
                      </a:r>
                    </a:p>
                  </a:txBody>
                  <a:tcPr marL="101600" marR="101600" marT="38100" marB="38100" anchor="ctr">
                    <a:solidFill>
                      <a:srgbClr val="F4F2FA"/>
                    </a:solidFill>
                  </a:tcPr>
                </a:tc>
                <a:tc>
                  <a:txBody>
                    <a:bodyPr/>
                    <a:lstStyle/>
                    <a:p>
                      <a:r>
                        <a:rPr sz="1400" b="0" i="0">
                          <a:solidFill>
                            <a:srgbClr val="1A1440"/>
                          </a:solidFill>
                          <a:latin typeface="Calibri"/>
                        </a:rPr>
                        <a:t>10. The customer count is flat; does that prove no customers were lost?</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11. The same metrics are needed for every segment and quarter: copy, function or group by key?</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12. A stakeholder hands you a cause; how do you test it and name the data you need?</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2" name="Oval 1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18" name="Oval 17"/>
          <p:cNvSpPr/>
          <p:nvPr/>
        </p:nvSpPr>
        <p:spPr>
          <a:xfrm>
            <a:off x="63887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8526"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The interview drill</a:t>
            </a:r>
          </a:p>
        </p:txBody>
      </p:sp>
      <p:sp>
        <p:nvSpPr>
          <p:cNvPr id="20" name="Oval 19"/>
          <p:cNvSpPr/>
          <p:nvPr/>
        </p:nvSpPr>
        <p:spPr>
          <a:xfrm>
            <a:off x="77383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4812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close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Kahoot, the sentence to Meera, the eight lines to keep, and tomorrow's question.</a:t>
            </a:r>
          </a:p>
        </p:txBody>
      </p:sp>
      <p:sp>
        <p:nvSpPr>
          <p:cNvPr id="10" name="Rounded Rectangle 9"/>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memo and its evidence</a:t>
            </a:r>
          </a:p>
        </p:txBody>
      </p:sp>
      <p:sp>
        <p:nvSpPr>
          <p:cNvPr id="11" name="Rounded Rectangle 10"/>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28782"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debrief of wrong answers</a:t>
            </a:r>
          </a:p>
        </p:txBody>
      </p:sp>
      <p:sp>
        <p:nvSpPr>
          <p:cNvPr id="13" name="Rounded Rectangle 12"/>
          <p:cNvSpPr/>
          <p:nvPr/>
        </p:nvSpPr>
        <p:spPr>
          <a:xfrm>
            <a:off x="6362318" y="5074920"/>
            <a:ext cx="125399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a:t>
            </a:r>
          </a:p>
        </p:txBody>
      </p:sp>
      <p:sp>
        <p:nvSpPr>
          <p:cNvPr id="14" name="Rounded Rectangle 13"/>
          <p:cNvSpPr/>
          <p:nvPr/>
        </p:nvSpPr>
        <p:spPr>
          <a:xfrm>
            <a:off x="7726045"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326637" y="5074920"/>
            <a:ext cx="89870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2. The cause on trial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sentence that goes to Meera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claim, its evidence, its caveat and the next step, in the order she needs them.</a:t>
            </a:r>
          </a:p>
        </p:txBody>
      </p:sp>
      <p:sp>
        <p:nvSpPr>
          <p:cNvPr id="9" name="Rounded Rectangle 8"/>
          <p:cNvSpPr/>
          <p:nvPr/>
        </p:nvSpPr>
        <p:spPr>
          <a:xfrm>
            <a:off x="530352" y="1956816"/>
            <a:ext cx="45720" cy="273303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2733039"/>
          </a:xfrm>
          <a:prstGeom prst="rect">
            <a:avLst/>
          </a:prstGeom>
          <a:noFill/>
        </p:spPr>
        <p:txBody>
          <a:bodyPr wrap="square" anchor="t" lIns="0" rIns="0" tIns="0" bIns="0">
            <a:spAutoFit/>
          </a:bodyPr>
          <a:lstStyle/>
          <a:p>
            <a:r>
              <a:rPr sz="1600" b="0" i="1">
                <a:solidFill>
                  <a:srgbClr val="1A0F5C"/>
                </a:solidFill>
                <a:latin typeface="Georgia"/>
              </a:rPr>
              <a:t>"Revenue fell 11.0 percent between two closed quarters, Rs 2.10 crore to Rs 1.87 crore on the export as it stands. Customers held at 69, every one of them buying in both quarters, so acquisition is not the branch that moved; orders per customer fell from 1.65 to 1.25. In behaviour the fall sits in Retail-Plus, where the same 22 members placed 26 orders against 51, and revenue per order rose mainly because those small orders disappeared. In rupees most of it is three fewer Business orders, each worth lakhs, so one account's timing moves it by lakhs. The fall began in July, before the reorder button broke, so the button explains at most about 4 orders; we are asking for the tier's July change log and the app's reorder logs."</a:t>
            </a:r>
          </a:p>
          <a:p>
            <a:pPr>
              <a:spcBef>
                <a:spcPts val="400"/>
              </a:spcBef>
            </a:pPr>
            <a:r>
              <a:rPr sz="1000" b="0" i="0">
                <a:solidFill>
                  <a:srgbClr val="6B6690"/>
                </a:solidFill>
                <a:latin typeface="Calibri"/>
              </a:rPr>
              <a:t>The data and AI team, to Meera Raghavan</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19" name="Oval 18"/>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1" name="Oval 20"/>
          <p:cNvSpPr/>
          <p:nvPr/>
        </p:nvSpPr>
        <p:spPr>
          <a:xfrm>
            <a:off x="77383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84812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Eight lines to keep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day's rules, word for word as the cheat sheet prints them.</a:t>
            </a:r>
          </a:p>
        </p:txBody>
      </p:sp>
      <p:sp>
        <p:nvSpPr>
          <p:cNvPr id="9" name="TextBox 8"/>
          <p:cNvSpPr txBox="1"/>
          <p:nvPr/>
        </p:nvSpPr>
        <p:spPr>
          <a:xfrm>
            <a:off x="530352" y="164592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682496"/>
            <a:ext cx="10564063" cy="368808"/>
          </a:xfrm>
          <a:prstGeom prst="rect">
            <a:avLst/>
          </a:prstGeom>
          <a:noFill/>
        </p:spPr>
        <p:txBody>
          <a:bodyPr wrap="square" anchor="t" lIns="0" rIns="0" tIns="0" bIns="0">
            <a:spAutoFit/>
          </a:bodyPr>
          <a:lstStyle/>
          <a:p>
            <a:r>
              <a:rPr sz="1500" b="0" i="0">
                <a:solidFill>
                  <a:srgbClr val="1A1440"/>
                </a:solidFill>
                <a:latin typeface="Calibri"/>
              </a:rPr>
              <a:t>Confirm the drop on matched windows before you explain it.</a:t>
            </a:r>
          </a:p>
        </p:txBody>
      </p:sp>
      <p:sp>
        <p:nvSpPr>
          <p:cNvPr id="11" name="TextBox 10"/>
          <p:cNvSpPr txBox="1"/>
          <p:nvPr/>
        </p:nvSpPr>
        <p:spPr>
          <a:xfrm>
            <a:off x="530352" y="208788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124456"/>
            <a:ext cx="10564063" cy="368808"/>
          </a:xfrm>
          <a:prstGeom prst="rect">
            <a:avLst/>
          </a:prstGeom>
          <a:noFill/>
        </p:spPr>
        <p:txBody>
          <a:bodyPr wrap="square" anchor="t" lIns="0" rIns="0" tIns="0" bIns="0">
            <a:spAutoFit/>
          </a:bodyPr>
          <a:lstStyle/>
          <a:p>
            <a:r>
              <a:rPr sz="1500" b="0" i="0">
                <a:solidFill>
                  <a:srgbClr val="1A1440"/>
                </a:solidFill>
                <a:latin typeface="Calibri"/>
              </a:rPr>
              <a:t>A rate without its denominator is a rumour.</a:t>
            </a:r>
          </a:p>
        </p:txBody>
      </p:sp>
      <p:sp>
        <p:nvSpPr>
          <p:cNvPr id="13" name="TextBox 12"/>
          <p:cNvSpPr txBox="1"/>
          <p:nvPr/>
        </p:nvSpPr>
        <p:spPr>
          <a:xfrm>
            <a:off x="530352" y="252984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566416"/>
            <a:ext cx="10564063" cy="368808"/>
          </a:xfrm>
          <a:prstGeom prst="rect">
            <a:avLst/>
          </a:prstGeom>
          <a:noFill/>
        </p:spPr>
        <p:txBody>
          <a:bodyPr wrap="square" anchor="t" lIns="0" rIns="0" tIns="0" bIns="0">
            <a:spAutoFit/>
          </a:bodyPr>
          <a:lstStyle/>
          <a:p>
            <a:r>
              <a:rPr sz="1500" b="0" i="0">
                <a:solidFill>
                  <a:srgbClr val="1A1440"/>
                </a:solidFill>
                <a:latin typeface="Calibri"/>
              </a:rPr>
              <a:t>Decompose along the tree: customers, orders per customer, revenue per order.</a:t>
            </a:r>
          </a:p>
        </p:txBody>
      </p:sp>
      <p:sp>
        <p:nvSpPr>
          <p:cNvPr id="15" name="TextBox 14"/>
          <p:cNvSpPr txBox="1"/>
          <p:nvPr/>
        </p:nvSpPr>
        <p:spPr>
          <a:xfrm>
            <a:off x="530352" y="297180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008376"/>
            <a:ext cx="10564063" cy="368808"/>
          </a:xfrm>
          <a:prstGeom prst="rect">
            <a:avLst/>
          </a:prstGeom>
          <a:noFill/>
        </p:spPr>
        <p:txBody>
          <a:bodyPr wrap="square" anchor="t" lIns="0" rIns="0" tIns="0" bIns="0">
            <a:spAutoFit/>
          </a:bodyPr>
          <a:lstStyle/>
          <a:p>
            <a:r>
              <a:rPr sz="1500" b="0" i="0">
                <a:solidFill>
                  <a:srgbClr val="1A1440"/>
                </a:solidFill>
                <a:latin typeface="Calibri"/>
              </a:rPr>
              <a:t>Missing means unknown until someone chooses a default and writes down why.</a:t>
            </a:r>
          </a:p>
        </p:txBody>
      </p:sp>
      <p:sp>
        <p:nvSpPr>
          <p:cNvPr id="17" name="TextBox 16"/>
          <p:cNvSpPr txBox="1"/>
          <p:nvPr/>
        </p:nvSpPr>
        <p:spPr>
          <a:xfrm>
            <a:off x="530352" y="3413760"/>
            <a:ext cx="502920" cy="333756"/>
          </a:xfrm>
          <a:prstGeom prst="rect">
            <a:avLst/>
          </a:prstGeom>
          <a:noFill/>
        </p:spPr>
        <p:txBody>
          <a:bodyPr wrap="square" anchor="t" lIns="0" rIns="0" tIns="0" bIns="0">
            <a:spAutoFit/>
          </a:bodyPr>
          <a:lstStyle/>
          <a:p>
            <a:pPr algn="l"/>
            <a:r>
              <a:rPr sz="1800" b="0" i="0">
                <a:solidFill>
                  <a:srgbClr val="5B3FD6"/>
                </a:solidFill>
                <a:latin typeface="Georgia"/>
              </a:rPr>
              <a:t>05</a:t>
            </a:r>
          </a:p>
        </p:txBody>
      </p:sp>
      <p:sp>
        <p:nvSpPr>
          <p:cNvPr id="18" name="TextBox 17"/>
          <p:cNvSpPr txBox="1"/>
          <p:nvPr/>
        </p:nvSpPr>
        <p:spPr>
          <a:xfrm>
            <a:off x="1097280" y="3450336"/>
            <a:ext cx="10564063" cy="368808"/>
          </a:xfrm>
          <a:prstGeom prst="rect">
            <a:avLst/>
          </a:prstGeom>
          <a:noFill/>
        </p:spPr>
        <p:txBody>
          <a:bodyPr wrap="square" anchor="t" lIns="0" rIns="0" tIns="0" bIns="0">
            <a:spAutoFit/>
          </a:bodyPr>
          <a:lstStyle/>
          <a:p>
            <a:r>
              <a:rPr sz="1500" b="0" i="0">
                <a:solidFill>
                  <a:srgbClr val="1A1440"/>
                </a:solidFill>
                <a:latin typeface="Calibri"/>
              </a:rPr>
              <a:t>Roll a rate up with its weights; never average the averages.</a:t>
            </a:r>
          </a:p>
        </p:txBody>
      </p:sp>
      <p:sp>
        <p:nvSpPr>
          <p:cNvPr id="19" name="TextBox 18"/>
          <p:cNvSpPr txBox="1"/>
          <p:nvPr/>
        </p:nvSpPr>
        <p:spPr>
          <a:xfrm>
            <a:off x="530352" y="3855720"/>
            <a:ext cx="502920" cy="333756"/>
          </a:xfrm>
          <a:prstGeom prst="rect">
            <a:avLst/>
          </a:prstGeom>
          <a:noFill/>
        </p:spPr>
        <p:txBody>
          <a:bodyPr wrap="square" anchor="t" lIns="0" rIns="0" tIns="0" bIns="0">
            <a:spAutoFit/>
          </a:bodyPr>
          <a:lstStyle/>
          <a:p>
            <a:pPr algn="l"/>
            <a:r>
              <a:rPr sz="1800" b="0" i="0">
                <a:solidFill>
                  <a:srgbClr val="5B3FD6"/>
                </a:solidFill>
                <a:latin typeface="Georgia"/>
              </a:rPr>
              <a:t>06</a:t>
            </a:r>
          </a:p>
        </p:txBody>
      </p:sp>
      <p:sp>
        <p:nvSpPr>
          <p:cNvPr id="20" name="TextBox 19"/>
          <p:cNvSpPr txBox="1"/>
          <p:nvPr/>
        </p:nvSpPr>
        <p:spPr>
          <a:xfrm>
            <a:off x="1097280" y="3892296"/>
            <a:ext cx="10564063" cy="368808"/>
          </a:xfrm>
          <a:prstGeom prst="rect">
            <a:avLst/>
          </a:prstGeom>
          <a:noFill/>
        </p:spPr>
        <p:txBody>
          <a:bodyPr wrap="square" anchor="t" lIns="0" rIns="0" tIns="0" bIns="0">
            <a:spAutoFit/>
          </a:bodyPr>
          <a:lstStyle/>
          <a:p>
            <a:r>
              <a:rPr sz="1500" b="0" i="0">
                <a:solidFill>
                  <a:srgbClr val="1A1440"/>
                </a:solidFill>
                <a:latin typeface="Calibri"/>
              </a:rPr>
              <a:t>A blended rate can move while no segment moves; split mix from rate.</a:t>
            </a:r>
          </a:p>
        </p:txBody>
      </p:sp>
      <p:sp>
        <p:nvSpPr>
          <p:cNvPr id="21" name="TextBox 20"/>
          <p:cNvSpPr txBox="1"/>
          <p:nvPr/>
        </p:nvSpPr>
        <p:spPr>
          <a:xfrm>
            <a:off x="530352" y="4297680"/>
            <a:ext cx="502920" cy="333756"/>
          </a:xfrm>
          <a:prstGeom prst="rect">
            <a:avLst/>
          </a:prstGeom>
          <a:noFill/>
        </p:spPr>
        <p:txBody>
          <a:bodyPr wrap="square" anchor="t" lIns="0" rIns="0" tIns="0" bIns="0">
            <a:spAutoFit/>
          </a:bodyPr>
          <a:lstStyle/>
          <a:p>
            <a:pPr algn="l"/>
            <a:r>
              <a:rPr sz="1800" b="0" i="0">
                <a:solidFill>
                  <a:srgbClr val="5B3FD6"/>
                </a:solidFill>
                <a:latin typeface="Georgia"/>
              </a:rPr>
              <a:t>07</a:t>
            </a:r>
          </a:p>
        </p:txBody>
      </p:sp>
      <p:sp>
        <p:nvSpPr>
          <p:cNvPr id="22" name="TextBox 21"/>
          <p:cNvSpPr txBox="1"/>
          <p:nvPr/>
        </p:nvSpPr>
        <p:spPr>
          <a:xfrm>
            <a:off x="1097280" y="4334256"/>
            <a:ext cx="10564063" cy="368808"/>
          </a:xfrm>
          <a:prstGeom prst="rect">
            <a:avLst/>
          </a:prstGeom>
          <a:noFill/>
        </p:spPr>
        <p:txBody>
          <a:bodyPr wrap="square" anchor="t" lIns="0" rIns="0" tIns="0" bIns="0">
            <a:spAutoFit/>
          </a:bodyPr>
          <a:lstStyle/>
          <a:p>
            <a:r>
              <a:rPr sz="1500" b="0" i="0">
                <a:solidFill>
                  <a:srgbClr val="1A1440"/>
                </a:solidFill>
                <a:latin typeface="Calibri"/>
              </a:rPr>
              <a:t>A function returns its answer; count the groups in and the groups out.</a:t>
            </a:r>
          </a:p>
        </p:txBody>
      </p:sp>
      <p:sp>
        <p:nvSpPr>
          <p:cNvPr id="23" name="TextBox 22"/>
          <p:cNvSpPr txBox="1"/>
          <p:nvPr/>
        </p:nvSpPr>
        <p:spPr>
          <a:xfrm>
            <a:off x="530352" y="4739640"/>
            <a:ext cx="502920" cy="333756"/>
          </a:xfrm>
          <a:prstGeom prst="rect">
            <a:avLst/>
          </a:prstGeom>
          <a:noFill/>
        </p:spPr>
        <p:txBody>
          <a:bodyPr wrap="square" anchor="t" lIns="0" rIns="0" tIns="0" bIns="0">
            <a:spAutoFit/>
          </a:bodyPr>
          <a:lstStyle/>
          <a:p>
            <a:pPr algn="l"/>
            <a:r>
              <a:rPr sz="1800" b="0" i="0">
                <a:solidFill>
                  <a:srgbClr val="5B3FD6"/>
                </a:solidFill>
                <a:latin typeface="Georgia"/>
              </a:rPr>
              <a:t>08</a:t>
            </a:r>
          </a:p>
        </p:txBody>
      </p:sp>
      <p:sp>
        <p:nvSpPr>
          <p:cNvPr id="24" name="TextBox 23"/>
          <p:cNvSpPr txBox="1"/>
          <p:nvPr/>
        </p:nvSpPr>
        <p:spPr>
          <a:xfrm>
            <a:off x="1097280" y="4776216"/>
            <a:ext cx="10564063" cy="368808"/>
          </a:xfrm>
          <a:prstGeom prst="rect">
            <a:avLst/>
          </a:prstGeom>
          <a:noFill/>
        </p:spPr>
        <p:txBody>
          <a:bodyPr wrap="square" anchor="t" lIns="0" rIns="0" tIns="0" bIns="0">
            <a:spAutoFit/>
          </a:bodyPr>
          <a:lstStyle/>
          <a:p>
            <a:r>
              <a:rPr sz="1500" b="0" i="0">
                <a:solidFill>
                  <a:srgbClr val="1A1440"/>
                </a:solidFill>
                <a:latin typeface="Calibri"/>
              </a:rPr>
              <a:t>Name the cause as a hypothesis, with its ceiling and the evidence that would settle it.</a:t>
            </a:r>
          </a:p>
        </p:txBody>
      </p:sp>
      <p:pic>
        <p:nvPicPr>
          <p:cNvPr id="25" name="mermaid diagram" descr="49aae674ce3cc913.png"/>
          <p:cNvPicPr>
            <a:picLocks noChangeAspect="1"/>
          </p:cNvPicPr>
          <p:nvPr/>
        </p:nvPicPr>
        <p:blipFill>
          <a:blip r:embed="rId5"/>
          <a:stretch>
            <a:fillRect/>
          </a:stretch>
        </p:blipFill>
        <p:spPr>
          <a:xfrm>
            <a:off x="3616966" y="5327904"/>
            <a:ext cx="4957762" cy="871537"/>
          </a:xfrm>
          <a:prstGeom prst="rect">
            <a:avLst/>
          </a:prstGeom>
        </p:spPr>
      </p:pic>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28" name="Oval 2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0" name="Oval 2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32" name="Oval 3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34" name="Oval 33"/>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6" name="Oval 35"/>
          <p:cNvSpPr/>
          <p:nvPr/>
        </p:nvSpPr>
        <p:spPr>
          <a:xfrm>
            <a:off x="77383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84812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 Anand questions tonight's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Finance's books and the dashboard disagree about Q1, and the answer waits for Wednesday.</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"Your dashboard says Q1 was Rs 2.1 crore. Our books say 1.9. Until your numbers match ours, Finance will not act on a drop measured from an ERP export. Send me a reconciliation."</a:t>
            </a:r>
          </a:p>
          <a:p>
            <a:pPr>
              <a:spcBef>
                <a:spcPts val="400"/>
              </a:spcBef>
            </a:pPr>
            <a:r>
              <a:rPr sz="1000" b="0" i="0">
                <a:solidFill>
                  <a:srgbClr val="6B6690"/>
                </a:solidFill>
                <a:latin typeface="Calibri"/>
              </a:rPr>
              <a:t>Anand Iyer, finance controller, Kalpa Retail</a:t>
            </a:r>
          </a:p>
        </p:txBody>
      </p:sp>
      <p:pic>
        <p:nvPicPr>
          <p:cNvPr id="11" name="mermaid diagram" descr="f7113391a8911ae4.png"/>
          <p:cNvPicPr>
            <a:picLocks noChangeAspect="1"/>
          </p:cNvPicPr>
          <p:nvPr/>
        </p:nvPicPr>
        <p:blipFill>
          <a:blip r:embed="rId5"/>
          <a:stretch>
            <a:fillRect/>
          </a:stretch>
        </p:blipFill>
        <p:spPr>
          <a:xfrm>
            <a:off x="3745553" y="3129280"/>
            <a:ext cx="4700587" cy="1800225"/>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memo and its evidence</a:t>
            </a:r>
          </a:p>
        </p:txBody>
      </p:sp>
      <p:sp>
        <p:nvSpPr>
          <p:cNvPr id="14" name="Oval 1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The debrief of wrong answers</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964406" cy="152146"/>
          </a:xfrm>
          <a:prstGeom prst="rect">
            <a:avLst/>
          </a:prstGeom>
          <a:noFill/>
        </p:spPr>
        <p:txBody>
          <a:bodyPr wrap="square" anchor="t" lIns="0" rIns="0" tIns="0" bIns="0">
            <a:spAutoFit/>
          </a:bodyPr>
          <a:lstStyle/>
          <a:p>
            <a:pPr algn="l"/>
            <a:r>
              <a:rPr sz="700" b="0" i="0">
                <a:solidFill>
                  <a:srgbClr val="6B6690"/>
                </a:solidFill>
                <a:latin typeface="Calibri"/>
              </a:rPr>
              <a:t>The second case</a:t>
            </a:r>
          </a:p>
        </p:txBody>
      </p:sp>
      <p:sp>
        <p:nvSpPr>
          <p:cNvPr id="20" name="Oval 19"/>
          <p:cNvSpPr/>
          <p:nvPr/>
        </p:nvSpPr>
        <p:spPr>
          <a:xfrm>
            <a:off x="63887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9852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2" name="Oval 21"/>
          <p:cNvSpPr/>
          <p:nvPr/>
        </p:nvSpPr>
        <p:spPr>
          <a:xfrm>
            <a:off x="77383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84812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