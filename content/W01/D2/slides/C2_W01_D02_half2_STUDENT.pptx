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one minute. The morning climbed five chapters: the drop is real at 11.0 percent, the branch is</a:t>
            </a:r>
          </a:p>
          <a:p>
            <a:r>
              <a:t>orders per customer, the segment is Retail-Plus, the rise in order value is mostly mix, and</a:t>
            </a:r>
          </a:p>
          <a:p>
            <a:r>
              <a:t>Marketing's churn claim fails the overlap. The afternoon opens on chapter 6, the cause the head of</a:t>
            </a:r>
          </a:p>
          <a:p>
            <a:r>
              <a:t>Retail-Plus hands us, then the escalated case, the debrief, the second case, the drill and the close.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Chapter 6 runs 30 minutes: 3 on the need and Sonos, 4 on the options, 4 on the monthly line, 8</a:t>
            </a:r>
          </a:p>
          <a:p>
            <a:r>
              <a:t>on the trap and its ceiling, 5 on the season, the channel and the second route, 4 on the memo, 2 on</a:t>
            </a:r>
          </a:p>
          <a:p>
            <a:r>
              <a:t>Kavya. Open notebooks/C2_W01_D02_06_the_memo_STUDENT.ipynb. The chapter opener is numbered 6 on</a:t>
            </a:r>
          </a:p>
          <a:p>
            <a:r>
              <a:t>purpose; it continues the morning's five.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metric at stake is Retail-Plus orders per week before and after the break. Six</a:t>
            </a:r>
          </a:p>
          <a:p>
            <a:r>
              <a:t>weeks back from the week of 6 October is 25 August; say it is the complaint taken at its word. A</a:t>
            </a:r>
          </a:p>
          <a:p>
            <a:r>
              <a:t>wrong answer costs a quarter: blame the button for everything, fix it, and the tier keeps falling.</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Sources checked 30 Sep 2026: Sonos third quarter fiscal 2024 results (the chief</a:t>
            </a:r>
          </a:p>
          <a:p>
            <a:r>
              <a:t>executive's statement that the app's rollout required a reduced fiscal 2024 guidance) and the fiscal</a:t>
            </a:r>
          </a:p>
          <a:p>
            <a:r>
              <a:t>2024 annual report on Form 10-K (short-term costs of up to $30 million). No revenue figure for the</a:t>
            </a:r>
          </a:p>
          <a:p>
            <a:r>
              <a:t>app's effect was verified on a primary page, so none is quoted.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A cause cannot come after its effect, so timing leads. Each of A to C reads the</a:t>
            </a:r>
          </a:p>
          <a:p>
            <a:r>
              <a:t>export already open in milliseconds; D is days away.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Take letters, then run the monthly cell with count_by, chapter 1's accumulator grown</a:t>
            </a:r>
          </a:p>
          <a:p>
            <a:r>
              <a:t>into a function that takes any key.</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answer is c. The button may still matter; it cannot be the whole story. If a</a:t>
            </a:r>
          </a:p>
          <a:p>
            <a:r>
              <a:t>learner points at May's 24, write "May, 24?" on the parking board for Wednesday and say nothing more.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chapter's trap. The comparison spans the whole quarter, so it charges the button</a:t>
            </a:r>
          </a:p>
          <a:p>
            <a:r>
              <a:t>with seven weeks of orders lost before it broke.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The check is chapter 1's lesson: a rate with its window. What changed: "the button</a:t>
            </a:r>
          </a:p>
          <a:p>
            <a:r>
              <a:t>cost 25 orders" became "at most about 4; the rest needs another cause". Engineering still fixes it;</a:t>
            </a:r>
          </a:p>
          <a:p>
            <a:r>
              <a:t>the memo stops promising it fixes the tier.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Two predictions tested, two rivals capped. Something touched members in every</a:t>
            </a:r>
          </a:p>
          <a:p>
            <a:r>
              <a:t>channel.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notebook draws the cumulative line against the pace and asserts the two routes</a:t>
            </a:r>
          </a:p>
          <a:p>
            <a:r>
              <a:t>agree.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The rival, a monsoon dip that hit members harder, goes on the same data request as</a:t>
            </a:r>
          </a:p>
          <a:p>
            <a:r>
              <a:t>last year's Q2 by segment. One breath: restate as a hypothesis, test timing, then the comparison and</a:t>
            </a:r>
          </a:p>
          <a:p>
            <a:r>
              <a:t>the channel, cap it, and name the data that settles it.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The escalated case runs 50 minutes, unguided. Hand out</a:t>
            </a:r>
          </a:p>
          <a:p>
            <a:r>
              <a:t>exercises/unguided/C2_W01_D02_escalated_case_STUDENT.md; learners work in</a:t>
            </a:r>
          </a:p>
          <a:p>
            <a:r>
              <a:t>notebooks/C2_W01_D02_ex1_escalated_case_STUDENT.ipynb. The solution opens after the debrief.</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to brief, then 47 of silent work. Walk the room from minute 10. The trap in part 3 is</a:t>
            </a:r>
          </a:p>
          <a:p>
            <a:r>
              <a:t>the escalated one: customers with a delivered order fell from 54 to 50, and Marketing would read that</a:t>
            </a:r>
          </a:p>
          <a:p>
            <a:r>
              <a:t>as churn. Do not hint at it.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before work starts. Remind the room that the notebook stops at the first placeholder</a:t>
            </a:r>
          </a:p>
          <a:p>
            <a:r>
              <a:t>until it is filled, which is intended.</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The debrief runs 15 minutes, before the break. Put each wrong answer up, ask who reached it,</a:t>
            </a:r>
          </a:p>
          <a:p>
            <a:r>
              <a:t>and let a learner who avoided it say the check. Release the solution notebook in</a:t>
            </a:r>
          </a:p>
          <a:p>
            <a:r>
              <a:t>exercises/solutions/ at the end.</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Ask who wrote "customers fell 7.4 percent" in part 2 and stopped there. The part 3</a:t>
            </a:r>
          </a:p>
          <a:p>
            <a:r>
              <a:t>set, (delivered Q1 minus delivered Q2) and booked Q2, finds all 19 still ordering.</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morning's trap in a new place. Anyone who averaged has the reason on the board</a:t>
            </a:r>
          </a:p>
          <a:p>
            <a:r>
              <a:t>from chapter 3.</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The definition moved the split without creating a price rise anyone paid. Ask a</a:t>
            </a:r>
          </a:p>
          <a:p>
            <a:r>
              <a:t>learner to read Retail-Plus delivered revenue per order: Rs 2,748 to Rs 2,806.</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then the 10-minute break. Release the solution notebook.</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The second case runs 40 minutes in pairs: 3 to brief, 30 to work, 7 to hear two replies. Hand</a:t>
            </a:r>
          </a:p>
          <a:p>
            <a:r>
              <a:t>out exercises/unguided/C2_W01_D02_second_case_STUDENT.md; the notebook is</a:t>
            </a:r>
          </a:p>
          <a:p>
            <a:r>
              <a:t>notebooks/C2_W01_D02_ex2_second_case_STUDENT.ipynb.</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to brief. Pairs split the roles, then write one reply together, with the one data</a:t>
            </a:r>
          </a:p>
          <a:p>
            <a:r>
              <a:t>request that settles most.</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7 minutes after the work. Hear two pairs' replies. Say that every member still ordered, which</a:t>
            </a:r>
          </a:p>
          <a:p>
            <a:r>
              <a:t>fits a broken habit more than a tier people left.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The drill runs 20 minutes. Ask each question aloud to a named learner, give one breath, then</a:t>
            </a:r>
          </a:p>
          <a:p>
            <a:r>
              <a:t>read the model answer from the notes. Tags: [S] staple asked everywhere, [F] frequent in GCC and</a:t>
            </a:r>
          </a:p>
          <a:p>
            <a:r>
              <a:t>product screens, [SV] service-major screen opener, [D] differentiator.</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10 minutes.</a:t>
            </a:r>
          </a:p>
          <a:p>
            <a:r>
              <a:t>1. Confirm on matched windows, decompose into customers, orders per customer and revenue per order,</a:t>
            </a:r>
          </a:p>
          <a:p>
            <a:r>
              <a:t>isolate the segment, split mix from rate, then name a hypothesis with its evidence, timing first.</a:t>
            </a:r>
          </a:p>
          <a:p>
            <a:r>
              <a:t>2. Nobody can check it, compare it or know how many cases it rests on: 40 percent of five orders.</a:t>
            </a:r>
          </a:p>
          <a:p>
            <a:r>
              <a:t>3. The caller gets None, and the next step crashes or silently drops that group.</a:t>
            </a:r>
          </a:p>
          <a:p>
            <a:r>
              <a:t>4. Window length and dates, the definition, the population and the denominator; closed quarters, or</a:t>
            </a:r>
          </a:p>
          <a:p>
            <a:r>
              <a:t>the same weeks of each; the season needs last year.</a:t>
            </a:r>
          </a:p>
          <a:p>
            <a:r>
              <a:t>5. Test their claim in its own terms: the overlap shows none lost and none new; show where the fall</a:t>
            </a:r>
          </a:p>
          <a:p>
            <a:r>
              <a:t>is; end on what would change my mind.</a:t>
            </a:r>
          </a:p>
          <a:p>
            <a:r>
              <a:t>6. A bridge one leaf at a time in a fixed order; say the order, or use the symmetric split.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10 minutes.</a:t>
            </a:r>
          </a:p>
          <a:p>
            <a:r>
              <a:t>7. Mostly mix: small orders fell away; 69 percent of the rise on booked orders.</a:t>
            </a:r>
          </a:p>
          <a:p>
            <a:r>
              <a:t>8. No: absent is unknown; count it, report it, write the rule, bound it.</a:t>
            </a:r>
          </a:p>
          <a:p>
            <a:r>
              <a:t>9. Each rate has its own denominator; total over total reproduces the company figure.</a:t>
            </a:r>
          </a:p>
          <a:p>
            <a:r>
              <a:t>10. No: compare ids, lost and new; here 69, 0 and 0.</a:t>
            </a:r>
          </a:p>
          <a:p>
            <a:r>
              <a:t>11. A function when groups are asked one at a time and definitions change; one pass by key when the</a:t>
            </a:r>
          </a:p>
          <a:p>
            <a:r>
              <a:t>file is large and every group is needed at once.</a:t>
            </a:r>
          </a:p>
          <a:p>
            <a:r>
              <a:t>12. Timing first, then a comparison group, then the channel it predicts; cap it; request the data</a:t>
            </a:r>
          </a:p>
          <a:p>
            <a:r>
              <a:t>that settles it.</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The close runs 15 minutes: Kahoot 8, the sentence and the lines 5, tomorrow's question 2.</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after the Kahoot. Read it aloud once, slowly. Ask one learner which part their own</a:t>
            </a:r>
          </a:p>
          <a:p>
            <a:r>
              <a:t>sentence missed; most miss the ceiling or the data to ask for. The Kahoot pack is</a:t>
            </a:r>
          </a:p>
          <a:p>
            <a:r>
              <a:t>kahoot/C2_W01_D02_quiz_STUDENT.md, eight items, ungraded.</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Read the eight lines aloud with the room. The chain maps them onto the chapters.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Read Anand's line and stop. Do not predict the answer. Every number today was on the</a:t>
            </a:r>
          </a:p>
          <a:p>
            <a:r>
              <a:t>export as it stands; point to the take-home brief. The TA-led practice lab follows.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3.xml"/><Relationship Id="rId6" Type="http://schemas.openxmlformats.org/officeDocument/2006/relationships/image" Target="../media/image6.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xml"/><Relationship Id="rId5" Type="http://schemas.openxmlformats.org/officeDocument/2006/relationships/image" Target="../media/image7.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xml"/><Relationship Id="rId5" Type="http://schemas.openxmlformats.org/officeDocument/2006/relationships/image" Target="../media/image8.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5.png"/><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0.xml"/><Relationship Id="rId5" Type="http://schemas.openxmlformats.org/officeDocument/2006/relationships/image" Target="../media/image10.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1.xml"/><Relationship Id="rId5" Type="http://schemas.openxmlformats.org/officeDocument/2006/relationships/image" Target="../media/image1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2.xml"/><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9.png"/><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7.xml"/><Relationship Id="rId5"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8.xml"/><Relationship Id="rId5" Type="http://schemas.openxmlformats.org/officeDocument/2006/relationships/image" Target="../media/image17.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0.xml"/><Relationship Id="rId5" Type="http://schemas.openxmlformats.org/officeDocument/2006/relationships/image" Target="../media/image12.png"/><Relationship Id="rId6" Type="http://schemas.openxmlformats.org/officeDocument/2006/relationships/image" Target="../media/image18.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5.png"/><Relationship Id="rId5" Type="http://schemas.openxmlformats.org/officeDocument/2006/relationships/image" Target="../media/image19.png"/><Relationship Id="rId6" Type="http://schemas.openxmlformats.org/officeDocument/2006/relationships/image" Target="../media/image20.png"/><Relationship Id="rId7" Type="http://schemas.openxmlformats.org/officeDocument/2006/relationships/image" Target="../media/image9.png"/><Relationship Id="rId8"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9.xml"/><Relationship Id="rId5" Type="http://schemas.openxmlformats.org/officeDocument/2006/relationships/image" Target="../media/image22.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0.xml"/><Relationship Id="rId5" Type="http://schemas.openxmlformats.org/officeDocument/2006/relationships/image" Target="../media/image23.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621792" y="566928"/>
            <a:ext cx="1051560" cy="1051560"/>
          </a:xfrm>
          <a:prstGeom prst="rect">
            <a:avLst/>
          </a:prstGeom>
        </p:spPr>
      </p:pic>
      <p:sp>
        <p:nvSpPr>
          <p:cNvPr id="4" name="TextBox 3"/>
          <p:cNvSpPr txBox="1"/>
          <p:nvPr/>
        </p:nvSpPr>
        <p:spPr>
          <a:xfrm>
            <a:off x="1901952" y="804672"/>
            <a:ext cx="6858000" cy="300735"/>
          </a:xfrm>
          <a:prstGeom prst="rect">
            <a:avLst/>
          </a:prstGeom>
          <a:noFill/>
        </p:spPr>
        <p:txBody>
          <a:bodyPr wrap="square" anchor="t" lIns="0" rIns="0" tIns="0" bIns="0">
            <a:spAutoFit/>
          </a:bodyPr>
          <a:lstStyle/>
          <a:p>
            <a:pPr algn="l"/>
            <a:r>
              <a:rPr sz="1600" b="1" i="0">
                <a:solidFill>
                  <a:srgbClr val="FFFFFF"/>
                </a:solidFill>
                <a:latin typeface="Calibri"/>
              </a:rPr>
              <a:t>Indian Institute of Technology Gandhinagar</a:t>
            </a:r>
          </a:p>
        </p:txBody>
      </p:sp>
      <p:sp>
        <p:nvSpPr>
          <p:cNvPr id="5" name="TextBox 4"/>
          <p:cNvSpPr txBox="1"/>
          <p:nvPr/>
        </p:nvSpPr>
        <p:spPr>
          <a:xfrm>
            <a:off x="1901952" y="1133856"/>
            <a:ext cx="7772400" cy="152146"/>
          </a:xfrm>
          <a:prstGeom prst="rect">
            <a:avLst/>
          </a:prstGeom>
          <a:noFill/>
        </p:spPr>
        <p:txBody>
          <a:bodyPr wrap="square" anchor="t" lIns="0" rIns="0" tIns="0" bIns="0">
            <a:spAutoFit/>
          </a:bodyPr>
          <a:lstStyle/>
          <a:p>
            <a:pPr algn="l"/>
            <a:r>
              <a:rPr sz="700" b="1" i="0" spc="300">
                <a:solidFill>
                  <a:srgbClr val="D9A7FF"/>
                </a:solidFill>
                <a:latin typeface="Calibri"/>
              </a:rPr>
              <a:t>ADMINISTERED THROUGH THE COMPETENCY ADVANCEMENT ACADEMY</a:t>
            </a:r>
          </a:p>
        </p:txBody>
      </p:sp>
      <p:sp>
        <p:nvSpPr>
          <p:cNvPr id="6" name="Rectangle 5"/>
          <p:cNvSpPr/>
          <p:nvPr/>
        </p:nvSpPr>
        <p:spPr>
          <a:xfrm>
            <a:off x="621792" y="1938528"/>
            <a:ext cx="10948111" cy="10972"/>
          </a:xfrm>
          <a:prstGeom prst="rect">
            <a:avLst/>
          </a:prstGeom>
          <a:solidFill>
            <a:srgbClr val="A9A3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ounded Rectangle 6"/>
          <p:cNvSpPr/>
          <p:nvPr/>
        </p:nvSpPr>
        <p:spPr>
          <a:xfrm>
            <a:off x="621792" y="2240280"/>
            <a:ext cx="3385127" cy="329184"/>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900" b="1" spc="250">
                <a:solidFill>
                  <a:srgbClr val="FFFFFF"/>
                </a:solidFill>
                <a:latin typeface="Calibri"/>
              </a:rPr>
              <a:t>WEEK 1  ·  TUESDAY  ·  HALF TWO</a:t>
            </a:r>
          </a:p>
        </p:txBody>
      </p:sp>
      <p:sp>
        <p:nvSpPr>
          <p:cNvPr id="8" name="TextBox 7"/>
          <p:cNvSpPr txBox="1"/>
          <p:nvPr/>
        </p:nvSpPr>
        <p:spPr>
          <a:xfrm>
            <a:off x="621792" y="2807208"/>
            <a:ext cx="10582351" cy="663956"/>
          </a:xfrm>
          <a:prstGeom prst="rect">
            <a:avLst/>
          </a:prstGeom>
          <a:noFill/>
        </p:spPr>
        <p:txBody>
          <a:bodyPr wrap="square" anchor="t" lIns="0" rIns="0" tIns="0" bIns="0">
            <a:spAutoFit/>
          </a:bodyPr>
          <a:lstStyle/>
          <a:p>
            <a:pPr algn="l"/>
            <a:r>
              <a:rPr sz="3800" b="0" i="0">
                <a:solidFill>
                  <a:srgbClr val="FFFFFF"/>
                </a:solidFill>
                <a:latin typeface="Georgia"/>
              </a:rPr>
              <a:t>The cause on trial</a:t>
            </a:r>
          </a:p>
        </p:txBody>
      </p:sp>
      <p:sp>
        <p:nvSpPr>
          <p:cNvPr id="9" name="TextBox 8"/>
          <p:cNvSpPr txBox="1"/>
          <p:nvPr/>
        </p:nvSpPr>
        <p:spPr>
          <a:xfrm>
            <a:off x="621792" y="3635756"/>
            <a:ext cx="10033711" cy="663956"/>
          </a:xfrm>
          <a:prstGeom prst="rect">
            <a:avLst/>
          </a:prstGeom>
          <a:noFill/>
        </p:spPr>
        <p:txBody>
          <a:bodyPr wrap="square" anchor="t" lIns="0" rIns="0" tIns="0" bIns="0">
            <a:spAutoFit/>
          </a:bodyPr>
          <a:lstStyle/>
          <a:p>
            <a:pPr algn="l"/>
            <a:r>
              <a:rPr sz="1900" b="0" i="1">
                <a:solidFill>
                  <a:srgbClr val="D9A7FF"/>
                </a:solidFill>
                <a:latin typeface="Georgia"/>
              </a:rPr>
              <a:t>“It is the broken reorder button. One of my members says it has been broken for six weeks.”</a:t>
            </a:r>
          </a:p>
        </p:txBody>
      </p:sp>
      <p:sp>
        <p:nvSpPr>
          <p:cNvPr id="10" name="TextBox 9"/>
          <p:cNvSpPr txBox="1"/>
          <p:nvPr/>
        </p:nvSpPr>
        <p:spPr>
          <a:xfrm>
            <a:off x="621792" y="4354576"/>
            <a:ext cx="10033711" cy="218186"/>
          </a:xfrm>
          <a:prstGeom prst="rect">
            <a:avLst/>
          </a:prstGeom>
          <a:noFill/>
        </p:spPr>
        <p:txBody>
          <a:bodyPr wrap="square" anchor="t" lIns="0" rIns="0" tIns="0" bIns="0">
            <a:spAutoFit/>
          </a:bodyPr>
          <a:lstStyle/>
          <a:p>
            <a:pPr algn="l"/>
            <a:r>
              <a:rPr sz="1100" b="0" i="0">
                <a:solidFill>
                  <a:srgbClr val="CFC9EE"/>
                </a:solidFill>
                <a:latin typeface="Calibri"/>
              </a:rPr>
              <a:t>The head of Retail-Plus, Kalpa's paid membership tier</a:t>
            </a:r>
          </a:p>
        </p:txBody>
      </p:sp>
      <p:sp>
        <p:nvSpPr>
          <p:cNvPr id="11" name="TextBox 10"/>
          <p:cNvSpPr txBox="1"/>
          <p:nvPr/>
        </p:nvSpPr>
        <p:spPr>
          <a:xfrm>
            <a:off x="621792"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01</a:t>
            </a:r>
          </a:p>
        </p:txBody>
      </p:sp>
      <p:sp>
        <p:nvSpPr>
          <p:cNvPr id="12" name="TextBox 11"/>
          <p:cNvSpPr txBox="1"/>
          <p:nvPr/>
        </p:nvSpPr>
        <p:spPr>
          <a:xfrm>
            <a:off x="1005839" y="5248656"/>
            <a:ext cx="1661636" cy="185166"/>
          </a:xfrm>
          <a:prstGeom prst="rect">
            <a:avLst/>
          </a:prstGeom>
          <a:noFill/>
        </p:spPr>
        <p:txBody>
          <a:bodyPr wrap="square" anchor="t" lIns="0" rIns="0" tIns="0" bIns="0">
            <a:spAutoFit/>
          </a:bodyPr>
          <a:lstStyle/>
          <a:p>
            <a:pPr algn="l"/>
            <a:r>
              <a:rPr sz="900" b="0" i="0">
                <a:solidFill>
                  <a:srgbClr val="FFFFFF"/>
                </a:solidFill>
                <a:latin typeface="Calibri"/>
              </a:rPr>
              <a:t>The memo and its evidence</a:t>
            </a:r>
          </a:p>
        </p:txBody>
      </p:sp>
      <p:sp>
        <p:nvSpPr>
          <p:cNvPr id="13" name="TextBox 12"/>
          <p:cNvSpPr txBox="1"/>
          <p:nvPr/>
        </p:nvSpPr>
        <p:spPr>
          <a:xfrm>
            <a:off x="2850356"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02</a:t>
            </a:r>
          </a:p>
        </p:txBody>
      </p:sp>
      <p:sp>
        <p:nvSpPr>
          <p:cNvPr id="14" name="TextBox 13"/>
          <p:cNvSpPr txBox="1"/>
          <p:nvPr/>
        </p:nvSpPr>
        <p:spPr>
          <a:xfrm>
            <a:off x="3234404" y="5248656"/>
            <a:ext cx="1247584" cy="185166"/>
          </a:xfrm>
          <a:prstGeom prst="rect">
            <a:avLst/>
          </a:prstGeom>
          <a:noFill/>
        </p:spPr>
        <p:txBody>
          <a:bodyPr wrap="square" anchor="t" lIns="0" rIns="0" tIns="0" bIns="0">
            <a:spAutoFit/>
          </a:bodyPr>
          <a:lstStyle/>
          <a:p>
            <a:pPr algn="l"/>
            <a:r>
              <a:rPr sz="900" b="0" i="0">
                <a:solidFill>
                  <a:srgbClr val="FFFFFF"/>
                </a:solidFill>
                <a:latin typeface="Calibri"/>
              </a:rPr>
              <a:t>The escalated case</a:t>
            </a:r>
          </a:p>
        </p:txBody>
      </p:sp>
      <p:sp>
        <p:nvSpPr>
          <p:cNvPr id="15" name="TextBox 14"/>
          <p:cNvSpPr txBox="1"/>
          <p:nvPr/>
        </p:nvSpPr>
        <p:spPr>
          <a:xfrm>
            <a:off x="4664868"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03</a:t>
            </a:r>
          </a:p>
        </p:txBody>
      </p:sp>
      <p:sp>
        <p:nvSpPr>
          <p:cNvPr id="16" name="TextBox 15"/>
          <p:cNvSpPr txBox="1"/>
          <p:nvPr/>
        </p:nvSpPr>
        <p:spPr>
          <a:xfrm>
            <a:off x="5048916" y="5248656"/>
            <a:ext cx="1839087" cy="185166"/>
          </a:xfrm>
          <a:prstGeom prst="rect">
            <a:avLst/>
          </a:prstGeom>
          <a:noFill/>
        </p:spPr>
        <p:txBody>
          <a:bodyPr wrap="square" anchor="t" lIns="0" rIns="0" tIns="0" bIns="0">
            <a:spAutoFit/>
          </a:bodyPr>
          <a:lstStyle/>
          <a:p>
            <a:pPr algn="l"/>
            <a:r>
              <a:rPr sz="900" b="0" i="0">
                <a:solidFill>
                  <a:srgbClr val="FFFFFF"/>
                </a:solidFill>
                <a:latin typeface="Calibri"/>
              </a:rPr>
              <a:t>The debrief of wrong answers</a:t>
            </a:r>
          </a:p>
        </p:txBody>
      </p:sp>
      <p:sp>
        <p:nvSpPr>
          <p:cNvPr id="17" name="TextBox 16"/>
          <p:cNvSpPr txBox="1"/>
          <p:nvPr/>
        </p:nvSpPr>
        <p:spPr>
          <a:xfrm>
            <a:off x="7070883"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04</a:t>
            </a:r>
          </a:p>
        </p:txBody>
      </p:sp>
      <p:sp>
        <p:nvSpPr>
          <p:cNvPr id="18" name="TextBox 17"/>
          <p:cNvSpPr txBox="1"/>
          <p:nvPr/>
        </p:nvSpPr>
        <p:spPr>
          <a:xfrm>
            <a:off x="7454931" y="5248656"/>
            <a:ext cx="1070133" cy="185166"/>
          </a:xfrm>
          <a:prstGeom prst="rect">
            <a:avLst/>
          </a:prstGeom>
          <a:noFill/>
        </p:spPr>
        <p:txBody>
          <a:bodyPr wrap="square" anchor="t" lIns="0" rIns="0" tIns="0" bIns="0">
            <a:spAutoFit/>
          </a:bodyPr>
          <a:lstStyle/>
          <a:p>
            <a:pPr algn="l"/>
            <a:r>
              <a:rPr sz="900" b="0" i="0">
                <a:solidFill>
                  <a:srgbClr val="FFFFFF"/>
                </a:solidFill>
                <a:latin typeface="Calibri"/>
              </a:rPr>
              <a:t>The second case</a:t>
            </a:r>
          </a:p>
        </p:txBody>
      </p:sp>
      <p:sp>
        <p:nvSpPr>
          <p:cNvPr id="19" name="TextBox 18"/>
          <p:cNvSpPr txBox="1"/>
          <p:nvPr/>
        </p:nvSpPr>
        <p:spPr>
          <a:xfrm>
            <a:off x="8707945"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05</a:t>
            </a:r>
          </a:p>
        </p:txBody>
      </p:sp>
      <p:sp>
        <p:nvSpPr>
          <p:cNvPr id="20" name="TextBox 19"/>
          <p:cNvSpPr txBox="1"/>
          <p:nvPr/>
        </p:nvSpPr>
        <p:spPr>
          <a:xfrm>
            <a:off x="9091993" y="5248656"/>
            <a:ext cx="1306734" cy="185166"/>
          </a:xfrm>
          <a:prstGeom prst="rect">
            <a:avLst/>
          </a:prstGeom>
          <a:noFill/>
        </p:spPr>
        <p:txBody>
          <a:bodyPr wrap="square" anchor="t" lIns="0" rIns="0" tIns="0" bIns="0">
            <a:spAutoFit/>
          </a:bodyPr>
          <a:lstStyle/>
          <a:p>
            <a:pPr algn="l"/>
            <a:r>
              <a:rPr sz="900" b="0" i="0">
                <a:solidFill>
                  <a:srgbClr val="FFFFFF"/>
                </a:solidFill>
                <a:latin typeface="Calibri"/>
              </a:rPr>
              <a:t>The interview drill</a:t>
            </a:r>
          </a:p>
        </p:txBody>
      </p:sp>
      <p:sp>
        <p:nvSpPr>
          <p:cNvPr id="21" name="TextBox 20"/>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2. The cause on trial</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 / 30</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06</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The memo and its evidence</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Chapter 6. The tier hands us a cause and Meera wants one page: what we know, what we guess, and what would settle it.</a:t>
            </a:r>
          </a:p>
        </p:txBody>
      </p:sp>
      <p:sp>
        <p:nvSpPr>
          <p:cNvPr id="10" name="Rounded Rectangle 9"/>
          <p:cNvSpPr/>
          <p:nvPr/>
        </p:nvSpPr>
        <p:spPr>
          <a:xfrm>
            <a:off x="731519" y="5074920"/>
            <a:ext cx="1846159"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The memo and its evidence</a:t>
            </a:r>
          </a:p>
        </p:txBody>
      </p:sp>
      <p:sp>
        <p:nvSpPr>
          <p:cNvPr id="11" name="Rounded Rectangle 10"/>
          <p:cNvSpPr/>
          <p:nvPr/>
        </p:nvSpPr>
        <p:spPr>
          <a:xfrm>
            <a:off x="2687407" y="5074920"/>
            <a:ext cx="143164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escalated case</a:t>
            </a:r>
          </a:p>
        </p:txBody>
      </p:sp>
      <p:sp>
        <p:nvSpPr>
          <p:cNvPr id="12" name="Rounded Rectangle 11"/>
          <p:cNvSpPr/>
          <p:nvPr/>
        </p:nvSpPr>
        <p:spPr>
          <a:xfrm>
            <a:off x="4228782" y="5074920"/>
            <a:ext cx="202380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debrief of wrong answers</a:t>
            </a:r>
          </a:p>
        </p:txBody>
      </p:sp>
      <p:sp>
        <p:nvSpPr>
          <p:cNvPr id="13" name="Rounded Rectangle 12"/>
          <p:cNvSpPr/>
          <p:nvPr/>
        </p:nvSpPr>
        <p:spPr>
          <a:xfrm>
            <a:off x="6362318" y="5074920"/>
            <a:ext cx="125399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second case</a:t>
            </a:r>
          </a:p>
        </p:txBody>
      </p:sp>
      <p:sp>
        <p:nvSpPr>
          <p:cNvPr id="14" name="Rounded Rectangle 13"/>
          <p:cNvSpPr/>
          <p:nvPr/>
        </p:nvSpPr>
        <p:spPr>
          <a:xfrm>
            <a:off x="7726045" y="5074920"/>
            <a:ext cx="149086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interview drill</a:t>
            </a:r>
          </a:p>
        </p:txBody>
      </p:sp>
      <p:sp>
        <p:nvSpPr>
          <p:cNvPr id="15" name="Rounded Rectangle 14"/>
          <p:cNvSpPr/>
          <p:nvPr/>
        </p:nvSpPr>
        <p:spPr>
          <a:xfrm>
            <a:off x="9326637" y="5074920"/>
            <a:ext cx="89870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close</a:t>
            </a:r>
          </a:p>
        </p:txBody>
      </p:sp>
      <p:sp>
        <p:nvSpPr>
          <p:cNvPr id="16" name="TextBox 15"/>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Tuesday: the cause on trial</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 / 30</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tier blames the button; Meera wants a page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Engineering's priority and the story Meera tells the board both ride on whether the button explains the fall.</a:t>
            </a:r>
          </a:p>
        </p:txBody>
      </p:sp>
      <p:sp>
        <p:nvSpPr>
          <p:cNvPr id="9" name="Rounded Rectangle 8"/>
          <p:cNvSpPr/>
          <p:nvPr/>
        </p:nvSpPr>
        <p:spPr>
          <a:xfrm>
            <a:off x="530352" y="1956816"/>
            <a:ext cx="11130991" cy="112166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28904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message-square_028dbd132a0a.png"/>
          <p:cNvPicPr>
            <a:picLocks noChangeAspect="1"/>
          </p:cNvPicPr>
          <p:nvPr/>
        </p:nvPicPr>
        <p:blipFill>
          <a:blip r:embed="rId4"/>
          <a:stretch>
            <a:fillRect/>
          </a:stretch>
        </p:blipFill>
        <p:spPr>
          <a:xfrm>
            <a:off x="868680" y="2398776"/>
            <a:ext cx="237744" cy="237744"/>
          </a:xfrm>
          <a:prstGeom prst="rect">
            <a:avLst/>
          </a:prstGeom>
        </p:spPr>
      </p:pic>
      <p:sp>
        <p:nvSpPr>
          <p:cNvPr id="12" name="TextBox 11"/>
          <p:cNvSpPr txBox="1"/>
          <p:nvPr/>
        </p:nvSpPr>
        <p:spPr>
          <a:xfrm>
            <a:off x="1399031" y="210312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3" name="TextBox 12"/>
          <p:cNvSpPr txBox="1"/>
          <p:nvPr/>
        </p:nvSpPr>
        <p:spPr>
          <a:xfrm>
            <a:off x="1399031" y="2322576"/>
            <a:ext cx="9987991" cy="682752"/>
          </a:xfrm>
          <a:prstGeom prst="rect">
            <a:avLst/>
          </a:prstGeom>
          <a:noFill/>
        </p:spPr>
        <p:txBody>
          <a:bodyPr wrap="square" anchor="t" lIns="0" rIns="0" tIns="0" bIns="0">
            <a:spAutoFit/>
          </a:bodyPr>
          <a:lstStyle/>
          <a:p>
            <a:r>
              <a:rPr sz="1500" b="0" i="0">
                <a:solidFill>
                  <a:srgbClr val="FFFFFF"/>
                </a:solidFill>
                <a:latin typeface="Calibri"/>
              </a:rPr>
              <a:t>"Which branch, which segment, and what you would bet on. Tell me what you know and what you are guessing." (Meera Raghavan)</a:t>
            </a:r>
          </a:p>
        </p:txBody>
      </p:sp>
      <p:pic>
        <p:nvPicPr>
          <p:cNvPr id="14" name="mermaid diagram" descr="3c9d316c87502d4c.png"/>
          <p:cNvPicPr>
            <a:picLocks noChangeAspect="1"/>
          </p:cNvPicPr>
          <p:nvPr/>
        </p:nvPicPr>
        <p:blipFill>
          <a:blip r:embed="rId6"/>
          <a:stretch>
            <a:fillRect/>
          </a:stretch>
        </p:blipFill>
        <p:spPr>
          <a:xfrm>
            <a:off x="2152497" y="3243072"/>
            <a:ext cx="7886700" cy="1600200"/>
          </a:xfrm>
          <a:prstGeom prst="rect">
            <a:avLst/>
          </a:prstGeom>
        </p:spPr>
      </p:pic>
      <p:sp>
        <p:nvSpPr>
          <p:cNvPr id="15" name="Oval 14"/>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The memo and its evidence</a:t>
            </a:r>
          </a:p>
        </p:txBody>
      </p:sp>
      <p:sp>
        <p:nvSpPr>
          <p:cNvPr id="17" name="Oval 16"/>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2657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19" name="Oval 18"/>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569303"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The debrief of wrong answers</a:t>
            </a:r>
          </a:p>
        </p:txBody>
      </p:sp>
      <p:sp>
        <p:nvSpPr>
          <p:cNvPr id="21" name="Oval 20"/>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332952"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The second case</a:t>
            </a:r>
          </a:p>
        </p:txBody>
      </p:sp>
      <p:sp>
        <p:nvSpPr>
          <p:cNvPr id="23" name="Oval 22"/>
          <p:cNvSpPr/>
          <p:nvPr/>
        </p:nvSpPr>
        <p:spPr>
          <a:xfrm>
            <a:off x="63887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498526"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25" name="Oval 24"/>
          <p:cNvSpPr/>
          <p:nvPr/>
        </p:nvSpPr>
        <p:spPr>
          <a:xfrm>
            <a:off x="77383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7848123"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  ·  3 / 30</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Sonos tied an app rollout to its guidance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 loyal customer base, an app rollout that went wrong, and a company that put it into its guidance.</a:t>
            </a:r>
          </a:p>
        </p:txBody>
      </p:sp>
      <p:sp>
        <p:nvSpPr>
          <p:cNvPr id="9" name="TextBox 8"/>
          <p:cNvSpPr txBox="1"/>
          <p:nvPr/>
        </p:nvSpPr>
        <p:spPr>
          <a:xfrm>
            <a:off x="530352" y="1956816"/>
            <a:ext cx="3527450" cy="635000"/>
          </a:xfrm>
          <a:prstGeom prst="rect">
            <a:avLst/>
          </a:prstGeom>
          <a:noFill/>
        </p:spPr>
        <p:txBody>
          <a:bodyPr wrap="square" anchor="t" lIns="0" rIns="0" tIns="0" bIns="0">
            <a:spAutoFit/>
          </a:bodyPr>
          <a:lstStyle/>
          <a:p>
            <a:pPr algn="l"/>
            <a:r>
              <a:rPr sz="4000" b="0" i="0">
                <a:solidFill>
                  <a:srgbClr val="5B3FD6"/>
                </a:solidFill>
                <a:latin typeface="Georgia"/>
              </a:rPr>
              <a:t>2024</a:t>
            </a:r>
          </a:p>
        </p:txBody>
      </p:sp>
      <p:sp>
        <p:nvSpPr>
          <p:cNvPr id="10" name="TextBox 9"/>
          <p:cNvSpPr txBox="1"/>
          <p:nvPr/>
        </p:nvSpPr>
        <p:spPr>
          <a:xfrm>
            <a:off x="530352" y="2628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REDESIGNED APP ROLLED OUT</a:t>
            </a:r>
          </a:p>
        </p:txBody>
      </p:sp>
      <p:sp>
        <p:nvSpPr>
          <p:cNvPr id="11" name="TextBox 10"/>
          <p:cNvSpPr txBox="1"/>
          <p:nvPr/>
        </p:nvSpPr>
        <p:spPr>
          <a:xfrm>
            <a:off x="530352" y="28295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problems it caused</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35000"/>
          </a:xfrm>
          <a:prstGeom prst="rect">
            <a:avLst/>
          </a:prstGeom>
          <a:noFill/>
        </p:spPr>
        <p:txBody>
          <a:bodyPr wrap="square" anchor="t" lIns="0" rIns="0" tIns="0" bIns="0">
            <a:spAutoFit/>
          </a:bodyPr>
          <a:lstStyle/>
          <a:p>
            <a:pPr algn="l"/>
            <a:r>
              <a:rPr sz="4000" b="0" i="0">
                <a:solidFill>
                  <a:srgbClr val="5B3FD6"/>
                </a:solidFill>
                <a:latin typeface="Georgia"/>
              </a:rPr>
              <a:t>FY2024</a:t>
            </a:r>
          </a:p>
        </p:txBody>
      </p:sp>
      <p:sp>
        <p:nvSpPr>
          <p:cNvPr id="14" name="TextBox 13"/>
          <p:cNvSpPr txBox="1"/>
          <p:nvPr/>
        </p:nvSpPr>
        <p:spPr>
          <a:xfrm>
            <a:off x="4332122" y="2628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GUIDANCE REDUCED</a:t>
            </a:r>
          </a:p>
        </p:txBody>
      </p:sp>
      <p:sp>
        <p:nvSpPr>
          <p:cNvPr id="15" name="TextBox 14"/>
          <p:cNvSpPr txBox="1"/>
          <p:nvPr/>
        </p:nvSpPr>
        <p:spPr>
          <a:xfrm>
            <a:off x="4332122" y="28295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CEO tied it to the app's rollout</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35000"/>
          </a:xfrm>
          <a:prstGeom prst="rect">
            <a:avLst/>
          </a:prstGeom>
          <a:noFill/>
        </p:spPr>
        <p:txBody>
          <a:bodyPr wrap="square" anchor="t" lIns="0" rIns="0" tIns="0" bIns="0">
            <a:spAutoFit/>
          </a:bodyPr>
          <a:lstStyle/>
          <a:p>
            <a:pPr algn="l"/>
            <a:r>
              <a:rPr sz="4000" b="0" i="0">
                <a:solidFill>
                  <a:srgbClr val="5B3FD6"/>
                </a:solidFill>
                <a:latin typeface="Georgia"/>
              </a:rPr>
              <a:t>up to $30 m</a:t>
            </a:r>
          </a:p>
        </p:txBody>
      </p:sp>
      <p:sp>
        <p:nvSpPr>
          <p:cNvPr id="18" name="TextBox 17"/>
          <p:cNvSpPr txBox="1"/>
          <p:nvPr/>
        </p:nvSpPr>
        <p:spPr>
          <a:xfrm>
            <a:off x="8133892" y="2628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SHORT-TERM COST TO FIX</a:t>
            </a:r>
          </a:p>
        </p:txBody>
      </p:sp>
      <p:sp>
        <p:nvSpPr>
          <p:cNvPr id="19" name="TextBox 18"/>
          <p:cNvSpPr txBox="1"/>
          <p:nvPr/>
        </p:nvSpPr>
        <p:spPr>
          <a:xfrm>
            <a:off x="8133892" y="2829560"/>
            <a:ext cx="3527450" cy="193421"/>
          </a:xfrm>
          <a:prstGeom prst="rect">
            <a:avLst/>
          </a:prstGeom>
          <a:noFill/>
        </p:spPr>
        <p:txBody>
          <a:bodyPr wrap="square" anchor="t" lIns="0" rIns="0" tIns="0" bIns="0">
            <a:spAutoFit/>
          </a:bodyPr>
          <a:lstStyle/>
          <a:p>
            <a:pPr algn="l"/>
            <a:r>
              <a:rPr sz="950" b="0" i="0">
                <a:solidFill>
                  <a:srgbClr val="6B6690"/>
                </a:solidFill>
                <a:latin typeface="Calibri"/>
              </a:rPr>
              <a:t>set out in the annual report</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676656" y="354787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77824" y="3538728"/>
            <a:ext cx="10564063" cy="624840"/>
          </a:xfrm>
          <a:prstGeom prst="rect">
            <a:avLst/>
          </a:prstGeom>
          <a:noFill/>
        </p:spPr>
        <p:txBody>
          <a:bodyPr wrap="square" anchor="ctr" lIns="0" rIns="0" tIns="0" bIns="0">
            <a:spAutoFit/>
          </a:bodyPr>
          <a:lstStyle/>
          <a:p>
            <a:r>
              <a:rPr sz="1500" b="1">
                <a:solidFill>
                  <a:srgbClr val="5B3FD6"/>
                </a:solidFill>
                <a:latin typeface="Calibri"/>
              </a:rPr>
              <a:t>The claim. </a:t>
            </a:r>
            <a:r>
              <a:rPr sz="1500" b="0" i="0">
                <a:solidFill>
                  <a:srgbClr val="1A1440"/>
                </a:solidFill>
                <a:latin typeface="Calibri"/>
              </a:rPr>
              <a:t>A company can put a broken app into its numbers, and the head of Retail-Plus is asking whether his tier is the same story.</a:t>
            </a:r>
          </a:p>
        </p:txBody>
      </p:sp>
      <p:sp>
        <p:nvSpPr>
          <p:cNvPr id="24" name="Oval 23"/>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40080"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The memo and its evidence</a:t>
            </a:r>
          </a:p>
        </p:txBody>
      </p:sp>
      <p:sp>
        <p:nvSpPr>
          <p:cNvPr id="26" name="Oval 25"/>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22657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28" name="Oval 27"/>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3569303"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The debrief of wrong answers</a:t>
            </a:r>
          </a:p>
        </p:txBody>
      </p:sp>
      <p:sp>
        <p:nvSpPr>
          <p:cNvPr id="30" name="Oval 29"/>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5332952"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The second case</a:t>
            </a:r>
          </a:p>
        </p:txBody>
      </p:sp>
      <p:sp>
        <p:nvSpPr>
          <p:cNvPr id="32" name="Oval 31"/>
          <p:cNvSpPr/>
          <p:nvPr/>
        </p:nvSpPr>
        <p:spPr>
          <a:xfrm>
            <a:off x="63887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498526"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34" name="Oval 33"/>
          <p:cNvSpPr/>
          <p:nvPr/>
        </p:nvSpPr>
        <p:spPr>
          <a:xfrm>
            <a:off x="77383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7848123"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36" name="TextBox 3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  ·  4 / 30</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tests of a cause, and the call</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Run the cheap tests in order, timing first, and request the one that settles it.</a:t>
            </a:r>
          </a:p>
        </p:txBody>
      </p:sp>
      <p:graphicFrame>
        <p:nvGraphicFramePr>
          <p:cNvPr id="9" name="Table 8"/>
          <p:cNvGraphicFramePr>
            <a:graphicFrameLocks noGrp="1"/>
          </p:cNvGraphicFramePr>
          <p:nvPr/>
        </p:nvGraphicFramePr>
        <p:xfrm>
          <a:off x="530352" y="1956816"/>
          <a:ext cx="11130990" cy="1849120"/>
        </p:xfrm>
        <a:graphic>
          <a:graphicData uri="http://schemas.openxmlformats.org/drawingml/2006/table">
            <a:tbl>
              <a:tblPr firstRow="0" bandRow="0">
                <a:tableStyleId>{2D5ABB26-0587-4C30-8999-92F81FD0307C}</a:tableStyleId>
              </a:tblPr>
              <a:tblGrid>
                <a:gridCol w="3523233"/>
                <a:gridCol w="3523233"/>
                <a:gridCol w="4084524"/>
              </a:tblGrid>
              <a:tr h="369824">
                <a:tc>
                  <a:txBody>
                    <a:bodyPr/>
                    <a:lstStyle/>
                    <a:p>
                      <a:r>
                        <a:rPr sz="1450" b="1" i="0">
                          <a:solidFill>
                            <a:srgbClr val="FFFFFF"/>
                          </a:solidFill>
                          <a:latin typeface="Calibri"/>
                        </a:rPr>
                        <a:t>Option</a:t>
                      </a:r>
                    </a:p>
                  </a:txBody>
                  <a:tcPr marL="101600" marR="101600" marT="38100" marB="38100" anchor="ctr">
                    <a:solidFill>
                      <a:srgbClr val="1A0F5C"/>
                    </a:solidFill>
                  </a:tcPr>
                </a:tc>
                <a:tc>
                  <a:txBody>
                    <a:bodyPr/>
                    <a:lstStyle/>
                    <a:p>
                      <a:r>
                        <a:rPr sz="1450" b="1" i="0">
                          <a:solidFill>
                            <a:srgbClr val="FFFFFF"/>
                          </a:solidFill>
                          <a:latin typeface="Calibri"/>
                        </a:rPr>
                        <a:t>Reads</a:t>
                      </a:r>
                    </a:p>
                  </a:txBody>
                  <a:tcPr marL="101600" marR="101600" marT="38100" marB="38100" anchor="ctr">
                    <a:solidFill>
                      <a:srgbClr val="1A0F5C"/>
                    </a:solidFill>
                  </a:tcPr>
                </a:tc>
                <a:tc>
                  <a:txBody>
                    <a:bodyPr/>
                    <a:lstStyle/>
                    <a:p>
                      <a:r>
                        <a:rPr sz="1450" b="1" i="0">
                          <a:solidFill>
                            <a:srgbClr val="FFFFFF"/>
                          </a:solidFill>
                          <a:latin typeface="Calibri"/>
                        </a:rPr>
                        <a:t>Can rule out</a:t>
                      </a:r>
                    </a:p>
                  </a:txBody>
                  <a:tcPr marL="101600" marR="101600" marT="38100" marB="38100" anchor="ctr">
                    <a:solidFill>
                      <a:srgbClr val="1A0F5C"/>
                    </a:solidFill>
                  </a:tcPr>
                </a:tc>
              </a:tr>
              <a:tr h="369824">
                <a:tc>
                  <a:txBody>
                    <a:bodyPr/>
                    <a:lstStyle/>
                    <a:p>
                      <a:r>
                        <a:rPr sz="1400" b="0" i="0">
                          <a:solidFill>
                            <a:srgbClr val="1A1440"/>
                          </a:solidFill>
                          <a:latin typeface="Calibri"/>
                        </a:rPr>
                        <a:t>A. Before and after the break</a:t>
                      </a:r>
                    </a:p>
                  </a:txBody>
                  <a:tcPr marL="101600" marR="101600" marT="38100" marB="38100" anchor="ctr">
                    <a:solidFill>
                      <a:srgbClr val="FFFFFF"/>
                    </a:solidFill>
                  </a:tcPr>
                </a:tc>
                <a:tc>
                  <a:txBody>
                    <a:bodyPr/>
                    <a:lstStyle/>
                    <a:p>
                      <a:r>
                        <a:rPr sz="1400" b="0" i="0">
                          <a:solidFill>
                            <a:srgbClr val="1A1440"/>
                          </a:solidFill>
                          <a:latin typeface="Calibri"/>
                        </a:rPr>
                        <a:t>Retail-Plus orders, by date</a:t>
                      </a:r>
                    </a:p>
                  </a:txBody>
                  <a:tcPr marL="101600" marR="101600" marT="38100" marB="38100" anchor="ctr">
                    <a:solidFill>
                      <a:srgbClr val="FFFFFF"/>
                    </a:solidFill>
                  </a:tcPr>
                </a:tc>
                <a:tc>
                  <a:txBody>
                    <a:bodyPr/>
                    <a:lstStyle/>
                    <a:p>
                      <a:r>
                        <a:rPr sz="1400" b="0" i="0">
                          <a:solidFill>
                            <a:srgbClr val="1A1440"/>
                          </a:solidFill>
                          <a:latin typeface="Calibri"/>
                        </a:rPr>
                        <a:t>The button as the whole story</a:t>
                      </a:r>
                    </a:p>
                  </a:txBody>
                  <a:tcPr marL="101600" marR="101600" marT="38100" marB="38100" anchor="ctr">
                    <a:solidFill>
                      <a:srgbClr val="FFFFFF"/>
                    </a:solidFill>
                  </a:tcPr>
                </a:tc>
              </a:tr>
              <a:tr h="369824">
                <a:tc>
                  <a:txBody>
                    <a:bodyPr/>
                    <a:lstStyle/>
                    <a:p>
                      <a:r>
                        <a:rPr sz="1400" b="0" i="0">
                          <a:solidFill>
                            <a:srgbClr val="1A1440"/>
                          </a:solidFill>
                          <a:latin typeface="Calibri"/>
                        </a:rPr>
                        <a:t>B. A comparison segment</a:t>
                      </a:r>
                    </a:p>
                  </a:txBody>
                  <a:tcPr marL="101600" marR="101600" marT="38100" marB="38100" anchor="ctr">
                    <a:solidFill>
                      <a:srgbClr val="F4F2FA"/>
                    </a:solidFill>
                  </a:tcPr>
                </a:tc>
                <a:tc>
                  <a:txBody>
                    <a:bodyPr/>
                    <a:lstStyle/>
                    <a:p>
                      <a:r>
                        <a:rPr sz="1400" b="0" i="0">
                          <a:solidFill>
                            <a:srgbClr val="1A1440"/>
                          </a:solidFill>
                          <a:latin typeface="Calibri"/>
                        </a:rPr>
                        <a:t>Retail-Core, same months</a:t>
                      </a:r>
                    </a:p>
                  </a:txBody>
                  <a:tcPr marL="101600" marR="101600" marT="38100" marB="38100" anchor="ctr">
                    <a:solidFill>
                      <a:srgbClr val="F4F2FA"/>
                    </a:solidFill>
                  </a:tcPr>
                </a:tc>
                <a:tc>
                  <a:txBody>
                    <a:bodyPr/>
                    <a:lstStyle/>
                    <a:p>
                      <a:r>
                        <a:rPr sz="1400" b="0" i="0">
                          <a:solidFill>
                            <a:srgbClr val="1A1440"/>
                          </a:solidFill>
                          <a:latin typeface="Calibri"/>
                        </a:rPr>
                        <a:t>A season that hit everyone</a:t>
                      </a:r>
                    </a:p>
                  </a:txBody>
                  <a:tcPr marL="101600" marR="101600" marT="38100" marB="38100" anchor="ctr">
                    <a:solidFill>
                      <a:srgbClr val="F4F2FA"/>
                    </a:solidFill>
                  </a:tcPr>
                </a:tc>
              </a:tr>
              <a:tr h="369824">
                <a:tc>
                  <a:txBody>
                    <a:bodyPr/>
                    <a:lstStyle/>
                    <a:p>
                      <a:r>
                        <a:rPr sz="1400" b="0" i="0">
                          <a:solidFill>
                            <a:srgbClr val="1A1440"/>
                          </a:solidFill>
                          <a:latin typeface="Calibri"/>
                        </a:rPr>
                        <a:t>C. The channel it predicts</a:t>
                      </a:r>
                    </a:p>
                  </a:txBody>
                  <a:tcPr marL="101600" marR="101600" marT="38100" marB="38100" anchor="ctr">
                    <a:solidFill>
                      <a:srgbClr val="FFFFFF"/>
                    </a:solidFill>
                  </a:tcPr>
                </a:tc>
                <a:tc>
                  <a:txBody>
                    <a:bodyPr/>
                    <a:lstStyle/>
                    <a:p>
                      <a:r>
                        <a:rPr sz="1400" b="0" i="0">
                          <a:solidFill>
                            <a:srgbClr val="1A1440"/>
                          </a:solidFill>
                          <a:latin typeface="Calibri"/>
                        </a:rPr>
                        <a:t>Retail-Plus orders by channel</a:t>
                      </a:r>
                    </a:p>
                  </a:txBody>
                  <a:tcPr marL="101600" marR="101600" marT="38100" marB="38100" anchor="ctr">
                    <a:solidFill>
                      <a:srgbClr val="FFFFFF"/>
                    </a:solidFill>
                  </a:tcPr>
                </a:tc>
                <a:tc>
                  <a:txBody>
                    <a:bodyPr/>
                    <a:lstStyle/>
                    <a:p>
                      <a:r>
                        <a:rPr sz="1400" b="0" i="0">
                          <a:solidFill>
                            <a:srgbClr val="1A1440"/>
                          </a:solidFill>
                          <a:latin typeface="Calibri"/>
                        </a:rPr>
                        <a:t>An app-only cause</a:t>
                      </a:r>
                    </a:p>
                  </a:txBody>
                  <a:tcPr marL="101600" marR="101600" marT="38100" marB="38100" anchor="ctr">
                    <a:solidFill>
                      <a:srgbClr val="FFFFFF"/>
                    </a:solidFill>
                  </a:tcPr>
                </a:tc>
              </a:tr>
              <a:tr h="369824">
                <a:tc>
                  <a:txBody>
                    <a:bodyPr/>
                    <a:lstStyle/>
                    <a:p>
                      <a:r>
                        <a:rPr sz="1400" b="0" i="0">
                          <a:solidFill>
                            <a:srgbClr val="1A1440"/>
                          </a:solidFill>
                          <a:latin typeface="Calibri"/>
                        </a:rPr>
                        <a:t>D. The app's reorder logs</a:t>
                      </a:r>
                    </a:p>
                  </a:txBody>
                  <a:tcPr marL="101600" marR="101600" marT="38100" marB="38100" anchor="ctr">
                    <a:solidFill>
                      <a:srgbClr val="F4F2FA"/>
                    </a:solidFill>
                  </a:tcPr>
                </a:tc>
                <a:tc>
                  <a:txBody>
                    <a:bodyPr/>
                    <a:lstStyle/>
                    <a:p>
                      <a:r>
                        <a:rPr sz="1400" b="0" i="0">
                          <a:solidFill>
                            <a:srgbClr val="1A1440"/>
                          </a:solidFill>
                          <a:latin typeface="Calibri"/>
                        </a:rPr>
                        <a:t>A data request</a:t>
                      </a:r>
                    </a:p>
                  </a:txBody>
                  <a:tcPr marL="101600" marR="101600" marT="38100" marB="38100" anchor="ctr">
                    <a:solidFill>
                      <a:srgbClr val="F4F2FA"/>
                    </a:solidFill>
                  </a:tcPr>
                </a:tc>
                <a:tc>
                  <a:txBody>
                    <a:bodyPr/>
                    <a:lstStyle/>
                    <a:p>
                      <a:r>
                        <a:rPr sz="1400" b="0" i="0">
                          <a:solidFill>
                            <a:srgbClr val="1A1440"/>
                          </a:solidFill>
                          <a:latin typeface="Calibri"/>
                        </a:rPr>
                        <a:t>Nothing today; it settles it later</a:t>
                      </a:r>
                    </a:p>
                  </a:txBody>
                  <a:tcPr marL="101600" marR="101600" marT="38100" marB="38100" anchor="ctr">
                    <a:solidFill>
                      <a:srgbClr val="F4F2FA"/>
                    </a:solidFill>
                  </a:tcPr>
                </a:tc>
              </a:tr>
            </a:tbl>
          </a:graphicData>
        </a:graphic>
      </p:graphicFrame>
      <p:sp>
        <p:nvSpPr>
          <p:cNvPr id="10" name="Rounded Rectangle 9"/>
          <p:cNvSpPr/>
          <p:nvPr/>
        </p:nvSpPr>
        <p:spPr>
          <a:xfrm>
            <a:off x="530352" y="406196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189983"/>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180840"/>
            <a:ext cx="10564063" cy="624840"/>
          </a:xfrm>
          <a:prstGeom prst="rect">
            <a:avLst/>
          </a:prstGeom>
          <a:noFill/>
        </p:spPr>
        <p:txBody>
          <a:bodyPr wrap="square" anchor="ctr" lIns="0" rIns="0" tIns="0" bIns="0">
            <a:spAutoFit/>
          </a:bodyPr>
          <a:lstStyle/>
          <a:p>
            <a:r>
              <a:rPr sz="1500" b="1">
                <a:solidFill>
                  <a:srgbClr val="5B3FD6"/>
                </a:solidFill>
                <a:latin typeface="Calibri"/>
              </a:rPr>
              <a:t>The call. </a:t>
            </a:r>
            <a:r>
              <a:rPr sz="1500" b="0" i="0">
                <a:solidFill>
                  <a:srgbClr val="1A1440"/>
                </a:solidFill>
                <a:latin typeface="Calibri"/>
              </a:rPr>
              <a:t>A, B and C now, D requested today. </a:t>
            </a:r>
            <a:r>
              <a:rPr sz="1500" b="1" i="0">
                <a:solidFill>
                  <a:srgbClr val="1A1440"/>
                </a:solidFill>
                <a:latin typeface="Calibri"/>
              </a:rPr>
              <a:t>What would change it:</a:t>
            </a:r>
            <a:r>
              <a:rPr sz="1500" b="0" i="0">
                <a:solidFill>
                  <a:srgbClr val="1A1440"/>
                </a:solidFill>
                <a:latin typeface="Calibri"/>
              </a:rPr>
              <a:t> if the break turned out to be in June, A's verdict flips, and D's release date is how we would learn it.</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The memo and its evidence</a:t>
            </a:r>
          </a:p>
        </p:txBody>
      </p:sp>
      <p:sp>
        <p:nvSpPr>
          <p:cNvPr id="15" name="Oval 14"/>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657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17" name="Oval 16"/>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569303"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The debrief of wrong answers</a:t>
            </a:r>
          </a:p>
        </p:txBody>
      </p:sp>
      <p:sp>
        <p:nvSpPr>
          <p:cNvPr id="19" name="Oval 18"/>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332952"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The second case</a:t>
            </a:r>
          </a:p>
        </p:txBody>
      </p:sp>
      <p:sp>
        <p:nvSpPr>
          <p:cNvPr id="21" name="Oval 20"/>
          <p:cNvSpPr/>
          <p:nvPr/>
        </p:nvSpPr>
        <p:spPr>
          <a:xfrm>
            <a:off x="63887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498526"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23" name="Oval 22"/>
          <p:cNvSpPr/>
          <p:nvPr/>
        </p:nvSpPr>
        <p:spPr>
          <a:xfrm>
            <a:off x="77383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7848123"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  ·  5 / 30</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when did the tier drop below Q1?</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Retail-Plus orders by month, with Retail-Core beside it for comparison.</a:t>
            </a:r>
          </a:p>
        </p:txBody>
      </p:sp>
      <p:pic>
        <p:nvPicPr>
          <p:cNvPr id="9" name="mermaid diagram" descr="e1a2c198c224d605.png"/>
          <p:cNvPicPr>
            <a:picLocks noChangeAspect="1"/>
          </p:cNvPicPr>
          <p:nvPr/>
        </p:nvPicPr>
        <p:blipFill>
          <a:blip r:embed="rId5"/>
          <a:stretch>
            <a:fillRect/>
          </a:stretch>
        </p:blipFill>
        <p:spPr>
          <a:xfrm>
            <a:off x="2152497" y="1956816"/>
            <a:ext cx="7886700" cy="1600200"/>
          </a:xfrm>
          <a:prstGeom prst="rect">
            <a:avLst/>
          </a:prstGeom>
        </p:spPr>
      </p:pic>
      <p:sp>
        <p:nvSpPr>
          <p:cNvPr id="10" name="Rounded Rectangle 9"/>
          <p:cNvSpPr/>
          <p:nvPr/>
        </p:nvSpPr>
        <p:spPr>
          <a:xfrm>
            <a:off x="530352" y="3703320"/>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831336"/>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822192"/>
            <a:ext cx="10564063" cy="3581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a) September, after the break; b) August, when it broke; c) July, before it broke; d) never.</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The memo and its evidence</a:t>
            </a:r>
          </a:p>
        </p:txBody>
      </p:sp>
      <p:sp>
        <p:nvSpPr>
          <p:cNvPr id="15" name="Oval 14"/>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657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17" name="Oval 16"/>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569303"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The debrief of wrong answers</a:t>
            </a:r>
          </a:p>
        </p:txBody>
      </p:sp>
      <p:sp>
        <p:nvSpPr>
          <p:cNvPr id="19" name="Oval 18"/>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332952"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The second case</a:t>
            </a:r>
          </a:p>
        </p:txBody>
      </p:sp>
      <p:sp>
        <p:nvSpPr>
          <p:cNvPr id="21" name="Oval 20"/>
          <p:cNvSpPr/>
          <p:nvPr/>
        </p:nvSpPr>
        <p:spPr>
          <a:xfrm>
            <a:off x="63887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498526"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23" name="Oval 22"/>
          <p:cNvSpPr/>
          <p:nvPr/>
        </p:nvSpPr>
        <p:spPr>
          <a:xfrm>
            <a:off x="77383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7848123"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  ·  6 / 30</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July, weeks before the button broke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Retail-Plus stepped down in July while Retail-Core held level through the same months.</a:t>
            </a:r>
          </a:p>
        </p:txBody>
      </p:sp>
      <p:pic>
        <p:nvPicPr>
          <p:cNvPr id="9" name="mermaid diagram" descr="70e24821516b80ec.png"/>
          <p:cNvPicPr>
            <a:picLocks noChangeAspect="1"/>
          </p:cNvPicPr>
          <p:nvPr/>
        </p:nvPicPr>
        <p:blipFill>
          <a:blip r:embed="rId5"/>
          <a:stretch>
            <a:fillRect/>
          </a:stretch>
        </p:blipFill>
        <p:spPr>
          <a:xfrm>
            <a:off x="2010511" y="1664208"/>
            <a:ext cx="8170672" cy="4085336"/>
          </a:xfrm>
          <a:prstGeom prst="rect">
            <a:avLst/>
          </a:prstGeom>
        </p:spPr>
      </p:pic>
      <p:sp>
        <p:nvSpPr>
          <p:cNvPr id="10" name="TextBox 9"/>
          <p:cNvSpPr txBox="1"/>
          <p:nvPr/>
        </p:nvSpPr>
        <p:spPr>
          <a:xfrm>
            <a:off x="530352" y="5795264"/>
            <a:ext cx="11130991" cy="404367"/>
          </a:xfrm>
          <a:prstGeom prst="rect">
            <a:avLst/>
          </a:prstGeom>
          <a:noFill/>
        </p:spPr>
        <p:txBody>
          <a:bodyPr wrap="square" anchor="t" lIns="0" rIns="0" tIns="0" bIns="0">
            <a:spAutoFit/>
          </a:bodyPr>
          <a:lstStyle/>
          <a:p>
            <a:r>
              <a:rPr sz="1600" b="0" i="0">
                <a:solidFill>
                  <a:srgbClr val="1A1440"/>
                </a:solidFill>
                <a:latin typeface="Calibri"/>
              </a:rPr>
              <a:t>The line that falls from 13 to 9 in July is Retail-Plus; the level line is Retail-Core.</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The memo and its evidence</a:t>
            </a:r>
          </a:p>
        </p:txBody>
      </p:sp>
      <p:sp>
        <p:nvSpPr>
          <p:cNvPr id="13" name="Oval 12"/>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657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15" name="Oval 14"/>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569303"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The debrief of wrong answers</a:t>
            </a:r>
          </a:p>
        </p:txBody>
      </p:sp>
      <p:sp>
        <p:nvSpPr>
          <p:cNvPr id="17" name="Oval 16"/>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332952"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The second case</a:t>
            </a:r>
          </a:p>
        </p:txBody>
      </p:sp>
      <p:sp>
        <p:nvSpPr>
          <p:cNvPr id="19" name="Oval 18"/>
          <p:cNvSpPr/>
          <p:nvPr/>
        </p:nvSpPr>
        <p:spPr>
          <a:xfrm>
            <a:off x="63887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498526"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21" name="Oval 20"/>
          <p:cNvSpPr/>
          <p:nvPr/>
        </p:nvSpPr>
        <p:spPr>
          <a:xfrm>
            <a:off x="77383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7848123"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  ·  7 / 30</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plausible wrong answer: the button cost 25</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hurried memo charges the button with the tier's whole quarter.</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25</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ORDERS THE BUTTON "COST"</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51 in Q1 less 26 in Q2</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Rs 65,250</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RUPEES THE BUTTON "COST"</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whole tier's fall</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0</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DAYS CHECKED BEFORE THE BREAK</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missing check</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758952" y="375208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bug_39ada6eff46d.png"/>
          <p:cNvPicPr>
            <a:picLocks noChangeAspect="1"/>
          </p:cNvPicPr>
          <p:nvPr/>
        </p:nvPicPr>
        <p:blipFill>
          <a:blip r:embed="rId4"/>
          <a:stretch>
            <a:fillRect/>
          </a:stretch>
        </p:blipFill>
        <p:spPr>
          <a:xfrm>
            <a:off x="868680" y="3861816"/>
            <a:ext cx="237744" cy="237744"/>
          </a:xfrm>
          <a:prstGeom prst="rect">
            <a:avLst/>
          </a:prstGeom>
        </p:spPr>
      </p:pic>
      <p:sp>
        <p:nvSpPr>
          <p:cNvPr id="24" name="TextBox 23"/>
          <p:cNvSpPr txBox="1"/>
          <p:nvPr/>
        </p:nvSpPr>
        <p:spPr>
          <a:xfrm>
            <a:off x="1399031" y="356616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25" name="TextBox 24"/>
          <p:cNvSpPr txBox="1"/>
          <p:nvPr/>
        </p:nvSpPr>
        <p:spPr>
          <a:xfrm>
            <a:off x="1399031" y="3785616"/>
            <a:ext cx="9987991" cy="682752"/>
          </a:xfrm>
          <a:prstGeom prst="rect">
            <a:avLst/>
          </a:prstGeom>
          <a:noFill/>
        </p:spPr>
        <p:txBody>
          <a:bodyPr wrap="square" anchor="t" lIns="0" rIns="0" tIns="0" bIns="0">
            <a:spAutoFit/>
          </a:bodyPr>
          <a:lstStyle/>
          <a:p>
            <a:r>
              <a:rPr sz="1500" b="0" i="0">
                <a:solidFill>
                  <a:srgbClr val="1A1440"/>
                </a:solidFill>
                <a:latin typeface="Calibri"/>
              </a:rPr>
              <a:t>Engineering is told the fix recovers 25 orders a quarter; it ships, recovers a handful, and the tier's real problem has had another quarter to run.</a:t>
            </a:r>
          </a:p>
        </p:txBody>
      </p:sp>
      <p:sp>
        <p:nvSpPr>
          <p:cNvPr id="26" name="Oval 25"/>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The memo and its evidence</a:t>
            </a:r>
          </a:p>
        </p:txBody>
      </p:sp>
      <p:sp>
        <p:nvSpPr>
          <p:cNvPr id="28" name="Oval 27"/>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2657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30" name="Oval 29"/>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569303"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The debrief of wrong answers</a:t>
            </a:r>
          </a:p>
        </p:txBody>
      </p:sp>
      <p:sp>
        <p:nvSpPr>
          <p:cNvPr id="32" name="Oval 31"/>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5332952"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The second case</a:t>
            </a:r>
          </a:p>
        </p:txBody>
      </p:sp>
      <p:sp>
        <p:nvSpPr>
          <p:cNvPr id="34" name="Oval 33"/>
          <p:cNvSpPr/>
          <p:nvPr/>
        </p:nvSpPr>
        <p:spPr>
          <a:xfrm>
            <a:off x="63887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498526"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36" name="Oval 35"/>
          <p:cNvSpPr/>
          <p:nvPr/>
        </p:nvSpPr>
        <p:spPr>
          <a:xfrm>
            <a:off x="77383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7848123"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38" name="TextBox 3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  ·  8 / 30</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Why it is wrong, and the ceiling: about 4</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Split Q2 at the break and give each side its window; the rate had fallen by more than a third already.</a:t>
            </a:r>
          </a:p>
        </p:txBody>
      </p:sp>
      <p:graphicFrame>
        <p:nvGraphicFramePr>
          <p:cNvPr id="9" name="Table 8"/>
          <p:cNvGraphicFramePr>
            <a:graphicFrameLocks noGrp="1"/>
          </p:cNvGraphicFramePr>
          <p:nvPr/>
        </p:nvGraphicFramePr>
        <p:xfrm>
          <a:off x="530352" y="1956816"/>
          <a:ext cx="11130991" cy="1341120"/>
        </p:xfrm>
        <a:graphic>
          <a:graphicData uri="http://schemas.openxmlformats.org/drawingml/2006/table">
            <a:tbl>
              <a:tblPr firstRow="0" bandRow="0">
                <a:tableStyleId>{2D5ABB26-0587-4C30-8999-92F81FD0307C}</a:tableStyleId>
              </a:tblPr>
              <a:tblGrid>
                <a:gridCol w="6138359"/>
                <a:gridCol w="914400"/>
                <a:gridCol w="914400"/>
                <a:gridCol w="3163832"/>
              </a:tblGrid>
              <a:tr h="335280">
                <a:tc>
                  <a:txBody>
                    <a:bodyPr/>
                    <a:lstStyle/>
                    <a:p>
                      <a:r>
                        <a:rPr sz="1250" b="1" i="0">
                          <a:solidFill>
                            <a:srgbClr val="FFFFFF"/>
                          </a:solidFill>
                          <a:latin typeface="Calibri"/>
                        </a:rPr>
                        <a:t>Window</a:t>
                      </a:r>
                    </a:p>
                  </a:txBody>
                  <a:tcPr marL="101600" marR="101600" marT="38100" marB="38100" anchor="ctr">
                    <a:solidFill>
                      <a:srgbClr val="1A0F5C"/>
                    </a:solidFill>
                  </a:tcPr>
                </a:tc>
                <a:tc>
                  <a:txBody>
                    <a:bodyPr/>
                    <a:lstStyle/>
                    <a:p>
                      <a:r>
                        <a:rPr sz="1250" b="1" i="0">
                          <a:solidFill>
                            <a:srgbClr val="FFFFFF"/>
                          </a:solidFill>
                          <a:latin typeface="Calibri"/>
                        </a:rPr>
                        <a:t>Days</a:t>
                      </a:r>
                    </a:p>
                  </a:txBody>
                  <a:tcPr marL="101600" marR="101600" marT="38100" marB="38100" anchor="ctr">
                    <a:solidFill>
                      <a:srgbClr val="1A0F5C"/>
                    </a:solidFill>
                  </a:tcPr>
                </a:tc>
                <a:tc>
                  <a:txBody>
                    <a:bodyPr/>
                    <a:lstStyle/>
                    <a:p>
                      <a:r>
                        <a:rPr sz="1250" b="1" i="0">
                          <a:solidFill>
                            <a:srgbClr val="FFFFFF"/>
                          </a:solidFill>
                          <a:latin typeface="Calibri"/>
                        </a:rPr>
                        <a:t>Orders</a:t>
                      </a:r>
                    </a:p>
                  </a:txBody>
                  <a:tcPr marL="101600" marR="101600" marT="38100" marB="38100" anchor="ctr">
                    <a:solidFill>
                      <a:srgbClr val="1A0F5C"/>
                    </a:solidFill>
                  </a:tcPr>
                </a:tc>
                <a:tc>
                  <a:txBody>
                    <a:bodyPr/>
                    <a:lstStyle/>
                    <a:p>
                      <a:r>
                        <a:rPr sz="1250" b="1" i="0">
                          <a:solidFill>
                            <a:srgbClr val="FFFFFF"/>
                          </a:solidFill>
                          <a:latin typeface="Calibri"/>
                        </a:rPr>
                        <a:t>Per week</a:t>
                      </a:r>
                    </a:p>
                  </a:txBody>
                  <a:tcPr marL="101600" marR="101600" marT="38100" marB="38100" anchor="ctr">
                    <a:solidFill>
                      <a:srgbClr val="1A0F5C"/>
                    </a:solidFill>
                  </a:tcPr>
                </a:tc>
              </a:tr>
              <a:tr h="335280">
                <a:tc>
                  <a:txBody>
                    <a:bodyPr/>
                    <a:lstStyle/>
                    <a:p>
                      <a:r>
                        <a:rPr sz="1200" b="0" i="0">
                          <a:solidFill>
                            <a:srgbClr val="1A1440"/>
                          </a:solidFill>
                          <a:latin typeface="Calibri"/>
                        </a:rPr>
                        <a:t>Q1, 1 Apr to 30 Jun</a:t>
                      </a:r>
                    </a:p>
                  </a:txBody>
                  <a:tcPr marL="101600" marR="101600" marT="38100" marB="38100" anchor="ctr">
                    <a:solidFill>
                      <a:srgbClr val="FFFFFF"/>
                    </a:solidFill>
                  </a:tcPr>
                </a:tc>
                <a:tc>
                  <a:txBody>
                    <a:bodyPr/>
                    <a:lstStyle/>
                    <a:p>
                      <a:r>
                        <a:rPr sz="1200" b="0" i="0">
                          <a:solidFill>
                            <a:srgbClr val="1A1440"/>
                          </a:solidFill>
                          <a:latin typeface="Calibri"/>
                        </a:rPr>
                        <a:t>91</a:t>
                      </a:r>
                    </a:p>
                  </a:txBody>
                  <a:tcPr marL="101600" marR="101600" marT="38100" marB="38100" anchor="ctr">
                    <a:solidFill>
                      <a:srgbClr val="FFFFFF"/>
                    </a:solidFill>
                  </a:tcPr>
                </a:tc>
                <a:tc>
                  <a:txBody>
                    <a:bodyPr/>
                    <a:lstStyle/>
                    <a:p>
                      <a:r>
                        <a:rPr sz="1200" b="0" i="0">
                          <a:solidFill>
                            <a:srgbClr val="1A1440"/>
                          </a:solidFill>
                          <a:latin typeface="Calibri"/>
                        </a:rPr>
                        <a:t>51</a:t>
                      </a:r>
                    </a:p>
                  </a:txBody>
                  <a:tcPr marL="101600" marR="101600" marT="38100" marB="38100" anchor="ctr">
                    <a:solidFill>
                      <a:srgbClr val="FFFFFF"/>
                    </a:solidFill>
                  </a:tcPr>
                </a:tc>
                <a:tc>
                  <a:txBody>
                    <a:bodyPr/>
                    <a:lstStyle/>
                    <a:p>
                      <a:r>
                        <a:rPr sz="1200" b="0" i="0">
                          <a:solidFill>
                            <a:srgbClr val="1A1440"/>
                          </a:solidFill>
                          <a:latin typeface="Calibri"/>
                        </a:rPr>
                        <a:t>3.92</a:t>
                      </a:r>
                    </a:p>
                  </a:txBody>
                  <a:tcPr marL="101600" marR="101600" marT="38100" marB="38100" anchor="ctr">
                    <a:solidFill>
                      <a:srgbClr val="FFFFFF"/>
                    </a:solidFill>
                  </a:tcPr>
                </a:tc>
              </a:tr>
              <a:tr h="335280">
                <a:tc>
                  <a:txBody>
                    <a:bodyPr/>
                    <a:lstStyle/>
                    <a:p>
                      <a:r>
                        <a:rPr sz="1200" b="0" i="0">
                          <a:solidFill>
                            <a:srgbClr val="1A1440"/>
                          </a:solidFill>
                          <a:latin typeface="Calibri"/>
                        </a:rPr>
                        <a:t>Q2, 1 Jul to 24 Aug</a:t>
                      </a:r>
                    </a:p>
                  </a:txBody>
                  <a:tcPr marL="101600" marR="101600" marT="38100" marB="38100" anchor="ctr">
                    <a:solidFill>
                      <a:srgbClr val="F4F2FA"/>
                    </a:solidFill>
                  </a:tcPr>
                </a:tc>
                <a:tc>
                  <a:txBody>
                    <a:bodyPr/>
                    <a:lstStyle/>
                    <a:p>
                      <a:r>
                        <a:rPr sz="1200" b="0" i="0">
                          <a:solidFill>
                            <a:srgbClr val="1A1440"/>
                          </a:solidFill>
                          <a:latin typeface="Calibri"/>
                        </a:rPr>
                        <a:t>55</a:t>
                      </a:r>
                    </a:p>
                  </a:txBody>
                  <a:tcPr marL="101600" marR="101600" marT="38100" marB="38100" anchor="ctr">
                    <a:solidFill>
                      <a:srgbClr val="F4F2FA"/>
                    </a:solidFill>
                  </a:tcPr>
                </a:tc>
                <a:tc>
                  <a:txBody>
                    <a:bodyPr/>
                    <a:lstStyle/>
                    <a:p>
                      <a:r>
                        <a:rPr sz="1200" b="0" i="0">
                          <a:solidFill>
                            <a:srgbClr val="1A1440"/>
                          </a:solidFill>
                          <a:latin typeface="Calibri"/>
                        </a:rPr>
                        <a:t>18</a:t>
                      </a:r>
                    </a:p>
                  </a:txBody>
                  <a:tcPr marL="101600" marR="101600" marT="38100" marB="38100" anchor="ctr">
                    <a:solidFill>
                      <a:srgbClr val="F4F2FA"/>
                    </a:solidFill>
                  </a:tcPr>
                </a:tc>
                <a:tc>
                  <a:txBody>
                    <a:bodyPr/>
                    <a:lstStyle/>
                    <a:p>
                      <a:r>
                        <a:rPr sz="1200" b="0" i="0">
                          <a:solidFill>
                            <a:srgbClr val="1A1440"/>
                          </a:solidFill>
                          <a:latin typeface="Calibri"/>
                        </a:rPr>
                        <a:t>2.29</a:t>
                      </a:r>
                    </a:p>
                  </a:txBody>
                  <a:tcPr marL="101600" marR="101600" marT="38100" marB="38100" anchor="ctr">
                    <a:solidFill>
                      <a:srgbClr val="F4F2FA"/>
                    </a:solidFill>
                  </a:tcPr>
                </a:tc>
              </a:tr>
              <a:tr h="335280">
                <a:tc>
                  <a:txBody>
                    <a:bodyPr/>
                    <a:lstStyle/>
                    <a:p>
                      <a:r>
                        <a:rPr sz="1200" b="0" i="0">
                          <a:solidFill>
                            <a:srgbClr val="1A1440"/>
                          </a:solidFill>
                          <a:latin typeface="Calibri"/>
                        </a:rPr>
                        <a:t>Q2, 25 Aug to 30 Sep</a:t>
                      </a:r>
                    </a:p>
                  </a:txBody>
                  <a:tcPr marL="101600" marR="101600" marT="38100" marB="38100" anchor="ctr">
                    <a:solidFill>
                      <a:srgbClr val="FFFFFF"/>
                    </a:solidFill>
                  </a:tcPr>
                </a:tc>
                <a:tc>
                  <a:txBody>
                    <a:bodyPr/>
                    <a:lstStyle/>
                    <a:p>
                      <a:r>
                        <a:rPr sz="1200" b="0" i="0">
                          <a:solidFill>
                            <a:srgbClr val="1A1440"/>
                          </a:solidFill>
                          <a:latin typeface="Calibri"/>
                        </a:rPr>
                        <a:t>37</a:t>
                      </a:r>
                    </a:p>
                  </a:txBody>
                  <a:tcPr marL="101600" marR="101600" marT="38100" marB="38100" anchor="ctr">
                    <a:solidFill>
                      <a:srgbClr val="FFFFFF"/>
                    </a:solidFill>
                  </a:tcPr>
                </a:tc>
                <a:tc>
                  <a:txBody>
                    <a:bodyPr/>
                    <a:lstStyle/>
                    <a:p>
                      <a:r>
                        <a:rPr sz="1200" b="0" i="0">
                          <a:solidFill>
                            <a:srgbClr val="1A1440"/>
                          </a:solidFill>
                          <a:latin typeface="Calibri"/>
                        </a:rPr>
                        <a:t>8</a:t>
                      </a:r>
                    </a:p>
                  </a:txBody>
                  <a:tcPr marL="101600" marR="101600" marT="38100" marB="38100" anchor="ctr">
                    <a:solidFill>
                      <a:srgbClr val="FFFFFF"/>
                    </a:solidFill>
                  </a:tcPr>
                </a:tc>
                <a:tc>
                  <a:txBody>
                    <a:bodyPr/>
                    <a:lstStyle/>
                    <a:p>
                      <a:r>
                        <a:rPr sz="1200" b="0" i="0">
                          <a:solidFill>
                            <a:srgbClr val="1A1440"/>
                          </a:solidFill>
                          <a:latin typeface="Calibri"/>
                        </a:rPr>
                        <a:t>1.51</a:t>
                      </a:r>
                    </a:p>
                  </a:txBody>
                  <a:tcPr marL="101600" marR="101600" marT="38100" marB="38100" anchor="ctr">
                    <a:solidFill>
                      <a:srgbClr val="FFFFFF"/>
                    </a:solidFill>
                  </a:tcPr>
                </a:tc>
              </a:tr>
            </a:tbl>
          </a:graphicData>
        </a:graphic>
      </p:graphicFrame>
      <p:sp>
        <p:nvSpPr>
          <p:cNvPr id="10" name="Rounded Rectangle 9"/>
          <p:cNvSpPr/>
          <p:nvPr/>
        </p:nvSpPr>
        <p:spPr>
          <a:xfrm>
            <a:off x="530352" y="355396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681984"/>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672840"/>
            <a:ext cx="10564063" cy="624840"/>
          </a:xfrm>
          <a:prstGeom prst="rect">
            <a:avLst/>
          </a:prstGeom>
          <a:noFill/>
        </p:spPr>
        <p:txBody>
          <a:bodyPr wrap="square" anchor="ctr" lIns="0" rIns="0" tIns="0" bIns="0">
            <a:spAutoFit/>
          </a:bodyPr>
          <a:lstStyle/>
          <a:p>
            <a:r>
              <a:rPr sz="1500" b="1">
                <a:solidFill>
                  <a:srgbClr val="5B3FD6"/>
                </a:solidFill>
                <a:latin typeface="Calibri"/>
              </a:rPr>
              <a:t>The fix. </a:t>
            </a:r>
            <a:r>
              <a:rPr sz="1500" b="0" i="0">
                <a:solidFill>
                  <a:srgbClr val="1A1440"/>
                </a:solidFill>
                <a:latin typeface="Calibri"/>
              </a:rPr>
              <a:t>At the pre-break pace, 37 days would have carried about 12.1 orders; the tier placed 8. The button explains at most about 4 orders, about Rs 12,400, and that is a ceiling.</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The memo and its evidence</a:t>
            </a:r>
          </a:p>
        </p:txBody>
      </p:sp>
      <p:sp>
        <p:nvSpPr>
          <p:cNvPr id="15" name="Oval 14"/>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657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17" name="Oval 16"/>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569303"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The debrief of wrong answers</a:t>
            </a:r>
          </a:p>
        </p:txBody>
      </p:sp>
      <p:sp>
        <p:nvSpPr>
          <p:cNvPr id="19" name="Oval 18"/>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332952"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The second case</a:t>
            </a:r>
          </a:p>
        </p:txBody>
      </p:sp>
      <p:sp>
        <p:nvSpPr>
          <p:cNvPr id="21" name="Oval 20"/>
          <p:cNvSpPr/>
          <p:nvPr/>
        </p:nvSpPr>
        <p:spPr>
          <a:xfrm>
            <a:off x="63887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498526"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23" name="Oval 22"/>
          <p:cNvSpPr/>
          <p:nvPr/>
        </p:nvSpPr>
        <p:spPr>
          <a:xfrm>
            <a:off x="77383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7848123"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  ·  9 / 30</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season and the channel, both tested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 season that hit everyone would move Retail-Core; an app-only cause would leave the web and store alone.</a:t>
            </a:r>
          </a:p>
        </p:txBody>
      </p:sp>
      <p:pic>
        <p:nvPicPr>
          <p:cNvPr id="9" name="mermaid diagram" descr="1c13bac174197499.png"/>
          <p:cNvPicPr>
            <a:picLocks noChangeAspect="1"/>
          </p:cNvPicPr>
          <p:nvPr/>
        </p:nvPicPr>
        <p:blipFill>
          <a:blip r:embed="rId5"/>
          <a:stretch>
            <a:fillRect/>
          </a:stretch>
        </p:blipFill>
        <p:spPr>
          <a:xfrm>
            <a:off x="2845155" y="1664208"/>
            <a:ext cx="6501384" cy="3250692"/>
          </a:xfrm>
          <a:prstGeom prst="rect">
            <a:avLst/>
          </a:prstGeom>
        </p:spPr>
      </p:pic>
      <p:sp>
        <p:nvSpPr>
          <p:cNvPr id="10" name="Rounded Rectangle 9"/>
          <p:cNvSpPr/>
          <p:nvPr/>
        </p:nvSpPr>
        <p:spPr>
          <a:xfrm>
            <a:off x="530352" y="4960620"/>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088636"/>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079492"/>
            <a:ext cx="10564063" cy="891540"/>
          </a:xfrm>
          <a:prstGeom prst="rect">
            <a:avLst/>
          </a:prstGeom>
          <a:noFill/>
        </p:spPr>
        <p:txBody>
          <a:bodyPr wrap="square" anchor="ctr" lIns="0" rIns="0" tIns="0" bIns="0">
            <a:spAutoFit/>
          </a:bodyPr>
          <a:lstStyle/>
          <a:p>
            <a:r>
              <a:rPr sz="1500" b="1">
                <a:solidFill>
                  <a:srgbClr val="5B3FD6"/>
                </a:solidFill>
                <a:latin typeface="Calibri"/>
              </a:rPr>
              <a:t>What it says. </a:t>
            </a:r>
            <a:r>
              <a:rPr sz="1500" b="0" i="0">
                <a:solidFill>
                  <a:srgbClr val="1A1440"/>
                </a:solidFill>
                <a:latin typeface="Calibri"/>
              </a:rPr>
              <a:t>Retail-Core kept 95 percent of its Q1 orders and Retail-Plus 51, so an across-the-board season does not fit; every channel fell, so an app-only cause does not fit. A season that hit members harder still fits, and last year's Q2 by segment settles it.</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The memo and its evidence</a:t>
            </a:r>
          </a:p>
        </p:txBody>
      </p:sp>
      <p:sp>
        <p:nvSpPr>
          <p:cNvPr id="15" name="Oval 14"/>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657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17" name="Oval 16"/>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569303"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The debrief of wrong answers</a:t>
            </a:r>
          </a:p>
        </p:txBody>
      </p:sp>
      <p:sp>
        <p:nvSpPr>
          <p:cNvPr id="19" name="Oval 18"/>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332952"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The second case</a:t>
            </a:r>
          </a:p>
        </p:txBody>
      </p:sp>
      <p:sp>
        <p:nvSpPr>
          <p:cNvPr id="21" name="Oval 20"/>
          <p:cNvSpPr/>
          <p:nvPr/>
        </p:nvSpPr>
        <p:spPr>
          <a:xfrm>
            <a:off x="63887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498526"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23" name="Oval 22"/>
          <p:cNvSpPr/>
          <p:nvPr/>
        </p:nvSpPr>
        <p:spPr>
          <a:xfrm>
            <a:off x="77383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7848123"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  ·  10 / 30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second route: the pace the tier had set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Carry the pre-break pace forward and count the shortfall after the break: the same 4.1 orders.</a:t>
            </a:r>
          </a:p>
        </p:txBody>
      </p:sp>
      <p:pic>
        <p:nvPicPr>
          <p:cNvPr id="9" name="mermaid diagram" descr="cf313b1da446c501.png"/>
          <p:cNvPicPr>
            <a:picLocks noChangeAspect="1"/>
          </p:cNvPicPr>
          <p:nvPr/>
        </p:nvPicPr>
        <p:blipFill>
          <a:blip r:embed="rId5"/>
          <a:stretch>
            <a:fillRect/>
          </a:stretch>
        </p:blipFill>
        <p:spPr>
          <a:xfrm>
            <a:off x="780897" y="1956816"/>
            <a:ext cx="10629900" cy="1600200"/>
          </a:xfrm>
          <a:prstGeom prst="rect">
            <a:avLst/>
          </a:prstGeom>
        </p:spPr>
      </p:pic>
      <p:sp>
        <p:nvSpPr>
          <p:cNvPr id="10" name="Rounded Rectangle 9"/>
          <p:cNvSpPr/>
          <p:nvPr/>
        </p:nvSpPr>
        <p:spPr>
          <a:xfrm>
            <a:off x="530352" y="3703320"/>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831336"/>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822192"/>
            <a:ext cx="10564063" cy="624840"/>
          </a:xfrm>
          <a:prstGeom prst="rect">
            <a:avLst/>
          </a:prstGeom>
          <a:noFill/>
        </p:spPr>
        <p:txBody>
          <a:bodyPr wrap="square" anchor="ctr" lIns="0" rIns="0" tIns="0" bIns="0">
            <a:spAutoFit/>
          </a:bodyPr>
          <a:lstStyle/>
          <a:p>
            <a:r>
              <a:rPr sz="1500" b="1">
                <a:solidFill>
                  <a:srgbClr val="5B3FD6"/>
                </a:solidFill>
                <a:latin typeface="Calibri"/>
              </a:rPr>
              <a:t>When to switch. </a:t>
            </a:r>
            <a:r>
              <a:rPr sz="1500" b="0" i="0">
                <a:solidFill>
                  <a:srgbClr val="1A1440"/>
                </a:solidFill>
                <a:latin typeface="Calibri"/>
              </a:rPr>
              <a:t>Write the rate route in the memo; draw the counting route, since a line bending away from its own pace is what a room can see.</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The memo and its evidence</a:t>
            </a:r>
          </a:p>
        </p:txBody>
      </p:sp>
      <p:sp>
        <p:nvSpPr>
          <p:cNvPr id="15" name="Oval 14"/>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657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17" name="Oval 16"/>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569303"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The debrief of wrong answers</a:t>
            </a:r>
          </a:p>
        </p:txBody>
      </p:sp>
      <p:sp>
        <p:nvSpPr>
          <p:cNvPr id="19" name="Oval 18"/>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332952"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The second case</a:t>
            </a:r>
          </a:p>
        </p:txBody>
      </p:sp>
      <p:sp>
        <p:nvSpPr>
          <p:cNvPr id="21" name="Oval 20"/>
          <p:cNvSpPr/>
          <p:nvPr/>
        </p:nvSpPr>
        <p:spPr>
          <a:xfrm>
            <a:off x="63887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498526"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23" name="Oval 22"/>
          <p:cNvSpPr/>
          <p:nvPr/>
        </p:nvSpPr>
        <p:spPr>
          <a:xfrm>
            <a:off x="77383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7848123"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S9  ·  11 / 30</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memo: what we know, what we are guessing</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claim, two hypotheses with the evidence that settles each, and a rival.</a:t>
            </a:r>
          </a:p>
        </p:txBody>
      </p:sp>
      <p:pic>
        <p:nvPicPr>
          <p:cNvPr id="9" name="mermaid diagram" descr="103ced1a8663a069.png"/>
          <p:cNvPicPr>
            <a:picLocks noChangeAspect="1"/>
          </p:cNvPicPr>
          <p:nvPr/>
        </p:nvPicPr>
        <p:blipFill>
          <a:blip r:embed="rId7"/>
          <a:stretch>
            <a:fillRect/>
          </a:stretch>
        </p:blipFill>
        <p:spPr>
          <a:xfrm>
            <a:off x="982979" y="1682496"/>
            <a:ext cx="3881071" cy="4517136"/>
          </a:xfrm>
          <a:prstGeom prst="rect">
            <a:avLst/>
          </a:prstGeom>
        </p:spPr>
      </p:pic>
      <p:sp>
        <p:nvSpPr>
          <p:cNvPr id="10" name="Rounded Rectangle 9"/>
          <p:cNvSpPr/>
          <p:nvPr/>
        </p:nvSpPr>
        <p:spPr>
          <a:xfrm>
            <a:off x="5761917" y="1956816"/>
            <a:ext cx="5899425" cy="163982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5990517" y="254812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5"/>
          <a:stretch>
            <a:fillRect/>
          </a:stretch>
        </p:blipFill>
        <p:spPr>
          <a:xfrm>
            <a:off x="6100245" y="2657856"/>
            <a:ext cx="237744" cy="237744"/>
          </a:xfrm>
          <a:prstGeom prst="rect">
            <a:avLst/>
          </a:prstGeom>
        </p:spPr>
      </p:pic>
      <p:sp>
        <p:nvSpPr>
          <p:cNvPr id="13" name="TextBox 12"/>
          <p:cNvSpPr txBox="1"/>
          <p:nvPr/>
        </p:nvSpPr>
        <p:spPr>
          <a:xfrm>
            <a:off x="6630597" y="2103120"/>
            <a:ext cx="4756425"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6630597" y="2322576"/>
            <a:ext cx="4756425" cy="1200912"/>
          </a:xfrm>
          <a:prstGeom prst="rect">
            <a:avLst/>
          </a:prstGeom>
          <a:noFill/>
        </p:spPr>
        <p:txBody>
          <a:bodyPr wrap="square" anchor="t" lIns="0" rIns="0" tIns="0" bIns="0">
            <a:spAutoFit/>
          </a:bodyPr>
          <a:lstStyle/>
          <a:p>
            <a:r>
              <a:rPr sz="1500" b="0" i="0">
                <a:solidFill>
                  <a:srgbClr val="1A1440"/>
                </a:solidFill>
                <a:latin typeface="Calibri"/>
              </a:rPr>
              <a:t>"You gave the tier a number for his cause, a ceiling of about 4 orders, instead of a yes or a no. Say what you know, then what you are guessing, and stop."</a:t>
            </a:r>
          </a:p>
        </p:txBody>
      </p:sp>
      <p:sp>
        <p:nvSpPr>
          <p:cNvPr id="15" name="Rounded Rectangle 14"/>
          <p:cNvSpPr/>
          <p:nvPr/>
        </p:nvSpPr>
        <p:spPr>
          <a:xfrm>
            <a:off x="5761917" y="3761232"/>
            <a:ext cx="5899425" cy="13807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5990517" y="422300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mic_caee7398c80d.png"/>
          <p:cNvPicPr>
            <a:picLocks noChangeAspect="1"/>
          </p:cNvPicPr>
          <p:nvPr/>
        </p:nvPicPr>
        <p:blipFill>
          <a:blip r:embed="rId6"/>
          <a:stretch>
            <a:fillRect/>
          </a:stretch>
        </p:blipFill>
        <p:spPr>
          <a:xfrm>
            <a:off x="6100245" y="4332732"/>
            <a:ext cx="237744" cy="237744"/>
          </a:xfrm>
          <a:prstGeom prst="rect">
            <a:avLst/>
          </a:prstGeom>
        </p:spPr>
      </p:pic>
      <p:sp>
        <p:nvSpPr>
          <p:cNvPr id="18" name="TextBox 17"/>
          <p:cNvSpPr txBox="1"/>
          <p:nvPr/>
        </p:nvSpPr>
        <p:spPr>
          <a:xfrm>
            <a:off x="6630597" y="3907536"/>
            <a:ext cx="4756425"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9" name="TextBox 18"/>
          <p:cNvSpPr txBox="1"/>
          <p:nvPr/>
        </p:nvSpPr>
        <p:spPr>
          <a:xfrm>
            <a:off x="6630597" y="4126992"/>
            <a:ext cx="4756425" cy="941832"/>
          </a:xfrm>
          <a:prstGeom prst="rect">
            <a:avLst/>
          </a:prstGeom>
          <a:noFill/>
        </p:spPr>
        <p:txBody>
          <a:bodyPr wrap="square" anchor="t" lIns="0" rIns="0" tIns="0" bIns="0">
            <a:spAutoFit/>
          </a:bodyPr>
          <a:lstStyle/>
          <a:p>
            <a:r>
              <a:rPr sz="1500" b="0" i="0">
                <a:solidFill>
                  <a:srgbClr val="1A1440"/>
                </a:solidFill>
                <a:latin typeface="Calibri"/>
              </a:rPr>
              <a:t>[D] A stakeholder hands you a cause; how do you test it with the data you have and name the data you need?</a:t>
            </a:r>
          </a:p>
        </p:txBody>
      </p:sp>
      <p:sp>
        <p:nvSpPr>
          <p:cNvPr id="20" name="Oval 19"/>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The memo and its evidence</a:t>
            </a:r>
          </a:p>
        </p:txBody>
      </p:sp>
      <p:sp>
        <p:nvSpPr>
          <p:cNvPr id="22" name="Oval 21"/>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22657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24" name="Oval 23"/>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569303"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The debrief of wrong answers</a:t>
            </a:r>
          </a:p>
        </p:txBody>
      </p:sp>
      <p:sp>
        <p:nvSpPr>
          <p:cNvPr id="26" name="Oval 25"/>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5332952"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The second case</a:t>
            </a:r>
          </a:p>
        </p:txBody>
      </p:sp>
      <p:sp>
        <p:nvSpPr>
          <p:cNvPr id="28" name="Oval 27"/>
          <p:cNvSpPr/>
          <p:nvPr/>
        </p:nvSpPr>
        <p:spPr>
          <a:xfrm>
            <a:off x="63887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498526"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30" name="Oval 29"/>
          <p:cNvSpPr/>
          <p:nvPr/>
        </p:nvSpPr>
        <p:spPr>
          <a:xfrm>
            <a:off x="77383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7848123"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S10  ·  12 / 30</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07</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The escalated case</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The whole ladder again, alone, on the orders that reached customers.</a:t>
            </a:r>
          </a:p>
        </p:txBody>
      </p:sp>
      <p:sp>
        <p:nvSpPr>
          <p:cNvPr id="10" name="Rounded Rectangle 9"/>
          <p:cNvSpPr/>
          <p:nvPr/>
        </p:nvSpPr>
        <p:spPr>
          <a:xfrm>
            <a:off x="731519" y="5074920"/>
            <a:ext cx="184615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memo and its evidence</a:t>
            </a:r>
          </a:p>
        </p:txBody>
      </p:sp>
      <p:sp>
        <p:nvSpPr>
          <p:cNvPr id="11" name="Rounded Rectangle 10"/>
          <p:cNvSpPr/>
          <p:nvPr/>
        </p:nvSpPr>
        <p:spPr>
          <a:xfrm>
            <a:off x="2687407" y="5074920"/>
            <a:ext cx="1431647"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The escalated case</a:t>
            </a:r>
          </a:p>
        </p:txBody>
      </p:sp>
      <p:sp>
        <p:nvSpPr>
          <p:cNvPr id="12" name="Rounded Rectangle 11"/>
          <p:cNvSpPr/>
          <p:nvPr/>
        </p:nvSpPr>
        <p:spPr>
          <a:xfrm>
            <a:off x="4228782" y="5074920"/>
            <a:ext cx="202380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debrief of wrong answers</a:t>
            </a:r>
          </a:p>
        </p:txBody>
      </p:sp>
      <p:sp>
        <p:nvSpPr>
          <p:cNvPr id="13" name="Rounded Rectangle 12"/>
          <p:cNvSpPr/>
          <p:nvPr/>
        </p:nvSpPr>
        <p:spPr>
          <a:xfrm>
            <a:off x="6362318" y="5074920"/>
            <a:ext cx="125399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second case</a:t>
            </a:r>
          </a:p>
        </p:txBody>
      </p:sp>
      <p:sp>
        <p:nvSpPr>
          <p:cNvPr id="14" name="Rounded Rectangle 13"/>
          <p:cNvSpPr/>
          <p:nvPr/>
        </p:nvSpPr>
        <p:spPr>
          <a:xfrm>
            <a:off x="7726045" y="5074920"/>
            <a:ext cx="149086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interview drill</a:t>
            </a:r>
          </a:p>
        </p:txBody>
      </p:sp>
      <p:sp>
        <p:nvSpPr>
          <p:cNvPr id="15" name="Rounded Rectangle 14"/>
          <p:cNvSpPr/>
          <p:nvPr/>
        </p:nvSpPr>
        <p:spPr>
          <a:xfrm>
            <a:off x="9326637" y="5074920"/>
            <a:ext cx="89870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close</a:t>
            </a:r>
          </a:p>
        </p:txBody>
      </p:sp>
      <p:sp>
        <p:nvSpPr>
          <p:cNvPr id="16" name="TextBox 15"/>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Tuesday: the cause on trial</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13 / 30</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Meera asks if the story survives delivery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board pack reports what reached customers and stayed, and one branch that held this morning moves.</a:t>
            </a:r>
          </a:p>
        </p:txBody>
      </p:sp>
      <p:sp>
        <p:nvSpPr>
          <p:cNvPr id="9" name="Rounded Rectangle 8"/>
          <p:cNvSpPr/>
          <p:nvPr/>
        </p:nvSpPr>
        <p:spPr>
          <a:xfrm>
            <a:off x="530352" y="1956816"/>
            <a:ext cx="11130991" cy="112166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28904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message-square_028dbd132a0a.png"/>
          <p:cNvPicPr>
            <a:picLocks noChangeAspect="1"/>
          </p:cNvPicPr>
          <p:nvPr/>
        </p:nvPicPr>
        <p:blipFill>
          <a:blip r:embed="rId4"/>
          <a:stretch>
            <a:fillRect/>
          </a:stretch>
        </p:blipFill>
        <p:spPr>
          <a:xfrm>
            <a:off x="868680" y="2398776"/>
            <a:ext cx="237744" cy="237744"/>
          </a:xfrm>
          <a:prstGeom prst="rect">
            <a:avLst/>
          </a:prstGeom>
        </p:spPr>
      </p:pic>
      <p:sp>
        <p:nvSpPr>
          <p:cNvPr id="12" name="TextBox 11"/>
          <p:cNvSpPr txBox="1"/>
          <p:nvPr/>
        </p:nvSpPr>
        <p:spPr>
          <a:xfrm>
            <a:off x="1399031" y="210312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3" name="TextBox 12"/>
          <p:cNvSpPr txBox="1"/>
          <p:nvPr/>
        </p:nvSpPr>
        <p:spPr>
          <a:xfrm>
            <a:off x="1399031" y="2322576"/>
            <a:ext cx="9987991" cy="682752"/>
          </a:xfrm>
          <a:prstGeom prst="rect">
            <a:avLst/>
          </a:prstGeom>
          <a:noFill/>
        </p:spPr>
        <p:txBody>
          <a:bodyPr wrap="square" anchor="t" lIns="0" rIns="0" tIns="0" bIns="0">
            <a:spAutoFit/>
          </a:bodyPr>
          <a:lstStyle/>
          <a:p>
            <a:r>
              <a:rPr sz="1500" b="0" i="0">
                <a:solidFill>
                  <a:srgbClr val="FFFFFF"/>
                </a:solidFill>
                <a:latin typeface="Calibri"/>
              </a:rPr>
              <a:t>"The board pack reports revenue on orders that reached the customer and stayed there. Does your story survive on delivered orders? Which branch, which segment, and what would you bet on?"</a:t>
            </a:r>
          </a:p>
        </p:txBody>
      </p:sp>
      <p:sp>
        <p:nvSpPr>
          <p:cNvPr id="14" name="Rectangle 13"/>
          <p:cNvSpPr/>
          <p:nvPr/>
        </p:nvSpPr>
        <p:spPr>
          <a:xfrm>
            <a:off x="1570299" y="3810000"/>
            <a:ext cx="905109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530352" y="3243072"/>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PART 1</a:t>
            </a:r>
          </a:p>
        </p:txBody>
      </p:sp>
      <p:sp>
        <p:nvSpPr>
          <p:cNvPr id="16" name="Oval 15"/>
          <p:cNvSpPr/>
          <p:nvPr/>
        </p:nvSpPr>
        <p:spPr>
          <a:xfrm>
            <a:off x="1469715" y="3718560"/>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530352" y="4130040"/>
            <a:ext cx="2079894"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94944" y="4276344"/>
            <a:ext cx="1750710" cy="465836"/>
          </a:xfrm>
          <a:prstGeom prst="rect">
            <a:avLst/>
          </a:prstGeom>
          <a:noFill/>
        </p:spPr>
        <p:txBody>
          <a:bodyPr wrap="square" anchor="t" lIns="0" rIns="0" tIns="0" bIns="0">
            <a:spAutoFit/>
          </a:bodyPr>
          <a:lstStyle/>
          <a:p>
            <a:pPr algn="l"/>
            <a:r>
              <a:rPr sz="1300" b="1" i="0">
                <a:solidFill>
                  <a:srgbClr val="1A0F5C"/>
                </a:solidFill>
                <a:latin typeface="Calibri"/>
              </a:rPr>
              <a:t>Is the delivered drop real?</a:t>
            </a:r>
          </a:p>
        </p:txBody>
      </p:sp>
      <p:sp>
        <p:nvSpPr>
          <p:cNvPr id="19" name="TextBox 18"/>
          <p:cNvSpPr txBox="1"/>
          <p:nvPr/>
        </p:nvSpPr>
        <p:spPr>
          <a:xfrm>
            <a:off x="694944" y="4778756"/>
            <a:ext cx="1750710" cy="366776"/>
          </a:xfrm>
          <a:prstGeom prst="rect">
            <a:avLst/>
          </a:prstGeom>
          <a:noFill/>
        </p:spPr>
        <p:txBody>
          <a:bodyPr wrap="square" anchor="t" lIns="0" rIns="0" tIns="0" bIns="0">
            <a:spAutoFit/>
          </a:bodyPr>
          <a:lstStyle/>
          <a:p>
            <a:pPr algn="l"/>
            <a:r>
              <a:rPr sz="1000" b="0" i="0">
                <a:solidFill>
                  <a:srgbClr val="6B6690"/>
                </a:solidFill>
                <a:latin typeface="Calibri"/>
              </a:rPr>
              <a:t>Filter to delivered orders; compare closed quarters.</a:t>
            </a:r>
          </a:p>
        </p:txBody>
      </p:sp>
      <p:sp>
        <p:nvSpPr>
          <p:cNvPr id="20" name="TextBox 19"/>
          <p:cNvSpPr txBox="1"/>
          <p:nvPr/>
        </p:nvSpPr>
        <p:spPr>
          <a:xfrm>
            <a:off x="2793126" y="3243072"/>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PART 2</a:t>
            </a:r>
          </a:p>
        </p:txBody>
      </p:sp>
      <p:sp>
        <p:nvSpPr>
          <p:cNvPr id="21" name="Oval 20"/>
          <p:cNvSpPr/>
          <p:nvPr/>
        </p:nvSpPr>
        <p:spPr>
          <a:xfrm>
            <a:off x="3732489" y="3718560"/>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2793126" y="4130040"/>
            <a:ext cx="2079894"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2957718" y="4276344"/>
            <a:ext cx="1750710" cy="465836"/>
          </a:xfrm>
          <a:prstGeom prst="rect">
            <a:avLst/>
          </a:prstGeom>
          <a:noFill/>
        </p:spPr>
        <p:txBody>
          <a:bodyPr wrap="square" anchor="t" lIns="0" rIns="0" tIns="0" bIns="0">
            <a:spAutoFit/>
          </a:bodyPr>
          <a:lstStyle/>
          <a:p>
            <a:pPr algn="l"/>
            <a:r>
              <a:rPr sz="1300" b="1" i="0">
                <a:solidFill>
                  <a:srgbClr val="1A0F5C"/>
                </a:solidFill>
                <a:latin typeface="Calibri"/>
              </a:rPr>
              <a:t>The tree on delivered</a:t>
            </a:r>
          </a:p>
        </p:txBody>
      </p:sp>
      <p:sp>
        <p:nvSpPr>
          <p:cNvPr id="24" name="TextBox 23"/>
          <p:cNvSpPr txBox="1"/>
          <p:nvPr/>
        </p:nvSpPr>
        <p:spPr>
          <a:xfrm>
            <a:off x="2957718" y="4778756"/>
            <a:ext cx="1750710" cy="531876"/>
          </a:xfrm>
          <a:prstGeom prst="rect">
            <a:avLst/>
          </a:prstGeom>
          <a:noFill/>
        </p:spPr>
        <p:txBody>
          <a:bodyPr wrap="square" anchor="t" lIns="0" rIns="0" tIns="0" bIns="0">
            <a:spAutoFit/>
          </a:bodyPr>
          <a:lstStyle/>
          <a:p>
            <a:pPr algn="l"/>
            <a:r>
              <a:rPr sz="1000" b="0" i="0">
                <a:solidFill>
                  <a:srgbClr val="6B6690"/>
                </a:solidFill>
                <a:latin typeface="Calibri"/>
              </a:rPr>
              <a:t>A bridge in the tree's order; one branch that held now moves.</a:t>
            </a:r>
          </a:p>
        </p:txBody>
      </p:sp>
      <p:sp>
        <p:nvSpPr>
          <p:cNvPr id="25" name="TextBox 24"/>
          <p:cNvSpPr txBox="1"/>
          <p:nvPr/>
        </p:nvSpPr>
        <p:spPr>
          <a:xfrm>
            <a:off x="5055900" y="3243072"/>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PART 3</a:t>
            </a:r>
          </a:p>
        </p:txBody>
      </p:sp>
      <p:sp>
        <p:nvSpPr>
          <p:cNvPr id="26" name="Oval 25"/>
          <p:cNvSpPr/>
          <p:nvPr/>
        </p:nvSpPr>
        <p:spPr>
          <a:xfrm>
            <a:off x="5995263" y="3718560"/>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ounded Rectangle 26"/>
          <p:cNvSpPr/>
          <p:nvPr/>
        </p:nvSpPr>
        <p:spPr>
          <a:xfrm>
            <a:off x="5055900" y="4130040"/>
            <a:ext cx="2079894"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5220492" y="4276344"/>
            <a:ext cx="1750710" cy="465836"/>
          </a:xfrm>
          <a:prstGeom prst="rect">
            <a:avLst/>
          </a:prstGeom>
          <a:noFill/>
        </p:spPr>
        <p:txBody>
          <a:bodyPr wrap="square" anchor="t" lIns="0" rIns="0" tIns="0" bIns="0">
            <a:spAutoFit/>
          </a:bodyPr>
          <a:lstStyle/>
          <a:p>
            <a:pPr algn="l"/>
            <a:r>
              <a:rPr sz="1300" b="1" i="0">
                <a:solidFill>
                  <a:srgbClr val="1A0F5C"/>
                </a:solidFill>
                <a:latin typeface="Calibri"/>
              </a:rPr>
              <a:t>Are those lost customers?</a:t>
            </a:r>
          </a:p>
        </p:txBody>
      </p:sp>
      <p:sp>
        <p:nvSpPr>
          <p:cNvPr id="29" name="TextBox 28"/>
          <p:cNvSpPr txBox="1"/>
          <p:nvPr/>
        </p:nvSpPr>
        <p:spPr>
          <a:xfrm>
            <a:off x="5220492" y="4778756"/>
            <a:ext cx="1750710" cy="366776"/>
          </a:xfrm>
          <a:prstGeom prst="rect">
            <a:avLst/>
          </a:prstGeom>
          <a:noFill/>
        </p:spPr>
        <p:txBody>
          <a:bodyPr wrap="square" anchor="t" lIns="0" rIns="0" tIns="0" bIns="0">
            <a:spAutoFit/>
          </a:bodyPr>
          <a:lstStyle/>
          <a:p>
            <a:pPr algn="l"/>
            <a:r>
              <a:rPr sz="1000" b="0" i="0">
                <a:solidFill>
                  <a:srgbClr val="6B6690"/>
                </a:solidFill>
                <a:latin typeface="Calibri"/>
              </a:rPr>
              <a:t>Compare the delivered and the booked overlap.</a:t>
            </a:r>
          </a:p>
        </p:txBody>
      </p:sp>
      <p:sp>
        <p:nvSpPr>
          <p:cNvPr id="30" name="TextBox 29"/>
          <p:cNvSpPr txBox="1"/>
          <p:nvPr/>
        </p:nvSpPr>
        <p:spPr>
          <a:xfrm>
            <a:off x="7318674" y="3243072"/>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PART 4</a:t>
            </a:r>
          </a:p>
        </p:txBody>
      </p:sp>
      <p:sp>
        <p:nvSpPr>
          <p:cNvPr id="31" name="Oval 30"/>
          <p:cNvSpPr/>
          <p:nvPr/>
        </p:nvSpPr>
        <p:spPr>
          <a:xfrm>
            <a:off x="8258037" y="3718560"/>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Rounded Rectangle 31"/>
          <p:cNvSpPr/>
          <p:nvPr/>
        </p:nvSpPr>
        <p:spPr>
          <a:xfrm>
            <a:off x="7318674" y="4130040"/>
            <a:ext cx="2079894"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7483266" y="4276344"/>
            <a:ext cx="1750710" cy="465836"/>
          </a:xfrm>
          <a:prstGeom prst="rect">
            <a:avLst/>
          </a:prstGeom>
          <a:noFill/>
        </p:spPr>
        <p:txBody>
          <a:bodyPr wrap="square" anchor="t" lIns="0" rIns="0" tIns="0" bIns="0">
            <a:spAutoFit/>
          </a:bodyPr>
          <a:lstStyle/>
          <a:p>
            <a:pPr algn="l"/>
            <a:r>
              <a:rPr sz="1300" b="1" i="0">
                <a:solidFill>
                  <a:srgbClr val="1A0F5C"/>
                </a:solidFill>
                <a:latin typeface="Calibri"/>
              </a:rPr>
              <a:t>Four segments, rolled up</a:t>
            </a:r>
          </a:p>
        </p:txBody>
      </p:sp>
      <p:sp>
        <p:nvSpPr>
          <p:cNvPr id="34" name="TextBox 33"/>
          <p:cNvSpPr txBox="1"/>
          <p:nvPr/>
        </p:nvSpPr>
        <p:spPr>
          <a:xfrm>
            <a:off x="7483266" y="4778756"/>
            <a:ext cx="1750710" cy="366776"/>
          </a:xfrm>
          <a:prstGeom prst="rect">
            <a:avLst/>
          </a:prstGeom>
          <a:noFill/>
        </p:spPr>
        <p:txBody>
          <a:bodyPr wrap="square" anchor="t" lIns="0" rIns="0" tIns="0" bIns="0">
            <a:spAutoFit/>
          </a:bodyPr>
          <a:lstStyle/>
          <a:p>
            <a:pPr algn="l"/>
            <a:r>
              <a:rPr sz="1000" b="0" i="0">
                <a:solidFill>
                  <a:srgbClr val="6B6690"/>
                </a:solidFill>
                <a:latin typeface="Calibri"/>
              </a:rPr>
              <a:t>tree_for, the weighted roll-up, every group counted.</a:t>
            </a:r>
          </a:p>
        </p:txBody>
      </p:sp>
      <p:sp>
        <p:nvSpPr>
          <p:cNvPr id="35" name="TextBox 34"/>
          <p:cNvSpPr txBox="1"/>
          <p:nvPr/>
        </p:nvSpPr>
        <p:spPr>
          <a:xfrm>
            <a:off x="9581448" y="3243072"/>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PART 5</a:t>
            </a:r>
          </a:p>
        </p:txBody>
      </p:sp>
      <p:sp>
        <p:nvSpPr>
          <p:cNvPr id="36" name="Oval 35"/>
          <p:cNvSpPr/>
          <p:nvPr/>
        </p:nvSpPr>
        <p:spPr>
          <a:xfrm>
            <a:off x="10520812" y="3718560"/>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Rounded Rectangle 36"/>
          <p:cNvSpPr/>
          <p:nvPr/>
        </p:nvSpPr>
        <p:spPr>
          <a:xfrm>
            <a:off x="9581448" y="4130040"/>
            <a:ext cx="2079894" cy="124968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9746040" y="4276344"/>
            <a:ext cx="1750710" cy="465836"/>
          </a:xfrm>
          <a:prstGeom prst="rect">
            <a:avLst/>
          </a:prstGeom>
          <a:noFill/>
        </p:spPr>
        <p:txBody>
          <a:bodyPr wrap="square" anchor="t" lIns="0" rIns="0" tIns="0" bIns="0">
            <a:spAutoFit/>
          </a:bodyPr>
          <a:lstStyle/>
          <a:p>
            <a:pPr algn="l"/>
            <a:r>
              <a:rPr sz="1300" b="1" i="0">
                <a:solidFill>
                  <a:srgbClr val="FFFFFF"/>
                </a:solidFill>
                <a:latin typeface="Calibri"/>
              </a:rPr>
              <a:t>Mix or rate on delivered</a:t>
            </a:r>
          </a:p>
        </p:txBody>
      </p:sp>
      <p:sp>
        <p:nvSpPr>
          <p:cNvPr id="39" name="TextBox 38"/>
          <p:cNvSpPr txBox="1"/>
          <p:nvPr/>
        </p:nvSpPr>
        <p:spPr>
          <a:xfrm>
            <a:off x="9746040" y="4778756"/>
            <a:ext cx="1750710" cy="366776"/>
          </a:xfrm>
          <a:prstGeom prst="rect">
            <a:avLst/>
          </a:prstGeom>
          <a:noFill/>
        </p:spPr>
        <p:txBody>
          <a:bodyPr wrap="square" anchor="t" lIns="0" rIns="0" tIns="0" bIns="0">
            <a:spAutoFit/>
          </a:bodyPr>
          <a:lstStyle/>
          <a:p>
            <a:pPr algn="l"/>
            <a:r>
              <a:rPr sz="1000" b="0" i="0">
                <a:solidFill>
                  <a:srgbClr val="CFC9EE"/>
                </a:solidFill>
                <a:latin typeface="Calibri"/>
              </a:rPr>
              <a:t>The split, and the sentence to Meera.</a:t>
            </a:r>
          </a:p>
        </p:txBody>
      </p:sp>
      <p:sp>
        <p:nvSpPr>
          <p:cNvPr id="40" name="Oval 3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memo and its evidence</a:t>
            </a:r>
          </a:p>
        </p:txBody>
      </p:sp>
      <p:sp>
        <p:nvSpPr>
          <p:cNvPr id="42" name="Oval 41"/>
          <p:cNvSpPr/>
          <p:nvPr/>
        </p:nvSpPr>
        <p:spPr>
          <a:xfrm>
            <a:off x="215598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2265711"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The escalated case</a:t>
            </a:r>
          </a:p>
        </p:txBody>
      </p:sp>
      <p:sp>
        <p:nvSpPr>
          <p:cNvPr id="44" name="Oval 43"/>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3569303"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The debrief of wrong answers</a:t>
            </a:r>
          </a:p>
        </p:txBody>
      </p:sp>
      <p:sp>
        <p:nvSpPr>
          <p:cNvPr id="46" name="Oval 45"/>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7" name="TextBox 46"/>
          <p:cNvSpPr txBox="1"/>
          <p:nvPr/>
        </p:nvSpPr>
        <p:spPr>
          <a:xfrm>
            <a:off x="5332952"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The second case</a:t>
            </a:r>
          </a:p>
        </p:txBody>
      </p:sp>
      <p:sp>
        <p:nvSpPr>
          <p:cNvPr id="48" name="Oval 47"/>
          <p:cNvSpPr/>
          <p:nvPr/>
        </p:nvSpPr>
        <p:spPr>
          <a:xfrm>
            <a:off x="63887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9" name="TextBox 48"/>
          <p:cNvSpPr txBox="1"/>
          <p:nvPr/>
        </p:nvSpPr>
        <p:spPr>
          <a:xfrm>
            <a:off x="6498526"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50" name="Oval 49"/>
          <p:cNvSpPr/>
          <p:nvPr/>
        </p:nvSpPr>
        <p:spPr>
          <a:xfrm>
            <a:off x="77383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1" name="TextBox 50"/>
          <p:cNvSpPr txBox="1"/>
          <p:nvPr/>
        </p:nvSpPr>
        <p:spPr>
          <a:xfrm>
            <a:off x="7848123"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52" name="TextBox 5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S11  ·  14 / 30</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What goes in, and what comes back</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Five parts, seven lettered choices in the notebook, and one line of letters posted at the end.</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5</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PARTS</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one item each in the brief</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7</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LETTERED TODOS</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each with a check that says if it holds</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1</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SENTENCE TO MEERA</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branch, segment, hypotheses</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758952" y="375208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list-checks_bd88901d2a37.png"/>
          <p:cNvPicPr>
            <a:picLocks noChangeAspect="1"/>
          </p:cNvPicPr>
          <p:nvPr/>
        </p:nvPicPr>
        <p:blipFill>
          <a:blip r:embed="rId4"/>
          <a:stretch>
            <a:fillRect/>
          </a:stretch>
        </p:blipFill>
        <p:spPr>
          <a:xfrm>
            <a:off x="868680" y="3861816"/>
            <a:ext cx="237744" cy="237744"/>
          </a:xfrm>
          <a:prstGeom prst="rect">
            <a:avLst/>
          </a:prstGeom>
        </p:spPr>
      </p:pic>
      <p:sp>
        <p:nvSpPr>
          <p:cNvPr id="24" name="TextBox 23"/>
          <p:cNvSpPr txBox="1"/>
          <p:nvPr/>
        </p:nvSpPr>
        <p:spPr>
          <a:xfrm>
            <a:off x="1399031" y="356616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25" name="TextBox 24"/>
          <p:cNvSpPr txBox="1"/>
          <p:nvPr/>
        </p:nvSpPr>
        <p:spPr>
          <a:xfrm>
            <a:off x="1399031" y="3785616"/>
            <a:ext cx="9987991" cy="682752"/>
          </a:xfrm>
          <a:prstGeom prst="rect">
            <a:avLst/>
          </a:prstGeom>
          <a:noFill/>
        </p:spPr>
        <p:txBody>
          <a:bodyPr wrap="square" anchor="t" lIns="0" rIns="0" tIns="0" bIns="0">
            <a:spAutoFit/>
          </a:bodyPr>
          <a:lstStyle/>
          <a:p>
            <a:r>
              <a:rPr sz="1500" b="0" i="0">
                <a:solidFill>
                  <a:srgbClr val="1A1440"/>
                </a:solidFill>
                <a:latin typeface="Calibri"/>
              </a:rPr>
              <a:t>Every number carries its definition: say "delivered" beside each one, and "booked" beside anything from this morning.</a:t>
            </a:r>
          </a:p>
        </p:txBody>
      </p:sp>
      <p:sp>
        <p:nvSpPr>
          <p:cNvPr id="26" name="Oval 2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memo and its evidence</a:t>
            </a:r>
          </a:p>
        </p:txBody>
      </p:sp>
      <p:sp>
        <p:nvSpPr>
          <p:cNvPr id="28" name="Oval 27"/>
          <p:cNvSpPr/>
          <p:nvPr/>
        </p:nvSpPr>
        <p:spPr>
          <a:xfrm>
            <a:off x="215598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265711"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The escalated case</a:t>
            </a:r>
          </a:p>
        </p:txBody>
      </p:sp>
      <p:sp>
        <p:nvSpPr>
          <p:cNvPr id="30" name="Oval 29"/>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569303"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The debrief of wrong answers</a:t>
            </a:r>
          </a:p>
        </p:txBody>
      </p:sp>
      <p:sp>
        <p:nvSpPr>
          <p:cNvPr id="32" name="Oval 31"/>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5332952"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The second case</a:t>
            </a:r>
          </a:p>
        </p:txBody>
      </p:sp>
      <p:sp>
        <p:nvSpPr>
          <p:cNvPr id="34" name="Oval 33"/>
          <p:cNvSpPr/>
          <p:nvPr/>
        </p:nvSpPr>
        <p:spPr>
          <a:xfrm>
            <a:off x="63887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498526"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36" name="Oval 35"/>
          <p:cNvSpPr/>
          <p:nvPr/>
        </p:nvSpPr>
        <p:spPr>
          <a:xfrm>
            <a:off x="77383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7848123"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38" name="TextBox 3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S12  ·  15 / 30</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08</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The debrief of wrong answers</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The four wrong answers the room is most likely to have reached, with their exact numbers.</a:t>
            </a:r>
          </a:p>
        </p:txBody>
      </p:sp>
      <p:sp>
        <p:nvSpPr>
          <p:cNvPr id="10" name="Rounded Rectangle 9"/>
          <p:cNvSpPr/>
          <p:nvPr/>
        </p:nvSpPr>
        <p:spPr>
          <a:xfrm>
            <a:off x="731519" y="5074920"/>
            <a:ext cx="184615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memo and its evidence</a:t>
            </a:r>
          </a:p>
        </p:txBody>
      </p:sp>
      <p:sp>
        <p:nvSpPr>
          <p:cNvPr id="11" name="Rounded Rectangle 10"/>
          <p:cNvSpPr/>
          <p:nvPr/>
        </p:nvSpPr>
        <p:spPr>
          <a:xfrm>
            <a:off x="2687407" y="5074920"/>
            <a:ext cx="143164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escalated case</a:t>
            </a:r>
          </a:p>
        </p:txBody>
      </p:sp>
      <p:sp>
        <p:nvSpPr>
          <p:cNvPr id="12" name="Rounded Rectangle 11"/>
          <p:cNvSpPr/>
          <p:nvPr/>
        </p:nvSpPr>
        <p:spPr>
          <a:xfrm>
            <a:off x="4228782" y="5074920"/>
            <a:ext cx="2023807"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The debrief of wrong answers</a:t>
            </a:r>
          </a:p>
        </p:txBody>
      </p:sp>
      <p:sp>
        <p:nvSpPr>
          <p:cNvPr id="13" name="Rounded Rectangle 12"/>
          <p:cNvSpPr/>
          <p:nvPr/>
        </p:nvSpPr>
        <p:spPr>
          <a:xfrm>
            <a:off x="6362318" y="5074920"/>
            <a:ext cx="125399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second case</a:t>
            </a:r>
          </a:p>
        </p:txBody>
      </p:sp>
      <p:sp>
        <p:nvSpPr>
          <p:cNvPr id="14" name="Rounded Rectangle 13"/>
          <p:cNvSpPr/>
          <p:nvPr/>
        </p:nvSpPr>
        <p:spPr>
          <a:xfrm>
            <a:off x="7726045" y="5074920"/>
            <a:ext cx="149086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interview drill</a:t>
            </a:r>
          </a:p>
        </p:txBody>
      </p:sp>
      <p:sp>
        <p:nvSpPr>
          <p:cNvPr id="15" name="Rounded Rectangle 14"/>
          <p:cNvSpPr/>
          <p:nvPr/>
        </p:nvSpPr>
        <p:spPr>
          <a:xfrm>
            <a:off x="9326637" y="5074920"/>
            <a:ext cx="89870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close</a:t>
            </a:r>
          </a:p>
        </p:txBody>
      </p:sp>
      <p:sp>
        <p:nvSpPr>
          <p:cNvPr id="16" name="TextBox 15"/>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Tuesday: the cause on trial</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16 / 30</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Wrong answer 1: customers fell, Marketing wins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On delivered orders customers fell from 54 to 50 and the bridge charges them Rs 10,74,442.</a:t>
            </a:r>
          </a:p>
        </p:txBody>
      </p:sp>
      <p:pic>
        <p:nvPicPr>
          <p:cNvPr id="9" name="mermaid diagram" descr="c53971bbbe6166de.png"/>
          <p:cNvPicPr>
            <a:picLocks noChangeAspect="1"/>
          </p:cNvPicPr>
          <p:nvPr/>
        </p:nvPicPr>
        <p:blipFill>
          <a:blip r:embed="rId5"/>
          <a:stretch>
            <a:fillRect/>
          </a:stretch>
        </p:blipFill>
        <p:spPr>
          <a:xfrm>
            <a:off x="780897" y="1956816"/>
            <a:ext cx="10629900" cy="1357312"/>
          </a:xfrm>
          <a:prstGeom prst="rect">
            <a:avLst/>
          </a:prstGeom>
        </p:spPr>
      </p:pic>
      <p:sp>
        <p:nvSpPr>
          <p:cNvPr id="10" name="Rounded Rectangle 9"/>
          <p:cNvSpPr/>
          <p:nvPr/>
        </p:nvSpPr>
        <p:spPr>
          <a:xfrm>
            <a:off x="530352" y="3460432"/>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588448"/>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579304"/>
            <a:ext cx="10564063" cy="624840"/>
          </a:xfrm>
          <a:prstGeom prst="rect">
            <a:avLst/>
          </a:prstGeom>
          <a:noFill/>
        </p:spPr>
        <p:txBody>
          <a:bodyPr wrap="square" anchor="ctr" lIns="0" rIns="0" tIns="0" bIns="0">
            <a:spAutoFit/>
          </a:bodyPr>
          <a:lstStyle/>
          <a:p>
            <a:r>
              <a:rPr sz="1500" b="1">
                <a:solidFill>
                  <a:srgbClr val="5B3FD6"/>
                </a:solidFill>
                <a:latin typeface="Calibri"/>
              </a:rPr>
              <a:t>The check. </a:t>
            </a:r>
            <a:r>
              <a:rPr sz="1500" b="0" i="0">
                <a:solidFill>
                  <a:srgbClr val="1A1440"/>
                </a:solidFill>
                <a:latin typeface="Calibri"/>
              </a:rPr>
              <a:t>The booked overlap is 69, 0 and 0. The branch that moved is fulfilment, owned by operations, and acquisition still has nothing to replace.</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memo and its evidence</a:t>
            </a:r>
          </a:p>
        </p:txBody>
      </p:sp>
      <p:sp>
        <p:nvSpPr>
          <p:cNvPr id="15" name="Oval 14"/>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657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17" name="Oval 16"/>
          <p:cNvSpPr/>
          <p:nvPr/>
        </p:nvSpPr>
        <p:spPr>
          <a:xfrm>
            <a:off x="345957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569303" y="6437376"/>
            <a:ext cx="1562480" cy="152146"/>
          </a:xfrm>
          <a:prstGeom prst="rect">
            <a:avLst/>
          </a:prstGeom>
          <a:noFill/>
        </p:spPr>
        <p:txBody>
          <a:bodyPr wrap="square" anchor="t" lIns="0" rIns="0" tIns="0" bIns="0">
            <a:spAutoFit/>
          </a:bodyPr>
          <a:lstStyle/>
          <a:p>
            <a:pPr algn="l"/>
            <a:r>
              <a:rPr sz="700" b="1" i="0">
                <a:solidFill>
                  <a:srgbClr val="5B3FD6"/>
                </a:solidFill>
                <a:latin typeface="Calibri"/>
              </a:rPr>
              <a:t>The debrief of wrong answers</a:t>
            </a:r>
          </a:p>
        </p:txBody>
      </p:sp>
      <p:sp>
        <p:nvSpPr>
          <p:cNvPr id="19" name="Oval 18"/>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332952"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The second case</a:t>
            </a:r>
          </a:p>
        </p:txBody>
      </p:sp>
      <p:sp>
        <p:nvSpPr>
          <p:cNvPr id="21" name="Oval 20"/>
          <p:cNvSpPr/>
          <p:nvPr/>
        </p:nvSpPr>
        <p:spPr>
          <a:xfrm>
            <a:off x="63887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498526"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23" name="Oval 22"/>
          <p:cNvSpPr/>
          <p:nvPr/>
        </p:nvSpPr>
        <p:spPr>
          <a:xfrm>
            <a:off x="77383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7848123"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S13  ·  17 / 30</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Wrong answer 2: delivered frequency fell 9.2%</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average of four delivered segment rates says minus 9.2 percent; the weighted figure says minus 24.0.</a:t>
            </a:r>
          </a:p>
        </p:txBody>
      </p:sp>
      <p:pic>
        <p:nvPicPr>
          <p:cNvPr id="9" name="mermaid diagram" descr="4a03608887a649cb.png"/>
          <p:cNvPicPr>
            <a:picLocks noChangeAspect="1"/>
          </p:cNvPicPr>
          <p:nvPr/>
        </p:nvPicPr>
        <p:blipFill>
          <a:blip r:embed="rId5"/>
          <a:stretch>
            <a:fillRect/>
          </a:stretch>
        </p:blipFill>
        <p:spPr>
          <a:xfrm>
            <a:off x="2311755" y="1664208"/>
            <a:ext cx="7568184" cy="3784092"/>
          </a:xfrm>
          <a:prstGeom prst="rect">
            <a:avLst/>
          </a:prstGeom>
        </p:spPr>
      </p:pic>
      <p:sp>
        <p:nvSpPr>
          <p:cNvPr id="10" name="Rounded Rectangle 9"/>
          <p:cNvSpPr/>
          <p:nvPr/>
        </p:nvSpPr>
        <p:spPr>
          <a:xfrm>
            <a:off x="530352" y="5494020"/>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622036"/>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612892"/>
            <a:ext cx="10564063" cy="358140"/>
          </a:xfrm>
          <a:prstGeom prst="rect">
            <a:avLst/>
          </a:prstGeom>
          <a:noFill/>
        </p:spPr>
        <p:txBody>
          <a:bodyPr wrap="square" anchor="ctr" lIns="0" rIns="0" tIns="0" bIns="0">
            <a:spAutoFit/>
          </a:bodyPr>
          <a:lstStyle/>
          <a:p>
            <a:r>
              <a:rPr sz="1500" b="1">
                <a:solidFill>
                  <a:srgbClr val="5B3FD6"/>
                </a:solidFill>
                <a:latin typeface="Calibri"/>
              </a:rPr>
              <a:t>The check. </a:t>
            </a:r>
            <a:r>
              <a:rPr sz="1500" b="0" i="0">
                <a:solidFill>
                  <a:srgbClr val="1A1440"/>
                </a:solidFill>
                <a:latin typeface="Calibri"/>
              </a:rPr>
              <a:t>The roll-up must reproduce 81 orders over 54 customers and 57 over 50: 1.50 and 1.14.</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memo and its evidence</a:t>
            </a:r>
          </a:p>
        </p:txBody>
      </p:sp>
      <p:sp>
        <p:nvSpPr>
          <p:cNvPr id="15" name="Oval 14"/>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657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17" name="Oval 16"/>
          <p:cNvSpPr/>
          <p:nvPr/>
        </p:nvSpPr>
        <p:spPr>
          <a:xfrm>
            <a:off x="345957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569303" y="6437376"/>
            <a:ext cx="1562480" cy="152146"/>
          </a:xfrm>
          <a:prstGeom prst="rect">
            <a:avLst/>
          </a:prstGeom>
          <a:noFill/>
        </p:spPr>
        <p:txBody>
          <a:bodyPr wrap="square" anchor="t" lIns="0" rIns="0" tIns="0" bIns="0">
            <a:spAutoFit/>
          </a:bodyPr>
          <a:lstStyle/>
          <a:p>
            <a:pPr algn="l"/>
            <a:r>
              <a:rPr sz="700" b="1" i="0">
                <a:solidFill>
                  <a:srgbClr val="5B3FD6"/>
                </a:solidFill>
                <a:latin typeface="Calibri"/>
              </a:rPr>
              <a:t>The debrief of wrong answers</a:t>
            </a:r>
          </a:p>
        </p:txBody>
      </p:sp>
      <p:sp>
        <p:nvSpPr>
          <p:cNvPr id="19" name="Oval 18"/>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332952"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The second case</a:t>
            </a:r>
          </a:p>
        </p:txBody>
      </p:sp>
      <p:sp>
        <p:nvSpPr>
          <p:cNvPr id="21" name="Oval 20"/>
          <p:cNvSpPr/>
          <p:nvPr/>
        </p:nvSpPr>
        <p:spPr>
          <a:xfrm>
            <a:off x="63887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498526"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23" name="Oval 22"/>
          <p:cNvSpPr/>
          <p:nvPr/>
        </p:nvSpPr>
        <p:spPr>
          <a:xfrm>
            <a:off x="77383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7848123"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S14  ·  18 / 30</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Wrong answer 3: mix is 44%, so prices rose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On delivered orders the mix explains 44 percent of the rise, and some read the rest as a price rise.</a:t>
            </a:r>
          </a:p>
        </p:txBody>
      </p:sp>
      <p:graphicFrame>
        <p:nvGraphicFramePr>
          <p:cNvPr id="9" name="Table 8"/>
          <p:cNvGraphicFramePr>
            <a:graphicFrameLocks noGrp="1"/>
          </p:cNvGraphicFramePr>
          <p:nvPr/>
        </p:nvGraphicFramePr>
        <p:xfrm>
          <a:off x="530352" y="1956816"/>
          <a:ext cx="11130989" cy="1005840"/>
        </p:xfrm>
        <a:graphic>
          <a:graphicData uri="http://schemas.openxmlformats.org/drawingml/2006/table">
            <a:tbl>
              <a:tblPr firstRow="0" bandRow="0">
                <a:tableStyleId>{2D5ABB26-0587-4C30-8999-92F81FD0307C}</a:tableStyleId>
              </a:tblPr>
              <a:tblGrid>
                <a:gridCol w="1389019"/>
                <a:gridCol w="2724137"/>
                <a:gridCol w="1277760"/>
                <a:gridCol w="5740073"/>
              </a:tblGrid>
              <a:tr h="335280">
                <a:tc>
                  <a:txBody>
                    <a:bodyPr/>
                    <a:lstStyle/>
                    <a:p>
                      <a:r>
                        <a:rPr sz="1250" b="1" i="0">
                          <a:solidFill>
                            <a:srgbClr val="FFFFFF"/>
                          </a:solidFill>
                          <a:latin typeface="Calibri"/>
                        </a:rPr>
                        <a:t>Definition</a:t>
                      </a:r>
                    </a:p>
                  </a:txBody>
                  <a:tcPr marL="101600" marR="101600" marT="38100" marB="38100" anchor="ctr">
                    <a:solidFill>
                      <a:srgbClr val="1A0F5C"/>
                    </a:solidFill>
                  </a:tcPr>
                </a:tc>
                <a:tc>
                  <a:txBody>
                    <a:bodyPr/>
                    <a:lstStyle/>
                    <a:p>
                      <a:r>
                        <a:rPr sz="1250" b="1" i="0">
                          <a:solidFill>
                            <a:srgbClr val="FFFFFF"/>
                          </a:solidFill>
                          <a:latin typeface="Calibri"/>
                        </a:rPr>
                        <a:t>Revenue per order rise</a:t>
                      </a:r>
                    </a:p>
                  </a:txBody>
                  <a:tcPr marL="101600" marR="101600" marT="38100" marB="38100" anchor="ctr">
                    <a:solidFill>
                      <a:srgbClr val="1A0F5C"/>
                    </a:solidFill>
                  </a:tcPr>
                </a:tc>
                <a:tc>
                  <a:txBody>
                    <a:bodyPr/>
                    <a:lstStyle/>
                    <a:p>
                      <a:r>
                        <a:rPr sz="1250" b="1" i="0">
                          <a:solidFill>
                            <a:srgbClr val="FFFFFF"/>
                          </a:solidFill>
                          <a:latin typeface="Calibri"/>
                        </a:rPr>
                        <a:t>Mix share</a:t>
                      </a:r>
                    </a:p>
                  </a:txBody>
                  <a:tcPr marL="101600" marR="101600" marT="38100" marB="38100" anchor="ctr">
                    <a:solidFill>
                      <a:srgbClr val="1A0F5C"/>
                    </a:solidFill>
                  </a:tcPr>
                </a:tc>
                <a:tc>
                  <a:txBody>
                    <a:bodyPr/>
                    <a:lstStyle/>
                    <a:p>
                      <a:r>
                        <a:rPr sz="1250" b="1" i="0">
                          <a:solidFill>
                            <a:srgbClr val="FFFFFF"/>
                          </a:solidFill>
                          <a:latin typeface="Calibri"/>
                        </a:rPr>
                        <a:t>Rate carried by</a:t>
                      </a:r>
                    </a:p>
                  </a:txBody>
                  <a:tcPr marL="101600" marR="101600" marT="38100" marB="38100" anchor="ctr">
                    <a:solidFill>
                      <a:srgbClr val="1A0F5C"/>
                    </a:solidFill>
                  </a:tcPr>
                </a:tc>
              </a:tr>
              <a:tr h="335280">
                <a:tc>
                  <a:txBody>
                    <a:bodyPr/>
                    <a:lstStyle/>
                    <a:p>
                      <a:r>
                        <a:rPr sz="1200" b="0" i="0">
                          <a:solidFill>
                            <a:srgbClr val="1A1440"/>
                          </a:solidFill>
                          <a:latin typeface="Calibri"/>
                        </a:rPr>
                        <a:t>Booked</a:t>
                      </a:r>
                    </a:p>
                  </a:txBody>
                  <a:tcPr marL="101600" marR="101600" marT="38100" marB="38100" anchor="ctr">
                    <a:solidFill>
                      <a:srgbClr val="FFFFFF"/>
                    </a:solidFill>
                  </a:tcPr>
                </a:tc>
                <a:tc>
                  <a:txBody>
                    <a:bodyPr/>
                    <a:lstStyle/>
                    <a:p>
                      <a:r>
                        <a:rPr sz="1200" b="0" i="0">
                          <a:solidFill>
                            <a:srgbClr val="1A1440"/>
                          </a:solidFill>
                          <a:latin typeface="Calibri"/>
                        </a:rPr>
                        <a:t>+18.0%</a:t>
                      </a:r>
                    </a:p>
                  </a:txBody>
                  <a:tcPr marL="101600" marR="101600" marT="38100" marB="38100" anchor="ctr">
                    <a:solidFill>
                      <a:srgbClr val="FFFFFF"/>
                    </a:solidFill>
                  </a:tcPr>
                </a:tc>
                <a:tc>
                  <a:txBody>
                    <a:bodyPr/>
                    <a:lstStyle/>
                    <a:p>
                      <a:r>
                        <a:rPr sz="1200" b="0" i="0">
                          <a:solidFill>
                            <a:srgbClr val="1A1440"/>
                          </a:solidFill>
                          <a:latin typeface="Calibri"/>
                        </a:rPr>
                        <a:t>69%</a:t>
                      </a:r>
                    </a:p>
                  </a:txBody>
                  <a:tcPr marL="101600" marR="101600" marT="38100" marB="38100" anchor="ctr">
                    <a:solidFill>
                      <a:srgbClr val="FFFFFF"/>
                    </a:solidFill>
                  </a:tcPr>
                </a:tc>
                <a:tc>
                  <a:txBody>
                    <a:bodyPr/>
                    <a:lstStyle/>
                    <a:p>
                      <a:r>
                        <a:rPr sz="1200" b="0" i="0">
                          <a:solidFill>
                            <a:srgbClr val="1A1440"/>
                          </a:solidFill>
                          <a:latin typeface="Calibri"/>
                        </a:rPr>
                        <a:t>Business, one large order</a:t>
                      </a:r>
                    </a:p>
                  </a:txBody>
                  <a:tcPr marL="101600" marR="101600" marT="38100" marB="38100" anchor="ctr">
                    <a:solidFill>
                      <a:srgbClr val="FFFFFF"/>
                    </a:solidFill>
                  </a:tcPr>
                </a:tc>
              </a:tr>
              <a:tr h="335280">
                <a:tc>
                  <a:txBody>
                    <a:bodyPr/>
                    <a:lstStyle/>
                    <a:p>
                      <a:r>
                        <a:rPr sz="1200" b="0" i="0">
                          <a:solidFill>
                            <a:srgbClr val="1A1440"/>
                          </a:solidFill>
                          <a:latin typeface="Calibri"/>
                        </a:rPr>
                        <a:t>Delivered</a:t>
                      </a:r>
                    </a:p>
                  </a:txBody>
                  <a:tcPr marL="101600" marR="101600" marT="38100" marB="38100" anchor="ctr">
                    <a:solidFill>
                      <a:srgbClr val="F4F2FA"/>
                    </a:solidFill>
                  </a:tcPr>
                </a:tc>
                <a:tc>
                  <a:txBody>
                    <a:bodyPr/>
                    <a:lstStyle/>
                    <a:p>
                      <a:r>
                        <a:rPr sz="1200" b="0" i="0">
                          <a:solidFill>
                            <a:srgbClr val="1A1440"/>
                          </a:solidFill>
                          <a:latin typeface="Calibri"/>
                        </a:rPr>
                        <a:t>+26.0%</a:t>
                      </a:r>
                    </a:p>
                  </a:txBody>
                  <a:tcPr marL="101600" marR="101600" marT="38100" marB="38100" anchor="ctr">
                    <a:solidFill>
                      <a:srgbClr val="F4F2FA"/>
                    </a:solidFill>
                  </a:tcPr>
                </a:tc>
                <a:tc>
                  <a:txBody>
                    <a:bodyPr/>
                    <a:lstStyle/>
                    <a:p>
                      <a:r>
                        <a:rPr sz="1200" b="0" i="0">
                          <a:solidFill>
                            <a:srgbClr val="1A1440"/>
                          </a:solidFill>
                          <a:latin typeface="Calibri"/>
                        </a:rPr>
                        <a:t>44%</a:t>
                      </a:r>
                    </a:p>
                  </a:txBody>
                  <a:tcPr marL="101600" marR="101600" marT="38100" marB="38100" anchor="ctr">
                    <a:solidFill>
                      <a:srgbClr val="F4F2FA"/>
                    </a:solidFill>
                  </a:tcPr>
                </a:tc>
                <a:tc>
                  <a:txBody>
                    <a:bodyPr/>
                    <a:lstStyle/>
                    <a:p>
                      <a:r>
                        <a:rPr sz="1200" b="0" i="0">
                          <a:solidFill>
                            <a:srgbClr val="1A1440"/>
                          </a:solidFill>
                          <a:latin typeface="Calibri"/>
                        </a:rPr>
                        <a:t>Business, delivered orders Rs 10,24,651 to Rs 11,60,405</a:t>
                      </a:r>
                    </a:p>
                  </a:txBody>
                  <a:tcPr marL="101600" marR="101600" marT="38100" marB="38100" anchor="ctr">
                    <a:solidFill>
                      <a:srgbClr val="F4F2FA"/>
                    </a:solidFill>
                  </a:tcPr>
                </a:tc>
              </a:tr>
            </a:tbl>
          </a:graphicData>
        </a:graphic>
      </p:graphicFrame>
      <p:sp>
        <p:nvSpPr>
          <p:cNvPr id="10" name="Rounded Rectangle 9"/>
          <p:cNvSpPr/>
          <p:nvPr/>
        </p:nvSpPr>
        <p:spPr>
          <a:xfrm>
            <a:off x="530352" y="321868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346704"/>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337560"/>
            <a:ext cx="10564063" cy="624840"/>
          </a:xfrm>
          <a:prstGeom prst="rect">
            <a:avLst/>
          </a:prstGeom>
          <a:noFill/>
        </p:spPr>
        <p:txBody>
          <a:bodyPr wrap="square" anchor="ctr" lIns="0" rIns="0" tIns="0" bIns="0">
            <a:spAutoFit/>
          </a:bodyPr>
          <a:lstStyle/>
          <a:p>
            <a:r>
              <a:rPr sz="1500" b="1">
                <a:solidFill>
                  <a:srgbClr val="5B3FD6"/>
                </a:solidFill>
                <a:latin typeface="Calibri"/>
              </a:rPr>
              <a:t>The check. </a:t>
            </a:r>
            <a:r>
              <a:rPr sz="1500" b="0" i="0">
                <a:solidFill>
                  <a:srgbClr val="1A1440"/>
                </a:solidFill>
                <a:latin typeface="Calibri"/>
              </a:rPr>
              <a:t>The rate part is Business's lakh-sized orders; the consumer segments' own delivered order values moved by about a hundred rupees at most, so there is still no consumer price signal.</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memo and its evidence</a:t>
            </a:r>
          </a:p>
        </p:txBody>
      </p:sp>
      <p:sp>
        <p:nvSpPr>
          <p:cNvPr id="15" name="Oval 14"/>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657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17" name="Oval 16"/>
          <p:cNvSpPr/>
          <p:nvPr/>
        </p:nvSpPr>
        <p:spPr>
          <a:xfrm>
            <a:off x="345957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569303" y="6437376"/>
            <a:ext cx="1562480" cy="152146"/>
          </a:xfrm>
          <a:prstGeom prst="rect">
            <a:avLst/>
          </a:prstGeom>
          <a:noFill/>
        </p:spPr>
        <p:txBody>
          <a:bodyPr wrap="square" anchor="t" lIns="0" rIns="0" tIns="0" bIns="0">
            <a:spAutoFit/>
          </a:bodyPr>
          <a:lstStyle/>
          <a:p>
            <a:pPr algn="l"/>
            <a:r>
              <a:rPr sz="700" b="1" i="0">
                <a:solidFill>
                  <a:srgbClr val="5B3FD6"/>
                </a:solidFill>
                <a:latin typeface="Calibri"/>
              </a:rPr>
              <a:t>The debrief of wrong answers</a:t>
            </a:r>
          </a:p>
        </p:txBody>
      </p:sp>
      <p:sp>
        <p:nvSpPr>
          <p:cNvPr id="19" name="Oval 18"/>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332952"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The second case</a:t>
            </a:r>
          </a:p>
        </p:txBody>
      </p:sp>
      <p:sp>
        <p:nvSpPr>
          <p:cNvPr id="21" name="Oval 20"/>
          <p:cNvSpPr/>
          <p:nvPr/>
        </p:nvSpPr>
        <p:spPr>
          <a:xfrm>
            <a:off x="63887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498526"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23" name="Oval 22"/>
          <p:cNvSpPr/>
          <p:nvPr/>
        </p:nvSpPr>
        <p:spPr>
          <a:xfrm>
            <a:off x="77383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7848123"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S15  ·  19 / 30</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Wrong answer 4: a sentence with no definition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"Revenue fell 11 percent" is true on both definitions, at 11.0 and 11.3, and says neither.</a:t>
            </a:r>
          </a:p>
        </p:txBody>
      </p:sp>
      <p:pic>
        <p:nvPicPr>
          <p:cNvPr id="9" name="mermaid diagram" descr="42df9b6a0735c156.png"/>
          <p:cNvPicPr>
            <a:picLocks noChangeAspect="1"/>
          </p:cNvPicPr>
          <p:nvPr/>
        </p:nvPicPr>
        <p:blipFill>
          <a:blip r:embed="rId6"/>
          <a:stretch>
            <a:fillRect/>
          </a:stretch>
        </p:blipFill>
        <p:spPr>
          <a:xfrm>
            <a:off x="3607649" y="1664208"/>
            <a:ext cx="4976396" cy="2944368"/>
          </a:xfrm>
          <a:prstGeom prst="rect">
            <a:avLst/>
          </a:prstGeom>
        </p:spPr>
      </p:pic>
      <p:sp>
        <p:nvSpPr>
          <p:cNvPr id="10" name="Rounded Rectangle 9"/>
          <p:cNvSpPr/>
          <p:nvPr/>
        </p:nvSpPr>
        <p:spPr>
          <a:xfrm>
            <a:off x="530352" y="4654296"/>
            <a:ext cx="11130991" cy="13807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511606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5"/>
          <a:stretch>
            <a:fillRect/>
          </a:stretch>
        </p:blipFill>
        <p:spPr>
          <a:xfrm>
            <a:off x="868680" y="5225796"/>
            <a:ext cx="237744" cy="237744"/>
          </a:xfrm>
          <a:prstGeom prst="rect">
            <a:avLst/>
          </a:prstGeom>
        </p:spPr>
      </p:pic>
      <p:sp>
        <p:nvSpPr>
          <p:cNvPr id="13" name="TextBox 12"/>
          <p:cNvSpPr txBox="1"/>
          <p:nvPr/>
        </p:nvSpPr>
        <p:spPr>
          <a:xfrm>
            <a:off x="1399031" y="480060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1399031" y="5020056"/>
            <a:ext cx="9987991" cy="941832"/>
          </a:xfrm>
          <a:prstGeom prst="rect">
            <a:avLst/>
          </a:prstGeom>
          <a:noFill/>
        </p:spPr>
        <p:txBody>
          <a:bodyPr wrap="square" anchor="t" lIns="0" rIns="0" tIns="0" bIns="0">
            <a:spAutoFit/>
          </a:bodyPr>
          <a:lstStyle/>
          <a:p>
            <a:r>
              <a:rPr sz="1500" b="0" i="0">
                <a:solidFill>
                  <a:srgbClr val="1A1440"/>
                </a:solidFill>
                <a:latin typeface="Calibri"/>
              </a:rPr>
              <a:t>"On delivered orders the story held: frequency, Retail-Plus at minus 42.6 percent per member, and the same two hypotheses. The branch that moved was fulfilment. Put the definition beside every number, and the solution is open now."</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memo and its evidence</a:t>
            </a:r>
          </a:p>
        </p:txBody>
      </p:sp>
      <p:sp>
        <p:nvSpPr>
          <p:cNvPr id="17" name="Oval 16"/>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2657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19" name="Oval 18"/>
          <p:cNvSpPr/>
          <p:nvPr/>
        </p:nvSpPr>
        <p:spPr>
          <a:xfrm>
            <a:off x="345957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569303" y="6437376"/>
            <a:ext cx="1562480" cy="152146"/>
          </a:xfrm>
          <a:prstGeom prst="rect">
            <a:avLst/>
          </a:prstGeom>
          <a:noFill/>
        </p:spPr>
        <p:txBody>
          <a:bodyPr wrap="square" anchor="t" lIns="0" rIns="0" tIns="0" bIns="0">
            <a:spAutoFit/>
          </a:bodyPr>
          <a:lstStyle/>
          <a:p>
            <a:pPr algn="l"/>
            <a:r>
              <a:rPr sz="700" b="1" i="0">
                <a:solidFill>
                  <a:srgbClr val="5B3FD6"/>
                </a:solidFill>
                <a:latin typeface="Calibri"/>
              </a:rPr>
              <a:t>The debrief of wrong answers</a:t>
            </a:r>
          </a:p>
        </p:txBody>
      </p:sp>
      <p:sp>
        <p:nvSpPr>
          <p:cNvPr id="21" name="Oval 20"/>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332952"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The second case</a:t>
            </a:r>
          </a:p>
        </p:txBody>
      </p:sp>
      <p:sp>
        <p:nvSpPr>
          <p:cNvPr id="23" name="Oval 22"/>
          <p:cNvSpPr/>
          <p:nvPr/>
        </p:nvSpPr>
        <p:spPr>
          <a:xfrm>
            <a:off x="63887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498526"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25" name="Oval 24"/>
          <p:cNvSpPr/>
          <p:nvPr/>
        </p:nvSpPr>
        <p:spPr>
          <a:xfrm>
            <a:off x="77383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7848123"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S16  ·  20 / 30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09</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The second case</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In pairs: Marketing's new deck, and the tier asks who to call first.</a:t>
            </a:r>
          </a:p>
        </p:txBody>
      </p:sp>
      <p:sp>
        <p:nvSpPr>
          <p:cNvPr id="10" name="Rounded Rectangle 9"/>
          <p:cNvSpPr/>
          <p:nvPr/>
        </p:nvSpPr>
        <p:spPr>
          <a:xfrm>
            <a:off x="731519" y="5074920"/>
            <a:ext cx="184615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memo and its evidence</a:t>
            </a:r>
          </a:p>
        </p:txBody>
      </p:sp>
      <p:sp>
        <p:nvSpPr>
          <p:cNvPr id="11" name="Rounded Rectangle 10"/>
          <p:cNvSpPr/>
          <p:nvPr/>
        </p:nvSpPr>
        <p:spPr>
          <a:xfrm>
            <a:off x="2687407" y="5074920"/>
            <a:ext cx="143164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escalated case</a:t>
            </a:r>
          </a:p>
        </p:txBody>
      </p:sp>
      <p:sp>
        <p:nvSpPr>
          <p:cNvPr id="12" name="Rounded Rectangle 11"/>
          <p:cNvSpPr/>
          <p:nvPr/>
        </p:nvSpPr>
        <p:spPr>
          <a:xfrm>
            <a:off x="4228782" y="5074920"/>
            <a:ext cx="202380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debrief of wrong answers</a:t>
            </a:r>
          </a:p>
        </p:txBody>
      </p:sp>
      <p:sp>
        <p:nvSpPr>
          <p:cNvPr id="13" name="Rounded Rectangle 12"/>
          <p:cNvSpPr/>
          <p:nvPr/>
        </p:nvSpPr>
        <p:spPr>
          <a:xfrm>
            <a:off x="6362318" y="5074920"/>
            <a:ext cx="1253999"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The second case</a:t>
            </a:r>
          </a:p>
        </p:txBody>
      </p:sp>
      <p:sp>
        <p:nvSpPr>
          <p:cNvPr id="14" name="Rounded Rectangle 13"/>
          <p:cNvSpPr/>
          <p:nvPr/>
        </p:nvSpPr>
        <p:spPr>
          <a:xfrm>
            <a:off x="7726045" y="5074920"/>
            <a:ext cx="149086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interview drill</a:t>
            </a:r>
          </a:p>
        </p:txBody>
      </p:sp>
      <p:sp>
        <p:nvSpPr>
          <p:cNvPr id="15" name="Rounded Rectangle 14"/>
          <p:cNvSpPr/>
          <p:nvPr/>
        </p:nvSpPr>
        <p:spPr>
          <a:xfrm>
            <a:off x="9326637" y="5074920"/>
            <a:ext cx="89870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close</a:t>
            </a:r>
          </a:p>
        </p:txBody>
      </p:sp>
      <p:sp>
        <p:nvSpPr>
          <p:cNvPr id="16" name="TextBox 15"/>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Tuesday: the cause on trial</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21 / 30</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Marketing's new deck, and the tier's call list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One of each pair answers Marketing, the other the head of Retail-Plus, from the same file.</a:t>
            </a:r>
          </a:p>
        </p:txBody>
      </p:sp>
      <p:sp>
        <p:nvSpPr>
          <p:cNvPr id="9" name="Rounded Rectangle 8"/>
          <p:cNvSpPr/>
          <p:nvPr/>
        </p:nvSpPr>
        <p:spPr>
          <a:xfrm>
            <a:off x="530352" y="1956816"/>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megaphone_df6318bcf2f9.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CLAIM 1</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Student rose 40 percent</a:t>
            </a:r>
          </a:p>
        </p:txBody>
      </p:sp>
      <p:sp>
        <p:nvSpPr>
          <p:cNvPr id="14" name="TextBox 13"/>
          <p:cNvSpPr txBox="1"/>
          <p:nvPr/>
        </p:nvSpPr>
        <p:spPr>
          <a:xfrm>
            <a:off x="731519"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"Our campus push worked, so acquisition works."</a:t>
            </a:r>
          </a:p>
        </p:txBody>
      </p:sp>
      <p:sp>
        <p:nvSpPr>
          <p:cNvPr id="15" name="Rounded Rectangle 14"/>
          <p:cNvSpPr/>
          <p:nvPr/>
        </p:nvSpPr>
        <p:spPr>
          <a:xfrm>
            <a:off x="4301642" y="1956816"/>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globe_fca372603d1d.png"/>
          <p:cNvPicPr>
            <a:picLocks noChangeAspect="1"/>
          </p:cNvPicPr>
          <p:nvPr/>
        </p:nvPicPr>
        <p:blipFill>
          <a:blip r:embed="rId5"/>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CLAIM 2</a:t>
            </a:r>
          </a:p>
        </p:txBody>
      </p:sp>
      <p:sp>
        <p:nvSpPr>
          <p:cNvPr id="19" name="TextBox 18"/>
          <p:cNvSpPr txBox="1"/>
          <p:nvPr/>
        </p:nvSpPr>
        <p:spPr>
          <a:xfrm>
            <a:off x="450281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Web fell hardest</a:t>
            </a:r>
          </a:p>
        </p:txBody>
      </p:sp>
      <p:sp>
        <p:nvSpPr>
          <p:cNvPr id="20" name="TextBox 19"/>
          <p:cNvSpPr txBox="1"/>
          <p:nvPr/>
        </p:nvSpPr>
        <p:spPr>
          <a:xfrm>
            <a:off x="4502810"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"Retail-Plus web orders fell 24 to 9, so it is the website team's problem."</a:t>
            </a:r>
          </a:p>
        </p:txBody>
      </p:sp>
      <p:sp>
        <p:nvSpPr>
          <p:cNvPr id="21" name="Rounded Rectangle 20"/>
          <p:cNvSpPr/>
          <p:nvPr/>
        </p:nvSpPr>
        <p:spPr>
          <a:xfrm>
            <a:off x="8072932" y="1956816"/>
            <a:ext cx="3588410" cy="1964436"/>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phone_74e7f1db6e6c.png"/>
          <p:cNvPicPr>
            <a:picLocks noChangeAspect="1"/>
          </p:cNvPicPr>
          <p:nvPr/>
        </p:nvPicPr>
        <p:blipFill>
          <a:blip r:embed="rId6"/>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THE TIER</a:t>
            </a:r>
          </a:p>
        </p:txBody>
      </p:sp>
      <p:sp>
        <p:nvSpPr>
          <p:cNvPr id="25" name="TextBox 24"/>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FFFFFF"/>
                </a:solidFill>
                <a:latin typeface="Calibri"/>
              </a:rPr>
              <a:t>Who do I call first?</a:t>
            </a:r>
          </a:p>
        </p:txBody>
      </p:sp>
      <p:sp>
        <p:nvSpPr>
          <p:cNvPr id="26" name="TextBox 25"/>
          <p:cNvSpPr txBox="1"/>
          <p:nvPr/>
        </p:nvSpPr>
        <p:spPr>
          <a:xfrm>
            <a:off x="8274100" y="3303524"/>
            <a:ext cx="3186074" cy="218186"/>
          </a:xfrm>
          <a:prstGeom prst="rect">
            <a:avLst/>
          </a:prstGeom>
          <a:noFill/>
        </p:spPr>
        <p:txBody>
          <a:bodyPr wrap="square" anchor="t" lIns="0" rIns="0" tIns="0" bIns="0">
            <a:spAutoFit/>
          </a:bodyPr>
          <a:lstStyle/>
          <a:p>
            <a:pPr algn="l"/>
            <a:r>
              <a:rPr sz="1100" b="0" i="0">
                <a:solidFill>
                  <a:srgbClr val="CFC9EE"/>
                </a:solidFill>
                <a:latin typeface="Calibri"/>
              </a:rPr>
              <a:t>"Which of my members do I call first?"</a:t>
            </a:r>
          </a:p>
        </p:txBody>
      </p:sp>
      <p:sp>
        <p:nvSpPr>
          <p:cNvPr id="27" name="Rounded Rectangle 26"/>
          <p:cNvSpPr/>
          <p:nvPr/>
        </p:nvSpPr>
        <p:spPr>
          <a:xfrm>
            <a:off x="530352" y="4104132"/>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758952" y="430682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list-checks_bd88901d2a37.png"/>
          <p:cNvPicPr>
            <a:picLocks noChangeAspect="1"/>
          </p:cNvPicPr>
          <p:nvPr/>
        </p:nvPicPr>
        <p:blipFill>
          <a:blip r:embed="rId7"/>
          <a:stretch>
            <a:fillRect/>
          </a:stretch>
        </p:blipFill>
        <p:spPr>
          <a:xfrm>
            <a:off x="868680" y="4416552"/>
            <a:ext cx="237744" cy="237744"/>
          </a:xfrm>
          <a:prstGeom prst="rect">
            <a:avLst/>
          </a:prstGeom>
        </p:spPr>
      </p:pic>
      <p:sp>
        <p:nvSpPr>
          <p:cNvPr id="30" name="TextBox 29"/>
          <p:cNvSpPr txBox="1"/>
          <p:nvPr/>
        </p:nvSpPr>
        <p:spPr>
          <a:xfrm>
            <a:off x="1399031" y="4250436"/>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31" name="TextBox 30"/>
          <p:cNvSpPr txBox="1"/>
          <p:nvPr/>
        </p:nvSpPr>
        <p:spPr>
          <a:xfrm>
            <a:off x="1399031" y="4469892"/>
            <a:ext cx="9987991" cy="423672"/>
          </a:xfrm>
          <a:prstGeom prst="rect">
            <a:avLst/>
          </a:prstGeom>
          <a:noFill/>
        </p:spPr>
        <p:txBody>
          <a:bodyPr wrap="square" anchor="t" lIns="0" rIns="0" tIns="0" bIns="0">
            <a:spAutoFit/>
          </a:bodyPr>
          <a:lstStyle/>
          <a:p>
            <a:r>
              <a:rPr sz="1500" b="0" i="0">
                <a:solidFill>
                  <a:srgbClr val="1A1440"/>
                </a:solidFill>
                <a:latin typeface="Calibri"/>
              </a:rPr>
              <a:t>Find what each number is made of before you agree or disagree.</a:t>
            </a:r>
          </a:p>
        </p:txBody>
      </p:sp>
      <p:sp>
        <p:nvSpPr>
          <p:cNvPr id="32" name="Oval 3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memo and its evidence</a:t>
            </a:r>
          </a:p>
        </p:txBody>
      </p:sp>
      <p:sp>
        <p:nvSpPr>
          <p:cNvPr id="34" name="Oval 33"/>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22657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36" name="Oval 35"/>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3569303"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The debrief of wrong answers</a:t>
            </a:r>
          </a:p>
        </p:txBody>
      </p:sp>
      <p:sp>
        <p:nvSpPr>
          <p:cNvPr id="38" name="Oval 37"/>
          <p:cNvSpPr/>
          <p:nvPr/>
        </p:nvSpPr>
        <p:spPr>
          <a:xfrm>
            <a:off x="522322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5332952" y="6437376"/>
            <a:ext cx="964406" cy="152146"/>
          </a:xfrm>
          <a:prstGeom prst="rect">
            <a:avLst/>
          </a:prstGeom>
          <a:noFill/>
        </p:spPr>
        <p:txBody>
          <a:bodyPr wrap="square" anchor="t" lIns="0" rIns="0" tIns="0" bIns="0">
            <a:spAutoFit/>
          </a:bodyPr>
          <a:lstStyle/>
          <a:p>
            <a:pPr algn="l"/>
            <a:r>
              <a:rPr sz="700" b="1" i="0">
                <a:solidFill>
                  <a:srgbClr val="5B3FD6"/>
                </a:solidFill>
                <a:latin typeface="Calibri"/>
              </a:rPr>
              <a:t>The second case</a:t>
            </a:r>
          </a:p>
        </p:txBody>
      </p:sp>
      <p:sp>
        <p:nvSpPr>
          <p:cNvPr id="40" name="Oval 39"/>
          <p:cNvSpPr/>
          <p:nvPr/>
        </p:nvSpPr>
        <p:spPr>
          <a:xfrm>
            <a:off x="63887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6498526"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42" name="Oval 41"/>
          <p:cNvSpPr/>
          <p:nvPr/>
        </p:nvSpPr>
        <p:spPr>
          <a:xfrm>
            <a:off x="77383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7848123"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44" name="TextBox 4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S17  ·  22 / 30</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What the pairs should reach</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Each claim, taken apart, and the call list with its size.</a:t>
            </a:r>
          </a:p>
        </p:txBody>
      </p:sp>
      <p:graphicFrame>
        <p:nvGraphicFramePr>
          <p:cNvPr id="9" name="Table 8"/>
          <p:cNvGraphicFramePr>
            <a:graphicFrameLocks noGrp="1"/>
          </p:cNvGraphicFramePr>
          <p:nvPr/>
        </p:nvGraphicFramePr>
        <p:xfrm>
          <a:off x="530352" y="1956816"/>
          <a:ext cx="11130989" cy="1962912"/>
        </p:xfrm>
        <a:graphic>
          <a:graphicData uri="http://schemas.openxmlformats.org/drawingml/2006/table">
            <a:tbl>
              <a:tblPr firstRow="0" bandRow="0">
                <a:tableStyleId>{2D5ABB26-0587-4C30-8999-92F81FD0307C}</a:tableStyleId>
              </a:tblPr>
              <a:tblGrid>
                <a:gridCol w="1855937"/>
                <a:gridCol w="4025600"/>
                <a:gridCol w="5249452"/>
              </a:tblGrid>
              <a:tr h="369824">
                <a:tc>
                  <a:txBody>
                    <a:bodyPr/>
                    <a:lstStyle/>
                    <a:p>
                      <a:r>
                        <a:rPr sz="1450" b="1" i="0">
                          <a:solidFill>
                            <a:srgbClr val="FFFFFF"/>
                          </a:solidFill>
                          <a:latin typeface="Calibri"/>
                        </a:rPr>
                        <a:t>Claim</a:t>
                      </a:r>
                    </a:p>
                  </a:txBody>
                  <a:tcPr marL="101600" marR="101600" marT="38100" marB="38100" anchor="ctr">
                    <a:solidFill>
                      <a:srgbClr val="1A0F5C"/>
                    </a:solidFill>
                  </a:tcPr>
                </a:tc>
                <a:tc>
                  <a:txBody>
                    <a:bodyPr/>
                    <a:lstStyle/>
                    <a:p>
                      <a:r>
                        <a:rPr sz="1450" b="1" i="0">
                          <a:solidFill>
                            <a:srgbClr val="FFFFFF"/>
                          </a:solidFill>
                          <a:latin typeface="Calibri"/>
                        </a:rPr>
                        <a:t>What it is made of</a:t>
                      </a:r>
                    </a:p>
                  </a:txBody>
                  <a:tcPr marL="101600" marR="101600" marT="38100" marB="38100" anchor="ctr">
                    <a:solidFill>
                      <a:srgbClr val="1A0F5C"/>
                    </a:solidFill>
                  </a:tcPr>
                </a:tc>
                <a:tc>
                  <a:txBody>
                    <a:bodyPr/>
                    <a:lstStyle/>
                    <a:p>
                      <a:r>
                        <a:rPr sz="1450" b="1" i="0">
                          <a:solidFill>
                            <a:srgbClr val="FFFFFF"/>
                          </a:solidFill>
                          <a:latin typeface="Calibri"/>
                        </a:rPr>
                        <a:t>The reply</a:t>
                      </a:r>
                    </a:p>
                  </a:txBody>
                  <a:tcPr marL="101600" marR="101600" marT="38100" marB="38100" anchor="ctr">
                    <a:solidFill>
                      <a:srgbClr val="1A0F5C"/>
                    </a:solidFill>
                  </a:tcPr>
                </a:tc>
              </a:tr>
              <a:tr h="611632">
                <a:tc>
                  <a:txBody>
                    <a:bodyPr/>
                    <a:lstStyle/>
                    <a:p>
                      <a:r>
                        <a:rPr sz="1400" b="0" i="0">
                          <a:solidFill>
                            <a:srgbClr val="1A1440"/>
                          </a:solidFill>
                          <a:latin typeface="Calibri"/>
                        </a:rPr>
                        <a:t>Student +40 percent</a:t>
                      </a:r>
                    </a:p>
                  </a:txBody>
                  <a:tcPr marL="101600" marR="101600" marT="38100" marB="38100" anchor="ctr">
                    <a:solidFill>
                      <a:srgbClr val="FFFFFF"/>
                    </a:solidFill>
                  </a:tcPr>
                </a:tc>
                <a:tc>
                  <a:txBody>
                    <a:bodyPr/>
                    <a:lstStyle/>
                    <a:p>
                      <a:r>
                        <a:rPr sz="1400" b="0" i="0">
                          <a:solidFill>
                            <a:srgbClr val="1A1440"/>
                          </a:solidFill>
                          <a:latin typeface="Calibri"/>
                        </a:rPr>
                        <a:t>The same 2 customers, 5 orders to 7</a:t>
                      </a:r>
                    </a:p>
                  </a:txBody>
                  <a:tcPr marL="101600" marR="101600" marT="38100" marB="38100" anchor="ctr">
                    <a:solidFill>
                      <a:srgbClr val="FFFFFF"/>
                    </a:solidFill>
                  </a:tcPr>
                </a:tc>
                <a:tc>
                  <a:txBody>
                    <a:bodyPr/>
                    <a:lstStyle/>
                    <a:p>
                      <a:r>
                        <a:rPr sz="1400" b="0" i="0">
                          <a:solidFill>
                            <a:srgbClr val="1A1440"/>
                          </a:solidFill>
                          <a:latin typeface="Calibri"/>
                        </a:rPr>
                        <a:t>No new customer, and one order moves a rate on 2 customers by 20 percent</a:t>
                      </a:r>
                    </a:p>
                  </a:txBody>
                  <a:tcPr marL="101600" marR="101600" marT="38100" marB="38100" anchor="ctr">
                    <a:solidFill>
                      <a:srgbClr val="FFFFFF"/>
                    </a:solidFill>
                  </a:tcPr>
                </a:tc>
              </a:tr>
              <a:tr h="611632">
                <a:tc>
                  <a:txBody>
                    <a:bodyPr/>
                    <a:lstStyle/>
                    <a:p>
                      <a:r>
                        <a:rPr sz="1400" b="0" i="0">
                          <a:solidFill>
                            <a:srgbClr val="1A1440"/>
                          </a:solidFill>
                          <a:latin typeface="Calibri"/>
                        </a:rPr>
                        <a:t>Web fell hardest</a:t>
                      </a:r>
                    </a:p>
                  </a:txBody>
                  <a:tcPr marL="101600" marR="101600" marT="38100" marB="38100" anchor="ctr">
                    <a:solidFill>
                      <a:srgbClr val="F4F2FA"/>
                    </a:solidFill>
                  </a:tcPr>
                </a:tc>
                <a:tc>
                  <a:txBody>
                    <a:bodyPr/>
                    <a:lstStyle/>
                    <a:p>
                      <a:r>
                        <a:rPr sz="1400" b="0" i="0">
                          <a:solidFill>
                            <a:srgbClr val="1A1440"/>
                          </a:solidFill>
                          <a:latin typeface="Calibri"/>
                        </a:rPr>
                        <a:t>Retail-Core web held, 13 to 12, same website</a:t>
                      </a:r>
                    </a:p>
                  </a:txBody>
                  <a:tcPr marL="101600" marR="101600" marT="38100" marB="38100" anchor="ctr">
                    <a:solidFill>
                      <a:srgbClr val="F4F2FA"/>
                    </a:solidFill>
                  </a:tcPr>
                </a:tc>
                <a:tc>
                  <a:txBody>
                    <a:bodyPr/>
                    <a:lstStyle/>
                    <a:p>
                      <a:r>
                        <a:rPr sz="1400" b="0" i="0">
                          <a:solidFill>
                            <a:srgbClr val="1A1440"/>
                          </a:solidFill>
                          <a:latin typeface="Calibri"/>
                        </a:rPr>
                        <a:t>A site-wide fault does not fit; members fell on every channel</a:t>
                      </a:r>
                    </a:p>
                  </a:txBody>
                  <a:tcPr marL="101600" marR="101600" marT="38100" marB="38100" anchor="ctr">
                    <a:solidFill>
                      <a:srgbClr val="F4F2FA"/>
                    </a:solidFill>
                  </a:tcPr>
                </a:tc>
              </a:tr>
              <a:tr h="369824">
                <a:tc>
                  <a:txBody>
                    <a:bodyPr/>
                    <a:lstStyle/>
                    <a:p>
                      <a:r>
                        <a:rPr sz="1400" b="0" i="0">
                          <a:solidFill>
                            <a:srgbClr val="1A1440"/>
                          </a:solidFill>
                          <a:latin typeface="Calibri"/>
                        </a:rPr>
                        <a:t>Who to call first</a:t>
                      </a:r>
                    </a:p>
                  </a:txBody>
                  <a:tcPr marL="101600" marR="101600" marT="38100" marB="38100" anchor="ctr">
                    <a:solidFill>
                      <a:srgbClr val="FFFFFF"/>
                    </a:solidFill>
                  </a:tcPr>
                </a:tc>
                <a:tc>
                  <a:txBody>
                    <a:bodyPr/>
                    <a:lstStyle/>
                    <a:p>
                      <a:r>
                        <a:rPr sz="1400" b="0" i="0">
                          <a:solidFill>
                            <a:srgbClr val="1A1440"/>
                          </a:solidFill>
                          <a:latin typeface="Calibri"/>
                        </a:rPr>
                        <a:t>7 members went from 3 orders to 1</a:t>
                      </a:r>
                    </a:p>
                  </a:txBody>
                  <a:tcPr marL="101600" marR="101600" marT="38100" marB="38100" anchor="ctr">
                    <a:solidFill>
                      <a:srgbClr val="FFFFFF"/>
                    </a:solidFill>
                  </a:tcPr>
                </a:tc>
                <a:tc>
                  <a:txBody>
                    <a:bodyPr/>
                    <a:lstStyle/>
                    <a:p>
                      <a:r>
                        <a:rPr sz="1400" b="0" i="0">
                          <a:solidFill>
                            <a:srgbClr val="1A1440"/>
                          </a:solidFill>
                          <a:latin typeface="Calibri"/>
                        </a:rPr>
                        <a:t>Call the 7, then the 11 who fell by one</a:t>
                      </a:r>
                    </a:p>
                  </a:txBody>
                  <a:tcPr marL="101600" marR="101600" marT="38100" marB="38100" anchor="ctr">
                    <a:solidFill>
                      <a:srgbClr val="FFFFFF"/>
                    </a:solidFill>
                  </a:tcPr>
                </a:tc>
              </a:tr>
            </a:tbl>
          </a:graphicData>
        </a:graphic>
      </p:graphicFrame>
      <p:sp>
        <p:nvSpPr>
          <p:cNvPr id="10" name="Rounded Rectangle 9"/>
          <p:cNvSpPr/>
          <p:nvPr/>
        </p:nvSpPr>
        <p:spPr>
          <a:xfrm>
            <a:off x="530352" y="4175760"/>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303775"/>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294632"/>
            <a:ext cx="10564063" cy="624840"/>
          </a:xfrm>
          <a:prstGeom prst="rect">
            <a:avLst/>
          </a:prstGeom>
          <a:noFill/>
        </p:spPr>
        <p:txBody>
          <a:bodyPr wrap="square" anchor="ctr" lIns="0" rIns="0" tIns="0" bIns="0">
            <a:spAutoFit/>
          </a:bodyPr>
          <a:lstStyle/>
          <a:p>
            <a:r>
              <a:rPr sz="1500" b="1">
                <a:solidFill>
                  <a:srgbClr val="5B3FD6"/>
                </a:solidFill>
                <a:latin typeface="Calibri"/>
              </a:rPr>
              <a:t>The one request. </a:t>
            </a:r>
            <a:r>
              <a:rPr sz="1500" b="0" i="0">
                <a:solidFill>
                  <a:srgbClr val="1A1440"/>
                </a:solidFill>
                <a:latin typeface="Calibri"/>
              </a:rPr>
              <a:t>The tier's July change log, renewals and support tickets, since the fall began in July; the reorder logs second.</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memo and its evidence</a:t>
            </a:r>
          </a:p>
        </p:txBody>
      </p:sp>
      <p:sp>
        <p:nvSpPr>
          <p:cNvPr id="15" name="Oval 14"/>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657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17" name="Oval 16"/>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569303"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The debrief of wrong answers</a:t>
            </a:r>
          </a:p>
        </p:txBody>
      </p:sp>
      <p:sp>
        <p:nvSpPr>
          <p:cNvPr id="19" name="Oval 18"/>
          <p:cNvSpPr/>
          <p:nvPr/>
        </p:nvSpPr>
        <p:spPr>
          <a:xfrm>
            <a:off x="522322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332952" y="6437376"/>
            <a:ext cx="964406" cy="152146"/>
          </a:xfrm>
          <a:prstGeom prst="rect">
            <a:avLst/>
          </a:prstGeom>
          <a:noFill/>
        </p:spPr>
        <p:txBody>
          <a:bodyPr wrap="square" anchor="t" lIns="0" rIns="0" tIns="0" bIns="0">
            <a:spAutoFit/>
          </a:bodyPr>
          <a:lstStyle/>
          <a:p>
            <a:pPr algn="l"/>
            <a:r>
              <a:rPr sz="700" b="1" i="0">
                <a:solidFill>
                  <a:srgbClr val="5B3FD6"/>
                </a:solidFill>
                <a:latin typeface="Calibri"/>
              </a:rPr>
              <a:t>The second case</a:t>
            </a:r>
          </a:p>
        </p:txBody>
      </p:sp>
      <p:sp>
        <p:nvSpPr>
          <p:cNvPr id="21" name="Oval 20"/>
          <p:cNvSpPr/>
          <p:nvPr/>
        </p:nvSpPr>
        <p:spPr>
          <a:xfrm>
            <a:off x="63887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498526"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23" name="Oval 22"/>
          <p:cNvSpPr/>
          <p:nvPr/>
        </p:nvSpPr>
        <p:spPr>
          <a:xfrm>
            <a:off x="77383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7848123"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S18  ·  23 / 30</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10</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The interview drill</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Twelve questions asked aloud, one breath each, the design question among them.</a:t>
            </a:r>
          </a:p>
        </p:txBody>
      </p:sp>
      <p:sp>
        <p:nvSpPr>
          <p:cNvPr id="10" name="Rounded Rectangle 9"/>
          <p:cNvSpPr/>
          <p:nvPr/>
        </p:nvSpPr>
        <p:spPr>
          <a:xfrm>
            <a:off x="731519" y="5074920"/>
            <a:ext cx="184615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memo and its evidence</a:t>
            </a:r>
          </a:p>
        </p:txBody>
      </p:sp>
      <p:sp>
        <p:nvSpPr>
          <p:cNvPr id="11" name="Rounded Rectangle 10"/>
          <p:cNvSpPr/>
          <p:nvPr/>
        </p:nvSpPr>
        <p:spPr>
          <a:xfrm>
            <a:off x="2687407" y="5074920"/>
            <a:ext cx="143164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escalated case</a:t>
            </a:r>
          </a:p>
        </p:txBody>
      </p:sp>
      <p:sp>
        <p:nvSpPr>
          <p:cNvPr id="12" name="Rounded Rectangle 11"/>
          <p:cNvSpPr/>
          <p:nvPr/>
        </p:nvSpPr>
        <p:spPr>
          <a:xfrm>
            <a:off x="4228782" y="5074920"/>
            <a:ext cx="202380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debrief of wrong answers</a:t>
            </a:r>
          </a:p>
        </p:txBody>
      </p:sp>
      <p:sp>
        <p:nvSpPr>
          <p:cNvPr id="13" name="Rounded Rectangle 12"/>
          <p:cNvSpPr/>
          <p:nvPr/>
        </p:nvSpPr>
        <p:spPr>
          <a:xfrm>
            <a:off x="6362318" y="5074920"/>
            <a:ext cx="125399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second case</a:t>
            </a:r>
          </a:p>
        </p:txBody>
      </p:sp>
      <p:sp>
        <p:nvSpPr>
          <p:cNvPr id="14" name="Rounded Rectangle 13"/>
          <p:cNvSpPr/>
          <p:nvPr/>
        </p:nvSpPr>
        <p:spPr>
          <a:xfrm>
            <a:off x="7726045" y="5074920"/>
            <a:ext cx="1490863"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The interview drill</a:t>
            </a:r>
          </a:p>
        </p:txBody>
      </p:sp>
      <p:sp>
        <p:nvSpPr>
          <p:cNvPr id="15" name="Rounded Rectangle 14"/>
          <p:cNvSpPr/>
          <p:nvPr/>
        </p:nvSpPr>
        <p:spPr>
          <a:xfrm>
            <a:off x="9326637" y="5074920"/>
            <a:ext cx="89870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close</a:t>
            </a:r>
          </a:p>
        </p:txBody>
      </p:sp>
      <p:sp>
        <p:nvSpPr>
          <p:cNvPr id="16" name="TextBox 15"/>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Tuesday: the cause on trial</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24 / 30</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Questions 1 to 6: the ladder and the tree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row's anchors and the decomposition questions, where a plausible number is waiting.</a:t>
            </a:r>
          </a:p>
        </p:txBody>
      </p:sp>
      <p:graphicFrame>
        <p:nvGraphicFramePr>
          <p:cNvPr id="9" name="Table 8"/>
          <p:cNvGraphicFramePr>
            <a:graphicFrameLocks noGrp="1"/>
          </p:cNvGraphicFramePr>
          <p:nvPr/>
        </p:nvGraphicFramePr>
        <p:xfrm>
          <a:off x="530352" y="1956816"/>
          <a:ext cx="11130991" cy="2830576"/>
        </p:xfrm>
        <a:graphic>
          <a:graphicData uri="http://schemas.openxmlformats.org/drawingml/2006/table">
            <a:tbl>
              <a:tblPr firstRow="0" bandRow="0">
                <a:tableStyleId>{2D5ABB26-0587-4C30-8999-92F81FD0307C}</a:tableStyleId>
              </a:tblPr>
              <a:tblGrid>
                <a:gridCol w="914400"/>
                <a:gridCol w="10216591"/>
              </a:tblGrid>
              <a:tr h="369824">
                <a:tc>
                  <a:txBody>
                    <a:bodyPr/>
                    <a:lstStyle/>
                    <a:p>
                      <a:r>
                        <a:rPr sz="1450" b="1" i="0">
                          <a:solidFill>
                            <a:srgbClr val="FFFFFF"/>
                          </a:solidFill>
                          <a:latin typeface="Calibri"/>
                        </a:rPr>
                        <a:t>Tag</a:t>
                      </a:r>
                    </a:p>
                  </a:txBody>
                  <a:tcPr marL="101600" marR="101600" marT="38100" marB="38100" anchor="ctr">
                    <a:solidFill>
                      <a:srgbClr val="1A0F5C"/>
                    </a:solidFill>
                  </a:tcPr>
                </a:tc>
                <a:tc>
                  <a:txBody>
                    <a:bodyPr/>
                    <a:lstStyle/>
                    <a:p>
                      <a:r>
                        <a:rPr sz="1450" b="1" i="0">
                          <a:solidFill>
                            <a:srgbClr val="FFFFFF"/>
                          </a:solidFill>
                          <a:latin typeface="Calibri"/>
                        </a:rPr>
                        <a:t>Question</a:t>
                      </a:r>
                    </a:p>
                  </a:txBody>
                  <a:tcPr marL="101600" marR="101600" marT="38100" marB="38100" anchor="ctr">
                    <a:solidFill>
                      <a:srgbClr val="1A0F5C"/>
                    </a:solidFill>
                  </a:tcPr>
                </a:tc>
              </a:tr>
              <a:tr h="369824">
                <a:tc>
                  <a:txBody>
                    <a:bodyPr/>
                    <a:lstStyle/>
                    <a:p>
                      <a:r>
                        <a:rPr sz="1400" b="0" i="0">
                          <a:solidFill>
                            <a:srgbClr val="1A1440"/>
                          </a:solidFill>
                          <a:latin typeface="Calibri"/>
                        </a:rPr>
                        <a:t>[S]</a:t>
                      </a:r>
                    </a:p>
                  </a:txBody>
                  <a:tcPr marL="101600" marR="101600" marT="38100" marB="38100" anchor="ctr">
                    <a:solidFill>
                      <a:srgbClr val="FFFFFF"/>
                    </a:solidFill>
                  </a:tcPr>
                </a:tc>
                <a:tc>
                  <a:txBody>
                    <a:bodyPr/>
                    <a:lstStyle/>
                    <a:p>
                      <a:r>
                        <a:rPr sz="1400" b="0" i="0">
                          <a:solidFill>
                            <a:srgbClr val="1A1440"/>
                          </a:solidFill>
                          <a:latin typeface="Calibri"/>
                        </a:rPr>
                        <a:t>1. Sales dropped 15 percent last month; how would you investigate?</a:t>
                      </a:r>
                    </a:p>
                  </a:txBody>
                  <a:tcPr marL="101600" marR="101600" marT="38100" marB="38100" anchor="ctr">
                    <a:solidFill>
                      <a:srgbClr val="FFFFFF"/>
                    </a:solidFill>
                  </a:tcPr>
                </a:tc>
              </a:tr>
              <a:tr h="369824">
                <a:tc>
                  <a:txBody>
                    <a:bodyPr/>
                    <a:lstStyle/>
                    <a:p>
                      <a:r>
                        <a:rPr sz="1400" b="0" i="0">
                          <a:solidFill>
                            <a:srgbClr val="1A1440"/>
                          </a:solidFill>
                          <a:latin typeface="Calibri"/>
                        </a:rPr>
                        <a:t>[S]</a:t>
                      </a:r>
                    </a:p>
                  </a:txBody>
                  <a:tcPr marL="101600" marR="101600" marT="38100" marB="38100" anchor="ctr">
                    <a:solidFill>
                      <a:srgbClr val="F4F2FA"/>
                    </a:solidFill>
                  </a:tcPr>
                </a:tc>
                <a:tc>
                  <a:txBody>
                    <a:bodyPr/>
                    <a:lstStyle/>
                    <a:p>
                      <a:r>
                        <a:rPr sz="1400" b="0" i="0">
                          <a:solidFill>
                            <a:srgbClr val="1A1440"/>
                          </a:solidFill>
                          <a:latin typeface="Calibri"/>
                        </a:rPr>
                        <a:t>2. Why is a rate without a denominator meaningless?</a:t>
                      </a:r>
                    </a:p>
                  </a:txBody>
                  <a:tcPr marL="101600" marR="101600" marT="38100" marB="38100" anchor="ctr">
                    <a:solidFill>
                      <a:srgbClr val="F4F2FA"/>
                    </a:solidFill>
                  </a:tcPr>
                </a:tc>
              </a:tr>
              <a:tr h="369824">
                <a:tc>
                  <a:txBody>
                    <a:bodyPr/>
                    <a:lstStyle/>
                    <a:p>
                      <a:r>
                        <a:rPr sz="1400" b="0" i="0">
                          <a:solidFill>
                            <a:srgbClr val="1A1440"/>
                          </a:solidFill>
                          <a:latin typeface="Calibri"/>
                        </a:rPr>
                        <a:t>[F]</a:t>
                      </a:r>
                    </a:p>
                  </a:txBody>
                  <a:tcPr marL="101600" marR="101600" marT="38100" marB="38100" anchor="ctr">
                    <a:solidFill>
                      <a:srgbClr val="FFFFFF"/>
                    </a:solidFill>
                  </a:tcPr>
                </a:tc>
                <a:tc>
                  <a:txBody>
                    <a:bodyPr/>
                    <a:lstStyle/>
                    <a:p>
                      <a:r>
                        <a:rPr sz="1400" b="0" i="0">
                          <a:solidFill>
                            <a:srgbClr val="1A1440"/>
                          </a:solidFill>
                          <a:latin typeface="Calibri"/>
                        </a:rPr>
                        <a:t>3. Why does a function that prints instead of returning break a pipeline?</a:t>
                      </a:r>
                    </a:p>
                  </a:txBody>
                  <a:tcPr marL="101600" marR="101600" marT="38100" marB="38100" anchor="ctr">
                    <a:solidFill>
                      <a:srgbClr val="FFFFFF"/>
                    </a:solidFill>
                  </a:tcPr>
                </a:tc>
              </a:tr>
              <a:tr h="369824">
                <a:tc>
                  <a:txBody>
                    <a:bodyPr/>
                    <a:lstStyle/>
                    <a:p>
                      <a:r>
                        <a:rPr sz="1400" b="0" i="0">
                          <a:solidFill>
                            <a:srgbClr val="1A1440"/>
                          </a:solidFill>
                          <a:latin typeface="Calibri"/>
                        </a:rPr>
                        <a:t>[F]</a:t>
                      </a:r>
                    </a:p>
                  </a:txBody>
                  <a:tcPr marL="101600" marR="101600" marT="38100" marB="38100" anchor="ctr">
                    <a:solidFill>
                      <a:srgbClr val="F4F2FA"/>
                    </a:solidFill>
                  </a:tcPr>
                </a:tc>
                <a:tc>
                  <a:txBody>
                    <a:bodyPr/>
                    <a:lstStyle/>
                    <a:p>
                      <a:r>
                        <a:rPr sz="1400" b="0" i="0">
                          <a:solidFill>
                            <a:srgbClr val="1A1440"/>
                          </a:solidFill>
                          <a:latin typeface="Calibri"/>
                        </a:rPr>
                        <a:t>4. What has to match before a quarter-on-quarter comparison is fair?</a:t>
                      </a:r>
                    </a:p>
                  </a:txBody>
                  <a:tcPr marL="101600" marR="101600" marT="38100" marB="38100" anchor="ctr">
                    <a:solidFill>
                      <a:srgbClr val="F4F2FA"/>
                    </a:solidFill>
                  </a:tcPr>
                </a:tc>
              </a:tr>
              <a:tr h="611632">
                <a:tc>
                  <a:txBody>
                    <a:bodyPr/>
                    <a:lstStyle/>
                    <a:p>
                      <a:r>
                        <a:rPr sz="1400" b="0" i="0">
                          <a:solidFill>
                            <a:srgbClr val="1A1440"/>
                          </a:solidFill>
                          <a:latin typeface="Calibri"/>
                        </a:rPr>
                        <a:t>[D]</a:t>
                      </a:r>
                    </a:p>
                  </a:txBody>
                  <a:tcPr marL="101600" marR="101600" marT="38100" marB="38100" anchor="ctr">
                    <a:solidFill>
                      <a:srgbClr val="FFFFFF"/>
                    </a:solidFill>
                  </a:tcPr>
                </a:tc>
                <a:tc>
                  <a:txBody>
                    <a:bodyPr/>
                    <a:lstStyle/>
                    <a:p>
                      <a:r>
                        <a:rPr sz="1400" b="0" i="0">
                          <a:solidFill>
                            <a:srgbClr val="1A1440"/>
                          </a:solidFill>
                          <a:latin typeface="Calibri"/>
                        </a:rPr>
                        <a:t>5. Marketing insists the answer is acquisition and your data says frequency; how do you make the case in the room?</a:t>
                      </a:r>
                    </a:p>
                  </a:txBody>
                  <a:tcPr marL="101600" marR="101600" marT="38100" marB="38100" anchor="ctr">
                    <a:solidFill>
                      <a:srgbClr val="FFFFFF"/>
                    </a:solidFill>
                  </a:tcPr>
                </a:tc>
              </a:tr>
              <a:tr h="369824">
                <a:tc>
                  <a:txBody>
                    <a:bodyPr/>
                    <a:lstStyle/>
                    <a:p>
                      <a:r>
                        <a:rPr sz="1400" b="0" i="0">
                          <a:solidFill>
                            <a:srgbClr val="1A1440"/>
                          </a:solidFill>
                          <a:latin typeface="Calibri"/>
                        </a:rPr>
                        <a:t>[F]</a:t>
                      </a:r>
                    </a:p>
                  </a:txBody>
                  <a:tcPr marL="101600" marR="101600" marT="38100" marB="38100" anchor="ctr">
                    <a:solidFill>
                      <a:srgbClr val="F4F2FA"/>
                    </a:solidFill>
                  </a:tcPr>
                </a:tc>
                <a:tc>
                  <a:txBody>
                    <a:bodyPr/>
                    <a:lstStyle/>
                    <a:p>
                      <a:r>
                        <a:rPr sz="1400" b="0" i="0">
                          <a:solidFill>
                            <a:srgbClr val="1A1440"/>
                          </a:solidFill>
                          <a:latin typeface="Calibri"/>
                        </a:rPr>
                        <a:t>6. Revenue fell 11 percent; how do you split the change between customers, frequency and order value?</a:t>
                      </a:r>
                    </a:p>
                  </a:txBody>
                  <a:tcPr marL="101600" marR="101600" marT="38100" marB="38100" anchor="ctr">
                    <a:solidFill>
                      <a:srgbClr val="F4F2FA"/>
                    </a:solidFill>
                  </a:tcPr>
                </a:tc>
              </a:tr>
            </a:tbl>
          </a:graphicData>
        </a:graphic>
      </p:graphicFrame>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memo and its evidence</a:t>
            </a:r>
          </a:p>
        </p:txBody>
      </p:sp>
      <p:sp>
        <p:nvSpPr>
          <p:cNvPr id="12" name="Oval 11"/>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2657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14" name="Oval 13"/>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569303"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The debrief of wrong answers</a:t>
            </a:r>
          </a:p>
        </p:txBody>
      </p:sp>
      <p:sp>
        <p:nvSpPr>
          <p:cNvPr id="16" name="Oval 15"/>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5332952"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The second case</a:t>
            </a:r>
          </a:p>
        </p:txBody>
      </p:sp>
      <p:sp>
        <p:nvSpPr>
          <p:cNvPr id="18" name="Oval 17"/>
          <p:cNvSpPr/>
          <p:nvPr/>
        </p:nvSpPr>
        <p:spPr>
          <a:xfrm>
            <a:off x="638879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498526"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The interview drill</a:t>
            </a:r>
          </a:p>
        </p:txBody>
      </p:sp>
      <p:sp>
        <p:nvSpPr>
          <p:cNvPr id="20" name="Oval 19"/>
          <p:cNvSpPr/>
          <p:nvPr/>
        </p:nvSpPr>
        <p:spPr>
          <a:xfrm>
            <a:off x="77383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7848123"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S19  ·  25 / 30</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Questions 7 to 12: weights, churn and design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case-style follow-ups and the design questions that separate candidates.</a:t>
            </a:r>
          </a:p>
        </p:txBody>
      </p:sp>
      <p:graphicFrame>
        <p:nvGraphicFramePr>
          <p:cNvPr id="9" name="Table 8"/>
          <p:cNvGraphicFramePr>
            <a:graphicFrameLocks noGrp="1"/>
          </p:cNvGraphicFramePr>
          <p:nvPr/>
        </p:nvGraphicFramePr>
        <p:xfrm>
          <a:off x="530352" y="1956816"/>
          <a:ext cx="11130991" cy="2588768"/>
        </p:xfrm>
        <a:graphic>
          <a:graphicData uri="http://schemas.openxmlformats.org/drawingml/2006/table">
            <a:tbl>
              <a:tblPr firstRow="0" bandRow="0">
                <a:tableStyleId>{2D5ABB26-0587-4C30-8999-92F81FD0307C}</a:tableStyleId>
              </a:tblPr>
              <a:tblGrid>
                <a:gridCol w="914400"/>
                <a:gridCol w="10216591"/>
              </a:tblGrid>
              <a:tr h="369824">
                <a:tc>
                  <a:txBody>
                    <a:bodyPr/>
                    <a:lstStyle/>
                    <a:p>
                      <a:r>
                        <a:rPr sz="1450" b="1" i="0">
                          <a:solidFill>
                            <a:srgbClr val="FFFFFF"/>
                          </a:solidFill>
                          <a:latin typeface="Calibri"/>
                        </a:rPr>
                        <a:t>Tag</a:t>
                      </a:r>
                    </a:p>
                  </a:txBody>
                  <a:tcPr marL="101600" marR="101600" marT="38100" marB="38100" anchor="ctr">
                    <a:solidFill>
                      <a:srgbClr val="1A0F5C"/>
                    </a:solidFill>
                  </a:tcPr>
                </a:tc>
                <a:tc>
                  <a:txBody>
                    <a:bodyPr/>
                    <a:lstStyle/>
                    <a:p>
                      <a:r>
                        <a:rPr sz="1450" b="1" i="0">
                          <a:solidFill>
                            <a:srgbClr val="FFFFFF"/>
                          </a:solidFill>
                          <a:latin typeface="Calibri"/>
                        </a:rPr>
                        <a:t>Question</a:t>
                      </a:r>
                    </a:p>
                  </a:txBody>
                  <a:tcPr marL="101600" marR="101600" marT="38100" marB="38100" anchor="ctr">
                    <a:solidFill>
                      <a:srgbClr val="1A0F5C"/>
                    </a:solidFill>
                  </a:tcPr>
                </a:tc>
              </a:tr>
              <a:tr h="369824">
                <a:tc>
                  <a:txBody>
                    <a:bodyPr/>
                    <a:lstStyle/>
                    <a:p>
                      <a:r>
                        <a:rPr sz="1400" b="0" i="0">
                          <a:solidFill>
                            <a:srgbClr val="1A1440"/>
                          </a:solidFill>
                          <a:latin typeface="Calibri"/>
                        </a:rPr>
                        <a:t>[F]</a:t>
                      </a:r>
                    </a:p>
                  </a:txBody>
                  <a:tcPr marL="101600" marR="101600" marT="38100" marB="38100" anchor="ctr">
                    <a:solidFill>
                      <a:srgbClr val="FFFFFF"/>
                    </a:solidFill>
                  </a:tcPr>
                </a:tc>
                <a:tc>
                  <a:txBody>
                    <a:bodyPr/>
                    <a:lstStyle/>
                    <a:p>
                      <a:r>
                        <a:rPr sz="1400" b="0" i="0">
                          <a:solidFill>
                            <a:srgbClr val="1A1440"/>
                          </a:solidFill>
                          <a:latin typeface="Calibri"/>
                        </a:rPr>
                        <a:t>7. Revenue per order rose 18 percent while revenue fell; did prices go up?</a:t>
                      </a:r>
                    </a:p>
                  </a:txBody>
                  <a:tcPr marL="101600" marR="101600" marT="38100" marB="38100" anchor="ctr">
                    <a:solidFill>
                      <a:srgbClr val="FFFFFF"/>
                    </a:solidFill>
                  </a:tcPr>
                </a:tc>
              </a:tr>
              <a:tr h="369824">
                <a:tc>
                  <a:txBody>
                    <a:bodyPr/>
                    <a:lstStyle/>
                    <a:p>
                      <a:r>
                        <a:rPr sz="1400" b="0" i="0">
                          <a:solidFill>
                            <a:srgbClr val="1A1440"/>
                          </a:solidFill>
                          <a:latin typeface="Calibri"/>
                        </a:rPr>
                        <a:t>[S]</a:t>
                      </a:r>
                    </a:p>
                  </a:txBody>
                  <a:tcPr marL="101600" marR="101600" marT="38100" marB="38100" anchor="ctr">
                    <a:solidFill>
                      <a:srgbClr val="F4F2FA"/>
                    </a:solidFill>
                  </a:tcPr>
                </a:tc>
                <a:tc>
                  <a:txBody>
                    <a:bodyPr/>
                    <a:lstStyle/>
                    <a:p>
                      <a:r>
                        <a:rPr sz="1400" b="0" i="0">
                          <a:solidFill>
                            <a:srgbClr val="1A1440"/>
                          </a:solidFill>
                          <a:latin typeface="Calibri"/>
                        </a:rPr>
                        <a:t>8. A field is missing on some records; do you fill it with zero?</a:t>
                      </a:r>
                    </a:p>
                  </a:txBody>
                  <a:tcPr marL="101600" marR="101600" marT="38100" marB="38100" anchor="ctr">
                    <a:solidFill>
                      <a:srgbClr val="F4F2FA"/>
                    </a:solidFill>
                  </a:tcPr>
                </a:tc>
              </a:tr>
              <a:tr h="369824">
                <a:tc>
                  <a:txBody>
                    <a:bodyPr/>
                    <a:lstStyle/>
                    <a:p>
                      <a:r>
                        <a:rPr sz="1400" b="0" i="0">
                          <a:solidFill>
                            <a:srgbClr val="1A1440"/>
                          </a:solidFill>
                          <a:latin typeface="Calibri"/>
                        </a:rPr>
                        <a:t>[F]</a:t>
                      </a:r>
                    </a:p>
                  </a:txBody>
                  <a:tcPr marL="101600" marR="101600" marT="38100" marB="38100" anchor="ctr">
                    <a:solidFill>
                      <a:srgbClr val="FFFFFF"/>
                    </a:solidFill>
                  </a:tcPr>
                </a:tc>
                <a:tc>
                  <a:txBody>
                    <a:bodyPr/>
                    <a:lstStyle/>
                    <a:p>
                      <a:r>
                        <a:rPr sz="1400" b="0" i="0">
                          <a:solidFill>
                            <a:srgbClr val="1A1440"/>
                          </a:solidFill>
                          <a:latin typeface="Calibri"/>
                        </a:rPr>
                        <a:t>9. You have orders per customer for four segments; why can't you average them?</a:t>
                      </a:r>
                    </a:p>
                  </a:txBody>
                  <a:tcPr marL="101600" marR="101600" marT="38100" marB="38100" anchor="ctr">
                    <a:solidFill>
                      <a:srgbClr val="FFFFFF"/>
                    </a:solidFill>
                  </a:tcPr>
                </a:tc>
              </a:tr>
              <a:tr h="369824">
                <a:tc>
                  <a:txBody>
                    <a:bodyPr/>
                    <a:lstStyle/>
                    <a:p>
                      <a:r>
                        <a:rPr sz="1400" b="0" i="0">
                          <a:solidFill>
                            <a:srgbClr val="1A1440"/>
                          </a:solidFill>
                          <a:latin typeface="Calibri"/>
                        </a:rPr>
                        <a:t>[SV]</a:t>
                      </a:r>
                    </a:p>
                  </a:txBody>
                  <a:tcPr marL="101600" marR="101600" marT="38100" marB="38100" anchor="ctr">
                    <a:solidFill>
                      <a:srgbClr val="F4F2FA"/>
                    </a:solidFill>
                  </a:tcPr>
                </a:tc>
                <a:tc>
                  <a:txBody>
                    <a:bodyPr/>
                    <a:lstStyle/>
                    <a:p>
                      <a:r>
                        <a:rPr sz="1400" b="0" i="0">
                          <a:solidFill>
                            <a:srgbClr val="1A1440"/>
                          </a:solidFill>
                          <a:latin typeface="Calibri"/>
                        </a:rPr>
                        <a:t>10. The customer count is flat; does that prove no customers were lost?</a:t>
                      </a:r>
                    </a:p>
                  </a:txBody>
                  <a:tcPr marL="101600" marR="101600" marT="38100" marB="38100" anchor="ctr">
                    <a:solidFill>
                      <a:srgbClr val="F4F2FA"/>
                    </a:solidFill>
                  </a:tcPr>
                </a:tc>
              </a:tr>
              <a:tr h="369824">
                <a:tc>
                  <a:txBody>
                    <a:bodyPr/>
                    <a:lstStyle/>
                    <a:p>
                      <a:r>
                        <a:rPr sz="1400" b="0" i="0">
                          <a:solidFill>
                            <a:srgbClr val="1A1440"/>
                          </a:solidFill>
                          <a:latin typeface="Calibri"/>
                        </a:rPr>
                        <a:t>[D]</a:t>
                      </a:r>
                    </a:p>
                  </a:txBody>
                  <a:tcPr marL="101600" marR="101600" marT="38100" marB="38100" anchor="ctr">
                    <a:solidFill>
                      <a:srgbClr val="FFFFFF"/>
                    </a:solidFill>
                  </a:tcPr>
                </a:tc>
                <a:tc>
                  <a:txBody>
                    <a:bodyPr/>
                    <a:lstStyle/>
                    <a:p>
                      <a:r>
                        <a:rPr sz="1400" b="0" i="0">
                          <a:solidFill>
                            <a:srgbClr val="1A1440"/>
                          </a:solidFill>
                          <a:latin typeface="Calibri"/>
                        </a:rPr>
                        <a:t>11. The same metrics are needed for every segment and quarter: copy, function or group by key?</a:t>
                      </a:r>
                    </a:p>
                  </a:txBody>
                  <a:tcPr marL="101600" marR="101600" marT="38100" marB="38100" anchor="ctr">
                    <a:solidFill>
                      <a:srgbClr val="FFFFFF"/>
                    </a:solidFill>
                  </a:tcPr>
                </a:tc>
              </a:tr>
              <a:tr h="369824">
                <a:tc>
                  <a:txBody>
                    <a:bodyPr/>
                    <a:lstStyle/>
                    <a:p>
                      <a:r>
                        <a:rPr sz="1400" b="0" i="0">
                          <a:solidFill>
                            <a:srgbClr val="1A1440"/>
                          </a:solidFill>
                          <a:latin typeface="Calibri"/>
                        </a:rPr>
                        <a:t>[D]</a:t>
                      </a:r>
                    </a:p>
                  </a:txBody>
                  <a:tcPr marL="101600" marR="101600" marT="38100" marB="38100" anchor="ctr">
                    <a:solidFill>
                      <a:srgbClr val="F4F2FA"/>
                    </a:solidFill>
                  </a:tcPr>
                </a:tc>
                <a:tc>
                  <a:txBody>
                    <a:bodyPr/>
                    <a:lstStyle/>
                    <a:p>
                      <a:r>
                        <a:rPr sz="1400" b="0" i="0">
                          <a:solidFill>
                            <a:srgbClr val="1A1440"/>
                          </a:solidFill>
                          <a:latin typeface="Calibri"/>
                        </a:rPr>
                        <a:t>12. A stakeholder hands you a cause; how do you test it and name the data you need?</a:t>
                      </a:r>
                    </a:p>
                  </a:txBody>
                  <a:tcPr marL="101600" marR="101600" marT="38100" marB="38100" anchor="ctr">
                    <a:solidFill>
                      <a:srgbClr val="F4F2FA"/>
                    </a:solidFill>
                  </a:tcPr>
                </a:tc>
              </a:tr>
            </a:tbl>
          </a:graphicData>
        </a:graphic>
      </p:graphicFrame>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memo and its evidence</a:t>
            </a:r>
          </a:p>
        </p:txBody>
      </p:sp>
      <p:sp>
        <p:nvSpPr>
          <p:cNvPr id="12" name="Oval 11"/>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2657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14" name="Oval 13"/>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569303"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The debrief of wrong answers</a:t>
            </a:r>
          </a:p>
        </p:txBody>
      </p:sp>
      <p:sp>
        <p:nvSpPr>
          <p:cNvPr id="16" name="Oval 15"/>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5332952"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The second case</a:t>
            </a:r>
          </a:p>
        </p:txBody>
      </p:sp>
      <p:sp>
        <p:nvSpPr>
          <p:cNvPr id="18" name="Oval 17"/>
          <p:cNvSpPr/>
          <p:nvPr/>
        </p:nvSpPr>
        <p:spPr>
          <a:xfrm>
            <a:off x="638879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498526"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The interview drill</a:t>
            </a:r>
          </a:p>
        </p:txBody>
      </p:sp>
      <p:sp>
        <p:nvSpPr>
          <p:cNvPr id="20" name="Oval 19"/>
          <p:cNvSpPr/>
          <p:nvPr/>
        </p:nvSpPr>
        <p:spPr>
          <a:xfrm>
            <a:off x="77383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7848123"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S20  ·  26 / 30</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11</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The close</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The Kahoot, the sentence to Meera, the eight lines to keep, and tomorrow's question.</a:t>
            </a:r>
          </a:p>
        </p:txBody>
      </p:sp>
      <p:sp>
        <p:nvSpPr>
          <p:cNvPr id="10" name="Rounded Rectangle 9"/>
          <p:cNvSpPr/>
          <p:nvPr/>
        </p:nvSpPr>
        <p:spPr>
          <a:xfrm>
            <a:off x="731519" y="5074920"/>
            <a:ext cx="184615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memo and its evidence</a:t>
            </a:r>
          </a:p>
        </p:txBody>
      </p:sp>
      <p:sp>
        <p:nvSpPr>
          <p:cNvPr id="11" name="Rounded Rectangle 10"/>
          <p:cNvSpPr/>
          <p:nvPr/>
        </p:nvSpPr>
        <p:spPr>
          <a:xfrm>
            <a:off x="2687407" y="5074920"/>
            <a:ext cx="143164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escalated case</a:t>
            </a:r>
          </a:p>
        </p:txBody>
      </p:sp>
      <p:sp>
        <p:nvSpPr>
          <p:cNvPr id="12" name="Rounded Rectangle 11"/>
          <p:cNvSpPr/>
          <p:nvPr/>
        </p:nvSpPr>
        <p:spPr>
          <a:xfrm>
            <a:off x="4228782" y="5074920"/>
            <a:ext cx="202380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debrief of wrong answers</a:t>
            </a:r>
          </a:p>
        </p:txBody>
      </p:sp>
      <p:sp>
        <p:nvSpPr>
          <p:cNvPr id="13" name="Rounded Rectangle 12"/>
          <p:cNvSpPr/>
          <p:nvPr/>
        </p:nvSpPr>
        <p:spPr>
          <a:xfrm>
            <a:off x="6362318" y="5074920"/>
            <a:ext cx="125399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second case</a:t>
            </a:r>
          </a:p>
        </p:txBody>
      </p:sp>
      <p:sp>
        <p:nvSpPr>
          <p:cNvPr id="14" name="Rounded Rectangle 13"/>
          <p:cNvSpPr/>
          <p:nvPr/>
        </p:nvSpPr>
        <p:spPr>
          <a:xfrm>
            <a:off x="7726045" y="5074920"/>
            <a:ext cx="149086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interview drill</a:t>
            </a:r>
          </a:p>
        </p:txBody>
      </p:sp>
      <p:sp>
        <p:nvSpPr>
          <p:cNvPr id="15" name="Rounded Rectangle 14"/>
          <p:cNvSpPr/>
          <p:nvPr/>
        </p:nvSpPr>
        <p:spPr>
          <a:xfrm>
            <a:off x="9326637" y="5074920"/>
            <a:ext cx="898703"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The close</a:t>
            </a:r>
          </a:p>
        </p:txBody>
      </p:sp>
      <p:sp>
        <p:nvSpPr>
          <p:cNvPr id="16" name="TextBox 15"/>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Tuesday: the cause on trial</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27 / 30</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sentence that goes to Meera</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 claim, its evidence, its caveat and the next step, in the order she needs them.</a:t>
            </a:r>
          </a:p>
        </p:txBody>
      </p:sp>
      <p:sp>
        <p:nvSpPr>
          <p:cNvPr id="9" name="Rounded Rectangle 8"/>
          <p:cNvSpPr/>
          <p:nvPr/>
        </p:nvSpPr>
        <p:spPr>
          <a:xfrm>
            <a:off x="530352" y="1956816"/>
            <a:ext cx="45720" cy="2733039"/>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786384" y="1956816"/>
            <a:ext cx="10820095" cy="2733039"/>
          </a:xfrm>
          <a:prstGeom prst="rect">
            <a:avLst/>
          </a:prstGeom>
          <a:noFill/>
        </p:spPr>
        <p:txBody>
          <a:bodyPr wrap="square" anchor="t" lIns="0" rIns="0" tIns="0" bIns="0">
            <a:spAutoFit/>
          </a:bodyPr>
          <a:lstStyle/>
          <a:p>
            <a:r>
              <a:rPr sz="1600" b="0" i="1">
                <a:solidFill>
                  <a:srgbClr val="1A0F5C"/>
                </a:solidFill>
                <a:latin typeface="Georgia"/>
              </a:rPr>
              <a:t>"Revenue fell 11.0 percent between two closed quarters, Rs 2.10 crore to Rs 1.87 crore on the export as it stands. Customers held at 69, every one of them buying in both quarters, so acquisition is not the branch that moved; orders per customer fell from 1.65 to 1.25. In behaviour the fall sits in Retail-Plus, where the same 22 members placed 26 orders against 51, and revenue per order rose mainly because those small orders disappeared. In rupees most of it is three fewer Business orders, each worth lakhs and too few to call a trend. The fall began in July, before the reorder button broke, so the button explains at most about 4 orders; we are asking for the tier's July change log and the app's reorder logs."</a:t>
            </a:r>
          </a:p>
          <a:p>
            <a:pPr>
              <a:spcBef>
                <a:spcPts val="400"/>
              </a:spcBef>
            </a:pPr>
            <a:r>
              <a:rPr sz="1000" b="0" i="0">
                <a:solidFill>
                  <a:srgbClr val="6B6690"/>
                </a:solidFill>
                <a:latin typeface="Calibri"/>
              </a:rPr>
              <a:t>The data and AI team, to Meera Raghavan</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memo and its evidence</a:t>
            </a:r>
          </a:p>
        </p:txBody>
      </p:sp>
      <p:sp>
        <p:nvSpPr>
          <p:cNvPr id="13" name="Oval 12"/>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657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15" name="Oval 14"/>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569303"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The debrief of wrong answers</a:t>
            </a:r>
          </a:p>
        </p:txBody>
      </p:sp>
      <p:sp>
        <p:nvSpPr>
          <p:cNvPr id="17" name="Oval 16"/>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332952"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The second case</a:t>
            </a:r>
          </a:p>
        </p:txBody>
      </p:sp>
      <p:sp>
        <p:nvSpPr>
          <p:cNvPr id="19" name="Oval 18"/>
          <p:cNvSpPr/>
          <p:nvPr/>
        </p:nvSpPr>
        <p:spPr>
          <a:xfrm>
            <a:off x="63887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498526"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21" name="Oval 20"/>
          <p:cNvSpPr/>
          <p:nvPr/>
        </p:nvSpPr>
        <p:spPr>
          <a:xfrm>
            <a:off x="773839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7848123" y="6437376"/>
            <a:ext cx="688371" cy="152146"/>
          </a:xfrm>
          <a:prstGeom prst="rect">
            <a:avLst/>
          </a:prstGeom>
          <a:noFill/>
        </p:spPr>
        <p:txBody>
          <a:bodyPr wrap="square" anchor="t" lIns="0" rIns="0" tIns="0" bIns="0">
            <a:spAutoFit/>
          </a:bodyPr>
          <a:lstStyle/>
          <a:p>
            <a:pPr algn="l"/>
            <a:r>
              <a:rPr sz="700" b="1" i="0">
                <a:solidFill>
                  <a:srgbClr val="5B3FD6"/>
                </a:solidFill>
                <a:latin typeface="Calibri"/>
              </a:rPr>
              <a:t>The close</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S21  ·  28 / 30</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Eight lines to keep</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day's rules, word for word as the cheat sheet prints them.</a:t>
            </a:r>
          </a:p>
        </p:txBody>
      </p:sp>
      <p:sp>
        <p:nvSpPr>
          <p:cNvPr id="9" name="TextBox 8"/>
          <p:cNvSpPr txBox="1"/>
          <p:nvPr/>
        </p:nvSpPr>
        <p:spPr>
          <a:xfrm>
            <a:off x="530352" y="1645920"/>
            <a:ext cx="502920" cy="333756"/>
          </a:xfrm>
          <a:prstGeom prst="rect">
            <a:avLst/>
          </a:prstGeom>
          <a:noFill/>
        </p:spPr>
        <p:txBody>
          <a:bodyPr wrap="square" anchor="t" lIns="0" rIns="0" tIns="0" bIns="0">
            <a:spAutoFit/>
          </a:bodyPr>
          <a:lstStyle/>
          <a:p>
            <a:pPr algn="l"/>
            <a:r>
              <a:rPr sz="1800" b="0" i="0">
                <a:solidFill>
                  <a:srgbClr val="5B3FD6"/>
                </a:solidFill>
                <a:latin typeface="Georgia"/>
              </a:rPr>
              <a:t>01</a:t>
            </a:r>
          </a:p>
        </p:txBody>
      </p:sp>
      <p:sp>
        <p:nvSpPr>
          <p:cNvPr id="10" name="TextBox 9"/>
          <p:cNvSpPr txBox="1"/>
          <p:nvPr/>
        </p:nvSpPr>
        <p:spPr>
          <a:xfrm>
            <a:off x="1097280" y="1682496"/>
            <a:ext cx="10564063" cy="368808"/>
          </a:xfrm>
          <a:prstGeom prst="rect">
            <a:avLst/>
          </a:prstGeom>
          <a:noFill/>
        </p:spPr>
        <p:txBody>
          <a:bodyPr wrap="square" anchor="t" lIns="0" rIns="0" tIns="0" bIns="0">
            <a:spAutoFit/>
          </a:bodyPr>
          <a:lstStyle/>
          <a:p>
            <a:r>
              <a:rPr sz="1500" b="0" i="0">
                <a:solidFill>
                  <a:srgbClr val="1A1440"/>
                </a:solidFill>
                <a:latin typeface="Calibri"/>
              </a:rPr>
              <a:t>Confirm the drop on matched windows before you explain it.</a:t>
            </a:r>
          </a:p>
        </p:txBody>
      </p:sp>
      <p:sp>
        <p:nvSpPr>
          <p:cNvPr id="11" name="TextBox 10"/>
          <p:cNvSpPr txBox="1"/>
          <p:nvPr/>
        </p:nvSpPr>
        <p:spPr>
          <a:xfrm>
            <a:off x="530352" y="2087880"/>
            <a:ext cx="502920" cy="333756"/>
          </a:xfrm>
          <a:prstGeom prst="rect">
            <a:avLst/>
          </a:prstGeom>
          <a:noFill/>
        </p:spPr>
        <p:txBody>
          <a:bodyPr wrap="square" anchor="t" lIns="0" rIns="0" tIns="0" bIns="0">
            <a:spAutoFit/>
          </a:bodyPr>
          <a:lstStyle/>
          <a:p>
            <a:pPr algn="l"/>
            <a:r>
              <a:rPr sz="1800" b="0" i="0">
                <a:solidFill>
                  <a:srgbClr val="5B3FD6"/>
                </a:solidFill>
                <a:latin typeface="Georgia"/>
              </a:rPr>
              <a:t>02</a:t>
            </a:r>
          </a:p>
        </p:txBody>
      </p:sp>
      <p:sp>
        <p:nvSpPr>
          <p:cNvPr id="12" name="TextBox 11"/>
          <p:cNvSpPr txBox="1"/>
          <p:nvPr/>
        </p:nvSpPr>
        <p:spPr>
          <a:xfrm>
            <a:off x="1097280" y="2124456"/>
            <a:ext cx="10564063" cy="368808"/>
          </a:xfrm>
          <a:prstGeom prst="rect">
            <a:avLst/>
          </a:prstGeom>
          <a:noFill/>
        </p:spPr>
        <p:txBody>
          <a:bodyPr wrap="square" anchor="t" lIns="0" rIns="0" tIns="0" bIns="0">
            <a:spAutoFit/>
          </a:bodyPr>
          <a:lstStyle/>
          <a:p>
            <a:r>
              <a:rPr sz="1500" b="0" i="0">
                <a:solidFill>
                  <a:srgbClr val="1A1440"/>
                </a:solidFill>
                <a:latin typeface="Calibri"/>
              </a:rPr>
              <a:t>A rate without its denominator is a rumour.</a:t>
            </a:r>
          </a:p>
        </p:txBody>
      </p:sp>
      <p:sp>
        <p:nvSpPr>
          <p:cNvPr id="13" name="TextBox 12"/>
          <p:cNvSpPr txBox="1"/>
          <p:nvPr/>
        </p:nvSpPr>
        <p:spPr>
          <a:xfrm>
            <a:off x="530352" y="2529840"/>
            <a:ext cx="502920" cy="333756"/>
          </a:xfrm>
          <a:prstGeom prst="rect">
            <a:avLst/>
          </a:prstGeom>
          <a:noFill/>
        </p:spPr>
        <p:txBody>
          <a:bodyPr wrap="square" anchor="t" lIns="0" rIns="0" tIns="0" bIns="0">
            <a:spAutoFit/>
          </a:bodyPr>
          <a:lstStyle/>
          <a:p>
            <a:pPr algn="l"/>
            <a:r>
              <a:rPr sz="1800" b="0" i="0">
                <a:solidFill>
                  <a:srgbClr val="5B3FD6"/>
                </a:solidFill>
                <a:latin typeface="Georgia"/>
              </a:rPr>
              <a:t>03</a:t>
            </a:r>
          </a:p>
        </p:txBody>
      </p:sp>
      <p:sp>
        <p:nvSpPr>
          <p:cNvPr id="14" name="TextBox 13"/>
          <p:cNvSpPr txBox="1"/>
          <p:nvPr/>
        </p:nvSpPr>
        <p:spPr>
          <a:xfrm>
            <a:off x="1097280" y="2566416"/>
            <a:ext cx="10564063" cy="368808"/>
          </a:xfrm>
          <a:prstGeom prst="rect">
            <a:avLst/>
          </a:prstGeom>
          <a:noFill/>
        </p:spPr>
        <p:txBody>
          <a:bodyPr wrap="square" anchor="t" lIns="0" rIns="0" tIns="0" bIns="0">
            <a:spAutoFit/>
          </a:bodyPr>
          <a:lstStyle/>
          <a:p>
            <a:r>
              <a:rPr sz="1500" b="0" i="0">
                <a:solidFill>
                  <a:srgbClr val="1A1440"/>
                </a:solidFill>
                <a:latin typeface="Calibri"/>
              </a:rPr>
              <a:t>Decompose along the tree: customers, orders per customer, revenue per order.</a:t>
            </a:r>
          </a:p>
        </p:txBody>
      </p:sp>
      <p:sp>
        <p:nvSpPr>
          <p:cNvPr id="15" name="TextBox 14"/>
          <p:cNvSpPr txBox="1"/>
          <p:nvPr/>
        </p:nvSpPr>
        <p:spPr>
          <a:xfrm>
            <a:off x="530352" y="2971800"/>
            <a:ext cx="502920" cy="333756"/>
          </a:xfrm>
          <a:prstGeom prst="rect">
            <a:avLst/>
          </a:prstGeom>
          <a:noFill/>
        </p:spPr>
        <p:txBody>
          <a:bodyPr wrap="square" anchor="t" lIns="0" rIns="0" tIns="0" bIns="0">
            <a:spAutoFit/>
          </a:bodyPr>
          <a:lstStyle/>
          <a:p>
            <a:pPr algn="l"/>
            <a:r>
              <a:rPr sz="1800" b="0" i="0">
                <a:solidFill>
                  <a:srgbClr val="5B3FD6"/>
                </a:solidFill>
                <a:latin typeface="Georgia"/>
              </a:rPr>
              <a:t>04</a:t>
            </a:r>
          </a:p>
        </p:txBody>
      </p:sp>
      <p:sp>
        <p:nvSpPr>
          <p:cNvPr id="16" name="TextBox 15"/>
          <p:cNvSpPr txBox="1"/>
          <p:nvPr/>
        </p:nvSpPr>
        <p:spPr>
          <a:xfrm>
            <a:off x="1097280" y="3008376"/>
            <a:ext cx="10564063" cy="368808"/>
          </a:xfrm>
          <a:prstGeom prst="rect">
            <a:avLst/>
          </a:prstGeom>
          <a:noFill/>
        </p:spPr>
        <p:txBody>
          <a:bodyPr wrap="square" anchor="t" lIns="0" rIns="0" tIns="0" bIns="0">
            <a:spAutoFit/>
          </a:bodyPr>
          <a:lstStyle/>
          <a:p>
            <a:r>
              <a:rPr sz="1500" b="0" i="0">
                <a:solidFill>
                  <a:srgbClr val="1A1440"/>
                </a:solidFill>
                <a:latin typeface="Calibri"/>
              </a:rPr>
              <a:t>Missing means unknown until someone chooses a default and writes down why.</a:t>
            </a:r>
          </a:p>
        </p:txBody>
      </p:sp>
      <p:sp>
        <p:nvSpPr>
          <p:cNvPr id="17" name="TextBox 16"/>
          <p:cNvSpPr txBox="1"/>
          <p:nvPr/>
        </p:nvSpPr>
        <p:spPr>
          <a:xfrm>
            <a:off x="530352" y="3413760"/>
            <a:ext cx="502920" cy="333756"/>
          </a:xfrm>
          <a:prstGeom prst="rect">
            <a:avLst/>
          </a:prstGeom>
          <a:noFill/>
        </p:spPr>
        <p:txBody>
          <a:bodyPr wrap="square" anchor="t" lIns="0" rIns="0" tIns="0" bIns="0">
            <a:spAutoFit/>
          </a:bodyPr>
          <a:lstStyle/>
          <a:p>
            <a:pPr algn="l"/>
            <a:r>
              <a:rPr sz="1800" b="0" i="0">
                <a:solidFill>
                  <a:srgbClr val="5B3FD6"/>
                </a:solidFill>
                <a:latin typeface="Georgia"/>
              </a:rPr>
              <a:t>05</a:t>
            </a:r>
          </a:p>
        </p:txBody>
      </p:sp>
      <p:sp>
        <p:nvSpPr>
          <p:cNvPr id="18" name="TextBox 17"/>
          <p:cNvSpPr txBox="1"/>
          <p:nvPr/>
        </p:nvSpPr>
        <p:spPr>
          <a:xfrm>
            <a:off x="1097280" y="3450336"/>
            <a:ext cx="10564063" cy="368808"/>
          </a:xfrm>
          <a:prstGeom prst="rect">
            <a:avLst/>
          </a:prstGeom>
          <a:noFill/>
        </p:spPr>
        <p:txBody>
          <a:bodyPr wrap="square" anchor="t" lIns="0" rIns="0" tIns="0" bIns="0">
            <a:spAutoFit/>
          </a:bodyPr>
          <a:lstStyle/>
          <a:p>
            <a:r>
              <a:rPr sz="1500" b="0" i="0">
                <a:solidFill>
                  <a:srgbClr val="1A1440"/>
                </a:solidFill>
                <a:latin typeface="Calibri"/>
              </a:rPr>
              <a:t>Roll a rate up with its weights; never average the averages.</a:t>
            </a:r>
          </a:p>
        </p:txBody>
      </p:sp>
      <p:sp>
        <p:nvSpPr>
          <p:cNvPr id="19" name="TextBox 18"/>
          <p:cNvSpPr txBox="1"/>
          <p:nvPr/>
        </p:nvSpPr>
        <p:spPr>
          <a:xfrm>
            <a:off x="530352" y="3855720"/>
            <a:ext cx="502920" cy="333756"/>
          </a:xfrm>
          <a:prstGeom prst="rect">
            <a:avLst/>
          </a:prstGeom>
          <a:noFill/>
        </p:spPr>
        <p:txBody>
          <a:bodyPr wrap="square" anchor="t" lIns="0" rIns="0" tIns="0" bIns="0">
            <a:spAutoFit/>
          </a:bodyPr>
          <a:lstStyle/>
          <a:p>
            <a:pPr algn="l"/>
            <a:r>
              <a:rPr sz="1800" b="0" i="0">
                <a:solidFill>
                  <a:srgbClr val="5B3FD6"/>
                </a:solidFill>
                <a:latin typeface="Georgia"/>
              </a:rPr>
              <a:t>06</a:t>
            </a:r>
          </a:p>
        </p:txBody>
      </p:sp>
      <p:sp>
        <p:nvSpPr>
          <p:cNvPr id="20" name="TextBox 19"/>
          <p:cNvSpPr txBox="1"/>
          <p:nvPr/>
        </p:nvSpPr>
        <p:spPr>
          <a:xfrm>
            <a:off x="1097280" y="3892296"/>
            <a:ext cx="10564063" cy="368808"/>
          </a:xfrm>
          <a:prstGeom prst="rect">
            <a:avLst/>
          </a:prstGeom>
          <a:noFill/>
        </p:spPr>
        <p:txBody>
          <a:bodyPr wrap="square" anchor="t" lIns="0" rIns="0" tIns="0" bIns="0">
            <a:spAutoFit/>
          </a:bodyPr>
          <a:lstStyle/>
          <a:p>
            <a:r>
              <a:rPr sz="1500" b="0" i="0">
                <a:solidFill>
                  <a:srgbClr val="1A1440"/>
                </a:solidFill>
                <a:latin typeface="Calibri"/>
              </a:rPr>
              <a:t>A blended rate can move while no segment moves; split mix from rate.</a:t>
            </a:r>
          </a:p>
        </p:txBody>
      </p:sp>
      <p:sp>
        <p:nvSpPr>
          <p:cNvPr id="21" name="TextBox 20"/>
          <p:cNvSpPr txBox="1"/>
          <p:nvPr/>
        </p:nvSpPr>
        <p:spPr>
          <a:xfrm>
            <a:off x="530352" y="4297680"/>
            <a:ext cx="502920" cy="333756"/>
          </a:xfrm>
          <a:prstGeom prst="rect">
            <a:avLst/>
          </a:prstGeom>
          <a:noFill/>
        </p:spPr>
        <p:txBody>
          <a:bodyPr wrap="square" anchor="t" lIns="0" rIns="0" tIns="0" bIns="0">
            <a:spAutoFit/>
          </a:bodyPr>
          <a:lstStyle/>
          <a:p>
            <a:pPr algn="l"/>
            <a:r>
              <a:rPr sz="1800" b="0" i="0">
                <a:solidFill>
                  <a:srgbClr val="5B3FD6"/>
                </a:solidFill>
                <a:latin typeface="Georgia"/>
              </a:rPr>
              <a:t>07</a:t>
            </a:r>
          </a:p>
        </p:txBody>
      </p:sp>
      <p:sp>
        <p:nvSpPr>
          <p:cNvPr id="22" name="TextBox 21"/>
          <p:cNvSpPr txBox="1"/>
          <p:nvPr/>
        </p:nvSpPr>
        <p:spPr>
          <a:xfrm>
            <a:off x="1097280" y="4334256"/>
            <a:ext cx="10564063" cy="368808"/>
          </a:xfrm>
          <a:prstGeom prst="rect">
            <a:avLst/>
          </a:prstGeom>
          <a:noFill/>
        </p:spPr>
        <p:txBody>
          <a:bodyPr wrap="square" anchor="t" lIns="0" rIns="0" tIns="0" bIns="0">
            <a:spAutoFit/>
          </a:bodyPr>
          <a:lstStyle/>
          <a:p>
            <a:r>
              <a:rPr sz="1500" b="0" i="0">
                <a:solidFill>
                  <a:srgbClr val="1A1440"/>
                </a:solidFill>
                <a:latin typeface="Calibri"/>
              </a:rPr>
              <a:t>A function returns its answer; count the groups in and the groups out.</a:t>
            </a:r>
          </a:p>
        </p:txBody>
      </p:sp>
      <p:sp>
        <p:nvSpPr>
          <p:cNvPr id="23" name="TextBox 22"/>
          <p:cNvSpPr txBox="1"/>
          <p:nvPr/>
        </p:nvSpPr>
        <p:spPr>
          <a:xfrm>
            <a:off x="530352" y="4739640"/>
            <a:ext cx="502920" cy="333756"/>
          </a:xfrm>
          <a:prstGeom prst="rect">
            <a:avLst/>
          </a:prstGeom>
          <a:noFill/>
        </p:spPr>
        <p:txBody>
          <a:bodyPr wrap="square" anchor="t" lIns="0" rIns="0" tIns="0" bIns="0">
            <a:spAutoFit/>
          </a:bodyPr>
          <a:lstStyle/>
          <a:p>
            <a:pPr algn="l"/>
            <a:r>
              <a:rPr sz="1800" b="0" i="0">
                <a:solidFill>
                  <a:srgbClr val="5B3FD6"/>
                </a:solidFill>
                <a:latin typeface="Georgia"/>
              </a:rPr>
              <a:t>08</a:t>
            </a:r>
          </a:p>
        </p:txBody>
      </p:sp>
      <p:sp>
        <p:nvSpPr>
          <p:cNvPr id="24" name="TextBox 23"/>
          <p:cNvSpPr txBox="1"/>
          <p:nvPr/>
        </p:nvSpPr>
        <p:spPr>
          <a:xfrm>
            <a:off x="1097280" y="4776216"/>
            <a:ext cx="10564063" cy="368808"/>
          </a:xfrm>
          <a:prstGeom prst="rect">
            <a:avLst/>
          </a:prstGeom>
          <a:noFill/>
        </p:spPr>
        <p:txBody>
          <a:bodyPr wrap="square" anchor="t" lIns="0" rIns="0" tIns="0" bIns="0">
            <a:spAutoFit/>
          </a:bodyPr>
          <a:lstStyle/>
          <a:p>
            <a:r>
              <a:rPr sz="1500" b="0" i="0">
                <a:solidFill>
                  <a:srgbClr val="1A1440"/>
                </a:solidFill>
                <a:latin typeface="Calibri"/>
              </a:rPr>
              <a:t>Name the cause as a hypothesis, with its ceiling and the evidence that would settle it.</a:t>
            </a:r>
          </a:p>
        </p:txBody>
      </p:sp>
      <p:pic>
        <p:nvPicPr>
          <p:cNvPr id="25" name="mermaid diagram" descr="9035c65d03ba2779.png"/>
          <p:cNvPicPr>
            <a:picLocks noChangeAspect="1"/>
          </p:cNvPicPr>
          <p:nvPr/>
        </p:nvPicPr>
        <p:blipFill>
          <a:blip r:embed="rId5"/>
          <a:stretch>
            <a:fillRect/>
          </a:stretch>
        </p:blipFill>
        <p:spPr>
          <a:xfrm>
            <a:off x="794702" y="5327904"/>
            <a:ext cx="10602289" cy="1097280"/>
          </a:xfrm>
          <a:prstGeom prst="rect">
            <a:avLst/>
          </a:prstGeom>
        </p:spPr>
      </p:pic>
      <p:sp>
        <p:nvSpPr>
          <p:cNvPr id="26" name="Oval 2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memo and its evidence</a:t>
            </a:r>
          </a:p>
        </p:txBody>
      </p:sp>
      <p:sp>
        <p:nvSpPr>
          <p:cNvPr id="28" name="Oval 27"/>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2657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30" name="Oval 29"/>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569303"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The debrief of wrong answers</a:t>
            </a:r>
          </a:p>
        </p:txBody>
      </p:sp>
      <p:sp>
        <p:nvSpPr>
          <p:cNvPr id="32" name="Oval 31"/>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5332952"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The second case</a:t>
            </a:r>
          </a:p>
        </p:txBody>
      </p:sp>
      <p:sp>
        <p:nvSpPr>
          <p:cNvPr id="34" name="Oval 33"/>
          <p:cNvSpPr/>
          <p:nvPr/>
        </p:nvSpPr>
        <p:spPr>
          <a:xfrm>
            <a:off x="63887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498526"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36" name="Oval 35"/>
          <p:cNvSpPr/>
          <p:nvPr/>
        </p:nvSpPr>
        <p:spPr>
          <a:xfrm>
            <a:off x="773839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7848123" y="6437376"/>
            <a:ext cx="688371" cy="152146"/>
          </a:xfrm>
          <a:prstGeom prst="rect">
            <a:avLst/>
          </a:prstGeom>
          <a:noFill/>
        </p:spPr>
        <p:txBody>
          <a:bodyPr wrap="square" anchor="t" lIns="0" rIns="0" tIns="0" bIns="0">
            <a:spAutoFit/>
          </a:bodyPr>
          <a:lstStyle/>
          <a:p>
            <a:pPr algn="l"/>
            <a:r>
              <a:rPr sz="700" b="1" i="0">
                <a:solidFill>
                  <a:srgbClr val="5B3FD6"/>
                </a:solidFill>
                <a:latin typeface="Calibri"/>
              </a:rPr>
              <a:t>The close</a:t>
            </a:r>
          </a:p>
        </p:txBody>
      </p:sp>
      <p:sp>
        <p:nvSpPr>
          <p:cNvPr id="38" name="TextBox 3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S22  ·  29 / 30</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Tomorrow, Anand questions tonight's numbers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Finance's books and the dashboard disagree about Q1, and the answer waits for Wednesday.</a:t>
            </a:r>
          </a:p>
        </p:txBody>
      </p:sp>
      <p:sp>
        <p:nvSpPr>
          <p:cNvPr id="9" name="Rounded Rectangle 8"/>
          <p:cNvSpPr/>
          <p:nvPr/>
        </p:nvSpPr>
        <p:spPr>
          <a:xfrm>
            <a:off x="530352" y="1956816"/>
            <a:ext cx="45720" cy="1026160"/>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786384" y="1956816"/>
            <a:ext cx="10820095" cy="1026160"/>
          </a:xfrm>
          <a:prstGeom prst="rect">
            <a:avLst/>
          </a:prstGeom>
          <a:noFill/>
        </p:spPr>
        <p:txBody>
          <a:bodyPr wrap="square" anchor="t" lIns="0" rIns="0" tIns="0" bIns="0">
            <a:spAutoFit/>
          </a:bodyPr>
          <a:lstStyle/>
          <a:p>
            <a:r>
              <a:rPr sz="1600" b="0" i="1">
                <a:solidFill>
                  <a:srgbClr val="1A0F5C"/>
                </a:solidFill>
                <a:latin typeface="Georgia"/>
              </a:rPr>
              <a:t>"Your dashboard says Q1 was Rs 2.1 crore. Our books say 1.9. Until your numbers match ours, Finance will not act on a drop measured from an ERP export. Send me a reconciliation."</a:t>
            </a:r>
          </a:p>
          <a:p>
            <a:pPr>
              <a:spcBef>
                <a:spcPts val="400"/>
              </a:spcBef>
            </a:pPr>
            <a:r>
              <a:rPr sz="1000" b="0" i="0">
                <a:solidFill>
                  <a:srgbClr val="6B6690"/>
                </a:solidFill>
                <a:latin typeface="Calibri"/>
              </a:rPr>
              <a:t>Anand Iyer, finance controller, Kalpa Retail</a:t>
            </a:r>
          </a:p>
        </p:txBody>
      </p:sp>
      <p:pic>
        <p:nvPicPr>
          <p:cNvPr id="11" name="mermaid diagram" descr="c624ac5c6ae12194.png"/>
          <p:cNvPicPr>
            <a:picLocks noChangeAspect="1"/>
          </p:cNvPicPr>
          <p:nvPr/>
        </p:nvPicPr>
        <p:blipFill>
          <a:blip r:embed="rId5"/>
          <a:stretch>
            <a:fillRect/>
          </a:stretch>
        </p:blipFill>
        <p:spPr>
          <a:xfrm>
            <a:off x="3524097" y="3129280"/>
            <a:ext cx="5143500" cy="2786062"/>
          </a:xfrm>
          <a:prstGeom prst="rect">
            <a:avLst/>
          </a:prstGeom>
        </p:spPr>
      </p:pic>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memo and its evidence</a:t>
            </a:r>
          </a:p>
        </p:txBody>
      </p:sp>
      <p:sp>
        <p:nvSpPr>
          <p:cNvPr id="14" name="Oval 13"/>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2657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16" name="Oval 15"/>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569303"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The debrief of wrong answers</a:t>
            </a:r>
          </a:p>
        </p:txBody>
      </p:sp>
      <p:sp>
        <p:nvSpPr>
          <p:cNvPr id="18" name="Oval 17"/>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332952"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The second case</a:t>
            </a:r>
          </a:p>
        </p:txBody>
      </p:sp>
      <p:sp>
        <p:nvSpPr>
          <p:cNvPr id="20" name="Oval 19"/>
          <p:cNvSpPr/>
          <p:nvPr/>
        </p:nvSpPr>
        <p:spPr>
          <a:xfrm>
            <a:off x="63887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98526"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22" name="Oval 21"/>
          <p:cNvSpPr/>
          <p:nvPr/>
        </p:nvSpPr>
        <p:spPr>
          <a:xfrm>
            <a:off x="773839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7848123" y="6437376"/>
            <a:ext cx="688371" cy="152146"/>
          </a:xfrm>
          <a:prstGeom prst="rect">
            <a:avLst/>
          </a:prstGeom>
          <a:noFill/>
        </p:spPr>
        <p:txBody>
          <a:bodyPr wrap="square" anchor="t" lIns="0" rIns="0" tIns="0" bIns="0">
            <a:spAutoFit/>
          </a:bodyPr>
          <a:lstStyle/>
          <a:p>
            <a:pPr algn="l"/>
            <a:r>
              <a:rPr sz="700" b="1" i="0">
                <a:solidFill>
                  <a:srgbClr val="5B3FD6"/>
                </a:solidFill>
                <a:latin typeface="Calibri"/>
              </a:rPr>
              <a:t>The close</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S23  ·  30 / 30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