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chapter 6's first minute. The afternoon opens on chapter 6, the cause the head of</a:t>
            </a:r>
          </a:p>
          <a:p>
            <a:r>
              <a:t>Retail-Plus hands us, then the escalated case, the debrief, the second case, the drill and the</a:t>
            </a:r>
          </a:p>
          <a:p>
            <a:r>
              <a:t>close. The next slide carries what the morning settled.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five answers in one breath each. Revenue here is booked revenue, every</a:t>
            </a:r>
          </a:p>
          <a:p>
            <a:r>
              <a:t>order placed before any cancellation or return. The Business rupees, three fewer lakh-sized orders,</a:t>
            </a:r>
          </a:p>
          <a:p>
            <a:r>
              <a:t>sit beside the Retail-Plus behaviour in every sentence to Meera.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with the cover and the recap: 1 on the map, 3 on the need and Sonos,</a:t>
            </a:r>
          </a:p>
          <a:p>
            <a:r>
              <a:t>5 on the options and the picture, 2 on count_by, 3 on the monthly line, 7 on the trap, its window</a:t>
            </a:r>
          </a:p>
          <a:p>
            <a:r>
              <a:t>and the ceiling, 3 on the season and the channel, 2 on the second route, 3 on the memo and the</a:t>
            </a:r>
          </a:p>
          <a:p>
            <a:r>
              <a:t>close. Open notebooks/C2_W01_D02_06_the_memo_STUDENT.ipynb. The chapter opener is numbered 6 on</a:t>
            </a:r>
          </a:p>
          <a:p>
            <a:r>
              <a:t>purpose; it continues the morning's five.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 memo that closes the chapter answers the chapter's own</a:t>
            </a:r>
          </a:p>
          <a:p>
            <a:r>
              <a:t>question. Then the cause the tier hands 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metric at stake is Retail-Plus orders per week before and after the break. Six</a:t>
            </a:r>
          </a:p>
          <a:p>
            <a:r>
              <a:t>weeks back from the week of 6 October is 25 August; say it is the complaint taken at its word. A</a:t>
            </a:r>
          </a:p>
          <a:p>
            <a:r>
              <a:t>wrong answer costs a quarter: blame the button for everything, fix it, and the tier keeps falling.</a:t>
            </a:r>
          </a:p>
          <a:p>
            <a:r>
              <a:t>Then a company that put a broken app into its numbers.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Sources checked 30 Sep 2026: Sonos third quarter fiscal 2024 results (the chief</a:t>
            </a:r>
          </a:p>
          <a:p>
            <a:r>
              <a:t>executive's statement that the app's rollout required a reduced fiscal 2024 guidance) and the fiscal</a:t>
            </a:r>
          </a:p>
          <a:p>
            <a:r>
              <a:t>2024 annual report on Form 10-K (short-term costs of up to $30 million). No revenue figure for the</a:t>
            </a:r>
          </a:p>
          <a:p>
            <a:r>
              <a:t>app's effect was verified on a primary page, so none is quoted. Then four ways to test a cause.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cause cannot come after its effect, so timing leads. Each of A to C reads the</a:t>
            </a:r>
          </a:p>
          <a:p>
            <a:r>
              <a:t>export already open in milliseconds; D is days away. Then what the button predicts.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three predictions on the board and leave the boxes empty; the next slides</a:t>
            </a:r>
          </a:p>
          <a:p>
            <a:r>
              <a:t>fill them. Then the function that counts by any key.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lambda o: o["channel"] is a one-line function with no name, handed in as the key.</a:t>
            </a:r>
          </a:p>
          <a:p>
            <a:r>
              <a:t>The dictionary and .get with a default of 0 are chapter 2's; the default is right here for the same</a:t>
            </a:r>
          </a:p>
          <a:p>
            <a:r>
              <a:t>reason: a month not seen yet has no orders so far. Then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Take letters, then run the monthly cell with count_by.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line that falls from 13 to 9 in July is Retail-Plus; the level line is</a:t>
            </a:r>
          </a:p>
          <a:p>
            <a:r>
              <a:t>Retail-Core. The button may still matter; it cannot be the whole story. Keep to the Q2 months. Then</a:t>
            </a:r>
          </a:p>
          <a:p>
            <a:r>
              <a:t>the memo a hurried analyst would write anyway.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chapter's trap. The comparison spans the whole quarter, so it charges the button</a:t>
            </a:r>
          </a:p>
          <a:p>
            <a:r>
              <a:t>with about eight weeks of orders lost before it broke. Then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Split Q2 at the break and give each side its window. Point at the middle row: 2.29</a:t>
            </a:r>
          </a:p>
          <a:p>
            <a:r>
              <a:t>orders a week against Q1's 3.92, before anything broke. Then the ceiling.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At the pre-break pace of 18 orders in 55 days, the 37 days after the break would</a:t>
            </a:r>
          </a:p>
          <a:p>
            <a:r>
              <a:t>have carried about 12.1 orders; the tier placed 8, so the button explains at most about 4.1 orders,</a:t>
            </a:r>
          </a:p>
          <a:p>
            <a:r>
              <a:t>about Rs 12,400 at Q2's Retail-Plus revenue per order. It is a ceiling, since anything else that kept</a:t>
            </a:r>
          </a:p>
          <a:p>
            <a:r>
              <a:t>worsening would claim part of it. The ceiling rests on its baseline: over only the 37 days just</a:t>
            </a:r>
          </a:p>
          <a:p>
            <a:r>
              <a:t>before the break, a window as long as the one after it, the tier placed 15 orders, and the ceiling</a:t>
            </a:r>
          </a:p>
          <a:p>
            <a:r>
              <a:t>would be 7.0. The memo keeps the headline of about 4 on the stated 55-day baseline and says so;</a:t>
            </a:r>
          </a:p>
          <a:p>
            <a:r>
              <a:t>either figure is far below the 25 the hurried memo charges. Engineering still fixes the button; the</a:t>
            </a:r>
          </a:p>
          <a:p>
            <a:r>
              <a:t>memo stops promising it fixes the tier. Notebook 06's depth section asks learners to rerun this.</a:t>
            </a:r>
          </a:p>
          <a:p>
            <a:r>
              <a:t>Then two rival causes.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predictions tested, two rivals capped. July opens the monsoon quarter, so a</a:t>
            </a:r>
          </a:p>
          <a:p>
            <a:r>
              <a:t>seasonal dip would also begin in July, which is why the comparison segment matters. Something</a:t>
            </a:r>
          </a:p>
          <a:p>
            <a:r>
              <a:t>touched members in every channel. Then a second route to the button's share.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Retail-Core placed 22 orders in the 55 days before 25 August and 14 in the 37 after,</a:t>
            </a:r>
          </a:p>
          <a:p>
            <a:r>
              <a:t>a pace 0.946 of what it had been. Scale the tier's expected 12.1 by it: 11.5, against 8 placed, about</a:t>
            </a:r>
          </a:p>
          <a:p>
            <a:r>
              <a:t>3.5 orders. The route could have come out above the ceiling of 4.1 and lands below it, which is what</a:t>
            </a:r>
          </a:p>
          <a:p>
            <a:r>
              <a:t>a ceiling predicts. The notebook also draws the tier's cumulative Q2 orders against the pre-break</a:t>
            </a:r>
          </a:p>
          <a:p>
            <a:r>
              <a:t>pace. Then the memo.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Neither cause is proved or disproved by this export; each is a hypothesis settled</a:t>
            </a:r>
          </a:p>
          <a:p>
            <a:r>
              <a:t>by data Kalpa holds elsewhere. The memo's claim, which the notebook prints in full, ends on the</a:t>
            </a:r>
          </a:p>
          <a:p>
            <a:r>
              <a:t>request for all three. Then the chapter's answer.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breath: restate as a hypothesis, test timing, then the comparison and the</a:t>
            </a:r>
          </a:p>
          <a:p>
            <a:r>
              <a:t>channel, cap it, and name the data that settles it. The ceiling's baseline goes in the same breath:</a:t>
            </a:r>
          </a:p>
          <a:p>
            <a:r>
              <a:t>about 4 on the 55 days before the break, 7.0 on the 37 just before it, both far below 25.</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50 minutes, unguided. Hand out</a:t>
            </a:r>
          </a:p>
          <a:p>
            <a:r>
              <a:t>exercises/unguided/C2_W01_D02_escalated_case_STUDENT.md; learners work in</a:t>
            </a:r>
          </a:p>
          <a:p>
            <a:r>
              <a:t>notebooks/C2_W01_D02_ex1_escalated_case_STUDENT.ipynb. The solution opens after the debrief.</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then 47 of silent work. The board pack is the set of numbers the board</a:t>
            </a:r>
          </a:p>
          <a:p>
            <a:r>
              <a:t>reads. Walk the room from minute 10. The trap in part 3 is the escalated one: customers with a</a:t>
            </a:r>
          </a:p>
          <a:p>
            <a:r>
              <a:t>delivered order fell from 54 to 50, and Marketing would read that as churn. Do not hint at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inside the 3-minute brief, before work starts. Remind the room that the notebook stops at the</a:t>
            </a:r>
          </a:p>
          <a:p>
            <a:r>
              <a:t>first placeholder until it is filled, which is intended.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debrief runs 15 minutes, before the break. Put each wrong answer up, ask who reached it,</a:t>
            </a:r>
          </a:p>
          <a:p>
            <a:r>
              <a:t>and let a learner who avoided it say the check. Release the solution notebook in</a:t>
            </a:r>
          </a:p>
          <a:p>
            <a:r>
              <a:t>exercises/solutions/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Ask for hands on each box before the detail slides. Then the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 delivered orders the bridge charges the customers branch Rs 10,74,442. Ask who</a:t>
            </a:r>
          </a:p>
          <a:p>
            <a:r>
              <a:t>wrote "customers fell 7.4 percent" in part 2 and stopped there. The part 3 set, (delivered Q1 minus</a:t>
            </a:r>
          </a:p>
          <a:p>
            <a:r>
              <a:t>delivered Q2) and booked Q2, finds all 19 still ordering.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morning's trap in a new place. Anyone who averaged has the reason on the board</a:t>
            </a:r>
          </a:p>
          <a:p>
            <a:r>
              <a:t>from chapter 3.</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definition moved the split without creating a price rise anyone paid. Ask a</a:t>
            </a:r>
          </a:p>
          <a:p>
            <a:r>
              <a:t>learner to read Retail-Plus delivered revenue per order: Rs 2,748 to Rs 2,806.</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then the 10-minute break. "Revenue fell 11 percent" is true on both definitions, at</a:t>
            </a:r>
          </a:p>
          <a:p>
            <a:r>
              <a:t>11.0 and 11.3, and says neither. Release the solution notebook.</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second case runs 40 minutes in pairs: 3 to brief, 30 to work, 7 to hear two replies. Hand</a:t>
            </a:r>
          </a:p>
          <a:p>
            <a:r>
              <a:t>out exercises/unguided/C2_W01_D02_second_case_STUDENT.md; the notebook is</a:t>
            </a:r>
          </a:p>
          <a:p>
            <a:r>
              <a:t>notebooks/C2_W01_D02_ex2_second_case_STUDENT.ipynb.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to brief. Pairs split the roles, one answering Marketing and one the head of</a:t>
            </a:r>
          </a:p>
          <a:p>
            <a:r>
              <a:t>Retail-Plus, then write one reply together, with the one data request that tests the most.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after the work. Hear two pairs' replies. The tier's Q2 revenue over its Q1 revenue,</a:t>
            </a:r>
          </a:p>
          <a:p>
            <a:r>
              <a:t>counted directly, is 0.545; the rounded leaves multiply to about 0.55. Say that every member still</a:t>
            </a:r>
          </a:p>
          <a:p>
            <a:r>
              <a:t>ordered, which fits a broken habit more than a tier people left.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drill runs 20 minutes. Ask each question aloud to a named learner, give one breath, then</a:t>
            </a:r>
          </a:p>
          <a:p>
            <a:r>
              <a:t>read the model answer from the notes. Tags: [S] staple asked everywhere, [F] frequent in GCC and</a:t>
            </a:r>
          </a:p>
          <a:p>
            <a:r>
              <a:t>product screens, [SV] service-major screen opener, [D] differentiator.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1. Confirm on matched windows, decompose into customers, orders per customer and revenue per order,</a:t>
            </a:r>
          </a:p>
          <a:p>
            <a:r>
              <a:t>isolate the segment, split mix from rate, then name a hypothesis with its evidence, timing first.</a:t>
            </a:r>
          </a:p>
          <a:p>
            <a:r>
              <a:t>2. Nobody can check it or compare it: orders per customer is 1.25 over 69 booked customers and 1.14</a:t>
            </a:r>
          </a:p>
          <a:p>
            <a:r>
              <a:t>over 50 delivered ones, so the denominator decides the number.</a:t>
            </a:r>
          </a:p>
          <a:p>
            <a:r>
              <a:t>3. The caller gets None, and the next step crashes or silently drops that group.</a:t>
            </a:r>
          </a:p>
          <a:p>
            <a:r>
              <a:t>4. Window length and dates, the definition, the population and the denominator; closed quarters, or</a:t>
            </a:r>
          </a:p>
          <a:p>
            <a:r>
              <a:t>the same weeks of each; the season needs last year.</a:t>
            </a:r>
          </a:p>
          <a:p>
            <a:r>
              <a:t>5. Test their claim in its own terms: the overlap shows none lost and none new; show where the fall</a:t>
            </a:r>
          </a:p>
          <a:p>
            <a:r>
              <a:t>is; end on what would change my mind.</a:t>
            </a:r>
          </a:p>
          <a:p>
            <a:r>
              <a:t>6. A bridge one leaf at a time in a fixed order; say the order, or use the symmetric split.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a:t>
            </a:r>
          </a:p>
          <a:p>
            <a:r>
              <a:t>7. Mostly mix: small orders fell away; 69 percent of the rise on booked orders.</a:t>
            </a:r>
          </a:p>
          <a:p>
            <a:r>
              <a:t>8. No: absent is unknown; count it, report it, write the rule, bound it.</a:t>
            </a:r>
          </a:p>
          <a:p>
            <a:r>
              <a:t>9. Each rate has its own denominator; total over total reproduces the company figure.</a:t>
            </a:r>
          </a:p>
          <a:p>
            <a:r>
              <a:t>10. No: compare ids, lost and new; here 69, 0 and 0.</a:t>
            </a:r>
          </a:p>
          <a:p>
            <a:r>
              <a:t>11. A function when groups are asked one at a time and definitions change; one pass by key when the</a:t>
            </a:r>
          </a:p>
          <a:p>
            <a:r>
              <a:t>file is large and every group is needed at once.</a:t>
            </a:r>
          </a:p>
          <a:p>
            <a:r>
              <a:t>12. Timing first, then a comparison group, then the channel it predicts; cap it, naming the</a:t>
            </a:r>
          </a:p>
          <a:p>
            <a:r>
              <a:t>baseline; request the data that settles it.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15 minutes: Kahoot 8, the sentence and the lines 5, tomorrow's question 2.</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the Kahoot. Read it aloud once, slowly. The "at most about 4" is on the tier's</a:t>
            </a:r>
          </a:p>
          <a:p>
            <a:r>
              <a:t>pace over the 55 days before the break; on the 37 days just before it the ceiling is 7.0, and either</a:t>
            </a:r>
          </a:p>
          <a:p>
            <a:r>
              <a:t>way it is far below the 25 a hurried memo charges. Ask one learner which part their own sentence</a:t>
            </a:r>
          </a:p>
          <a:p>
            <a:r>
              <a:t>missed; most miss the ceiling or the data to ask for. The Kahoot pack is</a:t>
            </a:r>
          </a:p>
          <a:p>
            <a:r>
              <a:t>kahoot/C2_W01_D02_quiz_STUDENT.md, eight items, ungraded.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eight lines aloud with the room. The chain maps them onto the chapters.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Anand's line and stop. Do not predict the answer. Every number today was on the</a:t>
            </a:r>
          </a:p>
          <a:p>
            <a:r>
              <a:t>export as it stands; point to the take-home brief. The TA-led practice lab follows.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xml"/><Relationship Id="rId6" Type="http://schemas.openxmlformats.org/officeDocument/2006/relationships/image" Target="../media/image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7.png"/><Relationship Id="rId6"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 Id="rId5"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 Id="rId5"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7.png"/><Relationship Id="rId6"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image" Target="../media/image15.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7.png"/><Relationship Id="rId6"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 Id="rId5"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1.png"/><Relationship Id="rId6" Type="http://schemas.openxmlformats.org/officeDocument/2006/relationships/image" Target="../media/image2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7.png"/><Relationship Id="rId8"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7.xml"/><Relationship Id="rId5" Type="http://schemas.openxmlformats.org/officeDocument/2006/relationships/image" Target="../media/image2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38512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TUESDAY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Did the reorder button do 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“It is the broken reorder button. One of my members says it has been broken for six weeks.”</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head of Retail-Plus, Kalpa's paid membership tier</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Did the button do it?</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Does it survive delivery?</a:t>
            </a:r>
          </a:p>
        </p:txBody>
      </p:sp>
      <p:sp>
        <p:nvSpPr>
          <p:cNvPr id="15" name="TextBox 14"/>
          <p:cNvSpPr txBox="1"/>
          <p:nvPr/>
        </p:nvSpPr>
        <p:spPr>
          <a:xfrm>
            <a:off x="48423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26367"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Where did we go wrong?</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277481" y="5248656"/>
            <a:ext cx="1365885" cy="185166"/>
          </a:xfrm>
          <a:prstGeom prst="rect">
            <a:avLst/>
          </a:prstGeom>
          <a:noFill/>
        </p:spPr>
        <p:txBody>
          <a:bodyPr wrap="square" anchor="t" lIns="0" rIns="0" tIns="0" bIns="0">
            <a:spAutoFit/>
          </a:bodyPr>
          <a:lstStyle/>
          <a:p>
            <a:pPr algn="l"/>
            <a:r>
              <a:rPr sz="900" b="0" i="0">
                <a:solidFill>
                  <a:srgbClr val="FFFFFF"/>
                </a:solidFill>
                <a:latin typeface="Calibri"/>
              </a:rPr>
              <a:t>Is the tier healthy?</a:t>
            </a:r>
          </a:p>
        </p:txBody>
      </p:sp>
      <p:sp>
        <p:nvSpPr>
          <p:cNvPr id="19" name="TextBox 18"/>
          <p:cNvSpPr txBox="1"/>
          <p:nvPr/>
        </p:nvSpPr>
        <p:spPr>
          <a:xfrm>
            <a:off x="882624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10</a:t>
            </a:r>
          </a:p>
        </p:txBody>
      </p:sp>
      <p:sp>
        <p:nvSpPr>
          <p:cNvPr id="20" name="TextBox 19"/>
          <p:cNvSpPr txBox="1"/>
          <p:nvPr/>
        </p:nvSpPr>
        <p:spPr>
          <a:xfrm>
            <a:off x="9210294"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you say it aloud?</a:t>
            </a:r>
          </a:p>
        </p:txBody>
      </p:sp>
      <p:sp>
        <p:nvSpPr>
          <p:cNvPr id="21" name="TextBox 20"/>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11</a:t>
            </a:r>
          </a:p>
        </p:txBody>
      </p:sp>
      <p:sp>
        <p:nvSpPr>
          <p:cNvPr id="22" name="TextBox 21"/>
          <p:cNvSpPr txBox="1"/>
          <p:nvPr/>
        </p:nvSpPr>
        <p:spPr>
          <a:xfrm>
            <a:off x="1005839" y="5669280"/>
            <a:ext cx="1484185" cy="185166"/>
          </a:xfrm>
          <a:prstGeom prst="rect">
            <a:avLst/>
          </a:prstGeom>
          <a:noFill/>
        </p:spPr>
        <p:txBody>
          <a:bodyPr wrap="square" anchor="t" lIns="0" rIns="0" tIns="0" bIns="0">
            <a:spAutoFit/>
          </a:bodyPr>
          <a:lstStyle/>
          <a:p>
            <a:pPr algn="l"/>
            <a:r>
              <a:rPr sz="900" b="0" i="0">
                <a:solidFill>
                  <a:srgbClr val="FFFFFF"/>
                </a:solidFill>
                <a:latin typeface="Calibri"/>
              </a:rPr>
              <a:t>So which branch moved?</a:t>
            </a:r>
          </a:p>
        </p:txBody>
      </p:sp>
      <p:sp>
        <p:nvSpPr>
          <p:cNvPr id="23" name="TextBox 2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 found the branch, the tier and the mix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morning settle, and what is still open?</a:t>
            </a:r>
          </a:p>
        </p:txBody>
      </p:sp>
      <p:graphicFrame>
        <p:nvGraphicFramePr>
          <p:cNvPr id="9" name="Table 8"/>
          <p:cNvGraphicFramePr>
            <a:graphicFrameLocks noGrp="1"/>
          </p:cNvGraphicFramePr>
          <p:nvPr/>
        </p:nvGraphicFramePr>
        <p:xfrm>
          <a:off x="530352" y="1956816"/>
          <a:ext cx="11130989" cy="2588768"/>
        </p:xfrm>
        <a:graphic>
          <a:graphicData uri="http://schemas.openxmlformats.org/drawingml/2006/table">
            <a:tbl>
              <a:tblPr firstRow="0" bandRow="0">
                <a:tableStyleId>{2D5ABB26-0587-4C30-8999-92F81FD0307C}</a:tableStyleId>
              </a:tblPr>
              <a:tblGrid>
                <a:gridCol w="1184378"/>
                <a:gridCol w="2940370"/>
                <a:gridCol w="7006241"/>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c>
                  <a:txBody>
                    <a:bodyPr/>
                    <a:lstStyle/>
                    <a:p>
                      <a:r>
                        <a:rPr sz="1450" b="1" i="0">
                          <a:solidFill>
                            <a:srgbClr val="FFFFFF"/>
                          </a:solidFill>
                          <a:latin typeface="Calibri"/>
                        </a:rPr>
                        <a:t>The answer</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Is the drop real?</a:t>
                      </a:r>
                    </a:p>
                  </a:txBody>
                  <a:tcPr marL="101600" marR="101600" marT="38100" marB="38100" anchor="ctr">
                    <a:solidFill>
                      <a:srgbClr val="FFFFFF"/>
                    </a:solidFill>
                  </a:tcPr>
                </a:tc>
                <a:tc>
                  <a:txBody>
                    <a:bodyPr/>
                    <a:lstStyle/>
                    <a:p>
                      <a:r>
                        <a:rPr sz="1400" b="0" i="0">
                          <a:solidFill>
                            <a:srgbClr val="1A1440"/>
                          </a:solidFill>
                          <a:latin typeface="Calibri"/>
                        </a:rPr>
                        <a:t>Yes: minus 11.0 percent, Rs 23,00,000, on two closed quarters</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Which branch moved?</a:t>
                      </a:r>
                    </a:p>
                  </a:txBody>
                  <a:tcPr marL="101600" marR="101600" marT="38100" marB="38100" anchor="ctr">
                    <a:solidFill>
                      <a:srgbClr val="F4F2FA"/>
                    </a:solidFill>
                  </a:tcPr>
                </a:tc>
                <a:tc>
                  <a:txBody>
                    <a:bodyPr/>
                    <a:lstStyle/>
                    <a:p>
                      <a:r>
                        <a:rPr sz="1400" b="0" i="0">
                          <a:solidFill>
                            <a:srgbClr val="1A1440"/>
                          </a:solidFill>
                          <a:latin typeface="Calibri"/>
                        </a:rPr>
                        <a:t>Orders per customer, 1.65 to 1.25, while customers held at 69</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Which segment moved?</a:t>
                      </a:r>
                    </a:p>
                  </a:txBody>
                  <a:tcPr marL="101600" marR="101600" marT="38100" marB="38100" anchor="ctr">
                    <a:solidFill>
                      <a:srgbClr val="FFFFFF"/>
                    </a:solidFill>
                  </a:tcPr>
                </a:tc>
                <a:tc>
                  <a:txBody>
                    <a:bodyPr/>
                    <a:lstStyle/>
                    <a:p>
                      <a:r>
                        <a:rPr sz="1400" b="0" i="0">
                          <a:solidFill>
                            <a:srgbClr val="1A1440"/>
                          </a:solidFill>
                          <a:latin typeface="Calibri"/>
                        </a:rPr>
                        <a:t>Retail-Plus: the same 22 members, 51 orders to 26</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Did customers pay more?</a:t>
                      </a:r>
                    </a:p>
                  </a:txBody>
                  <a:tcPr marL="101600" marR="101600" marT="38100" marB="38100" anchor="ctr">
                    <a:solidFill>
                      <a:srgbClr val="F4F2FA"/>
                    </a:solidFill>
                  </a:tcPr>
                </a:tc>
                <a:tc>
                  <a:txBody>
                    <a:bodyPr/>
                    <a:lstStyle/>
                    <a:p>
                      <a:r>
                        <a:rPr sz="1400" b="0" i="0">
                          <a:solidFill>
                            <a:srgbClr val="1A1440"/>
                          </a:solidFill>
                          <a:latin typeface="Calibri"/>
                        </a:rPr>
                        <a:t>No: 69 percent of the rise in revenue per order is mix</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Were customers lost?</a:t>
                      </a:r>
                    </a:p>
                  </a:txBody>
                  <a:tcPr marL="101600" marR="101600" marT="38100" marB="38100" anchor="ctr">
                    <a:solidFill>
                      <a:srgbClr val="FFFFFF"/>
                    </a:solidFill>
                  </a:tcPr>
                </a:tc>
                <a:tc>
                  <a:txBody>
                    <a:bodyPr/>
                    <a:lstStyle/>
                    <a:p>
                      <a:r>
                        <a:rPr sz="1400" b="0" i="0">
                          <a:solidFill>
                            <a:srgbClr val="1A1440"/>
                          </a:solidFill>
                          <a:latin typeface="Calibri"/>
                        </a:rPr>
                        <a:t>None lost, none new; 23 slowed, 18 of them members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Did the button do it?</a:t>
                      </a:r>
                    </a:p>
                  </a:txBody>
                  <a:tcPr marL="101600" marR="101600" marT="38100" marB="38100" anchor="ctr">
                    <a:solidFill>
                      <a:srgbClr val="F4F2FA"/>
                    </a:solidFill>
                  </a:tcPr>
                </a:tc>
                <a:tc>
                  <a:txBody>
                    <a:bodyPr/>
                    <a:lstStyle/>
                    <a:p>
                      <a:r>
                        <a:rPr sz="1400" b="0" i="0">
                          <a:solidFill>
                            <a:srgbClr val="1A1440"/>
                          </a:solidFill>
                          <a:latin typeface="Calibri"/>
                        </a:rPr>
                        <a:t>Still open, and the afternoon's first chapter</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Did the button do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of the Retail-Plus fall can the broken reorder button explain, and what evidence goes in Meera's memo?</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Answered in six questions, before the memo goes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and engineering decide what to fix first, and Meera decides what the board hears as the cause. Blame the button for everything and the tier keeps falling for a reason nobody looked for; dismiss it and members keep failing to reorder.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tests, in what order?</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tests of a cause</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When did orders drop?</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Retail-Plus, month by month</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did it cost?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hurried memo, tested</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Was it the season?</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segment the button cannot touch</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Only the app?</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channel the cause predicts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corrected pace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A second route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47" name="Oval 4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9" name="Oval 4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51" name="Oval 5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3" name="Oval 5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5" name="TextBox 5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tier blames the button; Meera wants a page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tier claim, and what does Meera need on one page?</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"Which branch, which segment, and what you would bet on. Tell me what you know and what you are guessing." (Meera Raghavan)</a:t>
            </a:r>
          </a:p>
        </p:txBody>
      </p:sp>
      <p:pic>
        <p:nvPicPr>
          <p:cNvPr id="14" name="mermaid diagram" descr="3c9d316c87502d4c.png"/>
          <p:cNvPicPr>
            <a:picLocks noChangeAspect="1"/>
          </p:cNvPicPr>
          <p:nvPr/>
        </p:nvPicPr>
        <p:blipFill>
          <a:blip r:embed="rId6"/>
          <a:stretch>
            <a:fillRect/>
          </a:stretch>
        </p:blipFill>
        <p:spPr>
          <a:xfrm>
            <a:off x="2152497" y="3243072"/>
            <a:ext cx="7886700" cy="1600200"/>
          </a:xfrm>
          <a:prstGeom prst="rect">
            <a:avLst/>
          </a:prstGeom>
        </p:spPr>
      </p:pic>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Sonos tied an app rollout to its guidance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put a broken app into its numbers?</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2024</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REDESIGNED APP ROLLED OUT</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problems it caused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FY2024</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GUIDANCE REDUCED</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CEO tied it to the app's rollout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up to $30 m</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SHORT-TERM COST TO FIX</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set out in the annual report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claim. </a:t>
            </a:r>
            <a:r>
              <a:rPr sz="1500" b="0" i="0">
                <a:solidFill>
                  <a:srgbClr val="1A1440"/>
                </a:solidFill>
                <a:latin typeface="Calibri"/>
              </a:rPr>
              <a:t>A company can put a broken app into its numbers, and the head of Retail-Plus is asking whether his tier is the same story. Guidance is the revenue a company tells investors to expect.</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6" name="Oval 2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8" name="Oval 27"/>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2" name="Oval 31"/>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4" name="Oval 33"/>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Timing first, then a segment and the channel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tests of a cause run today, and in which order?</a:t>
            </a:r>
          </a:p>
        </p:txBody>
      </p:sp>
      <p:graphicFrame>
        <p:nvGraphicFramePr>
          <p:cNvPr id="9" name="Table 8"/>
          <p:cNvGraphicFramePr>
            <a:graphicFrameLocks noGrp="1"/>
          </p:cNvGraphicFramePr>
          <p:nvPr/>
        </p:nvGraphicFramePr>
        <p:xfrm>
          <a:off x="530352" y="1956816"/>
          <a:ext cx="11130990" cy="1849120"/>
        </p:xfrm>
        <a:graphic>
          <a:graphicData uri="http://schemas.openxmlformats.org/drawingml/2006/table">
            <a:tbl>
              <a:tblPr firstRow="0" bandRow="0">
                <a:tableStyleId>{2D5ABB26-0587-4C30-8999-92F81FD0307C}</a:tableStyleId>
              </a:tblPr>
              <a:tblGrid>
                <a:gridCol w="3523233"/>
                <a:gridCol w="3523233"/>
                <a:gridCol w="4084524"/>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c>
                  <a:txBody>
                    <a:bodyPr/>
                    <a:lstStyle/>
                    <a:p>
                      <a:r>
                        <a:rPr sz="1450" b="1" i="0">
                          <a:solidFill>
                            <a:srgbClr val="FFFFFF"/>
                          </a:solidFill>
                          <a:latin typeface="Calibri"/>
                        </a:rPr>
                        <a:t>Can rule out</a:t>
                      </a:r>
                    </a:p>
                  </a:txBody>
                  <a:tcPr marL="101600" marR="101600" marT="38100" marB="38100" anchor="ctr">
                    <a:solidFill>
                      <a:srgbClr val="1A0F5C"/>
                    </a:solidFill>
                  </a:tcPr>
                </a:tc>
              </a:tr>
              <a:tr h="369824">
                <a:tc>
                  <a:txBody>
                    <a:bodyPr/>
                    <a:lstStyle/>
                    <a:p>
                      <a:r>
                        <a:rPr sz="1400" b="0" i="0">
                          <a:solidFill>
                            <a:srgbClr val="1A1440"/>
                          </a:solidFill>
                          <a:latin typeface="Calibri"/>
                        </a:rPr>
                        <a:t>A. Before and after the break</a:t>
                      </a:r>
                    </a:p>
                  </a:txBody>
                  <a:tcPr marL="101600" marR="101600" marT="38100" marB="38100" anchor="ctr">
                    <a:solidFill>
                      <a:srgbClr val="FFFFFF"/>
                    </a:solidFill>
                  </a:tcPr>
                </a:tc>
                <a:tc>
                  <a:txBody>
                    <a:bodyPr/>
                    <a:lstStyle/>
                    <a:p>
                      <a:r>
                        <a:rPr sz="1400" b="0" i="0">
                          <a:solidFill>
                            <a:srgbClr val="1A1440"/>
                          </a:solidFill>
                          <a:latin typeface="Calibri"/>
                        </a:rPr>
                        <a:t>Retail-Plus orders, by date</a:t>
                      </a:r>
                    </a:p>
                  </a:txBody>
                  <a:tcPr marL="101600" marR="101600" marT="38100" marB="38100" anchor="ctr">
                    <a:solidFill>
                      <a:srgbClr val="FFFFFF"/>
                    </a:solidFill>
                  </a:tcPr>
                </a:tc>
                <a:tc>
                  <a:txBody>
                    <a:bodyPr/>
                    <a:lstStyle/>
                    <a:p>
                      <a:r>
                        <a:rPr sz="1400" b="0" i="0">
                          <a:solidFill>
                            <a:srgbClr val="1A1440"/>
                          </a:solidFill>
                          <a:latin typeface="Calibri"/>
                        </a:rPr>
                        <a:t>The button as the whole story</a:t>
                      </a:r>
                    </a:p>
                  </a:txBody>
                  <a:tcPr marL="101600" marR="101600" marT="38100" marB="38100" anchor="ctr">
                    <a:solidFill>
                      <a:srgbClr val="FFFFFF"/>
                    </a:solidFill>
                  </a:tcPr>
                </a:tc>
              </a:tr>
              <a:tr h="369824">
                <a:tc>
                  <a:txBody>
                    <a:bodyPr/>
                    <a:lstStyle/>
                    <a:p>
                      <a:r>
                        <a:rPr sz="1400" b="0" i="0">
                          <a:solidFill>
                            <a:srgbClr val="1A1440"/>
                          </a:solidFill>
                          <a:latin typeface="Calibri"/>
                        </a:rPr>
                        <a:t>B. A comparison segment</a:t>
                      </a:r>
                    </a:p>
                  </a:txBody>
                  <a:tcPr marL="101600" marR="101600" marT="38100" marB="38100" anchor="ctr">
                    <a:solidFill>
                      <a:srgbClr val="F4F2FA"/>
                    </a:solidFill>
                  </a:tcPr>
                </a:tc>
                <a:tc>
                  <a:txBody>
                    <a:bodyPr/>
                    <a:lstStyle/>
                    <a:p>
                      <a:r>
                        <a:rPr sz="1400" b="0" i="0">
                          <a:solidFill>
                            <a:srgbClr val="1A1440"/>
                          </a:solidFill>
                          <a:latin typeface="Calibri"/>
                        </a:rPr>
                        <a:t>Retail-Core, same months</a:t>
                      </a:r>
                    </a:p>
                  </a:txBody>
                  <a:tcPr marL="101600" marR="101600" marT="38100" marB="38100" anchor="ctr">
                    <a:solidFill>
                      <a:srgbClr val="F4F2FA"/>
                    </a:solidFill>
                  </a:tcPr>
                </a:tc>
                <a:tc>
                  <a:txBody>
                    <a:bodyPr/>
                    <a:lstStyle/>
                    <a:p>
                      <a:r>
                        <a:rPr sz="1400" b="0" i="0">
                          <a:solidFill>
                            <a:srgbClr val="1A1440"/>
                          </a:solidFill>
                          <a:latin typeface="Calibri"/>
                        </a:rPr>
                        <a:t>A season that hit everyone</a:t>
                      </a:r>
                    </a:p>
                  </a:txBody>
                  <a:tcPr marL="101600" marR="101600" marT="38100" marB="38100" anchor="ctr">
                    <a:solidFill>
                      <a:srgbClr val="F4F2FA"/>
                    </a:solidFill>
                  </a:tcPr>
                </a:tc>
              </a:tr>
              <a:tr h="369824">
                <a:tc>
                  <a:txBody>
                    <a:bodyPr/>
                    <a:lstStyle/>
                    <a:p>
                      <a:r>
                        <a:rPr sz="1400" b="0" i="0">
                          <a:solidFill>
                            <a:srgbClr val="1A1440"/>
                          </a:solidFill>
                          <a:latin typeface="Calibri"/>
                        </a:rPr>
                        <a:t>C. The channel it predicts</a:t>
                      </a:r>
                    </a:p>
                  </a:txBody>
                  <a:tcPr marL="101600" marR="101600" marT="38100" marB="38100" anchor="ctr">
                    <a:solidFill>
                      <a:srgbClr val="FFFFFF"/>
                    </a:solidFill>
                  </a:tcPr>
                </a:tc>
                <a:tc>
                  <a:txBody>
                    <a:bodyPr/>
                    <a:lstStyle/>
                    <a:p>
                      <a:r>
                        <a:rPr sz="1400" b="0" i="0">
                          <a:solidFill>
                            <a:srgbClr val="1A1440"/>
                          </a:solidFill>
                          <a:latin typeface="Calibri"/>
                        </a:rPr>
                        <a:t>Retail-Plus orders by channel</a:t>
                      </a:r>
                    </a:p>
                  </a:txBody>
                  <a:tcPr marL="101600" marR="101600" marT="38100" marB="38100" anchor="ctr">
                    <a:solidFill>
                      <a:srgbClr val="FFFFFF"/>
                    </a:solidFill>
                  </a:tcPr>
                </a:tc>
                <a:tc>
                  <a:txBody>
                    <a:bodyPr/>
                    <a:lstStyle/>
                    <a:p>
                      <a:r>
                        <a:rPr sz="1400" b="0" i="0">
                          <a:solidFill>
                            <a:srgbClr val="1A1440"/>
                          </a:solidFill>
                          <a:latin typeface="Calibri"/>
                        </a:rPr>
                        <a:t>An app-only cause</a:t>
                      </a:r>
                    </a:p>
                  </a:txBody>
                  <a:tcPr marL="101600" marR="101600" marT="38100" marB="38100" anchor="ctr">
                    <a:solidFill>
                      <a:srgbClr val="FFFFFF"/>
                    </a:solidFill>
                  </a:tcPr>
                </a:tc>
              </a:tr>
              <a:tr h="369824">
                <a:tc>
                  <a:txBody>
                    <a:bodyPr/>
                    <a:lstStyle/>
                    <a:p>
                      <a:r>
                        <a:rPr sz="1400" b="0" i="0">
                          <a:solidFill>
                            <a:srgbClr val="1A1440"/>
                          </a:solidFill>
                          <a:latin typeface="Calibri"/>
                        </a:rPr>
                        <a:t>D. The app's reorder logs</a:t>
                      </a:r>
                    </a:p>
                  </a:txBody>
                  <a:tcPr marL="101600" marR="101600" marT="38100" marB="38100" anchor="ctr">
                    <a:solidFill>
                      <a:srgbClr val="F4F2FA"/>
                    </a:solidFill>
                  </a:tcPr>
                </a:tc>
                <a:tc>
                  <a:txBody>
                    <a:bodyPr/>
                    <a:lstStyle/>
                    <a:p>
                      <a:r>
                        <a:rPr sz="1400" b="0" i="0">
                          <a:solidFill>
                            <a:srgbClr val="1A1440"/>
                          </a:solidFill>
                          <a:latin typeface="Calibri"/>
                        </a:rPr>
                        <a:t>A data request</a:t>
                      </a:r>
                    </a:p>
                  </a:txBody>
                  <a:tcPr marL="101600" marR="101600" marT="38100" marB="38100" anchor="ctr">
                    <a:solidFill>
                      <a:srgbClr val="F4F2FA"/>
                    </a:solidFill>
                  </a:tcPr>
                </a:tc>
                <a:tc>
                  <a:txBody>
                    <a:bodyPr/>
                    <a:lstStyle/>
                    <a:p>
                      <a:r>
                        <a:rPr sz="1400" b="0" i="0">
                          <a:solidFill>
                            <a:srgbClr val="1A1440"/>
                          </a:solidFill>
                          <a:latin typeface="Calibri"/>
                        </a:rPr>
                        <a:t>Nothing today; it settles it later</a:t>
                      </a:r>
                    </a:p>
                  </a:txBody>
                  <a:tcPr marL="101600" marR="101600" marT="38100" marB="38100" anchor="ctr">
                    <a:solidFill>
                      <a:srgbClr val="F4F2FA"/>
                    </a:solidFill>
                  </a:tcPr>
                </a:tc>
              </a:tr>
            </a:tbl>
          </a:graphicData>
        </a:graphic>
      </p:graphicFrame>
      <p:sp>
        <p:nvSpPr>
          <p:cNvPr id="10" name="Rounded Rectangle 9"/>
          <p:cNvSpPr/>
          <p:nvPr/>
        </p:nvSpPr>
        <p:spPr>
          <a:xfrm>
            <a:off x="530352" y="4061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8998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80840"/>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A, B and C now, D requested today. </a:t>
            </a:r>
            <a:r>
              <a:rPr sz="1500" b="1" i="0">
                <a:solidFill>
                  <a:srgbClr val="1A1440"/>
                </a:solidFill>
                <a:latin typeface="Calibri"/>
              </a:rPr>
              <a:t>What would change it:</a:t>
            </a:r>
            <a:r>
              <a:rPr sz="1500" b="0" i="0">
                <a:solidFill>
                  <a:srgbClr val="1A1440"/>
                </a:solidFill>
                <a:latin typeface="Calibri"/>
              </a:rPr>
              <a:t> if the break turned out to be in June, A's verdict flips, and D's release date is how we would learn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cause predicts when, where and whom it hits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broken reorder button predict that the export can test?</a:t>
            </a:r>
          </a:p>
        </p:txBody>
      </p:sp>
      <p:pic>
        <p:nvPicPr>
          <p:cNvPr id="9" name="mermaid diagram" descr="38e26fb430be5d5a.png"/>
          <p:cNvPicPr>
            <a:picLocks noChangeAspect="1"/>
          </p:cNvPicPr>
          <p:nvPr/>
        </p:nvPicPr>
        <p:blipFill>
          <a:blip r:embed="rId6"/>
          <a:stretch>
            <a:fillRect/>
          </a:stretch>
        </p:blipFill>
        <p:spPr>
          <a:xfrm>
            <a:off x="895873" y="1682496"/>
            <a:ext cx="4055284" cy="4517136"/>
          </a:xfrm>
          <a:prstGeom prst="rect">
            <a:avLst/>
          </a:prstGeom>
        </p:spPr>
      </p:pic>
      <p:sp>
        <p:nvSpPr>
          <p:cNvPr id="10" name="Rounded Rectangle 9"/>
          <p:cNvSpPr/>
          <p:nvPr/>
        </p:nvSpPr>
        <p:spPr>
          <a:xfrm>
            <a:off x="5761917" y="1956816"/>
            <a:ext cx="5899425" cy="163982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5481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65785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200912"/>
          </a:xfrm>
          <a:prstGeom prst="rect">
            <a:avLst/>
          </a:prstGeom>
          <a:noFill/>
        </p:spPr>
        <p:txBody>
          <a:bodyPr wrap="square" anchor="t" lIns="0" rIns="0" tIns="0" bIns="0">
            <a:spAutoFit/>
          </a:bodyPr>
          <a:lstStyle/>
          <a:p>
            <a:r>
              <a:rPr sz="1500" b="0" i="0">
                <a:solidFill>
                  <a:srgbClr val="1A1440"/>
                </a:solidFill>
                <a:latin typeface="Calibri"/>
              </a:rPr>
              <a:t>Restate the cause as a mechanism and test each thing it predicts, timing first. A test the data can pass or fail is worth more than an opinion about the cause.</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count_by grows chapter 1's accumulator to any key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we count orders by month, or by channel, with one function?</a:t>
            </a:r>
          </a:p>
        </p:txBody>
      </p:sp>
      <p:sp>
        <p:nvSpPr>
          <p:cNvPr id="9" name="Rounded Rectangle 8"/>
          <p:cNvSpPr/>
          <p:nvPr/>
        </p:nvSpPr>
        <p:spPr>
          <a:xfrm>
            <a:off x="530352" y="1806956"/>
            <a:ext cx="11130991" cy="298196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3497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3497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3497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36140"/>
            <a:ext cx="10673791" cy="257962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count_by(rows, key):</a:t>
            </a:r>
          </a:p>
          <a:p>
            <a:pPr>
              <a:spcAft>
                <a:spcPts val="200"/>
              </a:spcAft>
            </a:pPr>
            <a:r>
              <a:rPr sz="1400" b="0" i="0">
                <a:solidFill>
                  <a:srgbClr val="E4E1F1"/>
                </a:solidFill>
                <a:latin typeface="Consolas"/>
              </a:rPr>
              <a:t>    """Count the rows under whatever key(row) returns."""</a:t>
            </a:r>
          </a:p>
          <a:p>
            <a:pPr>
              <a:spcAft>
                <a:spcPts val="200"/>
              </a:spcAft>
            </a:pPr>
            <a:r>
              <a:rPr sz="1400" b="0" i="0">
                <a:solidFill>
                  <a:srgbClr val="E4E1F1"/>
                </a:solidFill>
                <a:latin typeface="Consolas"/>
              </a:rPr>
              <a:t>    counts = {}</a:t>
            </a:r>
          </a:p>
          <a:p>
            <a:pPr>
              <a:spcAft>
                <a:spcPts val="200"/>
              </a:spcAft>
            </a:pPr>
            <a:r>
              <a:rPr sz="1400" b="0" i="0">
                <a:solidFill>
                  <a:srgbClr val="E4E1F1"/>
                </a:solidFill>
                <a:latin typeface="Consolas"/>
              </a:rPr>
              <a:t>    for row in rows:</a:t>
            </a:r>
          </a:p>
          <a:p>
            <a:pPr>
              <a:spcAft>
                <a:spcPts val="200"/>
              </a:spcAft>
            </a:pPr>
            <a:r>
              <a:rPr sz="1400" b="0" i="0">
                <a:solidFill>
                  <a:srgbClr val="E4E1F1"/>
                </a:solidFill>
                <a:latin typeface="Consolas"/>
              </a:rPr>
              <a:t>        k = key(row)</a:t>
            </a:r>
          </a:p>
          <a:p>
            <a:pPr>
              <a:spcAft>
                <a:spcPts val="200"/>
              </a:spcAft>
            </a:pPr>
            <a:r>
              <a:rPr sz="1400" b="0" i="0">
                <a:solidFill>
                  <a:srgbClr val="E4E1F1"/>
                </a:solidFill>
                <a:latin typeface="Consolas"/>
              </a:rPr>
              <a:t>        counts[k] = counts.get(k, 0) + 1</a:t>
            </a:r>
          </a:p>
          <a:p>
            <a:pPr>
              <a:spcAft>
                <a:spcPts val="200"/>
              </a:spcAft>
            </a:pPr>
            <a:r>
              <a:rPr sz="1400" b="0" i="0">
                <a:solidFill>
                  <a:srgbClr val="E4E1F1"/>
                </a:solidFill>
                <a:latin typeface="Consolas"/>
              </a:rPr>
              <a:t>    return counts</a:t>
            </a:r>
          </a:p>
          <a:p>
            <a:pPr>
              <a:spcAft>
                <a:spcPts val="200"/>
              </a:spcAft>
            </a:pPr>
          </a:p>
          <a:p>
            <a:pPr>
              <a:spcAft>
                <a:spcPts val="200"/>
              </a:spcAft>
            </a:pPr>
            <a:r>
              <a:rPr sz="1400" b="0" i="0">
                <a:solidFill>
                  <a:srgbClr val="E4E1F1"/>
                </a:solidFill>
                <a:latin typeface="Consolas"/>
              </a:rPr>
              <a:t>plus_month = count_by(plus, lambda o: o["order_date"][:7])     # "2026-07"</a:t>
            </a:r>
          </a:p>
          <a:p>
            <a:pPr>
              <a:spcAft>
                <a:spcPts val="200"/>
              </a:spcAft>
            </a:pPr>
            <a:r>
              <a:rPr sz="1400" b="0" i="0">
                <a:solidFill>
                  <a:srgbClr val="E4E1F1"/>
                </a:solidFill>
                <a:latin typeface="Consolas"/>
              </a:rPr>
              <a:t>plus_channel = count_by(plus, lambda o: o["channel"])          # "app", "web", "store"</a:t>
            </a:r>
          </a:p>
        </p:txBody>
      </p:sp>
      <p:sp>
        <p:nvSpPr>
          <p:cNvPr id="14" name="Rounded Rectangle 13"/>
          <p:cNvSpPr/>
          <p:nvPr/>
        </p:nvSpPr>
        <p:spPr>
          <a:xfrm>
            <a:off x="530352" y="495350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528573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list-checks_bd88901d2a37.png"/>
          <p:cNvPicPr>
            <a:picLocks noChangeAspect="1"/>
          </p:cNvPicPr>
          <p:nvPr/>
        </p:nvPicPr>
        <p:blipFill>
          <a:blip r:embed="rId4"/>
          <a:stretch>
            <a:fillRect/>
          </a:stretch>
        </p:blipFill>
        <p:spPr>
          <a:xfrm>
            <a:off x="868680" y="5395468"/>
            <a:ext cx="237744" cy="237744"/>
          </a:xfrm>
          <a:prstGeom prst="rect">
            <a:avLst/>
          </a:prstGeom>
        </p:spPr>
      </p:pic>
      <p:sp>
        <p:nvSpPr>
          <p:cNvPr id="17" name="TextBox 16"/>
          <p:cNvSpPr txBox="1"/>
          <p:nvPr/>
        </p:nvSpPr>
        <p:spPr>
          <a:xfrm>
            <a:off x="1399031" y="509981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8" name="TextBox 17"/>
          <p:cNvSpPr txBox="1"/>
          <p:nvPr/>
        </p:nvSpPr>
        <p:spPr>
          <a:xfrm>
            <a:off x="1399031" y="5319268"/>
            <a:ext cx="9987991" cy="682752"/>
          </a:xfrm>
          <a:prstGeom prst="rect">
            <a:avLst/>
          </a:prstGeom>
          <a:noFill/>
        </p:spPr>
        <p:txBody>
          <a:bodyPr wrap="square" anchor="t" lIns="0" rIns="0" tIns="0" bIns="0">
            <a:spAutoFit/>
          </a:bodyPr>
          <a:lstStyle/>
          <a:p>
            <a:r>
              <a:rPr sz="1500" b="0" i="0">
                <a:solidFill>
                  <a:srgbClr val="1A1440"/>
                </a:solidFill>
                <a:latin typeface="Calibri"/>
              </a:rPr>
              <a:t>The key is handed in as a small function, so the same counter answers "by month" and "by channel" without a second loop.</a:t>
            </a:r>
          </a:p>
        </p:txBody>
      </p:sp>
      <p:sp>
        <p:nvSpPr>
          <p:cNvPr id="19" name="Oval 18"/>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1" name="Oval 20"/>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3" name="Oval 22"/>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5" name="Oval 24"/>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7" name="Oval 26"/>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9" name="Oval 28"/>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when did the tier drop below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e1a2c198c224d605.png"/>
          <p:cNvPicPr>
            <a:picLocks noChangeAspect="1"/>
          </p:cNvPicPr>
          <p:nvPr/>
        </p:nvPicPr>
        <p:blipFill>
          <a:blip r:embed="rId5"/>
          <a:stretch>
            <a:fillRect/>
          </a:stretch>
        </p:blipFill>
        <p:spPr>
          <a:xfrm>
            <a:off x="2152497" y="1956816"/>
            <a:ext cx="7886700" cy="1600200"/>
          </a:xfrm>
          <a:prstGeom prst="rect">
            <a:avLst/>
          </a:prstGeom>
        </p:spPr>
      </p:pic>
      <p:sp>
        <p:nvSpPr>
          <p:cNvPr id="10" name="Rounded Rectangle 9"/>
          <p:cNvSpPr/>
          <p:nvPr/>
        </p:nvSpPr>
        <p:spPr>
          <a:xfrm>
            <a:off x="530352" y="37033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 September, after the break; b) August, when it broke; c) July, before it broke; d) never.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July, weeks before the button broke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Retail-Plus orders by month, with Retail-Core beside it: when did the tier fall below every Q1 month?</a:t>
            </a:r>
          </a:p>
        </p:txBody>
      </p:sp>
      <p:pic>
        <p:nvPicPr>
          <p:cNvPr id="9" name="mermaid diagram" descr="70e24821516b80ec.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July's 9 Retail-Plus orders sit below every Q1 month, whose lowest was 13, while Retail-Core held level. The answer is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the button cost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hurried memo charge the button with?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THE BUTTON "COST"</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51 in Q1 less 26 in Q2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65,250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RUPEES THE BUTTON "COST"</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whole tier's fall</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DAYS CHECKED BEFORE THE BREAK</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missing check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Engineering is told the fix recovers 25 orders a quarter; it ships, recovers a handful, and the tier's real problem has had another quarter to run.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pace fell before the break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tier's pace when Q2 is split at the break?</a:t>
            </a:r>
          </a:p>
        </p:txBody>
      </p:sp>
      <p:graphicFrame>
        <p:nvGraphicFramePr>
          <p:cNvPr id="9" name="Table 8"/>
          <p:cNvGraphicFramePr>
            <a:graphicFrameLocks noGrp="1"/>
          </p:cNvGraphicFramePr>
          <p:nvPr/>
        </p:nvGraphicFramePr>
        <p:xfrm>
          <a:off x="530352" y="1956816"/>
          <a:ext cx="11130991" cy="1341120"/>
        </p:xfrm>
        <a:graphic>
          <a:graphicData uri="http://schemas.openxmlformats.org/drawingml/2006/table">
            <a:tbl>
              <a:tblPr firstRow="0" bandRow="0">
                <a:tableStyleId>{2D5ABB26-0587-4C30-8999-92F81FD0307C}</a:tableStyleId>
              </a:tblPr>
              <a:tblGrid>
                <a:gridCol w="6138359"/>
                <a:gridCol w="914400"/>
                <a:gridCol w="914400"/>
                <a:gridCol w="3163832"/>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Per week</a:t>
                      </a:r>
                    </a:p>
                  </a:txBody>
                  <a:tcPr marL="101600" marR="101600" marT="38100" marB="38100" anchor="ctr">
                    <a:solidFill>
                      <a:srgbClr val="1A0F5C"/>
                    </a:solidFill>
                  </a:tcPr>
                </a:tc>
              </a:tr>
              <a:tr h="335280">
                <a:tc>
                  <a:txBody>
                    <a:bodyPr/>
                    <a:lstStyle/>
                    <a:p>
                      <a:r>
                        <a:rPr sz="1200" b="0" i="0">
                          <a:solidFill>
                            <a:srgbClr val="1A1440"/>
                          </a:solidFill>
                          <a:latin typeface="Calibri"/>
                        </a:rPr>
                        <a:t>Q1, 1 Apr to 30 Jun</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51</a:t>
                      </a:r>
                    </a:p>
                  </a:txBody>
                  <a:tcPr marL="101600" marR="101600" marT="38100" marB="38100" anchor="ctr">
                    <a:solidFill>
                      <a:srgbClr val="FFFFFF"/>
                    </a:solidFill>
                  </a:tcPr>
                </a:tc>
                <a:tc>
                  <a:txBody>
                    <a:bodyPr/>
                    <a:lstStyle/>
                    <a:p>
                      <a:r>
                        <a:rPr sz="1200" b="0" i="0">
                          <a:solidFill>
                            <a:srgbClr val="1A1440"/>
                          </a:solidFill>
                          <a:latin typeface="Calibri"/>
                        </a:rPr>
                        <a:t>3.92</a:t>
                      </a:r>
                    </a:p>
                  </a:txBody>
                  <a:tcPr marL="101600" marR="101600" marT="38100" marB="38100" anchor="ctr">
                    <a:solidFill>
                      <a:srgbClr val="FFFFFF"/>
                    </a:solidFill>
                  </a:tcPr>
                </a:tc>
              </a:tr>
              <a:tr h="335280">
                <a:tc>
                  <a:txBody>
                    <a:bodyPr/>
                    <a:lstStyle/>
                    <a:p>
                      <a:r>
                        <a:rPr sz="1200" b="0" i="0">
                          <a:solidFill>
                            <a:srgbClr val="1A1440"/>
                          </a:solidFill>
                          <a:latin typeface="Calibri"/>
                        </a:rPr>
                        <a:t>Q2, 1 Jul to 24 Aug</a:t>
                      </a:r>
                    </a:p>
                  </a:txBody>
                  <a:tcPr marL="101600" marR="101600" marT="38100" marB="38100" anchor="ctr">
                    <a:solidFill>
                      <a:srgbClr val="F4F2FA"/>
                    </a:solidFill>
                  </a:tcPr>
                </a:tc>
                <a:tc>
                  <a:txBody>
                    <a:bodyPr/>
                    <a:lstStyle/>
                    <a:p>
                      <a:r>
                        <a:rPr sz="1200" b="0" i="0">
                          <a:solidFill>
                            <a:srgbClr val="1A1440"/>
                          </a:solidFill>
                          <a:latin typeface="Calibri"/>
                        </a:rPr>
                        <a:t>55</a:t>
                      </a:r>
                    </a:p>
                  </a:txBody>
                  <a:tcPr marL="101600" marR="101600" marT="38100" marB="38100" anchor="ctr">
                    <a:solidFill>
                      <a:srgbClr val="F4F2FA"/>
                    </a:solidFill>
                  </a:tcPr>
                </a:tc>
                <a:tc>
                  <a:txBody>
                    <a:bodyPr/>
                    <a:lstStyle/>
                    <a:p>
                      <a:r>
                        <a:rPr sz="1200" b="0" i="0">
                          <a:solidFill>
                            <a:srgbClr val="1A1440"/>
                          </a:solidFill>
                          <a:latin typeface="Calibri"/>
                        </a:rPr>
                        <a:t>18</a:t>
                      </a:r>
                    </a:p>
                  </a:txBody>
                  <a:tcPr marL="101600" marR="101600" marT="38100" marB="38100" anchor="ctr">
                    <a:solidFill>
                      <a:srgbClr val="F4F2FA"/>
                    </a:solidFill>
                  </a:tcPr>
                </a:tc>
                <a:tc>
                  <a:txBody>
                    <a:bodyPr/>
                    <a:lstStyle/>
                    <a:p>
                      <a:r>
                        <a:rPr sz="1200" b="0" i="0">
                          <a:solidFill>
                            <a:srgbClr val="1A1440"/>
                          </a:solidFill>
                          <a:latin typeface="Calibri"/>
                        </a:rPr>
                        <a:t>2.29</a:t>
                      </a:r>
                    </a:p>
                  </a:txBody>
                  <a:tcPr marL="101600" marR="101600" marT="38100" marB="38100" anchor="ctr">
                    <a:solidFill>
                      <a:srgbClr val="F4F2FA"/>
                    </a:solidFill>
                  </a:tcPr>
                </a:tc>
              </a:tr>
              <a:tr h="335280">
                <a:tc>
                  <a:txBody>
                    <a:bodyPr/>
                    <a:lstStyle/>
                    <a:p>
                      <a:r>
                        <a:rPr sz="1200" b="0" i="0">
                          <a:solidFill>
                            <a:srgbClr val="1A1440"/>
                          </a:solidFill>
                          <a:latin typeface="Calibri"/>
                        </a:rPr>
                        <a:t>Q2, 25 Aug to 30 Sep</a:t>
                      </a:r>
                    </a:p>
                  </a:txBody>
                  <a:tcPr marL="101600" marR="101600" marT="38100" marB="38100" anchor="ctr">
                    <a:solidFill>
                      <a:srgbClr val="FFFFFF"/>
                    </a:solidFill>
                  </a:tcPr>
                </a:tc>
                <a:tc>
                  <a:txBody>
                    <a:bodyPr/>
                    <a:lstStyle/>
                    <a:p>
                      <a:r>
                        <a:rPr sz="1200" b="0" i="0">
                          <a:solidFill>
                            <a:srgbClr val="1A1440"/>
                          </a:solidFill>
                          <a:latin typeface="Calibri"/>
                        </a:rPr>
                        <a:t>37</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1.51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tier's pace had fallen by more than a third before the button broke, so the whole-quarter comparison charges the button with orders lost in July and August. </a:t>
            </a:r>
            <a:r>
              <a:rPr sz="1500" b="1" i="0">
                <a:solidFill>
                  <a:srgbClr val="1A1440"/>
                </a:solidFill>
                <a:latin typeface="Calibri"/>
              </a:rPr>
              <a:t>The check</a:t>
            </a:r>
            <a:r>
              <a:rPr sz="1500" b="0" i="0">
                <a:solidFill>
                  <a:srgbClr val="1A1440"/>
                </a:solidFill>
                <a:latin typeface="Calibri"/>
              </a:rPr>
              <a:t> is chapter 1's lesson: a rate with its window.</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ceiling of about 4, far below 25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can the button have cost, and on which baseline?</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877049"/>
                <a:gridCol w="914400"/>
                <a:gridCol w="3651647"/>
                <a:gridCol w="914400"/>
                <a:gridCol w="2773494"/>
              </a:tblGrid>
              <a:tr h="335280">
                <a:tc>
                  <a:txBody>
                    <a:bodyPr/>
                    <a:lstStyle/>
                    <a:p>
                      <a:r>
                        <a:rPr sz="1250" b="1" i="0">
                          <a:solidFill>
                            <a:srgbClr val="FFFFFF"/>
                          </a:solidFill>
                          <a:latin typeface="Calibri"/>
                        </a:rPr>
                        <a:t>Pace before the break</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Expected in the 37 days after</a:t>
                      </a:r>
                    </a:p>
                  </a:txBody>
                  <a:tcPr marL="101600" marR="101600" marT="38100" marB="38100" anchor="ctr">
                    <a:solidFill>
                      <a:srgbClr val="1A0F5C"/>
                    </a:solidFill>
                  </a:tcPr>
                </a:tc>
                <a:tc>
                  <a:txBody>
                    <a:bodyPr/>
                    <a:lstStyle/>
                    <a:p>
                      <a:r>
                        <a:rPr sz="1250" b="1" i="0">
                          <a:solidFill>
                            <a:srgbClr val="FFFFFF"/>
                          </a:solidFill>
                          <a:latin typeface="Calibri"/>
                        </a:rPr>
                        <a:t>Placed</a:t>
                      </a:r>
                    </a:p>
                  </a:txBody>
                  <a:tcPr marL="101600" marR="101600" marT="38100" marB="38100" anchor="ctr">
                    <a:solidFill>
                      <a:srgbClr val="1A0F5C"/>
                    </a:solidFill>
                  </a:tcPr>
                </a:tc>
                <a:tc>
                  <a:txBody>
                    <a:bodyPr/>
                    <a:lstStyle/>
                    <a:p>
                      <a:r>
                        <a:rPr sz="1250" b="1" i="0">
                          <a:solidFill>
                            <a:srgbClr val="FFFFFF"/>
                          </a:solidFill>
                          <a:latin typeface="Calibri"/>
                        </a:rPr>
                        <a:t>Button's ceiling</a:t>
                      </a:r>
                    </a:p>
                  </a:txBody>
                  <a:tcPr marL="101600" marR="101600" marT="38100" marB="38100" anchor="ctr">
                    <a:solidFill>
                      <a:srgbClr val="1A0F5C"/>
                    </a:solidFill>
                  </a:tcPr>
                </a:tc>
              </a:tr>
              <a:tr h="335280">
                <a:tc>
                  <a:txBody>
                    <a:bodyPr/>
                    <a:lstStyle/>
                    <a:p>
                      <a:r>
                        <a:rPr sz="1200" b="0" i="0">
                          <a:solidFill>
                            <a:srgbClr val="1A1440"/>
                          </a:solidFill>
                          <a:latin typeface="Calibri"/>
                        </a:rPr>
                        <a:t>55 days, 1 Jul to 24 Aug</a:t>
                      </a:r>
                    </a:p>
                  </a:txBody>
                  <a:tcPr marL="101600" marR="101600" marT="38100" marB="38100" anchor="ctr">
                    <a:solidFill>
                      <a:srgbClr val="FFFFFF"/>
                    </a:solidFill>
                  </a:tcPr>
                </a:tc>
                <a:tc>
                  <a:txBody>
                    <a:bodyPr/>
                    <a:lstStyle/>
                    <a:p>
                      <a:r>
                        <a:rPr sz="1200" b="0" i="0">
                          <a:solidFill>
                            <a:srgbClr val="1A1440"/>
                          </a:solidFill>
                          <a:latin typeface="Calibri"/>
                        </a:rPr>
                        <a:t>18</a:t>
                      </a:r>
                    </a:p>
                  </a:txBody>
                  <a:tcPr marL="101600" marR="101600" marT="38100" marB="38100" anchor="ctr">
                    <a:solidFill>
                      <a:srgbClr val="FFFFFF"/>
                    </a:solidFill>
                  </a:tcPr>
                </a:tc>
                <a:tc>
                  <a:txBody>
                    <a:bodyPr/>
                    <a:lstStyle/>
                    <a:p>
                      <a:r>
                        <a:rPr sz="1200" b="0" i="0">
                          <a:solidFill>
                            <a:srgbClr val="1A1440"/>
                          </a:solidFill>
                          <a:latin typeface="Calibri"/>
                        </a:rPr>
                        <a:t>12.1</a:t>
                      </a:r>
                    </a:p>
                  </a:txBody>
                  <a:tcPr marL="101600" marR="101600" marT="38100" marB="38100" anchor="ctr">
                    <a:solidFill>
                      <a:srgbClr val="FFFFFF"/>
                    </a:solidFill>
                  </a:tcPr>
                </a:tc>
                <a:tc>
                  <a:txBody>
                    <a:bodyPr/>
                    <a:lstStyle/>
                    <a:p>
                      <a:r>
                        <a:rPr sz="1200" b="0" i="0">
                          <a:solidFill>
                            <a:srgbClr val="1A1440"/>
                          </a:solidFill>
                          <a:latin typeface="Calibri"/>
                        </a:rPr>
                        <a:t>8</a:t>
                      </a:r>
                    </a:p>
                  </a:txBody>
                  <a:tcPr marL="101600" marR="101600" marT="38100" marB="38100" anchor="ctr">
                    <a:solidFill>
                      <a:srgbClr val="FFFFFF"/>
                    </a:solidFill>
                  </a:tcPr>
                </a:tc>
                <a:tc>
                  <a:txBody>
                    <a:bodyPr/>
                    <a:lstStyle/>
                    <a:p>
                      <a:r>
                        <a:rPr sz="1200" b="0" i="0">
                          <a:solidFill>
                            <a:srgbClr val="1A1440"/>
                          </a:solidFill>
                          <a:latin typeface="Calibri"/>
                        </a:rPr>
                        <a:t>about 4, about Rs 12,400</a:t>
                      </a:r>
                    </a:p>
                  </a:txBody>
                  <a:tcPr marL="101600" marR="101600" marT="38100" marB="38100" anchor="ctr">
                    <a:solidFill>
                      <a:srgbClr val="FFFFFF"/>
                    </a:solidFill>
                  </a:tcPr>
                </a:tc>
              </a:tr>
              <a:tr h="335280">
                <a:tc>
                  <a:txBody>
                    <a:bodyPr/>
                    <a:lstStyle/>
                    <a:p>
                      <a:r>
                        <a:rPr sz="1200" b="0" i="0">
                          <a:solidFill>
                            <a:srgbClr val="1A1440"/>
                          </a:solidFill>
                          <a:latin typeface="Calibri"/>
                        </a:rPr>
                        <a:t>37 days, 19 Jul to 24 Aug</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15.0</a:t>
                      </a:r>
                    </a:p>
                  </a:txBody>
                  <a:tcPr marL="101600" marR="101600" marT="38100" marB="38100" anchor="ctr">
                    <a:solidFill>
                      <a:srgbClr val="F4F2FA"/>
                    </a:solidFill>
                  </a:tcPr>
                </a:tc>
                <a:tc>
                  <a:txBody>
                    <a:bodyPr/>
                    <a:lstStyle/>
                    <a:p>
                      <a:r>
                        <a:rPr sz="1200" b="0" i="0">
                          <a:solidFill>
                            <a:srgbClr val="1A1440"/>
                          </a:solidFill>
                          <a:latin typeface="Calibri"/>
                        </a:rPr>
                        <a:t>8</a:t>
                      </a:r>
                    </a:p>
                  </a:txBody>
                  <a:tcPr marL="101600" marR="101600" marT="38100" marB="38100" anchor="ctr">
                    <a:solidFill>
                      <a:srgbClr val="F4F2FA"/>
                    </a:solidFill>
                  </a:tcPr>
                </a:tc>
                <a:tc>
                  <a:txBody>
                    <a:bodyPr/>
                    <a:lstStyle/>
                    <a:p>
                      <a:r>
                        <a:rPr sz="1200" b="0" i="0">
                          <a:solidFill>
                            <a:srgbClr val="1A1440"/>
                          </a:solidFill>
                          <a:latin typeface="Calibri"/>
                        </a:rPr>
                        <a:t>7.0</a:t>
                      </a:r>
                    </a:p>
                  </a:txBody>
                  <a:tcPr marL="101600" marR="101600" marT="38100" marB="38100" anchor="ctr">
                    <a:solidFill>
                      <a:srgbClr val="F4F2FA"/>
                    </a:solidFill>
                  </a:tcPr>
                </a:tc>
              </a:tr>
              <a:tr h="335280">
                <a:tc>
                  <a:txBody>
                    <a:bodyPr/>
                    <a:lstStyle/>
                    <a:p>
                      <a:r>
                        <a:rPr sz="1200" b="0" i="0">
                          <a:solidFill>
                            <a:srgbClr val="1A1440"/>
                          </a:solidFill>
                          <a:latin typeface="Calibri"/>
                        </a:rPr>
                        <a:t>The hurried memo</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25</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button cost 25 orders" became "at most about 4 on the tier's pace over the 55 days before the break, and 7.0 on the 37 days just before it". Either way the ceiling sits far below 25, so the call holds: the rest needs another cause, and the memo names the baseline it used.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Neither a season nor an app-only fault fits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Could a season that hit everyone, or an app-only fault, explain the fall instead?</a:t>
            </a:r>
          </a:p>
        </p:txBody>
      </p:sp>
      <p:pic>
        <p:nvPicPr>
          <p:cNvPr id="9" name="mermaid diagram" descr="1c13bac174197499.png"/>
          <p:cNvPicPr>
            <a:picLocks noChangeAspect="1"/>
          </p:cNvPicPr>
          <p:nvPr/>
        </p:nvPicPr>
        <p:blipFill>
          <a:blip r:embed="rId5"/>
          <a:stretch>
            <a:fillRect/>
          </a:stretch>
        </p:blipFill>
        <p:spPr>
          <a:xfrm>
            <a:off x="2845155" y="1664208"/>
            <a:ext cx="6501384"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What it says. </a:t>
            </a:r>
            <a:r>
              <a:rPr sz="1500" b="0" i="0">
                <a:solidFill>
                  <a:srgbClr val="1A1440"/>
                </a:solidFill>
                <a:latin typeface="Calibri"/>
              </a:rPr>
              <a:t>Retail-Core kept 95 percent of its Q1 orders and Retail-Plus 51, so an across-the-board season does not fit; every channel fell, so an app-only cause does not fit. A season that hit members harder still fits, and last year's Q2 by segment tests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Corrected by Retail-Core, the button gets about 3.5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pace corrected by Retail-Core's own change stay inside the ceiling?</a:t>
            </a:r>
          </a:p>
        </p:txBody>
      </p:sp>
      <p:pic>
        <p:nvPicPr>
          <p:cNvPr id="9" name="mermaid diagram" descr="a4d726929b682895.png"/>
          <p:cNvPicPr>
            <a:picLocks noChangeAspect="1"/>
          </p:cNvPicPr>
          <p:nvPr/>
        </p:nvPicPr>
        <p:blipFill>
          <a:blip r:embed="rId5"/>
          <a:stretch>
            <a:fillRect/>
          </a:stretch>
        </p:blipFill>
        <p:spPr>
          <a:xfrm>
            <a:off x="780897" y="1956816"/>
            <a:ext cx="10629900" cy="1857375"/>
          </a:xfrm>
          <a:prstGeom prst="rect">
            <a:avLst/>
          </a:prstGeom>
        </p:spPr>
      </p:pic>
      <p:sp>
        <p:nvSpPr>
          <p:cNvPr id="10" name="Rounded Rectangle 9"/>
          <p:cNvSpPr/>
          <p:nvPr/>
        </p:nvSpPr>
        <p:spPr>
          <a:xfrm>
            <a:off x="530352" y="3960495"/>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8851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79367"/>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Write the ceiling in the memo, since it assumes nothing about any other segment; bring the corrected route when someone argues for the season.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hypotheses, each with the data that settles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goes in Meera's memo, and what settles each hypothesis?</a:t>
            </a:r>
          </a:p>
        </p:txBody>
      </p:sp>
      <p:pic>
        <p:nvPicPr>
          <p:cNvPr id="9" name="mermaid diagram" descr="103ced1a8663a069.png"/>
          <p:cNvPicPr>
            <a:picLocks noChangeAspect="1"/>
          </p:cNvPicPr>
          <p:nvPr/>
        </p:nvPicPr>
        <p:blipFill>
          <a:blip r:embed="rId6"/>
          <a:stretch>
            <a:fillRect/>
          </a:stretch>
        </p:blipFill>
        <p:spPr>
          <a:xfrm>
            <a:off x="982979" y="1682496"/>
            <a:ext cx="3881071" cy="4517136"/>
          </a:xfrm>
          <a:prstGeom prst="rect">
            <a:avLst/>
          </a:prstGeom>
        </p:spPr>
      </p:pic>
      <p:sp>
        <p:nvSpPr>
          <p:cNvPr id="10" name="Rounded Rectangle 9"/>
          <p:cNvSpPr/>
          <p:nvPr/>
        </p:nvSpPr>
        <p:spPr>
          <a:xfrm>
            <a:off x="5761917" y="1956816"/>
            <a:ext cx="5899425" cy="189890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6776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78739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1459992"/>
          </a:xfrm>
          <a:prstGeom prst="rect">
            <a:avLst/>
          </a:prstGeom>
          <a:noFill/>
        </p:spPr>
        <p:txBody>
          <a:bodyPr wrap="square" anchor="t" lIns="0" rIns="0" tIns="0" bIns="0">
            <a:spAutoFit/>
          </a:bodyPr>
          <a:lstStyle/>
          <a:p>
            <a:r>
              <a:rPr sz="1500" b="0" i="0">
                <a:solidFill>
                  <a:srgbClr val="1A1440"/>
                </a:solidFill>
                <a:latin typeface="Calibri"/>
              </a:rPr>
              <a:t>What we know comes first and what we are guessing second, and each guess carries the data that would settle it. The rival, a monsoon dip that hit members harder, goes on the same request as last year's Q2 by segment.</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At most about 4 orders: the fall began in July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the button do it, and what did each question on the way answer?</a:t>
            </a:r>
          </a:p>
        </p:txBody>
      </p:sp>
      <p:graphicFrame>
        <p:nvGraphicFramePr>
          <p:cNvPr id="9" name="Table 8"/>
          <p:cNvGraphicFramePr>
            <a:graphicFrameLocks noGrp="1"/>
          </p:cNvGraphicFramePr>
          <p:nvPr/>
        </p:nvGraphicFramePr>
        <p:xfrm>
          <a:off x="530352" y="1682496"/>
          <a:ext cx="11130990" cy="2176272"/>
        </p:xfrm>
        <a:graphic>
          <a:graphicData uri="http://schemas.openxmlformats.org/drawingml/2006/table">
            <a:tbl>
              <a:tblPr firstRow="0" bandRow="0">
                <a:tableStyleId>{2D5ABB26-0587-4C30-8999-92F81FD0307C}</a:tableStyleId>
              </a:tblPr>
              <a:tblGrid>
                <a:gridCol w="4320700"/>
                <a:gridCol w="6810290"/>
              </a:tblGrid>
              <a:tr h="310896">
                <a:tc>
                  <a:txBody>
                    <a:bodyPr/>
                    <a:lstStyle/>
                    <a:p>
                      <a:r>
                        <a:rPr sz="950" b="1" i="0">
                          <a:solidFill>
                            <a:srgbClr val="FFFFFF"/>
                          </a:solidFill>
                          <a:latin typeface="Calibri"/>
                        </a:rPr>
                        <a:t>Question</a:t>
                      </a:r>
                    </a:p>
                  </a:txBody>
                  <a:tcPr marL="101600" marR="101600" marT="38100" marB="38100" anchor="ctr">
                    <a:solidFill>
                      <a:srgbClr val="1A0F5C"/>
                    </a:solidFill>
                  </a:tcPr>
                </a:tc>
                <a:tc>
                  <a:txBody>
                    <a:bodyPr/>
                    <a:lstStyle/>
                    <a:p>
                      <a:r>
                        <a:rPr sz="950" b="1" i="0">
                          <a:solidFill>
                            <a:srgbClr val="FFFFFF"/>
                          </a:solidFill>
                          <a:latin typeface="Calibri"/>
                        </a:rPr>
                        <a:t>Answer</a:t>
                      </a:r>
                    </a:p>
                  </a:txBody>
                  <a:tcPr marL="101600" marR="101600" marT="38100" marB="38100" anchor="ctr">
                    <a:solidFill>
                      <a:srgbClr val="1A0F5C"/>
                    </a:solidFill>
                  </a:tcPr>
                </a:tc>
              </a:tr>
              <a:tr h="310896">
                <a:tc>
                  <a:txBody>
                    <a:bodyPr/>
                    <a:lstStyle/>
                    <a:p>
                      <a:r>
                        <a:rPr sz="900" b="0" i="0">
                          <a:solidFill>
                            <a:srgbClr val="1A1440"/>
                          </a:solidFill>
                          <a:latin typeface="Calibri"/>
                        </a:rPr>
                        <a:t>1. Which tests, in what order?</a:t>
                      </a:r>
                    </a:p>
                  </a:txBody>
                  <a:tcPr marL="101600" marR="101600" marT="38100" marB="38100" anchor="ctr">
                    <a:solidFill>
                      <a:srgbClr val="FFFFFF"/>
                    </a:solidFill>
                  </a:tcPr>
                </a:tc>
                <a:tc>
                  <a:txBody>
                    <a:bodyPr/>
                    <a:lstStyle/>
                    <a:p>
                      <a:r>
                        <a:rPr sz="900" b="0" i="0">
                          <a:solidFill>
                            <a:srgbClr val="1A1440"/>
                          </a:solidFill>
                          <a:latin typeface="Calibri"/>
                        </a:rPr>
                        <a:t>Timing, a segment, the channel; the logs requested</a:t>
                      </a:r>
                    </a:p>
                  </a:txBody>
                  <a:tcPr marL="101600" marR="101600" marT="38100" marB="38100" anchor="ctr">
                    <a:solidFill>
                      <a:srgbClr val="FFFFFF"/>
                    </a:solidFill>
                  </a:tcPr>
                </a:tc>
              </a:tr>
              <a:tr h="310896">
                <a:tc>
                  <a:txBody>
                    <a:bodyPr/>
                    <a:lstStyle/>
                    <a:p>
                      <a:r>
                        <a:rPr sz="900" b="0" i="0">
                          <a:solidFill>
                            <a:srgbClr val="1A1440"/>
                          </a:solidFill>
                          <a:latin typeface="Calibri"/>
                        </a:rPr>
                        <a:t>2. When did orders drop?</a:t>
                      </a:r>
                    </a:p>
                  </a:txBody>
                  <a:tcPr marL="101600" marR="101600" marT="38100" marB="38100" anchor="ctr">
                    <a:solidFill>
                      <a:srgbClr val="F4F2FA"/>
                    </a:solidFill>
                  </a:tcPr>
                </a:tc>
                <a:tc>
                  <a:txBody>
                    <a:bodyPr/>
                    <a:lstStyle/>
                    <a:p>
                      <a:r>
                        <a:rPr sz="900" b="0" i="0">
                          <a:solidFill>
                            <a:srgbClr val="1A1440"/>
                          </a:solidFill>
                          <a:latin typeface="Calibri"/>
                        </a:rPr>
                        <a:t>July, weeks before the 25 August break</a:t>
                      </a:r>
                    </a:p>
                  </a:txBody>
                  <a:tcPr marL="101600" marR="101600" marT="38100" marB="38100" anchor="ctr">
                    <a:solidFill>
                      <a:srgbClr val="F4F2FA"/>
                    </a:solidFill>
                  </a:tcPr>
                </a:tc>
              </a:tr>
              <a:tr h="310896">
                <a:tc>
                  <a:txBody>
                    <a:bodyPr/>
                    <a:lstStyle/>
                    <a:p>
                      <a:r>
                        <a:rPr sz="900" b="0" i="0">
                          <a:solidFill>
                            <a:srgbClr val="1A1440"/>
                          </a:solidFill>
                          <a:latin typeface="Calibri"/>
                        </a:rPr>
                        <a:t>3. How many did it cost?</a:t>
                      </a:r>
                    </a:p>
                  </a:txBody>
                  <a:tcPr marL="101600" marR="101600" marT="38100" marB="38100" anchor="ctr">
                    <a:solidFill>
                      <a:srgbClr val="FFFFFF"/>
                    </a:solidFill>
                  </a:tcPr>
                </a:tc>
                <a:tc>
                  <a:txBody>
                    <a:bodyPr/>
                    <a:lstStyle/>
                    <a:p>
                      <a:r>
                        <a:rPr sz="900" b="0" i="0">
                          <a:solidFill>
                            <a:srgbClr val="1A1440"/>
                          </a:solidFill>
                          <a:latin typeface="Calibri"/>
                        </a:rPr>
                        <a:t>At most about 4 orders; 7.0 on the shorter baseline</a:t>
                      </a:r>
                    </a:p>
                  </a:txBody>
                  <a:tcPr marL="101600" marR="101600" marT="38100" marB="38100" anchor="ctr">
                    <a:solidFill>
                      <a:srgbClr val="FFFFFF"/>
                    </a:solidFill>
                  </a:tcPr>
                </a:tc>
              </a:tr>
              <a:tr h="310896">
                <a:tc>
                  <a:txBody>
                    <a:bodyPr/>
                    <a:lstStyle/>
                    <a:p>
                      <a:r>
                        <a:rPr sz="900" b="0" i="0">
                          <a:solidFill>
                            <a:srgbClr val="1A1440"/>
                          </a:solidFill>
                          <a:latin typeface="Calibri"/>
                        </a:rPr>
                        <a:t>4. Was it the season?</a:t>
                      </a:r>
                    </a:p>
                  </a:txBody>
                  <a:tcPr marL="101600" marR="101600" marT="38100" marB="38100" anchor="ctr">
                    <a:solidFill>
                      <a:srgbClr val="F4F2FA"/>
                    </a:solidFill>
                  </a:tcPr>
                </a:tc>
                <a:tc>
                  <a:txBody>
                    <a:bodyPr/>
                    <a:lstStyle/>
                    <a:p>
                      <a:r>
                        <a:rPr sz="900" b="0" i="0">
                          <a:solidFill>
                            <a:srgbClr val="1A1440"/>
                          </a:solidFill>
                          <a:latin typeface="Calibri"/>
                        </a:rPr>
                        <a:t>No: Retail-Core kept 95 percent of its orders</a:t>
                      </a:r>
                    </a:p>
                  </a:txBody>
                  <a:tcPr marL="101600" marR="101600" marT="38100" marB="38100" anchor="ctr">
                    <a:solidFill>
                      <a:srgbClr val="F4F2FA"/>
                    </a:solidFill>
                  </a:tcPr>
                </a:tc>
              </a:tr>
              <a:tr h="310896">
                <a:tc>
                  <a:txBody>
                    <a:bodyPr/>
                    <a:lstStyle/>
                    <a:p>
                      <a:r>
                        <a:rPr sz="900" b="0" i="0">
                          <a:solidFill>
                            <a:srgbClr val="1A1440"/>
                          </a:solidFill>
                          <a:latin typeface="Calibri"/>
                        </a:rPr>
                        <a:t>5. Only the app?</a:t>
                      </a:r>
                    </a:p>
                  </a:txBody>
                  <a:tcPr marL="101600" marR="101600" marT="38100" marB="38100" anchor="ctr">
                    <a:solidFill>
                      <a:srgbClr val="FFFFFF"/>
                    </a:solidFill>
                  </a:tcPr>
                </a:tc>
                <a:tc>
                  <a:txBody>
                    <a:bodyPr/>
                    <a:lstStyle/>
                    <a:p>
                      <a:r>
                        <a:rPr sz="900" b="0" i="0">
                          <a:solidFill>
                            <a:srgbClr val="1A1440"/>
                          </a:solidFill>
                          <a:latin typeface="Calibri"/>
                        </a:rPr>
                        <a:t>No: web, store and app all fell</a:t>
                      </a:r>
                    </a:p>
                  </a:txBody>
                  <a:tcPr marL="101600" marR="101600" marT="38100" marB="38100" anchor="ctr">
                    <a:solidFill>
                      <a:srgbClr val="FFFFFF"/>
                    </a:solidFill>
                  </a:tcPr>
                </a:tc>
              </a:tr>
              <a:tr h="310896">
                <a:tc>
                  <a:txBody>
                    <a:bodyPr/>
                    <a:lstStyle/>
                    <a:p>
                      <a:r>
                        <a:rPr sz="900" b="0" i="0">
                          <a:solidFill>
                            <a:srgbClr val="1A1440"/>
                          </a:solidFill>
                          <a:latin typeface="Calibri"/>
                        </a:rPr>
                        <a:t>6. Does a corrected pace agree?</a:t>
                      </a:r>
                    </a:p>
                  </a:txBody>
                  <a:tcPr marL="101600" marR="101600" marT="38100" marB="38100" anchor="ctr">
                    <a:solidFill>
                      <a:srgbClr val="F4F2FA"/>
                    </a:solidFill>
                  </a:tcPr>
                </a:tc>
                <a:tc>
                  <a:txBody>
                    <a:bodyPr/>
                    <a:lstStyle/>
                    <a:p>
                      <a:r>
                        <a:rPr sz="900" b="0" i="0">
                          <a:solidFill>
                            <a:srgbClr val="1A1440"/>
                          </a:solidFill>
                          <a:latin typeface="Calibri"/>
                        </a:rPr>
                        <a:t>Yes: about 3.5 orders, inside the ceiling</a:t>
                      </a:r>
                    </a:p>
                  </a:txBody>
                  <a:tcPr marL="101600" marR="101600" marT="38100" marB="38100" anchor="ctr">
                    <a:solidFill>
                      <a:srgbClr val="F4F2FA"/>
                    </a:solidFill>
                  </a:tcPr>
                </a:tc>
              </a:tr>
            </a:tbl>
          </a:graphicData>
        </a:graphic>
      </p:graphicFrame>
      <p:sp>
        <p:nvSpPr>
          <p:cNvPr id="10" name="Rounded Rectangle 9"/>
          <p:cNvSpPr/>
          <p:nvPr/>
        </p:nvSpPr>
        <p:spPr>
          <a:xfrm>
            <a:off x="530352" y="4114800"/>
            <a:ext cx="11130991" cy="9489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36067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470400"/>
            <a:ext cx="237744" cy="237744"/>
          </a:xfrm>
          <a:prstGeom prst="rect">
            <a:avLst/>
          </a:prstGeom>
        </p:spPr>
      </p:pic>
      <p:sp>
        <p:nvSpPr>
          <p:cNvPr id="13" name="TextBox 12"/>
          <p:cNvSpPr txBox="1"/>
          <p:nvPr/>
        </p:nvSpPr>
        <p:spPr>
          <a:xfrm>
            <a:off x="1399031" y="4261104"/>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480560"/>
            <a:ext cx="9987991" cy="510032"/>
          </a:xfrm>
          <a:prstGeom prst="rect">
            <a:avLst/>
          </a:prstGeom>
          <a:noFill/>
        </p:spPr>
        <p:txBody>
          <a:bodyPr wrap="square" anchor="t" lIns="0" rIns="0" tIns="0" bIns="0">
            <a:spAutoFit/>
          </a:bodyPr>
          <a:lstStyle/>
          <a:p>
            <a:r>
              <a:rPr sz="1000" b="0" i="0">
                <a:solidFill>
                  <a:srgbClr val="1A1440"/>
                </a:solidFill>
                <a:latin typeface="Calibri"/>
              </a:rPr>
              <a:t>"You gave the tier a number for his cause, a ceiling of about 4 orders, and named the data that would settle it. Say what you know, then what you are guessing, and stop."</a:t>
            </a:r>
          </a:p>
        </p:txBody>
      </p:sp>
      <p:sp>
        <p:nvSpPr>
          <p:cNvPr id="15" name="Rounded Rectangle 14"/>
          <p:cNvSpPr/>
          <p:nvPr/>
        </p:nvSpPr>
        <p:spPr>
          <a:xfrm>
            <a:off x="530352" y="5228336"/>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112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20944"/>
            <a:ext cx="237744" cy="237744"/>
          </a:xfrm>
          <a:prstGeom prst="rect">
            <a:avLst/>
          </a:prstGeom>
        </p:spPr>
      </p:pic>
      <p:sp>
        <p:nvSpPr>
          <p:cNvPr id="18" name="TextBox 17"/>
          <p:cNvSpPr txBox="1"/>
          <p:nvPr/>
        </p:nvSpPr>
        <p:spPr>
          <a:xfrm>
            <a:off x="1399031" y="537464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594096"/>
            <a:ext cx="9987991" cy="384048"/>
          </a:xfrm>
          <a:prstGeom prst="rect">
            <a:avLst/>
          </a:prstGeom>
          <a:noFill/>
        </p:spPr>
        <p:txBody>
          <a:bodyPr wrap="square" anchor="t" lIns="0" rIns="0" tIns="0" bIns="0">
            <a:spAutoFit/>
          </a:bodyPr>
          <a:lstStyle/>
          <a:p>
            <a:r>
              <a:rPr sz="1000" b="0" i="0">
                <a:solidFill>
                  <a:srgbClr val="1A1440"/>
                </a:solidFill>
                <a:latin typeface="Calibri"/>
              </a:rPr>
              <a:t>[D] A stakeholder hands you a cause; how do you test it with the data you have and name the data you need?</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Did the button do it?</a:t>
            </a:r>
          </a:p>
        </p:txBody>
      </p:sp>
      <p:sp>
        <p:nvSpPr>
          <p:cNvPr id="22" name="Oval 2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24" name="Oval 2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8" name="Oval 2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0" name="Oval 2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Does it survive delivery?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Does the story survive when revenue counts only the orders that reached customers and stayed?</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five parts, on delivered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Meera ask about delivered orders, and in what order do you answer it?</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"The board pack reports revenue on orders that reached the customer and stayed there. Does your story survive on delivered orders? Which branch, which segment, and what would you bet on?"</a:t>
            </a:r>
          </a:p>
        </p:txBody>
      </p:sp>
      <p:sp>
        <p:nvSpPr>
          <p:cNvPr id="14" name="Rectangle 13"/>
          <p:cNvSpPr/>
          <p:nvPr/>
        </p:nvSpPr>
        <p:spPr>
          <a:xfrm>
            <a:off x="1570299" y="3810000"/>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530352"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6" name="Oval 15"/>
          <p:cNvSpPr/>
          <p:nvPr/>
        </p:nvSpPr>
        <p:spPr>
          <a:xfrm>
            <a:off x="1469715"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94944"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Is the delivered drop real?</a:t>
            </a:r>
          </a:p>
        </p:txBody>
      </p:sp>
      <p:sp>
        <p:nvSpPr>
          <p:cNvPr id="19" name="TextBox 18"/>
          <p:cNvSpPr txBox="1"/>
          <p:nvPr/>
        </p:nvSpPr>
        <p:spPr>
          <a:xfrm>
            <a:off x="694944" y="4778756"/>
            <a:ext cx="1750710" cy="366776"/>
          </a:xfrm>
          <a:prstGeom prst="rect">
            <a:avLst/>
          </a:prstGeom>
          <a:noFill/>
        </p:spPr>
        <p:txBody>
          <a:bodyPr wrap="square" anchor="t" lIns="0" rIns="0" tIns="0" bIns="0">
            <a:spAutoFit/>
          </a:bodyPr>
          <a:lstStyle/>
          <a:p>
            <a:pPr algn="l"/>
            <a:r>
              <a:rPr sz="1000" b="0" i="0">
                <a:solidFill>
                  <a:srgbClr val="6B6690"/>
                </a:solidFill>
                <a:latin typeface="Calibri"/>
              </a:rPr>
              <a:t>Filter to delivered orders; compare closed quarters.</a:t>
            </a:r>
          </a:p>
        </p:txBody>
      </p:sp>
      <p:sp>
        <p:nvSpPr>
          <p:cNvPr id="20" name="TextBox 19"/>
          <p:cNvSpPr txBox="1"/>
          <p:nvPr/>
        </p:nvSpPr>
        <p:spPr>
          <a:xfrm>
            <a:off x="2793126"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21" name="Oval 20"/>
          <p:cNvSpPr/>
          <p:nvPr/>
        </p:nvSpPr>
        <p:spPr>
          <a:xfrm>
            <a:off x="3732489"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2793126"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957718"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branch moves?</a:t>
            </a:r>
          </a:p>
        </p:txBody>
      </p:sp>
      <p:sp>
        <p:nvSpPr>
          <p:cNvPr id="24" name="TextBox 23"/>
          <p:cNvSpPr txBox="1"/>
          <p:nvPr/>
        </p:nvSpPr>
        <p:spPr>
          <a:xfrm>
            <a:off x="2957718" y="4564126"/>
            <a:ext cx="1750710" cy="366776"/>
          </a:xfrm>
          <a:prstGeom prst="rect">
            <a:avLst/>
          </a:prstGeom>
          <a:noFill/>
        </p:spPr>
        <p:txBody>
          <a:bodyPr wrap="square" anchor="t" lIns="0" rIns="0" tIns="0" bIns="0">
            <a:spAutoFit/>
          </a:bodyPr>
          <a:lstStyle/>
          <a:p>
            <a:pPr algn="l"/>
            <a:r>
              <a:rPr sz="1000" b="0" i="0">
                <a:solidFill>
                  <a:srgbClr val="6B6690"/>
                </a:solidFill>
                <a:latin typeface="Calibri"/>
              </a:rPr>
              <a:t>A bridge in the tree's order, one leaf at a time.</a:t>
            </a:r>
          </a:p>
        </p:txBody>
      </p:sp>
      <p:sp>
        <p:nvSpPr>
          <p:cNvPr id="25" name="TextBox 24"/>
          <p:cNvSpPr txBox="1"/>
          <p:nvPr/>
        </p:nvSpPr>
        <p:spPr>
          <a:xfrm>
            <a:off x="5055900"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6" name="Oval 25"/>
          <p:cNvSpPr/>
          <p:nvPr/>
        </p:nvSpPr>
        <p:spPr>
          <a:xfrm>
            <a:off x="5995263"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055900"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220492" y="4276344"/>
            <a:ext cx="1750710" cy="465836"/>
          </a:xfrm>
          <a:prstGeom prst="rect">
            <a:avLst/>
          </a:prstGeom>
          <a:noFill/>
        </p:spPr>
        <p:txBody>
          <a:bodyPr wrap="square" anchor="t" lIns="0" rIns="0" tIns="0" bIns="0">
            <a:spAutoFit/>
          </a:bodyPr>
          <a:lstStyle/>
          <a:p>
            <a:pPr algn="l"/>
            <a:r>
              <a:rPr sz="1300" b="1" i="0">
                <a:solidFill>
                  <a:srgbClr val="1A0F5C"/>
                </a:solidFill>
                <a:latin typeface="Calibri"/>
              </a:rPr>
              <a:t>Are those lost customers?</a:t>
            </a:r>
          </a:p>
        </p:txBody>
      </p:sp>
      <p:sp>
        <p:nvSpPr>
          <p:cNvPr id="29" name="TextBox 28"/>
          <p:cNvSpPr txBox="1"/>
          <p:nvPr/>
        </p:nvSpPr>
        <p:spPr>
          <a:xfrm>
            <a:off x="5220492" y="4778756"/>
            <a:ext cx="1750710" cy="531876"/>
          </a:xfrm>
          <a:prstGeom prst="rect">
            <a:avLst/>
          </a:prstGeom>
          <a:noFill/>
        </p:spPr>
        <p:txBody>
          <a:bodyPr wrap="square" anchor="t" lIns="0" rIns="0" tIns="0" bIns="0">
            <a:spAutoFit/>
          </a:bodyPr>
          <a:lstStyle/>
          <a:p>
            <a:pPr algn="l"/>
            <a:r>
              <a:rPr sz="1000" b="0" i="0">
                <a:solidFill>
                  <a:srgbClr val="6B6690"/>
                </a:solidFill>
                <a:latin typeface="Calibri"/>
              </a:rPr>
              <a:t>Find out what the customers who left the count did in Q2.</a:t>
            </a:r>
          </a:p>
        </p:txBody>
      </p:sp>
      <p:sp>
        <p:nvSpPr>
          <p:cNvPr id="30" name="TextBox 29"/>
          <p:cNvSpPr txBox="1"/>
          <p:nvPr/>
        </p:nvSpPr>
        <p:spPr>
          <a:xfrm>
            <a:off x="7318674"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31" name="Oval 30"/>
          <p:cNvSpPr/>
          <p:nvPr/>
        </p:nvSpPr>
        <p:spPr>
          <a:xfrm>
            <a:off x="8258037" y="371856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7318674" y="4130040"/>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483266" y="4276344"/>
            <a:ext cx="1750710" cy="251205"/>
          </a:xfrm>
          <a:prstGeom prst="rect">
            <a:avLst/>
          </a:prstGeom>
          <a:noFill/>
        </p:spPr>
        <p:txBody>
          <a:bodyPr wrap="square" anchor="t" lIns="0" rIns="0" tIns="0" bIns="0">
            <a:spAutoFit/>
          </a:bodyPr>
          <a:lstStyle/>
          <a:p>
            <a:pPr algn="l"/>
            <a:r>
              <a:rPr sz="1300" b="1" i="0">
                <a:solidFill>
                  <a:srgbClr val="1A0F5C"/>
                </a:solidFill>
                <a:latin typeface="Calibri"/>
              </a:rPr>
              <a:t>Which segment moves?</a:t>
            </a:r>
          </a:p>
        </p:txBody>
      </p:sp>
      <p:sp>
        <p:nvSpPr>
          <p:cNvPr id="34" name="TextBox 33"/>
          <p:cNvSpPr txBox="1"/>
          <p:nvPr/>
        </p:nvSpPr>
        <p:spPr>
          <a:xfrm>
            <a:off x="7483266" y="4564126"/>
            <a:ext cx="1750710" cy="531876"/>
          </a:xfrm>
          <a:prstGeom prst="rect">
            <a:avLst/>
          </a:prstGeom>
          <a:noFill/>
        </p:spPr>
        <p:txBody>
          <a:bodyPr wrap="square" anchor="t" lIns="0" rIns="0" tIns="0" bIns="0">
            <a:spAutoFit/>
          </a:bodyPr>
          <a:lstStyle/>
          <a:p>
            <a:pPr algn="l"/>
            <a:r>
              <a:rPr sz="1000" b="0" i="0">
                <a:solidFill>
                  <a:srgbClr val="6B6690"/>
                </a:solidFill>
                <a:latin typeface="Calibri"/>
              </a:rPr>
              <a:t>tree_for per segment, the rate rolled up, every group counted.</a:t>
            </a:r>
          </a:p>
        </p:txBody>
      </p:sp>
      <p:sp>
        <p:nvSpPr>
          <p:cNvPr id="35" name="TextBox 34"/>
          <p:cNvSpPr txBox="1"/>
          <p:nvPr/>
        </p:nvSpPr>
        <p:spPr>
          <a:xfrm>
            <a:off x="9581448" y="3243072"/>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6" name="Oval 35"/>
          <p:cNvSpPr/>
          <p:nvPr/>
        </p:nvSpPr>
        <p:spPr>
          <a:xfrm>
            <a:off x="10520812" y="371856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581448" y="4130040"/>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9746040" y="4276344"/>
            <a:ext cx="1750710" cy="251205"/>
          </a:xfrm>
          <a:prstGeom prst="rect">
            <a:avLst/>
          </a:prstGeom>
          <a:noFill/>
        </p:spPr>
        <p:txBody>
          <a:bodyPr wrap="square" anchor="t" lIns="0" rIns="0" tIns="0" bIns="0">
            <a:spAutoFit/>
          </a:bodyPr>
          <a:lstStyle/>
          <a:p>
            <a:pPr algn="l"/>
            <a:r>
              <a:rPr sz="1300" b="1" i="0">
                <a:solidFill>
                  <a:srgbClr val="FFFFFF"/>
                </a:solidFill>
                <a:latin typeface="Calibri"/>
              </a:rPr>
              <a:t>Mix or rate?</a:t>
            </a:r>
          </a:p>
        </p:txBody>
      </p:sp>
      <p:sp>
        <p:nvSpPr>
          <p:cNvPr id="39" name="TextBox 38"/>
          <p:cNvSpPr txBox="1"/>
          <p:nvPr/>
        </p:nvSpPr>
        <p:spPr>
          <a:xfrm>
            <a:off x="9746040" y="4564126"/>
            <a:ext cx="1750710" cy="366776"/>
          </a:xfrm>
          <a:prstGeom prst="rect">
            <a:avLst/>
          </a:prstGeom>
          <a:noFill/>
        </p:spPr>
        <p:txBody>
          <a:bodyPr wrap="square" anchor="t" lIns="0" rIns="0" tIns="0" bIns="0">
            <a:spAutoFit/>
          </a:bodyPr>
          <a:lstStyle/>
          <a:p>
            <a:pPr algn="l"/>
            <a:r>
              <a:rPr sz="1000" b="0" i="0">
                <a:solidFill>
                  <a:srgbClr val="CFC9EE"/>
                </a:solidFill>
                <a:latin typeface="Calibri"/>
              </a:rPr>
              <a:t>The split, and the sentence to Meera.</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42" name="Oval 41"/>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44" name="Oval 4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48" name="Oval 47"/>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50" name="Oval 4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lettered choices, each checked, one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you hand in, and how do you know each choice holds?</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PARTS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item each in the brief</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LETTERED TODOS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each with a check that says if it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SENTENCE TO MEERA</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branch, segment, hypotheses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Every number carries its definition: say "delivered" beside each one, and "booked" beside anything from this morning.</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we go wrong?</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wrong answers did the room reach on delivered orders, and which check catches each?</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wrong answers, four morning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answers do most rooms reach on delivered orders, and what catches each?</a:t>
            </a:r>
          </a:p>
        </p:txBody>
      </p:sp>
      <p:pic>
        <p:nvPicPr>
          <p:cNvPr id="9" name="mermaid diagram" descr="988852f7771066ef.png"/>
          <p:cNvPicPr>
            <a:picLocks noChangeAspect="1"/>
          </p:cNvPicPr>
          <p:nvPr/>
        </p:nvPicPr>
        <p:blipFill>
          <a:blip r:embed="rId6"/>
          <a:stretch>
            <a:fillRect/>
          </a:stretch>
        </p:blipFill>
        <p:spPr>
          <a:xfrm>
            <a:off x="1243588" y="1682496"/>
            <a:ext cx="3359853" cy="4517136"/>
          </a:xfrm>
          <a:prstGeom prst="rect">
            <a:avLst/>
          </a:prstGeom>
        </p:spPr>
      </p:pic>
      <p:sp>
        <p:nvSpPr>
          <p:cNvPr id="10" name="Rounded Rectangle 9"/>
          <p:cNvSpPr/>
          <p:nvPr/>
        </p:nvSpPr>
        <p:spPr>
          <a:xfrm>
            <a:off x="5761917" y="1956816"/>
            <a:ext cx="5899425"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39877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682752"/>
          </a:xfrm>
          <a:prstGeom prst="rect">
            <a:avLst/>
          </a:prstGeom>
          <a:noFill/>
        </p:spPr>
        <p:txBody>
          <a:bodyPr wrap="square" anchor="t" lIns="0" rIns="0" tIns="0" bIns="0">
            <a:spAutoFit/>
          </a:bodyPr>
          <a:lstStyle/>
          <a:p>
            <a:r>
              <a:rPr sz="1500" b="0" i="0">
                <a:solidFill>
                  <a:srgbClr val="1A1440"/>
                </a:solidFill>
                <a:latin typeface="Calibri"/>
              </a:rPr>
              <a:t>Each wrong answer is a morning trap in a new place, and the morning's check catches it.</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1: customers fell, Marketing wins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delivered customers really fall from 54 to 50?</a:t>
            </a:r>
          </a:p>
        </p:txBody>
      </p:sp>
      <p:pic>
        <p:nvPicPr>
          <p:cNvPr id="9" name="mermaid diagram" descr="c53971bbbe6166de.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booked overlap is 69, 0 and 0. The branch that moved is cancellations and returns, to be split by reason, and acquisition still has nothing to replace.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2: delivered frequency fell 9.2%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delivered orders per customer fall, weighted by customers?</a:t>
            </a:r>
          </a:p>
        </p:txBody>
      </p:sp>
      <p:pic>
        <p:nvPicPr>
          <p:cNvPr id="9" name="mermaid diagram" descr="4a03608887a649cb.png"/>
          <p:cNvPicPr>
            <a:picLocks noChangeAspect="1"/>
          </p:cNvPicPr>
          <p:nvPr/>
        </p:nvPicPr>
        <p:blipFill>
          <a:blip r:embed="rId5"/>
          <a:stretch>
            <a:fillRect/>
          </a:stretch>
        </p:blipFill>
        <p:spPr>
          <a:xfrm>
            <a:off x="2578455" y="1664208"/>
            <a:ext cx="7034784"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roll-up must reproduce 81 orders over 54 customers and 57 over 50: 1.50 and 1.14, minus 24.0 percent, where the average of four segment rates says minus 9.2.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3: mix is 44%, so prices rose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smaller mix share on delivered orders mean prices rose?</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1389019"/>
                <a:gridCol w="2724137"/>
                <a:gridCol w="1277760"/>
                <a:gridCol w="5740073"/>
              </a:tblGrid>
              <a:tr h="335280">
                <a:tc>
                  <a:txBody>
                    <a:bodyPr/>
                    <a:lstStyle/>
                    <a:p>
                      <a:r>
                        <a:rPr sz="1250" b="1" i="0">
                          <a:solidFill>
                            <a:srgbClr val="FFFFFF"/>
                          </a:solidFill>
                          <a:latin typeface="Calibri"/>
                        </a:rPr>
                        <a:t>Definition</a:t>
                      </a:r>
                    </a:p>
                  </a:txBody>
                  <a:tcPr marL="101600" marR="101600" marT="38100" marB="38100" anchor="ctr">
                    <a:solidFill>
                      <a:srgbClr val="1A0F5C"/>
                    </a:solidFill>
                  </a:tcPr>
                </a:tc>
                <a:tc>
                  <a:txBody>
                    <a:bodyPr/>
                    <a:lstStyle/>
                    <a:p>
                      <a:r>
                        <a:rPr sz="1250" b="1" i="0">
                          <a:solidFill>
                            <a:srgbClr val="FFFFFF"/>
                          </a:solidFill>
                          <a:latin typeface="Calibri"/>
                        </a:rPr>
                        <a:t>Revenue per order rise</a:t>
                      </a:r>
                    </a:p>
                  </a:txBody>
                  <a:tcPr marL="101600" marR="101600" marT="38100" marB="38100" anchor="ctr">
                    <a:solidFill>
                      <a:srgbClr val="1A0F5C"/>
                    </a:solidFill>
                  </a:tcPr>
                </a:tc>
                <a:tc>
                  <a:txBody>
                    <a:bodyPr/>
                    <a:lstStyle/>
                    <a:p>
                      <a:r>
                        <a:rPr sz="1250" b="1" i="0">
                          <a:solidFill>
                            <a:srgbClr val="FFFFFF"/>
                          </a:solidFill>
                          <a:latin typeface="Calibri"/>
                        </a:rPr>
                        <a:t>Mix share</a:t>
                      </a:r>
                    </a:p>
                  </a:txBody>
                  <a:tcPr marL="101600" marR="101600" marT="38100" marB="38100" anchor="ctr">
                    <a:solidFill>
                      <a:srgbClr val="1A0F5C"/>
                    </a:solidFill>
                  </a:tcPr>
                </a:tc>
                <a:tc>
                  <a:txBody>
                    <a:bodyPr/>
                    <a:lstStyle/>
                    <a:p>
                      <a:r>
                        <a:rPr sz="1250" b="1" i="0">
                          <a:solidFill>
                            <a:srgbClr val="FFFFFF"/>
                          </a:solidFill>
                          <a:latin typeface="Calibri"/>
                        </a:rPr>
                        <a:t>Rate carried by</a:t>
                      </a:r>
                    </a:p>
                  </a:txBody>
                  <a:tcPr marL="101600" marR="101600" marT="38100" marB="38100" anchor="ctr">
                    <a:solidFill>
                      <a:srgbClr val="1A0F5C"/>
                    </a:solidFill>
                  </a:tcPr>
                </a:tc>
              </a:tr>
              <a:tr h="335280">
                <a:tc>
                  <a:txBody>
                    <a:bodyPr/>
                    <a:lstStyle/>
                    <a:p>
                      <a:r>
                        <a:rPr sz="1200" b="0" i="0">
                          <a:solidFill>
                            <a:srgbClr val="1A1440"/>
                          </a:solidFill>
                          <a:latin typeface="Calibri"/>
                        </a:rPr>
                        <a:t>Booked</a:t>
                      </a:r>
                    </a:p>
                  </a:txBody>
                  <a:tcPr marL="101600" marR="101600" marT="38100" marB="38100" anchor="ctr">
                    <a:solidFill>
                      <a:srgbClr val="FFFFFF"/>
                    </a:solidFill>
                  </a:tcPr>
                </a:tc>
                <a:tc>
                  <a:txBody>
                    <a:bodyPr/>
                    <a:lstStyle/>
                    <a:p>
                      <a:r>
                        <a:rPr sz="1200" b="0" i="0">
                          <a:solidFill>
                            <a:srgbClr val="1A1440"/>
                          </a:solidFill>
                          <a:latin typeface="Calibri"/>
                        </a:rPr>
                        <a:t>+18.0%</a:t>
                      </a:r>
                    </a:p>
                  </a:txBody>
                  <a:tcPr marL="101600" marR="101600" marT="38100" marB="38100" anchor="ctr">
                    <a:solidFill>
                      <a:srgbClr val="FFFFFF"/>
                    </a:solidFill>
                  </a:tcPr>
                </a:tc>
                <a:tc>
                  <a:txBody>
                    <a:bodyPr/>
                    <a:lstStyle/>
                    <a:p>
                      <a:r>
                        <a:rPr sz="1200" b="0" i="0">
                          <a:solidFill>
                            <a:srgbClr val="1A1440"/>
                          </a:solidFill>
                          <a:latin typeface="Calibri"/>
                        </a:rPr>
                        <a:t>69%</a:t>
                      </a:r>
                    </a:p>
                  </a:txBody>
                  <a:tcPr marL="101600" marR="101600" marT="38100" marB="38100" anchor="ctr">
                    <a:solidFill>
                      <a:srgbClr val="FFFFFF"/>
                    </a:solidFill>
                  </a:tcPr>
                </a:tc>
                <a:tc>
                  <a:txBody>
                    <a:bodyPr/>
                    <a:lstStyle/>
                    <a:p>
                      <a:r>
                        <a:rPr sz="1200" b="0" i="0">
                          <a:solidFill>
                            <a:srgbClr val="1A1440"/>
                          </a:solidFill>
                          <a:latin typeface="Calibri"/>
                        </a:rPr>
                        <a:t>Business, one large order</a:t>
                      </a:r>
                    </a:p>
                  </a:txBody>
                  <a:tcPr marL="101600" marR="101600" marT="38100" marB="38100" anchor="ctr">
                    <a:solidFill>
                      <a:srgbClr val="FFFFFF"/>
                    </a:solidFill>
                  </a:tcPr>
                </a:tc>
              </a:tr>
              <a:tr h="335280">
                <a:tc>
                  <a:txBody>
                    <a:bodyPr/>
                    <a:lstStyle/>
                    <a:p>
                      <a:r>
                        <a:rPr sz="1200" b="0" i="0">
                          <a:solidFill>
                            <a:srgbClr val="1A1440"/>
                          </a:solidFill>
                          <a:latin typeface="Calibri"/>
                        </a:rPr>
                        <a:t>Delivered</a:t>
                      </a:r>
                    </a:p>
                  </a:txBody>
                  <a:tcPr marL="101600" marR="101600" marT="38100" marB="38100" anchor="ctr">
                    <a:solidFill>
                      <a:srgbClr val="F4F2FA"/>
                    </a:solidFill>
                  </a:tcPr>
                </a:tc>
                <a:tc>
                  <a:txBody>
                    <a:bodyPr/>
                    <a:lstStyle/>
                    <a:p>
                      <a:r>
                        <a:rPr sz="1200" b="0" i="0">
                          <a:solidFill>
                            <a:srgbClr val="1A1440"/>
                          </a:solidFill>
                          <a:latin typeface="Calibri"/>
                        </a:rPr>
                        <a:t>+26.0%</a:t>
                      </a:r>
                    </a:p>
                  </a:txBody>
                  <a:tcPr marL="101600" marR="101600" marT="38100" marB="38100" anchor="ctr">
                    <a:solidFill>
                      <a:srgbClr val="F4F2FA"/>
                    </a:solidFill>
                  </a:tcPr>
                </a:tc>
                <a:tc>
                  <a:txBody>
                    <a:bodyPr/>
                    <a:lstStyle/>
                    <a:p>
                      <a:r>
                        <a:rPr sz="1200" b="0" i="0">
                          <a:solidFill>
                            <a:srgbClr val="1A1440"/>
                          </a:solidFill>
                          <a:latin typeface="Calibri"/>
                        </a:rPr>
                        <a:t>44%</a:t>
                      </a:r>
                    </a:p>
                  </a:txBody>
                  <a:tcPr marL="101600" marR="101600" marT="38100" marB="38100" anchor="ctr">
                    <a:solidFill>
                      <a:srgbClr val="F4F2FA"/>
                    </a:solidFill>
                  </a:tcPr>
                </a:tc>
                <a:tc>
                  <a:txBody>
                    <a:bodyPr/>
                    <a:lstStyle/>
                    <a:p>
                      <a:r>
                        <a:rPr sz="1200" b="0" i="0">
                          <a:solidFill>
                            <a:srgbClr val="1A1440"/>
                          </a:solidFill>
                          <a:latin typeface="Calibri"/>
                        </a:rPr>
                        <a:t>Business, delivered orders Rs 10,24,651 to Rs 11,60,405</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rate part is Business's lakh-sized orders; the consumer segments' own delivered order values moved by about a hundred rupees at most, so there is still no consumer price signal.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Wrong answer 4: a sentence with no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"revenue fell 11 percent" leave out?</a:t>
            </a:r>
          </a:p>
        </p:txBody>
      </p:sp>
      <p:pic>
        <p:nvPicPr>
          <p:cNvPr id="9" name="mermaid diagram" descr="42df9b6a0735c156.png"/>
          <p:cNvPicPr>
            <a:picLocks noChangeAspect="1"/>
          </p:cNvPicPr>
          <p:nvPr/>
        </p:nvPicPr>
        <p:blipFill>
          <a:blip r:embed="rId6"/>
          <a:stretch>
            <a:fillRect/>
          </a:stretch>
        </p:blipFill>
        <p:spPr>
          <a:xfrm>
            <a:off x="3607649" y="1664208"/>
            <a:ext cx="4976396"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"On delivered orders the story held: frequency, Retail-Plus at minus 42.6 percent per member, and the same two hypotheses. The branch that moved was fulfilment, getting orders to customers intact. Put the definition beside every number, and the solution is open now."</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9" name="Oval 18"/>
          <p:cNvSpPr/>
          <p:nvPr/>
        </p:nvSpPr>
        <p:spPr>
          <a:xfrm>
            <a:off x="359759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0732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Where did we go wrong?</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3" name="Oval 22"/>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5" name="Oval 24"/>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Is the tier healthy?</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Marketing's new deck says members spend 7 percent more per order and the web fell hardest: does either claim hold, and whom does the tier call first?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in pairs: two claims and a call list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Marketing and the tier each claim, from the same file?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gaphone_df6318bcf2f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1</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7 percent more per order</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"Members spend more each time, so the tier is healthy."</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globe_fca372603d1d.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CLAIM 2</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Web fell hardest</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"Retail-Plus web orders fell 24 to 9, so it is the website team's problem."</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hone_74e7f1db6e6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TIER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Who do I call first?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"Which of my members do I call first?"</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checks_bd88901d2a37.png"/>
          <p:cNvPicPr>
            <a:picLocks noChangeAspect="1"/>
          </p:cNvPicPr>
          <p:nvPr/>
        </p:nvPicPr>
        <p:blipFill>
          <a:blip r:embed="rId7"/>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Find what each number is made of before you agree or disagree.</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34" name="Oval 3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6" name="Oval 3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8" name="Oval 37"/>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40" name="Oval 3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42" name="Oval 41"/>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44" name="TextBox 4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Tier revenue fell about 45 percent: call 7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claim come to, and whom does the tier call first?</a:t>
            </a:r>
          </a:p>
        </p:txBody>
      </p:sp>
      <p:graphicFrame>
        <p:nvGraphicFramePr>
          <p:cNvPr id="9" name="Table 8"/>
          <p:cNvGraphicFramePr>
            <a:graphicFrameLocks noGrp="1"/>
          </p:cNvGraphicFramePr>
          <p:nvPr/>
        </p:nvGraphicFramePr>
        <p:xfrm>
          <a:off x="530352" y="1956816"/>
          <a:ext cx="11130990" cy="1962912"/>
        </p:xfrm>
        <a:graphic>
          <a:graphicData uri="http://schemas.openxmlformats.org/drawingml/2006/table">
            <a:tbl>
              <a:tblPr firstRow="0" bandRow="0">
                <a:tableStyleId>{2D5ABB26-0587-4C30-8999-92F81FD0307C}</a:tableStyleId>
              </a:tblPr>
              <a:tblGrid>
                <a:gridCol w="1993038"/>
                <a:gridCol w="4568976"/>
                <a:gridCol w="4568976"/>
              </a:tblGrid>
              <a:tr h="369824">
                <a:tc>
                  <a:txBody>
                    <a:bodyPr/>
                    <a:lstStyle/>
                    <a:p>
                      <a:r>
                        <a:rPr sz="1450" b="1" i="0">
                          <a:solidFill>
                            <a:srgbClr val="FFFFFF"/>
                          </a:solidFill>
                          <a:latin typeface="Calibri"/>
                        </a:rPr>
                        <a:t>Claim</a:t>
                      </a:r>
                    </a:p>
                  </a:txBody>
                  <a:tcPr marL="101600" marR="101600" marT="38100" marB="38100" anchor="ctr">
                    <a:solidFill>
                      <a:srgbClr val="1A0F5C"/>
                    </a:solidFill>
                  </a:tcPr>
                </a:tc>
                <a:tc>
                  <a:txBody>
                    <a:bodyPr/>
                    <a:lstStyle/>
                    <a:p>
                      <a:r>
                        <a:rPr sz="1450" b="1" i="0">
                          <a:solidFill>
                            <a:srgbClr val="FFFFFF"/>
                          </a:solidFill>
                          <a:latin typeface="Calibri"/>
                        </a:rPr>
                        <a:t>What it is made of</a:t>
                      </a:r>
                    </a:p>
                  </a:txBody>
                  <a:tcPr marL="101600" marR="101600" marT="38100" marB="38100" anchor="ctr">
                    <a:solidFill>
                      <a:srgbClr val="1A0F5C"/>
                    </a:solidFill>
                  </a:tcPr>
                </a:tc>
                <a:tc>
                  <a:txBody>
                    <a:bodyPr/>
                    <a:lstStyle/>
                    <a:p>
                      <a:r>
                        <a:rPr sz="1450" b="1" i="0">
                          <a:solidFill>
                            <a:srgbClr val="FFFFFF"/>
                          </a:solidFill>
                          <a:latin typeface="Calibri"/>
                        </a:rPr>
                        <a:t>The reply</a:t>
                      </a:r>
                    </a:p>
                  </a:txBody>
                  <a:tcPr marL="101600" marR="101600" marT="38100" marB="38100" anchor="ctr">
                    <a:solidFill>
                      <a:srgbClr val="1A0F5C"/>
                    </a:solidFill>
                  </a:tcPr>
                </a:tc>
              </a:tr>
              <a:tr h="611632">
                <a:tc>
                  <a:txBody>
                    <a:bodyPr/>
                    <a:lstStyle/>
                    <a:p>
                      <a:r>
                        <a:rPr sz="1400" b="0" i="0">
                          <a:solidFill>
                            <a:srgbClr val="1A1440"/>
                          </a:solidFill>
                          <a:latin typeface="Calibri"/>
                        </a:rPr>
                        <a:t>7 percent more per order</a:t>
                      </a:r>
                    </a:p>
                  </a:txBody>
                  <a:tcPr marL="101600" marR="101600" marT="38100" marB="38100" anchor="ctr">
                    <a:solidFill>
                      <a:srgbClr val="FFFFFF"/>
                    </a:solidFill>
                  </a:tcPr>
                </a:tc>
                <a:tc>
                  <a:txBody>
                    <a:bodyPr/>
                    <a:lstStyle/>
                    <a:p>
                      <a:r>
                        <a:rPr sz="1400" b="0" i="0">
                          <a:solidFill>
                            <a:srgbClr val="1A1440"/>
                          </a:solidFill>
                          <a:latin typeface="Calibri"/>
                        </a:rPr>
                        <a:t>The same 22 members at about half the orders: 1.000 x 0.510 x 1.070, about 0.55</a:t>
                      </a:r>
                    </a:p>
                  </a:txBody>
                  <a:tcPr marL="101600" marR="101600" marT="38100" marB="38100" anchor="ctr">
                    <a:solidFill>
                      <a:srgbClr val="FFFFFF"/>
                    </a:solidFill>
                  </a:tcPr>
                </a:tc>
                <a:tc>
                  <a:txBody>
                    <a:bodyPr/>
                    <a:lstStyle/>
                    <a:p>
                      <a:r>
                        <a:rPr sz="1400" b="0" i="0">
                          <a:solidFill>
                            <a:srgbClr val="1A1440"/>
                          </a:solidFill>
                          <a:latin typeface="Calibri"/>
                        </a:rPr>
                        <a:t>Tier revenue fell about 45 percent; one leaf that rose is not the tier</a:t>
                      </a:r>
                    </a:p>
                  </a:txBody>
                  <a:tcPr marL="101600" marR="101600" marT="38100" marB="38100" anchor="ctr">
                    <a:solidFill>
                      <a:srgbClr val="FFFFFF"/>
                    </a:solidFill>
                  </a:tcPr>
                </a:tc>
              </a:tr>
              <a:tr h="611632">
                <a:tc>
                  <a:txBody>
                    <a:bodyPr/>
                    <a:lstStyle/>
                    <a:p>
                      <a:r>
                        <a:rPr sz="1400" b="0" i="0">
                          <a:solidFill>
                            <a:srgbClr val="1A1440"/>
                          </a:solidFill>
                          <a:latin typeface="Calibri"/>
                        </a:rPr>
                        <a:t>Web fell hardest</a:t>
                      </a:r>
                    </a:p>
                  </a:txBody>
                  <a:tcPr marL="101600" marR="101600" marT="38100" marB="38100" anchor="ctr">
                    <a:solidFill>
                      <a:srgbClr val="F4F2FA"/>
                    </a:solidFill>
                  </a:tcPr>
                </a:tc>
                <a:tc>
                  <a:txBody>
                    <a:bodyPr/>
                    <a:lstStyle/>
                    <a:p>
                      <a:r>
                        <a:rPr sz="1400" b="0" i="0">
                          <a:solidFill>
                            <a:srgbClr val="1A1440"/>
                          </a:solidFill>
                          <a:latin typeface="Calibri"/>
                        </a:rPr>
                        <a:t>Retail-Core web held, 13 to 12, same website</a:t>
                      </a:r>
                    </a:p>
                  </a:txBody>
                  <a:tcPr marL="101600" marR="101600" marT="38100" marB="38100" anchor="ctr">
                    <a:solidFill>
                      <a:srgbClr val="F4F2FA"/>
                    </a:solidFill>
                  </a:tcPr>
                </a:tc>
                <a:tc>
                  <a:txBody>
                    <a:bodyPr/>
                    <a:lstStyle/>
                    <a:p>
                      <a:r>
                        <a:rPr sz="1400" b="0" i="0">
                          <a:solidFill>
                            <a:srgbClr val="1A1440"/>
                          </a:solidFill>
                          <a:latin typeface="Calibri"/>
                        </a:rPr>
                        <a:t>A site-wide fault does not fit; members fell on every channel</a:t>
                      </a:r>
                    </a:p>
                  </a:txBody>
                  <a:tcPr marL="101600" marR="101600" marT="38100" marB="38100" anchor="ctr">
                    <a:solidFill>
                      <a:srgbClr val="F4F2FA"/>
                    </a:solidFill>
                  </a:tcPr>
                </a:tc>
              </a:tr>
              <a:tr h="369824">
                <a:tc>
                  <a:txBody>
                    <a:bodyPr/>
                    <a:lstStyle/>
                    <a:p>
                      <a:r>
                        <a:rPr sz="1400" b="0" i="0">
                          <a:solidFill>
                            <a:srgbClr val="1A1440"/>
                          </a:solidFill>
                          <a:latin typeface="Calibri"/>
                        </a:rPr>
                        <a:t>Who to call first</a:t>
                      </a:r>
                    </a:p>
                  </a:txBody>
                  <a:tcPr marL="101600" marR="101600" marT="38100" marB="38100" anchor="ctr">
                    <a:solidFill>
                      <a:srgbClr val="FFFFFF"/>
                    </a:solidFill>
                  </a:tcPr>
                </a:tc>
                <a:tc>
                  <a:txBody>
                    <a:bodyPr/>
                    <a:lstStyle/>
                    <a:p>
                      <a:r>
                        <a:rPr sz="1400" b="0" i="0">
                          <a:solidFill>
                            <a:srgbClr val="1A1440"/>
                          </a:solidFill>
                          <a:latin typeface="Calibri"/>
                        </a:rPr>
                        <a:t>7 members went from 3 orders to 1</a:t>
                      </a:r>
                    </a:p>
                  </a:txBody>
                  <a:tcPr marL="101600" marR="101600" marT="38100" marB="38100" anchor="ctr">
                    <a:solidFill>
                      <a:srgbClr val="FFFFFF"/>
                    </a:solidFill>
                  </a:tcPr>
                </a:tc>
                <a:tc>
                  <a:txBody>
                    <a:bodyPr/>
                    <a:lstStyle/>
                    <a:p>
                      <a:r>
                        <a:rPr sz="1400" b="0" i="0">
                          <a:solidFill>
                            <a:srgbClr val="1A1440"/>
                          </a:solidFill>
                          <a:latin typeface="Calibri"/>
                        </a:rPr>
                        <a:t>Call the 7, then the 11 who fell by one</a:t>
                      </a:r>
                    </a:p>
                  </a:txBody>
                  <a:tcPr marL="101600" marR="101600" marT="38100" marB="38100" anchor="ctr">
                    <a:solidFill>
                      <a:srgbClr val="FFFFFF"/>
                    </a:solidFill>
                  </a:tcPr>
                </a:tc>
              </a:tr>
            </a:tbl>
          </a:graphicData>
        </a:graphic>
      </p:graphicFrame>
      <p:sp>
        <p:nvSpPr>
          <p:cNvPr id="10" name="Rounded Rectangle 9"/>
          <p:cNvSpPr/>
          <p:nvPr/>
        </p:nvSpPr>
        <p:spPr>
          <a:xfrm>
            <a:off x="530352" y="41757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037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94632"/>
            <a:ext cx="10564063" cy="624840"/>
          </a:xfrm>
          <a:prstGeom prst="rect">
            <a:avLst/>
          </a:prstGeom>
          <a:noFill/>
        </p:spPr>
        <p:txBody>
          <a:bodyPr wrap="square" anchor="ctr" lIns="0" rIns="0" tIns="0" bIns="0">
            <a:spAutoFit/>
          </a:bodyPr>
          <a:lstStyle/>
          <a:p>
            <a:r>
              <a:rPr sz="1500" b="1">
                <a:solidFill>
                  <a:srgbClr val="5B3FD6"/>
                </a:solidFill>
                <a:latin typeface="Calibri"/>
              </a:rPr>
              <a:t>The one request. </a:t>
            </a:r>
            <a:r>
              <a:rPr sz="1500" b="0" i="0">
                <a:solidFill>
                  <a:srgbClr val="1A1440"/>
                </a:solidFill>
                <a:latin typeface="Calibri"/>
              </a:rPr>
              <a:t>The tier's July change log, renewals and support tickets, since the fall began in July; the reorder logs second.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7" name="Oval 16"/>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194435" cy="152146"/>
          </a:xfrm>
          <a:prstGeom prst="rect">
            <a:avLst/>
          </a:prstGeom>
          <a:noFill/>
        </p:spPr>
        <p:txBody>
          <a:bodyPr wrap="square" anchor="t" lIns="0" rIns="0" tIns="0" bIns="0">
            <a:spAutoFit/>
          </a:bodyPr>
          <a:lstStyle/>
          <a:p>
            <a:pPr algn="l"/>
            <a:r>
              <a:rPr sz="700" b="1" i="0">
                <a:solidFill>
                  <a:srgbClr val="5B3FD6"/>
                </a:solidFill>
                <a:latin typeface="Calibri"/>
              </a:rPr>
              <a:t>Is the tier healthy?</a:t>
            </a:r>
          </a:p>
        </p:txBody>
      </p:sp>
      <p:sp>
        <p:nvSpPr>
          <p:cNvPr id="21" name="Oval 20"/>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3" name="Oval 22"/>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10</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you say it aloud?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you answer the day's twelve interview questions in one breath each, the design questions among them?</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ladder and the tree first: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six questions does every analytics screen ask about a sales drop?</a:t>
            </a:r>
          </a:p>
        </p:txBody>
      </p:sp>
      <p:graphicFrame>
        <p:nvGraphicFramePr>
          <p:cNvPr id="9" name="Table 8"/>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1. Sales dropped 15 percent last month; how would you investigate?</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2. Why is a rate without a denominator meaningless?</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3. Why does a function that prints instead of returning break a pipeline?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4. What has to match before a quarter-on-quarter comparison is fair?</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5. Marketing insists the answer is acquisition and your data says frequency; how do you make the case in the room?</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6. Revenue fell 11 percent; how do you split the change between customers, frequency and order value?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follow-ups on weights, churn and 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push a candidate past the first answer?</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7. Revenue per order rose 18 percent while revenue fell; did prices go up?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8. A field is missing on some records; do you fill it with zero?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9. You have orders per customer for four segments; why can't you average them?</a:t>
                      </a:r>
                    </a:p>
                  </a:txBody>
                  <a:tcPr marL="101600" marR="101600" marT="38100" marB="38100" anchor="ctr">
                    <a:solidFill>
                      <a:srgbClr val="FFFFFF"/>
                    </a:solidFill>
                  </a:tcPr>
                </a:tc>
              </a:tr>
              <a:tr h="369824">
                <a:tc>
                  <a:txBody>
                    <a:bodyPr/>
                    <a:lstStyle/>
                    <a:p>
                      <a:r>
                        <a:rPr sz="1400" b="0" i="0">
                          <a:solidFill>
                            <a:srgbClr val="1A1440"/>
                          </a:solidFill>
                          <a:latin typeface="Calibri"/>
                        </a:rPr>
                        <a:t>[SV]</a:t>
                      </a:r>
                    </a:p>
                  </a:txBody>
                  <a:tcPr marL="101600" marR="101600" marT="38100" marB="38100" anchor="ctr">
                    <a:solidFill>
                      <a:srgbClr val="F4F2FA"/>
                    </a:solidFill>
                  </a:tcPr>
                </a:tc>
                <a:tc>
                  <a:txBody>
                    <a:bodyPr/>
                    <a:lstStyle/>
                    <a:p>
                      <a:r>
                        <a:rPr sz="1400" b="0" i="0">
                          <a:solidFill>
                            <a:srgbClr val="1A1440"/>
                          </a:solidFill>
                          <a:latin typeface="Calibri"/>
                        </a:rPr>
                        <a:t>10. The customer count is flat; does that prove no customers were lost?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11. The same metrics are needed for every segment and quarter: copy, function or group by key?</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12. A stakeholder hands you a cause; how do you test it and name the data you need?</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4" name="Oval 13"/>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8" name="Oval 17"/>
          <p:cNvSpPr/>
          <p:nvPr/>
        </p:nvSpPr>
        <p:spPr>
          <a:xfrm>
            <a:off x="64808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590538"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you say it aloud?</a:t>
            </a:r>
          </a:p>
        </p:txBody>
      </p:sp>
      <p:sp>
        <p:nvSpPr>
          <p:cNvPr id="20" name="Oval 19"/>
          <p:cNvSpPr/>
          <p:nvPr/>
        </p:nvSpPr>
        <p:spPr>
          <a:xfrm>
            <a:off x="792241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03214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So which branch moved?</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11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So which branch moved?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So which branch moved from Q1 to Q2, and what goes to Meera tonight?</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Did the button do it?</a:t>
            </a:r>
          </a:p>
        </p:txBody>
      </p:sp>
      <p:sp>
        <p:nvSpPr>
          <p:cNvPr id="11" name="Rounded Rectangle 10"/>
          <p:cNvSpPr/>
          <p:nvPr/>
        </p:nvSpPr>
        <p:spPr>
          <a:xfrm>
            <a:off x="2450543"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Does it survive delivery?</a:t>
            </a:r>
          </a:p>
        </p:txBody>
      </p:sp>
      <p:sp>
        <p:nvSpPr>
          <p:cNvPr id="12" name="Rounded Rectangle 11"/>
          <p:cNvSpPr/>
          <p:nvPr/>
        </p:nvSpPr>
        <p:spPr>
          <a:xfrm>
            <a:off x="4406430"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we go wrong?</a:t>
            </a:r>
          </a:p>
        </p:txBody>
      </p:sp>
      <p:sp>
        <p:nvSpPr>
          <p:cNvPr id="13" name="Rounded Rectangle 12"/>
          <p:cNvSpPr/>
          <p:nvPr/>
        </p:nvSpPr>
        <p:spPr>
          <a:xfrm>
            <a:off x="6184670" y="5074920"/>
            <a:ext cx="155007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Is the tier healthy?</a:t>
            </a:r>
          </a:p>
        </p:txBody>
      </p:sp>
      <p:sp>
        <p:nvSpPr>
          <p:cNvPr id="14" name="Rounded Rectangle 13"/>
          <p:cNvSpPr/>
          <p:nvPr/>
        </p:nvSpPr>
        <p:spPr>
          <a:xfrm>
            <a:off x="7844477"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you say it aloud?</a:t>
            </a:r>
          </a:p>
        </p:txBody>
      </p:sp>
      <p:sp>
        <p:nvSpPr>
          <p:cNvPr id="15" name="Rounded Rectangle 14"/>
          <p:cNvSpPr/>
          <p:nvPr/>
        </p:nvSpPr>
        <p:spPr>
          <a:xfrm>
            <a:off x="9563501"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So which branch moved?</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2. Did the reorder button do it?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same customers bought less often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branch moved from Q1 to Q2, and what does Meera read tonight?</a:t>
            </a:r>
          </a:p>
        </p:txBody>
      </p:sp>
      <p:sp>
        <p:nvSpPr>
          <p:cNvPr id="9" name="Rounded Rectangle 8"/>
          <p:cNvSpPr/>
          <p:nvPr/>
        </p:nvSpPr>
        <p:spPr>
          <a:xfrm>
            <a:off x="530352" y="1956816"/>
            <a:ext cx="45720" cy="27330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2733039"/>
          </a:xfrm>
          <a:prstGeom prst="rect">
            <a:avLst/>
          </a:prstGeom>
          <a:noFill/>
        </p:spPr>
        <p:txBody>
          <a:bodyPr wrap="square" anchor="t" lIns="0" rIns="0" tIns="0" bIns="0">
            <a:spAutoFit/>
          </a:bodyPr>
          <a:lstStyle/>
          <a:p>
            <a:r>
              <a:rPr sz="1600" b="0" i="1">
                <a:solidFill>
                  <a:srgbClr val="1A0F5C"/>
                </a:solidFill>
                <a:latin typeface="Georgia"/>
              </a:rPr>
              <a:t>"Revenue fell 11.0 percent between two closed quarters, Rs 2.10 crore to Rs 1.87 crore on the export as it stands. Customers held at 69, every one of them buying in both quarters, so acquisition is not the branch that moved; orders per customer fell from 1.65 to 1.25. In behaviour the fall sits in Retail-Plus, where the same 22 members placed 26 orders against 51, and revenue per order rose mainly because those small orders disappeared. In rupees most of it is three fewer Business orders, each worth lakhs, so one account's timing moves it by lakhs. The fall began in July, before the reorder button broke, so the button explains at most about 4 orders; we are asking for the tier's July change log and the app's reorder logs."</a:t>
            </a:r>
          </a:p>
          <a:p>
            <a:pPr>
              <a:spcBef>
                <a:spcPts val="400"/>
              </a:spcBef>
            </a:pPr>
            <a:r>
              <a:rPr sz="1000" b="0" i="0">
                <a:solidFill>
                  <a:srgbClr val="6B6690"/>
                </a:solidFill>
                <a:latin typeface="Calibri"/>
              </a:rPr>
              <a:t>The data and AI team, to Meera Raghavan</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5" name="Oval 14"/>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19" name="Oval 18"/>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1" name="Oval 20"/>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Eight lines to keep, word for word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are worth keeping word for word?</a:t>
            </a:r>
          </a:p>
        </p:txBody>
      </p:sp>
      <p:sp>
        <p:nvSpPr>
          <p:cNvPr id="9" name="TextBox 8"/>
          <p:cNvSpPr txBox="1"/>
          <p:nvPr/>
        </p:nvSpPr>
        <p:spPr>
          <a:xfrm>
            <a:off x="530352" y="164592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682496"/>
            <a:ext cx="10564063" cy="368808"/>
          </a:xfrm>
          <a:prstGeom prst="rect">
            <a:avLst/>
          </a:prstGeom>
          <a:noFill/>
        </p:spPr>
        <p:txBody>
          <a:bodyPr wrap="square" anchor="t" lIns="0" rIns="0" tIns="0" bIns="0">
            <a:spAutoFit/>
          </a:bodyPr>
          <a:lstStyle/>
          <a:p>
            <a:r>
              <a:rPr sz="1500" b="0" i="0">
                <a:solidFill>
                  <a:srgbClr val="1A1440"/>
                </a:solidFill>
                <a:latin typeface="Calibri"/>
              </a:rPr>
              <a:t>Confirm the drop on matched windows before you explain it.</a:t>
            </a:r>
          </a:p>
        </p:txBody>
      </p:sp>
      <p:sp>
        <p:nvSpPr>
          <p:cNvPr id="11" name="TextBox 10"/>
          <p:cNvSpPr txBox="1"/>
          <p:nvPr/>
        </p:nvSpPr>
        <p:spPr>
          <a:xfrm>
            <a:off x="530352" y="20878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124456"/>
            <a:ext cx="10564063" cy="368808"/>
          </a:xfrm>
          <a:prstGeom prst="rect">
            <a:avLst/>
          </a:prstGeom>
          <a:noFill/>
        </p:spPr>
        <p:txBody>
          <a:bodyPr wrap="square" anchor="t" lIns="0" rIns="0" tIns="0" bIns="0">
            <a:spAutoFit/>
          </a:bodyPr>
          <a:lstStyle/>
          <a:p>
            <a:r>
              <a:rPr sz="1500" b="0" i="0">
                <a:solidFill>
                  <a:srgbClr val="1A1440"/>
                </a:solidFill>
                <a:latin typeface="Calibri"/>
              </a:rPr>
              <a:t>A rate without its denominator is a rumour.</a:t>
            </a:r>
          </a:p>
        </p:txBody>
      </p:sp>
      <p:sp>
        <p:nvSpPr>
          <p:cNvPr id="13" name="TextBox 12"/>
          <p:cNvSpPr txBox="1"/>
          <p:nvPr/>
        </p:nvSpPr>
        <p:spPr>
          <a:xfrm>
            <a:off x="530352" y="25298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566416"/>
            <a:ext cx="10564063" cy="368808"/>
          </a:xfrm>
          <a:prstGeom prst="rect">
            <a:avLst/>
          </a:prstGeom>
          <a:noFill/>
        </p:spPr>
        <p:txBody>
          <a:bodyPr wrap="square" anchor="t" lIns="0" rIns="0" tIns="0" bIns="0">
            <a:spAutoFit/>
          </a:bodyPr>
          <a:lstStyle/>
          <a:p>
            <a:r>
              <a:rPr sz="1500" b="0" i="0">
                <a:solidFill>
                  <a:srgbClr val="1A1440"/>
                </a:solidFill>
                <a:latin typeface="Calibri"/>
              </a:rPr>
              <a:t>Decompose along the tree: customers, orders per customer, revenue per order.</a:t>
            </a:r>
          </a:p>
        </p:txBody>
      </p:sp>
      <p:sp>
        <p:nvSpPr>
          <p:cNvPr id="15" name="TextBox 14"/>
          <p:cNvSpPr txBox="1"/>
          <p:nvPr/>
        </p:nvSpPr>
        <p:spPr>
          <a:xfrm>
            <a:off x="530352" y="29718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008376"/>
            <a:ext cx="10564063" cy="368808"/>
          </a:xfrm>
          <a:prstGeom prst="rect">
            <a:avLst/>
          </a:prstGeom>
          <a:noFill/>
        </p:spPr>
        <p:txBody>
          <a:bodyPr wrap="square" anchor="t" lIns="0" rIns="0" tIns="0" bIns="0">
            <a:spAutoFit/>
          </a:bodyPr>
          <a:lstStyle/>
          <a:p>
            <a:r>
              <a:rPr sz="1500" b="0" i="0">
                <a:solidFill>
                  <a:srgbClr val="1A1440"/>
                </a:solidFill>
                <a:latin typeface="Calibri"/>
              </a:rPr>
              <a:t>Missing means unknown until someone chooses a default and writes down why.</a:t>
            </a:r>
          </a:p>
        </p:txBody>
      </p:sp>
      <p:sp>
        <p:nvSpPr>
          <p:cNvPr id="17" name="TextBox 16"/>
          <p:cNvSpPr txBox="1"/>
          <p:nvPr/>
        </p:nvSpPr>
        <p:spPr>
          <a:xfrm>
            <a:off x="530352" y="3413760"/>
            <a:ext cx="502920" cy="333756"/>
          </a:xfrm>
          <a:prstGeom prst="rect">
            <a:avLst/>
          </a:prstGeom>
          <a:noFill/>
        </p:spPr>
        <p:txBody>
          <a:bodyPr wrap="square" anchor="t" lIns="0" rIns="0" tIns="0" bIns="0">
            <a:spAutoFit/>
          </a:bodyPr>
          <a:lstStyle/>
          <a:p>
            <a:pPr algn="l"/>
            <a:r>
              <a:rPr sz="1800" b="0" i="0">
                <a:solidFill>
                  <a:srgbClr val="5B3FD6"/>
                </a:solidFill>
                <a:latin typeface="Georgia"/>
              </a:rPr>
              <a:t>05</a:t>
            </a:r>
          </a:p>
        </p:txBody>
      </p:sp>
      <p:sp>
        <p:nvSpPr>
          <p:cNvPr id="18" name="TextBox 17"/>
          <p:cNvSpPr txBox="1"/>
          <p:nvPr/>
        </p:nvSpPr>
        <p:spPr>
          <a:xfrm>
            <a:off x="1097280" y="3450336"/>
            <a:ext cx="10564063" cy="368808"/>
          </a:xfrm>
          <a:prstGeom prst="rect">
            <a:avLst/>
          </a:prstGeom>
          <a:noFill/>
        </p:spPr>
        <p:txBody>
          <a:bodyPr wrap="square" anchor="t" lIns="0" rIns="0" tIns="0" bIns="0">
            <a:spAutoFit/>
          </a:bodyPr>
          <a:lstStyle/>
          <a:p>
            <a:r>
              <a:rPr sz="1500" b="0" i="0">
                <a:solidFill>
                  <a:srgbClr val="1A1440"/>
                </a:solidFill>
                <a:latin typeface="Calibri"/>
              </a:rPr>
              <a:t>Roll a rate up with its weights; never average the averages.</a:t>
            </a:r>
          </a:p>
        </p:txBody>
      </p:sp>
      <p:sp>
        <p:nvSpPr>
          <p:cNvPr id="19" name="TextBox 18"/>
          <p:cNvSpPr txBox="1"/>
          <p:nvPr/>
        </p:nvSpPr>
        <p:spPr>
          <a:xfrm>
            <a:off x="530352" y="3855720"/>
            <a:ext cx="502920" cy="333756"/>
          </a:xfrm>
          <a:prstGeom prst="rect">
            <a:avLst/>
          </a:prstGeom>
          <a:noFill/>
        </p:spPr>
        <p:txBody>
          <a:bodyPr wrap="square" anchor="t" lIns="0" rIns="0" tIns="0" bIns="0">
            <a:spAutoFit/>
          </a:bodyPr>
          <a:lstStyle/>
          <a:p>
            <a:pPr algn="l"/>
            <a:r>
              <a:rPr sz="1800" b="0" i="0">
                <a:solidFill>
                  <a:srgbClr val="5B3FD6"/>
                </a:solidFill>
                <a:latin typeface="Georgia"/>
              </a:rPr>
              <a:t>06</a:t>
            </a:r>
          </a:p>
        </p:txBody>
      </p:sp>
      <p:sp>
        <p:nvSpPr>
          <p:cNvPr id="20" name="TextBox 19"/>
          <p:cNvSpPr txBox="1"/>
          <p:nvPr/>
        </p:nvSpPr>
        <p:spPr>
          <a:xfrm>
            <a:off x="1097280" y="3892296"/>
            <a:ext cx="10564063" cy="368808"/>
          </a:xfrm>
          <a:prstGeom prst="rect">
            <a:avLst/>
          </a:prstGeom>
          <a:noFill/>
        </p:spPr>
        <p:txBody>
          <a:bodyPr wrap="square" anchor="t" lIns="0" rIns="0" tIns="0" bIns="0">
            <a:spAutoFit/>
          </a:bodyPr>
          <a:lstStyle/>
          <a:p>
            <a:r>
              <a:rPr sz="1500" b="0" i="0">
                <a:solidFill>
                  <a:srgbClr val="1A1440"/>
                </a:solidFill>
                <a:latin typeface="Calibri"/>
              </a:rPr>
              <a:t>A blended rate can move while no segment moves; split mix from rate.</a:t>
            </a:r>
          </a:p>
        </p:txBody>
      </p:sp>
      <p:sp>
        <p:nvSpPr>
          <p:cNvPr id="21" name="TextBox 20"/>
          <p:cNvSpPr txBox="1"/>
          <p:nvPr/>
        </p:nvSpPr>
        <p:spPr>
          <a:xfrm>
            <a:off x="530352" y="4297680"/>
            <a:ext cx="502920" cy="333756"/>
          </a:xfrm>
          <a:prstGeom prst="rect">
            <a:avLst/>
          </a:prstGeom>
          <a:noFill/>
        </p:spPr>
        <p:txBody>
          <a:bodyPr wrap="square" anchor="t" lIns="0" rIns="0" tIns="0" bIns="0">
            <a:spAutoFit/>
          </a:bodyPr>
          <a:lstStyle/>
          <a:p>
            <a:pPr algn="l"/>
            <a:r>
              <a:rPr sz="1800" b="0" i="0">
                <a:solidFill>
                  <a:srgbClr val="5B3FD6"/>
                </a:solidFill>
                <a:latin typeface="Georgia"/>
              </a:rPr>
              <a:t>07</a:t>
            </a:r>
          </a:p>
        </p:txBody>
      </p:sp>
      <p:sp>
        <p:nvSpPr>
          <p:cNvPr id="22" name="TextBox 21"/>
          <p:cNvSpPr txBox="1"/>
          <p:nvPr/>
        </p:nvSpPr>
        <p:spPr>
          <a:xfrm>
            <a:off x="1097280" y="4334256"/>
            <a:ext cx="10564063" cy="368808"/>
          </a:xfrm>
          <a:prstGeom prst="rect">
            <a:avLst/>
          </a:prstGeom>
          <a:noFill/>
        </p:spPr>
        <p:txBody>
          <a:bodyPr wrap="square" anchor="t" lIns="0" rIns="0" tIns="0" bIns="0">
            <a:spAutoFit/>
          </a:bodyPr>
          <a:lstStyle/>
          <a:p>
            <a:r>
              <a:rPr sz="1500" b="0" i="0">
                <a:solidFill>
                  <a:srgbClr val="1A1440"/>
                </a:solidFill>
                <a:latin typeface="Calibri"/>
              </a:rPr>
              <a:t>A function returns its answer; count the groups in and the groups out.</a:t>
            </a:r>
          </a:p>
        </p:txBody>
      </p:sp>
      <p:sp>
        <p:nvSpPr>
          <p:cNvPr id="23" name="TextBox 22"/>
          <p:cNvSpPr txBox="1"/>
          <p:nvPr/>
        </p:nvSpPr>
        <p:spPr>
          <a:xfrm>
            <a:off x="530352" y="4739640"/>
            <a:ext cx="502920" cy="333756"/>
          </a:xfrm>
          <a:prstGeom prst="rect">
            <a:avLst/>
          </a:prstGeom>
          <a:noFill/>
        </p:spPr>
        <p:txBody>
          <a:bodyPr wrap="square" anchor="t" lIns="0" rIns="0" tIns="0" bIns="0">
            <a:spAutoFit/>
          </a:bodyPr>
          <a:lstStyle/>
          <a:p>
            <a:pPr algn="l"/>
            <a:r>
              <a:rPr sz="1800" b="0" i="0">
                <a:solidFill>
                  <a:srgbClr val="5B3FD6"/>
                </a:solidFill>
                <a:latin typeface="Georgia"/>
              </a:rPr>
              <a:t>08</a:t>
            </a:r>
          </a:p>
        </p:txBody>
      </p:sp>
      <p:sp>
        <p:nvSpPr>
          <p:cNvPr id="24" name="TextBox 23"/>
          <p:cNvSpPr txBox="1"/>
          <p:nvPr/>
        </p:nvSpPr>
        <p:spPr>
          <a:xfrm>
            <a:off x="1097280" y="4776216"/>
            <a:ext cx="10564063" cy="368808"/>
          </a:xfrm>
          <a:prstGeom prst="rect">
            <a:avLst/>
          </a:prstGeom>
          <a:noFill/>
        </p:spPr>
        <p:txBody>
          <a:bodyPr wrap="square" anchor="t" lIns="0" rIns="0" tIns="0" bIns="0">
            <a:spAutoFit/>
          </a:bodyPr>
          <a:lstStyle/>
          <a:p>
            <a:r>
              <a:rPr sz="1500" b="0" i="0">
                <a:solidFill>
                  <a:srgbClr val="1A1440"/>
                </a:solidFill>
                <a:latin typeface="Calibri"/>
              </a:rPr>
              <a:t>Name the cause as a hypothesis, with its ceiling and the evidence that would settle it.</a:t>
            </a:r>
          </a:p>
        </p:txBody>
      </p:sp>
      <p:pic>
        <p:nvPicPr>
          <p:cNvPr id="25" name="mermaid diagram" descr="9035c65d03ba2779.png"/>
          <p:cNvPicPr>
            <a:picLocks noChangeAspect="1"/>
          </p:cNvPicPr>
          <p:nvPr/>
        </p:nvPicPr>
        <p:blipFill>
          <a:blip r:embed="rId5"/>
          <a:stretch>
            <a:fillRect/>
          </a:stretch>
        </p:blipFill>
        <p:spPr>
          <a:xfrm>
            <a:off x="794702" y="5327904"/>
            <a:ext cx="10602289" cy="1097280"/>
          </a:xfrm>
          <a:prstGeom prst="rect">
            <a:avLst/>
          </a:prstGeom>
        </p:spPr>
      </p:pic>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30" name="Oval 29"/>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34" name="Oval 33"/>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36" name="Oval 35"/>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 Anand questions tonight's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Finance's Rs 1.9 crore?</a:t>
            </a:r>
          </a:p>
        </p:txBody>
      </p:sp>
      <p:sp>
        <p:nvSpPr>
          <p:cNvPr id="9" name="Rounded Rectangle 8"/>
          <p:cNvSpPr/>
          <p:nvPr/>
        </p:nvSpPr>
        <p:spPr>
          <a:xfrm>
            <a:off x="530352" y="195681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026160"/>
          </a:xfrm>
          <a:prstGeom prst="rect">
            <a:avLst/>
          </a:prstGeom>
          <a:noFill/>
        </p:spPr>
        <p:txBody>
          <a:bodyPr wrap="square" anchor="t" lIns="0" rIns="0" tIns="0" bIns="0">
            <a:spAutoFit/>
          </a:bodyPr>
          <a:lstStyle/>
          <a:p>
            <a:r>
              <a:rPr sz="1600" b="0" i="1">
                <a:solidFill>
                  <a:srgbClr val="1A0F5C"/>
                </a:solidFill>
                <a:latin typeface="Georgia"/>
              </a:rPr>
              <a:t>"Your dashboard says Q1 was Rs 2.1 crore. Our books say 1.9. Until your numbers match ours, Finance will not act on a drop measured from an ERP export. Send me a reconciliation."</a:t>
            </a:r>
          </a:p>
          <a:p>
            <a:pPr>
              <a:spcBef>
                <a:spcPts val="400"/>
              </a:spcBef>
            </a:pPr>
            <a:r>
              <a:rPr sz="1000" b="0" i="0">
                <a:solidFill>
                  <a:srgbClr val="6B6690"/>
                </a:solidFill>
                <a:latin typeface="Calibri"/>
              </a:rPr>
              <a:t>Anand Iyer, finance controller, Kalpa Retail</a:t>
            </a:r>
          </a:p>
        </p:txBody>
      </p:sp>
      <p:pic>
        <p:nvPicPr>
          <p:cNvPr id="11" name="mermaid diagram" descr="c624ac5c6ae12194.png"/>
          <p:cNvPicPr>
            <a:picLocks noChangeAspect="1"/>
          </p:cNvPicPr>
          <p:nvPr/>
        </p:nvPicPr>
        <p:blipFill>
          <a:blip r:embed="rId5"/>
          <a:stretch>
            <a:fillRect/>
          </a:stretch>
        </p:blipFill>
        <p:spPr>
          <a:xfrm>
            <a:off x="3524097" y="3129280"/>
            <a:ext cx="5143500" cy="278606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Did the button do it?</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Does it survive delivery?</a:t>
            </a:r>
          </a:p>
        </p:txBody>
      </p:sp>
      <p:sp>
        <p:nvSpPr>
          <p:cNvPr id="16" name="Oval 15"/>
          <p:cNvSpPr/>
          <p:nvPr/>
        </p:nvSpPr>
        <p:spPr>
          <a:xfrm>
            <a:off x="359759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0732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Where did we go wrong?</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194435" cy="152146"/>
          </a:xfrm>
          <a:prstGeom prst="rect">
            <a:avLst/>
          </a:prstGeom>
          <a:noFill/>
        </p:spPr>
        <p:txBody>
          <a:bodyPr wrap="square" anchor="t" lIns="0" rIns="0" tIns="0" bIns="0">
            <a:spAutoFit/>
          </a:bodyPr>
          <a:lstStyle/>
          <a:p>
            <a:pPr algn="l"/>
            <a:r>
              <a:rPr sz="700" b="0" i="0">
                <a:solidFill>
                  <a:srgbClr val="6B6690"/>
                </a:solidFill>
                <a:latin typeface="Calibri"/>
              </a:rPr>
              <a:t>Is the tier healthy?</a:t>
            </a:r>
          </a:p>
        </p:txBody>
      </p:sp>
      <p:sp>
        <p:nvSpPr>
          <p:cNvPr id="20" name="Oval 19"/>
          <p:cNvSpPr/>
          <p:nvPr/>
        </p:nvSpPr>
        <p:spPr>
          <a:xfrm>
            <a:off x="64808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90538"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you say it aloud?</a:t>
            </a:r>
          </a:p>
        </p:txBody>
      </p:sp>
      <p:sp>
        <p:nvSpPr>
          <p:cNvPr id="22" name="Oval 21"/>
          <p:cNvSpPr/>
          <p:nvPr/>
        </p:nvSpPr>
        <p:spPr>
          <a:xfrm>
            <a:off x="792241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032146"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So which branch moved?</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