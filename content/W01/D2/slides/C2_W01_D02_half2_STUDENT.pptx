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Cross the file boundary</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Everything so far lived inside the notebook. Close the notebook and it is gone.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we are</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[inline cell] &gt; [packaged decision] &gt; [read the failure] &gt; [log the rejection] &gt; </a:t>
            </a:r>
            <a:r>
              <a:rPr sz="2100" b="1">
                <a:solidFill>
                  <a:srgbClr val="1C1C1A"/>
                </a:solidFill>
                <a:latin typeface="Calibri"/>
              </a:rPr>
              <a:t>[cross the boundary]</a:t>
            </a:r>
          </a:p>
          <a:p>
            <a:pPr>
              <a:spcAft>
                <a:spcPts val="1000"/>
              </a:spcAft>
            </a:pPr>
            <a:r>
              <a:rPr sz="2100" b="0">
                <a:solidFill>
                  <a:srgbClr val="1C1C1A"/>
                </a:solidFill>
                <a:latin typeface="Calibri"/>
              </a:rPr>
              <a:t>Half one made your rule callable. This half makes your data outlive the kernel.</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anchor</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1000"/>
              </a:spcAft>
            </a:pPr>
            <a:r>
              <a:rPr sz="2100" b="0">
                <a:solidFill>
                  <a:srgbClr val="1C1C1A"/>
                </a:solidFill>
                <a:latin typeface="Calibri"/>
              </a:rPr>
              <a:t>Restart the kernel.</a:t>
            </a:r>
          </a:p>
          <a:p>
            <a:pPr>
              <a:spcAft>
                <a:spcPts val="1000"/>
              </a:spcAft>
            </a:pPr>
            <a:r>
              <a:rPr sz="2100" b="0">
                <a:solidFill>
                  <a:srgbClr val="1C1C1A"/>
                </a:solidFill>
                <a:latin typeface="Calibri"/>
              </a:rPr>
              <a:t>Your 30 records are gone. Yesterday you learned that. Today you do something about it.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the orders actually come from</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Nobody hands you a Python list. Kalpa Retail's order system sends you a file.</a:t>
            </a:r>
          </a:p>
          <a:p>
            <a:pPr>
              <a:spcAft>
                <a:spcPts val="1000"/>
              </a:spcAft>
            </a:pPr>
            <a:r>
              <a:rPr sz="2100" b="0">
                <a:solidFill>
                  <a:srgbClr val="1C1C1A"/>
                </a:solidFill>
                <a:latin typeface="Calibri"/>
              </a:rPr>
              <a:t>The file was written by a system you do not control, exported by a person you have not met, at a time you did not choose.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boundary, in one picture</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Every arrow that crosses the dashed line loses something or has to be told something.</a:t>
            </a:r>
          </a:p>
        </p:txBody>
      </p:sp>
      <p:pic>
        <p:nvPicPr>
          <p:cNvPr id="5" name="Picture 4" descr="74e048ad1e466017.png"/>
          <p:cNvPicPr>
            <a:picLocks noChangeAspect="1"/>
          </p:cNvPicPr>
          <p:nvPr/>
        </p:nvPicPr>
        <p:blipFill>
          <a:blip r:embed="rId2"/>
          <a:stretch>
            <a:fillRect/>
          </a:stretch>
        </p:blipFill>
        <p:spPr>
          <a:xfrm>
            <a:off x="1771309" y="2646045"/>
            <a:ext cx="8618901" cy="3343274"/>
          </a:xfrm>
          <a:prstGeom prst="rect">
            <a:avLst/>
          </a:prstGeom>
        </p:spPr>
      </p:pic>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1: A FORMAT IS AN AGREEMENT</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[inline cell] &gt; [packaged decision] &gt; [read the failure] &gt; [log the rejection] &gt; </a:t>
            </a:r>
            <a:r>
              <a:rPr sz="2100" b="1">
                <a:solidFill>
                  <a:srgbClr val="FFFFFF"/>
                </a:solidFill>
                <a:latin typeface="Calibri"/>
              </a:rPr>
              <a:t>[cross the boundary]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a file format is</a:t>
            </a:r>
          </a:p>
        </p:txBody>
      </p:sp>
      <p:sp>
        <p:nvSpPr>
          <p:cNvPr id="4" name="TextBox 3"/>
          <p:cNvSpPr txBox="1"/>
          <p:nvPr/>
        </p:nvSpPr>
        <p:spPr>
          <a:xfrm>
            <a:off x="777240" y="1965960"/>
            <a:ext cx="10607040" cy="1285875"/>
          </a:xfrm>
          <a:prstGeom prst="rect">
            <a:avLst/>
          </a:prstGeom>
          <a:noFill/>
        </p:spPr>
        <p:txBody>
          <a:bodyPr wrap="square">
            <a:spAutoFit/>
          </a:bodyPr>
          <a:lstStyle/>
          <a:p>
            <a:pPr>
              <a:spcAft>
                <a:spcPts val="1000"/>
              </a:spcAft>
            </a:pPr>
            <a:r>
              <a:rPr sz="2100" b="0">
                <a:solidFill>
                  <a:srgbClr val="1C1C1A"/>
                </a:solidFill>
                <a:latin typeface="Calibri"/>
              </a:rPr>
              <a:t>A file format is an agreement about structure.</a:t>
            </a:r>
          </a:p>
          <a:p>
            <a:pPr>
              <a:spcAft>
                <a:spcPts val="1000"/>
              </a:spcAft>
            </a:pPr>
            <a:r>
              <a:rPr sz="2100" b="0">
                <a:solidFill>
                  <a:srgbClr val="1C1C1A"/>
                </a:solidFill>
                <a:latin typeface="Calibri"/>
              </a:rPr>
              <a:t>CSV agrees: one row per record, one comma between fields, the first row names the fields.</a:t>
            </a:r>
          </a:p>
          <a:p>
            <a:pPr>
              <a:spcAft>
                <a:spcPts val="1000"/>
              </a:spcAft>
            </a:pPr>
            <a:r>
              <a:rPr sz="2100" b="0">
                <a:solidFill>
                  <a:srgbClr val="1C1C1A"/>
                </a:solidFill>
                <a:latin typeface="Calibri"/>
              </a:rPr>
              <a:t>That is the entire agreement. Nothing in it mentions types.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consequence</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Everything you read from a CSV is a string.</a:t>
            </a:r>
          </a:p>
        </p:txBody>
      </p:sp>
      <p:sp>
        <p:nvSpPr>
          <p:cNvPr id="5" name="TextBox 4"/>
          <p:cNvSpPr txBox="1"/>
          <p:nvPr/>
        </p:nvSpPr>
        <p:spPr>
          <a:xfrm>
            <a:off x="777240" y="2646045"/>
            <a:ext cx="10607040" cy="914400"/>
          </a:xfrm>
          <a:prstGeom prst="rect">
            <a:avLst/>
          </a:prstGeom>
          <a:noFill/>
        </p:spPr>
        <p:txBody>
          <a:bodyPr wrap="square">
            <a:spAutoFit/>
          </a:bodyPr>
          <a:lstStyle/>
          <a:p>
            <a:pPr>
              <a:spcAft>
                <a:spcPts val="400"/>
              </a:spcAft>
            </a:pPr>
            <a:r>
              <a:rPr sz="1700" b="0">
                <a:solidFill>
                  <a:srgbClr val="2B4A7D"/>
                </a:solidFill>
                <a:latin typeface="Consolas"/>
              </a:rPr>
              <a:t>4500      becomes   "4500"</a:t>
            </a:r>
          </a:p>
          <a:p>
            <a:pPr>
              <a:spcAft>
                <a:spcPts val="400"/>
              </a:spcAft>
            </a:pPr>
            <a:r>
              <a:rPr sz="1700" b="0">
                <a:solidFill>
                  <a:srgbClr val="2B4A7D"/>
                </a:solidFill>
                <a:latin typeface="Consolas"/>
              </a:rPr>
              <a:t>twelve    becomes   "twelve"</a:t>
            </a:r>
          </a:p>
          <a:p>
            <a:pPr>
              <a:spcAft>
                <a:spcPts val="400"/>
              </a:spcAft>
            </a:pPr>
            <a:r>
              <a:rPr sz="1700" b="0">
                <a:solidFill>
                  <a:srgbClr val="2B4A7D"/>
                </a:solidFill>
                <a:latin typeface="Consolas"/>
              </a:rPr>
              <a:t>(empty)   becomes   ""</a:t>
            </a:r>
          </a:p>
        </p:txBody>
      </p:sp>
      <p:sp>
        <p:nvSpPr>
          <p:cNvPr id="6" name="TextBox 5"/>
          <p:cNvSpPr txBox="1"/>
          <p:nvPr/>
        </p:nvSpPr>
        <p:spPr>
          <a:xfrm>
            <a:off x="777240" y="3697604"/>
            <a:ext cx="10607040" cy="542925"/>
          </a:xfrm>
          <a:prstGeom prst="rect">
            <a:avLst/>
          </a:prstGeom>
          <a:noFill/>
        </p:spPr>
        <p:txBody>
          <a:bodyPr wrap="square">
            <a:spAutoFit/>
          </a:bodyPr>
          <a:lstStyle/>
          <a:p>
            <a:pPr>
              <a:spcAft>
                <a:spcPts val="1000"/>
              </a:spcAft>
            </a:pPr>
            <a:r>
              <a:rPr sz="2100" b="0">
                <a:solidFill>
                  <a:srgbClr val="1C1C1A"/>
                </a:solidFill>
                <a:latin typeface="Calibri"/>
              </a:rPr>
              <a:t>The file cannot tell you which one is a number. It never could.</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each format agrees about</a:t>
            </a:r>
          </a:p>
        </p:txBody>
      </p:sp>
      <p:pic>
        <p:nvPicPr>
          <p:cNvPr id="4" name="Picture 3" descr="d14259b1f18da550.png"/>
          <p:cNvPicPr>
            <a:picLocks noChangeAspect="1"/>
          </p:cNvPicPr>
          <p:nvPr/>
        </p:nvPicPr>
        <p:blipFill>
          <a:blip r:embed="rId2"/>
          <a:stretch>
            <a:fillRect/>
          </a:stretch>
        </p:blipFill>
        <p:spPr>
          <a:xfrm>
            <a:off x="3530990" y="1965960"/>
            <a:ext cx="5099538" cy="4023360"/>
          </a:xfrm>
          <a:prstGeom prst="rect">
            <a:avLst/>
          </a:prstGeom>
        </p:spPr>
      </p:pic>
      <p:sp>
        <p:nvSpPr>
          <p:cNvPr id="5" name="TextBox 4"/>
          <p:cNvSpPr txBox="1"/>
          <p:nvPr/>
        </p:nvSpPr>
        <p:spPr>
          <a:xfrm>
            <a:off x="777240" y="6126480"/>
            <a:ext cx="10607040" cy="542925"/>
          </a:xfrm>
          <a:prstGeom prst="rect">
            <a:avLst/>
          </a:prstGeom>
          <a:noFill/>
        </p:spPr>
        <p:txBody>
          <a:bodyPr wrap="square">
            <a:spAutoFit/>
          </a:bodyPr>
          <a:lstStyle/>
          <a:p>
            <a:pPr>
              <a:spcAft>
                <a:spcPts val="1000"/>
              </a:spcAft>
            </a:pPr>
            <a:r>
              <a:rPr sz="2100" b="0">
                <a:solidFill>
                  <a:srgbClr val="1C1C1A"/>
                </a:solidFill>
                <a:latin typeface="Calibri"/>
              </a:rPr>
              <a:t>The last box is where most real defects live, and no format will save you from it.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round trip that loses types, watched</a:t>
            </a:r>
          </a:p>
        </p:txBody>
      </p:sp>
      <p:sp>
        <p:nvSpPr>
          <p:cNvPr id="5" name="TextBox 4"/>
          <p:cNvSpPr txBox="1"/>
          <p:nvPr/>
        </p:nvSpPr>
        <p:spPr>
          <a:xfrm>
            <a:off x="777240" y="1965960"/>
            <a:ext cx="10607040" cy="2895600"/>
          </a:xfrm>
          <a:prstGeom prst="rect">
            <a:avLst/>
          </a:prstGeom>
          <a:noFill/>
        </p:spPr>
        <p:txBody>
          <a:bodyPr wrap="square">
            <a:spAutoFit/>
          </a:bodyPr>
          <a:lstStyle/>
          <a:p>
            <a:pPr>
              <a:spcAft>
                <a:spcPts val="400"/>
              </a:spcAft>
            </a:pPr>
            <a:r>
              <a:rPr sz="1700" b="0">
                <a:solidFill>
                  <a:srgbClr val="2B4A7D"/>
                </a:solidFill>
                <a:latin typeface="Consolas"/>
              </a:rPr>
              <a:t>records = [{"order_id": "KR4201", "amount": 2395}]</a:t>
            </a:r>
          </a:p>
          <a:p>
            <a:pPr>
              <a:spcAft>
                <a:spcPts val="400"/>
              </a:spcAft>
            </a:pPr>
          </a:p>
          <a:p>
            <a:pPr>
              <a:spcAft>
                <a:spcPts val="400"/>
              </a:spcAft>
            </a:pPr>
            <a:r>
              <a:rPr sz="1700" b="0">
                <a:solidFill>
                  <a:srgbClr val="2B4A7D"/>
                </a:solidFill>
                <a:latin typeface="Consolas"/>
              </a:rPr>
              <a:t>with open("round.csv", "w", newline="") as f:</a:t>
            </a:r>
          </a:p>
          <a:p>
            <a:pPr>
              <a:spcAft>
                <a:spcPts val="400"/>
              </a:spcAft>
            </a:pPr>
            <a:r>
              <a:rPr sz="1700" b="0">
                <a:solidFill>
                  <a:srgbClr val="2B4A7D"/>
                </a:solidFill>
                <a:latin typeface="Consolas"/>
              </a:rPr>
              <a:t>    w = csv.DictWriter(f, fieldnames=["order_id", "amount"])</a:t>
            </a:r>
          </a:p>
          <a:p>
            <a:pPr>
              <a:spcAft>
                <a:spcPts val="400"/>
              </a:spcAft>
            </a:pPr>
            <a:r>
              <a:rPr sz="1700" b="0">
                <a:solidFill>
                  <a:srgbClr val="2B4A7D"/>
                </a:solidFill>
                <a:latin typeface="Consolas"/>
              </a:rPr>
              <a:t>    w.writeheader(); w.writerows(records)</a:t>
            </a:r>
          </a:p>
          <a:p>
            <a:pPr>
              <a:spcAft>
                <a:spcPts val="400"/>
              </a:spcAft>
            </a:pPr>
          </a:p>
          <a:p>
            <a:pPr>
              <a:spcAft>
                <a:spcPts val="400"/>
              </a:spcAft>
            </a:pPr>
            <a:r>
              <a:rPr sz="1700" b="0">
                <a:solidFill>
                  <a:srgbClr val="2B4A7D"/>
                </a:solidFill>
                <a:latin typeface="Consolas"/>
              </a:rPr>
              <a:t>with open("round.csv") as f:</a:t>
            </a:r>
          </a:p>
          <a:p>
            <a:pPr>
              <a:spcAft>
                <a:spcPts val="400"/>
              </a:spcAft>
            </a:pPr>
            <a:r>
              <a:rPr sz="1700" b="0">
                <a:solidFill>
                  <a:srgbClr val="2B4A7D"/>
                </a:solidFill>
                <a:latin typeface="Consolas"/>
              </a:rPr>
              <a:t>    back = list(csv.DictReader(f))</a:t>
            </a:r>
          </a:p>
          <a:p>
            <a:pPr>
              <a:spcAft>
                <a:spcPts val="400"/>
              </a:spcAft>
            </a:pPr>
          </a:p>
          <a:p>
            <a:pPr>
              <a:spcAft>
                <a:spcPts val="400"/>
              </a:spcAft>
            </a:pPr>
            <a:r>
              <a:rPr sz="1700" b="0">
                <a:solidFill>
                  <a:srgbClr val="2B4A7D"/>
                </a:solidFill>
                <a:latin typeface="Consolas"/>
              </a:rPr>
              <a:t>print(records[0]["amount"], type(records[0]["amount"]).__name__)</a:t>
            </a:r>
          </a:p>
          <a:p>
            <a:pPr>
              <a:spcAft>
                <a:spcPts val="400"/>
              </a:spcAft>
            </a:pPr>
            <a:r>
              <a:rPr sz="1700" b="0">
                <a:solidFill>
                  <a:srgbClr val="2B4A7D"/>
                </a:solidFill>
                <a:latin typeface="Consolas"/>
              </a:rPr>
              <a:t>print(back[0]["amount"], type(back[0]["amount"]).__name__)</a:t>
            </a:r>
          </a:p>
        </p:txBody>
      </p:sp>
      <p:sp>
        <p:nvSpPr>
          <p:cNvPr id="6" name="TextBox 5"/>
          <p:cNvSpPr txBox="1"/>
          <p:nvPr/>
        </p:nvSpPr>
        <p:spPr>
          <a:xfrm>
            <a:off x="777240" y="4998720"/>
            <a:ext cx="10607040" cy="666750"/>
          </a:xfrm>
          <a:prstGeom prst="rect">
            <a:avLst/>
          </a:prstGeom>
          <a:noFill/>
        </p:spPr>
        <p:txBody>
          <a:bodyPr wrap="square">
            <a:spAutoFit/>
          </a:bodyPr>
          <a:lstStyle/>
          <a:p>
            <a:pPr>
              <a:spcAft>
                <a:spcPts val="400"/>
              </a:spcAft>
            </a:pPr>
            <a:r>
              <a:rPr sz="1700" b="0">
                <a:solidFill>
                  <a:srgbClr val="2B4A7D"/>
                </a:solidFill>
                <a:latin typeface="Consolas"/>
              </a:rPr>
              <a:t>2395 int</a:t>
            </a:r>
          </a:p>
          <a:p>
            <a:pPr>
              <a:spcAft>
                <a:spcPts val="400"/>
              </a:spcAft>
            </a:pPr>
            <a:r>
              <a:rPr sz="1700" b="0">
                <a:solidFill>
                  <a:srgbClr val="2B4A7D"/>
                </a:solidFill>
                <a:latin typeface="Consolas"/>
              </a:rPr>
              <a:t>2395 str</a:t>
            </a:r>
          </a:p>
        </p:txBody>
      </p:sp>
      <p:sp>
        <p:nvSpPr>
          <p:cNvPr id="7" name="TextBox 6"/>
          <p:cNvSpPr txBox="1"/>
          <p:nvPr/>
        </p:nvSpPr>
        <p:spPr>
          <a:xfrm>
            <a:off x="777240" y="5802630"/>
            <a:ext cx="10607040" cy="790575"/>
          </a:xfrm>
          <a:prstGeom prst="rect">
            <a:avLst/>
          </a:prstGeom>
          <a:noFill/>
        </p:spPr>
        <p:txBody>
          <a:bodyPr wrap="square">
            <a:spAutoFit/>
          </a:bodyPr>
          <a:lstStyle/>
          <a:p>
            <a:pPr>
              <a:spcAft>
                <a:spcPts val="1000"/>
              </a:spcAft>
            </a:pPr>
            <a:r>
              <a:rPr sz="2100" b="0">
                <a:solidFill>
                  <a:srgbClr val="1C1C1A"/>
                </a:solidFill>
                <a:latin typeface="Calibri"/>
              </a:rPr>
              <a:t>The number went out and a string came back. Nothing was corrupted and nothing warned you. The agreement simply never carried the type.</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Yesterday's planted bug, revisited</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Monday you had one amount stored as text and it broke a comparison.</a:t>
            </a:r>
          </a:p>
          <a:p>
            <a:pPr>
              <a:spcAft>
                <a:spcPts val="1000"/>
              </a:spcAft>
            </a:pPr>
            <a:r>
              <a:rPr sz="2100" b="0">
                <a:solidFill>
                  <a:srgbClr val="1C1C1A"/>
                </a:solidFill>
                <a:latin typeface="Calibri"/>
              </a:rPr>
              <a:t>Write those same records to CSV and that bug vanishes, because now every amount is text. The defect did not get fixed. It got hidden.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So conversion is a decision</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1000"/>
              </a:spcAft>
            </a:pPr>
            <a:r>
              <a:rPr sz="2100" b="0">
                <a:solidFill>
                  <a:srgbClr val="1C1C1A"/>
                </a:solidFill>
                <a:latin typeface="Calibri"/>
              </a:rPr>
              <a:t>You convert on purpose, at a place you chose, with a plan for what happens when it fails.</a:t>
            </a:r>
          </a:p>
          <a:p>
            <a:pPr>
              <a:spcAft>
                <a:spcPts val="1000"/>
              </a:spcAft>
            </a:pPr>
            <a:r>
              <a:rPr sz="2100" b="0">
                <a:solidFill>
                  <a:srgbClr val="1C1C1A"/>
                </a:solidFill>
                <a:latin typeface="Calibri"/>
              </a:rPr>
              <a:t>That plan is the try block you wrote in half one. It is already done.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to convert, and why the answer is once</a:t>
            </a:r>
          </a:p>
        </p:txBody>
      </p:sp>
      <p:pic>
        <p:nvPicPr>
          <p:cNvPr id="5" name="Picture 4" descr="798eefc924b05266.png"/>
          <p:cNvPicPr>
            <a:picLocks noChangeAspect="1"/>
          </p:cNvPicPr>
          <p:nvPr/>
        </p:nvPicPr>
        <p:blipFill>
          <a:blip r:embed="rId2"/>
          <a:stretch>
            <a:fillRect/>
          </a:stretch>
        </p:blipFill>
        <p:spPr>
          <a:xfrm>
            <a:off x="2658988" y="1965960"/>
            <a:ext cx="6843543" cy="4023360"/>
          </a:xfrm>
          <a:prstGeom prst="rect">
            <a:avLst/>
          </a:prstGeom>
        </p:spPr>
      </p:pic>
      <p:sp>
        <p:nvSpPr>
          <p:cNvPr id="6" name="TextBox 5"/>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Text comparison really does say that. "9" &gt; "10" is True, because it compares the first character and stops.</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1</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A format is an agreement about structure.</a:t>
            </a:r>
          </a:p>
          <a:p>
            <a:pPr>
              <a:spcAft>
                <a:spcPts val="1000"/>
              </a:spcAft>
            </a:pPr>
            <a:r>
              <a:rPr sz="2100" b="0">
                <a:solidFill>
                  <a:srgbClr val="1C1C1A"/>
                </a:solidFill>
                <a:latin typeface="Calibri"/>
              </a:rPr>
              <a:t>2. CSV agrees about rows and commas, never about types.</a:t>
            </a:r>
          </a:p>
          <a:p>
            <a:pPr>
              <a:spcAft>
                <a:spcPts val="1000"/>
              </a:spcAft>
            </a:pPr>
            <a:r>
              <a:rPr sz="2100" b="0">
                <a:solidFill>
                  <a:srgbClr val="1C1C1A"/>
                </a:solidFill>
                <a:latin typeface="Calibri"/>
              </a:rPr>
              <a:t>3. Everything you read is a string.</a:t>
            </a:r>
          </a:p>
          <a:p>
            <a:pPr>
              <a:spcAft>
                <a:spcPts val="1000"/>
              </a:spcAft>
            </a:pPr>
            <a:r>
              <a:rPr sz="2100" b="0">
                <a:solidFill>
                  <a:srgbClr val="1C1C1A"/>
                </a:solidFill>
                <a:latin typeface="Calibri"/>
              </a:rPr>
              <a:t>4. Convert on purpose, in one place, with a rejection path.</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2: OPENING A FILE</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[inline cell] &gt; [packaged decision] &gt; [read the failure] &gt; [log the rejection] &gt; </a:t>
            </a:r>
            <a:r>
              <a:rPr sz="2100" b="1">
                <a:solidFill>
                  <a:srgbClr val="FFFFFF"/>
                </a:solidFill>
                <a:latin typeface="Calibri"/>
              </a:rPr>
              <a:t>[cross the boundary]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break, first</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FileNotFoundError: [Errno 2] No such file or directory: 'data/orderz.csv'</a:t>
            </a:r>
          </a:p>
        </p:txBody>
      </p:sp>
      <p:sp>
        <p:nvSpPr>
          <p:cNvPr id="5" name="TextBox 4"/>
          <p:cNvSpPr txBox="1"/>
          <p:nvPr/>
        </p:nvSpPr>
        <p:spPr>
          <a:xfrm>
            <a:off x="777240" y="2606040"/>
            <a:ext cx="10607040" cy="790575"/>
          </a:xfrm>
          <a:prstGeom prst="rect">
            <a:avLst/>
          </a:prstGeom>
          <a:noFill/>
        </p:spPr>
        <p:txBody>
          <a:bodyPr wrap="square">
            <a:spAutoFit/>
          </a:bodyPr>
          <a:lstStyle/>
          <a:p>
            <a:pPr>
              <a:spcAft>
                <a:spcPts val="1000"/>
              </a:spcAft>
            </a:pPr>
            <a:r>
              <a:rPr sz="2100" b="0">
                <a:solidFill>
                  <a:srgbClr val="1C1C1A"/>
                </a:solidFill>
                <a:latin typeface="Calibri"/>
              </a:rPr>
              <a:t>Before we open a file correctly, watch what a wrong path says. It names the exact path it tried. Read it out loud and you find the typo.</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path is relative to where the kernel is running</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Not to where you think you are. Not to where the file browser is pointing.</a:t>
            </a:r>
          </a:p>
          <a:p>
            <a:pPr>
              <a:spcAft>
                <a:spcPts val="1000"/>
              </a:spcAft>
            </a:pPr>
            <a:r>
              <a:rPr sz="2100" b="0">
                <a:solidFill>
                  <a:srgbClr val="1C1C1A"/>
                </a:solidFill>
                <a:latin typeface="Calibri"/>
              </a:rPr>
              <a:t>FileNotFoundError is the cheapest error in this course. It tells you exactly what it looked for.</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How a relative path is resolved</a:t>
            </a:r>
          </a:p>
        </p:txBody>
      </p:sp>
      <p:pic>
        <p:nvPicPr>
          <p:cNvPr id="4" name="Picture 3" descr="0e39ea0ad0def0f6.png"/>
          <p:cNvPicPr>
            <a:picLocks noChangeAspect="1"/>
          </p:cNvPicPr>
          <p:nvPr/>
        </p:nvPicPr>
        <p:blipFill>
          <a:blip r:embed="rId2"/>
          <a:stretch>
            <a:fillRect/>
          </a:stretch>
        </p:blipFill>
        <p:spPr>
          <a:xfrm>
            <a:off x="777240" y="1965960"/>
            <a:ext cx="10607040" cy="1467640"/>
          </a:xfrm>
          <a:prstGeom prst="rect">
            <a:avLst/>
          </a:prstGeom>
        </p:spPr>
      </p:pic>
      <p:sp>
        <p:nvSpPr>
          <p:cNvPr id="5" name="TextBox 4"/>
          <p:cNvSpPr txBox="1"/>
          <p:nvPr/>
        </p:nvSpPr>
        <p:spPr>
          <a:xfrm>
            <a:off x="777240" y="3570760"/>
            <a:ext cx="10607040" cy="790575"/>
          </a:xfrm>
          <a:prstGeom prst="rect">
            <a:avLst/>
          </a:prstGeom>
          <a:noFill/>
        </p:spPr>
        <p:txBody>
          <a:bodyPr wrap="square">
            <a:spAutoFit/>
          </a:bodyPr>
          <a:lstStyle/>
          <a:p>
            <a:pPr>
              <a:spcAft>
                <a:spcPts val="1000"/>
              </a:spcAft>
            </a:pPr>
            <a:r>
              <a:rPr sz="2100" b="0">
                <a:solidFill>
                  <a:srgbClr val="1C1C1A"/>
                </a:solidFill>
                <a:latin typeface="Calibri"/>
              </a:rPr>
              <a:t>When the path in the error is not the path you expected, the working directory is wrong rather than the filename. Print it once and the confusion ends.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with open</a:t>
            </a:r>
          </a:p>
        </p:txBody>
      </p:sp>
      <p:sp>
        <p:nvSpPr>
          <p:cNvPr id="4" name="TextBox 3"/>
          <p:cNvSpPr txBox="1"/>
          <p:nvPr/>
        </p:nvSpPr>
        <p:spPr>
          <a:xfrm>
            <a:off x="777240" y="1965960"/>
            <a:ext cx="10607040" cy="666750"/>
          </a:xfrm>
          <a:prstGeom prst="rect">
            <a:avLst/>
          </a:prstGeom>
          <a:noFill/>
        </p:spPr>
        <p:txBody>
          <a:bodyPr wrap="square">
            <a:spAutoFit/>
          </a:bodyPr>
          <a:lstStyle/>
          <a:p>
            <a:pPr>
              <a:spcAft>
                <a:spcPts val="400"/>
              </a:spcAft>
            </a:pPr>
            <a:r>
              <a:rPr sz="1700" b="0">
                <a:solidFill>
                  <a:srgbClr val="2B4A7D"/>
                </a:solidFill>
                <a:latin typeface="Consolas"/>
              </a:rPr>
              <a:t>with open("records.csv") as f:</a:t>
            </a:r>
          </a:p>
          <a:p>
            <a:pPr>
              <a:spcAft>
                <a:spcPts val="400"/>
              </a:spcAft>
            </a:pPr>
            <a:r>
              <a:rPr sz="1700" b="0">
                <a:solidFill>
                  <a:srgbClr val="2B4A7D"/>
                </a:solidFill>
                <a:latin typeface="Consolas"/>
              </a:rPr>
              <a:t>    ...</a:t>
            </a:r>
          </a:p>
        </p:txBody>
      </p:sp>
      <p:sp>
        <p:nvSpPr>
          <p:cNvPr id="5" name="TextBox 4"/>
          <p:cNvSpPr txBox="1"/>
          <p:nvPr/>
        </p:nvSpPr>
        <p:spPr>
          <a:xfrm>
            <a:off x="777240" y="2769870"/>
            <a:ext cx="10607040" cy="790575"/>
          </a:xfrm>
          <a:prstGeom prst="rect">
            <a:avLst/>
          </a:prstGeom>
          <a:noFill/>
        </p:spPr>
        <p:txBody>
          <a:bodyPr wrap="square">
            <a:spAutoFit/>
          </a:bodyPr>
          <a:lstStyle/>
          <a:p>
            <a:pPr>
              <a:spcAft>
                <a:spcPts val="1000"/>
              </a:spcAft>
            </a:pPr>
            <a:r>
              <a:rPr sz="2100" b="0">
                <a:solidFill>
                  <a:srgbClr val="1C1C1A"/>
                </a:solidFill>
                <a:latin typeface="Calibri"/>
              </a:rPr>
              <a:t>The with block guarantees the file closes when the block ends, including when your code raises inside it.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the with block is doing for you</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These two are equivalent, and the second one is what you would have to write by hand.</a:t>
            </a:r>
          </a:p>
        </p:txBody>
      </p:sp>
      <p:sp>
        <p:nvSpPr>
          <p:cNvPr id="6" name="TextBox 5"/>
          <p:cNvSpPr txBox="1"/>
          <p:nvPr/>
        </p:nvSpPr>
        <p:spPr>
          <a:xfrm>
            <a:off x="777240" y="2646045"/>
            <a:ext cx="10607040" cy="666750"/>
          </a:xfrm>
          <a:prstGeom prst="rect">
            <a:avLst/>
          </a:prstGeom>
          <a:noFill/>
        </p:spPr>
        <p:txBody>
          <a:bodyPr wrap="square">
            <a:spAutoFit/>
          </a:bodyPr>
          <a:lstStyle/>
          <a:p>
            <a:pPr>
              <a:spcAft>
                <a:spcPts val="400"/>
              </a:spcAft>
            </a:pPr>
            <a:r>
              <a:rPr sz="1700" b="0">
                <a:solidFill>
                  <a:srgbClr val="2B4A7D"/>
                </a:solidFill>
                <a:latin typeface="Consolas"/>
              </a:rPr>
              <a:t>with open("records.csv") as f:</a:t>
            </a:r>
          </a:p>
          <a:p>
            <a:pPr>
              <a:spcAft>
                <a:spcPts val="400"/>
              </a:spcAft>
            </a:pPr>
            <a:r>
              <a:rPr sz="1700" b="0">
                <a:solidFill>
                  <a:srgbClr val="2B4A7D"/>
                </a:solidFill>
                <a:latin typeface="Consolas"/>
              </a:rPr>
              <a:t>    rows = list(csv.DictReader(f))</a:t>
            </a:r>
          </a:p>
        </p:txBody>
      </p:sp>
      <p:sp>
        <p:nvSpPr>
          <p:cNvPr id="7" name="TextBox 6"/>
          <p:cNvSpPr txBox="1"/>
          <p:nvPr/>
        </p:nvSpPr>
        <p:spPr>
          <a:xfrm>
            <a:off x="777240" y="3449954"/>
            <a:ext cx="10607040" cy="1409700"/>
          </a:xfrm>
          <a:prstGeom prst="rect">
            <a:avLst/>
          </a:prstGeom>
          <a:noFill/>
        </p:spPr>
        <p:txBody>
          <a:bodyPr wrap="square">
            <a:spAutoFit/>
          </a:bodyPr>
          <a:lstStyle/>
          <a:p>
            <a:pPr>
              <a:spcAft>
                <a:spcPts val="400"/>
              </a:spcAft>
            </a:pPr>
            <a:r>
              <a:rPr sz="1700" b="0">
                <a:solidFill>
                  <a:srgbClr val="2B4A7D"/>
                </a:solidFill>
                <a:latin typeface="Consolas"/>
              </a:rPr>
              <a:t>f = open("records.csv")</a:t>
            </a:r>
          </a:p>
          <a:p>
            <a:pPr>
              <a:spcAft>
                <a:spcPts val="400"/>
              </a:spcAft>
            </a:pPr>
            <a:r>
              <a:rPr sz="1700" b="0">
                <a:solidFill>
                  <a:srgbClr val="2B4A7D"/>
                </a:solidFill>
                <a:latin typeface="Consolas"/>
              </a:rPr>
              <a:t>try:</a:t>
            </a:r>
          </a:p>
          <a:p>
            <a:pPr>
              <a:spcAft>
                <a:spcPts val="400"/>
              </a:spcAft>
            </a:pPr>
            <a:r>
              <a:rPr sz="1700" b="0">
                <a:solidFill>
                  <a:srgbClr val="2B4A7D"/>
                </a:solidFill>
                <a:latin typeface="Consolas"/>
              </a:rPr>
              <a:t>    rows = list(csv.DictReader(f))</a:t>
            </a:r>
          </a:p>
          <a:p>
            <a:pPr>
              <a:spcAft>
                <a:spcPts val="400"/>
              </a:spcAft>
            </a:pPr>
            <a:r>
              <a:rPr sz="1700" b="0">
                <a:solidFill>
                  <a:srgbClr val="2B4A7D"/>
                </a:solidFill>
                <a:latin typeface="Consolas"/>
              </a:rPr>
              <a:t>finally:</a:t>
            </a:r>
          </a:p>
          <a:p>
            <a:pPr>
              <a:spcAft>
                <a:spcPts val="400"/>
              </a:spcAft>
            </a:pPr>
            <a:r>
              <a:rPr sz="1700" b="0">
                <a:solidFill>
                  <a:srgbClr val="2B4A7D"/>
                </a:solidFill>
                <a:latin typeface="Consolas"/>
              </a:rPr>
              <a:t>    f.close()</a:t>
            </a:r>
          </a:p>
        </p:txBody>
      </p:sp>
      <p:sp>
        <p:nvSpPr>
          <p:cNvPr id="8" name="TextBox 7"/>
          <p:cNvSpPr txBox="1"/>
          <p:nvPr/>
        </p:nvSpPr>
        <p:spPr>
          <a:xfrm>
            <a:off x="777240" y="4996814"/>
            <a:ext cx="10607040" cy="790575"/>
          </a:xfrm>
          <a:prstGeom prst="rect">
            <a:avLst/>
          </a:prstGeom>
          <a:noFill/>
        </p:spPr>
        <p:txBody>
          <a:bodyPr wrap="square">
            <a:spAutoFit/>
          </a:bodyPr>
          <a:lstStyle/>
          <a:p>
            <a:pPr>
              <a:spcAft>
                <a:spcPts val="1000"/>
              </a:spcAft>
            </a:pPr>
            <a:r>
              <a:rPr sz="2100" b="0">
                <a:solidFill>
                  <a:srgbClr val="1C1C1A"/>
                </a:solidFill>
                <a:latin typeface="Calibri"/>
              </a:rPr>
              <a:t>The finally runs whether the body finished or raised. That is the guarantee, and it is the reason a crash in the middle of a loop still leaves the file closed.</a:t>
            </a:r>
          </a:p>
        </p:txBody>
      </p:sp>
      <p:sp>
        <p:nvSpPr>
          <p:cNvPr id="9" name="TextBox 8"/>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Why that guarantee matters</a:t>
            </a:r>
          </a:p>
        </p:txBody>
      </p:sp>
      <p:sp>
        <p:nvSpPr>
          <p:cNvPr id="4" name="TextBox 3"/>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Without it, a crash mid-loop leaves the file open. On your laptop you get away with it. On a server that runs this a thousand times a day, you run out of file handles.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Running out of handles, as arithmetic</a:t>
            </a:r>
          </a:p>
        </p:txBody>
      </p:sp>
      <p:sp>
        <p:nvSpPr>
          <p:cNvPr id="5" name="TextBox 4"/>
          <p:cNvSpPr txBox="1"/>
          <p:nvPr/>
        </p:nvSpPr>
        <p:spPr>
          <a:xfrm>
            <a:off x="777240" y="1965960"/>
            <a:ext cx="10607040" cy="2647950"/>
          </a:xfrm>
          <a:prstGeom prst="rect">
            <a:avLst/>
          </a:prstGeom>
          <a:noFill/>
        </p:spPr>
        <p:txBody>
          <a:bodyPr wrap="square">
            <a:spAutoFit/>
          </a:bodyPr>
          <a:lstStyle/>
          <a:p>
            <a:pPr>
              <a:spcAft>
                <a:spcPts val="1000"/>
              </a:spcAft>
            </a:pPr>
            <a:r>
              <a:rPr sz="2100" b="0">
                <a:solidFill>
                  <a:srgbClr val="1C1C1A"/>
                </a:solidFill>
                <a:latin typeface="Calibri"/>
              </a:rPr>
              <a:t>An operating system gives a process a fixed budget of open file handles. A common default is 1024.</a:t>
            </a:r>
          </a:p>
          <a:p>
            <a:pPr>
              <a:spcAft>
                <a:spcPts val="1000"/>
              </a:spcAft>
            </a:pPr>
            <a:r>
              <a:rPr sz="2100" b="0">
                <a:solidFill>
                  <a:srgbClr val="1C1C1A"/>
                </a:solidFill>
                <a:latin typeface="Calibri"/>
              </a:rPr>
              <a:t>$$\text{runs before failure} = \frac{\text{handle limit}}{\text{handles leaked per run}}$$</a:t>
            </a:r>
          </a:p>
          <a:p>
            <a:pPr>
              <a:spcAft>
                <a:spcPts val="1000"/>
              </a:spcAft>
            </a:pPr>
            <a:r>
              <a:rPr sz="2100" b="0">
                <a:solidFill>
                  <a:srgbClr val="1C1C1A"/>
                </a:solidFill>
                <a:latin typeface="Calibri"/>
              </a:rPr>
              <a:t>Leak one handle per run against a limit of 1024 and the job survives 1024 runs. A job that runs every minute reaches that in under a day, and the failure arrives as OSError: [Errno 24] Too many open files, which names nothing about the loop that caused it.</a:t>
            </a:r>
          </a:p>
          <a:p>
            <a:pPr>
              <a:spcAft>
                <a:spcPts val="1000"/>
              </a:spcAft>
            </a:pPr>
            <a:r>
              <a:rPr sz="2100" b="0">
                <a:solidFill>
                  <a:srgbClr val="1C1C1A"/>
                </a:solidFill>
                <a:latin typeface="Calibri"/>
              </a:rPr>
              <a:t>That is why the fix is a habit rather than a debugging skill. You cannot debug your way to the cause quickly.</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modes you will actually use</a:t>
            </a:r>
          </a:p>
        </p:txBody>
      </p:sp>
      <p:graphicFrame>
        <p:nvGraphicFramePr>
          <p:cNvPr id="5" name="Table 4"/>
          <p:cNvGraphicFramePr>
            <a:graphicFrameLocks noGrp="1"/>
          </p:cNvGraphicFramePr>
          <p:nvPr/>
        </p:nvGraphicFramePr>
        <p:xfrm>
          <a:off x="777240" y="1965960"/>
          <a:ext cx="10607040" cy="1920240"/>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Mode</a:t>
                      </a:r>
                    </a:p>
                  </a:txBody>
                  <a:tcPr marT="25400" marB="25400"/>
                </a:tc>
                <a:tc>
                  <a:txBody>
                    <a:bodyPr/>
                    <a:lstStyle/>
                    <a:p>
                      <a:r>
                        <a:rPr sz="1300" b="1">
                          <a:solidFill>
                            <a:srgbClr val="2B4A7D"/>
                          </a:solidFill>
                          <a:latin typeface="Calibri"/>
                        </a:rPr>
                        <a:t>What it means</a:t>
                      </a:r>
                    </a:p>
                  </a:txBody>
                  <a:tcPr marT="25400" marB="25400"/>
                </a:tc>
                <a:tc>
                  <a:txBody>
                    <a:bodyPr/>
                    <a:lstStyle/>
                    <a:p>
                      <a:r>
                        <a:rPr sz="1300" b="1">
                          <a:solidFill>
                            <a:srgbClr val="2B4A7D"/>
                          </a:solidFill>
                          <a:latin typeface="Calibri"/>
                        </a:rPr>
                        <a:t>The trap</a:t>
                      </a:r>
                    </a:p>
                  </a:txBody>
                  <a:tcPr marT="25400" marB="25400"/>
                </a:tc>
              </a:tr>
              <a:tr h="384048">
                <a:tc>
                  <a:txBody>
                    <a:bodyPr/>
                    <a:lstStyle/>
                    <a:p>
                      <a:r>
                        <a:rPr sz="1400" b="0">
                          <a:solidFill>
                            <a:srgbClr val="1C1C1A"/>
                          </a:solidFill>
                          <a:latin typeface="Calibri"/>
                        </a:rPr>
                        <a:t>"r"</a:t>
                      </a:r>
                    </a:p>
                  </a:txBody>
                  <a:tcPr marT="25400" marB="25400"/>
                </a:tc>
                <a:tc>
                  <a:txBody>
                    <a:bodyPr/>
                    <a:lstStyle/>
                    <a:p>
                      <a:r>
                        <a:rPr sz="1400" b="0">
                          <a:solidFill>
                            <a:srgbClr val="1C1C1A"/>
                          </a:solidFill>
                          <a:latin typeface="Calibri"/>
                        </a:rPr>
                        <a:t>Read text. This is the default.</a:t>
                      </a:r>
                    </a:p>
                  </a:txBody>
                  <a:tcPr marT="25400" marB="25400"/>
                </a:tc>
                <a:tc>
                  <a:txBody>
                    <a:bodyPr/>
                    <a:lstStyle/>
                    <a:p>
                      <a:r>
                        <a:rPr sz="1400" b="0">
                          <a:solidFill>
                            <a:srgbClr val="1C1C1A"/>
                          </a:solidFill>
                          <a:latin typeface="Calibri"/>
                        </a:rPr>
                        <a:t>None, beyond the path.</a:t>
                      </a:r>
                    </a:p>
                  </a:txBody>
                  <a:tcPr marT="25400" marB="25400"/>
                </a:tc>
              </a:tr>
              <a:tr h="384048">
                <a:tc>
                  <a:txBody>
                    <a:bodyPr/>
                    <a:lstStyle/>
                    <a:p>
                      <a:r>
                        <a:rPr sz="1400" b="0">
                          <a:solidFill>
                            <a:srgbClr val="1C1C1A"/>
                          </a:solidFill>
                          <a:latin typeface="Calibri"/>
                        </a:rPr>
                        <a:t>"w"</a:t>
                      </a:r>
                    </a:p>
                  </a:txBody>
                  <a:tcPr marT="25400" marB="25400"/>
                </a:tc>
                <a:tc>
                  <a:txBody>
                    <a:bodyPr/>
                    <a:lstStyle/>
                    <a:p>
                      <a:r>
                        <a:rPr sz="1400" b="0">
                          <a:solidFill>
                            <a:srgbClr val="1C1C1A"/>
                          </a:solidFill>
                          <a:latin typeface="Calibri"/>
                        </a:rPr>
                        <a:t>Write text, truncating the file to empty first.</a:t>
                      </a:r>
                    </a:p>
                  </a:txBody>
                  <a:tcPr marT="25400" marB="25400"/>
                </a:tc>
                <a:tc>
                  <a:txBody>
                    <a:bodyPr/>
                    <a:lstStyle/>
                    <a:p>
                      <a:r>
                        <a:rPr sz="1400" b="0">
                          <a:solidFill>
                            <a:srgbClr val="1C1C1A"/>
                          </a:solidFill>
                          <a:latin typeface="Calibri"/>
                        </a:rPr>
                        <a:t>It destroys the file's contents the moment it opens, before you have written anything.</a:t>
                      </a:r>
                    </a:p>
                  </a:txBody>
                  <a:tcPr marT="25400" marB="25400"/>
                </a:tc>
              </a:tr>
              <a:tr h="384048">
                <a:tc>
                  <a:txBody>
                    <a:bodyPr/>
                    <a:lstStyle/>
                    <a:p>
                      <a:r>
                        <a:rPr sz="1400" b="0">
                          <a:solidFill>
                            <a:srgbClr val="1C1C1A"/>
                          </a:solidFill>
                          <a:latin typeface="Calibri"/>
                        </a:rPr>
                        <a:t>"a"</a:t>
                      </a:r>
                    </a:p>
                  </a:txBody>
                  <a:tcPr marT="25400" marB="25400"/>
                </a:tc>
                <a:tc>
                  <a:txBody>
                    <a:bodyPr/>
                    <a:lstStyle/>
                    <a:p>
                      <a:r>
                        <a:rPr sz="1400" b="0">
                          <a:solidFill>
                            <a:srgbClr val="1C1C1A"/>
                          </a:solidFill>
                          <a:latin typeface="Calibri"/>
                        </a:rPr>
                        <a:t>Append text to the end.</a:t>
                      </a:r>
                    </a:p>
                  </a:txBody>
                  <a:tcPr marT="25400" marB="25400"/>
                </a:tc>
                <a:tc>
                  <a:txBody>
                    <a:bodyPr/>
                    <a:lstStyle/>
                    <a:p>
                      <a:r>
                        <a:rPr sz="1400" b="0">
                          <a:solidFill>
                            <a:srgbClr val="1C1C1A"/>
                          </a:solidFill>
                          <a:latin typeface="Calibri"/>
                        </a:rPr>
                        <a:t>Running your cell twice doubles the rows and nothing complains.</a:t>
                      </a:r>
                    </a:p>
                  </a:txBody>
                  <a:tcPr marT="25400" marB="25400"/>
                </a:tc>
              </a:tr>
              <a:tr h="384048">
                <a:tc>
                  <a:txBody>
                    <a:bodyPr/>
                    <a:lstStyle/>
                    <a:p>
                      <a:r>
                        <a:rPr sz="1400" b="0">
                          <a:solidFill>
                            <a:srgbClr val="1C1C1A"/>
                          </a:solidFill>
                          <a:latin typeface="Calibri"/>
                        </a:rPr>
                        <a:t>newline=""</a:t>
                      </a:r>
                    </a:p>
                  </a:txBody>
                  <a:tcPr marT="25400" marB="25400"/>
                </a:tc>
                <a:tc>
                  <a:txBody>
                    <a:bodyPr/>
                    <a:lstStyle/>
                    <a:p>
                      <a:r>
                        <a:rPr sz="1400" b="0">
                          <a:solidFill>
                            <a:srgbClr val="1C1C1A"/>
                          </a:solidFill>
                          <a:latin typeface="Calibri"/>
                        </a:rPr>
                        <a:t>Passed to open when using the csv module for writing.</a:t>
                      </a:r>
                    </a:p>
                  </a:txBody>
                  <a:tcPr marT="25400" marB="25400"/>
                </a:tc>
                <a:tc>
                  <a:txBody>
                    <a:bodyPr/>
                    <a:lstStyle/>
                    <a:p>
                      <a:r>
                        <a:rPr sz="1400" b="0">
                          <a:solidFill>
                            <a:srgbClr val="1C1C1A"/>
                          </a:solidFill>
                          <a:latin typeface="Calibri"/>
                        </a:rPr>
                        <a:t>Leaving it out gives you a blank line between every row on some platforms.</a:t>
                      </a:r>
                    </a:p>
                  </a:txBody>
                  <a:tcPr marT="25400" marB="25400"/>
                </a:tc>
              </a:tr>
            </a:tbl>
          </a:graphicData>
        </a:graphic>
      </p:graphicFrame>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2</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Read the path in the error before you edit anything.</a:t>
            </a:r>
          </a:p>
          <a:p>
            <a:pPr>
              <a:spcAft>
                <a:spcPts val="1000"/>
              </a:spcAft>
            </a:pPr>
            <a:r>
              <a:rPr sz="2100" b="0">
                <a:solidFill>
                  <a:srgbClr val="1C1C1A"/>
                </a:solidFill>
                <a:latin typeface="Calibri"/>
              </a:rPr>
              <a:t>2. Paths are relative to the running kernel.</a:t>
            </a:r>
          </a:p>
          <a:p>
            <a:pPr>
              <a:spcAft>
                <a:spcPts val="1000"/>
              </a:spcAft>
            </a:pPr>
            <a:r>
              <a:rPr sz="2100" b="0">
                <a:solidFill>
                  <a:srgbClr val="1C1C1A"/>
                </a:solidFill>
                <a:latin typeface="Calibri"/>
              </a:rPr>
              <a:t>3. Use with open.</a:t>
            </a:r>
          </a:p>
          <a:p>
            <a:pPr>
              <a:spcAft>
                <a:spcPts val="1000"/>
              </a:spcAft>
            </a:pPr>
            <a:r>
              <a:rPr sz="2100" b="0">
                <a:solidFill>
                  <a:srgbClr val="1C1C1A"/>
                </a:solidFill>
                <a:latin typeface="Calibri"/>
              </a:rPr>
              <a:t>4. The close is guaranteed even when the code fails.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3: CSV WITH NAMES</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[inline cell] &gt; [packaged decision] &gt; [read the failure] &gt; [log the rejection] &gt; </a:t>
            </a:r>
            <a:r>
              <a:rPr sz="2100" b="1">
                <a:solidFill>
                  <a:srgbClr val="FFFFFF"/>
                </a:solidFill>
                <a:latin typeface="Calibri"/>
              </a:rPr>
              <a:t>[cross the boundary]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Reading by position hurts</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row[2]</a:t>
            </a:r>
          </a:p>
        </p:txBody>
      </p:sp>
      <p:sp>
        <p:nvSpPr>
          <p:cNvPr id="5" name="TextBox 4"/>
          <p:cNvSpPr txBox="1"/>
          <p:nvPr/>
        </p:nvSpPr>
        <p:spPr>
          <a:xfrm>
            <a:off x="777240" y="2606040"/>
            <a:ext cx="10607040" cy="542925"/>
          </a:xfrm>
          <a:prstGeom prst="rect">
            <a:avLst/>
          </a:prstGeom>
          <a:noFill/>
        </p:spPr>
        <p:txBody>
          <a:bodyPr wrap="square">
            <a:spAutoFit/>
          </a:bodyPr>
          <a:lstStyle/>
          <a:p>
            <a:pPr>
              <a:spcAft>
                <a:spcPts val="1000"/>
              </a:spcAft>
            </a:pPr>
            <a:r>
              <a:rPr sz="2100" b="0">
                <a:solidFill>
                  <a:srgbClr val="1C1C1A"/>
                </a:solidFill>
                <a:latin typeface="Calibri"/>
              </a:rPr>
              <a:t>What is field 2? You have to go and look. Then someone adds a column and every number shifts.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DictReader</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400"/>
              </a:spcAft>
            </a:pPr>
            <a:r>
              <a:rPr sz="1700" b="0">
                <a:solidFill>
                  <a:srgbClr val="2B4A7D"/>
                </a:solidFill>
                <a:latin typeface="Consolas"/>
              </a:rPr>
              <a:t>import csv</a:t>
            </a:r>
          </a:p>
          <a:p>
            <a:pPr>
              <a:spcAft>
                <a:spcPts val="400"/>
              </a:spcAft>
            </a:pPr>
          </a:p>
          <a:p>
            <a:pPr>
              <a:spcAft>
                <a:spcPts val="400"/>
              </a:spcAft>
            </a:pPr>
            <a:r>
              <a:rPr sz="1700" b="0">
                <a:solidFill>
                  <a:srgbClr val="2B4A7D"/>
                </a:solidFill>
                <a:latin typeface="Consolas"/>
              </a:rPr>
              <a:t>with open("records.csv") as f:</a:t>
            </a:r>
          </a:p>
          <a:p>
            <a:pPr>
              <a:spcAft>
                <a:spcPts val="400"/>
              </a:spcAft>
            </a:pPr>
            <a:r>
              <a:rPr sz="1700" b="0">
                <a:solidFill>
                  <a:srgbClr val="2B4A7D"/>
                </a:solidFill>
                <a:latin typeface="Consolas"/>
              </a:rPr>
              <a:t>    for record in csv.DictReader(f):</a:t>
            </a:r>
          </a:p>
          <a:p>
            <a:pPr>
              <a:spcAft>
                <a:spcPts val="400"/>
              </a:spcAft>
            </a:pPr>
            <a:r>
              <a:rPr sz="1700" b="0">
                <a:solidFill>
                  <a:srgbClr val="2B4A7D"/>
                </a:solidFill>
                <a:latin typeface="Consolas"/>
              </a:rPr>
              <a:t>        print(record["amount"])</a:t>
            </a:r>
          </a:p>
        </p:txBody>
      </p:sp>
      <p:sp>
        <p:nvSpPr>
          <p:cNvPr id="5" name="TextBox 4"/>
          <p:cNvSpPr txBox="1"/>
          <p:nvPr/>
        </p:nvSpPr>
        <p:spPr>
          <a:xfrm>
            <a:off x="777240" y="3512820"/>
            <a:ext cx="10607040" cy="542925"/>
          </a:xfrm>
          <a:prstGeom prst="rect">
            <a:avLst/>
          </a:prstGeom>
          <a:noFill/>
        </p:spPr>
        <p:txBody>
          <a:bodyPr wrap="square">
            <a:spAutoFit/>
          </a:bodyPr>
          <a:lstStyle/>
          <a:p>
            <a:pPr>
              <a:spcAft>
                <a:spcPts val="1000"/>
              </a:spcAft>
            </a:pPr>
            <a:r>
              <a:rPr sz="2100" b="0">
                <a:solidFill>
                  <a:srgbClr val="1C1C1A"/>
                </a:solidFill>
                <a:latin typeface="Calibri"/>
              </a:rPr>
              <a:t>Each row arrives as a dictionary. You already know how to read those.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DictReader does, step by step</a:t>
            </a:r>
          </a:p>
        </p:txBody>
      </p:sp>
      <p:pic>
        <p:nvPicPr>
          <p:cNvPr id="4" name="Picture 3" descr="5c011dbb850b44f8.png"/>
          <p:cNvPicPr>
            <a:picLocks noChangeAspect="1"/>
          </p:cNvPicPr>
          <p:nvPr/>
        </p:nvPicPr>
        <p:blipFill>
          <a:blip r:embed="rId2"/>
          <a:stretch>
            <a:fillRect/>
          </a:stretch>
        </p:blipFill>
        <p:spPr>
          <a:xfrm>
            <a:off x="4963524" y="1965960"/>
            <a:ext cx="2234471" cy="4023360"/>
          </a:xfrm>
          <a:prstGeom prst="rect">
            <a:avLst/>
          </a:prstGeom>
        </p:spPr>
      </p:pic>
      <p:sp>
        <p:nvSpPr>
          <p:cNvPr id="5" name="TextBox 4"/>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The header is read once and remembered. Every row after it is matched against that same list of names.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the keys come from</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DictReader takes its keys from the first row of the file.</a:t>
            </a:r>
          </a:p>
          <a:p>
            <a:pPr>
              <a:spcAft>
                <a:spcPts val="1000"/>
              </a:spcAft>
            </a:pPr>
            <a:r>
              <a:rPr sz="2100" b="0">
                <a:solidFill>
                  <a:srgbClr val="1C1C1A"/>
                </a:solidFill>
                <a:latin typeface="Calibri"/>
              </a:rPr>
              <a:t>Change the header spelling in the file and every record["amount"] in your code raises KeyError. The header row is part of the contract.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happens when a row is the wrong length</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This is the part people assume raises. It does not.</a:t>
            </a:r>
          </a:p>
        </p:txBody>
      </p:sp>
      <p:sp>
        <p:nvSpPr>
          <p:cNvPr id="6" name="TextBox 5"/>
          <p:cNvSpPr txBox="1"/>
          <p:nvPr/>
        </p:nvSpPr>
        <p:spPr>
          <a:xfrm>
            <a:off x="777240" y="2646045"/>
            <a:ext cx="10607040" cy="914400"/>
          </a:xfrm>
          <a:prstGeom prst="rect">
            <a:avLst/>
          </a:prstGeom>
          <a:noFill/>
        </p:spPr>
        <p:txBody>
          <a:bodyPr wrap="square">
            <a:spAutoFit/>
          </a:bodyPr>
          <a:lstStyle/>
          <a:p>
            <a:pPr>
              <a:spcAft>
                <a:spcPts val="400"/>
              </a:spcAft>
            </a:pPr>
            <a:r>
              <a:rPr sz="1700" b="0">
                <a:solidFill>
                  <a:srgbClr val="2B4A7D"/>
                </a:solidFill>
                <a:latin typeface="Consolas"/>
              </a:rPr>
              <a:t>header:  order_id,segment,amount</a:t>
            </a:r>
          </a:p>
          <a:p>
            <a:pPr>
              <a:spcAft>
                <a:spcPts val="400"/>
              </a:spcAft>
            </a:pPr>
            <a:r>
              <a:rPr sz="1700" b="0">
                <a:solidFill>
                  <a:srgbClr val="2B4A7D"/>
                </a:solidFill>
                <a:latin typeface="Consolas"/>
              </a:rPr>
              <a:t>short:   KR4200,Retail-Core</a:t>
            </a:r>
          </a:p>
          <a:p>
            <a:pPr>
              <a:spcAft>
                <a:spcPts val="400"/>
              </a:spcAft>
            </a:pPr>
            <a:r>
              <a:rPr sz="1700" b="0">
                <a:solidFill>
                  <a:srgbClr val="2B4A7D"/>
                </a:solidFill>
                <a:latin typeface="Consolas"/>
              </a:rPr>
              <a:t>long:    KR4201,Retail-Plus,2395,OOPS</a:t>
            </a:r>
          </a:p>
        </p:txBody>
      </p:sp>
      <p:sp>
        <p:nvSpPr>
          <p:cNvPr id="7" name="TextBox 6"/>
          <p:cNvSpPr txBox="1"/>
          <p:nvPr/>
        </p:nvSpPr>
        <p:spPr>
          <a:xfrm>
            <a:off x="777240" y="3697604"/>
            <a:ext cx="10607040" cy="666750"/>
          </a:xfrm>
          <a:prstGeom prst="rect">
            <a:avLst/>
          </a:prstGeom>
          <a:noFill/>
        </p:spPr>
        <p:txBody>
          <a:bodyPr wrap="square">
            <a:spAutoFit/>
          </a:bodyPr>
          <a:lstStyle/>
          <a:p>
            <a:pPr>
              <a:spcAft>
                <a:spcPts val="400"/>
              </a:spcAft>
            </a:pPr>
            <a:r>
              <a:rPr sz="1700" b="0">
                <a:solidFill>
                  <a:srgbClr val="2B4A7D"/>
                </a:solidFill>
                <a:latin typeface="Consolas"/>
              </a:rPr>
              <a:t>{'order_id': 'KR4200', 'segment': 'Retail-Core', 'amount': None}</a:t>
            </a:r>
          </a:p>
          <a:p>
            <a:pPr>
              <a:spcAft>
                <a:spcPts val="400"/>
              </a:spcAft>
            </a:pPr>
            <a:r>
              <a:rPr sz="1700" b="0">
                <a:solidFill>
                  <a:srgbClr val="2B4A7D"/>
                </a:solidFill>
                <a:latin typeface="Consolas"/>
              </a:rPr>
              <a:t>{'order_id': 'KR4201', 'segment': 'Retail-Plus', 'amount': '2395', None: ['OOPS']}</a:t>
            </a:r>
          </a:p>
        </p:txBody>
      </p:sp>
      <p:sp>
        <p:nvSpPr>
          <p:cNvPr id="8" name="TextBox 7"/>
          <p:cNvSpPr txBox="1"/>
          <p:nvPr/>
        </p:nvSpPr>
        <p:spPr>
          <a:xfrm>
            <a:off x="777240" y="4501514"/>
            <a:ext cx="10607040" cy="2028825"/>
          </a:xfrm>
          <a:prstGeom prst="rect">
            <a:avLst/>
          </a:prstGeom>
          <a:noFill/>
        </p:spPr>
        <p:txBody>
          <a:bodyPr wrap="square">
            <a:spAutoFit/>
          </a:bodyPr>
          <a:lstStyle/>
          <a:p>
            <a:pPr>
              <a:spcAft>
                <a:spcPts val="1000"/>
              </a:spcAft>
            </a:pPr>
            <a:r>
              <a:rPr sz="2100" b="0">
                <a:solidFill>
                  <a:srgbClr val="1C1C1A"/>
                </a:solidFill>
                <a:latin typeface="Calibri"/>
              </a:rPr>
              <a:t>A short row fills the missing fields with None. A long row puts the surplus under a key that is literally None. Neither one raises, and neither one appears in your output unless you go looking.</a:t>
            </a:r>
          </a:p>
          <a:p>
            <a:pPr>
              <a:spcAft>
                <a:spcPts val="1000"/>
              </a:spcAft>
            </a:pPr>
            <a:r>
              <a:rPr sz="2100" b="0">
                <a:solidFill>
                  <a:srgbClr val="1C1C1A"/>
                </a:solidFill>
                <a:latin typeface="Calibri"/>
              </a:rPr>
              <a:t>Read it yourself in the standard library, Lib/csv.py at the v3.12.0 tag, lines 112 to 132:</a:t>
            </a:r>
          </a:p>
          <a:p>
            <a:pPr>
              <a:spcAft>
                <a:spcPts val="1000"/>
              </a:spcAft>
            </a:pPr>
            <a:r>
              <a:rPr sz="2100" b="0">
                <a:solidFill>
                  <a:srgbClr val="1C1C1A"/>
                </a:solidFill>
                <a:latin typeface="Calibri"/>
              </a:rPr>
              <a:t>https://raw.githubusercontent.com/python/cpython/v3.12.0/Lib/csv.py (verified 09 September 2026)</a:t>
            </a:r>
          </a:p>
        </p:txBody>
      </p:sp>
      <p:sp>
        <p:nvSpPr>
          <p:cNvPr id="9" name="TextBox 8"/>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So the row count is not enough</a:t>
            </a:r>
          </a:p>
        </p:txBody>
      </p:sp>
      <p:sp>
        <p:nvSpPr>
          <p:cNvPr id="5" name="TextBox 4"/>
          <p:cNvSpPr txBox="1"/>
          <p:nvPr/>
        </p:nvSpPr>
        <p:spPr>
          <a:xfrm>
            <a:off x="777240" y="1965960"/>
            <a:ext cx="10607040" cy="1781175"/>
          </a:xfrm>
          <a:prstGeom prst="rect">
            <a:avLst/>
          </a:prstGeom>
          <a:noFill/>
        </p:spPr>
        <p:txBody>
          <a:bodyPr wrap="square">
            <a:spAutoFit/>
          </a:bodyPr>
          <a:lstStyle/>
          <a:p>
            <a:pPr>
              <a:spcAft>
                <a:spcPts val="1000"/>
              </a:spcAft>
            </a:pPr>
            <a:r>
              <a:rPr sz="2100" b="0">
                <a:solidFill>
                  <a:srgbClr val="1C1C1A"/>
                </a:solidFill>
                <a:latin typeface="Calibri"/>
              </a:rPr>
              <a:t>If a short row gives you None rather than an error, then counting rows tells you the file was read, never that it was read correctly.</a:t>
            </a:r>
          </a:p>
          <a:p>
            <a:pPr>
              <a:spcAft>
                <a:spcPts val="1000"/>
              </a:spcAft>
            </a:pPr>
            <a:r>
              <a:rPr sz="2100" b="0">
                <a:solidFill>
                  <a:srgbClr val="1C1C1A"/>
                </a:solidFill>
                <a:latin typeface="Calibri"/>
              </a:rPr>
              <a:t>The check that catches it is a presence check per field, which is exactly what you build tomorrow morning. Today it is enough to know the gap exists.</a:t>
            </a:r>
          </a:p>
          <a:p>
            <a:pPr>
              <a:spcAft>
                <a:spcPts val="1000"/>
              </a:spcAft>
            </a:pPr>
            <a:r>
              <a:rPr sz="2100" b="0">
                <a:solidFill>
                  <a:srgbClr val="1C1C1A"/>
                </a:solidFill>
                <a:latin typeface="Calibri"/>
              </a:rPr>
              <a:t>You can name the missing value on the way in:</a:t>
            </a:r>
          </a:p>
        </p:txBody>
      </p:sp>
      <p:sp>
        <p:nvSpPr>
          <p:cNvPr id="6" name="TextBox 5"/>
          <p:cNvSpPr txBox="1"/>
          <p:nvPr/>
        </p:nvSpPr>
        <p:spPr>
          <a:xfrm>
            <a:off x="777240" y="3884295"/>
            <a:ext cx="10607040" cy="502920"/>
          </a:xfrm>
          <a:prstGeom prst="rect">
            <a:avLst/>
          </a:prstGeom>
          <a:noFill/>
        </p:spPr>
        <p:txBody>
          <a:bodyPr wrap="square">
            <a:spAutoFit/>
          </a:bodyPr>
          <a:lstStyle/>
          <a:p>
            <a:pPr>
              <a:spcAft>
                <a:spcPts val="400"/>
              </a:spcAft>
            </a:pPr>
            <a:r>
              <a:rPr sz="1700" b="0">
                <a:solidFill>
                  <a:srgbClr val="2B4A7D"/>
                </a:solidFill>
                <a:latin typeface="Consolas"/>
              </a:rPr>
              <a:t>csv.DictReader(f, restval="MISSING")</a:t>
            </a:r>
          </a:p>
        </p:txBody>
      </p:sp>
      <p:sp>
        <p:nvSpPr>
          <p:cNvPr id="7" name="TextBox 6"/>
          <p:cNvSpPr txBox="1"/>
          <p:nvPr/>
        </p:nvSpPr>
        <p:spPr>
          <a:xfrm>
            <a:off x="777240" y="4524375"/>
            <a:ext cx="10607040" cy="790575"/>
          </a:xfrm>
          <a:prstGeom prst="rect">
            <a:avLst/>
          </a:prstGeom>
          <a:noFill/>
        </p:spPr>
        <p:txBody>
          <a:bodyPr wrap="square">
            <a:spAutoFit/>
          </a:bodyPr>
          <a:lstStyle/>
          <a:p>
            <a:pPr>
              <a:spcAft>
                <a:spcPts val="1000"/>
              </a:spcAft>
            </a:pPr>
            <a:r>
              <a:rPr sz="2100" b="0">
                <a:solidFill>
                  <a:srgbClr val="1C1C1A"/>
                </a:solidFill>
                <a:latin typeface="Calibri"/>
              </a:rPr>
              <a:t>Now the absence has a value you can count, rather than a None that looks like every other absent thing in Python.</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3</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csv.DictReader gives you one dictionary per row.</a:t>
            </a:r>
          </a:p>
          <a:p>
            <a:pPr>
              <a:spcAft>
                <a:spcPts val="1000"/>
              </a:spcAft>
            </a:pPr>
            <a:r>
              <a:rPr sz="2100" b="0">
                <a:solidFill>
                  <a:srgbClr val="1C1C1A"/>
                </a:solidFill>
                <a:latin typeface="Calibri"/>
              </a:rPr>
              <a:t>2. The keys come from the header row.</a:t>
            </a:r>
          </a:p>
          <a:p>
            <a:pPr>
              <a:spcAft>
                <a:spcPts val="1000"/>
              </a:spcAft>
            </a:pPr>
            <a:r>
              <a:rPr sz="2100" b="0">
                <a:solidFill>
                  <a:srgbClr val="1C1C1A"/>
                </a:solidFill>
                <a:latin typeface="Calibri"/>
              </a:rPr>
              <a:t>3. The header row is part of the agreement.</a:t>
            </a:r>
          </a:p>
          <a:p>
            <a:pPr>
              <a:spcAft>
                <a:spcPts val="1000"/>
              </a:spcAft>
            </a:pPr>
            <a:r>
              <a:rPr sz="2100" b="0">
                <a:solidFill>
                  <a:srgbClr val="1C1C1A"/>
                </a:solidFill>
                <a:latin typeface="Calibri"/>
              </a:rPr>
              <a:t>4. Read by name, never by position.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4: JSON AND NESTING</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[inline cell] &gt; [packaged decision] &gt; [read the failure] &gt; [log the rejection] &gt; </a:t>
            </a:r>
            <a:r>
              <a:rPr sz="2100" b="1">
                <a:solidFill>
                  <a:srgbClr val="FFFFFF"/>
                </a:solidFill>
                <a:latin typeface="Calibri"/>
              </a:rPr>
              <a:t>[cross the boundary]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same agreement, a different shape</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400"/>
              </a:spcAft>
            </a:pPr>
            <a:r>
              <a:rPr sz="1700" b="0">
                <a:solidFill>
                  <a:srgbClr val="2B4A7D"/>
                </a:solidFill>
                <a:latin typeface="Consolas"/>
              </a:rPr>
              <a:t>import json</a:t>
            </a:r>
          </a:p>
          <a:p>
            <a:pPr>
              <a:spcAft>
                <a:spcPts val="400"/>
              </a:spcAft>
            </a:pPr>
          </a:p>
          <a:p>
            <a:pPr>
              <a:spcAft>
                <a:spcPts val="400"/>
              </a:spcAft>
            </a:pPr>
            <a:r>
              <a:rPr sz="1700" b="0">
                <a:solidFill>
                  <a:srgbClr val="2B4A7D"/>
                </a:solidFill>
                <a:latin typeface="Consolas"/>
              </a:rPr>
              <a:t>with open("records.json") as f:</a:t>
            </a:r>
          </a:p>
          <a:p>
            <a:pPr>
              <a:spcAft>
                <a:spcPts val="400"/>
              </a:spcAft>
            </a:pPr>
            <a:r>
              <a:rPr sz="1700" b="0">
                <a:solidFill>
                  <a:srgbClr val="2B4A7D"/>
                </a:solidFill>
                <a:latin typeface="Consolas"/>
              </a:rPr>
              <a:t>    records = json.load(f)</a:t>
            </a:r>
          </a:p>
        </p:txBody>
      </p:sp>
      <p:sp>
        <p:nvSpPr>
          <p:cNvPr id="5" name="TextBox 4"/>
          <p:cNvSpPr txBox="1"/>
          <p:nvPr/>
        </p:nvSpPr>
        <p:spPr>
          <a:xfrm>
            <a:off x="777240" y="3265169"/>
            <a:ext cx="10607040" cy="542925"/>
          </a:xfrm>
          <a:prstGeom prst="rect">
            <a:avLst/>
          </a:prstGeom>
          <a:noFill/>
        </p:spPr>
        <p:txBody>
          <a:bodyPr wrap="square">
            <a:spAutoFit/>
          </a:bodyPr>
          <a:lstStyle/>
          <a:p>
            <a:pPr>
              <a:spcAft>
                <a:spcPts val="1000"/>
              </a:spcAft>
            </a:pPr>
            <a:r>
              <a:rPr sz="2100" b="0">
                <a:solidFill>
                  <a:srgbClr val="1C1C1A"/>
                </a:solidFill>
                <a:latin typeface="Calibri"/>
              </a:rPr>
              <a:t>JSON agrees about types and about nesting. CSV agrees about neither.</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nesting looks like</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400"/>
              </a:spcAft>
            </a:pPr>
            <a:r>
              <a:rPr sz="1700" b="0">
                <a:solidFill>
                  <a:srgbClr val="2B4A7D"/>
                </a:solidFill>
                <a:latin typeface="Consolas"/>
              </a:rPr>
              <a:t>{</a:t>
            </a:r>
          </a:p>
          <a:p>
            <a:pPr>
              <a:spcAft>
                <a:spcPts val="400"/>
              </a:spcAft>
            </a:pPr>
            <a:r>
              <a:rPr sz="1700" b="0">
                <a:solidFill>
                  <a:srgbClr val="2B4A7D"/>
                </a:solidFill>
                <a:latin typeface="Consolas"/>
              </a:rPr>
              <a:t>  "order_id": "KR4214",</a:t>
            </a:r>
          </a:p>
          <a:p>
            <a:pPr>
              <a:spcAft>
                <a:spcPts val="400"/>
              </a:spcAft>
            </a:pPr>
            <a:r>
              <a:rPr sz="1700" b="0">
                <a:solidFill>
                  <a:srgbClr val="2B4A7D"/>
                </a:solidFill>
                <a:latin typeface="Consolas"/>
              </a:rPr>
              <a:t>  "amount": null,</a:t>
            </a:r>
          </a:p>
          <a:p>
            <a:pPr>
              <a:spcAft>
                <a:spcPts val="400"/>
              </a:spcAft>
            </a:pPr>
            <a:r>
              <a:rPr sz="1700" b="0">
                <a:solidFill>
                  <a:srgbClr val="2B4A7D"/>
                </a:solidFill>
                <a:latin typeface="Consolas"/>
              </a:rPr>
              <a:t>  "source": {"system": "kalpa_retail_orders", "amount_raw": "2840"}</a:t>
            </a:r>
          </a:p>
          <a:p>
            <a:pPr>
              <a:spcAft>
                <a:spcPts val="400"/>
              </a:spcAft>
            </a:pPr>
            <a:r>
              <a:rPr sz="1700" b="0">
                <a:solidFill>
                  <a:srgbClr val="2B4A7D"/>
                </a:solidFill>
                <a:latin typeface="Consolas"/>
              </a:rPr>
              <a:t>}</a:t>
            </a:r>
          </a:p>
        </p:txBody>
      </p:sp>
      <p:sp>
        <p:nvSpPr>
          <p:cNvPr id="5" name="TextBox 4"/>
          <p:cNvSpPr txBox="1"/>
          <p:nvPr/>
        </p:nvSpPr>
        <p:spPr>
          <a:xfrm>
            <a:off x="777240" y="3512820"/>
            <a:ext cx="10607040" cy="790575"/>
          </a:xfrm>
          <a:prstGeom prst="rect">
            <a:avLst/>
          </a:prstGeom>
          <a:noFill/>
        </p:spPr>
        <p:txBody>
          <a:bodyPr wrap="square">
            <a:spAutoFit/>
          </a:bodyPr>
          <a:lstStyle/>
          <a:p>
            <a:pPr>
              <a:spcAft>
                <a:spcPts val="1000"/>
              </a:spcAft>
            </a:pPr>
            <a:r>
              <a:rPr sz="2100" b="0">
                <a:solidFill>
                  <a:srgbClr val="1C1C1A"/>
                </a:solidFill>
                <a:latin typeface="Calibri"/>
              </a:rPr>
              <a:t>Record KR4214 had an empty amount in the CSV. The JSON still carries the original value, one level down.</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same record in both files</a:t>
            </a:r>
          </a:p>
        </p:txBody>
      </p:sp>
      <p:pic>
        <p:nvPicPr>
          <p:cNvPr id="4" name="Picture 3" descr="00a47178b7f28841.png"/>
          <p:cNvPicPr>
            <a:picLocks noChangeAspect="1"/>
          </p:cNvPicPr>
          <p:nvPr/>
        </p:nvPicPr>
        <p:blipFill>
          <a:blip r:embed="rId2"/>
          <a:stretch>
            <a:fillRect/>
          </a:stretch>
        </p:blipFill>
        <p:spPr>
          <a:xfrm>
            <a:off x="1829047" y="1965960"/>
            <a:ext cx="8503425" cy="4023360"/>
          </a:xfrm>
          <a:prstGeom prst="rect">
            <a:avLst/>
          </a:prstGeom>
        </p:spPr>
      </p:pic>
      <p:sp>
        <p:nvSpPr>
          <p:cNvPr id="5" name="TextBox 4"/>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The CSV did not corrupt anything. It had nowhere to put a record inside a record, so that part of the truth stayed behind.</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flattening cost</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To put that record in a CSV you have to choose: drop source, or invent a column called source_amount_raw.</a:t>
            </a:r>
          </a:p>
          <a:p>
            <a:pPr>
              <a:spcAft>
                <a:spcPts val="1000"/>
              </a:spcAft>
            </a:pPr>
            <a:r>
              <a:rPr sz="2100" b="0">
                <a:solidFill>
                  <a:srgbClr val="1C1C1A"/>
                </a:solidFill>
                <a:latin typeface="Calibri"/>
              </a:rPr>
              <a:t>Either way the shape changes, and the person downstream has to be told.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flattening decision, drawn</a:t>
            </a:r>
          </a:p>
        </p:txBody>
      </p:sp>
      <p:pic>
        <p:nvPicPr>
          <p:cNvPr id="5" name="Picture 4" descr="88dda403a1c89473.png"/>
          <p:cNvPicPr>
            <a:picLocks noChangeAspect="1"/>
          </p:cNvPicPr>
          <p:nvPr/>
        </p:nvPicPr>
        <p:blipFill>
          <a:blip r:embed="rId2"/>
          <a:stretch>
            <a:fillRect/>
          </a:stretch>
        </p:blipFill>
        <p:spPr>
          <a:xfrm>
            <a:off x="3950186" y="1965960"/>
            <a:ext cx="4261147" cy="4023360"/>
          </a:xfrm>
          <a:prstGeom prst="rect">
            <a:avLst/>
          </a:prstGeom>
        </p:spPr>
      </p:pic>
      <p:sp>
        <p:nvSpPr>
          <p:cNvPr id="6" name="TextBox 5"/>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The last box is the one that bites. You meet it properly in Week 2, when a join grows one thousand rows into one thousand four hundred and fifty and doubles the revenue.</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When JSON goes wrong</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1000"/>
              </a:spcAft>
            </a:pPr>
            <a:r>
              <a:rPr sz="2100" b="0">
                <a:solidFill>
                  <a:srgbClr val="1C1C1A"/>
                </a:solidFill>
                <a:latin typeface="Calibri"/>
              </a:rPr>
              <a:t>A JSON file is either wholly valid or wholly unreadable. There is no half-parsed JSON.</a:t>
            </a:r>
          </a:p>
          <a:p>
            <a:pPr>
              <a:spcAft>
                <a:spcPts val="1000"/>
              </a:spcAft>
            </a:pPr>
            <a:r>
              <a:rPr sz="2100" b="0">
                <a:solidFill>
                  <a:srgbClr val="1C1C1A"/>
                </a:solidFill>
                <a:latin typeface="Calibri"/>
              </a:rPr>
              <a:t>json.load fails with a line and a column. Your exercise this half is one of these.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Reading a JSONDecodeError, position by position</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The vendor feed in your exercise folder stops mid-record. Loading it gives you exactly this:</a:t>
            </a:r>
          </a:p>
        </p:txBody>
      </p:sp>
      <p:sp>
        <p:nvSpPr>
          <p:cNvPr id="6" name="TextBox 5"/>
          <p:cNvSpPr txBox="1"/>
          <p:nvPr/>
        </p:nvSpPr>
        <p:spPr>
          <a:xfrm>
            <a:off x="777240" y="2646045"/>
            <a:ext cx="10607040" cy="502920"/>
          </a:xfrm>
          <a:prstGeom prst="rect">
            <a:avLst/>
          </a:prstGeom>
          <a:noFill/>
        </p:spPr>
        <p:txBody>
          <a:bodyPr wrap="square">
            <a:spAutoFit/>
          </a:bodyPr>
          <a:lstStyle/>
          <a:p>
            <a:pPr>
              <a:spcAft>
                <a:spcPts val="400"/>
              </a:spcAft>
            </a:pPr>
            <a:r>
              <a:rPr sz="1700" b="0">
                <a:solidFill>
                  <a:srgbClr val="2B4A7D"/>
                </a:solidFill>
                <a:latin typeface="Consolas"/>
              </a:rPr>
              <a:t>json.decoder.JSONDecodeError: Expecting ',' delimiter: line 48 column 1 (char 1027)</a:t>
            </a:r>
          </a:p>
        </p:txBody>
      </p:sp>
      <p:graphicFrame>
        <p:nvGraphicFramePr>
          <p:cNvPr id="7" name="Table 6"/>
          <p:cNvGraphicFramePr>
            <a:graphicFrameLocks noGrp="1"/>
          </p:cNvGraphicFramePr>
          <p:nvPr/>
        </p:nvGraphicFramePr>
        <p:xfrm>
          <a:off x="777240" y="3286125"/>
          <a:ext cx="10607040" cy="1536192"/>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Part</a:t>
                      </a:r>
                    </a:p>
                  </a:txBody>
                  <a:tcPr marT="25400" marB="25400"/>
                </a:tc>
                <a:tc>
                  <a:txBody>
                    <a:bodyPr/>
                    <a:lstStyle/>
                    <a:p>
                      <a:r>
                        <a:rPr sz="1300" b="1">
                          <a:solidFill>
                            <a:srgbClr val="2B4A7D"/>
                          </a:solidFill>
                          <a:latin typeface="Calibri"/>
                        </a:rPr>
                        <a:t>What it tells you</a:t>
                      </a:r>
                    </a:p>
                  </a:txBody>
                  <a:tcPr marT="25400" marB="25400"/>
                </a:tc>
              </a:tr>
              <a:tr h="384048">
                <a:tc>
                  <a:txBody>
                    <a:bodyPr/>
                    <a:lstStyle/>
                    <a:p>
                      <a:r>
                        <a:rPr sz="1400" b="0">
                          <a:solidFill>
                            <a:srgbClr val="1C1C1A"/>
                          </a:solidFill>
                          <a:latin typeface="Calibri"/>
                        </a:rPr>
                        <a:t>Expecting ',' delimiter</a:t>
                      </a:r>
                    </a:p>
                  </a:txBody>
                  <a:tcPr marT="25400" marB="25400"/>
                </a:tc>
                <a:tc>
                  <a:txBody>
                    <a:bodyPr/>
                    <a:lstStyle/>
                    <a:p>
                      <a:r>
                        <a:rPr sz="1400" b="0">
                          <a:solidFill>
                            <a:srgbClr val="1C1C1A"/>
                          </a:solidFill>
                          <a:latin typeface="Calibri"/>
                        </a:rPr>
                        <a:t>The parser was part way through a structure and needed a separator to continue.</a:t>
                      </a:r>
                    </a:p>
                  </a:txBody>
                  <a:tcPr marT="25400" marB="25400"/>
                </a:tc>
              </a:tr>
              <a:tr h="384048">
                <a:tc>
                  <a:txBody>
                    <a:bodyPr/>
                    <a:lstStyle/>
                    <a:p>
                      <a:r>
                        <a:rPr sz="1400" b="0">
                          <a:solidFill>
                            <a:srgbClr val="1C1C1A"/>
                          </a:solidFill>
                          <a:latin typeface="Calibri"/>
                        </a:rPr>
                        <a:t>line 48 column 1</a:t>
                      </a:r>
                    </a:p>
                  </a:txBody>
                  <a:tcPr marT="25400" marB="25400"/>
                </a:tc>
                <a:tc>
                  <a:txBody>
                    <a:bodyPr/>
                    <a:lstStyle/>
                    <a:p>
                      <a:r>
                        <a:rPr sz="1400" b="0">
                          <a:solidFill>
                            <a:srgbClr val="1C1C1A"/>
                          </a:solidFill>
                          <a:latin typeface="Calibri"/>
                        </a:rPr>
                        <a:t>Where to put your cursor. Open the file and go there first, before reading any other line.</a:t>
                      </a:r>
                    </a:p>
                  </a:txBody>
                  <a:tcPr marT="25400" marB="25400"/>
                </a:tc>
              </a:tr>
              <a:tr h="384048">
                <a:tc>
                  <a:txBody>
                    <a:bodyPr/>
                    <a:lstStyle/>
                    <a:p>
                      <a:r>
                        <a:rPr sz="1400" b="0">
                          <a:solidFill>
                            <a:srgbClr val="1C1C1A"/>
                          </a:solidFill>
                          <a:latin typeface="Calibri"/>
                        </a:rPr>
                        <a:t>char 1027</a:t>
                      </a:r>
                    </a:p>
                  </a:txBody>
                  <a:tcPr marT="25400" marB="25400"/>
                </a:tc>
                <a:tc>
                  <a:txBody>
                    <a:bodyPr/>
                    <a:lstStyle/>
                    <a:p>
                      <a:r>
                        <a:rPr sz="1400" b="0">
                          <a:solidFill>
                            <a:srgbClr val="1C1C1A"/>
                          </a:solidFill>
                          <a:latin typeface="Calibri"/>
                        </a:rPr>
                        <a:t>The same place counted from the start of the file, which is what you use when the file is one long line.</a:t>
                      </a:r>
                    </a:p>
                  </a:txBody>
                  <a:tcPr marT="25400" marB="25400"/>
                </a:tc>
              </a:tr>
            </a:tbl>
          </a:graphicData>
        </a:graphic>
      </p:graphicFrame>
      <p:sp>
        <p:nvSpPr>
          <p:cNvPr id="8" name="TextBox 7"/>
          <p:cNvSpPr txBox="1"/>
          <p:nvPr/>
        </p:nvSpPr>
        <p:spPr>
          <a:xfrm>
            <a:off x="777240" y="5005197"/>
            <a:ext cx="10607040" cy="790575"/>
          </a:xfrm>
          <a:prstGeom prst="rect">
            <a:avLst/>
          </a:prstGeom>
          <a:noFill/>
        </p:spPr>
        <p:txBody>
          <a:bodyPr wrap="square">
            <a:spAutoFit/>
          </a:bodyPr>
          <a:lstStyle/>
          <a:p>
            <a:pPr>
              <a:spcAft>
                <a:spcPts val="1000"/>
              </a:spcAft>
            </a:pPr>
            <a:r>
              <a:rPr sz="2100" b="0">
                <a:solidFill>
                  <a:srgbClr val="1C1C1A"/>
                </a:solidFill>
                <a:latin typeface="Calibri"/>
              </a:rPr>
              <a:t>The message points at where the parser gave up, which is usually one line past where the damage is. Look at line 47 as well as 48.</a:t>
            </a:r>
          </a:p>
        </p:txBody>
      </p:sp>
      <p:sp>
        <p:nvSpPr>
          <p:cNvPr id="9" name="TextBox 8"/>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CSV or JSON, decided rather than defaulted</a:t>
            </a:r>
          </a:p>
        </p:txBody>
      </p:sp>
      <p:graphicFrame>
        <p:nvGraphicFramePr>
          <p:cNvPr id="5" name="Table 4"/>
          <p:cNvGraphicFramePr>
            <a:graphicFrameLocks noGrp="1"/>
          </p:cNvGraphicFramePr>
          <p:nvPr/>
        </p:nvGraphicFramePr>
        <p:xfrm>
          <a:off x="777240" y="1965960"/>
          <a:ext cx="10607040" cy="1920240"/>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Choose CSV when</a:t>
                      </a:r>
                    </a:p>
                  </a:txBody>
                  <a:tcPr marT="25400" marB="25400"/>
                </a:tc>
                <a:tc>
                  <a:txBody>
                    <a:bodyPr/>
                    <a:lstStyle/>
                    <a:p>
                      <a:r>
                        <a:rPr sz="1300" b="1">
                          <a:solidFill>
                            <a:srgbClr val="2B4A7D"/>
                          </a:solidFill>
                          <a:latin typeface="Calibri"/>
                        </a:rPr>
                        <a:t>Choose JSON when</a:t>
                      </a:r>
                    </a:p>
                  </a:txBody>
                  <a:tcPr marT="25400" marB="25400"/>
                </a:tc>
              </a:tr>
              <a:tr h="384048">
                <a:tc>
                  <a:txBody>
                    <a:bodyPr/>
                    <a:lstStyle/>
                    <a:p>
                      <a:r>
                        <a:rPr sz="1400" b="0">
                          <a:solidFill>
                            <a:srgbClr val="1C1C1A"/>
                          </a:solidFill>
                          <a:latin typeface="Calibri"/>
                        </a:rPr>
                        <a:t>Every record has the same flat fields.</a:t>
                      </a:r>
                    </a:p>
                  </a:txBody>
                  <a:tcPr marT="25400" marB="25400"/>
                </a:tc>
                <a:tc>
                  <a:txBody>
                    <a:bodyPr/>
                    <a:lstStyle/>
                    <a:p>
                      <a:r>
                        <a:rPr sz="1400" b="0">
                          <a:solidFill>
                            <a:srgbClr val="1C1C1A"/>
                          </a:solidFill>
                          <a:latin typeface="Calibri"/>
                        </a:rPr>
                        <a:t>Records nest, or fields vary between records.</a:t>
                      </a:r>
                    </a:p>
                  </a:txBody>
                  <a:tcPr marT="25400" marB="25400"/>
                </a:tc>
              </a:tr>
              <a:tr h="384048">
                <a:tc>
                  <a:txBody>
                    <a:bodyPr/>
                    <a:lstStyle/>
                    <a:p>
                      <a:r>
                        <a:rPr sz="1400" b="0">
                          <a:solidFill>
                            <a:srgbClr val="1C1C1A"/>
                          </a:solidFill>
                          <a:latin typeface="Calibri"/>
                        </a:rPr>
                        <a:t>A spreadsheet or a database load is the destination.</a:t>
                      </a:r>
                    </a:p>
                  </a:txBody>
                  <a:tcPr marT="25400" marB="25400"/>
                </a:tc>
                <a:tc>
                  <a:txBody>
                    <a:bodyPr/>
                    <a:lstStyle/>
                    <a:p>
                      <a:r>
                        <a:rPr sz="1400" b="0">
                          <a:solidFill>
                            <a:srgbClr val="1C1C1A"/>
                          </a:solidFill>
                          <a:latin typeface="Calibri"/>
                        </a:rPr>
                        <a:t>Another program is the destination.</a:t>
                      </a:r>
                    </a:p>
                  </a:txBody>
                  <a:tcPr marT="25400" marB="25400"/>
                </a:tc>
              </a:tr>
              <a:tr h="384048">
                <a:tc>
                  <a:txBody>
                    <a:bodyPr/>
                    <a:lstStyle/>
                    <a:p>
                      <a:r>
                        <a:rPr sz="1400" b="0">
                          <a:solidFill>
                            <a:srgbClr val="1C1C1A"/>
                          </a:solidFill>
                          <a:latin typeface="Calibri"/>
                        </a:rPr>
                        <a:t>The file is large and you want to read it a line at a time.</a:t>
                      </a:r>
                    </a:p>
                  </a:txBody>
                  <a:tcPr marT="25400" marB="25400"/>
                </a:tc>
                <a:tc>
                  <a:txBody>
                    <a:bodyPr/>
                    <a:lstStyle/>
                    <a:p>
                      <a:r>
                        <a:rPr sz="1400" b="0">
                          <a:solidFill>
                            <a:srgbClr val="1C1C1A"/>
                          </a:solidFill>
                          <a:latin typeface="Calibri"/>
                        </a:rPr>
                        <a:t>You need the types to survive the trip.</a:t>
                      </a:r>
                    </a:p>
                  </a:txBody>
                  <a:tcPr marT="25400" marB="25400"/>
                </a:tc>
              </a:tr>
              <a:tr h="384048">
                <a:tc>
                  <a:txBody>
                    <a:bodyPr/>
                    <a:lstStyle/>
                    <a:p>
                      <a:r>
                        <a:rPr sz="1400" b="0">
                          <a:solidFill>
                            <a:srgbClr val="1C1C1A"/>
                          </a:solidFill>
                          <a:latin typeface="Calibri"/>
                        </a:rPr>
                        <a:t>The consumer is a person who will open it and look.</a:t>
                      </a:r>
                    </a:p>
                  </a:txBody>
                  <a:tcPr marT="25400" marB="25400"/>
                </a:tc>
                <a:tc>
                  <a:txBody>
                    <a:bodyPr/>
                    <a:lstStyle/>
                    <a:p>
                      <a:r>
                        <a:rPr sz="1400" b="0">
                          <a:solidFill>
                            <a:srgbClr val="1C1C1A"/>
                          </a:solidFill>
                          <a:latin typeface="Calibri"/>
                        </a:rPr>
                        <a:t>The consumer is code that will fail loudly on a shape it did not expect.</a:t>
                      </a:r>
                    </a:p>
                  </a:txBody>
                  <a:tcPr marT="25400" marB="25400"/>
                </a:tc>
              </a:tr>
            </a:tbl>
          </a:graphicData>
        </a:graphic>
      </p:graphicFrame>
      <p:sp>
        <p:nvSpPr>
          <p:cNvPr id="6" name="TextBox 5"/>
          <p:cNvSpPr txBox="1"/>
          <p:nvPr/>
        </p:nvSpPr>
        <p:spPr>
          <a:xfrm>
            <a:off x="777240" y="4069080"/>
            <a:ext cx="10607040" cy="790575"/>
          </a:xfrm>
          <a:prstGeom prst="rect">
            <a:avLst/>
          </a:prstGeom>
          <a:noFill/>
        </p:spPr>
        <p:txBody>
          <a:bodyPr wrap="square">
            <a:spAutoFit/>
          </a:bodyPr>
          <a:lstStyle/>
          <a:p>
            <a:pPr>
              <a:spcAft>
                <a:spcPts val="1000"/>
              </a:spcAft>
            </a:pPr>
            <a:r>
              <a:rPr sz="2100" b="0">
                <a:solidFill>
                  <a:srgbClr val="1C1C1A"/>
                </a:solidFill>
                <a:latin typeface="Calibri"/>
              </a:rPr>
              <a:t>The honest answer in an interview names the consumer first. The format follows from who reads it, never from taste.</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4</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json.load reads types and nesting.</a:t>
            </a:r>
          </a:p>
          <a:p>
            <a:pPr>
              <a:spcAft>
                <a:spcPts val="1000"/>
              </a:spcAft>
            </a:pPr>
            <a:r>
              <a:rPr sz="2100" b="0">
                <a:solidFill>
                  <a:srgbClr val="1C1C1A"/>
                </a:solidFill>
                <a:latin typeface="Calibri"/>
              </a:rPr>
              <a:t>2. Nested values need a stated flattening rule.</a:t>
            </a:r>
          </a:p>
          <a:p>
            <a:pPr>
              <a:spcAft>
                <a:spcPts val="1000"/>
              </a:spcAft>
            </a:pPr>
            <a:r>
              <a:rPr sz="2100" b="0">
                <a:solidFill>
                  <a:srgbClr val="1C1C1A"/>
                </a:solidFill>
                <a:latin typeface="Calibri"/>
              </a:rPr>
              <a:t>3. JSON parses completely or not at all.</a:t>
            </a:r>
          </a:p>
          <a:p>
            <a:pPr>
              <a:spcAft>
                <a:spcPts val="1000"/>
              </a:spcAft>
            </a:pPr>
            <a:r>
              <a:rPr sz="2100" b="0">
                <a:solidFill>
                  <a:srgbClr val="1C1C1A"/>
                </a:solidFill>
                <a:latin typeface="Calibri"/>
              </a:rPr>
              <a:t>4. The error names a line and a column. Go there first.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5: TWO FILES OUT</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[inline cell] &gt; [packaged decision] &gt; [read the failure] &gt; [log the rejection] &gt; </a:t>
            </a:r>
            <a:r>
              <a:rPr sz="2100" b="1">
                <a:solidFill>
                  <a:srgbClr val="FFFFFF"/>
                </a:solidFill>
                <a:latin typeface="Calibri"/>
              </a:rPr>
              <a:t>[cross the boundary]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One pass, two deliverables</a:t>
            </a:r>
          </a:p>
        </p:txBody>
      </p:sp>
      <p:sp>
        <p:nvSpPr>
          <p:cNvPr id="4" name="TextBox 3"/>
          <p:cNvSpPr txBox="1"/>
          <p:nvPr/>
        </p:nvSpPr>
        <p:spPr>
          <a:xfrm>
            <a:off x="777240" y="1965960"/>
            <a:ext cx="10607040" cy="666750"/>
          </a:xfrm>
          <a:prstGeom prst="rect">
            <a:avLst/>
          </a:prstGeom>
          <a:noFill/>
        </p:spPr>
        <p:txBody>
          <a:bodyPr wrap="square">
            <a:spAutoFit/>
          </a:bodyPr>
          <a:lstStyle/>
          <a:p>
            <a:pPr>
              <a:spcAft>
                <a:spcPts val="400"/>
              </a:spcAft>
            </a:pPr>
            <a:r>
              <a:rPr sz="1700" b="0">
                <a:solidFill>
                  <a:srgbClr val="2B4A7D"/>
                </a:solidFill>
                <a:latin typeface="Consolas"/>
              </a:rPr>
              <a:t>clean.csv     the records that converted</a:t>
            </a:r>
          </a:p>
          <a:p>
            <a:pPr>
              <a:spcAft>
                <a:spcPts val="400"/>
              </a:spcAft>
            </a:pPr>
            <a:r>
              <a:rPr sz="1700" b="0">
                <a:solidFill>
                  <a:srgbClr val="2B4A7D"/>
                </a:solidFill>
                <a:latin typeface="Consolas"/>
              </a:rPr>
              <a:t>rejects.csv   the records that did not, and why</a:t>
            </a:r>
          </a:p>
        </p:txBody>
      </p:sp>
      <p:sp>
        <p:nvSpPr>
          <p:cNvPr id="5" name="TextBox 4"/>
          <p:cNvSpPr txBox="1"/>
          <p:nvPr/>
        </p:nvSpPr>
        <p:spPr>
          <a:xfrm>
            <a:off x="777240" y="2769870"/>
            <a:ext cx="10607040" cy="542925"/>
          </a:xfrm>
          <a:prstGeom prst="rect">
            <a:avLst/>
          </a:prstGeom>
          <a:noFill/>
        </p:spPr>
        <p:txBody>
          <a:bodyPr wrap="square">
            <a:spAutoFit/>
          </a:bodyPr>
          <a:lstStyle/>
          <a:p>
            <a:pPr>
              <a:spcAft>
                <a:spcPts val="1000"/>
              </a:spcAft>
            </a:pPr>
            <a:r>
              <a:rPr sz="2100" b="0">
                <a:solidFill>
                  <a:srgbClr val="1C1C1A"/>
                </a:solidFill>
                <a:latin typeface="Calibri"/>
              </a:rPr>
              <a:t>Shipping only the first one is shipping half the job.</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one pass, end to end</a:t>
            </a:r>
          </a:p>
        </p:txBody>
      </p:sp>
      <p:pic>
        <p:nvPicPr>
          <p:cNvPr id="4" name="Picture 3" descr="b38fd272e700228a.png"/>
          <p:cNvPicPr>
            <a:picLocks noChangeAspect="1"/>
          </p:cNvPicPr>
          <p:nvPr/>
        </p:nvPicPr>
        <p:blipFill>
          <a:blip r:embed="rId2"/>
          <a:stretch>
            <a:fillRect/>
          </a:stretch>
        </p:blipFill>
        <p:spPr>
          <a:xfrm>
            <a:off x="777240" y="1965960"/>
            <a:ext cx="10607040" cy="1436563"/>
          </a:xfrm>
          <a:prstGeom prst="rect">
            <a:avLst/>
          </a:prstGeom>
        </p:spPr>
      </p:pic>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Writing with names</a:t>
            </a:r>
          </a:p>
        </p:txBody>
      </p:sp>
      <p:sp>
        <p:nvSpPr>
          <p:cNvPr id="4" name="TextBox 3"/>
          <p:cNvSpPr txBox="1"/>
          <p:nvPr/>
        </p:nvSpPr>
        <p:spPr>
          <a:xfrm>
            <a:off x="777240" y="1965960"/>
            <a:ext cx="10607040" cy="1114425"/>
          </a:xfrm>
          <a:prstGeom prst="rect">
            <a:avLst/>
          </a:prstGeom>
          <a:noFill/>
        </p:spPr>
        <p:txBody>
          <a:bodyPr wrap="square">
            <a:spAutoFit/>
          </a:bodyPr>
          <a:lstStyle/>
          <a:p>
            <a:pPr>
              <a:spcAft>
                <a:spcPts val="400"/>
              </a:spcAft>
            </a:pPr>
            <a:r>
              <a:rPr sz="1700" b="0">
                <a:solidFill>
                  <a:srgbClr val="2B4A7D"/>
                </a:solidFill>
                <a:latin typeface="Consolas"/>
              </a:rPr>
              <a:t>writer = csv.DictWriter(f, fieldnames=["order_id","customer_id","segment","amount","status","order_date","discount"])</a:t>
            </a:r>
          </a:p>
          <a:p>
            <a:pPr>
              <a:spcAft>
                <a:spcPts val="400"/>
              </a:spcAft>
            </a:pPr>
            <a:r>
              <a:rPr sz="1700" b="0">
                <a:solidFill>
                  <a:srgbClr val="2B4A7D"/>
                </a:solidFill>
                <a:latin typeface="Consolas"/>
              </a:rPr>
              <a:t>writer.writeheader()</a:t>
            </a:r>
          </a:p>
          <a:p>
            <a:pPr>
              <a:spcAft>
                <a:spcPts val="400"/>
              </a:spcAft>
            </a:pPr>
            <a:r>
              <a:rPr sz="1700" b="0">
                <a:solidFill>
                  <a:srgbClr val="2B4A7D"/>
                </a:solidFill>
                <a:latin typeface="Consolas"/>
              </a:rPr>
              <a:t>writer.writerows(clean)</a:t>
            </a:r>
          </a:p>
        </p:txBody>
      </p:sp>
      <p:sp>
        <p:nvSpPr>
          <p:cNvPr id="5" name="TextBox 4"/>
          <p:cNvSpPr txBox="1"/>
          <p:nvPr/>
        </p:nvSpPr>
        <p:spPr>
          <a:xfrm>
            <a:off x="777240" y="3217545"/>
            <a:ext cx="10607040" cy="790575"/>
          </a:xfrm>
          <a:prstGeom prst="rect">
            <a:avLst/>
          </a:prstGeom>
          <a:noFill/>
        </p:spPr>
        <p:txBody>
          <a:bodyPr wrap="square">
            <a:spAutoFit/>
          </a:bodyPr>
          <a:lstStyle/>
          <a:p>
            <a:pPr>
              <a:spcAft>
                <a:spcPts val="1000"/>
              </a:spcAft>
            </a:pPr>
            <a:r>
              <a:rPr sz="2100" b="0">
                <a:solidFill>
                  <a:srgbClr val="1C1C1A"/>
                </a:solidFill>
                <a:latin typeface="Calibri"/>
              </a:rPr>
              <a:t>You state the field names on the way out. That is you writing the agreement for the next person.</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DictWriter does with a field you did not name</a:t>
            </a:r>
          </a:p>
        </p:txBody>
      </p:sp>
      <p:sp>
        <p:nvSpPr>
          <p:cNvPr id="5" name="TextBox 4"/>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By default, handing DictWriter a record containing a key that is not in fieldnames raises ValueError, which is the behaviour you want, because a silently dropped column is a defect nobody finds.</a:t>
            </a:r>
          </a:p>
          <a:p>
            <a:pPr>
              <a:spcAft>
                <a:spcPts val="1000"/>
              </a:spcAft>
            </a:pPr>
            <a:r>
              <a:rPr sz="2100" b="0">
                <a:solidFill>
                  <a:srgbClr val="1C1C1A"/>
                </a:solidFill>
                <a:latin typeface="Calibri"/>
              </a:rPr>
              <a:t>If you genuinely mean to drop the extras, you have to say so out loud:</a:t>
            </a:r>
          </a:p>
        </p:txBody>
      </p:sp>
      <p:sp>
        <p:nvSpPr>
          <p:cNvPr id="6" name="TextBox 5"/>
          <p:cNvSpPr txBox="1"/>
          <p:nvPr/>
        </p:nvSpPr>
        <p:spPr>
          <a:xfrm>
            <a:off x="777240" y="3512820"/>
            <a:ext cx="10607040" cy="502920"/>
          </a:xfrm>
          <a:prstGeom prst="rect">
            <a:avLst/>
          </a:prstGeom>
          <a:noFill/>
        </p:spPr>
        <p:txBody>
          <a:bodyPr wrap="square">
            <a:spAutoFit/>
          </a:bodyPr>
          <a:lstStyle/>
          <a:p>
            <a:pPr>
              <a:spcAft>
                <a:spcPts val="400"/>
              </a:spcAft>
            </a:pPr>
            <a:r>
              <a:rPr sz="1700" b="0">
                <a:solidFill>
                  <a:srgbClr val="2B4A7D"/>
                </a:solidFill>
                <a:latin typeface="Consolas"/>
              </a:rPr>
              <a:t>csv.DictWriter(f, fieldnames=FIELDS, extrasaction="ignore")</a:t>
            </a:r>
          </a:p>
        </p:txBody>
      </p:sp>
      <p:sp>
        <p:nvSpPr>
          <p:cNvPr id="7" name="TextBox 6"/>
          <p:cNvSpPr txBox="1"/>
          <p:nvPr/>
        </p:nvSpPr>
        <p:spPr>
          <a:xfrm>
            <a:off x="777240" y="4152900"/>
            <a:ext cx="10607040" cy="790575"/>
          </a:xfrm>
          <a:prstGeom prst="rect">
            <a:avLst/>
          </a:prstGeom>
          <a:noFill/>
        </p:spPr>
        <p:txBody>
          <a:bodyPr wrap="square">
            <a:spAutoFit/>
          </a:bodyPr>
          <a:lstStyle/>
          <a:p>
            <a:pPr>
              <a:spcAft>
                <a:spcPts val="1000"/>
              </a:spcAft>
            </a:pPr>
            <a:r>
              <a:rPr sz="2100" b="0">
                <a:solidFill>
                  <a:srgbClr val="1C1C1A"/>
                </a:solidFill>
                <a:latin typeface="Calibri"/>
              </a:rPr>
              <a:t>Writing that argument is a decision with your name on it. Leaving it out and being surprised is not.</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Prove it parses</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1000"/>
              </a:spcAft>
            </a:pPr>
            <a:r>
              <a:rPr sz="2100" b="0">
                <a:solidFill>
                  <a:srgbClr val="1C1C1A"/>
                </a:solidFill>
                <a:latin typeface="Calibri"/>
              </a:rPr>
              <a:t>Writing a file is not finishing. Reopening it and counting the rows is finishing.</a:t>
            </a:r>
          </a:p>
          <a:p>
            <a:pPr>
              <a:spcAft>
                <a:spcPts val="1000"/>
              </a:spcAft>
            </a:pPr>
            <a:r>
              <a:rPr sz="2100" b="0">
                <a:solidFill>
                  <a:srgbClr val="1C1C1A"/>
                </a:solidFill>
                <a:latin typeface="Calibri"/>
              </a:rPr>
              <a:t>30 in. 28 in clean. 2 in rejects. Reopen both and check.</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four line ritual that ends every load</a:t>
            </a:r>
          </a:p>
        </p:txBody>
      </p:sp>
      <p:sp>
        <p:nvSpPr>
          <p:cNvPr id="5" name="TextBox 4"/>
          <p:cNvSpPr txBox="1"/>
          <p:nvPr/>
        </p:nvSpPr>
        <p:spPr>
          <a:xfrm>
            <a:off x="777240" y="1965960"/>
            <a:ext cx="10607040" cy="1657350"/>
          </a:xfrm>
          <a:prstGeom prst="rect">
            <a:avLst/>
          </a:prstGeom>
          <a:noFill/>
        </p:spPr>
        <p:txBody>
          <a:bodyPr wrap="square">
            <a:spAutoFit/>
          </a:bodyPr>
          <a:lstStyle/>
          <a:p>
            <a:pPr>
              <a:spcAft>
                <a:spcPts val="400"/>
              </a:spcAft>
            </a:pPr>
            <a:r>
              <a:rPr sz="1700" b="0">
                <a:solidFill>
                  <a:srgbClr val="2B4A7D"/>
                </a:solidFill>
                <a:latin typeface="Consolas"/>
              </a:rPr>
              <a:t>with open("clean.csv") as f:</a:t>
            </a:r>
          </a:p>
          <a:p>
            <a:pPr>
              <a:spcAft>
                <a:spcPts val="400"/>
              </a:spcAft>
            </a:pPr>
            <a:r>
              <a:rPr sz="1700" b="0">
                <a:solidFill>
                  <a:srgbClr val="2B4A7D"/>
                </a:solidFill>
                <a:latin typeface="Consolas"/>
              </a:rPr>
              <a:t>    clean_back = list(csv.DictReader(f))</a:t>
            </a:r>
          </a:p>
          <a:p>
            <a:pPr>
              <a:spcAft>
                <a:spcPts val="400"/>
              </a:spcAft>
            </a:pPr>
            <a:r>
              <a:rPr sz="1700" b="0">
                <a:solidFill>
                  <a:srgbClr val="2B4A7D"/>
                </a:solidFill>
                <a:latin typeface="Consolas"/>
              </a:rPr>
              <a:t>with open("rejects.csv") as f:</a:t>
            </a:r>
          </a:p>
          <a:p>
            <a:pPr>
              <a:spcAft>
                <a:spcPts val="400"/>
              </a:spcAft>
            </a:pPr>
            <a:r>
              <a:rPr sz="1700" b="0">
                <a:solidFill>
                  <a:srgbClr val="2B4A7D"/>
                </a:solidFill>
                <a:latin typeface="Consolas"/>
              </a:rPr>
              <a:t>    rejects_back = list(csv.DictReader(f))</a:t>
            </a:r>
          </a:p>
          <a:p>
            <a:pPr>
              <a:spcAft>
                <a:spcPts val="400"/>
              </a:spcAft>
            </a:pPr>
            <a:r>
              <a:rPr sz="1700" b="0">
                <a:solidFill>
                  <a:srgbClr val="2B4A7D"/>
                </a:solidFill>
                <a:latin typeface="Consolas"/>
              </a:rPr>
              <a:t>print(len(rows), len(clean_back), len(rejects_back))</a:t>
            </a:r>
          </a:p>
          <a:p>
            <a:pPr>
              <a:spcAft>
                <a:spcPts val="400"/>
              </a:spcAft>
            </a:pPr>
            <a:r>
              <a:rPr sz="1700" b="0">
                <a:solidFill>
                  <a:srgbClr val="2B4A7D"/>
                </a:solidFill>
                <a:latin typeface="Consolas"/>
              </a:rPr>
              <a:t>assert len(rows) == len(clean_back) + len(rejects_back)</a:t>
            </a:r>
          </a:p>
        </p:txBody>
      </p:sp>
      <p:sp>
        <p:nvSpPr>
          <p:cNvPr id="6" name="TextBox 5"/>
          <p:cNvSpPr txBox="1"/>
          <p:nvPr/>
        </p:nvSpPr>
        <p:spPr>
          <a:xfrm>
            <a:off x="777240" y="3760470"/>
            <a:ext cx="10607040" cy="502920"/>
          </a:xfrm>
          <a:prstGeom prst="rect">
            <a:avLst/>
          </a:prstGeom>
          <a:noFill/>
        </p:spPr>
        <p:txBody>
          <a:bodyPr wrap="square">
            <a:spAutoFit/>
          </a:bodyPr>
          <a:lstStyle/>
          <a:p>
            <a:pPr>
              <a:spcAft>
                <a:spcPts val="400"/>
              </a:spcAft>
            </a:pPr>
            <a:r>
              <a:rPr sz="1700" b="0">
                <a:solidFill>
                  <a:srgbClr val="2B4A7D"/>
                </a:solidFill>
                <a:latin typeface="Consolas"/>
              </a:rPr>
              <a:t>30 28 2</a:t>
            </a:r>
          </a:p>
        </p:txBody>
      </p:sp>
      <p:sp>
        <p:nvSpPr>
          <p:cNvPr id="7" name="TextBox 6"/>
          <p:cNvSpPr txBox="1"/>
          <p:nvPr/>
        </p:nvSpPr>
        <p:spPr>
          <a:xfrm>
            <a:off x="777240" y="4400550"/>
            <a:ext cx="10607040" cy="1038225"/>
          </a:xfrm>
          <a:prstGeom prst="rect">
            <a:avLst/>
          </a:prstGeom>
          <a:noFill/>
        </p:spPr>
        <p:txBody>
          <a:bodyPr wrap="square">
            <a:spAutoFit/>
          </a:bodyPr>
          <a:lstStyle/>
          <a:p>
            <a:pPr>
              <a:spcAft>
                <a:spcPts val="1000"/>
              </a:spcAft>
            </a:pPr>
            <a:r>
              <a:rPr sz="2100" b="0">
                <a:solidFill>
                  <a:srgbClr val="1C1C1A"/>
                </a:solidFill>
                <a:latin typeface="Calibri"/>
              </a:rPr>
              <a:t>Four lines, and they catch the header you forgot to write, the file you opened in append mode twice, and the rows the writer silently dropped. Every one of those has happened to somebody in this room's future.</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From the field</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Public Health England, October 2020. 15,841 COVID cases were dropped from reporting.</a:t>
            </a:r>
          </a:p>
          <a:p>
            <a:pPr>
              <a:spcAft>
                <a:spcPts val="1000"/>
              </a:spcAft>
            </a:pPr>
            <a:r>
              <a:rPr sz="2100" b="0">
                <a:solidFill>
                  <a:srgbClr val="1C1C1A"/>
                </a:solidFill>
                <a:latin typeface="Calibri"/>
              </a:rPr>
              <a:t>A CSV was converted to an old Excel format that has a hard row limit. The rows past the limit were silently discarded. Contact tracing never saw them.</a:t>
            </a:r>
          </a:p>
          <a:p>
            <a:pPr>
              <a:spcAft>
                <a:spcPts val="1000"/>
              </a:spcAft>
            </a:pPr>
            <a:r>
              <a:rPr sz="2100" b="0">
                <a:solidFill>
                  <a:srgbClr val="1C1C1A"/>
                </a:solidFill>
                <a:latin typeface="Calibri"/>
              </a:rPr>
              <a:t>Nobody wrote bad code. Somebody did not know the format's contract.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Public Health England, the mechanism</a:t>
            </a:r>
          </a:p>
        </p:txBody>
      </p:sp>
      <p:pic>
        <p:nvPicPr>
          <p:cNvPr id="5" name="Picture 4" descr="a3e1d13a7fe4fbd7.png"/>
          <p:cNvPicPr>
            <a:picLocks noChangeAspect="1"/>
          </p:cNvPicPr>
          <p:nvPr/>
        </p:nvPicPr>
        <p:blipFill>
          <a:blip r:embed="rId2"/>
          <a:stretch>
            <a:fillRect/>
          </a:stretch>
        </p:blipFill>
        <p:spPr>
          <a:xfrm>
            <a:off x="5391896" y="1965960"/>
            <a:ext cx="1377726" cy="4023360"/>
          </a:xfrm>
          <a:prstGeom prst="rect">
            <a:avLst/>
          </a:prstGeom>
        </p:spPr>
      </p:pic>
      <p:sp>
        <p:nvSpPr>
          <p:cNvPr id="6" name="TextBox 5"/>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The CSV was fine. The conversion to a format with a smaller agreement is where the truth was lost.</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Public Health England, the arithmetic</a:t>
            </a:r>
          </a:p>
        </p:txBody>
      </p:sp>
      <p:sp>
        <p:nvSpPr>
          <p:cNvPr id="5" name="TextBox 4"/>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The row ceiling of the old format is a fixed number, and the number of cases a file can hold follows directly from it:</a:t>
            </a:r>
          </a:p>
          <a:p>
            <a:pPr>
              <a:spcAft>
                <a:spcPts val="1000"/>
              </a:spcAft>
            </a:pPr>
            <a:r>
              <a:rPr sz="2100" b="0">
                <a:solidFill>
                  <a:srgbClr val="1C1C1A"/>
                </a:solidFill>
                <a:latin typeface="Calibri"/>
              </a:rPr>
              <a:t>$$\text{cases per file} = \frac{\text{row limit}}{\text{rows per case}} = \frac{65{,}536}{\text{about }45} \approx 1{,}400$$</a:t>
            </a:r>
          </a:p>
        </p:txBody>
      </p:sp>
      <p:graphicFrame>
        <p:nvGraphicFramePr>
          <p:cNvPr id="6" name="Table 5"/>
          <p:cNvGraphicFramePr>
            <a:graphicFrameLocks noGrp="1"/>
          </p:cNvGraphicFramePr>
          <p:nvPr/>
        </p:nvGraphicFramePr>
        <p:xfrm>
          <a:off x="777240" y="3512820"/>
          <a:ext cx="10607040" cy="1920240"/>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Fact</a:t>
                      </a:r>
                    </a:p>
                  </a:txBody>
                  <a:tcPr marT="25400" marB="25400"/>
                </a:tc>
                <a:tc>
                  <a:txBody>
                    <a:bodyPr/>
                    <a:lstStyle/>
                    <a:p>
                      <a:r>
                        <a:rPr sz="1300" b="1">
                          <a:solidFill>
                            <a:srgbClr val="2B4A7D"/>
                          </a:solidFill>
                          <a:latin typeface="Calibri"/>
                        </a:rPr>
                        <a:t>Figure</a:t>
                      </a:r>
                    </a:p>
                  </a:txBody>
                  <a:tcPr marT="25400" marB="25400"/>
                </a:tc>
              </a:tr>
              <a:tr h="384048">
                <a:tc>
                  <a:txBody>
                    <a:bodyPr/>
                    <a:lstStyle/>
                    <a:p>
                      <a:r>
                        <a:rPr sz="1400" b="0">
                          <a:solidFill>
                            <a:srgbClr val="1C1C1A"/>
                          </a:solidFill>
                          <a:latin typeface="Calibri"/>
                        </a:rPr>
                        <a:t>Cases left out of the daily figures</a:t>
                      </a:r>
                    </a:p>
                  </a:txBody>
                  <a:tcPr marT="25400" marB="25400"/>
                </a:tc>
                <a:tc>
                  <a:txBody>
                    <a:bodyPr/>
                    <a:lstStyle/>
                    <a:p>
                      <a:r>
                        <a:rPr sz="1400" b="0">
                          <a:solidFill>
                            <a:srgbClr val="1C1C1A"/>
                          </a:solidFill>
                          <a:latin typeface="Calibri"/>
                        </a:rPr>
                        <a:t>15,841</a:t>
                      </a:r>
                    </a:p>
                  </a:txBody>
                  <a:tcPr marT="25400" marB="25400"/>
                </a:tc>
              </a:tr>
              <a:tr h="384048">
                <a:tc>
                  <a:txBody>
                    <a:bodyPr/>
                    <a:lstStyle/>
                    <a:p>
                      <a:r>
                        <a:rPr sz="1400" b="0">
                          <a:solidFill>
                            <a:srgbClr val="1C1C1A"/>
                          </a:solidFill>
                          <a:latin typeface="Calibri"/>
                        </a:rPr>
                        <a:t>The window they fell in</a:t>
                      </a:r>
                    </a:p>
                  </a:txBody>
                  <a:tcPr marT="25400" marB="25400"/>
                </a:tc>
                <a:tc>
                  <a:txBody>
                    <a:bodyPr/>
                    <a:lstStyle/>
                    <a:p>
                      <a:r>
                        <a:rPr sz="1400" b="0">
                          <a:solidFill>
                            <a:srgbClr val="1C1C1A"/>
                          </a:solidFill>
                          <a:latin typeface="Calibri"/>
                        </a:rPr>
                        <a:t>25 September to 2 October 2020</a:t>
                      </a:r>
                    </a:p>
                  </a:txBody>
                  <a:tcPr marT="25400" marB="25400"/>
                </a:tc>
              </a:tr>
              <a:tr h="384048">
                <a:tc>
                  <a:txBody>
                    <a:bodyPr/>
                    <a:lstStyle/>
                    <a:p>
                      <a:r>
                        <a:rPr sz="1400" b="0">
                          <a:solidFill>
                            <a:srgbClr val="1C1C1A"/>
                          </a:solidFill>
                          <a:latin typeface="Calibri"/>
                        </a:rPr>
                        <a:t>Reported new cases the day before the correction</a:t>
                      </a:r>
                    </a:p>
                  </a:txBody>
                  <a:tcPr marT="25400" marB="25400"/>
                </a:tc>
                <a:tc>
                  <a:txBody>
                    <a:bodyPr/>
                    <a:lstStyle/>
                    <a:p>
                      <a:r>
                        <a:rPr sz="1400" b="0">
                          <a:solidFill>
                            <a:srgbClr val="1C1C1A"/>
                          </a:solidFill>
                          <a:latin typeface="Calibri"/>
                        </a:rPr>
                        <a:t>12,872</a:t>
                      </a:r>
                    </a:p>
                  </a:txBody>
                  <a:tcPr marT="25400" marB="25400"/>
                </a:tc>
              </a:tr>
              <a:tr h="384048">
                <a:tc>
                  <a:txBody>
                    <a:bodyPr/>
                    <a:lstStyle/>
                    <a:p>
                      <a:r>
                        <a:rPr sz="1400" b="0">
                          <a:solidFill>
                            <a:srgbClr val="1C1C1A"/>
                          </a:solidFill>
                          <a:latin typeface="Calibri"/>
                        </a:rPr>
                        <a:t>Reported new cases the day after</a:t>
                      </a:r>
                    </a:p>
                  </a:txBody>
                  <a:tcPr marT="25400" marB="25400"/>
                </a:tc>
                <a:tc>
                  <a:txBody>
                    <a:bodyPr/>
                    <a:lstStyle/>
                    <a:p>
                      <a:r>
                        <a:rPr sz="1400" b="0">
                          <a:solidFill>
                            <a:srgbClr val="1C1C1A"/>
                          </a:solidFill>
                          <a:latin typeface="Calibri"/>
                        </a:rPr>
                        <a:t>22,961</a:t>
                      </a:r>
                    </a:p>
                  </a:txBody>
                  <a:tcPr marT="25400" marB="25400"/>
                </a:tc>
              </a:tr>
            </a:tbl>
          </a:graphicData>
        </a:graphic>
      </p:graphicFrame>
      <p:sp>
        <p:nvSpPr>
          <p:cNvPr id="7" name="TextBox 6"/>
          <p:cNvSpPr txBox="1"/>
          <p:nvPr/>
        </p:nvSpPr>
        <p:spPr>
          <a:xfrm>
            <a:off x="777240" y="5615940"/>
            <a:ext cx="10607040" cy="790575"/>
          </a:xfrm>
          <a:prstGeom prst="rect">
            <a:avLst/>
          </a:prstGeom>
          <a:noFill/>
        </p:spPr>
        <p:txBody>
          <a:bodyPr wrap="square">
            <a:spAutoFit/>
          </a:bodyPr>
          <a:lstStyle/>
          <a:p>
            <a:pPr>
              <a:spcAft>
                <a:spcPts val="1000"/>
              </a:spcAft>
            </a:pPr>
            <a:r>
              <a:rPr sz="2100" b="0">
                <a:solidFill>
                  <a:srgbClr val="1C1C1A"/>
                </a:solidFill>
                <a:latin typeface="Calibri"/>
              </a:rPr>
              <a:t>Source: The Register, 5 October 2020: https://www.theregister.com/2020/10/05/excel_england_coronavirus_contact_error/ (verified 09 September 2026)</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line from that to your cell today</a:t>
            </a:r>
          </a:p>
        </p:txBody>
      </p:sp>
      <p:sp>
        <p:nvSpPr>
          <p:cNvPr id="5" name="TextBox 4"/>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Nobody at Public Health England wrote a line of bad code. A file crossed a boundary into a format whose agreement was smaller than the data, and nothing at that boundary counted the rows on both sides.</a:t>
            </a:r>
          </a:p>
          <a:p>
            <a:pPr>
              <a:spcAft>
                <a:spcPts val="1000"/>
              </a:spcAft>
            </a:pPr>
            <a:r>
              <a:rPr sz="2100" b="0">
                <a:solidFill>
                  <a:srgbClr val="1C1C1A"/>
                </a:solidFill>
                <a:latin typeface="Calibri"/>
              </a:rPr>
              <a:t>Your four line ritual in D12 is the counting nobody did. It costs four lines and it is the difference between a load that worked and a load you can prove worked.</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Interview question</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1000"/>
              </a:spcAft>
            </a:pPr>
            <a:r>
              <a:rPr sz="2100" b="0">
                <a:solidFill>
                  <a:srgbClr val="1C1C1A"/>
                </a:solidFill>
                <a:latin typeface="Calibri"/>
              </a:rPr>
              <a:t>"CSV or JSON for nested records, and what does flattening cost?"</a:t>
            </a:r>
          </a:p>
          <a:p>
            <a:pPr>
              <a:spcAft>
                <a:spcPts val="1000"/>
              </a:spcAft>
            </a:pPr>
            <a:r>
              <a:rPr sz="2100" b="0">
                <a:solidFill>
                  <a:srgbClr val="1C1C1A"/>
                </a:solidFill>
                <a:latin typeface="Calibri"/>
              </a:rPr>
              <a:t>You have both files open in front of you. Answer from those.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5</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One pass ships clean and rejects.</a:t>
            </a:r>
          </a:p>
          <a:p>
            <a:pPr>
              <a:spcAft>
                <a:spcPts val="1000"/>
              </a:spcAft>
            </a:pPr>
            <a:r>
              <a:rPr sz="2100" b="0">
                <a:solidFill>
                  <a:srgbClr val="1C1C1A"/>
                </a:solidFill>
                <a:latin typeface="Calibri"/>
              </a:rPr>
              <a:t>2. Name the fields on the way out.</a:t>
            </a:r>
          </a:p>
          <a:p>
            <a:pPr>
              <a:spcAft>
                <a:spcPts val="1000"/>
              </a:spcAft>
            </a:pPr>
            <a:r>
              <a:rPr sz="2100" b="0">
                <a:solidFill>
                  <a:srgbClr val="1C1C1A"/>
                </a:solidFill>
                <a:latin typeface="Calibri"/>
              </a:rPr>
              <a:t>3. Reopen both files and count.</a:t>
            </a:r>
          </a:p>
          <a:p>
            <a:pPr>
              <a:spcAft>
                <a:spcPts val="1000"/>
              </a:spcAft>
            </a:pPr>
            <a:r>
              <a:rPr sz="2100" b="0">
                <a:solidFill>
                  <a:srgbClr val="1C1C1A"/>
                </a:solidFill>
                <a:latin typeface="Calibri"/>
              </a:rPr>
              <a:t>4. Input equals clean plus rejected, or something vanished.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6: THE INTERVIEW BLOCK</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[inline cell] &gt; [packaged decision] &gt; [read the failure] &gt; [log the rejection] &gt; </a:t>
            </a:r>
            <a:r>
              <a:rPr sz="2100" b="1">
                <a:solidFill>
                  <a:srgbClr val="FFFFFF"/>
                </a:solidFill>
                <a:latin typeface="Calibri"/>
              </a:rPr>
              <a:t>[cross the boundary]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this section is</a:t>
            </a:r>
          </a:p>
        </p:txBody>
      </p:sp>
      <p:sp>
        <p:nvSpPr>
          <p:cNvPr id="4" name="TextBox 3"/>
          <p:cNvSpPr txBox="1"/>
          <p:nvPr/>
        </p:nvSpPr>
        <p:spPr>
          <a:xfrm>
            <a:off x="777240" y="1965960"/>
            <a:ext cx="10607040" cy="1038225"/>
          </a:xfrm>
          <a:prstGeom prst="rect">
            <a:avLst/>
          </a:prstGeom>
          <a:noFill/>
        </p:spPr>
        <p:txBody>
          <a:bodyPr wrap="square">
            <a:spAutoFit/>
          </a:bodyPr>
          <a:lstStyle/>
          <a:p>
            <a:pPr>
              <a:spcAft>
                <a:spcPts val="1000"/>
              </a:spcAft>
            </a:pPr>
            <a:r>
              <a:rPr sz="2100" b="0">
                <a:solidFill>
                  <a:srgbClr val="1C1C1A"/>
                </a:solidFill>
                <a:latin typeface="Calibri"/>
              </a:rPr>
              <a:t>Two of the questions below are on this week's own question set and will be on Saturday's paper. The rest are asked often enough at this level that this programme puts them in front of you now.</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1: everything read from a CSV is a string, so what breaks and where do you convert</a:t>
            </a:r>
          </a:p>
        </p:txBody>
      </p:sp>
      <p:sp>
        <p:nvSpPr>
          <p:cNvPr id="4" name="TextBox 3"/>
          <p:cNvSpPr txBox="1"/>
          <p:nvPr/>
        </p:nvSpPr>
        <p:spPr>
          <a:xfrm>
            <a:off x="777240" y="1965960"/>
            <a:ext cx="10607040" cy="3143250"/>
          </a:xfrm>
          <a:prstGeom prst="rect">
            <a:avLst/>
          </a:prstGeom>
          <a:noFill/>
        </p:spPr>
        <p:txBody>
          <a:bodyPr wrap="square">
            <a:spAutoFit/>
          </a:bodyPr>
          <a:lstStyle/>
          <a:p>
            <a:pPr>
              <a:spcAft>
                <a:spcPts val="1000"/>
              </a:spcAft>
            </a:pPr>
            <a:r>
              <a:rPr sz="2100" b="0">
                <a:solidFill>
                  <a:srgbClr val="1C1C1A"/>
                </a:solidFill>
                <a:latin typeface="Calibri"/>
              </a:rPr>
              <a:t>This is on the week's question set.</a:t>
            </a:r>
          </a:p>
          <a:p>
            <a:pPr>
              <a:spcAft>
                <a:spcPts val="1000"/>
              </a:spcAft>
            </a:pPr>
            <a:r>
              <a:rPr sz="2100" b="1">
                <a:solidFill>
                  <a:srgbClr val="1C1C1A"/>
                </a:solidFill>
                <a:latin typeface="Calibri"/>
              </a:rPr>
              <a:t>What it is really testing.</a:t>
            </a:r>
            <a:r>
              <a:rPr sz="2100" b="0">
                <a:solidFill>
                  <a:srgbClr val="1C1C1A"/>
                </a:solidFill>
                <a:latin typeface="Calibri"/>
              </a:rPr>
              <a:t> Whether you know where a bug enters, rather than only that types exist.</a:t>
            </a:r>
          </a:p>
          <a:p>
            <a:pPr>
              <a:spcAft>
                <a:spcPts val="1000"/>
              </a:spcAft>
            </a:pPr>
            <a:r>
              <a:rPr sz="2100" b="1">
                <a:solidFill>
                  <a:srgbClr val="1C1C1A"/>
                </a:solidFill>
                <a:latin typeface="Calibri"/>
              </a:rPr>
              <a:t>The answer, in three beats.</a:t>
            </a:r>
            <a:r>
              <a:rPr sz="2100" b="0">
                <a:solidFill>
                  <a:srgbClr val="1C1C1A"/>
                </a:solidFill>
                <a:latin typeface="Calibri"/>
              </a:rPr>
              <a:t> A CSV agrees about rows and separators and a header, and about nothing else, so every field arrives as text. What breaks is any comparison or arithmetic done before conversion, and text comparison fails quietly rather than loudly, because "9" &gt; "10" is True. I convert once, at the boundary, in the function that reads the file, so everything downstream holds real numbers and there is exactly one place that can reject a value.</a:t>
            </a:r>
          </a:p>
          <a:p>
            <a:pPr>
              <a:spcAft>
                <a:spcPts val="1000"/>
              </a:spcAft>
            </a:pPr>
            <a:r>
              <a:rPr sz="2100" b="1">
                <a:solidFill>
                  <a:srgbClr val="1C1C1A"/>
                </a:solidFill>
                <a:latin typeface="Calibri"/>
              </a:rPr>
              <a:t>The follow-up.</a:t>
            </a:r>
            <a:r>
              <a:rPr sz="2100" b="0">
                <a:solidFill>
                  <a:srgbClr val="1C1C1A"/>
                </a:solidFill>
                <a:latin typeface="Calibri"/>
              </a:rPr>
              <a:t> "Why not convert at the point of use?" Because then the rule lives in as many places as I use it, and the rejection path has to be repeated in each of them.</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1, the deeper version</a:t>
            </a:r>
          </a:p>
        </p:txBody>
      </p:sp>
      <p:sp>
        <p:nvSpPr>
          <p:cNvPr id="5" name="TextBox 4"/>
          <p:cNvSpPr txBox="1"/>
          <p:nvPr/>
        </p:nvSpPr>
        <p:spPr>
          <a:xfrm>
            <a:off x="777240" y="1965960"/>
            <a:ext cx="10607040" cy="2152650"/>
          </a:xfrm>
          <a:prstGeom prst="rect">
            <a:avLst/>
          </a:prstGeom>
          <a:noFill/>
        </p:spPr>
        <p:txBody>
          <a:bodyPr wrap="square">
            <a:spAutoFit/>
          </a:bodyPr>
          <a:lstStyle/>
          <a:p>
            <a:pPr>
              <a:spcAft>
                <a:spcPts val="1000"/>
              </a:spcAft>
            </a:pPr>
            <a:r>
              <a:rPr sz="2100" b="0">
                <a:solidFill>
                  <a:srgbClr val="1C1C1A"/>
                </a:solidFill>
                <a:latin typeface="Calibri"/>
              </a:rPr>
              <a:t>A stronger interviewer follows with dates, because dates are the field where this really hurts. A CSV carries 2026-08-03 as nine characters, and the string sorts correctly only because that format happens to sort correctly. Hand the same file a date written as 03/08/2026 and both the sort order and the meaning are gone, since nothing in the file says whether that is August or March.</a:t>
            </a:r>
          </a:p>
          <a:p>
            <a:pPr>
              <a:spcAft>
                <a:spcPts val="1000"/>
              </a:spcAft>
            </a:pPr>
            <a:r>
              <a:rPr sz="2100" b="0">
                <a:solidFill>
                  <a:srgbClr val="1C1C1A"/>
                </a:solidFill>
                <a:latin typeface="Calibri"/>
              </a:rPr>
              <a:t>The answer is the same shape: convert at the boundary, state the format you expect, and reject what does not match rather than guessing.</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2: CSV or JSON for nested records, and what does flattening cost</a:t>
            </a:r>
          </a:p>
        </p:txBody>
      </p:sp>
      <p:sp>
        <p:nvSpPr>
          <p:cNvPr id="4" name="TextBox 3"/>
          <p:cNvSpPr txBox="1"/>
          <p:nvPr/>
        </p:nvSpPr>
        <p:spPr>
          <a:xfrm>
            <a:off x="777240" y="1965960"/>
            <a:ext cx="10607040" cy="3143250"/>
          </a:xfrm>
          <a:prstGeom prst="rect">
            <a:avLst/>
          </a:prstGeom>
          <a:noFill/>
        </p:spPr>
        <p:txBody>
          <a:bodyPr wrap="square">
            <a:spAutoFit/>
          </a:bodyPr>
          <a:lstStyle/>
          <a:p>
            <a:pPr>
              <a:spcAft>
                <a:spcPts val="1000"/>
              </a:spcAft>
            </a:pPr>
            <a:r>
              <a:rPr sz="2100" b="0">
                <a:solidFill>
                  <a:srgbClr val="1C1C1A"/>
                </a:solidFill>
                <a:latin typeface="Calibri"/>
              </a:rPr>
              <a:t>This is on the week's question set.</a:t>
            </a:r>
          </a:p>
          <a:p>
            <a:pPr>
              <a:spcAft>
                <a:spcPts val="1000"/>
              </a:spcAft>
            </a:pPr>
            <a:r>
              <a:rPr sz="2100" b="1">
                <a:solidFill>
                  <a:srgbClr val="1C1C1A"/>
                </a:solidFill>
                <a:latin typeface="Calibri"/>
              </a:rPr>
              <a:t>What it is really testing.</a:t>
            </a:r>
            <a:r>
              <a:rPr sz="2100" b="0">
                <a:solidFill>
                  <a:srgbClr val="1C1C1A"/>
                </a:solidFill>
                <a:latin typeface="Calibri"/>
              </a:rPr>
              <a:t> Whether you can talk about the consumer of the file rather than about your own preference.</a:t>
            </a:r>
          </a:p>
          <a:p>
            <a:pPr>
              <a:spcAft>
                <a:spcPts val="1000"/>
              </a:spcAft>
            </a:pPr>
            <a:r>
              <a:rPr sz="2100" b="1">
                <a:solidFill>
                  <a:srgbClr val="1C1C1A"/>
                </a:solidFill>
                <a:latin typeface="Calibri"/>
              </a:rPr>
              <a:t>The answer, in three beats.</a:t>
            </a:r>
            <a:r>
              <a:rPr sz="2100" b="0">
                <a:solidFill>
                  <a:srgbClr val="1C1C1A"/>
                </a:solidFill>
                <a:latin typeface="Calibri"/>
              </a:rPr>
              <a:t> JSON, when records nest, because it agrees about nesting and about types and CSV agrees about neither. Flattening into CSV costs you a decision per nested field: drop it, promote it to a column with a name that says where it came from, or fan it out into one row per item. The third one is the expensive one, because it multiplies the row count and every total downstream double counts unless somebody is told.</a:t>
            </a:r>
          </a:p>
          <a:p>
            <a:pPr>
              <a:spcAft>
                <a:spcPts val="1000"/>
              </a:spcAft>
            </a:pPr>
            <a:r>
              <a:rPr sz="2100" b="1">
                <a:solidFill>
                  <a:srgbClr val="1C1C1A"/>
                </a:solidFill>
                <a:latin typeface="Calibri"/>
              </a:rPr>
              <a:t>The follow-up.</a:t>
            </a:r>
            <a:r>
              <a:rPr sz="2100" b="0">
                <a:solidFill>
                  <a:srgbClr val="1C1C1A"/>
                </a:solidFill>
                <a:latin typeface="Calibri"/>
              </a:rPr>
              <a:t> "When would you still choose CSV?" When the consumer is a person opening it, or a database load, or when the file is large and I want to stream it a line at a time.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2, with the evidence in front of you</a:t>
            </a:r>
          </a:p>
        </p:txBody>
      </p:sp>
      <p:sp>
        <p:nvSpPr>
          <p:cNvPr id="5" name="TextBox 4"/>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Record KR4214 is the whole answer in one record. In the CSV its amount is empty. In the JSON the same record still carries source.amount_raw holding 2840, one level down.</a:t>
            </a:r>
          </a:p>
          <a:p>
            <a:pPr>
              <a:spcAft>
                <a:spcPts val="1000"/>
              </a:spcAft>
            </a:pPr>
            <a:r>
              <a:rPr sz="2100" b="0">
                <a:solidFill>
                  <a:srgbClr val="1C1C1A"/>
                </a:solidFill>
                <a:latin typeface="Calibri"/>
              </a:rPr>
              <a:t>The CSV did not corrupt the record. It had nowhere to put a record inside a record. Say exactly that, then say what flattening it would have cost: either a new column called source_amount_raw, or the value gone.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3: what does the with statement guarantee</a:t>
            </a:r>
          </a:p>
        </p:txBody>
      </p:sp>
      <p:sp>
        <p:nvSpPr>
          <p:cNvPr id="4" name="TextBox 3"/>
          <p:cNvSpPr txBox="1"/>
          <p:nvPr/>
        </p:nvSpPr>
        <p:spPr>
          <a:xfrm>
            <a:off x="777240" y="1965960"/>
            <a:ext cx="10607040" cy="1905000"/>
          </a:xfrm>
          <a:prstGeom prst="rect">
            <a:avLst/>
          </a:prstGeom>
          <a:noFill/>
        </p:spPr>
        <p:txBody>
          <a:bodyPr wrap="square">
            <a:spAutoFit/>
          </a:bodyPr>
          <a:lstStyle/>
          <a:p>
            <a:pPr>
              <a:spcAft>
                <a:spcPts val="1000"/>
              </a:spcAft>
            </a:pPr>
            <a:r>
              <a:rPr sz="2100" b="1">
                <a:solidFill>
                  <a:srgbClr val="1C1C1A"/>
                </a:solidFill>
                <a:latin typeface="Calibri"/>
              </a:rPr>
              <a:t>The answer.</a:t>
            </a:r>
            <a:r>
              <a:rPr sz="2100" b="0">
                <a:solidFill>
                  <a:srgbClr val="1C1C1A"/>
                </a:solidFill>
                <a:latin typeface="Calibri"/>
              </a:rPr>
              <a:t> It guarantees the file is closed when the block ends, including when the code inside raises. It is equivalent to a try and finally where the close sits in the finally.</a:t>
            </a:r>
          </a:p>
          <a:p>
            <a:pPr>
              <a:spcAft>
                <a:spcPts val="1000"/>
              </a:spcAft>
            </a:pPr>
            <a:r>
              <a:rPr sz="2100" b="1">
                <a:solidFill>
                  <a:srgbClr val="1C1C1A"/>
                </a:solidFill>
                <a:latin typeface="Calibri"/>
              </a:rPr>
              <a:t>The follow-up.</a:t>
            </a:r>
            <a:r>
              <a:rPr sz="2100" b="0">
                <a:solidFill>
                  <a:srgbClr val="1C1C1A"/>
                </a:solidFill>
                <a:latin typeface="Calibri"/>
              </a:rPr>
              <a:t> "Why does that matter if the program is about to exit anyway?" Because most code is not about to exit. A leaked handle per run against a limit of about 1024 fails silently for a long time and then fails everywhere at once, with an error that names nothing about the loop that caused it.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4: how do you know a load finished correctly</a:t>
            </a:r>
          </a:p>
        </p:txBody>
      </p:sp>
      <p:sp>
        <p:nvSpPr>
          <p:cNvPr id="4" name="TextBox 3"/>
          <p:cNvSpPr txBox="1"/>
          <p:nvPr/>
        </p:nvSpPr>
        <p:spPr>
          <a:xfrm>
            <a:off x="777240" y="1965960"/>
            <a:ext cx="10607040" cy="2524125"/>
          </a:xfrm>
          <a:prstGeom prst="rect">
            <a:avLst/>
          </a:prstGeom>
          <a:noFill/>
        </p:spPr>
        <p:txBody>
          <a:bodyPr wrap="square">
            <a:spAutoFit/>
          </a:bodyPr>
          <a:lstStyle/>
          <a:p>
            <a:pPr>
              <a:spcAft>
                <a:spcPts val="1000"/>
              </a:spcAft>
            </a:pPr>
            <a:r>
              <a:rPr sz="2100" b="0">
                <a:solidFill>
                  <a:srgbClr val="1C1C1A"/>
                </a:solidFill>
                <a:latin typeface="Calibri"/>
              </a:rPr>
              <a:t>This programme's own calibration, and it is the question that separates people who have run a pipeline from people who have written one.</a:t>
            </a:r>
          </a:p>
          <a:p>
            <a:pPr>
              <a:spcAft>
                <a:spcPts val="1000"/>
              </a:spcAft>
            </a:pPr>
            <a:r>
              <a:rPr sz="2100" b="1">
                <a:solidFill>
                  <a:srgbClr val="1C1C1A"/>
                </a:solidFill>
                <a:latin typeface="Calibri"/>
              </a:rPr>
              <a:t>The answer.</a:t>
            </a:r>
            <a:r>
              <a:rPr sz="2100" b="0">
                <a:solidFill>
                  <a:srgbClr val="1C1C1A"/>
                </a:solidFill>
                <a:latin typeface="Calibri"/>
              </a:rPr>
              <a:t> I reconcile. Input equals clean plus rejected, checked as an assertion rather than by eye. Then I reopen both output files and count the rows, because writing is not finishing. A row count on its own is not enough either, since a short row in a CSV becomes a dictionary full of None rather than an error, so I also check that the fields I need are present.</a:t>
            </a:r>
          </a:p>
          <a:p>
            <a:pPr>
              <a:spcAft>
                <a:spcPts val="1000"/>
              </a:spcAft>
            </a:pPr>
            <a:r>
              <a:rPr sz="2100" b="1">
                <a:solidFill>
                  <a:srgbClr val="1C1C1A"/>
                </a:solidFill>
                <a:latin typeface="Calibri"/>
              </a:rPr>
              <a:t>The follow-up.</a:t>
            </a:r>
            <a:r>
              <a:rPr sz="2100" b="0">
                <a:solidFill>
                  <a:srgbClr val="1C1C1A"/>
                </a:solidFill>
                <a:latin typeface="Calibri"/>
              </a:rPr>
              <a:t> "What do you do when it does not reconcile?" Stop, and do not publish the number. Something was dropped and I do not yet know what.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5: a file arrives with a renamed header, what happens</a:t>
            </a:r>
          </a:p>
        </p:txBody>
      </p:sp>
      <p:sp>
        <p:nvSpPr>
          <p:cNvPr id="4" name="TextBox 3"/>
          <p:cNvSpPr txBox="1"/>
          <p:nvPr/>
        </p:nvSpPr>
        <p:spPr>
          <a:xfrm>
            <a:off x="777240" y="1965960"/>
            <a:ext cx="10607040" cy="2152650"/>
          </a:xfrm>
          <a:prstGeom prst="rect">
            <a:avLst/>
          </a:prstGeom>
          <a:noFill/>
        </p:spPr>
        <p:txBody>
          <a:bodyPr wrap="square">
            <a:spAutoFit/>
          </a:bodyPr>
          <a:lstStyle/>
          <a:p>
            <a:pPr>
              <a:spcAft>
                <a:spcPts val="1000"/>
              </a:spcAft>
            </a:pPr>
            <a:r>
              <a:rPr sz="2100" b="1">
                <a:solidFill>
                  <a:srgbClr val="1C1C1A"/>
                </a:solidFill>
                <a:latin typeface="Calibri"/>
              </a:rPr>
              <a:t>The answer.</a:t>
            </a:r>
            <a:r>
              <a:rPr sz="2100" b="0">
                <a:solidFill>
                  <a:srgbClr val="1C1C1A"/>
                </a:solidFill>
                <a:latin typeface="Calibri"/>
              </a:rPr>
              <a:t> Every lookup by that name raises KeyError, which is the loud failure and the good case. The bad case is a header that is renamed to something my code also uses, or a column reordered, because reading by position would then read the wrong field and never complain. That is why I read by name and treat the header row as part of the contract.</a:t>
            </a:r>
          </a:p>
          <a:p>
            <a:pPr>
              <a:spcAft>
                <a:spcPts val="1000"/>
              </a:spcAft>
            </a:pPr>
            <a:r>
              <a:rPr sz="2100" b="1">
                <a:solidFill>
                  <a:srgbClr val="1C1C1A"/>
                </a:solidFill>
                <a:latin typeface="Calibri"/>
              </a:rPr>
              <a:t>The follow-up.</a:t>
            </a:r>
            <a:r>
              <a:rPr sz="2100" b="0">
                <a:solidFill>
                  <a:srgbClr val="1C1C1A"/>
                </a:solidFill>
                <a:latin typeface="Calibri"/>
              </a:rPr>
              <a:t> "How would you catch it before it reaches your loop?" Compare the header the file gives me against the fields I expect, once, at the top, and fail with a message that names the difference.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Crux, half two</a:t>
            </a:r>
          </a:p>
        </p:txBody>
      </p:sp>
      <p:sp>
        <p:nvSpPr>
          <p:cNvPr id="4" name="TextBox 3"/>
          <p:cNvSpPr txBox="1"/>
          <p:nvPr/>
        </p:nvSpPr>
        <p:spPr>
          <a:xfrm>
            <a:off x="777240" y="1965960"/>
            <a:ext cx="10607040" cy="1038225"/>
          </a:xfrm>
          <a:prstGeom prst="rect">
            <a:avLst/>
          </a:prstGeom>
          <a:noFill/>
        </p:spPr>
        <p:txBody>
          <a:bodyPr wrap="square">
            <a:spAutoFit/>
          </a:bodyPr>
          <a:lstStyle/>
          <a:p>
            <a:pPr>
              <a:spcAft>
                <a:spcPts val="1000"/>
              </a:spcAft>
            </a:pPr>
            <a:r>
              <a:rPr sz="2100" b="0">
                <a:solidFill>
                  <a:srgbClr val="1C1C1A"/>
                </a:solidFill>
                <a:latin typeface="Calibri"/>
              </a:rPr>
              <a:t>A file format is an agreement about structure, and everything a CSV agrees to is text. Your job at the boundary is to convert on purpose, reject with a reason, and hand on two files instead of one.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Tomorrow</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Today you cleaned one record at a time. Tomorrow you point these same functions at the whole dataset and find out how many usable records you actually have.</a:t>
            </a:r>
          </a:p>
          <a:p>
            <a:pPr>
              <a:spcAft>
                <a:spcPts val="1000"/>
              </a:spcAft>
            </a:pPr>
            <a:r>
              <a:rPr sz="2100" b="0">
                <a:solidFill>
                  <a:srgbClr val="1C1C1A"/>
                </a:solidFill>
                <a:latin typeface="Calibri"/>
              </a:rPr>
              <a:t>The functions you carved today get called tomorrow without one edit.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2, half two: cross the file boundary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