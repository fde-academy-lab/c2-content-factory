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Cross the file boundary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ae2568a1cfdddf2.png"/>
          <p:cNvPicPr>
            <a:picLocks noChangeAspect="1"/>
          </p:cNvPicPr>
          <p:nvPr/>
        </p:nvPicPr>
        <p:blipFill>
          <a:blip r:embed="rId2"/>
          <a:stretch>
            <a:fillRect/>
          </a:stretch>
        </p:blipFill>
        <p:spPr>
          <a:xfrm>
            <a:off x="1289544" y="1627632"/>
            <a:ext cx="3445152" cy="4425696"/>
          </a:xfrm>
          <a:prstGeom prst="rect">
            <a:avLst/>
          </a:prstGeom>
        </p:spPr>
      </p:pic>
      <p:sp>
        <p:nvSpPr>
          <p:cNvPr id="7" name="TextBox 6"/>
          <p:cNvSpPr txBox="1"/>
          <p:nvPr/>
        </p:nvSpPr>
        <p:spPr>
          <a:xfrm>
            <a:off x="5771244" y="3385312"/>
            <a:ext cx="5734650" cy="910336"/>
          </a:xfrm>
          <a:prstGeom prst="rect">
            <a:avLst/>
          </a:prstGeom>
          <a:noFill/>
        </p:spPr>
        <p:txBody>
          <a:bodyPr wrap="square" anchor="t">
            <a:spAutoFit/>
          </a:bodyPr>
          <a:lstStyle/>
          <a:p>
            <a:pPr>
              <a:spcAft>
                <a:spcPts val="900"/>
              </a:spcAft>
            </a:pPr>
            <a:r>
              <a:rPr sz="2000" b="0">
                <a:solidFill>
                  <a:srgbClr val="1C1C1A"/>
                </a:solidFill>
                <a:latin typeface="Calibri"/>
              </a:rPr>
              <a:t>Everything so far lived inside the notebook. Close the notebook and it is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 / 71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inline cell</a:t>
            </a:r>
          </a:p>
        </p:txBody>
      </p:sp>
      <p:sp>
        <p:nvSpPr>
          <p:cNvPr id="7" name="Rounded Rectangle 6"/>
          <p:cNvSpPr/>
          <p:nvPr/>
        </p:nvSpPr>
        <p:spPr>
          <a:xfrm>
            <a:off x="2871764"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packaged decision</a:t>
            </a:r>
          </a:p>
        </p:txBody>
      </p:sp>
      <p:sp>
        <p:nvSpPr>
          <p:cNvPr id="8" name="Rounded Rectangle 7"/>
          <p:cNvSpPr/>
          <p:nvPr/>
        </p:nvSpPr>
        <p:spPr>
          <a:xfrm>
            <a:off x="5057729"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read the failure</a:t>
            </a:r>
          </a:p>
        </p:txBody>
      </p:sp>
      <p:sp>
        <p:nvSpPr>
          <p:cNvPr id="9" name="Rounded Rectangle 8"/>
          <p:cNvSpPr/>
          <p:nvPr/>
        </p:nvSpPr>
        <p:spPr>
          <a:xfrm>
            <a:off x="7243693" y="321970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log the rejection</a:t>
            </a:r>
          </a:p>
        </p:txBody>
      </p:sp>
      <p:sp>
        <p:nvSpPr>
          <p:cNvPr id="10" name="Rounded Rectangle 9"/>
          <p:cNvSpPr/>
          <p:nvPr/>
        </p:nvSpPr>
        <p:spPr>
          <a:xfrm>
            <a:off x="9429658" y="3219704"/>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11" name="TextBox 10"/>
          <p:cNvSpPr txBox="1"/>
          <p:nvPr/>
        </p:nvSpPr>
        <p:spPr>
          <a:xfrm>
            <a:off x="685800" y="3896360"/>
            <a:ext cx="10820095" cy="564896"/>
          </a:xfrm>
          <a:prstGeom prst="rect">
            <a:avLst/>
          </a:prstGeom>
          <a:noFill/>
        </p:spPr>
        <p:txBody>
          <a:bodyPr wrap="square" anchor="t">
            <a:spAutoFit/>
          </a:bodyPr>
          <a:lstStyle/>
          <a:p>
            <a:pPr>
              <a:spcAft>
                <a:spcPts val="900"/>
              </a:spcAft>
            </a:pPr>
            <a:r>
              <a:rPr sz="2000" b="0">
                <a:solidFill>
                  <a:srgbClr val="1C1C1A"/>
                </a:solidFill>
                <a:latin typeface="Calibri"/>
              </a:rPr>
              <a:t>Half one made your rule callable. This half makes your data outlive the kernel.</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 / 71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anchor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Restart the kernel.</a:t>
            </a:r>
          </a:p>
          <a:p>
            <a:pPr>
              <a:spcAft>
                <a:spcPts val="900"/>
              </a:spcAft>
            </a:pPr>
            <a:r>
              <a:rPr sz="2000" b="0">
                <a:solidFill>
                  <a:srgbClr val="1C1C1A"/>
                </a:solidFill>
                <a:latin typeface="Calibri"/>
              </a:rPr>
              <a:t>Your 30 records are gone. Yesterday you learned that. Today you do something about 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 / 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Where the orders actually come from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Nobody hands you a Python list. Kalpa Retail's order system sends you a file.</a:t>
            </a:r>
          </a:p>
          <a:p>
            <a:pPr>
              <a:spcAft>
                <a:spcPts val="900"/>
              </a:spcAft>
            </a:pPr>
            <a:r>
              <a:rPr sz="2000" b="0">
                <a:solidFill>
                  <a:srgbClr val="1C1C1A"/>
                </a:solidFill>
                <a:latin typeface="Calibri"/>
              </a:rPr>
              <a:t>The file was written by a system you do not control, exported by a person you have not met, at a time you did not choose.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 / 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boundary,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ca005fc42b0e019.png"/>
          <p:cNvPicPr>
            <a:picLocks noChangeAspect="1"/>
          </p:cNvPicPr>
          <p:nvPr/>
        </p:nvPicPr>
        <p:blipFill>
          <a:blip r:embed="rId2"/>
          <a:stretch>
            <a:fillRect/>
          </a:stretch>
        </p:blipFill>
        <p:spPr>
          <a:xfrm>
            <a:off x="685800" y="1904596"/>
            <a:ext cx="10820095" cy="3252006"/>
          </a:xfrm>
          <a:prstGeom prst="rect">
            <a:avLst/>
          </a:prstGeom>
        </p:spPr>
      </p:pic>
      <p:sp>
        <p:nvSpPr>
          <p:cNvPr id="7" name="TextBox 6"/>
          <p:cNvSpPr txBox="1"/>
          <p:nvPr/>
        </p:nvSpPr>
        <p:spPr>
          <a:xfrm>
            <a:off x="685800" y="5543296"/>
            <a:ext cx="10820095" cy="510032"/>
          </a:xfrm>
          <a:prstGeom prst="rect">
            <a:avLst/>
          </a:prstGeom>
          <a:noFill/>
        </p:spPr>
        <p:txBody>
          <a:bodyPr wrap="square" anchor="t">
            <a:spAutoFit/>
          </a:bodyPr>
          <a:lstStyle/>
          <a:p>
            <a:r>
              <a:rPr sz="2000" b="0">
                <a:solidFill>
                  <a:srgbClr val="1C1C1A"/>
                </a:solidFill>
                <a:latin typeface="Calibri"/>
              </a:rPr>
              <a:t>Every arrow that crosses the dashed line loses something or has to be told something.</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 / 71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1: A FORMAT IS AN AGREEMENT</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6 / 71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a file format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52c95281222b5bb8.png"/>
          <p:cNvPicPr>
            <a:picLocks noChangeAspect="1"/>
          </p:cNvPicPr>
          <p:nvPr/>
        </p:nvPicPr>
        <p:blipFill>
          <a:blip r:embed="rId2"/>
          <a:stretch>
            <a:fillRect/>
          </a:stretch>
        </p:blipFill>
        <p:spPr>
          <a:xfrm>
            <a:off x="685800" y="2496503"/>
            <a:ext cx="4652640" cy="2687952"/>
          </a:xfrm>
          <a:prstGeom prst="rect">
            <a:avLst/>
          </a:prstGeom>
        </p:spPr>
      </p:pic>
      <p:sp>
        <p:nvSpPr>
          <p:cNvPr id="7" name="TextBox 6"/>
          <p:cNvSpPr txBox="1"/>
          <p:nvPr/>
        </p:nvSpPr>
        <p:spPr>
          <a:xfrm>
            <a:off x="5771244" y="2757424"/>
            <a:ext cx="5734650" cy="2166112"/>
          </a:xfrm>
          <a:prstGeom prst="rect">
            <a:avLst/>
          </a:prstGeom>
          <a:noFill/>
        </p:spPr>
        <p:txBody>
          <a:bodyPr wrap="square" anchor="t">
            <a:spAutoFit/>
          </a:bodyPr>
          <a:lstStyle/>
          <a:p>
            <a:pPr>
              <a:spcAft>
                <a:spcPts val="900"/>
              </a:spcAft>
            </a:pPr>
            <a:r>
              <a:rPr sz="2000" b="0">
                <a:solidFill>
                  <a:srgbClr val="1C1C1A"/>
                </a:solidFill>
                <a:latin typeface="Calibri"/>
              </a:rPr>
              <a:t>A file format is an agreement about structure.</a:t>
            </a:r>
          </a:p>
          <a:p>
            <a:pPr>
              <a:spcAft>
                <a:spcPts val="900"/>
              </a:spcAft>
            </a:pPr>
            <a:r>
              <a:rPr sz="2000" b="0">
                <a:solidFill>
                  <a:srgbClr val="1C1C1A"/>
                </a:solidFill>
                <a:latin typeface="Calibri"/>
              </a:rPr>
              <a:t>CSV agrees: one row per record, one comma between fields, the first row names the fields.</a:t>
            </a:r>
          </a:p>
          <a:p>
            <a:pPr>
              <a:spcAft>
                <a:spcPts val="900"/>
              </a:spcAft>
            </a:pPr>
            <a:r>
              <a:rPr sz="2000" b="0">
                <a:solidFill>
                  <a:srgbClr val="1C1C1A"/>
                </a:solidFill>
                <a:latin typeface="Calibri"/>
              </a:rPr>
              <a:t>That is the entire agreement. Nothing in it mentions types.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7 / 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consequence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9784"/>
            <a:ext cx="10820095" cy="564896"/>
          </a:xfrm>
          <a:prstGeom prst="rect">
            <a:avLst/>
          </a:prstGeom>
          <a:noFill/>
        </p:spPr>
        <p:txBody>
          <a:bodyPr wrap="square" anchor="t">
            <a:spAutoFit/>
          </a:bodyPr>
          <a:lstStyle/>
          <a:p>
            <a:pPr>
              <a:spcAft>
                <a:spcPts val="900"/>
              </a:spcAft>
            </a:pPr>
            <a:r>
              <a:rPr sz="2000" b="0">
                <a:solidFill>
                  <a:srgbClr val="1C1C1A"/>
                </a:solidFill>
                <a:latin typeface="Calibri"/>
              </a:rPr>
              <a:t>Everything you read from a CSV is a string.</a:t>
            </a:r>
          </a:p>
        </p:txBody>
      </p:sp>
      <p:sp>
        <p:nvSpPr>
          <p:cNvPr id="7" name="Rectangle 6"/>
          <p:cNvSpPr/>
          <p:nvPr/>
        </p:nvSpPr>
        <p:spPr>
          <a:xfrm>
            <a:off x="685800" y="3282696"/>
            <a:ext cx="10820095" cy="107899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282696"/>
            <a:ext cx="50292" cy="107899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383280"/>
            <a:ext cx="10417759" cy="896112"/>
          </a:xfrm>
          <a:prstGeom prst="rect">
            <a:avLst/>
          </a:prstGeom>
          <a:noFill/>
        </p:spPr>
        <p:txBody>
          <a:bodyPr wrap="square" anchor="t">
            <a:spAutoFit/>
          </a:bodyPr>
          <a:lstStyle/>
          <a:p>
            <a:pPr>
              <a:spcAft>
                <a:spcPts val="200"/>
              </a:spcAft>
            </a:pPr>
            <a:r>
              <a:rPr sz="1600" b="0">
                <a:solidFill>
                  <a:srgbClr val="E4ECF7"/>
                </a:solidFill>
                <a:latin typeface="Consolas"/>
              </a:rPr>
              <a:t>4500      becomes   "4500"</a:t>
            </a:r>
          </a:p>
          <a:p>
            <a:pPr>
              <a:spcAft>
                <a:spcPts val="200"/>
              </a:spcAft>
            </a:pPr>
            <a:r>
              <a:rPr sz="1600" b="0">
                <a:solidFill>
                  <a:srgbClr val="E4ECF7"/>
                </a:solidFill>
                <a:latin typeface="Consolas"/>
              </a:rPr>
              <a:t>twelve    becomes   "twelve"</a:t>
            </a:r>
          </a:p>
          <a:p>
            <a:pPr>
              <a:spcAft>
                <a:spcPts val="200"/>
              </a:spcAft>
            </a:pPr>
            <a:r>
              <a:rPr sz="1600" b="0">
                <a:solidFill>
                  <a:srgbClr val="E4ECF7"/>
                </a:solidFill>
                <a:latin typeface="Consolas"/>
              </a:rPr>
              <a:t>(empty)   becomes   ""</a:t>
            </a:r>
          </a:p>
        </p:txBody>
      </p:sp>
      <p:sp>
        <p:nvSpPr>
          <p:cNvPr id="10" name="TextBox 9"/>
          <p:cNvSpPr txBox="1"/>
          <p:nvPr/>
        </p:nvSpPr>
        <p:spPr>
          <a:xfrm>
            <a:off x="685800" y="4526280"/>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 file cannot tell you which one is a number. It never could.</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8 / 71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What each format agrees about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00783a833afbb64.png"/>
          <p:cNvPicPr>
            <a:picLocks noChangeAspect="1"/>
          </p:cNvPicPr>
          <p:nvPr/>
        </p:nvPicPr>
        <p:blipFill>
          <a:blip r:embed="rId2"/>
          <a:stretch>
            <a:fillRect/>
          </a:stretch>
        </p:blipFill>
        <p:spPr>
          <a:xfrm>
            <a:off x="685800" y="2371671"/>
            <a:ext cx="4652640" cy="2937616"/>
          </a:xfrm>
          <a:prstGeom prst="rect">
            <a:avLst/>
          </a:prstGeom>
        </p:spPr>
      </p:pic>
      <p:sp>
        <p:nvSpPr>
          <p:cNvPr id="7" name="TextBox 6"/>
          <p:cNvSpPr txBox="1"/>
          <p:nvPr/>
        </p:nvSpPr>
        <p:spPr>
          <a:xfrm>
            <a:off x="5771244" y="3385312"/>
            <a:ext cx="5734650" cy="910336"/>
          </a:xfrm>
          <a:prstGeom prst="rect">
            <a:avLst/>
          </a:prstGeom>
          <a:noFill/>
        </p:spPr>
        <p:txBody>
          <a:bodyPr wrap="square" anchor="t">
            <a:spAutoFit/>
          </a:bodyPr>
          <a:lstStyle/>
          <a:p>
            <a:pPr>
              <a:spcAft>
                <a:spcPts val="900"/>
              </a:spcAft>
            </a:pPr>
            <a:r>
              <a:rPr sz="2000" b="0">
                <a:solidFill>
                  <a:srgbClr val="1C1C1A"/>
                </a:solidFill>
                <a:latin typeface="Calibri"/>
              </a:rPr>
              <a:t>The last box is where most real defects live, and no format will save you from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9 /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round trip that loses types, watched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322478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322478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3041903"/>
          </a:xfrm>
          <a:prstGeom prst="rect">
            <a:avLst/>
          </a:prstGeom>
          <a:noFill/>
        </p:spPr>
        <p:txBody>
          <a:bodyPr wrap="square" anchor="t">
            <a:spAutoFit/>
          </a:bodyPr>
          <a:lstStyle/>
          <a:p>
            <a:pPr>
              <a:spcAft>
                <a:spcPts val="200"/>
              </a:spcAft>
            </a:pPr>
            <a:r>
              <a:rPr sz="1600" b="0">
                <a:solidFill>
                  <a:srgbClr val="E4ECF7"/>
                </a:solidFill>
                <a:latin typeface="Consolas"/>
              </a:rPr>
              <a:t>records = [{"order_id": "KR4201", "amount": 2395}]</a:t>
            </a:r>
          </a:p>
          <a:p>
            <a:pPr>
              <a:spcAft>
                <a:spcPts val="200"/>
              </a:spcAft>
            </a:pPr>
          </a:p>
          <a:p>
            <a:pPr>
              <a:spcAft>
                <a:spcPts val="200"/>
              </a:spcAft>
            </a:pPr>
            <a:r>
              <a:rPr sz="1600" b="0">
                <a:solidFill>
                  <a:srgbClr val="E4ECF7"/>
                </a:solidFill>
                <a:latin typeface="Consolas"/>
              </a:rPr>
              <a:t>with open("round.csv", "w", newline="") as f:</a:t>
            </a:r>
          </a:p>
          <a:p>
            <a:pPr>
              <a:spcAft>
                <a:spcPts val="200"/>
              </a:spcAft>
            </a:pPr>
            <a:r>
              <a:rPr sz="1600" b="0">
                <a:solidFill>
                  <a:srgbClr val="E4ECF7"/>
                </a:solidFill>
                <a:latin typeface="Consolas"/>
              </a:rPr>
              <a:t>    w = csv.DictWriter(f, fieldnames=["order_id", "amount"])</a:t>
            </a:r>
          </a:p>
          <a:p>
            <a:pPr>
              <a:spcAft>
                <a:spcPts val="200"/>
              </a:spcAft>
            </a:pPr>
            <a:r>
              <a:rPr sz="1600" b="0">
                <a:solidFill>
                  <a:srgbClr val="E4ECF7"/>
                </a:solidFill>
                <a:latin typeface="Consolas"/>
              </a:rPr>
              <a:t>    w.writeheader(); w.writerows(records)</a:t>
            </a:r>
          </a:p>
          <a:p>
            <a:pPr>
              <a:spcAft>
                <a:spcPts val="200"/>
              </a:spcAft>
            </a:pPr>
          </a:p>
          <a:p>
            <a:pPr>
              <a:spcAft>
                <a:spcPts val="200"/>
              </a:spcAft>
            </a:pPr>
            <a:r>
              <a:rPr sz="1600" b="0">
                <a:solidFill>
                  <a:srgbClr val="E4ECF7"/>
                </a:solidFill>
                <a:latin typeface="Consolas"/>
              </a:rPr>
              <a:t>with open("round.csv") as f:</a:t>
            </a:r>
          </a:p>
          <a:p>
            <a:pPr>
              <a:spcAft>
                <a:spcPts val="200"/>
              </a:spcAft>
            </a:pPr>
            <a:r>
              <a:rPr sz="1600" b="0">
                <a:solidFill>
                  <a:srgbClr val="E4ECF7"/>
                </a:solidFill>
                <a:latin typeface="Consolas"/>
              </a:rPr>
              <a:t>    back = list(csv.DictReader(f))</a:t>
            </a:r>
          </a:p>
          <a:p>
            <a:pPr>
              <a:spcAft>
                <a:spcPts val="200"/>
              </a:spcAft>
            </a:pPr>
          </a:p>
          <a:p>
            <a:pPr>
              <a:spcAft>
                <a:spcPts val="200"/>
              </a:spcAft>
            </a:pPr>
            <a:r>
              <a:rPr sz="1600" b="0">
                <a:solidFill>
                  <a:srgbClr val="E4ECF7"/>
                </a:solidFill>
                <a:latin typeface="Consolas"/>
              </a:rPr>
              <a:t>print(records[0]["amount"], type(records[0]["amount"]).__name__)</a:t>
            </a:r>
          </a:p>
          <a:p>
            <a:pPr>
              <a:spcAft>
                <a:spcPts val="200"/>
              </a:spcAft>
            </a:pPr>
            <a:r>
              <a:rPr sz="1600" b="0">
                <a:solidFill>
                  <a:srgbClr val="E4ECF7"/>
                </a:solidFill>
                <a:latin typeface="Consolas"/>
              </a:rPr>
              <a:t>print(back[0]["amount"], type(back[0]["amount"]).__name__)</a:t>
            </a:r>
          </a:p>
        </p:txBody>
      </p:sp>
      <p:sp>
        <p:nvSpPr>
          <p:cNvPr id="10" name="Rectangle 9"/>
          <p:cNvSpPr/>
          <p:nvPr/>
        </p:nvSpPr>
        <p:spPr>
          <a:xfrm>
            <a:off x="685800" y="5017008"/>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5017008"/>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5117592"/>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2395 int</a:t>
            </a:r>
          </a:p>
          <a:p>
            <a:pPr>
              <a:spcAft>
                <a:spcPts val="200"/>
              </a:spcAft>
            </a:pPr>
            <a:r>
              <a:rPr sz="1600" b="0">
                <a:solidFill>
                  <a:srgbClr val="E4ECF7"/>
                </a:solidFill>
                <a:latin typeface="Consolas"/>
              </a:rPr>
              <a:t>2395 str</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5" name="TextBox 14"/>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10 / 71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Yesterday's planted bug, revisited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Monday you had one amount stored as text and it broke a comparison.</a:t>
            </a:r>
          </a:p>
          <a:p>
            <a:pPr>
              <a:spcAft>
                <a:spcPts val="900"/>
              </a:spcAft>
            </a:pPr>
            <a:r>
              <a:rPr sz="2000" b="0">
                <a:solidFill>
                  <a:srgbClr val="1C1C1A"/>
                </a:solidFill>
                <a:latin typeface="Calibri"/>
              </a:rPr>
              <a:t>Write those same records to CSV and that bug vanishes, because now every amount is text. The defect did not get fixed. It got hidden.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11 / 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So conversion is a decision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You convert on purpose, at a place you chose, with a plan for what happens when it fails.</a:t>
            </a:r>
          </a:p>
          <a:p>
            <a:pPr>
              <a:spcAft>
                <a:spcPts val="900"/>
              </a:spcAft>
            </a:pPr>
            <a:r>
              <a:rPr sz="2000" b="0">
                <a:solidFill>
                  <a:srgbClr val="1C1C1A"/>
                </a:solidFill>
                <a:latin typeface="Calibri"/>
              </a:rPr>
              <a:t>That plan is the try block you wrote in half one. It is already done.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12 / 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Where to convert, and why the answer is once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77c399921270bf06.png"/>
          <p:cNvPicPr>
            <a:picLocks noChangeAspect="1"/>
          </p:cNvPicPr>
          <p:nvPr/>
        </p:nvPicPr>
        <p:blipFill>
          <a:blip r:embed="rId2"/>
          <a:stretch>
            <a:fillRect/>
          </a:stretch>
        </p:blipFill>
        <p:spPr>
          <a:xfrm>
            <a:off x="685800" y="2254859"/>
            <a:ext cx="4652640" cy="3171240"/>
          </a:xfrm>
          <a:prstGeom prst="rect">
            <a:avLst/>
          </a:prstGeom>
        </p:spPr>
      </p:pic>
      <p:sp>
        <p:nvSpPr>
          <p:cNvPr id="8" name="TextBox 7"/>
          <p:cNvSpPr txBox="1"/>
          <p:nvPr/>
        </p:nvSpPr>
        <p:spPr>
          <a:xfrm>
            <a:off x="5771244" y="3212592"/>
            <a:ext cx="5734650" cy="1255776"/>
          </a:xfrm>
          <a:prstGeom prst="rect">
            <a:avLst/>
          </a:prstGeom>
          <a:noFill/>
        </p:spPr>
        <p:txBody>
          <a:bodyPr wrap="square" anchor="t">
            <a:spAutoFit/>
          </a:bodyPr>
          <a:lstStyle/>
          <a:p>
            <a:pPr>
              <a:spcAft>
                <a:spcPts val="900"/>
              </a:spcAft>
            </a:pPr>
            <a:r>
              <a:rPr sz="2000" b="0">
                <a:solidFill>
                  <a:srgbClr val="1C1C1A"/>
                </a:solidFill>
                <a:latin typeface="Calibri"/>
              </a:rPr>
              <a:t>Text comparison really does say that. "9" &gt; "10" is True, because it compares the first character and stops.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13 / 71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1</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A format is an agreement about structure.</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CSV agrees about rows and commas, never about types.</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Everything you read is a string.</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Convert on purpose, in one place, with a rejection path.</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14 / 71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2: OPENING A FILE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15 /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break, first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1744"/>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1744"/>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2328"/>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FileNotFoundError: [Errno 2] No such file or directory: 'data/orderz.csv'</a:t>
            </a:r>
          </a:p>
        </p:txBody>
      </p:sp>
      <p:sp>
        <p:nvSpPr>
          <p:cNvPr id="9" name="TextBox 8"/>
          <p:cNvSpPr txBox="1"/>
          <p:nvPr/>
        </p:nvSpPr>
        <p:spPr>
          <a:xfrm>
            <a:off x="685800" y="373888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Before we open a file correctly, watch what a wrong path says. It names the exact path it tried. Read it out loud and you find the typo.</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16 / 71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path is relative to where the kernel is running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Not to where you think you are. Not to where the file browser is pointing.</a:t>
            </a:r>
          </a:p>
          <a:p>
            <a:pPr>
              <a:spcAft>
                <a:spcPts val="900"/>
              </a:spcAft>
            </a:pPr>
            <a:r>
              <a:rPr sz="2000" b="0">
                <a:solidFill>
                  <a:srgbClr val="1C1C1A"/>
                </a:solidFill>
                <a:latin typeface="Calibri"/>
              </a:rPr>
              <a:t>FileNotFoundError is the cheapest error in this course. It tells you exactly what it looked for.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17 /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How a relative path is resolved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f77004556b447fd0.png"/>
          <p:cNvPicPr>
            <a:picLocks noChangeAspect="1"/>
          </p:cNvPicPr>
          <p:nvPr/>
        </p:nvPicPr>
        <p:blipFill>
          <a:blip r:embed="rId2"/>
          <a:stretch>
            <a:fillRect/>
          </a:stretch>
        </p:blipFill>
        <p:spPr>
          <a:xfrm>
            <a:off x="685800" y="2690887"/>
            <a:ext cx="10820095" cy="1333984"/>
          </a:xfrm>
          <a:prstGeom prst="rect">
            <a:avLst/>
          </a:prstGeom>
        </p:spPr>
      </p:pic>
      <p:sp>
        <p:nvSpPr>
          <p:cNvPr id="7" name="TextBox 6"/>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When the path in the error is not the path you expected, the working directory is wrong rather than the filename. Print it once and the confusion ends.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18 / 71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with open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97632"/>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97632"/>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98216"/>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with open("records.csv") as f:</a:t>
            </a:r>
          </a:p>
          <a:p>
            <a:pPr>
              <a:spcAft>
                <a:spcPts val="200"/>
              </a:spcAft>
            </a:pPr>
            <a:r>
              <a:rPr sz="1600" b="0">
                <a:solidFill>
                  <a:srgbClr val="E4ECF7"/>
                </a:solidFill>
                <a:latin typeface="Consolas"/>
              </a:rPr>
              <a:t>    ...</a:t>
            </a:r>
          </a:p>
        </p:txBody>
      </p:sp>
      <p:sp>
        <p:nvSpPr>
          <p:cNvPr id="9" name="TextBox 8"/>
          <p:cNvSpPr txBox="1"/>
          <p:nvPr/>
        </p:nvSpPr>
        <p:spPr>
          <a:xfrm>
            <a:off x="685800" y="387299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The with block guarantees the file closes when the block ends, including when your code raises inside it.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19 / 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What the with block is doing for you</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These two are equivalent, and the second one is what you would have to write by hand.</a:t>
            </a:r>
          </a:p>
        </p:txBody>
      </p:sp>
      <p:sp>
        <p:nvSpPr>
          <p:cNvPr id="8" name="Rectangle 7"/>
          <p:cNvSpPr/>
          <p:nvPr/>
        </p:nvSpPr>
        <p:spPr>
          <a:xfrm>
            <a:off x="685800" y="2320544"/>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320544"/>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421128"/>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with open("records.csv") as f:</a:t>
            </a:r>
          </a:p>
          <a:p>
            <a:pPr>
              <a:spcAft>
                <a:spcPts val="200"/>
              </a:spcAft>
            </a:pPr>
            <a:r>
              <a:rPr sz="1600" b="0">
                <a:solidFill>
                  <a:srgbClr val="E4ECF7"/>
                </a:solidFill>
                <a:latin typeface="Consolas"/>
              </a:rPr>
              <a:t>    rows = list(csv.DictReader(f))</a:t>
            </a:r>
          </a:p>
        </p:txBody>
      </p:sp>
      <p:sp>
        <p:nvSpPr>
          <p:cNvPr id="11" name="Rectangle 10"/>
          <p:cNvSpPr/>
          <p:nvPr/>
        </p:nvSpPr>
        <p:spPr>
          <a:xfrm>
            <a:off x="685800" y="3295904"/>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3295904"/>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3396488"/>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f = open("records.csv")</a:t>
            </a:r>
          </a:p>
          <a:p>
            <a:pPr>
              <a:spcAft>
                <a:spcPts val="200"/>
              </a:spcAft>
            </a:pPr>
            <a:r>
              <a:rPr sz="1600" b="0">
                <a:solidFill>
                  <a:srgbClr val="E4ECF7"/>
                </a:solidFill>
                <a:latin typeface="Consolas"/>
              </a:rPr>
              <a:t>try:</a:t>
            </a:r>
          </a:p>
          <a:p>
            <a:pPr>
              <a:spcAft>
                <a:spcPts val="200"/>
              </a:spcAft>
            </a:pPr>
            <a:r>
              <a:rPr sz="1600" b="0">
                <a:solidFill>
                  <a:srgbClr val="E4ECF7"/>
                </a:solidFill>
                <a:latin typeface="Consolas"/>
              </a:rPr>
              <a:t>    rows = list(csv.DictReader(f))</a:t>
            </a:r>
          </a:p>
          <a:p>
            <a:pPr>
              <a:spcAft>
                <a:spcPts val="200"/>
              </a:spcAft>
            </a:pPr>
            <a:r>
              <a:rPr sz="1600" b="0">
                <a:solidFill>
                  <a:srgbClr val="E4ECF7"/>
                </a:solidFill>
                <a:latin typeface="Consolas"/>
              </a:rPr>
              <a:t>finally:</a:t>
            </a:r>
          </a:p>
          <a:p>
            <a:pPr>
              <a:spcAft>
                <a:spcPts val="200"/>
              </a:spcAft>
            </a:pPr>
            <a:r>
              <a:rPr sz="1600" b="0">
                <a:solidFill>
                  <a:srgbClr val="E4ECF7"/>
                </a:solidFill>
                <a:latin typeface="Consolas"/>
              </a:rPr>
              <a:t>    f.close()</a:t>
            </a:r>
          </a:p>
        </p:txBody>
      </p:sp>
      <p:sp>
        <p:nvSpPr>
          <p:cNvPr id="14" name="TextBox 13"/>
          <p:cNvSpPr txBox="1"/>
          <p:nvPr/>
        </p:nvSpPr>
        <p:spPr>
          <a:xfrm>
            <a:off x="685800" y="5075936"/>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The finally runs whether the body finished or raised. That is the guarantee, and it is the reason a crash in the middle of a loop still leaves the file closed.</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20 / 71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Why that guarantee matters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8531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Without it, a crash mid-loop leaves the file open. On your laptop you get away with it. On a server that runs this a thousand times a day, you run out of file handles.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21 / 71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Running out of handles, as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84400"/>
            <a:ext cx="10820095" cy="3312160"/>
          </a:xfrm>
          <a:prstGeom prst="rect">
            <a:avLst/>
          </a:prstGeom>
          <a:noFill/>
        </p:spPr>
        <p:txBody>
          <a:bodyPr wrap="square" anchor="t">
            <a:spAutoFit/>
          </a:bodyPr>
          <a:lstStyle/>
          <a:p>
            <a:pPr>
              <a:spcAft>
                <a:spcPts val="900"/>
              </a:spcAft>
            </a:pPr>
            <a:r>
              <a:rPr sz="2000" b="0">
                <a:solidFill>
                  <a:srgbClr val="1C1C1A"/>
                </a:solidFill>
                <a:latin typeface="Calibri"/>
              </a:rPr>
              <a:t>An operating system gives a process a fixed budget of open file handles. A common default is 1024.</a:t>
            </a:r>
          </a:p>
          <a:p>
            <a:pPr>
              <a:spcAft>
                <a:spcPts val="900"/>
              </a:spcAft>
            </a:pPr>
            <a:r>
              <a:rPr sz="2000" b="0">
                <a:solidFill>
                  <a:srgbClr val="1C1C1A"/>
                </a:solidFill>
                <a:latin typeface="Calibri"/>
              </a:rPr>
              <a:t>$$\text{runs before failure} = \frac{\text{handle limit}}{\text{handles leaked per run}}$$</a:t>
            </a:r>
          </a:p>
          <a:p>
            <a:pPr>
              <a:spcAft>
                <a:spcPts val="900"/>
              </a:spcAft>
            </a:pPr>
            <a:r>
              <a:rPr sz="2000" b="0">
                <a:solidFill>
                  <a:srgbClr val="1C1C1A"/>
                </a:solidFill>
                <a:latin typeface="Calibri"/>
              </a:rPr>
              <a:t>Leak one handle per run against a limit of 1024 and the job survives 1024 runs. A job that runs every minute reaches that in under a day, and the failure arrives as OSError: [Errno 24] Too many open files, which names nothing about the loop that caused it.</a:t>
            </a:r>
          </a:p>
          <a:p>
            <a:pPr>
              <a:spcAft>
                <a:spcPts val="900"/>
              </a:spcAft>
            </a:pPr>
            <a:r>
              <a:rPr sz="2000" b="0">
                <a:solidFill>
                  <a:srgbClr val="1C1C1A"/>
                </a:solidFill>
                <a:latin typeface="Calibri"/>
              </a:rPr>
              <a:t>That is why the fix is a habit rather than a debugging skill. You cannot debug your way to the cause quickly.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22 / 71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modes you will actually use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354580"/>
          <a:ext cx="10820095" cy="2971800"/>
        </p:xfrm>
        <a:graphic>
          <a:graphicData uri="http://schemas.openxmlformats.org/drawingml/2006/table">
            <a:tbl>
              <a:tblPr firstRow="0" bandRow="0">
                <a:tableStyleId>{2D5ABB26-0587-4C30-8999-92F81FD0307C}</a:tableStyleId>
              </a:tblPr>
              <a:tblGrid>
                <a:gridCol w="3606698"/>
                <a:gridCol w="3606698"/>
                <a:gridCol w="3606699"/>
              </a:tblGrid>
              <a:tr h="387096">
                <a:tc>
                  <a:txBody>
                    <a:bodyPr/>
                    <a:lstStyle/>
                    <a:p>
                      <a:r>
                        <a:rPr sz="1600" b="1">
                          <a:solidFill>
                            <a:srgbClr val="FFFFFF"/>
                          </a:solidFill>
                          <a:latin typeface="Calibri"/>
                        </a:rPr>
                        <a:t>Mode</a:t>
                      </a:r>
                    </a:p>
                  </a:txBody>
                  <a:tcPr marL="101600" marR="101600" marT="38100" marB="38100" anchor="ctr">
                    <a:solidFill>
                      <a:srgbClr val="2B4A7D"/>
                    </a:solidFill>
                  </a:tcPr>
                </a:tc>
                <a:tc>
                  <a:txBody>
                    <a:bodyPr/>
                    <a:lstStyle/>
                    <a:p>
                      <a:r>
                        <a:rPr sz="1600" b="1">
                          <a:solidFill>
                            <a:srgbClr val="FFFFFF"/>
                          </a:solidFill>
                          <a:latin typeface="Calibri"/>
                        </a:rPr>
                        <a:t>What it means</a:t>
                      </a:r>
                    </a:p>
                  </a:txBody>
                  <a:tcPr marL="101600" marR="101600" marT="38100" marB="38100" anchor="ctr">
                    <a:solidFill>
                      <a:srgbClr val="2B4A7D"/>
                    </a:solidFill>
                  </a:tcPr>
                </a:tc>
                <a:tc>
                  <a:txBody>
                    <a:bodyPr/>
                    <a:lstStyle/>
                    <a:p>
                      <a:r>
                        <a:rPr sz="1600" b="1">
                          <a:solidFill>
                            <a:srgbClr val="FFFFFF"/>
                          </a:solidFill>
                          <a:latin typeface="Calibri"/>
                        </a:rPr>
                        <a:t>The trap</a:t>
                      </a:r>
                    </a:p>
                  </a:txBody>
                  <a:tcPr marL="101600" marR="101600" marT="38100" marB="38100" anchor="ctr">
                    <a:solidFill>
                      <a:srgbClr val="2B4A7D"/>
                    </a:solidFill>
                  </a:tcPr>
                </a:tc>
              </a:tr>
              <a:tr h="387096">
                <a:tc>
                  <a:txBody>
                    <a:bodyPr/>
                    <a:lstStyle/>
                    <a:p>
                      <a:r>
                        <a:rPr sz="1500" b="0">
                          <a:solidFill>
                            <a:srgbClr val="1C1C1A"/>
                          </a:solidFill>
                          <a:latin typeface="Calibri"/>
                        </a:rPr>
                        <a:t>"r"</a:t>
                      </a:r>
                    </a:p>
                  </a:txBody>
                  <a:tcPr marL="101600" marR="101600" marT="38100" marB="38100" anchor="ctr">
                    <a:solidFill>
                      <a:srgbClr val="FFFFFF"/>
                    </a:solidFill>
                  </a:tcPr>
                </a:tc>
                <a:tc>
                  <a:txBody>
                    <a:bodyPr/>
                    <a:lstStyle/>
                    <a:p>
                      <a:r>
                        <a:rPr sz="1500" b="0">
                          <a:solidFill>
                            <a:srgbClr val="1C1C1A"/>
                          </a:solidFill>
                          <a:latin typeface="Calibri"/>
                        </a:rPr>
                        <a:t>Read text. This is the default.</a:t>
                      </a:r>
                    </a:p>
                  </a:txBody>
                  <a:tcPr marL="101600" marR="101600" marT="38100" marB="38100" anchor="ctr">
                    <a:solidFill>
                      <a:srgbClr val="FFFFFF"/>
                    </a:solidFill>
                  </a:tcPr>
                </a:tc>
                <a:tc>
                  <a:txBody>
                    <a:bodyPr/>
                    <a:lstStyle/>
                    <a:p>
                      <a:r>
                        <a:rPr sz="1500" b="0">
                          <a:solidFill>
                            <a:srgbClr val="1C1C1A"/>
                          </a:solidFill>
                          <a:latin typeface="Calibri"/>
                        </a:rPr>
                        <a:t>None, beyond the path.</a:t>
                      </a:r>
                    </a:p>
                  </a:txBody>
                  <a:tcPr marL="101600" marR="101600" marT="38100" marB="38100" anchor="ctr">
                    <a:solidFill>
                      <a:srgbClr val="FFFFFF"/>
                    </a:solidFill>
                  </a:tcPr>
                </a:tc>
              </a:tr>
              <a:tr h="905256">
                <a:tc>
                  <a:txBody>
                    <a:bodyPr/>
                    <a:lstStyle/>
                    <a:p>
                      <a:r>
                        <a:rPr sz="1500" b="0">
                          <a:solidFill>
                            <a:srgbClr val="1C1C1A"/>
                          </a:solidFill>
                          <a:latin typeface="Calibri"/>
                        </a:rPr>
                        <a:t>"w"</a:t>
                      </a:r>
                    </a:p>
                  </a:txBody>
                  <a:tcPr marL="101600" marR="101600" marT="38100" marB="38100" anchor="ctr">
                    <a:solidFill>
                      <a:srgbClr val="F7F7F5"/>
                    </a:solidFill>
                  </a:tcPr>
                </a:tc>
                <a:tc>
                  <a:txBody>
                    <a:bodyPr/>
                    <a:lstStyle/>
                    <a:p>
                      <a:r>
                        <a:rPr sz="1500" b="0">
                          <a:solidFill>
                            <a:srgbClr val="1C1C1A"/>
                          </a:solidFill>
                          <a:latin typeface="Calibri"/>
                        </a:rPr>
                        <a:t>Write text, truncating the file to empty first.</a:t>
                      </a:r>
                    </a:p>
                  </a:txBody>
                  <a:tcPr marL="101600" marR="101600" marT="38100" marB="38100" anchor="ctr">
                    <a:solidFill>
                      <a:srgbClr val="F7F7F5"/>
                    </a:solidFill>
                  </a:tcPr>
                </a:tc>
                <a:tc>
                  <a:txBody>
                    <a:bodyPr/>
                    <a:lstStyle/>
                    <a:p>
                      <a:r>
                        <a:rPr sz="1500" b="0">
                          <a:solidFill>
                            <a:srgbClr val="1C1C1A"/>
                          </a:solidFill>
                          <a:latin typeface="Calibri"/>
                        </a:rPr>
                        <a:t>It destroys the file's contents the moment it opens, before you have written anything.</a:t>
                      </a:r>
                    </a:p>
                  </a:txBody>
                  <a:tcPr marL="101600" marR="101600" marT="38100" marB="38100" anchor="ctr">
                    <a:solidFill>
                      <a:srgbClr val="F7F7F5"/>
                    </a:solidFill>
                  </a:tcPr>
                </a:tc>
              </a:tr>
              <a:tr h="646176">
                <a:tc>
                  <a:txBody>
                    <a:bodyPr/>
                    <a:lstStyle/>
                    <a:p>
                      <a:r>
                        <a:rPr sz="1500" b="0">
                          <a:solidFill>
                            <a:srgbClr val="1C1C1A"/>
                          </a:solidFill>
                          <a:latin typeface="Calibri"/>
                        </a:rPr>
                        <a:t>"a"</a:t>
                      </a:r>
                    </a:p>
                  </a:txBody>
                  <a:tcPr marL="101600" marR="101600" marT="38100" marB="38100" anchor="ctr">
                    <a:solidFill>
                      <a:srgbClr val="FFFFFF"/>
                    </a:solidFill>
                  </a:tcPr>
                </a:tc>
                <a:tc>
                  <a:txBody>
                    <a:bodyPr/>
                    <a:lstStyle/>
                    <a:p>
                      <a:r>
                        <a:rPr sz="1500" b="0">
                          <a:solidFill>
                            <a:srgbClr val="1C1C1A"/>
                          </a:solidFill>
                          <a:latin typeface="Calibri"/>
                        </a:rPr>
                        <a:t>Append text to the end.</a:t>
                      </a:r>
                    </a:p>
                  </a:txBody>
                  <a:tcPr marL="101600" marR="101600" marT="38100" marB="38100" anchor="ctr">
                    <a:solidFill>
                      <a:srgbClr val="FFFFFF"/>
                    </a:solidFill>
                  </a:tcPr>
                </a:tc>
                <a:tc>
                  <a:txBody>
                    <a:bodyPr/>
                    <a:lstStyle/>
                    <a:p>
                      <a:r>
                        <a:rPr sz="1500" b="0">
                          <a:solidFill>
                            <a:srgbClr val="1C1C1A"/>
                          </a:solidFill>
                          <a:latin typeface="Calibri"/>
                        </a:rPr>
                        <a:t>Running your cell twice doubles the rows and nothing complains.</a:t>
                      </a:r>
                    </a:p>
                  </a:txBody>
                  <a:tcPr marL="101600" marR="101600" marT="38100" marB="38100" anchor="ctr">
                    <a:solidFill>
                      <a:srgbClr val="FFFFFF"/>
                    </a:solidFill>
                  </a:tcPr>
                </a:tc>
              </a:tr>
              <a:tr h="646176">
                <a:tc>
                  <a:txBody>
                    <a:bodyPr/>
                    <a:lstStyle/>
                    <a:p>
                      <a:r>
                        <a:rPr sz="1500" b="0">
                          <a:solidFill>
                            <a:srgbClr val="1C1C1A"/>
                          </a:solidFill>
                          <a:latin typeface="Calibri"/>
                        </a:rPr>
                        <a:t>newline=""</a:t>
                      </a:r>
                    </a:p>
                  </a:txBody>
                  <a:tcPr marL="101600" marR="101600" marT="38100" marB="38100" anchor="ctr">
                    <a:solidFill>
                      <a:srgbClr val="F7F7F5"/>
                    </a:solidFill>
                  </a:tcPr>
                </a:tc>
                <a:tc>
                  <a:txBody>
                    <a:bodyPr/>
                    <a:lstStyle/>
                    <a:p>
                      <a:r>
                        <a:rPr sz="1500" b="0">
                          <a:solidFill>
                            <a:srgbClr val="1C1C1A"/>
                          </a:solidFill>
                          <a:latin typeface="Calibri"/>
                        </a:rPr>
                        <a:t>Passed to open when using the csv module for writing.</a:t>
                      </a:r>
                    </a:p>
                  </a:txBody>
                  <a:tcPr marL="101600" marR="101600" marT="38100" marB="38100" anchor="ctr">
                    <a:solidFill>
                      <a:srgbClr val="F7F7F5"/>
                    </a:solidFill>
                  </a:tcPr>
                </a:tc>
                <a:tc>
                  <a:txBody>
                    <a:bodyPr/>
                    <a:lstStyle/>
                    <a:p>
                      <a:r>
                        <a:rPr sz="1500" b="0">
                          <a:solidFill>
                            <a:srgbClr val="1C1C1A"/>
                          </a:solidFill>
                          <a:latin typeface="Calibri"/>
                        </a:rPr>
                        <a:t>Leaving it out gives you a blank line between every row on some platforms.</a:t>
                      </a:r>
                    </a:p>
                  </a:txBody>
                  <a:tcPr marL="101600" marR="101600" marT="38100" marB="38100" anchor="ctr">
                    <a:solidFill>
                      <a:srgbClr val="F7F7F5"/>
                    </a:solidFill>
                  </a:tcPr>
                </a:tc>
              </a:tr>
            </a:tbl>
          </a:graphicData>
        </a:graphic>
      </p:graphicFrame>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23 / 71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2</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Read the path in the error before you edit anything.</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Paths are relative to the running kernel.</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Use with open.</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The close is guaranteed even when the code fails.</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24 / 71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3: CSV WITH NAMES</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25 / 71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Reading by position hurts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31744"/>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31744"/>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32328"/>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row[2]</a:t>
            </a:r>
          </a:p>
        </p:txBody>
      </p:sp>
      <p:sp>
        <p:nvSpPr>
          <p:cNvPr id="9" name="TextBox 8"/>
          <p:cNvSpPr txBox="1"/>
          <p:nvPr/>
        </p:nvSpPr>
        <p:spPr>
          <a:xfrm>
            <a:off x="685800" y="373888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What is field 2? You have to go and look. Then someone adds a column and every number shifts.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26 / 71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DictReader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68016"/>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68016"/>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68600"/>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import csv</a:t>
            </a:r>
          </a:p>
          <a:p>
            <a:pPr>
              <a:spcAft>
                <a:spcPts val="200"/>
              </a:spcAft>
            </a:pPr>
          </a:p>
          <a:p>
            <a:pPr>
              <a:spcAft>
                <a:spcPts val="200"/>
              </a:spcAft>
            </a:pPr>
            <a:r>
              <a:rPr sz="1600" b="0">
                <a:solidFill>
                  <a:srgbClr val="E4ECF7"/>
                </a:solidFill>
                <a:latin typeface="Consolas"/>
              </a:rPr>
              <a:t>with open("records.csv") as f:</a:t>
            </a:r>
          </a:p>
          <a:p>
            <a:pPr>
              <a:spcAft>
                <a:spcPts val="200"/>
              </a:spcAft>
            </a:pPr>
            <a:r>
              <a:rPr sz="1600" b="0">
                <a:solidFill>
                  <a:srgbClr val="E4ECF7"/>
                </a:solidFill>
                <a:latin typeface="Consolas"/>
              </a:rPr>
              <a:t>    for record in csv.DictReader(f):</a:t>
            </a:r>
          </a:p>
          <a:p>
            <a:pPr>
              <a:spcAft>
                <a:spcPts val="200"/>
              </a:spcAft>
            </a:pPr>
            <a:r>
              <a:rPr sz="1600" b="0">
                <a:solidFill>
                  <a:srgbClr val="E4ECF7"/>
                </a:solidFill>
                <a:latin typeface="Consolas"/>
              </a:rPr>
              <a:t>        print(record["amount"])</a:t>
            </a:r>
          </a:p>
        </p:txBody>
      </p:sp>
      <p:sp>
        <p:nvSpPr>
          <p:cNvPr id="9" name="TextBox 8"/>
          <p:cNvSpPr txBox="1"/>
          <p:nvPr/>
        </p:nvSpPr>
        <p:spPr>
          <a:xfrm>
            <a:off x="685800" y="4448048"/>
            <a:ext cx="10820095" cy="564896"/>
          </a:xfrm>
          <a:prstGeom prst="rect">
            <a:avLst/>
          </a:prstGeom>
          <a:noFill/>
        </p:spPr>
        <p:txBody>
          <a:bodyPr wrap="square" anchor="t">
            <a:spAutoFit/>
          </a:bodyPr>
          <a:lstStyle/>
          <a:p>
            <a:pPr>
              <a:spcAft>
                <a:spcPts val="900"/>
              </a:spcAft>
            </a:pPr>
            <a:r>
              <a:rPr sz="2000" b="0">
                <a:solidFill>
                  <a:srgbClr val="1C1C1A"/>
                </a:solidFill>
                <a:latin typeface="Calibri"/>
              </a:rPr>
              <a:t>Each row arrives as a dictionary. You already know how to read those.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27 / 71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What DictReader does, step by step</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d95556db6172c1e.png"/>
          <p:cNvPicPr>
            <a:picLocks noChangeAspect="1"/>
          </p:cNvPicPr>
          <p:nvPr/>
        </p:nvPicPr>
        <p:blipFill>
          <a:blip r:embed="rId2"/>
          <a:stretch>
            <a:fillRect/>
          </a:stretch>
        </p:blipFill>
        <p:spPr>
          <a:xfrm>
            <a:off x="1157740" y="1627632"/>
            <a:ext cx="3708760" cy="4425696"/>
          </a:xfrm>
          <a:prstGeom prst="rect">
            <a:avLst/>
          </a:prstGeom>
        </p:spPr>
      </p:pic>
      <p:sp>
        <p:nvSpPr>
          <p:cNvPr id="7" name="TextBox 6"/>
          <p:cNvSpPr txBox="1"/>
          <p:nvPr/>
        </p:nvSpPr>
        <p:spPr>
          <a:xfrm>
            <a:off x="5771244" y="3212592"/>
            <a:ext cx="5734650" cy="1255776"/>
          </a:xfrm>
          <a:prstGeom prst="rect">
            <a:avLst/>
          </a:prstGeom>
          <a:noFill/>
        </p:spPr>
        <p:txBody>
          <a:bodyPr wrap="square" anchor="t">
            <a:spAutoFit/>
          </a:bodyPr>
          <a:lstStyle/>
          <a:p>
            <a:pPr>
              <a:spcAft>
                <a:spcPts val="900"/>
              </a:spcAft>
            </a:pPr>
            <a:r>
              <a:rPr sz="2000" b="0">
                <a:solidFill>
                  <a:srgbClr val="1C1C1A"/>
                </a:solidFill>
                <a:latin typeface="Calibri"/>
              </a:rPr>
              <a:t>The header is read once and remembered. Every row after it is matched against that same list of names.</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28 / 71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Where the keys come from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DictReader takes its keys from the first row of the file.</a:t>
            </a:r>
          </a:p>
          <a:p>
            <a:pPr>
              <a:spcAft>
                <a:spcPts val="900"/>
              </a:spcAft>
            </a:pPr>
            <a:r>
              <a:rPr sz="2000" b="0">
                <a:solidFill>
                  <a:srgbClr val="1C1C1A"/>
                </a:solidFill>
                <a:latin typeface="Calibri"/>
              </a:rPr>
              <a:t>Change the header spelling in the file and every record["amount"] in your code raises KeyError. The header row is part of the contract.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29 / 71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What happens when a row is the wrong length</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This is the part people assume raises. It does not.</a:t>
            </a:r>
          </a:p>
        </p:txBody>
      </p:sp>
      <p:sp>
        <p:nvSpPr>
          <p:cNvPr id="8" name="Rectangle 7"/>
          <p:cNvSpPr/>
          <p:nvPr/>
        </p:nvSpPr>
        <p:spPr>
          <a:xfrm>
            <a:off x="685800" y="2320544"/>
            <a:ext cx="10820095" cy="107899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320544"/>
            <a:ext cx="50292" cy="107899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421128"/>
            <a:ext cx="10417759" cy="896112"/>
          </a:xfrm>
          <a:prstGeom prst="rect">
            <a:avLst/>
          </a:prstGeom>
          <a:noFill/>
        </p:spPr>
        <p:txBody>
          <a:bodyPr wrap="square" anchor="t">
            <a:spAutoFit/>
          </a:bodyPr>
          <a:lstStyle/>
          <a:p>
            <a:pPr>
              <a:spcAft>
                <a:spcPts val="200"/>
              </a:spcAft>
            </a:pPr>
            <a:r>
              <a:rPr sz="1600" b="0">
                <a:solidFill>
                  <a:srgbClr val="E4ECF7"/>
                </a:solidFill>
                <a:latin typeface="Consolas"/>
              </a:rPr>
              <a:t>header:  order_id,segment,amount</a:t>
            </a:r>
          </a:p>
          <a:p>
            <a:pPr>
              <a:spcAft>
                <a:spcPts val="200"/>
              </a:spcAft>
            </a:pPr>
            <a:r>
              <a:rPr sz="1600" b="0">
                <a:solidFill>
                  <a:srgbClr val="E4ECF7"/>
                </a:solidFill>
                <a:latin typeface="Consolas"/>
              </a:rPr>
              <a:t>short:   KR4200,Retail-Core</a:t>
            </a:r>
          </a:p>
          <a:p>
            <a:pPr>
              <a:spcAft>
                <a:spcPts val="200"/>
              </a:spcAft>
            </a:pPr>
            <a:r>
              <a:rPr sz="1600" b="0">
                <a:solidFill>
                  <a:srgbClr val="E4ECF7"/>
                </a:solidFill>
                <a:latin typeface="Consolas"/>
              </a:rPr>
              <a:t>long:    KR4201,Retail-Plus,2395,OOPS</a:t>
            </a:r>
          </a:p>
        </p:txBody>
      </p:sp>
      <p:sp>
        <p:nvSpPr>
          <p:cNvPr id="11" name="Rectangle 10"/>
          <p:cNvSpPr/>
          <p:nvPr/>
        </p:nvSpPr>
        <p:spPr>
          <a:xfrm>
            <a:off x="685800" y="3564128"/>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85800" y="3564128"/>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23544" y="3664712"/>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{'order_id': 'KR4200', 'segment': 'Retail-Core', 'amount': None}</a:t>
            </a:r>
          </a:p>
          <a:p>
            <a:pPr>
              <a:spcAft>
                <a:spcPts val="200"/>
              </a:spcAft>
            </a:pPr>
            <a:r>
              <a:rPr sz="1600" b="0">
                <a:solidFill>
                  <a:srgbClr val="E4ECF7"/>
                </a:solidFill>
                <a:latin typeface="Consolas"/>
              </a:rPr>
              <a:t>{'order_id': 'KR4201', 'segment': 'Retail-Plus', 'amount': '2395', None: ['OOPS']}</a:t>
            </a:r>
          </a:p>
        </p:txBody>
      </p:sp>
      <p:sp>
        <p:nvSpPr>
          <p:cNvPr id="14" name="TextBox 13"/>
          <p:cNvSpPr txBox="1"/>
          <p:nvPr/>
        </p:nvSpPr>
        <p:spPr>
          <a:xfrm>
            <a:off x="685800" y="4539488"/>
            <a:ext cx="10820095" cy="2511552"/>
          </a:xfrm>
          <a:prstGeom prst="rect">
            <a:avLst/>
          </a:prstGeom>
          <a:noFill/>
        </p:spPr>
        <p:txBody>
          <a:bodyPr wrap="square" anchor="t">
            <a:spAutoFit/>
          </a:bodyPr>
          <a:lstStyle/>
          <a:p>
            <a:pPr>
              <a:spcAft>
                <a:spcPts val="900"/>
              </a:spcAft>
            </a:pPr>
            <a:r>
              <a:rPr sz="2000" b="0">
                <a:solidFill>
                  <a:srgbClr val="1C1C1A"/>
                </a:solidFill>
                <a:latin typeface="Calibri"/>
              </a:rPr>
              <a:t>A short row fills the missing fields with None. A long row puts the surplus under a key that is literally None. Neither one raises, and neither one appears in your output unless you go looking.</a:t>
            </a:r>
          </a:p>
          <a:p>
            <a:pPr>
              <a:spcAft>
                <a:spcPts val="900"/>
              </a:spcAft>
            </a:pPr>
            <a:r>
              <a:rPr sz="2000" b="0">
                <a:solidFill>
                  <a:srgbClr val="1C1C1A"/>
                </a:solidFill>
                <a:latin typeface="Calibri"/>
              </a:rPr>
              <a:t>Read it yourself in the standard library, Lib/csv.py at the v3.12.0 tag, lines 112 to 132:</a:t>
            </a:r>
          </a:p>
          <a:p>
            <a:pPr>
              <a:spcAft>
                <a:spcPts val="900"/>
              </a:spcAft>
            </a:pPr>
            <a:r>
              <a:rPr sz="2000" b="0">
                <a:solidFill>
                  <a:srgbClr val="1C1C1A"/>
                </a:solidFill>
                <a:latin typeface="Calibri"/>
              </a:rPr>
              <a:t>https://raw.githubusercontent.com/python/cpython/v3.12.0/Lib/csv.py (verified 09 September 2026)</a:t>
            </a:r>
          </a:p>
        </p:txBody>
      </p:sp>
      <p:sp>
        <p:nvSpPr>
          <p:cNvPr id="15" name="Rectangle 14"/>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7" name="TextBox 16"/>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30 / 71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So the row count is not enough</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2166112"/>
          </a:xfrm>
          <a:prstGeom prst="rect">
            <a:avLst/>
          </a:prstGeom>
          <a:noFill/>
        </p:spPr>
        <p:txBody>
          <a:bodyPr wrap="square" anchor="t">
            <a:spAutoFit/>
          </a:bodyPr>
          <a:lstStyle/>
          <a:p>
            <a:pPr>
              <a:spcAft>
                <a:spcPts val="900"/>
              </a:spcAft>
            </a:pPr>
            <a:r>
              <a:rPr sz="2000" b="0">
                <a:solidFill>
                  <a:srgbClr val="1C1C1A"/>
                </a:solidFill>
                <a:latin typeface="Calibri"/>
              </a:rPr>
              <a:t>If a short row gives you None rather than an error, then counting rows tells you the file was read, never that it was read correctly.</a:t>
            </a:r>
          </a:p>
          <a:p>
            <a:pPr>
              <a:spcAft>
                <a:spcPts val="900"/>
              </a:spcAft>
            </a:pPr>
            <a:r>
              <a:rPr sz="2000" b="0">
                <a:solidFill>
                  <a:srgbClr val="1C1C1A"/>
                </a:solidFill>
                <a:latin typeface="Calibri"/>
              </a:rPr>
              <a:t>The check that catches it is a presence check per field, which is exactly what you build tomorrow morning. Today it is enough to know the gap exists.</a:t>
            </a:r>
          </a:p>
          <a:p>
            <a:pPr>
              <a:spcAft>
                <a:spcPts val="900"/>
              </a:spcAft>
            </a:pPr>
            <a:r>
              <a:rPr sz="2000" b="0">
                <a:solidFill>
                  <a:srgbClr val="1C1C1A"/>
                </a:solidFill>
                <a:latin typeface="Calibri"/>
              </a:rPr>
              <a:t>You can name the missing value on the way in:</a:t>
            </a:r>
          </a:p>
        </p:txBody>
      </p:sp>
      <p:sp>
        <p:nvSpPr>
          <p:cNvPr id="8" name="Rectangle 7"/>
          <p:cNvSpPr/>
          <p:nvPr/>
        </p:nvSpPr>
        <p:spPr>
          <a:xfrm>
            <a:off x="685800" y="3921760"/>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921760"/>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022344"/>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csv.DictReader(f, restval="MISSING")</a:t>
            </a:r>
          </a:p>
        </p:txBody>
      </p:sp>
      <p:sp>
        <p:nvSpPr>
          <p:cNvPr id="11" name="TextBox 10"/>
          <p:cNvSpPr txBox="1"/>
          <p:nvPr/>
        </p:nvSpPr>
        <p:spPr>
          <a:xfrm>
            <a:off x="685800" y="4628895"/>
            <a:ext cx="10820095" cy="910336"/>
          </a:xfrm>
          <a:prstGeom prst="rect">
            <a:avLst/>
          </a:prstGeom>
          <a:noFill/>
        </p:spPr>
        <p:txBody>
          <a:bodyPr wrap="square" anchor="t">
            <a:spAutoFit/>
          </a:bodyPr>
          <a:lstStyle/>
          <a:p>
            <a:pPr>
              <a:spcAft>
                <a:spcPts val="900"/>
              </a:spcAft>
            </a:pPr>
            <a:r>
              <a:rPr sz="2000" b="0">
                <a:solidFill>
                  <a:srgbClr val="1C1C1A"/>
                </a:solidFill>
                <a:latin typeface="Calibri"/>
              </a:rPr>
              <a:t>Now the absence has a value you can count, rather than a None that looks like every other absent thing in Python.</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31 / 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3</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csv.DictReader gives you one dictionary per row.</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The keys come from the header row.</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The header row is part of the agreement.</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Read by name, never by position.</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32 / 71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4: JSON AND NESTING</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33 / 71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The same agreement, a different shape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802128"/>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802128"/>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902712"/>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import json</a:t>
            </a:r>
          </a:p>
          <a:p>
            <a:pPr>
              <a:spcAft>
                <a:spcPts val="200"/>
              </a:spcAft>
            </a:pPr>
          </a:p>
          <a:p>
            <a:pPr>
              <a:spcAft>
                <a:spcPts val="200"/>
              </a:spcAft>
            </a:pPr>
            <a:r>
              <a:rPr sz="1600" b="0">
                <a:solidFill>
                  <a:srgbClr val="E4ECF7"/>
                </a:solidFill>
                <a:latin typeface="Consolas"/>
              </a:rPr>
              <a:t>with open("records.json") as f:</a:t>
            </a:r>
          </a:p>
          <a:p>
            <a:pPr>
              <a:spcAft>
                <a:spcPts val="200"/>
              </a:spcAft>
            </a:pPr>
            <a:r>
              <a:rPr sz="1600" b="0">
                <a:solidFill>
                  <a:srgbClr val="E4ECF7"/>
                </a:solidFill>
                <a:latin typeface="Consolas"/>
              </a:rPr>
              <a:t>    records = json.load(f)</a:t>
            </a:r>
          </a:p>
        </p:txBody>
      </p:sp>
      <p:sp>
        <p:nvSpPr>
          <p:cNvPr id="9" name="TextBox 8"/>
          <p:cNvSpPr txBox="1"/>
          <p:nvPr/>
        </p:nvSpPr>
        <p:spPr>
          <a:xfrm>
            <a:off x="685800" y="4313936"/>
            <a:ext cx="10820095" cy="564896"/>
          </a:xfrm>
          <a:prstGeom prst="rect">
            <a:avLst/>
          </a:prstGeom>
          <a:noFill/>
        </p:spPr>
        <p:txBody>
          <a:bodyPr wrap="square" anchor="t">
            <a:spAutoFit/>
          </a:bodyPr>
          <a:lstStyle/>
          <a:p>
            <a:pPr>
              <a:spcAft>
                <a:spcPts val="900"/>
              </a:spcAft>
            </a:pPr>
            <a:r>
              <a:rPr sz="2000" b="0">
                <a:solidFill>
                  <a:srgbClr val="1C1C1A"/>
                </a:solidFill>
                <a:latin typeface="Calibri"/>
              </a:rPr>
              <a:t>JSON agrees about types and about nesting. CSV agrees about neither.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34 / 71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nesting looks like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95296"/>
            <a:ext cx="10820095" cy="161544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95296"/>
            <a:ext cx="50292" cy="16154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95880"/>
            <a:ext cx="10417759" cy="1432560"/>
          </a:xfrm>
          <a:prstGeom prst="rect">
            <a:avLst/>
          </a:prstGeom>
          <a:noFill/>
        </p:spPr>
        <p:txBody>
          <a:bodyPr wrap="square" anchor="t">
            <a:spAutoFit/>
          </a:bodyPr>
          <a:lstStyle/>
          <a:p>
            <a:pPr>
              <a:spcAft>
                <a:spcPts val="200"/>
              </a:spcAft>
            </a:pPr>
            <a:r>
              <a:rPr sz="1600" b="0">
                <a:solidFill>
                  <a:srgbClr val="E4ECF7"/>
                </a:solidFill>
                <a:latin typeface="Consolas"/>
              </a:rPr>
              <a:t>{</a:t>
            </a:r>
          </a:p>
          <a:p>
            <a:pPr>
              <a:spcAft>
                <a:spcPts val="200"/>
              </a:spcAft>
            </a:pPr>
            <a:r>
              <a:rPr sz="1600" b="0">
                <a:solidFill>
                  <a:srgbClr val="E4ECF7"/>
                </a:solidFill>
                <a:latin typeface="Consolas"/>
              </a:rPr>
              <a:t>  "order_id": "KR4214",</a:t>
            </a:r>
          </a:p>
          <a:p>
            <a:pPr>
              <a:spcAft>
                <a:spcPts val="200"/>
              </a:spcAft>
            </a:pPr>
            <a:r>
              <a:rPr sz="1600" b="0">
                <a:solidFill>
                  <a:srgbClr val="E4ECF7"/>
                </a:solidFill>
                <a:latin typeface="Consolas"/>
              </a:rPr>
              <a:t>  "amount": null,</a:t>
            </a:r>
          </a:p>
          <a:p>
            <a:pPr>
              <a:spcAft>
                <a:spcPts val="200"/>
              </a:spcAft>
            </a:pPr>
            <a:r>
              <a:rPr sz="1600" b="0">
                <a:solidFill>
                  <a:srgbClr val="E4ECF7"/>
                </a:solidFill>
                <a:latin typeface="Consolas"/>
              </a:rPr>
              <a:t>  "source": {"system": "kalpa_retail_orders", "amount_raw": "2840"}</a:t>
            </a:r>
          </a:p>
          <a:p>
            <a:pPr>
              <a:spcAft>
                <a:spcPts val="200"/>
              </a:spcAft>
            </a:pPr>
            <a:r>
              <a:rPr sz="1600" b="0">
                <a:solidFill>
                  <a:srgbClr val="E4ECF7"/>
                </a:solidFill>
                <a:latin typeface="Consolas"/>
              </a:rPr>
              <a:t>}</a:t>
            </a:r>
          </a:p>
        </p:txBody>
      </p:sp>
      <p:sp>
        <p:nvSpPr>
          <p:cNvPr id="9" name="TextBox 8"/>
          <p:cNvSpPr txBox="1"/>
          <p:nvPr/>
        </p:nvSpPr>
        <p:spPr>
          <a:xfrm>
            <a:off x="685800" y="427532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Record KR4214 had an empty amount in the CSV. The JSON still carries the original value, one level down.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35 / 71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The same record in both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af6deea91943d9b.png"/>
          <p:cNvPicPr>
            <a:picLocks noChangeAspect="1"/>
          </p:cNvPicPr>
          <p:nvPr/>
        </p:nvPicPr>
        <p:blipFill>
          <a:blip r:embed="rId2"/>
          <a:stretch>
            <a:fillRect/>
          </a:stretch>
        </p:blipFill>
        <p:spPr>
          <a:xfrm>
            <a:off x="1833145" y="1627632"/>
            <a:ext cx="8525403" cy="3460495"/>
          </a:xfrm>
          <a:prstGeom prst="rect">
            <a:avLst/>
          </a:prstGeom>
        </p:spPr>
      </p:pic>
      <p:sp>
        <p:nvSpPr>
          <p:cNvPr id="7" name="TextBox 6"/>
          <p:cNvSpPr txBox="1"/>
          <p:nvPr/>
        </p:nvSpPr>
        <p:spPr>
          <a:xfrm>
            <a:off x="685800" y="5197856"/>
            <a:ext cx="10820095" cy="855471"/>
          </a:xfrm>
          <a:prstGeom prst="rect">
            <a:avLst/>
          </a:prstGeom>
          <a:noFill/>
        </p:spPr>
        <p:txBody>
          <a:bodyPr wrap="square" anchor="t">
            <a:spAutoFit/>
          </a:bodyPr>
          <a:lstStyle/>
          <a:p>
            <a:r>
              <a:rPr sz="2000" b="0">
                <a:solidFill>
                  <a:srgbClr val="1C1C1A"/>
                </a:solidFill>
                <a:latin typeface="Calibri"/>
              </a:rPr>
              <a:t>The CSV did not corrupt anything. It had nowhere to put a record inside a record, so that part of the truth stayed behind.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36 / 71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flattening cost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To put that record in a CSV you have to choose: drop source, or invent a column called source_amount_raw.</a:t>
            </a:r>
          </a:p>
          <a:p>
            <a:pPr>
              <a:spcAft>
                <a:spcPts val="900"/>
              </a:spcAft>
            </a:pPr>
            <a:r>
              <a:rPr sz="2000" b="0">
                <a:solidFill>
                  <a:srgbClr val="1C1C1A"/>
                </a:solidFill>
                <a:latin typeface="Calibri"/>
              </a:rPr>
              <a:t>Either way the shape changes, and the person downstream has to be told.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37 / 71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D8</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flattening decision, drawn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80a98536dc844086.png"/>
          <p:cNvPicPr>
            <a:picLocks noChangeAspect="1"/>
          </p:cNvPicPr>
          <p:nvPr/>
        </p:nvPicPr>
        <p:blipFill>
          <a:blip r:embed="rId2"/>
          <a:stretch>
            <a:fillRect/>
          </a:stretch>
        </p:blipFill>
        <p:spPr>
          <a:xfrm>
            <a:off x="685800" y="1927571"/>
            <a:ext cx="4652640" cy="3825816"/>
          </a:xfrm>
          <a:prstGeom prst="rect">
            <a:avLst/>
          </a:prstGeom>
        </p:spPr>
      </p:pic>
      <p:sp>
        <p:nvSpPr>
          <p:cNvPr id="8" name="TextBox 7"/>
          <p:cNvSpPr txBox="1"/>
          <p:nvPr/>
        </p:nvSpPr>
        <p:spPr>
          <a:xfrm>
            <a:off x="5771244" y="3342132"/>
            <a:ext cx="5734650" cy="996696"/>
          </a:xfrm>
          <a:prstGeom prst="rect">
            <a:avLst/>
          </a:prstGeom>
          <a:noFill/>
        </p:spPr>
        <p:txBody>
          <a:bodyPr wrap="square" anchor="t">
            <a:spAutoFit/>
          </a:bodyPr>
          <a:lstStyle/>
          <a:p>
            <a:pPr>
              <a:spcAft>
                <a:spcPts val="700"/>
              </a:spcAft>
            </a:pPr>
            <a:r>
              <a:rPr sz="1500" b="0">
                <a:solidFill>
                  <a:srgbClr val="1C1C1A"/>
                </a:solidFill>
                <a:latin typeface="Calibri"/>
              </a:rPr>
              <a:t>The last box is the one that bites. You meet it properly in Week 2, when a join grows one thousand rows into one thousand four hundred and fifty and doubles the revenue.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38 / 71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When JSON goes wrong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A JSON file is either wholly valid or wholly unreadable. There is no half-parsed JSON.</a:t>
            </a:r>
          </a:p>
          <a:p>
            <a:pPr>
              <a:spcAft>
                <a:spcPts val="900"/>
              </a:spcAft>
            </a:pPr>
            <a:r>
              <a:rPr sz="2000" b="0">
                <a:solidFill>
                  <a:srgbClr val="1C1C1A"/>
                </a:solidFill>
                <a:latin typeface="Calibri"/>
              </a:rPr>
              <a:t>json.load fails with a line and a column. Your exercise this half is one of these.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39 / 71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D9</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Reading a JSONDecodeError, position by position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The vendor feed in your exercise folder stops mid-record. Loading it gives you exactly this:</a:t>
            </a:r>
          </a:p>
        </p:txBody>
      </p:sp>
      <p:sp>
        <p:nvSpPr>
          <p:cNvPr id="8" name="Rectangle 7"/>
          <p:cNvSpPr/>
          <p:nvPr/>
        </p:nvSpPr>
        <p:spPr>
          <a:xfrm>
            <a:off x="685800" y="2665984"/>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665984"/>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766568"/>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json.decoder.JSONDecodeError: Expecting ',' delimiter: line 48 column 1 (char 1027)</a:t>
            </a:r>
          </a:p>
        </p:txBody>
      </p:sp>
      <p:graphicFrame>
        <p:nvGraphicFramePr>
          <p:cNvPr id="11" name="Table 10"/>
          <p:cNvGraphicFramePr>
            <a:graphicFrameLocks noGrp="1"/>
          </p:cNvGraphicFramePr>
          <p:nvPr/>
        </p:nvGraphicFramePr>
        <p:xfrm>
          <a:off x="685800" y="3373120"/>
          <a:ext cx="10820095" cy="232562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Part</a:t>
                      </a:r>
                    </a:p>
                  </a:txBody>
                  <a:tcPr marL="101600" marR="101600" marT="38100" marB="38100" anchor="ctr">
                    <a:solidFill>
                      <a:srgbClr val="2B4A7D"/>
                    </a:solidFill>
                  </a:tcPr>
                </a:tc>
                <a:tc>
                  <a:txBody>
                    <a:bodyPr/>
                    <a:lstStyle/>
                    <a:p>
                      <a:r>
                        <a:rPr sz="1600" b="1">
                          <a:solidFill>
                            <a:srgbClr val="FFFFFF"/>
                          </a:solidFill>
                          <a:latin typeface="Calibri"/>
                        </a:rPr>
                        <a:t>What it tells you</a:t>
                      </a:r>
                    </a:p>
                  </a:txBody>
                  <a:tcPr marL="101600" marR="101600" marT="38100" marB="38100" anchor="ctr">
                    <a:solidFill>
                      <a:srgbClr val="2B4A7D"/>
                    </a:solidFill>
                  </a:tcPr>
                </a:tc>
              </a:tr>
              <a:tr h="646176">
                <a:tc>
                  <a:txBody>
                    <a:bodyPr/>
                    <a:lstStyle/>
                    <a:p>
                      <a:r>
                        <a:rPr sz="1500" b="0">
                          <a:solidFill>
                            <a:srgbClr val="1C1C1A"/>
                          </a:solidFill>
                          <a:latin typeface="Calibri"/>
                        </a:rPr>
                        <a:t>Expecting ',' delimiter</a:t>
                      </a:r>
                    </a:p>
                  </a:txBody>
                  <a:tcPr marL="101600" marR="101600" marT="38100" marB="38100" anchor="ctr">
                    <a:solidFill>
                      <a:srgbClr val="FFFFFF"/>
                    </a:solidFill>
                  </a:tcPr>
                </a:tc>
                <a:tc>
                  <a:txBody>
                    <a:bodyPr/>
                    <a:lstStyle/>
                    <a:p>
                      <a:r>
                        <a:rPr sz="1500" b="0">
                          <a:solidFill>
                            <a:srgbClr val="1C1C1A"/>
                          </a:solidFill>
                          <a:latin typeface="Calibri"/>
                        </a:rPr>
                        <a:t>The parser was part way through a structure and needed a separator to continue.</a:t>
                      </a:r>
                    </a:p>
                  </a:txBody>
                  <a:tcPr marL="101600" marR="101600" marT="38100" marB="38100" anchor="ctr">
                    <a:solidFill>
                      <a:srgbClr val="FFFFFF"/>
                    </a:solidFill>
                  </a:tcPr>
                </a:tc>
              </a:tr>
              <a:tr h="646176">
                <a:tc>
                  <a:txBody>
                    <a:bodyPr/>
                    <a:lstStyle/>
                    <a:p>
                      <a:r>
                        <a:rPr sz="1500" b="0">
                          <a:solidFill>
                            <a:srgbClr val="1C1C1A"/>
                          </a:solidFill>
                          <a:latin typeface="Calibri"/>
                        </a:rPr>
                        <a:t>line 48 column 1</a:t>
                      </a:r>
                    </a:p>
                  </a:txBody>
                  <a:tcPr marL="101600" marR="101600" marT="38100" marB="38100" anchor="ctr">
                    <a:solidFill>
                      <a:srgbClr val="F7F7F5"/>
                    </a:solidFill>
                  </a:tcPr>
                </a:tc>
                <a:tc>
                  <a:txBody>
                    <a:bodyPr/>
                    <a:lstStyle/>
                    <a:p>
                      <a:r>
                        <a:rPr sz="1500" b="0">
                          <a:solidFill>
                            <a:srgbClr val="1C1C1A"/>
                          </a:solidFill>
                          <a:latin typeface="Calibri"/>
                        </a:rPr>
                        <a:t>Where to put your cursor. Open the file and go there first, before reading any other line.</a:t>
                      </a:r>
                    </a:p>
                  </a:txBody>
                  <a:tcPr marL="101600" marR="101600" marT="38100" marB="38100" anchor="ctr">
                    <a:solidFill>
                      <a:srgbClr val="F7F7F5"/>
                    </a:solidFill>
                  </a:tcPr>
                </a:tc>
              </a:tr>
              <a:tr h="646176">
                <a:tc>
                  <a:txBody>
                    <a:bodyPr/>
                    <a:lstStyle/>
                    <a:p>
                      <a:r>
                        <a:rPr sz="1500" b="0">
                          <a:solidFill>
                            <a:srgbClr val="1C1C1A"/>
                          </a:solidFill>
                          <a:latin typeface="Calibri"/>
                        </a:rPr>
                        <a:t>char 1027</a:t>
                      </a:r>
                    </a:p>
                  </a:txBody>
                  <a:tcPr marL="101600" marR="101600" marT="38100" marB="38100" anchor="ctr">
                    <a:solidFill>
                      <a:srgbClr val="FFFFFF"/>
                    </a:solidFill>
                  </a:tcPr>
                </a:tc>
                <a:tc>
                  <a:txBody>
                    <a:bodyPr/>
                    <a:lstStyle/>
                    <a:p>
                      <a:r>
                        <a:rPr sz="1500" b="0">
                          <a:solidFill>
                            <a:srgbClr val="1C1C1A"/>
                          </a:solidFill>
                          <a:latin typeface="Calibri"/>
                        </a:rPr>
                        <a:t>The same place counted from the start of the file, which is what you use when the file is one long line.</a:t>
                      </a:r>
                    </a:p>
                  </a:txBody>
                  <a:tcPr marL="101600" marR="101600" marT="38100" marB="38100" anchor="ctr">
                    <a:solidFill>
                      <a:srgbClr val="FFFFFF"/>
                    </a:solidFill>
                  </a:tcPr>
                </a:tc>
              </a:tr>
            </a:tbl>
          </a:graphicData>
        </a:graphic>
      </p:graphicFrame>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40 / 71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D10</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CSV or JSON, decided rather than defaulted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7" name="Table 6"/>
          <p:cNvGraphicFramePr>
            <a:graphicFrameLocks noGrp="1"/>
          </p:cNvGraphicFramePr>
          <p:nvPr/>
        </p:nvGraphicFramePr>
        <p:xfrm>
          <a:off x="685800" y="2030476"/>
          <a:ext cx="10820095" cy="2453640"/>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Choose CSV when</a:t>
                      </a:r>
                    </a:p>
                  </a:txBody>
                  <a:tcPr marL="101600" marR="101600" marT="38100" marB="38100" anchor="ctr">
                    <a:solidFill>
                      <a:srgbClr val="2B4A7D"/>
                    </a:solidFill>
                  </a:tcPr>
                </a:tc>
                <a:tc>
                  <a:txBody>
                    <a:bodyPr/>
                    <a:lstStyle/>
                    <a:p>
                      <a:r>
                        <a:rPr sz="1600" b="1">
                          <a:solidFill>
                            <a:srgbClr val="FFFFFF"/>
                          </a:solidFill>
                          <a:latin typeface="Calibri"/>
                        </a:rPr>
                        <a:t>Choose JSON when</a:t>
                      </a:r>
                    </a:p>
                  </a:txBody>
                  <a:tcPr marL="101600" marR="101600" marT="38100" marB="38100" anchor="ctr">
                    <a:solidFill>
                      <a:srgbClr val="2B4A7D"/>
                    </a:solidFill>
                  </a:tcPr>
                </a:tc>
              </a:tr>
              <a:tr h="387096">
                <a:tc>
                  <a:txBody>
                    <a:bodyPr/>
                    <a:lstStyle/>
                    <a:p>
                      <a:r>
                        <a:rPr sz="1500" b="0">
                          <a:solidFill>
                            <a:srgbClr val="1C1C1A"/>
                          </a:solidFill>
                          <a:latin typeface="Calibri"/>
                        </a:rPr>
                        <a:t>Every record has the same flat fields.</a:t>
                      </a:r>
                    </a:p>
                  </a:txBody>
                  <a:tcPr marL="101600" marR="101600" marT="38100" marB="38100" anchor="ctr">
                    <a:solidFill>
                      <a:srgbClr val="FFFFFF"/>
                    </a:solidFill>
                  </a:tcPr>
                </a:tc>
                <a:tc>
                  <a:txBody>
                    <a:bodyPr/>
                    <a:lstStyle/>
                    <a:p>
                      <a:r>
                        <a:rPr sz="1500" b="0">
                          <a:solidFill>
                            <a:srgbClr val="1C1C1A"/>
                          </a:solidFill>
                          <a:latin typeface="Calibri"/>
                        </a:rPr>
                        <a:t>Records nest, or fields vary between records.</a:t>
                      </a:r>
                    </a:p>
                  </a:txBody>
                  <a:tcPr marL="101600" marR="101600" marT="38100" marB="38100" anchor="ctr">
                    <a:solidFill>
                      <a:srgbClr val="FFFFFF"/>
                    </a:solidFill>
                  </a:tcPr>
                </a:tc>
              </a:tr>
              <a:tr h="387096">
                <a:tc>
                  <a:txBody>
                    <a:bodyPr/>
                    <a:lstStyle/>
                    <a:p>
                      <a:r>
                        <a:rPr sz="1500" b="0">
                          <a:solidFill>
                            <a:srgbClr val="1C1C1A"/>
                          </a:solidFill>
                          <a:latin typeface="Calibri"/>
                        </a:rPr>
                        <a:t>A spreadsheet or a database load is the destination.</a:t>
                      </a:r>
                    </a:p>
                  </a:txBody>
                  <a:tcPr marL="101600" marR="101600" marT="38100" marB="38100" anchor="ctr">
                    <a:solidFill>
                      <a:srgbClr val="F7F7F5"/>
                    </a:solidFill>
                  </a:tcPr>
                </a:tc>
                <a:tc>
                  <a:txBody>
                    <a:bodyPr/>
                    <a:lstStyle/>
                    <a:p>
                      <a:r>
                        <a:rPr sz="1500" b="0">
                          <a:solidFill>
                            <a:srgbClr val="1C1C1A"/>
                          </a:solidFill>
                          <a:latin typeface="Calibri"/>
                        </a:rPr>
                        <a:t>Another program is the destination.</a:t>
                      </a:r>
                    </a:p>
                  </a:txBody>
                  <a:tcPr marL="101600" marR="101600" marT="38100" marB="38100" anchor="ctr">
                    <a:solidFill>
                      <a:srgbClr val="F7F7F5"/>
                    </a:solidFill>
                  </a:tcPr>
                </a:tc>
              </a:tr>
              <a:tr h="646176">
                <a:tc>
                  <a:txBody>
                    <a:bodyPr/>
                    <a:lstStyle/>
                    <a:p>
                      <a:r>
                        <a:rPr sz="1500" b="0">
                          <a:solidFill>
                            <a:srgbClr val="1C1C1A"/>
                          </a:solidFill>
                          <a:latin typeface="Calibri"/>
                        </a:rPr>
                        <a:t>The file is large and you want to read it a line at a time.</a:t>
                      </a:r>
                    </a:p>
                  </a:txBody>
                  <a:tcPr marL="101600" marR="101600" marT="38100" marB="38100" anchor="ctr">
                    <a:solidFill>
                      <a:srgbClr val="FFFFFF"/>
                    </a:solidFill>
                  </a:tcPr>
                </a:tc>
                <a:tc>
                  <a:txBody>
                    <a:bodyPr/>
                    <a:lstStyle/>
                    <a:p>
                      <a:r>
                        <a:rPr sz="1500" b="0">
                          <a:solidFill>
                            <a:srgbClr val="1C1C1A"/>
                          </a:solidFill>
                          <a:latin typeface="Calibri"/>
                        </a:rPr>
                        <a:t>You need the types to survive the trip.</a:t>
                      </a:r>
                    </a:p>
                  </a:txBody>
                  <a:tcPr marL="101600" marR="101600" marT="38100" marB="38100" anchor="ctr">
                    <a:solidFill>
                      <a:srgbClr val="FFFFFF"/>
                    </a:solidFill>
                  </a:tcPr>
                </a:tc>
              </a:tr>
              <a:tr h="646176">
                <a:tc>
                  <a:txBody>
                    <a:bodyPr/>
                    <a:lstStyle/>
                    <a:p>
                      <a:r>
                        <a:rPr sz="1500" b="0">
                          <a:solidFill>
                            <a:srgbClr val="1C1C1A"/>
                          </a:solidFill>
                          <a:latin typeface="Calibri"/>
                        </a:rPr>
                        <a:t>The consumer is a person who will open it and look.</a:t>
                      </a:r>
                    </a:p>
                  </a:txBody>
                  <a:tcPr marL="101600" marR="101600" marT="38100" marB="38100" anchor="ctr">
                    <a:solidFill>
                      <a:srgbClr val="F7F7F5"/>
                    </a:solidFill>
                  </a:tcPr>
                </a:tc>
                <a:tc>
                  <a:txBody>
                    <a:bodyPr/>
                    <a:lstStyle/>
                    <a:p>
                      <a:r>
                        <a:rPr sz="1500" b="0">
                          <a:solidFill>
                            <a:srgbClr val="1C1C1A"/>
                          </a:solidFill>
                          <a:latin typeface="Calibri"/>
                        </a:rPr>
                        <a:t>The consumer is code that will fail loudly on a shape it did not expect.</a:t>
                      </a:r>
                    </a:p>
                  </a:txBody>
                  <a:tcPr marL="101600" marR="101600" marT="38100" marB="38100" anchor="ctr">
                    <a:solidFill>
                      <a:srgbClr val="F7F7F5"/>
                    </a:solidFill>
                  </a:tcPr>
                </a:tc>
              </a:tr>
            </a:tbl>
          </a:graphicData>
        </a:graphic>
      </p:graphicFrame>
      <p:sp>
        <p:nvSpPr>
          <p:cNvPr id="8" name="TextBox 7"/>
          <p:cNvSpPr txBox="1"/>
          <p:nvPr/>
        </p:nvSpPr>
        <p:spPr>
          <a:xfrm>
            <a:off x="685800" y="4740148"/>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The honest answer in an interview names the consumer first. The format follows from who reads it, never from taste.</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41 / 71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4</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json.load reads types and nesting.</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Nested values need a stated flattening rule.</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JSON parses completely or not at all.</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The error names a line and a column. Go there first.</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42 / 71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5: TWO FILES OUT</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43 / 71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600" b="1">
                <a:solidFill>
                  <a:srgbClr val="1C1C1A"/>
                </a:solidFill>
                <a:latin typeface="Calibri"/>
              </a:rPr>
              <a:t>One pass, two deliverables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70352"/>
            <a:ext cx="10820095" cy="81076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070352"/>
            <a:ext cx="50292" cy="81076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170936"/>
            <a:ext cx="10417759" cy="627888"/>
          </a:xfrm>
          <a:prstGeom prst="rect">
            <a:avLst/>
          </a:prstGeom>
          <a:noFill/>
        </p:spPr>
        <p:txBody>
          <a:bodyPr wrap="square" anchor="t">
            <a:spAutoFit/>
          </a:bodyPr>
          <a:lstStyle/>
          <a:p>
            <a:pPr>
              <a:spcAft>
                <a:spcPts val="200"/>
              </a:spcAft>
            </a:pPr>
            <a:r>
              <a:rPr sz="1600" b="0">
                <a:solidFill>
                  <a:srgbClr val="E4ECF7"/>
                </a:solidFill>
                <a:latin typeface="Consolas"/>
              </a:rPr>
              <a:t>clean.csv     the records that converted</a:t>
            </a:r>
          </a:p>
          <a:p>
            <a:pPr>
              <a:spcAft>
                <a:spcPts val="200"/>
              </a:spcAft>
            </a:pPr>
            <a:r>
              <a:rPr sz="1600" b="0">
                <a:solidFill>
                  <a:srgbClr val="E4ECF7"/>
                </a:solidFill>
                <a:latin typeface="Consolas"/>
              </a:rPr>
              <a:t>rejects.csv   the records that did not, and why</a:t>
            </a:r>
          </a:p>
        </p:txBody>
      </p:sp>
      <p:sp>
        <p:nvSpPr>
          <p:cNvPr id="9" name="TextBox 8"/>
          <p:cNvSpPr txBox="1"/>
          <p:nvPr/>
        </p:nvSpPr>
        <p:spPr>
          <a:xfrm>
            <a:off x="685800" y="4045712"/>
            <a:ext cx="10820095" cy="564896"/>
          </a:xfrm>
          <a:prstGeom prst="rect">
            <a:avLst/>
          </a:prstGeom>
          <a:noFill/>
        </p:spPr>
        <p:txBody>
          <a:bodyPr wrap="square" anchor="t">
            <a:spAutoFit/>
          </a:bodyPr>
          <a:lstStyle/>
          <a:p>
            <a:pPr>
              <a:spcAft>
                <a:spcPts val="900"/>
              </a:spcAft>
            </a:pPr>
            <a:r>
              <a:rPr sz="2000" b="0">
                <a:solidFill>
                  <a:srgbClr val="1C1C1A"/>
                </a:solidFill>
                <a:latin typeface="Calibri"/>
              </a:rPr>
              <a:t>Shipping only the first one is shipping half the job.</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44 / 71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S24b</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The one pass, end to end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5a562a539b6248cd.png"/>
          <p:cNvPicPr>
            <a:picLocks noChangeAspect="1"/>
          </p:cNvPicPr>
          <p:nvPr/>
        </p:nvPicPr>
        <p:blipFill>
          <a:blip r:embed="rId2"/>
          <a:stretch>
            <a:fillRect/>
          </a:stretch>
        </p:blipFill>
        <p:spPr>
          <a:xfrm>
            <a:off x="685800" y="2943067"/>
            <a:ext cx="10820095" cy="1685096"/>
          </a:xfrm>
          <a:prstGeom prst="rect">
            <a:avLst/>
          </a:prstGeom>
        </p:spPr>
      </p:pic>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45 /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Writing with names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9408"/>
            <a:ext cx="10820095" cy="134721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9408"/>
            <a:ext cx="50292" cy="134721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9992"/>
            <a:ext cx="10417759" cy="1164336"/>
          </a:xfrm>
          <a:prstGeom prst="rect">
            <a:avLst/>
          </a:prstGeom>
          <a:noFill/>
        </p:spPr>
        <p:txBody>
          <a:bodyPr wrap="square" anchor="t">
            <a:spAutoFit/>
          </a:bodyPr>
          <a:lstStyle/>
          <a:p>
            <a:pPr>
              <a:spcAft>
                <a:spcPts val="200"/>
              </a:spcAft>
            </a:pPr>
            <a:r>
              <a:rPr sz="1600" b="0">
                <a:solidFill>
                  <a:srgbClr val="E4ECF7"/>
                </a:solidFill>
                <a:latin typeface="Consolas"/>
              </a:rPr>
              <a:t>writer = csv.DictWriter(f, fieldnames=["order_id","customer_id","segment","amount","status","order_date","discount"])</a:t>
            </a:r>
          </a:p>
          <a:p>
            <a:pPr>
              <a:spcAft>
                <a:spcPts val="200"/>
              </a:spcAft>
            </a:pPr>
            <a:r>
              <a:rPr sz="1600" b="0">
                <a:solidFill>
                  <a:srgbClr val="E4ECF7"/>
                </a:solidFill>
                <a:latin typeface="Consolas"/>
              </a:rPr>
              <a:t>writer.writeheader()</a:t>
            </a:r>
          </a:p>
          <a:p>
            <a:pPr>
              <a:spcAft>
                <a:spcPts val="200"/>
              </a:spcAft>
            </a:pPr>
            <a:r>
              <a:rPr sz="1600" b="0">
                <a:solidFill>
                  <a:srgbClr val="E4ECF7"/>
                </a:solidFill>
                <a:latin typeface="Consolas"/>
              </a:rPr>
              <a:t>writer.writerows(clean)</a:t>
            </a:r>
          </a:p>
        </p:txBody>
      </p:sp>
      <p:sp>
        <p:nvSpPr>
          <p:cNvPr id="9" name="TextBox 8"/>
          <p:cNvSpPr txBox="1"/>
          <p:nvPr/>
        </p:nvSpPr>
        <p:spPr>
          <a:xfrm>
            <a:off x="685800" y="4141216"/>
            <a:ext cx="10820095" cy="910336"/>
          </a:xfrm>
          <a:prstGeom prst="rect">
            <a:avLst/>
          </a:prstGeom>
          <a:noFill/>
        </p:spPr>
        <p:txBody>
          <a:bodyPr wrap="square" anchor="t">
            <a:spAutoFit/>
          </a:bodyPr>
          <a:lstStyle/>
          <a:p>
            <a:pPr>
              <a:spcAft>
                <a:spcPts val="900"/>
              </a:spcAft>
            </a:pPr>
            <a:r>
              <a:rPr sz="2000" b="0">
                <a:solidFill>
                  <a:srgbClr val="1C1C1A"/>
                </a:solidFill>
                <a:latin typeface="Calibri"/>
              </a:rPr>
              <a:t>You state the field names on the way out. That is you writing the agreement for the next person.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46 / 71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What DictWriter does with a field you did not name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112264"/>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By default, handing DictWriter a record containing a key that is not in fieldnames raises ValueError, which is the behaviour you want, because a silently dropped column is a defect nobody finds.</a:t>
            </a:r>
          </a:p>
          <a:p>
            <a:pPr>
              <a:spcAft>
                <a:spcPts val="900"/>
              </a:spcAft>
            </a:pPr>
            <a:r>
              <a:rPr sz="2000" b="0">
                <a:solidFill>
                  <a:srgbClr val="1C1C1A"/>
                </a:solidFill>
                <a:latin typeface="Calibri"/>
              </a:rPr>
              <a:t>If you genuinely mean to drop the extras, you have to say so out loud:</a:t>
            </a:r>
          </a:p>
        </p:txBody>
      </p:sp>
      <p:sp>
        <p:nvSpPr>
          <p:cNvPr id="8" name="Rectangle 7"/>
          <p:cNvSpPr/>
          <p:nvPr/>
        </p:nvSpPr>
        <p:spPr>
          <a:xfrm>
            <a:off x="685800" y="3951224"/>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3951224"/>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4051808"/>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csv.DictWriter(f, fieldnames=FIELDS, extrasaction="ignore")</a:t>
            </a:r>
          </a:p>
        </p:txBody>
      </p:sp>
      <p:sp>
        <p:nvSpPr>
          <p:cNvPr id="11" name="TextBox 10"/>
          <p:cNvSpPr txBox="1"/>
          <p:nvPr/>
        </p:nvSpPr>
        <p:spPr>
          <a:xfrm>
            <a:off x="685800" y="465836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Writing that argument is a decision with your name on it. Leaving it out and being surprised is not.</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4" name="TextBox 13"/>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47 / 71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Prove it parses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330448"/>
            <a:ext cx="10820095" cy="1020064"/>
          </a:xfrm>
          <a:prstGeom prst="rect">
            <a:avLst/>
          </a:prstGeom>
          <a:noFill/>
        </p:spPr>
        <p:txBody>
          <a:bodyPr wrap="square" anchor="t">
            <a:spAutoFit/>
          </a:bodyPr>
          <a:lstStyle/>
          <a:p>
            <a:pPr>
              <a:spcAft>
                <a:spcPts val="900"/>
              </a:spcAft>
            </a:pPr>
            <a:r>
              <a:rPr sz="2000" b="0">
                <a:solidFill>
                  <a:srgbClr val="1C1C1A"/>
                </a:solidFill>
                <a:latin typeface="Calibri"/>
              </a:rPr>
              <a:t>Writing a file is not finishing. Reopening it and counting the rows is finishing.</a:t>
            </a:r>
          </a:p>
          <a:p>
            <a:pPr>
              <a:spcAft>
                <a:spcPts val="900"/>
              </a:spcAft>
            </a:pPr>
            <a:r>
              <a:rPr sz="2000" b="0">
                <a:solidFill>
                  <a:srgbClr val="1C1C1A"/>
                </a:solidFill>
                <a:latin typeface="Calibri"/>
              </a:rPr>
              <a:t>30 in. 28 in clean. 2 in rejects. Reopen both and check.</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48 / 71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four line ritual that ends every load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10820095" cy="1883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1627632"/>
            <a:ext cx="50292" cy="1883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1728216"/>
            <a:ext cx="10417759" cy="1700784"/>
          </a:xfrm>
          <a:prstGeom prst="rect">
            <a:avLst/>
          </a:prstGeom>
          <a:noFill/>
        </p:spPr>
        <p:txBody>
          <a:bodyPr wrap="square" anchor="t">
            <a:spAutoFit/>
          </a:bodyPr>
          <a:lstStyle/>
          <a:p>
            <a:pPr>
              <a:spcAft>
                <a:spcPts val="200"/>
              </a:spcAft>
            </a:pPr>
            <a:r>
              <a:rPr sz="1600" b="0">
                <a:solidFill>
                  <a:srgbClr val="E4ECF7"/>
                </a:solidFill>
                <a:latin typeface="Consolas"/>
              </a:rPr>
              <a:t>with open("clean.csv") as f:</a:t>
            </a:r>
          </a:p>
          <a:p>
            <a:pPr>
              <a:spcAft>
                <a:spcPts val="200"/>
              </a:spcAft>
            </a:pPr>
            <a:r>
              <a:rPr sz="1600" b="0">
                <a:solidFill>
                  <a:srgbClr val="E4ECF7"/>
                </a:solidFill>
                <a:latin typeface="Consolas"/>
              </a:rPr>
              <a:t>    clean_back = list(csv.DictReader(f))</a:t>
            </a:r>
          </a:p>
          <a:p>
            <a:pPr>
              <a:spcAft>
                <a:spcPts val="200"/>
              </a:spcAft>
            </a:pPr>
            <a:r>
              <a:rPr sz="1600" b="0">
                <a:solidFill>
                  <a:srgbClr val="E4ECF7"/>
                </a:solidFill>
                <a:latin typeface="Consolas"/>
              </a:rPr>
              <a:t>with open("rejects.csv") as f:</a:t>
            </a:r>
          </a:p>
          <a:p>
            <a:pPr>
              <a:spcAft>
                <a:spcPts val="200"/>
              </a:spcAft>
            </a:pPr>
            <a:r>
              <a:rPr sz="1600" b="0">
                <a:solidFill>
                  <a:srgbClr val="E4ECF7"/>
                </a:solidFill>
                <a:latin typeface="Consolas"/>
              </a:rPr>
              <a:t>    rejects_back = list(csv.DictReader(f))</a:t>
            </a:r>
          </a:p>
          <a:p>
            <a:pPr>
              <a:spcAft>
                <a:spcPts val="200"/>
              </a:spcAft>
            </a:pPr>
            <a:r>
              <a:rPr sz="1600" b="0">
                <a:solidFill>
                  <a:srgbClr val="E4ECF7"/>
                </a:solidFill>
                <a:latin typeface="Consolas"/>
              </a:rPr>
              <a:t>print(len(rows), len(clean_back), len(rejects_back))</a:t>
            </a:r>
          </a:p>
          <a:p>
            <a:pPr>
              <a:spcAft>
                <a:spcPts val="200"/>
              </a:spcAft>
            </a:pPr>
            <a:r>
              <a:rPr sz="1600" b="0">
                <a:solidFill>
                  <a:srgbClr val="E4ECF7"/>
                </a:solidFill>
                <a:latin typeface="Consolas"/>
              </a:rPr>
              <a:t>assert len(rows) == len(clean_back) + len(rejects_back)</a:t>
            </a:r>
          </a:p>
        </p:txBody>
      </p:sp>
      <p:sp>
        <p:nvSpPr>
          <p:cNvPr id="10" name="Rectangle 9"/>
          <p:cNvSpPr/>
          <p:nvPr/>
        </p:nvSpPr>
        <p:spPr>
          <a:xfrm>
            <a:off x="685800" y="3675887"/>
            <a:ext cx="10820095" cy="542543"/>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675887"/>
            <a:ext cx="50292" cy="542543"/>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3776472"/>
            <a:ext cx="10417759" cy="359663"/>
          </a:xfrm>
          <a:prstGeom prst="rect">
            <a:avLst/>
          </a:prstGeom>
          <a:noFill/>
        </p:spPr>
        <p:txBody>
          <a:bodyPr wrap="square" anchor="t">
            <a:spAutoFit/>
          </a:bodyPr>
          <a:lstStyle/>
          <a:p>
            <a:pPr>
              <a:spcAft>
                <a:spcPts val="200"/>
              </a:spcAft>
            </a:pPr>
            <a:r>
              <a:rPr sz="1600" b="0">
                <a:solidFill>
                  <a:srgbClr val="E4ECF7"/>
                </a:solidFill>
                <a:latin typeface="Consolas"/>
              </a:rPr>
              <a:t>30 28 2</a:t>
            </a:r>
          </a:p>
        </p:txBody>
      </p:sp>
      <p:sp>
        <p:nvSpPr>
          <p:cNvPr id="13" name="TextBox 12"/>
          <p:cNvSpPr txBox="1"/>
          <p:nvPr/>
        </p:nvSpPr>
        <p:spPr>
          <a:xfrm>
            <a:off x="685800" y="4383024"/>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Four lines, and they catch the header you forgot to write, the file you opened in append mode twice, and the rows the writer silently dropped. Every one of those has happened to somebody in this room's future.</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49 / 71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From the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30144"/>
            <a:ext cx="10820095" cy="1820672"/>
          </a:xfrm>
          <a:prstGeom prst="rect">
            <a:avLst/>
          </a:prstGeom>
          <a:noFill/>
        </p:spPr>
        <p:txBody>
          <a:bodyPr wrap="square" anchor="t">
            <a:spAutoFit/>
          </a:bodyPr>
          <a:lstStyle/>
          <a:p>
            <a:pPr>
              <a:spcAft>
                <a:spcPts val="900"/>
              </a:spcAft>
            </a:pPr>
            <a:r>
              <a:rPr sz="2000" b="0">
                <a:solidFill>
                  <a:srgbClr val="1C1C1A"/>
                </a:solidFill>
                <a:latin typeface="Calibri"/>
              </a:rPr>
              <a:t>Public Health England, October 2020. 15,841 COVID cases were dropped from reporting.</a:t>
            </a:r>
          </a:p>
          <a:p>
            <a:pPr>
              <a:spcAft>
                <a:spcPts val="900"/>
              </a:spcAft>
            </a:pPr>
            <a:r>
              <a:rPr sz="2000" b="0">
                <a:solidFill>
                  <a:srgbClr val="1C1C1A"/>
                </a:solidFill>
                <a:latin typeface="Calibri"/>
              </a:rPr>
              <a:t>A CSV was converted to an old Excel format that has a hard row limit. The rows past the limit were silently discarded. Contact tracing never saw them.</a:t>
            </a:r>
          </a:p>
          <a:p>
            <a:pPr>
              <a:spcAft>
                <a:spcPts val="900"/>
              </a:spcAft>
            </a:pPr>
            <a:r>
              <a:rPr sz="2000" b="0">
                <a:solidFill>
                  <a:srgbClr val="1C1C1A"/>
                </a:solidFill>
                <a:latin typeface="Calibri"/>
              </a:rPr>
              <a:t>Nobody wrote bad code. Somebody did not know the format's contract.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50 / 71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Public Health England, the mechanism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23f778dc93097a9c.png"/>
          <p:cNvPicPr>
            <a:picLocks noChangeAspect="1"/>
          </p:cNvPicPr>
          <p:nvPr/>
        </p:nvPicPr>
        <p:blipFill>
          <a:blip r:embed="rId2"/>
          <a:stretch>
            <a:fillRect/>
          </a:stretch>
        </p:blipFill>
        <p:spPr>
          <a:xfrm>
            <a:off x="2023685" y="1627632"/>
            <a:ext cx="1976870" cy="4425696"/>
          </a:xfrm>
          <a:prstGeom prst="rect">
            <a:avLst/>
          </a:prstGeom>
        </p:spPr>
      </p:pic>
      <p:sp>
        <p:nvSpPr>
          <p:cNvPr id="8" name="TextBox 7"/>
          <p:cNvSpPr txBox="1"/>
          <p:nvPr/>
        </p:nvSpPr>
        <p:spPr>
          <a:xfrm>
            <a:off x="5771244" y="3212592"/>
            <a:ext cx="5734650" cy="1255776"/>
          </a:xfrm>
          <a:prstGeom prst="rect">
            <a:avLst/>
          </a:prstGeom>
          <a:noFill/>
        </p:spPr>
        <p:txBody>
          <a:bodyPr wrap="square" anchor="t">
            <a:spAutoFit/>
          </a:bodyPr>
          <a:lstStyle/>
          <a:p>
            <a:pPr>
              <a:spcAft>
                <a:spcPts val="900"/>
              </a:spcAft>
            </a:pPr>
            <a:r>
              <a:rPr sz="2000" b="0">
                <a:solidFill>
                  <a:srgbClr val="1C1C1A"/>
                </a:solidFill>
                <a:latin typeface="Calibri"/>
              </a:rPr>
              <a:t>The CSV was fine. The conversion to a format with a smaller agreement is where the truth was lost.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51 / 71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Public Health England, the arithmetic</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1710944"/>
          </a:xfrm>
          <a:prstGeom prst="rect">
            <a:avLst/>
          </a:prstGeom>
          <a:noFill/>
        </p:spPr>
        <p:txBody>
          <a:bodyPr wrap="square" anchor="t">
            <a:spAutoFit/>
          </a:bodyPr>
          <a:lstStyle/>
          <a:p>
            <a:pPr>
              <a:spcAft>
                <a:spcPts val="900"/>
              </a:spcAft>
            </a:pPr>
            <a:r>
              <a:rPr sz="2000" b="0">
                <a:solidFill>
                  <a:srgbClr val="1C1C1A"/>
                </a:solidFill>
                <a:latin typeface="Calibri"/>
              </a:rPr>
              <a:t>The row ceiling of the old format is a fixed number, and the number of cases a file can hold follows directly from it:</a:t>
            </a:r>
          </a:p>
          <a:p>
            <a:pPr>
              <a:spcAft>
                <a:spcPts val="900"/>
              </a:spcAft>
            </a:pPr>
            <a:r>
              <a:rPr sz="2000" b="0">
                <a:solidFill>
                  <a:srgbClr val="1C1C1A"/>
                </a:solidFill>
                <a:latin typeface="Calibri"/>
              </a:rPr>
              <a:t>$$\text{cases per file} = \frac{\text{row limit}}{\text{rows per case}} = \frac{65{,}536}{\text{about }45} \approx 1{,}400$$</a:t>
            </a:r>
          </a:p>
        </p:txBody>
      </p:sp>
      <p:graphicFrame>
        <p:nvGraphicFramePr>
          <p:cNvPr id="8" name="Table 7"/>
          <p:cNvGraphicFramePr>
            <a:graphicFrameLocks noGrp="1"/>
          </p:cNvGraphicFramePr>
          <p:nvPr/>
        </p:nvGraphicFramePr>
        <p:xfrm>
          <a:off x="685800" y="3466592"/>
          <a:ext cx="10820095" cy="1935480"/>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Fact</a:t>
                      </a:r>
                    </a:p>
                  </a:txBody>
                  <a:tcPr marL="101600" marR="101600" marT="38100" marB="38100" anchor="ctr">
                    <a:solidFill>
                      <a:srgbClr val="2B4A7D"/>
                    </a:solidFill>
                  </a:tcPr>
                </a:tc>
                <a:tc>
                  <a:txBody>
                    <a:bodyPr/>
                    <a:lstStyle/>
                    <a:p>
                      <a:r>
                        <a:rPr sz="1600" b="1">
                          <a:solidFill>
                            <a:srgbClr val="FFFFFF"/>
                          </a:solidFill>
                          <a:latin typeface="Calibri"/>
                        </a:rPr>
                        <a:t>Figure</a:t>
                      </a:r>
                    </a:p>
                  </a:txBody>
                  <a:tcPr marL="101600" marR="101600" marT="38100" marB="38100" anchor="ctr">
                    <a:solidFill>
                      <a:srgbClr val="2B4A7D"/>
                    </a:solidFill>
                  </a:tcPr>
                </a:tc>
              </a:tr>
              <a:tr h="387096">
                <a:tc>
                  <a:txBody>
                    <a:bodyPr/>
                    <a:lstStyle/>
                    <a:p>
                      <a:r>
                        <a:rPr sz="1500" b="0">
                          <a:solidFill>
                            <a:srgbClr val="1C1C1A"/>
                          </a:solidFill>
                          <a:latin typeface="Calibri"/>
                        </a:rPr>
                        <a:t>Cases left out of the daily figures</a:t>
                      </a:r>
                    </a:p>
                  </a:txBody>
                  <a:tcPr marL="101600" marR="101600" marT="38100" marB="38100" anchor="ctr">
                    <a:solidFill>
                      <a:srgbClr val="FFFFFF"/>
                    </a:solidFill>
                  </a:tcPr>
                </a:tc>
                <a:tc>
                  <a:txBody>
                    <a:bodyPr/>
                    <a:lstStyle/>
                    <a:p>
                      <a:r>
                        <a:rPr sz="1500" b="0">
                          <a:solidFill>
                            <a:srgbClr val="1C1C1A"/>
                          </a:solidFill>
                          <a:latin typeface="Calibri"/>
                        </a:rPr>
                        <a:t>15,841</a:t>
                      </a:r>
                    </a:p>
                  </a:txBody>
                  <a:tcPr marL="101600" marR="101600" marT="38100" marB="38100" anchor="ctr">
                    <a:solidFill>
                      <a:srgbClr val="FFFFFF"/>
                    </a:solidFill>
                  </a:tcPr>
                </a:tc>
              </a:tr>
              <a:tr h="387096">
                <a:tc>
                  <a:txBody>
                    <a:bodyPr/>
                    <a:lstStyle/>
                    <a:p>
                      <a:r>
                        <a:rPr sz="1500" b="0">
                          <a:solidFill>
                            <a:srgbClr val="1C1C1A"/>
                          </a:solidFill>
                          <a:latin typeface="Calibri"/>
                        </a:rPr>
                        <a:t>The window they fell in</a:t>
                      </a:r>
                    </a:p>
                  </a:txBody>
                  <a:tcPr marL="101600" marR="101600" marT="38100" marB="38100" anchor="ctr">
                    <a:solidFill>
                      <a:srgbClr val="F7F7F5"/>
                    </a:solidFill>
                  </a:tcPr>
                </a:tc>
                <a:tc>
                  <a:txBody>
                    <a:bodyPr/>
                    <a:lstStyle/>
                    <a:p>
                      <a:r>
                        <a:rPr sz="1500" b="0">
                          <a:solidFill>
                            <a:srgbClr val="1C1C1A"/>
                          </a:solidFill>
                          <a:latin typeface="Calibri"/>
                        </a:rPr>
                        <a:t>25 September to 2 October 2020</a:t>
                      </a:r>
                    </a:p>
                  </a:txBody>
                  <a:tcPr marL="101600" marR="101600" marT="38100" marB="38100" anchor="ctr">
                    <a:solidFill>
                      <a:srgbClr val="F7F7F5"/>
                    </a:solidFill>
                  </a:tcPr>
                </a:tc>
              </a:tr>
              <a:tr h="387096">
                <a:tc>
                  <a:txBody>
                    <a:bodyPr/>
                    <a:lstStyle/>
                    <a:p>
                      <a:r>
                        <a:rPr sz="1500" b="0">
                          <a:solidFill>
                            <a:srgbClr val="1C1C1A"/>
                          </a:solidFill>
                          <a:latin typeface="Calibri"/>
                        </a:rPr>
                        <a:t>Reported new cases the day before the correction</a:t>
                      </a:r>
                    </a:p>
                  </a:txBody>
                  <a:tcPr marL="101600" marR="101600" marT="38100" marB="38100" anchor="ctr">
                    <a:solidFill>
                      <a:srgbClr val="FFFFFF"/>
                    </a:solidFill>
                  </a:tcPr>
                </a:tc>
                <a:tc>
                  <a:txBody>
                    <a:bodyPr/>
                    <a:lstStyle/>
                    <a:p>
                      <a:r>
                        <a:rPr sz="1500" b="0">
                          <a:solidFill>
                            <a:srgbClr val="1C1C1A"/>
                          </a:solidFill>
                          <a:latin typeface="Calibri"/>
                        </a:rPr>
                        <a:t>12,872</a:t>
                      </a:r>
                    </a:p>
                  </a:txBody>
                  <a:tcPr marL="101600" marR="101600" marT="38100" marB="38100" anchor="ctr">
                    <a:solidFill>
                      <a:srgbClr val="FFFFFF"/>
                    </a:solidFill>
                  </a:tcPr>
                </a:tc>
              </a:tr>
              <a:tr h="387096">
                <a:tc>
                  <a:txBody>
                    <a:bodyPr/>
                    <a:lstStyle/>
                    <a:p>
                      <a:r>
                        <a:rPr sz="1500" b="0">
                          <a:solidFill>
                            <a:srgbClr val="1C1C1A"/>
                          </a:solidFill>
                          <a:latin typeface="Calibri"/>
                        </a:rPr>
                        <a:t>Reported new cases the day after</a:t>
                      </a:r>
                    </a:p>
                  </a:txBody>
                  <a:tcPr marL="101600" marR="101600" marT="38100" marB="38100" anchor="ctr">
                    <a:solidFill>
                      <a:srgbClr val="F7F7F5"/>
                    </a:solidFill>
                  </a:tcPr>
                </a:tc>
                <a:tc>
                  <a:txBody>
                    <a:bodyPr/>
                    <a:lstStyle/>
                    <a:p>
                      <a:r>
                        <a:rPr sz="1500" b="0">
                          <a:solidFill>
                            <a:srgbClr val="1C1C1A"/>
                          </a:solidFill>
                          <a:latin typeface="Calibri"/>
                        </a:rPr>
                        <a:t>22,961</a:t>
                      </a:r>
                    </a:p>
                  </a:txBody>
                  <a:tcPr marL="101600" marR="101600" marT="38100" marB="38100" anchor="ctr">
                    <a:solidFill>
                      <a:srgbClr val="F7F7F5"/>
                    </a:solidFill>
                  </a:tcPr>
                </a:tc>
              </a:tr>
            </a:tbl>
          </a:graphicData>
        </a:graphic>
      </p:graphicFrame>
      <p:sp>
        <p:nvSpPr>
          <p:cNvPr id="9" name="TextBox 8"/>
          <p:cNvSpPr txBox="1"/>
          <p:nvPr/>
        </p:nvSpPr>
        <p:spPr>
          <a:xfrm>
            <a:off x="685800" y="5658104"/>
            <a:ext cx="10820095" cy="910336"/>
          </a:xfrm>
          <a:prstGeom prst="rect">
            <a:avLst/>
          </a:prstGeom>
          <a:noFill/>
        </p:spPr>
        <p:txBody>
          <a:bodyPr wrap="square" anchor="t">
            <a:spAutoFit/>
          </a:bodyPr>
          <a:lstStyle/>
          <a:p>
            <a:pPr>
              <a:spcAft>
                <a:spcPts val="900"/>
              </a:spcAft>
            </a:pPr>
            <a:r>
              <a:rPr sz="2000" b="0">
                <a:solidFill>
                  <a:srgbClr val="1C1C1A"/>
                </a:solidFill>
                <a:latin typeface="Calibri"/>
              </a:rPr>
              <a:t>Source: The Register, 5 October 2020: https://www.theregister.com/2020/10/05/excel_england_coronavirus_contact_error/ (verified 09 September 2026)</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2" name="TextBox 11"/>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52 / 71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The line from that to your cell today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812288"/>
            <a:ext cx="10820095" cy="2056384"/>
          </a:xfrm>
          <a:prstGeom prst="rect">
            <a:avLst/>
          </a:prstGeom>
          <a:noFill/>
        </p:spPr>
        <p:txBody>
          <a:bodyPr wrap="square" anchor="t">
            <a:spAutoFit/>
          </a:bodyPr>
          <a:lstStyle/>
          <a:p>
            <a:pPr>
              <a:spcAft>
                <a:spcPts val="900"/>
              </a:spcAft>
            </a:pPr>
            <a:r>
              <a:rPr sz="2000" b="0">
                <a:solidFill>
                  <a:srgbClr val="1C1C1A"/>
                </a:solidFill>
                <a:latin typeface="Calibri"/>
              </a:rPr>
              <a:t>Nobody at Public Health England wrote a line of bad code. A file crossed a boundary into a format whose agreement was smaller than the data, and nothing at that boundary counted the rows on both sides.</a:t>
            </a:r>
          </a:p>
          <a:p>
            <a:pPr>
              <a:spcAft>
                <a:spcPts val="900"/>
              </a:spcAft>
            </a:pPr>
            <a:r>
              <a:rPr sz="2000" b="0">
                <a:solidFill>
                  <a:srgbClr val="1C1C1A"/>
                </a:solidFill>
                <a:latin typeface="Calibri"/>
              </a:rPr>
              <a:t>Your four line ritual in D12 is the counting nobody did. It costs four lines and it is the difference between a load that worked and a load you can prove worked.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53 / 71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S28</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Interview question</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ae2568a1cfdddf2.png"/>
          <p:cNvPicPr>
            <a:picLocks noChangeAspect="1"/>
          </p:cNvPicPr>
          <p:nvPr/>
        </p:nvPicPr>
        <p:blipFill>
          <a:blip r:embed="rId2"/>
          <a:stretch>
            <a:fillRect/>
          </a:stretch>
        </p:blipFill>
        <p:spPr>
          <a:xfrm>
            <a:off x="1289544" y="1627632"/>
            <a:ext cx="3445152" cy="4425696"/>
          </a:xfrm>
          <a:prstGeom prst="rect">
            <a:avLst/>
          </a:prstGeom>
        </p:spPr>
      </p:pic>
      <p:sp>
        <p:nvSpPr>
          <p:cNvPr id="7" name="TextBox 6"/>
          <p:cNvSpPr txBox="1"/>
          <p:nvPr/>
        </p:nvSpPr>
        <p:spPr>
          <a:xfrm>
            <a:off x="5771244" y="2985008"/>
            <a:ext cx="5734650" cy="1710944"/>
          </a:xfrm>
          <a:prstGeom prst="rect">
            <a:avLst/>
          </a:prstGeom>
          <a:noFill/>
        </p:spPr>
        <p:txBody>
          <a:bodyPr wrap="square" anchor="t">
            <a:spAutoFit/>
          </a:bodyPr>
          <a:lstStyle/>
          <a:p>
            <a:pPr>
              <a:spcAft>
                <a:spcPts val="900"/>
              </a:spcAft>
            </a:pPr>
            <a:r>
              <a:rPr sz="2000" b="0">
                <a:solidFill>
                  <a:srgbClr val="1C1C1A"/>
                </a:solidFill>
                <a:latin typeface="Calibri"/>
              </a:rPr>
              <a:t>"CSV or JSON for nested records, and what does flattening cost?"</a:t>
            </a:r>
          </a:p>
          <a:p>
            <a:pPr>
              <a:spcAft>
                <a:spcPts val="900"/>
              </a:spcAft>
            </a:pPr>
            <a:r>
              <a:rPr sz="2000" b="0">
                <a:solidFill>
                  <a:srgbClr val="1C1C1A"/>
                </a:solidFill>
                <a:latin typeface="Calibri"/>
              </a:rPr>
              <a:t>You have both files open in front of you. Answer from those.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54 / 71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S29</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Step card, section 5</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882392"/>
            <a:ext cx="457200" cy="437896"/>
          </a:xfrm>
          <a:prstGeom prst="rect">
            <a:avLst/>
          </a:prstGeom>
          <a:noFill/>
        </p:spPr>
        <p:txBody>
          <a:bodyPr wrap="square" anchor="t">
            <a:spAutoFit/>
          </a:bodyPr>
          <a:lstStyle/>
          <a:p>
            <a:r>
              <a:rPr sz="1900" b="1">
                <a:solidFill>
                  <a:srgbClr val="2B4A7D"/>
                </a:solidFill>
                <a:latin typeface="Calibri"/>
              </a:rPr>
              <a:t>1</a:t>
            </a:r>
          </a:p>
        </p:txBody>
      </p:sp>
      <p:sp>
        <p:nvSpPr>
          <p:cNvPr id="7" name="TextBox 6"/>
          <p:cNvSpPr txBox="1"/>
          <p:nvPr/>
        </p:nvSpPr>
        <p:spPr>
          <a:xfrm>
            <a:off x="1143000" y="2882392"/>
            <a:ext cx="10362895" cy="437896"/>
          </a:xfrm>
          <a:prstGeom prst="rect">
            <a:avLst/>
          </a:prstGeom>
          <a:noFill/>
        </p:spPr>
        <p:txBody>
          <a:bodyPr wrap="square" anchor="t">
            <a:spAutoFit/>
          </a:bodyPr>
          <a:lstStyle/>
          <a:p>
            <a:r>
              <a:rPr sz="1900" b="0">
                <a:solidFill>
                  <a:srgbClr val="1C1C1A"/>
                </a:solidFill>
                <a:latin typeface="Calibri"/>
              </a:rPr>
              <a:t>One pass ships clean and rejects.</a:t>
            </a:r>
          </a:p>
        </p:txBody>
      </p:sp>
      <p:sp>
        <p:nvSpPr>
          <p:cNvPr id="8" name="TextBox 7"/>
          <p:cNvSpPr txBox="1"/>
          <p:nvPr/>
        </p:nvSpPr>
        <p:spPr>
          <a:xfrm>
            <a:off x="685800" y="3375152"/>
            <a:ext cx="457200" cy="437896"/>
          </a:xfrm>
          <a:prstGeom prst="rect">
            <a:avLst/>
          </a:prstGeom>
          <a:noFill/>
        </p:spPr>
        <p:txBody>
          <a:bodyPr wrap="square" anchor="t">
            <a:spAutoFit/>
          </a:bodyPr>
          <a:lstStyle/>
          <a:p>
            <a:r>
              <a:rPr sz="1900" b="1">
                <a:solidFill>
                  <a:srgbClr val="2B4A7D"/>
                </a:solidFill>
                <a:latin typeface="Calibri"/>
              </a:rPr>
              <a:t>2</a:t>
            </a:r>
          </a:p>
        </p:txBody>
      </p:sp>
      <p:sp>
        <p:nvSpPr>
          <p:cNvPr id="9" name="TextBox 8"/>
          <p:cNvSpPr txBox="1"/>
          <p:nvPr/>
        </p:nvSpPr>
        <p:spPr>
          <a:xfrm>
            <a:off x="1143000" y="3375152"/>
            <a:ext cx="10362895" cy="437896"/>
          </a:xfrm>
          <a:prstGeom prst="rect">
            <a:avLst/>
          </a:prstGeom>
          <a:noFill/>
        </p:spPr>
        <p:txBody>
          <a:bodyPr wrap="square" anchor="t">
            <a:spAutoFit/>
          </a:bodyPr>
          <a:lstStyle/>
          <a:p>
            <a:r>
              <a:rPr sz="1900" b="0">
                <a:solidFill>
                  <a:srgbClr val="1C1C1A"/>
                </a:solidFill>
                <a:latin typeface="Calibri"/>
              </a:rPr>
              <a:t>Name the fields on the way out.</a:t>
            </a:r>
          </a:p>
        </p:txBody>
      </p:sp>
      <p:sp>
        <p:nvSpPr>
          <p:cNvPr id="10" name="TextBox 9"/>
          <p:cNvSpPr txBox="1"/>
          <p:nvPr/>
        </p:nvSpPr>
        <p:spPr>
          <a:xfrm>
            <a:off x="685800" y="3867912"/>
            <a:ext cx="457200" cy="437896"/>
          </a:xfrm>
          <a:prstGeom prst="rect">
            <a:avLst/>
          </a:prstGeom>
          <a:noFill/>
        </p:spPr>
        <p:txBody>
          <a:bodyPr wrap="square" anchor="t">
            <a:spAutoFit/>
          </a:bodyPr>
          <a:lstStyle/>
          <a:p>
            <a:r>
              <a:rPr sz="1900" b="1">
                <a:solidFill>
                  <a:srgbClr val="2B4A7D"/>
                </a:solidFill>
                <a:latin typeface="Calibri"/>
              </a:rPr>
              <a:t>3</a:t>
            </a:r>
          </a:p>
        </p:txBody>
      </p:sp>
      <p:sp>
        <p:nvSpPr>
          <p:cNvPr id="11" name="TextBox 10"/>
          <p:cNvSpPr txBox="1"/>
          <p:nvPr/>
        </p:nvSpPr>
        <p:spPr>
          <a:xfrm>
            <a:off x="1143000" y="3867912"/>
            <a:ext cx="10362895" cy="437896"/>
          </a:xfrm>
          <a:prstGeom prst="rect">
            <a:avLst/>
          </a:prstGeom>
          <a:noFill/>
        </p:spPr>
        <p:txBody>
          <a:bodyPr wrap="square" anchor="t">
            <a:spAutoFit/>
          </a:bodyPr>
          <a:lstStyle/>
          <a:p>
            <a:r>
              <a:rPr sz="1900" b="0">
                <a:solidFill>
                  <a:srgbClr val="1C1C1A"/>
                </a:solidFill>
                <a:latin typeface="Calibri"/>
              </a:rPr>
              <a:t>Reopen both files and count.</a:t>
            </a:r>
          </a:p>
        </p:txBody>
      </p:sp>
      <p:sp>
        <p:nvSpPr>
          <p:cNvPr id="12" name="TextBox 11"/>
          <p:cNvSpPr txBox="1"/>
          <p:nvPr/>
        </p:nvSpPr>
        <p:spPr>
          <a:xfrm>
            <a:off x="685800" y="4360672"/>
            <a:ext cx="457200" cy="437896"/>
          </a:xfrm>
          <a:prstGeom prst="rect">
            <a:avLst/>
          </a:prstGeom>
          <a:noFill/>
        </p:spPr>
        <p:txBody>
          <a:bodyPr wrap="square" anchor="t">
            <a:spAutoFit/>
          </a:bodyPr>
          <a:lstStyle/>
          <a:p>
            <a:r>
              <a:rPr sz="1900" b="1">
                <a:solidFill>
                  <a:srgbClr val="2B4A7D"/>
                </a:solidFill>
                <a:latin typeface="Calibri"/>
              </a:rPr>
              <a:t>4</a:t>
            </a:r>
          </a:p>
        </p:txBody>
      </p:sp>
      <p:sp>
        <p:nvSpPr>
          <p:cNvPr id="13" name="TextBox 12"/>
          <p:cNvSpPr txBox="1"/>
          <p:nvPr/>
        </p:nvSpPr>
        <p:spPr>
          <a:xfrm>
            <a:off x="1143000" y="4360672"/>
            <a:ext cx="10362895" cy="437896"/>
          </a:xfrm>
          <a:prstGeom prst="rect">
            <a:avLst/>
          </a:prstGeom>
          <a:noFill/>
        </p:spPr>
        <p:txBody>
          <a:bodyPr wrap="square" anchor="t">
            <a:spAutoFit/>
          </a:bodyPr>
          <a:lstStyle/>
          <a:p>
            <a:r>
              <a:rPr sz="1900" b="0">
                <a:solidFill>
                  <a:srgbClr val="1C1C1A"/>
                </a:solidFill>
                <a:latin typeface="Calibri"/>
              </a:rPr>
              <a:t>Input equals clean plus rejected, or something vanished.</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6" name="TextBox 15"/>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55 / 71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a:spAutoFit/>
          </a:bodyPr>
          <a:lstStyle/>
          <a:p>
            <a:pPr algn="ctr"/>
            <a:r>
              <a:rPr sz="4000" b="1">
                <a:solidFill>
                  <a:srgbClr val="FFFFFF"/>
                </a:solidFill>
                <a:latin typeface="Calibri"/>
              </a:rPr>
              <a:t>SECTION 6: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inline cell</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packaged decision</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read the failure</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log the rejection</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cross the boundary</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a:spAutoFit/>
          </a:bodyPr>
          <a:lstStyle/>
          <a:p>
            <a:r>
              <a:rPr sz="1000">
                <a:solidFill>
                  <a:srgbClr val="FFFFFF"/>
                </a:solidFill>
                <a:latin typeface="Calibri"/>
              </a:rPr>
              <a:t>Week 1, Day 2. Half two: cross the file boundary</a:t>
            </a:r>
          </a:p>
        </p:txBody>
      </p:sp>
      <p:sp>
        <p:nvSpPr>
          <p:cNvPr id="11" name="TextBox 10"/>
          <p:cNvSpPr txBox="1"/>
          <p:nvPr/>
        </p:nvSpPr>
        <p:spPr>
          <a:xfrm>
            <a:off x="10408615" y="6391656"/>
            <a:ext cx="1097280" cy="292608"/>
          </a:xfrm>
          <a:prstGeom prst="rect">
            <a:avLst/>
          </a:prstGeom>
          <a:noFill/>
        </p:spPr>
        <p:txBody>
          <a:bodyPr wrap="square" anchor="t">
            <a:spAutoFit/>
          </a:bodyPr>
          <a:lstStyle/>
          <a:p>
            <a:pPr algn="r"/>
            <a:r>
              <a:rPr sz="1000">
                <a:solidFill>
                  <a:srgbClr val="FFFFFF"/>
                </a:solidFill>
                <a:latin typeface="Calibri"/>
              </a:rPr>
              <a:t>56 / 71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S30</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What this section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Two of the questions below are on this week's own question set and will be on Saturday's paper. The rest are asked often enough at this level that this programme puts them in front of you now.</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57 / 71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a CSV is all text, so what breaks?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Where does the bug enter?</a:t>
            </a:r>
          </a:p>
          <a:p>
            <a:pPr>
              <a:spcAft>
                <a:spcPts val="900"/>
              </a:spcAft>
            </a:pPr>
            <a:r>
              <a:rPr sz="2000" b="0">
                <a:solidFill>
                  <a:srgbClr val="1C1C1A"/>
                </a:solidFill>
                <a:latin typeface="Calibri"/>
              </a:rPr>
              <a:t>a) At the read, since the reader should convert</a:t>
            </a:r>
          </a:p>
          <a:p>
            <a:pPr>
              <a:spcAft>
                <a:spcPts val="900"/>
              </a:spcAft>
            </a:pPr>
            <a:r>
              <a:rPr sz="2000" b="0">
                <a:solidFill>
                  <a:srgbClr val="1C1C1A"/>
                </a:solidFill>
                <a:latin typeface="Calibri"/>
              </a:rPr>
              <a:t>b) At any comparison or sum done before conversion</a:t>
            </a:r>
          </a:p>
          <a:p>
            <a:pPr>
              <a:spcAft>
                <a:spcPts val="900"/>
              </a:spcAft>
            </a:pPr>
            <a:r>
              <a:rPr sz="2000" b="0">
                <a:solidFill>
                  <a:srgbClr val="1C1C1A"/>
                </a:solidFill>
                <a:latin typeface="Calibri"/>
              </a:rPr>
              <a:t>c) At the write, since the writer flattens types</a:t>
            </a:r>
          </a:p>
          <a:p>
            <a:pPr>
              <a:spcAft>
                <a:spcPts val="900"/>
              </a:spcAft>
            </a:pPr>
            <a:r>
              <a:rPr sz="2000" b="0">
                <a:solidFill>
                  <a:srgbClr val="1C1C1A"/>
                </a:solidFill>
                <a:latin typeface="Calibri"/>
              </a:rPr>
              <a:t>d) Nowhere, since Python converts as needed</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58 / 71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S31a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at the first comparison, and it fails quietly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31064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31064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116433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A CSV agrees about rows, separators and a header, and about nothing else, so every field arrives as text. What breaks is any comparison or arithmetic done before conversion.</a:t>
            </a:r>
          </a:p>
        </p:txBody>
      </p:sp>
      <p:graphicFrame>
        <p:nvGraphicFramePr>
          <p:cNvPr id="9" name="Table 8"/>
          <p:cNvGraphicFramePr>
            <a:graphicFrameLocks noGrp="1"/>
          </p:cNvGraphicFramePr>
          <p:nvPr/>
        </p:nvGraphicFramePr>
        <p:xfrm>
          <a:off x="685800" y="3102864"/>
          <a:ext cx="10820095" cy="232562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a) At the read</a:t>
                      </a:r>
                    </a:p>
                  </a:txBody>
                  <a:tcPr marL="101600" marR="101600" marT="38100" marB="38100" anchor="ctr">
                    <a:solidFill>
                      <a:srgbClr val="FFFFFF"/>
                    </a:solidFill>
                  </a:tcPr>
                </a:tc>
                <a:tc>
                  <a:txBody>
                    <a:bodyPr/>
                    <a:lstStyle/>
                    <a:p>
                      <a:r>
                        <a:rPr sz="1500" b="0">
                          <a:solidFill>
                            <a:srgbClr val="1C1C1A"/>
                          </a:solidFill>
                          <a:latin typeface="Calibri"/>
                        </a:rPr>
                        <a:t>The reader has nothing to convert from; a CSV carries no type information at all.</a:t>
                      </a:r>
                    </a:p>
                  </a:txBody>
                  <a:tcPr marL="101600" marR="101600" marT="38100" marB="38100" anchor="ctr">
                    <a:solidFill>
                      <a:srgbClr val="FFFFFF"/>
                    </a:solidFill>
                  </a:tcPr>
                </a:tc>
              </a:tr>
              <a:tr h="646176">
                <a:tc>
                  <a:txBody>
                    <a:bodyPr/>
                    <a:lstStyle/>
                    <a:p>
                      <a:r>
                        <a:rPr sz="1500" b="0">
                          <a:solidFill>
                            <a:srgbClr val="1C1C1A"/>
                          </a:solidFill>
                          <a:latin typeface="Calibri"/>
                        </a:rPr>
                        <a:t>c) At the write</a:t>
                      </a:r>
                    </a:p>
                  </a:txBody>
                  <a:tcPr marL="101600" marR="101600" marT="38100" marB="38100" anchor="ctr">
                    <a:solidFill>
                      <a:srgbClr val="F7F7F5"/>
                    </a:solidFill>
                  </a:tcPr>
                </a:tc>
                <a:tc>
                  <a:txBody>
                    <a:bodyPr/>
                    <a:lstStyle/>
                    <a:p>
                      <a:r>
                        <a:rPr sz="1500" b="0">
                          <a:solidFill>
                            <a:srgbClr val="1C1C1A"/>
                          </a:solidFill>
                          <a:latin typeface="Calibri"/>
                        </a:rPr>
                        <a:t>Writing is where types are lost, and the bug enters when somebody reads them back and forgets.</a:t>
                      </a:r>
                    </a:p>
                  </a:txBody>
                  <a:tcPr marL="101600" marR="101600" marT="38100" marB="38100" anchor="ctr">
                    <a:solidFill>
                      <a:srgbClr val="F7F7F5"/>
                    </a:solidFill>
                  </a:tcPr>
                </a:tc>
              </a:tr>
              <a:tr h="646176">
                <a:tc>
                  <a:txBody>
                    <a:bodyPr/>
                    <a:lstStyle/>
                    <a:p>
                      <a:r>
                        <a:rPr sz="1500" b="0">
                          <a:solidFill>
                            <a:srgbClr val="1C1C1A"/>
                          </a:solidFill>
                          <a:latin typeface="Calibri"/>
                        </a:rPr>
                        <a:t>d) Python converts</a:t>
                      </a:r>
                    </a:p>
                  </a:txBody>
                  <a:tcPr marL="101600" marR="101600" marT="38100" marB="38100" anchor="ctr">
                    <a:solidFill>
                      <a:srgbClr val="FFFFFF"/>
                    </a:solidFill>
                  </a:tcPr>
                </a:tc>
                <a:tc>
                  <a:txBody>
                    <a:bodyPr/>
                    <a:lstStyle/>
                    <a:p>
                      <a:r>
                        <a:rPr sz="1500" b="0">
                          <a:solidFill>
                            <a:srgbClr val="1C1C1A"/>
                          </a:solidFill>
                          <a:latin typeface="Calibri"/>
                        </a:rPr>
                        <a:t>It refuses across types and joins within them, which is worse than either.</a:t>
                      </a:r>
                    </a:p>
                  </a:txBody>
                  <a:tcPr marL="101600" marR="101600" marT="38100" marB="38100" anchor="ctr">
                    <a:solidFill>
                      <a:srgbClr val="FFFFFF"/>
                    </a:solidFill>
                  </a:tcPr>
                </a:tc>
              </a:tr>
            </a:tbl>
          </a:graphicData>
        </a:graphic>
      </p:graphicFrame>
      <p:sp>
        <p:nvSpPr>
          <p:cNvPr id="10" name="TextBox 9"/>
          <p:cNvSpPr txBox="1"/>
          <p:nvPr/>
        </p:nvSpPr>
        <p:spPr>
          <a:xfrm>
            <a:off x="685800" y="568452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"9" &gt; "2000" is True and it does not raise. Text comparison fails quietly rather than loudly, which is why the conversion has to be a decision you took rather than one you assumed.</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59 / 71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Dates, where the text problem really bites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466848"/>
            <a:ext cx="10820095" cy="2747264"/>
          </a:xfrm>
          <a:prstGeom prst="rect">
            <a:avLst/>
          </a:prstGeom>
          <a:noFill/>
        </p:spPr>
        <p:txBody>
          <a:bodyPr wrap="square" anchor="t">
            <a:spAutoFit/>
          </a:bodyPr>
          <a:lstStyle/>
          <a:p>
            <a:pPr>
              <a:spcAft>
                <a:spcPts val="900"/>
              </a:spcAft>
            </a:pPr>
            <a:r>
              <a:rPr sz="2000" b="0">
                <a:solidFill>
                  <a:srgbClr val="1C1C1A"/>
                </a:solidFill>
                <a:latin typeface="Calibri"/>
              </a:rPr>
              <a:t>A stronger interviewer follows with dates, because dates are the field where this really hurts. A CSV carries 2026-08-03 as nine characters, and the string sorts correctly only because that format happens to sort correctly. Hand the same file a date written as 03/08/2026 and both the sort order and the meaning are gone, since nothing in the file says whether that is August or March.</a:t>
            </a:r>
          </a:p>
          <a:p>
            <a:pPr>
              <a:spcAft>
                <a:spcPts val="900"/>
              </a:spcAft>
            </a:pPr>
            <a:r>
              <a:rPr sz="2000" b="0">
                <a:solidFill>
                  <a:srgbClr val="1C1C1A"/>
                </a:solidFill>
                <a:latin typeface="Calibri"/>
              </a:rPr>
              <a:t>The answer is the same shape: convert at the boundary, state the format you expect, and reject what does not match rather than guessing.</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60 / 71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CSV or JSON for nested records?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474976"/>
            <a:ext cx="10820095" cy="2731008"/>
          </a:xfrm>
          <a:prstGeom prst="rect">
            <a:avLst/>
          </a:prstGeom>
          <a:noFill/>
        </p:spPr>
        <p:txBody>
          <a:bodyPr wrap="square" anchor="t">
            <a:spAutoFit/>
          </a:bodyPr>
          <a:lstStyle/>
          <a:p>
            <a:pPr>
              <a:spcAft>
                <a:spcPts val="900"/>
              </a:spcAft>
            </a:pPr>
            <a:r>
              <a:rPr sz="2000" b="0">
                <a:solidFill>
                  <a:srgbClr val="1C1C1A"/>
                </a:solidFill>
                <a:latin typeface="Calibri"/>
              </a:rPr>
              <a:t>The Kalpa feed nests a customer block inside each order. Which format, and what does the other one cost?</a:t>
            </a:r>
          </a:p>
          <a:p>
            <a:pPr>
              <a:spcAft>
                <a:spcPts val="900"/>
              </a:spcAft>
            </a:pPr>
            <a:r>
              <a:rPr sz="2000" b="0">
                <a:solidFill>
                  <a:srgbClr val="1C1C1A"/>
                </a:solidFill>
                <a:latin typeface="Calibri"/>
              </a:rPr>
              <a:t>a) CSV, since every tool opens it</a:t>
            </a:r>
          </a:p>
          <a:p>
            <a:pPr>
              <a:spcAft>
                <a:spcPts val="900"/>
              </a:spcAft>
            </a:pPr>
            <a:r>
              <a:rPr sz="2000" b="0">
                <a:solidFill>
                  <a:srgbClr val="1C1C1A"/>
                </a:solidFill>
                <a:latin typeface="Calibri"/>
              </a:rPr>
              <a:t>b) JSON, since it agrees about nesting and types</a:t>
            </a:r>
          </a:p>
          <a:p>
            <a:pPr>
              <a:spcAft>
                <a:spcPts val="900"/>
              </a:spcAft>
            </a:pPr>
            <a:r>
              <a:rPr sz="2000" b="0">
                <a:solidFill>
                  <a:srgbClr val="1C1C1A"/>
                </a:solidFill>
                <a:latin typeface="Calibri"/>
              </a:rPr>
              <a:t>c) Either, since the data is the same</a:t>
            </a:r>
          </a:p>
          <a:p>
            <a:pPr>
              <a:spcAft>
                <a:spcPts val="900"/>
              </a:spcAft>
            </a:pPr>
            <a:r>
              <a:rPr sz="2000" b="0">
                <a:solidFill>
                  <a:srgbClr val="1C1C1A"/>
                </a:solidFill>
                <a:latin typeface="Calibri"/>
              </a:rPr>
              <a:t>d) CSV, and nest by repeating rows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61 / 71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S32a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JSON, and flattening costs per field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JSON, when records nest, because it agrees about nesting and about types and CSV agrees about neither.</a:t>
            </a:r>
          </a:p>
        </p:txBody>
      </p:sp>
      <p:graphicFrame>
        <p:nvGraphicFramePr>
          <p:cNvPr id="9" name="Table 8"/>
          <p:cNvGraphicFramePr>
            <a:graphicFrameLocks noGrp="1"/>
          </p:cNvGraphicFramePr>
          <p:nvPr/>
        </p:nvGraphicFramePr>
        <p:xfrm>
          <a:off x="685800" y="2757424"/>
          <a:ext cx="10820095" cy="232562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a) Every tool opens it</a:t>
                      </a:r>
                    </a:p>
                  </a:txBody>
                  <a:tcPr marL="101600" marR="101600" marT="38100" marB="38100" anchor="ctr">
                    <a:solidFill>
                      <a:srgbClr val="FFFFFF"/>
                    </a:solidFill>
                  </a:tcPr>
                </a:tc>
                <a:tc>
                  <a:txBody>
                    <a:bodyPr/>
                    <a:lstStyle/>
                    <a:p>
                      <a:r>
                        <a:rPr sz="1500" b="0">
                          <a:solidFill>
                            <a:srgbClr val="1C1C1A"/>
                          </a:solidFill>
                          <a:latin typeface="Calibri"/>
                        </a:rPr>
                        <a:t>True of the file and false of the record. Opening it is not the same as reading it correctly.</a:t>
                      </a:r>
                    </a:p>
                  </a:txBody>
                  <a:tcPr marL="101600" marR="101600" marT="38100" marB="38100" anchor="ctr">
                    <a:solidFill>
                      <a:srgbClr val="FFFFFF"/>
                    </a:solidFill>
                  </a:tcPr>
                </a:tc>
              </a:tr>
              <a:tr h="646176">
                <a:tc>
                  <a:txBody>
                    <a:bodyPr/>
                    <a:lstStyle/>
                    <a:p>
                      <a:r>
                        <a:rPr sz="1500" b="0">
                          <a:solidFill>
                            <a:srgbClr val="1C1C1A"/>
                          </a:solidFill>
                          <a:latin typeface="Calibri"/>
                        </a:rPr>
                        <a:t>c) Either</a:t>
                      </a:r>
                    </a:p>
                  </a:txBody>
                  <a:tcPr marL="101600" marR="101600" marT="38100" marB="38100" anchor="ctr">
                    <a:solidFill>
                      <a:srgbClr val="F7F7F5"/>
                    </a:solidFill>
                  </a:tcPr>
                </a:tc>
                <a:tc>
                  <a:txBody>
                    <a:bodyPr/>
                    <a:lstStyle/>
                    <a:p>
                      <a:r>
                        <a:rPr sz="1500" b="0">
                          <a:solidFill>
                            <a:srgbClr val="1C1C1A"/>
                          </a:solidFill>
                          <a:latin typeface="Calibri"/>
                        </a:rPr>
                        <a:t>The data is the same and the agreement is not, which is the whole point.</a:t>
                      </a:r>
                    </a:p>
                  </a:txBody>
                  <a:tcPr marL="101600" marR="101600" marT="38100" marB="38100" anchor="ctr">
                    <a:solidFill>
                      <a:srgbClr val="F7F7F5"/>
                    </a:solidFill>
                  </a:tcPr>
                </a:tc>
              </a:tr>
              <a:tr h="646176">
                <a:tc>
                  <a:txBody>
                    <a:bodyPr/>
                    <a:lstStyle/>
                    <a:p>
                      <a:r>
                        <a:rPr sz="1500" b="0">
                          <a:solidFill>
                            <a:srgbClr val="1C1C1A"/>
                          </a:solidFill>
                          <a:latin typeface="Calibri"/>
                        </a:rPr>
                        <a:t>d) Repeat rows</a:t>
                      </a:r>
                    </a:p>
                  </a:txBody>
                  <a:tcPr marL="101600" marR="101600" marT="38100" marB="38100" anchor="ctr">
                    <a:solidFill>
                      <a:srgbClr val="FFFFFF"/>
                    </a:solidFill>
                  </a:tcPr>
                </a:tc>
                <a:tc>
                  <a:txBody>
                    <a:bodyPr/>
                    <a:lstStyle/>
                    <a:p>
                      <a:r>
                        <a:rPr sz="1500" b="0">
                          <a:solidFill>
                            <a:srgbClr val="1C1C1A"/>
                          </a:solidFill>
                          <a:latin typeface="Calibri"/>
                        </a:rPr>
                        <a:t>That turns one order into several and every count downstream doubles.</a:t>
                      </a:r>
                    </a:p>
                  </a:txBody>
                  <a:tcPr marL="101600" marR="101600" marT="38100" marB="38100" anchor="ctr">
                    <a:solidFill>
                      <a:srgbClr val="FFFFFF"/>
                    </a:solidFill>
                  </a:tcPr>
                </a:tc>
              </a:tr>
            </a:tbl>
          </a:graphicData>
        </a:graphic>
      </p:graphicFrame>
      <p:sp>
        <p:nvSpPr>
          <p:cNvPr id="10" name="TextBox 9"/>
          <p:cNvSpPr txBox="1"/>
          <p:nvPr/>
        </p:nvSpPr>
        <p:spPr>
          <a:xfrm>
            <a:off x="685800" y="5339080"/>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Record KR4214 is the answer in one record. In the CSV its amount is empty. In the JSON the same record still carries source.amount_raw holding 2840, one level down. The CSV did not corrupt the record; it had nowhere to put a record inside a record.</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62 / 71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a:spAutoFit/>
          </a:bodyPr>
          <a:lstStyle/>
          <a:p>
            <a:r>
              <a:rPr sz="2300" b="1">
                <a:solidFill>
                  <a:srgbClr val="1C1C1A"/>
                </a:solidFill>
                <a:latin typeface="Calibri"/>
              </a:rPr>
              <a:t>KR4214, the whole answer in one record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812288"/>
            <a:ext cx="10820095" cy="2056384"/>
          </a:xfrm>
          <a:prstGeom prst="rect">
            <a:avLst/>
          </a:prstGeom>
          <a:noFill/>
        </p:spPr>
        <p:txBody>
          <a:bodyPr wrap="square" anchor="t">
            <a:spAutoFit/>
          </a:bodyPr>
          <a:lstStyle/>
          <a:p>
            <a:pPr>
              <a:spcAft>
                <a:spcPts val="900"/>
              </a:spcAft>
            </a:pPr>
            <a:r>
              <a:rPr sz="2000" b="0">
                <a:solidFill>
                  <a:srgbClr val="1C1C1A"/>
                </a:solidFill>
                <a:latin typeface="Calibri"/>
              </a:rPr>
              <a:t>Record KR4214 is the whole answer in one record. In the CSV its amount is empty. In the JSON the same record still carries source.amount_raw holding 2840, one level down.</a:t>
            </a:r>
          </a:p>
          <a:p>
            <a:pPr>
              <a:spcAft>
                <a:spcPts val="900"/>
              </a:spcAft>
            </a:pPr>
            <a:r>
              <a:rPr sz="2000" b="0">
                <a:solidFill>
                  <a:srgbClr val="1C1C1A"/>
                </a:solidFill>
                <a:latin typeface="Calibri"/>
              </a:rPr>
              <a:t>The CSV did not corrupt the record. It had nowhere to put a record inside a record. Say exactly that, then say what flattening it would have cost: either a new column called source_amount_raw, or the value gone.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0" name="TextBox 9"/>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63 / 71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what does the with statement guarantee?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You open a file inside a with block and the code inside raises. What happens to the handle?</a:t>
            </a:r>
          </a:p>
          <a:p>
            <a:pPr>
              <a:spcAft>
                <a:spcPts val="900"/>
              </a:spcAft>
            </a:pPr>
            <a:r>
              <a:rPr sz="2000" b="0">
                <a:solidFill>
                  <a:srgbClr val="1C1C1A"/>
                </a:solidFill>
                <a:latin typeface="Calibri"/>
              </a:rPr>
              <a:t>a) It leaks, since the block never finished</a:t>
            </a:r>
          </a:p>
          <a:p>
            <a:pPr>
              <a:spcAft>
                <a:spcPts val="900"/>
              </a:spcAft>
            </a:pPr>
            <a:r>
              <a:rPr sz="2000" b="0">
                <a:solidFill>
                  <a:srgbClr val="1C1C1A"/>
                </a:solidFill>
                <a:latin typeface="Calibri"/>
              </a:rPr>
              <a:t>b) It is closed when the block ends, raise or no raise</a:t>
            </a:r>
          </a:p>
          <a:p>
            <a:pPr>
              <a:spcAft>
                <a:spcPts val="900"/>
              </a:spcAft>
            </a:pPr>
            <a:r>
              <a:rPr sz="2000" b="0">
                <a:solidFill>
                  <a:srgbClr val="1C1C1A"/>
                </a:solidFill>
                <a:latin typeface="Calibri"/>
              </a:rPr>
              <a:t>c) It is closed only if you also call close</a:t>
            </a:r>
          </a:p>
          <a:p>
            <a:pPr>
              <a:spcAft>
                <a:spcPts val="900"/>
              </a:spcAft>
            </a:pPr>
            <a:r>
              <a:rPr sz="2000" b="0">
                <a:solidFill>
                  <a:srgbClr val="1C1C1A"/>
                </a:solidFill>
                <a:latin typeface="Calibri"/>
              </a:rPr>
              <a:t>d) It depends on the operating system</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64 / 71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S33a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closed either way, which is a try and finally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7bd97f8db0e76883.png"/>
          <p:cNvPicPr>
            <a:picLocks noChangeAspect="1"/>
          </p:cNvPicPr>
          <p:nvPr/>
        </p:nvPicPr>
        <p:blipFill>
          <a:blip r:embed="rId2"/>
          <a:stretch>
            <a:fillRect/>
          </a:stretch>
        </p:blipFill>
        <p:spPr>
          <a:xfrm>
            <a:off x="890211" y="1627632"/>
            <a:ext cx="4243818" cy="4425696"/>
          </a:xfrm>
          <a:prstGeom prst="rect">
            <a:avLst/>
          </a:prstGeom>
        </p:spPr>
      </p:pic>
      <p:sp>
        <p:nvSpPr>
          <p:cNvPr id="7" name="Rectangle 6"/>
          <p:cNvSpPr/>
          <p:nvPr/>
        </p:nvSpPr>
        <p:spPr>
          <a:xfrm>
            <a:off x="5771244" y="1627632"/>
            <a:ext cx="5734650" cy="200152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20015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85521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with guarantees the file is closed when the block ends, including when the code inside raises. It is equivalent to a try and finally where the close sits in the finally.</a:t>
            </a:r>
          </a:p>
        </p:txBody>
      </p:sp>
      <p:graphicFrame>
        <p:nvGraphicFramePr>
          <p:cNvPr id="10" name="Table 9"/>
          <p:cNvGraphicFramePr>
            <a:graphicFrameLocks noGrp="1"/>
          </p:cNvGraphicFramePr>
          <p:nvPr/>
        </p:nvGraphicFramePr>
        <p:xfrm>
          <a:off x="5771244" y="3793744"/>
          <a:ext cx="5734650" cy="2168141"/>
        </p:xfrm>
        <a:graphic>
          <a:graphicData uri="http://schemas.openxmlformats.org/drawingml/2006/table">
            <a:tbl>
              <a:tblPr firstRow="0" bandRow="0">
                <a:tableStyleId>{2D5ABB26-0587-4C30-8999-92F81FD0307C}</a:tableStyleId>
              </a:tblPr>
              <a:tblGrid>
                <a:gridCol w="2867325"/>
                <a:gridCol w="2867325"/>
              </a:tblGrid>
              <a:tr h="295127">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90180">
                <a:tc>
                  <a:txBody>
                    <a:bodyPr/>
                    <a:lstStyle/>
                    <a:p>
                      <a:r>
                        <a:rPr sz="1500" b="0">
                          <a:solidFill>
                            <a:srgbClr val="1C1C1A"/>
                          </a:solidFill>
                          <a:latin typeface="Calibri"/>
                        </a:rPr>
                        <a:t>a) It leaks</a:t>
                      </a:r>
                    </a:p>
                  </a:txBody>
                  <a:tcPr marL="101600" marR="101600" marT="38100" marB="38100" anchor="ctr">
                    <a:solidFill>
                      <a:srgbClr val="FFFFFF"/>
                    </a:solidFill>
                  </a:tcPr>
                </a:tc>
                <a:tc>
                  <a:txBody>
                    <a:bodyPr/>
                    <a:lstStyle/>
                    <a:p>
                      <a:r>
                        <a:rPr sz="1500" b="0">
                          <a:solidFill>
                            <a:srgbClr val="1C1C1A"/>
                          </a:solidFill>
                          <a:latin typeface="Calibri"/>
                        </a:rPr>
                        <a:t>That is what happens without with, which is why with exists.</a:t>
                      </a:r>
                    </a:p>
                  </a:txBody>
                  <a:tcPr marL="101600" marR="101600" marT="38100" marB="38100" anchor="ctr">
                    <a:solidFill>
                      <a:srgbClr val="FFFFFF"/>
                    </a:solidFill>
                  </a:tcPr>
                </a:tc>
              </a:tr>
              <a:tr h="492654">
                <a:tc>
                  <a:txBody>
                    <a:bodyPr/>
                    <a:lstStyle/>
                    <a:p>
                      <a:r>
                        <a:rPr sz="1500" b="0">
                          <a:solidFill>
                            <a:srgbClr val="1C1C1A"/>
                          </a:solidFill>
                          <a:latin typeface="Calibri"/>
                        </a:rPr>
                        <a:t>c) Only with close</a:t>
                      </a:r>
                    </a:p>
                  </a:txBody>
                  <a:tcPr marL="101600" marR="101600" marT="38100" marB="38100" anchor="ctr">
                    <a:solidFill>
                      <a:srgbClr val="F7F7F5"/>
                    </a:solidFill>
                  </a:tcPr>
                </a:tc>
                <a:tc>
                  <a:txBody>
                    <a:bodyPr/>
                    <a:lstStyle/>
                    <a:p>
                      <a:r>
                        <a:rPr sz="1500" b="0">
                          <a:solidFill>
                            <a:srgbClr val="1C1C1A"/>
                          </a:solidFill>
                          <a:latin typeface="Calibri"/>
                        </a:rPr>
                        <a:t>Calling close as well is harmless and unnecessary.</a:t>
                      </a:r>
                    </a:p>
                  </a:txBody>
                  <a:tcPr marL="101600" marR="101600" marT="38100" marB="38100" anchor="ctr">
                    <a:solidFill>
                      <a:srgbClr val="F7F7F5"/>
                    </a:solidFill>
                  </a:tcPr>
                </a:tc>
              </a:tr>
              <a:tr h="690180">
                <a:tc>
                  <a:txBody>
                    <a:bodyPr/>
                    <a:lstStyle/>
                    <a:p>
                      <a:r>
                        <a:rPr sz="1500" b="0">
                          <a:solidFill>
                            <a:srgbClr val="1C1C1A"/>
                          </a:solidFill>
                          <a:latin typeface="Calibri"/>
                        </a:rPr>
                        <a:t>d) The operating system</a:t>
                      </a:r>
                    </a:p>
                  </a:txBody>
                  <a:tcPr marL="101600" marR="101600" marT="38100" marB="38100" anchor="ctr">
                    <a:solidFill>
                      <a:srgbClr val="FFFFFF"/>
                    </a:solidFill>
                  </a:tcPr>
                </a:tc>
                <a:tc>
                  <a:txBody>
                    <a:bodyPr/>
                    <a:lstStyle/>
                    <a:p>
                      <a:r>
                        <a:rPr sz="1500" b="0">
                          <a:solidFill>
                            <a:srgbClr val="1C1C1A"/>
                          </a:solidFill>
                          <a:latin typeface="Calibri"/>
                        </a:rPr>
                        <a:t>The guarantee is Python's, and it holds everywhere Python runs.</a:t>
                      </a:r>
                    </a:p>
                  </a:txBody>
                  <a:tcPr marL="101600" marR="101600" marT="38100" marB="38100" anchor="ctr">
                    <a:solidFill>
                      <a:srgbClr val="FFFFFF"/>
                    </a:solidFill>
                  </a:tcPr>
                </a:tc>
              </a:tr>
            </a:tbl>
          </a:graphicData>
        </a:graphic>
      </p:graphicFrame>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65 / 71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how do you know a load finished correctly?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The pass printed no errors. What proves it finished?</a:t>
            </a:r>
          </a:p>
          <a:p>
            <a:pPr>
              <a:spcAft>
                <a:spcPts val="900"/>
              </a:spcAft>
            </a:pPr>
            <a:r>
              <a:rPr sz="2000" b="0">
                <a:solidFill>
                  <a:srgbClr val="1C1C1A"/>
                </a:solidFill>
                <a:latin typeface="Calibri"/>
              </a:rPr>
              <a:t>a) The absence of a traceback</a:t>
            </a:r>
          </a:p>
          <a:p>
            <a:pPr>
              <a:spcAft>
                <a:spcPts val="900"/>
              </a:spcAft>
            </a:pPr>
            <a:r>
              <a:rPr sz="2000" b="0">
                <a:solidFill>
                  <a:srgbClr val="1C1C1A"/>
                </a:solidFill>
                <a:latin typeface="Calibri"/>
              </a:rPr>
              <a:t>b) The clean file exists on disk</a:t>
            </a:r>
          </a:p>
          <a:p>
            <a:pPr>
              <a:spcAft>
                <a:spcPts val="900"/>
              </a:spcAft>
            </a:pPr>
            <a:r>
              <a:rPr sz="2000" b="0">
                <a:solidFill>
                  <a:srgbClr val="1C1C1A"/>
                </a:solidFill>
                <a:latin typeface="Calibri"/>
              </a:rPr>
              <a:t>c) Input equals clean plus rejected, asserted, and both files reopened</a:t>
            </a:r>
          </a:p>
          <a:p>
            <a:pPr>
              <a:spcAft>
                <a:spcPts val="900"/>
              </a:spcAft>
            </a:pPr>
            <a:r>
              <a:rPr sz="2000" b="0">
                <a:solidFill>
                  <a:srgbClr val="1C1C1A"/>
                </a:solidFill>
                <a:latin typeface="Calibri"/>
              </a:rPr>
              <a:t>d) The row count of the clean file looks about right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66 / 71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S34a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reconcile, then reopen both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Reconcile as an assertion rather than by eye, then reopen both output files and count the rows, because writing is not finishing.</a:t>
            </a:r>
          </a:p>
        </p:txBody>
      </p:sp>
      <p:graphicFrame>
        <p:nvGraphicFramePr>
          <p:cNvPr id="9" name="Table 8"/>
          <p:cNvGraphicFramePr>
            <a:graphicFrameLocks noGrp="1"/>
          </p:cNvGraphicFramePr>
          <p:nvPr/>
        </p:nvGraphicFramePr>
        <p:xfrm>
          <a:off x="685800" y="2757424"/>
          <a:ext cx="10820095" cy="180746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387096">
                <a:tc>
                  <a:txBody>
                    <a:bodyPr/>
                    <a:lstStyle/>
                    <a:p>
                      <a:r>
                        <a:rPr sz="1500" b="0">
                          <a:solidFill>
                            <a:srgbClr val="1C1C1A"/>
                          </a:solidFill>
                          <a:latin typeface="Calibri"/>
                        </a:rPr>
                        <a:t>a) No traceback</a:t>
                      </a:r>
                    </a:p>
                  </a:txBody>
                  <a:tcPr marL="101600" marR="101600" marT="38100" marB="38100" anchor="ctr">
                    <a:solidFill>
                      <a:srgbClr val="FFFFFF"/>
                    </a:solidFill>
                  </a:tcPr>
                </a:tc>
                <a:tc>
                  <a:txBody>
                    <a:bodyPr/>
                    <a:lstStyle/>
                    <a:p>
                      <a:r>
                        <a:rPr sz="1500" b="0">
                          <a:solidFill>
                            <a:srgbClr val="1C1C1A"/>
                          </a:solidFill>
                          <a:latin typeface="Calibri"/>
                        </a:rPr>
                        <a:t>A bare except guarantees no traceback and proves nothing.</a:t>
                      </a:r>
                    </a:p>
                  </a:txBody>
                  <a:tcPr marL="101600" marR="101600" marT="38100" marB="38100" anchor="ctr">
                    <a:solidFill>
                      <a:srgbClr val="FFFFFF"/>
                    </a:solidFill>
                  </a:tcPr>
                </a:tc>
              </a:tr>
              <a:tr h="387096">
                <a:tc>
                  <a:txBody>
                    <a:bodyPr/>
                    <a:lstStyle/>
                    <a:p>
                      <a:r>
                        <a:rPr sz="1500" b="0">
                          <a:solidFill>
                            <a:srgbClr val="1C1C1A"/>
                          </a:solidFill>
                          <a:latin typeface="Calibri"/>
                        </a:rPr>
                        <a:t>b) The file exists</a:t>
                      </a:r>
                    </a:p>
                  </a:txBody>
                  <a:tcPr marL="101600" marR="101600" marT="38100" marB="38100" anchor="ctr">
                    <a:solidFill>
                      <a:srgbClr val="F7F7F5"/>
                    </a:solidFill>
                  </a:tcPr>
                </a:tc>
                <a:tc>
                  <a:txBody>
                    <a:bodyPr/>
                    <a:lstStyle/>
                    <a:p>
                      <a:r>
                        <a:rPr sz="1500" b="0">
                          <a:solidFill>
                            <a:srgbClr val="1C1C1A"/>
                          </a:solidFill>
                          <a:latin typeface="Calibri"/>
                        </a:rPr>
                        <a:t>An empty file exists. So does a half-written one.</a:t>
                      </a:r>
                    </a:p>
                  </a:txBody>
                  <a:tcPr marL="101600" marR="101600" marT="38100" marB="38100" anchor="ctr">
                    <a:solidFill>
                      <a:srgbClr val="F7F7F5"/>
                    </a:solidFill>
                  </a:tcPr>
                </a:tc>
              </a:tr>
              <a:tr h="646176">
                <a:tc>
                  <a:txBody>
                    <a:bodyPr/>
                    <a:lstStyle/>
                    <a:p>
                      <a:r>
                        <a:rPr sz="1500" b="0">
                          <a:solidFill>
                            <a:srgbClr val="1C1C1A"/>
                          </a:solidFill>
                          <a:latin typeface="Calibri"/>
                        </a:rPr>
                        <a:t>d) About right</a:t>
                      </a:r>
                    </a:p>
                  </a:txBody>
                  <a:tcPr marL="101600" marR="101600" marT="38100" marB="38100" anchor="ctr">
                    <a:solidFill>
                      <a:srgbClr val="FFFFFF"/>
                    </a:solidFill>
                  </a:tcPr>
                </a:tc>
                <a:tc>
                  <a:txBody>
                    <a:bodyPr/>
                    <a:lstStyle/>
                    <a:p>
                      <a:r>
                        <a:rPr sz="1500" b="0">
                          <a:solidFill>
                            <a:srgbClr val="1C1C1A"/>
                          </a:solidFill>
                          <a:latin typeface="Calibri"/>
                        </a:rPr>
                        <a:t>About right is how every wrong number in this business has travelled.</a:t>
                      </a:r>
                    </a:p>
                  </a:txBody>
                  <a:tcPr marL="101600" marR="101600" marT="38100" marB="38100" anchor="ctr">
                    <a:solidFill>
                      <a:srgbClr val="FFFFFF"/>
                    </a:solidFill>
                  </a:tcPr>
                </a:tc>
              </a:tr>
            </a:tbl>
          </a:graphicData>
        </a:graphic>
      </p:graphicFrame>
      <p:sp>
        <p:nvSpPr>
          <p:cNvPr id="10" name="TextBox 9"/>
          <p:cNvSpPr txBox="1"/>
          <p:nvPr/>
        </p:nvSpPr>
        <p:spPr>
          <a:xfrm>
            <a:off x="685800" y="482092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A row count on its own is not enough either, since a short row in a CSV becomes a dictionary with a missing key rather than an error.</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67 / 71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S35</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Question: a file arrives with a renamed header?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a:spAutoFit/>
          </a:bodyPr>
          <a:lstStyle/>
          <a:p>
            <a:pPr>
              <a:spcAft>
                <a:spcPts val="900"/>
              </a:spcAft>
            </a:pPr>
            <a:r>
              <a:rPr sz="2000" b="0">
                <a:solidFill>
                  <a:srgbClr val="1C1C1A"/>
                </a:solidFill>
                <a:latin typeface="Calibri"/>
              </a:rPr>
              <a:t>Your code reads by name. The vendor renames one column. What happens?</a:t>
            </a:r>
          </a:p>
          <a:p>
            <a:pPr>
              <a:spcAft>
                <a:spcPts val="900"/>
              </a:spcAft>
            </a:pPr>
            <a:r>
              <a:rPr sz="2000" b="0">
                <a:solidFill>
                  <a:srgbClr val="1C1C1A"/>
                </a:solidFill>
                <a:latin typeface="Calibri"/>
              </a:rPr>
              <a:t>a) KeyError, loudly, on the first lookup</a:t>
            </a:r>
          </a:p>
          <a:p>
            <a:pPr>
              <a:spcAft>
                <a:spcPts val="900"/>
              </a:spcAft>
            </a:pPr>
            <a:r>
              <a:rPr sz="2000" b="0">
                <a:solidFill>
                  <a:srgbClr val="1C1C1A"/>
                </a:solidFill>
                <a:latin typeface="Calibri"/>
              </a:rPr>
              <a:t>b) The column is silently dropped</a:t>
            </a:r>
          </a:p>
          <a:p>
            <a:pPr>
              <a:spcAft>
                <a:spcPts val="900"/>
              </a:spcAft>
            </a:pPr>
            <a:r>
              <a:rPr sz="2000" b="0">
                <a:solidFill>
                  <a:srgbClr val="1C1C1A"/>
                </a:solidFill>
                <a:latin typeface="Calibri"/>
              </a:rPr>
              <a:t>c) The values shift one column left</a:t>
            </a:r>
          </a:p>
          <a:p>
            <a:pPr>
              <a:spcAft>
                <a:spcPts val="900"/>
              </a:spcAft>
            </a:pPr>
            <a:r>
              <a:rPr sz="2000" b="0">
                <a:solidFill>
                  <a:srgbClr val="1C1C1A"/>
                </a:solidFill>
                <a:latin typeface="Calibri"/>
              </a:rPr>
              <a:t>d) Nothing, since order is what matters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68 / 71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S35a</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2300" b="1">
                <a:solidFill>
                  <a:srgbClr val="1C1C1A"/>
                </a:solidFill>
                <a:latin typeface="Calibri"/>
              </a:rPr>
              <a:t>Answer: KeyError, and that is the good case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96520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9652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818896"/>
          </a:xfrm>
          <a:prstGeom prst="rect">
            <a:avLst/>
          </a:prstGeom>
          <a:noFill/>
        </p:spPr>
        <p:txBody>
          <a:bodyPr wrap="square" anchor="ctr">
            <a:spAutoFit/>
          </a:bodyPr>
          <a:lstStyle/>
          <a:p>
            <a:r>
              <a:rPr sz="2000" b="1">
                <a:solidFill>
                  <a:srgbClr val="2B4A7D"/>
                </a:solidFill>
                <a:latin typeface="Calibri"/>
              </a:rPr>
              <a:t>The claim. </a:t>
            </a:r>
            <a:r>
              <a:rPr sz="2000" b="0">
                <a:solidFill>
                  <a:srgbClr val="1C1C1A"/>
                </a:solidFill>
                <a:latin typeface="Calibri"/>
              </a:rPr>
              <a:t>Every lookup by that name raises KeyError, which is the loud failure and the good case.</a:t>
            </a:r>
          </a:p>
        </p:txBody>
      </p:sp>
      <p:graphicFrame>
        <p:nvGraphicFramePr>
          <p:cNvPr id="9" name="Table 8"/>
          <p:cNvGraphicFramePr>
            <a:graphicFrameLocks noGrp="1"/>
          </p:cNvGraphicFramePr>
          <p:nvPr/>
        </p:nvGraphicFramePr>
        <p:xfrm>
          <a:off x="685800" y="2757424"/>
          <a:ext cx="10820095" cy="2066544"/>
        </p:xfrm>
        <a:graphic>
          <a:graphicData uri="http://schemas.openxmlformats.org/drawingml/2006/table">
            <a:tbl>
              <a:tblPr firstRow="0" bandRow="0">
                <a:tableStyleId>{2D5ABB26-0587-4C30-8999-92F81FD0307C}</a:tableStyleId>
              </a:tblPr>
              <a:tblGrid>
                <a:gridCol w="5410047"/>
                <a:gridCol w="5410048"/>
              </a:tblGrid>
              <a:tr h="387096">
                <a:tc>
                  <a:txBody>
                    <a:bodyPr/>
                    <a:lstStyle/>
                    <a:p>
                      <a:r>
                        <a:rPr sz="1600" b="1">
                          <a:solidFill>
                            <a:srgbClr val="FFFFFF"/>
                          </a:solidFill>
                          <a:latin typeface="Calibri"/>
                        </a:rPr>
                        <a:t>Option</a:t>
                      </a:r>
                    </a:p>
                  </a:txBody>
                  <a:tcPr marL="101600" marR="101600" marT="38100" marB="38100" anchor="ctr">
                    <a:solidFill>
                      <a:srgbClr val="2B4A7D"/>
                    </a:solidFill>
                  </a:tcPr>
                </a:tc>
                <a:tc>
                  <a:txBody>
                    <a:bodyPr/>
                    <a:lstStyle/>
                    <a:p>
                      <a:r>
                        <a:rPr sz="1600" b="1">
                          <a:solidFill>
                            <a:srgbClr val="FFFFFF"/>
                          </a:solidFill>
                          <a:latin typeface="Calibri"/>
                        </a:rPr>
                        <a:t>Why it does not hold</a:t>
                      </a:r>
                    </a:p>
                  </a:txBody>
                  <a:tcPr marL="101600" marR="101600" marT="38100" marB="38100" anchor="ctr">
                    <a:solidFill>
                      <a:srgbClr val="2B4A7D"/>
                    </a:solidFill>
                  </a:tcPr>
                </a:tc>
              </a:tr>
              <a:tr h="646176">
                <a:tc>
                  <a:txBody>
                    <a:bodyPr/>
                    <a:lstStyle/>
                    <a:p>
                      <a:r>
                        <a:rPr sz="1500" b="0">
                          <a:solidFill>
                            <a:srgbClr val="1C1C1A"/>
                          </a:solidFill>
                          <a:latin typeface="Calibri"/>
                        </a:rPr>
                        <a:t>b) Silently dropped</a:t>
                      </a:r>
                    </a:p>
                  </a:txBody>
                  <a:tcPr marL="101600" marR="101600" marT="38100" marB="38100" anchor="ctr">
                    <a:solidFill>
                      <a:srgbClr val="FFFFFF"/>
                    </a:solidFill>
                  </a:tcPr>
                </a:tc>
                <a:tc>
                  <a:txBody>
                    <a:bodyPr/>
                    <a:lstStyle/>
                    <a:p>
                      <a:r>
                        <a:rPr sz="1500" b="0">
                          <a:solidFill>
                            <a:srgbClr val="1C1C1A"/>
                          </a:solidFill>
                          <a:latin typeface="Calibri"/>
                        </a:rPr>
                        <a:t>That is what a permissive reader would do, and it is the outcome to avoid.</a:t>
                      </a:r>
                    </a:p>
                  </a:txBody>
                  <a:tcPr marL="101600" marR="101600" marT="38100" marB="38100" anchor="ctr">
                    <a:solidFill>
                      <a:srgbClr val="FFFFFF"/>
                    </a:solidFill>
                  </a:tcPr>
                </a:tc>
              </a:tr>
              <a:tr h="646176">
                <a:tc>
                  <a:txBody>
                    <a:bodyPr/>
                    <a:lstStyle/>
                    <a:p>
                      <a:r>
                        <a:rPr sz="1500" b="0">
                          <a:solidFill>
                            <a:srgbClr val="1C1C1A"/>
                          </a:solidFill>
                          <a:latin typeface="Calibri"/>
                        </a:rPr>
                        <a:t>c) Values shift</a:t>
                      </a:r>
                    </a:p>
                  </a:txBody>
                  <a:tcPr marL="101600" marR="101600" marT="38100" marB="38100" anchor="ctr">
                    <a:solidFill>
                      <a:srgbClr val="F7F7F5"/>
                    </a:solidFill>
                  </a:tcPr>
                </a:tc>
                <a:tc>
                  <a:txBody>
                    <a:bodyPr/>
                    <a:lstStyle/>
                    <a:p>
                      <a:r>
                        <a:rPr sz="1500" b="0">
                          <a:solidFill>
                            <a:srgbClr val="1C1C1A"/>
                          </a:solidFill>
                          <a:latin typeface="Calibri"/>
                        </a:rPr>
                        <a:t>That is what reading by position does, and it never complains.</a:t>
                      </a:r>
                    </a:p>
                  </a:txBody>
                  <a:tcPr marL="101600" marR="101600" marT="38100" marB="38100" anchor="ctr">
                    <a:solidFill>
                      <a:srgbClr val="F7F7F5"/>
                    </a:solidFill>
                  </a:tcPr>
                </a:tc>
              </a:tr>
              <a:tr h="387096">
                <a:tc>
                  <a:txBody>
                    <a:bodyPr/>
                    <a:lstStyle/>
                    <a:p>
                      <a:r>
                        <a:rPr sz="1500" b="0">
                          <a:solidFill>
                            <a:srgbClr val="1C1C1A"/>
                          </a:solidFill>
                          <a:latin typeface="Calibri"/>
                        </a:rPr>
                        <a:t>d) Order matters</a:t>
                      </a:r>
                    </a:p>
                  </a:txBody>
                  <a:tcPr marL="101600" marR="101600" marT="38100" marB="38100" anchor="ctr">
                    <a:solidFill>
                      <a:srgbClr val="FFFFFF"/>
                    </a:solidFill>
                  </a:tcPr>
                </a:tc>
                <a:tc>
                  <a:txBody>
                    <a:bodyPr/>
                    <a:lstStyle/>
                    <a:p>
                      <a:r>
                        <a:rPr sz="1500" b="0">
                          <a:solidFill>
                            <a:srgbClr val="1C1C1A"/>
                          </a:solidFill>
                          <a:latin typeface="Calibri"/>
                        </a:rPr>
                        <a:t>Order is exactly what you refuse to depend on.</a:t>
                      </a:r>
                    </a:p>
                  </a:txBody>
                  <a:tcPr marL="101600" marR="101600" marT="38100" marB="38100" anchor="ctr">
                    <a:solidFill>
                      <a:srgbClr val="FFFFFF"/>
                    </a:solidFill>
                  </a:tcPr>
                </a:tc>
              </a:tr>
            </a:tbl>
          </a:graphicData>
        </a:graphic>
      </p:graphicFrame>
      <p:sp>
        <p:nvSpPr>
          <p:cNvPr id="10" name="TextBox 9"/>
          <p:cNvSpPr txBox="1"/>
          <p:nvPr/>
        </p:nvSpPr>
        <p:spPr>
          <a:xfrm>
            <a:off x="685800" y="5080000"/>
            <a:ext cx="10820095" cy="910336"/>
          </a:xfrm>
          <a:prstGeom prst="rect">
            <a:avLst/>
          </a:prstGeom>
          <a:noFill/>
        </p:spPr>
        <p:txBody>
          <a:bodyPr wrap="square" anchor="t">
            <a:spAutoFit/>
          </a:bodyPr>
          <a:lstStyle/>
          <a:p>
            <a:pPr>
              <a:spcAft>
                <a:spcPts val="900"/>
              </a:spcAft>
            </a:pPr>
            <a:r>
              <a:rPr sz="2000" b="0">
                <a:solidFill>
                  <a:srgbClr val="1C1C1A"/>
                </a:solidFill>
                <a:latin typeface="Calibri"/>
              </a:rPr>
              <a:t>The bad case is a header renamed to something your code also uses, or a column reordered, because reading by position would then read the wrong field and never complain.</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13" name="TextBox 12"/>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69 / 71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S36</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Crux, half two</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212592"/>
            <a:ext cx="10820095" cy="1255776"/>
          </a:xfrm>
          <a:prstGeom prst="rect">
            <a:avLst/>
          </a:prstGeom>
          <a:noFill/>
        </p:spPr>
        <p:txBody>
          <a:bodyPr wrap="square" anchor="t">
            <a:spAutoFit/>
          </a:bodyPr>
          <a:lstStyle/>
          <a:p>
            <a:pPr>
              <a:spcAft>
                <a:spcPts val="900"/>
              </a:spcAft>
            </a:pPr>
            <a:r>
              <a:rPr sz="2000" b="0">
                <a:solidFill>
                  <a:srgbClr val="1C1C1A"/>
                </a:solidFill>
                <a:latin typeface="Calibri"/>
              </a:rPr>
              <a:t>A file format is an agreement about structure, and everything a CSV agrees to is text. Your job at the boundary is to convert on purpose, reject with a reason, and hand on two files instead of one.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70 / 71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S37</a:t>
            </a:r>
          </a:p>
        </p:txBody>
      </p:sp>
      <p:sp>
        <p:nvSpPr>
          <p:cNvPr id="4" name="TextBox 3"/>
          <p:cNvSpPr txBox="1"/>
          <p:nvPr/>
        </p:nvSpPr>
        <p:spPr>
          <a:xfrm>
            <a:off x="1618488" y="493776"/>
            <a:ext cx="9704527" cy="786384"/>
          </a:xfrm>
          <a:prstGeom prst="rect">
            <a:avLst/>
          </a:prstGeom>
          <a:noFill/>
        </p:spPr>
        <p:txBody>
          <a:bodyPr wrap="square" anchor="ctr">
            <a:spAutoFit/>
          </a:bodyPr>
          <a:lstStyle/>
          <a:p>
            <a:r>
              <a:rPr sz="3000" b="1">
                <a:solidFill>
                  <a:srgbClr val="1C1C1A"/>
                </a:solidFill>
                <a:latin typeface="Calibri"/>
              </a:rPr>
              <a:t>Tomorrow</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3157728"/>
            <a:ext cx="10820095" cy="1365504"/>
          </a:xfrm>
          <a:prstGeom prst="rect">
            <a:avLst/>
          </a:prstGeom>
          <a:noFill/>
        </p:spPr>
        <p:txBody>
          <a:bodyPr wrap="square" anchor="t">
            <a:spAutoFit/>
          </a:bodyPr>
          <a:lstStyle/>
          <a:p>
            <a:pPr>
              <a:spcAft>
                <a:spcPts val="900"/>
              </a:spcAft>
            </a:pPr>
            <a:r>
              <a:rPr sz="2000" b="0">
                <a:solidFill>
                  <a:srgbClr val="1C1C1A"/>
                </a:solidFill>
                <a:latin typeface="Calibri"/>
              </a:rPr>
              <a:t>Today you cleaned one record at a time. Tomorrow you point these same functions at the whole dataset and find out how many usable records you actually have.</a:t>
            </a:r>
          </a:p>
          <a:p>
            <a:pPr>
              <a:spcAft>
                <a:spcPts val="900"/>
              </a:spcAft>
            </a:pPr>
            <a:r>
              <a:rPr sz="2000" b="0">
                <a:solidFill>
                  <a:srgbClr val="1C1C1A"/>
                </a:solidFill>
                <a:latin typeface="Calibri"/>
              </a:rPr>
              <a:t>The functions you carved today get called tomorrow without one edit.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a:spAutoFit/>
          </a:bodyPr>
          <a:lstStyle/>
          <a:p>
            <a:r>
              <a:rPr sz="1000">
                <a:solidFill>
                  <a:srgbClr val="5F6360"/>
                </a:solidFill>
                <a:latin typeface="Calibri"/>
              </a:rPr>
              <a:t>Week 1, Day 2. Half two: cross the file boundary</a:t>
            </a:r>
          </a:p>
        </p:txBody>
      </p:sp>
      <p:sp>
        <p:nvSpPr>
          <p:cNvPr id="9" name="TextBox 8"/>
          <p:cNvSpPr txBox="1"/>
          <p:nvPr/>
        </p:nvSpPr>
        <p:spPr>
          <a:xfrm>
            <a:off x="10408615" y="6391656"/>
            <a:ext cx="1097280" cy="292608"/>
          </a:xfrm>
          <a:prstGeom prst="rect">
            <a:avLst/>
          </a:prstGeom>
          <a:noFill/>
        </p:spPr>
        <p:txBody>
          <a:bodyPr wrap="square" anchor="t">
            <a:spAutoFit/>
          </a:bodyPr>
          <a:lstStyle/>
          <a:p>
            <a:pPr algn="r"/>
            <a:r>
              <a:rPr sz="1000">
                <a:solidFill>
                  <a:srgbClr val="5F6360"/>
                </a:solidFill>
                <a:latin typeface="Calibri"/>
              </a:rPr>
              <a:t>71 / 71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