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one minute. The morning climbed three rungs: the drop is real at 11.0 percent, the branch is</a:t>
            </a:r>
          </a:p>
          <a:p>
            <a:r>
              <a:t>orders per customer, and the room ran the segment split itself. The afternoon climbs rungs 4 and 5:</a:t>
            </a:r>
          </a:p>
          <a:p>
            <a:r>
              <a:t>mix against rate, then a hypothesis that Marketing attacks. From here on, the segment is named.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escalated case runs 60 minutes, unguided: 5 to brief, 50 working in</a:t>
            </a:r>
          </a:p>
          <a:p>
            <a:r>
              <a:t>notebooks/C2_W01_D02_04_escalated_case_STUDENT.ipynb, 5 to collect. The trainer does not teach</a:t>
            </a:r>
          </a:p>
          <a:p>
            <a:r>
              <a:t>during the block; the support TA answers environment problems only.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to brief. Meera's line here restates the case brief in her voice. The case brief in</a:t>
            </a:r>
          </a:p>
          <a:p>
            <a:r>
              <a:t>the exercises folder carries every part in full. Say only that the case is unguided and that the</a:t>
            </a:r>
          </a:p>
          <a:p>
            <a:r>
              <a:t>notebook's checks will tell each learner whether a number is right. Do not warn anyone about the</a:t>
            </a:r>
          </a:p>
          <a:p>
            <a:r>
              <a:t>helper.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Show the helper as the brief hands it over and move on. Kavya's line is the only</a:t>
            </a:r>
          </a:p>
          <a:p>
            <a:r>
              <a:t>hint the room gets. The debrief opens on what this function does to the summary.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shown with the brief. The same idea as the morning's weighted roll-up, turned the</a:t>
            </a:r>
          </a:p>
          <a:p>
            <a:r>
              <a:t>other way: a blend moves when its weights move, even if no part of it changed. Then release the</a:t>
            </a:r>
          </a:p>
          <a:p>
            <a:r>
              <a:t>room to the notebook for 50 minutes.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debrief runs 15 minutes. Use the room's own wrong answers where you heard them; name no</a:t>
            </a:r>
          </a:p>
          <a:p>
            <a:r>
              <a:t>learner. Each slide shows the wrong answer first and the check second.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Student gained 2 orders, which a bar chart of losses cannot show, so say it aloud:</a:t>
            </a:r>
          </a:p>
          <a:p>
            <a:r>
              <a:t>114 to 86 is Retail-Core minus 2, Retail-Plus minus 25, Business minus 3, Student plus 2.</a:t>
            </a:r>
          </a:p>
          <a:p>
            <a:r>
              <a:t>Retail-Plus is 25 of the 28 lost orders, 89 percent. In rupees, Business is Rs 22,29,720 of the</a:t>
            </a:r>
          </a:p>
          <a:p>
            <a:r>
              <a:t>Rs 23,00,000 fall because each Business order is worth lakhs. Both are true; the wrong answer is</a:t>
            </a:r>
          </a:p>
          <a:p>
            <a:r>
              <a:t>picking one lens and calling it the story. Consumer segments fell from Rs 2,28,820 to Rs 1,58,540.</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summary read "orders per customer fell in every segment, most in Business,</a:t>
            </a:r>
          </a:p>
          <a:p>
            <a:r>
              <a:t>15.0 percent". Two lines, "check by hand: -49.0%" and "check by hand: +40.0%", printed above it</a:t>
            </a:r>
          </a:p>
          <a:p>
            <a:r>
              <a:t>with no segment name, and nobody connected them. The decision it misleads: Business accounts</a:t>
            </a:r>
          </a:p>
          <a:p>
            <a:r>
              <a:t>opened first, and the head of Retail-Plus is told his tier is not in the table. The check: four</a:t>
            </a:r>
          </a:p>
          <a:p>
            <a:r>
              <a:t>segments in against two rows out, or None in changes.values(). The fix: return the change on every</a:t>
            </a:r>
          </a:p>
          <a:p>
            <a:r>
              <a:t>path and put the flag in a separate column. The comprehension is the colleague's code; the room</a:t>
            </a:r>
          </a:p>
          <a:p>
            <a:r>
              <a:t>reads it and does not need to write one.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Now the segment rows can be shown. Student's two customers rising to 3.50 pull</a:t>
            </a:r>
          </a:p>
          <a:p>
            <a:r>
              <a:t>the average up as much as Retail-Core's thirty-four. Retail-Plus is the segment the room found at</a:t>
            </a:r>
          </a:p>
          <a:p>
            <a:r>
              <a:t>the end of the morning; say so and credit the room.</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At Q2's order mix and Q1's per-segment revenue per order, revenue per order would</a:t>
            </a:r>
          </a:p>
          <a:p>
            <a:r>
              <a:t>have been Rs 2,07,112, so the mix alone explains Rs 22,902 of the Rs 33,231 rise. Business took a</a:t>
            </a:r>
          </a:p>
          <a:p>
            <a:r>
              <a:t>larger share of fewer orders and Retail-Plus a smaller one. Nobody has to have paid more for the</a:t>
            </a:r>
          </a:p>
          <a:p>
            <a:r>
              <a:t>average order to grow. Interview question 7 is this slide.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first line is Q1, the second Q2. Nobody left the tier; the whole distribution</a:t>
            </a:r>
          </a:p>
          <a:p>
            <a:r>
              <a:t>slid left. That shape matters for the second case: a cause that hit a few members would leave most</a:t>
            </a:r>
          </a:p>
          <a:p>
            <a:r>
              <a:t>of them where they were, and this one moved nearly all of them.</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then the break for 10 minutes. The honest read: in behaviour the fall is</a:t>
            </a:r>
          </a:p>
          <a:p>
            <a:r>
              <a:t>Retail-Plus, the same 22 members with 51 orders then 26; in rupees most of it is three fewer</a:t>
            </a:r>
          </a:p>
          <a:p>
            <a:r>
              <a:t>Business orders out of twenty, each worth lakhs, too few to call a trend today.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second case runs 45 minutes in pairs, in</a:t>
            </a:r>
          </a:p>
          <a:p>
            <a:r>
              <a:t>notebooks/C2_W01_D02_05_second_case_STUDENT.ipynb. Brief for 3 minutes, 35 in pairs, 7 to hear</a:t>
            </a:r>
          </a:p>
          <a:p>
            <a:r>
              <a:t>two pairs make their case.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Pairs split the roles once: one partner defends the numbers, the other plays</a:t>
            </a:r>
          </a:p>
          <a:p>
            <a:r>
              <a:t>Marketing. Switch halfway. The notebook carries four tests: overlap, share of the fall, timing and</a:t>
            </a:r>
          </a:p>
          <a:p>
            <a:r>
              <a:t>channel.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Marketing's pushback is a fair one: a flat count does not prove nobody left.</a:t>
            </a:r>
          </a:p>
          <a:p>
            <a:r>
              <a:t>Take letters, then run the overlap cell.</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answer is a. This is interview question 10: a flat count never proves no</a:t>
            </a:r>
          </a:p>
          <a:p>
            <a:r>
              <a:t>churn; the overlap of ids does. Marketing's second pushback comes next.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Pairs rehearse this reply aloud. The strength of evidence is part of the answer:</a:t>
            </a:r>
          </a:p>
          <a:p>
            <a:r>
              <a:t>a change carried by 22 people is harder to explain away than one carried by three orders, even</a:t>
            </a:r>
          </a:p>
          <a:p>
            <a:r>
              <a:t>when the rupees are smaller. Interview question 11 is this slide.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first line is Retail-Plus and the second Retail-Core. The timing test: a</a:t>
            </a:r>
          </a:p>
          <a:p>
            <a:r>
              <a:t>cause cannot come after its effect. The fall began in July, before the break the complaint dates,</a:t>
            </a:r>
          </a:p>
          <a:p>
            <a:r>
              <a:t>so the break cannot be the whole story. Whether it deepened the fall rests on eight orders, which</a:t>
            </a:r>
          </a:p>
          <a:p>
            <a:r>
              <a:t>is Thursday's kind of question. Hold questions about any single month for Wednesday, when the</a:t>
            </a:r>
          </a:p>
          <a:p>
            <a:r>
              <a:t>export is profiled row by row.</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channel test: where the cause should act, the effect should be largest.</a:t>
            </a:r>
          </a:p>
          <a:p>
            <a:r>
              <a:t>Web fell most. The reorder feature may still have hurt; the file cannot say how much, which is</a:t>
            </a:r>
          </a:p>
          <a:p>
            <a:r>
              <a:t>why the next slide asks for data.</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then two pairs present in 7 minutes. Listen for pairs who say "the cause is" and</a:t>
            </a:r>
          </a:p>
          <a:p>
            <a:r>
              <a:t>for pairs who say "the evidence would be". Only the second earns Meera's trust. Interview question</a:t>
            </a:r>
          </a:p>
          <a:p>
            <a:r>
              <a:t>12 is this slide.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drill runs 30 minutes. Ask each question aloud to a named pair, give them one breath to</a:t>
            </a:r>
          </a:p>
          <a:p>
            <a:r>
              <a:t>answer, then read the model answer from the notes. Tags: [S] staple asked everywhere, [F] frequent</a:t>
            </a:r>
          </a:p>
          <a:p>
            <a:r>
              <a:t>in GCC and product screens, [SV] service-major screen opener, [D] differentiator.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a:t>
            </a:r>
          </a:p>
          <a:p>
            <a:r>
              <a:t>1. Confirm the drop on matched windows, compare like with like, decompose into customers, orders</a:t>
            </a:r>
          </a:p>
          <a:p>
            <a:r>
              <a:t>per customer and revenue per order, isolate the segment, then name a hypothesis with the evidence</a:t>
            </a:r>
          </a:p>
          <a:p>
            <a:r>
              <a:t>that would settle it, timing first.</a:t>
            </a:r>
          </a:p>
          <a:p>
            <a:r>
              <a:t>2. Without the denominator nobody can check it, compare it or know how many cases it rests on:</a:t>
            </a:r>
          </a:p>
          <a:p>
            <a:r>
              <a:t>40 percent of five orders and of five thousand are different claims.</a:t>
            </a:r>
          </a:p>
          <a:p>
            <a:r>
              <a:t>3. The caller receives None, so the next step either crashes or silently drops that group, and</a:t>
            </a:r>
          </a:p>
          <a:p>
            <a:r>
              <a:t>the screen looked right the whole time.</a:t>
            </a:r>
          </a:p>
          <a:p>
            <a:r>
              <a:t>4. The window's length and dates, the metric's definition, and the population counted; compare</a:t>
            </a:r>
          </a:p>
          <a:p>
            <a:r>
              <a:t>closed quarters, or the same weeks of each.</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a:t>
            </a:r>
          </a:p>
          <a:p>
            <a:r>
              <a:t>5. Show the tree for both quarters, show that the same customers bought in both, agree in advance</a:t>
            </a:r>
          </a:p>
          <a:p>
            <a:r>
              <a:t>what evidence would change your mind, and propose a check before the spend rather than a refusal.</a:t>
            </a:r>
          </a:p>
          <a:p>
            <a:r>
              <a:t>6. Move one branch at a time in a bridge: customers at the old rates, then frequency at the old</a:t>
            </a:r>
          </a:p>
          <a:p>
            <a:r>
              <a:t>order value, then order value on the new orders, and check the moves sum to the change.</a:t>
            </a:r>
          </a:p>
          <a:p>
            <a:r>
              <a:t>7. Not necessarily: hold the segment mix still and recompute; here about 69 percent of the rise</a:t>
            </a:r>
          </a:p>
          <a:p>
            <a:r>
              <a:t>was mix, because small orders disappeared.</a:t>
            </a:r>
          </a:p>
          <a:p>
            <a:r>
              <a:t>8. No: absent is unknown; count the records without it, report them separately, write down the</a:t>
            </a:r>
          </a:p>
          <a:p>
            <a:r>
              <a:t>default and why, and bound how much it could matter.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a:t>
            </a:r>
          </a:p>
          <a:p>
            <a:r>
              <a:t>9. Each segment's rate carries its own customers as weight; total orders over total customers</a:t>
            </a:r>
          </a:p>
          <a:p>
            <a:r>
              <a:t>reproduces the company figure, and a plain average gives two customers the same vote as</a:t>
            </a:r>
          </a:p>
          <a:p>
            <a:r>
              <a:t>thirty-four.</a:t>
            </a:r>
          </a:p>
          <a:p>
            <a:r>
              <a:t>10. No: churn replaced by new customers keeps a count flat; compare the ids, lost and new.</a:t>
            </a:r>
          </a:p>
          <a:p>
            <a:r>
              <a:t>11. Both, each with what it rests on: the behaviour change covers a whole tier and is the stronger</a:t>
            </a:r>
          </a:p>
          <a:p>
            <a:r>
              <a:t>evidence; the rupee change rests on a few large orders and gets checked before anyone acts.</a:t>
            </a:r>
          </a:p>
          <a:p>
            <a:r>
              <a:t>12. Test timing first, then where the cause should act most, then name the data that would</a:t>
            </a:r>
          </a:p>
          <a:p>
            <a:r>
              <a:t>settle it and what result would disprove it.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close runs 20 minutes: Kahoot 10, the sentence and the crux lines 7, tomorrow's question 3.</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 Run the pack from the kahoot folder. Pause on any question below 60 percent</a:t>
            </a:r>
          </a:p>
          <a:p>
            <a:r>
              <a:t>correct and ask a learner who got it right to explain it.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it aloud once, slowly. Ask two learners to compare it with the sentence they</a:t>
            </a:r>
          </a:p>
          <a:p>
            <a:r>
              <a:t>wrote in the escalated case: which part did theirs miss? Most miss the caveat or the data to ask for.</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Read the seven lines aloud with the room. The small chain maps them onto the</a:t>
            </a:r>
          </a:p>
          <a:p>
            <a:r>
              <a:t>ladder: lines 1 and 2 prove the drop, 3 and 4 decompose it, 5 and 6 keep the roll-up honest, and</a:t>
            </a:r>
          </a:p>
          <a:p>
            <a:r>
              <a:t>7 names the cause.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Anand's line and stop. Do not predict the answer. Remind the room that every</a:t>
            </a:r>
          </a:p>
          <a:p>
            <a:r>
              <a:t>number today was on the export as it stands, and point to the take-home brief. The TA-led</a:t>
            </a:r>
          </a:p>
          <a:p>
            <a:r>
              <a:t>practice lab follows.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xml"/><Relationship Id="rId5" Type="http://schemas.openxmlformats.org/officeDocument/2006/relationships/image" Target="../media/image7.png"/><Relationship Id="rId6" Type="http://schemas.openxmlformats.org/officeDocument/2006/relationships/image" Target="../media/image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 Id="rId5" Type="http://schemas.openxmlformats.org/officeDocument/2006/relationships/image" Target="../media/image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xml"/><Relationship Id="rId5" Type="http://schemas.openxmlformats.org/officeDocument/2006/relationships/image" Target="../media/image1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 Id="rId5"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 Id="rId5" Type="http://schemas.openxmlformats.org/officeDocument/2006/relationships/image" Target="../media/image5.png"/><Relationship Id="rId6"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6.png"/><Relationship Id="rId5" Type="http://schemas.openxmlformats.org/officeDocument/2006/relationships/image" Target="../media/image13.png"/><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5.xml"/><Relationship Id="rId5" Type="http://schemas.openxmlformats.org/officeDocument/2006/relationships/image" Target="../media/image1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8.xml"/><Relationship Id="rId5" Type="http://schemas.openxmlformats.org/officeDocument/2006/relationships/image" Target="../media/image1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9.xml"/><Relationship Id="rId5" Type="http://schemas.openxmlformats.org/officeDocument/2006/relationships/image" Target="../media/image17.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4.png"/><Relationship Id="rId5" Type="http://schemas.openxmlformats.org/officeDocument/2006/relationships/image" Target="../media/image18.png"/><Relationship Id="rId6" Type="http://schemas.openxmlformats.org/officeDocument/2006/relationships/image" Target="../media/image5.png"/><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8.xml"/><Relationship Id="rId5" Type="http://schemas.openxmlformats.org/officeDocument/2006/relationships/image" Target="../media/image20.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9.xml"/><Relationship Id="rId5" Type="http://schemas.openxmlformats.org/officeDocument/2006/relationships/image" Target="../media/image2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385127"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1  ·  TUESDAY  ·  HALF TWO</a:t>
            </a:r>
          </a:p>
        </p:txBody>
      </p:sp>
      <p:sp>
        <p:nvSpPr>
          <p:cNvPr id="8" name="TextBox 7"/>
          <p:cNvSpPr txBox="1"/>
          <p:nvPr/>
        </p:nvSpPr>
        <p:spPr>
          <a:xfrm>
            <a:off x="621792" y="2807208"/>
            <a:ext cx="10582351" cy="663956"/>
          </a:xfrm>
          <a:prstGeom prst="rect">
            <a:avLst/>
          </a:prstGeom>
          <a:noFill/>
        </p:spPr>
        <p:txBody>
          <a:bodyPr wrap="square" anchor="t" lIns="0" rIns="0" tIns="0" bIns="0">
            <a:spAutoFit/>
          </a:bodyPr>
          <a:lstStyle/>
          <a:p>
            <a:pPr algn="l"/>
            <a:r>
              <a:rPr sz="3800" b="0" i="0">
                <a:solidFill>
                  <a:srgbClr val="FFFFFF"/>
                </a:solidFill>
                <a:latin typeface="Georgia"/>
              </a:rPr>
              <a:t>Mix, rate and the cause on trial</a:t>
            </a:r>
          </a:p>
        </p:txBody>
      </p:sp>
      <p:sp>
        <p:nvSpPr>
          <p:cNvPr id="9" name="TextBox 8"/>
          <p:cNvSpPr txBox="1"/>
          <p:nvPr/>
        </p:nvSpPr>
        <p:spPr>
          <a:xfrm>
            <a:off x="621792" y="3635756"/>
            <a:ext cx="10033711" cy="350266"/>
          </a:xfrm>
          <a:prstGeom prst="rect">
            <a:avLst/>
          </a:prstGeom>
          <a:noFill/>
        </p:spPr>
        <p:txBody>
          <a:bodyPr wrap="square" anchor="t" lIns="0" rIns="0" tIns="0" bIns="0">
            <a:spAutoFit/>
          </a:bodyPr>
          <a:lstStyle/>
          <a:p>
            <a:pPr algn="l"/>
            <a:r>
              <a:rPr sz="1900" b="0" i="1">
                <a:solidFill>
                  <a:srgbClr val="D9A7FF"/>
                </a:solidFill>
                <a:latin typeface="Georgia"/>
              </a:rPr>
              <a:t>“Marketing says more customers. Prove it or disprove it.”</a:t>
            </a:r>
          </a:p>
        </p:txBody>
      </p:sp>
      <p:sp>
        <p:nvSpPr>
          <p:cNvPr id="10" name="TextBox 9"/>
          <p:cNvSpPr txBox="1"/>
          <p:nvPr/>
        </p:nvSpPr>
        <p:spPr>
          <a:xfrm>
            <a:off x="621792" y="4040886"/>
            <a:ext cx="10033711" cy="218186"/>
          </a:xfrm>
          <a:prstGeom prst="rect">
            <a:avLst/>
          </a:prstGeom>
          <a:noFill/>
        </p:spPr>
        <p:txBody>
          <a:bodyPr wrap="square" anchor="t" lIns="0" rIns="0" tIns="0" bIns="0">
            <a:spAutoFit/>
          </a:bodyPr>
          <a:lstStyle/>
          <a:p>
            <a:pPr algn="l"/>
            <a:r>
              <a:rPr sz="1100" b="0" i="0">
                <a:solidFill>
                  <a:srgbClr val="CFC9EE"/>
                </a:solidFill>
                <a:latin typeface="Calibri"/>
              </a:rPr>
              <a:t>Meera Raghavan, CEO, Kalpa Retail, to the data and AI team at Kalpa's Global Capability Centre</a:t>
            </a:r>
          </a:p>
        </p:txBody>
      </p:sp>
      <p:sp>
        <p:nvSpPr>
          <p:cNvPr id="11" name="TextBox 10"/>
          <p:cNvSpPr txBox="1"/>
          <p:nvPr/>
        </p:nvSpPr>
        <p:spPr>
          <a:xfrm>
            <a:off x="62179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01</a:t>
            </a:r>
          </a:p>
        </p:txBody>
      </p:sp>
      <p:sp>
        <p:nvSpPr>
          <p:cNvPr id="12" name="TextBox 11"/>
          <p:cNvSpPr txBox="1"/>
          <p:nvPr/>
        </p:nvSpPr>
        <p:spPr>
          <a:xfrm>
            <a:off x="1005839" y="5248656"/>
            <a:ext cx="1247584" cy="185166"/>
          </a:xfrm>
          <a:prstGeom prst="rect">
            <a:avLst/>
          </a:prstGeom>
          <a:noFill/>
        </p:spPr>
        <p:txBody>
          <a:bodyPr wrap="square" anchor="t" lIns="0" rIns="0" tIns="0" bIns="0">
            <a:spAutoFit/>
          </a:bodyPr>
          <a:lstStyle/>
          <a:p>
            <a:pPr algn="l"/>
            <a:r>
              <a:rPr sz="900" b="0" i="0">
                <a:solidFill>
                  <a:srgbClr val="FFFFFF"/>
                </a:solidFill>
                <a:latin typeface="Calibri"/>
              </a:rPr>
              <a:t>The escalated case</a:t>
            </a:r>
          </a:p>
        </p:txBody>
      </p:sp>
      <p:sp>
        <p:nvSpPr>
          <p:cNvPr id="13" name="TextBox 12"/>
          <p:cNvSpPr txBox="1"/>
          <p:nvPr/>
        </p:nvSpPr>
        <p:spPr>
          <a:xfrm>
            <a:off x="2436304"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02</a:t>
            </a:r>
          </a:p>
        </p:txBody>
      </p:sp>
      <p:sp>
        <p:nvSpPr>
          <p:cNvPr id="14" name="TextBox 13"/>
          <p:cNvSpPr txBox="1"/>
          <p:nvPr/>
        </p:nvSpPr>
        <p:spPr>
          <a:xfrm>
            <a:off x="2820352" y="5248656"/>
            <a:ext cx="833532" cy="185166"/>
          </a:xfrm>
          <a:prstGeom prst="rect">
            <a:avLst/>
          </a:prstGeom>
          <a:noFill/>
        </p:spPr>
        <p:txBody>
          <a:bodyPr wrap="square" anchor="t" lIns="0" rIns="0" tIns="0" bIns="0">
            <a:spAutoFit/>
          </a:bodyPr>
          <a:lstStyle/>
          <a:p>
            <a:pPr algn="l"/>
            <a:r>
              <a:rPr sz="900" b="0" i="0">
                <a:solidFill>
                  <a:srgbClr val="FFFFFF"/>
                </a:solidFill>
                <a:latin typeface="Calibri"/>
              </a:rPr>
              <a:t>The debrief</a:t>
            </a:r>
          </a:p>
        </p:txBody>
      </p:sp>
      <p:sp>
        <p:nvSpPr>
          <p:cNvPr id="15" name="TextBox 14"/>
          <p:cNvSpPr txBox="1"/>
          <p:nvPr/>
        </p:nvSpPr>
        <p:spPr>
          <a:xfrm>
            <a:off x="3836765"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03</a:t>
            </a:r>
          </a:p>
        </p:txBody>
      </p:sp>
      <p:sp>
        <p:nvSpPr>
          <p:cNvPr id="16" name="TextBox 15"/>
          <p:cNvSpPr txBox="1"/>
          <p:nvPr/>
        </p:nvSpPr>
        <p:spPr>
          <a:xfrm>
            <a:off x="4220813" y="5248656"/>
            <a:ext cx="1070133" cy="185166"/>
          </a:xfrm>
          <a:prstGeom prst="rect">
            <a:avLst/>
          </a:prstGeom>
          <a:noFill/>
        </p:spPr>
        <p:txBody>
          <a:bodyPr wrap="square" anchor="t" lIns="0" rIns="0" tIns="0" bIns="0">
            <a:spAutoFit/>
          </a:bodyPr>
          <a:lstStyle/>
          <a:p>
            <a:pPr algn="l"/>
            <a:r>
              <a:rPr sz="900" b="0" i="0">
                <a:solidFill>
                  <a:srgbClr val="FFFFFF"/>
                </a:solidFill>
                <a:latin typeface="Calibri"/>
              </a:rPr>
              <a:t>The second case</a:t>
            </a:r>
          </a:p>
        </p:txBody>
      </p:sp>
      <p:sp>
        <p:nvSpPr>
          <p:cNvPr id="17" name="TextBox 16"/>
          <p:cNvSpPr txBox="1"/>
          <p:nvPr/>
        </p:nvSpPr>
        <p:spPr>
          <a:xfrm>
            <a:off x="5473826"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04</a:t>
            </a:r>
          </a:p>
        </p:txBody>
      </p:sp>
      <p:sp>
        <p:nvSpPr>
          <p:cNvPr id="18" name="TextBox 17"/>
          <p:cNvSpPr txBox="1"/>
          <p:nvPr/>
        </p:nvSpPr>
        <p:spPr>
          <a:xfrm>
            <a:off x="5857874" y="5248656"/>
            <a:ext cx="1306734" cy="185166"/>
          </a:xfrm>
          <a:prstGeom prst="rect">
            <a:avLst/>
          </a:prstGeom>
          <a:noFill/>
        </p:spPr>
        <p:txBody>
          <a:bodyPr wrap="square" anchor="t" lIns="0" rIns="0" tIns="0" bIns="0">
            <a:spAutoFit/>
          </a:bodyPr>
          <a:lstStyle/>
          <a:p>
            <a:pPr algn="l"/>
            <a:r>
              <a:rPr sz="900" b="0" i="0">
                <a:solidFill>
                  <a:srgbClr val="FFFFFF"/>
                </a:solidFill>
                <a:latin typeface="Calibri"/>
              </a:rPr>
              <a:t>The interview drill</a:t>
            </a:r>
          </a:p>
        </p:txBody>
      </p:sp>
      <p:sp>
        <p:nvSpPr>
          <p:cNvPr id="19" name="TextBox 18"/>
          <p:cNvSpPr txBox="1"/>
          <p:nvPr/>
        </p:nvSpPr>
        <p:spPr>
          <a:xfrm>
            <a:off x="7347489"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05</a:t>
            </a:r>
          </a:p>
        </p:txBody>
      </p:sp>
      <p:sp>
        <p:nvSpPr>
          <p:cNvPr id="20" name="TextBox 19"/>
          <p:cNvSpPr txBox="1"/>
          <p:nvPr/>
        </p:nvSpPr>
        <p:spPr>
          <a:xfrm>
            <a:off x="7731537" y="5248656"/>
            <a:ext cx="715232" cy="185166"/>
          </a:xfrm>
          <a:prstGeom prst="rect">
            <a:avLst/>
          </a:prstGeom>
          <a:noFill/>
        </p:spPr>
        <p:txBody>
          <a:bodyPr wrap="square" anchor="t" lIns="0" rIns="0" tIns="0" bIns="0">
            <a:spAutoFit/>
          </a:bodyPr>
          <a:lstStyle/>
          <a:p>
            <a:pPr algn="l"/>
            <a:r>
              <a:rPr sz="900" b="0" i="0">
                <a:solidFill>
                  <a:srgbClr val="FFFFFF"/>
                </a:solidFill>
                <a:latin typeface="Calibri"/>
              </a:rPr>
              <a:t>The close</a:t>
            </a:r>
          </a:p>
        </p:txBody>
      </p:sp>
      <p:sp>
        <p:nvSpPr>
          <p:cNvPr id="21" name="TextBox 20"/>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2. Mix, rate and the cause on trial</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29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escalated case</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Meera asks for the split by segment in rupees and in behaviour, and a colleague's helper comes with it.</a:t>
            </a:r>
          </a:p>
        </p:txBody>
      </p:sp>
      <p:sp>
        <p:nvSpPr>
          <p:cNvPr id="10" name="Rounded Rectangle 9"/>
          <p:cNvSpPr/>
          <p:nvPr/>
        </p:nvSpPr>
        <p:spPr>
          <a:xfrm>
            <a:off x="731519" y="5074920"/>
            <a:ext cx="143164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escalated case</a:t>
            </a:r>
          </a:p>
        </p:txBody>
      </p:sp>
      <p:sp>
        <p:nvSpPr>
          <p:cNvPr id="11" name="Rounded Rectangle 10"/>
          <p:cNvSpPr/>
          <p:nvPr/>
        </p:nvSpPr>
        <p:spPr>
          <a:xfrm>
            <a:off x="2272895" y="5074920"/>
            <a:ext cx="101713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debrief</a:t>
            </a:r>
          </a:p>
        </p:txBody>
      </p:sp>
      <p:sp>
        <p:nvSpPr>
          <p:cNvPr id="12" name="Rounded Rectangle 11"/>
          <p:cNvSpPr/>
          <p:nvPr/>
        </p:nvSpPr>
        <p:spPr>
          <a:xfrm>
            <a:off x="3399759" y="5074920"/>
            <a:ext cx="125399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second case</a:t>
            </a:r>
          </a:p>
        </p:txBody>
      </p:sp>
      <p:sp>
        <p:nvSpPr>
          <p:cNvPr id="13" name="Rounded Rectangle 12"/>
          <p:cNvSpPr/>
          <p:nvPr/>
        </p:nvSpPr>
        <p:spPr>
          <a:xfrm>
            <a:off x="4763486"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interview drill</a:t>
            </a:r>
          </a:p>
        </p:txBody>
      </p:sp>
      <p:sp>
        <p:nvSpPr>
          <p:cNvPr id="14" name="Rounded Rectangle 13"/>
          <p:cNvSpPr/>
          <p:nvPr/>
        </p:nvSpPr>
        <p:spPr>
          <a:xfrm>
            <a:off x="6364078" y="5074920"/>
            <a:ext cx="8987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close</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2: mix, rate and the cause</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 / 29</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Meera wants rupees and behaviour, per segment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Rung 4 asks whether revenue per order rose on price or on the mix of orders.</a:t>
            </a:r>
          </a:p>
        </p:txBody>
      </p:sp>
      <p:sp>
        <p:nvSpPr>
          <p:cNvPr id="9" name="Rounded Rectangle 8"/>
          <p:cNvSpPr/>
          <p:nvPr/>
        </p:nvSpPr>
        <p:spPr>
          <a:xfrm>
            <a:off x="530352" y="195681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890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39877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682752"/>
          </a:xfrm>
          <a:prstGeom prst="rect">
            <a:avLst/>
          </a:prstGeom>
          <a:noFill/>
        </p:spPr>
        <p:txBody>
          <a:bodyPr wrap="square" anchor="t" lIns="0" rIns="0" tIns="0" bIns="0">
            <a:spAutoFit/>
          </a:bodyPr>
          <a:lstStyle/>
          <a:p>
            <a:r>
              <a:rPr sz="1500" b="0" i="0">
                <a:solidFill>
                  <a:srgbClr val="FFFFFF"/>
                </a:solidFill>
                <a:latin typeface="Calibri"/>
              </a:rPr>
              <a:t>"You say frequency fell and order value rose. Show me which segments did it, in rupees and in orders, and tell me whether anyone is paying more."</a:t>
            </a:r>
          </a:p>
        </p:txBody>
      </p:sp>
      <p:sp>
        <p:nvSpPr>
          <p:cNvPr id="14" name="Rectangle 13"/>
          <p:cNvSpPr/>
          <p:nvPr/>
        </p:nvSpPr>
        <p:spPr>
          <a:xfrm>
            <a:off x="1853145" y="3810000"/>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530352" y="3243072"/>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PART 1</a:t>
            </a:r>
          </a:p>
        </p:txBody>
      </p:sp>
      <p:sp>
        <p:nvSpPr>
          <p:cNvPr id="16" name="Oval 15"/>
          <p:cNvSpPr/>
          <p:nvPr/>
        </p:nvSpPr>
        <p:spPr>
          <a:xfrm>
            <a:off x="1752561" y="371856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30352" y="4130040"/>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94944" y="4276344"/>
            <a:ext cx="2316403" cy="251205"/>
          </a:xfrm>
          <a:prstGeom prst="rect">
            <a:avLst/>
          </a:prstGeom>
          <a:noFill/>
        </p:spPr>
        <p:txBody>
          <a:bodyPr wrap="square" anchor="t" lIns="0" rIns="0" tIns="0" bIns="0">
            <a:spAutoFit/>
          </a:bodyPr>
          <a:lstStyle/>
          <a:p>
            <a:pPr algn="l"/>
            <a:r>
              <a:rPr sz="1300" b="1" i="0">
                <a:solidFill>
                  <a:srgbClr val="1A0F5C"/>
                </a:solidFill>
                <a:latin typeface="Calibri"/>
              </a:rPr>
              <a:t>The tree per segment</a:t>
            </a:r>
          </a:p>
        </p:txBody>
      </p:sp>
      <p:sp>
        <p:nvSpPr>
          <p:cNvPr id="19" name="TextBox 18"/>
          <p:cNvSpPr txBox="1"/>
          <p:nvPr/>
        </p:nvSpPr>
        <p:spPr>
          <a:xfrm>
            <a:off x="694944" y="4564126"/>
            <a:ext cx="2316403" cy="531876"/>
          </a:xfrm>
          <a:prstGeom prst="rect">
            <a:avLst/>
          </a:prstGeom>
          <a:noFill/>
        </p:spPr>
        <p:txBody>
          <a:bodyPr wrap="square" anchor="t" lIns="0" rIns="0" tIns="0" bIns="0">
            <a:spAutoFit/>
          </a:bodyPr>
          <a:lstStyle/>
          <a:p>
            <a:pPr algn="l"/>
            <a:r>
              <a:rPr sz="1000" b="0" i="0">
                <a:solidFill>
                  <a:srgbClr val="6B6690"/>
                </a:solidFill>
                <a:latin typeface="Calibri"/>
              </a:rPr>
              <a:t>Customers, orders per customer and revenue per order for four segments and two quarters.</a:t>
            </a:r>
          </a:p>
        </p:txBody>
      </p:sp>
      <p:sp>
        <p:nvSpPr>
          <p:cNvPr id="20" name="TextBox 19"/>
          <p:cNvSpPr txBox="1"/>
          <p:nvPr/>
        </p:nvSpPr>
        <p:spPr>
          <a:xfrm>
            <a:off x="3358819" y="3243072"/>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PART 2</a:t>
            </a:r>
          </a:p>
        </p:txBody>
      </p:sp>
      <p:sp>
        <p:nvSpPr>
          <p:cNvPr id="21" name="Oval 20"/>
          <p:cNvSpPr/>
          <p:nvPr/>
        </p:nvSpPr>
        <p:spPr>
          <a:xfrm>
            <a:off x="4581029" y="371856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3358819" y="4130040"/>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523411" y="4276344"/>
            <a:ext cx="2316403" cy="251205"/>
          </a:xfrm>
          <a:prstGeom prst="rect">
            <a:avLst/>
          </a:prstGeom>
          <a:noFill/>
        </p:spPr>
        <p:txBody>
          <a:bodyPr wrap="square" anchor="t" lIns="0" rIns="0" tIns="0" bIns="0">
            <a:spAutoFit/>
          </a:bodyPr>
          <a:lstStyle/>
          <a:p>
            <a:pPr algn="l"/>
            <a:r>
              <a:rPr sz="1300" b="1" i="0">
                <a:solidFill>
                  <a:srgbClr val="1A0F5C"/>
                </a:solidFill>
                <a:latin typeface="Calibri"/>
              </a:rPr>
              <a:t>Two bridges</a:t>
            </a:r>
          </a:p>
        </p:txBody>
      </p:sp>
      <p:sp>
        <p:nvSpPr>
          <p:cNvPr id="24" name="TextBox 23"/>
          <p:cNvSpPr txBox="1"/>
          <p:nvPr/>
        </p:nvSpPr>
        <p:spPr>
          <a:xfrm>
            <a:off x="3523411" y="4564126"/>
            <a:ext cx="2316403" cy="531876"/>
          </a:xfrm>
          <a:prstGeom prst="rect">
            <a:avLst/>
          </a:prstGeom>
          <a:noFill/>
        </p:spPr>
        <p:txBody>
          <a:bodyPr wrap="square" anchor="t" lIns="0" rIns="0" tIns="0" bIns="0">
            <a:spAutoFit/>
          </a:bodyPr>
          <a:lstStyle/>
          <a:p>
            <a:pPr algn="l"/>
            <a:r>
              <a:rPr sz="1000" b="0" i="0">
                <a:solidFill>
                  <a:srgbClr val="6B6690"/>
                </a:solidFill>
                <a:latin typeface="Calibri"/>
              </a:rPr>
              <a:t>Orders from 114 to 86, and rupees from Rs 2.10 crore to Rs 1.87 crore, segment by segment.</a:t>
            </a:r>
          </a:p>
        </p:txBody>
      </p:sp>
      <p:sp>
        <p:nvSpPr>
          <p:cNvPr id="25" name="TextBox 24"/>
          <p:cNvSpPr txBox="1"/>
          <p:nvPr/>
        </p:nvSpPr>
        <p:spPr>
          <a:xfrm>
            <a:off x="6187287" y="3243072"/>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PART 3</a:t>
            </a:r>
          </a:p>
        </p:txBody>
      </p:sp>
      <p:sp>
        <p:nvSpPr>
          <p:cNvPr id="26" name="Oval 25"/>
          <p:cNvSpPr/>
          <p:nvPr/>
        </p:nvSpPr>
        <p:spPr>
          <a:xfrm>
            <a:off x="7409497" y="371856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6187287" y="4130040"/>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351879" y="4276344"/>
            <a:ext cx="2316403" cy="251205"/>
          </a:xfrm>
          <a:prstGeom prst="rect">
            <a:avLst/>
          </a:prstGeom>
          <a:noFill/>
        </p:spPr>
        <p:txBody>
          <a:bodyPr wrap="square" anchor="t" lIns="0" rIns="0" tIns="0" bIns="0">
            <a:spAutoFit/>
          </a:bodyPr>
          <a:lstStyle/>
          <a:p>
            <a:pPr algn="l"/>
            <a:r>
              <a:rPr sz="1300" b="1" i="0">
                <a:solidFill>
                  <a:srgbClr val="1A0F5C"/>
                </a:solidFill>
                <a:latin typeface="Calibri"/>
              </a:rPr>
              <a:t>Mix against rate</a:t>
            </a:r>
          </a:p>
        </p:txBody>
      </p:sp>
      <p:sp>
        <p:nvSpPr>
          <p:cNvPr id="29" name="TextBox 28"/>
          <p:cNvSpPr txBox="1"/>
          <p:nvPr/>
        </p:nvSpPr>
        <p:spPr>
          <a:xfrm>
            <a:off x="6351879" y="4564126"/>
            <a:ext cx="2316403" cy="366776"/>
          </a:xfrm>
          <a:prstGeom prst="rect">
            <a:avLst/>
          </a:prstGeom>
          <a:noFill/>
        </p:spPr>
        <p:txBody>
          <a:bodyPr wrap="square" anchor="t" lIns="0" rIns="0" tIns="0" bIns="0">
            <a:spAutoFit/>
          </a:bodyPr>
          <a:lstStyle/>
          <a:p>
            <a:pPr algn="l"/>
            <a:r>
              <a:rPr sz="1000" b="0" i="0">
                <a:solidFill>
                  <a:srgbClr val="6B6690"/>
                </a:solidFill>
                <a:latin typeface="Calibri"/>
              </a:rPr>
              <a:t>Revenue per order at Q2's mix and Q1's per-segment rates.</a:t>
            </a:r>
          </a:p>
        </p:txBody>
      </p:sp>
      <p:sp>
        <p:nvSpPr>
          <p:cNvPr id="30" name="TextBox 29"/>
          <p:cNvSpPr txBox="1"/>
          <p:nvPr/>
        </p:nvSpPr>
        <p:spPr>
          <a:xfrm>
            <a:off x="9015755" y="3243072"/>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PART 4</a:t>
            </a:r>
          </a:p>
        </p:txBody>
      </p:sp>
      <p:sp>
        <p:nvSpPr>
          <p:cNvPr id="31" name="Oval 30"/>
          <p:cNvSpPr/>
          <p:nvPr/>
        </p:nvSpPr>
        <p:spPr>
          <a:xfrm>
            <a:off x="10237965" y="3718560"/>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9015755" y="4130040"/>
            <a:ext cx="2645587"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9180347" y="4276344"/>
            <a:ext cx="2316403" cy="251205"/>
          </a:xfrm>
          <a:prstGeom prst="rect">
            <a:avLst/>
          </a:prstGeom>
          <a:noFill/>
        </p:spPr>
        <p:txBody>
          <a:bodyPr wrap="square" anchor="t" lIns="0" rIns="0" tIns="0" bIns="0">
            <a:spAutoFit/>
          </a:bodyPr>
          <a:lstStyle/>
          <a:p>
            <a:pPr algn="l"/>
            <a:r>
              <a:rPr sz="1300" b="1" i="0">
                <a:solidFill>
                  <a:srgbClr val="FFFFFF"/>
                </a:solidFill>
                <a:latin typeface="Calibri"/>
              </a:rPr>
              <a:t>The summary</a:t>
            </a:r>
          </a:p>
        </p:txBody>
      </p:sp>
      <p:sp>
        <p:nvSpPr>
          <p:cNvPr id="34" name="TextBox 33"/>
          <p:cNvSpPr txBox="1"/>
          <p:nvPr/>
        </p:nvSpPr>
        <p:spPr>
          <a:xfrm>
            <a:off x="9180347" y="4564126"/>
            <a:ext cx="2316403" cy="531876"/>
          </a:xfrm>
          <a:prstGeom prst="rect">
            <a:avLst/>
          </a:prstGeom>
          <a:noFill/>
        </p:spPr>
        <p:txBody>
          <a:bodyPr wrap="square" anchor="t" lIns="0" rIns="0" tIns="0" bIns="0">
            <a:spAutoFit/>
          </a:bodyPr>
          <a:lstStyle/>
          <a:p>
            <a:pPr algn="l"/>
            <a:r>
              <a:rPr sz="1000" b="0" i="0">
                <a:solidFill>
                  <a:srgbClr val="CFC9EE"/>
                </a:solidFill>
                <a:latin typeface="Calibri"/>
              </a:rPr>
              <a:t>A percentage change per segment, using the helper a colleague left behind.</a:t>
            </a:r>
          </a:p>
        </p:txBody>
      </p:sp>
      <p:sp>
        <p:nvSpPr>
          <p:cNvPr id="35" name="Oval 3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The escalated case</a:t>
            </a:r>
          </a:p>
        </p:txBody>
      </p:sp>
      <p:sp>
        <p:nvSpPr>
          <p:cNvPr id="37" name="Oval 36"/>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39" name="Oval 38"/>
          <p:cNvSpPr/>
          <p:nvPr/>
        </p:nvSpPr>
        <p:spPr>
          <a:xfrm>
            <a:off x="281549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292522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41" name="Oval 40"/>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4090797"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43" name="Oval 42"/>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5440394"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45" name="TextBox 4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3 / 29</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colleague's helper from last quarter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It computed quarter-on-quarter change for the last review, and the brief says to reuse it.</a:t>
            </a:r>
          </a:p>
        </p:txBody>
      </p:sp>
      <p:sp>
        <p:nvSpPr>
          <p:cNvPr id="9" name="Rounded Rectangle 8"/>
          <p:cNvSpPr/>
          <p:nvPr/>
        </p:nvSpPr>
        <p:spPr>
          <a:xfrm>
            <a:off x="530352" y="1956816"/>
            <a:ext cx="11130991" cy="1972055"/>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569719"/>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def pct_change(before, after):</a:t>
            </a:r>
          </a:p>
          <a:p>
            <a:pPr>
              <a:spcAft>
                <a:spcPts val="200"/>
              </a:spcAft>
            </a:pPr>
            <a:r>
              <a:rPr sz="1400" b="0" i="0">
                <a:solidFill>
                  <a:srgbClr val="E4E1F1"/>
                </a:solidFill>
                <a:latin typeface="Consolas"/>
              </a:rPr>
              <a:t>    change = 100 * (after - before) / before</a:t>
            </a:r>
          </a:p>
          <a:p>
            <a:pPr>
              <a:spcAft>
                <a:spcPts val="200"/>
              </a:spcAft>
            </a:pPr>
            <a:r>
              <a:rPr sz="1400" b="0" i="0">
                <a:solidFill>
                  <a:srgbClr val="E4E1F1"/>
                </a:solidFill>
                <a:latin typeface="Consolas"/>
              </a:rPr>
              <a:t>    if abs(change) &gt; 30:</a:t>
            </a:r>
          </a:p>
          <a:p>
            <a:pPr>
              <a:spcAft>
                <a:spcPts val="200"/>
              </a:spcAft>
            </a:pPr>
            <a:r>
              <a:rPr sz="1400" b="0" i="0">
                <a:solidFill>
                  <a:srgbClr val="E4E1F1"/>
                </a:solidFill>
                <a:latin typeface="Consolas"/>
              </a:rPr>
              <a:t>        print(f"  check by hand: {change:+.1f}%")</a:t>
            </a:r>
          </a:p>
          <a:p>
            <a:pPr>
              <a:spcAft>
                <a:spcPts val="200"/>
              </a:spcAft>
            </a:pPr>
            <a:r>
              <a:rPr sz="1400" b="0" i="0">
                <a:solidFill>
                  <a:srgbClr val="E4E1F1"/>
                </a:solidFill>
                <a:latin typeface="Consolas"/>
              </a:rPr>
              <a:t>    else:</a:t>
            </a:r>
          </a:p>
          <a:p>
            <a:pPr>
              <a:spcAft>
                <a:spcPts val="200"/>
              </a:spcAft>
            </a:pPr>
            <a:r>
              <a:rPr sz="1400" b="0" i="0">
                <a:solidFill>
                  <a:srgbClr val="E4E1F1"/>
                </a:solidFill>
                <a:latin typeface="Consolas"/>
              </a:rPr>
              <a:t>        return round(change, 1)</a:t>
            </a:r>
          </a:p>
        </p:txBody>
      </p:sp>
      <p:sp>
        <p:nvSpPr>
          <p:cNvPr id="14" name="Rounded Rectangle 13"/>
          <p:cNvSpPr/>
          <p:nvPr/>
        </p:nvSpPr>
        <p:spPr>
          <a:xfrm>
            <a:off x="530352" y="4093463"/>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58952" y="4296155"/>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search-check_6571e64a041f.png"/>
          <p:cNvPicPr>
            <a:picLocks noChangeAspect="1"/>
          </p:cNvPicPr>
          <p:nvPr/>
        </p:nvPicPr>
        <p:blipFill>
          <a:blip r:embed="rId4"/>
          <a:stretch>
            <a:fillRect/>
          </a:stretch>
        </p:blipFill>
        <p:spPr>
          <a:xfrm>
            <a:off x="868680" y="4405883"/>
            <a:ext cx="237744" cy="237744"/>
          </a:xfrm>
          <a:prstGeom prst="rect">
            <a:avLst/>
          </a:prstGeom>
        </p:spPr>
      </p:pic>
      <p:sp>
        <p:nvSpPr>
          <p:cNvPr id="17" name="TextBox 16"/>
          <p:cNvSpPr txBox="1"/>
          <p:nvPr/>
        </p:nvSpPr>
        <p:spPr>
          <a:xfrm>
            <a:off x="1399031" y="4239767"/>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8" name="TextBox 17"/>
          <p:cNvSpPr txBox="1"/>
          <p:nvPr/>
        </p:nvSpPr>
        <p:spPr>
          <a:xfrm>
            <a:off x="1399031" y="4459223"/>
            <a:ext cx="9987991" cy="423672"/>
          </a:xfrm>
          <a:prstGeom prst="rect">
            <a:avLst/>
          </a:prstGeom>
          <a:noFill/>
        </p:spPr>
        <p:txBody>
          <a:bodyPr wrap="square" anchor="t" lIns="0" rIns="0" tIns="0" bIns="0">
            <a:spAutoFit/>
          </a:bodyPr>
          <a:lstStyle/>
          <a:p>
            <a:r>
              <a:rPr sz="1500" b="0" i="0">
                <a:solidFill>
                  <a:srgbClr val="1A1440"/>
                </a:solidFill>
                <a:latin typeface="Calibri"/>
              </a:rPr>
              <a:t>"Reuse is good. Know what a function hands back on every path before you trust its output."</a:t>
            </a:r>
          </a:p>
        </p:txBody>
      </p:sp>
      <p:sp>
        <p:nvSpPr>
          <p:cNvPr id="19" name="Oval 18"/>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The escalated case</a:t>
            </a:r>
          </a:p>
        </p:txBody>
      </p:sp>
      <p:sp>
        <p:nvSpPr>
          <p:cNvPr id="21" name="Oval 20"/>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23" name="Oval 22"/>
          <p:cNvSpPr/>
          <p:nvPr/>
        </p:nvSpPr>
        <p:spPr>
          <a:xfrm>
            <a:off x="281549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292522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25" name="Oval 24"/>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090797"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7" name="Oval 26"/>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5440394"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4 / 29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Revenue per order is a blend of segment rates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company's revenue per order is each segment's rate, weighted by its share of orders.</a:t>
            </a:r>
          </a:p>
        </p:txBody>
      </p:sp>
      <p:pic>
        <p:nvPicPr>
          <p:cNvPr id="9" name="mermaid diagram" descr="4d80b5ce6e26da86.png"/>
          <p:cNvPicPr>
            <a:picLocks noChangeAspect="1"/>
          </p:cNvPicPr>
          <p:nvPr/>
        </p:nvPicPr>
        <p:blipFill>
          <a:blip r:embed="rId6"/>
          <a:stretch>
            <a:fillRect/>
          </a:stretch>
        </p:blipFill>
        <p:spPr>
          <a:xfrm>
            <a:off x="1580997" y="1956816"/>
            <a:ext cx="9029700" cy="2300287"/>
          </a:xfrm>
          <a:prstGeom prst="rect">
            <a:avLst/>
          </a:prstGeom>
        </p:spPr>
      </p:pic>
      <p:sp>
        <p:nvSpPr>
          <p:cNvPr id="10" name="Rounded Rectangle 9"/>
          <p:cNvSpPr/>
          <p:nvPr/>
        </p:nvSpPr>
        <p:spPr>
          <a:xfrm>
            <a:off x="530352" y="4403407"/>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735639"/>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868680" y="4845367"/>
            <a:ext cx="237744" cy="237744"/>
          </a:xfrm>
          <a:prstGeom prst="rect">
            <a:avLst/>
          </a:prstGeom>
        </p:spPr>
      </p:pic>
      <p:sp>
        <p:nvSpPr>
          <p:cNvPr id="13" name="TextBox 12"/>
          <p:cNvSpPr txBox="1"/>
          <p:nvPr/>
        </p:nvSpPr>
        <p:spPr>
          <a:xfrm>
            <a:off x="1399031" y="4549711"/>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4769167"/>
            <a:ext cx="9987991" cy="682752"/>
          </a:xfrm>
          <a:prstGeom prst="rect">
            <a:avLst/>
          </a:prstGeom>
          <a:noFill/>
        </p:spPr>
        <p:txBody>
          <a:bodyPr wrap="square" anchor="t" lIns="0" rIns="0" tIns="0" bIns="0">
            <a:spAutoFit/>
          </a:bodyPr>
          <a:lstStyle/>
          <a:p>
            <a:r>
              <a:rPr sz="1500" b="0" i="0">
                <a:solidFill>
                  <a:srgbClr val="1A1440"/>
                </a:solidFill>
                <a:latin typeface="Calibri"/>
              </a:rPr>
              <a:t>Hold one part still and move the other: Q2's shares with Q1's rates isolates the mix, and what is left is the rate.</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The escalated case</a:t>
            </a:r>
          </a:p>
        </p:txBody>
      </p:sp>
      <p:sp>
        <p:nvSpPr>
          <p:cNvPr id="17" name="Oval 16"/>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19" name="Oval 18"/>
          <p:cNvSpPr/>
          <p:nvPr/>
        </p:nvSpPr>
        <p:spPr>
          <a:xfrm>
            <a:off x="281549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92522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21" name="Oval 20"/>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090797"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3" name="Oval 22"/>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440394"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5 / 29</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debrief</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Four wrong answers the room reached, each plausible, each with the check that catches it.</a:t>
            </a:r>
          </a:p>
        </p:txBody>
      </p:sp>
      <p:sp>
        <p:nvSpPr>
          <p:cNvPr id="10" name="Rounded Rectangle 9"/>
          <p:cNvSpPr/>
          <p:nvPr/>
        </p:nvSpPr>
        <p:spPr>
          <a:xfrm>
            <a:off x="731519"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escalated case</a:t>
            </a:r>
          </a:p>
        </p:txBody>
      </p:sp>
      <p:sp>
        <p:nvSpPr>
          <p:cNvPr id="11" name="Rounded Rectangle 10"/>
          <p:cNvSpPr/>
          <p:nvPr/>
        </p:nvSpPr>
        <p:spPr>
          <a:xfrm>
            <a:off x="2272895" y="5074920"/>
            <a:ext cx="101713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debrief</a:t>
            </a:r>
          </a:p>
        </p:txBody>
      </p:sp>
      <p:sp>
        <p:nvSpPr>
          <p:cNvPr id="12" name="Rounded Rectangle 11"/>
          <p:cNvSpPr/>
          <p:nvPr/>
        </p:nvSpPr>
        <p:spPr>
          <a:xfrm>
            <a:off x="3399759" y="5074920"/>
            <a:ext cx="125399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second case</a:t>
            </a:r>
          </a:p>
        </p:txBody>
      </p:sp>
      <p:sp>
        <p:nvSpPr>
          <p:cNvPr id="13" name="Rounded Rectangle 12"/>
          <p:cNvSpPr/>
          <p:nvPr/>
        </p:nvSpPr>
        <p:spPr>
          <a:xfrm>
            <a:off x="4763486"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interview drill</a:t>
            </a:r>
          </a:p>
        </p:txBody>
      </p:sp>
      <p:sp>
        <p:nvSpPr>
          <p:cNvPr id="14" name="Rounded Rectangle 13"/>
          <p:cNvSpPr/>
          <p:nvPr/>
        </p:nvSpPr>
        <p:spPr>
          <a:xfrm>
            <a:off x="6364078" y="5074920"/>
            <a:ext cx="8987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close</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2: mix, rate and the cause</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6 / 29</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Wrong answer 1: Business is the whole story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In rupees Business carries the fall; in orders Retail-Plus carries it.</a:t>
            </a:r>
          </a:p>
        </p:txBody>
      </p:sp>
      <p:pic>
        <p:nvPicPr>
          <p:cNvPr id="9" name="mermaid diagram" descr="6ef1c86c16d8cc02.png"/>
          <p:cNvPicPr>
            <a:picLocks noChangeAspect="1"/>
          </p:cNvPicPr>
          <p:nvPr/>
        </p:nvPicPr>
        <p:blipFill>
          <a:blip r:embed="rId5"/>
          <a:stretch>
            <a:fillRect/>
          </a:stretch>
        </p:blipFill>
        <p:spPr>
          <a:xfrm>
            <a:off x="2286863" y="1664208"/>
            <a:ext cx="7617968"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In rupees, Business is -Rs 22,29,720 of the Rs 23,00,000 fall, 97 percent of it on three fewer orders; Retail-Plus is -Rs 65,250, which is 93 percent of the consumer fall.</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3" name="Oval 12"/>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943671" y="6437376"/>
            <a:ext cx="780383" cy="152146"/>
          </a:xfrm>
          <a:prstGeom prst="rect">
            <a:avLst/>
          </a:prstGeom>
          <a:noFill/>
        </p:spPr>
        <p:txBody>
          <a:bodyPr wrap="square" anchor="t" lIns="0" rIns="0" tIns="0" bIns="0">
            <a:spAutoFit/>
          </a:bodyPr>
          <a:lstStyle/>
          <a:p>
            <a:pPr algn="l"/>
            <a:r>
              <a:rPr sz="700" b="1" i="0">
                <a:solidFill>
                  <a:srgbClr val="5B3FD6"/>
                </a:solidFill>
                <a:latin typeface="Calibri"/>
              </a:rPr>
              <a:t>The debrief</a:t>
            </a:r>
          </a:p>
        </p:txBody>
      </p:sp>
      <p:sp>
        <p:nvSpPr>
          <p:cNvPr id="15" name="Oval 14"/>
          <p:cNvSpPr/>
          <p:nvPr/>
        </p:nvSpPr>
        <p:spPr>
          <a:xfrm>
            <a:off x="281549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92522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17" name="Oval 16"/>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090797"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19" name="Oval 18"/>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440394"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7 / 29</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Wrong answer 2: two segments vanished from the summary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helper printed two changes and returned None for them, and the filter dropped both.</a:t>
            </a:r>
          </a:p>
        </p:txBody>
      </p:sp>
      <p:sp>
        <p:nvSpPr>
          <p:cNvPr id="9" name="Rounded Rectangle 8"/>
          <p:cNvSpPr/>
          <p:nvPr/>
        </p:nvSpPr>
        <p:spPr>
          <a:xfrm>
            <a:off x="530352" y="1956816"/>
            <a:ext cx="11130991" cy="1214627"/>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81229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changes = {seg: pct_change(q1[seg], q2[seg]) for seg in SEGMENTS}</a:t>
            </a:r>
          </a:p>
          <a:p>
            <a:pPr>
              <a:spcAft>
                <a:spcPts val="200"/>
              </a:spcAft>
            </a:pPr>
            <a:r>
              <a:rPr sz="1400" b="0" i="0">
                <a:solidFill>
                  <a:srgbClr val="E4E1F1"/>
                </a:solidFill>
                <a:latin typeface="Consolas"/>
              </a:rPr>
              <a:t>falls = {seg: ch for seg, ch in changes.items() if ch and ch &lt; 0}</a:t>
            </a:r>
          </a:p>
          <a:p>
            <a:pPr>
              <a:spcAft>
                <a:spcPts val="200"/>
              </a:spcAft>
            </a:pPr>
            <a:r>
              <a:rPr sz="1400" b="0" i="0">
                <a:solidFill>
                  <a:srgbClr val="E4E1F1"/>
                </a:solidFill>
                <a:latin typeface="Consolas"/>
              </a:rPr>
              <a:t>print(falls)    # {'Retail-Core': -5.3, 'Business': -15.0}</a:t>
            </a:r>
          </a:p>
        </p:txBody>
      </p:sp>
      <p:pic>
        <p:nvPicPr>
          <p:cNvPr id="14" name="mermaid diagram" descr="3bec39ac2ca0a938.png"/>
          <p:cNvPicPr>
            <a:picLocks noChangeAspect="1"/>
          </p:cNvPicPr>
          <p:nvPr/>
        </p:nvPicPr>
        <p:blipFill>
          <a:blip r:embed="rId5"/>
          <a:stretch>
            <a:fillRect/>
          </a:stretch>
        </p:blipFill>
        <p:spPr>
          <a:xfrm>
            <a:off x="2309660" y="3336036"/>
            <a:ext cx="7572375" cy="1128712"/>
          </a:xfrm>
          <a:prstGeom prst="rect">
            <a:avLst/>
          </a:prstGeom>
        </p:spPr>
      </p:pic>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7" name="Oval 16"/>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943671" y="6437376"/>
            <a:ext cx="780383" cy="152146"/>
          </a:xfrm>
          <a:prstGeom prst="rect">
            <a:avLst/>
          </a:prstGeom>
          <a:noFill/>
        </p:spPr>
        <p:txBody>
          <a:bodyPr wrap="square" anchor="t" lIns="0" rIns="0" tIns="0" bIns="0">
            <a:spAutoFit/>
          </a:bodyPr>
          <a:lstStyle/>
          <a:p>
            <a:pPr algn="l"/>
            <a:r>
              <a:rPr sz="700" b="1" i="0">
                <a:solidFill>
                  <a:srgbClr val="5B3FD6"/>
                </a:solidFill>
                <a:latin typeface="Calibri"/>
              </a:rPr>
              <a:t>The debrief</a:t>
            </a:r>
          </a:p>
        </p:txBody>
      </p:sp>
      <p:sp>
        <p:nvSpPr>
          <p:cNvPr id="19" name="Oval 18"/>
          <p:cNvSpPr/>
          <p:nvPr/>
        </p:nvSpPr>
        <p:spPr>
          <a:xfrm>
            <a:off x="281549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92522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21" name="Oval 20"/>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090797"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3" name="Oval 22"/>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440394"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8 / 29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Wrong answer 3: frequency fell only 6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Averaged averages hide one tier that halved its orders per member.</a:t>
            </a:r>
          </a:p>
        </p:txBody>
      </p:sp>
      <p:graphicFrame>
        <p:nvGraphicFramePr>
          <p:cNvPr id="9" name="Table 8"/>
          <p:cNvGraphicFramePr>
            <a:graphicFrameLocks noGrp="1"/>
          </p:cNvGraphicFramePr>
          <p:nvPr/>
        </p:nvGraphicFramePr>
        <p:xfrm>
          <a:off x="530352" y="1956816"/>
          <a:ext cx="11130989" cy="2011680"/>
        </p:xfrm>
        <a:graphic>
          <a:graphicData uri="http://schemas.openxmlformats.org/drawingml/2006/table">
            <a:tbl>
              <a:tblPr firstRow="0" bandRow="0">
                <a:tableStyleId>{2D5ABB26-0587-4C30-8999-92F81FD0307C}</a:tableStyleId>
              </a:tblPr>
              <a:tblGrid>
                <a:gridCol w="2301833"/>
                <a:gridCol w="1875962"/>
                <a:gridCol w="3019397"/>
                <a:gridCol w="3019397"/>
                <a:gridCol w="914400"/>
              </a:tblGrid>
              <a:tr h="335280">
                <a:tc>
                  <a:txBody>
                    <a:bodyPr/>
                    <a:lstStyle/>
                    <a:p>
                      <a:r>
                        <a:rPr sz="1250" b="1" i="0">
                          <a:solidFill>
                            <a:srgbClr val="FFFFFF"/>
                          </a:solidFill>
                          <a:latin typeface="Calibri"/>
                        </a:rPr>
                        <a:t>Segment</a:t>
                      </a:r>
                    </a:p>
                  </a:txBody>
                  <a:tcPr marL="101600" marR="101600" marT="38100" marB="38100" anchor="ctr">
                    <a:solidFill>
                      <a:srgbClr val="1A0F5C"/>
                    </a:solidFill>
                  </a:tcPr>
                </a:tc>
                <a:tc>
                  <a:txBody>
                    <a:bodyPr/>
                    <a:lstStyle/>
                    <a:p>
                      <a:r>
                        <a:rPr sz="1250" b="1" i="0">
                          <a:solidFill>
                            <a:srgbClr val="FFFFFF"/>
                          </a:solidFill>
                          <a:latin typeface="Calibri"/>
                        </a:rPr>
                        <a:t>Customers</a:t>
                      </a:r>
                    </a:p>
                  </a:txBody>
                  <a:tcPr marL="101600" marR="101600" marT="38100" marB="38100" anchor="ctr">
                    <a:solidFill>
                      <a:srgbClr val="1A0F5C"/>
                    </a:solidFill>
                  </a:tcPr>
                </a:tc>
                <a:tc>
                  <a:txBody>
                    <a:bodyPr/>
                    <a:lstStyle/>
                    <a:p>
                      <a:r>
                        <a:rPr sz="1250" b="1" i="0">
                          <a:solidFill>
                            <a:srgbClr val="FFFFFF"/>
                          </a:solidFill>
                          <a:latin typeface="Calibri"/>
                        </a:rPr>
                        <a:t>Per customer, Q1</a:t>
                      </a:r>
                    </a:p>
                  </a:txBody>
                  <a:tcPr marL="101600" marR="101600" marT="38100" marB="38100" anchor="ctr">
                    <a:solidFill>
                      <a:srgbClr val="1A0F5C"/>
                    </a:solidFill>
                  </a:tcPr>
                </a:tc>
                <a:tc>
                  <a:txBody>
                    <a:bodyPr/>
                    <a:lstStyle/>
                    <a:p>
                      <a:r>
                        <a:rPr sz="1250" b="1" i="0">
                          <a:solidFill>
                            <a:srgbClr val="FFFFFF"/>
                          </a:solidFill>
                          <a:latin typeface="Calibri"/>
                        </a:rPr>
                        <a:t>Per customer, Q2</a:t>
                      </a:r>
                    </a:p>
                  </a:txBody>
                  <a:tcPr marL="101600" marR="101600" marT="38100" marB="38100" anchor="ctr">
                    <a:solidFill>
                      <a:srgbClr val="1A0F5C"/>
                    </a:solidFill>
                  </a:tcPr>
                </a:tc>
                <a:tc>
                  <a:txBody>
                    <a:bodyPr/>
                    <a:lstStyle/>
                    <a:p>
                      <a:r>
                        <a:rPr sz="1250" b="1" i="0">
                          <a:solidFill>
                            <a:srgbClr val="FFFFFF"/>
                          </a:solidFill>
                          <a:latin typeface="Calibri"/>
                        </a:rPr>
                        <a:t>Change</a:t>
                      </a:r>
                    </a:p>
                  </a:txBody>
                  <a:tcPr marL="101600" marR="101600" marT="38100" marB="38100" anchor="ctr">
                    <a:solidFill>
                      <a:srgbClr val="1A0F5C"/>
                    </a:solidFill>
                  </a:tcPr>
                </a:tc>
              </a:tr>
              <a:tr h="335280">
                <a:tc>
                  <a:txBody>
                    <a:bodyPr/>
                    <a:lstStyle/>
                    <a:p>
                      <a:r>
                        <a:rPr sz="1200" b="0" i="0">
                          <a:solidFill>
                            <a:srgbClr val="1A1440"/>
                          </a:solidFill>
                          <a:latin typeface="Calibri"/>
                        </a:rPr>
                        <a:t>Retail-Core</a:t>
                      </a:r>
                    </a:p>
                  </a:txBody>
                  <a:tcPr marL="101600" marR="101600" marT="38100" marB="38100" anchor="ctr">
                    <a:solidFill>
                      <a:srgbClr val="FFFFFF"/>
                    </a:solidFill>
                  </a:tcPr>
                </a:tc>
                <a:tc>
                  <a:txBody>
                    <a:bodyPr/>
                    <a:lstStyle/>
                    <a:p>
                      <a:r>
                        <a:rPr sz="1200" b="0" i="0">
                          <a:solidFill>
                            <a:srgbClr val="1A1440"/>
                          </a:solidFill>
                          <a:latin typeface="Calibri"/>
                        </a:rPr>
                        <a:t>34</a:t>
                      </a:r>
                    </a:p>
                  </a:txBody>
                  <a:tcPr marL="101600" marR="101600" marT="38100" marB="38100" anchor="ctr">
                    <a:solidFill>
                      <a:srgbClr val="FFFFFF"/>
                    </a:solidFill>
                  </a:tcPr>
                </a:tc>
                <a:tc>
                  <a:txBody>
                    <a:bodyPr/>
                    <a:lstStyle/>
                    <a:p>
                      <a:r>
                        <a:rPr sz="1200" b="0" i="0">
                          <a:solidFill>
                            <a:srgbClr val="1A1440"/>
                          </a:solidFill>
                          <a:latin typeface="Calibri"/>
                        </a:rPr>
                        <a:t>1.12</a:t>
                      </a:r>
                    </a:p>
                  </a:txBody>
                  <a:tcPr marL="101600" marR="101600" marT="38100" marB="38100" anchor="ctr">
                    <a:solidFill>
                      <a:srgbClr val="FFFFFF"/>
                    </a:solidFill>
                  </a:tcPr>
                </a:tc>
                <a:tc>
                  <a:txBody>
                    <a:bodyPr/>
                    <a:lstStyle/>
                    <a:p>
                      <a:r>
                        <a:rPr sz="1200" b="0" i="0">
                          <a:solidFill>
                            <a:srgbClr val="1A1440"/>
                          </a:solidFill>
                          <a:latin typeface="Calibri"/>
                        </a:rPr>
                        <a:t>1.06</a:t>
                      </a:r>
                    </a:p>
                  </a:txBody>
                  <a:tcPr marL="101600" marR="101600" marT="38100" marB="38100" anchor="ctr">
                    <a:solidFill>
                      <a:srgbClr val="FFFFFF"/>
                    </a:solidFill>
                  </a:tcPr>
                </a:tc>
                <a:tc>
                  <a:txBody>
                    <a:bodyPr/>
                    <a:lstStyle/>
                    <a:p>
                      <a:r>
                        <a:rPr sz="1200" b="0" i="0">
                          <a:solidFill>
                            <a:srgbClr val="1A1440"/>
                          </a:solidFill>
                          <a:latin typeface="Calibri"/>
                        </a:rPr>
                        <a:t>-5.3%</a:t>
                      </a:r>
                    </a:p>
                  </a:txBody>
                  <a:tcPr marL="101600" marR="101600" marT="38100" marB="38100" anchor="ctr">
                    <a:solidFill>
                      <a:srgbClr val="FFFFFF"/>
                    </a:solidFill>
                  </a:tcPr>
                </a:tc>
              </a:tr>
              <a:tr h="335280">
                <a:tc>
                  <a:txBody>
                    <a:bodyPr/>
                    <a:lstStyle/>
                    <a:p>
                      <a:r>
                        <a:rPr sz="1200" b="0" i="0">
                          <a:solidFill>
                            <a:srgbClr val="1A1440"/>
                          </a:solidFill>
                          <a:latin typeface="Calibri"/>
                        </a:rPr>
                        <a:t>Retail-Plus</a:t>
                      </a:r>
                    </a:p>
                  </a:txBody>
                  <a:tcPr marL="101600" marR="101600" marT="38100" marB="38100" anchor="ctr">
                    <a:solidFill>
                      <a:srgbClr val="F4F2FA"/>
                    </a:solidFill>
                  </a:tcPr>
                </a:tc>
                <a:tc>
                  <a:txBody>
                    <a:bodyPr/>
                    <a:lstStyle/>
                    <a:p>
                      <a:r>
                        <a:rPr sz="1200" b="0" i="0">
                          <a:solidFill>
                            <a:srgbClr val="1A1440"/>
                          </a:solidFill>
                          <a:latin typeface="Calibri"/>
                        </a:rPr>
                        <a:t>22</a:t>
                      </a:r>
                    </a:p>
                  </a:txBody>
                  <a:tcPr marL="101600" marR="101600" marT="38100" marB="38100" anchor="ctr">
                    <a:solidFill>
                      <a:srgbClr val="F4F2FA"/>
                    </a:solidFill>
                  </a:tcPr>
                </a:tc>
                <a:tc>
                  <a:txBody>
                    <a:bodyPr/>
                    <a:lstStyle/>
                    <a:p>
                      <a:r>
                        <a:rPr sz="1200" b="0" i="0">
                          <a:solidFill>
                            <a:srgbClr val="1A1440"/>
                          </a:solidFill>
                          <a:latin typeface="Calibri"/>
                        </a:rPr>
                        <a:t>2.32</a:t>
                      </a:r>
                    </a:p>
                  </a:txBody>
                  <a:tcPr marL="101600" marR="101600" marT="38100" marB="38100" anchor="ctr">
                    <a:solidFill>
                      <a:srgbClr val="F4F2FA"/>
                    </a:solidFill>
                  </a:tcPr>
                </a:tc>
                <a:tc>
                  <a:txBody>
                    <a:bodyPr/>
                    <a:lstStyle/>
                    <a:p>
                      <a:r>
                        <a:rPr sz="1200" b="0" i="0">
                          <a:solidFill>
                            <a:srgbClr val="1A1440"/>
                          </a:solidFill>
                          <a:latin typeface="Calibri"/>
                        </a:rPr>
                        <a:t>1.18</a:t>
                      </a:r>
                    </a:p>
                  </a:txBody>
                  <a:tcPr marL="101600" marR="101600" marT="38100" marB="38100" anchor="ctr">
                    <a:solidFill>
                      <a:srgbClr val="F4F2FA"/>
                    </a:solidFill>
                  </a:tcPr>
                </a:tc>
                <a:tc>
                  <a:txBody>
                    <a:bodyPr/>
                    <a:lstStyle/>
                    <a:p>
                      <a:r>
                        <a:rPr sz="1200" b="0" i="0">
                          <a:solidFill>
                            <a:srgbClr val="1A1440"/>
                          </a:solidFill>
                          <a:latin typeface="Calibri"/>
                        </a:rPr>
                        <a:t>-49.0%</a:t>
                      </a:r>
                    </a:p>
                  </a:txBody>
                  <a:tcPr marL="101600" marR="101600" marT="38100" marB="38100" anchor="ctr">
                    <a:solidFill>
                      <a:srgbClr val="F4F2FA"/>
                    </a:solidFill>
                  </a:tcPr>
                </a:tc>
              </a:tr>
              <a:tr h="335280">
                <a:tc>
                  <a:txBody>
                    <a:bodyPr/>
                    <a:lstStyle/>
                    <a:p>
                      <a:r>
                        <a:rPr sz="1200" b="0" i="0">
                          <a:solidFill>
                            <a:srgbClr val="1A1440"/>
                          </a:solidFill>
                          <a:latin typeface="Calibri"/>
                        </a:rPr>
                        <a:t>Business</a:t>
                      </a:r>
                    </a:p>
                  </a:txBody>
                  <a:tcPr marL="101600" marR="101600" marT="38100" marB="38100" anchor="ctr">
                    <a:solidFill>
                      <a:srgbClr val="FFFFFF"/>
                    </a:solidFill>
                  </a:tcPr>
                </a:tc>
                <a:tc>
                  <a:txBody>
                    <a:bodyPr/>
                    <a:lstStyle/>
                    <a:p>
                      <a:r>
                        <a:rPr sz="1200" b="0" i="0">
                          <a:solidFill>
                            <a:srgbClr val="1A1440"/>
                          </a:solidFill>
                          <a:latin typeface="Calibri"/>
                        </a:rPr>
                        <a:t>11</a:t>
                      </a:r>
                    </a:p>
                  </a:txBody>
                  <a:tcPr marL="101600" marR="101600" marT="38100" marB="38100" anchor="ctr">
                    <a:solidFill>
                      <a:srgbClr val="FFFFFF"/>
                    </a:solidFill>
                  </a:tcPr>
                </a:tc>
                <a:tc>
                  <a:txBody>
                    <a:bodyPr/>
                    <a:lstStyle/>
                    <a:p>
                      <a:r>
                        <a:rPr sz="1200" b="0" i="0">
                          <a:solidFill>
                            <a:srgbClr val="1A1440"/>
                          </a:solidFill>
                          <a:latin typeface="Calibri"/>
                        </a:rPr>
                        <a:t>1.82</a:t>
                      </a:r>
                    </a:p>
                  </a:txBody>
                  <a:tcPr marL="101600" marR="101600" marT="38100" marB="38100" anchor="ctr">
                    <a:solidFill>
                      <a:srgbClr val="FFFFFF"/>
                    </a:solidFill>
                  </a:tcPr>
                </a:tc>
                <a:tc>
                  <a:txBody>
                    <a:bodyPr/>
                    <a:lstStyle/>
                    <a:p>
                      <a:r>
                        <a:rPr sz="1200" b="0" i="0">
                          <a:solidFill>
                            <a:srgbClr val="1A1440"/>
                          </a:solidFill>
                          <a:latin typeface="Calibri"/>
                        </a:rPr>
                        <a:t>1.55</a:t>
                      </a:r>
                    </a:p>
                  </a:txBody>
                  <a:tcPr marL="101600" marR="101600" marT="38100" marB="38100" anchor="ctr">
                    <a:solidFill>
                      <a:srgbClr val="FFFFFF"/>
                    </a:solidFill>
                  </a:tcPr>
                </a:tc>
                <a:tc>
                  <a:txBody>
                    <a:bodyPr/>
                    <a:lstStyle/>
                    <a:p>
                      <a:r>
                        <a:rPr sz="1200" b="0" i="0">
                          <a:solidFill>
                            <a:srgbClr val="1A1440"/>
                          </a:solidFill>
                          <a:latin typeface="Calibri"/>
                        </a:rPr>
                        <a:t>-15.0%</a:t>
                      </a:r>
                    </a:p>
                  </a:txBody>
                  <a:tcPr marL="101600" marR="101600" marT="38100" marB="38100" anchor="ctr">
                    <a:solidFill>
                      <a:srgbClr val="FFFFFF"/>
                    </a:solidFill>
                  </a:tcPr>
                </a:tc>
              </a:tr>
              <a:tr h="335280">
                <a:tc>
                  <a:txBody>
                    <a:bodyPr/>
                    <a:lstStyle/>
                    <a:p>
                      <a:r>
                        <a:rPr sz="1200" b="0" i="0">
                          <a:solidFill>
                            <a:srgbClr val="1A1440"/>
                          </a:solidFill>
                          <a:latin typeface="Calibri"/>
                        </a:rPr>
                        <a:t>Student</a:t>
                      </a:r>
                    </a:p>
                  </a:txBody>
                  <a:tcPr marL="101600" marR="101600" marT="38100" marB="38100" anchor="ctr">
                    <a:solidFill>
                      <a:srgbClr val="F4F2FA"/>
                    </a:solidFill>
                  </a:tcPr>
                </a:tc>
                <a:tc>
                  <a:txBody>
                    <a:bodyPr/>
                    <a:lstStyle/>
                    <a:p>
                      <a:r>
                        <a:rPr sz="1200" b="0" i="0">
                          <a:solidFill>
                            <a:srgbClr val="1A1440"/>
                          </a:solidFill>
                          <a:latin typeface="Calibri"/>
                        </a:rPr>
                        <a:t>2</a:t>
                      </a:r>
                    </a:p>
                  </a:txBody>
                  <a:tcPr marL="101600" marR="101600" marT="38100" marB="38100" anchor="ctr">
                    <a:solidFill>
                      <a:srgbClr val="F4F2FA"/>
                    </a:solidFill>
                  </a:tcPr>
                </a:tc>
                <a:tc>
                  <a:txBody>
                    <a:bodyPr/>
                    <a:lstStyle/>
                    <a:p>
                      <a:r>
                        <a:rPr sz="1200" b="0" i="0">
                          <a:solidFill>
                            <a:srgbClr val="1A1440"/>
                          </a:solidFill>
                          <a:latin typeface="Calibri"/>
                        </a:rPr>
                        <a:t>2.50</a:t>
                      </a:r>
                    </a:p>
                  </a:txBody>
                  <a:tcPr marL="101600" marR="101600" marT="38100" marB="38100" anchor="ctr">
                    <a:solidFill>
                      <a:srgbClr val="F4F2FA"/>
                    </a:solidFill>
                  </a:tcPr>
                </a:tc>
                <a:tc>
                  <a:txBody>
                    <a:bodyPr/>
                    <a:lstStyle/>
                    <a:p>
                      <a:r>
                        <a:rPr sz="1200" b="0" i="0">
                          <a:solidFill>
                            <a:srgbClr val="1A1440"/>
                          </a:solidFill>
                          <a:latin typeface="Calibri"/>
                        </a:rPr>
                        <a:t>3.50</a:t>
                      </a:r>
                    </a:p>
                  </a:txBody>
                  <a:tcPr marL="101600" marR="101600" marT="38100" marB="38100" anchor="ctr">
                    <a:solidFill>
                      <a:srgbClr val="F4F2FA"/>
                    </a:solidFill>
                  </a:tcPr>
                </a:tc>
                <a:tc>
                  <a:txBody>
                    <a:bodyPr/>
                    <a:lstStyle/>
                    <a:p>
                      <a:r>
                        <a:rPr sz="1200" b="0" i="0">
                          <a:solidFill>
                            <a:srgbClr val="1A1440"/>
                          </a:solidFill>
                          <a:latin typeface="Calibri"/>
                        </a:rPr>
                        <a:t>+40.0%</a:t>
                      </a:r>
                    </a:p>
                  </a:txBody>
                  <a:tcPr marL="101600" marR="101600" marT="38100" marB="38100" anchor="ctr">
                    <a:solidFill>
                      <a:srgbClr val="F4F2FA"/>
                    </a:solidFill>
                  </a:tcPr>
                </a:tc>
              </a:tr>
              <a:tr h="335280">
                <a:tc>
                  <a:txBody>
                    <a:bodyPr/>
                    <a:lstStyle/>
                    <a:p>
                      <a:r>
                        <a:rPr sz="1200" b="0" i="0">
                          <a:solidFill>
                            <a:srgbClr val="1A1440"/>
                          </a:solidFill>
                          <a:latin typeface="Calibri"/>
                        </a:rPr>
                        <a:t>Weighted, all</a:t>
                      </a:r>
                    </a:p>
                  </a:txBody>
                  <a:tcPr marL="101600" marR="101600" marT="38100" marB="38100" anchor="ctr">
                    <a:solidFill>
                      <a:srgbClr val="FFFFFF"/>
                    </a:solidFill>
                  </a:tcPr>
                </a:tc>
                <a:tc>
                  <a:txBody>
                    <a:bodyPr/>
                    <a:lstStyle/>
                    <a:p>
                      <a:r>
                        <a:rPr sz="1200" b="0" i="0">
                          <a:solidFill>
                            <a:srgbClr val="1A1440"/>
                          </a:solidFill>
                          <a:latin typeface="Calibri"/>
                        </a:rPr>
                        <a:t>69</a:t>
                      </a:r>
                    </a:p>
                  </a:txBody>
                  <a:tcPr marL="101600" marR="101600" marT="38100" marB="38100" anchor="ctr">
                    <a:solidFill>
                      <a:srgbClr val="FFFFFF"/>
                    </a:solidFill>
                  </a:tcPr>
                </a:tc>
                <a:tc>
                  <a:txBody>
                    <a:bodyPr/>
                    <a:lstStyle/>
                    <a:p>
                      <a:r>
                        <a:rPr sz="1200" b="0" i="0">
                          <a:solidFill>
                            <a:srgbClr val="1A1440"/>
                          </a:solidFill>
                          <a:latin typeface="Calibri"/>
                        </a:rPr>
                        <a:t>1.65</a:t>
                      </a:r>
                    </a:p>
                  </a:txBody>
                  <a:tcPr marL="101600" marR="101600" marT="38100" marB="38100" anchor="ctr">
                    <a:solidFill>
                      <a:srgbClr val="FFFFFF"/>
                    </a:solidFill>
                  </a:tcPr>
                </a:tc>
                <a:tc>
                  <a:txBody>
                    <a:bodyPr/>
                    <a:lstStyle/>
                    <a:p>
                      <a:r>
                        <a:rPr sz="1200" b="0" i="0">
                          <a:solidFill>
                            <a:srgbClr val="1A1440"/>
                          </a:solidFill>
                          <a:latin typeface="Calibri"/>
                        </a:rPr>
                        <a:t>1.25</a:t>
                      </a:r>
                    </a:p>
                  </a:txBody>
                  <a:tcPr marL="101600" marR="101600" marT="38100" marB="38100" anchor="ctr">
                    <a:solidFill>
                      <a:srgbClr val="FFFFFF"/>
                    </a:solidFill>
                  </a:tcPr>
                </a:tc>
                <a:tc>
                  <a:txBody>
                    <a:bodyPr/>
                    <a:lstStyle/>
                    <a:p>
                      <a:r>
                        <a:rPr sz="1200" b="0" i="0">
                          <a:solidFill>
                            <a:srgbClr val="1A1440"/>
                          </a:solidFill>
                          <a:latin typeface="Calibri"/>
                        </a:rPr>
                        <a:t>-24.6%</a:t>
                      </a:r>
                    </a:p>
                  </a:txBody>
                  <a:tcPr marL="101600" marR="101600" marT="38100" marB="38100" anchor="ctr">
                    <a:solidFill>
                      <a:srgbClr val="FFFFFF"/>
                    </a:solidFill>
                  </a:tcPr>
                </a:tc>
              </a:tr>
            </a:tbl>
          </a:graphicData>
        </a:graphic>
      </p:graphicFrame>
      <p:sp>
        <p:nvSpPr>
          <p:cNvPr id="10" name="Rounded Rectangle 9"/>
          <p:cNvSpPr/>
          <p:nvPr/>
        </p:nvSpPr>
        <p:spPr>
          <a:xfrm>
            <a:off x="530352" y="422452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35254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343400"/>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The average of the four rows says 1.94 to 1.82; the weighted row reproduces the company figure, and the averaged one does not.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5" name="Oval 14"/>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943671" y="6437376"/>
            <a:ext cx="780383" cy="152146"/>
          </a:xfrm>
          <a:prstGeom prst="rect">
            <a:avLst/>
          </a:prstGeom>
          <a:noFill/>
        </p:spPr>
        <p:txBody>
          <a:bodyPr wrap="square" anchor="t" lIns="0" rIns="0" tIns="0" bIns="0">
            <a:spAutoFit/>
          </a:bodyPr>
          <a:lstStyle/>
          <a:p>
            <a:pPr algn="l"/>
            <a:r>
              <a:rPr sz="700" b="1" i="0">
                <a:solidFill>
                  <a:srgbClr val="5B3FD6"/>
                </a:solidFill>
                <a:latin typeface="Calibri"/>
              </a:rPr>
              <a:t>The debrief</a:t>
            </a:r>
          </a:p>
        </p:txBody>
      </p:sp>
      <p:sp>
        <p:nvSpPr>
          <p:cNvPr id="17" name="Oval 16"/>
          <p:cNvSpPr/>
          <p:nvPr/>
        </p:nvSpPr>
        <p:spPr>
          <a:xfrm>
            <a:off x="281549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92522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19" name="Oval 18"/>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090797"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1" name="Oval 20"/>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440394"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9 / 29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Wrong answer 4: revenue per order rose, so prices rose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About 69 percent of the rise is mix: small Retail-Plus orders disappeared.</a:t>
            </a:r>
          </a:p>
        </p:txBody>
      </p:sp>
      <p:graphicFrame>
        <p:nvGraphicFramePr>
          <p:cNvPr id="9" name="Table 8"/>
          <p:cNvGraphicFramePr>
            <a:graphicFrameLocks noGrp="1"/>
          </p:cNvGraphicFramePr>
          <p:nvPr/>
        </p:nvGraphicFramePr>
        <p:xfrm>
          <a:off x="530352" y="1956816"/>
          <a:ext cx="11130991" cy="1849120"/>
        </p:xfrm>
        <a:graphic>
          <a:graphicData uri="http://schemas.openxmlformats.org/drawingml/2006/table">
            <a:tbl>
              <a:tblPr firstRow="0" bandRow="0">
                <a:tableStyleId>{2D5ABB26-0587-4C30-8999-92F81FD0307C}</a:tableStyleId>
              </a:tblPr>
              <a:tblGrid>
                <a:gridCol w="9302191"/>
                <a:gridCol w="914400"/>
                <a:gridCol w="914400"/>
              </a:tblGrid>
              <a:tr h="369824">
                <a:tc>
                  <a:txBody>
                    <a:bodyPr/>
                    <a:lstStyle/>
                    <a:p>
                      <a:r>
                        <a:rPr sz="1450" b="1" i="0">
                          <a:solidFill>
                            <a:srgbClr val="FFFFFF"/>
                          </a:solidFill>
                          <a:latin typeface="Calibri"/>
                        </a:rPr>
                        <a:t>Order share</a:t>
                      </a:r>
                    </a:p>
                  </a:txBody>
                  <a:tcPr marL="101600" marR="101600" marT="38100" marB="38100" anchor="ctr">
                    <a:solidFill>
                      <a:srgbClr val="1A0F5C"/>
                    </a:solidFill>
                  </a:tcPr>
                </a:tc>
                <a:tc>
                  <a:txBody>
                    <a:bodyPr/>
                    <a:lstStyle/>
                    <a:p>
                      <a:r>
                        <a:rPr sz="1450" b="1" i="0">
                          <a:solidFill>
                            <a:srgbClr val="FFFFFF"/>
                          </a:solidFill>
                          <a:latin typeface="Calibri"/>
                        </a:rPr>
                        <a:t>Q1</a:t>
                      </a:r>
                    </a:p>
                  </a:txBody>
                  <a:tcPr marL="101600" marR="101600" marT="38100" marB="38100" anchor="ctr">
                    <a:solidFill>
                      <a:srgbClr val="1A0F5C"/>
                    </a:solidFill>
                  </a:tcPr>
                </a:tc>
                <a:tc>
                  <a:txBody>
                    <a:bodyPr/>
                    <a:lstStyle/>
                    <a:p>
                      <a:r>
                        <a:rPr sz="1450" b="1" i="0">
                          <a:solidFill>
                            <a:srgbClr val="FFFFFF"/>
                          </a:solidFill>
                          <a:latin typeface="Calibri"/>
                        </a:rPr>
                        <a:t>Q2</a:t>
                      </a:r>
                    </a:p>
                  </a:txBody>
                  <a:tcPr marL="101600" marR="101600" marT="38100" marB="38100" anchor="ctr">
                    <a:solidFill>
                      <a:srgbClr val="1A0F5C"/>
                    </a:solidFill>
                  </a:tcPr>
                </a:tc>
              </a:tr>
              <a:tr h="369824">
                <a:tc>
                  <a:txBody>
                    <a:bodyPr/>
                    <a:lstStyle/>
                    <a:p>
                      <a:r>
                        <a:rPr sz="1400" b="0" i="0">
                          <a:solidFill>
                            <a:srgbClr val="1A1440"/>
                          </a:solidFill>
                          <a:latin typeface="Calibri"/>
                        </a:rPr>
                        <a:t>Retail-Core</a:t>
                      </a:r>
                    </a:p>
                  </a:txBody>
                  <a:tcPr marL="101600" marR="101600" marT="38100" marB="38100" anchor="ctr">
                    <a:solidFill>
                      <a:srgbClr val="FFFFFF"/>
                    </a:solidFill>
                  </a:tcPr>
                </a:tc>
                <a:tc>
                  <a:txBody>
                    <a:bodyPr/>
                    <a:lstStyle/>
                    <a:p>
                      <a:r>
                        <a:rPr sz="1400" b="0" i="0">
                          <a:solidFill>
                            <a:srgbClr val="1A1440"/>
                          </a:solidFill>
                          <a:latin typeface="Calibri"/>
                        </a:rPr>
                        <a:t>33.3%</a:t>
                      </a:r>
                    </a:p>
                  </a:txBody>
                  <a:tcPr marL="101600" marR="101600" marT="38100" marB="38100" anchor="ctr">
                    <a:solidFill>
                      <a:srgbClr val="FFFFFF"/>
                    </a:solidFill>
                  </a:tcPr>
                </a:tc>
                <a:tc>
                  <a:txBody>
                    <a:bodyPr/>
                    <a:lstStyle/>
                    <a:p>
                      <a:r>
                        <a:rPr sz="1400" b="0" i="0">
                          <a:solidFill>
                            <a:srgbClr val="1A1440"/>
                          </a:solidFill>
                          <a:latin typeface="Calibri"/>
                        </a:rPr>
                        <a:t>41.9%</a:t>
                      </a:r>
                    </a:p>
                  </a:txBody>
                  <a:tcPr marL="101600" marR="101600" marT="38100" marB="38100" anchor="ctr">
                    <a:solidFill>
                      <a:srgbClr val="FFFFFF"/>
                    </a:solidFill>
                  </a:tcPr>
                </a:tc>
              </a:tr>
              <a:tr h="369824">
                <a:tc>
                  <a:txBody>
                    <a:bodyPr/>
                    <a:lstStyle/>
                    <a:p>
                      <a:r>
                        <a:rPr sz="1400" b="0" i="0">
                          <a:solidFill>
                            <a:srgbClr val="1A1440"/>
                          </a:solidFill>
                          <a:latin typeface="Calibri"/>
                        </a:rPr>
                        <a:t>Retail-Plus</a:t>
                      </a:r>
                    </a:p>
                  </a:txBody>
                  <a:tcPr marL="101600" marR="101600" marT="38100" marB="38100" anchor="ctr">
                    <a:solidFill>
                      <a:srgbClr val="F4F2FA"/>
                    </a:solidFill>
                  </a:tcPr>
                </a:tc>
                <a:tc>
                  <a:txBody>
                    <a:bodyPr/>
                    <a:lstStyle/>
                    <a:p>
                      <a:r>
                        <a:rPr sz="1400" b="0" i="0">
                          <a:solidFill>
                            <a:srgbClr val="1A1440"/>
                          </a:solidFill>
                          <a:latin typeface="Calibri"/>
                        </a:rPr>
                        <a:t>44.7%</a:t>
                      </a:r>
                    </a:p>
                  </a:txBody>
                  <a:tcPr marL="101600" marR="101600" marT="38100" marB="38100" anchor="ctr">
                    <a:solidFill>
                      <a:srgbClr val="F4F2FA"/>
                    </a:solidFill>
                  </a:tcPr>
                </a:tc>
                <a:tc>
                  <a:txBody>
                    <a:bodyPr/>
                    <a:lstStyle/>
                    <a:p>
                      <a:r>
                        <a:rPr sz="1400" b="0" i="0">
                          <a:solidFill>
                            <a:srgbClr val="1A1440"/>
                          </a:solidFill>
                          <a:latin typeface="Calibri"/>
                        </a:rPr>
                        <a:t>30.2%</a:t>
                      </a:r>
                    </a:p>
                  </a:txBody>
                  <a:tcPr marL="101600" marR="101600" marT="38100" marB="38100" anchor="ctr">
                    <a:solidFill>
                      <a:srgbClr val="F4F2FA"/>
                    </a:solidFill>
                  </a:tcPr>
                </a:tc>
              </a:tr>
              <a:tr h="369824">
                <a:tc>
                  <a:txBody>
                    <a:bodyPr/>
                    <a:lstStyle/>
                    <a:p>
                      <a:r>
                        <a:rPr sz="1400" b="0" i="0">
                          <a:solidFill>
                            <a:srgbClr val="1A1440"/>
                          </a:solidFill>
                          <a:latin typeface="Calibri"/>
                        </a:rPr>
                        <a:t>Business</a:t>
                      </a:r>
                    </a:p>
                  </a:txBody>
                  <a:tcPr marL="101600" marR="101600" marT="38100" marB="38100" anchor="ctr">
                    <a:solidFill>
                      <a:srgbClr val="FFFFFF"/>
                    </a:solidFill>
                  </a:tcPr>
                </a:tc>
                <a:tc>
                  <a:txBody>
                    <a:bodyPr/>
                    <a:lstStyle/>
                    <a:p>
                      <a:r>
                        <a:rPr sz="1400" b="0" i="0">
                          <a:solidFill>
                            <a:srgbClr val="1A1440"/>
                          </a:solidFill>
                          <a:latin typeface="Calibri"/>
                        </a:rPr>
                        <a:t>17.5%</a:t>
                      </a:r>
                    </a:p>
                  </a:txBody>
                  <a:tcPr marL="101600" marR="101600" marT="38100" marB="38100" anchor="ctr">
                    <a:solidFill>
                      <a:srgbClr val="FFFFFF"/>
                    </a:solidFill>
                  </a:tcPr>
                </a:tc>
                <a:tc>
                  <a:txBody>
                    <a:bodyPr/>
                    <a:lstStyle/>
                    <a:p>
                      <a:r>
                        <a:rPr sz="1400" b="0" i="0">
                          <a:solidFill>
                            <a:srgbClr val="1A1440"/>
                          </a:solidFill>
                          <a:latin typeface="Calibri"/>
                        </a:rPr>
                        <a:t>19.8%</a:t>
                      </a:r>
                    </a:p>
                  </a:txBody>
                  <a:tcPr marL="101600" marR="101600" marT="38100" marB="38100" anchor="ctr">
                    <a:solidFill>
                      <a:srgbClr val="FFFFFF"/>
                    </a:solidFill>
                  </a:tcPr>
                </a:tc>
              </a:tr>
              <a:tr h="369824">
                <a:tc>
                  <a:txBody>
                    <a:bodyPr/>
                    <a:lstStyle/>
                    <a:p>
                      <a:r>
                        <a:rPr sz="1400" b="0" i="0">
                          <a:solidFill>
                            <a:srgbClr val="1A1440"/>
                          </a:solidFill>
                          <a:latin typeface="Calibri"/>
                        </a:rPr>
                        <a:t>Student</a:t>
                      </a:r>
                    </a:p>
                  </a:txBody>
                  <a:tcPr marL="101600" marR="101600" marT="38100" marB="38100" anchor="ctr">
                    <a:solidFill>
                      <a:srgbClr val="F4F2FA"/>
                    </a:solidFill>
                  </a:tcPr>
                </a:tc>
                <a:tc>
                  <a:txBody>
                    <a:bodyPr/>
                    <a:lstStyle/>
                    <a:p>
                      <a:r>
                        <a:rPr sz="1400" b="0" i="0">
                          <a:solidFill>
                            <a:srgbClr val="1A1440"/>
                          </a:solidFill>
                          <a:latin typeface="Calibri"/>
                        </a:rPr>
                        <a:t>4.4%</a:t>
                      </a:r>
                    </a:p>
                  </a:txBody>
                  <a:tcPr marL="101600" marR="101600" marT="38100" marB="38100" anchor="ctr">
                    <a:solidFill>
                      <a:srgbClr val="F4F2FA"/>
                    </a:solidFill>
                  </a:tcPr>
                </a:tc>
                <a:tc>
                  <a:txBody>
                    <a:bodyPr/>
                    <a:lstStyle/>
                    <a:p>
                      <a:r>
                        <a:rPr sz="1400" b="0" i="0">
                          <a:solidFill>
                            <a:srgbClr val="1A1440"/>
                          </a:solidFill>
                          <a:latin typeface="Calibri"/>
                        </a:rPr>
                        <a:t>8.1%</a:t>
                      </a:r>
                    </a:p>
                  </a:txBody>
                  <a:tcPr marL="101600" marR="101600" marT="38100" marB="38100" anchor="ctr">
                    <a:solidFill>
                      <a:srgbClr val="F4F2FA"/>
                    </a:solidFill>
                  </a:tcPr>
                </a:tc>
              </a:tr>
            </a:tbl>
          </a:graphicData>
        </a:graphic>
      </p:graphicFrame>
      <p:sp>
        <p:nvSpPr>
          <p:cNvPr id="10" name="TextBox 9"/>
          <p:cNvSpPr txBox="1"/>
          <p:nvPr/>
        </p:nvSpPr>
        <p:spPr>
          <a:xfrm>
            <a:off x="530352" y="4061968"/>
            <a:ext cx="3527450" cy="698500"/>
          </a:xfrm>
          <a:prstGeom prst="rect">
            <a:avLst/>
          </a:prstGeom>
          <a:noFill/>
        </p:spPr>
        <p:txBody>
          <a:bodyPr wrap="square" anchor="t" lIns="0" rIns="0" tIns="0" bIns="0">
            <a:spAutoFit/>
          </a:bodyPr>
          <a:lstStyle/>
          <a:p>
            <a:pPr algn="l"/>
            <a:r>
              <a:rPr sz="4400" b="0" i="0">
                <a:solidFill>
                  <a:srgbClr val="5B3FD6"/>
                </a:solidFill>
                <a:latin typeface="Georgia"/>
              </a:rPr>
              <a:t>+Rs 33,231</a:t>
            </a:r>
          </a:p>
        </p:txBody>
      </p:sp>
      <p:sp>
        <p:nvSpPr>
          <p:cNvPr id="11" name="TextBox 10"/>
          <p:cNvSpPr txBox="1"/>
          <p:nvPr/>
        </p:nvSpPr>
        <p:spPr>
          <a:xfrm>
            <a:off x="530352" y="479704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REVENUE PER ORDER</a:t>
            </a:r>
          </a:p>
        </p:txBody>
      </p:sp>
      <p:sp>
        <p:nvSpPr>
          <p:cNvPr id="12" name="TextBox 11"/>
          <p:cNvSpPr txBox="1"/>
          <p:nvPr/>
        </p:nvSpPr>
        <p:spPr>
          <a:xfrm>
            <a:off x="530352" y="4998212"/>
            <a:ext cx="3527450" cy="193421"/>
          </a:xfrm>
          <a:prstGeom prst="rect">
            <a:avLst/>
          </a:prstGeom>
          <a:noFill/>
        </p:spPr>
        <p:txBody>
          <a:bodyPr wrap="square" anchor="t" lIns="0" rIns="0" tIns="0" bIns="0">
            <a:spAutoFit/>
          </a:bodyPr>
          <a:lstStyle/>
          <a:p>
            <a:pPr algn="l"/>
            <a:r>
              <a:rPr sz="950" b="0" i="0">
                <a:solidFill>
                  <a:srgbClr val="6B6690"/>
                </a:solidFill>
                <a:latin typeface="Calibri"/>
              </a:rPr>
              <a:t>Rs 1,84,211 to Rs 2,17,442</a:t>
            </a:r>
          </a:p>
        </p:txBody>
      </p:sp>
      <p:sp>
        <p:nvSpPr>
          <p:cNvPr id="13" name="Rectangle 12"/>
          <p:cNvSpPr/>
          <p:nvPr/>
        </p:nvSpPr>
        <p:spPr>
          <a:xfrm>
            <a:off x="530352" y="525068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4332122" y="4061968"/>
            <a:ext cx="3527450" cy="698500"/>
          </a:xfrm>
          <a:prstGeom prst="rect">
            <a:avLst/>
          </a:prstGeom>
          <a:noFill/>
        </p:spPr>
        <p:txBody>
          <a:bodyPr wrap="square" anchor="t" lIns="0" rIns="0" tIns="0" bIns="0">
            <a:spAutoFit/>
          </a:bodyPr>
          <a:lstStyle/>
          <a:p>
            <a:pPr algn="l"/>
            <a:r>
              <a:rPr sz="4400" b="0" i="0">
                <a:solidFill>
                  <a:srgbClr val="5B3FD6"/>
                </a:solidFill>
                <a:latin typeface="Georgia"/>
              </a:rPr>
              <a:t>+Rs 22,902</a:t>
            </a:r>
          </a:p>
        </p:txBody>
      </p:sp>
      <p:sp>
        <p:nvSpPr>
          <p:cNvPr id="15" name="TextBox 14"/>
          <p:cNvSpPr txBox="1"/>
          <p:nvPr/>
        </p:nvSpPr>
        <p:spPr>
          <a:xfrm>
            <a:off x="4332122" y="479704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FROM MIX</a:t>
            </a:r>
          </a:p>
        </p:txBody>
      </p:sp>
      <p:sp>
        <p:nvSpPr>
          <p:cNvPr id="16" name="TextBox 15"/>
          <p:cNvSpPr txBox="1"/>
          <p:nvPr/>
        </p:nvSpPr>
        <p:spPr>
          <a:xfrm>
            <a:off x="4332122" y="4998212"/>
            <a:ext cx="3527450" cy="193421"/>
          </a:xfrm>
          <a:prstGeom prst="rect">
            <a:avLst/>
          </a:prstGeom>
          <a:noFill/>
        </p:spPr>
        <p:txBody>
          <a:bodyPr wrap="square" anchor="t" lIns="0" rIns="0" tIns="0" bIns="0">
            <a:spAutoFit/>
          </a:bodyPr>
          <a:lstStyle/>
          <a:p>
            <a:pPr algn="l"/>
            <a:r>
              <a:rPr sz="950" b="0" i="0">
                <a:solidFill>
                  <a:srgbClr val="6B6690"/>
                </a:solidFill>
                <a:latin typeface="Calibri"/>
              </a:rPr>
              <a:t>about 69 percent</a:t>
            </a:r>
          </a:p>
        </p:txBody>
      </p:sp>
      <p:sp>
        <p:nvSpPr>
          <p:cNvPr id="17" name="Rectangle 16"/>
          <p:cNvSpPr/>
          <p:nvPr/>
        </p:nvSpPr>
        <p:spPr>
          <a:xfrm>
            <a:off x="4332122" y="525068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8133892" y="4061968"/>
            <a:ext cx="3527450" cy="698500"/>
          </a:xfrm>
          <a:prstGeom prst="rect">
            <a:avLst/>
          </a:prstGeom>
          <a:noFill/>
        </p:spPr>
        <p:txBody>
          <a:bodyPr wrap="square" anchor="t" lIns="0" rIns="0" tIns="0" bIns="0">
            <a:spAutoFit/>
          </a:bodyPr>
          <a:lstStyle/>
          <a:p>
            <a:pPr algn="l"/>
            <a:r>
              <a:rPr sz="4400" b="0" i="0">
                <a:solidFill>
                  <a:srgbClr val="5B3FD6"/>
                </a:solidFill>
                <a:latin typeface="Georgia"/>
              </a:rPr>
              <a:t>+Rs 10,330</a:t>
            </a:r>
          </a:p>
        </p:txBody>
      </p:sp>
      <p:sp>
        <p:nvSpPr>
          <p:cNvPr id="19" name="TextBox 18"/>
          <p:cNvSpPr txBox="1"/>
          <p:nvPr/>
        </p:nvSpPr>
        <p:spPr>
          <a:xfrm>
            <a:off x="8133892" y="479704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FROM RATES</a:t>
            </a:r>
          </a:p>
        </p:txBody>
      </p:sp>
      <p:sp>
        <p:nvSpPr>
          <p:cNvPr id="20" name="TextBox 19"/>
          <p:cNvSpPr txBox="1"/>
          <p:nvPr/>
        </p:nvSpPr>
        <p:spPr>
          <a:xfrm>
            <a:off x="8133892" y="4998212"/>
            <a:ext cx="3527450" cy="193421"/>
          </a:xfrm>
          <a:prstGeom prst="rect">
            <a:avLst/>
          </a:prstGeom>
          <a:noFill/>
        </p:spPr>
        <p:txBody>
          <a:bodyPr wrap="square" anchor="t" lIns="0" rIns="0" tIns="0" bIns="0">
            <a:spAutoFit/>
          </a:bodyPr>
          <a:lstStyle/>
          <a:p>
            <a:pPr algn="l"/>
            <a:r>
              <a:rPr sz="950" b="0" i="0">
                <a:solidFill>
                  <a:srgbClr val="6B6690"/>
                </a:solidFill>
                <a:latin typeface="Calibri"/>
              </a:rPr>
              <a:t>inside segments</a:t>
            </a:r>
          </a:p>
        </p:txBody>
      </p:sp>
      <p:sp>
        <p:nvSpPr>
          <p:cNvPr id="21" name="Rectangle 20"/>
          <p:cNvSpPr/>
          <p:nvPr/>
        </p:nvSpPr>
        <p:spPr>
          <a:xfrm>
            <a:off x="8133892" y="525068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24" name="Oval 23"/>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943671" y="6437376"/>
            <a:ext cx="780383" cy="152146"/>
          </a:xfrm>
          <a:prstGeom prst="rect">
            <a:avLst/>
          </a:prstGeom>
          <a:noFill/>
        </p:spPr>
        <p:txBody>
          <a:bodyPr wrap="square" anchor="t" lIns="0" rIns="0" tIns="0" bIns="0">
            <a:spAutoFit/>
          </a:bodyPr>
          <a:lstStyle/>
          <a:p>
            <a:pPr algn="l"/>
            <a:r>
              <a:rPr sz="700" b="1" i="0">
                <a:solidFill>
                  <a:srgbClr val="5B3FD6"/>
                </a:solidFill>
                <a:latin typeface="Calibri"/>
              </a:rPr>
              <a:t>The debrief</a:t>
            </a:r>
          </a:p>
        </p:txBody>
      </p:sp>
      <p:sp>
        <p:nvSpPr>
          <p:cNvPr id="26" name="Oval 25"/>
          <p:cNvSpPr/>
          <p:nvPr/>
        </p:nvSpPr>
        <p:spPr>
          <a:xfrm>
            <a:off x="281549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92522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28" name="Oval 27"/>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090797"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30" name="Oval 29"/>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5440394"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10 / 29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Every Retail-Plus member still buys, less often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same 22 members placed 26 orders against 51; three-times buyers now buy once.</a:t>
            </a:r>
          </a:p>
        </p:txBody>
      </p:sp>
      <p:pic>
        <p:nvPicPr>
          <p:cNvPr id="9" name="mermaid diagram" descr="ba0923e467e1a923.png"/>
          <p:cNvPicPr>
            <a:picLocks noChangeAspect="1"/>
          </p:cNvPicPr>
          <p:nvPr/>
        </p:nvPicPr>
        <p:blipFill>
          <a:blip r:embed="rId5"/>
          <a:stretch>
            <a:fillRect/>
          </a:stretch>
        </p:blipFill>
        <p:spPr>
          <a:xfrm>
            <a:off x="2010511" y="1664208"/>
            <a:ext cx="8170672" cy="4085336"/>
          </a:xfrm>
          <a:prstGeom prst="rect">
            <a:avLst/>
          </a:prstGeom>
        </p:spPr>
      </p:pic>
      <p:sp>
        <p:nvSpPr>
          <p:cNvPr id="10" name="TextBox 9"/>
          <p:cNvSpPr txBox="1"/>
          <p:nvPr/>
        </p:nvSpPr>
        <p:spPr>
          <a:xfrm>
            <a:off x="530352" y="5795264"/>
            <a:ext cx="11130991" cy="404367"/>
          </a:xfrm>
          <a:prstGeom prst="rect">
            <a:avLst/>
          </a:prstGeom>
          <a:noFill/>
        </p:spPr>
        <p:txBody>
          <a:bodyPr wrap="square" anchor="t" lIns="0" rIns="0" tIns="0" bIns="0">
            <a:spAutoFit/>
          </a:bodyPr>
          <a:lstStyle/>
          <a:p>
            <a:r>
              <a:rPr sz="1600" b="0" i="0">
                <a:solidFill>
                  <a:srgbClr val="1A1440"/>
                </a:solidFill>
                <a:latin typeface="Calibri"/>
              </a:rPr>
              <a:t>In Q1, 10 members ordered three times; in Q2, none did, and 18 of the 22 ordered once.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3" name="Oval 12"/>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943671" y="6437376"/>
            <a:ext cx="780383" cy="152146"/>
          </a:xfrm>
          <a:prstGeom prst="rect">
            <a:avLst/>
          </a:prstGeom>
          <a:noFill/>
        </p:spPr>
        <p:txBody>
          <a:bodyPr wrap="square" anchor="t" lIns="0" rIns="0" tIns="0" bIns="0">
            <a:spAutoFit/>
          </a:bodyPr>
          <a:lstStyle/>
          <a:p>
            <a:pPr algn="l"/>
            <a:r>
              <a:rPr sz="700" b="1" i="0">
                <a:solidFill>
                  <a:srgbClr val="5B3FD6"/>
                </a:solidFill>
                <a:latin typeface="Calibri"/>
              </a:rPr>
              <a:t>The debrief</a:t>
            </a:r>
          </a:p>
        </p:txBody>
      </p:sp>
      <p:sp>
        <p:nvSpPr>
          <p:cNvPr id="15" name="Oval 14"/>
          <p:cNvSpPr/>
          <p:nvPr/>
        </p:nvSpPr>
        <p:spPr>
          <a:xfrm>
            <a:off x="281549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92522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17" name="Oval 16"/>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090797"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19" name="Oval 18"/>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440394"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11 / 29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Kavya's review of the escalated case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Behaviour and rupees point at different segments, and both go to Meera.</a:t>
            </a:r>
          </a:p>
        </p:txBody>
      </p:sp>
      <p:pic>
        <p:nvPicPr>
          <p:cNvPr id="9" name="mermaid diagram" descr="6edb22b25a41b90d.png"/>
          <p:cNvPicPr>
            <a:picLocks noChangeAspect="1"/>
          </p:cNvPicPr>
          <p:nvPr/>
        </p:nvPicPr>
        <p:blipFill>
          <a:blip r:embed="rId6"/>
          <a:stretch>
            <a:fillRect/>
          </a:stretch>
        </p:blipFill>
        <p:spPr>
          <a:xfrm>
            <a:off x="2916878" y="1956816"/>
            <a:ext cx="6357937" cy="2300287"/>
          </a:xfrm>
          <a:prstGeom prst="rect">
            <a:avLst/>
          </a:prstGeom>
        </p:spPr>
      </p:pic>
      <p:sp>
        <p:nvSpPr>
          <p:cNvPr id="10" name="Rounded Rectangle 9"/>
          <p:cNvSpPr/>
          <p:nvPr/>
        </p:nvSpPr>
        <p:spPr>
          <a:xfrm>
            <a:off x="530352" y="4403407"/>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735639"/>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5"/>
          <a:stretch>
            <a:fillRect/>
          </a:stretch>
        </p:blipFill>
        <p:spPr>
          <a:xfrm>
            <a:off x="868680" y="4845367"/>
            <a:ext cx="237744" cy="237744"/>
          </a:xfrm>
          <a:prstGeom prst="rect">
            <a:avLst/>
          </a:prstGeom>
        </p:spPr>
      </p:pic>
      <p:sp>
        <p:nvSpPr>
          <p:cNvPr id="13" name="TextBox 12"/>
          <p:cNvSpPr txBox="1"/>
          <p:nvPr/>
        </p:nvSpPr>
        <p:spPr>
          <a:xfrm>
            <a:off x="1399031" y="4549711"/>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769167"/>
            <a:ext cx="9987991" cy="682752"/>
          </a:xfrm>
          <a:prstGeom prst="rect">
            <a:avLst/>
          </a:prstGeom>
          <a:noFill/>
        </p:spPr>
        <p:txBody>
          <a:bodyPr wrap="square" anchor="t" lIns="0" rIns="0" tIns="0" bIns="0">
            <a:spAutoFit/>
          </a:bodyPr>
          <a:lstStyle/>
          <a:p>
            <a:r>
              <a:rPr sz="1500" b="0" i="0">
                <a:solidFill>
                  <a:srgbClr val="1A1440"/>
                </a:solidFill>
                <a:latin typeface="Calibri"/>
              </a:rPr>
              <a:t>"Say both lenses and what each rests on: 22 members in one, three orders in the other. Tomorrow's reconciliation and Thursday's test check them before anyone acts."</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7" name="Oval 16"/>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943671" y="6437376"/>
            <a:ext cx="780383" cy="152146"/>
          </a:xfrm>
          <a:prstGeom prst="rect">
            <a:avLst/>
          </a:prstGeom>
          <a:noFill/>
        </p:spPr>
        <p:txBody>
          <a:bodyPr wrap="square" anchor="t" lIns="0" rIns="0" tIns="0" bIns="0">
            <a:spAutoFit/>
          </a:bodyPr>
          <a:lstStyle/>
          <a:p>
            <a:pPr algn="l"/>
            <a:r>
              <a:rPr sz="700" b="1" i="0">
                <a:solidFill>
                  <a:srgbClr val="5B3FD6"/>
                </a:solidFill>
                <a:latin typeface="Calibri"/>
              </a:rPr>
              <a:t>The debrief</a:t>
            </a:r>
          </a:p>
        </p:txBody>
      </p:sp>
      <p:sp>
        <p:nvSpPr>
          <p:cNvPr id="19" name="Oval 18"/>
          <p:cNvSpPr/>
          <p:nvPr/>
        </p:nvSpPr>
        <p:spPr>
          <a:xfrm>
            <a:off x="281549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92522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21" name="Oval 20"/>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090797"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3" name="Oval 22"/>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440394"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12 / 29</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second case</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The head of Retail-Plus names a cause, Marketing names another, and pairs test both on the same numbers.</a:t>
            </a:r>
          </a:p>
        </p:txBody>
      </p:sp>
      <p:sp>
        <p:nvSpPr>
          <p:cNvPr id="10" name="Rounded Rectangle 9"/>
          <p:cNvSpPr/>
          <p:nvPr/>
        </p:nvSpPr>
        <p:spPr>
          <a:xfrm>
            <a:off x="731519"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escalated case</a:t>
            </a:r>
          </a:p>
        </p:txBody>
      </p:sp>
      <p:sp>
        <p:nvSpPr>
          <p:cNvPr id="11" name="Rounded Rectangle 10"/>
          <p:cNvSpPr/>
          <p:nvPr/>
        </p:nvSpPr>
        <p:spPr>
          <a:xfrm>
            <a:off x="2272895" y="5074920"/>
            <a:ext cx="101713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debrief</a:t>
            </a:r>
          </a:p>
        </p:txBody>
      </p:sp>
      <p:sp>
        <p:nvSpPr>
          <p:cNvPr id="12" name="Rounded Rectangle 11"/>
          <p:cNvSpPr/>
          <p:nvPr/>
        </p:nvSpPr>
        <p:spPr>
          <a:xfrm>
            <a:off x="3399759" y="5074920"/>
            <a:ext cx="125399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second case</a:t>
            </a:r>
          </a:p>
        </p:txBody>
      </p:sp>
      <p:sp>
        <p:nvSpPr>
          <p:cNvPr id="13" name="Rounded Rectangle 12"/>
          <p:cNvSpPr/>
          <p:nvPr/>
        </p:nvSpPr>
        <p:spPr>
          <a:xfrm>
            <a:off x="4763486"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interview drill</a:t>
            </a:r>
          </a:p>
        </p:txBody>
      </p:sp>
      <p:sp>
        <p:nvSpPr>
          <p:cNvPr id="14" name="Rounded Rectangle 13"/>
          <p:cNvSpPr/>
          <p:nvPr/>
        </p:nvSpPr>
        <p:spPr>
          <a:xfrm>
            <a:off x="6364078" y="5074920"/>
            <a:ext cx="8987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close</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2: mix, rate and the cause</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13 / 29</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Two voices, one set of numbers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Each stakeholder hands you a cause; your job is to test both.</a:t>
            </a:r>
          </a:p>
        </p:txBody>
      </p:sp>
      <p:sp>
        <p:nvSpPr>
          <p:cNvPr id="9" name="Rounded Rectangle 8"/>
          <p:cNvSpPr/>
          <p:nvPr/>
        </p:nvSpPr>
        <p:spPr>
          <a:xfrm>
            <a:off x="530352" y="1956816"/>
            <a:ext cx="5474055"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crown_50cb0a914c82.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THE HEAD OF RETAIL-PLUS</a:t>
            </a:r>
          </a:p>
        </p:txBody>
      </p:sp>
      <p:sp>
        <p:nvSpPr>
          <p:cNvPr id="13" name="TextBox 12"/>
          <p:cNvSpPr txBox="1"/>
          <p:nvPr/>
        </p:nvSpPr>
        <p:spPr>
          <a:xfrm>
            <a:off x="731519" y="2962656"/>
            <a:ext cx="5071719" cy="267716"/>
          </a:xfrm>
          <a:prstGeom prst="rect">
            <a:avLst/>
          </a:prstGeom>
          <a:noFill/>
        </p:spPr>
        <p:txBody>
          <a:bodyPr wrap="square" anchor="t" lIns="0" rIns="0" tIns="0" bIns="0">
            <a:spAutoFit/>
          </a:bodyPr>
          <a:lstStyle/>
          <a:p>
            <a:pPr algn="l"/>
            <a:r>
              <a:rPr sz="1400" b="1" i="0">
                <a:solidFill>
                  <a:srgbClr val="1A0F5C"/>
                </a:solidFill>
                <a:latin typeface="Calibri"/>
              </a:rPr>
              <a:t>"It is the broken reorder button"</a:t>
            </a:r>
          </a:p>
        </p:txBody>
      </p:sp>
      <p:sp>
        <p:nvSpPr>
          <p:cNvPr id="14" name="TextBox 13"/>
          <p:cNvSpPr txBox="1"/>
          <p:nvPr/>
        </p:nvSpPr>
        <p:spPr>
          <a:xfrm>
            <a:off x="731519" y="3303524"/>
            <a:ext cx="5071719" cy="399796"/>
          </a:xfrm>
          <a:prstGeom prst="rect">
            <a:avLst/>
          </a:prstGeom>
          <a:noFill/>
        </p:spPr>
        <p:txBody>
          <a:bodyPr wrap="square" anchor="t" lIns="0" rIns="0" tIns="0" bIns="0">
            <a:spAutoFit/>
          </a:bodyPr>
          <a:lstStyle/>
          <a:p>
            <a:pPr algn="l"/>
            <a:r>
              <a:rPr sz="1100" b="0" i="0">
                <a:solidFill>
                  <a:srgbClr val="6B6690"/>
                </a:solidFill>
                <a:latin typeface="Calibri"/>
              </a:rPr>
              <a:t>A member's complaint says the app's reorder feature has been broken for six weeks.</a:t>
            </a:r>
          </a:p>
        </p:txBody>
      </p:sp>
      <p:sp>
        <p:nvSpPr>
          <p:cNvPr id="15" name="Rounded Rectangle 14"/>
          <p:cNvSpPr/>
          <p:nvPr/>
        </p:nvSpPr>
        <p:spPr>
          <a:xfrm>
            <a:off x="6187287" y="1956816"/>
            <a:ext cx="5474055"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6388455"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egaphone_76c78891bb4f.png"/>
          <p:cNvPicPr>
            <a:picLocks noChangeAspect="1"/>
          </p:cNvPicPr>
          <p:nvPr/>
        </p:nvPicPr>
        <p:blipFill>
          <a:blip r:embed="rId5"/>
          <a:stretch>
            <a:fillRect/>
          </a:stretch>
        </p:blipFill>
        <p:spPr>
          <a:xfrm>
            <a:off x="6498183" y="2267712"/>
            <a:ext cx="237744" cy="237744"/>
          </a:xfrm>
          <a:prstGeom prst="rect">
            <a:avLst/>
          </a:prstGeom>
        </p:spPr>
      </p:pic>
      <p:sp>
        <p:nvSpPr>
          <p:cNvPr id="18" name="TextBox 17"/>
          <p:cNvSpPr txBox="1"/>
          <p:nvPr/>
        </p:nvSpPr>
        <p:spPr>
          <a:xfrm>
            <a:off x="6388455" y="2724912"/>
            <a:ext cx="5071719" cy="160401"/>
          </a:xfrm>
          <a:prstGeom prst="rect">
            <a:avLst/>
          </a:prstGeom>
          <a:noFill/>
        </p:spPr>
        <p:txBody>
          <a:bodyPr wrap="square" anchor="t" lIns="0" rIns="0" tIns="0" bIns="0">
            <a:spAutoFit/>
          </a:bodyPr>
          <a:lstStyle/>
          <a:p>
            <a:pPr algn="l"/>
            <a:r>
              <a:rPr sz="750" b="1" i="0" spc="250">
                <a:solidFill>
                  <a:srgbClr val="D9A7FF"/>
                </a:solidFill>
                <a:latin typeface="Calibri"/>
              </a:rPr>
              <a:t>THE MARKETING LEAD</a:t>
            </a:r>
          </a:p>
        </p:txBody>
      </p:sp>
      <p:sp>
        <p:nvSpPr>
          <p:cNvPr id="19" name="TextBox 18"/>
          <p:cNvSpPr txBox="1"/>
          <p:nvPr/>
        </p:nvSpPr>
        <p:spPr>
          <a:xfrm>
            <a:off x="6388455" y="2962656"/>
            <a:ext cx="5071719" cy="267716"/>
          </a:xfrm>
          <a:prstGeom prst="rect">
            <a:avLst/>
          </a:prstGeom>
          <a:noFill/>
        </p:spPr>
        <p:txBody>
          <a:bodyPr wrap="square" anchor="t" lIns="0" rIns="0" tIns="0" bIns="0">
            <a:spAutoFit/>
          </a:bodyPr>
          <a:lstStyle/>
          <a:p>
            <a:pPr algn="l"/>
            <a:r>
              <a:rPr sz="1400" b="1" i="0">
                <a:solidFill>
                  <a:srgbClr val="FFFFFF"/>
                </a:solidFill>
                <a:latin typeface="Calibri"/>
              </a:rPr>
              <a:t>"A flat count can hide churn"</a:t>
            </a:r>
          </a:p>
        </p:txBody>
      </p:sp>
      <p:sp>
        <p:nvSpPr>
          <p:cNvPr id="20" name="TextBox 19"/>
          <p:cNvSpPr txBox="1"/>
          <p:nvPr/>
        </p:nvSpPr>
        <p:spPr>
          <a:xfrm>
            <a:off x="6388455" y="3303524"/>
            <a:ext cx="5071719" cy="399796"/>
          </a:xfrm>
          <a:prstGeom prst="rect">
            <a:avLst/>
          </a:prstGeom>
          <a:noFill/>
        </p:spPr>
        <p:txBody>
          <a:bodyPr wrap="square" anchor="t" lIns="0" rIns="0" tIns="0" bIns="0">
            <a:spAutoFit/>
          </a:bodyPr>
          <a:lstStyle/>
          <a:p>
            <a:pPr algn="l"/>
            <a:r>
              <a:rPr sz="1100" b="0" i="0">
                <a:solidFill>
                  <a:srgbClr val="CFC9EE"/>
                </a:solidFill>
                <a:latin typeface="Calibri"/>
              </a:rPr>
              <a:t>New customers may have replaced lost ones, and Retail-Plus is too small to matter.</a:t>
            </a:r>
          </a:p>
        </p:txBody>
      </p:sp>
      <p:sp>
        <p:nvSpPr>
          <p:cNvPr id="21" name="Rounded Rectangle 20"/>
          <p:cNvSpPr/>
          <p:nvPr/>
        </p:nvSpPr>
        <p:spPr>
          <a:xfrm>
            <a:off x="530352" y="410413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423214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4223004"/>
            <a:ext cx="10564063" cy="624840"/>
          </a:xfrm>
          <a:prstGeom prst="rect">
            <a:avLst/>
          </a:prstGeom>
          <a:noFill/>
        </p:spPr>
        <p:txBody>
          <a:bodyPr wrap="square" anchor="ctr" lIns="0" rIns="0" tIns="0" bIns="0">
            <a:spAutoFit/>
          </a:bodyPr>
          <a:lstStyle/>
          <a:p>
            <a:r>
              <a:rPr sz="1500" b="1">
                <a:solidFill>
                  <a:srgbClr val="5B3FD6"/>
                </a:solidFill>
                <a:latin typeface="Calibri"/>
              </a:rPr>
              <a:t>Your role. </a:t>
            </a:r>
            <a:r>
              <a:rPr sz="1500" b="0" i="0">
                <a:solidFill>
                  <a:srgbClr val="1A1440"/>
                </a:solidFill>
                <a:latin typeface="Calibri"/>
              </a:rPr>
              <a:t>Name each cause as a hypothesis, say what evidence would settle it, and hold the numbers steady when either voice pushes.</a:t>
            </a:r>
          </a:p>
        </p:txBody>
      </p:sp>
      <p:sp>
        <p:nvSpPr>
          <p:cNvPr id="24" name="Oval 2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26" name="Oval 25"/>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28" name="Oval 27"/>
          <p:cNvSpPr/>
          <p:nvPr/>
        </p:nvSpPr>
        <p:spPr>
          <a:xfrm>
            <a:off x="281549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925222"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The second case</a:t>
            </a:r>
          </a:p>
        </p:txBody>
      </p:sp>
      <p:sp>
        <p:nvSpPr>
          <p:cNvPr id="30" name="Oval 29"/>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4090797"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32" name="Oval 31"/>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440394"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14 / 29</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many Q2 customers bought in Q1</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Marketing says a flat count of 69 can hide customers lost and replaced.</a:t>
            </a:r>
          </a:p>
        </p:txBody>
      </p:sp>
      <p:pic>
        <p:nvPicPr>
          <p:cNvPr id="9" name="mermaid diagram" descr="f20cbf70a464da7f.png"/>
          <p:cNvPicPr>
            <a:picLocks noChangeAspect="1"/>
          </p:cNvPicPr>
          <p:nvPr/>
        </p:nvPicPr>
        <p:blipFill>
          <a:blip r:embed="rId5"/>
          <a:stretch>
            <a:fillRect/>
          </a:stretch>
        </p:blipFill>
        <p:spPr>
          <a:xfrm>
            <a:off x="4759966" y="1956816"/>
            <a:ext cx="2671762" cy="1800225"/>
          </a:xfrm>
          <a:prstGeom prst="rect">
            <a:avLst/>
          </a:prstGeom>
        </p:spPr>
      </p:pic>
      <p:sp>
        <p:nvSpPr>
          <p:cNvPr id="10" name="Rounded Rectangle 9"/>
          <p:cNvSpPr/>
          <p:nvPr/>
        </p:nvSpPr>
        <p:spPr>
          <a:xfrm>
            <a:off x="530352" y="3903345"/>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3136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22217"/>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Predict the overlap of customer ids: a) all 69; b) 52, with 17 replaced; c) 35, half replaced; d) it cannot be known from order rows.</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5" name="Oval 14"/>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17" name="Oval 16"/>
          <p:cNvSpPr/>
          <p:nvPr/>
        </p:nvSpPr>
        <p:spPr>
          <a:xfrm>
            <a:off x="281549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925222"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The second case</a:t>
            </a:r>
          </a:p>
        </p:txBody>
      </p:sp>
      <p:sp>
        <p:nvSpPr>
          <p:cNvPr id="19" name="Oval 18"/>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090797"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1" name="Oval 20"/>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440394"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15 / 29</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all 69 bought in both quarters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None lost and none new, so acquisition is not the branch that moved.</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69</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BOUGHT IN BOTH</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every Q2 customer bought in Q1</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0</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LOST</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bought in Q1, not in Q2</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0</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NEW</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bought in Q2, not in Q1</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358140"/>
          </a:xfrm>
          <a:prstGeom prst="rect">
            <a:avLst/>
          </a:prstGeom>
          <a:noFill/>
        </p:spPr>
        <p:txBody>
          <a:bodyPr wrap="square" anchor="ctr" lIns="0" rIns="0" tIns="0" bIns="0">
            <a:spAutoFit/>
          </a:bodyPr>
          <a:lstStyle/>
          <a:p>
            <a:r>
              <a:rPr sz="1500" b="1">
                <a:solidFill>
                  <a:srgbClr val="5B3FD6"/>
                </a:solidFill>
                <a:latin typeface="Calibri"/>
              </a:rPr>
              <a:t>The claim. </a:t>
            </a:r>
            <a:r>
              <a:rPr sz="1500" b="0" i="0">
                <a:solidFill>
                  <a:srgbClr val="1A1440"/>
                </a:solidFill>
                <a:latin typeface="Calibri"/>
              </a:rPr>
              <a:t>The count is flat because the customers are the same people; they bought less often.</a:t>
            </a:r>
          </a:p>
        </p:txBody>
      </p:sp>
      <p:sp>
        <p:nvSpPr>
          <p:cNvPr id="24" name="Oval 2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26" name="Oval 25"/>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28" name="Oval 27"/>
          <p:cNvSpPr/>
          <p:nvPr/>
        </p:nvSpPr>
        <p:spPr>
          <a:xfrm>
            <a:off x="281549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925222"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The second case</a:t>
            </a:r>
          </a:p>
        </p:txBody>
      </p:sp>
      <p:sp>
        <p:nvSpPr>
          <p:cNvPr id="30" name="Oval 29"/>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4090797"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32" name="Oval 31"/>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440394"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16 / 29</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Retail-Plus is small in rupees and large in behaviour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Marketing says Rs 65,250 of a Rs 23 lakh fall does not matter.</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93%</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OF THE CONSUMER FALL</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Rs 65,250 of Rs 70,280</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25 of 28</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LOST ORDERS</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89 percent of them</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22 of 22</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MEMBERS BOUGHT LESS</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whole tier moved</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The reply. </a:t>
            </a:r>
            <a:r>
              <a:rPr sz="1500" b="0" i="0">
                <a:solidFill>
                  <a:srgbClr val="1A1440"/>
                </a:solidFill>
                <a:latin typeface="Calibri"/>
              </a:rPr>
              <a:t>The rupee fall in Business rests on three orders; the Retail-Plus fall rests on every member of a paid tier buying half as often.</a:t>
            </a:r>
          </a:p>
        </p:txBody>
      </p:sp>
      <p:sp>
        <p:nvSpPr>
          <p:cNvPr id="24" name="Oval 2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26" name="Oval 25"/>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28" name="Oval 27"/>
          <p:cNvSpPr/>
          <p:nvPr/>
        </p:nvSpPr>
        <p:spPr>
          <a:xfrm>
            <a:off x="281549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925222"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The second case</a:t>
            </a:r>
          </a:p>
        </p:txBody>
      </p:sp>
      <p:sp>
        <p:nvSpPr>
          <p:cNvPr id="30" name="Oval 29"/>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4090797"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32" name="Oval 31"/>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440394"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17 / 29</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fall began before the reorder break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Retail-Plus orders dropped in July; six weeks back from this week is late August.</a:t>
            </a:r>
          </a:p>
        </p:txBody>
      </p:sp>
      <p:pic>
        <p:nvPicPr>
          <p:cNvPr id="9" name="mermaid diagram" descr="cf38f28011ad068f.png"/>
          <p:cNvPicPr>
            <a:picLocks noChangeAspect="1"/>
          </p:cNvPicPr>
          <p:nvPr/>
        </p:nvPicPr>
        <p:blipFill>
          <a:blip r:embed="rId5"/>
          <a:stretch>
            <a:fillRect/>
          </a:stretch>
        </p:blipFill>
        <p:spPr>
          <a:xfrm>
            <a:off x="2286863" y="1664208"/>
            <a:ext cx="7617968"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Retail-Plus placed 18 orders from 1 July to 24 August and 8 from 25 August to 30 September. Retail-Core, the comparison segment, stayed flat.</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3" name="Oval 12"/>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15" name="Oval 14"/>
          <p:cNvSpPr/>
          <p:nvPr/>
        </p:nvSpPr>
        <p:spPr>
          <a:xfrm>
            <a:off x="281549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925222"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The second case</a:t>
            </a:r>
          </a:p>
        </p:txBody>
      </p:sp>
      <p:sp>
        <p:nvSpPr>
          <p:cNvPr id="17" name="Oval 16"/>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090797"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19" name="Oval 18"/>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440394"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18 / 29</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Every channel fell, the app no faster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An app-only cause would have shown the app falling first and alone.</a:t>
            </a:r>
          </a:p>
        </p:txBody>
      </p:sp>
      <p:graphicFrame>
        <p:nvGraphicFramePr>
          <p:cNvPr id="9" name="Table 8"/>
          <p:cNvGraphicFramePr>
            <a:graphicFrameLocks noGrp="1"/>
          </p:cNvGraphicFramePr>
          <p:nvPr/>
        </p:nvGraphicFramePr>
        <p:xfrm>
          <a:off x="530352" y="1956816"/>
          <a:ext cx="11130991" cy="1243584"/>
        </p:xfrm>
        <a:graphic>
          <a:graphicData uri="http://schemas.openxmlformats.org/drawingml/2006/table">
            <a:tbl>
              <a:tblPr firstRow="0" bandRow="0">
                <a:tableStyleId>{2D5ABB26-0587-4C30-8999-92F81FD0307C}</a:tableStyleId>
              </a:tblPr>
              <a:tblGrid>
                <a:gridCol w="8387791"/>
                <a:gridCol w="914400"/>
                <a:gridCol w="914400"/>
                <a:gridCol w="914400"/>
              </a:tblGrid>
              <a:tr h="310896">
                <a:tc>
                  <a:txBody>
                    <a:bodyPr/>
                    <a:lstStyle/>
                    <a:p>
                      <a:r>
                        <a:rPr sz="950" b="1" i="0">
                          <a:solidFill>
                            <a:srgbClr val="FFFFFF"/>
                          </a:solidFill>
                          <a:latin typeface="Calibri"/>
                        </a:rPr>
                        <a:t>Retail-Plus orders</a:t>
                      </a:r>
                    </a:p>
                  </a:txBody>
                  <a:tcPr marL="101600" marR="101600" marT="38100" marB="38100" anchor="ctr">
                    <a:solidFill>
                      <a:srgbClr val="1A0F5C"/>
                    </a:solidFill>
                  </a:tcPr>
                </a:tc>
                <a:tc>
                  <a:txBody>
                    <a:bodyPr/>
                    <a:lstStyle/>
                    <a:p>
                      <a:r>
                        <a:rPr sz="950" b="1" i="0">
                          <a:solidFill>
                            <a:srgbClr val="FFFFFF"/>
                          </a:solidFill>
                          <a:latin typeface="Calibri"/>
                        </a:rPr>
                        <a:t>Q1</a:t>
                      </a:r>
                    </a:p>
                  </a:txBody>
                  <a:tcPr marL="101600" marR="101600" marT="38100" marB="38100" anchor="ctr">
                    <a:solidFill>
                      <a:srgbClr val="1A0F5C"/>
                    </a:solidFill>
                  </a:tcPr>
                </a:tc>
                <a:tc>
                  <a:txBody>
                    <a:bodyPr/>
                    <a:lstStyle/>
                    <a:p>
                      <a:r>
                        <a:rPr sz="950" b="1" i="0">
                          <a:solidFill>
                            <a:srgbClr val="FFFFFF"/>
                          </a:solidFill>
                          <a:latin typeface="Calibri"/>
                        </a:rPr>
                        <a:t>Q2</a:t>
                      </a:r>
                    </a:p>
                  </a:txBody>
                  <a:tcPr marL="101600" marR="101600" marT="38100" marB="38100" anchor="ctr">
                    <a:solidFill>
                      <a:srgbClr val="1A0F5C"/>
                    </a:solidFill>
                  </a:tcPr>
                </a:tc>
                <a:tc>
                  <a:txBody>
                    <a:bodyPr/>
                    <a:lstStyle/>
                    <a:p>
                      <a:r>
                        <a:rPr sz="950" b="1" i="0">
                          <a:solidFill>
                            <a:srgbClr val="FFFFFF"/>
                          </a:solidFill>
                          <a:latin typeface="Calibri"/>
                        </a:rPr>
                        <a:t>Change</a:t>
                      </a:r>
                    </a:p>
                  </a:txBody>
                  <a:tcPr marL="101600" marR="101600" marT="38100" marB="38100" anchor="ctr">
                    <a:solidFill>
                      <a:srgbClr val="1A0F5C"/>
                    </a:solidFill>
                  </a:tcPr>
                </a:tc>
              </a:tr>
              <a:tr h="310896">
                <a:tc>
                  <a:txBody>
                    <a:bodyPr/>
                    <a:lstStyle/>
                    <a:p>
                      <a:r>
                        <a:rPr sz="900" b="0" i="0">
                          <a:solidFill>
                            <a:srgbClr val="1A1440"/>
                          </a:solidFill>
                          <a:latin typeface="Calibri"/>
                        </a:rPr>
                        <a:t>Web</a:t>
                      </a:r>
                    </a:p>
                  </a:txBody>
                  <a:tcPr marL="101600" marR="101600" marT="38100" marB="38100" anchor="ctr">
                    <a:solidFill>
                      <a:srgbClr val="FFFFFF"/>
                    </a:solidFill>
                  </a:tcPr>
                </a:tc>
                <a:tc>
                  <a:txBody>
                    <a:bodyPr/>
                    <a:lstStyle/>
                    <a:p>
                      <a:r>
                        <a:rPr sz="900" b="0" i="0">
                          <a:solidFill>
                            <a:srgbClr val="1A1440"/>
                          </a:solidFill>
                          <a:latin typeface="Calibri"/>
                        </a:rPr>
                        <a:t>24</a:t>
                      </a:r>
                    </a:p>
                  </a:txBody>
                  <a:tcPr marL="101600" marR="101600" marT="38100" marB="38100" anchor="ctr">
                    <a:solidFill>
                      <a:srgbClr val="FFFFFF"/>
                    </a:solidFill>
                  </a:tcPr>
                </a:tc>
                <a:tc>
                  <a:txBody>
                    <a:bodyPr/>
                    <a:lstStyle/>
                    <a:p>
                      <a:r>
                        <a:rPr sz="900" b="0" i="0">
                          <a:solidFill>
                            <a:srgbClr val="1A1440"/>
                          </a:solidFill>
                          <a:latin typeface="Calibri"/>
                        </a:rPr>
                        <a:t>9</a:t>
                      </a:r>
                    </a:p>
                  </a:txBody>
                  <a:tcPr marL="101600" marR="101600" marT="38100" marB="38100" anchor="ctr">
                    <a:solidFill>
                      <a:srgbClr val="FFFFFF"/>
                    </a:solidFill>
                  </a:tcPr>
                </a:tc>
                <a:tc>
                  <a:txBody>
                    <a:bodyPr/>
                    <a:lstStyle/>
                    <a:p>
                      <a:r>
                        <a:rPr sz="900" b="0" i="0">
                          <a:solidFill>
                            <a:srgbClr val="1A1440"/>
                          </a:solidFill>
                          <a:latin typeface="Calibri"/>
                        </a:rPr>
                        <a:t>-15</a:t>
                      </a:r>
                    </a:p>
                  </a:txBody>
                  <a:tcPr marL="101600" marR="101600" marT="38100" marB="38100" anchor="ctr">
                    <a:solidFill>
                      <a:srgbClr val="FFFFFF"/>
                    </a:solidFill>
                  </a:tcPr>
                </a:tc>
              </a:tr>
              <a:tr h="310896">
                <a:tc>
                  <a:txBody>
                    <a:bodyPr/>
                    <a:lstStyle/>
                    <a:p>
                      <a:r>
                        <a:rPr sz="900" b="0" i="0">
                          <a:solidFill>
                            <a:srgbClr val="1A1440"/>
                          </a:solidFill>
                          <a:latin typeface="Calibri"/>
                        </a:rPr>
                        <a:t>Store</a:t>
                      </a:r>
                    </a:p>
                  </a:txBody>
                  <a:tcPr marL="101600" marR="101600" marT="38100" marB="38100" anchor="ctr">
                    <a:solidFill>
                      <a:srgbClr val="F4F2FA"/>
                    </a:solidFill>
                  </a:tcPr>
                </a:tc>
                <a:tc>
                  <a:txBody>
                    <a:bodyPr/>
                    <a:lstStyle/>
                    <a:p>
                      <a:r>
                        <a:rPr sz="900" b="0" i="0">
                          <a:solidFill>
                            <a:srgbClr val="1A1440"/>
                          </a:solidFill>
                          <a:latin typeface="Calibri"/>
                        </a:rPr>
                        <a:t>14</a:t>
                      </a:r>
                    </a:p>
                  </a:txBody>
                  <a:tcPr marL="101600" marR="101600" marT="38100" marB="38100" anchor="ctr">
                    <a:solidFill>
                      <a:srgbClr val="F4F2FA"/>
                    </a:solidFill>
                  </a:tcPr>
                </a:tc>
                <a:tc>
                  <a:txBody>
                    <a:bodyPr/>
                    <a:lstStyle/>
                    <a:p>
                      <a:r>
                        <a:rPr sz="900" b="0" i="0">
                          <a:solidFill>
                            <a:srgbClr val="1A1440"/>
                          </a:solidFill>
                          <a:latin typeface="Calibri"/>
                        </a:rPr>
                        <a:t>9</a:t>
                      </a:r>
                    </a:p>
                  </a:txBody>
                  <a:tcPr marL="101600" marR="101600" marT="38100" marB="38100" anchor="ctr">
                    <a:solidFill>
                      <a:srgbClr val="F4F2FA"/>
                    </a:solidFill>
                  </a:tcPr>
                </a:tc>
                <a:tc>
                  <a:txBody>
                    <a:bodyPr/>
                    <a:lstStyle/>
                    <a:p>
                      <a:r>
                        <a:rPr sz="900" b="0" i="0">
                          <a:solidFill>
                            <a:srgbClr val="1A1440"/>
                          </a:solidFill>
                          <a:latin typeface="Calibri"/>
                        </a:rPr>
                        <a:t>-5</a:t>
                      </a:r>
                    </a:p>
                  </a:txBody>
                  <a:tcPr marL="101600" marR="101600" marT="38100" marB="38100" anchor="ctr">
                    <a:solidFill>
                      <a:srgbClr val="F4F2FA"/>
                    </a:solidFill>
                  </a:tcPr>
                </a:tc>
              </a:tr>
              <a:tr h="310896">
                <a:tc>
                  <a:txBody>
                    <a:bodyPr/>
                    <a:lstStyle/>
                    <a:p>
                      <a:r>
                        <a:rPr sz="900" b="0" i="0">
                          <a:solidFill>
                            <a:srgbClr val="1A1440"/>
                          </a:solidFill>
                          <a:latin typeface="Calibri"/>
                        </a:rPr>
                        <a:t>App</a:t>
                      </a:r>
                    </a:p>
                  </a:txBody>
                  <a:tcPr marL="101600" marR="101600" marT="38100" marB="38100" anchor="ctr">
                    <a:solidFill>
                      <a:srgbClr val="FFFFFF"/>
                    </a:solidFill>
                  </a:tcPr>
                </a:tc>
                <a:tc>
                  <a:txBody>
                    <a:bodyPr/>
                    <a:lstStyle/>
                    <a:p>
                      <a:r>
                        <a:rPr sz="900" b="0" i="0">
                          <a:solidFill>
                            <a:srgbClr val="1A1440"/>
                          </a:solidFill>
                          <a:latin typeface="Calibri"/>
                        </a:rPr>
                        <a:t>13</a:t>
                      </a:r>
                    </a:p>
                  </a:txBody>
                  <a:tcPr marL="101600" marR="101600" marT="38100" marB="38100" anchor="ctr">
                    <a:solidFill>
                      <a:srgbClr val="FFFFFF"/>
                    </a:solidFill>
                  </a:tcPr>
                </a:tc>
                <a:tc>
                  <a:txBody>
                    <a:bodyPr/>
                    <a:lstStyle/>
                    <a:p>
                      <a:r>
                        <a:rPr sz="900" b="0" i="0">
                          <a:solidFill>
                            <a:srgbClr val="1A1440"/>
                          </a:solidFill>
                          <a:latin typeface="Calibri"/>
                        </a:rPr>
                        <a:t>8</a:t>
                      </a:r>
                    </a:p>
                  </a:txBody>
                  <a:tcPr marL="101600" marR="101600" marT="38100" marB="38100" anchor="ctr">
                    <a:solidFill>
                      <a:srgbClr val="FFFFFF"/>
                    </a:solidFill>
                  </a:tcPr>
                </a:tc>
                <a:tc>
                  <a:txBody>
                    <a:bodyPr/>
                    <a:lstStyle/>
                    <a:p>
                      <a:r>
                        <a:rPr sz="900" b="0" i="0">
                          <a:solidFill>
                            <a:srgbClr val="1A1440"/>
                          </a:solidFill>
                          <a:latin typeface="Calibri"/>
                        </a:rPr>
                        <a:t>-5</a:t>
                      </a:r>
                    </a:p>
                  </a:txBody>
                  <a:tcPr marL="101600" marR="101600" marT="38100" marB="38100" anchor="ctr">
                    <a:solidFill>
                      <a:srgbClr val="FFFFFF"/>
                    </a:solidFill>
                  </a:tcPr>
                </a:tc>
              </a:tr>
            </a:tbl>
          </a:graphicData>
        </a:graphic>
      </p:graphicFrame>
      <p:pic>
        <p:nvPicPr>
          <p:cNvPr id="10" name="mermaid diagram" descr="7ba9bceba968e311.png"/>
          <p:cNvPicPr>
            <a:picLocks noChangeAspect="1"/>
          </p:cNvPicPr>
          <p:nvPr/>
        </p:nvPicPr>
        <p:blipFill>
          <a:blip r:embed="rId5"/>
          <a:stretch>
            <a:fillRect/>
          </a:stretch>
        </p:blipFill>
        <p:spPr>
          <a:xfrm>
            <a:off x="2716853" y="3456432"/>
            <a:ext cx="6757987" cy="1128712"/>
          </a:xfrm>
          <a:prstGeom prst="rect">
            <a:avLst/>
          </a:prstGeom>
        </p:spPr>
      </p:pic>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3" name="Oval 12"/>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15" name="Oval 14"/>
          <p:cNvSpPr/>
          <p:nvPr/>
        </p:nvSpPr>
        <p:spPr>
          <a:xfrm>
            <a:off x="281549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925222"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The second case</a:t>
            </a:r>
          </a:p>
        </p:txBody>
      </p:sp>
      <p:sp>
        <p:nvSpPr>
          <p:cNvPr id="17" name="Oval 16"/>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090797"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19" name="Oval 18"/>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440394"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19 / 29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Two hypotheses, and the data that settles each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Neither can be settled from this file, so the answer names the data to ask for.</a:t>
            </a:r>
          </a:p>
        </p:txBody>
      </p:sp>
      <p:sp>
        <p:nvSpPr>
          <p:cNvPr id="9" name="Rounded Rectangle 8"/>
          <p:cNvSpPr/>
          <p:nvPr/>
        </p:nvSpPr>
        <p:spPr>
          <a:xfrm>
            <a:off x="530352" y="1956816"/>
            <a:ext cx="5474055"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smartphone_4533b8fac614.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HYPOTHESIS 1</a:t>
            </a:r>
          </a:p>
        </p:txBody>
      </p:sp>
      <p:sp>
        <p:nvSpPr>
          <p:cNvPr id="13" name="TextBox 12"/>
          <p:cNvSpPr txBox="1"/>
          <p:nvPr/>
        </p:nvSpPr>
        <p:spPr>
          <a:xfrm>
            <a:off x="731519" y="2962656"/>
            <a:ext cx="5071719" cy="267716"/>
          </a:xfrm>
          <a:prstGeom prst="rect">
            <a:avLst/>
          </a:prstGeom>
          <a:noFill/>
        </p:spPr>
        <p:txBody>
          <a:bodyPr wrap="square" anchor="t" lIns="0" rIns="0" tIns="0" bIns="0">
            <a:spAutoFit/>
          </a:bodyPr>
          <a:lstStyle/>
          <a:p>
            <a:pPr algn="l"/>
            <a:r>
              <a:rPr sz="1400" b="1" i="0">
                <a:solidFill>
                  <a:srgbClr val="1A0F5C"/>
                </a:solidFill>
                <a:latin typeface="Calibri"/>
              </a:rPr>
              <a:t>The broken reorder feature</a:t>
            </a:r>
          </a:p>
        </p:txBody>
      </p:sp>
      <p:sp>
        <p:nvSpPr>
          <p:cNvPr id="14" name="TextBox 13"/>
          <p:cNvSpPr txBox="1"/>
          <p:nvPr/>
        </p:nvSpPr>
        <p:spPr>
          <a:xfrm>
            <a:off x="731519" y="3303524"/>
            <a:ext cx="5071719" cy="581406"/>
          </a:xfrm>
          <a:prstGeom prst="rect">
            <a:avLst/>
          </a:prstGeom>
          <a:noFill/>
        </p:spPr>
        <p:txBody>
          <a:bodyPr wrap="square" anchor="t" lIns="0" rIns="0" tIns="0" bIns="0">
            <a:spAutoFit/>
          </a:bodyPr>
          <a:lstStyle/>
          <a:p>
            <a:pPr algn="l"/>
            <a:r>
              <a:rPr sz="1100" b="0" i="0">
                <a:solidFill>
                  <a:srgbClr val="6B6690"/>
                </a:solidFill>
                <a:latin typeface="Calibri"/>
              </a:rPr>
              <a:t>Settled by the app's reorder events and failures by week, the release that broke it, and whether members who used reorder in Q1 fell more than those who did not.</a:t>
            </a:r>
          </a:p>
        </p:txBody>
      </p:sp>
      <p:sp>
        <p:nvSpPr>
          <p:cNvPr id="15" name="Rounded Rectangle 14"/>
          <p:cNvSpPr/>
          <p:nvPr/>
        </p:nvSpPr>
        <p:spPr>
          <a:xfrm>
            <a:off x="6187287" y="1956816"/>
            <a:ext cx="5474055"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6388455"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alendar-clock_65f01296de83.png"/>
          <p:cNvPicPr>
            <a:picLocks noChangeAspect="1"/>
          </p:cNvPicPr>
          <p:nvPr/>
        </p:nvPicPr>
        <p:blipFill>
          <a:blip r:embed="rId5"/>
          <a:stretch>
            <a:fillRect/>
          </a:stretch>
        </p:blipFill>
        <p:spPr>
          <a:xfrm>
            <a:off x="6498183" y="2267712"/>
            <a:ext cx="237744" cy="237744"/>
          </a:xfrm>
          <a:prstGeom prst="rect">
            <a:avLst/>
          </a:prstGeom>
        </p:spPr>
      </p:pic>
      <p:sp>
        <p:nvSpPr>
          <p:cNvPr id="18" name="TextBox 17"/>
          <p:cNvSpPr txBox="1"/>
          <p:nvPr/>
        </p:nvSpPr>
        <p:spPr>
          <a:xfrm>
            <a:off x="6388455" y="2724912"/>
            <a:ext cx="5071719" cy="160401"/>
          </a:xfrm>
          <a:prstGeom prst="rect">
            <a:avLst/>
          </a:prstGeom>
          <a:noFill/>
        </p:spPr>
        <p:txBody>
          <a:bodyPr wrap="square" anchor="t" lIns="0" rIns="0" tIns="0" bIns="0">
            <a:spAutoFit/>
          </a:bodyPr>
          <a:lstStyle/>
          <a:p>
            <a:pPr algn="l"/>
            <a:r>
              <a:rPr sz="750" b="1" i="0" spc="250">
                <a:solidFill>
                  <a:srgbClr val="D9A7FF"/>
                </a:solidFill>
                <a:latin typeface="Calibri"/>
              </a:rPr>
              <a:t>HYPOTHESIS 2</a:t>
            </a:r>
          </a:p>
        </p:txBody>
      </p:sp>
      <p:sp>
        <p:nvSpPr>
          <p:cNvPr id="19" name="TextBox 18"/>
          <p:cNvSpPr txBox="1"/>
          <p:nvPr/>
        </p:nvSpPr>
        <p:spPr>
          <a:xfrm>
            <a:off x="6388455" y="2962656"/>
            <a:ext cx="5071719" cy="267716"/>
          </a:xfrm>
          <a:prstGeom prst="rect">
            <a:avLst/>
          </a:prstGeom>
          <a:noFill/>
        </p:spPr>
        <p:txBody>
          <a:bodyPr wrap="square" anchor="t" lIns="0" rIns="0" tIns="0" bIns="0">
            <a:spAutoFit/>
          </a:bodyPr>
          <a:lstStyle/>
          <a:p>
            <a:pPr algn="l"/>
            <a:r>
              <a:rPr sz="1400" b="1" i="0">
                <a:solidFill>
                  <a:srgbClr val="FFFFFF"/>
                </a:solidFill>
                <a:latin typeface="Calibri"/>
              </a:rPr>
              <a:t>Something changed for members in July</a:t>
            </a:r>
          </a:p>
        </p:txBody>
      </p:sp>
      <p:sp>
        <p:nvSpPr>
          <p:cNvPr id="20" name="TextBox 19"/>
          <p:cNvSpPr txBox="1"/>
          <p:nvPr/>
        </p:nvSpPr>
        <p:spPr>
          <a:xfrm>
            <a:off x="6388455" y="3303524"/>
            <a:ext cx="5071719" cy="399796"/>
          </a:xfrm>
          <a:prstGeom prst="rect">
            <a:avLst/>
          </a:prstGeom>
          <a:noFill/>
        </p:spPr>
        <p:txBody>
          <a:bodyPr wrap="square" anchor="t" lIns="0" rIns="0" tIns="0" bIns="0">
            <a:spAutoFit/>
          </a:bodyPr>
          <a:lstStyle/>
          <a:p>
            <a:pPr algn="l"/>
            <a:r>
              <a:rPr sz="1100" b="0" i="0">
                <a:solidFill>
                  <a:srgbClr val="CFC9EE"/>
                </a:solidFill>
                <a:latin typeface="Calibri"/>
              </a:rPr>
              <a:t>Settled by the tier's change log for benefits, prices or delivery terms, renewals, and members' support tickets.</a:t>
            </a:r>
          </a:p>
        </p:txBody>
      </p:sp>
      <p:sp>
        <p:nvSpPr>
          <p:cNvPr id="21" name="Rounded Rectangle 20"/>
          <p:cNvSpPr/>
          <p:nvPr/>
        </p:nvSpPr>
        <p:spPr>
          <a:xfrm>
            <a:off x="530352" y="4294124"/>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462635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search-check_6571e64a041f.png"/>
          <p:cNvPicPr>
            <a:picLocks noChangeAspect="1"/>
          </p:cNvPicPr>
          <p:nvPr/>
        </p:nvPicPr>
        <p:blipFill>
          <a:blip r:embed="rId6"/>
          <a:stretch>
            <a:fillRect/>
          </a:stretch>
        </p:blipFill>
        <p:spPr>
          <a:xfrm>
            <a:off x="868680" y="4736084"/>
            <a:ext cx="237744" cy="237744"/>
          </a:xfrm>
          <a:prstGeom prst="rect">
            <a:avLst/>
          </a:prstGeom>
        </p:spPr>
      </p:pic>
      <p:sp>
        <p:nvSpPr>
          <p:cNvPr id="24" name="TextBox 23"/>
          <p:cNvSpPr txBox="1"/>
          <p:nvPr/>
        </p:nvSpPr>
        <p:spPr>
          <a:xfrm>
            <a:off x="1399031" y="444042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25" name="TextBox 24"/>
          <p:cNvSpPr txBox="1"/>
          <p:nvPr/>
        </p:nvSpPr>
        <p:spPr>
          <a:xfrm>
            <a:off x="1399031" y="4659884"/>
            <a:ext cx="9987991" cy="682752"/>
          </a:xfrm>
          <a:prstGeom prst="rect">
            <a:avLst/>
          </a:prstGeom>
          <a:noFill/>
        </p:spPr>
        <p:txBody>
          <a:bodyPr wrap="square" anchor="t" lIns="0" rIns="0" tIns="0" bIns="0">
            <a:spAutoFit/>
          </a:bodyPr>
          <a:lstStyle/>
          <a:p>
            <a:r>
              <a:rPr sz="1500" b="0" i="0">
                <a:solidFill>
                  <a:srgbClr val="1A1440"/>
                </a:solidFill>
                <a:latin typeface="Calibri"/>
              </a:rPr>
              <a:t>"A cause is a hypothesis until the evidence that would settle it is in hand. Timing first, then where, then the data you still need."</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28" name="Oval 27"/>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30" name="Oval 29"/>
          <p:cNvSpPr/>
          <p:nvPr/>
        </p:nvSpPr>
        <p:spPr>
          <a:xfrm>
            <a:off x="281549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2925222"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The second case</a:t>
            </a:r>
          </a:p>
        </p:txBody>
      </p:sp>
      <p:sp>
        <p:nvSpPr>
          <p:cNvPr id="32" name="Oval 31"/>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4090797"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34" name="Oval 33"/>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5440394"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20 / 29</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04</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interview drill</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Twelve questions asked aloud, one breath each, the way a GCC screen asks them.</a:t>
            </a:r>
          </a:p>
        </p:txBody>
      </p:sp>
      <p:sp>
        <p:nvSpPr>
          <p:cNvPr id="10" name="Rounded Rectangle 9"/>
          <p:cNvSpPr/>
          <p:nvPr/>
        </p:nvSpPr>
        <p:spPr>
          <a:xfrm>
            <a:off x="731519"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escalated case</a:t>
            </a:r>
          </a:p>
        </p:txBody>
      </p:sp>
      <p:sp>
        <p:nvSpPr>
          <p:cNvPr id="11" name="Rounded Rectangle 10"/>
          <p:cNvSpPr/>
          <p:nvPr/>
        </p:nvSpPr>
        <p:spPr>
          <a:xfrm>
            <a:off x="2272895" y="5074920"/>
            <a:ext cx="101713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debrief</a:t>
            </a:r>
          </a:p>
        </p:txBody>
      </p:sp>
      <p:sp>
        <p:nvSpPr>
          <p:cNvPr id="12" name="Rounded Rectangle 11"/>
          <p:cNvSpPr/>
          <p:nvPr/>
        </p:nvSpPr>
        <p:spPr>
          <a:xfrm>
            <a:off x="3399759" y="5074920"/>
            <a:ext cx="125399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second case</a:t>
            </a:r>
          </a:p>
        </p:txBody>
      </p:sp>
      <p:sp>
        <p:nvSpPr>
          <p:cNvPr id="13" name="Rounded Rectangle 12"/>
          <p:cNvSpPr/>
          <p:nvPr/>
        </p:nvSpPr>
        <p:spPr>
          <a:xfrm>
            <a:off x="4763486" y="5074920"/>
            <a:ext cx="149086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interview drill</a:t>
            </a:r>
          </a:p>
        </p:txBody>
      </p:sp>
      <p:sp>
        <p:nvSpPr>
          <p:cNvPr id="14" name="Rounded Rectangle 13"/>
          <p:cNvSpPr/>
          <p:nvPr/>
        </p:nvSpPr>
        <p:spPr>
          <a:xfrm>
            <a:off x="6364078" y="5074920"/>
            <a:ext cx="8987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close</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2: mix, rate and the cause</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21 / 29</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Questions 1 to 4: the ladder and the windows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Asked aloud, answered in one breath, then compared with the model answer.</a:t>
            </a:r>
          </a:p>
        </p:txBody>
      </p:sp>
      <p:graphicFrame>
        <p:nvGraphicFramePr>
          <p:cNvPr id="9" name="Table 8"/>
          <p:cNvGraphicFramePr>
            <a:graphicFrameLocks noGrp="1"/>
          </p:cNvGraphicFramePr>
          <p:nvPr/>
        </p:nvGraphicFramePr>
        <p:xfrm>
          <a:off x="530352" y="1956816"/>
          <a:ext cx="11130991" cy="1849120"/>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Tag</a:t>
                      </a:r>
                    </a:p>
                  </a:txBody>
                  <a:tcPr marL="101600" marR="101600" marT="38100" marB="38100" anchor="ctr">
                    <a:solidFill>
                      <a:srgbClr val="1A0F5C"/>
                    </a:solidFill>
                  </a:tcPr>
                </a:tc>
                <a:tc>
                  <a:txBody>
                    <a:bodyPr/>
                    <a:lstStyle/>
                    <a:p>
                      <a:r>
                        <a:rPr sz="1450" b="1" i="0">
                          <a:solidFill>
                            <a:srgbClr val="FFFFFF"/>
                          </a:solidFill>
                          <a:latin typeface="Calibri"/>
                        </a:rPr>
                        <a:t>Question</a:t>
                      </a:r>
                    </a:p>
                  </a:txBody>
                  <a:tcPr marL="101600" marR="101600" marT="38100" marB="38100" anchor="ctr">
                    <a:solidFill>
                      <a:srgbClr val="1A0F5C"/>
                    </a:solidFill>
                  </a:tcPr>
                </a:tc>
              </a:tr>
              <a:tr h="369824">
                <a:tc>
                  <a:txBody>
                    <a:bodyPr/>
                    <a:lstStyle/>
                    <a:p>
                      <a:r>
                        <a:rPr sz="1400" b="0" i="0">
                          <a:solidFill>
                            <a:srgbClr val="1A1440"/>
                          </a:solidFill>
                          <a:latin typeface="Calibri"/>
                        </a:rPr>
                        <a:t>[S]</a:t>
                      </a:r>
                    </a:p>
                  </a:txBody>
                  <a:tcPr marL="101600" marR="101600" marT="38100" marB="38100" anchor="ctr">
                    <a:solidFill>
                      <a:srgbClr val="FFFFFF"/>
                    </a:solidFill>
                  </a:tcPr>
                </a:tc>
                <a:tc>
                  <a:txBody>
                    <a:bodyPr/>
                    <a:lstStyle/>
                    <a:p>
                      <a:r>
                        <a:rPr sz="1400" b="0" i="0">
                          <a:solidFill>
                            <a:srgbClr val="1A1440"/>
                          </a:solidFill>
                          <a:latin typeface="Calibri"/>
                        </a:rPr>
                        <a:t>1. Sales dropped 15 percent last month; how would you investigate?</a:t>
                      </a:r>
                    </a:p>
                  </a:txBody>
                  <a:tcPr marL="101600" marR="101600" marT="38100" marB="38100" anchor="ctr">
                    <a:solidFill>
                      <a:srgbClr val="FFFFFF"/>
                    </a:solidFill>
                  </a:tcPr>
                </a:tc>
              </a:tr>
              <a:tr h="369824">
                <a:tc>
                  <a:txBody>
                    <a:bodyPr/>
                    <a:lstStyle/>
                    <a:p>
                      <a:r>
                        <a:rPr sz="1400" b="0" i="0">
                          <a:solidFill>
                            <a:srgbClr val="1A1440"/>
                          </a:solidFill>
                          <a:latin typeface="Calibri"/>
                        </a:rPr>
                        <a:t>[S]</a:t>
                      </a:r>
                    </a:p>
                  </a:txBody>
                  <a:tcPr marL="101600" marR="101600" marT="38100" marB="38100" anchor="ctr">
                    <a:solidFill>
                      <a:srgbClr val="F4F2FA"/>
                    </a:solidFill>
                  </a:tcPr>
                </a:tc>
                <a:tc>
                  <a:txBody>
                    <a:bodyPr/>
                    <a:lstStyle/>
                    <a:p>
                      <a:r>
                        <a:rPr sz="1400" b="0" i="0">
                          <a:solidFill>
                            <a:srgbClr val="1A1440"/>
                          </a:solidFill>
                          <a:latin typeface="Calibri"/>
                        </a:rPr>
                        <a:t>2. Why is a rate without a denominator meaningless?</a:t>
                      </a:r>
                    </a:p>
                  </a:txBody>
                  <a:tcPr marL="101600" marR="101600" marT="38100" marB="38100" anchor="ctr">
                    <a:solidFill>
                      <a:srgbClr val="F4F2FA"/>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3. Why does a function that prints instead of returning break a pipeline?</a:t>
                      </a:r>
                    </a:p>
                  </a:txBody>
                  <a:tcPr marL="101600" marR="101600" marT="38100" marB="38100" anchor="ctr">
                    <a:solidFill>
                      <a:srgbClr val="FFFFFF"/>
                    </a:solidFill>
                  </a:tcPr>
                </a:tc>
              </a:tr>
              <a:tr h="369824">
                <a:tc>
                  <a:txBody>
                    <a:bodyPr/>
                    <a:lstStyle/>
                    <a:p>
                      <a:r>
                        <a:rPr sz="1400" b="0" i="0">
                          <a:solidFill>
                            <a:srgbClr val="1A1440"/>
                          </a:solidFill>
                          <a:latin typeface="Calibri"/>
                        </a:rPr>
                        <a:t>[F]</a:t>
                      </a:r>
                    </a:p>
                  </a:txBody>
                  <a:tcPr marL="101600" marR="101600" marT="38100" marB="38100" anchor="ctr">
                    <a:solidFill>
                      <a:srgbClr val="F4F2FA"/>
                    </a:solidFill>
                  </a:tcPr>
                </a:tc>
                <a:tc>
                  <a:txBody>
                    <a:bodyPr/>
                    <a:lstStyle/>
                    <a:p>
                      <a:r>
                        <a:rPr sz="1400" b="0" i="0">
                          <a:solidFill>
                            <a:srgbClr val="1A1440"/>
                          </a:solidFill>
                          <a:latin typeface="Calibri"/>
                        </a:rPr>
                        <a:t>4. What has to match before a quarter-on-quarter comparison is fair?</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2" name="Oval 11"/>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14" name="Oval 13"/>
          <p:cNvSpPr/>
          <p:nvPr/>
        </p:nvSpPr>
        <p:spPr>
          <a:xfrm>
            <a:off x="281549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92522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16" name="Oval 15"/>
          <p:cNvSpPr/>
          <p:nvPr/>
        </p:nvSpPr>
        <p:spPr>
          <a:xfrm>
            <a:off x="39810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090797"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The interview drill</a:t>
            </a:r>
          </a:p>
        </p:txBody>
      </p:sp>
      <p:sp>
        <p:nvSpPr>
          <p:cNvPr id="18" name="Oval 17"/>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440394"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22 / 29</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Questions 5 to 8: the tree and the trap</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decomposition questions, where a plausible number is waiting.</a:t>
            </a:r>
          </a:p>
        </p:txBody>
      </p:sp>
      <p:graphicFrame>
        <p:nvGraphicFramePr>
          <p:cNvPr id="9" name="Table 8"/>
          <p:cNvGraphicFramePr>
            <a:graphicFrameLocks noGrp="1"/>
          </p:cNvGraphicFramePr>
          <p:nvPr/>
        </p:nvGraphicFramePr>
        <p:xfrm>
          <a:off x="530352" y="1956816"/>
          <a:ext cx="11130991" cy="2090928"/>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Tag</a:t>
                      </a:r>
                    </a:p>
                  </a:txBody>
                  <a:tcPr marL="101600" marR="101600" marT="38100" marB="38100" anchor="ctr">
                    <a:solidFill>
                      <a:srgbClr val="1A0F5C"/>
                    </a:solidFill>
                  </a:tcPr>
                </a:tc>
                <a:tc>
                  <a:txBody>
                    <a:bodyPr/>
                    <a:lstStyle/>
                    <a:p>
                      <a:r>
                        <a:rPr sz="1450" b="1" i="0">
                          <a:solidFill>
                            <a:srgbClr val="FFFFFF"/>
                          </a:solidFill>
                          <a:latin typeface="Calibri"/>
                        </a:rPr>
                        <a:t>Question</a:t>
                      </a:r>
                    </a:p>
                  </a:txBody>
                  <a:tcPr marL="101600" marR="101600" marT="38100" marB="38100" anchor="ctr">
                    <a:solidFill>
                      <a:srgbClr val="1A0F5C"/>
                    </a:solidFill>
                  </a:tcPr>
                </a:tc>
              </a:tr>
              <a:tr h="611632">
                <a:tc>
                  <a:txBody>
                    <a:bodyPr/>
                    <a:lstStyle/>
                    <a:p>
                      <a:r>
                        <a:rPr sz="1400" b="0" i="0">
                          <a:solidFill>
                            <a:srgbClr val="1A1440"/>
                          </a:solidFill>
                          <a:latin typeface="Calibri"/>
                        </a:rPr>
                        <a:t>[D]</a:t>
                      </a:r>
                    </a:p>
                  </a:txBody>
                  <a:tcPr marL="101600" marR="101600" marT="38100" marB="38100" anchor="ctr">
                    <a:solidFill>
                      <a:srgbClr val="FFFFFF"/>
                    </a:solidFill>
                  </a:tcPr>
                </a:tc>
                <a:tc>
                  <a:txBody>
                    <a:bodyPr/>
                    <a:lstStyle/>
                    <a:p>
                      <a:r>
                        <a:rPr sz="1400" b="0" i="0">
                          <a:solidFill>
                            <a:srgbClr val="1A1440"/>
                          </a:solidFill>
                          <a:latin typeface="Calibri"/>
                        </a:rPr>
                        <a:t>5. Marketing insists the answer is acquisition and your data says frequency; how do you make the case in the room?</a:t>
                      </a:r>
                    </a:p>
                  </a:txBody>
                  <a:tcPr marL="101600" marR="101600" marT="38100" marB="38100" anchor="ctr">
                    <a:solidFill>
                      <a:srgbClr val="FFFFFF"/>
                    </a:solidFill>
                  </a:tcPr>
                </a:tc>
              </a:tr>
              <a:tr h="369824">
                <a:tc>
                  <a:txBody>
                    <a:bodyPr/>
                    <a:lstStyle/>
                    <a:p>
                      <a:r>
                        <a:rPr sz="1400" b="0" i="0">
                          <a:solidFill>
                            <a:srgbClr val="1A1440"/>
                          </a:solidFill>
                          <a:latin typeface="Calibri"/>
                        </a:rPr>
                        <a:t>[F]</a:t>
                      </a:r>
                    </a:p>
                  </a:txBody>
                  <a:tcPr marL="101600" marR="101600" marT="38100" marB="38100" anchor="ctr">
                    <a:solidFill>
                      <a:srgbClr val="F4F2FA"/>
                    </a:solidFill>
                  </a:tcPr>
                </a:tc>
                <a:tc>
                  <a:txBody>
                    <a:bodyPr/>
                    <a:lstStyle/>
                    <a:p>
                      <a:r>
                        <a:rPr sz="1400" b="0" i="0">
                          <a:solidFill>
                            <a:srgbClr val="1A1440"/>
                          </a:solidFill>
                          <a:latin typeface="Calibri"/>
                        </a:rPr>
                        <a:t>6. Revenue fell 11 percent; how do you split the change between customers, frequency and order value?</a:t>
                      </a:r>
                    </a:p>
                  </a:txBody>
                  <a:tcPr marL="101600" marR="101600" marT="38100" marB="38100" anchor="ctr">
                    <a:solidFill>
                      <a:srgbClr val="F4F2FA"/>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7. Revenue per order rose 18 percent while revenue fell; did prices go up?</a:t>
                      </a:r>
                    </a:p>
                  </a:txBody>
                  <a:tcPr marL="101600" marR="101600" marT="38100" marB="38100" anchor="ctr">
                    <a:solidFill>
                      <a:srgbClr val="FFFFFF"/>
                    </a:solidFill>
                  </a:tcPr>
                </a:tc>
              </a:tr>
              <a:tr h="369824">
                <a:tc>
                  <a:txBody>
                    <a:bodyPr/>
                    <a:lstStyle/>
                    <a:p>
                      <a:r>
                        <a:rPr sz="1400" b="0" i="0">
                          <a:solidFill>
                            <a:srgbClr val="1A1440"/>
                          </a:solidFill>
                          <a:latin typeface="Calibri"/>
                        </a:rPr>
                        <a:t>[S]</a:t>
                      </a:r>
                    </a:p>
                  </a:txBody>
                  <a:tcPr marL="101600" marR="101600" marT="38100" marB="38100" anchor="ctr">
                    <a:solidFill>
                      <a:srgbClr val="F4F2FA"/>
                    </a:solidFill>
                  </a:tcPr>
                </a:tc>
                <a:tc>
                  <a:txBody>
                    <a:bodyPr/>
                    <a:lstStyle/>
                    <a:p>
                      <a:r>
                        <a:rPr sz="1400" b="0" i="0">
                          <a:solidFill>
                            <a:srgbClr val="1A1440"/>
                          </a:solidFill>
                          <a:latin typeface="Calibri"/>
                        </a:rPr>
                        <a:t>8. A field is missing on some records; do you fill it with zero?</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2" name="Oval 11"/>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14" name="Oval 13"/>
          <p:cNvSpPr/>
          <p:nvPr/>
        </p:nvSpPr>
        <p:spPr>
          <a:xfrm>
            <a:off x="281549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92522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16" name="Oval 15"/>
          <p:cNvSpPr/>
          <p:nvPr/>
        </p:nvSpPr>
        <p:spPr>
          <a:xfrm>
            <a:off x="39810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090797"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The interview drill</a:t>
            </a:r>
          </a:p>
        </p:txBody>
      </p:sp>
      <p:sp>
        <p:nvSpPr>
          <p:cNvPr id="18" name="Oval 17"/>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440394"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23 / 29</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Questions 9 to 12: weights, churn and causes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case-style follow-ups that separate candidates.</a:t>
            </a:r>
          </a:p>
        </p:txBody>
      </p:sp>
      <p:graphicFrame>
        <p:nvGraphicFramePr>
          <p:cNvPr id="9" name="Table 8"/>
          <p:cNvGraphicFramePr>
            <a:graphicFrameLocks noGrp="1"/>
          </p:cNvGraphicFramePr>
          <p:nvPr/>
        </p:nvGraphicFramePr>
        <p:xfrm>
          <a:off x="530352" y="1956816"/>
          <a:ext cx="11130991" cy="2090928"/>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Tag</a:t>
                      </a:r>
                    </a:p>
                  </a:txBody>
                  <a:tcPr marL="101600" marR="101600" marT="38100" marB="38100" anchor="ctr">
                    <a:solidFill>
                      <a:srgbClr val="1A0F5C"/>
                    </a:solidFill>
                  </a:tcPr>
                </a:tc>
                <a:tc>
                  <a:txBody>
                    <a:bodyPr/>
                    <a:lstStyle/>
                    <a:p>
                      <a:r>
                        <a:rPr sz="1450" b="1" i="0">
                          <a:solidFill>
                            <a:srgbClr val="FFFFFF"/>
                          </a:solidFill>
                          <a:latin typeface="Calibri"/>
                        </a:rPr>
                        <a:t>Question</a:t>
                      </a:r>
                    </a:p>
                  </a:txBody>
                  <a:tcPr marL="101600" marR="101600" marT="38100" marB="38100" anchor="ctr">
                    <a:solidFill>
                      <a:srgbClr val="1A0F5C"/>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9. You have orders per customer for four segments; why can't you average them for the company figure?</a:t>
                      </a:r>
                    </a:p>
                  </a:txBody>
                  <a:tcPr marL="101600" marR="101600" marT="38100" marB="38100" anchor="ctr">
                    <a:solidFill>
                      <a:srgbClr val="FFFFFF"/>
                    </a:solidFill>
                  </a:tcPr>
                </a:tc>
              </a:tr>
              <a:tr h="369824">
                <a:tc>
                  <a:txBody>
                    <a:bodyPr/>
                    <a:lstStyle/>
                    <a:p>
                      <a:r>
                        <a:rPr sz="1400" b="0" i="0">
                          <a:solidFill>
                            <a:srgbClr val="1A1440"/>
                          </a:solidFill>
                          <a:latin typeface="Calibri"/>
                        </a:rPr>
                        <a:t>[SV]</a:t>
                      </a:r>
                    </a:p>
                  </a:txBody>
                  <a:tcPr marL="101600" marR="101600" marT="38100" marB="38100" anchor="ctr">
                    <a:solidFill>
                      <a:srgbClr val="F4F2FA"/>
                    </a:solidFill>
                  </a:tcPr>
                </a:tc>
                <a:tc>
                  <a:txBody>
                    <a:bodyPr/>
                    <a:lstStyle/>
                    <a:p>
                      <a:r>
                        <a:rPr sz="1400" b="0" i="0">
                          <a:solidFill>
                            <a:srgbClr val="1A1440"/>
                          </a:solidFill>
                          <a:latin typeface="Calibri"/>
                        </a:rPr>
                        <a:t>10. The customer count is flat quarter on quarter; does that prove no customers were lost?</a:t>
                      </a:r>
                    </a:p>
                  </a:txBody>
                  <a:tcPr marL="101600" marR="101600" marT="38100" marB="38100" anchor="ctr">
                    <a:solidFill>
                      <a:srgbClr val="F4F2FA"/>
                    </a:solidFill>
                  </a:tcPr>
                </a:tc>
              </a:tr>
              <a:tr h="611632">
                <a:tc>
                  <a:txBody>
                    <a:bodyPr/>
                    <a:lstStyle/>
                    <a:p>
                      <a:r>
                        <a:rPr sz="1400" b="0" i="0">
                          <a:solidFill>
                            <a:srgbClr val="1A1440"/>
                          </a:solidFill>
                          <a:latin typeface="Calibri"/>
                        </a:rPr>
                        <a:t>[D]</a:t>
                      </a:r>
                    </a:p>
                  </a:txBody>
                  <a:tcPr marL="101600" marR="101600" marT="38100" marB="38100" anchor="ctr">
                    <a:solidFill>
                      <a:srgbClr val="FFFFFF"/>
                    </a:solidFill>
                  </a:tcPr>
                </a:tc>
                <a:tc>
                  <a:txBody>
                    <a:bodyPr/>
                    <a:lstStyle/>
                    <a:p>
                      <a:r>
                        <a:rPr sz="1400" b="0" i="0">
                          <a:solidFill>
                            <a:srgbClr val="1A1440"/>
                          </a:solidFill>
                          <a:latin typeface="Calibri"/>
                        </a:rPr>
                        <a:t>11. The fall is in rupees in one segment and in behaviour in another; which do you put in front of the CEO first?</a:t>
                      </a:r>
                    </a:p>
                  </a:txBody>
                  <a:tcPr marL="101600" marR="101600" marT="38100" marB="38100" anchor="ctr">
                    <a:solidFill>
                      <a:srgbClr val="FFFFFF"/>
                    </a:solidFill>
                  </a:tcPr>
                </a:tc>
              </a:tr>
              <a:tr h="369824">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12. A stakeholder hands you a cause; how do you test it with the data you have and name the data you need?</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2" name="Oval 11"/>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14" name="Oval 13"/>
          <p:cNvSpPr/>
          <p:nvPr/>
        </p:nvSpPr>
        <p:spPr>
          <a:xfrm>
            <a:off x="281549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92522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16" name="Oval 15"/>
          <p:cNvSpPr/>
          <p:nvPr/>
        </p:nvSpPr>
        <p:spPr>
          <a:xfrm>
            <a:off x="39810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090797"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The interview drill</a:t>
            </a:r>
          </a:p>
        </p:txBody>
      </p:sp>
      <p:sp>
        <p:nvSpPr>
          <p:cNvPr id="18" name="Oval 17"/>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440394"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24 / 29</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05</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close</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The Kahoot, the sentence to Meera, the seven lines to keep, and tomorrow's question.</a:t>
            </a:r>
          </a:p>
        </p:txBody>
      </p:sp>
      <p:sp>
        <p:nvSpPr>
          <p:cNvPr id="10" name="Rounded Rectangle 9"/>
          <p:cNvSpPr/>
          <p:nvPr/>
        </p:nvSpPr>
        <p:spPr>
          <a:xfrm>
            <a:off x="731519"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escalated case</a:t>
            </a:r>
          </a:p>
        </p:txBody>
      </p:sp>
      <p:sp>
        <p:nvSpPr>
          <p:cNvPr id="11" name="Rounded Rectangle 10"/>
          <p:cNvSpPr/>
          <p:nvPr/>
        </p:nvSpPr>
        <p:spPr>
          <a:xfrm>
            <a:off x="2272895" y="5074920"/>
            <a:ext cx="101713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debrief</a:t>
            </a:r>
          </a:p>
        </p:txBody>
      </p:sp>
      <p:sp>
        <p:nvSpPr>
          <p:cNvPr id="12" name="Rounded Rectangle 11"/>
          <p:cNvSpPr/>
          <p:nvPr/>
        </p:nvSpPr>
        <p:spPr>
          <a:xfrm>
            <a:off x="3399759" y="5074920"/>
            <a:ext cx="125399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second case</a:t>
            </a:r>
          </a:p>
        </p:txBody>
      </p:sp>
      <p:sp>
        <p:nvSpPr>
          <p:cNvPr id="13" name="Rounded Rectangle 12"/>
          <p:cNvSpPr/>
          <p:nvPr/>
        </p:nvSpPr>
        <p:spPr>
          <a:xfrm>
            <a:off x="4763486"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interview drill</a:t>
            </a:r>
          </a:p>
        </p:txBody>
      </p:sp>
      <p:sp>
        <p:nvSpPr>
          <p:cNvPr id="14" name="Rounded Rectangle 13"/>
          <p:cNvSpPr/>
          <p:nvPr/>
        </p:nvSpPr>
        <p:spPr>
          <a:xfrm>
            <a:off x="6364078" y="5074920"/>
            <a:ext cx="89870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close</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2: mix, rate and the cause</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25 / 29</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Kahoot: eight questions, ungraded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One per idea from today, plus Monday's return question.</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8</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QUESTIONS</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seven from today, one from Monday</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0</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SCORES RECORDED</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ungraded, every day this week</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10 min</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TO PLAY AND DISCUSS</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answers talked through</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Oval 2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23" name="Oval 22"/>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25" name="Oval 24"/>
          <p:cNvSpPr/>
          <p:nvPr/>
        </p:nvSpPr>
        <p:spPr>
          <a:xfrm>
            <a:off x="281549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292522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27" name="Oval 26"/>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4090797"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9" name="Oval 28"/>
          <p:cNvSpPr/>
          <p:nvPr/>
        </p:nvSpPr>
        <p:spPr>
          <a:xfrm>
            <a:off x="53306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5440394" y="6437376"/>
            <a:ext cx="688371" cy="152146"/>
          </a:xfrm>
          <a:prstGeom prst="rect">
            <a:avLst/>
          </a:prstGeom>
          <a:noFill/>
        </p:spPr>
        <p:txBody>
          <a:bodyPr wrap="square" anchor="t" lIns="0" rIns="0" tIns="0" bIns="0">
            <a:spAutoFit/>
          </a:bodyPr>
          <a:lstStyle/>
          <a:p>
            <a:pPr algn="l"/>
            <a:r>
              <a:rPr sz="700" b="1" i="0">
                <a:solidFill>
                  <a:srgbClr val="5B3FD6"/>
                </a:solidFill>
                <a:latin typeface="Calibri"/>
              </a:rPr>
              <a:t>The close</a:t>
            </a:r>
          </a:p>
        </p:txBody>
      </p:sp>
      <p:sp>
        <p:nvSpPr>
          <p:cNvPr id="31" name="TextBox 3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26 / 29</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sentence that goes to Meera</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claim, its evidence, its caveat and the next step, in the order she needs them.</a:t>
            </a:r>
          </a:p>
        </p:txBody>
      </p:sp>
      <p:sp>
        <p:nvSpPr>
          <p:cNvPr id="9" name="Rounded Rectangle 8"/>
          <p:cNvSpPr/>
          <p:nvPr/>
        </p:nvSpPr>
        <p:spPr>
          <a:xfrm>
            <a:off x="530352" y="1956816"/>
            <a:ext cx="45720" cy="244856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2448560"/>
          </a:xfrm>
          <a:prstGeom prst="rect">
            <a:avLst/>
          </a:prstGeom>
          <a:noFill/>
        </p:spPr>
        <p:txBody>
          <a:bodyPr wrap="square" anchor="t" lIns="0" rIns="0" tIns="0" bIns="0">
            <a:spAutoFit/>
          </a:bodyPr>
          <a:lstStyle/>
          <a:p>
            <a:r>
              <a:rPr sz="1600" b="0" i="1">
                <a:solidFill>
                  <a:srgbClr val="1A0F5C"/>
                </a:solidFill>
                <a:latin typeface="Georgia"/>
              </a:rPr>
              <a:t>"Revenue fell 11.0 percent between two closed quarters, Rs 2.10 crore to Rs 1.87 crore on the export as it stands. Customers held at 69, and every one of them bought in both quarters, so acquisition is not the branch that moved; orders per customer fell from 1.65 to 1.25. In behaviour the fall sits in Retail-Plus, where the same 22 members placed 26 orders against 51; in rupees most of it is three fewer Business orders, which tomorrow's reconciliation checks before anyone acts. The broken reorder feature is a hypothesis: the fall began in July, before the break the complaint dates, so we are asking for the app's reorder logs."</a:t>
            </a:r>
          </a:p>
          <a:p>
            <a:pPr>
              <a:spcBef>
                <a:spcPts val="400"/>
              </a:spcBef>
            </a:pPr>
            <a:r>
              <a:rPr sz="1000" b="0" i="0">
                <a:solidFill>
                  <a:srgbClr val="6B6690"/>
                </a:solidFill>
                <a:latin typeface="Calibri"/>
              </a:rPr>
              <a:t>The data and AI team, to Meera Raghavan</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3" name="Oval 12"/>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15" name="Oval 14"/>
          <p:cNvSpPr/>
          <p:nvPr/>
        </p:nvSpPr>
        <p:spPr>
          <a:xfrm>
            <a:off x="281549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92522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17" name="Oval 16"/>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090797"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19" name="Oval 18"/>
          <p:cNvSpPr/>
          <p:nvPr/>
        </p:nvSpPr>
        <p:spPr>
          <a:xfrm>
            <a:off x="53306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440394" y="6437376"/>
            <a:ext cx="688371" cy="152146"/>
          </a:xfrm>
          <a:prstGeom prst="rect">
            <a:avLst/>
          </a:prstGeom>
          <a:noFill/>
        </p:spPr>
        <p:txBody>
          <a:bodyPr wrap="square" anchor="t" lIns="0" rIns="0" tIns="0" bIns="0">
            <a:spAutoFit/>
          </a:bodyPr>
          <a:lstStyle/>
          <a:p>
            <a:pPr algn="l"/>
            <a:r>
              <a:rPr sz="700" b="1" i="0">
                <a:solidFill>
                  <a:srgbClr val="5B3FD6"/>
                </a:solidFill>
                <a:latin typeface="Calibri"/>
              </a:rPr>
              <a:t>The close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27 / 29</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Seven lines to keep</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day's rules, word for word as the cheat sheet prints them.</a:t>
            </a:r>
          </a:p>
        </p:txBody>
      </p:sp>
      <p:sp>
        <p:nvSpPr>
          <p:cNvPr id="9" name="TextBox 8"/>
          <p:cNvSpPr txBox="1"/>
          <p:nvPr/>
        </p:nvSpPr>
        <p:spPr>
          <a:xfrm>
            <a:off x="530352" y="1866995"/>
            <a:ext cx="502920" cy="333756"/>
          </a:xfrm>
          <a:prstGeom prst="rect">
            <a:avLst/>
          </a:prstGeom>
          <a:noFill/>
        </p:spPr>
        <p:txBody>
          <a:bodyPr wrap="square" anchor="t" lIns="0" rIns="0" tIns="0" bIns="0">
            <a:spAutoFit/>
          </a:bodyPr>
          <a:lstStyle/>
          <a:p>
            <a:pPr algn="l"/>
            <a:r>
              <a:rPr sz="1800" b="0" i="0">
                <a:solidFill>
                  <a:srgbClr val="5B3FD6"/>
                </a:solidFill>
                <a:latin typeface="Georgia"/>
              </a:rPr>
              <a:t>01</a:t>
            </a:r>
          </a:p>
        </p:txBody>
      </p:sp>
      <p:sp>
        <p:nvSpPr>
          <p:cNvPr id="10" name="TextBox 9"/>
          <p:cNvSpPr txBox="1"/>
          <p:nvPr/>
        </p:nvSpPr>
        <p:spPr>
          <a:xfrm>
            <a:off x="1097280" y="1903571"/>
            <a:ext cx="10564063" cy="368808"/>
          </a:xfrm>
          <a:prstGeom prst="rect">
            <a:avLst/>
          </a:prstGeom>
          <a:noFill/>
        </p:spPr>
        <p:txBody>
          <a:bodyPr wrap="square" anchor="t" lIns="0" rIns="0" tIns="0" bIns="0">
            <a:spAutoFit/>
          </a:bodyPr>
          <a:lstStyle/>
          <a:p>
            <a:r>
              <a:rPr sz="1500" b="0" i="0">
                <a:solidFill>
                  <a:srgbClr val="1A1440"/>
                </a:solidFill>
                <a:latin typeface="Calibri"/>
              </a:rPr>
              <a:t>Confirm the drop on matched windows before you explain it.</a:t>
            </a:r>
          </a:p>
        </p:txBody>
      </p:sp>
      <p:sp>
        <p:nvSpPr>
          <p:cNvPr id="11" name="TextBox 10"/>
          <p:cNvSpPr txBox="1"/>
          <p:nvPr/>
        </p:nvSpPr>
        <p:spPr>
          <a:xfrm>
            <a:off x="530352" y="2308955"/>
            <a:ext cx="502920" cy="333756"/>
          </a:xfrm>
          <a:prstGeom prst="rect">
            <a:avLst/>
          </a:prstGeom>
          <a:noFill/>
        </p:spPr>
        <p:txBody>
          <a:bodyPr wrap="square" anchor="t" lIns="0" rIns="0" tIns="0" bIns="0">
            <a:spAutoFit/>
          </a:bodyPr>
          <a:lstStyle/>
          <a:p>
            <a:pPr algn="l"/>
            <a:r>
              <a:rPr sz="1800" b="0" i="0">
                <a:solidFill>
                  <a:srgbClr val="5B3FD6"/>
                </a:solidFill>
                <a:latin typeface="Georgia"/>
              </a:rPr>
              <a:t>02</a:t>
            </a:r>
          </a:p>
        </p:txBody>
      </p:sp>
      <p:sp>
        <p:nvSpPr>
          <p:cNvPr id="12" name="TextBox 11"/>
          <p:cNvSpPr txBox="1"/>
          <p:nvPr/>
        </p:nvSpPr>
        <p:spPr>
          <a:xfrm>
            <a:off x="1097280" y="2345531"/>
            <a:ext cx="10564063" cy="368808"/>
          </a:xfrm>
          <a:prstGeom prst="rect">
            <a:avLst/>
          </a:prstGeom>
          <a:noFill/>
        </p:spPr>
        <p:txBody>
          <a:bodyPr wrap="square" anchor="t" lIns="0" rIns="0" tIns="0" bIns="0">
            <a:spAutoFit/>
          </a:bodyPr>
          <a:lstStyle/>
          <a:p>
            <a:r>
              <a:rPr sz="1500" b="0" i="0">
                <a:solidFill>
                  <a:srgbClr val="1A1440"/>
                </a:solidFill>
                <a:latin typeface="Calibri"/>
              </a:rPr>
              <a:t>A rate without its denominator is a rumour.</a:t>
            </a:r>
          </a:p>
        </p:txBody>
      </p:sp>
      <p:sp>
        <p:nvSpPr>
          <p:cNvPr id="13" name="TextBox 12"/>
          <p:cNvSpPr txBox="1"/>
          <p:nvPr/>
        </p:nvSpPr>
        <p:spPr>
          <a:xfrm>
            <a:off x="530352" y="2750915"/>
            <a:ext cx="502920" cy="333756"/>
          </a:xfrm>
          <a:prstGeom prst="rect">
            <a:avLst/>
          </a:prstGeom>
          <a:noFill/>
        </p:spPr>
        <p:txBody>
          <a:bodyPr wrap="square" anchor="t" lIns="0" rIns="0" tIns="0" bIns="0">
            <a:spAutoFit/>
          </a:bodyPr>
          <a:lstStyle/>
          <a:p>
            <a:pPr algn="l"/>
            <a:r>
              <a:rPr sz="1800" b="0" i="0">
                <a:solidFill>
                  <a:srgbClr val="5B3FD6"/>
                </a:solidFill>
                <a:latin typeface="Georgia"/>
              </a:rPr>
              <a:t>03</a:t>
            </a:r>
          </a:p>
        </p:txBody>
      </p:sp>
      <p:sp>
        <p:nvSpPr>
          <p:cNvPr id="14" name="TextBox 13"/>
          <p:cNvSpPr txBox="1"/>
          <p:nvPr/>
        </p:nvSpPr>
        <p:spPr>
          <a:xfrm>
            <a:off x="1097280" y="2787491"/>
            <a:ext cx="10564063" cy="368808"/>
          </a:xfrm>
          <a:prstGeom prst="rect">
            <a:avLst/>
          </a:prstGeom>
          <a:noFill/>
        </p:spPr>
        <p:txBody>
          <a:bodyPr wrap="square" anchor="t" lIns="0" rIns="0" tIns="0" bIns="0">
            <a:spAutoFit/>
          </a:bodyPr>
          <a:lstStyle/>
          <a:p>
            <a:r>
              <a:rPr sz="1500" b="0" i="0">
                <a:solidFill>
                  <a:srgbClr val="1A1440"/>
                </a:solidFill>
                <a:latin typeface="Calibri"/>
              </a:rPr>
              <a:t>Decompose along the tree: customers, orders per customer, revenue per order.</a:t>
            </a:r>
          </a:p>
        </p:txBody>
      </p:sp>
      <p:sp>
        <p:nvSpPr>
          <p:cNvPr id="15" name="TextBox 14"/>
          <p:cNvSpPr txBox="1"/>
          <p:nvPr/>
        </p:nvSpPr>
        <p:spPr>
          <a:xfrm>
            <a:off x="530352" y="3192875"/>
            <a:ext cx="502920" cy="333756"/>
          </a:xfrm>
          <a:prstGeom prst="rect">
            <a:avLst/>
          </a:prstGeom>
          <a:noFill/>
        </p:spPr>
        <p:txBody>
          <a:bodyPr wrap="square" anchor="t" lIns="0" rIns="0" tIns="0" bIns="0">
            <a:spAutoFit/>
          </a:bodyPr>
          <a:lstStyle/>
          <a:p>
            <a:pPr algn="l"/>
            <a:r>
              <a:rPr sz="1800" b="0" i="0">
                <a:solidFill>
                  <a:srgbClr val="5B3FD6"/>
                </a:solidFill>
                <a:latin typeface="Georgia"/>
              </a:rPr>
              <a:t>04</a:t>
            </a:r>
          </a:p>
        </p:txBody>
      </p:sp>
      <p:sp>
        <p:nvSpPr>
          <p:cNvPr id="16" name="TextBox 15"/>
          <p:cNvSpPr txBox="1"/>
          <p:nvPr/>
        </p:nvSpPr>
        <p:spPr>
          <a:xfrm>
            <a:off x="1097280" y="3229451"/>
            <a:ext cx="10564063" cy="368808"/>
          </a:xfrm>
          <a:prstGeom prst="rect">
            <a:avLst/>
          </a:prstGeom>
          <a:noFill/>
        </p:spPr>
        <p:txBody>
          <a:bodyPr wrap="square" anchor="t" lIns="0" rIns="0" tIns="0" bIns="0">
            <a:spAutoFit/>
          </a:bodyPr>
          <a:lstStyle/>
          <a:p>
            <a:r>
              <a:rPr sz="1500" b="0" i="0">
                <a:solidFill>
                  <a:srgbClr val="1A1440"/>
                </a:solidFill>
                <a:latin typeface="Calibri"/>
              </a:rPr>
              <a:t>Missing means unknown until someone chooses a default and writes down why.</a:t>
            </a:r>
          </a:p>
        </p:txBody>
      </p:sp>
      <p:sp>
        <p:nvSpPr>
          <p:cNvPr id="17" name="TextBox 16"/>
          <p:cNvSpPr txBox="1"/>
          <p:nvPr/>
        </p:nvSpPr>
        <p:spPr>
          <a:xfrm>
            <a:off x="530352" y="3634835"/>
            <a:ext cx="502920" cy="333756"/>
          </a:xfrm>
          <a:prstGeom prst="rect">
            <a:avLst/>
          </a:prstGeom>
          <a:noFill/>
        </p:spPr>
        <p:txBody>
          <a:bodyPr wrap="square" anchor="t" lIns="0" rIns="0" tIns="0" bIns="0">
            <a:spAutoFit/>
          </a:bodyPr>
          <a:lstStyle/>
          <a:p>
            <a:pPr algn="l"/>
            <a:r>
              <a:rPr sz="1800" b="0" i="0">
                <a:solidFill>
                  <a:srgbClr val="5B3FD6"/>
                </a:solidFill>
                <a:latin typeface="Georgia"/>
              </a:rPr>
              <a:t>05</a:t>
            </a:r>
          </a:p>
        </p:txBody>
      </p:sp>
      <p:sp>
        <p:nvSpPr>
          <p:cNvPr id="18" name="TextBox 17"/>
          <p:cNvSpPr txBox="1"/>
          <p:nvPr/>
        </p:nvSpPr>
        <p:spPr>
          <a:xfrm>
            <a:off x="1097280" y="3671411"/>
            <a:ext cx="10564063" cy="368808"/>
          </a:xfrm>
          <a:prstGeom prst="rect">
            <a:avLst/>
          </a:prstGeom>
          <a:noFill/>
        </p:spPr>
        <p:txBody>
          <a:bodyPr wrap="square" anchor="t" lIns="0" rIns="0" tIns="0" bIns="0">
            <a:spAutoFit/>
          </a:bodyPr>
          <a:lstStyle/>
          <a:p>
            <a:r>
              <a:rPr sz="1500" b="0" i="0">
                <a:solidFill>
                  <a:srgbClr val="1A1440"/>
                </a:solidFill>
                <a:latin typeface="Calibri"/>
              </a:rPr>
              <a:t>Roll a rate up with its weights; never average the averages.</a:t>
            </a:r>
          </a:p>
        </p:txBody>
      </p:sp>
      <p:sp>
        <p:nvSpPr>
          <p:cNvPr id="19" name="TextBox 18"/>
          <p:cNvSpPr txBox="1"/>
          <p:nvPr/>
        </p:nvSpPr>
        <p:spPr>
          <a:xfrm>
            <a:off x="530352" y="4076795"/>
            <a:ext cx="502920" cy="333756"/>
          </a:xfrm>
          <a:prstGeom prst="rect">
            <a:avLst/>
          </a:prstGeom>
          <a:noFill/>
        </p:spPr>
        <p:txBody>
          <a:bodyPr wrap="square" anchor="t" lIns="0" rIns="0" tIns="0" bIns="0">
            <a:spAutoFit/>
          </a:bodyPr>
          <a:lstStyle/>
          <a:p>
            <a:pPr algn="l"/>
            <a:r>
              <a:rPr sz="1800" b="0" i="0">
                <a:solidFill>
                  <a:srgbClr val="5B3FD6"/>
                </a:solidFill>
                <a:latin typeface="Georgia"/>
              </a:rPr>
              <a:t>06</a:t>
            </a:r>
          </a:p>
        </p:txBody>
      </p:sp>
      <p:sp>
        <p:nvSpPr>
          <p:cNvPr id="20" name="TextBox 19"/>
          <p:cNvSpPr txBox="1"/>
          <p:nvPr/>
        </p:nvSpPr>
        <p:spPr>
          <a:xfrm>
            <a:off x="1097280" y="4113371"/>
            <a:ext cx="10564063" cy="368808"/>
          </a:xfrm>
          <a:prstGeom prst="rect">
            <a:avLst/>
          </a:prstGeom>
          <a:noFill/>
        </p:spPr>
        <p:txBody>
          <a:bodyPr wrap="square" anchor="t" lIns="0" rIns="0" tIns="0" bIns="0">
            <a:spAutoFit/>
          </a:bodyPr>
          <a:lstStyle/>
          <a:p>
            <a:r>
              <a:rPr sz="1500" b="0" i="0">
                <a:solidFill>
                  <a:srgbClr val="1A1440"/>
                </a:solidFill>
                <a:latin typeface="Calibri"/>
              </a:rPr>
              <a:t>A function returns its answer; count the groups in and the groups out.</a:t>
            </a:r>
          </a:p>
        </p:txBody>
      </p:sp>
      <p:sp>
        <p:nvSpPr>
          <p:cNvPr id="21" name="TextBox 20"/>
          <p:cNvSpPr txBox="1"/>
          <p:nvPr/>
        </p:nvSpPr>
        <p:spPr>
          <a:xfrm>
            <a:off x="530352" y="4518755"/>
            <a:ext cx="502920" cy="333756"/>
          </a:xfrm>
          <a:prstGeom prst="rect">
            <a:avLst/>
          </a:prstGeom>
          <a:noFill/>
        </p:spPr>
        <p:txBody>
          <a:bodyPr wrap="square" anchor="t" lIns="0" rIns="0" tIns="0" bIns="0">
            <a:spAutoFit/>
          </a:bodyPr>
          <a:lstStyle/>
          <a:p>
            <a:pPr algn="l"/>
            <a:r>
              <a:rPr sz="1800" b="0" i="0">
                <a:solidFill>
                  <a:srgbClr val="5B3FD6"/>
                </a:solidFill>
                <a:latin typeface="Georgia"/>
              </a:rPr>
              <a:t>07</a:t>
            </a:r>
          </a:p>
        </p:txBody>
      </p:sp>
      <p:sp>
        <p:nvSpPr>
          <p:cNvPr id="22" name="TextBox 21"/>
          <p:cNvSpPr txBox="1"/>
          <p:nvPr/>
        </p:nvSpPr>
        <p:spPr>
          <a:xfrm>
            <a:off x="1097280" y="4555331"/>
            <a:ext cx="10564063" cy="368808"/>
          </a:xfrm>
          <a:prstGeom prst="rect">
            <a:avLst/>
          </a:prstGeom>
          <a:noFill/>
        </p:spPr>
        <p:txBody>
          <a:bodyPr wrap="square" anchor="t" lIns="0" rIns="0" tIns="0" bIns="0">
            <a:spAutoFit/>
          </a:bodyPr>
          <a:lstStyle/>
          <a:p>
            <a:r>
              <a:rPr sz="1500" b="0" i="0">
                <a:solidFill>
                  <a:srgbClr val="1A1440"/>
                </a:solidFill>
                <a:latin typeface="Calibri"/>
              </a:rPr>
              <a:t>Name the cause as a hypothesis, with the evidence that would settle it.</a:t>
            </a:r>
          </a:p>
        </p:txBody>
      </p:sp>
      <p:pic>
        <p:nvPicPr>
          <p:cNvPr id="23" name="mermaid diagram" descr="f3c84093597cb54d.png"/>
          <p:cNvPicPr>
            <a:picLocks noChangeAspect="1"/>
          </p:cNvPicPr>
          <p:nvPr/>
        </p:nvPicPr>
        <p:blipFill>
          <a:blip r:embed="rId5"/>
          <a:stretch>
            <a:fillRect/>
          </a:stretch>
        </p:blipFill>
        <p:spPr>
          <a:xfrm>
            <a:off x="3738410" y="5107019"/>
            <a:ext cx="4714875" cy="871537"/>
          </a:xfrm>
          <a:prstGeom prst="rect">
            <a:avLst/>
          </a:prstGeom>
        </p:spPr>
      </p:pic>
      <p:sp>
        <p:nvSpPr>
          <p:cNvPr id="24" name="Oval 2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26" name="Oval 25"/>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28" name="Oval 27"/>
          <p:cNvSpPr/>
          <p:nvPr/>
        </p:nvSpPr>
        <p:spPr>
          <a:xfrm>
            <a:off x="281549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92522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30" name="Oval 29"/>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4090797"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32" name="Oval 31"/>
          <p:cNvSpPr/>
          <p:nvPr/>
        </p:nvSpPr>
        <p:spPr>
          <a:xfrm>
            <a:off x="53306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440394" y="6437376"/>
            <a:ext cx="688371" cy="152146"/>
          </a:xfrm>
          <a:prstGeom prst="rect">
            <a:avLst/>
          </a:prstGeom>
          <a:noFill/>
        </p:spPr>
        <p:txBody>
          <a:bodyPr wrap="square" anchor="t" lIns="0" rIns="0" tIns="0" bIns="0">
            <a:spAutoFit/>
          </a:bodyPr>
          <a:lstStyle/>
          <a:p>
            <a:pPr algn="l"/>
            <a:r>
              <a:rPr sz="700" b="1" i="0">
                <a:solidFill>
                  <a:srgbClr val="5B3FD6"/>
                </a:solidFill>
                <a:latin typeface="Calibri"/>
              </a:rPr>
              <a:t>The close</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28 / 29</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Tomorrow, Anand questions tonight's numbers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Finance's books and the dashboard disagree about Q1, and the answer waits for Wednesday.</a:t>
            </a:r>
          </a:p>
        </p:txBody>
      </p:sp>
      <p:sp>
        <p:nvSpPr>
          <p:cNvPr id="9" name="Rounded Rectangle 8"/>
          <p:cNvSpPr/>
          <p:nvPr/>
        </p:nvSpPr>
        <p:spPr>
          <a:xfrm>
            <a:off x="530352" y="1956816"/>
            <a:ext cx="45720" cy="102616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1026160"/>
          </a:xfrm>
          <a:prstGeom prst="rect">
            <a:avLst/>
          </a:prstGeom>
          <a:noFill/>
        </p:spPr>
        <p:txBody>
          <a:bodyPr wrap="square" anchor="t" lIns="0" rIns="0" tIns="0" bIns="0">
            <a:spAutoFit/>
          </a:bodyPr>
          <a:lstStyle/>
          <a:p>
            <a:r>
              <a:rPr sz="1600" b="0" i="1">
                <a:solidFill>
                  <a:srgbClr val="1A0F5C"/>
                </a:solidFill>
                <a:latin typeface="Georgia"/>
              </a:rPr>
              <a:t>"Your dashboard says Rs 2.1 crore for Q1 and my books say 1.9. Reconcile before anyone acts on tonight's numbers."</a:t>
            </a:r>
          </a:p>
          <a:p>
            <a:pPr>
              <a:spcBef>
                <a:spcPts val="400"/>
              </a:spcBef>
            </a:pPr>
            <a:r>
              <a:rPr sz="1000" b="0" i="0">
                <a:solidFill>
                  <a:srgbClr val="6B6690"/>
                </a:solidFill>
                <a:latin typeface="Calibri"/>
              </a:rPr>
              <a:t>Anand Iyer, finance controller, Kalpa Retail</a:t>
            </a:r>
          </a:p>
        </p:txBody>
      </p:sp>
      <p:pic>
        <p:nvPicPr>
          <p:cNvPr id="11" name="mermaid diagram" descr="d4af99bbb50894b7.png"/>
          <p:cNvPicPr>
            <a:picLocks noChangeAspect="1"/>
          </p:cNvPicPr>
          <p:nvPr/>
        </p:nvPicPr>
        <p:blipFill>
          <a:blip r:embed="rId5"/>
          <a:stretch>
            <a:fillRect/>
          </a:stretch>
        </p:blipFill>
        <p:spPr>
          <a:xfrm>
            <a:off x="3745553" y="3129280"/>
            <a:ext cx="4700587" cy="1800225"/>
          </a:xfrm>
          <a:prstGeom prst="rect">
            <a:avLst/>
          </a:prstGeom>
        </p:spPr>
      </p:pic>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4" name="Oval 13"/>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16" name="Oval 15"/>
          <p:cNvSpPr/>
          <p:nvPr/>
        </p:nvSpPr>
        <p:spPr>
          <a:xfrm>
            <a:off x="281549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92522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18" name="Oval 17"/>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090797"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0" name="Oval 19"/>
          <p:cNvSpPr/>
          <p:nvPr/>
        </p:nvSpPr>
        <p:spPr>
          <a:xfrm>
            <a:off x="53306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440394" y="6437376"/>
            <a:ext cx="688371" cy="152146"/>
          </a:xfrm>
          <a:prstGeom prst="rect">
            <a:avLst/>
          </a:prstGeom>
          <a:noFill/>
        </p:spPr>
        <p:txBody>
          <a:bodyPr wrap="square" anchor="t" lIns="0" rIns="0" tIns="0" bIns="0">
            <a:spAutoFit/>
          </a:bodyPr>
          <a:lstStyle/>
          <a:p>
            <a:pPr algn="l"/>
            <a:r>
              <a:rPr sz="700" b="1" i="0">
                <a:solidFill>
                  <a:srgbClr val="5B3FD6"/>
                </a:solidFill>
                <a:latin typeface="Calibri"/>
              </a:rPr>
              <a:t>The close</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29 / 29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