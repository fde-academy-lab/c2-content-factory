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inside chapter 6's first minute. The afternoon opens on chapter 6, the cause the head of</a:t>
            </a:r>
          </a:p>
          <a:p>
            <a:r>
              <a:t>Retail-Plus hands us, then the escalated case, the debrief, the second case, the drill and the</a:t>
            </a:r>
          </a:p>
          <a:p>
            <a:r>
              <a:t>close. The next slide carries what the morning settled.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the five answers in one breath each. Revenue here is booked revenue, every</a:t>
            </a:r>
          </a:p>
          <a:p>
            <a:r>
              <a:t>order placed before any cancellation or return. The Business rupees, three fewer lakh-sized orders,</a:t>
            </a:r>
          </a:p>
          <a:p>
            <a:r>
              <a:t>sit beside the Retail-Plus behaviour in every sentence to Meera. Then chapter 6.</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Chapter 6 runs 30 minutes with the cover and the recap: 1 on the map, 3 on the need and Sonos,</a:t>
            </a:r>
          </a:p>
          <a:p>
            <a:r>
              <a:t>5 on the options and the picture, 2 on count_by, 3 on the monthly line, 7 on the trap, its window</a:t>
            </a:r>
          </a:p>
          <a:p>
            <a:r>
              <a:t>and the ceiling, 3 on the season and the channel, 2 on the second route, 3 on the memo and the</a:t>
            </a:r>
          </a:p>
          <a:p>
            <a:r>
              <a:t>close. Open notebooks/C2_W01_D02_06_the_memo_STUDENT.ipynb.</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the six questions. The memo that closes the chapter answers the chapter's own</a:t>
            </a:r>
          </a:p>
          <a:p>
            <a:r>
              <a:t>question. Then the cause the tier hands us.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metric at stake is Retail-Plus orders per week before and after the break. Six</a:t>
            </a:r>
          </a:p>
          <a:p>
            <a:r>
              <a:t>weeks back from the week of 6 October is 25 August; say it is the complaint taken at its word. A</a:t>
            </a:r>
          </a:p>
          <a:p>
            <a:r>
              <a:t>wrong answer costs a quarter: blame the button for everything, fix it, and the tier keeps falling.</a:t>
            </a:r>
          </a:p>
          <a:p>
            <a:r>
              <a:t>Then a company that put a broken app into its numbers.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Sources checked 30 Sep 2026: Sonos third quarter fiscal 2024 results (the chief</a:t>
            </a:r>
          </a:p>
          <a:p>
            <a:r>
              <a:t>executive's statement that the app's rollout required a reduced fiscal 2024 guidance) and the fiscal</a:t>
            </a:r>
          </a:p>
          <a:p>
            <a:r>
              <a:t>2024 annual report on Form 10-K (short-term costs of up to $30 million). Quote no revenue figure for</a:t>
            </a:r>
          </a:p>
          <a:p>
            <a:r>
              <a:t>the app's effect; no primary page gives one. Then four ways to test a cause.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A cause cannot come after its effect, so timing leads. Each of A to C reads the</a:t>
            </a:r>
          </a:p>
          <a:p>
            <a:r>
              <a:t>export already open in milliseconds; D is days away. Then what the button predicts.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Draw the three predictions on the board and leave the boxes empty; the next slides</a:t>
            </a:r>
          </a:p>
          <a:p>
            <a:r>
              <a:t>fill them. Then the function that counts by any key.</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lambda o: o["channel"] is a one-line function with no name, handed in as the key.</a:t>
            </a:r>
          </a:p>
          <a:p>
            <a:r>
              <a:t>The dictionary and .get with a default of 0 are chapter 2's; the default is right here for the same</a:t>
            </a:r>
          </a:p>
          <a:p>
            <a:r>
              <a:t>reason: a month not seen yet has no orders so far. Then the prediction.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Take letters, then run the monthly cell with count_by.</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line that falls from 13 to 9 in July is Retail-Plus; the level line is</a:t>
            </a:r>
          </a:p>
          <a:p>
            <a:r>
              <a:t>Retail-Core. The button may still matter; it cannot be the whole story. Keep to the Q2 months. Then</a:t>
            </a:r>
          </a:p>
          <a:p>
            <a:r>
              <a:t>the memo a hurried analyst would write anyway.</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chapter's trap. The comparison spans the whole quarter, so it charges the button</a:t>
            </a:r>
          </a:p>
          <a:p>
            <a:r>
              <a:t>with about eight weeks of orders lost before it broke. Then why it is wrong.</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Split Q2 at the break and give each side its window. Point at the middle row: 2.29</a:t>
            </a:r>
          </a:p>
          <a:p>
            <a:r>
              <a:t>orders a week against Q1's 3.92, before anything broke. Then the ceiling.</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At the pre-break pace of 18 orders in 55 days, the 37 days after the break would</a:t>
            </a:r>
          </a:p>
          <a:p>
            <a:r>
              <a:t>have carried about 12.1 orders; the tier placed 8, so the button explains at most about 4.1 orders,</a:t>
            </a:r>
          </a:p>
          <a:p>
            <a:r>
              <a:t>about Rs 12,400 at Q2's Retail-Plus revenue per order. It is a ceiling, since anything else that kept</a:t>
            </a:r>
          </a:p>
          <a:p>
            <a:r>
              <a:t>worsening would claim part of it. The ceiling rests on its baseline: over only the 37 days just</a:t>
            </a:r>
          </a:p>
          <a:p>
            <a:r>
              <a:t>before the break, a window as long as the one after it, the tier placed 15 orders, and the ceiling</a:t>
            </a:r>
          </a:p>
          <a:p>
            <a:r>
              <a:t>would be 7.0. The memo keeps the headline of about 4 on the stated 55-day baseline and says so;</a:t>
            </a:r>
          </a:p>
          <a:p>
            <a:r>
              <a:t>either figure is far below the 25 the hurried memo charges. Engineering still fixes the button; the</a:t>
            </a:r>
          </a:p>
          <a:p>
            <a:r>
              <a:t>memo stops promising it fixes the tier. Notebook 06's depth section asks learners to rerun this.</a:t>
            </a:r>
          </a:p>
          <a:p>
            <a:r>
              <a:t>Then two rival causes.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Both predictions fail, so both rival causes are capped. July opens the monsoon quarter, so a</a:t>
            </a:r>
          </a:p>
          <a:p>
            <a:r>
              <a:t>seasonal dip would also begin in July, which is why the comparison segment matters. Something</a:t>
            </a:r>
          </a:p>
          <a:p>
            <a:r>
              <a:t>touched members in every channel. Then a second route to the button's share.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Retail-Core placed 22 orders in the 55 days before 25 August and 14 in the 37 after,</a:t>
            </a:r>
          </a:p>
          <a:p>
            <a:r>
              <a:t>a pace 0.946 of what it had been. Scale the tier's expected 12.1 by it: 11.5, against 8 placed, about</a:t>
            </a:r>
          </a:p>
          <a:p>
            <a:r>
              <a:t>3.5 orders. The route could have come out above the ceiling of 4.1 and lands below it, which is what</a:t>
            </a:r>
          </a:p>
          <a:p>
            <a:r>
              <a:t>a ceiling predicts. The notebook also draws the tier's cumulative Q2 orders against the pre-break</a:t>
            </a:r>
          </a:p>
          <a:p>
            <a:r>
              <a:t>pace. Then the memo.</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Neither cause is proved or disproved by this export; each is a hypothesis settled</a:t>
            </a:r>
          </a:p>
          <a:p>
            <a:r>
              <a:t>by data Kalpa holds elsewhere. The memo's claim, which the notebook prints in full, ends on the</a:t>
            </a:r>
          </a:p>
          <a:p>
            <a:r>
              <a:t>request for all three. Then the chapter's answer.</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 interview tags: [S] a staple asked everywhere, [F] frequent in GCC and product</a:t>
            </a:r>
          </a:p>
          <a:p>
            <a:r>
              <a:t>screens, [SV] a service-major screen opener, [D] a differentiator. One breath: restate as a</a:t>
            </a:r>
          </a:p>
          <a:p>
            <a:r>
              <a:t>hypothesis, test timing, then the comparison and the channel, cap it, and name the data that</a:t>
            </a:r>
          </a:p>
          <a:p>
            <a:r>
              <a:t>settles it. The ceiling's baseline goes in the same breath:</a:t>
            </a:r>
          </a:p>
          <a:p>
            <a:r>
              <a:t>about 4 on the 55 days before the break, 7.0 on the 37 just before it, both far below 25.</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The escalated case runs 50 minutes, unguided. Hand out</a:t>
            </a:r>
          </a:p>
          <a:p>
            <a:r>
              <a:t>exercises/unguided/C2_W01_D02_escalated_case_STUDENT.md; learners work in</a:t>
            </a:r>
          </a:p>
          <a:p>
            <a:r>
              <a:t>notebooks/C2_W01_D02_ex1_escalated_case_STUDENT.ipynb. The solution opens after the debrief.</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to brief, then 47 of silent work. The board pack is the set of numbers the board</a:t>
            </a:r>
          </a:p>
          <a:p>
            <a:r>
              <a:t>reads. Walk the room from minute 10. The trap in part 3 is the escalated one: customers with a</a:t>
            </a:r>
          </a:p>
          <a:p>
            <a:r>
              <a:t>delivered order fell from 54 to 50, and Marketing would read that as churn. Do not hint at it.</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inside the 3-minute brief, before work starts. Remind the room that the notebook stops at the</a:t>
            </a:r>
          </a:p>
          <a:p>
            <a:r>
              <a:t>first placeholder until it is filled, which is intended.</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The debrief runs 15 minutes, before the break. Put each wrong answer up, ask who reached it,</a:t>
            </a:r>
          </a:p>
          <a:p>
            <a:r>
              <a:t>and let a learner who avoided it say the check. Release the solution notebook in</a:t>
            </a:r>
          </a:p>
          <a:p>
            <a:r>
              <a:t>exercises/solutions/ at the end.</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Ask for hands on each box before the detail slides. Then the first.</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On delivered orders the bridge charges the customers branch Rs 10,74,442. Ask who</a:t>
            </a:r>
          </a:p>
          <a:p>
            <a:r>
              <a:t>wrote "customers fell 7.4 percent" in part 2 and stopped there. The part 3 set, (delivered Q1 minus</a:t>
            </a:r>
          </a:p>
          <a:p>
            <a:r>
              <a:t>delivered Q2) and booked Q2, finds all 19 still ordering.</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morning's trap in a new place. Anyone who averaged has the reason on the board</a:t>
            </a:r>
          </a:p>
          <a:p>
            <a:r>
              <a:t>from chapter 3.</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definition moved the split without creating a price rise anyone paid. Ask a</a:t>
            </a:r>
          </a:p>
          <a:p>
            <a:r>
              <a:t>learner to read Retail-Plus delivered revenue per order: Rs 2,748 to Rs 2,806.</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then the 10-minute break. "Revenue fell 11 percent" is true on both definitions, at</a:t>
            </a:r>
          </a:p>
          <a:p>
            <a:r>
              <a:t>11.0 and 11.3, and says neither. Release the solution notebook.</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The second case runs 40 minutes in pairs: 3 to brief, 30 to work, 7 to hear two replies. Hand</a:t>
            </a:r>
          </a:p>
          <a:p>
            <a:r>
              <a:t>out exercises/unguided/C2_W01_D02_second_case_STUDENT.md; the notebook is</a:t>
            </a:r>
          </a:p>
          <a:p>
            <a:r>
              <a:t>notebooks/C2_W01_D02_ex2_second_case_STUDENT.ipynb.</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to brief. Pairs split the roles, one answering Marketing and one the head of</a:t>
            </a:r>
          </a:p>
          <a:p>
            <a:r>
              <a:t>Retail-Plus, then write one reply together, with the one data request that tests the most.</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7 minutes after the work. Hear two pairs' replies. The tier's Q2 revenue over its Q1 revenue,</a:t>
            </a:r>
          </a:p>
          <a:p>
            <a:r>
              <a:t>counted directly, is 0.545; the rounded leaves multiply to about 0.55. Say that every member still</a:t>
            </a:r>
          </a:p>
          <a:p>
            <a:r>
              <a:t>ordered, which fits a broken habit more than a tier people left.</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The drill runs 20 minutes. Ask each question aloud to a named learner, give one breath, then</a:t>
            </a:r>
          </a:p>
          <a:p>
            <a:r>
              <a:t>read the model answer from the notes. Tags: [S] staple asked everywhere, [F] frequent in GCC and</a:t>
            </a:r>
          </a:p>
          <a:p>
            <a:r>
              <a:t>product screens, [SV] service-major screen opener, [D] differentiator.</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10 minutes.</a:t>
            </a:r>
          </a:p>
          <a:p>
            <a:r>
              <a:t>1. Confirm on matched windows, decompose into customers, orders per customer and revenue per order,</a:t>
            </a:r>
          </a:p>
          <a:p>
            <a:r>
              <a:t>isolate the segment, split mix from rate, then name a hypothesis with its evidence, timing first.</a:t>
            </a:r>
          </a:p>
          <a:p>
            <a:r>
              <a:t>2. Nobody can check it or compare it: orders per customer is 1.25 over 69 booked customers and 1.14</a:t>
            </a:r>
          </a:p>
          <a:p>
            <a:r>
              <a:t>over 50 delivered ones, so the denominator decides the number.</a:t>
            </a:r>
          </a:p>
          <a:p>
            <a:r>
              <a:t>3. The caller gets None, and the next step crashes or silently drops that group.</a:t>
            </a:r>
          </a:p>
          <a:p>
            <a:r>
              <a:t>4. Window length and dates, the definition, the population and the denominator; closed quarters, or</a:t>
            </a:r>
          </a:p>
          <a:p>
            <a:r>
              <a:t>the same weeks of each; the season needs last year.</a:t>
            </a:r>
          </a:p>
          <a:p>
            <a:r>
              <a:t>5. Test their claim in its own terms: the overlap shows none lost and none new; show where the fall</a:t>
            </a:r>
          </a:p>
          <a:p>
            <a:r>
              <a:t>is; end on what would change my mind.</a:t>
            </a:r>
          </a:p>
          <a:p>
            <a:r>
              <a:t>6. A bridge one leaf at a time in a fixed order; say the order, or use the symmetric split.</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10 minutes.</a:t>
            </a:r>
          </a:p>
          <a:p>
            <a:r>
              <a:t>7. Mostly mix: small orders fell away; 69 percent of the rise on booked orders.</a:t>
            </a:r>
          </a:p>
          <a:p>
            <a:r>
              <a:t>8. No: absent is unknown; count it, report it, write the rule, bound it.</a:t>
            </a:r>
          </a:p>
          <a:p>
            <a:r>
              <a:t>9. Each rate has its own denominator; total over total reproduces the company figure.</a:t>
            </a:r>
          </a:p>
          <a:p>
            <a:r>
              <a:t>10. No: compare ids, lost and new; here 69, 0 and 0.</a:t>
            </a:r>
          </a:p>
          <a:p>
            <a:r>
              <a:t>11. A function when groups are asked one at a time and definitions change; one pass by key when the</a:t>
            </a:r>
          </a:p>
          <a:p>
            <a:r>
              <a:t>file is large and every group is needed at once.</a:t>
            </a:r>
          </a:p>
          <a:p>
            <a:r>
              <a:t>12. Timing first, then a comparison group, then the channel it predicts; cap it, naming the</a:t>
            </a:r>
          </a:p>
          <a:p>
            <a:r>
              <a:t>baseline; request the data that settles it.</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The close runs 15 minutes: Kahoot 8, the sentence and the lines 5, tomorrow's question 2.</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after the Kahoot. Read it aloud once, slowly. The memo names both baselines, the</a:t>
            </a:r>
          </a:p>
          <a:p>
            <a:r>
              <a:t>tier's pace over the 55 days before the break and over the 37 days just before it, and either way</a:t>
            </a:r>
          </a:p>
          <a:p>
            <a:r>
              <a:t>the ceiling is far below the 25 a hurried memo charges. Ask one learner which part their own sentence</a:t>
            </a:r>
          </a:p>
          <a:p>
            <a:r>
              <a:t>missed; most miss the ceiling or the data to ask for. The Kahoot pack is</a:t>
            </a:r>
          </a:p>
          <a:p>
            <a:r>
              <a:t>kahoot/C2_W01_D02_quiz_STUDENT.md, eight items, ungraded.</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Read the eight lines aloud with the room. The chain maps them onto the chapters.</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Read Anand's line and stop. Do not predict the answer. Every number today was on the</a:t>
            </a:r>
          </a:p>
          <a:p>
            <a:r>
              <a:t>export as it stands; point to the take-home brief. The TA-led practice lab follows.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5.xml"/><Relationship Id="rId6" Type="http://schemas.openxmlformats.org/officeDocument/2006/relationships/image" Target="../media/image6.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8.xml"/><Relationship Id="rId5" Type="http://schemas.openxmlformats.org/officeDocument/2006/relationships/image" Target="../media/image7.png"/><Relationship Id="rId6" Type="http://schemas.openxmlformats.org/officeDocument/2006/relationships/image" Target="../media/image8.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7.png"/><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0.xml"/><Relationship Id="rId5" Type="http://schemas.openxmlformats.org/officeDocument/2006/relationships/image" Target="../media/image9.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1.xml"/><Relationship Id="rId5" Type="http://schemas.openxmlformats.org/officeDocument/2006/relationships/image" Target="../media/image10.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5.png"/><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5.xml"/><Relationship Id="rId5" Type="http://schemas.openxmlformats.org/officeDocument/2006/relationships/image" Target="../media/image1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6.xml"/><Relationship Id="rId5" Type="http://schemas.openxmlformats.org/officeDocument/2006/relationships/image" Target="../media/image13.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7.xml"/><Relationship Id="rId5" Type="http://schemas.openxmlformats.org/officeDocument/2006/relationships/image" Target="../media/image7.png"/><Relationship Id="rId6"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1.png"/><Relationship Id="rId5" Type="http://schemas.openxmlformats.org/officeDocument/2006/relationships/image" Target="../media/image15.png"/><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7.png"/><Relationship Id="rId5"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3.xml"/><Relationship Id="rId5" Type="http://schemas.openxmlformats.org/officeDocument/2006/relationships/image" Target="../media/image7.png"/><Relationship Id="rId6" Type="http://schemas.openxmlformats.org/officeDocument/2006/relationships/image" Target="../media/image17.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4.xml"/><Relationship Id="rId5" Type="http://schemas.openxmlformats.org/officeDocument/2006/relationships/image" Target="../media/image18.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5.xml"/><Relationship Id="rId5" Type="http://schemas.openxmlformats.org/officeDocument/2006/relationships/image" Target="../media/image19.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7.xml"/><Relationship Id="rId5" Type="http://schemas.openxmlformats.org/officeDocument/2006/relationships/image" Target="../media/image11.png"/><Relationship Id="rId6" Type="http://schemas.openxmlformats.org/officeDocument/2006/relationships/image" Target="../media/image20.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6.png"/><Relationship Id="rId5" Type="http://schemas.openxmlformats.org/officeDocument/2006/relationships/image" Target="../media/image21.png"/><Relationship Id="rId6" Type="http://schemas.openxmlformats.org/officeDocument/2006/relationships/image" Target="../media/image22.png"/><Relationship Id="rId7" Type="http://schemas.openxmlformats.org/officeDocument/2006/relationships/image" Target="../media/image7.png"/><Relationship Id="rId8"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6.xml"/><Relationship Id="rId5" Type="http://schemas.openxmlformats.org/officeDocument/2006/relationships/image" Target="../media/image24.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7.xml"/><Relationship Id="rId5" Type="http://schemas.openxmlformats.org/officeDocument/2006/relationships/image" Target="../media/image25.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621792" y="566928"/>
            <a:ext cx="1051560" cy="1051560"/>
          </a:xfrm>
          <a:prstGeom prst="rect">
            <a:avLst/>
          </a:prstGeom>
        </p:spPr>
      </p:pic>
      <p:sp>
        <p:nvSpPr>
          <p:cNvPr id="4" name="TextBox 3"/>
          <p:cNvSpPr txBox="1"/>
          <p:nvPr/>
        </p:nvSpPr>
        <p:spPr>
          <a:xfrm>
            <a:off x="1901952" y="804672"/>
            <a:ext cx="6858000" cy="300735"/>
          </a:xfrm>
          <a:prstGeom prst="rect">
            <a:avLst/>
          </a:prstGeom>
          <a:noFill/>
        </p:spPr>
        <p:txBody>
          <a:bodyPr wrap="square" anchor="t" lIns="0" rIns="0" tIns="0" bIns="0">
            <a:spAutoFit/>
          </a:bodyPr>
          <a:lstStyle/>
          <a:p>
            <a:pPr algn="l"/>
            <a:r>
              <a:rPr sz="1600" b="1" i="0">
                <a:solidFill>
                  <a:srgbClr val="FFFFFF"/>
                </a:solidFill>
                <a:latin typeface="Calibri"/>
              </a:rPr>
              <a:t>Indian Institute of Technology Gandhinagar</a:t>
            </a:r>
          </a:p>
        </p:txBody>
      </p:sp>
      <p:sp>
        <p:nvSpPr>
          <p:cNvPr id="5" name="TextBox 4"/>
          <p:cNvSpPr txBox="1"/>
          <p:nvPr/>
        </p:nvSpPr>
        <p:spPr>
          <a:xfrm>
            <a:off x="1901952" y="1133856"/>
            <a:ext cx="7772400" cy="152146"/>
          </a:xfrm>
          <a:prstGeom prst="rect">
            <a:avLst/>
          </a:prstGeom>
          <a:noFill/>
        </p:spPr>
        <p:txBody>
          <a:bodyPr wrap="square" anchor="t" lIns="0" rIns="0" tIns="0" bIns="0">
            <a:spAutoFit/>
          </a:bodyPr>
          <a:lstStyle/>
          <a:p>
            <a:pPr algn="l"/>
            <a:r>
              <a:rPr sz="700" b="1" i="0" spc="300">
                <a:solidFill>
                  <a:srgbClr val="D9A7FF"/>
                </a:solidFill>
                <a:latin typeface="Calibri"/>
              </a:rPr>
              <a:t>ADMINISTERED THROUGH THE COMPETENCY ADVANCEMENT ACADEMY</a:t>
            </a:r>
          </a:p>
        </p:txBody>
      </p:sp>
      <p:sp>
        <p:nvSpPr>
          <p:cNvPr id="6" name="Rectangle 5"/>
          <p:cNvSpPr/>
          <p:nvPr/>
        </p:nvSpPr>
        <p:spPr>
          <a:xfrm>
            <a:off x="621792" y="1938528"/>
            <a:ext cx="10948111" cy="10972"/>
          </a:xfrm>
          <a:prstGeom prst="rect">
            <a:avLst/>
          </a:prstGeom>
          <a:solidFill>
            <a:srgbClr val="A9A3D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ounded Rectangle 6"/>
          <p:cNvSpPr/>
          <p:nvPr/>
        </p:nvSpPr>
        <p:spPr>
          <a:xfrm>
            <a:off x="621792" y="2240280"/>
            <a:ext cx="3385127" cy="329184"/>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900" b="1" spc="250">
                <a:solidFill>
                  <a:srgbClr val="FFFFFF"/>
                </a:solidFill>
                <a:latin typeface="Calibri"/>
              </a:rPr>
              <a:t>WEEK 1  ·  TUESDAY  ·  HALF TWO</a:t>
            </a:r>
          </a:p>
        </p:txBody>
      </p:sp>
      <p:sp>
        <p:nvSpPr>
          <p:cNvPr id="8" name="TextBox 7"/>
          <p:cNvSpPr txBox="1"/>
          <p:nvPr/>
        </p:nvSpPr>
        <p:spPr>
          <a:xfrm>
            <a:off x="621792" y="2807208"/>
            <a:ext cx="10582351" cy="663956"/>
          </a:xfrm>
          <a:prstGeom prst="rect">
            <a:avLst/>
          </a:prstGeom>
          <a:noFill/>
        </p:spPr>
        <p:txBody>
          <a:bodyPr wrap="square" anchor="t" lIns="0" rIns="0" tIns="0" bIns="0">
            <a:spAutoFit/>
          </a:bodyPr>
          <a:lstStyle/>
          <a:p>
            <a:pPr algn="l"/>
            <a:r>
              <a:rPr sz="3800" b="0" i="0">
                <a:solidFill>
                  <a:srgbClr val="FFFFFF"/>
                </a:solidFill>
                <a:latin typeface="Georgia"/>
              </a:rPr>
              <a:t>Did the reorder button do it?</a:t>
            </a:r>
          </a:p>
        </p:txBody>
      </p:sp>
      <p:sp>
        <p:nvSpPr>
          <p:cNvPr id="9" name="TextBox 8"/>
          <p:cNvSpPr txBox="1"/>
          <p:nvPr/>
        </p:nvSpPr>
        <p:spPr>
          <a:xfrm>
            <a:off x="621792" y="3635756"/>
            <a:ext cx="10033711" cy="663956"/>
          </a:xfrm>
          <a:prstGeom prst="rect">
            <a:avLst/>
          </a:prstGeom>
          <a:noFill/>
        </p:spPr>
        <p:txBody>
          <a:bodyPr wrap="square" anchor="t" lIns="0" rIns="0" tIns="0" bIns="0">
            <a:spAutoFit/>
          </a:bodyPr>
          <a:lstStyle/>
          <a:p>
            <a:pPr algn="l"/>
            <a:r>
              <a:rPr sz="1900" b="0" i="1">
                <a:solidFill>
                  <a:srgbClr val="D9A7FF"/>
                </a:solidFill>
                <a:latin typeface="Georgia"/>
              </a:rPr>
              <a:t>“It is the broken reorder button. One of my members says it has been broken for six weeks.”</a:t>
            </a:r>
          </a:p>
        </p:txBody>
      </p:sp>
      <p:sp>
        <p:nvSpPr>
          <p:cNvPr id="10" name="TextBox 9"/>
          <p:cNvSpPr txBox="1"/>
          <p:nvPr/>
        </p:nvSpPr>
        <p:spPr>
          <a:xfrm>
            <a:off x="621792" y="4354576"/>
            <a:ext cx="10033711" cy="218186"/>
          </a:xfrm>
          <a:prstGeom prst="rect">
            <a:avLst/>
          </a:prstGeom>
          <a:noFill/>
        </p:spPr>
        <p:txBody>
          <a:bodyPr wrap="square" anchor="t" lIns="0" rIns="0" tIns="0" bIns="0">
            <a:spAutoFit/>
          </a:bodyPr>
          <a:lstStyle/>
          <a:p>
            <a:pPr algn="l"/>
            <a:r>
              <a:rPr sz="1100" b="0" i="0">
                <a:solidFill>
                  <a:srgbClr val="CFC9EE"/>
                </a:solidFill>
                <a:latin typeface="Calibri"/>
              </a:rPr>
              <a:t>The head of Retail-Plus, Kalpa's paid membership tier</a:t>
            </a:r>
          </a:p>
        </p:txBody>
      </p:sp>
      <p:sp>
        <p:nvSpPr>
          <p:cNvPr id="11" name="TextBox 10"/>
          <p:cNvSpPr txBox="1"/>
          <p:nvPr/>
        </p:nvSpPr>
        <p:spPr>
          <a:xfrm>
            <a:off x="621792"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06</a:t>
            </a:r>
          </a:p>
        </p:txBody>
      </p:sp>
      <p:sp>
        <p:nvSpPr>
          <p:cNvPr id="12" name="TextBox 11"/>
          <p:cNvSpPr txBox="1"/>
          <p:nvPr/>
        </p:nvSpPr>
        <p:spPr>
          <a:xfrm>
            <a:off x="1005839" y="5248656"/>
            <a:ext cx="1425035" cy="185166"/>
          </a:xfrm>
          <a:prstGeom prst="rect">
            <a:avLst/>
          </a:prstGeom>
          <a:noFill/>
        </p:spPr>
        <p:txBody>
          <a:bodyPr wrap="square" anchor="t" lIns="0" rIns="0" tIns="0" bIns="0">
            <a:spAutoFit/>
          </a:bodyPr>
          <a:lstStyle/>
          <a:p>
            <a:pPr algn="l"/>
            <a:r>
              <a:rPr sz="900" b="0" i="0">
                <a:solidFill>
                  <a:srgbClr val="FFFFFF"/>
                </a:solidFill>
                <a:latin typeface="Calibri"/>
              </a:rPr>
              <a:t>Did the button do it?</a:t>
            </a:r>
          </a:p>
        </p:txBody>
      </p:sp>
      <p:sp>
        <p:nvSpPr>
          <p:cNvPr id="13" name="TextBox 12"/>
          <p:cNvSpPr txBox="1"/>
          <p:nvPr/>
        </p:nvSpPr>
        <p:spPr>
          <a:xfrm>
            <a:off x="2613755"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07</a:t>
            </a:r>
          </a:p>
        </p:txBody>
      </p:sp>
      <p:sp>
        <p:nvSpPr>
          <p:cNvPr id="14" name="TextBox 13"/>
          <p:cNvSpPr txBox="1"/>
          <p:nvPr/>
        </p:nvSpPr>
        <p:spPr>
          <a:xfrm>
            <a:off x="2997803" y="5248656"/>
            <a:ext cx="1661636" cy="185166"/>
          </a:xfrm>
          <a:prstGeom prst="rect">
            <a:avLst/>
          </a:prstGeom>
          <a:noFill/>
        </p:spPr>
        <p:txBody>
          <a:bodyPr wrap="square" anchor="t" lIns="0" rIns="0" tIns="0" bIns="0">
            <a:spAutoFit/>
          </a:bodyPr>
          <a:lstStyle/>
          <a:p>
            <a:pPr algn="l"/>
            <a:r>
              <a:rPr sz="900" b="0" i="0">
                <a:solidFill>
                  <a:srgbClr val="FFFFFF"/>
                </a:solidFill>
                <a:latin typeface="Calibri"/>
              </a:rPr>
              <a:t>Does it survive delivery?</a:t>
            </a:r>
          </a:p>
        </p:txBody>
      </p:sp>
      <p:sp>
        <p:nvSpPr>
          <p:cNvPr id="15" name="TextBox 14"/>
          <p:cNvSpPr txBox="1"/>
          <p:nvPr/>
        </p:nvSpPr>
        <p:spPr>
          <a:xfrm>
            <a:off x="4842319"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08</a:t>
            </a:r>
          </a:p>
        </p:txBody>
      </p:sp>
      <p:sp>
        <p:nvSpPr>
          <p:cNvPr id="16" name="TextBox 15"/>
          <p:cNvSpPr txBox="1"/>
          <p:nvPr/>
        </p:nvSpPr>
        <p:spPr>
          <a:xfrm>
            <a:off x="5226367" y="5248656"/>
            <a:ext cx="1484185" cy="185166"/>
          </a:xfrm>
          <a:prstGeom prst="rect">
            <a:avLst/>
          </a:prstGeom>
          <a:noFill/>
        </p:spPr>
        <p:txBody>
          <a:bodyPr wrap="square" anchor="t" lIns="0" rIns="0" tIns="0" bIns="0">
            <a:spAutoFit/>
          </a:bodyPr>
          <a:lstStyle/>
          <a:p>
            <a:pPr algn="l"/>
            <a:r>
              <a:rPr sz="900" b="0" i="0">
                <a:solidFill>
                  <a:srgbClr val="FFFFFF"/>
                </a:solidFill>
                <a:latin typeface="Calibri"/>
              </a:rPr>
              <a:t>Where did we go wrong?</a:t>
            </a:r>
          </a:p>
        </p:txBody>
      </p:sp>
      <p:sp>
        <p:nvSpPr>
          <p:cNvPr id="17" name="TextBox 16"/>
          <p:cNvSpPr txBox="1"/>
          <p:nvPr/>
        </p:nvSpPr>
        <p:spPr>
          <a:xfrm>
            <a:off x="6893433"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09</a:t>
            </a:r>
          </a:p>
        </p:txBody>
      </p:sp>
      <p:sp>
        <p:nvSpPr>
          <p:cNvPr id="18" name="TextBox 17"/>
          <p:cNvSpPr txBox="1"/>
          <p:nvPr/>
        </p:nvSpPr>
        <p:spPr>
          <a:xfrm>
            <a:off x="7277481" y="5248656"/>
            <a:ext cx="1365885" cy="185166"/>
          </a:xfrm>
          <a:prstGeom prst="rect">
            <a:avLst/>
          </a:prstGeom>
          <a:noFill/>
        </p:spPr>
        <p:txBody>
          <a:bodyPr wrap="square" anchor="t" lIns="0" rIns="0" tIns="0" bIns="0">
            <a:spAutoFit/>
          </a:bodyPr>
          <a:lstStyle/>
          <a:p>
            <a:pPr algn="l"/>
            <a:r>
              <a:rPr sz="900" b="0" i="0">
                <a:solidFill>
                  <a:srgbClr val="FFFFFF"/>
                </a:solidFill>
                <a:latin typeface="Calibri"/>
              </a:rPr>
              <a:t>Is the tier healthy?</a:t>
            </a:r>
          </a:p>
        </p:txBody>
      </p:sp>
      <p:sp>
        <p:nvSpPr>
          <p:cNvPr id="19" name="TextBox 18"/>
          <p:cNvSpPr txBox="1"/>
          <p:nvPr/>
        </p:nvSpPr>
        <p:spPr>
          <a:xfrm>
            <a:off x="8826246"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10</a:t>
            </a:r>
          </a:p>
        </p:txBody>
      </p:sp>
      <p:sp>
        <p:nvSpPr>
          <p:cNvPr id="20" name="TextBox 19"/>
          <p:cNvSpPr txBox="1"/>
          <p:nvPr/>
        </p:nvSpPr>
        <p:spPr>
          <a:xfrm>
            <a:off x="9210294" y="5248656"/>
            <a:ext cx="1425035" cy="185166"/>
          </a:xfrm>
          <a:prstGeom prst="rect">
            <a:avLst/>
          </a:prstGeom>
          <a:noFill/>
        </p:spPr>
        <p:txBody>
          <a:bodyPr wrap="square" anchor="t" lIns="0" rIns="0" tIns="0" bIns="0">
            <a:spAutoFit/>
          </a:bodyPr>
          <a:lstStyle/>
          <a:p>
            <a:pPr algn="l"/>
            <a:r>
              <a:rPr sz="900" b="0" i="0">
                <a:solidFill>
                  <a:srgbClr val="FFFFFF"/>
                </a:solidFill>
                <a:latin typeface="Calibri"/>
              </a:rPr>
              <a:t>Can you say it aloud?</a:t>
            </a:r>
          </a:p>
        </p:txBody>
      </p:sp>
      <p:sp>
        <p:nvSpPr>
          <p:cNvPr id="21" name="TextBox 20"/>
          <p:cNvSpPr txBox="1"/>
          <p:nvPr/>
        </p:nvSpPr>
        <p:spPr>
          <a:xfrm>
            <a:off x="621792" y="5632704"/>
            <a:ext cx="365760" cy="251205"/>
          </a:xfrm>
          <a:prstGeom prst="rect">
            <a:avLst/>
          </a:prstGeom>
          <a:noFill/>
        </p:spPr>
        <p:txBody>
          <a:bodyPr wrap="square" anchor="t" lIns="0" rIns="0" tIns="0" bIns="0">
            <a:spAutoFit/>
          </a:bodyPr>
          <a:lstStyle/>
          <a:p>
            <a:pPr algn="l"/>
            <a:r>
              <a:rPr sz="1300" b="0" i="0">
                <a:solidFill>
                  <a:srgbClr val="D9A7FF"/>
                </a:solidFill>
                <a:latin typeface="Georgia"/>
              </a:rPr>
              <a:t>11</a:t>
            </a:r>
          </a:p>
        </p:txBody>
      </p:sp>
      <p:sp>
        <p:nvSpPr>
          <p:cNvPr id="22" name="TextBox 21"/>
          <p:cNvSpPr txBox="1"/>
          <p:nvPr/>
        </p:nvSpPr>
        <p:spPr>
          <a:xfrm>
            <a:off x="1005839" y="5669280"/>
            <a:ext cx="1484185" cy="185166"/>
          </a:xfrm>
          <a:prstGeom prst="rect">
            <a:avLst/>
          </a:prstGeom>
          <a:noFill/>
        </p:spPr>
        <p:txBody>
          <a:bodyPr wrap="square" anchor="t" lIns="0" rIns="0" tIns="0" bIns="0">
            <a:spAutoFit/>
          </a:bodyPr>
          <a:lstStyle/>
          <a:p>
            <a:pPr algn="l"/>
            <a:r>
              <a:rPr sz="900" b="0" i="0">
                <a:solidFill>
                  <a:srgbClr val="FFFFFF"/>
                </a:solidFill>
                <a:latin typeface="Calibri"/>
              </a:rPr>
              <a:t>So which branch moved?</a:t>
            </a:r>
          </a:p>
        </p:txBody>
      </p:sp>
      <p:sp>
        <p:nvSpPr>
          <p:cNvPr id="23" name="TextBox 22"/>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2. Did the reorder button do it?</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 / 37</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morning found the branch, the tier and the mix</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did the morning settle, and what is still open?</a:t>
            </a:r>
          </a:p>
        </p:txBody>
      </p:sp>
      <p:graphicFrame>
        <p:nvGraphicFramePr>
          <p:cNvPr id="9" name="Table 8"/>
          <p:cNvGraphicFramePr>
            <a:graphicFrameLocks noGrp="1"/>
          </p:cNvGraphicFramePr>
          <p:nvPr/>
        </p:nvGraphicFramePr>
        <p:xfrm>
          <a:off x="530352" y="1956816"/>
          <a:ext cx="11130989" cy="2588768"/>
        </p:xfrm>
        <a:graphic>
          <a:graphicData uri="http://schemas.openxmlformats.org/drawingml/2006/table">
            <a:tbl>
              <a:tblPr firstRow="0" bandRow="0">
                <a:tableStyleId>{2D5ABB26-0587-4C30-8999-92F81FD0307C}</a:tableStyleId>
              </a:tblPr>
              <a:tblGrid>
                <a:gridCol w="1184378"/>
                <a:gridCol w="2940370"/>
                <a:gridCol w="7006241"/>
              </a:tblGrid>
              <a:tr h="369824">
                <a:tc>
                  <a:txBody>
                    <a:bodyPr/>
                    <a:lstStyle/>
                    <a:p>
                      <a:r>
                        <a:rPr sz="1450" b="1" i="0">
                          <a:solidFill>
                            <a:srgbClr val="FFFFFF"/>
                          </a:solidFill>
                          <a:latin typeface="Calibri"/>
                        </a:rPr>
                        <a:t>Chapter</a:t>
                      </a:r>
                    </a:p>
                  </a:txBody>
                  <a:tcPr marL="101600" marR="101600" marT="38100" marB="38100" anchor="ctr">
                    <a:solidFill>
                      <a:srgbClr val="1A0F5C"/>
                    </a:solidFill>
                  </a:tcPr>
                </a:tc>
                <a:tc>
                  <a:txBody>
                    <a:bodyPr/>
                    <a:lstStyle/>
                    <a:p>
                      <a:r>
                        <a:rPr sz="1450" b="1" i="0">
                          <a:solidFill>
                            <a:srgbClr val="FFFFFF"/>
                          </a:solidFill>
                          <a:latin typeface="Calibri"/>
                        </a:rPr>
                        <a:t>The question</a:t>
                      </a:r>
                    </a:p>
                  </a:txBody>
                  <a:tcPr marL="101600" marR="101600" marT="38100" marB="38100" anchor="ctr">
                    <a:solidFill>
                      <a:srgbClr val="1A0F5C"/>
                    </a:solidFill>
                  </a:tcPr>
                </a:tc>
                <a:tc>
                  <a:txBody>
                    <a:bodyPr/>
                    <a:lstStyle/>
                    <a:p>
                      <a:r>
                        <a:rPr sz="1450" b="1" i="0">
                          <a:solidFill>
                            <a:srgbClr val="FFFFFF"/>
                          </a:solidFill>
                          <a:latin typeface="Calibri"/>
                        </a:rPr>
                        <a:t>The answer</a:t>
                      </a:r>
                    </a:p>
                  </a:txBody>
                  <a:tcPr marL="101600" marR="101600" marT="38100" marB="38100" anchor="ctr">
                    <a:solidFill>
                      <a:srgbClr val="1A0F5C"/>
                    </a:solidFill>
                  </a:tcPr>
                </a:tc>
              </a:tr>
              <a:tr h="369824">
                <a:tc>
                  <a:txBody>
                    <a:bodyPr/>
                    <a:lstStyle/>
                    <a:p>
                      <a:r>
                        <a:rPr sz="1400" b="0" i="0">
                          <a:solidFill>
                            <a:srgbClr val="1A1440"/>
                          </a:solidFill>
                          <a:latin typeface="Calibri"/>
                        </a:rPr>
                        <a:t>1</a:t>
                      </a:r>
                    </a:p>
                  </a:txBody>
                  <a:tcPr marL="101600" marR="101600" marT="38100" marB="38100" anchor="ctr">
                    <a:solidFill>
                      <a:srgbClr val="FFFFFF"/>
                    </a:solidFill>
                  </a:tcPr>
                </a:tc>
                <a:tc>
                  <a:txBody>
                    <a:bodyPr/>
                    <a:lstStyle/>
                    <a:p>
                      <a:r>
                        <a:rPr sz="1400" b="0" i="0">
                          <a:solidFill>
                            <a:srgbClr val="1A1440"/>
                          </a:solidFill>
                          <a:latin typeface="Calibri"/>
                        </a:rPr>
                        <a:t>Is the drop real?</a:t>
                      </a:r>
                    </a:p>
                  </a:txBody>
                  <a:tcPr marL="101600" marR="101600" marT="38100" marB="38100" anchor="ctr">
                    <a:solidFill>
                      <a:srgbClr val="FFFFFF"/>
                    </a:solidFill>
                  </a:tcPr>
                </a:tc>
                <a:tc>
                  <a:txBody>
                    <a:bodyPr/>
                    <a:lstStyle/>
                    <a:p>
                      <a:r>
                        <a:rPr sz="1400" b="0" i="0">
                          <a:solidFill>
                            <a:srgbClr val="1A1440"/>
                          </a:solidFill>
                          <a:latin typeface="Calibri"/>
                        </a:rPr>
                        <a:t>Yes: minus 11.0 percent, Rs 23,00,000, on two closed quarters</a:t>
                      </a:r>
                    </a:p>
                  </a:txBody>
                  <a:tcPr marL="101600" marR="101600" marT="38100" marB="38100" anchor="ctr">
                    <a:solidFill>
                      <a:srgbClr val="FFFFFF"/>
                    </a:solidFill>
                  </a:tcPr>
                </a:tc>
              </a:tr>
              <a:tr h="369824">
                <a:tc>
                  <a:txBody>
                    <a:bodyPr/>
                    <a:lstStyle/>
                    <a:p>
                      <a:r>
                        <a:rPr sz="1400" b="0" i="0">
                          <a:solidFill>
                            <a:srgbClr val="1A1440"/>
                          </a:solidFill>
                          <a:latin typeface="Calibri"/>
                        </a:rPr>
                        <a:t>2</a:t>
                      </a:r>
                    </a:p>
                  </a:txBody>
                  <a:tcPr marL="101600" marR="101600" marT="38100" marB="38100" anchor="ctr">
                    <a:solidFill>
                      <a:srgbClr val="F4F2FA"/>
                    </a:solidFill>
                  </a:tcPr>
                </a:tc>
                <a:tc>
                  <a:txBody>
                    <a:bodyPr/>
                    <a:lstStyle/>
                    <a:p>
                      <a:r>
                        <a:rPr sz="1400" b="0" i="0">
                          <a:solidFill>
                            <a:srgbClr val="1A1440"/>
                          </a:solidFill>
                          <a:latin typeface="Calibri"/>
                        </a:rPr>
                        <a:t>Which branch moved?</a:t>
                      </a:r>
                    </a:p>
                  </a:txBody>
                  <a:tcPr marL="101600" marR="101600" marT="38100" marB="38100" anchor="ctr">
                    <a:solidFill>
                      <a:srgbClr val="F4F2FA"/>
                    </a:solidFill>
                  </a:tcPr>
                </a:tc>
                <a:tc>
                  <a:txBody>
                    <a:bodyPr/>
                    <a:lstStyle/>
                    <a:p>
                      <a:r>
                        <a:rPr sz="1400" b="0" i="0">
                          <a:solidFill>
                            <a:srgbClr val="1A1440"/>
                          </a:solidFill>
                          <a:latin typeface="Calibri"/>
                        </a:rPr>
                        <a:t>Orders per customer, 1.65 to 1.25, while customers held at 69</a:t>
                      </a:r>
                    </a:p>
                  </a:txBody>
                  <a:tcPr marL="101600" marR="101600" marT="38100" marB="38100" anchor="ctr">
                    <a:solidFill>
                      <a:srgbClr val="F4F2FA"/>
                    </a:solidFill>
                  </a:tcPr>
                </a:tc>
              </a:tr>
              <a:tr h="369824">
                <a:tc>
                  <a:txBody>
                    <a:bodyPr/>
                    <a:lstStyle/>
                    <a:p>
                      <a:r>
                        <a:rPr sz="1400" b="0" i="0">
                          <a:solidFill>
                            <a:srgbClr val="1A1440"/>
                          </a:solidFill>
                          <a:latin typeface="Calibri"/>
                        </a:rPr>
                        <a:t>3</a:t>
                      </a:r>
                    </a:p>
                  </a:txBody>
                  <a:tcPr marL="101600" marR="101600" marT="38100" marB="38100" anchor="ctr">
                    <a:solidFill>
                      <a:srgbClr val="FFFFFF"/>
                    </a:solidFill>
                  </a:tcPr>
                </a:tc>
                <a:tc>
                  <a:txBody>
                    <a:bodyPr/>
                    <a:lstStyle/>
                    <a:p>
                      <a:r>
                        <a:rPr sz="1400" b="0" i="0">
                          <a:solidFill>
                            <a:srgbClr val="1A1440"/>
                          </a:solidFill>
                          <a:latin typeface="Calibri"/>
                        </a:rPr>
                        <a:t>Which segment moved?</a:t>
                      </a:r>
                    </a:p>
                  </a:txBody>
                  <a:tcPr marL="101600" marR="101600" marT="38100" marB="38100" anchor="ctr">
                    <a:solidFill>
                      <a:srgbClr val="FFFFFF"/>
                    </a:solidFill>
                  </a:tcPr>
                </a:tc>
                <a:tc>
                  <a:txBody>
                    <a:bodyPr/>
                    <a:lstStyle/>
                    <a:p>
                      <a:r>
                        <a:rPr sz="1400" b="0" i="0">
                          <a:solidFill>
                            <a:srgbClr val="1A1440"/>
                          </a:solidFill>
                          <a:latin typeface="Calibri"/>
                        </a:rPr>
                        <a:t>Retail-Plus: the same 22 members, 51 orders to 26</a:t>
                      </a:r>
                    </a:p>
                  </a:txBody>
                  <a:tcPr marL="101600" marR="101600" marT="38100" marB="38100" anchor="ctr">
                    <a:solidFill>
                      <a:srgbClr val="FFFFFF"/>
                    </a:solidFill>
                  </a:tcPr>
                </a:tc>
              </a:tr>
              <a:tr h="369824">
                <a:tc>
                  <a:txBody>
                    <a:bodyPr/>
                    <a:lstStyle/>
                    <a:p>
                      <a:r>
                        <a:rPr sz="1400" b="0" i="0">
                          <a:solidFill>
                            <a:srgbClr val="1A1440"/>
                          </a:solidFill>
                          <a:latin typeface="Calibri"/>
                        </a:rPr>
                        <a:t>4</a:t>
                      </a:r>
                    </a:p>
                  </a:txBody>
                  <a:tcPr marL="101600" marR="101600" marT="38100" marB="38100" anchor="ctr">
                    <a:solidFill>
                      <a:srgbClr val="F4F2FA"/>
                    </a:solidFill>
                  </a:tcPr>
                </a:tc>
                <a:tc>
                  <a:txBody>
                    <a:bodyPr/>
                    <a:lstStyle/>
                    <a:p>
                      <a:r>
                        <a:rPr sz="1400" b="0" i="0">
                          <a:solidFill>
                            <a:srgbClr val="1A1440"/>
                          </a:solidFill>
                          <a:latin typeface="Calibri"/>
                        </a:rPr>
                        <a:t>Did customers pay more?</a:t>
                      </a:r>
                    </a:p>
                  </a:txBody>
                  <a:tcPr marL="101600" marR="101600" marT="38100" marB="38100" anchor="ctr">
                    <a:solidFill>
                      <a:srgbClr val="F4F2FA"/>
                    </a:solidFill>
                  </a:tcPr>
                </a:tc>
                <a:tc>
                  <a:txBody>
                    <a:bodyPr/>
                    <a:lstStyle/>
                    <a:p>
                      <a:r>
                        <a:rPr sz="1400" b="0" i="0">
                          <a:solidFill>
                            <a:srgbClr val="1A1440"/>
                          </a:solidFill>
                          <a:latin typeface="Calibri"/>
                        </a:rPr>
                        <a:t>No: 69 percent of the rise in revenue per order is mix</a:t>
                      </a:r>
                    </a:p>
                  </a:txBody>
                  <a:tcPr marL="101600" marR="101600" marT="38100" marB="38100" anchor="ctr">
                    <a:solidFill>
                      <a:srgbClr val="F4F2FA"/>
                    </a:solidFill>
                  </a:tcPr>
                </a:tc>
              </a:tr>
              <a:tr h="369824">
                <a:tc>
                  <a:txBody>
                    <a:bodyPr/>
                    <a:lstStyle/>
                    <a:p>
                      <a:r>
                        <a:rPr sz="1400" b="0" i="0">
                          <a:solidFill>
                            <a:srgbClr val="1A1440"/>
                          </a:solidFill>
                          <a:latin typeface="Calibri"/>
                        </a:rPr>
                        <a:t>5</a:t>
                      </a:r>
                    </a:p>
                  </a:txBody>
                  <a:tcPr marL="101600" marR="101600" marT="38100" marB="38100" anchor="ctr">
                    <a:solidFill>
                      <a:srgbClr val="FFFFFF"/>
                    </a:solidFill>
                  </a:tcPr>
                </a:tc>
                <a:tc>
                  <a:txBody>
                    <a:bodyPr/>
                    <a:lstStyle/>
                    <a:p>
                      <a:r>
                        <a:rPr sz="1400" b="0" i="0">
                          <a:solidFill>
                            <a:srgbClr val="1A1440"/>
                          </a:solidFill>
                          <a:latin typeface="Calibri"/>
                        </a:rPr>
                        <a:t>Were customers lost?</a:t>
                      </a:r>
                    </a:p>
                  </a:txBody>
                  <a:tcPr marL="101600" marR="101600" marT="38100" marB="38100" anchor="ctr">
                    <a:solidFill>
                      <a:srgbClr val="FFFFFF"/>
                    </a:solidFill>
                  </a:tcPr>
                </a:tc>
                <a:tc>
                  <a:txBody>
                    <a:bodyPr/>
                    <a:lstStyle/>
                    <a:p>
                      <a:r>
                        <a:rPr sz="1400" b="0" i="0">
                          <a:solidFill>
                            <a:srgbClr val="1A1440"/>
                          </a:solidFill>
                          <a:latin typeface="Calibri"/>
                        </a:rPr>
                        <a:t>None lost, none new; 23 slowed, 18 of them members</a:t>
                      </a:r>
                    </a:p>
                  </a:txBody>
                  <a:tcPr marL="101600" marR="101600" marT="38100" marB="38100" anchor="ctr">
                    <a:solidFill>
                      <a:srgbClr val="FFFFFF"/>
                    </a:solidFill>
                  </a:tcPr>
                </a:tc>
              </a:tr>
              <a:tr h="369824">
                <a:tc>
                  <a:txBody>
                    <a:bodyPr/>
                    <a:lstStyle/>
                    <a:p>
                      <a:r>
                        <a:rPr sz="1400" b="0" i="0">
                          <a:solidFill>
                            <a:srgbClr val="1A1440"/>
                          </a:solidFill>
                          <a:latin typeface="Calibri"/>
                        </a:rPr>
                        <a:t>6</a:t>
                      </a:r>
                    </a:p>
                  </a:txBody>
                  <a:tcPr marL="101600" marR="101600" marT="38100" marB="38100" anchor="ctr">
                    <a:solidFill>
                      <a:srgbClr val="F4F2FA"/>
                    </a:solidFill>
                  </a:tcPr>
                </a:tc>
                <a:tc>
                  <a:txBody>
                    <a:bodyPr/>
                    <a:lstStyle/>
                    <a:p>
                      <a:r>
                        <a:rPr sz="1400" b="0" i="0">
                          <a:solidFill>
                            <a:srgbClr val="1A1440"/>
                          </a:solidFill>
                          <a:latin typeface="Calibri"/>
                        </a:rPr>
                        <a:t>Did the button do it?</a:t>
                      </a:r>
                    </a:p>
                  </a:txBody>
                  <a:tcPr marL="101600" marR="101600" marT="38100" marB="38100" anchor="ctr">
                    <a:solidFill>
                      <a:srgbClr val="F4F2FA"/>
                    </a:solidFill>
                  </a:tcPr>
                </a:tc>
                <a:tc>
                  <a:txBody>
                    <a:bodyPr/>
                    <a:lstStyle/>
                    <a:p>
                      <a:r>
                        <a:rPr sz="1400" b="0" i="0">
                          <a:solidFill>
                            <a:srgbClr val="1A1440"/>
                          </a:solidFill>
                          <a:latin typeface="Calibri"/>
                        </a:rPr>
                        <a:t>Still open, and the afternoon's first chapter</a:t>
                      </a:r>
                    </a:p>
                  </a:txBody>
                  <a:tcPr marL="101600" marR="101600" marT="38100" marB="38100" anchor="ctr">
                    <a:solidFill>
                      <a:srgbClr val="F4F2FA"/>
                    </a:solidFill>
                  </a:tcPr>
                </a:tc>
              </a:tr>
            </a:tbl>
          </a:graphicData>
        </a:graphic>
      </p:graphicFrame>
      <p:sp>
        <p:nvSpPr>
          <p:cNvPr id="10" name="TextBox 9"/>
          <p:cNvSpPr txBox="1"/>
          <p:nvPr/>
        </p:nvSpPr>
        <p:spPr>
          <a:xfrm>
            <a:off x="530352" y="4801616"/>
            <a:ext cx="11130991" cy="495807"/>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Kavya Nair, the team's senior analyst, reviews every chapter's answer before it reaches Meera.</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Did the button do it?</a:t>
            </a:r>
          </a:p>
        </p:txBody>
      </p:sp>
      <p:sp>
        <p:nvSpPr>
          <p:cNvPr id="13" name="Oval 12"/>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081688"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Does it survive delivery?</a:t>
            </a:r>
          </a:p>
        </p:txBody>
      </p:sp>
      <p:sp>
        <p:nvSpPr>
          <p:cNvPr id="15" name="Oval 14"/>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70732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Where did we go wrong?</a:t>
            </a:r>
          </a:p>
        </p:txBody>
      </p:sp>
      <p:sp>
        <p:nvSpPr>
          <p:cNvPr id="17" name="Oval 16"/>
          <p:cNvSpPr/>
          <p:nvPr/>
        </p:nvSpPr>
        <p:spPr>
          <a:xfrm>
            <a:off x="50852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194934"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Is the tier healthy?</a:t>
            </a:r>
          </a:p>
        </p:txBody>
      </p:sp>
      <p:sp>
        <p:nvSpPr>
          <p:cNvPr id="19" name="Oval 18"/>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you say it aloud?</a:t>
            </a:r>
          </a:p>
        </p:txBody>
      </p:sp>
      <p:sp>
        <p:nvSpPr>
          <p:cNvPr id="21" name="Oval 20"/>
          <p:cNvSpPr/>
          <p:nvPr/>
        </p:nvSpPr>
        <p:spPr>
          <a:xfrm>
            <a:off x="792241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803214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So which branch moved?</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  ·  2 / 37</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06</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Did the button do it?</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How much of the Retail-Plus fall can the broken reorder button explain, and what evidence goes in Meera's memo?</a:t>
            </a:r>
          </a:p>
        </p:txBody>
      </p:sp>
      <p:sp>
        <p:nvSpPr>
          <p:cNvPr id="10" name="Rounded Rectangle 9"/>
          <p:cNvSpPr/>
          <p:nvPr/>
        </p:nvSpPr>
        <p:spPr>
          <a:xfrm>
            <a:off x="731519" y="5074920"/>
            <a:ext cx="1609295"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Did the button do it?</a:t>
            </a:r>
          </a:p>
        </p:txBody>
      </p:sp>
      <p:sp>
        <p:nvSpPr>
          <p:cNvPr id="11" name="Rounded Rectangle 10"/>
          <p:cNvSpPr/>
          <p:nvPr/>
        </p:nvSpPr>
        <p:spPr>
          <a:xfrm>
            <a:off x="2450543" y="5074920"/>
            <a:ext cx="184615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Does it survive delivery?</a:t>
            </a:r>
          </a:p>
        </p:txBody>
      </p:sp>
      <p:sp>
        <p:nvSpPr>
          <p:cNvPr id="12" name="Rounded Rectangle 11"/>
          <p:cNvSpPr/>
          <p:nvPr/>
        </p:nvSpPr>
        <p:spPr>
          <a:xfrm>
            <a:off x="4406430"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Where did we go wrong?</a:t>
            </a:r>
          </a:p>
        </p:txBody>
      </p:sp>
      <p:sp>
        <p:nvSpPr>
          <p:cNvPr id="13" name="Rounded Rectangle 12"/>
          <p:cNvSpPr/>
          <p:nvPr/>
        </p:nvSpPr>
        <p:spPr>
          <a:xfrm>
            <a:off x="6184670" y="5074920"/>
            <a:ext cx="155007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Is the tier healthy?</a:t>
            </a:r>
          </a:p>
        </p:txBody>
      </p:sp>
      <p:sp>
        <p:nvSpPr>
          <p:cNvPr id="14" name="Rounded Rectangle 13"/>
          <p:cNvSpPr/>
          <p:nvPr/>
        </p:nvSpPr>
        <p:spPr>
          <a:xfrm>
            <a:off x="7844477" y="5074920"/>
            <a:ext cx="160929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Can you say it aloud?</a:t>
            </a:r>
          </a:p>
        </p:txBody>
      </p:sp>
      <p:sp>
        <p:nvSpPr>
          <p:cNvPr id="15" name="Rounded Rectangle 14"/>
          <p:cNvSpPr/>
          <p:nvPr/>
        </p:nvSpPr>
        <p:spPr>
          <a:xfrm>
            <a:off x="9563501"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So which branch moved?</a:t>
            </a:r>
          </a:p>
        </p:txBody>
      </p:sp>
      <p:sp>
        <p:nvSpPr>
          <p:cNvPr id="16" name="TextBox 15"/>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2. Did the reorder button do it?</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3 / 37</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Answered in six questions, before the memo goes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this answer, and which smaller questions lead to it?</a:t>
            </a:r>
          </a:p>
        </p:txBody>
      </p:sp>
      <p:sp>
        <p:nvSpPr>
          <p:cNvPr id="9" name="Rounded Rectangle 8"/>
          <p:cNvSpPr/>
          <p:nvPr/>
        </p:nvSpPr>
        <p:spPr>
          <a:xfrm>
            <a:off x="530352" y="195681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8915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The head of Retail-Plus and engineering decide what to fix first, and Meera decides what the board hears as the cause. Blame the button for everything and the tier keeps falling for a reason nobody looked for; dismiss it and members keep failing to reorder.</a:t>
            </a:r>
          </a:p>
        </p:txBody>
      </p:sp>
      <p:sp>
        <p:nvSpPr>
          <p:cNvPr id="12" name="Rectangle 11"/>
          <p:cNvSpPr/>
          <p:nvPr/>
        </p:nvSpPr>
        <p:spPr>
          <a:xfrm>
            <a:off x="1381734" y="3762756"/>
            <a:ext cx="942822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530352"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1</a:t>
            </a:r>
          </a:p>
        </p:txBody>
      </p:sp>
      <p:sp>
        <p:nvSpPr>
          <p:cNvPr id="14" name="Oval 13"/>
          <p:cNvSpPr/>
          <p:nvPr/>
        </p:nvSpPr>
        <p:spPr>
          <a:xfrm>
            <a:off x="1281150"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530352"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94944"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Which tests, in what order?</a:t>
            </a:r>
          </a:p>
        </p:txBody>
      </p:sp>
      <p:sp>
        <p:nvSpPr>
          <p:cNvPr id="17" name="TextBox 16"/>
          <p:cNvSpPr txBox="1"/>
          <p:nvPr/>
        </p:nvSpPr>
        <p:spPr>
          <a:xfrm>
            <a:off x="694944" y="4731512"/>
            <a:ext cx="1373581" cy="366776"/>
          </a:xfrm>
          <a:prstGeom prst="rect">
            <a:avLst/>
          </a:prstGeom>
          <a:noFill/>
        </p:spPr>
        <p:txBody>
          <a:bodyPr wrap="square" anchor="t" lIns="0" rIns="0" tIns="0" bIns="0">
            <a:spAutoFit/>
          </a:bodyPr>
          <a:lstStyle/>
          <a:p>
            <a:pPr algn="l"/>
            <a:r>
              <a:rPr sz="1000" b="0" i="0">
                <a:solidFill>
                  <a:srgbClr val="6B6690"/>
                </a:solidFill>
                <a:latin typeface="Calibri"/>
              </a:rPr>
              <a:t>Four tests of a cause</a:t>
            </a:r>
          </a:p>
        </p:txBody>
      </p:sp>
      <p:sp>
        <p:nvSpPr>
          <p:cNvPr id="18" name="TextBox 17"/>
          <p:cNvSpPr txBox="1"/>
          <p:nvPr/>
        </p:nvSpPr>
        <p:spPr>
          <a:xfrm>
            <a:off x="2415997"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2</a:t>
            </a:r>
          </a:p>
        </p:txBody>
      </p:sp>
      <p:sp>
        <p:nvSpPr>
          <p:cNvPr id="19" name="Oval 18"/>
          <p:cNvSpPr/>
          <p:nvPr/>
        </p:nvSpPr>
        <p:spPr>
          <a:xfrm>
            <a:off x="3166795"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2415997"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580589"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When did orders drop?</a:t>
            </a:r>
          </a:p>
        </p:txBody>
      </p:sp>
      <p:sp>
        <p:nvSpPr>
          <p:cNvPr id="22" name="TextBox 21"/>
          <p:cNvSpPr txBox="1"/>
          <p:nvPr/>
        </p:nvSpPr>
        <p:spPr>
          <a:xfrm>
            <a:off x="2580589" y="4731512"/>
            <a:ext cx="1373581" cy="366776"/>
          </a:xfrm>
          <a:prstGeom prst="rect">
            <a:avLst/>
          </a:prstGeom>
          <a:noFill/>
        </p:spPr>
        <p:txBody>
          <a:bodyPr wrap="square" anchor="t" lIns="0" rIns="0" tIns="0" bIns="0">
            <a:spAutoFit/>
          </a:bodyPr>
          <a:lstStyle/>
          <a:p>
            <a:pPr algn="l"/>
            <a:r>
              <a:rPr sz="1000" b="0" i="0">
                <a:solidFill>
                  <a:srgbClr val="6B6690"/>
                </a:solidFill>
                <a:latin typeface="Calibri"/>
              </a:rPr>
              <a:t>Retail-Plus, month by month</a:t>
            </a:r>
          </a:p>
        </p:txBody>
      </p:sp>
      <p:sp>
        <p:nvSpPr>
          <p:cNvPr id="23" name="TextBox 22"/>
          <p:cNvSpPr txBox="1"/>
          <p:nvPr/>
        </p:nvSpPr>
        <p:spPr>
          <a:xfrm>
            <a:off x="4301642"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3</a:t>
            </a:r>
          </a:p>
        </p:txBody>
      </p:sp>
      <p:sp>
        <p:nvSpPr>
          <p:cNvPr id="24" name="Oval 23"/>
          <p:cNvSpPr/>
          <p:nvPr/>
        </p:nvSpPr>
        <p:spPr>
          <a:xfrm>
            <a:off x="5052441"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4301642"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4466234"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How many did it cost?</a:t>
            </a:r>
          </a:p>
        </p:txBody>
      </p:sp>
      <p:sp>
        <p:nvSpPr>
          <p:cNvPr id="27" name="TextBox 26"/>
          <p:cNvSpPr txBox="1"/>
          <p:nvPr/>
        </p:nvSpPr>
        <p:spPr>
          <a:xfrm>
            <a:off x="4466234" y="4731512"/>
            <a:ext cx="1373581" cy="366776"/>
          </a:xfrm>
          <a:prstGeom prst="rect">
            <a:avLst/>
          </a:prstGeom>
          <a:noFill/>
        </p:spPr>
        <p:txBody>
          <a:bodyPr wrap="square" anchor="t" lIns="0" rIns="0" tIns="0" bIns="0">
            <a:spAutoFit/>
          </a:bodyPr>
          <a:lstStyle/>
          <a:p>
            <a:pPr algn="l"/>
            <a:r>
              <a:rPr sz="1000" b="0" i="0">
                <a:solidFill>
                  <a:srgbClr val="6B6690"/>
                </a:solidFill>
                <a:latin typeface="Calibri"/>
              </a:rPr>
              <a:t>The hurried memo, tested</a:t>
            </a:r>
          </a:p>
        </p:txBody>
      </p:sp>
      <p:sp>
        <p:nvSpPr>
          <p:cNvPr id="28" name="TextBox 27"/>
          <p:cNvSpPr txBox="1"/>
          <p:nvPr/>
        </p:nvSpPr>
        <p:spPr>
          <a:xfrm>
            <a:off x="6187287"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4</a:t>
            </a:r>
          </a:p>
        </p:txBody>
      </p:sp>
      <p:sp>
        <p:nvSpPr>
          <p:cNvPr id="29" name="Oval 28"/>
          <p:cNvSpPr/>
          <p:nvPr/>
        </p:nvSpPr>
        <p:spPr>
          <a:xfrm>
            <a:off x="6938086"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ounded Rectangle 29"/>
          <p:cNvSpPr/>
          <p:nvPr/>
        </p:nvSpPr>
        <p:spPr>
          <a:xfrm>
            <a:off x="6187287"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351879"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A season for everyone?</a:t>
            </a:r>
          </a:p>
        </p:txBody>
      </p:sp>
      <p:sp>
        <p:nvSpPr>
          <p:cNvPr id="32" name="TextBox 31"/>
          <p:cNvSpPr txBox="1"/>
          <p:nvPr/>
        </p:nvSpPr>
        <p:spPr>
          <a:xfrm>
            <a:off x="6351879" y="4731512"/>
            <a:ext cx="1373581" cy="366776"/>
          </a:xfrm>
          <a:prstGeom prst="rect">
            <a:avLst/>
          </a:prstGeom>
          <a:noFill/>
        </p:spPr>
        <p:txBody>
          <a:bodyPr wrap="square" anchor="t" lIns="0" rIns="0" tIns="0" bIns="0">
            <a:spAutoFit/>
          </a:bodyPr>
          <a:lstStyle/>
          <a:p>
            <a:pPr algn="l"/>
            <a:r>
              <a:rPr sz="1000" b="0" i="0">
                <a:solidFill>
                  <a:srgbClr val="6B6690"/>
                </a:solidFill>
                <a:latin typeface="Calibri"/>
              </a:rPr>
              <a:t>A segment the button cannot touch</a:t>
            </a:r>
          </a:p>
        </p:txBody>
      </p:sp>
      <p:sp>
        <p:nvSpPr>
          <p:cNvPr id="33" name="TextBox 32"/>
          <p:cNvSpPr txBox="1"/>
          <p:nvPr/>
        </p:nvSpPr>
        <p:spPr>
          <a:xfrm>
            <a:off x="8072932"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5</a:t>
            </a:r>
          </a:p>
        </p:txBody>
      </p:sp>
      <p:sp>
        <p:nvSpPr>
          <p:cNvPr id="34" name="Oval 33"/>
          <p:cNvSpPr/>
          <p:nvPr/>
        </p:nvSpPr>
        <p:spPr>
          <a:xfrm>
            <a:off x="8823731"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ounded Rectangle 34"/>
          <p:cNvSpPr/>
          <p:nvPr/>
        </p:nvSpPr>
        <p:spPr>
          <a:xfrm>
            <a:off x="8072932"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8237524" y="4229100"/>
            <a:ext cx="1373581" cy="251205"/>
          </a:xfrm>
          <a:prstGeom prst="rect">
            <a:avLst/>
          </a:prstGeom>
          <a:noFill/>
        </p:spPr>
        <p:txBody>
          <a:bodyPr wrap="square" anchor="t" lIns="0" rIns="0" tIns="0" bIns="0">
            <a:spAutoFit/>
          </a:bodyPr>
          <a:lstStyle/>
          <a:p>
            <a:pPr algn="l"/>
            <a:r>
              <a:rPr sz="1300" b="1" i="0">
                <a:solidFill>
                  <a:srgbClr val="1A0F5C"/>
                </a:solidFill>
                <a:latin typeface="Calibri"/>
              </a:rPr>
              <a:t>Only the app?</a:t>
            </a:r>
          </a:p>
        </p:txBody>
      </p:sp>
      <p:sp>
        <p:nvSpPr>
          <p:cNvPr id="37" name="TextBox 36"/>
          <p:cNvSpPr txBox="1"/>
          <p:nvPr/>
        </p:nvSpPr>
        <p:spPr>
          <a:xfrm>
            <a:off x="8237524" y="4516882"/>
            <a:ext cx="1373581" cy="366776"/>
          </a:xfrm>
          <a:prstGeom prst="rect">
            <a:avLst/>
          </a:prstGeom>
          <a:noFill/>
        </p:spPr>
        <p:txBody>
          <a:bodyPr wrap="square" anchor="t" lIns="0" rIns="0" tIns="0" bIns="0">
            <a:spAutoFit/>
          </a:bodyPr>
          <a:lstStyle/>
          <a:p>
            <a:pPr algn="l"/>
            <a:r>
              <a:rPr sz="1000" b="0" i="0">
                <a:solidFill>
                  <a:srgbClr val="6B6690"/>
                </a:solidFill>
                <a:latin typeface="Calibri"/>
              </a:rPr>
              <a:t>The channel the cause predicts</a:t>
            </a:r>
          </a:p>
        </p:txBody>
      </p:sp>
      <p:sp>
        <p:nvSpPr>
          <p:cNvPr id="38" name="TextBox 37"/>
          <p:cNvSpPr txBox="1"/>
          <p:nvPr/>
        </p:nvSpPr>
        <p:spPr>
          <a:xfrm>
            <a:off x="9958578"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6</a:t>
            </a:r>
          </a:p>
        </p:txBody>
      </p:sp>
      <p:sp>
        <p:nvSpPr>
          <p:cNvPr id="39" name="Oval 38"/>
          <p:cNvSpPr/>
          <p:nvPr/>
        </p:nvSpPr>
        <p:spPr>
          <a:xfrm>
            <a:off x="10709376" y="3671316"/>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Rounded Rectangle 39"/>
          <p:cNvSpPr/>
          <p:nvPr/>
        </p:nvSpPr>
        <p:spPr>
          <a:xfrm>
            <a:off x="9958578" y="4082796"/>
            <a:ext cx="1702765"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10123170" y="4229100"/>
            <a:ext cx="1373581" cy="465836"/>
          </a:xfrm>
          <a:prstGeom prst="rect">
            <a:avLst/>
          </a:prstGeom>
          <a:noFill/>
        </p:spPr>
        <p:txBody>
          <a:bodyPr wrap="square" anchor="t" lIns="0" rIns="0" tIns="0" bIns="0">
            <a:spAutoFit/>
          </a:bodyPr>
          <a:lstStyle/>
          <a:p>
            <a:pPr algn="l"/>
            <a:r>
              <a:rPr sz="1300" b="1" i="0">
                <a:solidFill>
                  <a:srgbClr val="FFFFFF"/>
                </a:solidFill>
                <a:latin typeface="Calibri"/>
              </a:rPr>
              <a:t>Does a corrected pace agree?</a:t>
            </a:r>
          </a:p>
        </p:txBody>
      </p:sp>
      <p:sp>
        <p:nvSpPr>
          <p:cNvPr id="42" name="TextBox 41"/>
          <p:cNvSpPr txBox="1"/>
          <p:nvPr/>
        </p:nvSpPr>
        <p:spPr>
          <a:xfrm>
            <a:off x="10123170" y="4731512"/>
            <a:ext cx="1373581" cy="201676"/>
          </a:xfrm>
          <a:prstGeom prst="rect">
            <a:avLst/>
          </a:prstGeom>
          <a:noFill/>
        </p:spPr>
        <p:txBody>
          <a:bodyPr wrap="square" anchor="t" lIns="0" rIns="0" tIns="0" bIns="0">
            <a:spAutoFit/>
          </a:bodyPr>
          <a:lstStyle/>
          <a:p>
            <a:pPr algn="l"/>
            <a:r>
              <a:rPr sz="1000" b="0" i="0">
                <a:solidFill>
                  <a:srgbClr val="CFC9EE"/>
                </a:solidFill>
                <a:latin typeface="Calibri"/>
              </a:rPr>
              <a:t>A second route</a:t>
            </a:r>
          </a:p>
        </p:txBody>
      </p:sp>
      <p:sp>
        <p:nvSpPr>
          <p:cNvPr id="43" name="Oval 4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640080"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Did the button do it?</a:t>
            </a:r>
          </a:p>
        </p:txBody>
      </p:sp>
      <p:sp>
        <p:nvSpPr>
          <p:cNvPr id="45" name="Oval 44"/>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2081688"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Does it survive delivery?</a:t>
            </a:r>
          </a:p>
        </p:txBody>
      </p:sp>
      <p:sp>
        <p:nvSpPr>
          <p:cNvPr id="47" name="Oval 46"/>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370732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Where did we go wrong?</a:t>
            </a:r>
          </a:p>
        </p:txBody>
      </p:sp>
      <p:sp>
        <p:nvSpPr>
          <p:cNvPr id="49" name="Oval 48"/>
          <p:cNvSpPr/>
          <p:nvPr/>
        </p:nvSpPr>
        <p:spPr>
          <a:xfrm>
            <a:off x="50852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0" name="TextBox 49"/>
          <p:cNvSpPr txBox="1"/>
          <p:nvPr/>
        </p:nvSpPr>
        <p:spPr>
          <a:xfrm>
            <a:off x="5194934"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Is the tier healthy?</a:t>
            </a:r>
          </a:p>
        </p:txBody>
      </p:sp>
      <p:sp>
        <p:nvSpPr>
          <p:cNvPr id="51" name="Oval 50"/>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2" name="TextBox 51"/>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you say it aloud?</a:t>
            </a:r>
          </a:p>
        </p:txBody>
      </p:sp>
      <p:sp>
        <p:nvSpPr>
          <p:cNvPr id="53" name="Oval 52"/>
          <p:cNvSpPr/>
          <p:nvPr/>
        </p:nvSpPr>
        <p:spPr>
          <a:xfrm>
            <a:off x="792241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4" name="TextBox 53"/>
          <p:cNvSpPr txBox="1"/>
          <p:nvPr/>
        </p:nvSpPr>
        <p:spPr>
          <a:xfrm>
            <a:off x="803214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So which branch moved?</a:t>
            </a:r>
          </a:p>
        </p:txBody>
      </p:sp>
      <p:sp>
        <p:nvSpPr>
          <p:cNvPr id="55" name="TextBox 5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  ·  4 / 37</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tier blames the button; Meera wants a page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tier claim, and what does Meera need on one page?</a:t>
            </a:r>
          </a:p>
        </p:txBody>
      </p:sp>
      <p:sp>
        <p:nvSpPr>
          <p:cNvPr id="9" name="Rounded Rectangle 8"/>
          <p:cNvSpPr/>
          <p:nvPr/>
        </p:nvSpPr>
        <p:spPr>
          <a:xfrm>
            <a:off x="530352" y="1956816"/>
            <a:ext cx="11130991" cy="112166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58952" y="228904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message-square_028dbd132a0a.png"/>
          <p:cNvPicPr>
            <a:picLocks noChangeAspect="1"/>
          </p:cNvPicPr>
          <p:nvPr/>
        </p:nvPicPr>
        <p:blipFill>
          <a:blip r:embed="rId4"/>
          <a:stretch>
            <a:fillRect/>
          </a:stretch>
        </p:blipFill>
        <p:spPr>
          <a:xfrm>
            <a:off x="868680" y="2398776"/>
            <a:ext cx="237744" cy="237744"/>
          </a:xfrm>
          <a:prstGeom prst="rect">
            <a:avLst/>
          </a:prstGeom>
        </p:spPr>
      </p:pic>
      <p:sp>
        <p:nvSpPr>
          <p:cNvPr id="12" name="TextBox 11"/>
          <p:cNvSpPr txBox="1"/>
          <p:nvPr/>
        </p:nvSpPr>
        <p:spPr>
          <a:xfrm>
            <a:off x="1399031" y="2103120"/>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13" name="TextBox 12"/>
          <p:cNvSpPr txBox="1"/>
          <p:nvPr/>
        </p:nvSpPr>
        <p:spPr>
          <a:xfrm>
            <a:off x="1399031" y="2322576"/>
            <a:ext cx="9987991" cy="682752"/>
          </a:xfrm>
          <a:prstGeom prst="rect">
            <a:avLst/>
          </a:prstGeom>
          <a:noFill/>
        </p:spPr>
        <p:txBody>
          <a:bodyPr wrap="square" anchor="t" lIns="0" rIns="0" tIns="0" bIns="0">
            <a:spAutoFit/>
          </a:bodyPr>
          <a:lstStyle/>
          <a:p>
            <a:r>
              <a:rPr sz="1500" b="0" i="0">
                <a:solidFill>
                  <a:srgbClr val="FFFFFF"/>
                </a:solidFill>
                <a:latin typeface="Calibri"/>
              </a:rPr>
              <a:t>"Which branch, which segment, and what you would bet on. Tell me what you know and what you are guessing." (Meera Raghavan)</a:t>
            </a:r>
          </a:p>
        </p:txBody>
      </p:sp>
      <p:pic>
        <p:nvPicPr>
          <p:cNvPr id="14" name="mermaid diagram" descr="3c9d316c87502d4c.png"/>
          <p:cNvPicPr>
            <a:picLocks noChangeAspect="1"/>
          </p:cNvPicPr>
          <p:nvPr/>
        </p:nvPicPr>
        <p:blipFill>
          <a:blip r:embed="rId6"/>
          <a:stretch>
            <a:fillRect/>
          </a:stretch>
        </p:blipFill>
        <p:spPr>
          <a:xfrm>
            <a:off x="2152497" y="3243072"/>
            <a:ext cx="7886700" cy="1600200"/>
          </a:xfrm>
          <a:prstGeom prst="rect">
            <a:avLst/>
          </a:prstGeom>
        </p:spPr>
      </p:pic>
      <p:sp>
        <p:nvSpPr>
          <p:cNvPr id="15" name="Oval 14"/>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Did the button do it?</a:t>
            </a:r>
          </a:p>
        </p:txBody>
      </p:sp>
      <p:sp>
        <p:nvSpPr>
          <p:cNvPr id="17" name="Oval 16"/>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081688"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Does it survive delivery?</a:t>
            </a:r>
          </a:p>
        </p:txBody>
      </p:sp>
      <p:sp>
        <p:nvSpPr>
          <p:cNvPr id="19" name="Oval 18"/>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70732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Where did we go wrong?</a:t>
            </a:r>
          </a:p>
        </p:txBody>
      </p:sp>
      <p:sp>
        <p:nvSpPr>
          <p:cNvPr id="21" name="Oval 20"/>
          <p:cNvSpPr/>
          <p:nvPr/>
        </p:nvSpPr>
        <p:spPr>
          <a:xfrm>
            <a:off x="50852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194934"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Is the tier healthy?</a:t>
            </a:r>
          </a:p>
        </p:txBody>
      </p:sp>
      <p:sp>
        <p:nvSpPr>
          <p:cNvPr id="23" name="Oval 22"/>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you say it aloud?</a:t>
            </a:r>
          </a:p>
        </p:txBody>
      </p:sp>
      <p:sp>
        <p:nvSpPr>
          <p:cNvPr id="25" name="Oval 24"/>
          <p:cNvSpPr/>
          <p:nvPr/>
        </p:nvSpPr>
        <p:spPr>
          <a:xfrm>
            <a:off x="792241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803214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So which branch moved?</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  ·  5 / 37</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Sonos tied an app rollout to its guidance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Has a real company put a broken app into its numbers?</a:t>
            </a:r>
          </a:p>
        </p:txBody>
      </p:sp>
      <p:sp>
        <p:nvSpPr>
          <p:cNvPr id="9" name="TextBox 8"/>
          <p:cNvSpPr txBox="1"/>
          <p:nvPr/>
        </p:nvSpPr>
        <p:spPr>
          <a:xfrm>
            <a:off x="530352" y="1956816"/>
            <a:ext cx="3527450" cy="635000"/>
          </a:xfrm>
          <a:prstGeom prst="rect">
            <a:avLst/>
          </a:prstGeom>
          <a:noFill/>
        </p:spPr>
        <p:txBody>
          <a:bodyPr wrap="square" anchor="t" lIns="0" rIns="0" tIns="0" bIns="0">
            <a:spAutoFit/>
          </a:bodyPr>
          <a:lstStyle/>
          <a:p>
            <a:pPr algn="l"/>
            <a:r>
              <a:rPr sz="4000" b="0" i="0">
                <a:solidFill>
                  <a:srgbClr val="5B3FD6"/>
                </a:solidFill>
                <a:latin typeface="Georgia"/>
              </a:rPr>
              <a:t>2024</a:t>
            </a:r>
          </a:p>
        </p:txBody>
      </p:sp>
      <p:sp>
        <p:nvSpPr>
          <p:cNvPr id="10" name="TextBox 9"/>
          <p:cNvSpPr txBox="1"/>
          <p:nvPr/>
        </p:nvSpPr>
        <p:spPr>
          <a:xfrm>
            <a:off x="530352" y="2628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REDESIGNED APP ROLLED OUT</a:t>
            </a:r>
          </a:p>
        </p:txBody>
      </p:sp>
      <p:sp>
        <p:nvSpPr>
          <p:cNvPr id="11" name="TextBox 10"/>
          <p:cNvSpPr txBox="1"/>
          <p:nvPr/>
        </p:nvSpPr>
        <p:spPr>
          <a:xfrm>
            <a:off x="530352" y="28295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problems it caused</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35000"/>
          </a:xfrm>
          <a:prstGeom prst="rect">
            <a:avLst/>
          </a:prstGeom>
          <a:noFill/>
        </p:spPr>
        <p:txBody>
          <a:bodyPr wrap="square" anchor="t" lIns="0" rIns="0" tIns="0" bIns="0">
            <a:spAutoFit/>
          </a:bodyPr>
          <a:lstStyle/>
          <a:p>
            <a:pPr algn="l"/>
            <a:r>
              <a:rPr sz="4000" b="0" i="0">
                <a:solidFill>
                  <a:srgbClr val="5B3FD6"/>
                </a:solidFill>
                <a:latin typeface="Georgia"/>
              </a:rPr>
              <a:t>FY2024</a:t>
            </a:r>
          </a:p>
        </p:txBody>
      </p:sp>
      <p:sp>
        <p:nvSpPr>
          <p:cNvPr id="14" name="TextBox 13"/>
          <p:cNvSpPr txBox="1"/>
          <p:nvPr/>
        </p:nvSpPr>
        <p:spPr>
          <a:xfrm>
            <a:off x="4332122" y="2628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GUIDANCE REDUCED</a:t>
            </a:r>
          </a:p>
        </p:txBody>
      </p:sp>
      <p:sp>
        <p:nvSpPr>
          <p:cNvPr id="15" name="TextBox 14"/>
          <p:cNvSpPr txBox="1"/>
          <p:nvPr/>
        </p:nvSpPr>
        <p:spPr>
          <a:xfrm>
            <a:off x="4332122" y="28295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CEO tied it to the app's rollout</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35000"/>
          </a:xfrm>
          <a:prstGeom prst="rect">
            <a:avLst/>
          </a:prstGeom>
          <a:noFill/>
        </p:spPr>
        <p:txBody>
          <a:bodyPr wrap="square" anchor="t" lIns="0" rIns="0" tIns="0" bIns="0">
            <a:spAutoFit/>
          </a:bodyPr>
          <a:lstStyle/>
          <a:p>
            <a:pPr algn="l"/>
            <a:r>
              <a:rPr sz="4000" b="0" i="0">
                <a:solidFill>
                  <a:srgbClr val="5B3FD6"/>
                </a:solidFill>
                <a:latin typeface="Georgia"/>
              </a:rPr>
              <a:t>up to $30 m</a:t>
            </a:r>
          </a:p>
        </p:txBody>
      </p:sp>
      <p:sp>
        <p:nvSpPr>
          <p:cNvPr id="18" name="TextBox 17"/>
          <p:cNvSpPr txBox="1"/>
          <p:nvPr/>
        </p:nvSpPr>
        <p:spPr>
          <a:xfrm>
            <a:off x="8133892" y="2628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SHORT-TERM COST TO FIX</a:t>
            </a:r>
          </a:p>
        </p:txBody>
      </p:sp>
      <p:sp>
        <p:nvSpPr>
          <p:cNvPr id="19" name="TextBox 18"/>
          <p:cNvSpPr txBox="1"/>
          <p:nvPr/>
        </p:nvSpPr>
        <p:spPr>
          <a:xfrm>
            <a:off x="8133892" y="2829560"/>
            <a:ext cx="3527450" cy="193421"/>
          </a:xfrm>
          <a:prstGeom prst="rect">
            <a:avLst/>
          </a:prstGeom>
          <a:noFill/>
        </p:spPr>
        <p:txBody>
          <a:bodyPr wrap="square" anchor="t" lIns="0" rIns="0" tIns="0" bIns="0">
            <a:spAutoFit/>
          </a:bodyPr>
          <a:lstStyle/>
          <a:p>
            <a:pPr algn="l"/>
            <a:r>
              <a:rPr sz="950" b="0" i="0">
                <a:solidFill>
                  <a:srgbClr val="6B6690"/>
                </a:solidFill>
                <a:latin typeface="Calibri"/>
              </a:rPr>
              <a:t>set out in the annual report</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30352" y="3419856"/>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company can put a broken app into its numbers, and the head of Retail-Plus is asking whether his tier is the same story. Guidance is the revenue a company tells investors to expect.</a:t>
            </a:r>
          </a:p>
        </p:txBody>
      </p:sp>
      <p:sp>
        <p:nvSpPr>
          <p:cNvPr id="22" name="Oval 21"/>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Did the button do it?</a:t>
            </a:r>
          </a:p>
        </p:txBody>
      </p:sp>
      <p:sp>
        <p:nvSpPr>
          <p:cNvPr id="24" name="Oval 23"/>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081688"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Does it survive delivery?</a:t>
            </a:r>
          </a:p>
        </p:txBody>
      </p:sp>
      <p:sp>
        <p:nvSpPr>
          <p:cNvPr id="26" name="Oval 25"/>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70732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Where did we go wrong?</a:t>
            </a:r>
          </a:p>
        </p:txBody>
      </p:sp>
      <p:sp>
        <p:nvSpPr>
          <p:cNvPr id="28" name="Oval 27"/>
          <p:cNvSpPr/>
          <p:nvPr/>
        </p:nvSpPr>
        <p:spPr>
          <a:xfrm>
            <a:off x="50852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5194934"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Is the tier healthy?</a:t>
            </a:r>
          </a:p>
        </p:txBody>
      </p:sp>
      <p:sp>
        <p:nvSpPr>
          <p:cNvPr id="30" name="Oval 29"/>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you say it aloud?</a:t>
            </a:r>
          </a:p>
        </p:txBody>
      </p:sp>
      <p:sp>
        <p:nvSpPr>
          <p:cNvPr id="32" name="Oval 31"/>
          <p:cNvSpPr/>
          <p:nvPr/>
        </p:nvSpPr>
        <p:spPr>
          <a:xfrm>
            <a:off x="792241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803214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So which branch moved?</a:t>
            </a:r>
          </a:p>
        </p:txBody>
      </p:sp>
      <p:sp>
        <p:nvSpPr>
          <p:cNvPr id="34" name="TextBox 3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  ·  6 / 37</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Timing first, then a segment and the channel</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of four tests of a cause run today, and in which order?</a:t>
            </a:r>
          </a:p>
        </p:txBody>
      </p:sp>
      <p:graphicFrame>
        <p:nvGraphicFramePr>
          <p:cNvPr id="9" name="Table 8"/>
          <p:cNvGraphicFramePr>
            <a:graphicFrameLocks noGrp="1"/>
          </p:cNvGraphicFramePr>
          <p:nvPr/>
        </p:nvGraphicFramePr>
        <p:xfrm>
          <a:off x="530352" y="1956816"/>
          <a:ext cx="11130990" cy="1849120"/>
        </p:xfrm>
        <a:graphic>
          <a:graphicData uri="http://schemas.openxmlformats.org/drawingml/2006/table">
            <a:tbl>
              <a:tblPr firstRow="0" bandRow="0">
                <a:tableStyleId>{2D5ABB26-0587-4C30-8999-92F81FD0307C}</a:tableStyleId>
              </a:tblPr>
              <a:tblGrid>
                <a:gridCol w="3523233"/>
                <a:gridCol w="3523233"/>
                <a:gridCol w="4084524"/>
              </a:tblGrid>
              <a:tr h="369824">
                <a:tc>
                  <a:txBody>
                    <a:bodyPr/>
                    <a:lstStyle/>
                    <a:p>
                      <a:r>
                        <a:rPr sz="1450" b="1" i="0">
                          <a:solidFill>
                            <a:srgbClr val="FFFFFF"/>
                          </a:solidFill>
                          <a:latin typeface="Calibri"/>
                        </a:rPr>
                        <a:t>Option</a:t>
                      </a:r>
                    </a:p>
                  </a:txBody>
                  <a:tcPr marL="101600" marR="101600" marT="38100" marB="38100" anchor="ctr">
                    <a:solidFill>
                      <a:srgbClr val="1A0F5C"/>
                    </a:solidFill>
                  </a:tcPr>
                </a:tc>
                <a:tc>
                  <a:txBody>
                    <a:bodyPr/>
                    <a:lstStyle/>
                    <a:p>
                      <a:r>
                        <a:rPr sz="1450" b="1" i="0">
                          <a:solidFill>
                            <a:srgbClr val="FFFFFF"/>
                          </a:solidFill>
                          <a:latin typeface="Calibri"/>
                        </a:rPr>
                        <a:t>Reads</a:t>
                      </a:r>
                    </a:p>
                  </a:txBody>
                  <a:tcPr marL="101600" marR="101600" marT="38100" marB="38100" anchor="ctr">
                    <a:solidFill>
                      <a:srgbClr val="1A0F5C"/>
                    </a:solidFill>
                  </a:tcPr>
                </a:tc>
                <a:tc>
                  <a:txBody>
                    <a:bodyPr/>
                    <a:lstStyle/>
                    <a:p>
                      <a:r>
                        <a:rPr sz="1450" b="1" i="0">
                          <a:solidFill>
                            <a:srgbClr val="FFFFFF"/>
                          </a:solidFill>
                          <a:latin typeface="Calibri"/>
                        </a:rPr>
                        <a:t>Can rule out</a:t>
                      </a:r>
                    </a:p>
                  </a:txBody>
                  <a:tcPr marL="101600" marR="101600" marT="38100" marB="38100" anchor="ctr">
                    <a:solidFill>
                      <a:srgbClr val="1A0F5C"/>
                    </a:solidFill>
                  </a:tcPr>
                </a:tc>
              </a:tr>
              <a:tr h="369824">
                <a:tc>
                  <a:txBody>
                    <a:bodyPr/>
                    <a:lstStyle/>
                    <a:p>
                      <a:r>
                        <a:rPr sz="1400" b="0" i="0">
                          <a:solidFill>
                            <a:srgbClr val="1A1440"/>
                          </a:solidFill>
                          <a:latin typeface="Calibri"/>
                        </a:rPr>
                        <a:t>A. Before and after the break</a:t>
                      </a:r>
                    </a:p>
                  </a:txBody>
                  <a:tcPr marL="101600" marR="101600" marT="38100" marB="38100" anchor="ctr">
                    <a:solidFill>
                      <a:srgbClr val="FFFFFF"/>
                    </a:solidFill>
                  </a:tcPr>
                </a:tc>
                <a:tc>
                  <a:txBody>
                    <a:bodyPr/>
                    <a:lstStyle/>
                    <a:p>
                      <a:r>
                        <a:rPr sz="1400" b="0" i="0">
                          <a:solidFill>
                            <a:srgbClr val="1A1440"/>
                          </a:solidFill>
                          <a:latin typeface="Calibri"/>
                        </a:rPr>
                        <a:t>Retail-Plus orders, by date</a:t>
                      </a:r>
                    </a:p>
                  </a:txBody>
                  <a:tcPr marL="101600" marR="101600" marT="38100" marB="38100" anchor="ctr">
                    <a:solidFill>
                      <a:srgbClr val="FFFFFF"/>
                    </a:solidFill>
                  </a:tcPr>
                </a:tc>
                <a:tc>
                  <a:txBody>
                    <a:bodyPr/>
                    <a:lstStyle/>
                    <a:p>
                      <a:r>
                        <a:rPr sz="1400" b="0" i="0">
                          <a:solidFill>
                            <a:srgbClr val="1A1440"/>
                          </a:solidFill>
                          <a:latin typeface="Calibri"/>
                        </a:rPr>
                        <a:t>The button as the whole story</a:t>
                      </a:r>
                    </a:p>
                  </a:txBody>
                  <a:tcPr marL="101600" marR="101600" marT="38100" marB="38100" anchor="ctr">
                    <a:solidFill>
                      <a:srgbClr val="FFFFFF"/>
                    </a:solidFill>
                  </a:tcPr>
                </a:tc>
              </a:tr>
              <a:tr h="369824">
                <a:tc>
                  <a:txBody>
                    <a:bodyPr/>
                    <a:lstStyle/>
                    <a:p>
                      <a:r>
                        <a:rPr sz="1400" b="0" i="0">
                          <a:solidFill>
                            <a:srgbClr val="1A1440"/>
                          </a:solidFill>
                          <a:latin typeface="Calibri"/>
                        </a:rPr>
                        <a:t>B. A comparison segment</a:t>
                      </a:r>
                    </a:p>
                  </a:txBody>
                  <a:tcPr marL="101600" marR="101600" marT="38100" marB="38100" anchor="ctr">
                    <a:solidFill>
                      <a:srgbClr val="F4F2FA"/>
                    </a:solidFill>
                  </a:tcPr>
                </a:tc>
                <a:tc>
                  <a:txBody>
                    <a:bodyPr/>
                    <a:lstStyle/>
                    <a:p>
                      <a:r>
                        <a:rPr sz="1400" b="0" i="0">
                          <a:solidFill>
                            <a:srgbClr val="1A1440"/>
                          </a:solidFill>
                          <a:latin typeface="Calibri"/>
                        </a:rPr>
                        <a:t>Retail-Core, same months</a:t>
                      </a:r>
                    </a:p>
                  </a:txBody>
                  <a:tcPr marL="101600" marR="101600" marT="38100" marB="38100" anchor="ctr">
                    <a:solidFill>
                      <a:srgbClr val="F4F2FA"/>
                    </a:solidFill>
                  </a:tcPr>
                </a:tc>
                <a:tc>
                  <a:txBody>
                    <a:bodyPr/>
                    <a:lstStyle/>
                    <a:p>
                      <a:r>
                        <a:rPr sz="1400" b="0" i="0">
                          <a:solidFill>
                            <a:srgbClr val="1A1440"/>
                          </a:solidFill>
                          <a:latin typeface="Calibri"/>
                        </a:rPr>
                        <a:t>A season that hit everyone</a:t>
                      </a:r>
                    </a:p>
                  </a:txBody>
                  <a:tcPr marL="101600" marR="101600" marT="38100" marB="38100" anchor="ctr">
                    <a:solidFill>
                      <a:srgbClr val="F4F2FA"/>
                    </a:solidFill>
                  </a:tcPr>
                </a:tc>
              </a:tr>
              <a:tr h="369824">
                <a:tc>
                  <a:txBody>
                    <a:bodyPr/>
                    <a:lstStyle/>
                    <a:p>
                      <a:r>
                        <a:rPr sz="1400" b="0" i="0">
                          <a:solidFill>
                            <a:srgbClr val="1A1440"/>
                          </a:solidFill>
                          <a:latin typeface="Calibri"/>
                        </a:rPr>
                        <a:t>C. The channel it predicts</a:t>
                      </a:r>
                    </a:p>
                  </a:txBody>
                  <a:tcPr marL="101600" marR="101600" marT="38100" marB="38100" anchor="ctr">
                    <a:solidFill>
                      <a:srgbClr val="FFFFFF"/>
                    </a:solidFill>
                  </a:tcPr>
                </a:tc>
                <a:tc>
                  <a:txBody>
                    <a:bodyPr/>
                    <a:lstStyle/>
                    <a:p>
                      <a:r>
                        <a:rPr sz="1400" b="0" i="0">
                          <a:solidFill>
                            <a:srgbClr val="1A1440"/>
                          </a:solidFill>
                          <a:latin typeface="Calibri"/>
                        </a:rPr>
                        <a:t>Retail-Plus orders by channel</a:t>
                      </a:r>
                    </a:p>
                  </a:txBody>
                  <a:tcPr marL="101600" marR="101600" marT="38100" marB="38100" anchor="ctr">
                    <a:solidFill>
                      <a:srgbClr val="FFFFFF"/>
                    </a:solidFill>
                  </a:tcPr>
                </a:tc>
                <a:tc>
                  <a:txBody>
                    <a:bodyPr/>
                    <a:lstStyle/>
                    <a:p>
                      <a:r>
                        <a:rPr sz="1400" b="0" i="0">
                          <a:solidFill>
                            <a:srgbClr val="1A1440"/>
                          </a:solidFill>
                          <a:latin typeface="Calibri"/>
                        </a:rPr>
                        <a:t>An app-only cause</a:t>
                      </a:r>
                    </a:p>
                  </a:txBody>
                  <a:tcPr marL="101600" marR="101600" marT="38100" marB="38100" anchor="ctr">
                    <a:solidFill>
                      <a:srgbClr val="FFFFFF"/>
                    </a:solidFill>
                  </a:tcPr>
                </a:tc>
              </a:tr>
              <a:tr h="369824">
                <a:tc>
                  <a:txBody>
                    <a:bodyPr/>
                    <a:lstStyle/>
                    <a:p>
                      <a:r>
                        <a:rPr sz="1400" b="0" i="0">
                          <a:solidFill>
                            <a:srgbClr val="1A1440"/>
                          </a:solidFill>
                          <a:latin typeface="Calibri"/>
                        </a:rPr>
                        <a:t>D. The app's reorder logs</a:t>
                      </a:r>
                    </a:p>
                  </a:txBody>
                  <a:tcPr marL="101600" marR="101600" marT="38100" marB="38100" anchor="ctr">
                    <a:solidFill>
                      <a:srgbClr val="F4F2FA"/>
                    </a:solidFill>
                  </a:tcPr>
                </a:tc>
                <a:tc>
                  <a:txBody>
                    <a:bodyPr/>
                    <a:lstStyle/>
                    <a:p>
                      <a:r>
                        <a:rPr sz="1400" b="0" i="0">
                          <a:solidFill>
                            <a:srgbClr val="1A1440"/>
                          </a:solidFill>
                          <a:latin typeface="Calibri"/>
                        </a:rPr>
                        <a:t>A data request</a:t>
                      </a:r>
                    </a:p>
                  </a:txBody>
                  <a:tcPr marL="101600" marR="101600" marT="38100" marB="38100" anchor="ctr">
                    <a:solidFill>
                      <a:srgbClr val="F4F2FA"/>
                    </a:solidFill>
                  </a:tcPr>
                </a:tc>
                <a:tc>
                  <a:txBody>
                    <a:bodyPr/>
                    <a:lstStyle/>
                    <a:p>
                      <a:r>
                        <a:rPr sz="1400" b="0" i="0">
                          <a:solidFill>
                            <a:srgbClr val="1A1440"/>
                          </a:solidFill>
                          <a:latin typeface="Calibri"/>
                        </a:rPr>
                        <a:t>Nothing today; it settles it later</a:t>
                      </a:r>
                    </a:p>
                  </a:txBody>
                  <a:tcPr marL="101600" marR="101600" marT="38100" marB="38100" anchor="ctr">
                    <a:solidFill>
                      <a:srgbClr val="F4F2FA"/>
                    </a:solidFill>
                  </a:tcPr>
                </a:tc>
              </a:tr>
            </a:tbl>
          </a:graphicData>
        </a:graphic>
      </p:graphicFrame>
      <p:sp>
        <p:nvSpPr>
          <p:cNvPr id="10" name="Rounded Rectangle 9"/>
          <p:cNvSpPr/>
          <p:nvPr/>
        </p:nvSpPr>
        <p:spPr>
          <a:xfrm>
            <a:off x="530352" y="406196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189983"/>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180840"/>
            <a:ext cx="10564063" cy="624840"/>
          </a:xfrm>
          <a:prstGeom prst="rect">
            <a:avLst/>
          </a:prstGeom>
          <a:noFill/>
        </p:spPr>
        <p:txBody>
          <a:bodyPr wrap="square" anchor="ctr" lIns="0" rIns="0" tIns="0" bIns="0">
            <a:spAutoFit/>
          </a:bodyPr>
          <a:lstStyle/>
          <a:p>
            <a:r>
              <a:rPr sz="1500" b="1">
                <a:solidFill>
                  <a:srgbClr val="5B3FD6"/>
                </a:solidFill>
                <a:latin typeface="Calibri"/>
              </a:rPr>
              <a:t>The call. </a:t>
            </a:r>
            <a:r>
              <a:rPr sz="1500" b="0" i="0">
                <a:solidFill>
                  <a:srgbClr val="1A1440"/>
                </a:solidFill>
                <a:latin typeface="Calibri"/>
              </a:rPr>
              <a:t>A, B and C now, D requested today. </a:t>
            </a:r>
            <a:r>
              <a:rPr sz="1500" b="1" i="0">
                <a:solidFill>
                  <a:srgbClr val="1A1440"/>
                </a:solidFill>
                <a:latin typeface="Calibri"/>
              </a:rPr>
              <a:t>What would change it:</a:t>
            </a:r>
            <a:r>
              <a:rPr sz="1500" b="0" i="0">
                <a:solidFill>
                  <a:srgbClr val="1A1440"/>
                </a:solidFill>
                <a:latin typeface="Calibri"/>
              </a:rPr>
              <a:t> if the break turned out to be in June, A's verdict flips, and D's release date is how we would learn it.</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Did the button do it?</a:t>
            </a:r>
          </a:p>
        </p:txBody>
      </p:sp>
      <p:sp>
        <p:nvSpPr>
          <p:cNvPr id="15" name="Oval 14"/>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081688"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Does it survive delivery?</a:t>
            </a:r>
          </a:p>
        </p:txBody>
      </p:sp>
      <p:sp>
        <p:nvSpPr>
          <p:cNvPr id="17" name="Oval 16"/>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70732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Where did we go wrong?</a:t>
            </a:r>
          </a:p>
        </p:txBody>
      </p:sp>
      <p:sp>
        <p:nvSpPr>
          <p:cNvPr id="19" name="Oval 18"/>
          <p:cNvSpPr/>
          <p:nvPr/>
        </p:nvSpPr>
        <p:spPr>
          <a:xfrm>
            <a:off x="50852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194934"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Is the tier healthy?</a:t>
            </a:r>
          </a:p>
        </p:txBody>
      </p:sp>
      <p:sp>
        <p:nvSpPr>
          <p:cNvPr id="21" name="Oval 20"/>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you say it aloud?</a:t>
            </a:r>
          </a:p>
        </p:txBody>
      </p:sp>
      <p:sp>
        <p:nvSpPr>
          <p:cNvPr id="23" name="Oval 22"/>
          <p:cNvSpPr/>
          <p:nvPr/>
        </p:nvSpPr>
        <p:spPr>
          <a:xfrm>
            <a:off x="792241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803214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So which branch moved?</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  ·  7 / 37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cause predicts when, where and whom it hits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a broken reorder button predict that the export can test?</a:t>
            </a:r>
          </a:p>
        </p:txBody>
      </p:sp>
      <p:pic>
        <p:nvPicPr>
          <p:cNvPr id="9" name="mermaid diagram" descr="38e26fb430be5d5a.png"/>
          <p:cNvPicPr>
            <a:picLocks noChangeAspect="1"/>
          </p:cNvPicPr>
          <p:nvPr/>
        </p:nvPicPr>
        <p:blipFill>
          <a:blip r:embed="rId6"/>
          <a:stretch>
            <a:fillRect/>
          </a:stretch>
        </p:blipFill>
        <p:spPr>
          <a:xfrm>
            <a:off x="895873" y="1682496"/>
            <a:ext cx="4055284" cy="4517136"/>
          </a:xfrm>
          <a:prstGeom prst="rect">
            <a:avLst/>
          </a:prstGeom>
        </p:spPr>
      </p:pic>
      <p:sp>
        <p:nvSpPr>
          <p:cNvPr id="10" name="Rounded Rectangle 9"/>
          <p:cNvSpPr/>
          <p:nvPr/>
        </p:nvSpPr>
        <p:spPr>
          <a:xfrm>
            <a:off x="5761917" y="1956816"/>
            <a:ext cx="5899425" cy="138074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5990517" y="241858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list-checks_bd88901d2a37.png"/>
          <p:cNvPicPr>
            <a:picLocks noChangeAspect="1"/>
          </p:cNvPicPr>
          <p:nvPr/>
        </p:nvPicPr>
        <p:blipFill>
          <a:blip r:embed="rId5"/>
          <a:stretch>
            <a:fillRect/>
          </a:stretch>
        </p:blipFill>
        <p:spPr>
          <a:xfrm>
            <a:off x="6100245" y="2528316"/>
            <a:ext cx="237744" cy="237744"/>
          </a:xfrm>
          <a:prstGeom prst="rect">
            <a:avLst/>
          </a:prstGeom>
        </p:spPr>
      </p:pic>
      <p:sp>
        <p:nvSpPr>
          <p:cNvPr id="13" name="TextBox 12"/>
          <p:cNvSpPr txBox="1"/>
          <p:nvPr/>
        </p:nvSpPr>
        <p:spPr>
          <a:xfrm>
            <a:off x="6630597" y="2103120"/>
            <a:ext cx="4756425"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4" name="TextBox 13"/>
          <p:cNvSpPr txBox="1"/>
          <p:nvPr/>
        </p:nvSpPr>
        <p:spPr>
          <a:xfrm>
            <a:off x="6630597" y="2322576"/>
            <a:ext cx="4756425" cy="941832"/>
          </a:xfrm>
          <a:prstGeom prst="rect">
            <a:avLst/>
          </a:prstGeom>
          <a:noFill/>
        </p:spPr>
        <p:txBody>
          <a:bodyPr wrap="square" anchor="t" lIns="0" rIns="0" tIns="0" bIns="0">
            <a:spAutoFit/>
          </a:bodyPr>
          <a:lstStyle/>
          <a:p>
            <a:r>
              <a:rPr sz="1500" b="0" i="0">
                <a:solidFill>
                  <a:srgbClr val="1A1440"/>
                </a:solidFill>
                <a:latin typeface="Calibri"/>
              </a:rPr>
              <a:t>Restate the cause as a mechanism and test each thing it predicts, timing first, since a cause cannot come after its effect.</a:t>
            </a:r>
          </a:p>
        </p:txBody>
      </p:sp>
      <p:sp>
        <p:nvSpPr>
          <p:cNvPr id="15" name="Oval 14"/>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Did the button do it?</a:t>
            </a:r>
          </a:p>
        </p:txBody>
      </p:sp>
      <p:sp>
        <p:nvSpPr>
          <p:cNvPr id="17" name="Oval 16"/>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081688"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Does it survive delivery?</a:t>
            </a:r>
          </a:p>
        </p:txBody>
      </p:sp>
      <p:sp>
        <p:nvSpPr>
          <p:cNvPr id="19" name="Oval 18"/>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70732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Where did we go wrong?</a:t>
            </a:r>
          </a:p>
        </p:txBody>
      </p:sp>
      <p:sp>
        <p:nvSpPr>
          <p:cNvPr id="21" name="Oval 20"/>
          <p:cNvSpPr/>
          <p:nvPr/>
        </p:nvSpPr>
        <p:spPr>
          <a:xfrm>
            <a:off x="50852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194934"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Is the tier healthy?</a:t>
            </a:r>
          </a:p>
        </p:txBody>
      </p:sp>
      <p:sp>
        <p:nvSpPr>
          <p:cNvPr id="23" name="Oval 22"/>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you say it aloud?</a:t>
            </a:r>
          </a:p>
        </p:txBody>
      </p:sp>
      <p:sp>
        <p:nvSpPr>
          <p:cNvPr id="25" name="Oval 24"/>
          <p:cNvSpPr/>
          <p:nvPr/>
        </p:nvSpPr>
        <p:spPr>
          <a:xfrm>
            <a:off x="792241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803214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So which branch moved?</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  ·  8 / 37</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count_by grows chapter 1's accumulator to any key</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do we count orders by month, or by channel, with one function?</a:t>
            </a:r>
          </a:p>
        </p:txBody>
      </p:sp>
      <p:sp>
        <p:nvSpPr>
          <p:cNvPr id="9" name="Rounded Rectangle 8"/>
          <p:cNvSpPr/>
          <p:nvPr/>
        </p:nvSpPr>
        <p:spPr>
          <a:xfrm>
            <a:off x="530352" y="1913636"/>
            <a:ext cx="11130991" cy="2837687"/>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4165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4165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4165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42820"/>
            <a:ext cx="10673791" cy="2435352"/>
          </a:xfrm>
          <a:prstGeom prst="rect">
            <a:avLst/>
          </a:prstGeom>
          <a:noFill/>
        </p:spPr>
        <p:txBody>
          <a:bodyPr wrap="square" anchor="t" lIns="0" rIns="0" tIns="0" bIns="0">
            <a:spAutoFit/>
          </a:bodyPr>
          <a:lstStyle/>
          <a:p>
            <a:pPr>
              <a:spcAft>
                <a:spcPts val="200"/>
              </a:spcAft>
            </a:pPr>
            <a:r>
              <a:rPr sz="1200" b="0" i="0">
                <a:solidFill>
                  <a:srgbClr val="A9A3D2"/>
                </a:solidFill>
                <a:latin typeface="Consolas"/>
              </a:rPr>
              <a:t># plus: every Retail-Plus order in both quarters</a:t>
            </a:r>
          </a:p>
          <a:p>
            <a:pPr>
              <a:spcAft>
                <a:spcPts val="200"/>
              </a:spcAft>
            </a:pPr>
            <a:r>
              <a:rPr sz="1200" b="0" i="0">
                <a:solidFill>
                  <a:srgbClr val="E4E1F1"/>
                </a:solidFill>
                <a:latin typeface="Consolas"/>
              </a:rPr>
              <a:t>def count_by(rows, key):</a:t>
            </a:r>
          </a:p>
          <a:p>
            <a:pPr>
              <a:spcAft>
                <a:spcPts val="200"/>
              </a:spcAft>
            </a:pPr>
            <a:r>
              <a:rPr sz="1200" b="0" i="0">
                <a:solidFill>
                  <a:srgbClr val="E4E1F1"/>
                </a:solidFill>
                <a:latin typeface="Consolas"/>
              </a:rPr>
              <a:t>    """Count the rows under whatever key(row) returns."""</a:t>
            </a:r>
          </a:p>
          <a:p>
            <a:pPr>
              <a:spcAft>
                <a:spcPts val="200"/>
              </a:spcAft>
            </a:pPr>
            <a:r>
              <a:rPr sz="1200" b="0" i="0">
                <a:solidFill>
                  <a:srgbClr val="E4E1F1"/>
                </a:solidFill>
                <a:latin typeface="Consolas"/>
              </a:rPr>
              <a:t>    counts = {}</a:t>
            </a:r>
          </a:p>
          <a:p>
            <a:pPr>
              <a:spcAft>
                <a:spcPts val="200"/>
              </a:spcAft>
            </a:pPr>
            <a:r>
              <a:rPr sz="1200" b="0" i="0">
                <a:solidFill>
                  <a:srgbClr val="E4E1F1"/>
                </a:solidFill>
                <a:latin typeface="Consolas"/>
              </a:rPr>
              <a:t>    for row in rows:</a:t>
            </a:r>
          </a:p>
          <a:p>
            <a:pPr>
              <a:spcAft>
                <a:spcPts val="200"/>
              </a:spcAft>
            </a:pPr>
            <a:r>
              <a:rPr sz="1200" b="0" i="0">
                <a:solidFill>
                  <a:srgbClr val="E4E1F1"/>
                </a:solidFill>
                <a:latin typeface="Consolas"/>
              </a:rPr>
              <a:t>        k = key(row)</a:t>
            </a:r>
          </a:p>
          <a:p>
            <a:pPr>
              <a:spcAft>
                <a:spcPts val="200"/>
              </a:spcAft>
            </a:pPr>
            <a:r>
              <a:rPr sz="1200" b="0" i="0">
                <a:solidFill>
                  <a:srgbClr val="E4E1F1"/>
                </a:solidFill>
                <a:latin typeface="Consolas"/>
              </a:rPr>
              <a:t>        counts[k] = counts.get(k, 0) + 1</a:t>
            </a:r>
          </a:p>
          <a:p>
            <a:pPr>
              <a:spcAft>
                <a:spcPts val="200"/>
              </a:spcAft>
            </a:pPr>
            <a:r>
              <a:rPr sz="1200" b="0" i="0">
                <a:solidFill>
                  <a:srgbClr val="E4E1F1"/>
                </a:solidFill>
                <a:latin typeface="Consolas"/>
              </a:rPr>
              <a:t>    return counts</a:t>
            </a:r>
          </a:p>
          <a:p>
            <a:pPr>
              <a:spcAft>
                <a:spcPts val="200"/>
              </a:spcAft>
            </a:pPr>
          </a:p>
          <a:p>
            <a:pPr>
              <a:spcAft>
                <a:spcPts val="200"/>
              </a:spcAft>
            </a:pPr>
            <a:r>
              <a:rPr sz="1200" b="0" i="0">
                <a:solidFill>
                  <a:srgbClr val="E4E1F1"/>
                </a:solidFill>
                <a:latin typeface="Consolas"/>
              </a:rPr>
              <a:t>plus_month = count_by(plus, lambda o: o["order_date"][:7])     # "2026-07"</a:t>
            </a:r>
          </a:p>
          <a:p>
            <a:pPr>
              <a:spcAft>
                <a:spcPts val="200"/>
              </a:spcAft>
            </a:pPr>
            <a:r>
              <a:rPr sz="1200" b="0" i="0">
                <a:solidFill>
                  <a:srgbClr val="E4E1F1"/>
                </a:solidFill>
                <a:latin typeface="Consolas"/>
              </a:rPr>
              <a:t>plus_channel = count_by(plus, lambda o: o["channel"])          # "app", "web", "store"</a:t>
            </a:r>
          </a:p>
        </p:txBody>
      </p:sp>
      <p:sp>
        <p:nvSpPr>
          <p:cNvPr id="14" name="Rounded Rectangle 13"/>
          <p:cNvSpPr/>
          <p:nvPr/>
        </p:nvSpPr>
        <p:spPr>
          <a:xfrm>
            <a:off x="530352" y="4915916"/>
            <a:ext cx="11130991" cy="1052576"/>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Oval 14"/>
          <p:cNvSpPr/>
          <p:nvPr/>
        </p:nvSpPr>
        <p:spPr>
          <a:xfrm>
            <a:off x="758952" y="521360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6" name="Picture 15" descr="list-checks_bd88901d2a37.png"/>
          <p:cNvPicPr>
            <a:picLocks noChangeAspect="1"/>
          </p:cNvPicPr>
          <p:nvPr/>
        </p:nvPicPr>
        <p:blipFill>
          <a:blip r:embed="rId4"/>
          <a:stretch>
            <a:fillRect/>
          </a:stretch>
        </p:blipFill>
        <p:spPr>
          <a:xfrm>
            <a:off x="868680" y="5323332"/>
            <a:ext cx="237744" cy="237744"/>
          </a:xfrm>
          <a:prstGeom prst="rect">
            <a:avLst/>
          </a:prstGeom>
        </p:spPr>
      </p:pic>
      <p:sp>
        <p:nvSpPr>
          <p:cNvPr id="17" name="TextBox 16"/>
          <p:cNvSpPr txBox="1"/>
          <p:nvPr/>
        </p:nvSpPr>
        <p:spPr>
          <a:xfrm>
            <a:off x="1399031" y="506222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8" name="TextBox 17"/>
          <p:cNvSpPr txBox="1"/>
          <p:nvPr/>
        </p:nvSpPr>
        <p:spPr>
          <a:xfrm>
            <a:off x="1399031" y="5281676"/>
            <a:ext cx="9987991" cy="613664"/>
          </a:xfrm>
          <a:prstGeom prst="rect">
            <a:avLst/>
          </a:prstGeom>
          <a:noFill/>
        </p:spPr>
        <p:txBody>
          <a:bodyPr wrap="square" anchor="t" lIns="0" rIns="0" tIns="0" bIns="0">
            <a:spAutoFit/>
          </a:bodyPr>
          <a:lstStyle/>
          <a:p>
            <a:r>
              <a:rPr sz="1300" b="0" i="0">
                <a:solidFill>
                  <a:srgbClr val="1A1440"/>
                </a:solidFill>
                <a:latin typeface="Calibri"/>
              </a:rPr>
              <a:t>The key is handed in as a small function, so the same counter answers "by month" and "by channel" without a second loop.</a:t>
            </a:r>
          </a:p>
        </p:txBody>
      </p:sp>
      <p:sp>
        <p:nvSpPr>
          <p:cNvPr id="19" name="Oval 18"/>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40080"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Did the button do it?</a:t>
            </a:r>
          </a:p>
        </p:txBody>
      </p:sp>
      <p:sp>
        <p:nvSpPr>
          <p:cNvPr id="21" name="Oval 20"/>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2081688"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Does it survive delivery?</a:t>
            </a:r>
          </a:p>
        </p:txBody>
      </p:sp>
      <p:sp>
        <p:nvSpPr>
          <p:cNvPr id="23" name="Oval 22"/>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370732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Where did we go wrong?</a:t>
            </a:r>
          </a:p>
        </p:txBody>
      </p:sp>
      <p:sp>
        <p:nvSpPr>
          <p:cNvPr id="25" name="Oval 24"/>
          <p:cNvSpPr/>
          <p:nvPr/>
        </p:nvSpPr>
        <p:spPr>
          <a:xfrm>
            <a:off x="50852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5194934"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Is the tier healthy?</a:t>
            </a:r>
          </a:p>
        </p:txBody>
      </p:sp>
      <p:sp>
        <p:nvSpPr>
          <p:cNvPr id="27" name="Oval 26"/>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you say it aloud?</a:t>
            </a:r>
          </a:p>
        </p:txBody>
      </p:sp>
      <p:sp>
        <p:nvSpPr>
          <p:cNvPr id="29" name="Oval 28"/>
          <p:cNvSpPr/>
          <p:nvPr/>
        </p:nvSpPr>
        <p:spPr>
          <a:xfrm>
            <a:off x="792241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803214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So which branch moved?</a:t>
            </a:r>
          </a:p>
        </p:txBody>
      </p:sp>
      <p:sp>
        <p:nvSpPr>
          <p:cNvPr id="31" name="TextBox 3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  ·  9 / 37</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when did the tier drop below Q1?</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Retail-Plus orders by month, with Retail-Core beside it: when did the tier fall below every Q1 month?</a:t>
            </a:r>
          </a:p>
        </p:txBody>
      </p:sp>
      <p:pic>
        <p:nvPicPr>
          <p:cNvPr id="9" name="mermaid diagram" descr="e1a2c198c224d605.png"/>
          <p:cNvPicPr>
            <a:picLocks noChangeAspect="1"/>
          </p:cNvPicPr>
          <p:nvPr/>
        </p:nvPicPr>
        <p:blipFill>
          <a:blip r:embed="rId5"/>
          <a:stretch>
            <a:fillRect/>
          </a:stretch>
        </p:blipFill>
        <p:spPr>
          <a:xfrm>
            <a:off x="2152497" y="1956816"/>
            <a:ext cx="7886700" cy="1600200"/>
          </a:xfrm>
          <a:prstGeom prst="rect">
            <a:avLst/>
          </a:prstGeom>
        </p:spPr>
      </p:pic>
      <p:sp>
        <p:nvSpPr>
          <p:cNvPr id="10" name="Rounded Rectangle 9"/>
          <p:cNvSpPr/>
          <p:nvPr/>
        </p:nvSpPr>
        <p:spPr>
          <a:xfrm>
            <a:off x="530352" y="3703320"/>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831336"/>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822192"/>
            <a:ext cx="10564063" cy="3581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a) September, after the break; b) August, when it broke; c) July, before it broke; d) never.</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Did the button do it?</a:t>
            </a:r>
          </a:p>
        </p:txBody>
      </p:sp>
      <p:sp>
        <p:nvSpPr>
          <p:cNvPr id="15" name="Oval 14"/>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081688"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Does it survive delivery?</a:t>
            </a:r>
          </a:p>
        </p:txBody>
      </p:sp>
      <p:sp>
        <p:nvSpPr>
          <p:cNvPr id="17" name="Oval 16"/>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70732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Where did we go wrong?</a:t>
            </a:r>
          </a:p>
        </p:txBody>
      </p:sp>
      <p:sp>
        <p:nvSpPr>
          <p:cNvPr id="19" name="Oval 18"/>
          <p:cNvSpPr/>
          <p:nvPr/>
        </p:nvSpPr>
        <p:spPr>
          <a:xfrm>
            <a:off x="50852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194934"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Is the tier healthy?</a:t>
            </a:r>
          </a:p>
        </p:txBody>
      </p:sp>
      <p:sp>
        <p:nvSpPr>
          <p:cNvPr id="21" name="Oval 20"/>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you say it aloud?</a:t>
            </a:r>
          </a:p>
        </p:txBody>
      </p:sp>
      <p:sp>
        <p:nvSpPr>
          <p:cNvPr id="23" name="Oval 22"/>
          <p:cNvSpPr/>
          <p:nvPr/>
        </p:nvSpPr>
        <p:spPr>
          <a:xfrm>
            <a:off x="792241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803214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So which branch moved?</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S8  ·  10 / 37</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July, weeks before the button broke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Retail-Plus orders by month, with Retail-Core beside it: when did the tier fall below every Q1 month?</a:t>
            </a:r>
          </a:p>
        </p:txBody>
      </p:sp>
      <p:pic>
        <p:nvPicPr>
          <p:cNvPr id="9" name="mermaid diagram" descr="f396a61352d03ecc.png"/>
          <p:cNvPicPr>
            <a:picLocks noChangeAspect="1"/>
          </p:cNvPicPr>
          <p:nvPr/>
        </p:nvPicPr>
        <p:blipFill>
          <a:blip r:embed="rId5"/>
          <a:stretch>
            <a:fillRect/>
          </a:stretch>
        </p:blipFill>
        <p:spPr>
          <a:xfrm>
            <a:off x="2578455" y="1664208"/>
            <a:ext cx="7034784" cy="3517392"/>
          </a:xfrm>
          <a:prstGeom prst="rect">
            <a:avLst/>
          </a:prstGeom>
        </p:spPr>
      </p:pic>
      <p:sp>
        <p:nvSpPr>
          <p:cNvPr id="10" name="Rounded Rectangle 9"/>
          <p:cNvSpPr/>
          <p:nvPr/>
        </p:nvSpPr>
        <p:spPr>
          <a:xfrm>
            <a:off x="530352" y="5227320"/>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5355336"/>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5346192"/>
            <a:ext cx="10564063" cy="624840"/>
          </a:xfrm>
          <a:prstGeom prst="rect">
            <a:avLst/>
          </a:prstGeom>
          <a:noFill/>
        </p:spPr>
        <p:txBody>
          <a:bodyPr wrap="square" anchor="ctr" lIns="0" rIns="0" tIns="0" bIns="0">
            <a:spAutoFit/>
          </a:bodyPr>
          <a:lstStyle/>
          <a:p>
            <a:r>
              <a:rPr sz="1500" b="1">
                <a:solidFill>
                  <a:srgbClr val="5B3FD6"/>
                </a:solidFill>
                <a:latin typeface="Calibri"/>
              </a:rPr>
              <a:t>The check. </a:t>
            </a:r>
            <a:r>
              <a:rPr sz="1500" b="0" i="0">
                <a:solidFill>
                  <a:srgbClr val="1A1440"/>
                </a:solidFill>
                <a:latin typeface="Calibri"/>
              </a:rPr>
              <a:t>July's 9 Retail-Plus orders sit below every Q1 month, whose lowest was 13, while Retail-Core held level. The answer is c.</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Did the button do it?</a:t>
            </a:r>
          </a:p>
        </p:txBody>
      </p:sp>
      <p:sp>
        <p:nvSpPr>
          <p:cNvPr id="15" name="Oval 14"/>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081688"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Does it survive delivery?</a:t>
            </a:r>
          </a:p>
        </p:txBody>
      </p:sp>
      <p:sp>
        <p:nvSpPr>
          <p:cNvPr id="17" name="Oval 16"/>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70732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Where did we go wrong?</a:t>
            </a:r>
          </a:p>
        </p:txBody>
      </p:sp>
      <p:sp>
        <p:nvSpPr>
          <p:cNvPr id="19" name="Oval 18"/>
          <p:cNvSpPr/>
          <p:nvPr/>
        </p:nvSpPr>
        <p:spPr>
          <a:xfrm>
            <a:off x="50852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194934"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Is the tier healthy?</a:t>
            </a:r>
          </a:p>
        </p:txBody>
      </p:sp>
      <p:sp>
        <p:nvSpPr>
          <p:cNvPr id="21" name="Oval 20"/>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you say it aloud?</a:t>
            </a:r>
          </a:p>
        </p:txBody>
      </p:sp>
      <p:sp>
        <p:nvSpPr>
          <p:cNvPr id="23" name="Oval 22"/>
          <p:cNvSpPr/>
          <p:nvPr/>
        </p:nvSpPr>
        <p:spPr>
          <a:xfrm>
            <a:off x="792241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803214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So which branch moved?</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S9  ·  11 / 37</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plausible wrong answer: the button cost 25</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a hurried memo charge the button with?</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25</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ORDERS THE BUTTON "COST"</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51 in Q1 less 26 in Q2</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Rs 65,250</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RUPEES THE BUTTON "COST"</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whole tier's fall</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0</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DAYS CHECKED BEFORE THE BREAK</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missing check</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758952" y="375208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bug_39ada6eff46d.png"/>
          <p:cNvPicPr>
            <a:picLocks noChangeAspect="1"/>
          </p:cNvPicPr>
          <p:nvPr/>
        </p:nvPicPr>
        <p:blipFill>
          <a:blip r:embed="rId4"/>
          <a:stretch>
            <a:fillRect/>
          </a:stretch>
        </p:blipFill>
        <p:spPr>
          <a:xfrm>
            <a:off x="868680" y="3861816"/>
            <a:ext cx="237744" cy="237744"/>
          </a:xfrm>
          <a:prstGeom prst="rect">
            <a:avLst/>
          </a:prstGeom>
        </p:spPr>
      </p:pic>
      <p:sp>
        <p:nvSpPr>
          <p:cNvPr id="24" name="TextBox 23"/>
          <p:cNvSpPr txBox="1"/>
          <p:nvPr/>
        </p:nvSpPr>
        <p:spPr>
          <a:xfrm>
            <a:off x="1399031" y="356616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WHAT BREAKS</a:t>
            </a:r>
          </a:p>
        </p:txBody>
      </p:sp>
      <p:sp>
        <p:nvSpPr>
          <p:cNvPr id="25" name="TextBox 24"/>
          <p:cNvSpPr txBox="1"/>
          <p:nvPr/>
        </p:nvSpPr>
        <p:spPr>
          <a:xfrm>
            <a:off x="1399031" y="3785616"/>
            <a:ext cx="9987991" cy="682752"/>
          </a:xfrm>
          <a:prstGeom prst="rect">
            <a:avLst/>
          </a:prstGeom>
          <a:noFill/>
        </p:spPr>
        <p:txBody>
          <a:bodyPr wrap="square" anchor="t" lIns="0" rIns="0" tIns="0" bIns="0">
            <a:spAutoFit/>
          </a:bodyPr>
          <a:lstStyle/>
          <a:p>
            <a:r>
              <a:rPr sz="1500" b="0" i="0">
                <a:solidFill>
                  <a:srgbClr val="1A1440"/>
                </a:solidFill>
                <a:latin typeface="Calibri"/>
              </a:rPr>
              <a:t>Engineering is told the fix recovers 25 orders a quarter; it ships, recovers a handful, and the tier's real problem has had another quarter to run.</a:t>
            </a:r>
          </a:p>
        </p:txBody>
      </p:sp>
      <p:sp>
        <p:nvSpPr>
          <p:cNvPr id="26" name="Oval 25"/>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Did the button do it?</a:t>
            </a:r>
          </a:p>
        </p:txBody>
      </p:sp>
      <p:sp>
        <p:nvSpPr>
          <p:cNvPr id="28" name="Oval 27"/>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2081688"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Does it survive delivery?</a:t>
            </a:r>
          </a:p>
        </p:txBody>
      </p:sp>
      <p:sp>
        <p:nvSpPr>
          <p:cNvPr id="30" name="Oval 29"/>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370732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Where did we go wrong?</a:t>
            </a:r>
          </a:p>
        </p:txBody>
      </p:sp>
      <p:sp>
        <p:nvSpPr>
          <p:cNvPr id="32" name="Oval 31"/>
          <p:cNvSpPr/>
          <p:nvPr/>
        </p:nvSpPr>
        <p:spPr>
          <a:xfrm>
            <a:off x="50852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5194934"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Is the tier healthy?</a:t>
            </a:r>
          </a:p>
        </p:txBody>
      </p:sp>
      <p:sp>
        <p:nvSpPr>
          <p:cNvPr id="34" name="Oval 33"/>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you say it aloud?</a:t>
            </a:r>
          </a:p>
        </p:txBody>
      </p:sp>
      <p:sp>
        <p:nvSpPr>
          <p:cNvPr id="36" name="Oval 35"/>
          <p:cNvSpPr/>
          <p:nvPr/>
        </p:nvSpPr>
        <p:spPr>
          <a:xfrm>
            <a:off x="792241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803214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So which branch moved?</a:t>
            </a:r>
          </a:p>
        </p:txBody>
      </p:sp>
      <p:sp>
        <p:nvSpPr>
          <p:cNvPr id="38" name="TextBox 3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S10  ·  12 / 37</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Why it is wrong: the pace fell before the break</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happens to the tier's pace when Q2 is split at the break?</a:t>
            </a:r>
          </a:p>
        </p:txBody>
      </p:sp>
      <p:graphicFrame>
        <p:nvGraphicFramePr>
          <p:cNvPr id="9" name="Table 8"/>
          <p:cNvGraphicFramePr>
            <a:graphicFrameLocks noGrp="1"/>
          </p:cNvGraphicFramePr>
          <p:nvPr/>
        </p:nvGraphicFramePr>
        <p:xfrm>
          <a:off x="530352" y="1956816"/>
          <a:ext cx="11130991" cy="1341120"/>
        </p:xfrm>
        <a:graphic>
          <a:graphicData uri="http://schemas.openxmlformats.org/drawingml/2006/table">
            <a:tbl>
              <a:tblPr firstRow="0" bandRow="0">
                <a:tableStyleId>{2D5ABB26-0587-4C30-8999-92F81FD0307C}</a:tableStyleId>
              </a:tblPr>
              <a:tblGrid>
                <a:gridCol w="6138359"/>
                <a:gridCol w="914400"/>
                <a:gridCol w="914400"/>
                <a:gridCol w="3163832"/>
              </a:tblGrid>
              <a:tr h="335280">
                <a:tc>
                  <a:txBody>
                    <a:bodyPr/>
                    <a:lstStyle/>
                    <a:p>
                      <a:r>
                        <a:rPr sz="1250" b="1" i="0">
                          <a:solidFill>
                            <a:srgbClr val="FFFFFF"/>
                          </a:solidFill>
                          <a:latin typeface="Calibri"/>
                        </a:rPr>
                        <a:t>Window</a:t>
                      </a:r>
                    </a:p>
                  </a:txBody>
                  <a:tcPr marL="101600" marR="101600" marT="38100" marB="38100" anchor="ctr">
                    <a:solidFill>
                      <a:srgbClr val="1A0F5C"/>
                    </a:solidFill>
                  </a:tcPr>
                </a:tc>
                <a:tc>
                  <a:txBody>
                    <a:bodyPr/>
                    <a:lstStyle/>
                    <a:p>
                      <a:r>
                        <a:rPr sz="1250" b="1" i="0">
                          <a:solidFill>
                            <a:srgbClr val="FFFFFF"/>
                          </a:solidFill>
                          <a:latin typeface="Calibri"/>
                        </a:rPr>
                        <a:t>Days</a:t>
                      </a:r>
                    </a:p>
                  </a:txBody>
                  <a:tcPr marL="101600" marR="101600" marT="38100" marB="38100" anchor="ctr">
                    <a:solidFill>
                      <a:srgbClr val="1A0F5C"/>
                    </a:solidFill>
                  </a:tcPr>
                </a:tc>
                <a:tc>
                  <a:txBody>
                    <a:bodyPr/>
                    <a:lstStyle/>
                    <a:p>
                      <a:r>
                        <a:rPr sz="1250" b="1" i="0">
                          <a:solidFill>
                            <a:srgbClr val="FFFFFF"/>
                          </a:solidFill>
                          <a:latin typeface="Calibri"/>
                        </a:rPr>
                        <a:t>Orders</a:t>
                      </a:r>
                    </a:p>
                  </a:txBody>
                  <a:tcPr marL="101600" marR="101600" marT="38100" marB="38100" anchor="ctr">
                    <a:solidFill>
                      <a:srgbClr val="1A0F5C"/>
                    </a:solidFill>
                  </a:tcPr>
                </a:tc>
                <a:tc>
                  <a:txBody>
                    <a:bodyPr/>
                    <a:lstStyle/>
                    <a:p>
                      <a:r>
                        <a:rPr sz="1250" b="1" i="0">
                          <a:solidFill>
                            <a:srgbClr val="FFFFFF"/>
                          </a:solidFill>
                          <a:latin typeface="Calibri"/>
                        </a:rPr>
                        <a:t>Per week</a:t>
                      </a:r>
                    </a:p>
                  </a:txBody>
                  <a:tcPr marL="101600" marR="101600" marT="38100" marB="38100" anchor="ctr">
                    <a:solidFill>
                      <a:srgbClr val="1A0F5C"/>
                    </a:solidFill>
                  </a:tcPr>
                </a:tc>
              </a:tr>
              <a:tr h="335280">
                <a:tc>
                  <a:txBody>
                    <a:bodyPr/>
                    <a:lstStyle/>
                    <a:p>
                      <a:r>
                        <a:rPr sz="1200" b="0" i="0">
                          <a:solidFill>
                            <a:srgbClr val="1A1440"/>
                          </a:solidFill>
                          <a:latin typeface="Calibri"/>
                        </a:rPr>
                        <a:t>Q1, 1 Apr to 30 Jun</a:t>
                      </a:r>
                    </a:p>
                  </a:txBody>
                  <a:tcPr marL="101600" marR="101600" marT="38100" marB="38100" anchor="ctr">
                    <a:solidFill>
                      <a:srgbClr val="FFFFFF"/>
                    </a:solidFill>
                  </a:tcPr>
                </a:tc>
                <a:tc>
                  <a:txBody>
                    <a:bodyPr/>
                    <a:lstStyle/>
                    <a:p>
                      <a:r>
                        <a:rPr sz="1200" b="0" i="0">
                          <a:solidFill>
                            <a:srgbClr val="1A1440"/>
                          </a:solidFill>
                          <a:latin typeface="Calibri"/>
                        </a:rPr>
                        <a:t>91</a:t>
                      </a:r>
                    </a:p>
                  </a:txBody>
                  <a:tcPr marL="101600" marR="101600" marT="38100" marB="38100" anchor="ctr">
                    <a:solidFill>
                      <a:srgbClr val="FFFFFF"/>
                    </a:solidFill>
                  </a:tcPr>
                </a:tc>
                <a:tc>
                  <a:txBody>
                    <a:bodyPr/>
                    <a:lstStyle/>
                    <a:p>
                      <a:r>
                        <a:rPr sz="1200" b="0" i="0">
                          <a:solidFill>
                            <a:srgbClr val="1A1440"/>
                          </a:solidFill>
                          <a:latin typeface="Calibri"/>
                        </a:rPr>
                        <a:t>51</a:t>
                      </a:r>
                    </a:p>
                  </a:txBody>
                  <a:tcPr marL="101600" marR="101600" marT="38100" marB="38100" anchor="ctr">
                    <a:solidFill>
                      <a:srgbClr val="FFFFFF"/>
                    </a:solidFill>
                  </a:tcPr>
                </a:tc>
                <a:tc>
                  <a:txBody>
                    <a:bodyPr/>
                    <a:lstStyle/>
                    <a:p>
                      <a:r>
                        <a:rPr sz="1200" b="0" i="0">
                          <a:solidFill>
                            <a:srgbClr val="1A1440"/>
                          </a:solidFill>
                          <a:latin typeface="Calibri"/>
                        </a:rPr>
                        <a:t>3.92</a:t>
                      </a:r>
                    </a:p>
                  </a:txBody>
                  <a:tcPr marL="101600" marR="101600" marT="38100" marB="38100" anchor="ctr">
                    <a:solidFill>
                      <a:srgbClr val="FFFFFF"/>
                    </a:solidFill>
                  </a:tcPr>
                </a:tc>
              </a:tr>
              <a:tr h="335280">
                <a:tc>
                  <a:txBody>
                    <a:bodyPr/>
                    <a:lstStyle/>
                    <a:p>
                      <a:r>
                        <a:rPr sz="1200" b="0" i="0">
                          <a:solidFill>
                            <a:srgbClr val="1A1440"/>
                          </a:solidFill>
                          <a:latin typeface="Calibri"/>
                        </a:rPr>
                        <a:t>Q2, 1 Jul to 24 Aug</a:t>
                      </a:r>
                    </a:p>
                  </a:txBody>
                  <a:tcPr marL="101600" marR="101600" marT="38100" marB="38100" anchor="ctr">
                    <a:solidFill>
                      <a:srgbClr val="F4F2FA"/>
                    </a:solidFill>
                  </a:tcPr>
                </a:tc>
                <a:tc>
                  <a:txBody>
                    <a:bodyPr/>
                    <a:lstStyle/>
                    <a:p>
                      <a:r>
                        <a:rPr sz="1200" b="0" i="0">
                          <a:solidFill>
                            <a:srgbClr val="1A1440"/>
                          </a:solidFill>
                          <a:latin typeface="Calibri"/>
                        </a:rPr>
                        <a:t>55</a:t>
                      </a:r>
                    </a:p>
                  </a:txBody>
                  <a:tcPr marL="101600" marR="101600" marT="38100" marB="38100" anchor="ctr">
                    <a:solidFill>
                      <a:srgbClr val="F4F2FA"/>
                    </a:solidFill>
                  </a:tcPr>
                </a:tc>
                <a:tc>
                  <a:txBody>
                    <a:bodyPr/>
                    <a:lstStyle/>
                    <a:p>
                      <a:r>
                        <a:rPr sz="1200" b="0" i="0">
                          <a:solidFill>
                            <a:srgbClr val="1A1440"/>
                          </a:solidFill>
                          <a:latin typeface="Calibri"/>
                        </a:rPr>
                        <a:t>18</a:t>
                      </a:r>
                    </a:p>
                  </a:txBody>
                  <a:tcPr marL="101600" marR="101600" marT="38100" marB="38100" anchor="ctr">
                    <a:solidFill>
                      <a:srgbClr val="F4F2FA"/>
                    </a:solidFill>
                  </a:tcPr>
                </a:tc>
                <a:tc>
                  <a:txBody>
                    <a:bodyPr/>
                    <a:lstStyle/>
                    <a:p>
                      <a:r>
                        <a:rPr sz="1200" b="0" i="0">
                          <a:solidFill>
                            <a:srgbClr val="1A1440"/>
                          </a:solidFill>
                          <a:latin typeface="Calibri"/>
                        </a:rPr>
                        <a:t>2.29</a:t>
                      </a:r>
                    </a:p>
                  </a:txBody>
                  <a:tcPr marL="101600" marR="101600" marT="38100" marB="38100" anchor="ctr">
                    <a:solidFill>
                      <a:srgbClr val="F4F2FA"/>
                    </a:solidFill>
                  </a:tcPr>
                </a:tc>
              </a:tr>
              <a:tr h="335280">
                <a:tc>
                  <a:txBody>
                    <a:bodyPr/>
                    <a:lstStyle/>
                    <a:p>
                      <a:r>
                        <a:rPr sz="1200" b="0" i="0">
                          <a:solidFill>
                            <a:srgbClr val="1A1440"/>
                          </a:solidFill>
                          <a:latin typeface="Calibri"/>
                        </a:rPr>
                        <a:t>Q2, 25 Aug to 30 Sep</a:t>
                      </a:r>
                    </a:p>
                  </a:txBody>
                  <a:tcPr marL="101600" marR="101600" marT="38100" marB="38100" anchor="ctr">
                    <a:solidFill>
                      <a:srgbClr val="FFFFFF"/>
                    </a:solidFill>
                  </a:tcPr>
                </a:tc>
                <a:tc>
                  <a:txBody>
                    <a:bodyPr/>
                    <a:lstStyle/>
                    <a:p>
                      <a:r>
                        <a:rPr sz="1200" b="0" i="0">
                          <a:solidFill>
                            <a:srgbClr val="1A1440"/>
                          </a:solidFill>
                          <a:latin typeface="Calibri"/>
                        </a:rPr>
                        <a:t>37</a:t>
                      </a:r>
                    </a:p>
                  </a:txBody>
                  <a:tcPr marL="101600" marR="101600" marT="38100" marB="38100" anchor="ctr">
                    <a:solidFill>
                      <a:srgbClr val="FFFFFF"/>
                    </a:solidFill>
                  </a:tcPr>
                </a:tc>
                <a:tc>
                  <a:txBody>
                    <a:bodyPr/>
                    <a:lstStyle/>
                    <a:p>
                      <a:r>
                        <a:rPr sz="1200" b="0" i="0">
                          <a:solidFill>
                            <a:srgbClr val="1A1440"/>
                          </a:solidFill>
                          <a:latin typeface="Calibri"/>
                        </a:rPr>
                        <a:t>8</a:t>
                      </a:r>
                    </a:p>
                  </a:txBody>
                  <a:tcPr marL="101600" marR="101600" marT="38100" marB="38100" anchor="ctr">
                    <a:solidFill>
                      <a:srgbClr val="FFFFFF"/>
                    </a:solidFill>
                  </a:tcPr>
                </a:tc>
                <a:tc>
                  <a:txBody>
                    <a:bodyPr/>
                    <a:lstStyle/>
                    <a:p>
                      <a:r>
                        <a:rPr sz="1200" b="0" i="0">
                          <a:solidFill>
                            <a:srgbClr val="1A1440"/>
                          </a:solidFill>
                          <a:latin typeface="Calibri"/>
                        </a:rPr>
                        <a:t>1.51</a:t>
                      </a:r>
                    </a:p>
                  </a:txBody>
                  <a:tcPr marL="101600" marR="101600" marT="38100" marB="38100" anchor="ctr">
                    <a:solidFill>
                      <a:srgbClr val="FFFFFF"/>
                    </a:solidFill>
                  </a:tcPr>
                </a:tc>
              </a:tr>
            </a:tbl>
          </a:graphicData>
        </a:graphic>
      </p:graphicFrame>
      <p:sp>
        <p:nvSpPr>
          <p:cNvPr id="10" name="Rounded Rectangle 9"/>
          <p:cNvSpPr/>
          <p:nvPr/>
        </p:nvSpPr>
        <p:spPr>
          <a:xfrm>
            <a:off x="530352" y="3553968"/>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681984"/>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672840"/>
            <a:ext cx="10564063" cy="891540"/>
          </a:xfrm>
          <a:prstGeom prst="rect">
            <a:avLst/>
          </a:prstGeom>
          <a:noFill/>
        </p:spPr>
        <p:txBody>
          <a:bodyPr wrap="square" anchor="ctr" lIns="0" rIns="0" tIns="0" bIns="0">
            <a:spAutoFit/>
          </a:bodyPr>
          <a:lstStyle/>
          <a:p>
            <a:r>
              <a:rPr sz="1500" b="1">
                <a:solidFill>
                  <a:srgbClr val="5B3FD6"/>
                </a:solidFill>
                <a:latin typeface="Calibri"/>
              </a:rPr>
              <a:t>Why it is wrong. </a:t>
            </a:r>
            <a:r>
              <a:rPr sz="1500" b="0" i="0">
                <a:solidFill>
                  <a:srgbClr val="1A1440"/>
                </a:solidFill>
                <a:latin typeface="Calibri"/>
              </a:rPr>
              <a:t>The tier's pace had fallen by more than a third before the button broke, so the whole-quarter comparison charges the button with orders lost in July and August. </a:t>
            </a:r>
            <a:r>
              <a:rPr sz="1500" b="1" i="0">
                <a:solidFill>
                  <a:srgbClr val="1A1440"/>
                </a:solidFill>
                <a:latin typeface="Calibri"/>
              </a:rPr>
              <a:t>The check.</a:t>
            </a:r>
            <a:r>
              <a:rPr sz="1500" b="0" i="0">
                <a:solidFill>
                  <a:srgbClr val="1A1440"/>
                </a:solidFill>
                <a:latin typeface="Calibri"/>
              </a:rPr>
              <a:t> Chapter 1's lesson: a rate with its window.</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Did the button do it?</a:t>
            </a:r>
          </a:p>
        </p:txBody>
      </p:sp>
      <p:sp>
        <p:nvSpPr>
          <p:cNvPr id="15" name="Oval 14"/>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081688"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Does it survive delivery?</a:t>
            </a:r>
          </a:p>
        </p:txBody>
      </p:sp>
      <p:sp>
        <p:nvSpPr>
          <p:cNvPr id="17" name="Oval 16"/>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70732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Where did we go wrong?</a:t>
            </a:r>
          </a:p>
        </p:txBody>
      </p:sp>
      <p:sp>
        <p:nvSpPr>
          <p:cNvPr id="19" name="Oval 18"/>
          <p:cNvSpPr/>
          <p:nvPr/>
        </p:nvSpPr>
        <p:spPr>
          <a:xfrm>
            <a:off x="50852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194934"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Is the tier healthy?</a:t>
            </a:r>
          </a:p>
        </p:txBody>
      </p:sp>
      <p:sp>
        <p:nvSpPr>
          <p:cNvPr id="21" name="Oval 20"/>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you say it aloud?</a:t>
            </a:r>
          </a:p>
        </p:txBody>
      </p:sp>
      <p:sp>
        <p:nvSpPr>
          <p:cNvPr id="23" name="Oval 22"/>
          <p:cNvSpPr/>
          <p:nvPr/>
        </p:nvSpPr>
        <p:spPr>
          <a:xfrm>
            <a:off x="792241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803214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So which branch moved?</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S11  ·  13 / 37</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fix: a ceiling of about 4, far below 25</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many orders can the button have cost, and on which baseline?</a:t>
            </a:r>
          </a:p>
        </p:txBody>
      </p:sp>
      <p:graphicFrame>
        <p:nvGraphicFramePr>
          <p:cNvPr id="9" name="Table 8"/>
          <p:cNvGraphicFramePr>
            <a:graphicFrameLocks noGrp="1"/>
          </p:cNvGraphicFramePr>
          <p:nvPr/>
        </p:nvGraphicFramePr>
        <p:xfrm>
          <a:off x="530352" y="1956816"/>
          <a:ext cx="11130989" cy="1341120"/>
        </p:xfrm>
        <a:graphic>
          <a:graphicData uri="http://schemas.openxmlformats.org/drawingml/2006/table">
            <a:tbl>
              <a:tblPr firstRow="0" bandRow="0">
                <a:tableStyleId>{2D5ABB26-0587-4C30-8999-92F81FD0307C}</a:tableStyleId>
              </a:tblPr>
              <a:tblGrid>
                <a:gridCol w="2331897"/>
                <a:gridCol w="914400"/>
                <a:gridCol w="2959721"/>
                <a:gridCol w="914400"/>
                <a:gridCol w="4010571"/>
              </a:tblGrid>
              <a:tr h="335280">
                <a:tc>
                  <a:txBody>
                    <a:bodyPr/>
                    <a:lstStyle/>
                    <a:p>
                      <a:r>
                        <a:rPr sz="1250" b="1" i="0">
                          <a:solidFill>
                            <a:srgbClr val="FFFFFF"/>
                          </a:solidFill>
                          <a:latin typeface="Calibri"/>
                        </a:rPr>
                        <a:t>Pace before the break</a:t>
                      </a:r>
                    </a:p>
                  </a:txBody>
                  <a:tcPr marL="101600" marR="101600" marT="38100" marB="38100" anchor="ctr">
                    <a:solidFill>
                      <a:srgbClr val="1A0F5C"/>
                    </a:solidFill>
                  </a:tcPr>
                </a:tc>
                <a:tc>
                  <a:txBody>
                    <a:bodyPr/>
                    <a:lstStyle/>
                    <a:p>
                      <a:r>
                        <a:rPr sz="1250" b="1" i="0">
                          <a:solidFill>
                            <a:srgbClr val="FFFFFF"/>
                          </a:solidFill>
                          <a:latin typeface="Calibri"/>
                        </a:rPr>
                        <a:t>Orders</a:t>
                      </a:r>
                    </a:p>
                  </a:txBody>
                  <a:tcPr marL="101600" marR="101600" marT="38100" marB="38100" anchor="ctr">
                    <a:solidFill>
                      <a:srgbClr val="1A0F5C"/>
                    </a:solidFill>
                  </a:tcPr>
                </a:tc>
                <a:tc>
                  <a:txBody>
                    <a:bodyPr/>
                    <a:lstStyle/>
                    <a:p>
                      <a:r>
                        <a:rPr sz="1250" b="1" i="0">
                          <a:solidFill>
                            <a:srgbClr val="FFFFFF"/>
                          </a:solidFill>
                          <a:latin typeface="Calibri"/>
                        </a:rPr>
                        <a:t>Expected in the 37 days after</a:t>
                      </a:r>
                    </a:p>
                  </a:txBody>
                  <a:tcPr marL="101600" marR="101600" marT="38100" marB="38100" anchor="ctr">
                    <a:solidFill>
                      <a:srgbClr val="1A0F5C"/>
                    </a:solidFill>
                  </a:tcPr>
                </a:tc>
                <a:tc>
                  <a:txBody>
                    <a:bodyPr/>
                    <a:lstStyle/>
                    <a:p>
                      <a:r>
                        <a:rPr sz="1250" b="1" i="0">
                          <a:solidFill>
                            <a:srgbClr val="FFFFFF"/>
                          </a:solidFill>
                          <a:latin typeface="Calibri"/>
                        </a:rPr>
                        <a:t>Placed</a:t>
                      </a:r>
                    </a:p>
                  </a:txBody>
                  <a:tcPr marL="101600" marR="101600" marT="38100" marB="38100" anchor="ctr">
                    <a:solidFill>
                      <a:srgbClr val="1A0F5C"/>
                    </a:solidFill>
                  </a:tcPr>
                </a:tc>
                <a:tc>
                  <a:txBody>
                    <a:bodyPr/>
                    <a:lstStyle/>
                    <a:p>
                      <a:r>
                        <a:rPr sz="1250" b="1" i="0">
                          <a:solidFill>
                            <a:srgbClr val="FFFFFF"/>
                          </a:solidFill>
                          <a:latin typeface="Calibri"/>
                        </a:rPr>
                        <a:t>Button's ceiling</a:t>
                      </a:r>
                    </a:p>
                  </a:txBody>
                  <a:tcPr marL="101600" marR="101600" marT="38100" marB="38100" anchor="ctr">
                    <a:solidFill>
                      <a:srgbClr val="1A0F5C"/>
                    </a:solidFill>
                  </a:tcPr>
                </a:tc>
              </a:tr>
              <a:tr h="335280">
                <a:tc>
                  <a:txBody>
                    <a:bodyPr/>
                    <a:lstStyle/>
                    <a:p>
                      <a:r>
                        <a:rPr sz="1200" b="0" i="0">
                          <a:solidFill>
                            <a:srgbClr val="1A1440"/>
                          </a:solidFill>
                          <a:latin typeface="Calibri"/>
                        </a:rPr>
                        <a:t>55 days, 1 Jul to 24 Aug</a:t>
                      </a:r>
                    </a:p>
                  </a:txBody>
                  <a:tcPr marL="101600" marR="101600" marT="38100" marB="38100" anchor="ctr">
                    <a:solidFill>
                      <a:srgbClr val="FFFFFF"/>
                    </a:solidFill>
                  </a:tcPr>
                </a:tc>
                <a:tc>
                  <a:txBody>
                    <a:bodyPr/>
                    <a:lstStyle/>
                    <a:p>
                      <a:r>
                        <a:rPr sz="1200" b="0" i="0">
                          <a:solidFill>
                            <a:srgbClr val="1A1440"/>
                          </a:solidFill>
                          <a:latin typeface="Calibri"/>
                        </a:rPr>
                        <a:t>18</a:t>
                      </a:r>
                    </a:p>
                  </a:txBody>
                  <a:tcPr marL="101600" marR="101600" marT="38100" marB="38100" anchor="ctr">
                    <a:solidFill>
                      <a:srgbClr val="FFFFFF"/>
                    </a:solidFill>
                  </a:tcPr>
                </a:tc>
                <a:tc>
                  <a:txBody>
                    <a:bodyPr/>
                    <a:lstStyle/>
                    <a:p>
                      <a:r>
                        <a:rPr sz="1200" b="0" i="0">
                          <a:solidFill>
                            <a:srgbClr val="1A1440"/>
                          </a:solidFill>
                          <a:latin typeface="Calibri"/>
                        </a:rPr>
                        <a:t>12.1</a:t>
                      </a:r>
                    </a:p>
                  </a:txBody>
                  <a:tcPr marL="101600" marR="101600" marT="38100" marB="38100" anchor="ctr">
                    <a:solidFill>
                      <a:srgbClr val="FFFFFF"/>
                    </a:solidFill>
                  </a:tcPr>
                </a:tc>
                <a:tc>
                  <a:txBody>
                    <a:bodyPr/>
                    <a:lstStyle/>
                    <a:p>
                      <a:r>
                        <a:rPr sz="1200" b="0" i="0">
                          <a:solidFill>
                            <a:srgbClr val="1A1440"/>
                          </a:solidFill>
                          <a:latin typeface="Calibri"/>
                        </a:rPr>
                        <a:t>8</a:t>
                      </a:r>
                    </a:p>
                  </a:txBody>
                  <a:tcPr marL="101600" marR="101600" marT="38100" marB="38100" anchor="ctr">
                    <a:solidFill>
                      <a:srgbClr val="FFFFFF"/>
                    </a:solidFill>
                  </a:tcPr>
                </a:tc>
                <a:tc>
                  <a:txBody>
                    <a:bodyPr/>
                    <a:lstStyle/>
                    <a:p>
                      <a:r>
                        <a:rPr sz="1200" b="0" i="0">
                          <a:solidFill>
                            <a:srgbClr val="1A1440"/>
                          </a:solidFill>
                          <a:latin typeface="Calibri"/>
                        </a:rPr>
                        <a:t>about 4, about Rs 12,400 at Rs 3,012 an order</a:t>
                      </a:r>
                    </a:p>
                  </a:txBody>
                  <a:tcPr marL="101600" marR="101600" marT="38100" marB="38100" anchor="ctr">
                    <a:solidFill>
                      <a:srgbClr val="FFFFFF"/>
                    </a:solidFill>
                  </a:tcPr>
                </a:tc>
              </a:tr>
              <a:tr h="335280">
                <a:tc>
                  <a:txBody>
                    <a:bodyPr/>
                    <a:lstStyle/>
                    <a:p>
                      <a:r>
                        <a:rPr sz="1200" b="0" i="0">
                          <a:solidFill>
                            <a:srgbClr val="1A1440"/>
                          </a:solidFill>
                          <a:latin typeface="Calibri"/>
                        </a:rPr>
                        <a:t>37 days, 19 Jul to 24 Aug</a:t>
                      </a:r>
                    </a:p>
                  </a:txBody>
                  <a:tcPr marL="101600" marR="101600" marT="38100" marB="38100" anchor="ctr">
                    <a:solidFill>
                      <a:srgbClr val="F4F2FA"/>
                    </a:solidFill>
                  </a:tcPr>
                </a:tc>
                <a:tc>
                  <a:txBody>
                    <a:bodyPr/>
                    <a:lstStyle/>
                    <a:p>
                      <a:r>
                        <a:rPr sz="1200" b="0" i="0">
                          <a:solidFill>
                            <a:srgbClr val="1A1440"/>
                          </a:solidFill>
                          <a:latin typeface="Calibri"/>
                        </a:rPr>
                        <a:t>15</a:t>
                      </a:r>
                    </a:p>
                  </a:txBody>
                  <a:tcPr marL="101600" marR="101600" marT="38100" marB="38100" anchor="ctr">
                    <a:solidFill>
                      <a:srgbClr val="F4F2FA"/>
                    </a:solidFill>
                  </a:tcPr>
                </a:tc>
                <a:tc>
                  <a:txBody>
                    <a:bodyPr/>
                    <a:lstStyle/>
                    <a:p>
                      <a:r>
                        <a:rPr sz="1200" b="0" i="0">
                          <a:solidFill>
                            <a:srgbClr val="1A1440"/>
                          </a:solidFill>
                          <a:latin typeface="Calibri"/>
                        </a:rPr>
                        <a:t>15.0</a:t>
                      </a:r>
                    </a:p>
                  </a:txBody>
                  <a:tcPr marL="101600" marR="101600" marT="38100" marB="38100" anchor="ctr">
                    <a:solidFill>
                      <a:srgbClr val="F4F2FA"/>
                    </a:solidFill>
                  </a:tcPr>
                </a:tc>
                <a:tc>
                  <a:txBody>
                    <a:bodyPr/>
                    <a:lstStyle/>
                    <a:p>
                      <a:r>
                        <a:rPr sz="1200" b="0" i="0">
                          <a:solidFill>
                            <a:srgbClr val="1A1440"/>
                          </a:solidFill>
                          <a:latin typeface="Calibri"/>
                        </a:rPr>
                        <a:t>8</a:t>
                      </a:r>
                    </a:p>
                  </a:txBody>
                  <a:tcPr marL="101600" marR="101600" marT="38100" marB="38100" anchor="ctr">
                    <a:solidFill>
                      <a:srgbClr val="F4F2FA"/>
                    </a:solidFill>
                  </a:tcPr>
                </a:tc>
                <a:tc>
                  <a:txBody>
                    <a:bodyPr/>
                    <a:lstStyle/>
                    <a:p>
                      <a:r>
                        <a:rPr sz="1200" b="0" i="0">
                          <a:solidFill>
                            <a:srgbClr val="1A1440"/>
                          </a:solidFill>
                          <a:latin typeface="Calibri"/>
                        </a:rPr>
                        <a:t>7.0</a:t>
                      </a:r>
                    </a:p>
                  </a:txBody>
                  <a:tcPr marL="101600" marR="101600" marT="38100" marB="38100" anchor="ctr">
                    <a:solidFill>
                      <a:srgbClr val="F4F2FA"/>
                    </a:solidFill>
                  </a:tcPr>
                </a:tc>
              </a:tr>
              <a:tr h="335280">
                <a:tc>
                  <a:txBody>
                    <a:bodyPr/>
                    <a:lstStyle/>
                    <a:p>
                      <a:r>
                        <a:rPr sz="1200" b="0" i="0">
                          <a:solidFill>
                            <a:srgbClr val="1A1440"/>
                          </a:solidFill>
                          <a:latin typeface="Calibri"/>
                        </a:rPr>
                        <a:t>The hurried memo</a:t>
                      </a:r>
                    </a:p>
                  </a:txBody>
                  <a:tcPr marL="101600" marR="101600" marT="38100" marB="38100" anchor="ctr">
                    <a:solidFill>
                      <a:srgbClr val="FFFFFF"/>
                    </a:solidFill>
                  </a:tcPr>
                </a:tc>
                <a:tc>
                  <a:txBody>
                    <a:bodyPr/>
                    <a:lstStyle/>
                    <a:p/>
                  </a:txBody>
                  <a:tcPr marL="101600" marR="101600" marT="38100" marB="38100" anchor="ctr">
                    <a:solidFill>
                      <a:srgbClr val="FFFFFF"/>
                    </a:solidFill>
                  </a:tcPr>
                </a:tc>
                <a:tc>
                  <a:txBody>
                    <a:bodyPr/>
                    <a:lstStyle/>
                    <a:p/>
                  </a:txBody>
                  <a:tcPr marL="101600" marR="101600" marT="38100" marB="38100" anchor="ctr">
                    <a:solidFill>
                      <a:srgbClr val="FFFFFF"/>
                    </a:solidFill>
                  </a:tcPr>
                </a:tc>
                <a:tc>
                  <a:txBody>
                    <a:bodyPr/>
                    <a:lstStyle/>
                    <a:p/>
                  </a:txBody>
                  <a:tcPr marL="101600" marR="101600" marT="38100" marB="38100" anchor="ctr">
                    <a:solidFill>
                      <a:srgbClr val="FFFFFF"/>
                    </a:solidFill>
                  </a:tcPr>
                </a:tc>
                <a:tc>
                  <a:txBody>
                    <a:bodyPr/>
                    <a:lstStyle/>
                    <a:p>
                      <a:r>
                        <a:rPr sz="1200" b="0" i="0">
                          <a:solidFill>
                            <a:srgbClr val="1A1440"/>
                          </a:solidFill>
                          <a:latin typeface="Calibri"/>
                        </a:rPr>
                        <a:t>25</a:t>
                      </a:r>
                    </a:p>
                  </a:txBody>
                  <a:tcPr marL="101600" marR="101600" marT="38100" marB="38100" anchor="ctr">
                    <a:solidFill>
                      <a:srgbClr val="FFFFFF"/>
                    </a:solidFill>
                  </a:tcPr>
                </a:tc>
              </a:tr>
            </a:tbl>
          </a:graphicData>
        </a:graphic>
      </p:graphicFrame>
      <p:sp>
        <p:nvSpPr>
          <p:cNvPr id="10" name="Rounded Rectangle 9"/>
          <p:cNvSpPr/>
          <p:nvPr/>
        </p:nvSpPr>
        <p:spPr>
          <a:xfrm>
            <a:off x="530352" y="3553968"/>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681984"/>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672840"/>
            <a:ext cx="10564063" cy="891540"/>
          </a:xfrm>
          <a:prstGeom prst="rect">
            <a:avLst/>
          </a:prstGeom>
          <a:noFill/>
        </p:spPr>
        <p:txBody>
          <a:bodyPr wrap="square" anchor="ctr" lIns="0" rIns="0" tIns="0" bIns="0">
            <a:spAutoFit/>
          </a:bodyPr>
          <a:lstStyle/>
          <a:p>
            <a:r>
              <a:rPr sz="1500" b="1">
                <a:solidFill>
                  <a:srgbClr val="5B3FD6"/>
                </a:solidFill>
                <a:latin typeface="Calibri"/>
              </a:rPr>
              <a:t>What changed. </a:t>
            </a:r>
            <a:r>
              <a:rPr sz="1500" b="0" i="0">
                <a:solidFill>
                  <a:srgbClr val="1A1440"/>
                </a:solidFill>
                <a:latin typeface="Calibri"/>
              </a:rPr>
              <a:t>"The button cost 25 orders" became "at most about 4 on the tier's pace over the 55 days before the break, and 7.0 on the 37 days just before it". Either way the ceiling sits far below 25, so the call holds: the rest needs another cause, and the memo names the baseline it used.</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Did the button do it?</a:t>
            </a:r>
          </a:p>
        </p:txBody>
      </p:sp>
      <p:sp>
        <p:nvSpPr>
          <p:cNvPr id="15" name="Oval 14"/>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081688"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Does it survive delivery?</a:t>
            </a:r>
          </a:p>
        </p:txBody>
      </p:sp>
      <p:sp>
        <p:nvSpPr>
          <p:cNvPr id="17" name="Oval 16"/>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70732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Where did we go wrong?</a:t>
            </a:r>
          </a:p>
        </p:txBody>
      </p:sp>
      <p:sp>
        <p:nvSpPr>
          <p:cNvPr id="19" name="Oval 18"/>
          <p:cNvSpPr/>
          <p:nvPr/>
        </p:nvSpPr>
        <p:spPr>
          <a:xfrm>
            <a:off x="50852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194934"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Is the tier healthy?</a:t>
            </a:r>
          </a:p>
        </p:txBody>
      </p:sp>
      <p:sp>
        <p:nvSpPr>
          <p:cNvPr id="21" name="Oval 20"/>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you say it aloud?</a:t>
            </a:r>
          </a:p>
        </p:txBody>
      </p:sp>
      <p:sp>
        <p:nvSpPr>
          <p:cNvPr id="23" name="Oval 22"/>
          <p:cNvSpPr/>
          <p:nvPr/>
        </p:nvSpPr>
        <p:spPr>
          <a:xfrm>
            <a:off x="792241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803214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So which branch moved?</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S12  ·  14 / 37</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season for everyone and an app-only fault both fail</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Could a season that hit everyone, or an app-only fault, explain the fall instead?</a:t>
            </a:r>
          </a:p>
        </p:txBody>
      </p:sp>
      <p:pic>
        <p:nvPicPr>
          <p:cNvPr id="9" name="mermaid diagram" descr="66fa8fcac61df626.png"/>
          <p:cNvPicPr>
            <a:picLocks noChangeAspect="1"/>
          </p:cNvPicPr>
          <p:nvPr/>
        </p:nvPicPr>
        <p:blipFill>
          <a:blip r:embed="rId5"/>
          <a:stretch>
            <a:fillRect/>
          </a:stretch>
        </p:blipFill>
        <p:spPr>
          <a:xfrm>
            <a:off x="2563215" y="1664208"/>
            <a:ext cx="7065263" cy="3532631"/>
          </a:xfrm>
          <a:prstGeom prst="rect">
            <a:avLst/>
          </a:prstGeom>
        </p:spPr>
      </p:pic>
      <p:sp>
        <p:nvSpPr>
          <p:cNvPr id="10" name="TextBox 9"/>
          <p:cNvSpPr txBox="1"/>
          <p:nvPr/>
        </p:nvSpPr>
        <p:spPr>
          <a:xfrm>
            <a:off x="530352" y="5242560"/>
            <a:ext cx="11130991" cy="957072"/>
          </a:xfrm>
          <a:prstGeom prst="rect">
            <a:avLst/>
          </a:prstGeom>
          <a:noFill/>
        </p:spPr>
        <p:txBody>
          <a:bodyPr wrap="square" anchor="t" lIns="0" rIns="0" tIns="0" bIns="0">
            <a:spAutoFit/>
          </a:bodyPr>
          <a:lstStyle/>
          <a:p>
            <a:r>
              <a:rPr sz="1600" b="0" i="0">
                <a:solidFill>
                  <a:srgbClr val="1A1440"/>
                </a:solidFill>
                <a:latin typeface="Calibri"/>
              </a:rPr>
              <a:t>Retail-Core kept 95 percent of its Q1 orders and Retail-Plus 51, so a season that hit every customer does not fit; every channel fell, so an app-only cause does not fit. A season that hit members harder still fits, and last year's Q2 by segment tests it.</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Did the button do it?</a:t>
            </a:r>
          </a:p>
        </p:txBody>
      </p:sp>
      <p:sp>
        <p:nvSpPr>
          <p:cNvPr id="13" name="Oval 12"/>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081688"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Does it survive delivery?</a:t>
            </a:r>
          </a:p>
        </p:txBody>
      </p:sp>
      <p:sp>
        <p:nvSpPr>
          <p:cNvPr id="15" name="Oval 14"/>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70732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Where did we go wrong?</a:t>
            </a:r>
          </a:p>
        </p:txBody>
      </p:sp>
      <p:sp>
        <p:nvSpPr>
          <p:cNvPr id="17" name="Oval 16"/>
          <p:cNvSpPr/>
          <p:nvPr/>
        </p:nvSpPr>
        <p:spPr>
          <a:xfrm>
            <a:off x="50852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194934"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Is the tier healthy?</a:t>
            </a:r>
          </a:p>
        </p:txBody>
      </p:sp>
      <p:sp>
        <p:nvSpPr>
          <p:cNvPr id="19" name="Oval 18"/>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you say it aloud?</a:t>
            </a:r>
          </a:p>
        </p:txBody>
      </p:sp>
      <p:sp>
        <p:nvSpPr>
          <p:cNvPr id="21" name="Oval 20"/>
          <p:cNvSpPr/>
          <p:nvPr/>
        </p:nvSpPr>
        <p:spPr>
          <a:xfrm>
            <a:off x="792241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803214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So which branch moved?</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S13  ·  15 / 37</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Corrected by Retail-Core, the button gets about 3.5</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Does the pace corrected by Retail-Core's own change stay inside the ceiling?</a:t>
            </a:r>
          </a:p>
        </p:txBody>
      </p:sp>
      <p:pic>
        <p:nvPicPr>
          <p:cNvPr id="9" name="mermaid diagram" descr="a4d726929b682895.png"/>
          <p:cNvPicPr>
            <a:picLocks noChangeAspect="1"/>
          </p:cNvPicPr>
          <p:nvPr/>
        </p:nvPicPr>
        <p:blipFill>
          <a:blip r:embed="rId5"/>
          <a:stretch>
            <a:fillRect/>
          </a:stretch>
        </p:blipFill>
        <p:spPr>
          <a:xfrm>
            <a:off x="780897" y="1956816"/>
            <a:ext cx="10629900" cy="1857375"/>
          </a:xfrm>
          <a:prstGeom prst="rect">
            <a:avLst/>
          </a:prstGeom>
        </p:spPr>
      </p:pic>
      <p:sp>
        <p:nvSpPr>
          <p:cNvPr id="10" name="Rounded Rectangle 9"/>
          <p:cNvSpPr/>
          <p:nvPr/>
        </p:nvSpPr>
        <p:spPr>
          <a:xfrm>
            <a:off x="530352" y="3960495"/>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088510"/>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079367"/>
            <a:ext cx="10564063" cy="624840"/>
          </a:xfrm>
          <a:prstGeom prst="rect">
            <a:avLst/>
          </a:prstGeom>
          <a:noFill/>
        </p:spPr>
        <p:txBody>
          <a:bodyPr wrap="square" anchor="ctr" lIns="0" rIns="0" tIns="0" bIns="0">
            <a:spAutoFit/>
          </a:bodyPr>
          <a:lstStyle/>
          <a:p>
            <a:r>
              <a:rPr sz="1500" b="1">
                <a:solidFill>
                  <a:srgbClr val="5B3FD6"/>
                </a:solidFill>
                <a:latin typeface="Calibri"/>
              </a:rPr>
              <a:t>When to switch. </a:t>
            </a:r>
            <a:r>
              <a:rPr sz="1500" b="0" i="0">
                <a:solidFill>
                  <a:srgbClr val="1A1440"/>
                </a:solidFill>
                <a:latin typeface="Calibri"/>
              </a:rPr>
              <a:t>Write the ceiling in the memo, since it assumes nothing about any other segment; bring the corrected route when someone argues for the season.</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Did the button do it?</a:t>
            </a:r>
          </a:p>
        </p:txBody>
      </p:sp>
      <p:sp>
        <p:nvSpPr>
          <p:cNvPr id="15" name="Oval 14"/>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081688"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Does it survive delivery?</a:t>
            </a:r>
          </a:p>
        </p:txBody>
      </p:sp>
      <p:sp>
        <p:nvSpPr>
          <p:cNvPr id="17" name="Oval 16"/>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70732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Where did we go wrong?</a:t>
            </a:r>
          </a:p>
        </p:txBody>
      </p:sp>
      <p:sp>
        <p:nvSpPr>
          <p:cNvPr id="19" name="Oval 18"/>
          <p:cNvSpPr/>
          <p:nvPr/>
        </p:nvSpPr>
        <p:spPr>
          <a:xfrm>
            <a:off x="50852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194934"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Is the tier healthy?</a:t>
            </a:r>
          </a:p>
        </p:txBody>
      </p:sp>
      <p:sp>
        <p:nvSpPr>
          <p:cNvPr id="21" name="Oval 20"/>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you say it aloud?</a:t>
            </a:r>
          </a:p>
        </p:txBody>
      </p:sp>
      <p:sp>
        <p:nvSpPr>
          <p:cNvPr id="23" name="Oval 22"/>
          <p:cNvSpPr/>
          <p:nvPr/>
        </p:nvSpPr>
        <p:spPr>
          <a:xfrm>
            <a:off x="792241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803214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So which branch moved?</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S14  ·  16 / 37</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Two hypotheses, each with the data that settles it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goes in Meera's memo, and what settles each hypothesis?</a:t>
            </a:r>
          </a:p>
        </p:txBody>
      </p:sp>
      <p:pic>
        <p:nvPicPr>
          <p:cNvPr id="9" name="mermaid diagram" descr="b0276012dc0e6dba.png"/>
          <p:cNvPicPr>
            <a:picLocks noChangeAspect="1"/>
          </p:cNvPicPr>
          <p:nvPr/>
        </p:nvPicPr>
        <p:blipFill>
          <a:blip r:embed="rId6"/>
          <a:stretch>
            <a:fillRect/>
          </a:stretch>
        </p:blipFill>
        <p:spPr>
          <a:xfrm>
            <a:off x="806107" y="1682496"/>
            <a:ext cx="4234815" cy="4517136"/>
          </a:xfrm>
          <a:prstGeom prst="rect">
            <a:avLst/>
          </a:prstGeom>
        </p:spPr>
      </p:pic>
      <p:sp>
        <p:nvSpPr>
          <p:cNvPr id="10" name="Rounded Rectangle 9"/>
          <p:cNvSpPr/>
          <p:nvPr/>
        </p:nvSpPr>
        <p:spPr>
          <a:xfrm>
            <a:off x="5761917" y="1956816"/>
            <a:ext cx="5899425" cy="189890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5990517" y="267766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list-checks_bd88901d2a37.png"/>
          <p:cNvPicPr>
            <a:picLocks noChangeAspect="1"/>
          </p:cNvPicPr>
          <p:nvPr/>
        </p:nvPicPr>
        <p:blipFill>
          <a:blip r:embed="rId5"/>
          <a:stretch>
            <a:fillRect/>
          </a:stretch>
        </p:blipFill>
        <p:spPr>
          <a:xfrm>
            <a:off x="6100245" y="2787396"/>
            <a:ext cx="237744" cy="237744"/>
          </a:xfrm>
          <a:prstGeom prst="rect">
            <a:avLst/>
          </a:prstGeom>
        </p:spPr>
      </p:pic>
      <p:sp>
        <p:nvSpPr>
          <p:cNvPr id="13" name="TextBox 12"/>
          <p:cNvSpPr txBox="1"/>
          <p:nvPr/>
        </p:nvSpPr>
        <p:spPr>
          <a:xfrm>
            <a:off x="6630597" y="2103120"/>
            <a:ext cx="4756425"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4" name="TextBox 13"/>
          <p:cNvSpPr txBox="1"/>
          <p:nvPr/>
        </p:nvSpPr>
        <p:spPr>
          <a:xfrm>
            <a:off x="6630597" y="2322576"/>
            <a:ext cx="4756425" cy="1459992"/>
          </a:xfrm>
          <a:prstGeom prst="rect">
            <a:avLst/>
          </a:prstGeom>
          <a:noFill/>
        </p:spPr>
        <p:txBody>
          <a:bodyPr wrap="square" anchor="t" lIns="0" rIns="0" tIns="0" bIns="0">
            <a:spAutoFit/>
          </a:bodyPr>
          <a:lstStyle/>
          <a:p>
            <a:r>
              <a:rPr sz="1500" b="0" i="0">
                <a:solidFill>
                  <a:srgbClr val="1A1440"/>
                </a:solidFill>
                <a:latin typeface="Calibri"/>
              </a:rPr>
              <a:t>What we know comes first and what we are guessing second, and each guess carries the data that would settle it. The rival, a monsoon dip that hit members harder, goes on the same request as last year's Q2 by segment.</a:t>
            </a:r>
          </a:p>
        </p:txBody>
      </p:sp>
      <p:sp>
        <p:nvSpPr>
          <p:cNvPr id="15" name="Oval 14"/>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Did the button do it?</a:t>
            </a:r>
          </a:p>
        </p:txBody>
      </p:sp>
      <p:sp>
        <p:nvSpPr>
          <p:cNvPr id="17" name="Oval 16"/>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081688"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Does it survive delivery?</a:t>
            </a:r>
          </a:p>
        </p:txBody>
      </p:sp>
      <p:sp>
        <p:nvSpPr>
          <p:cNvPr id="19" name="Oval 18"/>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70732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Where did we go wrong?</a:t>
            </a:r>
          </a:p>
        </p:txBody>
      </p:sp>
      <p:sp>
        <p:nvSpPr>
          <p:cNvPr id="21" name="Oval 20"/>
          <p:cNvSpPr/>
          <p:nvPr/>
        </p:nvSpPr>
        <p:spPr>
          <a:xfrm>
            <a:off x="50852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194934"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Is the tier healthy?</a:t>
            </a:r>
          </a:p>
        </p:txBody>
      </p:sp>
      <p:sp>
        <p:nvSpPr>
          <p:cNvPr id="23" name="Oval 22"/>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you say it aloud?</a:t>
            </a:r>
          </a:p>
        </p:txBody>
      </p:sp>
      <p:sp>
        <p:nvSpPr>
          <p:cNvPr id="25" name="Oval 24"/>
          <p:cNvSpPr/>
          <p:nvPr/>
        </p:nvSpPr>
        <p:spPr>
          <a:xfrm>
            <a:off x="792241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803214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So which branch moved?</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S15  ·  17 / 37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At most about 4 orders: the fall began in July</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Did the button do it, and what did each question on the way answer?</a:t>
            </a:r>
          </a:p>
        </p:txBody>
      </p:sp>
      <p:graphicFrame>
        <p:nvGraphicFramePr>
          <p:cNvPr id="9" name="Table 8"/>
          <p:cNvGraphicFramePr>
            <a:graphicFrameLocks noGrp="1"/>
          </p:cNvGraphicFramePr>
          <p:nvPr/>
        </p:nvGraphicFramePr>
        <p:xfrm>
          <a:off x="530352" y="1682496"/>
          <a:ext cx="11130990" cy="2176272"/>
        </p:xfrm>
        <a:graphic>
          <a:graphicData uri="http://schemas.openxmlformats.org/drawingml/2006/table">
            <a:tbl>
              <a:tblPr firstRow="0" bandRow="0">
                <a:tableStyleId>{2D5ABB26-0587-4C30-8999-92F81FD0307C}</a:tableStyleId>
              </a:tblPr>
              <a:tblGrid>
                <a:gridCol w="3847412"/>
                <a:gridCol w="7283578"/>
              </a:tblGrid>
              <a:tr h="310896">
                <a:tc>
                  <a:txBody>
                    <a:bodyPr/>
                    <a:lstStyle/>
                    <a:p>
                      <a:r>
                        <a:rPr sz="950" b="1" i="0">
                          <a:solidFill>
                            <a:srgbClr val="FFFFFF"/>
                          </a:solidFill>
                          <a:latin typeface="Calibri"/>
                        </a:rPr>
                        <a:t>Question</a:t>
                      </a:r>
                    </a:p>
                  </a:txBody>
                  <a:tcPr marL="101600" marR="101600" marT="38100" marB="38100" anchor="ctr">
                    <a:solidFill>
                      <a:srgbClr val="1A0F5C"/>
                    </a:solidFill>
                  </a:tcPr>
                </a:tc>
                <a:tc>
                  <a:txBody>
                    <a:bodyPr/>
                    <a:lstStyle/>
                    <a:p>
                      <a:r>
                        <a:rPr sz="950" b="1" i="0">
                          <a:solidFill>
                            <a:srgbClr val="FFFFFF"/>
                          </a:solidFill>
                          <a:latin typeface="Calibri"/>
                        </a:rPr>
                        <a:t>Answer</a:t>
                      </a:r>
                    </a:p>
                  </a:txBody>
                  <a:tcPr marL="101600" marR="101600" marT="38100" marB="38100" anchor="ctr">
                    <a:solidFill>
                      <a:srgbClr val="1A0F5C"/>
                    </a:solidFill>
                  </a:tcPr>
                </a:tc>
              </a:tr>
              <a:tr h="310896">
                <a:tc>
                  <a:txBody>
                    <a:bodyPr/>
                    <a:lstStyle/>
                    <a:p>
                      <a:r>
                        <a:rPr sz="900" b="0" i="0">
                          <a:solidFill>
                            <a:srgbClr val="1A1440"/>
                          </a:solidFill>
                          <a:latin typeface="Calibri"/>
                        </a:rPr>
                        <a:t>1. Which tests, in what order?</a:t>
                      </a:r>
                    </a:p>
                  </a:txBody>
                  <a:tcPr marL="101600" marR="101600" marT="38100" marB="38100" anchor="ctr">
                    <a:solidFill>
                      <a:srgbClr val="FFFFFF"/>
                    </a:solidFill>
                  </a:tcPr>
                </a:tc>
                <a:tc>
                  <a:txBody>
                    <a:bodyPr/>
                    <a:lstStyle/>
                    <a:p>
                      <a:r>
                        <a:rPr sz="900" b="0" i="0">
                          <a:solidFill>
                            <a:srgbClr val="1A1440"/>
                          </a:solidFill>
                          <a:latin typeface="Calibri"/>
                        </a:rPr>
                        <a:t>Timing, a segment, the channel; the logs requested</a:t>
                      </a:r>
                    </a:p>
                  </a:txBody>
                  <a:tcPr marL="101600" marR="101600" marT="38100" marB="38100" anchor="ctr">
                    <a:solidFill>
                      <a:srgbClr val="FFFFFF"/>
                    </a:solidFill>
                  </a:tcPr>
                </a:tc>
              </a:tr>
              <a:tr h="310896">
                <a:tc>
                  <a:txBody>
                    <a:bodyPr/>
                    <a:lstStyle/>
                    <a:p>
                      <a:r>
                        <a:rPr sz="900" b="0" i="0">
                          <a:solidFill>
                            <a:srgbClr val="1A1440"/>
                          </a:solidFill>
                          <a:latin typeface="Calibri"/>
                        </a:rPr>
                        <a:t>2. When did orders drop?</a:t>
                      </a:r>
                    </a:p>
                  </a:txBody>
                  <a:tcPr marL="101600" marR="101600" marT="38100" marB="38100" anchor="ctr">
                    <a:solidFill>
                      <a:srgbClr val="F4F2FA"/>
                    </a:solidFill>
                  </a:tcPr>
                </a:tc>
                <a:tc>
                  <a:txBody>
                    <a:bodyPr/>
                    <a:lstStyle/>
                    <a:p>
                      <a:r>
                        <a:rPr sz="900" b="0" i="0">
                          <a:solidFill>
                            <a:srgbClr val="1A1440"/>
                          </a:solidFill>
                          <a:latin typeface="Calibri"/>
                        </a:rPr>
                        <a:t>July, weeks before the 25 August break</a:t>
                      </a:r>
                    </a:p>
                  </a:txBody>
                  <a:tcPr marL="101600" marR="101600" marT="38100" marB="38100" anchor="ctr">
                    <a:solidFill>
                      <a:srgbClr val="F4F2FA"/>
                    </a:solidFill>
                  </a:tcPr>
                </a:tc>
              </a:tr>
              <a:tr h="310896">
                <a:tc>
                  <a:txBody>
                    <a:bodyPr/>
                    <a:lstStyle/>
                    <a:p>
                      <a:r>
                        <a:rPr sz="900" b="0" i="0">
                          <a:solidFill>
                            <a:srgbClr val="1A1440"/>
                          </a:solidFill>
                          <a:latin typeface="Calibri"/>
                        </a:rPr>
                        <a:t>3. How many did it cost?</a:t>
                      </a:r>
                    </a:p>
                  </a:txBody>
                  <a:tcPr marL="101600" marR="101600" marT="38100" marB="38100" anchor="ctr">
                    <a:solidFill>
                      <a:srgbClr val="FFFFFF"/>
                    </a:solidFill>
                  </a:tcPr>
                </a:tc>
                <a:tc>
                  <a:txBody>
                    <a:bodyPr/>
                    <a:lstStyle/>
                    <a:p>
                      <a:r>
                        <a:rPr sz="900" b="0" i="0">
                          <a:solidFill>
                            <a:srgbClr val="1A1440"/>
                          </a:solidFill>
                          <a:latin typeface="Calibri"/>
                        </a:rPr>
                        <a:t>At most about 4 orders; 7.0 on the shorter baseline</a:t>
                      </a:r>
                    </a:p>
                  </a:txBody>
                  <a:tcPr marL="101600" marR="101600" marT="38100" marB="38100" anchor="ctr">
                    <a:solidFill>
                      <a:srgbClr val="FFFFFF"/>
                    </a:solidFill>
                  </a:tcPr>
                </a:tc>
              </a:tr>
              <a:tr h="310896">
                <a:tc>
                  <a:txBody>
                    <a:bodyPr/>
                    <a:lstStyle/>
                    <a:p>
                      <a:r>
                        <a:rPr sz="900" b="0" i="0">
                          <a:solidFill>
                            <a:srgbClr val="1A1440"/>
                          </a:solidFill>
                          <a:latin typeface="Calibri"/>
                        </a:rPr>
                        <a:t>4. A season for everyone?</a:t>
                      </a:r>
                    </a:p>
                  </a:txBody>
                  <a:tcPr marL="101600" marR="101600" marT="38100" marB="38100" anchor="ctr">
                    <a:solidFill>
                      <a:srgbClr val="F4F2FA"/>
                    </a:solidFill>
                  </a:tcPr>
                </a:tc>
                <a:tc>
                  <a:txBody>
                    <a:bodyPr/>
                    <a:lstStyle/>
                    <a:p>
                      <a:r>
                        <a:rPr sz="900" b="0" i="0">
                          <a:solidFill>
                            <a:srgbClr val="1A1440"/>
                          </a:solidFill>
                          <a:latin typeface="Calibri"/>
                        </a:rPr>
                        <a:t>No: Retail-Core kept 95 percent; a members-only dip stays open</a:t>
                      </a:r>
                    </a:p>
                  </a:txBody>
                  <a:tcPr marL="101600" marR="101600" marT="38100" marB="38100" anchor="ctr">
                    <a:solidFill>
                      <a:srgbClr val="F4F2FA"/>
                    </a:solidFill>
                  </a:tcPr>
                </a:tc>
              </a:tr>
              <a:tr h="310896">
                <a:tc>
                  <a:txBody>
                    <a:bodyPr/>
                    <a:lstStyle/>
                    <a:p>
                      <a:r>
                        <a:rPr sz="900" b="0" i="0">
                          <a:solidFill>
                            <a:srgbClr val="1A1440"/>
                          </a:solidFill>
                          <a:latin typeface="Calibri"/>
                        </a:rPr>
                        <a:t>5. Only the app?</a:t>
                      </a:r>
                    </a:p>
                  </a:txBody>
                  <a:tcPr marL="101600" marR="101600" marT="38100" marB="38100" anchor="ctr">
                    <a:solidFill>
                      <a:srgbClr val="FFFFFF"/>
                    </a:solidFill>
                  </a:tcPr>
                </a:tc>
                <a:tc>
                  <a:txBody>
                    <a:bodyPr/>
                    <a:lstStyle/>
                    <a:p>
                      <a:r>
                        <a:rPr sz="900" b="0" i="0">
                          <a:solidFill>
                            <a:srgbClr val="1A1440"/>
                          </a:solidFill>
                          <a:latin typeface="Calibri"/>
                        </a:rPr>
                        <a:t>No: web, store and app all fell</a:t>
                      </a:r>
                    </a:p>
                  </a:txBody>
                  <a:tcPr marL="101600" marR="101600" marT="38100" marB="38100" anchor="ctr">
                    <a:solidFill>
                      <a:srgbClr val="FFFFFF"/>
                    </a:solidFill>
                  </a:tcPr>
                </a:tc>
              </a:tr>
              <a:tr h="310896">
                <a:tc>
                  <a:txBody>
                    <a:bodyPr/>
                    <a:lstStyle/>
                    <a:p>
                      <a:r>
                        <a:rPr sz="900" b="0" i="0">
                          <a:solidFill>
                            <a:srgbClr val="1A1440"/>
                          </a:solidFill>
                          <a:latin typeface="Calibri"/>
                        </a:rPr>
                        <a:t>6. Does a corrected pace agree?</a:t>
                      </a:r>
                    </a:p>
                  </a:txBody>
                  <a:tcPr marL="101600" marR="101600" marT="38100" marB="38100" anchor="ctr">
                    <a:solidFill>
                      <a:srgbClr val="F4F2FA"/>
                    </a:solidFill>
                  </a:tcPr>
                </a:tc>
                <a:tc>
                  <a:txBody>
                    <a:bodyPr/>
                    <a:lstStyle/>
                    <a:p>
                      <a:r>
                        <a:rPr sz="900" b="0" i="0">
                          <a:solidFill>
                            <a:srgbClr val="1A1440"/>
                          </a:solidFill>
                          <a:latin typeface="Calibri"/>
                        </a:rPr>
                        <a:t>Yes: about 3.5 orders, inside the ceiling</a:t>
                      </a:r>
                    </a:p>
                  </a:txBody>
                  <a:tcPr marL="101600" marR="101600" marT="38100" marB="38100" anchor="ctr">
                    <a:solidFill>
                      <a:srgbClr val="F4F2FA"/>
                    </a:solidFill>
                  </a:tcPr>
                </a:tc>
              </a:tr>
            </a:tbl>
          </a:graphicData>
        </a:graphic>
      </p:graphicFrame>
      <p:sp>
        <p:nvSpPr>
          <p:cNvPr id="10" name="Rounded Rectangle 9"/>
          <p:cNvSpPr/>
          <p:nvPr/>
        </p:nvSpPr>
        <p:spPr>
          <a:xfrm>
            <a:off x="530352" y="4114800"/>
            <a:ext cx="11130991" cy="94894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360672"/>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earch-check_6571e64a041f.png"/>
          <p:cNvPicPr>
            <a:picLocks noChangeAspect="1"/>
          </p:cNvPicPr>
          <p:nvPr/>
        </p:nvPicPr>
        <p:blipFill>
          <a:blip r:embed="rId4"/>
          <a:stretch>
            <a:fillRect/>
          </a:stretch>
        </p:blipFill>
        <p:spPr>
          <a:xfrm>
            <a:off x="868680" y="4470400"/>
            <a:ext cx="237744" cy="237744"/>
          </a:xfrm>
          <a:prstGeom prst="rect">
            <a:avLst/>
          </a:prstGeom>
        </p:spPr>
      </p:pic>
      <p:sp>
        <p:nvSpPr>
          <p:cNvPr id="13" name="TextBox 12"/>
          <p:cNvSpPr txBox="1"/>
          <p:nvPr/>
        </p:nvSpPr>
        <p:spPr>
          <a:xfrm>
            <a:off x="1399031" y="4261104"/>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4" name="TextBox 13"/>
          <p:cNvSpPr txBox="1"/>
          <p:nvPr/>
        </p:nvSpPr>
        <p:spPr>
          <a:xfrm>
            <a:off x="1399031" y="4480560"/>
            <a:ext cx="9987991" cy="510032"/>
          </a:xfrm>
          <a:prstGeom prst="rect">
            <a:avLst/>
          </a:prstGeom>
          <a:noFill/>
        </p:spPr>
        <p:txBody>
          <a:bodyPr wrap="square" anchor="t" lIns="0" rIns="0" tIns="0" bIns="0">
            <a:spAutoFit/>
          </a:bodyPr>
          <a:lstStyle/>
          <a:p>
            <a:r>
              <a:rPr sz="1000" b="0" i="0">
                <a:solidFill>
                  <a:srgbClr val="1A1440"/>
                </a:solidFill>
                <a:latin typeface="Calibri"/>
              </a:rPr>
              <a:t>"You gave the tier's head a number for his cause, a ceiling of about 4 orders, and named the data that would settle it. Say what you know, then what you are guessing, and stop."</a:t>
            </a:r>
          </a:p>
        </p:txBody>
      </p:sp>
      <p:sp>
        <p:nvSpPr>
          <p:cNvPr id="15" name="Rounded Rectangle 14"/>
          <p:cNvSpPr/>
          <p:nvPr/>
        </p:nvSpPr>
        <p:spPr>
          <a:xfrm>
            <a:off x="530352" y="5228336"/>
            <a:ext cx="11130991" cy="822960"/>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758952" y="541121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mic_caee7398c80d.png"/>
          <p:cNvPicPr>
            <a:picLocks noChangeAspect="1"/>
          </p:cNvPicPr>
          <p:nvPr/>
        </p:nvPicPr>
        <p:blipFill>
          <a:blip r:embed="rId5"/>
          <a:stretch>
            <a:fillRect/>
          </a:stretch>
        </p:blipFill>
        <p:spPr>
          <a:xfrm>
            <a:off x="868680" y="5520944"/>
            <a:ext cx="237744" cy="237744"/>
          </a:xfrm>
          <a:prstGeom prst="rect">
            <a:avLst/>
          </a:prstGeom>
        </p:spPr>
      </p:pic>
      <p:sp>
        <p:nvSpPr>
          <p:cNvPr id="18" name="TextBox 17"/>
          <p:cNvSpPr txBox="1"/>
          <p:nvPr/>
        </p:nvSpPr>
        <p:spPr>
          <a:xfrm>
            <a:off x="1399031" y="537464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9" name="TextBox 18"/>
          <p:cNvSpPr txBox="1"/>
          <p:nvPr/>
        </p:nvSpPr>
        <p:spPr>
          <a:xfrm>
            <a:off x="1399031" y="5594096"/>
            <a:ext cx="9987991" cy="384048"/>
          </a:xfrm>
          <a:prstGeom prst="rect">
            <a:avLst/>
          </a:prstGeom>
          <a:noFill/>
        </p:spPr>
        <p:txBody>
          <a:bodyPr wrap="square" anchor="t" lIns="0" rIns="0" tIns="0" bIns="0">
            <a:spAutoFit/>
          </a:bodyPr>
          <a:lstStyle/>
          <a:p>
            <a:r>
              <a:rPr sz="1000" b="0" i="0">
                <a:solidFill>
                  <a:srgbClr val="1A1440"/>
                </a:solidFill>
                <a:latin typeface="Calibri"/>
              </a:rPr>
              <a:t>[D] A stakeholder hands you a cause; how do you test it with the data you have and name the data you need?</a:t>
            </a:r>
          </a:p>
        </p:txBody>
      </p:sp>
      <p:sp>
        <p:nvSpPr>
          <p:cNvPr id="20" name="Oval 19"/>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Did the button do it?</a:t>
            </a:r>
          </a:p>
        </p:txBody>
      </p:sp>
      <p:sp>
        <p:nvSpPr>
          <p:cNvPr id="22" name="Oval 21"/>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2081688"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Does it survive delivery?</a:t>
            </a:r>
          </a:p>
        </p:txBody>
      </p:sp>
      <p:sp>
        <p:nvSpPr>
          <p:cNvPr id="24" name="Oval 23"/>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70732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Where did we go wrong?</a:t>
            </a:r>
          </a:p>
        </p:txBody>
      </p:sp>
      <p:sp>
        <p:nvSpPr>
          <p:cNvPr id="26" name="Oval 25"/>
          <p:cNvSpPr/>
          <p:nvPr/>
        </p:nvSpPr>
        <p:spPr>
          <a:xfrm>
            <a:off x="50852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5194934"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Is the tier healthy?</a:t>
            </a:r>
          </a:p>
        </p:txBody>
      </p:sp>
      <p:sp>
        <p:nvSpPr>
          <p:cNvPr id="28" name="Oval 27"/>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you say it aloud?</a:t>
            </a:r>
          </a:p>
        </p:txBody>
      </p:sp>
      <p:sp>
        <p:nvSpPr>
          <p:cNvPr id="30" name="Oval 29"/>
          <p:cNvSpPr/>
          <p:nvPr/>
        </p:nvSpPr>
        <p:spPr>
          <a:xfrm>
            <a:off x="792241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803214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So which branch moved?</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S16  ·  18 / 37</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07</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Does it survive delivery?</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Does the story survive when revenue counts only the orders that reached customers and stayed?</a:t>
            </a:r>
          </a:p>
        </p:txBody>
      </p:sp>
      <p:sp>
        <p:nvSpPr>
          <p:cNvPr id="10" name="Rounded Rectangle 9"/>
          <p:cNvSpPr/>
          <p:nvPr/>
        </p:nvSpPr>
        <p:spPr>
          <a:xfrm>
            <a:off x="731519" y="5074920"/>
            <a:ext cx="160929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Did the button do it?</a:t>
            </a:r>
          </a:p>
        </p:txBody>
      </p:sp>
      <p:sp>
        <p:nvSpPr>
          <p:cNvPr id="11" name="Rounded Rectangle 10"/>
          <p:cNvSpPr/>
          <p:nvPr/>
        </p:nvSpPr>
        <p:spPr>
          <a:xfrm>
            <a:off x="2450543" y="5074920"/>
            <a:ext cx="1846159"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Does it survive delivery?</a:t>
            </a:r>
          </a:p>
        </p:txBody>
      </p:sp>
      <p:sp>
        <p:nvSpPr>
          <p:cNvPr id="12" name="Rounded Rectangle 11"/>
          <p:cNvSpPr/>
          <p:nvPr/>
        </p:nvSpPr>
        <p:spPr>
          <a:xfrm>
            <a:off x="4406430"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Where did we go wrong?</a:t>
            </a:r>
          </a:p>
        </p:txBody>
      </p:sp>
      <p:sp>
        <p:nvSpPr>
          <p:cNvPr id="13" name="Rounded Rectangle 12"/>
          <p:cNvSpPr/>
          <p:nvPr/>
        </p:nvSpPr>
        <p:spPr>
          <a:xfrm>
            <a:off x="6184670" y="5074920"/>
            <a:ext cx="155007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Is the tier healthy?</a:t>
            </a:r>
          </a:p>
        </p:txBody>
      </p:sp>
      <p:sp>
        <p:nvSpPr>
          <p:cNvPr id="14" name="Rounded Rectangle 13"/>
          <p:cNvSpPr/>
          <p:nvPr/>
        </p:nvSpPr>
        <p:spPr>
          <a:xfrm>
            <a:off x="7844477" y="5074920"/>
            <a:ext cx="160929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Can you say it aloud?</a:t>
            </a:r>
          </a:p>
        </p:txBody>
      </p:sp>
      <p:sp>
        <p:nvSpPr>
          <p:cNvPr id="15" name="Rounded Rectangle 14"/>
          <p:cNvSpPr/>
          <p:nvPr/>
        </p:nvSpPr>
        <p:spPr>
          <a:xfrm>
            <a:off x="9563501"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So which branch moved?</a:t>
            </a:r>
          </a:p>
        </p:txBody>
      </p:sp>
      <p:sp>
        <p:nvSpPr>
          <p:cNvPr id="16" name="TextBox 15"/>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2. Did the reorder button do it?</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19 / 37</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it in five parts, on delivered orders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Meera ask about delivered orders, and in what order do you answer it?</a:t>
            </a:r>
          </a:p>
        </p:txBody>
      </p:sp>
      <p:sp>
        <p:nvSpPr>
          <p:cNvPr id="9" name="Rounded Rectangle 8"/>
          <p:cNvSpPr/>
          <p:nvPr/>
        </p:nvSpPr>
        <p:spPr>
          <a:xfrm>
            <a:off x="530352" y="1956816"/>
            <a:ext cx="11130991" cy="112166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58952" y="228904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message-square_028dbd132a0a.png"/>
          <p:cNvPicPr>
            <a:picLocks noChangeAspect="1"/>
          </p:cNvPicPr>
          <p:nvPr/>
        </p:nvPicPr>
        <p:blipFill>
          <a:blip r:embed="rId4"/>
          <a:stretch>
            <a:fillRect/>
          </a:stretch>
        </p:blipFill>
        <p:spPr>
          <a:xfrm>
            <a:off x="868680" y="2398776"/>
            <a:ext cx="237744" cy="237744"/>
          </a:xfrm>
          <a:prstGeom prst="rect">
            <a:avLst/>
          </a:prstGeom>
        </p:spPr>
      </p:pic>
      <p:sp>
        <p:nvSpPr>
          <p:cNvPr id="12" name="TextBox 11"/>
          <p:cNvSpPr txBox="1"/>
          <p:nvPr/>
        </p:nvSpPr>
        <p:spPr>
          <a:xfrm>
            <a:off x="1399031" y="2103120"/>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13" name="TextBox 12"/>
          <p:cNvSpPr txBox="1"/>
          <p:nvPr/>
        </p:nvSpPr>
        <p:spPr>
          <a:xfrm>
            <a:off x="1399031" y="2322576"/>
            <a:ext cx="9987991" cy="682752"/>
          </a:xfrm>
          <a:prstGeom prst="rect">
            <a:avLst/>
          </a:prstGeom>
          <a:noFill/>
        </p:spPr>
        <p:txBody>
          <a:bodyPr wrap="square" anchor="t" lIns="0" rIns="0" tIns="0" bIns="0">
            <a:spAutoFit/>
          </a:bodyPr>
          <a:lstStyle/>
          <a:p>
            <a:r>
              <a:rPr sz="1500" b="0" i="0">
                <a:solidFill>
                  <a:srgbClr val="FFFFFF"/>
                </a:solidFill>
                <a:latin typeface="Calibri"/>
              </a:rPr>
              <a:t>"The board pack reports revenue on orders that reached the customer and stayed there. Does your story survive on delivered orders? Which branch, which segment, and what would you bet on?"</a:t>
            </a:r>
          </a:p>
        </p:txBody>
      </p:sp>
      <p:sp>
        <p:nvSpPr>
          <p:cNvPr id="14" name="Rectangle 13"/>
          <p:cNvSpPr/>
          <p:nvPr/>
        </p:nvSpPr>
        <p:spPr>
          <a:xfrm>
            <a:off x="1570299" y="3810000"/>
            <a:ext cx="905109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530352" y="3243072"/>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PART 1</a:t>
            </a:r>
          </a:p>
        </p:txBody>
      </p:sp>
      <p:sp>
        <p:nvSpPr>
          <p:cNvPr id="16" name="Oval 15"/>
          <p:cNvSpPr/>
          <p:nvPr/>
        </p:nvSpPr>
        <p:spPr>
          <a:xfrm>
            <a:off x="1469715" y="3718560"/>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530352" y="4130040"/>
            <a:ext cx="2079894"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94944" y="4276344"/>
            <a:ext cx="1750710" cy="465836"/>
          </a:xfrm>
          <a:prstGeom prst="rect">
            <a:avLst/>
          </a:prstGeom>
          <a:noFill/>
        </p:spPr>
        <p:txBody>
          <a:bodyPr wrap="square" anchor="t" lIns="0" rIns="0" tIns="0" bIns="0">
            <a:spAutoFit/>
          </a:bodyPr>
          <a:lstStyle/>
          <a:p>
            <a:pPr algn="l"/>
            <a:r>
              <a:rPr sz="1300" b="1" i="0">
                <a:solidFill>
                  <a:srgbClr val="1A0F5C"/>
                </a:solidFill>
                <a:latin typeface="Calibri"/>
              </a:rPr>
              <a:t>Is the delivered drop real?</a:t>
            </a:r>
          </a:p>
        </p:txBody>
      </p:sp>
      <p:sp>
        <p:nvSpPr>
          <p:cNvPr id="19" name="TextBox 18"/>
          <p:cNvSpPr txBox="1"/>
          <p:nvPr/>
        </p:nvSpPr>
        <p:spPr>
          <a:xfrm>
            <a:off x="694944" y="4778756"/>
            <a:ext cx="1750710" cy="366776"/>
          </a:xfrm>
          <a:prstGeom prst="rect">
            <a:avLst/>
          </a:prstGeom>
          <a:noFill/>
        </p:spPr>
        <p:txBody>
          <a:bodyPr wrap="square" anchor="t" lIns="0" rIns="0" tIns="0" bIns="0">
            <a:spAutoFit/>
          </a:bodyPr>
          <a:lstStyle/>
          <a:p>
            <a:pPr algn="l"/>
            <a:r>
              <a:rPr sz="1000" b="0" i="0">
                <a:solidFill>
                  <a:srgbClr val="6B6690"/>
                </a:solidFill>
                <a:latin typeface="Calibri"/>
              </a:rPr>
              <a:t>Filter to delivered orders; compare closed quarters.</a:t>
            </a:r>
          </a:p>
        </p:txBody>
      </p:sp>
      <p:sp>
        <p:nvSpPr>
          <p:cNvPr id="20" name="TextBox 19"/>
          <p:cNvSpPr txBox="1"/>
          <p:nvPr/>
        </p:nvSpPr>
        <p:spPr>
          <a:xfrm>
            <a:off x="2793126" y="3243072"/>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PART 2</a:t>
            </a:r>
          </a:p>
        </p:txBody>
      </p:sp>
      <p:sp>
        <p:nvSpPr>
          <p:cNvPr id="21" name="Oval 20"/>
          <p:cNvSpPr/>
          <p:nvPr/>
        </p:nvSpPr>
        <p:spPr>
          <a:xfrm>
            <a:off x="3732489" y="3718560"/>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2793126" y="4130040"/>
            <a:ext cx="2079894"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2957718" y="4276344"/>
            <a:ext cx="1750710" cy="251205"/>
          </a:xfrm>
          <a:prstGeom prst="rect">
            <a:avLst/>
          </a:prstGeom>
          <a:noFill/>
        </p:spPr>
        <p:txBody>
          <a:bodyPr wrap="square" anchor="t" lIns="0" rIns="0" tIns="0" bIns="0">
            <a:spAutoFit/>
          </a:bodyPr>
          <a:lstStyle/>
          <a:p>
            <a:pPr algn="l"/>
            <a:r>
              <a:rPr sz="1300" b="1" i="0">
                <a:solidFill>
                  <a:srgbClr val="1A0F5C"/>
                </a:solidFill>
                <a:latin typeface="Calibri"/>
              </a:rPr>
              <a:t>Which branch moves?</a:t>
            </a:r>
          </a:p>
        </p:txBody>
      </p:sp>
      <p:sp>
        <p:nvSpPr>
          <p:cNvPr id="24" name="TextBox 23"/>
          <p:cNvSpPr txBox="1"/>
          <p:nvPr/>
        </p:nvSpPr>
        <p:spPr>
          <a:xfrm>
            <a:off x="2957718" y="4564126"/>
            <a:ext cx="1750710" cy="366776"/>
          </a:xfrm>
          <a:prstGeom prst="rect">
            <a:avLst/>
          </a:prstGeom>
          <a:noFill/>
        </p:spPr>
        <p:txBody>
          <a:bodyPr wrap="square" anchor="t" lIns="0" rIns="0" tIns="0" bIns="0">
            <a:spAutoFit/>
          </a:bodyPr>
          <a:lstStyle/>
          <a:p>
            <a:pPr algn="l"/>
            <a:r>
              <a:rPr sz="1000" b="0" i="0">
                <a:solidFill>
                  <a:srgbClr val="6B6690"/>
                </a:solidFill>
                <a:latin typeface="Calibri"/>
              </a:rPr>
              <a:t>A bridge in the tree's order, one leaf at a time.</a:t>
            </a:r>
          </a:p>
        </p:txBody>
      </p:sp>
      <p:sp>
        <p:nvSpPr>
          <p:cNvPr id="25" name="TextBox 24"/>
          <p:cNvSpPr txBox="1"/>
          <p:nvPr/>
        </p:nvSpPr>
        <p:spPr>
          <a:xfrm>
            <a:off x="5055900" y="3243072"/>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PART 3</a:t>
            </a:r>
          </a:p>
        </p:txBody>
      </p:sp>
      <p:sp>
        <p:nvSpPr>
          <p:cNvPr id="26" name="Oval 25"/>
          <p:cNvSpPr/>
          <p:nvPr/>
        </p:nvSpPr>
        <p:spPr>
          <a:xfrm>
            <a:off x="5995263" y="3718560"/>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Rounded Rectangle 26"/>
          <p:cNvSpPr/>
          <p:nvPr/>
        </p:nvSpPr>
        <p:spPr>
          <a:xfrm>
            <a:off x="5055900" y="4130040"/>
            <a:ext cx="2079894"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5220492" y="4276344"/>
            <a:ext cx="1750710" cy="465836"/>
          </a:xfrm>
          <a:prstGeom prst="rect">
            <a:avLst/>
          </a:prstGeom>
          <a:noFill/>
        </p:spPr>
        <p:txBody>
          <a:bodyPr wrap="square" anchor="t" lIns="0" rIns="0" tIns="0" bIns="0">
            <a:spAutoFit/>
          </a:bodyPr>
          <a:lstStyle/>
          <a:p>
            <a:pPr algn="l"/>
            <a:r>
              <a:rPr sz="1300" b="1" i="0">
                <a:solidFill>
                  <a:srgbClr val="1A0F5C"/>
                </a:solidFill>
                <a:latin typeface="Calibri"/>
              </a:rPr>
              <a:t>Are those lost customers?</a:t>
            </a:r>
          </a:p>
        </p:txBody>
      </p:sp>
      <p:sp>
        <p:nvSpPr>
          <p:cNvPr id="29" name="TextBox 28"/>
          <p:cNvSpPr txBox="1"/>
          <p:nvPr/>
        </p:nvSpPr>
        <p:spPr>
          <a:xfrm>
            <a:off x="5220492" y="4778756"/>
            <a:ext cx="1750710" cy="531876"/>
          </a:xfrm>
          <a:prstGeom prst="rect">
            <a:avLst/>
          </a:prstGeom>
          <a:noFill/>
        </p:spPr>
        <p:txBody>
          <a:bodyPr wrap="square" anchor="t" lIns="0" rIns="0" tIns="0" bIns="0">
            <a:spAutoFit/>
          </a:bodyPr>
          <a:lstStyle/>
          <a:p>
            <a:pPr algn="l"/>
            <a:r>
              <a:rPr sz="1000" b="0" i="0">
                <a:solidFill>
                  <a:srgbClr val="6B6690"/>
                </a:solidFill>
                <a:latin typeface="Calibri"/>
              </a:rPr>
              <a:t>Find out what the customers who left the count did in Q2.</a:t>
            </a:r>
          </a:p>
        </p:txBody>
      </p:sp>
      <p:sp>
        <p:nvSpPr>
          <p:cNvPr id="30" name="TextBox 29"/>
          <p:cNvSpPr txBox="1"/>
          <p:nvPr/>
        </p:nvSpPr>
        <p:spPr>
          <a:xfrm>
            <a:off x="7318674" y="3243072"/>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PART 4</a:t>
            </a:r>
          </a:p>
        </p:txBody>
      </p:sp>
      <p:sp>
        <p:nvSpPr>
          <p:cNvPr id="31" name="Oval 30"/>
          <p:cNvSpPr/>
          <p:nvPr/>
        </p:nvSpPr>
        <p:spPr>
          <a:xfrm>
            <a:off x="8258037" y="3718560"/>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Rounded Rectangle 31"/>
          <p:cNvSpPr/>
          <p:nvPr/>
        </p:nvSpPr>
        <p:spPr>
          <a:xfrm>
            <a:off x="7318674" y="4130040"/>
            <a:ext cx="2079894"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7483266" y="4276344"/>
            <a:ext cx="1750710" cy="251205"/>
          </a:xfrm>
          <a:prstGeom prst="rect">
            <a:avLst/>
          </a:prstGeom>
          <a:noFill/>
        </p:spPr>
        <p:txBody>
          <a:bodyPr wrap="square" anchor="t" lIns="0" rIns="0" tIns="0" bIns="0">
            <a:spAutoFit/>
          </a:bodyPr>
          <a:lstStyle/>
          <a:p>
            <a:pPr algn="l"/>
            <a:r>
              <a:rPr sz="1300" b="1" i="0">
                <a:solidFill>
                  <a:srgbClr val="1A0F5C"/>
                </a:solidFill>
                <a:latin typeface="Calibri"/>
              </a:rPr>
              <a:t>Which segment moves?</a:t>
            </a:r>
          </a:p>
        </p:txBody>
      </p:sp>
      <p:sp>
        <p:nvSpPr>
          <p:cNvPr id="34" name="TextBox 33"/>
          <p:cNvSpPr txBox="1"/>
          <p:nvPr/>
        </p:nvSpPr>
        <p:spPr>
          <a:xfrm>
            <a:off x="7483266" y="4564126"/>
            <a:ext cx="1750710" cy="531876"/>
          </a:xfrm>
          <a:prstGeom prst="rect">
            <a:avLst/>
          </a:prstGeom>
          <a:noFill/>
        </p:spPr>
        <p:txBody>
          <a:bodyPr wrap="square" anchor="t" lIns="0" rIns="0" tIns="0" bIns="0">
            <a:spAutoFit/>
          </a:bodyPr>
          <a:lstStyle/>
          <a:p>
            <a:pPr algn="l"/>
            <a:r>
              <a:rPr sz="1000" b="0" i="0">
                <a:solidFill>
                  <a:srgbClr val="6B6690"/>
                </a:solidFill>
                <a:latin typeface="Calibri"/>
              </a:rPr>
              <a:t>tree_for per segment, the rate rolled up, every group counted.</a:t>
            </a:r>
          </a:p>
        </p:txBody>
      </p:sp>
      <p:sp>
        <p:nvSpPr>
          <p:cNvPr id="35" name="TextBox 34"/>
          <p:cNvSpPr txBox="1"/>
          <p:nvPr/>
        </p:nvSpPr>
        <p:spPr>
          <a:xfrm>
            <a:off x="9581448" y="3243072"/>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PART 5</a:t>
            </a:r>
          </a:p>
        </p:txBody>
      </p:sp>
      <p:sp>
        <p:nvSpPr>
          <p:cNvPr id="36" name="Oval 35"/>
          <p:cNvSpPr/>
          <p:nvPr/>
        </p:nvSpPr>
        <p:spPr>
          <a:xfrm>
            <a:off x="10520812" y="3718560"/>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Rounded Rectangle 36"/>
          <p:cNvSpPr/>
          <p:nvPr/>
        </p:nvSpPr>
        <p:spPr>
          <a:xfrm>
            <a:off x="9581448" y="4130040"/>
            <a:ext cx="2079894" cy="124968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9746040" y="4276344"/>
            <a:ext cx="1750710" cy="251205"/>
          </a:xfrm>
          <a:prstGeom prst="rect">
            <a:avLst/>
          </a:prstGeom>
          <a:noFill/>
        </p:spPr>
        <p:txBody>
          <a:bodyPr wrap="square" anchor="t" lIns="0" rIns="0" tIns="0" bIns="0">
            <a:spAutoFit/>
          </a:bodyPr>
          <a:lstStyle/>
          <a:p>
            <a:pPr algn="l"/>
            <a:r>
              <a:rPr sz="1300" b="1" i="0">
                <a:solidFill>
                  <a:srgbClr val="FFFFFF"/>
                </a:solidFill>
                <a:latin typeface="Calibri"/>
              </a:rPr>
              <a:t>Mix or rate?</a:t>
            </a:r>
          </a:p>
        </p:txBody>
      </p:sp>
      <p:sp>
        <p:nvSpPr>
          <p:cNvPr id="39" name="TextBox 38"/>
          <p:cNvSpPr txBox="1"/>
          <p:nvPr/>
        </p:nvSpPr>
        <p:spPr>
          <a:xfrm>
            <a:off x="9746040" y="4564126"/>
            <a:ext cx="1750710" cy="366776"/>
          </a:xfrm>
          <a:prstGeom prst="rect">
            <a:avLst/>
          </a:prstGeom>
          <a:noFill/>
        </p:spPr>
        <p:txBody>
          <a:bodyPr wrap="square" anchor="t" lIns="0" rIns="0" tIns="0" bIns="0">
            <a:spAutoFit/>
          </a:bodyPr>
          <a:lstStyle/>
          <a:p>
            <a:pPr algn="l"/>
            <a:r>
              <a:rPr sz="1000" b="0" i="0">
                <a:solidFill>
                  <a:srgbClr val="CFC9EE"/>
                </a:solidFill>
                <a:latin typeface="Calibri"/>
              </a:rPr>
              <a:t>The split, and the sentence to Meera.</a:t>
            </a:r>
          </a:p>
        </p:txBody>
      </p:sp>
      <p:sp>
        <p:nvSpPr>
          <p:cNvPr id="40" name="Oval 3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Did the button do it?</a:t>
            </a:r>
          </a:p>
        </p:txBody>
      </p:sp>
      <p:sp>
        <p:nvSpPr>
          <p:cNvPr id="42" name="Oval 41"/>
          <p:cNvSpPr/>
          <p:nvPr/>
        </p:nvSpPr>
        <p:spPr>
          <a:xfrm>
            <a:off x="197196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2081688"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Does it survive delivery?</a:t>
            </a:r>
          </a:p>
        </p:txBody>
      </p:sp>
      <p:sp>
        <p:nvSpPr>
          <p:cNvPr id="44" name="Oval 43"/>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370732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Where did we go wrong?</a:t>
            </a:r>
          </a:p>
        </p:txBody>
      </p:sp>
      <p:sp>
        <p:nvSpPr>
          <p:cNvPr id="46" name="Oval 45"/>
          <p:cNvSpPr/>
          <p:nvPr/>
        </p:nvSpPr>
        <p:spPr>
          <a:xfrm>
            <a:off x="50852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7" name="TextBox 46"/>
          <p:cNvSpPr txBox="1"/>
          <p:nvPr/>
        </p:nvSpPr>
        <p:spPr>
          <a:xfrm>
            <a:off x="5194934"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Is the tier healthy?</a:t>
            </a:r>
          </a:p>
        </p:txBody>
      </p:sp>
      <p:sp>
        <p:nvSpPr>
          <p:cNvPr id="48" name="Oval 47"/>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9" name="TextBox 48"/>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you say it aloud?</a:t>
            </a:r>
          </a:p>
        </p:txBody>
      </p:sp>
      <p:sp>
        <p:nvSpPr>
          <p:cNvPr id="50" name="Oval 49"/>
          <p:cNvSpPr/>
          <p:nvPr/>
        </p:nvSpPr>
        <p:spPr>
          <a:xfrm>
            <a:off x="792241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1" name="TextBox 50"/>
          <p:cNvSpPr txBox="1"/>
          <p:nvPr/>
        </p:nvSpPr>
        <p:spPr>
          <a:xfrm>
            <a:off x="803214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So which branch moved?</a:t>
            </a:r>
          </a:p>
        </p:txBody>
      </p:sp>
      <p:sp>
        <p:nvSpPr>
          <p:cNvPr id="52" name="TextBox 5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S17  ·  20 / 37</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You hand in seven checked picks and one sentence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 you hand in, and how do you know each choice holds?</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5</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PARTS</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one item each in the brief</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7</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LETTERED TODOS</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each with a check that says if it holds</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1</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SENTENCE TO MEERA</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branch, segment, hypotheses</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758952" y="375208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list-checks_bd88901d2a37.png"/>
          <p:cNvPicPr>
            <a:picLocks noChangeAspect="1"/>
          </p:cNvPicPr>
          <p:nvPr/>
        </p:nvPicPr>
        <p:blipFill>
          <a:blip r:embed="rId4"/>
          <a:stretch>
            <a:fillRect/>
          </a:stretch>
        </p:blipFill>
        <p:spPr>
          <a:xfrm>
            <a:off x="868680" y="3861816"/>
            <a:ext cx="237744" cy="237744"/>
          </a:xfrm>
          <a:prstGeom prst="rect">
            <a:avLst/>
          </a:prstGeom>
        </p:spPr>
      </p:pic>
      <p:sp>
        <p:nvSpPr>
          <p:cNvPr id="24" name="TextBox 23"/>
          <p:cNvSpPr txBox="1"/>
          <p:nvPr/>
        </p:nvSpPr>
        <p:spPr>
          <a:xfrm>
            <a:off x="1399031" y="356616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25" name="TextBox 24"/>
          <p:cNvSpPr txBox="1"/>
          <p:nvPr/>
        </p:nvSpPr>
        <p:spPr>
          <a:xfrm>
            <a:off x="1399031" y="3785616"/>
            <a:ext cx="9987991" cy="682752"/>
          </a:xfrm>
          <a:prstGeom prst="rect">
            <a:avLst/>
          </a:prstGeom>
          <a:noFill/>
        </p:spPr>
        <p:txBody>
          <a:bodyPr wrap="square" anchor="t" lIns="0" rIns="0" tIns="0" bIns="0">
            <a:spAutoFit/>
          </a:bodyPr>
          <a:lstStyle/>
          <a:p>
            <a:r>
              <a:rPr sz="1500" b="0" i="0">
                <a:solidFill>
                  <a:srgbClr val="1A1440"/>
                </a:solidFill>
                <a:latin typeface="Calibri"/>
              </a:rPr>
              <a:t>Every number carries its definition: say "delivered" beside each one, and "booked" beside anything from this morning.</a:t>
            </a:r>
          </a:p>
        </p:txBody>
      </p:sp>
      <p:sp>
        <p:nvSpPr>
          <p:cNvPr id="26" name="Oval 2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Did the button do it?</a:t>
            </a:r>
          </a:p>
        </p:txBody>
      </p:sp>
      <p:sp>
        <p:nvSpPr>
          <p:cNvPr id="28" name="Oval 27"/>
          <p:cNvSpPr/>
          <p:nvPr/>
        </p:nvSpPr>
        <p:spPr>
          <a:xfrm>
            <a:off x="197196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2081688"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Does it survive delivery?</a:t>
            </a:r>
          </a:p>
        </p:txBody>
      </p:sp>
      <p:sp>
        <p:nvSpPr>
          <p:cNvPr id="30" name="Oval 29"/>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370732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Where did we go wrong?</a:t>
            </a:r>
          </a:p>
        </p:txBody>
      </p:sp>
      <p:sp>
        <p:nvSpPr>
          <p:cNvPr id="32" name="Oval 31"/>
          <p:cNvSpPr/>
          <p:nvPr/>
        </p:nvSpPr>
        <p:spPr>
          <a:xfrm>
            <a:off x="50852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5194934"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Is the tier healthy?</a:t>
            </a:r>
          </a:p>
        </p:txBody>
      </p:sp>
      <p:sp>
        <p:nvSpPr>
          <p:cNvPr id="34" name="Oval 33"/>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you say it aloud?</a:t>
            </a:r>
          </a:p>
        </p:txBody>
      </p:sp>
      <p:sp>
        <p:nvSpPr>
          <p:cNvPr id="36" name="Oval 35"/>
          <p:cNvSpPr/>
          <p:nvPr/>
        </p:nvSpPr>
        <p:spPr>
          <a:xfrm>
            <a:off x="792241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803214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So which branch moved?</a:t>
            </a:r>
          </a:p>
        </p:txBody>
      </p:sp>
      <p:sp>
        <p:nvSpPr>
          <p:cNvPr id="38" name="TextBox 3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S18  ·  21 / 37</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08</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Where did we go wrong?</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Which wrong answers did the room reach on delivered orders, and which check catches each?</a:t>
            </a:r>
          </a:p>
        </p:txBody>
      </p:sp>
      <p:sp>
        <p:nvSpPr>
          <p:cNvPr id="10" name="Rounded Rectangle 9"/>
          <p:cNvSpPr/>
          <p:nvPr/>
        </p:nvSpPr>
        <p:spPr>
          <a:xfrm>
            <a:off x="731519" y="5074920"/>
            <a:ext cx="160929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Did the button do it?</a:t>
            </a:r>
          </a:p>
        </p:txBody>
      </p:sp>
      <p:sp>
        <p:nvSpPr>
          <p:cNvPr id="11" name="Rounded Rectangle 10"/>
          <p:cNvSpPr/>
          <p:nvPr/>
        </p:nvSpPr>
        <p:spPr>
          <a:xfrm>
            <a:off x="2450543" y="5074920"/>
            <a:ext cx="184615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Does it survive delivery?</a:t>
            </a:r>
          </a:p>
        </p:txBody>
      </p:sp>
      <p:sp>
        <p:nvSpPr>
          <p:cNvPr id="12" name="Rounded Rectangle 11"/>
          <p:cNvSpPr/>
          <p:nvPr/>
        </p:nvSpPr>
        <p:spPr>
          <a:xfrm>
            <a:off x="4406430" y="5074920"/>
            <a:ext cx="1668511"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Where did we go wrong?</a:t>
            </a:r>
          </a:p>
        </p:txBody>
      </p:sp>
      <p:sp>
        <p:nvSpPr>
          <p:cNvPr id="13" name="Rounded Rectangle 12"/>
          <p:cNvSpPr/>
          <p:nvPr/>
        </p:nvSpPr>
        <p:spPr>
          <a:xfrm>
            <a:off x="6184670" y="5074920"/>
            <a:ext cx="155007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Is the tier healthy?</a:t>
            </a:r>
          </a:p>
        </p:txBody>
      </p:sp>
      <p:sp>
        <p:nvSpPr>
          <p:cNvPr id="14" name="Rounded Rectangle 13"/>
          <p:cNvSpPr/>
          <p:nvPr/>
        </p:nvSpPr>
        <p:spPr>
          <a:xfrm>
            <a:off x="7844477" y="5074920"/>
            <a:ext cx="160929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Can you say it aloud?</a:t>
            </a:r>
          </a:p>
        </p:txBody>
      </p:sp>
      <p:sp>
        <p:nvSpPr>
          <p:cNvPr id="15" name="Rounded Rectangle 14"/>
          <p:cNvSpPr/>
          <p:nvPr/>
        </p:nvSpPr>
        <p:spPr>
          <a:xfrm>
            <a:off x="9563501"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So which branch moved?</a:t>
            </a:r>
          </a:p>
        </p:txBody>
      </p:sp>
      <p:sp>
        <p:nvSpPr>
          <p:cNvPr id="16" name="TextBox 15"/>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2. Did the reorder button do it?</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22 / 37</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four wrong answers, four morning checks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wrong answers do most rooms reach on delivered orders, and what catches each?</a:t>
            </a:r>
          </a:p>
        </p:txBody>
      </p:sp>
      <p:pic>
        <p:nvPicPr>
          <p:cNvPr id="9" name="mermaid diagram" descr="2b7b75c1b6faf68c.png"/>
          <p:cNvPicPr>
            <a:picLocks noChangeAspect="1"/>
          </p:cNvPicPr>
          <p:nvPr/>
        </p:nvPicPr>
        <p:blipFill>
          <a:blip r:embed="rId6"/>
          <a:stretch>
            <a:fillRect/>
          </a:stretch>
        </p:blipFill>
        <p:spPr>
          <a:xfrm>
            <a:off x="1215354" y="1682496"/>
            <a:ext cx="3416321" cy="4517136"/>
          </a:xfrm>
          <a:prstGeom prst="rect">
            <a:avLst/>
          </a:prstGeom>
        </p:spPr>
      </p:pic>
      <p:sp>
        <p:nvSpPr>
          <p:cNvPr id="10" name="Rounded Rectangle 9"/>
          <p:cNvSpPr/>
          <p:nvPr/>
        </p:nvSpPr>
        <p:spPr>
          <a:xfrm>
            <a:off x="5761917" y="1956816"/>
            <a:ext cx="5899425"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5990517" y="228904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list-checks_bd88901d2a37.png"/>
          <p:cNvPicPr>
            <a:picLocks noChangeAspect="1"/>
          </p:cNvPicPr>
          <p:nvPr/>
        </p:nvPicPr>
        <p:blipFill>
          <a:blip r:embed="rId5"/>
          <a:stretch>
            <a:fillRect/>
          </a:stretch>
        </p:blipFill>
        <p:spPr>
          <a:xfrm>
            <a:off x="6100245" y="2398776"/>
            <a:ext cx="237744" cy="237744"/>
          </a:xfrm>
          <a:prstGeom prst="rect">
            <a:avLst/>
          </a:prstGeom>
        </p:spPr>
      </p:pic>
      <p:sp>
        <p:nvSpPr>
          <p:cNvPr id="13" name="TextBox 12"/>
          <p:cNvSpPr txBox="1"/>
          <p:nvPr/>
        </p:nvSpPr>
        <p:spPr>
          <a:xfrm>
            <a:off x="6630597" y="2103120"/>
            <a:ext cx="4756425"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4" name="TextBox 13"/>
          <p:cNvSpPr txBox="1"/>
          <p:nvPr/>
        </p:nvSpPr>
        <p:spPr>
          <a:xfrm>
            <a:off x="6630597" y="2322576"/>
            <a:ext cx="4756425" cy="682752"/>
          </a:xfrm>
          <a:prstGeom prst="rect">
            <a:avLst/>
          </a:prstGeom>
          <a:noFill/>
        </p:spPr>
        <p:txBody>
          <a:bodyPr wrap="square" anchor="t" lIns="0" rIns="0" tIns="0" bIns="0">
            <a:spAutoFit/>
          </a:bodyPr>
          <a:lstStyle/>
          <a:p>
            <a:r>
              <a:rPr sz="1500" b="0" i="0">
                <a:solidFill>
                  <a:srgbClr val="1A1440"/>
                </a:solidFill>
                <a:latin typeface="Calibri"/>
              </a:rPr>
              <a:t>Each wrong answer is a morning trap in a new place, and the morning's check catches it.</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Did the button do it?</a:t>
            </a:r>
          </a:p>
        </p:txBody>
      </p:sp>
      <p:sp>
        <p:nvSpPr>
          <p:cNvPr id="17" name="Oval 16"/>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081688"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Does it survive delivery?</a:t>
            </a:r>
          </a:p>
        </p:txBody>
      </p:sp>
      <p:sp>
        <p:nvSpPr>
          <p:cNvPr id="19" name="Oval 18"/>
          <p:cNvSpPr/>
          <p:nvPr/>
        </p:nvSpPr>
        <p:spPr>
          <a:xfrm>
            <a:off x="359759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70732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Where did we go wrong?</a:t>
            </a:r>
          </a:p>
        </p:txBody>
      </p:sp>
      <p:sp>
        <p:nvSpPr>
          <p:cNvPr id="21" name="Oval 20"/>
          <p:cNvSpPr/>
          <p:nvPr/>
        </p:nvSpPr>
        <p:spPr>
          <a:xfrm>
            <a:off x="50852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194934"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Is the tier healthy?</a:t>
            </a:r>
          </a:p>
        </p:txBody>
      </p:sp>
      <p:sp>
        <p:nvSpPr>
          <p:cNvPr id="23" name="Oval 22"/>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you say it aloud?</a:t>
            </a:r>
          </a:p>
        </p:txBody>
      </p:sp>
      <p:sp>
        <p:nvSpPr>
          <p:cNvPr id="25" name="Oval 24"/>
          <p:cNvSpPr/>
          <p:nvPr/>
        </p:nvSpPr>
        <p:spPr>
          <a:xfrm>
            <a:off x="792241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803214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So which branch moved?</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S19  ·  23 / 37</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Wrong answer 1: customers fell, Marketing wins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room conclude from 54 to 50 delivered customers?</a:t>
            </a:r>
          </a:p>
        </p:txBody>
      </p:sp>
      <p:pic>
        <p:nvPicPr>
          <p:cNvPr id="9" name="mermaid diagram" descr="c53971bbbe6166de.png"/>
          <p:cNvPicPr>
            <a:picLocks noChangeAspect="1"/>
          </p:cNvPicPr>
          <p:nvPr/>
        </p:nvPicPr>
        <p:blipFill>
          <a:blip r:embed="rId5"/>
          <a:stretch>
            <a:fillRect/>
          </a:stretch>
        </p:blipFill>
        <p:spPr>
          <a:xfrm>
            <a:off x="780897" y="1956816"/>
            <a:ext cx="10629900" cy="1357312"/>
          </a:xfrm>
          <a:prstGeom prst="rect">
            <a:avLst/>
          </a:prstGeom>
        </p:spPr>
      </p:pic>
      <p:sp>
        <p:nvSpPr>
          <p:cNvPr id="10" name="Rounded Rectangle 9"/>
          <p:cNvSpPr/>
          <p:nvPr/>
        </p:nvSpPr>
        <p:spPr>
          <a:xfrm>
            <a:off x="530352" y="3460432"/>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588448"/>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579304"/>
            <a:ext cx="10564063" cy="624840"/>
          </a:xfrm>
          <a:prstGeom prst="rect">
            <a:avLst/>
          </a:prstGeom>
          <a:noFill/>
        </p:spPr>
        <p:txBody>
          <a:bodyPr wrap="square" anchor="ctr" lIns="0" rIns="0" tIns="0" bIns="0">
            <a:spAutoFit/>
          </a:bodyPr>
          <a:lstStyle/>
          <a:p>
            <a:r>
              <a:rPr sz="1500" b="1">
                <a:solidFill>
                  <a:srgbClr val="5B3FD6"/>
                </a:solidFill>
                <a:latin typeface="Calibri"/>
              </a:rPr>
              <a:t>The check. </a:t>
            </a:r>
            <a:r>
              <a:rPr sz="1500" b="0" i="0">
                <a:solidFill>
                  <a:srgbClr val="1A1440"/>
                </a:solidFill>
                <a:latin typeface="Calibri"/>
              </a:rPr>
              <a:t>The booked overlap is 69, 0 and 0. The branch that moved is cancellations and returns, to be split by reason, and acquisition still has nothing to replace.</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Did the button do it?</a:t>
            </a:r>
          </a:p>
        </p:txBody>
      </p:sp>
      <p:sp>
        <p:nvSpPr>
          <p:cNvPr id="15" name="Oval 14"/>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081688"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Does it survive delivery?</a:t>
            </a:r>
          </a:p>
        </p:txBody>
      </p:sp>
      <p:sp>
        <p:nvSpPr>
          <p:cNvPr id="17" name="Oval 16"/>
          <p:cNvSpPr/>
          <p:nvPr/>
        </p:nvSpPr>
        <p:spPr>
          <a:xfrm>
            <a:off x="359759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70732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Where did we go wrong?</a:t>
            </a:r>
          </a:p>
        </p:txBody>
      </p:sp>
      <p:sp>
        <p:nvSpPr>
          <p:cNvPr id="19" name="Oval 18"/>
          <p:cNvSpPr/>
          <p:nvPr/>
        </p:nvSpPr>
        <p:spPr>
          <a:xfrm>
            <a:off x="50852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194934"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Is the tier healthy?</a:t>
            </a:r>
          </a:p>
        </p:txBody>
      </p:sp>
      <p:sp>
        <p:nvSpPr>
          <p:cNvPr id="21" name="Oval 20"/>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you say it aloud?</a:t>
            </a:r>
          </a:p>
        </p:txBody>
      </p:sp>
      <p:sp>
        <p:nvSpPr>
          <p:cNvPr id="23" name="Oval 22"/>
          <p:cNvSpPr/>
          <p:nvPr/>
        </p:nvSpPr>
        <p:spPr>
          <a:xfrm>
            <a:off x="792241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803214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So which branch moved?</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S20  ·  24 / 37</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Wrong answer 2: delivered frequency fell 9.2%</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far did delivered frequency fall if the four segments' rates are averaged?</a:t>
            </a:r>
          </a:p>
        </p:txBody>
      </p:sp>
      <p:pic>
        <p:nvPicPr>
          <p:cNvPr id="9" name="mermaid diagram" descr="917f2adde613ba0e.png"/>
          <p:cNvPicPr>
            <a:picLocks noChangeAspect="1"/>
          </p:cNvPicPr>
          <p:nvPr/>
        </p:nvPicPr>
        <p:blipFill>
          <a:blip r:embed="rId5"/>
          <a:stretch>
            <a:fillRect/>
          </a:stretch>
        </p:blipFill>
        <p:spPr>
          <a:xfrm>
            <a:off x="2578455" y="1664208"/>
            <a:ext cx="7034784" cy="3517392"/>
          </a:xfrm>
          <a:prstGeom prst="rect">
            <a:avLst/>
          </a:prstGeom>
        </p:spPr>
      </p:pic>
      <p:sp>
        <p:nvSpPr>
          <p:cNvPr id="10" name="Rounded Rectangle 9"/>
          <p:cNvSpPr/>
          <p:nvPr/>
        </p:nvSpPr>
        <p:spPr>
          <a:xfrm>
            <a:off x="530352" y="5227320"/>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5355336"/>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5346192"/>
            <a:ext cx="10564063" cy="624840"/>
          </a:xfrm>
          <a:prstGeom prst="rect">
            <a:avLst/>
          </a:prstGeom>
          <a:noFill/>
        </p:spPr>
        <p:txBody>
          <a:bodyPr wrap="square" anchor="ctr" lIns="0" rIns="0" tIns="0" bIns="0">
            <a:spAutoFit/>
          </a:bodyPr>
          <a:lstStyle/>
          <a:p>
            <a:r>
              <a:rPr sz="1500" b="1">
                <a:solidFill>
                  <a:srgbClr val="5B3FD6"/>
                </a:solidFill>
                <a:latin typeface="Calibri"/>
              </a:rPr>
              <a:t>The check. </a:t>
            </a:r>
            <a:r>
              <a:rPr sz="1500" b="0" i="0">
                <a:solidFill>
                  <a:srgbClr val="1A1440"/>
                </a:solidFill>
                <a:latin typeface="Calibri"/>
              </a:rPr>
              <a:t>The roll-up must reproduce 81 orders over 54 customers and 57 over 50: 1.50 and 1.14, minus 24.0 percent, where the average of four segment rates says minus 9.2.</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Did the button do it?</a:t>
            </a:r>
          </a:p>
        </p:txBody>
      </p:sp>
      <p:sp>
        <p:nvSpPr>
          <p:cNvPr id="15" name="Oval 14"/>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081688"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Does it survive delivery?</a:t>
            </a:r>
          </a:p>
        </p:txBody>
      </p:sp>
      <p:sp>
        <p:nvSpPr>
          <p:cNvPr id="17" name="Oval 16"/>
          <p:cNvSpPr/>
          <p:nvPr/>
        </p:nvSpPr>
        <p:spPr>
          <a:xfrm>
            <a:off x="359759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70732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Where did we go wrong?</a:t>
            </a:r>
          </a:p>
        </p:txBody>
      </p:sp>
      <p:sp>
        <p:nvSpPr>
          <p:cNvPr id="19" name="Oval 18"/>
          <p:cNvSpPr/>
          <p:nvPr/>
        </p:nvSpPr>
        <p:spPr>
          <a:xfrm>
            <a:off x="50852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194934"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Is the tier healthy?</a:t>
            </a:r>
          </a:p>
        </p:txBody>
      </p:sp>
      <p:sp>
        <p:nvSpPr>
          <p:cNvPr id="21" name="Oval 20"/>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you say it aloud?</a:t>
            </a:r>
          </a:p>
        </p:txBody>
      </p:sp>
      <p:sp>
        <p:nvSpPr>
          <p:cNvPr id="23" name="Oval 22"/>
          <p:cNvSpPr/>
          <p:nvPr/>
        </p:nvSpPr>
        <p:spPr>
          <a:xfrm>
            <a:off x="792241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803214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So which branch moved?</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S21  ·  25 / 37</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Wrong answer 3: mix is 44%, so prices rose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room conclude from a 44 percent mix share on delivered orders?</a:t>
            </a:r>
          </a:p>
        </p:txBody>
      </p:sp>
      <p:graphicFrame>
        <p:nvGraphicFramePr>
          <p:cNvPr id="9" name="Table 8"/>
          <p:cNvGraphicFramePr>
            <a:graphicFrameLocks noGrp="1"/>
          </p:cNvGraphicFramePr>
          <p:nvPr/>
        </p:nvGraphicFramePr>
        <p:xfrm>
          <a:off x="530352" y="1956816"/>
          <a:ext cx="11130989" cy="1005840"/>
        </p:xfrm>
        <a:graphic>
          <a:graphicData uri="http://schemas.openxmlformats.org/drawingml/2006/table">
            <a:tbl>
              <a:tblPr firstRow="0" bandRow="0">
                <a:tableStyleId>{2D5ABB26-0587-4C30-8999-92F81FD0307C}</a:tableStyleId>
              </a:tblPr>
              <a:tblGrid>
                <a:gridCol w="1389019"/>
                <a:gridCol w="2724137"/>
                <a:gridCol w="1277760"/>
                <a:gridCol w="5740073"/>
              </a:tblGrid>
              <a:tr h="335280">
                <a:tc>
                  <a:txBody>
                    <a:bodyPr/>
                    <a:lstStyle/>
                    <a:p>
                      <a:r>
                        <a:rPr sz="1250" b="1" i="0">
                          <a:solidFill>
                            <a:srgbClr val="FFFFFF"/>
                          </a:solidFill>
                          <a:latin typeface="Calibri"/>
                        </a:rPr>
                        <a:t>Definition</a:t>
                      </a:r>
                    </a:p>
                  </a:txBody>
                  <a:tcPr marL="101600" marR="101600" marT="38100" marB="38100" anchor="ctr">
                    <a:solidFill>
                      <a:srgbClr val="1A0F5C"/>
                    </a:solidFill>
                  </a:tcPr>
                </a:tc>
                <a:tc>
                  <a:txBody>
                    <a:bodyPr/>
                    <a:lstStyle/>
                    <a:p>
                      <a:r>
                        <a:rPr sz="1250" b="1" i="0">
                          <a:solidFill>
                            <a:srgbClr val="FFFFFF"/>
                          </a:solidFill>
                          <a:latin typeface="Calibri"/>
                        </a:rPr>
                        <a:t>Revenue per order rise</a:t>
                      </a:r>
                    </a:p>
                  </a:txBody>
                  <a:tcPr marL="101600" marR="101600" marT="38100" marB="38100" anchor="ctr">
                    <a:solidFill>
                      <a:srgbClr val="1A0F5C"/>
                    </a:solidFill>
                  </a:tcPr>
                </a:tc>
                <a:tc>
                  <a:txBody>
                    <a:bodyPr/>
                    <a:lstStyle/>
                    <a:p>
                      <a:r>
                        <a:rPr sz="1250" b="1" i="0">
                          <a:solidFill>
                            <a:srgbClr val="FFFFFF"/>
                          </a:solidFill>
                          <a:latin typeface="Calibri"/>
                        </a:rPr>
                        <a:t>Mix share</a:t>
                      </a:r>
                    </a:p>
                  </a:txBody>
                  <a:tcPr marL="101600" marR="101600" marT="38100" marB="38100" anchor="ctr">
                    <a:solidFill>
                      <a:srgbClr val="1A0F5C"/>
                    </a:solidFill>
                  </a:tcPr>
                </a:tc>
                <a:tc>
                  <a:txBody>
                    <a:bodyPr/>
                    <a:lstStyle/>
                    <a:p>
                      <a:r>
                        <a:rPr sz="1250" b="1" i="0">
                          <a:solidFill>
                            <a:srgbClr val="FFFFFF"/>
                          </a:solidFill>
                          <a:latin typeface="Calibri"/>
                        </a:rPr>
                        <a:t>Rate carried by</a:t>
                      </a:r>
                    </a:p>
                  </a:txBody>
                  <a:tcPr marL="101600" marR="101600" marT="38100" marB="38100" anchor="ctr">
                    <a:solidFill>
                      <a:srgbClr val="1A0F5C"/>
                    </a:solidFill>
                  </a:tcPr>
                </a:tc>
              </a:tr>
              <a:tr h="335280">
                <a:tc>
                  <a:txBody>
                    <a:bodyPr/>
                    <a:lstStyle/>
                    <a:p>
                      <a:r>
                        <a:rPr sz="1200" b="0" i="0">
                          <a:solidFill>
                            <a:srgbClr val="1A1440"/>
                          </a:solidFill>
                          <a:latin typeface="Calibri"/>
                        </a:rPr>
                        <a:t>Booked</a:t>
                      </a:r>
                    </a:p>
                  </a:txBody>
                  <a:tcPr marL="101600" marR="101600" marT="38100" marB="38100" anchor="ctr">
                    <a:solidFill>
                      <a:srgbClr val="FFFFFF"/>
                    </a:solidFill>
                  </a:tcPr>
                </a:tc>
                <a:tc>
                  <a:txBody>
                    <a:bodyPr/>
                    <a:lstStyle/>
                    <a:p>
                      <a:r>
                        <a:rPr sz="1200" b="0" i="0">
                          <a:solidFill>
                            <a:srgbClr val="1A1440"/>
                          </a:solidFill>
                          <a:latin typeface="Calibri"/>
                        </a:rPr>
                        <a:t>+18.0%</a:t>
                      </a:r>
                    </a:p>
                  </a:txBody>
                  <a:tcPr marL="101600" marR="101600" marT="38100" marB="38100" anchor="ctr">
                    <a:solidFill>
                      <a:srgbClr val="FFFFFF"/>
                    </a:solidFill>
                  </a:tcPr>
                </a:tc>
                <a:tc>
                  <a:txBody>
                    <a:bodyPr/>
                    <a:lstStyle/>
                    <a:p>
                      <a:r>
                        <a:rPr sz="1200" b="0" i="0">
                          <a:solidFill>
                            <a:srgbClr val="1A1440"/>
                          </a:solidFill>
                          <a:latin typeface="Calibri"/>
                        </a:rPr>
                        <a:t>69%</a:t>
                      </a:r>
                    </a:p>
                  </a:txBody>
                  <a:tcPr marL="101600" marR="101600" marT="38100" marB="38100" anchor="ctr">
                    <a:solidFill>
                      <a:srgbClr val="FFFFFF"/>
                    </a:solidFill>
                  </a:tcPr>
                </a:tc>
                <a:tc>
                  <a:txBody>
                    <a:bodyPr/>
                    <a:lstStyle/>
                    <a:p>
                      <a:r>
                        <a:rPr sz="1200" b="0" i="0">
                          <a:solidFill>
                            <a:srgbClr val="1A1440"/>
                          </a:solidFill>
                          <a:latin typeface="Calibri"/>
                        </a:rPr>
                        <a:t>Business, one large order</a:t>
                      </a:r>
                    </a:p>
                  </a:txBody>
                  <a:tcPr marL="101600" marR="101600" marT="38100" marB="38100" anchor="ctr">
                    <a:solidFill>
                      <a:srgbClr val="FFFFFF"/>
                    </a:solidFill>
                  </a:tcPr>
                </a:tc>
              </a:tr>
              <a:tr h="335280">
                <a:tc>
                  <a:txBody>
                    <a:bodyPr/>
                    <a:lstStyle/>
                    <a:p>
                      <a:r>
                        <a:rPr sz="1200" b="0" i="0">
                          <a:solidFill>
                            <a:srgbClr val="1A1440"/>
                          </a:solidFill>
                          <a:latin typeface="Calibri"/>
                        </a:rPr>
                        <a:t>Delivered</a:t>
                      </a:r>
                    </a:p>
                  </a:txBody>
                  <a:tcPr marL="101600" marR="101600" marT="38100" marB="38100" anchor="ctr">
                    <a:solidFill>
                      <a:srgbClr val="F4F2FA"/>
                    </a:solidFill>
                  </a:tcPr>
                </a:tc>
                <a:tc>
                  <a:txBody>
                    <a:bodyPr/>
                    <a:lstStyle/>
                    <a:p>
                      <a:r>
                        <a:rPr sz="1200" b="0" i="0">
                          <a:solidFill>
                            <a:srgbClr val="1A1440"/>
                          </a:solidFill>
                          <a:latin typeface="Calibri"/>
                        </a:rPr>
                        <a:t>+26.0%</a:t>
                      </a:r>
                    </a:p>
                  </a:txBody>
                  <a:tcPr marL="101600" marR="101600" marT="38100" marB="38100" anchor="ctr">
                    <a:solidFill>
                      <a:srgbClr val="F4F2FA"/>
                    </a:solidFill>
                  </a:tcPr>
                </a:tc>
                <a:tc>
                  <a:txBody>
                    <a:bodyPr/>
                    <a:lstStyle/>
                    <a:p>
                      <a:r>
                        <a:rPr sz="1200" b="0" i="0">
                          <a:solidFill>
                            <a:srgbClr val="1A1440"/>
                          </a:solidFill>
                          <a:latin typeface="Calibri"/>
                        </a:rPr>
                        <a:t>44%</a:t>
                      </a:r>
                    </a:p>
                  </a:txBody>
                  <a:tcPr marL="101600" marR="101600" marT="38100" marB="38100" anchor="ctr">
                    <a:solidFill>
                      <a:srgbClr val="F4F2FA"/>
                    </a:solidFill>
                  </a:tcPr>
                </a:tc>
                <a:tc>
                  <a:txBody>
                    <a:bodyPr/>
                    <a:lstStyle/>
                    <a:p>
                      <a:r>
                        <a:rPr sz="1200" b="0" i="0">
                          <a:solidFill>
                            <a:srgbClr val="1A1440"/>
                          </a:solidFill>
                          <a:latin typeface="Calibri"/>
                        </a:rPr>
                        <a:t>Business, delivered orders Rs 10,24,651 to Rs 11,60,405</a:t>
                      </a:r>
                    </a:p>
                  </a:txBody>
                  <a:tcPr marL="101600" marR="101600" marT="38100" marB="38100" anchor="ctr">
                    <a:solidFill>
                      <a:srgbClr val="F4F2FA"/>
                    </a:solidFill>
                  </a:tcPr>
                </a:tc>
              </a:tr>
            </a:tbl>
          </a:graphicData>
        </a:graphic>
      </p:graphicFrame>
      <p:sp>
        <p:nvSpPr>
          <p:cNvPr id="10" name="Rounded Rectangle 9"/>
          <p:cNvSpPr/>
          <p:nvPr/>
        </p:nvSpPr>
        <p:spPr>
          <a:xfrm>
            <a:off x="530352" y="321868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346704"/>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337560"/>
            <a:ext cx="10564063" cy="624840"/>
          </a:xfrm>
          <a:prstGeom prst="rect">
            <a:avLst/>
          </a:prstGeom>
          <a:noFill/>
        </p:spPr>
        <p:txBody>
          <a:bodyPr wrap="square" anchor="ctr" lIns="0" rIns="0" tIns="0" bIns="0">
            <a:spAutoFit/>
          </a:bodyPr>
          <a:lstStyle/>
          <a:p>
            <a:r>
              <a:rPr sz="1500" b="1">
                <a:solidFill>
                  <a:srgbClr val="5B3FD6"/>
                </a:solidFill>
                <a:latin typeface="Calibri"/>
              </a:rPr>
              <a:t>The check. </a:t>
            </a:r>
            <a:r>
              <a:rPr sz="1500" b="0" i="0">
                <a:solidFill>
                  <a:srgbClr val="1A1440"/>
                </a:solidFill>
                <a:latin typeface="Calibri"/>
              </a:rPr>
              <a:t>The rate part is Business's lakh-sized orders; the consumer segments' own delivered order values moved by about a hundred rupees at most, so there is still no consumer price signal.</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Did the button do it?</a:t>
            </a:r>
          </a:p>
        </p:txBody>
      </p:sp>
      <p:sp>
        <p:nvSpPr>
          <p:cNvPr id="15" name="Oval 14"/>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081688"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Does it survive delivery?</a:t>
            </a:r>
          </a:p>
        </p:txBody>
      </p:sp>
      <p:sp>
        <p:nvSpPr>
          <p:cNvPr id="17" name="Oval 16"/>
          <p:cNvSpPr/>
          <p:nvPr/>
        </p:nvSpPr>
        <p:spPr>
          <a:xfrm>
            <a:off x="359759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70732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Where did we go wrong?</a:t>
            </a:r>
          </a:p>
        </p:txBody>
      </p:sp>
      <p:sp>
        <p:nvSpPr>
          <p:cNvPr id="19" name="Oval 18"/>
          <p:cNvSpPr/>
          <p:nvPr/>
        </p:nvSpPr>
        <p:spPr>
          <a:xfrm>
            <a:off x="50852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194934"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Is the tier healthy?</a:t>
            </a:r>
          </a:p>
        </p:txBody>
      </p:sp>
      <p:sp>
        <p:nvSpPr>
          <p:cNvPr id="21" name="Oval 20"/>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you say it aloud?</a:t>
            </a:r>
          </a:p>
        </p:txBody>
      </p:sp>
      <p:sp>
        <p:nvSpPr>
          <p:cNvPr id="23" name="Oval 22"/>
          <p:cNvSpPr/>
          <p:nvPr/>
        </p:nvSpPr>
        <p:spPr>
          <a:xfrm>
            <a:off x="792241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803214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So which branch moved?</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S22  ·  26 / 37</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Wrong answer 4: a sentence with no definition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"revenue fell 11 percent" leave out?</a:t>
            </a:r>
          </a:p>
        </p:txBody>
      </p:sp>
      <p:pic>
        <p:nvPicPr>
          <p:cNvPr id="9" name="mermaid diagram" descr="42df9b6a0735c156.png"/>
          <p:cNvPicPr>
            <a:picLocks noChangeAspect="1"/>
          </p:cNvPicPr>
          <p:nvPr/>
        </p:nvPicPr>
        <p:blipFill>
          <a:blip r:embed="rId6"/>
          <a:stretch>
            <a:fillRect/>
          </a:stretch>
        </p:blipFill>
        <p:spPr>
          <a:xfrm>
            <a:off x="3826590" y="1664208"/>
            <a:ext cx="4538514" cy="2685288"/>
          </a:xfrm>
          <a:prstGeom prst="rect">
            <a:avLst/>
          </a:prstGeom>
        </p:spPr>
      </p:pic>
      <p:sp>
        <p:nvSpPr>
          <p:cNvPr id="10" name="Rounded Rectangle 9"/>
          <p:cNvSpPr/>
          <p:nvPr/>
        </p:nvSpPr>
        <p:spPr>
          <a:xfrm>
            <a:off x="530352" y="4395216"/>
            <a:ext cx="11130991" cy="163982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98652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earch-check_6571e64a041f.png"/>
          <p:cNvPicPr>
            <a:picLocks noChangeAspect="1"/>
          </p:cNvPicPr>
          <p:nvPr/>
        </p:nvPicPr>
        <p:blipFill>
          <a:blip r:embed="rId5"/>
          <a:stretch>
            <a:fillRect/>
          </a:stretch>
        </p:blipFill>
        <p:spPr>
          <a:xfrm>
            <a:off x="868680" y="5096256"/>
            <a:ext cx="237744" cy="237744"/>
          </a:xfrm>
          <a:prstGeom prst="rect">
            <a:avLst/>
          </a:prstGeom>
        </p:spPr>
      </p:pic>
      <p:sp>
        <p:nvSpPr>
          <p:cNvPr id="13" name="TextBox 12"/>
          <p:cNvSpPr txBox="1"/>
          <p:nvPr/>
        </p:nvSpPr>
        <p:spPr>
          <a:xfrm>
            <a:off x="1399031" y="454152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4" name="TextBox 13"/>
          <p:cNvSpPr txBox="1"/>
          <p:nvPr/>
        </p:nvSpPr>
        <p:spPr>
          <a:xfrm>
            <a:off x="1399031" y="4760976"/>
            <a:ext cx="9987991" cy="1200912"/>
          </a:xfrm>
          <a:prstGeom prst="rect">
            <a:avLst/>
          </a:prstGeom>
          <a:noFill/>
        </p:spPr>
        <p:txBody>
          <a:bodyPr wrap="square" anchor="t" lIns="0" rIns="0" tIns="0" bIns="0">
            <a:spAutoFit/>
          </a:bodyPr>
          <a:lstStyle/>
          <a:p>
            <a:r>
              <a:rPr sz="1500" b="0" i="0">
                <a:solidFill>
                  <a:srgbClr val="1A1440"/>
                </a:solidFill>
                <a:latin typeface="Calibri"/>
              </a:rPr>
              <a:t>"On delivered orders the story held: frequency carries the most rupees, Retail-Plus falls 42.6 percent per member, and the same two hypotheses stand. The customers branch that moved there is cancellations and returns, to be split by reason. Put the definition beside every number; the solution is open now."</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Did the button do it?</a:t>
            </a:r>
          </a:p>
        </p:txBody>
      </p:sp>
      <p:sp>
        <p:nvSpPr>
          <p:cNvPr id="17" name="Oval 16"/>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081688"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Does it survive delivery?</a:t>
            </a:r>
          </a:p>
        </p:txBody>
      </p:sp>
      <p:sp>
        <p:nvSpPr>
          <p:cNvPr id="19" name="Oval 18"/>
          <p:cNvSpPr/>
          <p:nvPr/>
        </p:nvSpPr>
        <p:spPr>
          <a:xfrm>
            <a:off x="359759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70732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Where did we go wrong?</a:t>
            </a:r>
          </a:p>
        </p:txBody>
      </p:sp>
      <p:sp>
        <p:nvSpPr>
          <p:cNvPr id="21" name="Oval 20"/>
          <p:cNvSpPr/>
          <p:nvPr/>
        </p:nvSpPr>
        <p:spPr>
          <a:xfrm>
            <a:off x="50852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194934"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Is the tier healthy?</a:t>
            </a:r>
          </a:p>
        </p:txBody>
      </p:sp>
      <p:sp>
        <p:nvSpPr>
          <p:cNvPr id="23" name="Oval 22"/>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you say it aloud?</a:t>
            </a:r>
          </a:p>
        </p:txBody>
      </p:sp>
      <p:sp>
        <p:nvSpPr>
          <p:cNvPr id="25" name="Oval 24"/>
          <p:cNvSpPr/>
          <p:nvPr/>
        </p:nvSpPr>
        <p:spPr>
          <a:xfrm>
            <a:off x="792241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803214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So which branch moved?</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S23  ·  27 / 37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09</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Is the tier healthy?</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Marketing's new deck says members spend 7 percent more per order and the web fell hardest: does either claim hold, and whom does the tier call first?</a:t>
            </a:r>
          </a:p>
        </p:txBody>
      </p:sp>
      <p:sp>
        <p:nvSpPr>
          <p:cNvPr id="10" name="Rounded Rectangle 9"/>
          <p:cNvSpPr/>
          <p:nvPr/>
        </p:nvSpPr>
        <p:spPr>
          <a:xfrm>
            <a:off x="731519" y="5074920"/>
            <a:ext cx="160929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Did the button do it?</a:t>
            </a:r>
          </a:p>
        </p:txBody>
      </p:sp>
      <p:sp>
        <p:nvSpPr>
          <p:cNvPr id="11" name="Rounded Rectangle 10"/>
          <p:cNvSpPr/>
          <p:nvPr/>
        </p:nvSpPr>
        <p:spPr>
          <a:xfrm>
            <a:off x="2450543" y="5074920"/>
            <a:ext cx="184615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Does it survive delivery?</a:t>
            </a:r>
          </a:p>
        </p:txBody>
      </p:sp>
      <p:sp>
        <p:nvSpPr>
          <p:cNvPr id="12" name="Rounded Rectangle 11"/>
          <p:cNvSpPr/>
          <p:nvPr/>
        </p:nvSpPr>
        <p:spPr>
          <a:xfrm>
            <a:off x="4406430"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Where did we go wrong?</a:t>
            </a:r>
          </a:p>
        </p:txBody>
      </p:sp>
      <p:sp>
        <p:nvSpPr>
          <p:cNvPr id="13" name="Rounded Rectangle 12"/>
          <p:cNvSpPr/>
          <p:nvPr/>
        </p:nvSpPr>
        <p:spPr>
          <a:xfrm>
            <a:off x="6184670" y="5074920"/>
            <a:ext cx="1550079"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Is the tier healthy?</a:t>
            </a:r>
          </a:p>
        </p:txBody>
      </p:sp>
      <p:sp>
        <p:nvSpPr>
          <p:cNvPr id="14" name="Rounded Rectangle 13"/>
          <p:cNvSpPr/>
          <p:nvPr/>
        </p:nvSpPr>
        <p:spPr>
          <a:xfrm>
            <a:off x="7844477" y="5074920"/>
            <a:ext cx="160929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Can you say it aloud?</a:t>
            </a:r>
          </a:p>
        </p:txBody>
      </p:sp>
      <p:sp>
        <p:nvSpPr>
          <p:cNvPr id="15" name="Rounded Rectangle 14"/>
          <p:cNvSpPr/>
          <p:nvPr/>
        </p:nvSpPr>
        <p:spPr>
          <a:xfrm>
            <a:off x="9563501"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So which branch moved?</a:t>
            </a:r>
          </a:p>
        </p:txBody>
      </p:sp>
      <p:sp>
        <p:nvSpPr>
          <p:cNvPr id="16" name="TextBox 15"/>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2. Did the reorder button do it?</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28 / 37</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it in pairs: two claims and a call list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 Marketing and the tier each claim, from the same file?</a:t>
            </a:r>
          </a:p>
        </p:txBody>
      </p:sp>
      <p:sp>
        <p:nvSpPr>
          <p:cNvPr id="9" name="Rounded Rectangle 8"/>
          <p:cNvSpPr/>
          <p:nvPr/>
        </p:nvSpPr>
        <p:spPr>
          <a:xfrm>
            <a:off x="530352" y="1956816"/>
            <a:ext cx="3588410"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megaphone_df6318bcf2f9.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CLAIM 1</a:t>
            </a:r>
          </a:p>
        </p:txBody>
      </p:sp>
      <p:sp>
        <p:nvSpPr>
          <p:cNvPr id="13" name="TextBox 12"/>
          <p:cNvSpPr txBox="1"/>
          <p:nvPr/>
        </p:nvSpPr>
        <p:spPr>
          <a:xfrm>
            <a:off x="731519"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7 percent more per order</a:t>
            </a:r>
          </a:p>
        </p:txBody>
      </p:sp>
      <p:sp>
        <p:nvSpPr>
          <p:cNvPr id="14" name="TextBox 13"/>
          <p:cNvSpPr txBox="1"/>
          <p:nvPr/>
        </p:nvSpPr>
        <p:spPr>
          <a:xfrm>
            <a:off x="731519"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"Members spend more each time, so the tier is healthy."</a:t>
            </a:r>
          </a:p>
        </p:txBody>
      </p:sp>
      <p:sp>
        <p:nvSpPr>
          <p:cNvPr id="15" name="Rounded Rectangle 14"/>
          <p:cNvSpPr/>
          <p:nvPr/>
        </p:nvSpPr>
        <p:spPr>
          <a:xfrm>
            <a:off x="4301642" y="1956816"/>
            <a:ext cx="3588410"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450281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globe_fca372603d1d.png"/>
          <p:cNvPicPr>
            <a:picLocks noChangeAspect="1"/>
          </p:cNvPicPr>
          <p:nvPr/>
        </p:nvPicPr>
        <p:blipFill>
          <a:blip r:embed="rId5"/>
          <a:stretch>
            <a:fillRect/>
          </a:stretch>
        </p:blipFill>
        <p:spPr>
          <a:xfrm>
            <a:off x="4612538" y="2267712"/>
            <a:ext cx="237744" cy="237744"/>
          </a:xfrm>
          <a:prstGeom prst="rect">
            <a:avLst/>
          </a:prstGeom>
        </p:spPr>
      </p:pic>
      <p:sp>
        <p:nvSpPr>
          <p:cNvPr id="18" name="TextBox 17"/>
          <p:cNvSpPr txBox="1"/>
          <p:nvPr/>
        </p:nvSpPr>
        <p:spPr>
          <a:xfrm>
            <a:off x="450281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CLAIM 2</a:t>
            </a:r>
          </a:p>
        </p:txBody>
      </p:sp>
      <p:sp>
        <p:nvSpPr>
          <p:cNvPr id="19" name="TextBox 18"/>
          <p:cNvSpPr txBox="1"/>
          <p:nvPr/>
        </p:nvSpPr>
        <p:spPr>
          <a:xfrm>
            <a:off x="450281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Web fell hardest</a:t>
            </a:r>
          </a:p>
        </p:txBody>
      </p:sp>
      <p:sp>
        <p:nvSpPr>
          <p:cNvPr id="20" name="TextBox 19"/>
          <p:cNvSpPr txBox="1"/>
          <p:nvPr/>
        </p:nvSpPr>
        <p:spPr>
          <a:xfrm>
            <a:off x="4502810"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"Retail-Plus web orders fell 24 to 9, so it is the website team's problem."</a:t>
            </a:r>
          </a:p>
        </p:txBody>
      </p:sp>
      <p:sp>
        <p:nvSpPr>
          <p:cNvPr id="21" name="Rounded Rectangle 20"/>
          <p:cNvSpPr/>
          <p:nvPr/>
        </p:nvSpPr>
        <p:spPr>
          <a:xfrm>
            <a:off x="8072932" y="1956816"/>
            <a:ext cx="3588410" cy="1964436"/>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274100"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phone_74e7f1db6e6c.png"/>
          <p:cNvPicPr>
            <a:picLocks noChangeAspect="1"/>
          </p:cNvPicPr>
          <p:nvPr/>
        </p:nvPicPr>
        <p:blipFill>
          <a:blip r:embed="rId6"/>
          <a:stretch>
            <a:fillRect/>
          </a:stretch>
        </p:blipFill>
        <p:spPr>
          <a:xfrm>
            <a:off x="8383828" y="2267712"/>
            <a:ext cx="237744" cy="237744"/>
          </a:xfrm>
          <a:prstGeom prst="rect">
            <a:avLst/>
          </a:prstGeom>
        </p:spPr>
      </p:pic>
      <p:sp>
        <p:nvSpPr>
          <p:cNvPr id="24" name="TextBox 23"/>
          <p:cNvSpPr txBox="1"/>
          <p:nvPr/>
        </p:nvSpPr>
        <p:spPr>
          <a:xfrm>
            <a:off x="8274100" y="2724912"/>
            <a:ext cx="3186074" cy="160401"/>
          </a:xfrm>
          <a:prstGeom prst="rect">
            <a:avLst/>
          </a:prstGeom>
          <a:noFill/>
        </p:spPr>
        <p:txBody>
          <a:bodyPr wrap="square" anchor="t" lIns="0" rIns="0" tIns="0" bIns="0">
            <a:spAutoFit/>
          </a:bodyPr>
          <a:lstStyle/>
          <a:p>
            <a:pPr algn="l"/>
            <a:r>
              <a:rPr sz="750" b="1" i="0" spc="250">
                <a:solidFill>
                  <a:srgbClr val="D9A7FF"/>
                </a:solidFill>
                <a:latin typeface="Calibri"/>
              </a:rPr>
              <a:t>THE TIER</a:t>
            </a:r>
          </a:p>
        </p:txBody>
      </p:sp>
      <p:sp>
        <p:nvSpPr>
          <p:cNvPr id="25" name="TextBox 24"/>
          <p:cNvSpPr txBox="1"/>
          <p:nvPr/>
        </p:nvSpPr>
        <p:spPr>
          <a:xfrm>
            <a:off x="8274100" y="2962656"/>
            <a:ext cx="3186074" cy="267716"/>
          </a:xfrm>
          <a:prstGeom prst="rect">
            <a:avLst/>
          </a:prstGeom>
          <a:noFill/>
        </p:spPr>
        <p:txBody>
          <a:bodyPr wrap="square" anchor="t" lIns="0" rIns="0" tIns="0" bIns="0">
            <a:spAutoFit/>
          </a:bodyPr>
          <a:lstStyle/>
          <a:p>
            <a:pPr algn="l"/>
            <a:r>
              <a:rPr sz="1400" b="1" i="0">
                <a:solidFill>
                  <a:srgbClr val="FFFFFF"/>
                </a:solidFill>
                <a:latin typeface="Calibri"/>
              </a:rPr>
              <a:t>Who do I call first?</a:t>
            </a:r>
          </a:p>
        </p:txBody>
      </p:sp>
      <p:sp>
        <p:nvSpPr>
          <p:cNvPr id="26" name="TextBox 25"/>
          <p:cNvSpPr txBox="1"/>
          <p:nvPr/>
        </p:nvSpPr>
        <p:spPr>
          <a:xfrm>
            <a:off x="8274100" y="3303524"/>
            <a:ext cx="3186074" cy="218186"/>
          </a:xfrm>
          <a:prstGeom prst="rect">
            <a:avLst/>
          </a:prstGeom>
          <a:noFill/>
        </p:spPr>
        <p:txBody>
          <a:bodyPr wrap="square" anchor="t" lIns="0" rIns="0" tIns="0" bIns="0">
            <a:spAutoFit/>
          </a:bodyPr>
          <a:lstStyle/>
          <a:p>
            <a:pPr algn="l"/>
            <a:r>
              <a:rPr sz="1100" b="0" i="0">
                <a:solidFill>
                  <a:srgbClr val="CFC9EE"/>
                </a:solidFill>
                <a:latin typeface="Calibri"/>
              </a:rPr>
              <a:t>"Which of my members do I call first?"</a:t>
            </a:r>
          </a:p>
        </p:txBody>
      </p:sp>
      <p:sp>
        <p:nvSpPr>
          <p:cNvPr id="27" name="Rounded Rectangle 26"/>
          <p:cNvSpPr/>
          <p:nvPr/>
        </p:nvSpPr>
        <p:spPr>
          <a:xfrm>
            <a:off x="530352" y="4104132"/>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758952" y="430682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9" name="Picture 28" descr="list-checks_bd88901d2a37.png"/>
          <p:cNvPicPr>
            <a:picLocks noChangeAspect="1"/>
          </p:cNvPicPr>
          <p:nvPr/>
        </p:nvPicPr>
        <p:blipFill>
          <a:blip r:embed="rId7"/>
          <a:stretch>
            <a:fillRect/>
          </a:stretch>
        </p:blipFill>
        <p:spPr>
          <a:xfrm>
            <a:off x="868680" y="4416552"/>
            <a:ext cx="237744" cy="237744"/>
          </a:xfrm>
          <a:prstGeom prst="rect">
            <a:avLst/>
          </a:prstGeom>
        </p:spPr>
      </p:pic>
      <p:sp>
        <p:nvSpPr>
          <p:cNvPr id="30" name="TextBox 29"/>
          <p:cNvSpPr txBox="1"/>
          <p:nvPr/>
        </p:nvSpPr>
        <p:spPr>
          <a:xfrm>
            <a:off x="1399031" y="4250436"/>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31" name="TextBox 30"/>
          <p:cNvSpPr txBox="1"/>
          <p:nvPr/>
        </p:nvSpPr>
        <p:spPr>
          <a:xfrm>
            <a:off x="1399031" y="4469892"/>
            <a:ext cx="9987991" cy="423672"/>
          </a:xfrm>
          <a:prstGeom prst="rect">
            <a:avLst/>
          </a:prstGeom>
          <a:noFill/>
        </p:spPr>
        <p:txBody>
          <a:bodyPr wrap="square" anchor="t" lIns="0" rIns="0" tIns="0" bIns="0">
            <a:spAutoFit/>
          </a:bodyPr>
          <a:lstStyle/>
          <a:p>
            <a:r>
              <a:rPr sz="1500" b="0" i="0">
                <a:solidFill>
                  <a:srgbClr val="1A1440"/>
                </a:solidFill>
                <a:latin typeface="Calibri"/>
              </a:rPr>
              <a:t>Find what each number is made of before you agree or disagree.</a:t>
            </a:r>
          </a:p>
        </p:txBody>
      </p:sp>
      <p:sp>
        <p:nvSpPr>
          <p:cNvPr id="32" name="Oval 3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Did the button do it?</a:t>
            </a:r>
          </a:p>
        </p:txBody>
      </p:sp>
      <p:sp>
        <p:nvSpPr>
          <p:cNvPr id="34" name="Oval 33"/>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2081688"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Does it survive delivery?</a:t>
            </a:r>
          </a:p>
        </p:txBody>
      </p:sp>
      <p:sp>
        <p:nvSpPr>
          <p:cNvPr id="36" name="Oval 35"/>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370732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Where did we go wrong?</a:t>
            </a:r>
          </a:p>
        </p:txBody>
      </p:sp>
      <p:sp>
        <p:nvSpPr>
          <p:cNvPr id="38" name="Oval 37"/>
          <p:cNvSpPr/>
          <p:nvPr/>
        </p:nvSpPr>
        <p:spPr>
          <a:xfrm>
            <a:off x="508520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5194934"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Is the tier healthy?</a:t>
            </a:r>
          </a:p>
        </p:txBody>
      </p:sp>
      <p:sp>
        <p:nvSpPr>
          <p:cNvPr id="40" name="Oval 39"/>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you say it aloud?</a:t>
            </a:r>
          </a:p>
        </p:txBody>
      </p:sp>
      <p:sp>
        <p:nvSpPr>
          <p:cNvPr id="42" name="Oval 41"/>
          <p:cNvSpPr/>
          <p:nvPr/>
        </p:nvSpPr>
        <p:spPr>
          <a:xfrm>
            <a:off x="792241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803214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So which branch moved?</a:t>
            </a:r>
          </a:p>
        </p:txBody>
      </p:sp>
      <p:sp>
        <p:nvSpPr>
          <p:cNvPr id="44" name="TextBox 4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S24  ·  29 / 37</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Tier revenue fell about 45 percent: call 7 first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each claim come to, and whom does the tier call first?</a:t>
            </a:r>
          </a:p>
        </p:txBody>
      </p:sp>
      <p:graphicFrame>
        <p:nvGraphicFramePr>
          <p:cNvPr id="9" name="Table 8"/>
          <p:cNvGraphicFramePr>
            <a:graphicFrameLocks noGrp="1"/>
          </p:cNvGraphicFramePr>
          <p:nvPr/>
        </p:nvGraphicFramePr>
        <p:xfrm>
          <a:off x="530352" y="1956816"/>
          <a:ext cx="11130990" cy="1962912"/>
        </p:xfrm>
        <a:graphic>
          <a:graphicData uri="http://schemas.openxmlformats.org/drawingml/2006/table">
            <a:tbl>
              <a:tblPr firstRow="0" bandRow="0">
                <a:tableStyleId>{2D5ABB26-0587-4C30-8999-92F81FD0307C}</a:tableStyleId>
              </a:tblPr>
              <a:tblGrid>
                <a:gridCol w="1993038"/>
                <a:gridCol w="4568976"/>
                <a:gridCol w="4568976"/>
              </a:tblGrid>
              <a:tr h="369824">
                <a:tc>
                  <a:txBody>
                    <a:bodyPr/>
                    <a:lstStyle/>
                    <a:p>
                      <a:r>
                        <a:rPr sz="1450" b="1" i="0">
                          <a:solidFill>
                            <a:srgbClr val="FFFFFF"/>
                          </a:solidFill>
                          <a:latin typeface="Calibri"/>
                        </a:rPr>
                        <a:t>Claim</a:t>
                      </a:r>
                    </a:p>
                  </a:txBody>
                  <a:tcPr marL="101600" marR="101600" marT="38100" marB="38100" anchor="ctr">
                    <a:solidFill>
                      <a:srgbClr val="1A0F5C"/>
                    </a:solidFill>
                  </a:tcPr>
                </a:tc>
                <a:tc>
                  <a:txBody>
                    <a:bodyPr/>
                    <a:lstStyle/>
                    <a:p>
                      <a:r>
                        <a:rPr sz="1450" b="1" i="0">
                          <a:solidFill>
                            <a:srgbClr val="FFFFFF"/>
                          </a:solidFill>
                          <a:latin typeface="Calibri"/>
                        </a:rPr>
                        <a:t>What it is made of</a:t>
                      </a:r>
                    </a:p>
                  </a:txBody>
                  <a:tcPr marL="101600" marR="101600" marT="38100" marB="38100" anchor="ctr">
                    <a:solidFill>
                      <a:srgbClr val="1A0F5C"/>
                    </a:solidFill>
                  </a:tcPr>
                </a:tc>
                <a:tc>
                  <a:txBody>
                    <a:bodyPr/>
                    <a:lstStyle/>
                    <a:p>
                      <a:r>
                        <a:rPr sz="1450" b="1" i="0">
                          <a:solidFill>
                            <a:srgbClr val="FFFFFF"/>
                          </a:solidFill>
                          <a:latin typeface="Calibri"/>
                        </a:rPr>
                        <a:t>The reply</a:t>
                      </a:r>
                    </a:p>
                  </a:txBody>
                  <a:tcPr marL="101600" marR="101600" marT="38100" marB="38100" anchor="ctr">
                    <a:solidFill>
                      <a:srgbClr val="1A0F5C"/>
                    </a:solidFill>
                  </a:tcPr>
                </a:tc>
              </a:tr>
              <a:tr h="611632">
                <a:tc>
                  <a:txBody>
                    <a:bodyPr/>
                    <a:lstStyle/>
                    <a:p>
                      <a:r>
                        <a:rPr sz="1400" b="0" i="0">
                          <a:solidFill>
                            <a:srgbClr val="1A1440"/>
                          </a:solidFill>
                          <a:latin typeface="Calibri"/>
                        </a:rPr>
                        <a:t>7 percent more per order</a:t>
                      </a:r>
                    </a:p>
                  </a:txBody>
                  <a:tcPr marL="101600" marR="101600" marT="38100" marB="38100" anchor="ctr">
                    <a:solidFill>
                      <a:srgbClr val="FFFFFF"/>
                    </a:solidFill>
                  </a:tcPr>
                </a:tc>
                <a:tc>
                  <a:txBody>
                    <a:bodyPr/>
                    <a:lstStyle/>
                    <a:p>
                      <a:r>
                        <a:rPr sz="1400" b="0" i="0">
                          <a:solidFill>
                            <a:srgbClr val="1A1440"/>
                          </a:solidFill>
                          <a:latin typeface="Calibri"/>
                        </a:rPr>
                        <a:t>The same 22 members at about half the orders: 1.000 x 0.510 x 1.070, about 0.55</a:t>
                      </a:r>
                    </a:p>
                  </a:txBody>
                  <a:tcPr marL="101600" marR="101600" marT="38100" marB="38100" anchor="ctr">
                    <a:solidFill>
                      <a:srgbClr val="FFFFFF"/>
                    </a:solidFill>
                  </a:tcPr>
                </a:tc>
                <a:tc>
                  <a:txBody>
                    <a:bodyPr/>
                    <a:lstStyle/>
                    <a:p>
                      <a:r>
                        <a:rPr sz="1400" b="0" i="0">
                          <a:solidFill>
                            <a:srgbClr val="1A1440"/>
                          </a:solidFill>
                          <a:latin typeface="Calibri"/>
                        </a:rPr>
                        <a:t>Tier revenue still fell about 45 percent, whatever one leaf did</a:t>
                      </a:r>
                    </a:p>
                  </a:txBody>
                  <a:tcPr marL="101600" marR="101600" marT="38100" marB="38100" anchor="ctr">
                    <a:solidFill>
                      <a:srgbClr val="FFFFFF"/>
                    </a:solidFill>
                  </a:tcPr>
                </a:tc>
              </a:tr>
              <a:tr h="611632">
                <a:tc>
                  <a:txBody>
                    <a:bodyPr/>
                    <a:lstStyle/>
                    <a:p>
                      <a:r>
                        <a:rPr sz="1400" b="0" i="0">
                          <a:solidFill>
                            <a:srgbClr val="1A1440"/>
                          </a:solidFill>
                          <a:latin typeface="Calibri"/>
                        </a:rPr>
                        <a:t>Web fell hardest</a:t>
                      </a:r>
                    </a:p>
                  </a:txBody>
                  <a:tcPr marL="101600" marR="101600" marT="38100" marB="38100" anchor="ctr">
                    <a:solidFill>
                      <a:srgbClr val="F4F2FA"/>
                    </a:solidFill>
                  </a:tcPr>
                </a:tc>
                <a:tc>
                  <a:txBody>
                    <a:bodyPr/>
                    <a:lstStyle/>
                    <a:p>
                      <a:r>
                        <a:rPr sz="1400" b="0" i="0">
                          <a:solidFill>
                            <a:srgbClr val="1A1440"/>
                          </a:solidFill>
                          <a:latin typeface="Calibri"/>
                        </a:rPr>
                        <a:t>Retail-Core web held, 13 to 12, same website</a:t>
                      </a:r>
                    </a:p>
                  </a:txBody>
                  <a:tcPr marL="101600" marR="101600" marT="38100" marB="38100" anchor="ctr">
                    <a:solidFill>
                      <a:srgbClr val="F4F2FA"/>
                    </a:solidFill>
                  </a:tcPr>
                </a:tc>
                <a:tc>
                  <a:txBody>
                    <a:bodyPr/>
                    <a:lstStyle/>
                    <a:p>
                      <a:r>
                        <a:rPr sz="1400" b="0" i="0">
                          <a:solidFill>
                            <a:srgbClr val="1A1440"/>
                          </a:solidFill>
                          <a:latin typeface="Calibri"/>
                        </a:rPr>
                        <a:t>A site-wide fault does not fit; members fell on every channel</a:t>
                      </a:r>
                    </a:p>
                  </a:txBody>
                  <a:tcPr marL="101600" marR="101600" marT="38100" marB="38100" anchor="ctr">
                    <a:solidFill>
                      <a:srgbClr val="F4F2FA"/>
                    </a:solidFill>
                  </a:tcPr>
                </a:tc>
              </a:tr>
              <a:tr h="369824">
                <a:tc>
                  <a:txBody>
                    <a:bodyPr/>
                    <a:lstStyle/>
                    <a:p>
                      <a:r>
                        <a:rPr sz="1400" b="0" i="0">
                          <a:solidFill>
                            <a:srgbClr val="1A1440"/>
                          </a:solidFill>
                          <a:latin typeface="Calibri"/>
                        </a:rPr>
                        <a:t>Who to call first</a:t>
                      </a:r>
                    </a:p>
                  </a:txBody>
                  <a:tcPr marL="101600" marR="101600" marT="38100" marB="38100" anchor="ctr">
                    <a:solidFill>
                      <a:srgbClr val="FFFFFF"/>
                    </a:solidFill>
                  </a:tcPr>
                </a:tc>
                <a:tc>
                  <a:txBody>
                    <a:bodyPr/>
                    <a:lstStyle/>
                    <a:p>
                      <a:r>
                        <a:rPr sz="1400" b="0" i="0">
                          <a:solidFill>
                            <a:srgbClr val="1A1440"/>
                          </a:solidFill>
                          <a:latin typeface="Calibri"/>
                        </a:rPr>
                        <a:t>7 members went from 3 orders to 1</a:t>
                      </a:r>
                    </a:p>
                  </a:txBody>
                  <a:tcPr marL="101600" marR="101600" marT="38100" marB="38100" anchor="ctr">
                    <a:solidFill>
                      <a:srgbClr val="FFFFFF"/>
                    </a:solidFill>
                  </a:tcPr>
                </a:tc>
                <a:tc>
                  <a:txBody>
                    <a:bodyPr/>
                    <a:lstStyle/>
                    <a:p>
                      <a:r>
                        <a:rPr sz="1400" b="0" i="0">
                          <a:solidFill>
                            <a:srgbClr val="1A1440"/>
                          </a:solidFill>
                          <a:latin typeface="Calibri"/>
                        </a:rPr>
                        <a:t>Call the 7, then the 11 who fell by one</a:t>
                      </a:r>
                    </a:p>
                  </a:txBody>
                  <a:tcPr marL="101600" marR="101600" marT="38100" marB="38100" anchor="ctr">
                    <a:solidFill>
                      <a:srgbClr val="FFFFFF"/>
                    </a:solidFill>
                  </a:tcPr>
                </a:tc>
              </a:tr>
            </a:tbl>
          </a:graphicData>
        </a:graphic>
      </p:graphicFrame>
      <p:sp>
        <p:nvSpPr>
          <p:cNvPr id="10" name="TextBox 9"/>
          <p:cNvSpPr txBox="1"/>
          <p:nvPr/>
        </p:nvSpPr>
        <p:spPr>
          <a:xfrm>
            <a:off x="530352" y="4175760"/>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one request that tests the most is the tier's July change log, renewals and support tickets, since the fall began in July; the reorder logs come second.</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Did the button do it?</a:t>
            </a:r>
          </a:p>
        </p:txBody>
      </p:sp>
      <p:sp>
        <p:nvSpPr>
          <p:cNvPr id="13" name="Oval 12"/>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081688"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Does it survive delivery?</a:t>
            </a:r>
          </a:p>
        </p:txBody>
      </p:sp>
      <p:sp>
        <p:nvSpPr>
          <p:cNvPr id="15" name="Oval 14"/>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70732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Where did we go wrong?</a:t>
            </a:r>
          </a:p>
        </p:txBody>
      </p:sp>
      <p:sp>
        <p:nvSpPr>
          <p:cNvPr id="17" name="Oval 16"/>
          <p:cNvSpPr/>
          <p:nvPr/>
        </p:nvSpPr>
        <p:spPr>
          <a:xfrm>
            <a:off x="508520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194934"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Is the tier healthy?</a:t>
            </a:r>
          </a:p>
        </p:txBody>
      </p:sp>
      <p:sp>
        <p:nvSpPr>
          <p:cNvPr id="19" name="Oval 18"/>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you say it aloud?</a:t>
            </a:r>
          </a:p>
        </p:txBody>
      </p:sp>
      <p:sp>
        <p:nvSpPr>
          <p:cNvPr id="21" name="Oval 20"/>
          <p:cNvSpPr/>
          <p:nvPr/>
        </p:nvSpPr>
        <p:spPr>
          <a:xfrm>
            <a:off x="792241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803214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So which branch moved?</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S25  ·  30 / 37</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10</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Can you say it aloud?</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Can you answer the day's twelve interview questions in one breath each, the design questions among them?</a:t>
            </a:r>
          </a:p>
        </p:txBody>
      </p:sp>
      <p:sp>
        <p:nvSpPr>
          <p:cNvPr id="10" name="Rounded Rectangle 9"/>
          <p:cNvSpPr/>
          <p:nvPr/>
        </p:nvSpPr>
        <p:spPr>
          <a:xfrm>
            <a:off x="731519" y="5074920"/>
            <a:ext cx="160929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Did the button do it?</a:t>
            </a:r>
          </a:p>
        </p:txBody>
      </p:sp>
      <p:sp>
        <p:nvSpPr>
          <p:cNvPr id="11" name="Rounded Rectangle 10"/>
          <p:cNvSpPr/>
          <p:nvPr/>
        </p:nvSpPr>
        <p:spPr>
          <a:xfrm>
            <a:off x="2450543" y="5074920"/>
            <a:ext cx="184615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Does it survive delivery?</a:t>
            </a:r>
          </a:p>
        </p:txBody>
      </p:sp>
      <p:sp>
        <p:nvSpPr>
          <p:cNvPr id="12" name="Rounded Rectangle 11"/>
          <p:cNvSpPr/>
          <p:nvPr/>
        </p:nvSpPr>
        <p:spPr>
          <a:xfrm>
            <a:off x="4406430"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Where did we go wrong?</a:t>
            </a:r>
          </a:p>
        </p:txBody>
      </p:sp>
      <p:sp>
        <p:nvSpPr>
          <p:cNvPr id="13" name="Rounded Rectangle 12"/>
          <p:cNvSpPr/>
          <p:nvPr/>
        </p:nvSpPr>
        <p:spPr>
          <a:xfrm>
            <a:off x="6184670" y="5074920"/>
            <a:ext cx="155007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Is the tier healthy?</a:t>
            </a:r>
          </a:p>
        </p:txBody>
      </p:sp>
      <p:sp>
        <p:nvSpPr>
          <p:cNvPr id="14" name="Rounded Rectangle 13"/>
          <p:cNvSpPr/>
          <p:nvPr/>
        </p:nvSpPr>
        <p:spPr>
          <a:xfrm>
            <a:off x="7844477" y="5074920"/>
            <a:ext cx="1609295"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Can you say it aloud?</a:t>
            </a:r>
          </a:p>
        </p:txBody>
      </p:sp>
      <p:sp>
        <p:nvSpPr>
          <p:cNvPr id="15" name="Rounded Rectangle 14"/>
          <p:cNvSpPr/>
          <p:nvPr/>
        </p:nvSpPr>
        <p:spPr>
          <a:xfrm>
            <a:off x="9563501"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So which branch moved?</a:t>
            </a:r>
          </a:p>
        </p:txBody>
      </p:sp>
      <p:sp>
        <p:nvSpPr>
          <p:cNvPr id="16" name="TextBox 15"/>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2. Did the reorder button do it?</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31 / 37</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the six every screen asks about a sales drop</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six questions does every analytics screen ask about a sales drop?</a:t>
            </a:r>
          </a:p>
        </p:txBody>
      </p:sp>
      <p:graphicFrame>
        <p:nvGraphicFramePr>
          <p:cNvPr id="9" name="Table 8"/>
          <p:cNvGraphicFramePr>
            <a:graphicFrameLocks noGrp="1"/>
          </p:cNvGraphicFramePr>
          <p:nvPr/>
        </p:nvGraphicFramePr>
        <p:xfrm>
          <a:off x="530352" y="1956816"/>
          <a:ext cx="11130991" cy="2830576"/>
        </p:xfrm>
        <a:graphic>
          <a:graphicData uri="http://schemas.openxmlformats.org/drawingml/2006/table">
            <a:tbl>
              <a:tblPr firstRow="0" bandRow="0">
                <a:tableStyleId>{2D5ABB26-0587-4C30-8999-92F81FD0307C}</a:tableStyleId>
              </a:tblPr>
              <a:tblGrid>
                <a:gridCol w="914400"/>
                <a:gridCol w="10216591"/>
              </a:tblGrid>
              <a:tr h="369824">
                <a:tc>
                  <a:txBody>
                    <a:bodyPr/>
                    <a:lstStyle/>
                    <a:p>
                      <a:r>
                        <a:rPr sz="1450" b="1" i="0">
                          <a:solidFill>
                            <a:srgbClr val="FFFFFF"/>
                          </a:solidFill>
                          <a:latin typeface="Calibri"/>
                        </a:rPr>
                        <a:t>Tag</a:t>
                      </a:r>
                    </a:p>
                  </a:txBody>
                  <a:tcPr marL="101600" marR="101600" marT="38100" marB="38100" anchor="ctr">
                    <a:solidFill>
                      <a:srgbClr val="1A0F5C"/>
                    </a:solidFill>
                  </a:tcPr>
                </a:tc>
                <a:tc>
                  <a:txBody>
                    <a:bodyPr/>
                    <a:lstStyle/>
                    <a:p>
                      <a:r>
                        <a:rPr sz="1450" b="1" i="0">
                          <a:solidFill>
                            <a:srgbClr val="FFFFFF"/>
                          </a:solidFill>
                          <a:latin typeface="Calibri"/>
                        </a:rPr>
                        <a:t>Question</a:t>
                      </a:r>
                    </a:p>
                  </a:txBody>
                  <a:tcPr marL="101600" marR="101600" marT="38100" marB="38100" anchor="ctr">
                    <a:solidFill>
                      <a:srgbClr val="1A0F5C"/>
                    </a:solidFill>
                  </a:tcPr>
                </a:tc>
              </a:tr>
              <a:tr h="369824">
                <a:tc>
                  <a:txBody>
                    <a:bodyPr/>
                    <a:lstStyle/>
                    <a:p>
                      <a:r>
                        <a:rPr sz="1400" b="0" i="0">
                          <a:solidFill>
                            <a:srgbClr val="1A1440"/>
                          </a:solidFill>
                          <a:latin typeface="Calibri"/>
                        </a:rPr>
                        <a:t>[S]</a:t>
                      </a:r>
                    </a:p>
                  </a:txBody>
                  <a:tcPr marL="101600" marR="101600" marT="38100" marB="38100" anchor="ctr">
                    <a:solidFill>
                      <a:srgbClr val="FFFFFF"/>
                    </a:solidFill>
                  </a:tcPr>
                </a:tc>
                <a:tc>
                  <a:txBody>
                    <a:bodyPr/>
                    <a:lstStyle/>
                    <a:p>
                      <a:r>
                        <a:rPr sz="1400" b="0" i="0">
                          <a:solidFill>
                            <a:srgbClr val="1A1440"/>
                          </a:solidFill>
                          <a:latin typeface="Calibri"/>
                        </a:rPr>
                        <a:t>1. Sales dropped 15 percent last month; how would you investigate?</a:t>
                      </a:r>
                    </a:p>
                  </a:txBody>
                  <a:tcPr marL="101600" marR="101600" marT="38100" marB="38100" anchor="ctr">
                    <a:solidFill>
                      <a:srgbClr val="FFFFFF"/>
                    </a:solidFill>
                  </a:tcPr>
                </a:tc>
              </a:tr>
              <a:tr h="369824">
                <a:tc>
                  <a:txBody>
                    <a:bodyPr/>
                    <a:lstStyle/>
                    <a:p>
                      <a:r>
                        <a:rPr sz="1400" b="0" i="0">
                          <a:solidFill>
                            <a:srgbClr val="1A1440"/>
                          </a:solidFill>
                          <a:latin typeface="Calibri"/>
                        </a:rPr>
                        <a:t>[S]</a:t>
                      </a:r>
                    </a:p>
                  </a:txBody>
                  <a:tcPr marL="101600" marR="101600" marT="38100" marB="38100" anchor="ctr">
                    <a:solidFill>
                      <a:srgbClr val="F4F2FA"/>
                    </a:solidFill>
                  </a:tcPr>
                </a:tc>
                <a:tc>
                  <a:txBody>
                    <a:bodyPr/>
                    <a:lstStyle/>
                    <a:p>
                      <a:r>
                        <a:rPr sz="1400" b="0" i="0">
                          <a:solidFill>
                            <a:srgbClr val="1A1440"/>
                          </a:solidFill>
                          <a:latin typeface="Calibri"/>
                        </a:rPr>
                        <a:t>2. Why is a rate without a denominator meaningless?</a:t>
                      </a:r>
                    </a:p>
                  </a:txBody>
                  <a:tcPr marL="101600" marR="101600" marT="38100" marB="38100" anchor="ctr">
                    <a:solidFill>
                      <a:srgbClr val="F4F2FA"/>
                    </a:solidFill>
                  </a:tcPr>
                </a:tc>
              </a:tr>
              <a:tr h="369824">
                <a:tc>
                  <a:txBody>
                    <a:bodyPr/>
                    <a:lstStyle/>
                    <a:p>
                      <a:r>
                        <a:rPr sz="1400" b="0" i="0">
                          <a:solidFill>
                            <a:srgbClr val="1A1440"/>
                          </a:solidFill>
                          <a:latin typeface="Calibri"/>
                        </a:rPr>
                        <a:t>[F]</a:t>
                      </a:r>
                    </a:p>
                  </a:txBody>
                  <a:tcPr marL="101600" marR="101600" marT="38100" marB="38100" anchor="ctr">
                    <a:solidFill>
                      <a:srgbClr val="FFFFFF"/>
                    </a:solidFill>
                  </a:tcPr>
                </a:tc>
                <a:tc>
                  <a:txBody>
                    <a:bodyPr/>
                    <a:lstStyle/>
                    <a:p>
                      <a:r>
                        <a:rPr sz="1400" b="0" i="0">
                          <a:solidFill>
                            <a:srgbClr val="1A1440"/>
                          </a:solidFill>
                          <a:latin typeface="Calibri"/>
                        </a:rPr>
                        <a:t>3. Why does a function that prints instead of returning break a pipeline?</a:t>
                      </a:r>
                    </a:p>
                  </a:txBody>
                  <a:tcPr marL="101600" marR="101600" marT="38100" marB="38100" anchor="ctr">
                    <a:solidFill>
                      <a:srgbClr val="FFFFFF"/>
                    </a:solidFill>
                  </a:tcPr>
                </a:tc>
              </a:tr>
              <a:tr h="369824">
                <a:tc>
                  <a:txBody>
                    <a:bodyPr/>
                    <a:lstStyle/>
                    <a:p>
                      <a:r>
                        <a:rPr sz="1400" b="0" i="0">
                          <a:solidFill>
                            <a:srgbClr val="1A1440"/>
                          </a:solidFill>
                          <a:latin typeface="Calibri"/>
                        </a:rPr>
                        <a:t>[F]</a:t>
                      </a:r>
                    </a:p>
                  </a:txBody>
                  <a:tcPr marL="101600" marR="101600" marT="38100" marB="38100" anchor="ctr">
                    <a:solidFill>
                      <a:srgbClr val="F4F2FA"/>
                    </a:solidFill>
                  </a:tcPr>
                </a:tc>
                <a:tc>
                  <a:txBody>
                    <a:bodyPr/>
                    <a:lstStyle/>
                    <a:p>
                      <a:r>
                        <a:rPr sz="1400" b="0" i="0">
                          <a:solidFill>
                            <a:srgbClr val="1A1440"/>
                          </a:solidFill>
                          <a:latin typeface="Calibri"/>
                        </a:rPr>
                        <a:t>4. What has to match before a quarter-on-quarter comparison is fair?</a:t>
                      </a:r>
                    </a:p>
                  </a:txBody>
                  <a:tcPr marL="101600" marR="101600" marT="38100" marB="38100" anchor="ctr">
                    <a:solidFill>
                      <a:srgbClr val="F4F2FA"/>
                    </a:solidFill>
                  </a:tcPr>
                </a:tc>
              </a:tr>
              <a:tr h="611632">
                <a:tc>
                  <a:txBody>
                    <a:bodyPr/>
                    <a:lstStyle/>
                    <a:p>
                      <a:r>
                        <a:rPr sz="1400" b="0" i="0">
                          <a:solidFill>
                            <a:srgbClr val="1A1440"/>
                          </a:solidFill>
                          <a:latin typeface="Calibri"/>
                        </a:rPr>
                        <a:t>[D]</a:t>
                      </a:r>
                    </a:p>
                  </a:txBody>
                  <a:tcPr marL="101600" marR="101600" marT="38100" marB="38100" anchor="ctr">
                    <a:solidFill>
                      <a:srgbClr val="FFFFFF"/>
                    </a:solidFill>
                  </a:tcPr>
                </a:tc>
                <a:tc>
                  <a:txBody>
                    <a:bodyPr/>
                    <a:lstStyle/>
                    <a:p>
                      <a:r>
                        <a:rPr sz="1400" b="0" i="0">
                          <a:solidFill>
                            <a:srgbClr val="1A1440"/>
                          </a:solidFill>
                          <a:latin typeface="Calibri"/>
                        </a:rPr>
                        <a:t>5. Marketing insists the answer is acquisition and your data says frequency; how do you make the case in the room?</a:t>
                      </a:r>
                    </a:p>
                  </a:txBody>
                  <a:tcPr marL="101600" marR="101600" marT="38100" marB="38100" anchor="ctr">
                    <a:solidFill>
                      <a:srgbClr val="FFFFFF"/>
                    </a:solidFill>
                  </a:tcPr>
                </a:tc>
              </a:tr>
              <a:tr h="369824">
                <a:tc>
                  <a:txBody>
                    <a:bodyPr/>
                    <a:lstStyle/>
                    <a:p>
                      <a:r>
                        <a:rPr sz="1400" b="0" i="0">
                          <a:solidFill>
                            <a:srgbClr val="1A1440"/>
                          </a:solidFill>
                          <a:latin typeface="Calibri"/>
                        </a:rPr>
                        <a:t>[F]</a:t>
                      </a:r>
                    </a:p>
                  </a:txBody>
                  <a:tcPr marL="101600" marR="101600" marT="38100" marB="38100" anchor="ctr">
                    <a:solidFill>
                      <a:srgbClr val="F4F2FA"/>
                    </a:solidFill>
                  </a:tcPr>
                </a:tc>
                <a:tc>
                  <a:txBody>
                    <a:bodyPr/>
                    <a:lstStyle/>
                    <a:p>
                      <a:r>
                        <a:rPr sz="1400" b="0" i="0">
                          <a:solidFill>
                            <a:srgbClr val="1A1440"/>
                          </a:solidFill>
                          <a:latin typeface="Calibri"/>
                        </a:rPr>
                        <a:t>6. Revenue fell 11 percent; how do you split the change between customers, frequency and order value?</a:t>
                      </a:r>
                    </a:p>
                  </a:txBody>
                  <a:tcPr marL="101600" marR="101600" marT="38100" marB="38100" anchor="ctr">
                    <a:solidFill>
                      <a:srgbClr val="F4F2FA"/>
                    </a:solidFill>
                  </a:tcPr>
                </a:tc>
              </a:tr>
            </a:tbl>
          </a:graphicData>
        </a:graphic>
      </p:graphicFrame>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Did the button do it?</a:t>
            </a:r>
          </a:p>
        </p:txBody>
      </p:sp>
      <p:sp>
        <p:nvSpPr>
          <p:cNvPr id="12" name="Oval 11"/>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081688"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Does it survive delivery?</a:t>
            </a:r>
          </a:p>
        </p:txBody>
      </p:sp>
      <p:sp>
        <p:nvSpPr>
          <p:cNvPr id="14" name="Oval 13"/>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70732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Where did we go wrong?</a:t>
            </a:r>
          </a:p>
        </p:txBody>
      </p:sp>
      <p:sp>
        <p:nvSpPr>
          <p:cNvPr id="16" name="Oval 15"/>
          <p:cNvSpPr/>
          <p:nvPr/>
        </p:nvSpPr>
        <p:spPr>
          <a:xfrm>
            <a:off x="50852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5194934"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Is the tier healthy?</a:t>
            </a:r>
          </a:p>
        </p:txBody>
      </p:sp>
      <p:sp>
        <p:nvSpPr>
          <p:cNvPr id="18" name="Oval 17"/>
          <p:cNvSpPr/>
          <p:nvPr/>
        </p:nvSpPr>
        <p:spPr>
          <a:xfrm>
            <a:off x="648080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590538"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Can you say it aloud?</a:t>
            </a:r>
          </a:p>
        </p:txBody>
      </p:sp>
      <p:sp>
        <p:nvSpPr>
          <p:cNvPr id="20" name="Oval 19"/>
          <p:cNvSpPr/>
          <p:nvPr/>
        </p:nvSpPr>
        <p:spPr>
          <a:xfrm>
            <a:off x="792241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803214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So which branch moved?</a:t>
            </a:r>
          </a:p>
        </p:txBody>
      </p:sp>
      <p:sp>
        <p:nvSpPr>
          <p:cNvPr id="22" name="TextBox 2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S26  ·  32 / 37</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Six follow-ups on weights, churn and design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follow-ups push a candidate past the first answer?</a:t>
            </a:r>
          </a:p>
        </p:txBody>
      </p:sp>
      <p:graphicFrame>
        <p:nvGraphicFramePr>
          <p:cNvPr id="9" name="Table 8"/>
          <p:cNvGraphicFramePr>
            <a:graphicFrameLocks noGrp="1"/>
          </p:cNvGraphicFramePr>
          <p:nvPr/>
        </p:nvGraphicFramePr>
        <p:xfrm>
          <a:off x="530352" y="1956816"/>
          <a:ext cx="11130991" cy="2830576"/>
        </p:xfrm>
        <a:graphic>
          <a:graphicData uri="http://schemas.openxmlformats.org/drawingml/2006/table">
            <a:tbl>
              <a:tblPr firstRow="0" bandRow="0">
                <a:tableStyleId>{2D5ABB26-0587-4C30-8999-92F81FD0307C}</a:tableStyleId>
              </a:tblPr>
              <a:tblGrid>
                <a:gridCol w="914400"/>
                <a:gridCol w="10216591"/>
              </a:tblGrid>
              <a:tr h="369824">
                <a:tc>
                  <a:txBody>
                    <a:bodyPr/>
                    <a:lstStyle/>
                    <a:p>
                      <a:r>
                        <a:rPr sz="1450" b="1" i="0">
                          <a:solidFill>
                            <a:srgbClr val="FFFFFF"/>
                          </a:solidFill>
                          <a:latin typeface="Calibri"/>
                        </a:rPr>
                        <a:t>Tag</a:t>
                      </a:r>
                    </a:p>
                  </a:txBody>
                  <a:tcPr marL="101600" marR="101600" marT="38100" marB="38100" anchor="ctr">
                    <a:solidFill>
                      <a:srgbClr val="1A0F5C"/>
                    </a:solidFill>
                  </a:tcPr>
                </a:tc>
                <a:tc>
                  <a:txBody>
                    <a:bodyPr/>
                    <a:lstStyle/>
                    <a:p>
                      <a:r>
                        <a:rPr sz="1450" b="1" i="0">
                          <a:solidFill>
                            <a:srgbClr val="FFFFFF"/>
                          </a:solidFill>
                          <a:latin typeface="Calibri"/>
                        </a:rPr>
                        <a:t>Question</a:t>
                      </a:r>
                    </a:p>
                  </a:txBody>
                  <a:tcPr marL="101600" marR="101600" marT="38100" marB="38100" anchor="ctr">
                    <a:solidFill>
                      <a:srgbClr val="1A0F5C"/>
                    </a:solidFill>
                  </a:tcPr>
                </a:tc>
              </a:tr>
              <a:tr h="369824">
                <a:tc>
                  <a:txBody>
                    <a:bodyPr/>
                    <a:lstStyle/>
                    <a:p>
                      <a:r>
                        <a:rPr sz="1400" b="0" i="0">
                          <a:solidFill>
                            <a:srgbClr val="1A1440"/>
                          </a:solidFill>
                          <a:latin typeface="Calibri"/>
                        </a:rPr>
                        <a:t>[F]</a:t>
                      </a:r>
                    </a:p>
                  </a:txBody>
                  <a:tcPr marL="101600" marR="101600" marT="38100" marB="38100" anchor="ctr">
                    <a:solidFill>
                      <a:srgbClr val="FFFFFF"/>
                    </a:solidFill>
                  </a:tcPr>
                </a:tc>
                <a:tc>
                  <a:txBody>
                    <a:bodyPr/>
                    <a:lstStyle/>
                    <a:p>
                      <a:r>
                        <a:rPr sz="1400" b="0" i="0">
                          <a:solidFill>
                            <a:srgbClr val="1A1440"/>
                          </a:solidFill>
                          <a:latin typeface="Calibri"/>
                        </a:rPr>
                        <a:t>7. Revenue per order rose 18 percent while revenue fell; did prices go up?</a:t>
                      </a:r>
                    </a:p>
                  </a:txBody>
                  <a:tcPr marL="101600" marR="101600" marT="38100" marB="38100" anchor="ctr">
                    <a:solidFill>
                      <a:srgbClr val="FFFFFF"/>
                    </a:solidFill>
                  </a:tcPr>
                </a:tc>
              </a:tr>
              <a:tr h="369824">
                <a:tc>
                  <a:txBody>
                    <a:bodyPr/>
                    <a:lstStyle/>
                    <a:p>
                      <a:r>
                        <a:rPr sz="1400" b="0" i="0">
                          <a:solidFill>
                            <a:srgbClr val="1A1440"/>
                          </a:solidFill>
                          <a:latin typeface="Calibri"/>
                        </a:rPr>
                        <a:t>[S]</a:t>
                      </a:r>
                    </a:p>
                  </a:txBody>
                  <a:tcPr marL="101600" marR="101600" marT="38100" marB="38100" anchor="ctr">
                    <a:solidFill>
                      <a:srgbClr val="F4F2FA"/>
                    </a:solidFill>
                  </a:tcPr>
                </a:tc>
                <a:tc>
                  <a:txBody>
                    <a:bodyPr/>
                    <a:lstStyle/>
                    <a:p>
                      <a:r>
                        <a:rPr sz="1400" b="0" i="0">
                          <a:solidFill>
                            <a:srgbClr val="1A1440"/>
                          </a:solidFill>
                          <a:latin typeface="Calibri"/>
                        </a:rPr>
                        <a:t>8. A field is missing on some records; do you fill it with zero?</a:t>
                      </a:r>
                    </a:p>
                  </a:txBody>
                  <a:tcPr marL="101600" marR="101600" marT="38100" marB="38100" anchor="ctr">
                    <a:solidFill>
                      <a:srgbClr val="F4F2FA"/>
                    </a:solidFill>
                  </a:tcPr>
                </a:tc>
              </a:tr>
              <a:tr h="369824">
                <a:tc>
                  <a:txBody>
                    <a:bodyPr/>
                    <a:lstStyle/>
                    <a:p>
                      <a:r>
                        <a:rPr sz="1400" b="0" i="0">
                          <a:solidFill>
                            <a:srgbClr val="1A1440"/>
                          </a:solidFill>
                          <a:latin typeface="Calibri"/>
                        </a:rPr>
                        <a:t>[F]</a:t>
                      </a:r>
                    </a:p>
                  </a:txBody>
                  <a:tcPr marL="101600" marR="101600" marT="38100" marB="38100" anchor="ctr">
                    <a:solidFill>
                      <a:srgbClr val="FFFFFF"/>
                    </a:solidFill>
                  </a:tcPr>
                </a:tc>
                <a:tc>
                  <a:txBody>
                    <a:bodyPr/>
                    <a:lstStyle/>
                    <a:p>
                      <a:r>
                        <a:rPr sz="1400" b="0" i="0">
                          <a:solidFill>
                            <a:srgbClr val="1A1440"/>
                          </a:solidFill>
                          <a:latin typeface="Calibri"/>
                        </a:rPr>
                        <a:t>9. You have orders per customer for four segments; why can't you average them for the company figure?</a:t>
                      </a:r>
                    </a:p>
                  </a:txBody>
                  <a:tcPr marL="101600" marR="101600" marT="38100" marB="38100" anchor="ctr">
                    <a:solidFill>
                      <a:srgbClr val="FFFFFF"/>
                    </a:solidFill>
                  </a:tcPr>
                </a:tc>
              </a:tr>
              <a:tr h="369824">
                <a:tc>
                  <a:txBody>
                    <a:bodyPr/>
                    <a:lstStyle/>
                    <a:p>
                      <a:r>
                        <a:rPr sz="1400" b="0" i="0">
                          <a:solidFill>
                            <a:srgbClr val="1A1440"/>
                          </a:solidFill>
                          <a:latin typeface="Calibri"/>
                        </a:rPr>
                        <a:t>[SV]</a:t>
                      </a:r>
                    </a:p>
                  </a:txBody>
                  <a:tcPr marL="101600" marR="101600" marT="38100" marB="38100" anchor="ctr">
                    <a:solidFill>
                      <a:srgbClr val="F4F2FA"/>
                    </a:solidFill>
                  </a:tcPr>
                </a:tc>
                <a:tc>
                  <a:txBody>
                    <a:bodyPr/>
                    <a:lstStyle/>
                    <a:p>
                      <a:r>
                        <a:rPr sz="1400" b="0" i="0">
                          <a:solidFill>
                            <a:srgbClr val="1A1440"/>
                          </a:solidFill>
                          <a:latin typeface="Calibri"/>
                        </a:rPr>
                        <a:t>10. The customer count is flat quarter on quarter; does that prove no customers were lost?</a:t>
                      </a:r>
                    </a:p>
                  </a:txBody>
                  <a:tcPr marL="101600" marR="101600" marT="38100" marB="38100" anchor="ctr">
                    <a:solidFill>
                      <a:srgbClr val="F4F2FA"/>
                    </a:solidFill>
                  </a:tcPr>
                </a:tc>
              </a:tr>
              <a:tr h="611632">
                <a:tc>
                  <a:txBody>
                    <a:bodyPr/>
                    <a:lstStyle/>
                    <a:p>
                      <a:r>
                        <a:rPr sz="1400" b="0" i="0">
                          <a:solidFill>
                            <a:srgbClr val="1A1440"/>
                          </a:solidFill>
                          <a:latin typeface="Calibri"/>
                        </a:rPr>
                        <a:t>[D]</a:t>
                      </a:r>
                    </a:p>
                  </a:txBody>
                  <a:tcPr marL="101600" marR="101600" marT="38100" marB="38100" anchor="ctr">
                    <a:solidFill>
                      <a:srgbClr val="FFFFFF"/>
                    </a:solidFill>
                  </a:tcPr>
                </a:tc>
                <a:tc>
                  <a:txBody>
                    <a:bodyPr/>
                    <a:lstStyle/>
                    <a:p>
                      <a:r>
                        <a:rPr sz="1400" b="0" i="0">
                          <a:solidFill>
                            <a:srgbClr val="1A1440"/>
                          </a:solidFill>
                          <a:latin typeface="Calibri"/>
                        </a:rPr>
                        <a:t>11. The design question: the same metrics are needed for every segment and quarter; do you copy the code, write a function or group by a key?</a:t>
                      </a:r>
                    </a:p>
                  </a:txBody>
                  <a:tcPr marL="101600" marR="101600" marT="38100" marB="38100" anchor="ctr">
                    <a:solidFill>
                      <a:srgbClr val="FFFFFF"/>
                    </a:solidFill>
                  </a:tcPr>
                </a:tc>
              </a:tr>
              <a:tr h="369824">
                <a:tc>
                  <a:txBody>
                    <a:bodyPr/>
                    <a:lstStyle/>
                    <a:p>
                      <a:r>
                        <a:rPr sz="1400" b="0" i="0">
                          <a:solidFill>
                            <a:srgbClr val="1A1440"/>
                          </a:solidFill>
                          <a:latin typeface="Calibri"/>
                        </a:rPr>
                        <a:t>[D]</a:t>
                      </a:r>
                    </a:p>
                  </a:txBody>
                  <a:tcPr marL="101600" marR="101600" marT="38100" marB="38100" anchor="ctr">
                    <a:solidFill>
                      <a:srgbClr val="F4F2FA"/>
                    </a:solidFill>
                  </a:tcPr>
                </a:tc>
                <a:tc>
                  <a:txBody>
                    <a:bodyPr/>
                    <a:lstStyle/>
                    <a:p>
                      <a:r>
                        <a:rPr sz="1400" b="0" i="0">
                          <a:solidFill>
                            <a:srgbClr val="1A1440"/>
                          </a:solidFill>
                          <a:latin typeface="Calibri"/>
                        </a:rPr>
                        <a:t>12. A stakeholder hands you a cause; how do you test it with the data you have and name the data you need?</a:t>
                      </a:r>
                    </a:p>
                  </a:txBody>
                  <a:tcPr marL="101600" marR="101600" marT="38100" marB="38100" anchor="ctr">
                    <a:solidFill>
                      <a:srgbClr val="F4F2FA"/>
                    </a:solidFill>
                  </a:tcPr>
                </a:tc>
              </a:tr>
            </a:tbl>
          </a:graphicData>
        </a:graphic>
      </p:graphicFrame>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Did the button do it?</a:t>
            </a:r>
          </a:p>
        </p:txBody>
      </p:sp>
      <p:sp>
        <p:nvSpPr>
          <p:cNvPr id="12" name="Oval 11"/>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081688"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Does it survive delivery?</a:t>
            </a:r>
          </a:p>
        </p:txBody>
      </p:sp>
      <p:sp>
        <p:nvSpPr>
          <p:cNvPr id="14" name="Oval 13"/>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70732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Where did we go wrong?</a:t>
            </a:r>
          </a:p>
        </p:txBody>
      </p:sp>
      <p:sp>
        <p:nvSpPr>
          <p:cNvPr id="16" name="Oval 15"/>
          <p:cNvSpPr/>
          <p:nvPr/>
        </p:nvSpPr>
        <p:spPr>
          <a:xfrm>
            <a:off x="50852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5194934"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Is the tier healthy?</a:t>
            </a:r>
          </a:p>
        </p:txBody>
      </p:sp>
      <p:sp>
        <p:nvSpPr>
          <p:cNvPr id="18" name="Oval 17"/>
          <p:cNvSpPr/>
          <p:nvPr/>
        </p:nvSpPr>
        <p:spPr>
          <a:xfrm>
            <a:off x="648080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590538"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Can you say it aloud?</a:t>
            </a:r>
          </a:p>
        </p:txBody>
      </p:sp>
      <p:sp>
        <p:nvSpPr>
          <p:cNvPr id="20" name="Oval 19"/>
          <p:cNvSpPr/>
          <p:nvPr/>
        </p:nvSpPr>
        <p:spPr>
          <a:xfrm>
            <a:off x="792241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803214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So which branch moved?</a:t>
            </a:r>
          </a:p>
        </p:txBody>
      </p:sp>
      <p:sp>
        <p:nvSpPr>
          <p:cNvPr id="22" name="TextBox 2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S27  ·  33 / 37</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11</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So which branch moved?</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So which branch moved from Q1 to Q2, and what goes to Meera tonight?</a:t>
            </a:r>
          </a:p>
        </p:txBody>
      </p:sp>
      <p:sp>
        <p:nvSpPr>
          <p:cNvPr id="10" name="Rounded Rectangle 9"/>
          <p:cNvSpPr/>
          <p:nvPr/>
        </p:nvSpPr>
        <p:spPr>
          <a:xfrm>
            <a:off x="731519" y="5074920"/>
            <a:ext cx="160929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Did the button do it?</a:t>
            </a:r>
          </a:p>
        </p:txBody>
      </p:sp>
      <p:sp>
        <p:nvSpPr>
          <p:cNvPr id="11" name="Rounded Rectangle 10"/>
          <p:cNvSpPr/>
          <p:nvPr/>
        </p:nvSpPr>
        <p:spPr>
          <a:xfrm>
            <a:off x="2450543" y="5074920"/>
            <a:ext cx="184615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Does it survive delivery?</a:t>
            </a:r>
          </a:p>
        </p:txBody>
      </p:sp>
      <p:sp>
        <p:nvSpPr>
          <p:cNvPr id="12" name="Rounded Rectangle 11"/>
          <p:cNvSpPr/>
          <p:nvPr/>
        </p:nvSpPr>
        <p:spPr>
          <a:xfrm>
            <a:off x="4406430"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Where did we go wrong?</a:t>
            </a:r>
          </a:p>
        </p:txBody>
      </p:sp>
      <p:sp>
        <p:nvSpPr>
          <p:cNvPr id="13" name="Rounded Rectangle 12"/>
          <p:cNvSpPr/>
          <p:nvPr/>
        </p:nvSpPr>
        <p:spPr>
          <a:xfrm>
            <a:off x="6184670" y="5074920"/>
            <a:ext cx="155007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Is the tier healthy?</a:t>
            </a:r>
          </a:p>
        </p:txBody>
      </p:sp>
      <p:sp>
        <p:nvSpPr>
          <p:cNvPr id="14" name="Rounded Rectangle 13"/>
          <p:cNvSpPr/>
          <p:nvPr/>
        </p:nvSpPr>
        <p:spPr>
          <a:xfrm>
            <a:off x="7844477" y="5074920"/>
            <a:ext cx="160929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Can you say it aloud?</a:t>
            </a:r>
          </a:p>
        </p:txBody>
      </p:sp>
      <p:sp>
        <p:nvSpPr>
          <p:cNvPr id="15" name="Rounded Rectangle 14"/>
          <p:cNvSpPr/>
          <p:nvPr/>
        </p:nvSpPr>
        <p:spPr>
          <a:xfrm>
            <a:off x="9563501" y="5074920"/>
            <a:ext cx="1668511"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So which branch moved?</a:t>
            </a:r>
          </a:p>
        </p:txBody>
      </p:sp>
      <p:sp>
        <p:nvSpPr>
          <p:cNvPr id="16" name="TextBox 15"/>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2. Did the reorder button do it?</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34 / 37</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the same customers bought less often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branch moved from Q1 to Q2, and what does Meera read tonight?</a:t>
            </a:r>
          </a:p>
        </p:txBody>
      </p:sp>
      <p:sp>
        <p:nvSpPr>
          <p:cNvPr id="9" name="Rounded Rectangle 8"/>
          <p:cNvSpPr/>
          <p:nvPr/>
        </p:nvSpPr>
        <p:spPr>
          <a:xfrm>
            <a:off x="530352" y="1956816"/>
            <a:ext cx="45720" cy="3017519"/>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786384" y="1956816"/>
            <a:ext cx="10820095" cy="3017519"/>
          </a:xfrm>
          <a:prstGeom prst="rect">
            <a:avLst/>
          </a:prstGeom>
          <a:noFill/>
        </p:spPr>
        <p:txBody>
          <a:bodyPr wrap="square" anchor="t" lIns="0" rIns="0" tIns="0" bIns="0">
            <a:spAutoFit/>
          </a:bodyPr>
          <a:lstStyle/>
          <a:p>
            <a:r>
              <a:rPr sz="1600" b="0" i="1">
                <a:solidFill>
                  <a:srgbClr val="1A0F5C"/>
                </a:solidFill>
                <a:latin typeface="Georgia"/>
              </a:rPr>
              <a:t>"Revenue fell 11.0 percent between two closed quarters, Rs 2.10 crore to Rs 1.87 crore on the export as it stands. Customers held at 69, every one of them buying in both quarters, so acquisition is not the branch that moved; orders per customer fell from 1.65 to 1.25. In behaviour the fall sits in Retail-Plus, where the same 22 members placed 26 orders against 51, and revenue per order rose mainly because those small orders disappeared. In rupees most of it is three fewer Business orders, each worth lakhs, so one account's timing moves it by lakhs. The fall began in July, before the reorder button broke, so the button explains at most about 4 orders on the 55 days before the break, or 7.0 on the 37 days just before it; we are asking for the tier's July change log and the app's reorder logs."</a:t>
            </a:r>
          </a:p>
          <a:p>
            <a:pPr>
              <a:spcBef>
                <a:spcPts val="400"/>
              </a:spcBef>
            </a:pPr>
            <a:r>
              <a:rPr sz="1000" b="0" i="0">
                <a:solidFill>
                  <a:srgbClr val="6B6690"/>
                </a:solidFill>
                <a:latin typeface="Calibri"/>
              </a:rPr>
              <a:t>The data and AI team, to Meera Raghavan</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Did the button do it?</a:t>
            </a:r>
          </a:p>
        </p:txBody>
      </p:sp>
      <p:sp>
        <p:nvSpPr>
          <p:cNvPr id="13" name="Oval 12"/>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081688"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Does it survive delivery?</a:t>
            </a:r>
          </a:p>
        </p:txBody>
      </p:sp>
      <p:sp>
        <p:nvSpPr>
          <p:cNvPr id="15" name="Oval 14"/>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70732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Where did we go wrong?</a:t>
            </a:r>
          </a:p>
        </p:txBody>
      </p:sp>
      <p:sp>
        <p:nvSpPr>
          <p:cNvPr id="17" name="Oval 16"/>
          <p:cNvSpPr/>
          <p:nvPr/>
        </p:nvSpPr>
        <p:spPr>
          <a:xfrm>
            <a:off x="50852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194934"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Is the tier healthy?</a:t>
            </a:r>
          </a:p>
        </p:txBody>
      </p:sp>
      <p:sp>
        <p:nvSpPr>
          <p:cNvPr id="19" name="Oval 18"/>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you say it aloud?</a:t>
            </a:r>
          </a:p>
        </p:txBody>
      </p:sp>
      <p:sp>
        <p:nvSpPr>
          <p:cNvPr id="21" name="Oval 20"/>
          <p:cNvSpPr/>
          <p:nvPr/>
        </p:nvSpPr>
        <p:spPr>
          <a:xfrm>
            <a:off x="792241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8032146"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So which branch moved?</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S28  ·  35 / 37</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Eight lines to keep, word for word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rules from today are worth keeping word for word?</a:t>
            </a:r>
          </a:p>
        </p:txBody>
      </p:sp>
      <p:sp>
        <p:nvSpPr>
          <p:cNvPr id="9" name="TextBox 8"/>
          <p:cNvSpPr txBox="1"/>
          <p:nvPr/>
        </p:nvSpPr>
        <p:spPr>
          <a:xfrm>
            <a:off x="530352" y="1645920"/>
            <a:ext cx="502920" cy="333756"/>
          </a:xfrm>
          <a:prstGeom prst="rect">
            <a:avLst/>
          </a:prstGeom>
          <a:noFill/>
        </p:spPr>
        <p:txBody>
          <a:bodyPr wrap="square" anchor="t" lIns="0" rIns="0" tIns="0" bIns="0">
            <a:spAutoFit/>
          </a:bodyPr>
          <a:lstStyle/>
          <a:p>
            <a:pPr algn="l"/>
            <a:r>
              <a:rPr sz="1800" b="0" i="0">
                <a:solidFill>
                  <a:srgbClr val="5B3FD6"/>
                </a:solidFill>
                <a:latin typeface="Georgia"/>
              </a:rPr>
              <a:t>01</a:t>
            </a:r>
          </a:p>
        </p:txBody>
      </p:sp>
      <p:sp>
        <p:nvSpPr>
          <p:cNvPr id="10" name="TextBox 9"/>
          <p:cNvSpPr txBox="1"/>
          <p:nvPr/>
        </p:nvSpPr>
        <p:spPr>
          <a:xfrm>
            <a:off x="1097280" y="1682496"/>
            <a:ext cx="10564063" cy="368808"/>
          </a:xfrm>
          <a:prstGeom prst="rect">
            <a:avLst/>
          </a:prstGeom>
          <a:noFill/>
        </p:spPr>
        <p:txBody>
          <a:bodyPr wrap="square" anchor="t" lIns="0" rIns="0" tIns="0" bIns="0">
            <a:spAutoFit/>
          </a:bodyPr>
          <a:lstStyle/>
          <a:p>
            <a:r>
              <a:rPr sz="1500" b="0" i="0">
                <a:solidFill>
                  <a:srgbClr val="1A1440"/>
                </a:solidFill>
                <a:latin typeface="Calibri"/>
              </a:rPr>
              <a:t>Confirm the drop on matched windows before you explain it.</a:t>
            </a:r>
          </a:p>
        </p:txBody>
      </p:sp>
      <p:sp>
        <p:nvSpPr>
          <p:cNvPr id="11" name="TextBox 10"/>
          <p:cNvSpPr txBox="1"/>
          <p:nvPr/>
        </p:nvSpPr>
        <p:spPr>
          <a:xfrm>
            <a:off x="530352" y="2087880"/>
            <a:ext cx="502920" cy="333756"/>
          </a:xfrm>
          <a:prstGeom prst="rect">
            <a:avLst/>
          </a:prstGeom>
          <a:noFill/>
        </p:spPr>
        <p:txBody>
          <a:bodyPr wrap="square" anchor="t" lIns="0" rIns="0" tIns="0" bIns="0">
            <a:spAutoFit/>
          </a:bodyPr>
          <a:lstStyle/>
          <a:p>
            <a:pPr algn="l"/>
            <a:r>
              <a:rPr sz="1800" b="0" i="0">
                <a:solidFill>
                  <a:srgbClr val="5B3FD6"/>
                </a:solidFill>
                <a:latin typeface="Georgia"/>
              </a:rPr>
              <a:t>02</a:t>
            </a:r>
          </a:p>
        </p:txBody>
      </p:sp>
      <p:sp>
        <p:nvSpPr>
          <p:cNvPr id="12" name="TextBox 11"/>
          <p:cNvSpPr txBox="1"/>
          <p:nvPr/>
        </p:nvSpPr>
        <p:spPr>
          <a:xfrm>
            <a:off x="1097280" y="2124456"/>
            <a:ext cx="10564063" cy="368808"/>
          </a:xfrm>
          <a:prstGeom prst="rect">
            <a:avLst/>
          </a:prstGeom>
          <a:noFill/>
        </p:spPr>
        <p:txBody>
          <a:bodyPr wrap="square" anchor="t" lIns="0" rIns="0" tIns="0" bIns="0">
            <a:spAutoFit/>
          </a:bodyPr>
          <a:lstStyle/>
          <a:p>
            <a:r>
              <a:rPr sz="1500" b="0" i="0">
                <a:solidFill>
                  <a:srgbClr val="1A1440"/>
                </a:solidFill>
                <a:latin typeface="Calibri"/>
              </a:rPr>
              <a:t>A rate without its denominator is a rumour.</a:t>
            </a:r>
          </a:p>
        </p:txBody>
      </p:sp>
      <p:sp>
        <p:nvSpPr>
          <p:cNvPr id="13" name="TextBox 12"/>
          <p:cNvSpPr txBox="1"/>
          <p:nvPr/>
        </p:nvSpPr>
        <p:spPr>
          <a:xfrm>
            <a:off x="530352" y="2529840"/>
            <a:ext cx="502920" cy="333756"/>
          </a:xfrm>
          <a:prstGeom prst="rect">
            <a:avLst/>
          </a:prstGeom>
          <a:noFill/>
        </p:spPr>
        <p:txBody>
          <a:bodyPr wrap="square" anchor="t" lIns="0" rIns="0" tIns="0" bIns="0">
            <a:spAutoFit/>
          </a:bodyPr>
          <a:lstStyle/>
          <a:p>
            <a:pPr algn="l"/>
            <a:r>
              <a:rPr sz="1800" b="0" i="0">
                <a:solidFill>
                  <a:srgbClr val="5B3FD6"/>
                </a:solidFill>
                <a:latin typeface="Georgia"/>
              </a:rPr>
              <a:t>03</a:t>
            </a:r>
          </a:p>
        </p:txBody>
      </p:sp>
      <p:sp>
        <p:nvSpPr>
          <p:cNvPr id="14" name="TextBox 13"/>
          <p:cNvSpPr txBox="1"/>
          <p:nvPr/>
        </p:nvSpPr>
        <p:spPr>
          <a:xfrm>
            <a:off x="1097280" y="2566416"/>
            <a:ext cx="10564063" cy="368808"/>
          </a:xfrm>
          <a:prstGeom prst="rect">
            <a:avLst/>
          </a:prstGeom>
          <a:noFill/>
        </p:spPr>
        <p:txBody>
          <a:bodyPr wrap="square" anchor="t" lIns="0" rIns="0" tIns="0" bIns="0">
            <a:spAutoFit/>
          </a:bodyPr>
          <a:lstStyle/>
          <a:p>
            <a:r>
              <a:rPr sz="1500" b="0" i="0">
                <a:solidFill>
                  <a:srgbClr val="1A1440"/>
                </a:solidFill>
                <a:latin typeface="Calibri"/>
              </a:rPr>
              <a:t>Decompose along the tree: customers, orders per customer, revenue per order.</a:t>
            </a:r>
          </a:p>
        </p:txBody>
      </p:sp>
      <p:sp>
        <p:nvSpPr>
          <p:cNvPr id="15" name="TextBox 14"/>
          <p:cNvSpPr txBox="1"/>
          <p:nvPr/>
        </p:nvSpPr>
        <p:spPr>
          <a:xfrm>
            <a:off x="530352" y="2971800"/>
            <a:ext cx="502920" cy="333756"/>
          </a:xfrm>
          <a:prstGeom prst="rect">
            <a:avLst/>
          </a:prstGeom>
          <a:noFill/>
        </p:spPr>
        <p:txBody>
          <a:bodyPr wrap="square" anchor="t" lIns="0" rIns="0" tIns="0" bIns="0">
            <a:spAutoFit/>
          </a:bodyPr>
          <a:lstStyle/>
          <a:p>
            <a:pPr algn="l"/>
            <a:r>
              <a:rPr sz="1800" b="0" i="0">
                <a:solidFill>
                  <a:srgbClr val="5B3FD6"/>
                </a:solidFill>
                <a:latin typeface="Georgia"/>
              </a:rPr>
              <a:t>04</a:t>
            </a:r>
          </a:p>
        </p:txBody>
      </p:sp>
      <p:sp>
        <p:nvSpPr>
          <p:cNvPr id="16" name="TextBox 15"/>
          <p:cNvSpPr txBox="1"/>
          <p:nvPr/>
        </p:nvSpPr>
        <p:spPr>
          <a:xfrm>
            <a:off x="1097280" y="3008376"/>
            <a:ext cx="10564063" cy="368808"/>
          </a:xfrm>
          <a:prstGeom prst="rect">
            <a:avLst/>
          </a:prstGeom>
          <a:noFill/>
        </p:spPr>
        <p:txBody>
          <a:bodyPr wrap="square" anchor="t" lIns="0" rIns="0" tIns="0" bIns="0">
            <a:spAutoFit/>
          </a:bodyPr>
          <a:lstStyle/>
          <a:p>
            <a:r>
              <a:rPr sz="1500" b="0" i="0">
                <a:solidFill>
                  <a:srgbClr val="1A1440"/>
                </a:solidFill>
                <a:latin typeface="Calibri"/>
              </a:rPr>
              <a:t>Missing means unknown until someone chooses a default and writes down why.</a:t>
            </a:r>
          </a:p>
        </p:txBody>
      </p:sp>
      <p:sp>
        <p:nvSpPr>
          <p:cNvPr id="17" name="TextBox 16"/>
          <p:cNvSpPr txBox="1"/>
          <p:nvPr/>
        </p:nvSpPr>
        <p:spPr>
          <a:xfrm>
            <a:off x="530352" y="3413760"/>
            <a:ext cx="502920" cy="333756"/>
          </a:xfrm>
          <a:prstGeom prst="rect">
            <a:avLst/>
          </a:prstGeom>
          <a:noFill/>
        </p:spPr>
        <p:txBody>
          <a:bodyPr wrap="square" anchor="t" lIns="0" rIns="0" tIns="0" bIns="0">
            <a:spAutoFit/>
          </a:bodyPr>
          <a:lstStyle/>
          <a:p>
            <a:pPr algn="l"/>
            <a:r>
              <a:rPr sz="1800" b="0" i="0">
                <a:solidFill>
                  <a:srgbClr val="5B3FD6"/>
                </a:solidFill>
                <a:latin typeface="Georgia"/>
              </a:rPr>
              <a:t>05</a:t>
            </a:r>
          </a:p>
        </p:txBody>
      </p:sp>
      <p:sp>
        <p:nvSpPr>
          <p:cNvPr id="18" name="TextBox 17"/>
          <p:cNvSpPr txBox="1"/>
          <p:nvPr/>
        </p:nvSpPr>
        <p:spPr>
          <a:xfrm>
            <a:off x="1097280" y="3450336"/>
            <a:ext cx="10564063" cy="368808"/>
          </a:xfrm>
          <a:prstGeom prst="rect">
            <a:avLst/>
          </a:prstGeom>
          <a:noFill/>
        </p:spPr>
        <p:txBody>
          <a:bodyPr wrap="square" anchor="t" lIns="0" rIns="0" tIns="0" bIns="0">
            <a:spAutoFit/>
          </a:bodyPr>
          <a:lstStyle/>
          <a:p>
            <a:r>
              <a:rPr sz="1500" b="0" i="0">
                <a:solidFill>
                  <a:srgbClr val="1A1440"/>
                </a:solidFill>
                <a:latin typeface="Calibri"/>
              </a:rPr>
              <a:t>Roll a rate up with its weights; never average the averages.</a:t>
            </a:r>
          </a:p>
        </p:txBody>
      </p:sp>
      <p:sp>
        <p:nvSpPr>
          <p:cNvPr id="19" name="TextBox 18"/>
          <p:cNvSpPr txBox="1"/>
          <p:nvPr/>
        </p:nvSpPr>
        <p:spPr>
          <a:xfrm>
            <a:off x="530352" y="3855720"/>
            <a:ext cx="502920" cy="333756"/>
          </a:xfrm>
          <a:prstGeom prst="rect">
            <a:avLst/>
          </a:prstGeom>
          <a:noFill/>
        </p:spPr>
        <p:txBody>
          <a:bodyPr wrap="square" anchor="t" lIns="0" rIns="0" tIns="0" bIns="0">
            <a:spAutoFit/>
          </a:bodyPr>
          <a:lstStyle/>
          <a:p>
            <a:pPr algn="l"/>
            <a:r>
              <a:rPr sz="1800" b="0" i="0">
                <a:solidFill>
                  <a:srgbClr val="5B3FD6"/>
                </a:solidFill>
                <a:latin typeface="Georgia"/>
              </a:rPr>
              <a:t>06</a:t>
            </a:r>
          </a:p>
        </p:txBody>
      </p:sp>
      <p:sp>
        <p:nvSpPr>
          <p:cNvPr id="20" name="TextBox 19"/>
          <p:cNvSpPr txBox="1"/>
          <p:nvPr/>
        </p:nvSpPr>
        <p:spPr>
          <a:xfrm>
            <a:off x="1097280" y="3892296"/>
            <a:ext cx="10564063" cy="368808"/>
          </a:xfrm>
          <a:prstGeom prst="rect">
            <a:avLst/>
          </a:prstGeom>
          <a:noFill/>
        </p:spPr>
        <p:txBody>
          <a:bodyPr wrap="square" anchor="t" lIns="0" rIns="0" tIns="0" bIns="0">
            <a:spAutoFit/>
          </a:bodyPr>
          <a:lstStyle/>
          <a:p>
            <a:r>
              <a:rPr sz="1500" b="0" i="0">
                <a:solidFill>
                  <a:srgbClr val="1A1440"/>
                </a:solidFill>
                <a:latin typeface="Calibri"/>
              </a:rPr>
              <a:t>A blended rate can move while no segment moves; split mix from rate.</a:t>
            </a:r>
          </a:p>
        </p:txBody>
      </p:sp>
      <p:sp>
        <p:nvSpPr>
          <p:cNvPr id="21" name="TextBox 20"/>
          <p:cNvSpPr txBox="1"/>
          <p:nvPr/>
        </p:nvSpPr>
        <p:spPr>
          <a:xfrm>
            <a:off x="530352" y="4297680"/>
            <a:ext cx="502920" cy="333756"/>
          </a:xfrm>
          <a:prstGeom prst="rect">
            <a:avLst/>
          </a:prstGeom>
          <a:noFill/>
        </p:spPr>
        <p:txBody>
          <a:bodyPr wrap="square" anchor="t" lIns="0" rIns="0" tIns="0" bIns="0">
            <a:spAutoFit/>
          </a:bodyPr>
          <a:lstStyle/>
          <a:p>
            <a:pPr algn="l"/>
            <a:r>
              <a:rPr sz="1800" b="0" i="0">
                <a:solidFill>
                  <a:srgbClr val="5B3FD6"/>
                </a:solidFill>
                <a:latin typeface="Georgia"/>
              </a:rPr>
              <a:t>07</a:t>
            </a:r>
          </a:p>
        </p:txBody>
      </p:sp>
      <p:sp>
        <p:nvSpPr>
          <p:cNvPr id="22" name="TextBox 21"/>
          <p:cNvSpPr txBox="1"/>
          <p:nvPr/>
        </p:nvSpPr>
        <p:spPr>
          <a:xfrm>
            <a:off x="1097280" y="4334256"/>
            <a:ext cx="10564063" cy="368808"/>
          </a:xfrm>
          <a:prstGeom prst="rect">
            <a:avLst/>
          </a:prstGeom>
          <a:noFill/>
        </p:spPr>
        <p:txBody>
          <a:bodyPr wrap="square" anchor="t" lIns="0" rIns="0" tIns="0" bIns="0">
            <a:spAutoFit/>
          </a:bodyPr>
          <a:lstStyle/>
          <a:p>
            <a:r>
              <a:rPr sz="1500" b="0" i="0">
                <a:solidFill>
                  <a:srgbClr val="1A1440"/>
                </a:solidFill>
                <a:latin typeface="Calibri"/>
              </a:rPr>
              <a:t>A function returns its answer; count the groups in and the groups out.</a:t>
            </a:r>
          </a:p>
        </p:txBody>
      </p:sp>
      <p:sp>
        <p:nvSpPr>
          <p:cNvPr id="23" name="TextBox 22"/>
          <p:cNvSpPr txBox="1"/>
          <p:nvPr/>
        </p:nvSpPr>
        <p:spPr>
          <a:xfrm>
            <a:off x="530352" y="4739640"/>
            <a:ext cx="502920" cy="333756"/>
          </a:xfrm>
          <a:prstGeom prst="rect">
            <a:avLst/>
          </a:prstGeom>
          <a:noFill/>
        </p:spPr>
        <p:txBody>
          <a:bodyPr wrap="square" anchor="t" lIns="0" rIns="0" tIns="0" bIns="0">
            <a:spAutoFit/>
          </a:bodyPr>
          <a:lstStyle/>
          <a:p>
            <a:pPr algn="l"/>
            <a:r>
              <a:rPr sz="1800" b="0" i="0">
                <a:solidFill>
                  <a:srgbClr val="5B3FD6"/>
                </a:solidFill>
                <a:latin typeface="Georgia"/>
              </a:rPr>
              <a:t>08</a:t>
            </a:r>
          </a:p>
        </p:txBody>
      </p:sp>
      <p:sp>
        <p:nvSpPr>
          <p:cNvPr id="24" name="TextBox 23"/>
          <p:cNvSpPr txBox="1"/>
          <p:nvPr/>
        </p:nvSpPr>
        <p:spPr>
          <a:xfrm>
            <a:off x="1097280" y="4776216"/>
            <a:ext cx="10564063" cy="368808"/>
          </a:xfrm>
          <a:prstGeom prst="rect">
            <a:avLst/>
          </a:prstGeom>
          <a:noFill/>
        </p:spPr>
        <p:txBody>
          <a:bodyPr wrap="square" anchor="t" lIns="0" rIns="0" tIns="0" bIns="0">
            <a:spAutoFit/>
          </a:bodyPr>
          <a:lstStyle/>
          <a:p>
            <a:r>
              <a:rPr sz="1500" b="0" i="0">
                <a:solidFill>
                  <a:srgbClr val="1A1440"/>
                </a:solidFill>
                <a:latin typeface="Calibri"/>
              </a:rPr>
              <a:t>Name the cause as a hypothesis, with its ceiling and the evidence that would settle it.</a:t>
            </a:r>
          </a:p>
        </p:txBody>
      </p:sp>
      <p:pic>
        <p:nvPicPr>
          <p:cNvPr id="25" name="mermaid diagram" descr="9035c65d03ba2779.png"/>
          <p:cNvPicPr>
            <a:picLocks noChangeAspect="1"/>
          </p:cNvPicPr>
          <p:nvPr/>
        </p:nvPicPr>
        <p:blipFill>
          <a:blip r:embed="rId5"/>
          <a:stretch>
            <a:fillRect/>
          </a:stretch>
        </p:blipFill>
        <p:spPr>
          <a:xfrm>
            <a:off x="794702" y="5327904"/>
            <a:ext cx="10602289" cy="1097280"/>
          </a:xfrm>
          <a:prstGeom prst="rect">
            <a:avLst/>
          </a:prstGeom>
        </p:spPr>
      </p:pic>
      <p:sp>
        <p:nvSpPr>
          <p:cNvPr id="26" name="Oval 2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Did the button do it?</a:t>
            </a:r>
          </a:p>
        </p:txBody>
      </p:sp>
      <p:sp>
        <p:nvSpPr>
          <p:cNvPr id="28" name="Oval 27"/>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2081688"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Does it survive delivery?</a:t>
            </a:r>
          </a:p>
        </p:txBody>
      </p:sp>
      <p:sp>
        <p:nvSpPr>
          <p:cNvPr id="30" name="Oval 29"/>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370732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Where did we go wrong?</a:t>
            </a:r>
          </a:p>
        </p:txBody>
      </p:sp>
      <p:sp>
        <p:nvSpPr>
          <p:cNvPr id="32" name="Oval 31"/>
          <p:cNvSpPr/>
          <p:nvPr/>
        </p:nvSpPr>
        <p:spPr>
          <a:xfrm>
            <a:off x="50852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5194934"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Is the tier healthy?</a:t>
            </a:r>
          </a:p>
        </p:txBody>
      </p:sp>
      <p:sp>
        <p:nvSpPr>
          <p:cNvPr id="34" name="Oval 33"/>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you say it aloud?</a:t>
            </a:r>
          </a:p>
        </p:txBody>
      </p:sp>
      <p:sp>
        <p:nvSpPr>
          <p:cNvPr id="36" name="Oval 35"/>
          <p:cNvSpPr/>
          <p:nvPr/>
        </p:nvSpPr>
        <p:spPr>
          <a:xfrm>
            <a:off x="792241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8032146"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So which branch moved?</a:t>
            </a:r>
          </a:p>
        </p:txBody>
      </p:sp>
      <p:sp>
        <p:nvSpPr>
          <p:cNvPr id="38" name="TextBox 3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S29  ·  36 / 37</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Tomorrow, Anand questions tonight's numbers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Q1 figure is right, the dashboard's Rs 2.1 crore or Finance's Rs 1.9 crore?</a:t>
            </a:r>
          </a:p>
        </p:txBody>
      </p:sp>
      <p:sp>
        <p:nvSpPr>
          <p:cNvPr id="9" name="Rounded Rectangle 8"/>
          <p:cNvSpPr/>
          <p:nvPr/>
        </p:nvSpPr>
        <p:spPr>
          <a:xfrm>
            <a:off x="530352" y="1956816"/>
            <a:ext cx="45720" cy="1026160"/>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786384" y="1956816"/>
            <a:ext cx="10820095" cy="1026160"/>
          </a:xfrm>
          <a:prstGeom prst="rect">
            <a:avLst/>
          </a:prstGeom>
          <a:noFill/>
        </p:spPr>
        <p:txBody>
          <a:bodyPr wrap="square" anchor="t" lIns="0" rIns="0" tIns="0" bIns="0">
            <a:spAutoFit/>
          </a:bodyPr>
          <a:lstStyle/>
          <a:p>
            <a:r>
              <a:rPr sz="1600" b="0" i="1">
                <a:solidFill>
                  <a:srgbClr val="1A0F5C"/>
                </a:solidFill>
                <a:latin typeface="Georgia"/>
              </a:rPr>
              <a:t>"Your dashboard says Q1 was Rs 2.1 crore. Our books say 1.9. Until your numbers match ours, Finance will not act on a drop measured from an ERP export. Send me a reconciliation."</a:t>
            </a:r>
          </a:p>
          <a:p>
            <a:pPr>
              <a:spcBef>
                <a:spcPts val="400"/>
              </a:spcBef>
            </a:pPr>
            <a:r>
              <a:rPr sz="1000" b="0" i="0">
                <a:solidFill>
                  <a:srgbClr val="6B6690"/>
                </a:solidFill>
                <a:latin typeface="Calibri"/>
              </a:rPr>
              <a:t>Anand Iyer, finance controller, Kalpa Retail</a:t>
            </a:r>
          </a:p>
        </p:txBody>
      </p:sp>
      <p:pic>
        <p:nvPicPr>
          <p:cNvPr id="11" name="mermaid diagram" descr="c624ac5c6ae12194.png"/>
          <p:cNvPicPr>
            <a:picLocks noChangeAspect="1"/>
          </p:cNvPicPr>
          <p:nvPr/>
        </p:nvPicPr>
        <p:blipFill>
          <a:blip r:embed="rId5"/>
          <a:stretch>
            <a:fillRect/>
          </a:stretch>
        </p:blipFill>
        <p:spPr>
          <a:xfrm>
            <a:off x="3524097" y="3129280"/>
            <a:ext cx="5143500" cy="2786062"/>
          </a:xfrm>
          <a:prstGeom prst="rect">
            <a:avLst/>
          </a:prstGeom>
        </p:spPr>
      </p:pic>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Did the button do it?</a:t>
            </a:r>
          </a:p>
        </p:txBody>
      </p:sp>
      <p:sp>
        <p:nvSpPr>
          <p:cNvPr id="14" name="Oval 13"/>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081688"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Does it survive delivery?</a:t>
            </a:r>
          </a:p>
        </p:txBody>
      </p:sp>
      <p:sp>
        <p:nvSpPr>
          <p:cNvPr id="16" name="Oval 15"/>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70732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Where did we go wrong?</a:t>
            </a:r>
          </a:p>
        </p:txBody>
      </p:sp>
      <p:sp>
        <p:nvSpPr>
          <p:cNvPr id="18" name="Oval 17"/>
          <p:cNvSpPr/>
          <p:nvPr/>
        </p:nvSpPr>
        <p:spPr>
          <a:xfrm>
            <a:off x="50852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5194934"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Is the tier healthy?</a:t>
            </a:r>
          </a:p>
        </p:txBody>
      </p:sp>
      <p:sp>
        <p:nvSpPr>
          <p:cNvPr id="20" name="Oval 19"/>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you say it aloud?</a:t>
            </a:r>
          </a:p>
        </p:txBody>
      </p:sp>
      <p:sp>
        <p:nvSpPr>
          <p:cNvPr id="22" name="Oval 21"/>
          <p:cNvSpPr/>
          <p:nvPr/>
        </p:nvSpPr>
        <p:spPr>
          <a:xfrm>
            <a:off x="792241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032146"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So which branch moved?</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S30  ·  37 / 37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