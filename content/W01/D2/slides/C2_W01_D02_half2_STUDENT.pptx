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three rungs: the drop is real at 11.0 percent, the branch is</a:t>
            </a:r>
          </a:p>
          <a:p>
            <a:r>
              <a:t>orders per customer, and the room ran the segment split itself. The afternoon climbs rungs 4 and 5:</a:t>
            </a:r>
          </a:p>
          <a:p>
            <a:r>
              <a:t>mix against rate, then a hypothesis that Marketing attacks. From here on, the segment is named.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60 minutes, unguided: 5 to brief, 50 working in</a:t>
            </a:r>
          </a:p>
          <a:p>
            <a:r>
              <a:t>notebooks/C2_W01_D02_04_escalated_case_STUDENT.ipynb, 5 to collect. The trainer does not teach</a:t>
            </a:r>
          </a:p>
          <a:p>
            <a:r>
              <a:t>during the block;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Meera's line here restates the case brief in her voice. The case brief in</a:t>
            </a:r>
          </a:p>
          <a:p>
            <a:r>
              <a:t>the exercises folder carries every part in full. Say only that the case is unguided and that the</a:t>
            </a:r>
          </a:p>
          <a:p>
            <a:r>
              <a:t>notebook's checks will tell each learner whether a number is right. Do not warn anyone about the</a:t>
            </a:r>
          </a:p>
          <a:p>
            <a:r>
              <a:t>helper.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the helper as the brief hands it over and move on. Kavya's line is the only</a:t>
            </a:r>
          </a:p>
          <a:p>
            <a:r>
              <a:t>hint the room gets. The debrief opens on what this function does to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shown with the brief. The same idea as the morning's weighted roll-up, turned the</a:t>
            </a:r>
          </a:p>
          <a:p>
            <a:r>
              <a:t>other way: a blend moves when its weights move, even if no part of it changed. The morning showed</a:t>
            </a:r>
          </a:p>
          <a:p>
            <a:r>
              <a:t>that a bridge's split depends on which branch moves first; the same holds here, and the debrief puts</a:t>
            </a:r>
          </a:p>
          <a:p>
            <a:r>
              <a:t>both orders side by side. Then release the room to the notebook for 50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Use the room's own wrong answers where you heard them; name no</a:t>
            </a:r>
          </a:p>
          <a:p>
            <a:r>
              <a:t>learner. Each slide shows the wrong answer first and the check second.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Student gained 2 orders, which a bar chart of losses cannot show, so say it aloud:</a:t>
            </a:r>
          </a:p>
          <a:p>
            <a:r>
              <a:t>114 to 86 is Retail-Core minus 2, Retail-Plus minus 25, Business minus 3, Student plus 2.</a:t>
            </a:r>
          </a:p>
          <a:p>
            <a:r>
              <a:t>Retail-Plus is 25 of the 28 lost orders, 89 percent. In rupees, Business is Rs 22,29,720 of the</a:t>
            </a:r>
          </a:p>
          <a:p>
            <a:r>
              <a:t>Rs 23,00,000 fall because each Business order is worth lakhs. Both are true; the wrong answer is</a:t>
            </a:r>
          </a:p>
          <a:p>
            <a:r>
              <a:t>picking one lens and calling it the story. Consumer segments fell from Rs 2,28,820 to Rs 1,58,540.</a:t>
            </a:r>
          </a:p>
          <a:p>
            <a:r>
              <a:t>Tie it to the morning's describe: the Business median held, the middle half of its orders widened</a:t>
            </a:r>
          </a:p>
          <a:p>
            <a:r>
              <a:t>only 13 percent, and one order of Rs 29,45,460 stretched the range. Twenty orders a quarter, each</a:t>
            </a:r>
          </a:p>
          <a:p>
            <a:r>
              <a:t>worth lakhs, is lumpy revenue: three orders landing a week later would move this lens by lakhs, which</a:t>
            </a:r>
          </a:p>
          <a:p>
            <a:r>
              <a:t>is why it gets checked before anyone acts, and why Thursday asks what chance alone can produce.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summary read "orders per customer fell in every segment, most in Business,</a:t>
            </a:r>
          </a:p>
          <a:p>
            <a:r>
              <a:t>15.0 percent". Two lines, "check by hand: -49.0%" and "check by hand: +40.0%", printed above it</a:t>
            </a:r>
          </a:p>
          <a:p>
            <a:r>
              <a:t>with no segment name, and nobody connected them. The decision it misleads: Business accounts</a:t>
            </a:r>
          </a:p>
          <a:p>
            <a:r>
              <a:t>opened first, and the head of Retail-Plus is told his tier is not in the table. The check: four</a:t>
            </a:r>
          </a:p>
          <a:p>
            <a:r>
              <a:t>segments in against two rows out, or None in changes.values(). The fix: return the change on every</a:t>
            </a:r>
          </a:p>
          <a:p>
            <a:r>
              <a:t>path and put the flag in a separate column. The comprehension is the colleague's code; the room</a:t>
            </a:r>
          </a:p>
          <a:p>
            <a:r>
              <a:t>reads it and does not need to write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Now the segment rows can be shown. Student's two customers rising to 3.50 pull</a:t>
            </a:r>
          </a:p>
          <a:p>
            <a:r>
              <a:t>the average up as much as Retail-Core's thirty-four. Retail-Plus is the segment the room found at</a:t>
            </a:r>
          </a:p>
          <a:p>
            <a:r>
              <a:t>the end of the morning; say so and credit the room.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Q2's order mix and Q1's per-segment revenue per order, revenue per order would</a:t>
            </a:r>
          </a:p>
          <a:p>
            <a:r>
              <a:t>have been Rs 2,07,112, so the mix alone explains Rs 22,902 of the Rs 33,231 rise. Business took a</a:t>
            </a:r>
          </a:p>
          <a:p>
            <a:r>
              <a:t>larger share of fewer orders and Retail-Plus a smaller one. Nobody has to have paid more for the</a:t>
            </a:r>
          </a:p>
          <a:p>
            <a:r>
              <a:t>average order to grow. Move the rates first instead, at Q1's shares, and the rates explain Rs 9,203</a:t>
            </a:r>
          </a:p>
          <a:p>
            <a:r>
              <a:t>and the mix Rs 24,028, 72 percent: the split moves by three points and the answer does not. Say the</a:t>
            </a:r>
          </a:p>
          <a:p>
            <a:r>
              <a:t>order you used, as in the morning's bridge. Interview question 7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line is Q1, the second Q2. Nobody left the tier; the whole distribution</a:t>
            </a:r>
          </a:p>
          <a:p>
            <a:r>
              <a:t>slid left. That shape matters for the second case: a cause that hit a few members would leave most</a:t>
            </a:r>
          </a:p>
          <a:p>
            <a:r>
              <a:t>of them where they were, and this one moved nearly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break for 10 minutes. The honest read: in behaviour the fall is</a:t>
            </a:r>
          </a:p>
          <a:p>
            <a:r>
              <a:t>Retail-Plus, the same 22 members with 51 orders then 26; in rupees most of it is three fewer</a:t>
            </a:r>
          </a:p>
          <a:p>
            <a:r>
              <a:t>Business orders out of twenty, each worth lakhs, too few to call a trend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45 minutes in pairs, in</a:t>
            </a:r>
          </a:p>
          <a:p>
            <a:r>
              <a:t>notebooks/C2_W01_D02_05_second_case_STUDENT.ipynb. Brief for 3 minutes, 35 in pairs, 7 to hear</a:t>
            </a:r>
          </a:p>
          <a:p>
            <a:r>
              <a:t>two pairs make their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Pairs split the roles once: one partner defends the numbers, the other plays</a:t>
            </a:r>
          </a:p>
          <a:p>
            <a:r>
              <a:t>Marketing. Switch halfway. The notebook carries four tests: overlap, share of the fall, timing and</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Marketing's pushback is a fair one: a flat count does not prove nobody left.</a:t>
            </a:r>
          </a:p>
          <a:p>
            <a:r>
              <a:t>Take letters, then run the overlap cell.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This is interview question 10: a flat count never proves no</a:t>
            </a:r>
          </a:p>
          <a:p>
            <a:r>
              <a:t>churn; the overlap of ids does. Marketing's second pushback comes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rehearse this reply aloud. The strength of evidence is part of the answer:</a:t>
            </a:r>
          </a:p>
          <a:p>
            <a:r>
              <a:t>a change carried by 22 people is harder to explain away than one carried by three orders, even</a:t>
            </a:r>
          </a:p>
          <a:p>
            <a:r>
              <a:t>when the rupees are smaller. The cost argument comes from the morning's S3: HBR (Gallo, 2014)</a:t>
            </a:r>
          </a:p>
          <a:p>
            <a:r>
              <a:t>summarises studies putting acquisition at 5 to 25 times the cost of retention; those are estimates</a:t>
            </a:r>
          </a:p>
          <a:p>
            <a:r>
              <a:t>across industries, not Kalpa's figures, so pairs say "estimates" when they use them. The frequency</a:t>
            </a:r>
          </a:p>
          <a:p>
            <a:r>
              <a:t>lever works on the 22 members Kalpa already has. Interview question 11 is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first line is Retail-Plus and the second Retail-Core. The timing test: a</a:t>
            </a:r>
          </a:p>
          <a:p>
            <a:r>
              <a:t>cause cannot come after its effect. The fall began in July, before the break the complaint dates,</a:t>
            </a:r>
          </a:p>
          <a:p>
            <a:r>
              <a:t>so the break cannot be the whole story. Whether it deepened the fall rests on eight orders, which</a:t>
            </a:r>
          </a:p>
          <a:p>
            <a:r>
              <a:t>is Thursday's kind of question. The rival explanation a sharp pair raises is the season: July opens</a:t>
            </a:r>
          </a:p>
          <a:p>
            <a:r>
              <a:t>the monsoon quarter, and a seasonal dip would also start in July. Retail-Core, flat through the same</a:t>
            </a:r>
          </a:p>
          <a:p>
            <a:r>
              <a:t>months, is evidence against a season that hits everyone; a season that hits members harder is still</a:t>
            </a:r>
          </a:p>
          <a:p>
            <a:r>
              <a:t>possible, and last year's Q2 by segment settles it. Hold questions about any single month for</a:t>
            </a:r>
          </a:p>
          <a:p>
            <a:r>
              <a:t>Wednesday, when the export is profiled row by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channel test: where the cause should act, the effect should be largest.</a:t>
            </a:r>
          </a:p>
          <a:p>
            <a:r>
              <a:t>Web fell most. The reorder feature may still have hurt; the file cannot say how much, which is</a:t>
            </a:r>
          </a:p>
          <a:p>
            <a:r>
              <a:t>why the next slide asks for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then two pairs present in 7 minutes. Listen for pairs who say "the cause is" and</a:t>
            </a:r>
          </a:p>
          <a:p>
            <a:r>
              <a:t>for pairs who say "the evidence would be". Only the second earns Meera's trust. One systems point on</a:t>
            </a:r>
          </a:p>
          <a:p>
            <a:r>
              <a:t>the reorder logs: ask how they are written before trusting them. A failure log that records only the</a:t>
            </a:r>
          </a:p>
          <a:p>
            <a:r>
              <a:t>attempts that reached the server misses every member whose tap never got that far, and that absence</a:t>
            </a:r>
          </a:p>
          <a:p>
            <a:r>
              <a:t>is not random, which is the morning's missing-field lesson in a new place. Interview question 12 is</a:t>
            </a:r>
          </a:p>
          <a:p>
            <a:r>
              <a:t>this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30 minutes. Ask each question aloud to a named pair, give them one breath to</a:t>
            </a:r>
          </a:p>
          <a:p>
            <a:r>
              <a:t>answer, then read the model answer from the notes. Tags: [S] staple asked everywhere, [F] frequent</a:t>
            </a:r>
          </a:p>
          <a:p>
            <a:r>
              <a:t>in GCC and 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the drop on matched windows, compare like with like, decompose into customers, orders</a:t>
            </a:r>
          </a:p>
          <a:p>
            <a:r>
              <a:t>per customer and revenue per order, isolate the segment, then name a hypothesis with the evidence</a:t>
            </a:r>
          </a:p>
          <a:p>
            <a:r>
              <a:t>that would settle it, timing first.</a:t>
            </a:r>
          </a:p>
          <a:p>
            <a:r>
              <a:t>2. Without the denominator nobody can check it, compare it or know how many cases it rests on:</a:t>
            </a:r>
          </a:p>
          <a:p>
            <a:r>
              <a:t>40 percent of five orders and of five thousand are different claims.</a:t>
            </a:r>
          </a:p>
          <a:p>
            <a:r>
              <a:t>3. The caller receives None, so the next step either crashes or silently drops that group, and</a:t>
            </a:r>
          </a:p>
          <a:p>
            <a:r>
              <a:t>the screen looked right the whole time.</a:t>
            </a:r>
          </a:p>
          <a:p>
            <a:r>
              <a:t>4. The window's length and dates, the metric's definition, and the population counted; compare</a:t>
            </a:r>
          </a:p>
          <a:p>
            <a:r>
              <a:t>closed quarters, or the same weeks of each; and name the season, which only the same quarter last</a:t>
            </a:r>
          </a:p>
          <a:p>
            <a:r>
              <a:t>year removes, the reason retailers keep a 4-5-4 calendar.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5. Show the tree for both quarters, show that the same customers bought in both, agree in advance</a:t>
            </a:r>
          </a:p>
          <a:p>
            <a:r>
              <a:t>what evidence would change your mind, and propose a check before the spend rather than a refusal;</a:t>
            </a:r>
          </a:p>
          <a:p>
            <a:r>
              <a:t>the frequency lever works on customers already won, which published estimates put at a fraction of</a:t>
            </a:r>
          </a:p>
          <a:p>
            <a:r>
              <a:t>the cost of acquiring new ones.</a:t>
            </a:r>
          </a:p>
          <a:p>
            <a:r>
              <a:t>6. Move one branch at a time in a bridge: customers at the old rates, then frequency at the old</a:t>
            </a:r>
          </a:p>
          <a:p>
            <a:r>
              <a:t>order value, then order value on the new orders, and check the moves sum to the change. Say which</a:t>
            </a:r>
          </a:p>
          <a:p>
            <a:r>
              <a:t>branch moved first, because moving order value first charges frequency Rs 60.9 lakh instead of</a:t>
            </a:r>
          </a:p>
          <a:p>
            <a:r>
              <a:t>Rs 51.6 lakh, or use the symmetric logarithmic split, which gives Rs 55.9 lakh whatever the order.</a:t>
            </a:r>
          </a:p>
          <a:p>
            <a:r>
              <a:t>7. Not necessarily: hold the segment mix still and recompute; here about 69 percent of the rise</a:t>
            </a:r>
          </a:p>
          <a:p>
            <a:r>
              <a:t>was mix, because small orders disappeared.</a:t>
            </a:r>
          </a:p>
          <a:p>
            <a:r>
              <a:t>8. No: absent is unknown; count the records without it, report them separately, write down the</a:t>
            </a:r>
          </a:p>
          <a:p>
            <a:r>
              <a:t>default and why, and bound how much it could matter. Ask which system left it empty, because absence</a:t>
            </a:r>
          </a:p>
          <a:p>
            <a:r>
              <a:t>is rarely random, and whichever of in, try/except or get you use, it encodes that decision.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9. Each segment's rate carries its own customers as weight; total orders over total customers</a:t>
            </a:r>
          </a:p>
          <a:p>
            <a:r>
              <a:t>reproduces the company figure, and a plain average gives two customers the same vote as</a:t>
            </a:r>
          </a:p>
          <a:p>
            <a:r>
              <a:t>thirty-four. A ratio of totals, never a mean of ratios: reports that store averages and average</a:t>
            </a:r>
          </a:p>
          <a:p>
            <a:r>
              <a:t>them again make the same mistake at every level.</a:t>
            </a:r>
          </a:p>
          <a:p>
            <a:r>
              <a:t>10. No: churn replaced by new customers keeps a count flat; compare the ids, lost and new.</a:t>
            </a:r>
          </a:p>
          <a:p>
            <a:r>
              <a:t>11. Both, each with what it rests on: the behaviour change covers a whole tier and is the stronger</a:t>
            </a:r>
          </a:p>
          <a:p>
            <a:r>
              <a:t>evidence; the rupee change rests on a few large orders and gets checked before anyone acts.</a:t>
            </a:r>
          </a:p>
          <a:p>
            <a:r>
              <a:t>12. Test timing first, then where the cause should act most, then name the data that would</a:t>
            </a:r>
          </a:p>
          <a:p>
            <a:r>
              <a:t>settle it and what result would disprove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20 minutes: Kahoot 10, the sentence and the crux lines 7, tomorrow's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Run the pack from the kahoot folder. Pause on any question below 60 percent</a:t>
            </a:r>
          </a:p>
          <a:p>
            <a:r>
              <a:t>correct and ask a learner who got it right to explain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it aloud once, slowly. Ask two learners to compare it with the sentence they</a:t>
            </a:r>
          </a:p>
          <a:p>
            <a:r>
              <a:t>wrote in the escalated case: which part did theirs miss? Most miss the caveat or the data to ask for.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seven lines aloud with the room. The small chain maps them onto the</a:t>
            </a:r>
          </a:p>
          <a:p>
            <a:r>
              <a:t>ladder: lines 1 and 2 prove the drop, 3 and 4 decompose it, 5 and 6 keep the roll-up honest, and</a:t>
            </a:r>
          </a:p>
          <a:p>
            <a:r>
              <a:t>7 names the cause.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line and stop. Do not predict the answer. Remind the room that every</a:t>
            </a:r>
          </a:p>
          <a:p>
            <a:r>
              <a:t>number today was on the export as it stands, and point to the take-home brief. The TA-led</a:t>
            </a:r>
          </a:p>
          <a:p>
            <a:r>
              <a:t>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5.png"/><Relationship Id="rId6"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5.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Mix, rate and the cause on trial</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“Marketing says more customers. Prove it or disprove it.”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7" name="TextBox 16"/>
          <p:cNvSpPr txBox="1"/>
          <p:nvPr/>
        </p:nvSpPr>
        <p:spPr>
          <a:xfrm>
            <a:off x="547382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5857874"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Meera asks for the split by segment in rupees and in behaviour, and a colleague's helper comes with it.</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rupees and behaviour,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Rung 4 asks whether revenue per order rose on price or on the mix of orders.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say frequency fell and order value rose. Show me which segments did it, in rupees and in orders, and tell me whether anyone is paying more."</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tree per segment</a:t>
            </a:r>
          </a:p>
        </p:txBody>
      </p:sp>
      <p:sp>
        <p:nvSpPr>
          <p:cNvPr id="19" name="TextBox 18"/>
          <p:cNvSpPr txBox="1"/>
          <p:nvPr/>
        </p:nvSpPr>
        <p:spPr>
          <a:xfrm>
            <a:off x="694944"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for four segments and two quarters.</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Two bridges</a:t>
            </a:r>
          </a:p>
        </p:txBody>
      </p:sp>
      <p:sp>
        <p:nvSpPr>
          <p:cNvPr id="24" name="TextBox 23"/>
          <p:cNvSpPr txBox="1"/>
          <p:nvPr/>
        </p:nvSpPr>
        <p:spPr>
          <a:xfrm>
            <a:off x="3523411" y="4564126"/>
            <a:ext cx="2316403" cy="531876"/>
          </a:xfrm>
          <a:prstGeom prst="rect">
            <a:avLst/>
          </a:prstGeom>
          <a:noFill/>
        </p:spPr>
        <p:txBody>
          <a:bodyPr wrap="square" anchor="t" lIns="0" rIns="0" tIns="0" bIns="0">
            <a:spAutoFit/>
          </a:bodyPr>
          <a:lstStyle/>
          <a:p>
            <a:pPr algn="l"/>
            <a:r>
              <a:rPr sz="1000" b="0" i="0">
                <a:solidFill>
                  <a:srgbClr val="6B6690"/>
                </a:solidFill>
                <a:latin typeface="Calibri"/>
              </a:rPr>
              <a:t>Orders from 114 to 86, and rupees from Rs 2.10 crore to Rs 1.87 crore, segment by segment.</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Mix against rate</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Revenue per order at Q2's mix and Q1's per-segment rates.</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summary</a:t>
            </a:r>
          </a:p>
        </p:txBody>
      </p:sp>
      <p:sp>
        <p:nvSpPr>
          <p:cNvPr id="34" name="TextBox 33"/>
          <p:cNvSpPr txBox="1"/>
          <p:nvPr/>
        </p:nvSpPr>
        <p:spPr>
          <a:xfrm>
            <a:off x="9180347" y="4564126"/>
            <a:ext cx="2316403" cy="531876"/>
          </a:xfrm>
          <a:prstGeom prst="rect">
            <a:avLst/>
          </a:prstGeom>
          <a:noFill/>
        </p:spPr>
        <p:txBody>
          <a:bodyPr wrap="square" anchor="t" lIns="0" rIns="0" tIns="0" bIns="0">
            <a:spAutoFit/>
          </a:bodyPr>
          <a:lstStyle/>
          <a:p>
            <a:pPr algn="l"/>
            <a:r>
              <a:rPr sz="1000" b="0" i="0">
                <a:solidFill>
                  <a:srgbClr val="CFC9EE"/>
                </a:solidFill>
                <a:latin typeface="Calibri"/>
              </a:rPr>
              <a:t>A percentage change per segment, using the helper a colleague left behind.</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7" name="Oval 3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1" name="Oval 4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colleague's helper from last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computed quarter-on-quarter change for the last review, and the brief says to reuse it.</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p:txBody>
      </p:sp>
      <p:sp>
        <p:nvSpPr>
          <p:cNvPr id="14" name="Rounded Rectangle 13"/>
          <p:cNvSpPr/>
          <p:nvPr/>
        </p:nvSpPr>
        <p:spPr>
          <a:xfrm>
            <a:off x="530352" y="4093463"/>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2961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search-check_6571e64a041f.png"/>
          <p:cNvPicPr>
            <a:picLocks noChangeAspect="1"/>
          </p:cNvPicPr>
          <p:nvPr/>
        </p:nvPicPr>
        <p:blipFill>
          <a:blip r:embed="rId4"/>
          <a:stretch>
            <a:fillRect/>
          </a:stretch>
        </p:blipFill>
        <p:spPr>
          <a:xfrm>
            <a:off x="868680" y="4405883"/>
            <a:ext cx="237744" cy="237744"/>
          </a:xfrm>
          <a:prstGeom prst="rect">
            <a:avLst/>
          </a:prstGeom>
        </p:spPr>
      </p:pic>
      <p:sp>
        <p:nvSpPr>
          <p:cNvPr id="17" name="TextBox 16"/>
          <p:cNvSpPr txBox="1"/>
          <p:nvPr/>
        </p:nvSpPr>
        <p:spPr>
          <a:xfrm>
            <a:off x="1399031" y="423976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8" name="TextBox 17"/>
          <p:cNvSpPr txBox="1"/>
          <p:nvPr/>
        </p:nvSpPr>
        <p:spPr>
          <a:xfrm>
            <a:off x="1399031" y="4459223"/>
            <a:ext cx="9987991" cy="423672"/>
          </a:xfrm>
          <a:prstGeom prst="rect">
            <a:avLst/>
          </a:prstGeom>
          <a:noFill/>
        </p:spPr>
        <p:txBody>
          <a:bodyPr wrap="square" anchor="t" lIns="0" rIns="0" tIns="0" bIns="0">
            <a:spAutoFit/>
          </a:bodyPr>
          <a:lstStyle/>
          <a:p>
            <a:r>
              <a:rPr sz="1500" b="0" i="0">
                <a:solidFill>
                  <a:srgbClr val="1A1440"/>
                </a:solidFill>
                <a:latin typeface="Calibri"/>
              </a:rPr>
              <a:t>"Reuse is good. Know what a function hands back on every path before you trust its output."</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1" name="Oval 2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3" name="Oval 22"/>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5" name="Oval 24"/>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7" name="Oval 26"/>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per order is a blend of segment rates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company's revenue per order is each segment's rate, weighted by its share of orders.</a:t>
            </a:r>
          </a:p>
        </p:txBody>
      </p:sp>
      <p:pic>
        <p:nvPicPr>
          <p:cNvPr id="9" name="mermaid diagram" descr="4d80b5ce6e26da86.png"/>
          <p:cNvPicPr>
            <a:picLocks noChangeAspect="1"/>
          </p:cNvPicPr>
          <p:nvPr/>
        </p:nvPicPr>
        <p:blipFill>
          <a:blip r:embed="rId6"/>
          <a:stretch>
            <a:fillRect/>
          </a:stretch>
        </p:blipFill>
        <p:spPr>
          <a:xfrm>
            <a:off x="1580997" y="1956816"/>
            <a:ext cx="90297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Hold one part still and move the other: Q2's shares with Q1's rates isolates the mix, and what is left is the rate. As with the morning's bridge, the order is a choice, so say which part moved first.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reached, each plausible, each with the check that catches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Business is the whole story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rupees Business carries the fall; in orders Retail-Plus carries it.</a:t>
            </a:r>
          </a:p>
        </p:txBody>
      </p:sp>
      <p:pic>
        <p:nvPicPr>
          <p:cNvPr id="9" name="mermaid diagram" descr="6ef1c86c16d8cc02.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In rupees, Business is -Rs 22,29,720 of the Rs 23,00,000 fall, 97 percent of it on three fewer orders; Retail-Plus is -Rs 65,250, which is 93 percent of the consumer fall. The typical Business order barely moved (median Rs 9,83,780 to Rs 9,52,000), so the Business rupees are a count of three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two segments vanished from the summary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printed two changes and returned None for them, and the filter dropped both.</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changes = {seg: pct_change(q1[seg], q2[seg]) for seg in SEGMENTS}</a:t>
            </a:r>
          </a:p>
          <a:p>
            <a:pPr>
              <a:spcAft>
                <a:spcPts val="200"/>
              </a:spcAft>
            </a:pPr>
            <a:r>
              <a:rPr sz="1400" b="0" i="0">
                <a:solidFill>
                  <a:srgbClr val="E4E1F1"/>
                </a:solidFill>
                <a:latin typeface="Consolas"/>
              </a:rPr>
              <a:t>falls = {seg: ch for seg, ch in changes.items() if ch and ch &lt; 0}</a:t>
            </a:r>
          </a:p>
          <a:p>
            <a:pPr>
              <a:spcAft>
                <a:spcPts val="200"/>
              </a:spcAft>
            </a:pPr>
            <a:r>
              <a:rPr sz="1400" b="0" i="0">
                <a:solidFill>
                  <a:srgbClr val="E4E1F1"/>
                </a:solidFill>
                <a:latin typeface="Consolas"/>
              </a:rPr>
              <a:t>print(falls)    # {'Retail-Core': -5.3, 'Business': -15.0}</a:t>
            </a:r>
          </a:p>
        </p:txBody>
      </p:sp>
      <p:pic>
        <p:nvPicPr>
          <p:cNvPr id="14" name="mermaid diagram" descr="3bec39ac2ca0a938.png"/>
          <p:cNvPicPr>
            <a:picLocks noChangeAspect="1"/>
          </p:cNvPicPr>
          <p:nvPr/>
        </p:nvPicPr>
        <p:blipFill>
          <a:blip r:embed="rId5"/>
          <a:stretch>
            <a:fillRect/>
          </a:stretch>
        </p:blipFill>
        <p:spPr>
          <a:xfrm>
            <a:off x="2309660" y="3336036"/>
            <a:ext cx="7572375"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frequency fell only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Averaged averages hide one tier that halved its orders per member.</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301833"/>
                <a:gridCol w="1875962"/>
                <a:gridCol w="3019397"/>
                <a:gridCol w="301939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Per customer, Q1</a:t>
                      </a:r>
                    </a:p>
                  </a:txBody>
                  <a:tcPr marL="101600" marR="101600" marT="38100" marB="38100" anchor="ctr">
                    <a:solidFill>
                      <a:srgbClr val="1A0F5C"/>
                    </a:solidFill>
                  </a:tcPr>
                </a:tc>
                <a:tc>
                  <a:txBody>
                    <a:bodyPr/>
                    <a:lstStyle/>
                    <a:p>
                      <a:r>
                        <a:rPr sz="1250" b="1" i="0">
                          <a:solidFill>
                            <a:srgbClr val="FFFFFF"/>
                          </a:solidFill>
                          <a:latin typeface="Calibri"/>
                        </a:rPr>
                        <a:t>Per customer, 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34</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r>
              <a:tr h="335280">
                <a:tc>
                  <a:txBody>
                    <a:bodyPr/>
                    <a:lstStyle/>
                    <a:p>
                      <a:r>
                        <a:rPr sz="1200" b="0" i="0">
                          <a:solidFill>
                            <a:srgbClr val="1A1440"/>
                          </a:solidFill>
                          <a:latin typeface="Calibri"/>
                        </a:rPr>
                        <a:t>Weighted, all</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c>
                  <a:txBody>
                    <a:bodyPr/>
                    <a:lstStyle/>
                    <a:p>
                      <a:r>
                        <a:rPr sz="1200" b="0" i="0">
                          <a:solidFill>
                            <a:srgbClr val="1A1440"/>
                          </a:solidFill>
                          <a:latin typeface="Calibri"/>
                        </a:rPr>
                        <a:t>1.25</a:t>
                      </a:r>
                    </a:p>
                  </a:txBody>
                  <a:tcPr marL="101600" marR="101600" marT="38100" marB="38100" anchor="ctr">
                    <a:solidFill>
                      <a:srgbClr val="FFFFFF"/>
                    </a:solidFill>
                  </a:tcPr>
                </a:tc>
                <a:tc>
                  <a:txBody>
                    <a:bodyPr/>
                    <a:lstStyle/>
                    <a:p>
                      <a:r>
                        <a:rPr sz="1200" b="0" i="0">
                          <a:solidFill>
                            <a:srgbClr val="1A1440"/>
                          </a:solidFill>
                          <a:latin typeface="Calibri"/>
                        </a:rPr>
                        <a:t>-24.6%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average of the four rows says 1.94 to 1.82; the weighted row reproduces the company figure, and the averaged one does not.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revenue per order rose,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About 69 percent of the rise is mix: small Retail-Plus orders disappeared.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302191"/>
                <a:gridCol w="914400"/>
                <a:gridCol w="914400"/>
              </a:tblGrid>
              <a:tr h="369824">
                <a:tc>
                  <a:txBody>
                    <a:bodyPr/>
                    <a:lstStyle/>
                    <a:p>
                      <a:r>
                        <a:rPr sz="1450" b="1" i="0">
                          <a:solidFill>
                            <a:srgbClr val="FFFFFF"/>
                          </a:solidFill>
                          <a:latin typeface="Calibri"/>
                        </a:rPr>
                        <a:t>Order share</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33.3%</a:t>
                      </a:r>
                    </a:p>
                  </a:txBody>
                  <a:tcPr marL="101600" marR="101600" marT="38100" marB="38100" anchor="ctr">
                    <a:solidFill>
                      <a:srgbClr val="FFFFFF"/>
                    </a:solidFill>
                  </a:tcPr>
                </a:tc>
                <a:tc>
                  <a:txBody>
                    <a:bodyPr/>
                    <a:lstStyle/>
                    <a:p>
                      <a:r>
                        <a:rPr sz="1400" b="0" i="0">
                          <a:solidFill>
                            <a:srgbClr val="1A1440"/>
                          </a:solidFill>
                          <a:latin typeface="Calibri"/>
                        </a:rPr>
                        <a:t>41.9%</a:t>
                      </a:r>
                    </a:p>
                  </a:txBody>
                  <a:tcPr marL="101600" marR="101600" marT="38100" marB="38100" anchor="ctr">
                    <a:solidFill>
                      <a:srgbClr val="FFFFFF"/>
                    </a:solidFill>
                  </a:tcPr>
                </a:tc>
              </a:tr>
              <a:tr h="369824">
                <a:tc>
                  <a:txBody>
                    <a:bodyPr/>
                    <a:lstStyle/>
                    <a:p>
                      <a:r>
                        <a:rPr sz="1400" b="0" i="0">
                          <a:solidFill>
                            <a:srgbClr val="1A1440"/>
                          </a:solidFill>
                          <a:latin typeface="Calibri"/>
                        </a:rPr>
                        <a:t>Retail-Plus</a:t>
                      </a:r>
                    </a:p>
                  </a:txBody>
                  <a:tcPr marL="101600" marR="101600" marT="38100" marB="38100" anchor="ctr">
                    <a:solidFill>
                      <a:srgbClr val="F4F2FA"/>
                    </a:solidFill>
                  </a:tcPr>
                </a:tc>
                <a:tc>
                  <a:txBody>
                    <a:bodyPr/>
                    <a:lstStyle/>
                    <a:p>
                      <a:r>
                        <a:rPr sz="1400" b="0" i="0">
                          <a:solidFill>
                            <a:srgbClr val="1A1440"/>
                          </a:solidFill>
                          <a:latin typeface="Calibri"/>
                        </a:rPr>
                        <a:t>44.7%</a:t>
                      </a:r>
                    </a:p>
                  </a:txBody>
                  <a:tcPr marL="101600" marR="101600" marT="38100" marB="38100" anchor="ctr">
                    <a:solidFill>
                      <a:srgbClr val="F4F2FA"/>
                    </a:solidFill>
                  </a:tcPr>
                </a:tc>
                <a:tc>
                  <a:txBody>
                    <a:bodyPr/>
                    <a:lstStyle/>
                    <a:p>
                      <a:r>
                        <a:rPr sz="1400" b="0" i="0">
                          <a:solidFill>
                            <a:srgbClr val="1A1440"/>
                          </a:solidFill>
                          <a:latin typeface="Calibri"/>
                        </a:rPr>
                        <a:t>30.2%</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17.5%</a:t>
                      </a:r>
                    </a:p>
                  </a:txBody>
                  <a:tcPr marL="101600" marR="101600" marT="38100" marB="38100" anchor="ctr">
                    <a:solidFill>
                      <a:srgbClr val="FFFFFF"/>
                    </a:solidFill>
                  </a:tcPr>
                </a:tc>
                <a:tc>
                  <a:txBody>
                    <a:bodyPr/>
                    <a:lstStyle/>
                    <a:p>
                      <a:r>
                        <a:rPr sz="1400" b="0" i="0">
                          <a:solidFill>
                            <a:srgbClr val="1A1440"/>
                          </a:solidFill>
                          <a:latin typeface="Calibri"/>
                        </a:rPr>
                        <a:t>19.8%</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4.4%</a:t>
                      </a:r>
                    </a:p>
                  </a:txBody>
                  <a:tcPr marL="101600" marR="101600" marT="38100" marB="38100" anchor="ctr">
                    <a:solidFill>
                      <a:srgbClr val="F4F2FA"/>
                    </a:solidFill>
                  </a:tcPr>
                </a:tc>
                <a:tc>
                  <a:txBody>
                    <a:bodyPr/>
                    <a:lstStyle/>
                    <a:p>
                      <a:r>
                        <a:rPr sz="1400" b="0" i="0">
                          <a:solidFill>
                            <a:srgbClr val="1A1440"/>
                          </a:solidFill>
                          <a:latin typeface="Calibri"/>
                        </a:rPr>
                        <a:t>8.1%</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33,231</a:t>
            </a:r>
          </a:p>
        </p:txBody>
      </p:sp>
      <p:sp>
        <p:nvSpPr>
          <p:cNvPr id="11" name="TextBox 10"/>
          <p:cNvSpPr txBox="1"/>
          <p:nvPr/>
        </p:nvSpPr>
        <p:spPr>
          <a:xfrm>
            <a:off x="53035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2" name="TextBox 11"/>
          <p:cNvSpPr txBox="1"/>
          <p:nvPr/>
        </p:nvSpPr>
        <p:spPr>
          <a:xfrm>
            <a:off x="53035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1,84,211 to Rs 2,17,442</a:t>
            </a:r>
          </a:p>
        </p:txBody>
      </p:sp>
      <p:sp>
        <p:nvSpPr>
          <p:cNvPr id="13" name="Rectangle 12"/>
          <p:cNvSpPr/>
          <p:nvPr/>
        </p:nvSpPr>
        <p:spPr>
          <a:xfrm>
            <a:off x="53035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22,902</a:t>
            </a:r>
          </a:p>
        </p:txBody>
      </p:sp>
      <p:sp>
        <p:nvSpPr>
          <p:cNvPr id="15" name="TextBox 14"/>
          <p:cNvSpPr txBox="1"/>
          <p:nvPr/>
        </p:nvSpPr>
        <p:spPr>
          <a:xfrm>
            <a:off x="433212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MIX, MOVED FIRST</a:t>
            </a:r>
          </a:p>
        </p:txBody>
      </p:sp>
      <p:sp>
        <p:nvSpPr>
          <p:cNvPr id="16" name="TextBox 15"/>
          <p:cNvSpPr txBox="1"/>
          <p:nvPr/>
        </p:nvSpPr>
        <p:spPr>
          <a:xfrm>
            <a:off x="433212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69 percent; 72 if moved second</a:t>
            </a:r>
          </a:p>
        </p:txBody>
      </p:sp>
      <p:sp>
        <p:nvSpPr>
          <p:cNvPr id="17" name="Rectangle 16"/>
          <p:cNvSpPr/>
          <p:nvPr/>
        </p:nvSpPr>
        <p:spPr>
          <a:xfrm>
            <a:off x="433212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406196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10,330</a:t>
            </a:r>
          </a:p>
        </p:txBody>
      </p:sp>
      <p:sp>
        <p:nvSpPr>
          <p:cNvPr id="19" name="TextBox 18"/>
          <p:cNvSpPr txBox="1"/>
          <p:nvPr/>
        </p:nvSpPr>
        <p:spPr>
          <a:xfrm>
            <a:off x="8133892" y="479704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RATES</a:t>
            </a:r>
          </a:p>
        </p:txBody>
      </p:sp>
      <p:sp>
        <p:nvSpPr>
          <p:cNvPr id="20" name="TextBox 19"/>
          <p:cNvSpPr txBox="1"/>
          <p:nvPr/>
        </p:nvSpPr>
        <p:spPr>
          <a:xfrm>
            <a:off x="8133892" y="4998212"/>
            <a:ext cx="3527450" cy="193421"/>
          </a:xfrm>
          <a:prstGeom prst="rect">
            <a:avLst/>
          </a:prstGeom>
          <a:noFill/>
        </p:spPr>
        <p:txBody>
          <a:bodyPr wrap="square" anchor="t" lIns="0" rIns="0" tIns="0" bIns="0">
            <a:spAutoFit/>
          </a:bodyPr>
          <a:lstStyle/>
          <a:p>
            <a:pPr algn="l"/>
            <a:r>
              <a:rPr sz="950" b="0" i="0">
                <a:solidFill>
                  <a:srgbClr val="6B6690"/>
                </a:solidFill>
                <a:latin typeface="Calibri"/>
              </a:rPr>
              <a:t>Rs 9,203 if moved first</a:t>
            </a:r>
          </a:p>
        </p:txBody>
      </p:sp>
      <p:sp>
        <p:nvSpPr>
          <p:cNvPr id="21" name="Rectangle 20"/>
          <p:cNvSpPr/>
          <p:nvPr/>
        </p:nvSpPr>
        <p:spPr>
          <a:xfrm>
            <a:off x="8133892" y="525068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Retail-Plus member still buys,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22 members placed 26 orders against 51; three-times buyers now buy once.</a:t>
            </a:r>
          </a:p>
        </p:txBody>
      </p:sp>
      <p:pic>
        <p:nvPicPr>
          <p:cNvPr id="9" name="mermaid diagram" descr="ba0923e467e1a923.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In Q1, 10 members ordered three times; in Q2, none did, and 18 of the 22 ordered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escalated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Behaviour and rupees point at different segments, and both go to Meera.</a:t>
            </a:r>
          </a:p>
        </p:txBody>
      </p:sp>
      <p:pic>
        <p:nvPicPr>
          <p:cNvPr id="9" name="mermaid diagram" descr="6edb22b25a41b90d.png"/>
          <p:cNvPicPr>
            <a:picLocks noChangeAspect="1"/>
          </p:cNvPicPr>
          <p:nvPr/>
        </p:nvPicPr>
        <p:blipFill>
          <a:blip r:embed="rId6"/>
          <a:stretch>
            <a:fillRect/>
          </a:stretch>
        </p:blipFill>
        <p:spPr>
          <a:xfrm>
            <a:off x="2916878" y="1956816"/>
            <a:ext cx="6357937"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"Say both lenses and what each rests on: 22 members in one, three orders in the other. Tomorrow's reconciliation and Thursday's test check them before anyone acts."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head of Retail-Plus names a cause, Marketing names another, and pairs test both on the same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voices,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hands you a cause; your job is to test both.</a:t>
            </a:r>
          </a:p>
        </p:txBody>
      </p:sp>
      <p:sp>
        <p:nvSpPr>
          <p:cNvPr id="9" name="Rounded Rectangle 8"/>
          <p:cNvSpPr/>
          <p:nvPr/>
        </p:nvSpPr>
        <p:spPr>
          <a:xfrm>
            <a:off x="530352"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HEAD OF RETAIL-PLUS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"It is the broken reorder button"</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A member's complaint says the app's reorder feature has been broken for six weeks.</a:t>
            </a:r>
          </a:p>
        </p:txBody>
      </p:sp>
      <p:sp>
        <p:nvSpPr>
          <p:cNvPr id="15" name="Rounded Rectangle 14"/>
          <p:cNvSpPr/>
          <p:nvPr/>
        </p:nvSpPr>
        <p:spPr>
          <a:xfrm>
            <a:off x="6187287"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76c78891bb4f.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MARKETING LEAD</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flat count can hide churn"</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New customers may have replaced lost ones, and Retail-Plus is too small to matter.</a:t>
            </a:r>
          </a:p>
        </p:txBody>
      </p:sp>
      <p:sp>
        <p:nvSpPr>
          <p:cNvPr id="21" name="Rounded Rectangle 20"/>
          <p:cNvSpPr/>
          <p:nvPr/>
        </p:nvSpPr>
        <p:spPr>
          <a:xfrm>
            <a:off x="530352" y="41041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42321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4223004"/>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Name each cause as a hypothesis, say what evidence would settle it, and hold the numbers steady when either voice pushes.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Q2 customers bought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a flat count of 69 can hide customers lost and replaced.</a:t>
            </a:r>
          </a:p>
        </p:txBody>
      </p:sp>
      <p:pic>
        <p:nvPicPr>
          <p:cNvPr id="9" name="mermaid diagram" descr="f20cbf70a464da7f.png"/>
          <p:cNvPicPr>
            <a:picLocks noChangeAspect="1"/>
          </p:cNvPicPr>
          <p:nvPr/>
        </p:nvPicPr>
        <p:blipFill>
          <a:blip r:embed="rId5"/>
          <a:stretch>
            <a:fillRect/>
          </a:stretch>
        </p:blipFill>
        <p:spPr>
          <a:xfrm>
            <a:off x="4759966" y="1956816"/>
            <a:ext cx="2671762"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the overlap of customer ids: a) all 69; b) 52, with 17 replaced; c) 35, half replaced; d) it cannot be known from order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9" name="Oval 18"/>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69 bought in both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lost and none new, so acquisition is not the branch that moved.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IN BOTH</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Q2 customer bought in Q1</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Q1, not in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NEW</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bought in Q2, not in Q1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count is flat because the customers are the same people; they bought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 is small in rupees and large in behaviour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Rs 65,250 of a Rs 23 lakh fall does not matter.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CONSUMER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65,250 of Rs 70,280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of 28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LOST ORDERS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89 percent of them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 of 22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BOUGHT LESS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 moved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reply. </a:t>
            </a:r>
            <a:r>
              <a:rPr sz="1500" b="0" i="0">
                <a:solidFill>
                  <a:srgbClr val="1A1440"/>
                </a:solidFill>
                <a:latin typeface="Calibri"/>
              </a:rPr>
              <a:t>The rupee fall in Business rests on three orders; the Retail-Plus fall rests on every member of a paid tier buying half as often. Members already won are the cheaper lever: published estimates put acquiring a customer at 5 to 25 times the cost of keeping 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fall began before the reorder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dropped in July; six weeks back from this week is late August.</a:t>
            </a:r>
          </a:p>
        </p:txBody>
      </p:sp>
      <p:pic>
        <p:nvPicPr>
          <p:cNvPr id="9" name="mermaid diagram" descr="cf38f28011ad068f.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Retail-Plus placed 18 orders from 1 July to 24 August and 8 from 25 August to 30 September. Retail-Core, the comparison segment, stayed flat, which argues against a season that hit every customer, though only last year's Q2 can rule the season out for the tier.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channel fell, the app no faster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 app-only cause would have shown the app falling first and alone.</a:t>
            </a:r>
          </a:p>
        </p:txBody>
      </p:sp>
      <p:graphicFrame>
        <p:nvGraphicFramePr>
          <p:cNvPr id="9" name="Table 8"/>
          <p:cNvGraphicFramePr>
            <a:graphicFrameLocks noGrp="1"/>
          </p:cNvGraphicFramePr>
          <p:nvPr/>
        </p:nvGraphicFramePr>
        <p:xfrm>
          <a:off x="530352" y="1956816"/>
          <a:ext cx="11130991" cy="1243584"/>
        </p:xfrm>
        <a:graphic>
          <a:graphicData uri="http://schemas.openxmlformats.org/drawingml/2006/table">
            <a:tbl>
              <a:tblPr firstRow="0" bandRow="0">
                <a:tableStyleId>{2D5ABB26-0587-4C30-8999-92F81FD0307C}</a:tableStyleId>
              </a:tblPr>
              <a:tblGrid>
                <a:gridCol w="8387791"/>
                <a:gridCol w="914400"/>
                <a:gridCol w="914400"/>
                <a:gridCol w="914400"/>
              </a:tblGrid>
              <a:tr h="310896">
                <a:tc>
                  <a:txBody>
                    <a:bodyPr/>
                    <a:lstStyle/>
                    <a:p>
                      <a:r>
                        <a:rPr sz="950" b="1" i="0">
                          <a:solidFill>
                            <a:srgbClr val="FFFFFF"/>
                          </a:solidFill>
                          <a:latin typeface="Calibri"/>
                        </a:rPr>
                        <a:t>Retail-Plus orders</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Web</a:t>
                      </a:r>
                    </a:p>
                  </a:txBody>
                  <a:tcPr marL="101600" marR="101600" marT="38100" marB="38100" anchor="ctr">
                    <a:solidFill>
                      <a:srgbClr val="FFFFFF"/>
                    </a:solidFill>
                  </a:tcPr>
                </a:tc>
                <a:tc>
                  <a:txBody>
                    <a:bodyPr/>
                    <a:lstStyle/>
                    <a:p>
                      <a:r>
                        <a:rPr sz="900" b="0" i="0">
                          <a:solidFill>
                            <a:srgbClr val="1A1440"/>
                          </a:solidFill>
                          <a:latin typeface="Calibri"/>
                        </a:rPr>
                        <a:t>24</a:t>
                      </a:r>
                    </a:p>
                  </a:txBody>
                  <a:tcPr marL="101600" marR="101600" marT="38100" marB="38100" anchor="ctr">
                    <a:solidFill>
                      <a:srgbClr val="FFFFFF"/>
                    </a:solidFill>
                  </a:tcPr>
                </a:tc>
                <a:tc>
                  <a:txBody>
                    <a:bodyPr/>
                    <a:lstStyle/>
                    <a:p>
                      <a:r>
                        <a:rPr sz="900" b="0" i="0">
                          <a:solidFill>
                            <a:srgbClr val="1A1440"/>
                          </a:solidFill>
                          <a:latin typeface="Calibri"/>
                        </a:rPr>
                        <a:t>9</a:t>
                      </a:r>
                    </a:p>
                  </a:txBody>
                  <a:tcPr marL="101600" marR="101600" marT="38100" marB="38100" anchor="ctr">
                    <a:solidFill>
                      <a:srgbClr val="FFFFFF"/>
                    </a:solidFill>
                  </a:tcPr>
                </a:tc>
                <a:tc>
                  <a:txBody>
                    <a:bodyPr/>
                    <a:lstStyle/>
                    <a:p>
                      <a:r>
                        <a:rPr sz="900" b="0" i="0">
                          <a:solidFill>
                            <a:srgbClr val="1A1440"/>
                          </a:solidFill>
                          <a:latin typeface="Calibri"/>
                        </a:rPr>
                        <a:t>-15</a:t>
                      </a:r>
                    </a:p>
                  </a:txBody>
                  <a:tcPr marL="101600" marR="101600" marT="38100" marB="38100" anchor="ctr">
                    <a:solidFill>
                      <a:srgbClr val="FFFFFF"/>
                    </a:solidFill>
                  </a:tcPr>
                </a:tc>
              </a:tr>
              <a:tr h="310896">
                <a:tc>
                  <a:txBody>
                    <a:bodyPr/>
                    <a:lstStyle/>
                    <a:p>
                      <a:r>
                        <a:rPr sz="900" b="0" i="0">
                          <a:solidFill>
                            <a:srgbClr val="1A1440"/>
                          </a:solidFill>
                          <a:latin typeface="Calibri"/>
                        </a:rPr>
                        <a:t>Store</a:t>
                      </a:r>
                    </a:p>
                  </a:txBody>
                  <a:tcPr marL="101600" marR="101600" marT="38100" marB="38100" anchor="ctr">
                    <a:solidFill>
                      <a:srgbClr val="F4F2FA"/>
                    </a:solidFill>
                  </a:tcPr>
                </a:tc>
                <a:tc>
                  <a:txBody>
                    <a:bodyPr/>
                    <a:lstStyle/>
                    <a:p>
                      <a:r>
                        <a:rPr sz="900" b="0" i="0">
                          <a:solidFill>
                            <a:srgbClr val="1A1440"/>
                          </a:solidFill>
                          <a:latin typeface="Calibri"/>
                        </a:rPr>
                        <a:t>14</a:t>
                      </a:r>
                    </a:p>
                  </a:txBody>
                  <a:tcPr marL="101600" marR="101600" marT="38100" marB="38100" anchor="ctr">
                    <a:solidFill>
                      <a:srgbClr val="F4F2FA"/>
                    </a:solidFill>
                  </a:tcPr>
                </a:tc>
                <a:tc>
                  <a:txBody>
                    <a:bodyPr/>
                    <a:lstStyle/>
                    <a:p>
                      <a:r>
                        <a:rPr sz="900" b="0" i="0">
                          <a:solidFill>
                            <a:srgbClr val="1A1440"/>
                          </a:solidFill>
                          <a:latin typeface="Calibri"/>
                        </a:rPr>
                        <a:t>9</a:t>
                      </a:r>
                    </a:p>
                  </a:txBody>
                  <a:tcPr marL="101600" marR="101600" marT="38100" marB="38100" anchor="ctr">
                    <a:solidFill>
                      <a:srgbClr val="F4F2FA"/>
                    </a:solidFill>
                  </a:tcPr>
                </a:tc>
                <a:tc>
                  <a:txBody>
                    <a:bodyPr/>
                    <a:lstStyle/>
                    <a:p>
                      <a:r>
                        <a:rPr sz="900" b="0" i="0">
                          <a:solidFill>
                            <a:srgbClr val="1A1440"/>
                          </a:solidFill>
                          <a:latin typeface="Calibri"/>
                        </a:rPr>
                        <a:t>-5</a:t>
                      </a:r>
                    </a:p>
                  </a:txBody>
                  <a:tcPr marL="101600" marR="101600" marT="38100" marB="38100" anchor="ctr">
                    <a:solidFill>
                      <a:srgbClr val="F4F2FA"/>
                    </a:solidFill>
                  </a:tcPr>
                </a:tc>
              </a:tr>
              <a:tr h="310896">
                <a:tc>
                  <a:txBody>
                    <a:bodyPr/>
                    <a:lstStyle/>
                    <a:p>
                      <a:r>
                        <a:rPr sz="900" b="0" i="0">
                          <a:solidFill>
                            <a:srgbClr val="1A1440"/>
                          </a:solidFill>
                          <a:latin typeface="Calibri"/>
                        </a:rPr>
                        <a:t>App</a:t>
                      </a:r>
                    </a:p>
                  </a:txBody>
                  <a:tcPr marL="101600" marR="101600" marT="38100" marB="38100" anchor="ctr">
                    <a:solidFill>
                      <a:srgbClr val="FFFFFF"/>
                    </a:solidFill>
                  </a:tcPr>
                </a:tc>
                <a:tc>
                  <a:txBody>
                    <a:bodyPr/>
                    <a:lstStyle/>
                    <a:p>
                      <a:r>
                        <a:rPr sz="900" b="0" i="0">
                          <a:solidFill>
                            <a:srgbClr val="1A1440"/>
                          </a:solidFill>
                          <a:latin typeface="Calibri"/>
                        </a:rPr>
                        <a:t>13</a:t>
                      </a:r>
                    </a:p>
                  </a:txBody>
                  <a:tcPr marL="101600" marR="101600" marT="38100" marB="38100" anchor="ctr">
                    <a:solidFill>
                      <a:srgbClr val="FFFFFF"/>
                    </a:solidFill>
                  </a:tcPr>
                </a:tc>
                <a:tc>
                  <a:txBody>
                    <a:bodyPr/>
                    <a:lstStyle/>
                    <a:p>
                      <a:r>
                        <a:rPr sz="900" b="0" i="0">
                          <a:solidFill>
                            <a:srgbClr val="1A1440"/>
                          </a:solidFill>
                          <a:latin typeface="Calibri"/>
                        </a:rPr>
                        <a:t>8</a:t>
                      </a:r>
                    </a:p>
                  </a:txBody>
                  <a:tcPr marL="101600" marR="101600" marT="38100" marB="38100" anchor="ctr">
                    <a:solidFill>
                      <a:srgbClr val="FFFFFF"/>
                    </a:solidFill>
                  </a:tcPr>
                </a:tc>
                <a:tc>
                  <a:txBody>
                    <a:bodyPr/>
                    <a:lstStyle/>
                    <a:p>
                      <a:r>
                        <a:rPr sz="900" b="0" i="0">
                          <a:solidFill>
                            <a:srgbClr val="1A1440"/>
                          </a:solidFill>
                          <a:latin typeface="Calibri"/>
                        </a:rPr>
                        <a:t>-5</a:t>
                      </a:r>
                    </a:p>
                  </a:txBody>
                  <a:tcPr marL="101600" marR="101600" marT="38100" marB="38100" anchor="ctr">
                    <a:solidFill>
                      <a:srgbClr val="FFFFFF"/>
                    </a:solidFill>
                  </a:tcPr>
                </a:tc>
              </a:tr>
            </a:tbl>
          </a:graphicData>
        </a:graphic>
      </p:graphicFrame>
      <p:pic>
        <p:nvPicPr>
          <p:cNvPr id="10" name="mermaid diagram" descr="7ba9bceba968e311.png"/>
          <p:cNvPicPr>
            <a:picLocks noChangeAspect="1"/>
          </p:cNvPicPr>
          <p:nvPr/>
        </p:nvPicPr>
        <p:blipFill>
          <a:blip r:embed="rId5"/>
          <a:stretch>
            <a:fillRect/>
          </a:stretch>
        </p:blipFill>
        <p:spPr>
          <a:xfrm>
            <a:off x="2716853" y="3456432"/>
            <a:ext cx="6757987" cy="11287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a rival, and the data for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can be settled from this file, so the answer names the data to ask for.</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4533b8fac61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HYPOTHESIS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broken reorder feature</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Settled by the app's reorder events and failures by week, the release that broke it, and whether members who used reorder in Q1 fell more than those who did not.</a:t>
            </a:r>
          </a:p>
        </p:txBody>
      </p:sp>
      <p:sp>
        <p:nvSpPr>
          <p:cNvPr id="15" name="Rounded Rectangle 14"/>
          <p:cNvSpPr/>
          <p:nvPr/>
        </p:nvSpPr>
        <p:spPr>
          <a:xfrm>
            <a:off x="430164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65f01296de8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HYPOTHESIS 2</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Something changed for members in July</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Settled by the tier's change log for benefits, prices or delivery terms, renewals, and members' support tickets.</a:t>
            </a:r>
          </a:p>
        </p:txBody>
      </p:sp>
      <p:sp>
        <p:nvSpPr>
          <p:cNvPr id="21" name="Rounded Rectangle 20"/>
          <p:cNvSpPr/>
          <p:nvPr/>
        </p:nvSpPr>
        <p:spPr>
          <a:xfrm>
            <a:off x="807293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loud-rain_994c880de426.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RIVAL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season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monsoon dip that hit members harder. Settled by last year's Q2 for Retail-Plus against Retail-Core.</a:t>
            </a:r>
          </a:p>
        </p:txBody>
      </p:sp>
      <p:sp>
        <p:nvSpPr>
          <p:cNvPr id="27" name="Rounded Rectangle 26"/>
          <p:cNvSpPr/>
          <p:nvPr/>
        </p:nvSpPr>
        <p:spPr>
          <a:xfrm>
            <a:off x="530352" y="45252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8574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967224"/>
            <a:ext cx="237744" cy="237744"/>
          </a:xfrm>
          <a:prstGeom prst="rect">
            <a:avLst/>
          </a:prstGeom>
        </p:spPr>
      </p:pic>
      <p:sp>
        <p:nvSpPr>
          <p:cNvPr id="30" name="TextBox 29"/>
          <p:cNvSpPr txBox="1"/>
          <p:nvPr/>
        </p:nvSpPr>
        <p:spPr>
          <a:xfrm>
            <a:off x="1399031" y="46715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891024"/>
            <a:ext cx="9987991" cy="682752"/>
          </a:xfrm>
          <a:prstGeom prst="rect">
            <a:avLst/>
          </a:prstGeom>
          <a:noFill/>
        </p:spPr>
        <p:txBody>
          <a:bodyPr wrap="square" anchor="t" lIns="0" rIns="0" tIns="0" bIns="0">
            <a:spAutoFit/>
          </a:bodyPr>
          <a:lstStyle/>
          <a:p>
            <a:r>
              <a:rPr sz="1500" b="0" i="0">
                <a:solidFill>
                  <a:srgbClr val="1A1440"/>
                </a:solidFill>
                <a:latin typeface="Calibri"/>
              </a:rPr>
              <a:t>"A cause is a hypothesis until the evidence that would settle it is in hand. Timing first, then where, then the data you still need."</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38" name="Oval 3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way a GCC screen asks them.</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4: the ladder and the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Asked aloud, answered in one breath, then compared with the model answer.</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5 to 8: the tree and the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decomposition questions, where a plausible number is waiting.</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9 to 12: weights, churn and causes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that separate candidates.</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 for the company figure?</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quarter on quarter; does that prove no customers were lost?</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fall is in rupees in one segment and in behaviour in another; which do you put in front of the CEO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with the data you have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6" name="Oval 15"/>
          <p:cNvSpPr/>
          <p:nvPr/>
        </p:nvSpPr>
        <p:spPr>
          <a:xfrm>
            <a:off x="39810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90797"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seven lines to keep,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3" name="Rounded Rectangle 12"/>
          <p:cNvSpPr/>
          <p:nvPr/>
        </p:nvSpPr>
        <p:spPr>
          <a:xfrm>
            <a:off x="4763486"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636407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mix, rate and the cause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per idea from today, plus Monday's return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from today, one from Monday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 this week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PLAY AND DISCUSS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answers talked through</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5" name="Oval 2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7" name="Oval 2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9" name="Oval 2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4485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448560"/>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and every one of them bought in both quarters, so acquisition is not the branch that moved; orders per customer fell from 1.65 to 1.25. In behaviour the fall sits in Retail-Plus, where the same 22 members placed 26 orders against 51; in rupees most of it is three fewer Business orders, which tomorrow's reconciliation checks before anyone acts. The broken reorder feature is a hypothesis: the fall began in July, before the break the complaint dates, so we are asking for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7" name="Oval 16"/>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866995"/>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03571"/>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308955"/>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45531"/>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750915"/>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787491"/>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3192875"/>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29451"/>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634835"/>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671411"/>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4076795"/>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4113371"/>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1" name="TextBox 20"/>
          <p:cNvSpPr txBox="1"/>
          <p:nvPr/>
        </p:nvSpPr>
        <p:spPr>
          <a:xfrm>
            <a:off x="530352" y="4518755"/>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555331"/>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the evidence that would settle it.</a:t>
            </a:r>
          </a:p>
        </p:txBody>
      </p:sp>
      <p:pic>
        <p:nvPicPr>
          <p:cNvPr id="23" name="mermaid diagram" descr="f3c84093597cb54d.png"/>
          <p:cNvPicPr>
            <a:picLocks noChangeAspect="1"/>
          </p:cNvPicPr>
          <p:nvPr/>
        </p:nvPicPr>
        <p:blipFill>
          <a:blip r:embed="rId5"/>
          <a:stretch>
            <a:fillRect/>
          </a:stretch>
        </p:blipFill>
        <p:spPr>
          <a:xfrm>
            <a:off x="3738410" y="5107019"/>
            <a:ext cx="4714875" cy="871537"/>
          </a:xfrm>
          <a:prstGeom prst="rect">
            <a:avLst/>
          </a:prstGeom>
        </p:spPr>
      </p:pic>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Rs 2.1 crore for Q1 and my books say 1.9. Reconcile before anyone acts on tonight's numbers."</a:t>
            </a:r>
          </a:p>
          <a:p>
            <a:pPr>
              <a:spcBef>
                <a:spcPts val="400"/>
              </a:spcBef>
            </a:pPr>
            <a:r>
              <a:rPr sz="1000" b="0" i="0">
                <a:solidFill>
                  <a:srgbClr val="6B6690"/>
                </a:solidFill>
                <a:latin typeface="Calibri"/>
              </a:rPr>
              <a:t>Anand Iyer, finance controller, Kalpa Retail</a:t>
            </a:r>
          </a:p>
        </p:txBody>
      </p:sp>
      <p:pic>
        <p:nvPicPr>
          <p:cNvPr id="11" name="mermaid diagram" descr="d4af99bbb50894b7.png"/>
          <p:cNvPicPr>
            <a:picLocks noChangeAspect="1"/>
          </p:cNvPicPr>
          <p:nvPr/>
        </p:nvPicPr>
        <p:blipFill>
          <a:blip r:embed="rId5"/>
          <a:stretch>
            <a:fillRect/>
          </a:stretch>
        </p:blipFill>
        <p:spPr>
          <a:xfrm>
            <a:off x="3745553" y="3129280"/>
            <a:ext cx="4700587" cy="180022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2522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39810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90797"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40394"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