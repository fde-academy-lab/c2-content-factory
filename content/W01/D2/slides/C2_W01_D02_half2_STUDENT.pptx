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climbed five chapters: the drop is real at 11.0 percent, the branch is</a:t>
            </a:r>
          </a:p>
          <a:p>
            <a:r>
              <a:t>orders per customer, the segment is Retail-Plus, the rise in order value is mostly mix, and</a:t>
            </a:r>
          </a:p>
          <a:p>
            <a:r>
              <a:t>Marketing's churn claim fails the overlap. The afternoon opens on chapter 6, the cause the head of</a:t>
            </a:r>
          </a:p>
          <a:p>
            <a:r>
              <a:t>Retail-Plus hands us, then the escalated case, the debrief, the second case, the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3 on the need and Sonos, 4 on the options, 4 on the monthly line, 8</a:t>
            </a:r>
          </a:p>
          <a:p>
            <a:r>
              <a:t>on the trap and its ceiling, 5 on the season, the channel and the second route, 4 on the memo, 2 on</a:t>
            </a:r>
          </a:p>
          <a:p>
            <a:r>
              <a:t>Kavya. Open notebooks/C2_W01_D02_06_the_memo_STUDENT.ipynb. The chapter opener is numbered 6 on</a:t>
            </a:r>
          </a:p>
          <a:p>
            <a:r>
              <a:t>purpose; it continues the morning's five.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Retail-Plus orders per week before and after the break. Six</a:t>
            </a:r>
          </a:p>
          <a:p>
            <a:r>
              <a:t>weeks back from the week of 6 October is 25 August; say it is the complaint taken at its word. A</a:t>
            </a:r>
          </a:p>
          <a:p>
            <a:r>
              <a:t>wrong answer costs a quarter: blame the button for everything, fix it, and the tier keeps falling.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Sonos third quarter fiscal 2024 results (the chief</a:t>
            </a:r>
          </a:p>
          <a:p>
            <a:r>
              <a:t>executive's statement that the app's rollout required a reduced fiscal 2024 guidance) and the fiscal</a:t>
            </a:r>
          </a:p>
          <a:p>
            <a:r>
              <a:t>2024 annual report on Form 10-K (short-term costs of up to $30 million). No revenue figure for the</a:t>
            </a:r>
          </a:p>
          <a:p>
            <a:r>
              <a:t>app's effect was verified on a primary page, so none is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cause cannot come after its effect, so timing leads. Each of A to C reads the</a:t>
            </a:r>
          </a:p>
          <a:p>
            <a:r>
              <a:t>export already open in milliseconds; D is days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monthly cell with count_by, chapter 1's accumulator grown</a:t>
            </a:r>
          </a:p>
          <a:p>
            <a:r>
              <a:t>into a function that takes any 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button may still matter; it cannot be the whole story. If a</a:t>
            </a:r>
          </a:p>
          <a:p>
            <a:r>
              <a:t>learner points at May's 24, write "May, 24?" on the parking board for Wednesday and say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comparison spans the whole quarter, so it charges the button</a:t>
            </a:r>
          </a:p>
          <a:p>
            <a:r>
              <a:t>with seven weeks of orders lost before it broke.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check is chapter 1's lesson: a rate with its window. What changed: "the button</a:t>
            </a:r>
          </a:p>
          <a:p>
            <a:r>
              <a:t>cost 25 orders" became "at most about 4; the rest needs another cause". Engineering still fixes it;</a:t>
            </a:r>
          </a:p>
          <a:p>
            <a:r>
              <a:t>the memo stops promising it fixes the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predictions tested, two rivals capped. Something touched members in every</a:t>
            </a:r>
          </a:p>
          <a:p>
            <a:r>
              <a:t>channel.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draws the cumulative line against the pace and asserts the two routes</a:t>
            </a:r>
          </a:p>
          <a:p>
            <a:r>
              <a:t>agree.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rival, a monsoon dip that hit members harder, goes on the same data request as</a:t>
            </a:r>
          </a:p>
          <a:p>
            <a:r>
              <a:t>last year's Q2 by segment. One breath: restate as a hypothesis, test timing, then the comparison and</a:t>
            </a:r>
          </a:p>
          <a:p>
            <a:r>
              <a:t>the channel, cap it, and name the data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50 minutes, unguided. Hand out</a:t>
            </a:r>
          </a:p>
          <a:p>
            <a:r>
              <a:t>exercises/unguided/C2_W01_D02_escalated_case_STUDENT.md; learners work in</a:t>
            </a:r>
          </a:p>
          <a:p>
            <a:r>
              <a:t>notebooks/C2_W01_D02_ex1_escalated_case_STUDENT.ipynb. The solution opens after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then 47 of silent work. Walk the room from minute 10. The trap in part 3 is</a:t>
            </a:r>
          </a:p>
          <a:p>
            <a:r>
              <a:t>the escalated one: customers with a delivered order fell from 54 to 50, and Marketing would read that</a:t>
            </a:r>
          </a:p>
          <a:p>
            <a:r>
              <a:t>as churn. Do not hint at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3-minute brief, before work starts. Remind the room that the notebook stops at the first placeholder</a:t>
            </a:r>
          </a:p>
          <a:p>
            <a:r>
              <a:t>until it is filled, which is intended.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before the break. Put each wrong answer up, ask who reached it,</a:t>
            </a:r>
          </a:p>
          <a:p>
            <a:r>
              <a:t>and let a learner who avoided it say the check. Release the solution notebook in</a:t>
            </a:r>
          </a:p>
          <a:p>
            <a:r>
              <a:t>exercises/solutions/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who wrote "customers fell 7.4 percent" in part 2 and stopped there. The part 3</a:t>
            </a:r>
          </a:p>
          <a:p>
            <a:r>
              <a:t>set, (delivered Q1 minus delivered Q2) and booked Q2, finds all 19 still ordering.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morning's trap in a new place. Anyone who averaged has the reason on the board</a:t>
            </a:r>
          </a:p>
          <a:p>
            <a:r>
              <a:t>from chapter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definition moved the split without creating a price rise anyone paid. Ask a</a:t>
            </a:r>
          </a:p>
          <a:p>
            <a:r>
              <a:t>learner to read Retail-Plus delivered revenue per order: Rs 2,748 to Rs 2,806.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10-minute break. Release the solution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40 minutes in pairs: 3 to brief, 30 to work, 7 to hear two replies. Hand</a:t>
            </a:r>
          </a:p>
          <a:p>
            <a:r>
              <a:t>out exercises/unguided/C2_W01_D02_second_case_STUDENT.md; the notebook is</a:t>
            </a:r>
          </a:p>
          <a:p>
            <a:r>
              <a:t>notebooks/C2_W01_D02_ex2_second_case_STUDENT.ipynb.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Pairs split the roles, then write one reply together, with the one data</a:t>
            </a:r>
          </a:p>
          <a:p>
            <a:r>
              <a:t>request that settles most.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after the work. Hear two pairs' replies. Say that every member still ordered, which</a:t>
            </a:r>
          </a:p>
          <a:p>
            <a:r>
              <a:t>fits a broken habit more than a tier people left.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20 minutes. Ask each question aloud to a named learner, give one breath, then</a:t>
            </a:r>
          </a:p>
          <a:p>
            <a:r>
              <a:t>read the model answer from the notes. Tags: [S] staple asked everywhere, [F] frequent in GCC and</a:t>
            </a:r>
          </a:p>
          <a:p>
            <a:r>
              <a:t>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on matched windows, decompose into customers, orders per customer and revenue per order,</a:t>
            </a:r>
          </a:p>
          <a:p>
            <a:r>
              <a:t>isolate the segment, split mix from rate, then name a hypothesis with its evidence, timing first.</a:t>
            </a:r>
          </a:p>
          <a:p>
            <a:r>
              <a:t>2. Nobody can check it, compare it or know how many cases it rests on: 40 percent of five orders.</a:t>
            </a:r>
          </a:p>
          <a:p>
            <a:r>
              <a:t>3. The caller gets None, and the next step crashes or silently drops that group.</a:t>
            </a:r>
          </a:p>
          <a:p>
            <a:r>
              <a:t>4. Window length and dates, the definition, the population and the denominator; closed quarters, or</a:t>
            </a:r>
          </a:p>
          <a:p>
            <a:r>
              <a:t>the same weeks of each; the season needs last year.</a:t>
            </a:r>
          </a:p>
          <a:p>
            <a:r>
              <a:t>5. Test their claim in its own terms: the overlap shows none lost and none new; show where the fall</a:t>
            </a:r>
          </a:p>
          <a:p>
            <a:r>
              <a:t>is; end on what would change my mind.</a:t>
            </a:r>
          </a:p>
          <a:p>
            <a:r>
              <a:t>6. A bridge one leaf at a time in a fixed order; say the order, or use the symmetric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7. Mostly mix: small orders fell away; 69 percent of the rise on booked orders.</a:t>
            </a:r>
          </a:p>
          <a:p>
            <a:r>
              <a:t>8. No: absent is unknown; count it, report it, write the rule, bound it.</a:t>
            </a:r>
          </a:p>
          <a:p>
            <a:r>
              <a:t>9. Each rate has its own denominator; total over total reproduces the company figure.</a:t>
            </a:r>
          </a:p>
          <a:p>
            <a:r>
              <a:t>10. No: compare ids, lost and new; here 69, 0 and 0.</a:t>
            </a:r>
          </a:p>
          <a:p>
            <a:r>
              <a:t>11. A function when groups are asked one at a time and definitions change; one pass by key when the</a:t>
            </a:r>
          </a:p>
          <a:p>
            <a:r>
              <a:t>file is large and every group is needed at once.</a:t>
            </a:r>
          </a:p>
          <a:p>
            <a:r>
              <a:t>12. Timing first, then a comparison group, then the channel it predicts; cap it; request the data</a:t>
            </a:r>
          </a:p>
          <a:p>
            <a:r>
              <a:t>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Kahoot 8, the sentence and the lines 5, tomorrow's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Kahoot. Read it aloud once, slowly. Ask one learner which part their own</a:t>
            </a:r>
          </a:p>
          <a:p>
            <a:r>
              <a:t>sentence missed; most miss the ceiling or the data to ask for. The Kahoot pack is</a:t>
            </a:r>
          </a:p>
          <a:p>
            <a:r>
              <a:t>kahoot/C2_W01_D02_quiz_STUDENT.md, eight items, ungraded.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eight lines aloud with the room. The chain maps them onto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and stop. Do not predict the answer. Every number today was on the</a:t>
            </a:r>
          </a:p>
          <a:p>
            <a:r>
              <a:t>export as it stands; point to the take-home brief. The TA-led 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9.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cause on trial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“It is the broken reorder button. One of my members says it has been broken for six weeks.”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Kalpa's paid membership tier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memo and its evidence</a:t>
            </a:r>
          </a:p>
        </p:txBody>
      </p:sp>
      <p:sp>
        <p:nvSpPr>
          <p:cNvPr id="13" name="TextBox 12"/>
          <p:cNvSpPr txBox="1"/>
          <p:nvPr/>
        </p:nvSpPr>
        <p:spPr>
          <a:xfrm>
            <a:off x="28503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6648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The debrief of wrong answers</a:t>
            </a:r>
          </a:p>
        </p:txBody>
      </p:sp>
      <p:sp>
        <p:nvSpPr>
          <p:cNvPr id="17" name="TextBox 16"/>
          <p:cNvSpPr txBox="1"/>
          <p:nvPr/>
        </p:nvSpPr>
        <p:spPr>
          <a:xfrm>
            <a:off x="707088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The cause on trial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memo and its evidence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6. The tier hands us a cause and Meera wants one page: what we know, what we guess, and what would settle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 blames the button; Meera wants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Engineering's priority and the story Meera tells the board both ride on whether the button explains the fall.</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branch, which segment, and what you would bet on. Tell me what you know and what you are guessing." (Meera Raghavan)</a:t>
            </a:r>
          </a:p>
        </p:txBody>
      </p:sp>
      <p:pic>
        <p:nvPicPr>
          <p:cNvPr id="14" name="mermaid diagram" descr="3c9d316c87502d4c.png"/>
          <p:cNvPicPr>
            <a:picLocks noChangeAspect="1"/>
          </p:cNvPicPr>
          <p:nvPr/>
        </p:nvPicPr>
        <p:blipFill>
          <a:blip r:embed="rId6"/>
          <a:stretch>
            <a:fillRect/>
          </a:stretch>
        </p:blipFill>
        <p:spPr>
          <a:xfrm>
            <a:off x="2152497" y="3243072"/>
            <a:ext cx="7886700" cy="160020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Sonos tied an app rollout to its guidance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loyal customer base, an app rollout that went wrong, and a company that put it into its guidance.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2024</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REDESIGNED APP ROLLED 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problems it caused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FY2024</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GUIDANCE REDUCED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CEO tied it to the app's rollout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up to $30 m</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SHORT-TERM COST TO FIX</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set out in the annual report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company can put a broken app into its numbers, and the head of Retail-Plus is asking whether his tier is the same story.</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0" name="Oval 2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2" name="Oval 3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a cause,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cheap tests in order, timing first, and request the one that settles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3523233"/>
                <a:gridCol w="408452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c>
                  <a:txBody>
                    <a:bodyPr/>
                    <a:lstStyle/>
                    <a:p>
                      <a:r>
                        <a:rPr sz="1450" b="1" i="0">
                          <a:solidFill>
                            <a:srgbClr val="FFFFFF"/>
                          </a:solidFill>
                          <a:latin typeface="Calibri"/>
                        </a:rPr>
                        <a:t>Can rule out</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 the break</a:t>
                      </a:r>
                    </a:p>
                  </a:txBody>
                  <a:tcPr marL="101600" marR="101600" marT="38100" marB="38100" anchor="ctr">
                    <a:solidFill>
                      <a:srgbClr val="FFFFFF"/>
                    </a:solidFill>
                  </a:tcPr>
                </a:tc>
                <a:tc>
                  <a:txBody>
                    <a:bodyPr/>
                    <a:lstStyle/>
                    <a:p>
                      <a:r>
                        <a:rPr sz="1400" b="0" i="0">
                          <a:solidFill>
                            <a:srgbClr val="1A1440"/>
                          </a:solidFill>
                          <a:latin typeface="Calibri"/>
                        </a:rPr>
                        <a:t>Retail-Plus orders, by date</a:t>
                      </a:r>
                    </a:p>
                  </a:txBody>
                  <a:tcPr marL="101600" marR="101600" marT="38100" marB="38100" anchor="ctr">
                    <a:solidFill>
                      <a:srgbClr val="FFFFFF"/>
                    </a:solidFill>
                  </a:tcPr>
                </a:tc>
                <a:tc>
                  <a:txBody>
                    <a:bodyPr/>
                    <a:lstStyle/>
                    <a:p>
                      <a:r>
                        <a:rPr sz="1400" b="0" i="0">
                          <a:solidFill>
                            <a:srgbClr val="1A1440"/>
                          </a:solidFill>
                          <a:latin typeface="Calibri"/>
                        </a:rPr>
                        <a:t>The button as the whole story</a:t>
                      </a:r>
                    </a:p>
                  </a:txBody>
                  <a:tcPr marL="101600" marR="101600" marT="38100" marB="38100" anchor="ctr">
                    <a:solidFill>
                      <a:srgbClr val="FFFFFF"/>
                    </a:solidFill>
                  </a:tcPr>
                </a:tc>
              </a:tr>
              <a:tr h="369824">
                <a:tc>
                  <a:txBody>
                    <a:bodyPr/>
                    <a:lstStyle/>
                    <a:p>
                      <a:r>
                        <a:rPr sz="1400" b="0" i="0">
                          <a:solidFill>
                            <a:srgbClr val="1A1440"/>
                          </a:solidFill>
                          <a:latin typeface="Calibri"/>
                        </a:rPr>
                        <a:t>B. A comparison segment</a:t>
                      </a:r>
                    </a:p>
                  </a:txBody>
                  <a:tcPr marL="101600" marR="101600" marT="38100" marB="38100" anchor="ctr">
                    <a:solidFill>
                      <a:srgbClr val="F4F2FA"/>
                    </a:solidFill>
                  </a:tcPr>
                </a:tc>
                <a:tc>
                  <a:txBody>
                    <a:bodyPr/>
                    <a:lstStyle/>
                    <a:p>
                      <a:r>
                        <a:rPr sz="1400" b="0" i="0">
                          <a:solidFill>
                            <a:srgbClr val="1A1440"/>
                          </a:solidFill>
                          <a:latin typeface="Calibri"/>
                        </a:rPr>
                        <a:t>Retail-Core, same months</a:t>
                      </a:r>
                    </a:p>
                  </a:txBody>
                  <a:tcPr marL="101600" marR="101600" marT="38100" marB="38100" anchor="ctr">
                    <a:solidFill>
                      <a:srgbClr val="F4F2FA"/>
                    </a:solidFill>
                  </a:tcPr>
                </a:tc>
                <a:tc>
                  <a:txBody>
                    <a:bodyPr/>
                    <a:lstStyle/>
                    <a:p>
                      <a:r>
                        <a:rPr sz="1400" b="0" i="0">
                          <a:solidFill>
                            <a:srgbClr val="1A1440"/>
                          </a:solidFill>
                          <a:latin typeface="Calibri"/>
                        </a:rPr>
                        <a:t>A season that hit everyone</a:t>
                      </a:r>
                    </a:p>
                  </a:txBody>
                  <a:tcPr marL="101600" marR="101600" marT="38100" marB="38100" anchor="ctr">
                    <a:solidFill>
                      <a:srgbClr val="F4F2FA"/>
                    </a:solidFill>
                  </a:tcPr>
                </a:tc>
              </a:tr>
              <a:tr h="369824">
                <a:tc>
                  <a:txBody>
                    <a:bodyPr/>
                    <a:lstStyle/>
                    <a:p>
                      <a:r>
                        <a:rPr sz="1400" b="0" i="0">
                          <a:solidFill>
                            <a:srgbClr val="1A1440"/>
                          </a:solidFill>
                          <a:latin typeface="Calibri"/>
                        </a:rPr>
                        <a:t>C. The channel it predicts</a:t>
                      </a:r>
                    </a:p>
                  </a:txBody>
                  <a:tcPr marL="101600" marR="101600" marT="38100" marB="38100" anchor="ctr">
                    <a:solidFill>
                      <a:srgbClr val="FFFFFF"/>
                    </a:solidFill>
                  </a:tcPr>
                </a:tc>
                <a:tc>
                  <a:txBody>
                    <a:bodyPr/>
                    <a:lstStyle/>
                    <a:p>
                      <a:r>
                        <a:rPr sz="1400" b="0" i="0">
                          <a:solidFill>
                            <a:srgbClr val="1A1440"/>
                          </a:solidFill>
                          <a:latin typeface="Calibri"/>
                        </a:rPr>
                        <a:t>Retail-Plus orders by channel</a:t>
                      </a:r>
                    </a:p>
                  </a:txBody>
                  <a:tcPr marL="101600" marR="101600" marT="38100" marB="38100" anchor="ctr">
                    <a:solidFill>
                      <a:srgbClr val="FFFFFF"/>
                    </a:solidFill>
                  </a:tcPr>
                </a:tc>
                <a:tc>
                  <a:txBody>
                    <a:bodyPr/>
                    <a:lstStyle/>
                    <a:p>
                      <a:r>
                        <a:rPr sz="1400" b="0" i="0">
                          <a:solidFill>
                            <a:srgbClr val="1A1440"/>
                          </a:solidFill>
                          <a:latin typeface="Calibri"/>
                        </a:rPr>
                        <a:t>An app-only cause</a:t>
                      </a:r>
                    </a:p>
                  </a:txBody>
                  <a:tcPr marL="101600" marR="101600" marT="38100" marB="38100" anchor="ctr">
                    <a:solidFill>
                      <a:srgbClr val="FFFFFF"/>
                    </a:solidFill>
                  </a:tcPr>
                </a:tc>
              </a:tr>
              <a:tr h="369824">
                <a:tc>
                  <a:txBody>
                    <a:bodyPr/>
                    <a:lstStyle/>
                    <a:p>
                      <a:r>
                        <a:rPr sz="1400" b="0" i="0">
                          <a:solidFill>
                            <a:srgbClr val="1A1440"/>
                          </a:solidFill>
                          <a:latin typeface="Calibri"/>
                        </a:rPr>
                        <a:t>D. The app's reorder logs</a:t>
                      </a:r>
                    </a:p>
                  </a:txBody>
                  <a:tcPr marL="101600" marR="101600" marT="38100" marB="38100" anchor="ctr">
                    <a:solidFill>
                      <a:srgbClr val="F4F2FA"/>
                    </a:solidFill>
                  </a:tcPr>
                </a:tc>
                <a:tc>
                  <a:txBody>
                    <a:bodyPr/>
                    <a:lstStyle/>
                    <a:p>
                      <a:r>
                        <a:rPr sz="1400" b="0" i="0">
                          <a:solidFill>
                            <a:srgbClr val="1A1440"/>
                          </a:solidFill>
                          <a:latin typeface="Calibri"/>
                        </a:rPr>
                        <a:t>A data request</a:t>
                      </a:r>
                    </a:p>
                  </a:txBody>
                  <a:tcPr marL="101600" marR="101600" marT="38100" marB="38100" anchor="ctr">
                    <a:solidFill>
                      <a:srgbClr val="F4F2FA"/>
                    </a:solidFill>
                  </a:tcPr>
                </a:tc>
                <a:tc>
                  <a:txBody>
                    <a:bodyPr/>
                    <a:lstStyle/>
                    <a:p>
                      <a:r>
                        <a:rPr sz="1400" b="0" i="0">
                          <a:solidFill>
                            <a:srgbClr val="1A1440"/>
                          </a:solidFill>
                          <a:latin typeface="Calibri"/>
                        </a:rPr>
                        <a:t>Nothing today; it settles it later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 and C now, D requested today. </a:t>
            </a:r>
            <a:r>
              <a:rPr sz="1500" b="1" i="0">
                <a:solidFill>
                  <a:srgbClr val="1A1440"/>
                </a:solidFill>
                <a:latin typeface="Calibri"/>
              </a:rPr>
              <a:t>What would change it:</a:t>
            </a:r>
            <a:r>
              <a:rPr sz="1500" b="0" i="0">
                <a:solidFill>
                  <a:srgbClr val="1A1440"/>
                </a:solidFill>
                <a:latin typeface="Calibri"/>
              </a:rPr>
              <a:t> if the break turned out to be in June, A's verdict flips, and D's release date is how we would learn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did the tier drop below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for comparison.</a:t>
            </a:r>
          </a:p>
        </p:txBody>
      </p:sp>
      <p:pic>
        <p:nvPicPr>
          <p:cNvPr id="9" name="mermaid diagram" descr="e1a2c198c224d605.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September, after the break; b) August, when it broke; c) July, before it broke; d) never.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weeks before the button broke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stepped down in July while Retail-Core held level through the same months.</a:t>
            </a:r>
          </a:p>
        </p:txBody>
      </p:sp>
      <p:pic>
        <p:nvPicPr>
          <p:cNvPr id="9" name="mermaid diagram" descr="70e24821516b80ec.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The line that falls from 13 to 9 in July is Retail-Plus; the level line is Retail-Core.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button cost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memo charges the button with the tier's whole quarter.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THE BUTTON "COST"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51 in Q1 less 26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65,250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RUPEES THE BUTTON "COST"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tier's fall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CHECKED BEFORE THE BREAK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missing check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Engineering is told the fix recovers 25 orders a quarter; it ships, recovers a handful, and the tier's real problem has had another quarter to run.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and the ceiling: about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Q2 at the break and give each side its window; the rate had fallen by more than a third already.</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138359"/>
                <a:gridCol w="914400"/>
                <a:gridCol w="914400"/>
                <a:gridCol w="3163832"/>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Per week</a:t>
                      </a:r>
                    </a:p>
                  </a:txBody>
                  <a:tcPr marL="101600" marR="101600" marT="38100" marB="38100" anchor="ctr">
                    <a:solidFill>
                      <a:srgbClr val="1A0F5C"/>
                    </a:solidFill>
                  </a:tcPr>
                </a:tc>
              </a:tr>
              <a:tr h="335280">
                <a:tc>
                  <a:txBody>
                    <a:bodyPr/>
                    <a:lstStyle/>
                    <a:p>
                      <a:r>
                        <a:rPr sz="1200" b="0" i="0">
                          <a:solidFill>
                            <a:srgbClr val="1A1440"/>
                          </a:solidFill>
                          <a:latin typeface="Calibri"/>
                        </a:rPr>
                        <a:t>Q1, 1 Apr to 30 Jun</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51</a:t>
                      </a:r>
                    </a:p>
                  </a:txBody>
                  <a:tcPr marL="101600" marR="101600" marT="38100" marB="38100" anchor="ctr">
                    <a:solidFill>
                      <a:srgbClr val="FFFFFF"/>
                    </a:solidFill>
                  </a:tcPr>
                </a:tc>
                <a:tc>
                  <a:txBody>
                    <a:bodyPr/>
                    <a:lstStyle/>
                    <a:p>
                      <a:r>
                        <a:rPr sz="1200" b="0" i="0">
                          <a:solidFill>
                            <a:srgbClr val="1A1440"/>
                          </a:solidFill>
                          <a:latin typeface="Calibri"/>
                        </a:rPr>
                        <a:t>3.92</a:t>
                      </a:r>
                    </a:p>
                  </a:txBody>
                  <a:tcPr marL="101600" marR="101600" marT="38100" marB="38100" anchor="ctr">
                    <a:solidFill>
                      <a:srgbClr val="FFFFFF"/>
                    </a:solidFill>
                  </a:tcPr>
                </a:tc>
              </a:tr>
              <a:tr h="335280">
                <a:tc>
                  <a:txBody>
                    <a:bodyPr/>
                    <a:lstStyle/>
                    <a:p>
                      <a:r>
                        <a:rPr sz="1200" b="0" i="0">
                          <a:solidFill>
                            <a:srgbClr val="1A1440"/>
                          </a:solidFill>
                          <a:latin typeface="Calibri"/>
                        </a:rPr>
                        <a:t>Q2, 1 Jul to 24 Aug</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2.29</a:t>
                      </a:r>
                    </a:p>
                  </a:txBody>
                  <a:tcPr marL="101600" marR="101600" marT="38100" marB="38100" anchor="ctr">
                    <a:solidFill>
                      <a:srgbClr val="F4F2FA"/>
                    </a:solidFill>
                  </a:tcPr>
                </a:tc>
              </a:tr>
              <a:tr h="335280">
                <a:tc>
                  <a:txBody>
                    <a:bodyPr/>
                    <a:lstStyle/>
                    <a:p>
                      <a:r>
                        <a:rPr sz="1200" b="0" i="0">
                          <a:solidFill>
                            <a:srgbClr val="1A1440"/>
                          </a:solidFill>
                          <a:latin typeface="Calibri"/>
                        </a:rPr>
                        <a:t>Q2, 25 Aug to 30 Sep</a:t>
                      </a:r>
                    </a:p>
                  </a:txBody>
                  <a:tcPr marL="101600" marR="101600" marT="38100" marB="38100" anchor="ctr">
                    <a:solidFill>
                      <a:srgbClr val="FFFFFF"/>
                    </a:solidFill>
                  </a:tcPr>
                </a:tc>
                <a:tc>
                  <a:txBody>
                    <a:bodyPr/>
                    <a:lstStyle/>
                    <a:p>
                      <a:r>
                        <a:rPr sz="1200" b="0" i="0">
                          <a:solidFill>
                            <a:srgbClr val="1A1440"/>
                          </a:solidFill>
                          <a:latin typeface="Calibri"/>
                        </a:rPr>
                        <a:t>37</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1.51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At the pre-break pace, 37 days would have carried about 12.1 orders; the tier placed 8. The button explains at most about 4 orders, about Rs 12,400, and that is a ceiling.</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season and the channel, both tested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season that hit everyone would move Retail-Core; an app-only cause would leave the web and store alone.</a:t>
            </a:r>
          </a:p>
        </p:txBody>
      </p:sp>
      <p:pic>
        <p:nvPicPr>
          <p:cNvPr id="9" name="mermaid diagram" descr="1c13bac17419749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What it says. </a:t>
            </a:r>
            <a:r>
              <a:rPr sz="1500" b="0" i="0">
                <a:solidFill>
                  <a:srgbClr val="1A1440"/>
                </a:solidFill>
                <a:latin typeface="Calibri"/>
              </a:rPr>
              <a:t>Retail-Core kept 95 percent of its Q1 orders and Retail-Plus 51, so an across-the-board season does not fit; every channel fell, so an app-only cause does not fit. A season that hit members harder still fits, and last year's Q2 by segment settles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pace the tier had set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Carry the pre-break pace forward and count the shortfall after the break: the same 4.1 orders.</a:t>
            </a:r>
          </a:p>
        </p:txBody>
      </p:sp>
      <p:pic>
        <p:nvPicPr>
          <p:cNvPr id="9" name="mermaid diagram" descr="cf313b1da446c501.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Write the rate route in the memo; draw the counting route, since a line bending away from its own pace is what a room can see.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what we know, what we are guessing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claim, two hypotheses with the evidence that settles each, and a rival.</a:t>
            </a:r>
          </a:p>
        </p:txBody>
      </p:sp>
      <p:pic>
        <p:nvPicPr>
          <p:cNvPr id="9" name="mermaid diagram" descr="103ced1a8663a069.png"/>
          <p:cNvPicPr>
            <a:picLocks noChangeAspect="1"/>
          </p:cNvPicPr>
          <p:nvPr/>
        </p:nvPicPr>
        <p:blipFill>
          <a:blip r:embed="rId7"/>
          <a:stretch>
            <a:fillRect/>
          </a:stretch>
        </p:blipFill>
        <p:spPr>
          <a:xfrm>
            <a:off x="982979" y="1682496"/>
            <a:ext cx="3881071"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"You gave the tier a number for his cause, a ceiling of about 4 orders, instead of a yes or a no. Say what you know, then what you are guessing, and stop."</a:t>
            </a:r>
          </a:p>
        </p:txBody>
      </p:sp>
      <p:sp>
        <p:nvSpPr>
          <p:cNvPr id="15" name="Rounded Rectangle 14"/>
          <p:cNvSpPr/>
          <p:nvPr/>
        </p:nvSpPr>
        <p:spPr>
          <a:xfrm>
            <a:off x="5761917" y="3761232"/>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2230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6100245" y="4332732"/>
            <a:ext cx="237744" cy="237744"/>
          </a:xfrm>
          <a:prstGeom prst="rect">
            <a:avLst/>
          </a:prstGeom>
        </p:spPr>
      </p:pic>
      <p:sp>
        <p:nvSpPr>
          <p:cNvPr id="18" name="TextBox 17"/>
          <p:cNvSpPr txBox="1"/>
          <p:nvPr/>
        </p:nvSpPr>
        <p:spPr>
          <a:xfrm>
            <a:off x="6630597" y="390753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6630597" y="4126992"/>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hands you a cause; how do you test it with the data you have and name the data you need?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whole ladder again, alone, on the orders that reached customers.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if the story survives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board pack reports what reached customers and stayed, and one branch that held this morning moves.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board pack reports revenue on orders that reached the customer and stayed there. Does your story survive on delivered orders? Which branch, which segment, and what would you bet on?"</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Is the delivered drop real?</a:t>
            </a:r>
          </a:p>
        </p:txBody>
      </p:sp>
      <p:sp>
        <p:nvSpPr>
          <p:cNvPr id="19" name="TextBox 18"/>
          <p:cNvSpPr txBox="1"/>
          <p:nvPr/>
        </p:nvSpPr>
        <p:spPr>
          <a:xfrm>
            <a:off x="694944"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Filter to delivered orders; compare closed quarters.</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tree on delivered</a:t>
            </a:r>
          </a:p>
        </p:txBody>
      </p:sp>
      <p:sp>
        <p:nvSpPr>
          <p:cNvPr id="24" name="TextBox 23"/>
          <p:cNvSpPr txBox="1"/>
          <p:nvPr/>
        </p:nvSpPr>
        <p:spPr>
          <a:xfrm>
            <a:off x="2957718" y="4778756"/>
            <a:ext cx="1750710" cy="531876"/>
          </a:xfrm>
          <a:prstGeom prst="rect">
            <a:avLst/>
          </a:prstGeom>
          <a:noFill/>
        </p:spPr>
        <p:txBody>
          <a:bodyPr wrap="square" anchor="t" lIns="0" rIns="0" tIns="0" bIns="0">
            <a:spAutoFit/>
          </a:bodyPr>
          <a:lstStyle/>
          <a:p>
            <a:pPr algn="l"/>
            <a:r>
              <a:rPr sz="1000" b="0" i="0">
                <a:solidFill>
                  <a:srgbClr val="6B6690"/>
                </a:solidFill>
                <a:latin typeface="Calibri"/>
              </a:rPr>
              <a:t>A bridge in the tree's order; one branch that held now moves.</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Are those lost customers?</a:t>
            </a:r>
          </a:p>
        </p:txBody>
      </p:sp>
      <p:sp>
        <p:nvSpPr>
          <p:cNvPr id="29" name="TextBox 28"/>
          <p:cNvSpPr txBox="1"/>
          <p:nvPr/>
        </p:nvSpPr>
        <p:spPr>
          <a:xfrm>
            <a:off x="5220492"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Compare the delivered and the booked overlap.</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Four segments, rolled up</a:t>
            </a:r>
          </a:p>
        </p:txBody>
      </p:sp>
      <p:sp>
        <p:nvSpPr>
          <p:cNvPr id="34" name="TextBox 33"/>
          <p:cNvSpPr txBox="1"/>
          <p:nvPr/>
        </p:nvSpPr>
        <p:spPr>
          <a:xfrm>
            <a:off x="7483266"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tree_for, the weighted roll-up, every group counted.</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465836"/>
          </a:xfrm>
          <a:prstGeom prst="rect">
            <a:avLst/>
          </a:prstGeom>
          <a:noFill/>
        </p:spPr>
        <p:txBody>
          <a:bodyPr wrap="square" anchor="t" lIns="0" rIns="0" tIns="0" bIns="0">
            <a:spAutoFit/>
          </a:bodyPr>
          <a:lstStyle/>
          <a:p>
            <a:pPr algn="l"/>
            <a:r>
              <a:rPr sz="1300" b="1" i="0">
                <a:solidFill>
                  <a:srgbClr val="FFFFFF"/>
                </a:solidFill>
                <a:latin typeface="Calibri"/>
              </a:rPr>
              <a:t>Mix or rate on delivered</a:t>
            </a:r>
          </a:p>
        </p:txBody>
      </p:sp>
      <p:sp>
        <p:nvSpPr>
          <p:cNvPr id="39" name="TextBox 38"/>
          <p:cNvSpPr txBox="1"/>
          <p:nvPr/>
        </p:nvSpPr>
        <p:spPr>
          <a:xfrm>
            <a:off x="9746040" y="4778756"/>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split, and the sentence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42" name="Oval 4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46" name="Oval 4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8" name="Oval 4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goes in, and what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seven lettered choices in the notebook, and one line of letters posted at the end.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item each in the brief</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LETTERED TODOS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a check that says if it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SENTENCE TO MEERA</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branch, segment, hypotheses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number carries its definition: say "delivered" beside each one, and "booked" beside anything from this morning.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 of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four wrong answers the room is most likely to have reached, with their exact numbers.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customers fell, Marketing wins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delivered orders customers fell from 54 to 50 and the bridge charges them Rs 10,74,442.</a:t>
            </a:r>
          </a:p>
        </p:txBody>
      </p:sp>
      <p:pic>
        <p:nvPicPr>
          <p:cNvPr id="9" name="mermaid diagram" descr="c53971bbbe6166d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booked overlap is 69, 0 and 0. The branch that moved is cancellations and returns, to be split by reason, and acquisition still has nothing to replace.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delivered frequency fell 9.2%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average of four delivered segment rates says minus 9.2 percent; the weighted figure says minus 24.0.</a:t>
            </a:r>
          </a:p>
        </p:txBody>
      </p:sp>
      <p:pic>
        <p:nvPicPr>
          <p:cNvPr id="9" name="mermaid diagram" descr="4a03608887a649cb.png"/>
          <p:cNvPicPr>
            <a:picLocks noChangeAspect="1"/>
          </p:cNvPicPr>
          <p:nvPr/>
        </p:nvPicPr>
        <p:blipFill>
          <a:blip r:embed="rId5"/>
          <a:stretch>
            <a:fillRect/>
          </a:stretch>
        </p:blipFill>
        <p:spPr>
          <a:xfrm>
            <a:off x="2311755" y="1664208"/>
            <a:ext cx="7568184" cy="3784092"/>
          </a:xfrm>
          <a:prstGeom prst="rect">
            <a:avLst/>
          </a:prstGeom>
        </p:spPr>
      </p:pic>
      <p:sp>
        <p:nvSpPr>
          <p:cNvPr id="10" name="Rounded Rectangle 9"/>
          <p:cNvSpPr/>
          <p:nvPr/>
        </p:nvSpPr>
        <p:spPr>
          <a:xfrm>
            <a:off x="530352" y="5494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22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6128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roll-up must reproduce 81 orders over 54 customers and 57 over 50: 1.50 and 1.14.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mix is 44%,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delivered orders the mix explains 44 percent of the rise, and some read the rest as a price rise.</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389019"/>
                <a:gridCol w="2724137"/>
                <a:gridCol w="1277760"/>
                <a:gridCol w="574007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Revenue per order rise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c>
                  <a:txBody>
                    <a:bodyPr/>
                    <a:lstStyle/>
                    <a:p>
                      <a:r>
                        <a:rPr sz="1250" b="1" i="0">
                          <a:solidFill>
                            <a:srgbClr val="FFFFFF"/>
                          </a:solidFill>
                          <a:latin typeface="Calibri"/>
                        </a:rPr>
                        <a:t>Rate carried by</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Business, one large order</a:t>
                      </a:r>
                    </a:p>
                  </a:txBody>
                  <a:tcPr marL="101600" marR="101600" marT="38100" marB="38100" anchor="ctr">
                    <a:solidFill>
                      <a:srgbClr val="FFFFFF"/>
                    </a:solidFill>
                  </a:tcPr>
                </a:tc>
              </a:tr>
              <a:tr h="335280">
                <a:tc>
                  <a:txBody>
                    <a:bodyPr/>
                    <a:lstStyle/>
                    <a:p>
                      <a:r>
                        <a:rPr sz="1200" b="0" i="0">
                          <a:solidFill>
                            <a:srgbClr val="1A1440"/>
                          </a:solidFill>
                          <a:latin typeface="Calibri"/>
                        </a:rPr>
                        <a:t>Delivered</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c>
                  <a:txBody>
                    <a:bodyPr/>
                    <a:lstStyle/>
                    <a:p>
                      <a:r>
                        <a:rPr sz="1200" b="0" i="0">
                          <a:solidFill>
                            <a:srgbClr val="1A1440"/>
                          </a:solidFill>
                          <a:latin typeface="Calibri"/>
                        </a:rPr>
                        <a:t>44%</a:t>
                      </a:r>
                    </a:p>
                  </a:txBody>
                  <a:tcPr marL="101600" marR="101600" marT="38100" marB="38100" anchor="ctr">
                    <a:solidFill>
                      <a:srgbClr val="F4F2FA"/>
                    </a:solidFill>
                  </a:tcPr>
                </a:tc>
                <a:tc>
                  <a:txBody>
                    <a:bodyPr/>
                    <a:lstStyle/>
                    <a:p>
                      <a:r>
                        <a:rPr sz="1200" b="0" i="0">
                          <a:solidFill>
                            <a:srgbClr val="1A1440"/>
                          </a:solidFill>
                          <a:latin typeface="Calibri"/>
                        </a:rPr>
                        <a:t>Business, delivered orders Rs 10,24,651 to Rs 11,60,405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rate part is Business's lakh-sized orders; the consumer segments' own delivered order values moved by about a hundred rupees at most, so there is still no consumer price signal.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a sentence with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11 percent" is true on both definitions, at 11.0 and 11.3, and says neither.</a:t>
            </a:r>
          </a:p>
        </p:txBody>
      </p:sp>
      <p:pic>
        <p:nvPicPr>
          <p:cNvPr id="9" name="mermaid diagram" descr="42df9b6a0735c156.png"/>
          <p:cNvPicPr>
            <a:picLocks noChangeAspect="1"/>
          </p:cNvPicPr>
          <p:nvPr/>
        </p:nvPicPr>
        <p:blipFill>
          <a:blip r:embed="rId6"/>
          <a:stretch>
            <a:fillRect/>
          </a:stretch>
        </p:blipFill>
        <p:spPr>
          <a:xfrm>
            <a:off x="3607649" y="1664208"/>
            <a:ext cx="497639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"On delivered orders the story held: frequency, Retail-Plus at minus 42.6 percent per member, and the same two hypotheses. The branch that moved was fulfilment. Put the definition beside every number, and the solution is open now."</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In pairs: Marketing's new deck, and the tier asks who to call first.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new deck, and the tier's call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of each pair answers Marketing, the other the head of Retail-Plus, from the same file.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Student rose 40 percent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"Our campus push worked, so acquisition works."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fca372603d1d.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Web fell hardest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"Retail-Plus web orders fell 24 to 9, so it is the website team's problem."</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hone_74e7f1db6e6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TIER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Who do I call first?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"Which of my members do I call first?"</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Find what each number is made of before you agree or disagree.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34" name="Oval 3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6" name="Oval 3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8" name="Oval 3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33295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40" name="Oval 3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2" name="Oval 41"/>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pairs should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claim, taken apart, and the call list with its size.</a:t>
            </a:r>
          </a:p>
        </p:txBody>
      </p:sp>
      <p:graphicFrame>
        <p:nvGraphicFramePr>
          <p:cNvPr id="9" name="Table 8"/>
          <p:cNvGraphicFramePr>
            <a:graphicFrameLocks noGrp="1"/>
          </p:cNvGraphicFramePr>
          <p:nvPr/>
        </p:nvGraphicFramePr>
        <p:xfrm>
          <a:off x="530352" y="1956816"/>
          <a:ext cx="11130989" cy="1962912"/>
        </p:xfrm>
        <a:graphic>
          <a:graphicData uri="http://schemas.openxmlformats.org/drawingml/2006/table">
            <a:tbl>
              <a:tblPr firstRow="0" bandRow="0">
                <a:tableStyleId>{2D5ABB26-0587-4C30-8999-92F81FD0307C}</a:tableStyleId>
              </a:tblPr>
              <a:tblGrid>
                <a:gridCol w="1855937"/>
                <a:gridCol w="4025600"/>
                <a:gridCol w="5249452"/>
              </a:tblGrid>
              <a:tr h="369824">
                <a:tc>
                  <a:txBody>
                    <a:bodyPr/>
                    <a:lstStyle/>
                    <a:p>
                      <a:r>
                        <a:rPr sz="1450" b="1" i="0">
                          <a:solidFill>
                            <a:srgbClr val="FFFFFF"/>
                          </a:solidFill>
                          <a:latin typeface="Calibri"/>
                        </a:rPr>
                        <a:t>Claim</a:t>
                      </a:r>
                    </a:p>
                  </a:txBody>
                  <a:tcPr marL="101600" marR="101600" marT="38100" marB="38100" anchor="ctr">
                    <a:solidFill>
                      <a:srgbClr val="1A0F5C"/>
                    </a:solidFill>
                  </a:tcPr>
                </a:tc>
                <a:tc>
                  <a:txBody>
                    <a:bodyPr/>
                    <a:lstStyle/>
                    <a:p>
                      <a:r>
                        <a:rPr sz="1450" b="1" i="0">
                          <a:solidFill>
                            <a:srgbClr val="FFFFFF"/>
                          </a:solidFill>
                          <a:latin typeface="Calibri"/>
                        </a:rPr>
                        <a:t>What it is made of</a:t>
                      </a:r>
                    </a:p>
                  </a:txBody>
                  <a:tcPr marL="101600" marR="101600" marT="38100" marB="38100" anchor="ctr">
                    <a:solidFill>
                      <a:srgbClr val="1A0F5C"/>
                    </a:solidFill>
                  </a:tcPr>
                </a:tc>
                <a:tc>
                  <a:txBody>
                    <a:bodyPr/>
                    <a:lstStyle/>
                    <a:p>
                      <a:r>
                        <a:rPr sz="1450" b="1" i="0">
                          <a:solidFill>
                            <a:srgbClr val="FFFFFF"/>
                          </a:solidFill>
                          <a:latin typeface="Calibri"/>
                        </a:rPr>
                        <a:t>The reply</a:t>
                      </a:r>
                    </a:p>
                  </a:txBody>
                  <a:tcPr marL="101600" marR="101600" marT="38100" marB="38100" anchor="ctr">
                    <a:solidFill>
                      <a:srgbClr val="1A0F5C"/>
                    </a:solidFill>
                  </a:tcPr>
                </a:tc>
              </a:tr>
              <a:tr h="611632">
                <a:tc>
                  <a:txBody>
                    <a:bodyPr/>
                    <a:lstStyle/>
                    <a:p>
                      <a:r>
                        <a:rPr sz="1400" b="0" i="0">
                          <a:solidFill>
                            <a:srgbClr val="1A1440"/>
                          </a:solidFill>
                          <a:latin typeface="Calibri"/>
                        </a:rPr>
                        <a:t>Student +40 percent</a:t>
                      </a:r>
                    </a:p>
                  </a:txBody>
                  <a:tcPr marL="101600" marR="101600" marT="38100" marB="38100" anchor="ctr">
                    <a:solidFill>
                      <a:srgbClr val="FFFFFF"/>
                    </a:solidFill>
                  </a:tcPr>
                </a:tc>
                <a:tc>
                  <a:txBody>
                    <a:bodyPr/>
                    <a:lstStyle/>
                    <a:p>
                      <a:r>
                        <a:rPr sz="1400" b="0" i="0">
                          <a:solidFill>
                            <a:srgbClr val="1A1440"/>
                          </a:solidFill>
                          <a:latin typeface="Calibri"/>
                        </a:rPr>
                        <a:t>The same 2 customers, 5 orders to 7</a:t>
                      </a:r>
                    </a:p>
                  </a:txBody>
                  <a:tcPr marL="101600" marR="101600" marT="38100" marB="38100" anchor="ctr">
                    <a:solidFill>
                      <a:srgbClr val="FFFFFF"/>
                    </a:solidFill>
                  </a:tcPr>
                </a:tc>
                <a:tc>
                  <a:txBody>
                    <a:bodyPr/>
                    <a:lstStyle/>
                    <a:p>
                      <a:r>
                        <a:rPr sz="1400" b="0" i="0">
                          <a:solidFill>
                            <a:srgbClr val="1A1440"/>
                          </a:solidFill>
                          <a:latin typeface="Calibri"/>
                        </a:rPr>
                        <a:t>No new customer, and one order moves a rate on 2 customers by 20 percent</a:t>
                      </a:r>
                    </a:p>
                  </a:txBody>
                  <a:tcPr marL="101600" marR="101600" marT="38100" marB="38100" anchor="ctr">
                    <a:solidFill>
                      <a:srgbClr val="FFFFFF"/>
                    </a:solidFill>
                  </a:tcPr>
                </a:tc>
              </a:tr>
              <a:tr h="611632">
                <a:tc>
                  <a:txBody>
                    <a:bodyPr/>
                    <a:lstStyle/>
                    <a:p>
                      <a:r>
                        <a:rPr sz="1400" b="0" i="0">
                          <a:solidFill>
                            <a:srgbClr val="1A1440"/>
                          </a:solidFill>
                          <a:latin typeface="Calibri"/>
                        </a:rPr>
                        <a:t>Web fell hardest</a:t>
                      </a:r>
                    </a:p>
                  </a:txBody>
                  <a:tcPr marL="101600" marR="101600" marT="38100" marB="38100" anchor="ctr">
                    <a:solidFill>
                      <a:srgbClr val="F4F2FA"/>
                    </a:solidFill>
                  </a:tcPr>
                </a:tc>
                <a:tc>
                  <a:txBody>
                    <a:bodyPr/>
                    <a:lstStyle/>
                    <a:p>
                      <a:r>
                        <a:rPr sz="1400" b="0" i="0">
                          <a:solidFill>
                            <a:srgbClr val="1A1440"/>
                          </a:solidFill>
                          <a:latin typeface="Calibri"/>
                        </a:rPr>
                        <a:t>Retail-Core web held, 13 to 12, same website</a:t>
                      </a:r>
                    </a:p>
                  </a:txBody>
                  <a:tcPr marL="101600" marR="101600" marT="38100" marB="38100" anchor="ctr">
                    <a:solidFill>
                      <a:srgbClr val="F4F2FA"/>
                    </a:solidFill>
                  </a:tcPr>
                </a:tc>
                <a:tc>
                  <a:txBody>
                    <a:bodyPr/>
                    <a:lstStyle/>
                    <a:p>
                      <a:r>
                        <a:rPr sz="1400" b="0" i="0">
                          <a:solidFill>
                            <a:srgbClr val="1A1440"/>
                          </a:solidFill>
                          <a:latin typeface="Calibri"/>
                        </a:rPr>
                        <a:t>A site-wide fault does not fit; members fell on every channel</a:t>
                      </a:r>
                    </a:p>
                  </a:txBody>
                  <a:tcPr marL="101600" marR="101600" marT="38100" marB="38100" anchor="ctr">
                    <a:solidFill>
                      <a:srgbClr val="F4F2FA"/>
                    </a:solidFill>
                  </a:tcPr>
                </a:tc>
              </a:tr>
              <a:tr h="369824">
                <a:tc>
                  <a:txBody>
                    <a:bodyPr/>
                    <a:lstStyle/>
                    <a:p>
                      <a:r>
                        <a:rPr sz="1400" b="0" i="0">
                          <a:solidFill>
                            <a:srgbClr val="1A1440"/>
                          </a:solidFill>
                          <a:latin typeface="Calibri"/>
                        </a:rPr>
                        <a:t>Who to call first</a:t>
                      </a:r>
                    </a:p>
                  </a:txBody>
                  <a:tcPr marL="101600" marR="101600" marT="38100" marB="38100" anchor="ctr">
                    <a:solidFill>
                      <a:srgbClr val="FFFFFF"/>
                    </a:solidFill>
                  </a:tcPr>
                </a:tc>
                <a:tc>
                  <a:txBody>
                    <a:bodyPr/>
                    <a:lstStyle/>
                    <a:p>
                      <a:r>
                        <a:rPr sz="1400" b="0" i="0">
                          <a:solidFill>
                            <a:srgbClr val="1A1440"/>
                          </a:solidFill>
                          <a:latin typeface="Calibri"/>
                        </a:rPr>
                        <a:t>7 members went from 3 orders to 1</a:t>
                      </a:r>
                    </a:p>
                  </a:txBody>
                  <a:tcPr marL="101600" marR="101600" marT="38100" marB="38100" anchor="ctr">
                    <a:solidFill>
                      <a:srgbClr val="FFFFFF"/>
                    </a:solidFill>
                  </a:tcPr>
                </a:tc>
                <a:tc>
                  <a:txBody>
                    <a:bodyPr/>
                    <a:lstStyle/>
                    <a:p>
                      <a:r>
                        <a:rPr sz="1400" b="0" i="0">
                          <a:solidFill>
                            <a:srgbClr val="1A1440"/>
                          </a:solidFill>
                          <a:latin typeface="Calibri"/>
                        </a:rPr>
                        <a:t>Call the 7, then the 11 who fell by one</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624840"/>
          </a:xfrm>
          <a:prstGeom prst="rect">
            <a:avLst/>
          </a:prstGeom>
          <a:noFill/>
        </p:spPr>
        <p:txBody>
          <a:bodyPr wrap="square" anchor="ctr" lIns="0" rIns="0" tIns="0" bIns="0">
            <a:spAutoFit/>
          </a:bodyPr>
          <a:lstStyle/>
          <a:p>
            <a:r>
              <a:rPr sz="1500" b="1">
                <a:solidFill>
                  <a:srgbClr val="5B3FD6"/>
                </a:solidFill>
                <a:latin typeface="Calibri"/>
              </a:rPr>
              <a:t>The one request. </a:t>
            </a:r>
            <a:r>
              <a:rPr sz="1500" b="0" i="0">
                <a:solidFill>
                  <a:srgbClr val="1A1440"/>
                </a:solidFill>
                <a:latin typeface="Calibri"/>
              </a:rPr>
              <a:t>The tier's July change log, renewals and support tickets, since the fall began in July; the reorder logs second.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asked aloud, one breath each, the design question among them.</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1 to 6: the ladder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anchors and the decomposition questions, where a plausible number is waiting.</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7 to 12: weights, churn and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case-style follow-ups and the design questions that separate candidates.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does that prove no customers were lost?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same metrics are needed for every segment and quarter: copy, function or group by key?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sentence to Meera, the eight lines to keep, and tomorrow's question.</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goes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its evidence, its caveat and the next step, in the order she needs them.</a:t>
            </a:r>
          </a:p>
        </p:txBody>
      </p:sp>
      <p:sp>
        <p:nvSpPr>
          <p:cNvPr id="9" name="Rounded Rectangle 8"/>
          <p:cNvSpPr/>
          <p:nvPr/>
        </p:nvSpPr>
        <p:spPr>
          <a:xfrm>
            <a:off x="530352"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733039"/>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every one of them buying in both quarters, so acquisition is not the branch that moved; orders per customer fell from 1.65 to 1.25. In behaviour the fall sits in Retail-Plus, where the same 22 members placed 26 orders against 51, and revenue per order rose mainly because those small orders disappeared. In rupees most of it is three fewer Business orders, each worth lakhs and too few to call a trend. The fall began in July, before the reorder button broke, so the button explains at most about 4 orders; we are asking for the tier's July change log and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lines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day's rules, word for word as the cheat sheet prints them.</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3855720"/>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3892296"/>
            <a:ext cx="10564063" cy="368808"/>
          </a:xfrm>
          <a:prstGeom prst="rect">
            <a:avLst/>
          </a:prstGeom>
          <a:noFill/>
        </p:spPr>
        <p:txBody>
          <a:bodyPr wrap="square" anchor="t" lIns="0" rIns="0" tIns="0" bIns="0">
            <a:spAutoFit/>
          </a:bodyPr>
          <a:lstStyle/>
          <a:p>
            <a:r>
              <a:rPr sz="1500" b="0" i="0">
                <a:solidFill>
                  <a:srgbClr val="1A1440"/>
                </a:solidFill>
                <a:latin typeface="Calibri"/>
              </a:rPr>
              <a:t>A blended rate can move while no segment moves; split mix from rate.</a:t>
            </a:r>
          </a:p>
        </p:txBody>
      </p:sp>
      <p:sp>
        <p:nvSpPr>
          <p:cNvPr id="21" name="TextBox 20"/>
          <p:cNvSpPr txBox="1"/>
          <p:nvPr/>
        </p:nvSpPr>
        <p:spPr>
          <a:xfrm>
            <a:off x="530352" y="4297680"/>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334256"/>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3" name="TextBox 22"/>
          <p:cNvSpPr txBox="1"/>
          <p:nvPr/>
        </p:nvSpPr>
        <p:spPr>
          <a:xfrm>
            <a:off x="530352" y="4739640"/>
            <a:ext cx="502920" cy="333756"/>
          </a:xfrm>
          <a:prstGeom prst="rect">
            <a:avLst/>
          </a:prstGeom>
          <a:noFill/>
        </p:spPr>
        <p:txBody>
          <a:bodyPr wrap="square" anchor="t" lIns="0" rIns="0" tIns="0" bIns="0">
            <a:spAutoFit/>
          </a:bodyPr>
          <a:lstStyle/>
          <a:p>
            <a:pPr algn="l"/>
            <a:r>
              <a:rPr sz="1800" b="0" i="0">
                <a:solidFill>
                  <a:srgbClr val="5B3FD6"/>
                </a:solidFill>
                <a:latin typeface="Georgia"/>
              </a:rPr>
              <a:t>08</a:t>
            </a:r>
          </a:p>
        </p:txBody>
      </p:sp>
      <p:sp>
        <p:nvSpPr>
          <p:cNvPr id="24" name="TextBox 23"/>
          <p:cNvSpPr txBox="1"/>
          <p:nvPr/>
        </p:nvSpPr>
        <p:spPr>
          <a:xfrm>
            <a:off x="1097280" y="4776216"/>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its ceiling and the evidence that would settle it.</a:t>
            </a:r>
          </a:p>
        </p:txBody>
      </p:sp>
      <p:pic>
        <p:nvPicPr>
          <p:cNvPr id="25" name="mermaid diagram" descr="9035c65d03ba2779.png"/>
          <p:cNvPicPr>
            <a:picLocks noChangeAspect="1"/>
          </p:cNvPicPr>
          <p:nvPr/>
        </p:nvPicPr>
        <p:blipFill>
          <a:blip r:embed="rId5"/>
          <a:stretch>
            <a:fillRect/>
          </a:stretch>
        </p:blipFill>
        <p:spPr>
          <a:xfrm>
            <a:off x="794702" y="5327904"/>
            <a:ext cx="10602289" cy="1097280"/>
          </a:xfrm>
          <a:prstGeom prst="rect">
            <a:avLst/>
          </a:prstGeom>
        </p:spPr>
      </p:pic>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books and the dashboard disagree about Q1, and the answer waits for Wednesday.</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c624ac5c6ae12194.png"/>
          <p:cNvPicPr>
            <a:picLocks noChangeAspect="1"/>
          </p:cNvPicPr>
          <p:nvPr/>
        </p:nvPicPr>
        <p:blipFill>
          <a:blip r:embed="rId5"/>
          <a:stretch>
            <a:fillRect/>
          </a:stretch>
        </p:blipFill>
        <p:spPr>
          <a:xfrm>
            <a:off x="3524097" y="3129280"/>
            <a:ext cx="5143500" cy="27860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