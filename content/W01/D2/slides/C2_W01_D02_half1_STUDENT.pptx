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4 on the need and the company, 5 on the options, 8 on the build and</a:t>
            </a:r>
          </a:p>
          <a:p>
            <a:r>
              <a:t>the prediction, 7 on the trap, 4 on rates and the second route, 2 on Kavya.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every order placed before</a:t>
            </a:r>
          </a:p>
          <a:p>
            <a:r>
              <a:t>any cancellation or return,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What separates the options is the question each answers and what each leaves</a:t>
            </a:r>
          </a:p>
          <a:p>
            <a:r>
              <a:t>out: B reads 167 rows because it drops the last two weeks of each quarter, and D leaves out</a:t>
            </a:r>
          </a:p>
          <a:p>
            <a:r>
              <a:t>everything until last year's export arrives. Write "A: closed quarters" on the board beside rung 1. The notebook's sizing cell</a:t>
            </a:r>
          </a:p>
          <a:p>
            <a:r>
              <a:t>computes this table; run it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Q1 is 13 weeks and 91 days, the tile 11 weeks. Point at the flat</a:t>
            </a:r>
          </a:p>
          <a:p>
            <a:r>
              <a:t>stretches: revenue arrives in lumps, and weeks without a large order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the fall Meera acts on shrank from Rs 54,40,050 to Rs 23,00,000, from</a:t>
            </a:r>
          </a:p>
          <a:p>
            <a:r>
              <a:t>25.9 to 11.0 percent; sixteen orders had not happened yet when the tile was read. The per-week row</a:t>
            </a:r>
          </a:p>
          <a:p>
            <a:r>
              <a:t>is a rate with its numerator, denominator and window. The notebook also runs option B, the same 11</a:t>
            </a:r>
          </a:p>
          <a:p>
            <a:r>
              <a:t>weeks of each, at -17.0 percent: lumpy business orders make short windows jumpy, so once a quarter</a:t>
            </a:r>
          </a:p>
          <a:p>
            <a:r>
              <a:t>closes, compare closed quarters.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second route ignores the quarter field and trusts only the dates, so if the</a:t>
            </a:r>
          </a:p>
          <a:p>
            <a:r>
              <a:t>two routes disagreed, one would be reading the file wrongly. The notebook asserts they are equal.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window length and dates, the definition, the population, the</a:t>
            </a:r>
          </a:p>
          <a:p>
            <a:r>
              <a:t>denominator, and the export's completeness. The design answer: the same weeks of both, with a rate</a:t>
            </a:r>
          </a:p>
          <a:p>
            <a:r>
              <a:t>per week beside it, switching to closed quarters at the close. Transition: the drop is real, so</a:t>
            </a:r>
          </a:p>
          <a:p>
            <a:r>
              <a:t>which 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3 on the need, 5 on the options, 8 on customers, leaves and the</a:t>
            </a:r>
          </a:p>
          <a:p>
            <a:r>
              <a:t>bridge, 10 on the discount trap with its two-minute KeyError, 2 on the second route, 2 on Kavya.</a:t>
            </a:r>
          </a:p>
          <a:p>
            <a:r>
              <a:t>Switch to 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Merchandising is the team that picks the range and the pack sizes. The metric at</a:t>
            </a:r>
          </a:p>
          <a:p>
            <a:r>
              <a:t>stake is the rupees each branch carries. A wrong split sends crores to</a:t>
            </a:r>
          </a:p>
          <a:p>
            <a:r>
              <a:t>the wrong owner for a quarter. Remind the room that price and basket fold into revenue per order on</a:t>
            </a:r>
          </a:p>
          <a:p>
            <a:r>
              <a:t>this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Only B and C put rupees on each branch that add to the fall, and only C is free of</a:t>
            </a:r>
          </a:p>
          <a:p>
            <a:r>
              <a:t>an order. The spread between orders is about Rs 9.3 lakh, the part where two branches moved together; whichever goes second is charged for</a:t>
            </a:r>
          </a:p>
          <a:p>
            <a:r>
              <a:t>it. The symmetric split follows Ang (2005), "The LMDI approach to decomposition analysis", Energy</a:t>
            </a:r>
          </a:p>
          <a:p>
            <a:r>
              <a:t>Policy, checked through Crossref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silence land: Marketing's branch is flat. Whether these are the same 69</a:t>
            </a:r>
          </a:p>
          <a:p>
            <a:r>
              <a:t>people is chapter 5's question. Revenue per order rising is not a price rise until proved; chapter 4</a:t>
            </a:r>
          </a:p>
          <a:p>
            <a:r>
              <a:t>takes it apart. Fill the tree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symmetric split shares the fall by logarithms and chooses no order, so it could</a:t>
            </a:r>
          </a:p>
          <a:p>
            <a:r>
              <a:t>have disagreed with the bridge; the Rs 4,30,585 between them is the part where frequency and order</a:t>
            </a:r>
          </a:p>
          <a:p>
            <a:r>
              <a:t>value moved together. When to switch: keep the bridge for Meera; go symmetric when two branches keep</a:t>
            </a:r>
          </a:p>
          <a:p>
            <a:r>
              <a:t>moving together and someone else rebuilds the split every month. One breath for the interview: tree,</a:t>
            </a:r>
          </a:p>
          <a:p>
            <a:r>
              <a:t>ratios multiply back, one leaf at a time in a fixed order, rupees add.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3 on the need and Costco, 5 on the options, 8 on tree_for and</a:t>
            </a:r>
          </a:p>
          <a:p>
            <a:r>
              <a:t>describe, 7 on the roll-up trap, 5 on the second route and the room's run, 2 on Kavya.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sizing cell measures these. Copying reads the export eight times and</a:t>
            </a:r>
          </a:p>
          <a:p>
            <a:r>
              <a:t>creates eight places for Anand's next definition change to be missed once. Ask how many times the</a:t>
            </a:r>
          </a:p>
          <a:p>
            <a:r>
              <a:t>room wants to paste chapter 2's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it line by line: def, the parameter, the body, return. A function returns</a:t>
            </a:r>
          </a:p>
          <a:p>
            <a:r>
              <a:t>rather than prints, so the caller can put its answer in a table, a chart or a check; chapter 5 meets</a:t>
            </a:r>
          </a:p>
          <a:p>
            <a:r>
              <a:t>one that prints. A new function earns trust by reproducing a number proved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Retail-Core and Business are the two segments demonstrated; do not run Retail-Plus or Student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Retail-Core, for comparison: 1.12 to 1.06 orders per customer,</a:t>
            </a:r>
          </a:p>
          <a:p>
            <a:r>
              <a:t>down 5.3 percent, median Rs 2,325 to Rs 2,080.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groups show the mechanism: two customers get the same vote as thirty.</a:t>
            </a:r>
          </a:p>
          <a:p>
            <a:r>
              <a:t>Count groups in and out while rolling up: four segments in, 69 customers back. Interview [F]: why</a:t>
            </a:r>
          </a:p>
          <a:p>
            <a:r>
              <a:t>can't you average four segments' rates?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When to switch:</a:t>
            </a:r>
          </a:p>
          <a:p>
            <a:r>
              <a:t>keep the function while groups are asked one at a time; switch to the pass by key for every group at</a:t>
            </a:r>
          </a:p>
          <a:p>
            <a:r>
              <a:t>once on a big file. Then the room types the your-turn cell. Do not run it on the projector and do not</a:t>
            </a:r>
          </a:p>
          <a:p>
            <a:r>
              <a:t>confirm any segment aloud; 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 One breath: a function when groups are asked one at a</a:t>
            </a:r>
          </a:p>
          <a:p>
            <a:r>
              <a:t>time and definitions change; a pass by 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3 on the need, 3 on Swiggy, 4 on the options, 5 on</a:t>
            </a:r>
          </a:p>
          <a:p>
            <a:r>
              <a:t>the lost orders, 8 on the trap and the split, 5 on the second route, 2 on Kavya.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Open by naming what the room found at the end of chapter 3: Retail-Plus, the same</a:t>
            </a:r>
          </a:p>
          <a:p>
            <a:r>
              <a:t>22 members, 51 orders to 26. The metric at stake is a blend across segments whose orders differ</a:t>
            </a:r>
          </a:p>
          <a:p>
            <a:r>
              <a:t>several hundredfold: a Q1 Business order averaged Rs 10,38,559 and a consumer order Rs 2,434. A wrong reading costs volume: a price rise on customers who never paid more.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Swiggy, the food and grocery delivery app, Q2 FY2026 shareholder letter, checked 30</a:t>
            </a:r>
          </a:p>
          <a:p>
            <a:r>
              <a:t>Sep 2026: the average order value of Instamart, its quick-commerce store, Rs 697, up 14 percent in</a:t>
            </a:r>
          </a:p>
          <a:p>
            <a:r>
              <a:t>the quarter, put down to non-grocery categories and large packs taking a larger share of gross order</a:t>
            </a:r>
          </a:p>
          <a:p>
            <a:r>
              <a:t>value, the value of orders before discounts; net average order value after discounts Rs 485. The</a:t>
            </a:r>
          </a:p>
          <a:p>
            <a:r>
              <a:t>link to Kalpa: Business's lakh-sized orders took a larger share as small member orders left.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notebook's sizing cell shows that only C puts rupees on a cause, and that only</a:t>
            </a:r>
          </a:p>
          <a:p>
            <a:r>
              <a:t>D is safe from one lakh-sized order. Write "C: mix and rate" beside rung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Ask the room what happens to an average when its smallest items</a:t>
            </a:r>
          </a:p>
          <a:p>
            <a:r>
              <a:t>leave.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Say the decision it would have misled: a price rise on the tier</a:t>
            </a:r>
          </a:p>
          <a:p>
            <a:r>
              <a:t>whose orders already halved.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Retail-Plus fell from 44.7 to 30.2 percent of orders. The rate part by segment is</a:t>
            </a:r>
          </a:p>
          <a:p>
            <a:r>
              <a:t>more than nine tenths Business, driven by one large order, as chapter 3's range showed.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envelope: Business's share of orders rose from 17.5 to 19.8 percent, times the</a:t>
            </a:r>
          </a:p>
          <a:p>
            <a:r>
              <a:t>Rs 10,36,125 by which a Q1 Business order beat a consumer order, is about Rs 23,000. It uses no</a:t>
            </a:r>
          </a:p>
          <a:p>
            <a:r>
              <a:t>consumer rate, so it could have disagreed. When to switch: report the four-segment split, since it</a:t>
            </a:r>
          </a:p>
          <a:p>
            <a:r>
              <a:t>names each segment; the envelope is the check with no laptop, and it stops agreeing when the consumer</a:t>
            </a:r>
          </a:p>
          <a:p>
            <a:r>
              <a:t>segments' own shares move a lot against each other. One breath for the interview: a blend, a mix</a:t>
            </a:r>
          </a:p>
          <a:p>
            <a:r>
              <a:t>split, a number for each part.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3 on the need and HBR, 4 on the options, 6 on the overlap and the</a:t>
            </a:r>
          </a:p>
          <a:p>
            <a:r>
              <a:t>customers who slowed, 10 on the summary-script trap, 5 on the consumer business and the second route,</a:t>
            </a:r>
          </a:p>
          <a:p>
            <a:r>
              <a:t>2 on Kavya. Switch to 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retention, and its mirror, new customers. A wrong answer is</a:t>
            </a:r>
          </a:p>
          <a:p>
            <a:r>
              <a:t>Rs 12 crore spent replacing people who never left. Marketing's first claim is fair; test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 growing count beside a falling frequency, which new users alone could produce, so the two are read apart.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B and C read the export already open; D, Marketing's CRM, its customer</a:t>
            </a:r>
          </a:p>
          <a:p>
            <a:r>
              <a:t>database, is a second system whose ids must match the export's. Write "B, then C" beside rung 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Option C, customer by customer, gives the second and third numbers.</a:t>
            </a:r>
          </a:p>
          <a:p>
            <a:r>
              <a:t>Acquisition has nothing to replace on this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Run the script exactly as it is in notebook 05 and read the</a:t>
            </a:r>
          </a:p>
          <a:p>
            <a:r>
              <a:t>summary aloud. Ask whether anyone trusts it. Most will; it looks tidy.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segment the script was written to flag, a 49 percent fall, is the one it</a:t>
            </a:r>
          </a:p>
          <a:p>
            <a:r>
              <a:t>silently lost. Student, which rose, also vanished. Interview [F]: why does a</a:t>
            </a:r>
          </a:p>
          <a:p>
            <a:r>
              <a:t>function that prints instead of returning 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flags: large moves are flagged, never dropped. A flag asks for a look</a:t>
            </a:r>
          </a:p>
          <a:p>
            <a:r>
              <a:t>by hand and removes nothing from the table.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consumer business fell from Rs 2,28,820 to Rs 1,58,540, and Retail-Plus is</a:t>
            </a:r>
          </a:p>
          <a:p>
            <a:r>
              <a:t>Rs 65,250 of the Rs 70,280. The second route takes each customer's first and last order date: every</a:t>
            </a:r>
          </a:p>
          <a:p>
            <a:r>
              <a:t>first order falls in Q1 and every last order in Q2, so none new and none lost, from the dates alone</a:t>
            </a:r>
          </a:p>
          <a:p>
            <a:r>
              <a:t>and without the quarter field, which is why it could have disagreed with the overlap. When to switch:</a:t>
            </a:r>
          </a:p>
          <a:p>
            <a:r>
              <a:t>show Marketing the overlap; the dates add that new means new since 1 April. The Business rupees are</a:t>
            </a:r>
          </a:p>
          <a:p>
            <a:r>
              <a:t>three lakh-sized orders out of twenty, which one account's timing can move; say both findings side by</a:t>
            </a:r>
          </a:p>
          <a:p>
            <a:r>
              <a:t>side.</a:t>
            </a:r>
          </a:p>
          <a:p>
            <a:r>
              <a:t>One breath for [D]: test their claim in its own terms, show the overlap, show where the fall is, end</a:t>
            </a:r>
          </a:p>
          <a:p>
            <a:r>
              <a:t>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1.png"/><Relationship Id="rId6"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2.xml"/><Relationship Id="rId6"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4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1800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02051"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13251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1656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segment</a:t>
            </a:r>
          </a:p>
        </p:txBody>
      </p:sp>
      <p:sp>
        <p:nvSpPr>
          <p:cNvPr id="17" name="TextBox 16"/>
          <p:cNvSpPr txBox="1"/>
          <p:nvPr/>
        </p:nvSpPr>
        <p:spPr>
          <a:xfrm>
            <a:off x="565127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3532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Mix or rate</a:t>
            </a:r>
          </a:p>
        </p:txBody>
      </p:sp>
      <p:sp>
        <p:nvSpPr>
          <p:cNvPr id="19" name="TextBox 18"/>
          <p:cNvSpPr txBox="1"/>
          <p:nvPr/>
        </p:nvSpPr>
        <p:spPr>
          <a:xfrm>
            <a:off x="705173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435786"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Marketing's hypothesis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3" name="Oval 3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5" name="Oval 3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has a lever, an owner and a price, and they are not the same price.</a:t>
            </a:r>
          </a:p>
        </p:txBody>
      </p:sp>
      <p:graphicFrame>
        <p:nvGraphicFramePr>
          <p:cNvPr id="9" name="Table 8"/>
          <p:cNvGraphicFramePr>
            <a:graphicFrameLocks noGrp="1"/>
          </p:cNvGraphicFramePr>
          <p:nvPr/>
        </p:nvGraphicFramePr>
        <p:xfrm>
          <a:off x="530352" y="1682496"/>
          <a:ext cx="11130989" cy="1554480"/>
        </p:xfrm>
        <a:graphic>
          <a:graphicData uri="http://schemas.openxmlformats.org/drawingml/2006/table">
            <a:tbl>
              <a:tblPr firstRow="0" bandRow="0">
                <a:tableStyleId>{2D5ABB26-0587-4C30-8999-92F81FD0307C}</a:tableStyleId>
              </a:tblPr>
              <a:tblGrid>
                <a:gridCol w="1892306"/>
                <a:gridCol w="2761029"/>
                <a:gridCol w="2239795"/>
                <a:gridCol w="4237859"/>
              </a:tblGrid>
              <a:tr h="310896">
                <a:tc>
                  <a:txBody>
                    <a:bodyPr/>
                    <a:lstStyle/>
                    <a:p>
                      <a:r>
                        <a:rPr sz="950" b="1" i="0">
                          <a:solidFill>
                            <a:srgbClr val="FFFFFF"/>
                          </a:solidFill>
                          <a:latin typeface="Calibri"/>
                        </a:rPr>
                        <a:t>Branch</a:t>
                      </a:r>
                    </a:p>
                  </a:txBody>
                  <a:tcPr marL="101600" marR="101600" marT="38100" marB="38100" anchor="ctr">
                    <a:solidFill>
                      <a:srgbClr val="1A0F5C"/>
                    </a:solidFill>
                  </a:tcPr>
                </a:tc>
                <a:tc>
                  <a:txBody>
                    <a:bodyPr/>
                    <a:lstStyle/>
                    <a:p>
                      <a:r>
                        <a:rPr sz="950" b="1" i="0">
                          <a:solidFill>
                            <a:srgbClr val="FFFFFF"/>
                          </a:solidFill>
                          <a:latin typeface="Calibri"/>
                        </a:rPr>
                        <a:t>The lever</a:t>
                      </a:r>
                    </a:p>
                  </a:txBody>
                  <a:tcPr marL="101600" marR="101600" marT="38100" marB="38100" anchor="ctr">
                    <a:solidFill>
                      <a:srgbClr val="1A0F5C"/>
                    </a:solidFill>
                  </a:tcPr>
                </a:tc>
                <a:tc>
                  <a:txBody>
                    <a:bodyPr/>
                    <a:lstStyle/>
                    <a:p>
                      <a:r>
                        <a:rPr sz="950" b="1" i="0">
                          <a:solidFill>
                            <a:srgbClr val="FFFFFF"/>
                          </a:solidFill>
                          <a:latin typeface="Calibri"/>
                        </a:rPr>
                        <a:t>Who owns it</a:t>
                      </a:r>
                    </a:p>
                  </a:txBody>
                  <a:tcPr marL="101600" marR="101600" marT="38100" marB="38100" anchor="ctr">
                    <a:solidFill>
                      <a:srgbClr val="1A0F5C"/>
                    </a:solidFill>
                  </a:tcPr>
                </a:tc>
                <a:tc>
                  <a:txBody>
                    <a:bodyPr/>
                    <a:lstStyle/>
                    <a:p>
                      <a:r>
                        <a:rPr sz="950" b="1" i="0">
                          <a:solidFill>
                            <a:srgbClr val="FFFFFF"/>
                          </a:solidFill>
                          <a:latin typeface="Calibri"/>
                        </a:rPr>
                        <a:t>What moving it costs</a:t>
                      </a:r>
                    </a:p>
                  </a:txBody>
                  <a:tcPr marL="101600" marR="101600" marT="38100" marB="38100" anchor="ctr">
                    <a:solidFill>
                      <a:srgbClr val="1A0F5C"/>
                    </a:solidFill>
                  </a:tcPr>
                </a:tc>
              </a:tr>
              <a:tr h="310896">
                <a:tc>
                  <a:txBody>
                    <a:bodyPr/>
                    <a:lstStyle/>
                    <a:p>
                      <a:r>
                        <a:rPr sz="900" b="0" i="0">
                          <a:solidFill>
                            <a:srgbClr val="1A1440"/>
                          </a:solidFill>
                          <a:latin typeface="Calibri"/>
                        </a:rPr>
                        <a:t>Customers</a:t>
                      </a:r>
                    </a:p>
                  </a:txBody>
                  <a:tcPr marL="101600" marR="101600" marT="38100" marB="38100" anchor="ctr">
                    <a:solidFill>
                      <a:srgbClr val="FFFFFF"/>
                    </a:solidFill>
                  </a:tcPr>
                </a:tc>
                <a:tc>
                  <a:txBody>
                    <a:bodyPr/>
                    <a:lstStyle/>
                    <a:p>
                      <a:r>
                        <a:rPr sz="900" b="0" i="0">
                          <a:solidFill>
                            <a:srgbClr val="1A1440"/>
                          </a:solidFill>
                          <a:latin typeface="Calibri"/>
                        </a:rPr>
                        <a:t>Acquisition campaigns</a:t>
                      </a:r>
                    </a:p>
                  </a:txBody>
                  <a:tcPr marL="101600" marR="101600" marT="38100" marB="38100" anchor="ctr">
                    <a:solidFill>
                      <a:srgbClr val="FFFFFF"/>
                    </a:solidFill>
                  </a:tcPr>
                </a:tc>
                <a:tc>
                  <a:txBody>
                    <a:bodyPr/>
                    <a:lstStyle/>
                    <a:p>
                      <a:r>
                        <a:rPr sz="900" b="0" i="0">
                          <a:solidFill>
                            <a:srgbClr val="1A1440"/>
                          </a:solidFill>
                          <a:latin typeface="Calibri"/>
                        </a:rPr>
                        <a:t>The marketing lead</a:t>
                      </a:r>
                    </a:p>
                  </a:txBody>
                  <a:tcPr marL="101600" marR="101600" marT="38100" marB="38100" anchor="ctr">
                    <a:solidFill>
                      <a:srgbClr val="FFFFFF"/>
                    </a:solidFill>
                  </a:tcPr>
                </a:tc>
                <a:tc>
                  <a:txBody>
                    <a:bodyPr/>
                    <a:lstStyle/>
                    <a:p>
                      <a:r>
                        <a:rPr sz="900" b="0" i="0">
                          <a:solidFill>
                            <a:srgbClr val="1A1440"/>
                          </a:solidFill>
                          <a:latin typeface="Calibri"/>
                        </a:rPr>
                        <a:t>Marketing spend, before any repeat order</a:t>
                      </a:r>
                    </a:p>
                  </a:txBody>
                  <a:tcPr marL="101600" marR="101600" marT="38100" marB="38100" anchor="ctr">
                    <a:solidFill>
                      <a:srgbClr val="FFFFFF"/>
                    </a:solidFill>
                  </a:tcPr>
                </a:tc>
              </a:tr>
              <a:tr h="310896">
                <a:tc>
                  <a:txBody>
                    <a:bodyPr/>
                    <a:lstStyle/>
                    <a:p>
                      <a:r>
                        <a:rPr sz="900" b="0" i="0">
                          <a:solidFill>
                            <a:srgbClr val="1A1440"/>
                          </a:solidFill>
                          <a:latin typeface="Calibri"/>
                        </a:rPr>
                        <a:t>Orders per customer</a:t>
                      </a:r>
                    </a:p>
                  </a:txBody>
                  <a:tcPr marL="101600" marR="101600" marT="38100" marB="38100" anchor="ctr">
                    <a:solidFill>
                      <a:srgbClr val="F4F2FA"/>
                    </a:solidFill>
                  </a:tcPr>
                </a:tc>
                <a:tc>
                  <a:txBody>
                    <a:bodyPr/>
                    <a:lstStyle/>
                    <a:p>
                      <a:r>
                        <a:rPr sz="900" b="0" i="0">
                          <a:solidFill>
                            <a:srgbClr val="1A1440"/>
                          </a:solidFill>
                          <a:latin typeface="Calibri"/>
                        </a:rPr>
                        <a:t>Retention, reminders, reorder</a:t>
                      </a:r>
                    </a:p>
                  </a:txBody>
                  <a:tcPr marL="101600" marR="101600" marT="38100" marB="38100" anchor="ctr">
                    <a:solidFill>
                      <a:srgbClr val="F4F2FA"/>
                    </a:solidFill>
                  </a:tcPr>
                </a:tc>
                <a:tc>
                  <a:txBody>
                    <a:bodyPr/>
                    <a:lstStyle/>
                    <a:p>
                      <a:r>
                        <a:rPr sz="900" b="0" i="0">
                          <a:solidFill>
                            <a:srgbClr val="1A1440"/>
                          </a:solidFill>
                          <a:latin typeface="Calibri"/>
                        </a:rPr>
                        <a:t>Tier and product owners</a:t>
                      </a:r>
                    </a:p>
                  </a:txBody>
                  <a:tcPr marL="101600" marR="101600" marT="38100" marB="38100" anchor="ctr">
                    <a:solidFill>
                      <a:srgbClr val="F4F2FA"/>
                    </a:solidFill>
                  </a:tcPr>
                </a:tc>
                <a:tc>
                  <a:txBody>
                    <a:bodyPr/>
                    <a:lstStyle/>
                    <a:p>
                      <a:r>
                        <a:rPr sz="900" b="0" i="0">
                          <a:solidFill>
                            <a:srgbClr val="1A1440"/>
                          </a:solidFill>
                          <a:latin typeface="Calibri"/>
                        </a:rPr>
                        <a:t>Service and product work on people already won</a:t>
                      </a:r>
                    </a:p>
                  </a:txBody>
                  <a:tcPr marL="101600" marR="101600" marT="38100" marB="38100" anchor="ctr">
                    <a:solidFill>
                      <a:srgbClr val="F4F2FA"/>
                    </a:solidFill>
                  </a:tcPr>
                </a:tc>
              </a:tr>
              <a:tr h="310896">
                <a:tc>
                  <a:txBody>
                    <a:bodyPr/>
                    <a:lstStyle/>
                    <a:p>
                      <a:r>
                        <a:rPr sz="900" b="0" i="0">
                          <a:solidFill>
                            <a:srgbClr val="1A1440"/>
                          </a:solidFill>
                          <a:latin typeface="Calibri"/>
                        </a:rPr>
                        <a:t>Revenue per order</a:t>
                      </a:r>
                    </a:p>
                  </a:txBody>
                  <a:tcPr marL="101600" marR="101600" marT="38100" marB="38100" anchor="ctr">
                    <a:solidFill>
                      <a:srgbClr val="FFFFFF"/>
                    </a:solidFill>
                  </a:tcPr>
                </a:tc>
                <a:tc>
                  <a:txBody>
                    <a:bodyPr/>
                    <a:lstStyle/>
                    <a:p>
                      <a:r>
                        <a:rPr sz="900" b="0" i="0">
                          <a:solidFill>
                            <a:srgbClr val="1A1440"/>
                          </a:solidFill>
                          <a:latin typeface="Calibri"/>
                        </a:rPr>
                        <a:t>Range, bundles, basket</a:t>
                      </a:r>
                    </a:p>
                  </a:txBody>
                  <a:tcPr marL="101600" marR="101600" marT="38100" marB="38100" anchor="ctr">
                    <a:solidFill>
                      <a:srgbClr val="FFFFFF"/>
                    </a:solidFill>
                  </a:tcPr>
                </a:tc>
                <a:tc>
                  <a:txBody>
                    <a:bodyPr/>
                    <a:lstStyle/>
                    <a:p>
                      <a:r>
                        <a:rPr sz="900" b="0" i="0">
                          <a:solidFill>
                            <a:srgbClr val="1A1440"/>
                          </a:solidFill>
                          <a:latin typeface="Calibri"/>
                        </a:rPr>
                        <a:t>Merchandising</a:t>
                      </a:r>
                    </a:p>
                  </a:txBody>
                  <a:tcPr marL="101600" marR="101600" marT="38100" marB="38100" anchor="ctr">
                    <a:solidFill>
                      <a:srgbClr val="FFFFFF"/>
                    </a:solidFill>
                  </a:tcPr>
                </a:tc>
                <a:tc>
                  <a:txBody>
                    <a:bodyPr/>
                    <a:lstStyle/>
                    <a:p>
                      <a:r>
                        <a:rPr sz="900" b="0" i="0">
                          <a:solidFill>
                            <a:srgbClr val="1A1440"/>
                          </a:solidFill>
                          <a:latin typeface="Calibri"/>
                        </a:rPr>
                        <a:t>Assortment and margin decisions</a:t>
                      </a:r>
                    </a:p>
                  </a:txBody>
                  <a:tcPr marL="101600" marR="101600" marT="38100" marB="38100" anchor="ctr">
                    <a:solidFill>
                      <a:srgbClr val="FFFFFF"/>
                    </a:solidFill>
                  </a:tcPr>
                </a:tc>
              </a:tr>
              <a:tr h="310896">
                <a:tc>
                  <a:txBody>
                    <a:bodyPr/>
                    <a:lstStyle/>
                    <a:p>
                      <a:r>
                        <a:rPr sz="900" b="0" i="0">
                          <a:solidFill>
                            <a:srgbClr val="1A1440"/>
                          </a:solidFill>
                          <a:latin typeface="Calibri"/>
                        </a:rPr>
                        <a:t>Price and discounts</a:t>
                      </a:r>
                    </a:p>
                  </a:txBody>
                  <a:tcPr marL="101600" marR="101600" marT="38100" marB="38100" anchor="ctr">
                    <a:solidFill>
                      <a:srgbClr val="F4F2FA"/>
                    </a:solidFill>
                  </a:tcPr>
                </a:tc>
                <a:tc>
                  <a:txBody>
                    <a:bodyPr/>
                    <a:lstStyle/>
                    <a:p>
                      <a:r>
                        <a:rPr sz="900" b="0" i="0">
                          <a:solidFill>
                            <a:srgbClr val="1A1440"/>
                          </a:solidFill>
                          <a:latin typeface="Calibri"/>
                        </a:rPr>
                        <a:t>Price lists, offers</a:t>
                      </a:r>
                    </a:p>
                  </a:txBody>
                  <a:tcPr marL="101600" marR="101600" marT="38100" marB="38100" anchor="ctr">
                    <a:solidFill>
                      <a:srgbClr val="F4F2FA"/>
                    </a:solidFill>
                  </a:tcPr>
                </a:tc>
                <a:tc>
                  <a:txBody>
                    <a:bodyPr/>
                    <a:lstStyle/>
                    <a:p>
                      <a:r>
                        <a:rPr sz="900" b="0" i="0">
                          <a:solidFill>
                            <a:srgbClr val="1A1440"/>
                          </a:solidFill>
                          <a:latin typeface="Calibri"/>
                        </a:rPr>
                        <a:t>Finance with Marketing</a:t>
                      </a:r>
                    </a:p>
                  </a:txBody>
                  <a:tcPr marL="101600" marR="101600" marT="38100" marB="38100" anchor="ctr">
                    <a:solidFill>
                      <a:srgbClr val="F4F2FA"/>
                    </a:solidFill>
                  </a:tcPr>
                </a:tc>
                <a:tc>
                  <a:txBody>
                    <a:bodyPr/>
                    <a:lstStyle/>
                    <a:p>
                      <a:r>
                        <a:rPr sz="9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pic>
        <p:nvPicPr>
          <p:cNvPr id="10" name="mermaid diagram" descr="27a4a9f39cc866da.png"/>
          <p:cNvPicPr>
            <a:picLocks noChangeAspect="1"/>
          </p:cNvPicPr>
          <p:nvPr/>
        </p:nvPicPr>
        <p:blipFill>
          <a:blip r:embed="rId5"/>
          <a:stretch>
            <a:fillRect/>
          </a:stretch>
        </p:blipFill>
        <p:spPr>
          <a:xfrm>
            <a:off x="2584359" y="3493008"/>
            <a:ext cx="7022977" cy="2706624"/>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list what could make one appear when the business had none.</a:t>
            </a:r>
          </a:p>
        </p:txBody>
      </p:sp>
      <p:pic>
        <p:nvPicPr>
          <p:cNvPr id="9" name="mermaid diagram" descr="d80b1f9f6243bc1e.png"/>
          <p:cNvPicPr>
            <a:picLocks noChangeAspect="1"/>
          </p:cNvPicPr>
          <p:nvPr/>
        </p:nvPicPr>
        <p:blipFill>
          <a:blip r:embed="rId5"/>
          <a:stretch>
            <a:fillRect/>
          </a:stretch>
        </p:blipFill>
        <p:spPr>
          <a:xfrm>
            <a:off x="3581247" y="1956816"/>
            <a:ext cx="5029200" cy="1285875"/>
          </a:xfrm>
          <a:prstGeom prst="rect">
            <a:avLst/>
          </a:prstGeom>
        </p:spPr>
      </p:pic>
      <p:sp>
        <p:nvSpPr>
          <p:cNvPr id="10" name="Rounded Rectangle 9"/>
          <p:cNvSpPr/>
          <p:nvPr/>
        </p:nvSpPr>
        <p:spPr>
          <a:xfrm>
            <a:off x="530352" y="33889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a921e11528ee3a64.png"/>
          <p:cNvPicPr>
            <a:picLocks noChangeAspect="1"/>
          </p:cNvPicPr>
          <p:nvPr/>
        </p:nvPicPr>
        <p:blipFill>
          <a:blip r:embed="rId6"/>
          <a:stretch>
            <a:fillRect/>
          </a:stretch>
        </p:blipFill>
        <p:spPr>
          <a:xfrm>
            <a:off x="530351" y="1956816"/>
            <a:ext cx="11130991" cy="2507870"/>
          </a:xfrm>
          <a:prstGeom prst="rect">
            <a:avLst/>
          </a:prstGeom>
        </p:spPr>
      </p:pic>
      <p:sp>
        <p:nvSpPr>
          <p:cNvPr id="10" name="Rounded Rectangle 9"/>
          <p:cNvSpPr/>
          <p:nvPr/>
        </p:nvSpPr>
        <p:spPr>
          <a:xfrm>
            <a:off x="530352" y="461099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4322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052950"/>
            <a:ext cx="237744" cy="237744"/>
          </a:xfrm>
          <a:prstGeom prst="rect">
            <a:avLst/>
          </a:prstGeom>
        </p:spPr>
      </p:pic>
      <p:sp>
        <p:nvSpPr>
          <p:cNvPr id="13" name="TextBox 12"/>
          <p:cNvSpPr txBox="1"/>
          <p:nvPr/>
        </p:nvSpPr>
        <p:spPr>
          <a:xfrm>
            <a:off x="1399031" y="475729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76750"/>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six chapters, one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chapter answers a harder question, and each has a trap waiting in 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828596"/>
                <a:gridCol w="3541279"/>
                <a:gridCol w="384671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Marketing's hypothesis</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memo and its evidence</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c1e72438b7e01fdc.png"/>
          <p:cNvPicPr>
            <a:picLocks noChangeAspect="1"/>
          </p:cNvPicPr>
          <p:nvPr/>
        </p:nvPicPr>
        <p:blipFill>
          <a:blip r:embed="rId6"/>
          <a:stretch>
            <a:fillRect/>
          </a:stretch>
        </p:blipFill>
        <p:spPr>
          <a:xfrm>
            <a:off x="3774128" y="1949767"/>
            <a:ext cx="4643437" cy="2714625"/>
          </a:xfrm>
          <a:prstGeom prst="rect">
            <a:avLst/>
          </a:prstGeom>
        </p:spPr>
      </p:pic>
      <p:sp>
        <p:nvSpPr>
          <p:cNvPr id="10" name="Rounded Rectangle 9"/>
          <p:cNvSpPr/>
          <p:nvPr/>
        </p:nvSpPr>
        <p:spPr>
          <a:xfrm>
            <a:off x="530352" y="48106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429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52656"/>
            <a:ext cx="237744" cy="237744"/>
          </a:xfrm>
          <a:prstGeom prst="rect">
            <a:avLst/>
          </a:prstGeom>
        </p:spPr>
      </p:pic>
      <p:sp>
        <p:nvSpPr>
          <p:cNvPr id="13" name="TextBox 12"/>
          <p:cNvSpPr txBox="1"/>
          <p:nvPr/>
        </p:nvSpPr>
        <p:spPr>
          <a:xfrm>
            <a:off x="1399031" y="49570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76456"/>
            <a:ext cx="9987991" cy="68275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the first chapter checks the windows before the story.</a:t>
            </a:r>
          </a:p>
        </p:txBody>
      </p:sp>
      <p:sp>
        <p:nvSpPr>
          <p:cNvPr id="10" name="Rounded Rectangle 9"/>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the arithmetic on the slide is correct, and Rs 12 crore rides on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Retailers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store chain reports growth only on periods and stores that match, because a mismatch reads as growth or loss.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size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answers a slightly different question; the one that fits depends on whether Q2 has closed.</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75993"/>
                <a:gridCol w="1536025"/>
                <a:gridCol w="1526471"/>
                <a:gridCol w="43925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Controls for</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Length, once both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Length and position, while open</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Length, whatever the windows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The season; needs last year's rows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015ffb79023ff367.png"/>
          <p:cNvPicPr>
            <a:picLocks noChangeAspect="1"/>
          </p:cNvPicPr>
          <p:nvPr/>
        </p:nvPicPr>
        <p:blipFill>
          <a:blip r:embed="rId5"/>
          <a:stretch>
            <a:fillRect/>
          </a:stretch>
        </p:blipFill>
        <p:spPr>
          <a:xfrm>
            <a:off x="3302641" y="1956816"/>
            <a:ext cx="5586412"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b3747e62ee51fbf1.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missing weeks look exactly like lost customers, and the decision they mislead is the largest on Meera's desk.</a:t>
            </a:r>
          </a:p>
        </p:txBody>
      </p:sp>
      <p:pic>
        <p:nvPicPr>
          <p:cNvPr id="9" name="mermaid diagram" descr="ecd0bd8db00b88a2.png"/>
          <p:cNvPicPr>
            <a:picLocks noChangeAspect="1"/>
          </p:cNvPicPr>
          <p:nvPr/>
        </p:nvPicPr>
        <p:blipFill>
          <a:blip r:embed="rId5"/>
          <a:stretch>
            <a:fillRect/>
          </a:stretch>
        </p:blipFill>
        <p:spPr>
          <a:xfrm>
            <a:off x="3416941" y="1956816"/>
            <a:ext cx="5357812"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that catches it in a minute: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what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weeks the tile never saw hold Rs 31,40,050, and the real fall is Rs 23,00,000.</a:t>
            </a:r>
          </a:p>
        </p:txBody>
      </p:sp>
      <p:pic>
        <p:nvPicPr>
          <p:cNvPr id="9" name="mermaid diagram" descr="9d4668a657ac3f25.png"/>
          <p:cNvPicPr>
            <a:picLocks noChangeAspect="1"/>
          </p:cNvPicPr>
          <p:nvPr/>
        </p:nvPicPr>
        <p:blipFill>
          <a:blip r:embed="rId5"/>
          <a:stretch>
            <a:fillRect/>
          </a:stretch>
        </p:blipFill>
        <p:spPr>
          <a:xfrm>
            <a:off x="923772" y="1956816"/>
            <a:ext cx="10344150" cy="1128712"/>
          </a:xfrm>
          <a:prstGeom prst="rect">
            <a:avLst/>
          </a:prstGeom>
        </p:spPr>
      </p:pic>
      <p:graphicFrame>
        <p:nvGraphicFramePr>
          <p:cNvPr id="10" name="Table 9"/>
          <p:cNvGraphicFramePr>
            <a:graphicFrameLocks noGrp="1"/>
          </p:cNvGraphicFramePr>
          <p:nvPr/>
        </p:nvGraphicFramePr>
        <p:xfrm>
          <a:off x="530352" y="3231832"/>
          <a:ext cx="11130990" cy="100584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Fair 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4F2FA"/>
                    </a:solidFill>
                  </a:tcPr>
                </a:tc>
                <a:tc>
                  <a:txBody>
                    <a:bodyPr/>
                    <a:lstStyle/>
                    <a:p>
                      <a:r>
                        <a:rPr sz="1200" b="0" i="0">
                          <a:solidFill>
                            <a:srgbClr val="1A1440"/>
                          </a:solidFill>
                          <a:latin typeface="Calibri"/>
                        </a:rPr>
                        <a:t>Rs 16,15,385</a:t>
                      </a:r>
                    </a:p>
                  </a:txBody>
                  <a:tcPr marL="101600" marR="101600" marT="38100" marB="38100" anchor="ctr">
                    <a:solidFill>
                      <a:srgbClr val="F4F2FA"/>
                    </a:solidFill>
                  </a:tcPr>
                </a:tc>
                <a:tc>
                  <a:txBody>
                    <a:bodyPr/>
                    <a:lstStyle/>
                    <a:p>
                      <a:r>
                        <a:rPr sz="1200" b="0" i="0">
                          <a:solidFill>
                            <a:srgbClr val="1A1440"/>
                          </a:solidFill>
                          <a:latin typeface="Calibri"/>
                        </a:rPr>
                        <a:t>Rs 14,14,541</a:t>
                      </a:r>
                    </a:p>
                  </a:txBody>
                  <a:tcPr marL="101600" marR="101600" marT="38100" marB="38100" anchor="ctr">
                    <a:solidFill>
                      <a:srgbClr val="F4F2FA"/>
                    </a:solidFill>
                  </a:tcPr>
                </a:tc>
                <a:tc>
                  <a:txBody>
                    <a:bodyPr/>
                    <a:lstStyle/>
                    <a:p>
                      <a:r>
                        <a:rPr sz="1200" b="0" i="0">
                          <a:solidFill>
                            <a:srgbClr val="1A1440"/>
                          </a:solidFill>
                          <a:latin typeface="Calibri"/>
                        </a:rPr>
                        <a:t>-12.4%</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fall, added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Key the accumulator by the month in the date instead of the quarter field, and the answer must not move.</a:t>
            </a:r>
          </a:p>
        </p:txBody>
      </p:sp>
      <p:pic>
        <p:nvPicPr>
          <p:cNvPr id="9" name="mermaid diagram" descr="26a643f5db50c35d.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drop is real, it is 11.0 percent, and one comparison is still missing.</a:t>
            </a:r>
          </a:p>
        </p:txBody>
      </p:sp>
      <p:pic>
        <p:nvPicPr>
          <p:cNvPr id="9" name="mermaid diagram" descr="bdf5ca0552fec2de.png"/>
          <p:cNvPicPr>
            <a:picLocks noChangeAspect="1"/>
          </p:cNvPicPr>
          <p:nvPr/>
        </p:nvPicPr>
        <p:blipFill>
          <a:blip r:embed="rId7"/>
          <a:stretch>
            <a:fillRect/>
          </a:stretch>
        </p:blipFill>
        <p:spPr>
          <a:xfrm>
            <a:off x="2824010" y="1956816"/>
            <a:ext cx="6543675"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45180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8503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960048"/>
            <a:ext cx="237744" cy="237744"/>
          </a:xfrm>
          <a:prstGeom prst="rect">
            <a:avLst/>
          </a:prstGeom>
        </p:spPr>
      </p:pic>
      <p:sp>
        <p:nvSpPr>
          <p:cNvPr id="18" name="TextBox 17"/>
          <p:cNvSpPr txBox="1"/>
          <p:nvPr/>
        </p:nvSpPr>
        <p:spPr>
          <a:xfrm>
            <a:off x="1399031" y="46643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3848"/>
            <a:ext cx="9987991" cy="68275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rupees go on each branch, and the price branch hides a blank.</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owns a Rs 23,00,000 problem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has an owner and a price tag, so the split decides who acts and whether Rs 12 crore is aimed right.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pic>
        <p:nvPicPr>
          <p:cNvPr id="14" name="mermaid diagram" descr="617d5a81e5fc11a4.png"/>
          <p:cNvPicPr>
            <a:picLocks noChangeAspect="1"/>
          </p:cNvPicPr>
          <p:nvPr/>
        </p:nvPicPr>
        <p:blipFill>
          <a:blip r:embed="rId6"/>
          <a:stretch>
            <a:fillRect/>
          </a:stretch>
        </p:blipFill>
        <p:spPr>
          <a:xfrm>
            <a:off x="3638397" y="2968752"/>
            <a:ext cx="4914900" cy="321468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Visits and basket, orders and order value: companies publish the split because investors ask Meera's question.</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Rs 525 an order, after discounts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ticket is spend per visit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split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in which the branches move changes each branch's rupees, and never which branch is guilty.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frequency costs Rs 51,57,895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leaf at a time in the tree's order, and the moves add exactly to the fall.</a:t>
            </a:r>
          </a:p>
        </p:txBody>
      </p:sp>
      <p:pic>
        <p:nvPicPr>
          <p:cNvPr id="9" name="mermaid diagram" descr="9fc98d733a45dc9d.png"/>
          <p:cNvPicPr>
            <a:picLocks noChangeAspect="1"/>
          </p:cNvPicPr>
          <p:nvPr/>
        </p:nvPicPr>
        <p:blipFill>
          <a:blip r:embed="rId5"/>
          <a:stretch>
            <a:fillRect/>
          </a:stretch>
        </p:blipFill>
        <p:spPr>
          <a:xfrm>
            <a:off x="530352" y="1956816"/>
            <a:ext cx="11130991" cy="795070"/>
          </a:xfrm>
          <a:prstGeom prst="rect">
            <a:avLst/>
          </a:prstGeom>
        </p:spPr>
      </p:pic>
      <p:sp>
        <p:nvSpPr>
          <p:cNvPr id="10" name="Rounded Rectangle 9"/>
          <p:cNvSpPr/>
          <p:nvPr/>
        </p:nvSpPr>
        <p:spPr>
          <a:xfrm>
            <a:off x="530352" y="289819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2620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17062"/>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8f3543904408b242.png"/>
          <p:cNvPicPr>
            <a:picLocks noChangeAspect="1"/>
          </p:cNvPicPr>
          <p:nvPr/>
        </p:nvPicPr>
        <p:blipFill>
          <a:blip r:embed="rId5"/>
          <a:stretch>
            <a:fillRect/>
          </a:stretch>
        </p:blipFill>
        <p:spPr>
          <a:xfrm>
            <a:off x="3095472" y="1956816"/>
            <a:ext cx="6000750" cy="1128712"/>
          </a:xfrm>
          <a:prstGeom prst="rect">
            <a:avLst/>
          </a:prstGeom>
        </p:spPr>
      </p:pic>
      <p:graphicFrame>
        <p:nvGraphicFramePr>
          <p:cNvPr id="10" name="Table 9"/>
          <p:cNvGraphicFramePr>
            <a:graphicFrameLocks noGrp="1"/>
          </p:cNvGraphicFramePr>
          <p:nvPr/>
        </p:nvGraphicFramePr>
        <p:xfrm>
          <a:off x="530352" y="32318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branch holds at most Rs 12,900.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split that chooses no order at all puts the fall on the same branch the bridge did.</a:t>
            </a:r>
          </a:p>
        </p:txBody>
      </p:sp>
      <p:pic>
        <p:nvPicPr>
          <p:cNvPr id="9" name="mermaid diagram" descr="ee5953a22790227e.png"/>
          <p:cNvPicPr>
            <a:picLocks noChangeAspect="1"/>
          </p:cNvPicPr>
          <p:nvPr/>
        </p:nvPicPr>
        <p:blipFill>
          <a:blip r:embed="rId7"/>
          <a:stretch>
            <a:fillRect/>
          </a:stretch>
        </p:blipFill>
        <p:spPr>
          <a:xfrm>
            <a:off x="3387292" y="1664208"/>
            <a:ext cx="5417110"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529132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940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60374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423672"/>
          </a:xfrm>
          <a:prstGeom prst="rect">
            <a:avLst/>
          </a:prstGeom>
          <a:noFill/>
        </p:spPr>
        <p:txBody>
          <a:bodyPr wrap="square" anchor="t" lIns="0" rIns="0" tIns="0" bIns="0">
            <a:spAutoFit/>
          </a:bodyPr>
          <a:lstStyle/>
          <a:p>
            <a:r>
              <a:rPr sz="15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four ways, so each has a different first number to watch.</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90" cy="1849120"/>
        </p:xfrm>
        <a:graphic>
          <a:graphicData uri="http://schemas.openxmlformats.org/drawingml/2006/table">
            <a:tbl>
              <a:tblPr firstRow="0" bandRow="0">
                <a:tableStyleId>{2D5ABB26-0587-4C30-8999-92F81FD0307C}</a:tableStyleId>
              </a:tblPr>
              <a:tblGrid>
                <a:gridCol w="3893206"/>
                <a:gridCol w="3618892"/>
                <a:gridCol w="3618892"/>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discounted baskets</a:t>
                      </a:r>
                    </a:p>
                  </a:txBody>
                  <a:tcPr marL="101600" marR="101600" marT="38100" marB="38100" anchor="ctr">
                    <a:solidFill>
                      <a:srgbClr val="F4F2FA"/>
                    </a:solidFill>
                  </a:tcPr>
                </a:tc>
                <a:tc>
                  <a:txBody>
                    <a:bodyPr/>
                    <a:lstStyle/>
                    <a:p>
                      <a:r>
                        <a:rPr sz="1400" b="0" i="0">
                          <a:solidFill>
                            <a:srgbClr val="1A1440"/>
                          </a:solidFill>
                          <a:latin typeface="Calibri"/>
                        </a:rPr>
                        <a:t>Discount per order</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blended rate would hide where renewals are weaker, so the segment sits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Copy, function or group by key: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numbers for eight groups can be pasted, written once, or gathered in one pass.</a:t>
            </a:r>
          </a:p>
        </p:txBody>
      </p:sp>
      <p:pic>
        <p:nvPicPr>
          <p:cNvPr id="9" name="mermaid diagram" descr="7460f7862a265080.png"/>
          <p:cNvPicPr>
            <a:picLocks noChangeAspect="1"/>
          </p:cNvPicPr>
          <p:nvPr/>
        </p:nvPicPr>
        <p:blipFill>
          <a:blip r:embed="rId5"/>
          <a:stretch>
            <a:fillRect/>
          </a:stretch>
        </p:blipFill>
        <p:spPr>
          <a:xfrm>
            <a:off x="780390" y="2583751"/>
            <a:ext cx="4286250" cy="2714625"/>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0" name="Oval 1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2" name="Oval 2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chapter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3" name="Oval 2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5" name="Oval 2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Q1's median Business order was Rs 9,83,780.</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typical Business order barely changed; one large order stretched the extremes.</a:t>
            </a:r>
          </a:p>
        </p:txBody>
      </p:sp>
      <p:graphicFrame>
        <p:nvGraphicFramePr>
          <p:cNvPr id="9" name="Table 8"/>
          <p:cNvGraphicFramePr>
            <a:graphicFrameLocks noGrp="1"/>
          </p:cNvGraphicFramePr>
          <p:nvPr/>
        </p:nvGraphicFramePr>
        <p:xfrm>
          <a:off x="530352" y="1956816"/>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5129df58f7232fbf.png"/>
          <p:cNvPicPr>
            <a:picLocks noChangeAspect="1"/>
          </p:cNvPicPr>
          <p:nvPr/>
        </p:nvPicPr>
        <p:blipFill>
          <a:blip r:embed="rId5"/>
          <a:stretch>
            <a:fillRect/>
          </a:stretch>
        </p:blipFill>
        <p:spPr>
          <a:xfrm>
            <a:off x="4317053" y="3456432"/>
            <a:ext cx="3557587" cy="180022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f90dcfa4fd1609e0.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pass grouped by key must give tree_for's numbers for all eight groups, and then the room runs the segments.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a segment is on your own screen.</a:t>
            </a:r>
          </a:p>
        </p:txBody>
      </p:sp>
      <p:pic>
        <p:nvPicPr>
          <p:cNvPr id="9" name="mermaid diagram" descr="439fd44e651e5346.png"/>
          <p:cNvPicPr>
            <a:picLocks noChangeAspect="1"/>
          </p:cNvPicPr>
          <p:nvPr/>
        </p:nvPicPr>
        <p:blipFill>
          <a:blip r:embed="rId7"/>
          <a:stretch>
            <a:fillRect/>
          </a:stretch>
        </p:blipFill>
        <p:spPr>
          <a:xfrm>
            <a:off x="1545278" y="1956816"/>
            <a:ext cx="9101137"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451808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7207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830508"/>
            <a:ext cx="237744" cy="237744"/>
          </a:xfrm>
          <a:prstGeom prst="rect">
            <a:avLst/>
          </a:prstGeom>
        </p:spPr>
      </p:pic>
      <p:sp>
        <p:nvSpPr>
          <p:cNvPr id="18" name="TextBox 17"/>
          <p:cNvSpPr txBox="1"/>
          <p:nvPr/>
        </p:nvSpPr>
        <p:spPr>
          <a:xfrm>
            <a:off x="1399031" y="46643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3848"/>
            <a:ext cx="9987991" cy="423672"/>
          </a:xfrm>
          <a:prstGeom prst="rect">
            <a:avLst/>
          </a:prstGeom>
          <a:noFill/>
        </p:spPr>
        <p:txBody>
          <a:bodyPr wrap="square" anchor="t" lIns="0" rIns="0" tIns="0" bIns="0">
            <a:spAutoFit/>
          </a:bodyPr>
          <a:lstStyle/>
          <a:p>
            <a:r>
              <a:rPr sz="15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Mix or rate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and Marketing reads a price signal into a blend.</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per order rose from Rs 1,84,211 to Rs 2,17,442, and the plan is about to raise prices on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430x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 Q1</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an order value that rose on its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Instamart's average order rose 14 percent in a quarter, and Swiggy put it down to what people bought.</a:t>
            </a:r>
          </a:p>
        </p:txBody>
      </p:sp>
      <p:pic>
        <p:nvPicPr>
          <p:cNvPr id="9" name="mermaid diagram" descr="8ec9d7bfa2a8781f.png"/>
          <p:cNvPicPr>
            <a:picLocks noChangeAspect="1"/>
          </p:cNvPicPr>
          <p:nvPr/>
        </p:nvPicPr>
        <p:blipFill>
          <a:blip r:embed="rId5"/>
          <a:stretch>
            <a:fillRect/>
          </a:stretch>
        </p:blipFill>
        <p:spPr>
          <a:xfrm>
            <a:off x="1866747" y="1956816"/>
            <a:ext cx="84582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order size and their shares move, a blended order value can rise with no customer paying more for the same thing.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of one rise,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Only one reading puts rupees on "the mix changed" and on "customers paid more" and makes them add.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predict how many were Retail-Plus.</a:t>
            </a:r>
          </a:p>
        </p:txBody>
      </p:sp>
      <p:pic>
        <p:nvPicPr>
          <p:cNvPr id="9" name="mermaid diagram" descr="e85a1559fc7e4481.png"/>
          <p:cNvPicPr>
            <a:picLocks noChangeAspect="1"/>
          </p:cNvPicPr>
          <p:nvPr/>
        </p:nvPicPr>
        <p:blipFill>
          <a:blip r:embed="rId5"/>
          <a:stretch>
            <a:fillRect/>
          </a:stretch>
        </p:blipFill>
        <p:spPr>
          <a:xfrm>
            <a:off x="3516953" y="1956816"/>
            <a:ext cx="5157787" cy="871537"/>
          </a:xfrm>
          <a:prstGeom prst="rect">
            <a:avLst/>
          </a:prstGeom>
        </p:spPr>
      </p:pic>
      <p:sp>
        <p:nvSpPr>
          <p:cNvPr id="10" name="Rounded Rectangle 9"/>
          <p:cNvSpPr/>
          <p:nvPr/>
        </p:nvSpPr>
        <p:spPr>
          <a:xfrm>
            <a:off x="530352" y="29746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25, Business 3, Retail-Core 2, and Student gained 2.</a:t>
            </a:r>
          </a:p>
        </p:txBody>
      </p:sp>
      <p:pic>
        <p:nvPicPr>
          <p:cNvPr id="9" name="mermaid diagram" descr="7549225b93d5d2bf.png"/>
          <p:cNvPicPr>
            <a:picLocks noChangeAspect="1"/>
          </p:cNvPicPr>
          <p:nvPr/>
        </p:nvPicPr>
        <p:blipFill>
          <a:blip r:embed="rId5"/>
          <a:stretch>
            <a:fillRect/>
          </a:stretch>
        </p:blipFill>
        <p:spPr>
          <a:xfrm>
            <a:off x="1752447" y="1956816"/>
            <a:ext cx="8686800"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segment's own revenue per order rose 18 percent; the blend did.</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t>
            </a:r>
            <a:r>
              <a:rPr sz="1500" b="1" i="0">
                <a:solidFill>
                  <a:srgbClr val="1A1440"/>
                </a:solidFill>
                <a:latin typeface="Calibri"/>
              </a:rPr>
              <a:t>The check</a:t>
            </a:r>
            <a:r>
              <a:rPr sz="1500" b="0" i="0">
                <a:solidFill>
                  <a:srgbClr val="1A1440"/>
                </a:solidFill>
                <a:latin typeface="Calibri"/>
              </a:rPr>
              <a:t> is this table: no segment rose 18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prices, revenue per order would already have been Rs 2,07,112.</a:t>
            </a:r>
          </a:p>
        </p:txBody>
      </p:sp>
      <p:pic>
        <p:nvPicPr>
          <p:cNvPr id="9" name="mermaid diagram" descr="4aa99a436dbe08c3.png"/>
          <p:cNvPicPr>
            <a:picLocks noChangeAspect="1"/>
          </p:cNvPicPr>
          <p:nvPr/>
        </p:nvPicPr>
        <p:blipFill>
          <a:blip r:embed="rId5"/>
          <a:stretch>
            <a:fillRect/>
          </a:stretch>
        </p:blipFill>
        <p:spPr>
          <a:xfrm>
            <a:off x="1781022" y="1956816"/>
            <a:ext cx="862965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"Customers pay 18 percent more, raise prices" became "the mix explains Rs 22,902 of the Rs 33,231 rise; Business's lakh-sized orders carry almost all the rest".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groups on the back of an envelope, Business and everyone else, put the same share on the mix.</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970115"/>
                <a:gridCol w="4965994"/>
                <a:gridCol w="1470802"/>
                <a:gridCol w="2724078"/>
              </a:tblGrid>
              <a:tr h="335280">
                <a:tc>
                  <a:txBody>
                    <a:bodyPr/>
                    <a:lstStyle/>
                    <a:p>
                      <a:r>
                        <a:rPr sz="1250" b="1" i="0">
                          <a:solidFill>
                            <a:srgbClr val="FFFFFF"/>
                          </a:solidFill>
                          <a:latin typeface="Calibri"/>
                        </a:rPr>
                        <a:t>Route</a:t>
                      </a:r>
                    </a:p>
                  </a:txBody>
                  <a:tcPr marL="101600" marR="101600" marT="38100" marB="38100" anchor="ctr">
                    <a:solidFill>
                      <a:srgbClr val="1A0F5C"/>
                    </a:solidFill>
                  </a:tcPr>
                </a:tc>
                <a:tc>
                  <a:txBody>
                    <a:bodyPr/>
                    <a:lstStyle/>
                    <a:p>
                      <a:r>
                        <a:rPr sz="1250" b="1" i="0">
                          <a:solidFill>
                            <a:srgbClr val="FFFFFF"/>
                          </a:solidFill>
                          <a:latin typeface="Calibri"/>
                        </a:rPr>
                        <a:t>What it prices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Share of the rise</a:t>
                      </a:r>
                    </a:p>
                  </a:txBody>
                  <a:tcPr marL="101600" marR="101600" marT="38100" marB="38100" anchor="ctr">
                    <a:solidFill>
                      <a:srgbClr val="1A0F5C"/>
                    </a:solidFill>
                  </a:tcPr>
                </a:tc>
              </a:tr>
              <a:tr h="335280">
                <a:tc>
                  <a:txBody>
                    <a:bodyPr/>
                    <a:lstStyle/>
                    <a:p>
                      <a:r>
                        <a:rPr sz="1200" b="0" i="0">
                          <a:solidFill>
                            <a:srgbClr val="1A1440"/>
                          </a:solidFill>
                          <a:latin typeface="Calibri"/>
                        </a:rPr>
                        <a:t>Four segments</a:t>
                      </a:r>
                    </a:p>
                  </a:txBody>
                  <a:tcPr marL="101600" marR="101600" marT="38100" marB="38100" anchor="ctr">
                    <a:solidFill>
                      <a:srgbClr val="FFFFFF"/>
                    </a:solidFill>
                  </a:tcPr>
                </a:tc>
                <a:tc>
                  <a:txBody>
                    <a:bodyPr/>
                    <a:lstStyle/>
                    <a:p>
                      <a:r>
                        <a:rPr sz="1200" b="0" i="0">
                          <a:solidFill>
                            <a:srgbClr val="1A1440"/>
                          </a:solidFill>
                          <a:latin typeface="Calibri"/>
                        </a:rPr>
                        <a:t>Q2's mix at each segment's Q1 rate</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Two groups</a:t>
                      </a:r>
                    </a:p>
                  </a:txBody>
                  <a:tcPr marL="101600" marR="101600" marT="38100" marB="38100" anchor="ctr">
                    <a:solidFill>
                      <a:srgbClr val="F4F2FA"/>
                    </a:solidFill>
                  </a:tcPr>
                </a:tc>
                <a:tc>
                  <a:txBody>
                    <a:bodyPr/>
                    <a:lstStyle/>
                    <a:p>
                      <a:r>
                        <a:rPr sz="1200" b="0" i="0">
                          <a:solidFill>
                            <a:srgbClr val="1A1440"/>
                          </a:solidFill>
                          <a:latin typeface="Calibri"/>
                        </a:rPr>
                        <a:t>Business's share change times its gap</a:t>
                      </a:r>
                    </a:p>
                  </a:txBody>
                  <a:tcPr marL="101600" marR="101600" marT="38100" marB="38100" anchor="ctr">
                    <a:solidFill>
                      <a:srgbClr val="F4F2FA"/>
                    </a:solidFill>
                  </a:tcPr>
                </a:tc>
                <a:tc>
                  <a:txBody>
                    <a:bodyPr/>
                    <a:lstStyle/>
                    <a:p>
                      <a:r>
                        <a:rPr sz="1200" b="0" i="0">
                          <a:solidFill>
                            <a:srgbClr val="1A1440"/>
                          </a:solidFill>
                          <a:latin typeface="Calibri"/>
                        </a:rPr>
                        <a:t>Rs 23,039</a:t>
                      </a:r>
                    </a:p>
                  </a:txBody>
                  <a:tcPr marL="101600" marR="101600" marT="38100" marB="38100" anchor="ctr">
                    <a:solidFill>
                      <a:srgbClr val="F4F2FA"/>
                    </a:solidFill>
                  </a:tcPr>
                </a:tc>
                <a:tc>
                  <a:txBody>
                    <a:bodyPr/>
                    <a:lstStyle/>
                    <a:p>
                      <a:r>
                        <a:rPr sz="1200" b="0" i="0">
                          <a:solidFill>
                            <a:srgbClr val="1A1440"/>
                          </a:solidFill>
                          <a:latin typeface="Calibri"/>
                        </a:rPr>
                        <a:t>69.3%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0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379018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4448"/>
            <a:ext cx="9987991" cy="941832"/>
          </a:xfrm>
          <a:prstGeom prst="rect">
            <a:avLst/>
          </a:prstGeom>
          <a:noFill/>
        </p:spPr>
        <p:txBody>
          <a:bodyPr wrap="square" anchor="t" lIns="0" rIns="0" tIns="0" bIns="0">
            <a:spAutoFit/>
          </a:bodyPr>
          <a:lstStyle/>
          <a:p>
            <a:r>
              <a:rPr sz="15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4764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66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076444"/>
            <a:ext cx="237744" cy="237744"/>
          </a:xfrm>
          <a:prstGeom prst="rect">
            <a:avLst/>
          </a:prstGeom>
        </p:spPr>
      </p:pic>
      <p:sp>
        <p:nvSpPr>
          <p:cNvPr id="18" name="TextBox 17"/>
          <p:cNvSpPr txBox="1"/>
          <p:nvPr/>
        </p:nvSpPr>
        <p:spPr>
          <a:xfrm>
            <a:off x="1399031" y="4910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29784"/>
            <a:ext cx="9987991" cy="423672"/>
          </a:xfrm>
          <a:prstGeom prst="rect">
            <a:avLst/>
          </a:prstGeom>
          <a:noFill/>
        </p:spPr>
        <p:txBody>
          <a:bodyPr wrap="square" anchor="t" lIns="0" rIns="0" tIns="0" bIns="0">
            <a:spAutoFit/>
          </a:bodyPr>
          <a:lstStyle/>
          <a:p>
            <a:r>
              <a:rPr sz="15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Marketing's hypothesis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Marketing comes back with three attacks, and each gets a check it can rerun itself.</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12 crore rests on one claim: churn, customers who stop buying, which new ones must replace.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519bd3c6ad78399.png"/>
          <p:cNvPicPr>
            <a:picLocks noChangeAspect="1"/>
          </p:cNvPicPr>
          <p:nvPr/>
        </p:nvPicPr>
        <p:blipFill>
          <a:blip r:embed="rId6"/>
          <a:stretch>
            <a:fillRect/>
          </a:stretch>
        </p:blipFill>
        <p:spPr>
          <a:xfrm>
            <a:off x="4359916" y="3502152"/>
            <a:ext cx="3471862" cy="154305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published estimates behind every retention argument, which are never Kalpa's own figures.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"churn hides in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is net; only a test that names lost and new separately can answer Marketing.</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a:t>
            </a:r>
          </a:p>
        </p:txBody>
      </p:sp>
      <p:pic>
        <p:nvPicPr>
          <p:cNvPr id="9" name="mermaid diagram" descr="d80a0ab2f80cdd47.png"/>
          <p:cNvPicPr>
            <a:picLocks noChangeAspect="1"/>
          </p:cNvPicPr>
          <p:nvPr/>
        </p:nvPicPr>
        <p:blipFill>
          <a:blip r:embed="rId5"/>
          <a:stretch>
            <a:fillRect/>
          </a:stretch>
        </p:blipFill>
        <p:spPr>
          <a:xfrm>
            <a:off x="4695672" y="1956816"/>
            <a:ext cx="2800350" cy="1800225"/>
          </a:xfrm>
          <a:prstGeom prst="rect">
            <a:avLst/>
          </a:prstGeom>
        </p:spPr>
      </p:pic>
      <p:sp>
        <p:nvSpPr>
          <p:cNvPr id="10" name="Rounded Rectangle 9"/>
          <p:cNvSpPr/>
          <p:nvPr/>
        </p:nvSpPr>
        <p:spPr>
          <a:xfrm>
            <a:off x="530352" y="390334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69 bought in both quarters; of the 23 customers who ordered less, 18 pay for membership.</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quarter's summary script runs cleanly and prints a tidy answer.</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5" name="Oval 24"/>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7" name="Oval 26"/>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function that prints and returns nothing hands back None, and the filter drops it without a word.</a:t>
            </a:r>
          </a:p>
        </p:txBody>
      </p:sp>
      <p:pic>
        <p:nvPicPr>
          <p:cNvPr id="9" name="mermaid diagram" descr="ef0435ec2d4d2f08.png"/>
          <p:cNvPicPr>
            <a:picLocks noChangeAspect="1"/>
          </p:cNvPicPr>
          <p:nvPr/>
        </p:nvPicPr>
        <p:blipFill>
          <a:blip r:embed="rId5"/>
          <a:stretch>
            <a:fillRect/>
          </a:stretch>
        </p:blipFill>
        <p:spPr>
          <a:xfrm>
            <a:off x="530352" y="1956816"/>
            <a:ext cx="11130991" cy="868274"/>
          </a:xfrm>
          <a:prstGeom prst="rect">
            <a:avLst/>
          </a:prstGeom>
        </p:spPr>
      </p:pic>
      <p:sp>
        <p:nvSpPr>
          <p:cNvPr id="10" name="Rounded Rectangle 9"/>
          <p:cNvSpPr/>
          <p:nvPr/>
        </p:nvSpPr>
        <p:spPr>
          <a:xfrm>
            <a:off x="530352" y="297139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9941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0266"/>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returns the change every time, in the same type, and the flag sits beside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Too small? 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is 93 percent of the consumer fall, and the order dates alone find nobody lost or new.</a:t>
            </a:r>
          </a:p>
        </p:txBody>
      </p:sp>
      <p:pic>
        <p:nvPicPr>
          <p:cNvPr id="9" name="mermaid diagram" descr="dbb2f55597580ec9.png"/>
          <p:cNvPicPr>
            <a:picLocks noChangeAspect="1"/>
          </p:cNvPicPr>
          <p:nvPr/>
        </p:nvPicPr>
        <p:blipFill>
          <a:blip r:embed="rId7"/>
          <a:stretch>
            <a:fillRect/>
          </a:stretch>
        </p:blipFill>
        <p:spPr>
          <a:xfrm>
            <a:off x="4193294" y="1664208"/>
            <a:ext cx="3805107"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