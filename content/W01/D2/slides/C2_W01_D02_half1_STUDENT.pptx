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one minute. Read Meera's reply aloud and leave it on screen while the room settles. Monday</a:t>
            </a:r>
          </a:p>
          <a:p>
            <a:r>
              <a:t>drew the tree; today the tree meets two quarters of orders, and the question is which branch moved.</a:t>
            </a:r>
          </a:p>
          <a:p>
            <a:r>
              <a:t>The morning runs three rounds on one case, each harder than the last. The afternoon escalates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This chapter runs 20 minutes and opens no notebook. Its job is to put the question, the</a:t>
            </a:r>
          </a:p>
          <a:p>
            <a:r>
              <a:t>voices and the ladder on the board, so every round after it has a rung to stand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the message aloud. Point out that Meera has already done Monday's work in</a:t>
            </a:r>
          </a:p>
          <a:p>
            <a:r>
              <a:t>her head: she says the tree back to us. Her figures are rounded and from memory; the file will</a:t>
            </a:r>
          </a:p>
          <a:p>
            <a:r>
              <a:t>give exact ones. Ask which of the four stats worries her most. The budget, again: it is still</a:t>
            </a:r>
          </a:p>
          <a:p>
            <a:r>
              <a:t>waiting on this answer.</a:t>
            </a:r>
          </a:p>
          <a:p>
            <a:r>
              <a:t>Transition: two more voices land on the same thread.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Three stakeholders, one set of numbers, three different wishes. The head of</a:t>
            </a:r>
          </a:p>
          <a:p>
            <a:r>
              <a:t>Retail-Plus wants a verdict on his tier; Marketing wants a budget; Meera wants the truth before</a:t>
            </a:r>
          </a:p>
          <a:p>
            <a:r>
              <a:t>she signs. Say plainly that the team works for the truth, and that each voice gets the same</a:t>
            </a:r>
          </a:p>
          <a:p>
            <a:r>
              <a:t>numbers. Do not answer the head of Retail-Plus today in the morning; his question comes back</a:t>
            </a:r>
          </a:p>
          <a:p>
            <a:r>
              <a:t>after lunch.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Two minutes in pairs, then collect answers on the board in two columns: things</a:t>
            </a:r>
          </a:p>
          <a:p>
            <a:r>
              <a:t>about the window and things about the counting. Expect "different lengths of time", "a different</a:t>
            </a:r>
          </a:p>
          <a:p>
            <a:r>
              <a:t>definition of sales", "missing values", "one huge order". Keep every answer; the next slide sorts</a:t>
            </a:r>
          </a:p>
          <a:p>
            <a:r>
              <a:t>them. Do not lead the room towards any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Map the room's board answers onto these five rows. Every row returns today as a</a:t>
            </a:r>
          </a:p>
          <a:p>
            <a:r>
              <a:t>trap: the window in round 1, the missing field in round 2, the weights in round 3, the large</a:t>
            </a:r>
          </a:p>
          <a:p>
            <a:r>
              <a:t>orders in rounds 1 and 3. Tell the room the list is the day's checklist. A row the room did not</a:t>
            </a:r>
          </a:p>
          <a:p>
            <a:r>
              <a:t>think of gets one sentence now and its full treatment when it arrives.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Draw the ladder on the board, left to right, and leave it there all day. The</a:t>
            </a:r>
          </a:p>
          <a:p>
            <a:r>
              <a:t>morning climbs rungs 1 to 3, one per round. Rung 4 is the escalated case after lunch, and rung 5</a:t>
            </a:r>
          </a:p>
          <a:p>
            <a:r>
              <a:t>is the second case, where Marketing attacks your hypothesis. This is also the answer shape for</a:t>
            </a:r>
          </a:p>
          <a:p>
            <a:r>
              <a:t>interview question 1: sales dropped 15 percent, how would you investigate. Say that once.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Redraw Monday's tree with two empty columns under every branch. Items per order</a:t>
            </a:r>
          </a:p>
          <a:p>
            <a:r>
              <a:t>and price per item are folded into revenue per order today, because the file has no line items.</a:t>
            </a:r>
          </a:p>
          <a:p>
            <a:r>
              <a:t>Every round fills some of these blanks. Ask: if customers is flat and revenue fell, which</a:t>
            </a:r>
          </a:p>
          <a:p>
            <a:r>
              <a:t>branch must have moved? One of the other two, which is round 2.</a:t>
            </a:r>
          </a:p>
          <a:p>
            <a:r>
              <a:t>Transition to round 1: before filling any box, check that the two totals deserve comparing.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Round 1 runs 50 minutes. Open notebooks/C2_W01_D02_01_is_the_drop_real_STUDENT.ipynb on the</a:t>
            </a:r>
          </a:p>
          <a:p>
            <a:r>
              <a:t>projector now; the trainer drives and the room follows in its own Codespace.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Put Marketing's claim up exactly as they would show it. The arithmetic on the slide</a:t>
            </a:r>
          </a:p>
          <a:p>
            <a:r>
              <a:t>is correct: 1,55,59,950 over 2,10,00,000 is 0.741, a fall of 25.9 percent. Ask: is there anything</a:t>
            </a:r>
          </a:p>
          <a:p>
            <a:r>
              <a:t>wrong here? Most of the room will not see it yet. That is the point of the round.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Draw this before any code. The window question is always first because it is the</a:t>
            </a:r>
          </a:p>
          <a:p>
            <a:r>
              <a:t>cheapest: two dates per side. The definition is Monday's lesson, and today both sides are booked</a:t>
            </a:r>
          </a:p>
          <a:p>
            <a:r>
              <a:t>orders as exported. Say that a rate per week is the same idea as orders per customer: a numerator,</a:t>
            </a:r>
          </a:p>
          <a:p>
            <a:r>
              <a:t>a denominator and the window it covers.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Type it in notebook 01 with the room. The starting values are chosen so any real</a:t>
            </a:r>
          </a:p>
          <a:p>
            <a:r>
              <a:t>date beats them. Run it for Q1, then change the filter to the dashboard's Q2 window: quarter Q2 and</a:t>
            </a:r>
          </a:p>
          <a:p>
            <a:r>
              <a:t>order_date on or before 2026-09-15. Do not read out the results yet; the next slide asks for a</a:t>
            </a:r>
          </a:p>
          <a:p>
            <a:r>
              <a:t>prediction first.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Take letters. Some will count months and say three against two and a half. The</a:t>
            </a:r>
          </a:p>
          <a:p>
            <a:r>
              <a:t>count in weeks is the one a rate per week needs.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answer is b. Q1 runs 1 April to 30 June, 13 weeks and 91 days. The tile runs</a:t>
            </a:r>
          </a:p>
          <a:p>
            <a:r>
              <a:t>1 July to 15 September, 11 weeks. The last row is the closed quarter, which ended on 30 September</a:t>
            </a:r>
          </a:p>
          <a:p>
            <a:r>
              <a:t>and is now in the export. Show the three rows and let the room say what went wrong before the</a:t>
            </a:r>
          </a:p>
          <a:p>
            <a:r>
              <a:t>next slide names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This is the round's trap, shown exactly. The number is correct arithmetic on the</a:t>
            </a:r>
          </a:p>
          <a:p>
            <a:r>
              <a:t>wrong windows. Name the decision it would have misled: a crisis read that rushes the Rs 12 crore</a:t>
            </a:r>
          </a:p>
          <a:p>
            <a:r>
              <a:t>budget. Ask how many people in the room would have checked the dates before the total.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notebook draws the same picture with kit.line and shows the cut. The first</a:t>
            </a:r>
          </a:p>
          <a:p>
            <a:r>
              <a:t>line is Q1 and the second is Q2. The steps show that revenue arrives in lumps: weeks where a large</a:t>
            </a:r>
          </a:p>
          <a:p>
            <a:r>
              <a:t>order lands jump, and weeks without one are flat. That lumpiness is why the harder variant later</a:t>
            </a:r>
          </a:p>
          <a:p>
            <a:r>
              <a:t>gives a different number from the per-week rate.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Option c is the fall in orders, 114 to 86, which a hurried learner reads as the</a:t>
            </a:r>
          </a:p>
          <a:p>
            <a:r>
              <a:t>fall in revenue. Take letters and run the cell.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answer is b. Say the fix in rupees: the real fall is Rs 23,00,000, and the tile</a:t>
            </a:r>
          </a:p>
          <a:p>
            <a:r>
              <a:t>said Rs 54,40,050. Walk the per-week row as a rate: Rs 2,10,00,000 over 13 weeks, Rs 1,55,59,950</a:t>
            </a:r>
          </a:p>
          <a:p>
            <a:r>
              <a:t>over 11 weeks. A rate without its denominator is a rumour; write "per week, 13 weeks" beside it.</a:t>
            </a:r>
          </a:p>
          <a:p>
            <a:r>
              <a:t>Say once: every number today is on the export as it stands, and tomorrow's work checks that export.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10 minutes: 8 for the room to run it, 2 to collect letters. This is the harder variant, the</a:t>
            </a:r>
          </a:p>
          <a:p>
            <a:r>
              <a:t>room's own run. Pairs filter Q1 to order_date on or before 2026-06-16 and total it. Circulate and</a:t>
            </a:r>
          </a:p>
          <a:p>
            <a:r>
              <a:t>listen for pairs who reuse the per-week figure without running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answer is b. The per-week rate assumes revenue arrives evenly, and the</a:t>
            </a:r>
          </a:p>
          <a:p>
            <a:r>
              <a:t>cumulative chart showed it does not: Q1 jumps from Rs 152.9 lakh to Rs 187.5 lakh in week 11</a:t>
            </a:r>
          </a:p>
          <a:p>
            <a:r>
              <a:t>alone. Three numbers now describe one drop: -11.0, -12.4 and -17.0 percent. The honest one for</a:t>
            </a:r>
          </a:p>
          <a:p>
            <a:r>
              <a:t>Meera is the closed quarters, because both are complete.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One breath for the interview answer: the window's length and its dates, the</a:t>
            </a:r>
          </a:p>
          <a:p>
            <a:r>
              <a:t>definition of the metric, and the population counted; then say you would compare closed quarters</a:t>
            </a:r>
          </a:p>
          <a:p>
            <a:r>
              <a:t>or a rate over the same weeks. Transition: the drop is real, so which branch of the tree moved?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Round 2 runs 50 minutes. Switch to notebooks/C2_W01_D02_02_which_branch_STUDENT.ipynb.</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round's question is Meera's, word for word. Ask the room to predict which</a:t>
            </a:r>
          </a:p>
          <a:p>
            <a:r>
              <a:t>branch moved before any code runs, and write the guesses on the board. They come back at the end</a:t>
            </a:r>
          </a:p>
          <a:p>
            <a:r>
              <a:t>of the round.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Monday's accumulator, with one change: a dictionary holds one total per key.</a:t>
            </a:r>
          </a:p>
          <a:p>
            <a:r>
              <a:t>get(q, 0) is a decision, and here it is the right one: a quarter with no orders yet has summed to</a:t>
            </a:r>
          </a:p>
          <a:p>
            <a:r>
              <a:t>zero. Keep that sentence; the discount branch will test whether zero is always the right default.</a:t>
            </a:r>
          </a:p>
          <a:p>
            <a:r>
              <a:t>Have the room type it, then change the key to segment and back.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Type it and run it only for Q1. Q2's customer count is the next slide's</a:t>
            </a:r>
          </a:p>
          <a:p>
            <a:r>
              <a:t>prediction, so cover the output or run the Q1 half alone.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Option d is the rows-as-customers trap from Monday. Option a is Marketing's story</a:t>
            </a:r>
          </a:p>
          <a:p>
            <a:r>
              <a:t>carried through. Take letters, then run the cell.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answer is b. Let the silence land: Marketing's branch is flat. Do not go</a:t>
            </a:r>
          </a:p>
          <a:p>
            <a:r>
              <a:t>further than the count today. Whether these are the same 69 people is a sharper question that</a:t>
            </a:r>
          </a:p>
          <a:p>
            <a:r>
              <a:t>the afternoon answers; a flat count alone does not prove nobody left.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Fill the tree on the board with these numbers. The product check is the proof</a:t>
            </a:r>
          </a:p>
          <a:p>
            <a:r>
              <a:t>that the decomposition is complete: if it does not multiply back, a branch is missing. Revenue per</a:t>
            </a:r>
          </a:p>
          <a:p>
            <a:r>
              <a:t>customer went from Rs 3,04,348 to Rs 2,71,014, which is the two lower branches together.</a:t>
            </a:r>
          </a:p>
          <a:p>
            <a:r>
              <a:t>Leave revenue per order rising for the afternoon: whether prices went up is a trap of its own.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notebook draws this with kit.bridge. Walk the arithmetic: 69 customers times</a:t>
            </a:r>
          </a:p>
          <a:p>
            <a:r>
              <a:t>the change in orders per customer is 28 fewer orders, times Q1's revenue per order is Rs 51,57,895.</a:t>
            </a:r>
          </a:p>
          <a:p>
            <a:r>
              <a:t>Then 86 orders times Rs 33,231 is Rs 28,57,895. The two sum to the Rs 23,00,000 fall.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and no more. This is a runtime error: read the last line, which names the key,</a:t>
            </a:r>
          </a:p>
          <a:p>
            <a:r>
              <a:t>and move on. The notebook shows it with kit.expect_error. try/except is one way through and</a:t>
            </a:r>
          </a:p>
          <a:p>
            <a:r>
              <a:t>appears in the notebook in passing; the decision that matters is on the next slide, and it is what</a:t>
            </a:r>
          </a:p>
          <a:p>
            <a:r>
              <a:t>to do about the orders without the field.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This is the round's trap. The hurried fix silences the error, and the story</a:t>
            </a:r>
          </a:p>
          <a:p>
            <a:r>
              <a:t>writes itself: discounts fell 8.0 percent, members pulled back, so restore the discounts. Name the</a:t>
            </a:r>
          </a:p>
          <a:p>
            <a:r>
              <a:t>decision it would mislead. Ask what the zero means: did the order get no discount, or did nobody</a:t>
            </a:r>
          </a:p>
          <a:p>
            <a:r>
              <a:t>record one? Nobody in the room can say, and that is the lesson.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These three orders are invented to show the mechanism. Order B is a real zero:</a:t>
            </a:r>
          </a:p>
          <a:p>
            <a:r>
              <a:t>someone recorded that no discount was given. Order C is unknown. The two are different facts, and</a:t>
            </a:r>
          </a:p>
          <a:p>
            <a:r>
              <a:t>get with a default of zero erases the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Before running, the room counts the orders that record the field in each quarter</a:t>
            </a:r>
          </a:p>
          <a:p>
            <a:r>
              <a:t>in the empty your-turn cell of notebook 02. Nobody reads a count aloud; each learner has their own.</a:t>
            </a:r>
          </a:p>
          <a:p>
            <a:r>
              <a:t>Then take letters.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answer is d. The total fell because fewer Q2 orders exist and some carry no</a:t>
            </a:r>
          </a:p>
          <a:p>
            <a:r>
              <a:t>field; where discounts were recorded, they got larger. The story and its decision flipped. Ask a</a:t>
            </a:r>
          </a:p>
          <a:p>
            <a:r>
              <a:t>learner to say the count they found and what it means for how far to trust any discount figure.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Two moves. First, the decision is written down beside the number, with its</a:t>
            </a:r>
          </a:p>
          <a:p>
            <a:r>
              <a:t>reason. Second, a bound: when a branch is uncertain, ask how large it could possibly be. Here the</a:t>
            </a:r>
          </a:p>
          <a:p>
            <a:r>
              <a:t>worst case is under one percent of the fall, so the branch closes without anyone guessing.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12 minutes: 10 for the room's run, 2 to collect. This is the harder variant. Pairs add one</a:t>
            </a:r>
          </a:p>
          <a:p>
            <a:r>
              <a:t>filter, status equal to delivered, to both quarters and rebuild all three branches. Watch for pairs</a:t>
            </a:r>
          </a:p>
          <a:p>
            <a:r>
              <a:t>who filter one quarter and forget the other.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answer is b. Customers do dip on this definition, and a sharp learner will</a:t>
            </a:r>
          </a:p>
          <a:p>
            <a:r>
              <a:t>say so; the dip is smaller than the fall in frequency, which survives both definitions.</a:t>
            </a:r>
          </a:p>
          <a:p>
            <a:r>
              <a:t>Interview questions for this round: [S] Why is a rate without a denominator meaningless? [S] A</a:t>
            </a:r>
          </a:p>
          <a:p>
            <a:r>
              <a:t>field is missing on some records; do you fill it with zero? One breath each, in the day sheet.</a:t>
            </a:r>
          </a:p>
          <a:p>
            <a:r>
              <a:t>Break for 10 minutes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Round 3 runs 50 minutes after the break. Switch to</a:t>
            </a:r>
          </a:p>
          <a:p>
            <a:r>
              <a:t>notebooks/C2_W01_D02_03_which_segment_STUDENT.ipynb.</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Eight trees are needed: four segments, two quarters. Ask how many times the room</a:t>
            </a:r>
          </a:p>
          <a:p>
            <a:r>
              <a:t>wants to paste the round 2 code. Nobody does, which is why functions arrive now.</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Build it line by line with the room. Name the parts: def, the parameter rows, the</a:t>
            </a:r>
          </a:p>
          <a:p>
            <a:r>
              <a:t>body, and return, which hands the dictionary back to whoever called it. One definition of a</a:t>
            </a:r>
          </a:p>
          <a:p>
            <a:r>
              <a:t>customer now lives in one place, so a change to it changes every segment and quarter together.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in passing. A function with no return hands back None. It looks right on screen</a:t>
            </a:r>
          </a:p>
          <a:p>
            <a:r>
              <a:t>and breaks the next step silently. Keep this in mind for the afternoon: a colleague's helper will</a:t>
            </a:r>
          </a:p>
          <a:p>
            <a:r>
              <a:t>test it. Interview question [F] lives here: why does a function that prints instead of returning</a:t>
            </a:r>
          </a:p>
          <a:p>
            <a:r>
              <a:t>break a pipeline?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notebook's check cell compares these to round 2's numbers and passes. This is</a:t>
            </a:r>
          </a:p>
          <a:p>
            <a:r>
              <a:t>the habit: test the function where you know the answer, then use it where you do not.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Monday's median by hand, now inside a function. Anand's warning returns: one</a:t>
            </a:r>
          </a:p>
          <a:p>
            <a:r>
              <a:t>large Business order can move an average, so each group gets a typical value and its spread,</a:t>
            </a:r>
          </a:p>
          <a:p>
            <a:r>
              <a:t>never a mean alone.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Two calls per segment, one per quarter. Retail-Core barely moves in frequency;</a:t>
            </a:r>
          </a:p>
          <a:p>
            <a:r>
              <a:t>Business falls from 1.82 to 1.55. Business revenue is almost all of the company's revenue, which</a:t>
            </a:r>
          </a:p>
          <a:p>
            <a:r>
              <a:t>is why its three lost orders matter in rupees. Do not run Retail-Plus or Student on the projector.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Take letters, then run describe on Business Q2.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answer is b. A mean would have hidden this: the one large order lifts it</a:t>
            </a:r>
          </a:p>
          <a:p>
            <a:r>
              <a:t>while the typical order fell slightly. Sorted values in the notebook show the order sitting alone</a:t>
            </a:r>
          </a:p>
          <a:p>
            <a:r>
              <a:t>at the top.</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This is the round's trap. The room computes each segment's orders per customer,</a:t>
            </a:r>
          </a:p>
          <a:p>
            <a:r>
              <a:t>adds the four and divides by four. The average is correct arithmetic and the wrong question. Do</a:t>
            </a:r>
          </a:p>
          <a:p>
            <a:r>
              <a:t>not show the per-segment rows; only the two averages and the weighted figures appear. Name the</a:t>
            </a:r>
          </a:p>
          <a:p>
            <a:r>
              <a:t>decision it would mislead: the acquisition budget goes back on the table.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invented example shows the mechanism: two small-group customers pull the</a:t>
            </a:r>
          </a:p>
          <a:p>
            <a:r>
              <a:t>average towards their rate. In the real file Student has 2 customers and Retail-Core has 34, and</a:t>
            </a:r>
          </a:p>
          <a:p>
            <a:r>
              <a:t>each counts once in the average of averages.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Take letters. Most rooms are ready for b by now; ask one learner why.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answer is b. The weighted figure is round 2's number, which is the proof.</a:t>
            </a:r>
          </a:p>
          <a:p>
            <a:r>
              <a:t>Interview question [F]: you have orders per customer for four segments; why can't you average them</a:t>
            </a:r>
          </a:p>
          <a:p>
            <a:r>
              <a:t>for the company figure? One breath: each segment's rate is weighted by its customers, and an</a:t>
            </a:r>
          </a:p>
          <a:p>
            <a:r>
              <a:t>average gives two customers the same vote as thirty-four.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15 minutes. The room's harder variant, in the empty your-turn cells of notebook 03. The</a:t>
            </a:r>
          </a:p>
          <a:p>
            <a:r>
              <a:t>trainer does not run it on the projector and does not confirm any segment aloud. Walk the room.</a:t>
            </a:r>
          </a:p>
          <a:p>
            <a:r>
              <a:t>Listen for pairs who count four groups in and four rows out; the afternoon's helper tests exactly</a:t>
            </a:r>
          </a:p>
          <a:p>
            <a:r>
              <a:t>that habit. Collect two sentences read aloud without comment; the afternoon opens on them.</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then lunch. One breath: the caller receives None, the next step either crashes</a:t>
            </a:r>
          </a:p>
          <a:p>
            <a:r>
              <a:t>or silently drops that group, and nobody sees it because the screen looked right. Transition to</a:t>
            </a:r>
          </a:p>
          <a:p>
            <a:r>
              <a:t>the afternoon: Meera escalates the case, and a colleague's helper is waiting in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xml"/><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xml"/><Relationship Id="rId5" Type="http://schemas.openxmlformats.org/officeDocument/2006/relationships/image" Target="../media/image10.png"/><Relationship Id="rId6"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xml"/><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 Id="rId5" Type="http://schemas.openxmlformats.org/officeDocument/2006/relationships/image" Target="../media/image10.png"/><Relationship Id="rId6"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3.xml"/><Relationship Id="rId5"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5.xml"/><Relationship Id="rId5" Type="http://schemas.openxmlformats.org/officeDocument/2006/relationships/image" Target="../media/image15.png"/><Relationship Id="rId6"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6.xml"/><Relationship Id="rId5"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9.xml"/><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1.xml"/><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3.xml"/><Relationship Id="rId5" Type="http://schemas.openxmlformats.org/officeDocument/2006/relationships/image" Target="../media/image4.png"/><Relationship Id="rId6"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4.xml"/><Relationship Id="rId5"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9.xml"/><Relationship Id="rId5"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1.xml"/><Relationship Id="rId5"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6.xml"/><Relationship Id="rId5"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9.xml"/><Relationship Id="rId5" Type="http://schemas.openxmlformats.org/officeDocument/2006/relationships/image" Target="../media/image4.png"/><Relationship Id="rId6" Type="http://schemas.openxmlformats.org/officeDocument/2006/relationships/image" Target="../media/image2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1.xml"/><Relationship Id="rId5" Type="http://schemas.openxmlformats.org/officeDocument/2006/relationships/image" Target="../media/image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7.xml"/><Relationship Id="rId5" Type="http://schemas.openxmlformats.org/officeDocument/2006/relationships/image" Target="../media/image15.png"/><Relationship Id="rId6" Type="http://schemas.openxmlformats.org/officeDocument/2006/relationships/image" Target="../media/image2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9.xml"/><Relationship Id="rId5" Type="http://schemas.openxmlformats.org/officeDocument/2006/relationships/image" Target="../media/image3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2.xml"/><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3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621792" y="566928"/>
            <a:ext cx="1051560" cy="1051560"/>
          </a:xfrm>
          <a:prstGeom prst="rect">
            <a:avLst/>
          </a:prstGeom>
        </p:spPr>
      </p:pic>
      <p:sp>
        <p:nvSpPr>
          <p:cNvPr id="4" name="TextBox 3"/>
          <p:cNvSpPr txBox="1"/>
          <p:nvPr/>
        </p:nvSpPr>
        <p:spPr>
          <a:xfrm>
            <a:off x="1901952" y="804672"/>
            <a:ext cx="6858000" cy="300735"/>
          </a:xfrm>
          <a:prstGeom prst="rect">
            <a:avLst/>
          </a:prstGeom>
          <a:noFill/>
        </p:spPr>
        <p:txBody>
          <a:bodyPr wrap="square" anchor="t" lIns="0" rIns="0" tIns="0" bIns="0">
            <a:spAutoFit/>
          </a:bodyPr>
          <a:lstStyle/>
          <a:p>
            <a:pPr algn="l"/>
            <a:r>
              <a:rPr sz="1600" b="1" i="0">
                <a:solidFill>
                  <a:srgbClr val="FFFFFF"/>
                </a:solidFill>
                <a:latin typeface="Calibri"/>
              </a:rPr>
              <a:t>Indian Institute of Technology Gandhinagar</a:t>
            </a:r>
          </a:p>
        </p:txBody>
      </p:sp>
      <p:sp>
        <p:nvSpPr>
          <p:cNvPr id="5" name="TextBox 4"/>
          <p:cNvSpPr txBox="1"/>
          <p:nvPr/>
        </p:nvSpPr>
        <p:spPr>
          <a:xfrm>
            <a:off x="1901952" y="1133856"/>
            <a:ext cx="7772400" cy="152146"/>
          </a:xfrm>
          <a:prstGeom prst="rect">
            <a:avLst/>
          </a:prstGeom>
          <a:noFill/>
        </p:spPr>
        <p:txBody>
          <a:bodyPr wrap="square" anchor="t" lIns="0" rIns="0" tIns="0" bIns="0">
            <a:spAutoFit/>
          </a:bodyPr>
          <a:lstStyle/>
          <a:p>
            <a:pPr algn="l"/>
            <a:r>
              <a:rPr sz="700" b="1" i="0" spc="300">
                <a:solidFill>
                  <a:srgbClr val="D9A7FF"/>
                </a:solidFill>
                <a:latin typeface="Calibri"/>
              </a:rPr>
              <a:t>ADMINISTERED THROUGH THE COMPETENCY ADVANCEMENT ACADEMY</a:t>
            </a:r>
          </a:p>
        </p:txBody>
      </p:sp>
      <p:sp>
        <p:nvSpPr>
          <p:cNvPr id="6" name="Rectangle 5"/>
          <p:cNvSpPr/>
          <p:nvPr/>
        </p:nvSpPr>
        <p:spPr>
          <a:xfrm>
            <a:off x="621792" y="1938528"/>
            <a:ext cx="10948111" cy="10972"/>
          </a:xfrm>
          <a:prstGeom prst="rect">
            <a:avLst/>
          </a:prstGeom>
          <a:solidFill>
            <a:srgbClr val="A9A3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21792" y="2240280"/>
            <a:ext cx="3385127" cy="329184"/>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900" b="1" spc="250">
                <a:solidFill>
                  <a:srgbClr val="FFFFFF"/>
                </a:solidFill>
                <a:latin typeface="Calibri"/>
              </a:rPr>
              <a:t>WEEK 1  ·  TUESDAY  ·  HALF ONE</a:t>
            </a:r>
          </a:p>
        </p:txBody>
      </p:sp>
      <p:sp>
        <p:nvSpPr>
          <p:cNvPr id="8" name="TextBox 7"/>
          <p:cNvSpPr txBox="1"/>
          <p:nvPr/>
        </p:nvSpPr>
        <p:spPr>
          <a:xfrm>
            <a:off x="621792" y="2807208"/>
            <a:ext cx="10582351" cy="663956"/>
          </a:xfrm>
          <a:prstGeom prst="rect">
            <a:avLst/>
          </a:prstGeom>
          <a:noFill/>
        </p:spPr>
        <p:txBody>
          <a:bodyPr wrap="square" anchor="t" lIns="0" rIns="0" tIns="0" bIns="0">
            <a:spAutoFit/>
          </a:bodyPr>
          <a:lstStyle/>
          <a:p>
            <a:pPr algn="l"/>
            <a:r>
              <a:rPr sz="3800" b="0" i="0">
                <a:solidFill>
                  <a:srgbClr val="FFFFFF"/>
                </a:solidFill>
                <a:latin typeface="Georgia"/>
              </a:rPr>
              <a:t>Which branch moved</a:t>
            </a:r>
          </a:p>
        </p:txBody>
      </p:sp>
      <p:sp>
        <p:nvSpPr>
          <p:cNvPr id="9" name="TextBox 8"/>
          <p:cNvSpPr txBox="1"/>
          <p:nvPr/>
        </p:nvSpPr>
        <p:spPr>
          <a:xfrm>
            <a:off x="621792" y="3635756"/>
            <a:ext cx="10033711" cy="663956"/>
          </a:xfrm>
          <a:prstGeom prst="rect">
            <a:avLst/>
          </a:prstGeom>
          <a:noFill/>
        </p:spPr>
        <p:txBody>
          <a:bodyPr wrap="square" anchor="t" lIns="0" rIns="0" tIns="0" bIns="0">
            <a:spAutoFit/>
          </a:bodyPr>
          <a:lstStyle/>
          <a:p>
            <a:pPr algn="l"/>
            <a:r>
              <a:rPr sz="1900" b="0" i="1">
                <a:solidFill>
                  <a:srgbClr val="D9A7FF"/>
                </a:solidFill>
                <a:latin typeface="Georgia"/>
              </a:rPr>
              <a:t>“Are we losing customers, or are the ones we have buying less? Marketing says more customers. Prove it or disprove it.”</a:t>
            </a:r>
          </a:p>
        </p:txBody>
      </p:sp>
      <p:sp>
        <p:nvSpPr>
          <p:cNvPr id="10" name="TextBox 9"/>
          <p:cNvSpPr txBox="1"/>
          <p:nvPr/>
        </p:nvSpPr>
        <p:spPr>
          <a:xfrm>
            <a:off x="621792" y="4354576"/>
            <a:ext cx="10033711" cy="218186"/>
          </a:xfrm>
          <a:prstGeom prst="rect">
            <a:avLst/>
          </a:prstGeom>
          <a:noFill/>
        </p:spPr>
        <p:txBody>
          <a:bodyPr wrap="square" anchor="t" lIns="0" rIns="0" tIns="0" bIns="0">
            <a:spAutoFit/>
          </a:bodyPr>
          <a:lstStyle/>
          <a:p>
            <a:pPr algn="l"/>
            <a:r>
              <a:rPr sz="1100" b="0" i="0">
                <a:solidFill>
                  <a:srgbClr val="CFC9EE"/>
                </a:solidFill>
                <a:latin typeface="Calibri"/>
              </a:rPr>
              <a:t>Meera Raghavan, CEO, Kalpa Retail, replying to Monday's numbers</a:t>
            </a:r>
          </a:p>
        </p:txBody>
      </p:sp>
      <p:sp>
        <p:nvSpPr>
          <p:cNvPr id="11" name="TextBox 10"/>
          <p:cNvSpPr txBox="1"/>
          <p:nvPr/>
        </p:nvSpPr>
        <p:spPr>
          <a:xfrm>
            <a:off x="621792"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01</a:t>
            </a:r>
          </a:p>
        </p:txBody>
      </p:sp>
      <p:sp>
        <p:nvSpPr>
          <p:cNvPr id="12" name="TextBox 11"/>
          <p:cNvSpPr txBox="1"/>
          <p:nvPr/>
        </p:nvSpPr>
        <p:spPr>
          <a:xfrm>
            <a:off x="1005839" y="5248656"/>
            <a:ext cx="1602486" cy="185166"/>
          </a:xfrm>
          <a:prstGeom prst="rect">
            <a:avLst/>
          </a:prstGeom>
          <a:noFill/>
        </p:spPr>
        <p:txBody>
          <a:bodyPr wrap="square" anchor="t" lIns="0" rIns="0" tIns="0" bIns="0">
            <a:spAutoFit/>
          </a:bodyPr>
          <a:lstStyle/>
          <a:p>
            <a:pPr algn="l"/>
            <a:r>
              <a:rPr sz="900" b="0" i="0">
                <a:solidFill>
                  <a:srgbClr val="FFFFFF"/>
                </a:solidFill>
                <a:latin typeface="Calibri"/>
              </a:rPr>
              <a:t>The ask and the thinking</a:t>
            </a:r>
          </a:p>
        </p:txBody>
      </p:sp>
      <p:sp>
        <p:nvSpPr>
          <p:cNvPr id="13" name="TextBox 12"/>
          <p:cNvSpPr txBox="1"/>
          <p:nvPr/>
        </p:nvSpPr>
        <p:spPr>
          <a:xfrm>
            <a:off x="2791206"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02</a:t>
            </a:r>
          </a:p>
        </p:txBody>
      </p:sp>
      <p:sp>
        <p:nvSpPr>
          <p:cNvPr id="14" name="TextBox 13"/>
          <p:cNvSpPr txBox="1"/>
          <p:nvPr/>
        </p:nvSpPr>
        <p:spPr>
          <a:xfrm>
            <a:off x="3175254" y="5248656"/>
            <a:ext cx="1661636" cy="185166"/>
          </a:xfrm>
          <a:prstGeom prst="rect">
            <a:avLst/>
          </a:prstGeom>
          <a:noFill/>
        </p:spPr>
        <p:txBody>
          <a:bodyPr wrap="square" anchor="t" lIns="0" rIns="0" tIns="0" bIns="0">
            <a:spAutoFit/>
          </a:bodyPr>
          <a:lstStyle/>
          <a:p>
            <a:pPr algn="l"/>
            <a:r>
              <a:rPr sz="900" b="0" i="0">
                <a:solidFill>
                  <a:srgbClr val="FFFFFF"/>
                </a:solidFill>
                <a:latin typeface="Calibri"/>
              </a:rPr>
              <a:t>Round 1, is the drop real</a:t>
            </a:r>
          </a:p>
        </p:txBody>
      </p:sp>
      <p:sp>
        <p:nvSpPr>
          <p:cNvPr id="15" name="TextBox 14"/>
          <p:cNvSpPr txBox="1"/>
          <p:nvPr/>
        </p:nvSpPr>
        <p:spPr>
          <a:xfrm>
            <a:off x="5019770"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03</a:t>
            </a:r>
          </a:p>
        </p:txBody>
      </p:sp>
      <p:sp>
        <p:nvSpPr>
          <p:cNvPr id="16" name="TextBox 15"/>
          <p:cNvSpPr txBox="1"/>
          <p:nvPr/>
        </p:nvSpPr>
        <p:spPr>
          <a:xfrm>
            <a:off x="5403818" y="5248656"/>
            <a:ext cx="1779936" cy="185166"/>
          </a:xfrm>
          <a:prstGeom prst="rect">
            <a:avLst/>
          </a:prstGeom>
          <a:noFill/>
        </p:spPr>
        <p:txBody>
          <a:bodyPr wrap="square" anchor="t" lIns="0" rIns="0" tIns="0" bIns="0">
            <a:spAutoFit/>
          </a:bodyPr>
          <a:lstStyle/>
          <a:p>
            <a:pPr algn="l"/>
            <a:r>
              <a:rPr sz="900" b="0" i="0">
                <a:solidFill>
                  <a:srgbClr val="FFFFFF"/>
                </a:solidFill>
                <a:latin typeface="Calibri"/>
              </a:rPr>
              <a:t>Round 2, which branch moved</a:t>
            </a:r>
          </a:p>
        </p:txBody>
      </p:sp>
      <p:sp>
        <p:nvSpPr>
          <p:cNvPr id="17" name="TextBox 16"/>
          <p:cNvSpPr txBox="1"/>
          <p:nvPr/>
        </p:nvSpPr>
        <p:spPr>
          <a:xfrm>
            <a:off x="7366635"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04</a:t>
            </a:r>
          </a:p>
        </p:txBody>
      </p:sp>
      <p:sp>
        <p:nvSpPr>
          <p:cNvPr id="18" name="TextBox 17"/>
          <p:cNvSpPr txBox="1"/>
          <p:nvPr/>
        </p:nvSpPr>
        <p:spPr>
          <a:xfrm>
            <a:off x="7750683" y="5248656"/>
            <a:ext cx="1993392" cy="185166"/>
          </a:xfrm>
          <a:prstGeom prst="rect">
            <a:avLst/>
          </a:prstGeom>
          <a:noFill/>
        </p:spPr>
        <p:txBody>
          <a:bodyPr wrap="square" anchor="t" lIns="0" rIns="0" tIns="0" bIns="0">
            <a:spAutoFit/>
          </a:bodyPr>
          <a:lstStyle/>
          <a:p>
            <a:pPr algn="l"/>
            <a:r>
              <a:rPr sz="900" b="0" i="0">
                <a:solidFill>
                  <a:srgbClr val="FFFFFF"/>
                </a:solidFill>
                <a:latin typeface="Calibri"/>
              </a:rPr>
              <a:t>Round 3, every kind of customer</a:t>
            </a:r>
          </a:p>
        </p:txBody>
      </p:sp>
      <p:sp>
        <p:nvSpPr>
          <p:cNvPr id="19" name="TextBox 18"/>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2. Which branch moved</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52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01</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The ask and the thinking</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Three voices reach the team with one drop between them, and the thinking is drawn before any code.</a:t>
            </a:r>
          </a:p>
        </p:txBody>
      </p:sp>
      <p:sp>
        <p:nvSpPr>
          <p:cNvPr id="10" name="Rounded Rectangle 9"/>
          <p:cNvSpPr/>
          <p:nvPr/>
        </p:nvSpPr>
        <p:spPr>
          <a:xfrm>
            <a:off x="731519" y="5074920"/>
            <a:ext cx="178694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The ask and the thinking</a:t>
            </a:r>
          </a:p>
        </p:txBody>
      </p:sp>
      <p:sp>
        <p:nvSpPr>
          <p:cNvPr id="11" name="Rounded Rectangle 10"/>
          <p:cNvSpPr/>
          <p:nvPr/>
        </p:nvSpPr>
        <p:spPr>
          <a:xfrm>
            <a:off x="2628191"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Round 1, is the drop real</a:t>
            </a:r>
          </a:p>
        </p:txBody>
      </p:sp>
      <p:sp>
        <p:nvSpPr>
          <p:cNvPr id="12" name="Rounded Rectangle 11"/>
          <p:cNvSpPr/>
          <p:nvPr/>
        </p:nvSpPr>
        <p:spPr>
          <a:xfrm>
            <a:off x="4584078" y="5074920"/>
            <a:ext cx="196459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Round 2, which branch moved</a:t>
            </a:r>
          </a:p>
        </p:txBody>
      </p:sp>
      <p:sp>
        <p:nvSpPr>
          <p:cNvPr id="13" name="Rounded Rectangle 12"/>
          <p:cNvSpPr/>
          <p:nvPr/>
        </p:nvSpPr>
        <p:spPr>
          <a:xfrm>
            <a:off x="6658397" y="5074920"/>
            <a:ext cx="214884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Round 3, every kind of customer</a:t>
            </a:r>
          </a:p>
        </p:txBody>
      </p:sp>
      <p:sp>
        <p:nvSpPr>
          <p:cNvPr id="14" name="TextBox 13"/>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2: which branch moved</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 / 52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Meera wants to know which branch moved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Q2 came in below Q1, and she names the two branches she suspects.</a:t>
            </a:r>
          </a:p>
        </p:txBody>
      </p:sp>
      <p:sp>
        <p:nvSpPr>
          <p:cNvPr id="9" name="Rounded Rectangle 8"/>
          <p:cNvSpPr/>
          <p:nvPr/>
        </p:nvSpPr>
        <p:spPr>
          <a:xfrm>
            <a:off x="530352" y="1956816"/>
            <a:ext cx="11130991" cy="138074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4185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52831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941832"/>
          </a:xfrm>
          <a:prstGeom prst="rect">
            <a:avLst/>
          </a:prstGeom>
          <a:noFill/>
        </p:spPr>
        <p:txBody>
          <a:bodyPr wrap="square" anchor="t" lIns="0" rIns="0" tIns="0" bIns="0">
            <a:spAutoFit/>
          </a:bodyPr>
          <a:lstStyle/>
          <a:p>
            <a:r>
              <a:rPr sz="1500" b="0" i="0">
                <a:solidFill>
                  <a:srgbClr val="FFFFFF"/>
                </a:solidFill>
                <a:latin typeface="Calibri"/>
              </a:rPr>
              <a:t>"So revenue is customers, times how often they buy, times basket, times price. Now: which of those moved? Q2 was Rs 1.9 crore, Q1 was 2.1. Are we losing customers, or are the ones we have buying less? Marketing says more customers. Prove it or disprove it."</a:t>
            </a:r>
          </a:p>
        </p:txBody>
      </p:sp>
      <p:sp>
        <p:nvSpPr>
          <p:cNvPr id="14" name="TextBox 13"/>
          <p:cNvSpPr txBox="1"/>
          <p:nvPr/>
        </p:nvSpPr>
        <p:spPr>
          <a:xfrm>
            <a:off x="530352" y="3502152"/>
            <a:ext cx="2577007" cy="539750"/>
          </a:xfrm>
          <a:prstGeom prst="rect">
            <a:avLst/>
          </a:prstGeom>
          <a:noFill/>
        </p:spPr>
        <p:txBody>
          <a:bodyPr wrap="square" anchor="t" lIns="0" rIns="0" tIns="0" bIns="0">
            <a:spAutoFit/>
          </a:bodyPr>
          <a:lstStyle/>
          <a:p>
            <a:pPr algn="l"/>
            <a:r>
              <a:rPr sz="3400" b="0" i="0">
                <a:solidFill>
                  <a:srgbClr val="5B3FD6"/>
                </a:solidFill>
                <a:latin typeface="Georgia"/>
              </a:rPr>
              <a:t>Rs 2.1 cr</a:t>
            </a:r>
          </a:p>
        </p:txBody>
      </p:sp>
      <p:sp>
        <p:nvSpPr>
          <p:cNvPr id="15" name="TextBox 14"/>
          <p:cNvSpPr txBox="1"/>
          <p:nvPr/>
        </p:nvSpPr>
        <p:spPr>
          <a:xfrm>
            <a:off x="530352" y="4078478"/>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Q1 REVENUE</a:t>
            </a:r>
          </a:p>
        </p:txBody>
      </p:sp>
      <p:sp>
        <p:nvSpPr>
          <p:cNvPr id="16" name="TextBox 15"/>
          <p:cNvSpPr txBox="1"/>
          <p:nvPr/>
        </p:nvSpPr>
        <p:spPr>
          <a:xfrm>
            <a:off x="530352" y="4279646"/>
            <a:ext cx="2577007" cy="193421"/>
          </a:xfrm>
          <a:prstGeom prst="rect">
            <a:avLst/>
          </a:prstGeom>
          <a:noFill/>
        </p:spPr>
        <p:txBody>
          <a:bodyPr wrap="square" anchor="t" lIns="0" rIns="0" tIns="0" bIns="0">
            <a:spAutoFit/>
          </a:bodyPr>
          <a:lstStyle/>
          <a:p>
            <a:pPr algn="l"/>
            <a:r>
              <a:rPr sz="950" b="0" i="0">
                <a:solidFill>
                  <a:srgbClr val="6B6690"/>
                </a:solidFill>
                <a:latin typeface="Calibri"/>
              </a:rPr>
              <a:t>as Meera remembers it</a:t>
            </a:r>
          </a:p>
        </p:txBody>
      </p:sp>
      <p:sp>
        <p:nvSpPr>
          <p:cNvPr id="17" name="Rectangle 16"/>
          <p:cNvSpPr/>
          <p:nvPr/>
        </p:nvSpPr>
        <p:spPr>
          <a:xfrm>
            <a:off x="530352" y="4690872"/>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381679" y="3502152"/>
            <a:ext cx="2577007" cy="539750"/>
          </a:xfrm>
          <a:prstGeom prst="rect">
            <a:avLst/>
          </a:prstGeom>
          <a:noFill/>
        </p:spPr>
        <p:txBody>
          <a:bodyPr wrap="square" anchor="t" lIns="0" rIns="0" tIns="0" bIns="0">
            <a:spAutoFit/>
          </a:bodyPr>
          <a:lstStyle/>
          <a:p>
            <a:pPr algn="l"/>
            <a:r>
              <a:rPr sz="3400" b="0" i="0">
                <a:solidFill>
                  <a:srgbClr val="5B3FD6"/>
                </a:solidFill>
                <a:latin typeface="Georgia"/>
              </a:rPr>
              <a:t>Rs 1.9 cr</a:t>
            </a:r>
          </a:p>
        </p:txBody>
      </p:sp>
      <p:sp>
        <p:nvSpPr>
          <p:cNvPr id="19" name="TextBox 18"/>
          <p:cNvSpPr txBox="1"/>
          <p:nvPr/>
        </p:nvSpPr>
        <p:spPr>
          <a:xfrm>
            <a:off x="3381679" y="4078478"/>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Q2 REVENUE</a:t>
            </a:r>
          </a:p>
        </p:txBody>
      </p:sp>
      <p:sp>
        <p:nvSpPr>
          <p:cNvPr id="20" name="TextBox 19"/>
          <p:cNvSpPr txBox="1"/>
          <p:nvPr/>
        </p:nvSpPr>
        <p:spPr>
          <a:xfrm>
            <a:off x="3381679" y="4279646"/>
            <a:ext cx="2577007" cy="193421"/>
          </a:xfrm>
          <a:prstGeom prst="rect">
            <a:avLst/>
          </a:prstGeom>
          <a:noFill/>
        </p:spPr>
        <p:txBody>
          <a:bodyPr wrap="square" anchor="t" lIns="0" rIns="0" tIns="0" bIns="0">
            <a:spAutoFit/>
          </a:bodyPr>
          <a:lstStyle/>
          <a:p>
            <a:pPr algn="l"/>
            <a:r>
              <a:rPr sz="950" b="0" i="0">
                <a:solidFill>
                  <a:srgbClr val="6B6690"/>
                </a:solidFill>
                <a:latin typeface="Calibri"/>
              </a:rPr>
              <a:t>as Meera remembers it</a:t>
            </a:r>
          </a:p>
        </p:txBody>
      </p:sp>
      <p:sp>
        <p:nvSpPr>
          <p:cNvPr id="21" name="Rectangle 20"/>
          <p:cNvSpPr/>
          <p:nvPr/>
        </p:nvSpPr>
        <p:spPr>
          <a:xfrm>
            <a:off x="3381679" y="4690872"/>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33007" y="3502152"/>
            <a:ext cx="2577007" cy="539750"/>
          </a:xfrm>
          <a:prstGeom prst="rect">
            <a:avLst/>
          </a:prstGeom>
          <a:noFill/>
        </p:spPr>
        <p:txBody>
          <a:bodyPr wrap="square" anchor="t" lIns="0" rIns="0" tIns="0" bIns="0">
            <a:spAutoFit/>
          </a:bodyPr>
          <a:lstStyle/>
          <a:p>
            <a:pPr algn="l"/>
            <a:r>
              <a:rPr sz="3400" b="0" i="0">
                <a:solidFill>
                  <a:srgbClr val="5B3FD6"/>
                </a:solidFill>
                <a:latin typeface="Georgia"/>
              </a:rPr>
              <a:t>2</a:t>
            </a:r>
          </a:p>
        </p:txBody>
      </p:sp>
      <p:sp>
        <p:nvSpPr>
          <p:cNvPr id="23" name="TextBox 22"/>
          <p:cNvSpPr txBox="1"/>
          <p:nvPr/>
        </p:nvSpPr>
        <p:spPr>
          <a:xfrm>
            <a:off x="6233007" y="4078478"/>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SUSPECTS</a:t>
            </a:r>
          </a:p>
        </p:txBody>
      </p:sp>
      <p:sp>
        <p:nvSpPr>
          <p:cNvPr id="24" name="TextBox 23"/>
          <p:cNvSpPr txBox="1"/>
          <p:nvPr/>
        </p:nvSpPr>
        <p:spPr>
          <a:xfrm>
            <a:off x="6233007" y="4279646"/>
            <a:ext cx="2577007" cy="193421"/>
          </a:xfrm>
          <a:prstGeom prst="rect">
            <a:avLst/>
          </a:prstGeom>
          <a:noFill/>
        </p:spPr>
        <p:txBody>
          <a:bodyPr wrap="square" anchor="t" lIns="0" rIns="0" tIns="0" bIns="0">
            <a:spAutoFit/>
          </a:bodyPr>
          <a:lstStyle/>
          <a:p>
            <a:pPr algn="l"/>
            <a:r>
              <a:rPr sz="950" b="0" i="0">
                <a:solidFill>
                  <a:srgbClr val="6B6690"/>
                </a:solidFill>
                <a:latin typeface="Calibri"/>
              </a:rPr>
              <a:t>fewer customers, or less buying each</a:t>
            </a:r>
          </a:p>
        </p:txBody>
      </p:sp>
      <p:sp>
        <p:nvSpPr>
          <p:cNvPr id="25" name="Rectangle 24"/>
          <p:cNvSpPr/>
          <p:nvPr/>
        </p:nvSpPr>
        <p:spPr>
          <a:xfrm>
            <a:off x="6233007" y="4690872"/>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084335" y="3502152"/>
            <a:ext cx="2577007" cy="539750"/>
          </a:xfrm>
          <a:prstGeom prst="rect">
            <a:avLst/>
          </a:prstGeom>
          <a:noFill/>
        </p:spPr>
        <p:txBody>
          <a:bodyPr wrap="square" anchor="t" lIns="0" rIns="0" tIns="0" bIns="0">
            <a:spAutoFit/>
          </a:bodyPr>
          <a:lstStyle/>
          <a:p>
            <a:pPr algn="l"/>
            <a:r>
              <a:rPr sz="3400" b="0" i="0">
                <a:solidFill>
                  <a:srgbClr val="5B3FD6"/>
                </a:solidFill>
                <a:latin typeface="Georgia"/>
              </a:rPr>
              <a:t>Rs 12 cr</a:t>
            </a:r>
          </a:p>
        </p:txBody>
      </p:sp>
      <p:sp>
        <p:nvSpPr>
          <p:cNvPr id="27" name="TextBox 26"/>
          <p:cNvSpPr txBox="1"/>
          <p:nvPr/>
        </p:nvSpPr>
        <p:spPr>
          <a:xfrm>
            <a:off x="9084335" y="4078478"/>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STILL ON THE TABLE</a:t>
            </a:r>
          </a:p>
        </p:txBody>
      </p:sp>
      <p:sp>
        <p:nvSpPr>
          <p:cNvPr id="28" name="TextBox 27"/>
          <p:cNvSpPr txBox="1"/>
          <p:nvPr/>
        </p:nvSpPr>
        <p:spPr>
          <a:xfrm>
            <a:off x="9084335" y="4279646"/>
            <a:ext cx="2577007" cy="193421"/>
          </a:xfrm>
          <a:prstGeom prst="rect">
            <a:avLst/>
          </a:prstGeom>
          <a:noFill/>
        </p:spPr>
        <p:txBody>
          <a:bodyPr wrap="square" anchor="t" lIns="0" rIns="0" tIns="0" bIns="0">
            <a:spAutoFit/>
          </a:bodyPr>
          <a:lstStyle/>
          <a:p>
            <a:pPr algn="l"/>
            <a:r>
              <a:rPr sz="950" b="0" i="0">
                <a:solidFill>
                  <a:srgbClr val="6B6690"/>
                </a:solidFill>
                <a:latin typeface="Calibri"/>
              </a:rPr>
              <a:t>Marketing's acquisition budget</a:t>
            </a:r>
          </a:p>
        </p:txBody>
      </p:sp>
      <p:sp>
        <p:nvSpPr>
          <p:cNvPr id="29" name="Rectangle 28"/>
          <p:cNvSpPr/>
          <p:nvPr/>
        </p:nvSpPr>
        <p:spPr>
          <a:xfrm>
            <a:off x="9084335" y="4690872"/>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The ask and the thinking</a:t>
            </a:r>
          </a:p>
        </p:txBody>
      </p:sp>
      <p:sp>
        <p:nvSpPr>
          <p:cNvPr id="32" name="Oval 3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34" name="Oval 33"/>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36" name="Oval 35"/>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3 / 52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Two more voices land on the same thread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tier head forwards a complaint, and Marketing already has its answer.</a:t>
            </a:r>
          </a:p>
        </p:txBody>
      </p:sp>
      <p:sp>
        <p:nvSpPr>
          <p:cNvPr id="9" name="Rounded Rectangle 8"/>
          <p:cNvSpPr/>
          <p:nvPr/>
        </p:nvSpPr>
        <p:spPr>
          <a:xfrm>
            <a:off x="530352" y="1956816"/>
            <a:ext cx="3588410" cy="23444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user-round_13fbc0c9977c.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CEO</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Meera Raghavan</a:t>
            </a:r>
          </a:p>
        </p:txBody>
      </p:sp>
      <p:sp>
        <p:nvSpPr>
          <p:cNvPr id="14" name="TextBox 13"/>
          <p:cNvSpPr txBox="1"/>
          <p:nvPr/>
        </p:nvSpPr>
        <p:spPr>
          <a:xfrm>
            <a:off x="731519"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Wants to know which branch of the tree moved, and whether acquisition is the one to fund.</a:t>
            </a:r>
          </a:p>
        </p:txBody>
      </p:sp>
      <p:sp>
        <p:nvSpPr>
          <p:cNvPr id="15" name="Rounded Rectangle 14"/>
          <p:cNvSpPr/>
          <p:nvPr/>
        </p:nvSpPr>
        <p:spPr>
          <a:xfrm>
            <a:off x="4301642" y="1956816"/>
            <a:ext cx="3588410" cy="23444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crown_50cb0a914c82.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PAID TIER</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head of Retail-Plus</a:t>
            </a:r>
          </a:p>
        </p:txBody>
      </p:sp>
      <p:sp>
        <p:nvSpPr>
          <p:cNvPr id="20" name="TextBox 19"/>
          <p:cNvSpPr txBox="1"/>
          <p:nvPr/>
        </p:nvSpPr>
        <p:spPr>
          <a:xfrm>
            <a:off x="4502810" y="3303524"/>
            <a:ext cx="3186074" cy="763016"/>
          </a:xfrm>
          <a:prstGeom prst="rect">
            <a:avLst/>
          </a:prstGeom>
          <a:noFill/>
        </p:spPr>
        <p:txBody>
          <a:bodyPr wrap="square" anchor="t" lIns="0" rIns="0" tIns="0" bIns="0">
            <a:spAutoFit/>
          </a:bodyPr>
          <a:lstStyle/>
          <a:p>
            <a:pPr algn="l"/>
            <a:r>
              <a:rPr sz="1100" b="0" i="0">
                <a:solidFill>
                  <a:srgbClr val="6B6690"/>
                </a:solidFill>
                <a:latin typeface="Calibri"/>
              </a:rPr>
              <a:t>Forwards a member's complaint that the app's reorder feature has been broken for six weeks, and asks whether his tier is the one slipping.</a:t>
            </a:r>
          </a:p>
        </p:txBody>
      </p:sp>
      <p:sp>
        <p:nvSpPr>
          <p:cNvPr id="21" name="Rounded Rectangle 20"/>
          <p:cNvSpPr/>
          <p:nvPr/>
        </p:nvSpPr>
        <p:spPr>
          <a:xfrm>
            <a:off x="8072932" y="1956816"/>
            <a:ext cx="3588410" cy="234442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megaphone_76c78891bb4f.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MARKETING</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The marketing lead</a:t>
            </a:r>
          </a:p>
        </p:txBody>
      </p:sp>
      <p:sp>
        <p:nvSpPr>
          <p:cNvPr id="26" name="TextBox 25"/>
          <p:cNvSpPr txBox="1"/>
          <p:nvPr/>
        </p:nvSpPr>
        <p:spPr>
          <a:xfrm>
            <a:off x="8274100" y="3303524"/>
            <a:ext cx="3186074" cy="581406"/>
          </a:xfrm>
          <a:prstGeom prst="rect">
            <a:avLst/>
          </a:prstGeom>
          <a:noFill/>
        </p:spPr>
        <p:txBody>
          <a:bodyPr wrap="square" anchor="t" lIns="0" rIns="0" tIns="0" bIns="0">
            <a:spAutoFit/>
          </a:bodyPr>
          <a:lstStyle/>
          <a:p>
            <a:pPr algn="l"/>
            <a:r>
              <a:rPr sz="1100" b="0" i="0">
                <a:solidFill>
                  <a:srgbClr val="CFC9EE"/>
                </a:solidFill>
                <a:latin typeface="Calibri"/>
              </a:rPr>
              <a:t>Says the answer is more customers, and has a slide that shows revenue falling by a quarter.</a:t>
            </a:r>
          </a:p>
        </p:txBody>
      </p:sp>
      <p:sp>
        <p:nvSpPr>
          <p:cNvPr id="27" name="Rounded Rectangle 26"/>
          <p:cNvSpPr/>
          <p:nvPr/>
        </p:nvSpPr>
        <p:spPr>
          <a:xfrm>
            <a:off x="530352" y="44841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76656" y="46121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77824" y="4602988"/>
            <a:ext cx="10564063" cy="624840"/>
          </a:xfrm>
          <a:prstGeom prst="rect">
            <a:avLst/>
          </a:prstGeom>
          <a:noFill/>
        </p:spPr>
        <p:txBody>
          <a:bodyPr wrap="square" anchor="ctr" lIns="0" rIns="0" tIns="0" bIns="0">
            <a:spAutoFit/>
          </a:bodyPr>
          <a:lstStyle/>
          <a:p>
            <a:r>
              <a:rPr sz="1500" b="1">
                <a:solidFill>
                  <a:srgbClr val="5B3FD6"/>
                </a:solidFill>
                <a:latin typeface="Calibri"/>
              </a:rPr>
              <a:t>Your role. </a:t>
            </a:r>
            <a:r>
              <a:rPr sz="1500" b="0" i="0">
                <a:solidFill>
                  <a:srgbClr val="1A1440"/>
                </a:solidFill>
                <a:latin typeface="Calibri"/>
              </a:rPr>
              <a:t>Present the decomposition to all three, name a cause as a hypothesis, and say what evidence would prove it. Marketing will push back.</a:t>
            </a:r>
          </a:p>
        </p:txBody>
      </p:sp>
      <p:sp>
        <p:nvSpPr>
          <p:cNvPr id="30" name="Oval 2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The ask and the thinking</a:t>
            </a:r>
          </a:p>
        </p:txBody>
      </p:sp>
      <p:sp>
        <p:nvSpPr>
          <p:cNvPr id="32" name="Oval 3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34" name="Oval 33"/>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36" name="Oval 35"/>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4 / 52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what makes a drop look real when it is not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Before anyone explains a fall, the room lists what could manufacture one.</a:t>
            </a:r>
          </a:p>
        </p:txBody>
      </p:sp>
      <p:pic>
        <p:nvPicPr>
          <p:cNvPr id="9" name="mermaid diagram" descr="16d8a55b63773196.png"/>
          <p:cNvPicPr>
            <a:picLocks noChangeAspect="1"/>
          </p:cNvPicPr>
          <p:nvPr/>
        </p:nvPicPr>
        <p:blipFill>
          <a:blip r:embed="rId5"/>
          <a:stretch>
            <a:fillRect/>
          </a:stretch>
        </p:blipFill>
        <p:spPr>
          <a:xfrm>
            <a:off x="2781147" y="1956816"/>
            <a:ext cx="6629400" cy="1800225"/>
          </a:xfrm>
          <a:prstGeom prst="rect">
            <a:avLst/>
          </a:prstGeom>
        </p:spPr>
      </p:pic>
      <p:sp>
        <p:nvSpPr>
          <p:cNvPr id="10" name="Rounded Rectangle 9"/>
          <p:cNvSpPr/>
          <p:nvPr/>
        </p:nvSpPr>
        <p:spPr>
          <a:xfrm>
            <a:off x="530352" y="3903345"/>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31360"/>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22217"/>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In pairs, two minutes: write down three ways a comparison of two totals could show a fall that the business never had.</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The ask and the thinking</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7" name="Oval 16"/>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19" name="Oval 18"/>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5 / 52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five ways a drop can be made by the counting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Each one is a check that runs before any explanation is offered.</a:t>
            </a:r>
          </a:p>
        </p:txBody>
      </p:sp>
      <p:graphicFrame>
        <p:nvGraphicFramePr>
          <p:cNvPr id="9" name="Table 8"/>
          <p:cNvGraphicFramePr>
            <a:graphicFrameLocks noGrp="1"/>
          </p:cNvGraphicFramePr>
          <p:nvPr/>
        </p:nvGraphicFramePr>
        <p:xfrm>
          <a:off x="530352" y="1956816"/>
          <a:ext cx="11130989" cy="2944368"/>
        </p:xfrm>
        <a:graphic>
          <a:graphicData uri="http://schemas.openxmlformats.org/drawingml/2006/table">
            <a:tbl>
              <a:tblPr firstRow="0" bandRow="0">
                <a:tableStyleId>{2D5ABB26-0587-4C30-8999-92F81FD0307C}</a:tableStyleId>
              </a:tblPr>
              <a:tblGrid>
                <a:gridCol w="1827600"/>
                <a:gridCol w="5234444"/>
                <a:gridCol w="4068945"/>
              </a:tblGrid>
              <a:tr h="369824">
                <a:tc>
                  <a:txBody>
                    <a:bodyPr/>
                    <a:lstStyle/>
                    <a:p>
                      <a:r>
                        <a:rPr sz="1450" b="1" i="0">
                          <a:solidFill>
                            <a:srgbClr val="FFFFFF"/>
                          </a:solidFill>
                          <a:latin typeface="Calibri"/>
                        </a:rPr>
                        <a:t>What differs</a:t>
                      </a:r>
                    </a:p>
                  </a:txBody>
                  <a:tcPr marL="101600" marR="101600" marT="38100" marB="38100" anchor="ctr">
                    <a:solidFill>
                      <a:srgbClr val="1A0F5C"/>
                    </a:solidFill>
                  </a:tcPr>
                </a:tc>
                <a:tc>
                  <a:txBody>
                    <a:bodyPr/>
                    <a:lstStyle/>
                    <a:p>
                      <a:r>
                        <a:rPr sz="1450" b="1" i="0">
                          <a:solidFill>
                            <a:srgbClr val="FFFFFF"/>
                          </a:solidFill>
                          <a:latin typeface="Calibri"/>
                        </a:rPr>
                        <a:t>How it fakes a drop</a:t>
                      </a:r>
                    </a:p>
                  </a:txBody>
                  <a:tcPr marL="101600" marR="101600" marT="38100" marB="38100" anchor="ctr">
                    <a:solidFill>
                      <a:srgbClr val="1A0F5C"/>
                    </a:solidFill>
                  </a:tcPr>
                </a:tc>
                <a:tc>
                  <a:txBody>
                    <a:bodyPr/>
                    <a:lstStyle/>
                    <a:p>
                      <a:r>
                        <a:rPr sz="1450" b="1" i="0">
                          <a:solidFill>
                            <a:srgbClr val="FFFFFF"/>
                          </a:solidFill>
                          <a:latin typeface="Calibri"/>
                        </a:rPr>
                        <a:t>The check</a:t>
                      </a:r>
                    </a:p>
                  </a:txBody>
                  <a:tcPr marL="101600" marR="101600" marT="38100" marB="38100" anchor="ctr">
                    <a:solidFill>
                      <a:srgbClr val="1A0F5C"/>
                    </a:solidFill>
                  </a:tcPr>
                </a:tc>
              </a:tr>
              <a:tr h="369824">
                <a:tc>
                  <a:txBody>
                    <a:bodyPr/>
                    <a:lstStyle/>
                    <a:p>
                      <a:r>
                        <a:rPr sz="1400" b="0" i="0">
                          <a:solidFill>
                            <a:srgbClr val="1A1440"/>
                          </a:solidFill>
                          <a:latin typeface="Calibri"/>
                        </a:rPr>
                        <a:t>The window</a:t>
                      </a:r>
                    </a:p>
                  </a:txBody>
                  <a:tcPr marL="101600" marR="101600" marT="38100" marB="38100" anchor="ctr">
                    <a:solidFill>
                      <a:srgbClr val="FFFFFF"/>
                    </a:solidFill>
                  </a:tcPr>
                </a:tc>
                <a:tc>
                  <a:txBody>
                    <a:bodyPr/>
                    <a:lstStyle/>
                    <a:p>
                      <a:r>
                        <a:rPr sz="1400" b="0" i="0">
                          <a:solidFill>
                            <a:srgbClr val="1A1440"/>
                          </a:solidFill>
                          <a:latin typeface="Calibri"/>
                        </a:rPr>
                        <a:t>One side covers fewer weeks than the other</a:t>
                      </a:r>
                    </a:p>
                  </a:txBody>
                  <a:tcPr marL="101600" marR="101600" marT="38100" marB="38100" anchor="ctr">
                    <a:solidFill>
                      <a:srgbClr val="FFFFFF"/>
                    </a:solidFill>
                  </a:tcPr>
                </a:tc>
                <a:tc>
                  <a:txBody>
                    <a:bodyPr/>
                    <a:lstStyle/>
                    <a:p>
                      <a:r>
                        <a:rPr sz="1400" b="0" i="0">
                          <a:solidFill>
                            <a:srgbClr val="1A1440"/>
                          </a:solidFill>
                          <a:latin typeface="Calibri"/>
                        </a:rPr>
                        <a:t>First and last date, and weeks covered</a:t>
                      </a:r>
                    </a:p>
                  </a:txBody>
                  <a:tcPr marL="101600" marR="101600" marT="38100" marB="38100" anchor="ctr">
                    <a:solidFill>
                      <a:srgbClr val="FFFFFF"/>
                    </a:solidFill>
                  </a:tcPr>
                </a:tc>
              </a:tr>
              <a:tr h="611632">
                <a:tc>
                  <a:txBody>
                    <a:bodyPr/>
                    <a:lstStyle/>
                    <a:p>
                      <a:r>
                        <a:rPr sz="1400" b="0" i="0">
                          <a:solidFill>
                            <a:srgbClr val="1A1440"/>
                          </a:solidFill>
                          <a:latin typeface="Calibri"/>
                        </a:rPr>
                        <a:t>The definition</a:t>
                      </a:r>
                    </a:p>
                  </a:txBody>
                  <a:tcPr marL="101600" marR="101600" marT="38100" marB="38100" anchor="ctr">
                    <a:solidFill>
                      <a:srgbClr val="F4F2FA"/>
                    </a:solidFill>
                  </a:tcPr>
                </a:tc>
                <a:tc>
                  <a:txBody>
                    <a:bodyPr/>
                    <a:lstStyle/>
                    <a:p>
                      <a:r>
                        <a:rPr sz="1400" b="0" i="0">
                          <a:solidFill>
                            <a:srgbClr val="1A1440"/>
                          </a:solidFill>
                          <a:latin typeface="Calibri"/>
                        </a:rPr>
                        <a:t>Booked on one side, delivered on the other</a:t>
                      </a:r>
                    </a:p>
                  </a:txBody>
                  <a:tcPr marL="101600" marR="101600" marT="38100" marB="38100" anchor="ctr">
                    <a:solidFill>
                      <a:srgbClr val="F4F2FA"/>
                    </a:solidFill>
                  </a:tcPr>
                </a:tc>
                <a:tc>
                  <a:txBody>
                    <a:bodyPr/>
                    <a:lstStyle/>
                    <a:p>
                      <a:r>
                        <a:rPr sz="1400" b="0" i="0">
                          <a:solidFill>
                            <a:srgbClr val="1A1440"/>
                          </a:solidFill>
                          <a:latin typeface="Calibri"/>
                        </a:rPr>
                        <a:t>The status filter written beside each total</a:t>
                      </a:r>
                    </a:p>
                  </a:txBody>
                  <a:tcPr marL="101600" marR="101600" marT="38100" marB="38100" anchor="ctr">
                    <a:solidFill>
                      <a:srgbClr val="F4F2FA"/>
                    </a:solidFill>
                  </a:tcPr>
                </a:tc>
              </a:tr>
              <a:tr h="369824">
                <a:tc>
                  <a:txBody>
                    <a:bodyPr/>
                    <a:lstStyle/>
                    <a:p>
                      <a:r>
                        <a:rPr sz="1400" b="0" i="0">
                          <a:solidFill>
                            <a:srgbClr val="1A1440"/>
                          </a:solidFill>
                          <a:latin typeface="Calibri"/>
                        </a:rPr>
                        <a:t>A missing field</a:t>
                      </a:r>
                    </a:p>
                  </a:txBody>
                  <a:tcPr marL="101600" marR="101600" marT="38100" marB="38100" anchor="ctr">
                    <a:solidFill>
                      <a:srgbClr val="FFFFFF"/>
                    </a:solidFill>
                  </a:tcPr>
                </a:tc>
                <a:tc>
                  <a:txBody>
                    <a:bodyPr/>
                    <a:lstStyle/>
                    <a:p>
                      <a:r>
                        <a:rPr sz="1400" b="0" i="0">
                          <a:solidFill>
                            <a:srgbClr val="1A1440"/>
                          </a:solidFill>
                          <a:latin typeface="Calibri"/>
                        </a:rPr>
                        <a:t>Read as zero, it drags a total or an average down</a:t>
                      </a:r>
                    </a:p>
                  </a:txBody>
                  <a:tcPr marL="101600" marR="101600" marT="38100" marB="38100" anchor="ctr">
                    <a:solidFill>
                      <a:srgbClr val="FFFFFF"/>
                    </a:solidFill>
                  </a:tcPr>
                </a:tc>
                <a:tc>
                  <a:txBody>
                    <a:bodyPr/>
                    <a:lstStyle/>
                    <a:p>
                      <a:r>
                        <a:rPr sz="1400" b="0" i="0">
                          <a:solidFill>
                            <a:srgbClr val="1A1440"/>
                          </a:solidFill>
                          <a:latin typeface="Calibri"/>
                        </a:rPr>
                        <a:t>Count the records that carry the field</a:t>
                      </a:r>
                    </a:p>
                  </a:txBody>
                  <a:tcPr marL="101600" marR="101600" marT="38100" marB="38100" anchor="ctr">
                    <a:solidFill>
                      <a:srgbClr val="FFFFFF"/>
                    </a:solidFill>
                  </a:tcPr>
                </a:tc>
              </a:tr>
              <a:tr h="611632">
                <a:tc>
                  <a:txBody>
                    <a:bodyPr/>
                    <a:lstStyle/>
                    <a:p>
                      <a:r>
                        <a:rPr sz="1400" b="0" i="0">
                          <a:solidFill>
                            <a:srgbClr val="1A1440"/>
                          </a:solidFill>
                          <a:latin typeface="Calibri"/>
                        </a:rPr>
                        <a:t>The weights</a:t>
                      </a:r>
                    </a:p>
                  </a:txBody>
                  <a:tcPr marL="101600" marR="101600" marT="38100" marB="38100" anchor="ctr">
                    <a:solidFill>
                      <a:srgbClr val="F4F2FA"/>
                    </a:solidFill>
                  </a:tcPr>
                </a:tc>
                <a:tc>
                  <a:txBody>
                    <a:bodyPr/>
                    <a:lstStyle/>
                    <a:p>
                      <a:r>
                        <a:rPr sz="1400" b="0" i="0">
                          <a:solidFill>
                            <a:srgbClr val="1A1440"/>
                          </a:solidFill>
                          <a:latin typeface="Calibri"/>
                        </a:rPr>
                        <a:t>Averages of groups averaged as if the groups were equal</a:t>
                      </a:r>
                    </a:p>
                  </a:txBody>
                  <a:tcPr marL="101600" marR="101600" marT="38100" marB="38100" anchor="ctr">
                    <a:solidFill>
                      <a:srgbClr val="F4F2FA"/>
                    </a:solidFill>
                  </a:tcPr>
                </a:tc>
                <a:tc>
                  <a:txBody>
                    <a:bodyPr/>
                    <a:lstStyle/>
                    <a:p>
                      <a:r>
                        <a:rPr sz="1400" b="0" i="0">
                          <a:solidFill>
                            <a:srgbClr val="1A1440"/>
                          </a:solidFill>
                          <a:latin typeface="Calibri"/>
                        </a:rPr>
                        <a:t>The roll-up reproduces the company total</a:t>
                      </a:r>
                    </a:p>
                  </a:txBody>
                  <a:tcPr marL="101600" marR="101600" marT="38100" marB="38100" anchor="ctr">
                    <a:solidFill>
                      <a:srgbClr val="F4F2FA"/>
                    </a:solidFill>
                  </a:tcPr>
                </a:tc>
              </a:tr>
              <a:tr h="611632">
                <a:tc>
                  <a:txBody>
                    <a:bodyPr/>
                    <a:lstStyle/>
                    <a:p>
                      <a:r>
                        <a:rPr sz="1400" b="0" i="0">
                          <a:solidFill>
                            <a:srgbClr val="1A1440"/>
                          </a:solidFill>
                          <a:latin typeface="Calibri"/>
                        </a:rPr>
                        <a:t>A few large orders</a:t>
                      </a:r>
                    </a:p>
                  </a:txBody>
                  <a:tcPr marL="101600" marR="101600" marT="38100" marB="38100" anchor="ctr">
                    <a:solidFill>
                      <a:srgbClr val="FFFFFF"/>
                    </a:solidFill>
                  </a:tcPr>
                </a:tc>
                <a:tc>
                  <a:txBody>
                    <a:bodyPr/>
                    <a:lstStyle/>
                    <a:p>
                      <a:r>
                        <a:rPr sz="1400" b="0" i="0">
                          <a:solidFill>
                            <a:srgbClr val="1A1440"/>
                          </a:solidFill>
                          <a:latin typeface="Calibri"/>
                        </a:rPr>
                        <a:t>Three orders move a total more than a hundred small ones</a:t>
                      </a:r>
                    </a:p>
                  </a:txBody>
                  <a:tcPr marL="101600" marR="101600" marT="38100" marB="38100" anchor="ctr">
                    <a:solidFill>
                      <a:srgbClr val="FFFFFF"/>
                    </a:solidFill>
                  </a:tcPr>
                </a:tc>
                <a:tc>
                  <a:txBody>
                    <a:bodyPr/>
                    <a:lstStyle/>
                    <a:p>
                      <a:r>
                        <a:rPr sz="1400" b="0" i="0">
                          <a:solidFill>
                            <a:srgbClr val="1A1440"/>
                          </a:solidFill>
                          <a:latin typeface="Calibri"/>
                        </a:rPr>
                        <a:t>The typical value and the spread, per group</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The ask and the thinking</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4" name="Oval 13"/>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16" name="Oval 15"/>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6 / 52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drop is investigated in a fixed order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Five rungs, climbed in order, so no explanation is offered for a fall that is not there.</a:t>
            </a:r>
          </a:p>
        </p:txBody>
      </p:sp>
      <p:pic>
        <p:nvPicPr>
          <p:cNvPr id="9" name="mermaid diagram" descr="0e5cd762a49e0026.png"/>
          <p:cNvPicPr>
            <a:picLocks noChangeAspect="1"/>
          </p:cNvPicPr>
          <p:nvPr/>
        </p:nvPicPr>
        <p:blipFill>
          <a:blip r:embed="rId6"/>
          <a:stretch>
            <a:fillRect/>
          </a:stretch>
        </p:blipFill>
        <p:spPr>
          <a:xfrm>
            <a:off x="816616" y="1956816"/>
            <a:ext cx="10558462" cy="1128712"/>
          </a:xfrm>
          <a:prstGeom prst="rect">
            <a:avLst/>
          </a:prstGeom>
        </p:spPr>
      </p:pic>
      <p:sp>
        <p:nvSpPr>
          <p:cNvPr id="10" name="Rounded Rectangle 9"/>
          <p:cNvSpPr/>
          <p:nvPr/>
        </p:nvSpPr>
        <p:spPr>
          <a:xfrm>
            <a:off x="530352" y="3231832"/>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356406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5"/>
          <a:stretch>
            <a:fillRect/>
          </a:stretch>
        </p:blipFill>
        <p:spPr>
          <a:xfrm>
            <a:off x="868680" y="3673792"/>
            <a:ext cx="237744" cy="237744"/>
          </a:xfrm>
          <a:prstGeom prst="rect">
            <a:avLst/>
          </a:prstGeom>
        </p:spPr>
      </p:pic>
      <p:sp>
        <p:nvSpPr>
          <p:cNvPr id="13" name="TextBox 12"/>
          <p:cNvSpPr txBox="1"/>
          <p:nvPr/>
        </p:nvSpPr>
        <p:spPr>
          <a:xfrm>
            <a:off x="1399031" y="337813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3597592"/>
            <a:ext cx="9987991" cy="682752"/>
          </a:xfrm>
          <a:prstGeom prst="rect">
            <a:avLst/>
          </a:prstGeom>
          <a:noFill/>
        </p:spPr>
        <p:txBody>
          <a:bodyPr wrap="square" anchor="t" lIns="0" rIns="0" tIns="0" bIns="0">
            <a:spAutoFit/>
          </a:bodyPr>
          <a:lstStyle/>
          <a:p>
            <a:r>
              <a:rPr sz="1500" b="0" i="0">
                <a:solidFill>
                  <a:srgbClr val="1A1440"/>
                </a:solidFill>
                <a:latin typeface="Calibri"/>
              </a:rPr>
              <a:t>Confirm, compare like with like, decompose, isolate, then hypothesise. A rung skipped is a question someone in the meeting will ask you.</a:t>
            </a:r>
          </a:p>
        </p:txBody>
      </p:sp>
      <p:sp>
        <p:nvSpPr>
          <p:cNvPr id="15" name="Oval 1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The ask and the thinking</a:t>
            </a:r>
          </a:p>
        </p:txBody>
      </p:sp>
      <p:sp>
        <p:nvSpPr>
          <p:cNvPr id="17" name="Oval 1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9" name="Oval 18"/>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21" name="Oval 20"/>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7 / 52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Monday's tree, with two empty columns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same tree, a Q1 column and a Q2 column, and nothing filled in yet.</a:t>
            </a:r>
          </a:p>
        </p:txBody>
      </p:sp>
      <p:pic>
        <p:nvPicPr>
          <p:cNvPr id="9" name="mermaid diagram" descr="15752c60e1307827.png"/>
          <p:cNvPicPr>
            <a:picLocks noChangeAspect="1"/>
          </p:cNvPicPr>
          <p:nvPr/>
        </p:nvPicPr>
        <p:blipFill>
          <a:blip r:embed="rId5"/>
          <a:stretch>
            <a:fillRect/>
          </a:stretch>
        </p:blipFill>
        <p:spPr>
          <a:xfrm>
            <a:off x="3826784" y="1664208"/>
            <a:ext cx="4538125" cy="3517392"/>
          </a:xfrm>
          <a:prstGeom prst="rect">
            <a:avLst/>
          </a:prstGeom>
        </p:spPr>
      </p:pic>
      <p:sp>
        <p:nvSpPr>
          <p:cNvPr id="10" name="Rounded Rectangle 9"/>
          <p:cNvSpPr/>
          <p:nvPr/>
        </p:nvSpPr>
        <p:spPr>
          <a:xfrm>
            <a:off x="530352" y="522732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35533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346192"/>
            <a:ext cx="10564063" cy="624840"/>
          </a:xfrm>
          <a:prstGeom prst="rect">
            <a:avLst/>
          </a:prstGeom>
          <a:noFill/>
        </p:spPr>
        <p:txBody>
          <a:bodyPr wrap="square" anchor="ctr" lIns="0" rIns="0" tIns="0" bIns="0">
            <a:spAutoFit/>
          </a:bodyPr>
          <a:lstStyle/>
          <a:p>
            <a:r>
              <a:rPr sz="1500" b="1">
                <a:solidFill>
                  <a:srgbClr val="5B3FD6"/>
                </a:solidFill>
                <a:latin typeface="Calibri"/>
              </a:rPr>
              <a:t>The formula. </a:t>
            </a:r>
            <a:r>
              <a:rPr sz="1500" b="0" i="0">
                <a:solidFill>
                  <a:srgbClr val="1A1440"/>
                </a:solidFill>
                <a:latin typeface="Calibri"/>
              </a:rPr>
              <a:t>Revenue equals customers, times orders per customer, times revenue per order, and the discounts sit beside it as the branch Marketing does not mention.</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The ask and the thinking</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7" name="Oval 16"/>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19" name="Oval 18"/>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8 / 52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02</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Round 1, is the drop real</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Marketing's slide says revenue fell by a quarter, and the first rung checks the windows before the story.</a:t>
            </a:r>
          </a:p>
        </p:txBody>
      </p:sp>
      <p:sp>
        <p:nvSpPr>
          <p:cNvPr id="10" name="Rounded Rectangle 9"/>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ask and the thinking</a:t>
            </a:r>
          </a:p>
        </p:txBody>
      </p:sp>
      <p:sp>
        <p:nvSpPr>
          <p:cNvPr id="11" name="Rounded Rectangle 10"/>
          <p:cNvSpPr/>
          <p:nvPr/>
        </p:nvSpPr>
        <p:spPr>
          <a:xfrm>
            <a:off x="2628191" y="5074920"/>
            <a:ext cx="184615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Round 1, is the drop real</a:t>
            </a:r>
          </a:p>
        </p:txBody>
      </p:sp>
      <p:sp>
        <p:nvSpPr>
          <p:cNvPr id="12" name="Rounded Rectangle 11"/>
          <p:cNvSpPr/>
          <p:nvPr/>
        </p:nvSpPr>
        <p:spPr>
          <a:xfrm>
            <a:off x="4584078" y="5074920"/>
            <a:ext cx="196459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Round 2, which branch moved</a:t>
            </a:r>
          </a:p>
        </p:txBody>
      </p:sp>
      <p:sp>
        <p:nvSpPr>
          <p:cNvPr id="13" name="Rounded Rectangle 12"/>
          <p:cNvSpPr/>
          <p:nvPr/>
        </p:nvSpPr>
        <p:spPr>
          <a:xfrm>
            <a:off x="6658397" y="5074920"/>
            <a:ext cx="214884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Round 3, every kind of customer</a:t>
            </a:r>
          </a:p>
        </p:txBody>
      </p:sp>
      <p:sp>
        <p:nvSpPr>
          <p:cNvPr id="14" name="TextBox 13"/>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2: which branch moved</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9 / 52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Marketing's slide says revenue fell 25.9 percent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Its Q2 figure comes from the dashboard tile, cut on 15 September.</a:t>
            </a:r>
          </a:p>
        </p:txBody>
      </p:sp>
      <p:sp>
        <p:nvSpPr>
          <p:cNvPr id="9" name="TextBox 8"/>
          <p:cNvSpPr txBox="1"/>
          <p:nvPr/>
        </p:nvSpPr>
        <p:spPr>
          <a:xfrm>
            <a:off x="53035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Rs 2,10,00,000</a:t>
            </a:r>
          </a:p>
        </p:txBody>
      </p:sp>
      <p:sp>
        <p:nvSpPr>
          <p:cNvPr id="10" name="TextBox 9"/>
          <p:cNvSpPr txBox="1"/>
          <p:nvPr/>
        </p:nvSpPr>
        <p:spPr>
          <a:xfrm>
            <a:off x="53035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Q1 ON MARKETING'S SLIDE</a:t>
            </a:r>
          </a:p>
        </p:txBody>
      </p:sp>
      <p:sp>
        <p:nvSpPr>
          <p:cNvPr id="11" name="TextBox 10"/>
          <p:cNvSpPr txBox="1"/>
          <p:nvPr/>
        </p:nvSpPr>
        <p:spPr>
          <a:xfrm>
            <a:off x="53035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1 April to 30 June</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Rs 1,55,59,950</a:t>
            </a:r>
          </a:p>
        </p:txBody>
      </p:sp>
      <p:sp>
        <p:nvSpPr>
          <p:cNvPr id="14" name="TextBox 13"/>
          <p:cNvSpPr txBox="1"/>
          <p:nvPr/>
        </p:nvSpPr>
        <p:spPr>
          <a:xfrm>
            <a:off x="433212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Q2 ON MARKETING'S SLIDE</a:t>
            </a:r>
          </a:p>
        </p:txBody>
      </p:sp>
      <p:sp>
        <p:nvSpPr>
          <p:cNvPr id="15" name="TextBox 14"/>
          <p:cNvSpPr txBox="1"/>
          <p:nvPr/>
        </p:nvSpPr>
        <p:spPr>
          <a:xfrm>
            <a:off x="433212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dashboard tile, cut 15 September</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-25.9%</a:t>
            </a:r>
          </a:p>
        </p:txBody>
      </p:sp>
      <p:sp>
        <p:nvSpPr>
          <p:cNvPr id="18" name="TextBox 17"/>
          <p:cNvSpPr txBox="1"/>
          <p:nvPr/>
        </p:nvSpPr>
        <p:spPr>
          <a:xfrm>
            <a:off x="813389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HEADLINE</a:t>
            </a:r>
          </a:p>
        </p:txBody>
      </p:sp>
      <p:sp>
        <p:nvSpPr>
          <p:cNvPr id="19" name="TextBox 18"/>
          <p:cNvSpPr txBox="1"/>
          <p:nvPr/>
        </p:nvSpPr>
        <p:spPr>
          <a:xfrm>
            <a:off x="813389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"revenue fell by a quarter"</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6225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message-square_028dbd132a0a.png"/>
          <p:cNvPicPr>
            <a:picLocks noChangeAspect="1"/>
          </p:cNvPicPr>
          <p:nvPr/>
        </p:nvPicPr>
        <p:blipFill>
          <a:blip r:embed="rId4"/>
          <a:stretch>
            <a:fillRect/>
          </a:stretch>
        </p:blipFill>
        <p:spPr>
          <a:xfrm>
            <a:off x="868680" y="373227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25" name="TextBox 24"/>
          <p:cNvSpPr txBox="1"/>
          <p:nvPr/>
        </p:nvSpPr>
        <p:spPr>
          <a:xfrm>
            <a:off x="1399031" y="3785616"/>
            <a:ext cx="9987991" cy="423672"/>
          </a:xfrm>
          <a:prstGeom prst="rect">
            <a:avLst/>
          </a:prstGeom>
          <a:noFill/>
        </p:spPr>
        <p:txBody>
          <a:bodyPr wrap="square" anchor="t" lIns="0" rIns="0" tIns="0" bIns="0">
            <a:spAutoFit/>
          </a:bodyPr>
          <a:lstStyle/>
          <a:p>
            <a:r>
              <a:rPr sz="1500" b="0" i="0">
                <a:solidFill>
                  <a:srgbClr val="FFFFFF"/>
                </a:solidFill>
                <a:latin typeface="Calibri"/>
              </a:rPr>
              <a:t>If revenue fell by a quarter in one quarter, Marketing says, the acquisition budget cannot wait.</a:t>
            </a: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28" name="Oval 27"/>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Round 1, is the drop real</a:t>
            </a:r>
          </a:p>
        </p:txBody>
      </p:sp>
      <p:sp>
        <p:nvSpPr>
          <p:cNvPr id="30" name="Oval 29"/>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32" name="Oval 31"/>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34" name="TextBox 3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10 / 52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Like with like means the same window and definition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Two totals compare only when their windows, their definitions and their records match.</a:t>
            </a:r>
          </a:p>
        </p:txBody>
      </p:sp>
      <p:pic>
        <p:nvPicPr>
          <p:cNvPr id="9" name="mermaid diagram" descr="8317736ed947cec2.png"/>
          <p:cNvPicPr>
            <a:picLocks noChangeAspect="1"/>
          </p:cNvPicPr>
          <p:nvPr/>
        </p:nvPicPr>
        <p:blipFill>
          <a:blip r:embed="rId6"/>
          <a:stretch>
            <a:fillRect/>
          </a:stretch>
        </p:blipFill>
        <p:spPr>
          <a:xfrm>
            <a:off x="2681135" y="1956816"/>
            <a:ext cx="6829425" cy="2043112"/>
          </a:xfrm>
          <a:prstGeom prst="rect">
            <a:avLst/>
          </a:prstGeom>
        </p:spPr>
      </p:pic>
      <p:sp>
        <p:nvSpPr>
          <p:cNvPr id="10" name="Rounded Rectangle 9"/>
          <p:cNvSpPr/>
          <p:nvPr/>
        </p:nvSpPr>
        <p:spPr>
          <a:xfrm>
            <a:off x="530352" y="4146232"/>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47846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5"/>
          <a:stretch>
            <a:fillRect/>
          </a:stretch>
        </p:blipFill>
        <p:spPr>
          <a:xfrm>
            <a:off x="868680" y="4588192"/>
            <a:ext cx="237744" cy="237744"/>
          </a:xfrm>
          <a:prstGeom prst="rect">
            <a:avLst/>
          </a:prstGeom>
        </p:spPr>
      </p:pic>
      <p:sp>
        <p:nvSpPr>
          <p:cNvPr id="13" name="TextBox 12"/>
          <p:cNvSpPr txBox="1"/>
          <p:nvPr/>
        </p:nvSpPr>
        <p:spPr>
          <a:xfrm>
            <a:off x="1399031" y="429253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4511992"/>
            <a:ext cx="9987991" cy="682752"/>
          </a:xfrm>
          <a:prstGeom prst="rect">
            <a:avLst/>
          </a:prstGeom>
          <a:noFill/>
        </p:spPr>
        <p:txBody>
          <a:bodyPr wrap="square" anchor="t" lIns="0" rIns="0" tIns="0" bIns="0">
            <a:spAutoFit/>
          </a:bodyPr>
          <a:lstStyle/>
          <a:p>
            <a:r>
              <a:rPr sz="1500" b="0" i="0">
                <a:solidFill>
                  <a:srgbClr val="1A1440"/>
                </a:solidFill>
                <a:latin typeface="Calibri"/>
              </a:rPr>
              <a:t>When the windows differ, compare the same weeks of each, or a rate per week or per day, and write the window beside the number.</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7" name="Oval 16"/>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Round 1, is the drop real</a:t>
            </a:r>
          </a:p>
        </p:txBody>
      </p:sp>
      <p:sp>
        <p:nvSpPr>
          <p:cNvPr id="19" name="Oval 18"/>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21" name="Oval 20"/>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11 / 52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Step 1: read each window's first and last date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loop keeps the earliest and the latest date it has seen, one quarter at a time.</a:t>
            </a:r>
          </a:p>
        </p:txBody>
      </p:sp>
      <p:sp>
        <p:nvSpPr>
          <p:cNvPr id="9" name="Rounded Rectangle 8"/>
          <p:cNvSpPr/>
          <p:nvPr/>
        </p:nvSpPr>
        <p:spPr>
          <a:xfrm>
            <a:off x="530352" y="1956816"/>
            <a:ext cx="11130991" cy="1972055"/>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569719"/>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first, last = "9999-12-31", "0000-01-01"</a:t>
            </a:r>
          </a:p>
          <a:p>
            <a:pPr>
              <a:spcAft>
                <a:spcPts val="200"/>
              </a:spcAft>
            </a:pPr>
            <a:r>
              <a:rPr sz="1400" b="0" i="0">
                <a:solidFill>
                  <a:srgbClr val="E4E1F1"/>
                </a:solidFill>
                <a:latin typeface="Consolas"/>
              </a:rPr>
              <a:t>for order in ORDERS:</a:t>
            </a:r>
          </a:p>
          <a:p>
            <a:pPr>
              <a:spcAft>
                <a:spcPts val="200"/>
              </a:spcAft>
            </a:pPr>
            <a:r>
              <a:rPr sz="1400" b="0" i="0">
                <a:solidFill>
                  <a:srgbClr val="E4E1F1"/>
                </a:solidFill>
                <a:latin typeface="Consolas"/>
              </a:rPr>
              <a:t>    if order["quarter"] == "Q1":</a:t>
            </a:r>
          </a:p>
          <a:p>
            <a:pPr>
              <a:spcAft>
                <a:spcPts val="200"/>
              </a:spcAft>
            </a:pPr>
            <a:r>
              <a:rPr sz="1400" b="0" i="0">
                <a:solidFill>
                  <a:srgbClr val="E4E1F1"/>
                </a:solidFill>
                <a:latin typeface="Consolas"/>
              </a:rPr>
              <a:t>        first = min(first, order["order_date"])</a:t>
            </a:r>
          </a:p>
          <a:p>
            <a:pPr>
              <a:spcAft>
                <a:spcPts val="200"/>
              </a:spcAft>
            </a:pPr>
            <a:r>
              <a:rPr sz="1400" b="0" i="0">
                <a:solidFill>
                  <a:srgbClr val="E4E1F1"/>
                </a:solidFill>
                <a:latin typeface="Consolas"/>
              </a:rPr>
              <a:t>        last = max(last, order["order_date"])</a:t>
            </a:r>
          </a:p>
          <a:p>
            <a:pPr>
              <a:spcAft>
                <a:spcPts val="200"/>
              </a:spcAft>
            </a:pPr>
            <a:r>
              <a:rPr sz="1400" b="0" i="0">
                <a:solidFill>
                  <a:srgbClr val="E4E1F1"/>
                </a:solidFill>
                <a:latin typeface="Consolas"/>
              </a:rPr>
              <a:t>print(first, last)</a:t>
            </a:r>
          </a:p>
        </p:txBody>
      </p:sp>
      <p:sp>
        <p:nvSpPr>
          <p:cNvPr id="14" name="TextBox 13"/>
          <p:cNvSpPr txBox="1"/>
          <p:nvPr/>
        </p:nvSpPr>
        <p:spPr>
          <a:xfrm>
            <a:off x="530352" y="4093463"/>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Dates written as year, month, day sort as text in date order, so min and max work on them directly.</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7" name="Oval 16"/>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Round 1, is the drop real</a:t>
            </a:r>
          </a:p>
        </p:txBody>
      </p:sp>
      <p:sp>
        <p:nvSpPr>
          <p:cNvPr id="19" name="Oval 18"/>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21" name="Oval 20"/>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12 / 52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how many weeks does each side cover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Q1 is the closed quarter; Q2 is the tile as cut on 15 September.</a:t>
            </a:r>
          </a:p>
        </p:txBody>
      </p:sp>
      <p:pic>
        <p:nvPicPr>
          <p:cNvPr id="9" name="mermaid diagram" descr="2a32c41e6ff292e6.png"/>
          <p:cNvPicPr>
            <a:picLocks noChangeAspect="1"/>
          </p:cNvPicPr>
          <p:nvPr/>
        </p:nvPicPr>
        <p:blipFill>
          <a:blip r:embed="rId5"/>
          <a:stretch>
            <a:fillRect/>
          </a:stretch>
        </p:blipFill>
        <p:spPr>
          <a:xfrm>
            <a:off x="3302641" y="1956816"/>
            <a:ext cx="5586412" cy="1128712"/>
          </a:xfrm>
          <a:prstGeom prst="rect">
            <a:avLst/>
          </a:prstGeom>
        </p:spPr>
      </p:pic>
      <p:sp>
        <p:nvSpPr>
          <p:cNvPr id="10" name="Rounded Rectangle 9"/>
          <p:cNvSpPr/>
          <p:nvPr/>
        </p:nvSpPr>
        <p:spPr>
          <a:xfrm>
            <a:off x="530352" y="3231832"/>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359848"/>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350704"/>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Predict before the loop prints: a) 13 weeks against 13; b) 13 weeks against 11; c) 12 weeks against 12; d) 13 weeks against 9.</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5" name="Oval 14"/>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Round 1, is the drop real</a:t>
            </a:r>
          </a:p>
        </p:txBody>
      </p:sp>
      <p:sp>
        <p:nvSpPr>
          <p:cNvPr id="17" name="Oval 16"/>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19" name="Oval 18"/>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13 / 52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13 weeks against 11</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two totals were never measuring the same stretch of time.</a:t>
            </a:r>
          </a:p>
        </p:txBody>
      </p:sp>
      <p:graphicFrame>
        <p:nvGraphicFramePr>
          <p:cNvPr id="9" name="Table 8"/>
          <p:cNvGraphicFramePr>
            <a:graphicFrameLocks noGrp="1"/>
          </p:cNvGraphicFramePr>
          <p:nvPr/>
        </p:nvGraphicFramePr>
        <p:xfrm>
          <a:off x="530352" y="1956816"/>
          <a:ext cx="11130988" cy="1341120"/>
        </p:xfrm>
        <a:graphic>
          <a:graphicData uri="http://schemas.openxmlformats.org/drawingml/2006/table">
            <a:tbl>
              <a:tblPr firstRow="0" bandRow="0">
                <a:tableStyleId>{2D5ABB26-0587-4C30-8999-92F81FD0307C}</a:tableStyleId>
              </a:tblPr>
              <a:tblGrid>
                <a:gridCol w="2618379"/>
                <a:gridCol w="1815409"/>
                <a:gridCol w="1680779"/>
                <a:gridCol w="2084668"/>
                <a:gridCol w="914400"/>
                <a:gridCol w="2017353"/>
              </a:tblGrid>
              <a:tr h="335280">
                <a:tc>
                  <a:txBody>
                    <a:bodyPr/>
                    <a:lstStyle/>
                    <a:p>
                      <a:r>
                        <a:rPr sz="1250" b="1" i="0">
                          <a:solidFill>
                            <a:srgbClr val="FFFFFF"/>
                          </a:solidFill>
                          <a:latin typeface="Calibri"/>
                        </a:rPr>
                        <a:t>Window</a:t>
                      </a:r>
                    </a:p>
                  </a:txBody>
                  <a:tcPr marL="101600" marR="101600" marT="38100" marB="38100" anchor="ctr">
                    <a:solidFill>
                      <a:srgbClr val="1A0F5C"/>
                    </a:solidFill>
                  </a:tcPr>
                </a:tc>
                <a:tc>
                  <a:txBody>
                    <a:bodyPr/>
                    <a:lstStyle/>
                    <a:p>
                      <a:r>
                        <a:rPr sz="1250" b="1" i="0">
                          <a:solidFill>
                            <a:srgbClr val="FFFFFF"/>
                          </a:solidFill>
                          <a:latin typeface="Calibri"/>
                        </a:rPr>
                        <a:t>First order</a:t>
                      </a:r>
                    </a:p>
                  </a:txBody>
                  <a:tcPr marL="101600" marR="101600" marT="38100" marB="38100" anchor="ctr">
                    <a:solidFill>
                      <a:srgbClr val="1A0F5C"/>
                    </a:solidFill>
                  </a:tcPr>
                </a:tc>
                <a:tc>
                  <a:txBody>
                    <a:bodyPr/>
                    <a:lstStyle/>
                    <a:p>
                      <a:r>
                        <a:rPr sz="1250" b="1" i="0">
                          <a:solidFill>
                            <a:srgbClr val="FFFFFF"/>
                          </a:solidFill>
                          <a:latin typeface="Calibri"/>
                        </a:rPr>
                        <a:t>Last order</a:t>
                      </a:r>
                    </a:p>
                  </a:txBody>
                  <a:tcPr marL="101600" marR="101600" marT="38100" marB="38100" anchor="ctr">
                    <a:solidFill>
                      <a:srgbClr val="1A0F5C"/>
                    </a:solidFill>
                  </a:tcPr>
                </a:tc>
                <a:tc>
                  <a:txBody>
                    <a:bodyPr/>
                    <a:lstStyle/>
                    <a:p>
                      <a:r>
                        <a:rPr sz="1250" b="1" i="0">
                          <a:solidFill>
                            <a:srgbClr val="FFFFFF"/>
                          </a:solidFill>
                          <a:latin typeface="Calibri"/>
                        </a:rPr>
                        <a:t>Weeks covered</a:t>
                      </a:r>
                    </a:p>
                  </a:txBody>
                  <a:tcPr marL="101600" marR="101600" marT="38100" marB="38100" anchor="ctr">
                    <a:solidFill>
                      <a:srgbClr val="1A0F5C"/>
                    </a:solidFill>
                  </a:tcPr>
                </a:tc>
                <a:tc>
                  <a:txBody>
                    <a:bodyPr/>
                    <a:lstStyle/>
                    <a:p>
                      <a:r>
                        <a:rPr sz="1250" b="1" i="0">
                          <a:solidFill>
                            <a:srgbClr val="FFFFFF"/>
                          </a:solidFill>
                          <a:latin typeface="Calibri"/>
                        </a:rPr>
                        <a:t>Orders</a:t>
                      </a:r>
                    </a:p>
                  </a:txBody>
                  <a:tcPr marL="101600" marR="101600" marT="38100" marB="38100" anchor="ctr">
                    <a:solidFill>
                      <a:srgbClr val="1A0F5C"/>
                    </a:solidFill>
                  </a:tcPr>
                </a:tc>
                <a:tc>
                  <a:txBody>
                    <a:bodyPr/>
                    <a:lstStyle/>
                    <a:p>
                      <a:r>
                        <a:rPr sz="1250" b="1" i="0">
                          <a:solidFill>
                            <a:srgbClr val="FFFFFF"/>
                          </a:solidFill>
                          <a:latin typeface="Calibri"/>
                        </a:rPr>
                        <a:t>Revenue</a:t>
                      </a:r>
                    </a:p>
                  </a:txBody>
                  <a:tcPr marL="101600" marR="101600" marT="38100" marB="38100" anchor="ctr">
                    <a:solidFill>
                      <a:srgbClr val="1A0F5C"/>
                    </a:solidFill>
                  </a:tcPr>
                </a:tc>
              </a:tr>
              <a:tr h="335280">
                <a:tc>
                  <a:txBody>
                    <a:bodyPr/>
                    <a:lstStyle/>
                    <a:p>
                      <a:r>
                        <a:rPr sz="1200" b="0" i="0">
                          <a:solidFill>
                            <a:srgbClr val="1A1440"/>
                          </a:solidFill>
                          <a:latin typeface="Calibri"/>
                        </a:rPr>
                        <a:t>Q1, closed</a:t>
                      </a:r>
                    </a:p>
                  </a:txBody>
                  <a:tcPr marL="101600" marR="101600" marT="38100" marB="38100" anchor="ctr">
                    <a:solidFill>
                      <a:srgbClr val="FFFFFF"/>
                    </a:solidFill>
                  </a:tcPr>
                </a:tc>
                <a:tc>
                  <a:txBody>
                    <a:bodyPr/>
                    <a:lstStyle/>
                    <a:p>
                      <a:r>
                        <a:rPr sz="1200" b="0" i="0">
                          <a:solidFill>
                            <a:srgbClr val="1A1440"/>
                          </a:solidFill>
                          <a:latin typeface="Calibri"/>
                        </a:rPr>
                        <a:t>1 Apr</a:t>
                      </a:r>
                    </a:p>
                  </a:txBody>
                  <a:tcPr marL="101600" marR="101600" marT="38100" marB="38100" anchor="ctr">
                    <a:solidFill>
                      <a:srgbClr val="FFFFFF"/>
                    </a:solidFill>
                  </a:tcPr>
                </a:tc>
                <a:tc>
                  <a:txBody>
                    <a:bodyPr/>
                    <a:lstStyle/>
                    <a:p>
                      <a:r>
                        <a:rPr sz="1200" b="0" i="0">
                          <a:solidFill>
                            <a:srgbClr val="1A1440"/>
                          </a:solidFill>
                          <a:latin typeface="Calibri"/>
                        </a:rPr>
                        <a:t>27 Jun</a:t>
                      </a:r>
                    </a:p>
                  </a:txBody>
                  <a:tcPr marL="101600" marR="101600" marT="38100" marB="38100" anchor="ctr">
                    <a:solidFill>
                      <a:srgbClr val="FFFFFF"/>
                    </a:solidFill>
                  </a:tcPr>
                </a:tc>
                <a:tc>
                  <a:txBody>
                    <a:bodyPr/>
                    <a:lstStyle/>
                    <a:p>
                      <a:r>
                        <a:rPr sz="1200" b="0" i="0">
                          <a:solidFill>
                            <a:srgbClr val="1A1440"/>
                          </a:solidFill>
                          <a:latin typeface="Calibri"/>
                        </a:rPr>
                        <a:t>13</a:t>
                      </a:r>
                    </a:p>
                  </a:txBody>
                  <a:tcPr marL="101600" marR="101600" marT="38100" marB="38100" anchor="ctr">
                    <a:solidFill>
                      <a:srgbClr val="FFFFFF"/>
                    </a:solidFill>
                  </a:tcPr>
                </a:tc>
                <a:tc>
                  <a:txBody>
                    <a:bodyPr/>
                    <a:lstStyle/>
                    <a:p>
                      <a:r>
                        <a:rPr sz="1200" b="0" i="0">
                          <a:solidFill>
                            <a:srgbClr val="1A1440"/>
                          </a:solidFill>
                          <a:latin typeface="Calibri"/>
                        </a:rPr>
                        <a:t>114</a:t>
                      </a:r>
                    </a:p>
                  </a:txBody>
                  <a:tcPr marL="101600" marR="101600" marT="38100" marB="38100" anchor="ctr">
                    <a:solidFill>
                      <a:srgbClr val="FFFFFF"/>
                    </a:solidFill>
                  </a:tcPr>
                </a:tc>
                <a:tc>
                  <a:txBody>
                    <a:bodyPr/>
                    <a:lstStyle/>
                    <a:p>
                      <a:r>
                        <a:rPr sz="1200" b="0" i="0">
                          <a:solidFill>
                            <a:srgbClr val="1A1440"/>
                          </a:solidFill>
                          <a:latin typeface="Calibri"/>
                        </a:rPr>
                        <a:t>Rs 2,10,00,000</a:t>
                      </a:r>
                    </a:p>
                  </a:txBody>
                  <a:tcPr marL="101600" marR="101600" marT="38100" marB="38100" anchor="ctr">
                    <a:solidFill>
                      <a:srgbClr val="FFFFFF"/>
                    </a:solidFill>
                  </a:tcPr>
                </a:tc>
              </a:tr>
              <a:tr h="335280">
                <a:tc>
                  <a:txBody>
                    <a:bodyPr/>
                    <a:lstStyle/>
                    <a:p>
                      <a:r>
                        <a:rPr sz="1200" b="0" i="0">
                          <a:solidFill>
                            <a:srgbClr val="1A1440"/>
                          </a:solidFill>
                          <a:latin typeface="Calibri"/>
                        </a:rPr>
                        <a:t>Q2 tile, cut 15 Sep</a:t>
                      </a:r>
                    </a:p>
                  </a:txBody>
                  <a:tcPr marL="101600" marR="101600" marT="38100" marB="38100" anchor="ctr">
                    <a:solidFill>
                      <a:srgbClr val="F4F2FA"/>
                    </a:solidFill>
                  </a:tcPr>
                </a:tc>
                <a:tc>
                  <a:txBody>
                    <a:bodyPr/>
                    <a:lstStyle/>
                    <a:p>
                      <a:r>
                        <a:rPr sz="1200" b="0" i="0">
                          <a:solidFill>
                            <a:srgbClr val="1A1440"/>
                          </a:solidFill>
                          <a:latin typeface="Calibri"/>
                        </a:rPr>
                        <a:t>2 Jul</a:t>
                      </a:r>
                    </a:p>
                  </a:txBody>
                  <a:tcPr marL="101600" marR="101600" marT="38100" marB="38100" anchor="ctr">
                    <a:solidFill>
                      <a:srgbClr val="F4F2FA"/>
                    </a:solidFill>
                  </a:tcPr>
                </a:tc>
                <a:tc>
                  <a:txBody>
                    <a:bodyPr/>
                    <a:lstStyle/>
                    <a:p>
                      <a:r>
                        <a:rPr sz="1200" b="0" i="0">
                          <a:solidFill>
                            <a:srgbClr val="1A1440"/>
                          </a:solidFill>
                          <a:latin typeface="Calibri"/>
                        </a:rPr>
                        <a:t>15 Sep</a:t>
                      </a:r>
                    </a:p>
                  </a:txBody>
                  <a:tcPr marL="101600" marR="101600" marT="38100" marB="38100" anchor="ctr">
                    <a:solidFill>
                      <a:srgbClr val="F4F2FA"/>
                    </a:solidFill>
                  </a:tcPr>
                </a:tc>
                <a:tc>
                  <a:txBody>
                    <a:bodyPr/>
                    <a:lstStyle/>
                    <a:p>
                      <a:r>
                        <a:rPr sz="1200" b="0" i="0">
                          <a:solidFill>
                            <a:srgbClr val="1A1440"/>
                          </a:solidFill>
                          <a:latin typeface="Calibri"/>
                        </a:rPr>
                        <a:t>11</a:t>
                      </a:r>
                    </a:p>
                  </a:txBody>
                  <a:tcPr marL="101600" marR="101600" marT="38100" marB="38100" anchor="ctr">
                    <a:solidFill>
                      <a:srgbClr val="F4F2FA"/>
                    </a:solidFill>
                  </a:tcPr>
                </a:tc>
                <a:tc>
                  <a:txBody>
                    <a:bodyPr/>
                    <a:lstStyle/>
                    <a:p>
                      <a:r>
                        <a:rPr sz="1200" b="0" i="0">
                          <a:solidFill>
                            <a:srgbClr val="1A1440"/>
                          </a:solidFill>
                          <a:latin typeface="Calibri"/>
                        </a:rPr>
                        <a:t>70</a:t>
                      </a:r>
                    </a:p>
                  </a:txBody>
                  <a:tcPr marL="101600" marR="101600" marT="38100" marB="38100" anchor="ctr">
                    <a:solidFill>
                      <a:srgbClr val="F4F2FA"/>
                    </a:solidFill>
                  </a:tcPr>
                </a:tc>
                <a:tc>
                  <a:txBody>
                    <a:bodyPr/>
                    <a:lstStyle/>
                    <a:p>
                      <a:r>
                        <a:rPr sz="1200" b="0" i="0">
                          <a:solidFill>
                            <a:srgbClr val="1A1440"/>
                          </a:solidFill>
                          <a:latin typeface="Calibri"/>
                        </a:rPr>
                        <a:t>Rs 1,55,59,950</a:t>
                      </a:r>
                    </a:p>
                  </a:txBody>
                  <a:tcPr marL="101600" marR="101600" marT="38100" marB="38100" anchor="ctr">
                    <a:solidFill>
                      <a:srgbClr val="F4F2FA"/>
                    </a:solidFill>
                  </a:tcPr>
                </a:tc>
              </a:tr>
              <a:tr h="335280">
                <a:tc>
                  <a:txBody>
                    <a:bodyPr/>
                    <a:lstStyle/>
                    <a:p>
                      <a:r>
                        <a:rPr sz="1200" b="0" i="0">
                          <a:solidFill>
                            <a:srgbClr val="1A1440"/>
                          </a:solidFill>
                          <a:latin typeface="Calibri"/>
                        </a:rPr>
                        <a:t>Q2, closed</a:t>
                      </a:r>
                    </a:p>
                  </a:txBody>
                  <a:tcPr marL="101600" marR="101600" marT="38100" marB="38100" anchor="ctr">
                    <a:solidFill>
                      <a:srgbClr val="FFFFFF"/>
                    </a:solidFill>
                  </a:tcPr>
                </a:tc>
                <a:tc>
                  <a:txBody>
                    <a:bodyPr/>
                    <a:lstStyle/>
                    <a:p>
                      <a:r>
                        <a:rPr sz="1200" b="0" i="0">
                          <a:solidFill>
                            <a:srgbClr val="1A1440"/>
                          </a:solidFill>
                          <a:latin typeface="Calibri"/>
                        </a:rPr>
                        <a:t>2 Jul</a:t>
                      </a:r>
                    </a:p>
                  </a:txBody>
                  <a:tcPr marL="101600" marR="101600" marT="38100" marB="38100" anchor="ctr">
                    <a:solidFill>
                      <a:srgbClr val="FFFFFF"/>
                    </a:solidFill>
                  </a:tcPr>
                </a:tc>
                <a:tc>
                  <a:txBody>
                    <a:bodyPr/>
                    <a:lstStyle/>
                    <a:p>
                      <a:r>
                        <a:rPr sz="1200" b="0" i="0">
                          <a:solidFill>
                            <a:srgbClr val="1A1440"/>
                          </a:solidFill>
                          <a:latin typeface="Calibri"/>
                        </a:rPr>
                        <a:t>28 Sep</a:t>
                      </a:r>
                    </a:p>
                  </a:txBody>
                  <a:tcPr marL="101600" marR="101600" marT="38100" marB="38100" anchor="ctr">
                    <a:solidFill>
                      <a:srgbClr val="FFFFFF"/>
                    </a:solidFill>
                  </a:tcPr>
                </a:tc>
                <a:tc>
                  <a:txBody>
                    <a:bodyPr/>
                    <a:lstStyle/>
                    <a:p>
                      <a:r>
                        <a:rPr sz="1200" b="0" i="0">
                          <a:solidFill>
                            <a:srgbClr val="1A1440"/>
                          </a:solidFill>
                          <a:latin typeface="Calibri"/>
                        </a:rPr>
                        <a:t>13</a:t>
                      </a:r>
                    </a:p>
                  </a:txBody>
                  <a:tcPr marL="101600" marR="101600" marT="38100" marB="38100" anchor="ctr">
                    <a:solidFill>
                      <a:srgbClr val="FFFFFF"/>
                    </a:solidFill>
                  </a:tcPr>
                </a:tc>
                <a:tc>
                  <a:txBody>
                    <a:bodyPr/>
                    <a:lstStyle/>
                    <a:p>
                      <a:r>
                        <a:rPr sz="1200" b="0" i="0">
                          <a:solidFill>
                            <a:srgbClr val="1A1440"/>
                          </a:solidFill>
                          <a:latin typeface="Calibri"/>
                        </a:rPr>
                        <a:t>86</a:t>
                      </a:r>
                    </a:p>
                  </a:txBody>
                  <a:tcPr marL="101600" marR="101600" marT="38100" marB="38100" anchor="ctr">
                    <a:solidFill>
                      <a:srgbClr val="FFFFFF"/>
                    </a:solidFill>
                  </a:tcPr>
                </a:tc>
                <a:tc>
                  <a:txBody>
                    <a:bodyPr/>
                    <a:lstStyle/>
                    <a:p>
                      <a:r>
                        <a:rPr sz="1200" b="0" i="0">
                          <a:solidFill>
                            <a:srgbClr val="1A1440"/>
                          </a:solidFill>
                          <a:latin typeface="Calibri"/>
                        </a:rPr>
                        <a:t>Rs 1,87,00,000</a:t>
                      </a:r>
                    </a:p>
                  </a:txBody>
                  <a:tcPr marL="101600" marR="101600" marT="38100" marB="38100" anchor="ctr">
                    <a:solidFill>
                      <a:srgbClr val="FFFFFF"/>
                    </a:solidFill>
                  </a:tcPr>
                </a:tc>
              </a:tr>
            </a:tbl>
          </a:graphicData>
        </a:graphic>
      </p:graphicFrame>
      <p:sp>
        <p:nvSpPr>
          <p:cNvPr id="10" name="Rounded Rectangle 9"/>
          <p:cNvSpPr/>
          <p:nvPr/>
        </p:nvSpPr>
        <p:spPr>
          <a:xfrm>
            <a:off x="530352" y="355396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68198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672840"/>
            <a:ext cx="10564063" cy="6248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First and last order date of each window, and the weeks each one covers, before any total is compared.</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5" name="Oval 14"/>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Round 1, is the drop real</a:t>
            </a:r>
          </a:p>
        </p:txBody>
      </p:sp>
      <p:sp>
        <p:nvSpPr>
          <p:cNvPr id="17" name="Oval 16"/>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19" name="Oval 18"/>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14 / 52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wrong answer: revenue fell 25.9 percent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two-week gap reads as a crisis, and a crisis rushes a budget.</a:t>
            </a:r>
          </a:p>
        </p:txBody>
      </p:sp>
      <p:pic>
        <p:nvPicPr>
          <p:cNvPr id="9" name="mermaid diagram" descr="dfcdd0d2255b2b76.png"/>
          <p:cNvPicPr>
            <a:picLocks noChangeAspect="1"/>
          </p:cNvPicPr>
          <p:nvPr/>
        </p:nvPicPr>
        <p:blipFill>
          <a:blip r:embed="rId6"/>
          <a:stretch>
            <a:fillRect/>
          </a:stretch>
        </p:blipFill>
        <p:spPr>
          <a:xfrm>
            <a:off x="2259653" y="1956816"/>
            <a:ext cx="7672387" cy="1128712"/>
          </a:xfrm>
          <a:prstGeom prst="rect">
            <a:avLst/>
          </a:prstGeom>
        </p:spPr>
      </p:pic>
      <p:sp>
        <p:nvSpPr>
          <p:cNvPr id="10" name="Rounded Rectangle 9"/>
          <p:cNvSpPr/>
          <p:nvPr/>
        </p:nvSpPr>
        <p:spPr>
          <a:xfrm>
            <a:off x="530352" y="3231832"/>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356406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bug_39ada6eff46d.png"/>
          <p:cNvPicPr>
            <a:picLocks noChangeAspect="1"/>
          </p:cNvPicPr>
          <p:nvPr/>
        </p:nvPicPr>
        <p:blipFill>
          <a:blip r:embed="rId5"/>
          <a:stretch>
            <a:fillRect/>
          </a:stretch>
        </p:blipFill>
        <p:spPr>
          <a:xfrm>
            <a:off x="868680" y="3673792"/>
            <a:ext cx="237744" cy="237744"/>
          </a:xfrm>
          <a:prstGeom prst="rect">
            <a:avLst/>
          </a:prstGeom>
        </p:spPr>
      </p:pic>
      <p:sp>
        <p:nvSpPr>
          <p:cNvPr id="13" name="TextBox 12"/>
          <p:cNvSpPr txBox="1"/>
          <p:nvPr/>
        </p:nvSpPr>
        <p:spPr>
          <a:xfrm>
            <a:off x="1399031" y="337813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14" name="TextBox 13"/>
          <p:cNvSpPr txBox="1"/>
          <p:nvPr/>
        </p:nvSpPr>
        <p:spPr>
          <a:xfrm>
            <a:off x="1399031" y="3597592"/>
            <a:ext cx="9987991" cy="682752"/>
          </a:xfrm>
          <a:prstGeom prst="rect">
            <a:avLst/>
          </a:prstGeom>
          <a:noFill/>
        </p:spPr>
        <p:txBody>
          <a:bodyPr wrap="square" anchor="t" lIns="0" rIns="0" tIns="0" bIns="0">
            <a:spAutoFit/>
          </a:bodyPr>
          <a:lstStyle/>
          <a:p>
            <a:r>
              <a:rPr sz="1500" b="0" i="0">
                <a:solidFill>
                  <a:srgbClr val="1A1440"/>
                </a:solidFill>
                <a:latin typeface="Calibri"/>
              </a:rPr>
              <a:t>Two missing weeks look exactly like lost customers, and the decision they would mislead is the largest one on Meera's desk.</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7" name="Oval 16"/>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Round 1, is the drop real</a:t>
            </a:r>
          </a:p>
        </p:txBody>
      </p:sp>
      <p:sp>
        <p:nvSpPr>
          <p:cNvPr id="19" name="Oval 18"/>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21" name="Oval 20"/>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15 / 52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Cumulative revenue shows where the tile stopped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Q1 reaches Rs 210.0 lakh at week 13; the tile stopped Q2 at week 11, at Rs 155.6 lakh.</a:t>
            </a:r>
          </a:p>
        </p:txBody>
      </p:sp>
      <p:pic>
        <p:nvPicPr>
          <p:cNvPr id="9" name="mermaid diagram" descr="275444f253222592.png"/>
          <p:cNvPicPr>
            <a:picLocks noChangeAspect="1"/>
          </p:cNvPicPr>
          <p:nvPr/>
        </p:nvPicPr>
        <p:blipFill>
          <a:blip r:embed="rId5"/>
          <a:stretch>
            <a:fillRect/>
          </a:stretch>
        </p:blipFill>
        <p:spPr>
          <a:xfrm>
            <a:off x="2286863" y="1664208"/>
            <a:ext cx="7617968" cy="3808984"/>
          </a:xfrm>
          <a:prstGeom prst="rect">
            <a:avLst/>
          </a:prstGeom>
        </p:spPr>
      </p:pic>
      <p:sp>
        <p:nvSpPr>
          <p:cNvPr id="10" name="TextBox 9"/>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Q1 ends at Rs 210.0 lakh and Q2 at Rs 187.0 lakh. At week 11, Q2 stood at Rs 155.6 lakh, which is the tile.</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3" name="Oval 12"/>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Round 1, is the drop real</a:t>
            </a:r>
          </a:p>
        </p:txBody>
      </p:sp>
      <p:sp>
        <p:nvSpPr>
          <p:cNvPr id="15" name="Oval 14"/>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17" name="Oval 16"/>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16 / 52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the fair change between the quarters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Both quarters have now closed, so both can be compared whole.</a:t>
            </a:r>
          </a:p>
        </p:txBody>
      </p:sp>
      <p:sp>
        <p:nvSpPr>
          <p:cNvPr id="9" name="TextBox 8"/>
          <p:cNvSpPr txBox="1"/>
          <p:nvPr/>
        </p:nvSpPr>
        <p:spPr>
          <a:xfrm>
            <a:off x="530352"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Rs 2,10,00,000</a:t>
            </a:r>
          </a:p>
        </p:txBody>
      </p:sp>
      <p:sp>
        <p:nvSpPr>
          <p:cNvPr id="10" name="TextBox 9"/>
          <p:cNvSpPr txBox="1"/>
          <p:nvPr/>
        </p:nvSpPr>
        <p:spPr>
          <a:xfrm>
            <a:off x="530352"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Q1, CLOSED</a:t>
            </a:r>
          </a:p>
        </p:txBody>
      </p:sp>
      <p:sp>
        <p:nvSpPr>
          <p:cNvPr id="11" name="TextBox 10"/>
          <p:cNvSpPr txBox="1"/>
          <p:nvPr/>
        </p:nvSpPr>
        <p:spPr>
          <a:xfrm>
            <a:off x="530352"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13 weeks, 114 orders</a:t>
            </a:r>
          </a:p>
        </p:txBody>
      </p:sp>
      <p:sp>
        <p:nvSpPr>
          <p:cNvPr id="12" name="Rectangle 11"/>
          <p:cNvSpPr/>
          <p:nvPr/>
        </p:nvSpPr>
        <p:spPr>
          <a:xfrm>
            <a:off x="530352"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33007"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Rs 1,87,00,000</a:t>
            </a:r>
          </a:p>
        </p:txBody>
      </p:sp>
      <p:sp>
        <p:nvSpPr>
          <p:cNvPr id="14" name="TextBox 13"/>
          <p:cNvSpPr txBox="1"/>
          <p:nvPr/>
        </p:nvSpPr>
        <p:spPr>
          <a:xfrm>
            <a:off x="6233007"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Q2, CLOSED</a:t>
            </a:r>
          </a:p>
        </p:txBody>
      </p:sp>
      <p:sp>
        <p:nvSpPr>
          <p:cNvPr id="15" name="TextBox 14"/>
          <p:cNvSpPr txBox="1"/>
          <p:nvPr/>
        </p:nvSpPr>
        <p:spPr>
          <a:xfrm>
            <a:off x="6233007"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13 weeks, 86 orders</a:t>
            </a:r>
          </a:p>
        </p:txBody>
      </p:sp>
      <p:sp>
        <p:nvSpPr>
          <p:cNvPr id="16" name="Rectangle 15"/>
          <p:cNvSpPr/>
          <p:nvPr/>
        </p:nvSpPr>
        <p:spPr>
          <a:xfrm>
            <a:off x="6233007"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30352" y="341985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676656" y="354787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77824" y="3538728"/>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Predict the change: a) down 25.9 percent; b) down 11.0 percent; c) down 24.6 percent; d) flat, once the weeks match.</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22" name="Oval 21"/>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Round 1, is the drop real</a:t>
            </a:r>
          </a:p>
        </p:txBody>
      </p:sp>
      <p:sp>
        <p:nvSpPr>
          <p:cNvPr id="24" name="Oval 23"/>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26" name="Oval 25"/>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17 / 52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down 11.0 percent, Rs 23,00,000 less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drop is real, and it is less than half of what the tile said.</a:t>
            </a:r>
          </a:p>
        </p:txBody>
      </p:sp>
      <p:graphicFrame>
        <p:nvGraphicFramePr>
          <p:cNvPr id="9" name="Table 8"/>
          <p:cNvGraphicFramePr>
            <a:graphicFrameLocks noGrp="1"/>
          </p:cNvGraphicFramePr>
          <p:nvPr/>
        </p:nvGraphicFramePr>
        <p:xfrm>
          <a:off x="530352" y="1956816"/>
          <a:ext cx="11130989" cy="1341120"/>
        </p:xfrm>
        <a:graphic>
          <a:graphicData uri="http://schemas.openxmlformats.org/drawingml/2006/table">
            <a:tbl>
              <a:tblPr firstRow="0" bandRow="0">
                <a:tableStyleId>{2D5ABB26-0587-4C30-8999-92F81FD0307C}</a:tableStyleId>
              </a:tblPr>
              <a:tblGrid>
                <a:gridCol w="4968947"/>
                <a:gridCol w="2623821"/>
                <a:gridCol w="2623821"/>
                <a:gridCol w="914400"/>
              </a:tblGrid>
              <a:tr h="335280">
                <a:tc>
                  <a:txBody>
                    <a:bodyPr/>
                    <a:lstStyle/>
                    <a:p>
                      <a:r>
                        <a:rPr sz="1250" b="1" i="0">
                          <a:solidFill>
                            <a:srgbClr val="FFFFFF"/>
                          </a:solidFill>
                          <a:latin typeface="Calibri"/>
                        </a:rPr>
                        <a:t>Comparison</a:t>
                      </a:r>
                    </a:p>
                  </a:txBody>
                  <a:tcPr marL="101600" marR="101600" marT="38100" marB="38100" anchor="ctr">
                    <a:solidFill>
                      <a:srgbClr val="1A0F5C"/>
                    </a:solidFill>
                  </a:tcPr>
                </a:tc>
                <a:tc>
                  <a:txBody>
                    <a:bodyPr/>
                    <a:lstStyle/>
                    <a:p>
                      <a:r>
                        <a:rPr sz="1250" b="1" i="0">
                          <a:solidFill>
                            <a:srgbClr val="FFFFFF"/>
                          </a:solidFill>
                          <a:latin typeface="Calibri"/>
                        </a:rPr>
                        <a:t>Q1</a:t>
                      </a:r>
                    </a:p>
                  </a:txBody>
                  <a:tcPr marL="101600" marR="101600" marT="38100" marB="38100" anchor="ctr">
                    <a:solidFill>
                      <a:srgbClr val="1A0F5C"/>
                    </a:solidFill>
                  </a:tcPr>
                </a:tc>
                <a:tc>
                  <a:txBody>
                    <a:bodyPr/>
                    <a:lstStyle/>
                    <a:p>
                      <a:r>
                        <a:rPr sz="1250" b="1" i="0">
                          <a:solidFill>
                            <a:srgbClr val="FFFFFF"/>
                          </a:solidFill>
                          <a:latin typeface="Calibri"/>
                        </a:rPr>
                        <a:t>Q2</a:t>
                      </a:r>
                    </a:p>
                  </a:txBody>
                  <a:tcPr marL="101600" marR="101600" marT="38100" marB="38100" anchor="ctr">
                    <a:solidFill>
                      <a:srgbClr val="1A0F5C"/>
                    </a:solidFill>
                  </a:tcPr>
                </a:tc>
                <a:tc>
                  <a:txBody>
                    <a:bodyPr/>
                    <a:lstStyle/>
                    <a:p>
                      <a:r>
                        <a:rPr sz="1250" b="1" i="0">
                          <a:solidFill>
                            <a:srgbClr val="FFFFFF"/>
                          </a:solidFill>
                          <a:latin typeface="Calibri"/>
                        </a:rPr>
                        <a:t>Change</a:t>
                      </a:r>
                    </a:p>
                  </a:txBody>
                  <a:tcPr marL="101600" marR="101600" marT="38100" marB="38100" anchor="ctr">
                    <a:solidFill>
                      <a:srgbClr val="1A0F5C"/>
                    </a:solidFill>
                  </a:tcPr>
                </a:tc>
              </a:tr>
              <a:tr h="335280">
                <a:tc>
                  <a:txBody>
                    <a:bodyPr/>
                    <a:lstStyle/>
                    <a:p>
                      <a:r>
                        <a:rPr sz="1200" b="0" i="0">
                          <a:solidFill>
                            <a:srgbClr val="1A1440"/>
                          </a:solidFill>
                          <a:latin typeface="Calibri"/>
                        </a:rPr>
                        <a:t>Closed quarters, totals</a:t>
                      </a:r>
                    </a:p>
                  </a:txBody>
                  <a:tcPr marL="101600" marR="101600" marT="38100" marB="38100" anchor="ctr">
                    <a:solidFill>
                      <a:srgbClr val="FFFFFF"/>
                    </a:solidFill>
                  </a:tcPr>
                </a:tc>
                <a:tc>
                  <a:txBody>
                    <a:bodyPr/>
                    <a:lstStyle/>
                    <a:p>
                      <a:r>
                        <a:rPr sz="1200" b="0" i="0">
                          <a:solidFill>
                            <a:srgbClr val="1A1440"/>
                          </a:solidFill>
                          <a:latin typeface="Calibri"/>
                        </a:rPr>
                        <a:t>Rs 2,10,00,000</a:t>
                      </a:r>
                    </a:p>
                  </a:txBody>
                  <a:tcPr marL="101600" marR="101600" marT="38100" marB="38100" anchor="ctr">
                    <a:solidFill>
                      <a:srgbClr val="FFFFFF"/>
                    </a:solidFill>
                  </a:tcPr>
                </a:tc>
                <a:tc>
                  <a:txBody>
                    <a:bodyPr/>
                    <a:lstStyle/>
                    <a:p>
                      <a:r>
                        <a:rPr sz="1200" b="0" i="0">
                          <a:solidFill>
                            <a:srgbClr val="1A1440"/>
                          </a:solidFill>
                          <a:latin typeface="Calibri"/>
                        </a:rPr>
                        <a:t>Rs 1,87,00,000</a:t>
                      </a:r>
                    </a:p>
                  </a:txBody>
                  <a:tcPr marL="101600" marR="101600" marT="38100" marB="38100" anchor="ctr">
                    <a:solidFill>
                      <a:srgbClr val="FFFFFF"/>
                    </a:solidFill>
                  </a:tcPr>
                </a:tc>
                <a:tc>
                  <a:txBody>
                    <a:bodyPr/>
                    <a:lstStyle/>
                    <a:p>
                      <a:r>
                        <a:rPr sz="1200" b="0" i="0">
                          <a:solidFill>
                            <a:srgbClr val="1A1440"/>
                          </a:solidFill>
                          <a:latin typeface="Calibri"/>
                        </a:rPr>
                        <a:t>-11.0%</a:t>
                      </a:r>
                    </a:p>
                  </a:txBody>
                  <a:tcPr marL="101600" marR="101600" marT="38100" marB="38100" anchor="ctr">
                    <a:solidFill>
                      <a:srgbClr val="FFFFFF"/>
                    </a:solidFill>
                  </a:tcPr>
                </a:tc>
              </a:tr>
              <a:tr h="335280">
                <a:tc>
                  <a:txBody>
                    <a:bodyPr/>
                    <a:lstStyle/>
                    <a:p>
                      <a:r>
                        <a:rPr sz="1200" b="0" i="0">
                          <a:solidFill>
                            <a:srgbClr val="1A1440"/>
                          </a:solidFill>
                          <a:latin typeface="Calibri"/>
                        </a:rPr>
                        <a:t>Per day, 91 against 92 days</a:t>
                      </a:r>
                    </a:p>
                  </a:txBody>
                  <a:tcPr marL="101600" marR="101600" marT="38100" marB="38100" anchor="ctr">
                    <a:solidFill>
                      <a:srgbClr val="F4F2FA"/>
                    </a:solidFill>
                  </a:tcPr>
                </a:tc>
                <a:tc>
                  <a:txBody>
                    <a:bodyPr/>
                    <a:lstStyle/>
                    <a:p>
                      <a:r>
                        <a:rPr sz="1200" b="0" i="0">
                          <a:solidFill>
                            <a:srgbClr val="1A1440"/>
                          </a:solidFill>
                          <a:latin typeface="Calibri"/>
                        </a:rPr>
                        <a:t>Rs 2,30,769</a:t>
                      </a:r>
                    </a:p>
                  </a:txBody>
                  <a:tcPr marL="101600" marR="101600" marT="38100" marB="38100" anchor="ctr">
                    <a:solidFill>
                      <a:srgbClr val="F4F2FA"/>
                    </a:solidFill>
                  </a:tcPr>
                </a:tc>
                <a:tc>
                  <a:txBody>
                    <a:bodyPr/>
                    <a:lstStyle/>
                    <a:p>
                      <a:r>
                        <a:rPr sz="1200" b="0" i="0">
                          <a:solidFill>
                            <a:srgbClr val="1A1440"/>
                          </a:solidFill>
                          <a:latin typeface="Calibri"/>
                        </a:rPr>
                        <a:t>Rs 2,03,261</a:t>
                      </a:r>
                    </a:p>
                  </a:txBody>
                  <a:tcPr marL="101600" marR="101600" marT="38100" marB="38100" anchor="ctr">
                    <a:solidFill>
                      <a:srgbClr val="F4F2FA"/>
                    </a:solidFill>
                  </a:tcPr>
                </a:tc>
                <a:tc>
                  <a:txBody>
                    <a:bodyPr/>
                    <a:lstStyle/>
                    <a:p>
                      <a:r>
                        <a:rPr sz="1200" b="0" i="0">
                          <a:solidFill>
                            <a:srgbClr val="1A1440"/>
                          </a:solidFill>
                          <a:latin typeface="Calibri"/>
                        </a:rPr>
                        <a:t>-11.9%</a:t>
                      </a:r>
                    </a:p>
                  </a:txBody>
                  <a:tcPr marL="101600" marR="101600" marT="38100" marB="38100" anchor="ctr">
                    <a:solidFill>
                      <a:srgbClr val="F4F2FA"/>
                    </a:solidFill>
                  </a:tcPr>
                </a:tc>
              </a:tr>
              <a:tr h="335280">
                <a:tc>
                  <a:txBody>
                    <a:bodyPr/>
                    <a:lstStyle/>
                    <a:p>
                      <a:r>
                        <a:rPr sz="1200" b="0" i="0">
                          <a:solidFill>
                            <a:srgbClr val="1A1440"/>
                          </a:solidFill>
                          <a:latin typeface="Calibri"/>
                        </a:rPr>
                        <a:t>Per week, Q1 against the tile</a:t>
                      </a:r>
                    </a:p>
                  </a:txBody>
                  <a:tcPr marL="101600" marR="101600" marT="38100" marB="38100" anchor="ctr">
                    <a:solidFill>
                      <a:srgbClr val="FFFFFF"/>
                    </a:solidFill>
                  </a:tcPr>
                </a:tc>
                <a:tc>
                  <a:txBody>
                    <a:bodyPr/>
                    <a:lstStyle/>
                    <a:p>
                      <a:r>
                        <a:rPr sz="1200" b="0" i="0">
                          <a:solidFill>
                            <a:srgbClr val="1A1440"/>
                          </a:solidFill>
                          <a:latin typeface="Calibri"/>
                        </a:rPr>
                        <a:t>Rs 16,15,385</a:t>
                      </a:r>
                    </a:p>
                  </a:txBody>
                  <a:tcPr marL="101600" marR="101600" marT="38100" marB="38100" anchor="ctr">
                    <a:solidFill>
                      <a:srgbClr val="FFFFFF"/>
                    </a:solidFill>
                  </a:tcPr>
                </a:tc>
                <a:tc>
                  <a:txBody>
                    <a:bodyPr/>
                    <a:lstStyle/>
                    <a:p>
                      <a:r>
                        <a:rPr sz="1200" b="0" i="0">
                          <a:solidFill>
                            <a:srgbClr val="1A1440"/>
                          </a:solidFill>
                          <a:latin typeface="Calibri"/>
                        </a:rPr>
                        <a:t>Rs 14,14,541</a:t>
                      </a:r>
                    </a:p>
                  </a:txBody>
                  <a:tcPr marL="101600" marR="101600" marT="38100" marB="38100" anchor="ctr">
                    <a:solidFill>
                      <a:srgbClr val="FFFFFF"/>
                    </a:solidFill>
                  </a:tcPr>
                </a:tc>
                <a:tc>
                  <a:txBody>
                    <a:bodyPr/>
                    <a:lstStyle/>
                    <a:p>
                      <a:r>
                        <a:rPr sz="1200" b="0" i="0">
                          <a:solidFill>
                            <a:srgbClr val="1A1440"/>
                          </a:solidFill>
                          <a:latin typeface="Calibri"/>
                        </a:rPr>
                        <a:t>-12.4%</a:t>
                      </a:r>
                    </a:p>
                  </a:txBody>
                  <a:tcPr marL="101600" marR="101600" marT="38100" marB="38100" anchor="ctr">
                    <a:solidFill>
                      <a:srgbClr val="FFFFFF"/>
                    </a:solidFill>
                  </a:tcPr>
                </a:tc>
              </a:tr>
            </a:tbl>
          </a:graphicData>
        </a:graphic>
      </p:graphicFrame>
      <p:sp>
        <p:nvSpPr>
          <p:cNvPr id="10" name="Rounded Rectangle 9"/>
          <p:cNvSpPr/>
          <p:nvPr/>
        </p:nvSpPr>
        <p:spPr>
          <a:xfrm>
            <a:off x="530352" y="355396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68198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672840"/>
            <a:ext cx="10564063" cy="624840"/>
          </a:xfrm>
          <a:prstGeom prst="rect">
            <a:avLst/>
          </a:prstGeom>
          <a:noFill/>
        </p:spPr>
        <p:txBody>
          <a:bodyPr wrap="square" anchor="ctr" lIns="0" rIns="0" tIns="0" bIns="0">
            <a:spAutoFit/>
          </a:bodyPr>
          <a:lstStyle/>
          <a:p>
            <a:r>
              <a:rPr sz="1500" b="1">
                <a:solidFill>
                  <a:srgbClr val="5B3FD6"/>
                </a:solidFill>
                <a:latin typeface="Calibri"/>
              </a:rPr>
              <a:t>The fix. </a:t>
            </a:r>
            <a:r>
              <a:rPr sz="1500" b="0" i="0">
                <a:solidFill>
                  <a:srgbClr val="1A1440"/>
                </a:solidFill>
                <a:latin typeface="Calibri"/>
              </a:rPr>
              <a:t>Once a quarter has closed, compare closed quarters. A rate per week rescues a cut window, and it carries its numerator, its denominator and its window.</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5" name="Oval 14"/>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Round 1, is the drop real</a:t>
            </a:r>
          </a:p>
        </p:txBody>
      </p:sp>
      <p:sp>
        <p:nvSpPr>
          <p:cNvPr id="17" name="Oval 16"/>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19" name="Oval 18"/>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18 / 52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the same 11 weeks of each quarter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Q1 up to 16 June against Q2 up to 15 September, both 11 weeks long.</a:t>
            </a:r>
          </a:p>
        </p:txBody>
      </p:sp>
      <p:pic>
        <p:nvPicPr>
          <p:cNvPr id="9" name="mermaid diagram" descr="05a13467cb699bb9.png"/>
          <p:cNvPicPr>
            <a:picLocks noChangeAspect="1"/>
          </p:cNvPicPr>
          <p:nvPr/>
        </p:nvPicPr>
        <p:blipFill>
          <a:blip r:embed="rId5"/>
          <a:stretch>
            <a:fillRect/>
          </a:stretch>
        </p:blipFill>
        <p:spPr>
          <a:xfrm>
            <a:off x="3766985" y="1956816"/>
            <a:ext cx="4657725" cy="1800225"/>
          </a:xfrm>
          <a:prstGeom prst="rect">
            <a:avLst/>
          </a:prstGeom>
        </p:spPr>
      </p:pic>
      <p:sp>
        <p:nvSpPr>
          <p:cNvPr id="10" name="Rounded Rectangle 9"/>
          <p:cNvSpPr/>
          <p:nvPr/>
        </p:nvSpPr>
        <p:spPr>
          <a:xfrm>
            <a:off x="530352" y="3903345"/>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31360"/>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22217"/>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The room runs it in notebook 01. Before you run it, predict: a) down 12.4 percent, the same as per week; b) down 17.0 percent; c) down 11.0 percent; d) down 25.9 percent.</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5" name="Oval 14"/>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Round 1, is the drop real</a:t>
            </a:r>
          </a:p>
        </p:txBody>
      </p:sp>
      <p:sp>
        <p:nvSpPr>
          <p:cNvPr id="17" name="Oval 16"/>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19" name="Oval 18"/>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19 / 52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down 17.0 percent over the same 11 weeks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Matched weeks and the per-week rate disagree, because large orders land unevenly.</a:t>
            </a:r>
          </a:p>
        </p:txBody>
      </p:sp>
      <p:graphicFrame>
        <p:nvGraphicFramePr>
          <p:cNvPr id="9" name="Table 8"/>
          <p:cNvGraphicFramePr>
            <a:graphicFrameLocks noGrp="1"/>
          </p:cNvGraphicFramePr>
          <p:nvPr/>
        </p:nvGraphicFramePr>
        <p:xfrm>
          <a:off x="530352" y="1956816"/>
          <a:ext cx="11130990" cy="1479296"/>
        </p:xfrm>
        <a:graphic>
          <a:graphicData uri="http://schemas.openxmlformats.org/drawingml/2006/table">
            <a:tbl>
              <a:tblPr firstRow="0" bandRow="0">
                <a:tableStyleId>{2D5ABB26-0587-4C30-8999-92F81FD0307C}</a:tableStyleId>
              </a:tblPr>
              <a:tblGrid>
                <a:gridCol w="5536721"/>
                <a:gridCol w="4679869"/>
                <a:gridCol w="914400"/>
              </a:tblGrid>
              <a:tr h="369824">
                <a:tc>
                  <a:txBody>
                    <a:bodyPr/>
                    <a:lstStyle/>
                    <a:p>
                      <a:r>
                        <a:rPr sz="1450" b="1" i="0">
                          <a:solidFill>
                            <a:srgbClr val="FFFFFF"/>
                          </a:solidFill>
                          <a:latin typeface="Calibri"/>
                        </a:rPr>
                        <a:t>Window</a:t>
                      </a:r>
                    </a:p>
                  </a:txBody>
                  <a:tcPr marL="101600" marR="101600" marT="38100" marB="38100" anchor="ctr">
                    <a:solidFill>
                      <a:srgbClr val="1A0F5C"/>
                    </a:solidFill>
                  </a:tcPr>
                </a:tc>
                <a:tc>
                  <a:txBody>
                    <a:bodyPr/>
                    <a:lstStyle/>
                    <a:p>
                      <a:r>
                        <a:rPr sz="1450" b="1" i="0">
                          <a:solidFill>
                            <a:srgbClr val="FFFFFF"/>
                          </a:solidFill>
                          <a:latin typeface="Calibri"/>
                        </a:rPr>
                        <a:t>Revenue</a:t>
                      </a:r>
                    </a:p>
                  </a:txBody>
                  <a:tcPr marL="101600" marR="101600" marT="38100" marB="38100" anchor="ctr">
                    <a:solidFill>
                      <a:srgbClr val="1A0F5C"/>
                    </a:solidFill>
                  </a:tcPr>
                </a:tc>
                <a:tc>
                  <a:txBody>
                    <a:bodyPr/>
                    <a:lstStyle/>
                    <a:p>
                      <a:r>
                        <a:rPr sz="1450" b="1" i="0">
                          <a:solidFill>
                            <a:srgbClr val="FFFFFF"/>
                          </a:solidFill>
                          <a:latin typeface="Calibri"/>
                        </a:rPr>
                        <a:t>Orders</a:t>
                      </a:r>
                    </a:p>
                  </a:txBody>
                  <a:tcPr marL="101600" marR="101600" marT="38100" marB="38100" anchor="ctr">
                    <a:solidFill>
                      <a:srgbClr val="1A0F5C"/>
                    </a:solidFill>
                  </a:tcPr>
                </a:tc>
              </a:tr>
              <a:tr h="369824">
                <a:tc>
                  <a:txBody>
                    <a:bodyPr/>
                    <a:lstStyle/>
                    <a:p>
                      <a:r>
                        <a:rPr sz="1400" b="0" i="0">
                          <a:solidFill>
                            <a:srgbClr val="1A1440"/>
                          </a:solidFill>
                          <a:latin typeface="Calibri"/>
                        </a:rPr>
                        <a:t>Q1, weeks 1 to 11</a:t>
                      </a:r>
                    </a:p>
                  </a:txBody>
                  <a:tcPr marL="101600" marR="101600" marT="38100" marB="38100" anchor="ctr">
                    <a:solidFill>
                      <a:srgbClr val="FFFFFF"/>
                    </a:solidFill>
                  </a:tcPr>
                </a:tc>
                <a:tc>
                  <a:txBody>
                    <a:bodyPr/>
                    <a:lstStyle/>
                    <a:p>
                      <a:r>
                        <a:rPr sz="1400" b="0" i="0">
                          <a:solidFill>
                            <a:srgbClr val="1A1440"/>
                          </a:solidFill>
                          <a:latin typeface="Calibri"/>
                        </a:rPr>
                        <a:t>Rs 1,87,51,440</a:t>
                      </a:r>
                    </a:p>
                  </a:txBody>
                  <a:tcPr marL="101600" marR="101600" marT="38100" marB="38100" anchor="ctr">
                    <a:solidFill>
                      <a:srgbClr val="FFFFFF"/>
                    </a:solidFill>
                  </a:tcPr>
                </a:tc>
                <a:tc>
                  <a:txBody>
                    <a:bodyPr/>
                    <a:lstStyle/>
                    <a:p>
                      <a:r>
                        <a:rPr sz="1400" b="0" i="0">
                          <a:solidFill>
                            <a:srgbClr val="1A1440"/>
                          </a:solidFill>
                          <a:latin typeface="Calibri"/>
                        </a:rPr>
                        <a:t>97</a:t>
                      </a:r>
                    </a:p>
                  </a:txBody>
                  <a:tcPr marL="101600" marR="101600" marT="38100" marB="38100" anchor="ctr">
                    <a:solidFill>
                      <a:srgbClr val="FFFFFF"/>
                    </a:solidFill>
                  </a:tcPr>
                </a:tc>
              </a:tr>
              <a:tr h="369824">
                <a:tc>
                  <a:txBody>
                    <a:bodyPr/>
                    <a:lstStyle/>
                    <a:p>
                      <a:r>
                        <a:rPr sz="1400" b="0" i="0">
                          <a:solidFill>
                            <a:srgbClr val="1A1440"/>
                          </a:solidFill>
                          <a:latin typeface="Calibri"/>
                        </a:rPr>
                        <a:t>Q2, weeks 1 to 11</a:t>
                      </a:r>
                    </a:p>
                  </a:txBody>
                  <a:tcPr marL="101600" marR="101600" marT="38100" marB="38100" anchor="ctr">
                    <a:solidFill>
                      <a:srgbClr val="F4F2FA"/>
                    </a:solidFill>
                  </a:tcPr>
                </a:tc>
                <a:tc>
                  <a:txBody>
                    <a:bodyPr/>
                    <a:lstStyle/>
                    <a:p>
                      <a:r>
                        <a:rPr sz="1400" b="0" i="0">
                          <a:solidFill>
                            <a:srgbClr val="1A1440"/>
                          </a:solidFill>
                          <a:latin typeface="Calibri"/>
                        </a:rPr>
                        <a:t>Rs 1,55,59,950</a:t>
                      </a:r>
                    </a:p>
                  </a:txBody>
                  <a:tcPr marL="101600" marR="101600" marT="38100" marB="38100" anchor="ctr">
                    <a:solidFill>
                      <a:srgbClr val="F4F2FA"/>
                    </a:solidFill>
                  </a:tcPr>
                </a:tc>
                <a:tc>
                  <a:txBody>
                    <a:bodyPr/>
                    <a:lstStyle/>
                    <a:p>
                      <a:r>
                        <a:rPr sz="1400" b="0" i="0">
                          <a:solidFill>
                            <a:srgbClr val="1A1440"/>
                          </a:solidFill>
                          <a:latin typeface="Calibri"/>
                        </a:rPr>
                        <a:t>70</a:t>
                      </a:r>
                    </a:p>
                  </a:txBody>
                  <a:tcPr marL="101600" marR="101600" marT="38100" marB="38100" anchor="ctr">
                    <a:solidFill>
                      <a:srgbClr val="F4F2FA"/>
                    </a:solidFill>
                  </a:tcPr>
                </a:tc>
              </a:tr>
              <a:tr h="369824">
                <a:tc>
                  <a:txBody>
                    <a:bodyPr/>
                    <a:lstStyle/>
                    <a:p>
                      <a:r>
                        <a:rPr sz="1400" b="0" i="0">
                          <a:solidFill>
                            <a:srgbClr val="1A1440"/>
                          </a:solidFill>
                          <a:latin typeface="Calibri"/>
                        </a:rPr>
                        <a:t>Change</a:t>
                      </a:r>
                    </a:p>
                  </a:txBody>
                  <a:tcPr marL="101600" marR="101600" marT="38100" marB="38100" anchor="ctr">
                    <a:solidFill>
                      <a:srgbClr val="FFFFFF"/>
                    </a:solidFill>
                  </a:tcPr>
                </a:tc>
                <a:tc>
                  <a:txBody>
                    <a:bodyPr/>
                    <a:lstStyle/>
                    <a:p>
                      <a:r>
                        <a:rPr sz="1400" b="0" i="0">
                          <a:solidFill>
                            <a:srgbClr val="1A1440"/>
                          </a:solidFill>
                          <a:latin typeface="Calibri"/>
                        </a:rPr>
                        <a:t>-17.0%</a:t>
                      </a:r>
                    </a:p>
                  </a:txBody>
                  <a:tcPr marL="101600" marR="101600" marT="38100" marB="38100" anchor="ctr">
                    <a:solidFill>
                      <a:srgbClr val="FFFFFF"/>
                    </a:solidFill>
                  </a:tcPr>
                </a:tc>
                <a:tc>
                  <a:txBody>
                    <a:bodyPr/>
                    <a:lstStyle/>
                    <a:p>
                      <a:r>
                        <a:rPr sz="1400" b="0" i="0">
                          <a:solidFill>
                            <a:srgbClr val="1A1440"/>
                          </a:solidFill>
                          <a:latin typeface="Calibri"/>
                        </a:rPr>
                        <a:t>-27.8%</a:t>
                      </a:r>
                    </a:p>
                  </a:txBody>
                  <a:tcPr marL="101600" marR="101600" marT="38100" marB="38100" anchor="ctr">
                    <a:solidFill>
                      <a:srgbClr val="FFFFFF"/>
                    </a:solidFill>
                  </a:tcPr>
                </a:tc>
              </a:tr>
            </a:tbl>
          </a:graphicData>
        </a:graphic>
      </p:graphicFrame>
      <p:sp>
        <p:nvSpPr>
          <p:cNvPr id="10" name="Rounded Rectangle 9"/>
          <p:cNvSpPr/>
          <p:nvPr/>
        </p:nvSpPr>
        <p:spPr>
          <a:xfrm>
            <a:off x="530352" y="3692144"/>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15391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4"/>
          <a:stretch>
            <a:fillRect/>
          </a:stretch>
        </p:blipFill>
        <p:spPr>
          <a:xfrm>
            <a:off x="868680" y="4263644"/>
            <a:ext cx="237744" cy="237744"/>
          </a:xfrm>
          <a:prstGeom prst="rect">
            <a:avLst/>
          </a:prstGeom>
        </p:spPr>
      </p:pic>
      <p:sp>
        <p:nvSpPr>
          <p:cNvPr id="13" name="TextBox 12"/>
          <p:cNvSpPr txBox="1"/>
          <p:nvPr/>
        </p:nvSpPr>
        <p:spPr>
          <a:xfrm>
            <a:off x="1399031" y="383844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4057904"/>
            <a:ext cx="9987991" cy="941832"/>
          </a:xfrm>
          <a:prstGeom prst="rect">
            <a:avLst/>
          </a:prstGeom>
          <a:noFill/>
        </p:spPr>
        <p:txBody>
          <a:bodyPr wrap="square" anchor="t" lIns="0" rIns="0" tIns="0" bIns="0">
            <a:spAutoFit/>
          </a:bodyPr>
          <a:lstStyle/>
          <a:p>
            <a:r>
              <a:rPr sz="1500" b="0" i="0">
                <a:solidFill>
                  <a:srgbClr val="1A1440"/>
                </a:solidFill>
                <a:latin typeface="Calibri"/>
              </a:rPr>
              <a:t>A quarter-to-date comparison uses the same weeks of both quarters. Once the quarter closes, the closed quarters replace it, because a few large Business orders can land in week 12 as easily as in week 3.</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7" name="Oval 16"/>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Round 1, is the drop real</a:t>
            </a:r>
          </a:p>
        </p:txBody>
      </p:sp>
      <p:sp>
        <p:nvSpPr>
          <p:cNvPr id="19" name="Oval 18"/>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21" name="Oval 20"/>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20 / 52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Kavya's review of round 1</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Rung 1 holds: the drop is real, and it is 11.0 percent.</a:t>
            </a:r>
          </a:p>
        </p:txBody>
      </p:sp>
      <p:pic>
        <p:nvPicPr>
          <p:cNvPr id="9" name="mermaid diagram" descr="68bf8af48d1e04d0.png"/>
          <p:cNvPicPr>
            <a:picLocks noChangeAspect="1"/>
          </p:cNvPicPr>
          <p:nvPr/>
        </p:nvPicPr>
        <p:blipFill>
          <a:blip r:embed="rId7"/>
          <a:stretch>
            <a:fillRect/>
          </a:stretch>
        </p:blipFill>
        <p:spPr>
          <a:xfrm>
            <a:off x="2545403" y="1956816"/>
            <a:ext cx="7100887" cy="1128712"/>
          </a:xfrm>
          <a:prstGeom prst="rect">
            <a:avLst/>
          </a:prstGeom>
        </p:spPr>
      </p:pic>
      <p:sp>
        <p:nvSpPr>
          <p:cNvPr id="10" name="Rounded Rectangle 9"/>
          <p:cNvSpPr/>
          <p:nvPr/>
        </p:nvSpPr>
        <p:spPr>
          <a:xfrm>
            <a:off x="530352" y="3231832"/>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356406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5"/>
          <a:stretch>
            <a:fillRect/>
          </a:stretch>
        </p:blipFill>
        <p:spPr>
          <a:xfrm>
            <a:off x="868680" y="3673792"/>
            <a:ext cx="237744" cy="237744"/>
          </a:xfrm>
          <a:prstGeom prst="rect">
            <a:avLst/>
          </a:prstGeom>
        </p:spPr>
      </p:pic>
      <p:sp>
        <p:nvSpPr>
          <p:cNvPr id="13" name="TextBox 12"/>
          <p:cNvSpPr txBox="1"/>
          <p:nvPr/>
        </p:nvSpPr>
        <p:spPr>
          <a:xfrm>
            <a:off x="1399031" y="337813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3597592"/>
            <a:ext cx="9987991" cy="682752"/>
          </a:xfrm>
          <a:prstGeom prst="rect">
            <a:avLst/>
          </a:prstGeom>
          <a:noFill/>
        </p:spPr>
        <p:txBody>
          <a:bodyPr wrap="square" anchor="t" lIns="0" rIns="0" tIns="0" bIns="0">
            <a:spAutoFit/>
          </a:bodyPr>
          <a:lstStyle/>
          <a:p>
            <a:r>
              <a:rPr sz="1500" b="0" i="0">
                <a:solidFill>
                  <a:srgbClr val="1A1440"/>
                </a:solidFill>
                <a:latin typeface="Calibri"/>
              </a:rPr>
              <a:t>"Before you explain a fall, prove it with matching windows. Put the dates next to the number, every time."</a:t>
            </a:r>
          </a:p>
        </p:txBody>
      </p:sp>
      <p:sp>
        <p:nvSpPr>
          <p:cNvPr id="15" name="Rounded Rectangle 14"/>
          <p:cNvSpPr/>
          <p:nvPr/>
        </p:nvSpPr>
        <p:spPr>
          <a:xfrm>
            <a:off x="530352" y="4518088"/>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472078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6"/>
          <a:stretch>
            <a:fillRect/>
          </a:stretch>
        </p:blipFill>
        <p:spPr>
          <a:xfrm>
            <a:off x="868680" y="4830508"/>
            <a:ext cx="237744" cy="237744"/>
          </a:xfrm>
          <a:prstGeom prst="rect">
            <a:avLst/>
          </a:prstGeom>
        </p:spPr>
      </p:pic>
      <p:sp>
        <p:nvSpPr>
          <p:cNvPr id="18" name="TextBox 17"/>
          <p:cNvSpPr txBox="1"/>
          <p:nvPr/>
        </p:nvSpPr>
        <p:spPr>
          <a:xfrm>
            <a:off x="1399031" y="466439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4883848"/>
            <a:ext cx="9987991" cy="423672"/>
          </a:xfrm>
          <a:prstGeom prst="rect">
            <a:avLst/>
          </a:prstGeom>
          <a:noFill/>
        </p:spPr>
        <p:txBody>
          <a:bodyPr wrap="square" anchor="t" lIns="0" rIns="0" tIns="0" bIns="0">
            <a:spAutoFit/>
          </a:bodyPr>
          <a:lstStyle/>
          <a:p>
            <a:r>
              <a:rPr sz="1500" b="0" i="0">
                <a:solidFill>
                  <a:srgbClr val="1A1440"/>
                </a:solidFill>
                <a:latin typeface="Calibri"/>
              </a:rPr>
              <a:t>[F] What has to match before a quarter-on-quarter comparison is fair?</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22" name="Oval 21"/>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Round 1, is the drop real</a:t>
            </a:r>
          </a:p>
        </p:txBody>
      </p:sp>
      <p:sp>
        <p:nvSpPr>
          <p:cNvPr id="24" name="Oval 23"/>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26" name="Oval 25"/>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21 / 52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03</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Round 2, which branch moved</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The tree meets both quarters, and one branch carries the fall while the one Marketing wants to fund stays flat.</a:t>
            </a:r>
          </a:p>
        </p:txBody>
      </p:sp>
      <p:sp>
        <p:nvSpPr>
          <p:cNvPr id="10" name="Rounded Rectangle 9"/>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ask and the thinking</a:t>
            </a:r>
          </a:p>
        </p:txBody>
      </p:sp>
      <p:sp>
        <p:nvSpPr>
          <p:cNvPr id="11" name="Rounded Rectangle 10"/>
          <p:cNvSpPr/>
          <p:nvPr/>
        </p:nvSpPr>
        <p:spPr>
          <a:xfrm>
            <a:off x="2628191"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Round 1, is the drop real</a:t>
            </a:r>
          </a:p>
        </p:txBody>
      </p:sp>
      <p:sp>
        <p:nvSpPr>
          <p:cNvPr id="12" name="Rounded Rectangle 11"/>
          <p:cNvSpPr/>
          <p:nvPr/>
        </p:nvSpPr>
        <p:spPr>
          <a:xfrm>
            <a:off x="4584078" y="5074920"/>
            <a:ext cx="1964591"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Round 2, which branch moved</a:t>
            </a:r>
          </a:p>
        </p:txBody>
      </p:sp>
      <p:sp>
        <p:nvSpPr>
          <p:cNvPr id="13" name="Rounded Rectangle 12"/>
          <p:cNvSpPr/>
          <p:nvPr/>
        </p:nvSpPr>
        <p:spPr>
          <a:xfrm>
            <a:off x="6658397" y="5074920"/>
            <a:ext cx="214884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Round 3, every kind of customer</a:t>
            </a:r>
          </a:p>
        </p:txBody>
      </p:sp>
      <p:sp>
        <p:nvSpPr>
          <p:cNvPr id="14" name="TextBox 13"/>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2: which branch moved</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22 / 52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Marketing bets on customers; Meera wants proof</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Three branches, one of them already funded in Marketing's head.</a:t>
            </a:r>
          </a:p>
        </p:txBody>
      </p:sp>
      <p:pic>
        <p:nvPicPr>
          <p:cNvPr id="9" name="mermaid diagram" descr="e64d5b08de2f17ca.png"/>
          <p:cNvPicPr>
            <a:picLocks noChangeAspect="1"/>
          </p:cNvPicPr>
          <p:nvPr/>
        </p:nvPicPr>
        <p:blipFill>
          <a:blip r:embed="rId6"/>
          <a:stretch>
            <a:fillRect/>
          </a:stretch>
        </p:blipFill>
        <p:spPr>
          <a:xfrm>
            <a:off x="3766985" y="1956816"/>
            <a:ext cx="4657725" cy="2714625"/>
          </a:xfrm>
          <a:prstGeom prst="rect">
            <a:avLst/>
          </a:prstGeom>
        </p:spPr>
      </p:pic>
      <p:sp>
        <p:nvSpPr>
          <p:cNvPr id="10" name="Rounded Rectangle 9"/>
          <p:cNvSpPr/>
          <p:nvPr/>
        </p:nvSpPr>
        <p:spPr>
          <a:xfrm>
            <a:off x="530352" y="4817745"/>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5020437"/>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message-square_028dbd132a0a.png"/>
          <p:cNvPicPr>
            <a:picLocks noChangeAspect="1"/>
          </p:cNvPicPr>
          <p:nvPr/>
        </p:nvPicPr>
        <p:blipFill>
          <a:blip r:embed="rId5"/>
          <a:stretch>
            <a:fillRect/>
          </a:stretch>
        </p:blipFill>
        <p:spPr>
          <a:xfrm>
            <a:off x="868680" y="5130165"/>
            <a:ext cx="237744" cy="237744"/>
          </a:xfrm>
          <a:prstGeom prst="rect">
            <a:avLst/>
          </a:prstGeom>
        </p:spPr>
      </p:pic>
      <p:sp>
        <p:nvSpPr>
          <p:cNvPr id="13" name="TextBox 12"/>
          <p:cNvSpPr txBox="1"/>
          <p:nvPr/>
        </p:nvSpPr>
        <p:spPr>
          <a:xfrm>
            <a:off x="1399031" y="4964049"/>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4" name="TextBox 13"/>
          <p:cNvSpPr txBox="1"/>
          <p:nvPr/>
        </p:nvSpPr>
        <p:spPr>
          <a:xfrm>
            <a:off x="1399031" y="5183505"/>
            <a:ext cx="9987991" cy="423672"/>
          </a:xfrm>
          <a:prstGeom prst="rect">
            <a:avLst/>
          </a:prstGeom>
          <a:noFill/>
        </p:spPr>
        <p:txBody>
          <a:bodyPr wrap="square" anchor="t" lIns="0" rIns="0" tIns="0" bIns="0">
            <a:spAutoFit/>
          </a:bodyPr>
          <a:lstStyle/>
          <a:p>
            <a:r>
              <a:rPr sz="1500" b="0" i="0">
                <a:solidFill>
                  <a:srgbClr val="FFFFFF"/>
                </a:solidFill>
                <a:latin typeface="Calibri"/>
              </a:rPr>
              <a:t>"Are we losing customers, or are the ones we have buying less?"</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7" name="Oval 1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9" name="Oval 18"/>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45337"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Round 2, which branch moved</a:t>
            </a:r>
          </a:p>
        </p:txBody>
      </p:sp>
      <p:sp>
        <p:nvSpPr>
          <p:cNvPr id="21" name="Oval 20"/>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23 / 52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Group by key with a dictionary accumulator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One pass over the orders fills a total for every quarter at once.</a:t>
            </a:r>
          </a:p>
        </p:txBody>
      </p:sp>
      <p:sp>
        <p:nvSpPr>
          <p:cNvPr id="9" name="Rounded Rectangle 8"/>
          <p:cNvSpPr/>
          <p:nvPr/>
        </p:nvSpPr>
        <p:spPr>
          <a:xfrm>
            <a:off x="530352" y="1956816"/>
            <a:ext cx="11130991" cy="1719580"/>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317244"/>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revenue_by_q = {}</a:t>
            </a:r>
          </a:p>
          <a:p>
            <a:pPr>
              <a:spcAft>
                <a:spcPts val="200"/>
              </a:spcAft>
            </a:pPr>
            <a:r>
              <a:rPr sz="1400" b="0" i="0">
                <a:solidFill>
                  <a:srgbClr val="E4E1F1"/>
                </a:solidFill>
                <a:latin typeface="Consolas"/>
              </a:rPr>
              <a:t>for order in ORDERS:</a:t>
            </a:r>
          </a:p>
          <a:p>
            <a:pPr>
              <a:spcAft>
                <a:spcPts val="200"/>
              </a:spcAft>
            </a:pPr>
            <a:r>
              <a:rPr sz="1400" b="0" i="0">
                <a:solidFill>
                  <a:srgbClr val="E4E1F1"/>
                </a:solidFill>
                <a:latin typeface="Consolas"/>
              </a:rPr>
              <a:t>    q = order["quarter"]</a:t>
            </a:r>
          </a:p>
          <a:p>
            <a:pPr>
              <a:spcAft>
                <a:spcPts val="200"/>
              </a:spcAft>
            </a:pPr>
            <a:r>
              <a:rPr sz="1400" b="0" i="0">
                <a:solidFill>
                  <a:srgbClr val="E4E1F1"/>
                </a:solidFill>
                <a:latin typeface="Consolas"/>
              </a:rPr>
              <a:t>    revenue_by_q[q] = revenue_by_q.get(q, 0) + order["amount"]</a:t>
            </a:r>
          </a:p>
          <a:p>
            <a:pPr>
              <a:spcAft>
                <a:spcPts val="200"/>
              </a:spcAft>
            </a:pPr>
            <a:r>
              <a:rPr sz="1400" b="0" i="0">
                <a:solidFill>
                  <a:srgbClr val="E4E1F1"/>
                </a:solidFill>
                <a:latin typeface="Consolas"/>
              </a:rPr>
              <a:t>print(revenue_by_q)   # {'Q1': 21000000, 'Q2': 18700000}</a:t>
            </a:r>
          </a:p>
        </p:txBody>
      </p:sp>
      <p:pic>
        <p:nvPicPr>
          <p:cNvPr id="14" name="mermaid diagram" descr="faa1bdd1ef5d07f9.png"/>
          <p:cNvPicPr>
            <a:picLocks noChangeAspect="1"/>
          </p:cNvPicPr>
          <p:nvPr/>
        </p:nvPicPr>
        <p:blipFill>
          <a:blip r:embed="rId5"/>
          <a:stretch>
            <a:fillRect/>
          </a:stretch>
        </p:blipFill>
        <p:spPr>
          <a:xfrm>
            <a:off x="3174053" y="3840988"/>
            <a:ext cx="5843587" cy="871537"/>
          </a:xfrm>
          <a:prstGeom prst="rect">
            <a:avLst/>
          </a:prstGeom>
        </p:spPr>
      </p:pic>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7" name="Oval 1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9" name="Oval 18"/>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45337"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Round 2, which branch moved</a:t>
            </a:r>
          </a:p>
        </p:txBody>
      </p:sp>
      <p:sp>
        <p:nvSpPr>
          <p:cNvPr id="21" name="Oval 20"/>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24 / 52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Step 2: count orders and customers per quarter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Orders are rows; customers are distinct ids, counted with Monday's seen list.</a:t>
            </a:r>
          </a:p>
        </p:txBody>
      </p:sp>
      <p:sp>
        <p:nvSpPr>
          <p:cNvPr id="9" name="Rounded Rectangle 8"/>
          <p:cNvSpPr/>
          <p:nvPr/>
        </p:nvSpPr>
        <p:spPr>
          <a:xfrm>
            <a:off x="530352" y="1956816"/>
            <a:ext cx="11130991" cy="1972055"/>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569719"/>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customers = {"Q1": [], "Q2": []}</a:t>
            </a:r>
          </a:p>
          <a:p>
            <a:pPr>
              <a:spcAft>
                <a:spcPts val="200"/>
              </a:spcAft>
            </a:pPr>
            <a:r>
              <a:rPr sz="1400" b="0" i="0">
                <a:solidFill>
                  <a:srgbClr val="E4E1F1"/>
                </a:solidFill>
                <a:latin typeface="Consolas"/>
              </a:rPr>
              <a:t>for order in ORDERS:</a:t>
            </a:r>
          </a:p>
          <a:p>
            <a:pPr>
              <a:spcAft>
                <a:spcPts val="200"/>
              </a:spcAft>
            </a:pPr>
            <a:r>
              <a:rPr sz="1400" b="0" i="0">
                <a:solidFill>
                  <a:srgbClr val="E4E1F1"/>
                </a:solidFill>
                <a:latin typeface="Consolas"/>
              </a:rPr>
              <a:t>    q, cid = order["quarter"], order["customer_id"]</a:t>
            </a:r>
          </a:p>
          <a:p>
            <a:pPr>
              <a:spcAft>
                <a:spcPts val="200"/>
              </a:spcAft>
            </a:pPr>
            <a:r>
              <a:rPr sz="1400" b="0" i="0">
                <a:solidFill>
                  <a:srgbClr val="E4E1F1"/>
                </a:solidFill>
                <a:latin typeface="Consolas"/>
              </a:rPr>
              <a:t>    if cid not in customers[q]:</a:t>
            </a:r>
          </a:p>
          <a:p>
            <a:pPr>
              <a:spcAft>
                <a:spcPts val="200"/>
              </a:spcAft>
            </a:pPr>
            <a:r>
              <a:rPr sz="1400" b="0" i="0">
                <a:solidFill>
                  <a:srgbClr val="E4E1F1"/>
                </a:solidFill>
                <a:latin typeface="Consolas"/>
              </a:rPr>
              <a:t>        customers[q].append(cid)</a:t>
            </a:r>
          </a:p>
          <a:p>
            <a:pPr>
              <a:spcAft>
                <a:spcPts val="200"/>
              </a:spcAft>
            </a:pPr>
            <a:r>
              <a:rPr sz="1400" b="0" i="0">
                <a:solidFill>
                  <a:srgbClr val="E4E1F1"/>
                </a:solidFill>
                <a:latin typeface="Consolas"/>
              </a:rPr>
              <a:t>print(len(customers["Q1"]), len(customers["Q2"]))</a:t>
            </a:r>
          </a:p>
        </p:txBody>
      </p:sp>
      <p:graphicFrame>
        <p:nvGraphicFramePr>
          <p:cNvPr id="14" name="Table 13"/>
          <p:cNvGraphicFramePr>
            <a:graphicFrameLocks noGrp="1"/>
          </p:cNvGraphicFramePr>
          <p:nvPr/>
        </p:nvGraphicFramePr>
        <p:xfrm>
          <a:off x="530352" y="4093463"/>
          <a:ext cx="11130991" cy="1109472"/>
        </p:xfrm>
        <a:graphic>
          <a:graphicData uri="http://schemas.openxmlformats.org/drawingml/2006/table">
            <a:tbl>
              <a:tblPr firstRow="0" bandRow="0">
                <a:tableStyleId>{2D5ABB26-0587-4C30-8999-92F81FD0307C}</a:tableStyleId>
              </a:tblPr>
              <a:tblGrid>
                <a:gridCol w="4603999"/>
                <a:gridCol w="914400"/>
                <a:gridCol w="5612592"/>
              </a:tblGrid>
              <a:tr h="369824">
                <a:tc>
                  <a:txBody>
                    <a:bodyPr/>
                    <a:lstStyle/>
                    <a:p>
                      <a:r>
                        <a:rPr sz="1450" b="1" i="0">
                          <a:solidFill>
                            <a:srgbClr val="FFFFFF"/>
                          </a:solidFill>
                          <a:latin typeface="Calibri"/>
                        </a:rPr>
                        <a:t>Quarter</a:t>
                      </a:r>
                    </a:p>
                  </a:txBody>
                  <a:tcPr marL="101600" marR="101600" marT="38100" marB="38100" anchor="ctr">
                    <a:solidFill>
                      <a:srgbClr val="1A0F5C"/>
                    </a:solidFill>
                  </a:tcPr>
                </a:tc>
                <a:tc>
                  <a:txBody>
                    <a:bodyPr/>
                    <a:lstStyle/>
                    <a:p>
                      <a:r>
                        <a:rPr sz="1450" b="1" i="0">
                          <a:solidFill>
                            <a:srgbClr val="FFFFFF"/>
                          </a:solidFill>
                          <a:latin typeface="Calibri"/>
                        </a:rPr>
                        <a:t>Orders</a:t>
                      </a:r>
                    </a:p>
                  </a:txBody>
                  <a:tcPr marL="101600" marR="101600" marT="38100" marB="38100" anchor="ctr">
                    <a:solidFill>
                      <a:srgbClr val="1A0F5C"/>
                    </a:solidFill>
                  </a:tcPr>
                </a:tc>
                <a:tc>
                  <a:txBody>
                    <a:bodyPr/>
                    <a:lstStyle/>
                    <a:p>
                      <a:r>
                        <a:rPr sz="1450" b="1" i="0">
                          <a:solidFill>
                            <a:srgbClr val="FFFFFF"/>
                          </a:solidFill>
                          <a:latin typeface="Calibri"/>
                        </a:rPr>
                        <a:t>Customers</a:t>
                      </a:r>
                    </a:p>
                  </a:txBody>
                  <a:tcPr marL="101600" marR="101600" marT="38100" marB="38100" anchor="ctr">
                    <a:solidFill>
                      <a:srgbClr val="1A0F5C"/>
                    </a:solidFill>
                  </a:tcPr>
                </a:tc>
              </a:tr>
              <a:tr h="369824">
                <a:tc>
                  <a:txBody>
                    <a:bodyPr/>
                    <a:lstStyle/>
                    <a:p>
                      <a:r>
                        <a:rPr sz="1400" b="0" i="0">
                          <a:solidFill>
                            <a:srgbClr val="1A1440"/>
                          </a:solidFill>
                          <a:latin typeface="Calibri"/>
                        </a:rPr>
                        <a:t>Q1</a:t>
                      </a:r>
                    </a:p>
                  </a:txBody>
                  <a:tcPr marL="101600" marR="101600" marT="38100" marB="38100" anchor="ctr">
                    <a:solidFill>
                      <a:srgbClr val="FFFFFF"/>
                    </a:solidFill>
                  </a:tcPr>
                </a:tc>
                <a:tc>
                  <a:txBody>
                    <a:bodyPr/>
                    <a:lstStyle/>
                    <a:p>
                      <a:r>
                        <a:rPr sz="1400" b="0" i="0">
                          <a:solidFill>
                            <a:srgbClr val="1A1440"/>
                          </a:solidFill>
                          <a:latin typeface="Calibri"/>
                        </a:rPr>
                        <a:t>114</a:t>
                      </a:r>
                    </a:p>
                  </a:txBody>
                  <a:tcPr marL="101600" marR="101600" marT="38100" marB="38100" anchor="ctr">
                    <a:solidFill>
                      <a:srgbClr val="FFFFFF"/>
                    </a:solidFill>
                  </a:tcPr>
                </a:tc>
                <a:tc>
                  <a:txBody>
                    <a:bodyPr/>
                    <a:lstStyle/>
                    <a:p>
                      <a:r>
                        <a:rPr sz="1400" b="0" i="0">
                          <a:solidFill>
                            <a:srgbClr val="1A1440"/>
                          </a:solidFill>
                          <a:latin typeface="Calibri"/>
                        </a:rPr>
                        <a:t>69</a:t>
                      </a:r>
                    </a:p>
                  </a:txBody>
                  <a:tcPr marL="101600" marR="101600" marT="38100" marB="38100" anchor="ctr">
                    <a:solidFill>
                      <a:srgbClr val="FFFFFF"/>
                    </a:solidFill>
                  </a:tcPr>
                </a:tc>
              </a:tr>
              <a:tr h="369824">
                <a:tc>
                  <a:txBody>
                    <a:bodyPr/>
                    <a:lstStyle/>
                    <a:p>
                      <a:r>
                        <a:rPr sz="1400" b="0" i="0">
                          <a:solidFill>
                            <a:srgbClr val="1A1440"/>
                          </a:solidFill>
                          <a:latin typeface="Calibri"/>
                        </a:rPr>
                        <a:t>Q2</a:t>
                      </a:r>
                    </a:p>
                  </a:txBody>
                  <a:tcPr marL="101600" marR="101600" marT="38100" marB="38100" anchor="ctr">
                    <a:solidFill>
                      <a:srgbClr val="F4F2FA"/>
                    </a:solidFill>
                  </a:tcPr>
                </a:tc>
                <a:tc>
                  <a:txBody>
                    <a:bodyPr/>
                    <a:lstStyle/>
                    <a:p>
                      <a:r>
                        <a:rPr sz="1400" b="0" i="0">
                          <a:solidFill>
                            <a:srgbClr val="1A1440"/>
                          </a:solidFill>
                          <a:latin typeface="Calibri"/>
                        </a:rPr>
                        <a:t>86</a:t>
                      </a:r>
                    </a:p>
                  </a:txBody>
                  <a:tcPr marL="101600" marR="101600" marT="38100" marB="38100" anchor="ctr">
                    <a:solidFill>
                      <a:srgbClr val="F4F2FA"/>
                    </a:solidFill>
                  </a:tcPr>
                </a:tc>
                <a:tc>
                  <a:txBody>
                    <a:bodyPr/>
                    <a:lstStyle/>
                    <a:p>
                      <a:r>
                        <a:rPr sz="1400" b="0" i="0">
                          <a:solidFill>
                            <a:srgbClr val="1A1440"/>
                          </a:solidFill>
                          <a:latin typeface="Calibri"/>
                        </a:rPr>
                        <a:t>?</a:t>
                      </a:r>
                    </a:p>
                  </a:txBody>
                  <a:tcPr marL="101600" marR="101600" marT="38100" marB="38100" anchor="ctr">
                    <a:solidFill>
                      <a:srgbClr val="F4F2FA"/>
                    </a:solidFill>
                  </a:tcPr>
                </a:tc>
              </a:tr>
            </a:tbl>
          </a:graphicData>
        </a:graphic>
      </p:graphicFrame>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7" name="Oval 1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9" name="Oval 18"/>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45337"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Round 2, which branch moved</a:t>
            </a:r>
          </a:p>
        </p:txBody>
      </p:sp>
      <p:sp>
        <p:nvSpPr>
          <p:cNvPr id="21" name="Oval 20"/>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25 / 52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how many customers bought in Q2</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Orders fell from 114 to 86, and Marketing says customers are the problem.</a:t>
            </a:r>
          </a:p>
        </p:txBody>
      </p:sp>
      <p:sp>
        <p:nvSpPr>
          <p:cNvPr id="9" name="TextBox 8"/>
          <p:cNvSpPr txBox="1"/>
          <p:nvPr/>
        </p:nvSpPr>
        <p:spPr>
          <a:xfrm>
            <a:off x="530352"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69</a:t>
            </a:r>
          </a:p>
        </p:txBody>
      </p:sp>
      <p:sp>
        <p:nvSpPr>
          <p:cNvPr id="10" name="TextBox 9"/>
          <p:cNvSpPr txBox="1"/>
          <p:nvPr/>
        </p:nvSpPr>
        <p:spPr>
          <a:xfrm>
            <a:off x="530352"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Q1 CUSTOMERS</a:t>
            </a:r>
          </a:p>
        </p:txBody>
      </p:sp>
      <p:sp>
        <p:nvSpPr>
          <p:cNvPr id="11" name="TextBox 10"/>
          <p:cNvSpPr txBox="1"/>
          <p:nvPr/>
        </p:nvSpPr>
        <p:spPr>
          <a:xfrm>
            <a:off x="530352"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distinct ids, 1 April to 30 June</a:t>
            </a:r>
          </a:p>
        </p:txBody>
      </p:sp>
      <p:sp>
        <p:nvSpPr>
          <p:cNvPr id="12" name="Rectangle 11"/>
          <p:cNvSpPr/>
          <p:nvPr/>
        </p:nvSpPr>
        <p:spPr>
          <a:xfrm>
            <a:off x="530352"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33007"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86</a:t>
            </a:r>
          </a:p>
        </p:txBody>
      </p:sp>
      <p:sp>
        <p:nvSpPr>
          <p:cNvPr id="14" name="TextBox 13"/>
          <p:cNvSpPr txBox="1"/>
          <p:nvPr/>
        </p:nvSpPr>
        <p:spPr>
          <a:xfrm>
            <a:off x="6233007"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Q2 ORDERS</a:t>
            </a:r>
          </a:p>
        </p:txBody>
      </p:sp>
      <p:sp>
        <p:nvSpPr>
          <p:cNvPr id="15" name="TextBox 14"/>
          <p:cNvSpPr txBox="1"/>
          <p:nvPr/>
        </p:nvSpPr>
        <p:spPr>
          <a:xfrm>
            <a:off x="6233007"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down from 114</a:t>
            </a:r>
          </a:p>
        </p:txBody>
      </p:sp>
      <p:sp>
        <p:nvSpPr>
          <p:cNvPr id="16" name="Rectangle 15"/>
          <p:cNvSpPr/>
          <p:nvPr/>
        </p:nvSpPr>
        <p:spPr>
          <a:xfrm>
            <a:off x="6233007"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30352" y="3419856"/>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676656" y="3547872"/>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77824" y="3538728"/>
            <a:ext cx="10564063" cy="3581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Predict Q2's customer count: a) 52, since orders fell by a quarter; b) 69; c) 81; d) 86.</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22" name="Oval 2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24" name="Oval 23"/>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845337"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Round 2, which branch moved</a:t>
            </a:r>
          </a:p>
        </p:txBody>
      </p:sp>
      <p:sp>
        <p:nvSpPr>
          <p:cNvPr id="26" name="Oval 25"/>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S22  ·  26 / 52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69 customers in both quarters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branch Marketing wants to fund did not move.</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69</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Q1 CUSTOMERS</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114 orders</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69</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Q2 CUSTOMERS</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86 orders</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0.0%</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CHANGE IN CUSTOMERS</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acquisition branch</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76656" y="3547872"/>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77824" y="3538728"/>
            <a:ext cx="10564063" cy="358140"/>
          </a:xfrm>
          <a:prstGeom prst="rect">
            <a:avLst/>
          </a:prstGeom>
          <a:noFill/>
        </p:spPr>
        <p:txBody>
          <a:bodyPr wrap="square" anchor="ctr" lIns="0" rIns="0" tIns="0" bIns="0">
            <a:spAutoFit/>
          </a:bodyPr>
          <a:lstStyle/>
          <a:p>
            <a:r>
              <a:rPr sz="1500" b="1">
                <a:solidFill>
                  <a:srgbClr val="5B3FD6"/>
                </a:solidFill>
                <a:latin typeface="Calibri"/>
              </a:rPr>
              <a:t>The claim. </a:t>
            </a:r>
            <a:r>
              <a:rPr sz="1500" b="0" i="0">
                <a:solidFill>
                  <a:srgbClr val="1A1440"/>
                </a:solidFill>
                <a:latin typeface="Calibri"/>
              </a:rPr>
              <a:t>Customers held at 69, so the fall sits in how often they buy or in what each order brings.</a:t>
            </a:r>
          </a:p>
        </p:txBody>
      </p:sp>
      <p:sp>
        <p:nvSpPr>
          <p:cNvPr id="24" name="Oval 2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26" name="Oval 25"/>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28" name="Oval 27"/>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845337"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Round 2, which branch moved</a:t>
            </a:r>
          </a:p>
        </p:txBody>
      </p:sp>
      <p:sp>
        <p:nvSpPr>
          <p:cNvPr id="30" name="Oval 29"/>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S23  ·  27 / 52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tree says frequency moved and order value rose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Customers flat, orders per customer down a quarter, revenue per order up.</a:t>
            </a:r>
          </a:p>
        </p:txBody>
      </p:sp>
      <p:graphicFrame>
        <p:nvGraphicFramePr>
          <p:cNvPr id="9" name="Table 8"/>
          <p:cNvGraphicFramePr>
            <a:graphicFrameLocks noGrp="1"/>
          </p:cNvGraphicFramePr>
          <p:nvPr/>
        </p:nvGraphicFramePr>
        <p:xfrm>
          <a:off x="530352" y="1956816"/>
          <a:ext cx="11130989" cy="1676400"/>
        </p:xfrm>
        <a:graphic>
          <a:graphicData uri="http://schemas.openxmlformats.org/drawingml/2006/table">
            <a:tbl>
              <a:tblPr firstRow="0" bandRow="0">
                <a:tableStyleId>{2D5ABB26-0587-4C30-8999-92F81FD0307C}</a:tableStyleId>
              </a:tblPr>
              <a:tblGrid>
                <a:gridCol w="3569394"/>
                <a:gridCol w="3405530"/>
                <a:gridCol w="3241665"/>
                <a:gridCol w="914400"/>
              </a:tblGrid>
              <a:tr h="335280">
                <a:tc>
                  <a:txBody>
                    <a:bodyPr/>
                    <a:lstStyle/>
                    <a:p>
                      <a:r>
                        <a:rPr sz="1250" b="1" i="0">
                          <a:solidFill>
                            <a:srgbClr val="FFFFFF"/>
                          </a:solidFill>
                          <a:latin typeface="Calibri"/>
                        </a:rPr>
                        <a:t>Branch</a:t>
                      </a:r>
                    </a:p>
                  </a:txBody>
                  <a:tcPr marL="101600" marR="101600" marT="38100" marB="38100" anchor="ctr">
                    <a:solidFill>
                      <a:srgbClr val="1A0F5C"/>
                    </a:solidFill>
                  </a:tcPr>
                </a:tc>
                <a:tc>
                  <a:txBody>
                    <a:bodyPr/>
                    <a:lstStyle/>
                    <a:p>
                      <a:r>
                        <a:rPr sz="1250" b="1" i="0">
                          <a:solidFill>
                            <a:srgbClr val="FFFFFF"/>
                          </a:solidFill>
                          <a:latin typeface="Calibri"/>
                        </a:rPr>
                        <a:t>Q1</a:t>
                      </a:r>
                    </a:p>
                  </a:txBody>
                  <a:tcPr marL="101600" marR="101600" marT="38100" marB="38100" anchor="ctr">
                    <a:solidFill>
                      <a:srgbClr val="1A0F5C"/>
                    </a:solidFill>
                  </a:tcPr>
                </a:tc>
                <a:tc>
                  <a:txBody>
                    <a:bodyPr/>
                    <a:lstStyle/>
                    <a:p>
                      <a:r>
                        <a:rPr sz="1250" b="1" i="0">
                          <a:solidFill>
                            <a:srgbClr val="FFFFFF"/>
                          </a:solidFill>
                          <a:latin typeface="Calibri"/>
                        </a:rPr>
                        <a:t>Q2</a:t>
                      </a:r>
                    </a:p>
                  </a:txBody>
                  <a:tcPr marL="101600" marR="101600" marT="38100" marB="38100" anchor="ctr">
                    <a:solidFill>
                      <a:srgbClr val="1A0F5C"/>
                    </a:solidFill>
                  </a:tcPr>
                </a:tc>
                <a:tc>
                  <a:txBody>
                    <a:bodyPr/>
                    <a:lstStyle/>
                    <a:p>
                      <a:r>
                        <a:rPr sz="1250" b="1" i="0">
                          <a:solidFill>
                            <a:srgbClr val="FFFFFF"/>
                          </a:solidFill>
                          <a:latin typeface="Calibri"/>
                        </a:rPr>
                        <a:t>Change</a:t>
                      </a:r>
                    </a:p>
                  </a:txBody>
                  <a:tcPr marL="101600" marR="101600" marT="38100" marB="38100" anchor="ctr">
                    <a:solidFill>
                      <a:srgbClr val="1A0F5C"/>
                    </a:solidFill>
                  </a:tcPr>
                </a:tc>
              </a:tr>
              <a:tr h="335280">
                <a:tc>
                  <a:txBody>
                    <a:bodyPr/>
                    <a:lstStyle/>
                    <a:p>
                      <a:r>
                        <a:rPr sz="1200" b="0" i="0">
                          <a:solidFill>
                            <a:srgbClr val="1A1440"/>
                          </a:solidFill>
                          <a:latin typeface="Calibri"/>
                        </a:rPr>
                        <a:t>Customers</a:t>
                      </a:r>
                    </a:p>
                  </a:txBody>
                  <a:tcPr marL="101600" marR="101600" marT="38100" marB="38100" anchor="ctr">
                    <a:solidFill>
                      <a:srgbClr val="FFFFFF"/>
                    </a:solidFill>
                  </a:tcPr>
                </a:tc>
                <a:tc>
                  <a:txBody>
                    <a:bodyPr/>
                    <a:lstStyle/>
                    <a:p>
                      <a:r>
                        <a:rPr sz="1200" b="0" i="0">
                          <a:solidFill>
                            <a:srgbClr val="1A1440"/>
                          </a:solidFill>
                          <a:latin typeface="Calibri"/>
                        </a:rPr>
                        <a:t>69</a:t>
                      </a:r>
                    </a:p>
                  </a:txBody>
                  <a:tcPr marL="101600" marR="101600" marT="38100" marB="38100" anchor="ctr">
                    <a:solidFill>
                      <a:srgbClr val="FFFFFF"/>
                    </a:solidFill>
                  </a:tcPr>
                </a:tc>
                <a:tc>
                  <a:txBody>
                    <a:bodyPr/>
                    <a:lstStyle/>
                    <a:p>
                      <a:r>
                        <a:rPr sz="1200" b="0" i="0">
                          <a:solidFill>
                            <a:srgbClr val="1A1440"/>
                          </a:solidFill>
                          <a:latin typeface="Calibri"/>
                        </a:rPr>
                        <a:t>69</a:t>
                      </a:r>
                    </a:p>
                  </a:txBody>
                  <a:tcPr marL="101600" marR="101600" marT="38100" marB="38100" anchor="ctr">
                    <a:solidFill>
                      <a:srgbClr val="FFFFFF"/>
                    </a:solidFill>
                  </a:tcPr>
                </a:tc>
                <a:tc>
                  <a:txBody>
                    <a:bodyPr/>
                    <a:lstStyle/>
                    <a:p>
                      <a:r>
                        <a:rPr sz="1200" b="0" i="0">
                          <a:solidFill>
                            <a:srgbClr val="1A1440"/>
                          </a:solidFill>
                          <a:latin typeface="Calibri"/>
                        </a:rPr>
                        <a:t>0.0%</a:t>
                      </a:r>
                    </a:p>
                  </a:txBody>
                  <a:tcPr marL="101600" marR="101600" marT="38100" marB="38100" anchor="ctr">
                    <a:solidFill>
                      <a:srgbClr val="FFFFFF"/>
                    </a:solidFill>
                  </a:tcPr>
                </a:tc>
              </a:tr>
              <a:tr h="335280">
                <a:tc>
                  <a:txBody>
                    <a:bodyPr/>
                    <a:lstStyle/>
                    <a:p>
                      <a:r>
                        <a:rPr sz="1200" b="0" i="0">
                          <a:solidFill>
                            <a:srgbClr val="1A1440"/>
                          </a:solidFill>
                          <a:latin typeface="Calibri"/>
                        </a:rPr>
                        <a:t>Orders per customer</a:t>
                      </a:r>
                    </a:p>
                  </a:txBody>
                  <a:tcPr marL="101600" marR="101600" marT="38100" marB="38100" anchor="ctr">
                    <a:solidFill>
                      <a:srgbClr val="F4F2FA"/>
                    </a:solidFill>
                  </a:tcPr>
                </a:tc>
                <a:tc>
                  <a:txBody>
                    <a:bodyPr/>
                    <a:lstStyle/>
                    <a:p>
                      <a:r>
                        <a:rPr sz="1200" b="0" i="0">
                          <a:solidFill>
                            <a:srgbClr val="1A1440"/>
                          </a:solidFill>
                          <a:latin typeface="Calibri"/>
                        </a:rPr>
                        <a:t>1.65 (114 over 69)</a:t>
                      </a:r>
                    </a:p>
                  </a:txBody>
                  <a:tcPr marL="101600" marR="101600" marT="38100" marB="38100" anchor="ctr">
                    <a:solidFill>
                      <a:srgbClr val="F4F2FA"/>
                    </a:solidFill>
                  </a:tcPr>
                </a:tc>
                <a:tc>
                  <a:txBody>
                    <a:bodyPr/>
                    <a:lstStyle/>
                    <a:p>
                      <a:r>
                        <a:rPr sz="1200" b="0" i="0">
                          <a:solidFill>
                            <a:srgbClr val="1A1440"/>
                          </a:solidFill>
                          <a:latin typeface="Calibri"/>
                        </a:rPr>
                        <a:t>1.25 (86 over 69)</a:t>
                      </a:r>
                    </a:p>
                  </a:txBody>
                  <a:tcPr marL="101600" marR="101600" marT="38100" marB="38100" anchor="ctr">
                    <a:solidFill>
                      <a:srgbClr val="F4F2FA"/>
                    </a:solidFill>
                  </a:tcPr>
                </a:tc>
                <a:tc>
                  <a:txBody>
                    <a:bodyPr/>
                    <a:lstStyle/>
                    <a:p>
                      <a:r>
                        <a:rPr sz="1200" b="0" i="0">
                          <a:solidFill>
                            <a:srgbClr val="1A1440"/>
                          </a:solidFill>
                          <a:latin typeface="Calibri"/>
                        </a:rPr>
                        <a:t>-24.6%</a:t>
                      </a:r>
                    </a:p>
                  </a:txBody>
                  <a:tcPr marL="101600" marR="101600" marT="38100" marB="38100" anchor="ctr">
                    <a:solidFill>
                      <a:srgbClr val="F4F2FA"/>
                    </a:solidFill>
                  </a:tcPr>
                </a:tc>
              </a:tr>
              <a:tr h="335280">
                <a:tc>
                  <a:txBody>
                    <a:bodyPr/>
                    <a:lstStyle/>
                    <a:p>
                      <a:r>
                        <a:rPr sz="1200" b="0" i="0">
                          <a:solidFill>
                            <a:srgbClr val="1A1440"/>
                          </a:solidFill>
                          <a:latin typeface="Calibri"/>
                        </a:rPr>
                        <a:t>Revenue per order</a:t>
                      </a:r>
                    </a:p>
                  </a:txBody>
                  <a:tcPr marL="101600" marR="101600" marT="38100" marB="38100" anchor="ctr">
                    <a:solidFill>
                      <a:srgbClr val="FFFFFF"/>
                    </a:solidFill>
                  </a:tcPr>
                </a:tc>
                <a:tc>
                  <a:txBody>
                    <a:bodyPr/>
                    <a:lstStyle/>
                    <a:p>
                      <a:r>
                        <a:rPr sz="1200" b="0" i="0">
                          <a:solidFill>
                            <a:srgbClr val="1A1440"/>
                          </a:solidFill>
                          <a:latin typeface="Calibri"/>
                        </a:rPr>
                        <a:t>Rs 1,84,211</a:t>
                      </a:r>
                    </a:p>
                  </a:txBody>
                  <a:tcPr marL="101600" marR="101600" marT="38100" marB="38100" anchor="ctr">
                    <a:solidFill>
                      <a:srgbClr val="FFFFFF"/>
                    </a:solidFill>
                  </a:tcPr>
                </a:tc>
                <a:tc>
                  <a:txBody>
                    <a:bodyPr/>
                    <a:lstStyle/>
                    <a:p>
                      <a:r>
                        <a:rPr sz="1200" b="0" i="0">
                          <a:solidFill>
                            <a:srgbClr val="1A1440"/>
                          </a:solidFill>
                          <a:latin typeface="Calibri"/>
                        </a:rPr>
                        <a:t>Rs 2,17,442</a:t>
                      </a:r>
                    </a:p>
                  </a:txBody>
                  <a:tcPr marL="101600" marR="101600" marT="38100" marB="38100" anchor="ctr">
                    <a:solidFill>
                      <a:srgbClr val="FFFFFF"/>
                    </a:solidFill>
                  </a:tcPr>
                </a:tc>
                <a:tc>
                  <a:txBody>
                    <a:bodyPr/>
                    <a:lstStyle/>
                    <a:p>
                      <a:r>
                        <a:rPr sz="1200" b="0" i="0">
                          <a:solidFill>
                            <a:srgbClr val="1A1440"/>
                          </a:solidFill>
                          <a:latin typeface="Calibri"/>
                        </a:rPr>
                        <a:t>+18.0%</a:t>
                      </a:r>
                    </a:p>
                  </a:txBody>
                  <a:tcPr marL="101600" marR="101600" marT="38100" marB="38100" anchor="ctr">
                    <a:solidFill>
                      <a:srgbClr val="FFFFFF"/>
                    </a:solidFill>
                  </a:tcPr>
                </a:tc>
              </a:tr>
              <a:tr h="335280">
                <a:tc>
                  <a:txBody>
                    <a:bodyPr/>
                    <a:lstStyle/>
                    <a:p>
                      <a:r>
                        <a:rPr sz="1200" b="0" i="0">
                          <a:solidFill>
                            <a:srgbClr val="1A1440"/>
                          </a:solidFill>
                          <a:latin typeface="Calibri"/>
                        </a:rPr>
                        <a:t>Revenue</a:t>
                      </a:r>
                    </a:p>
                  </a:txBody>
                  <a:tcPr marL="101600" marR="101600" marT="38100" marB="38100" anchor="ctr">
                    <a:solidFill>
                      <a:srgbClr val="F4F2FA"/>
                    </a:solidFill>
                  </a:tcPr>
                </a:tc>
                <a:tc>
                  <a:txBody>
                    <a:bodyPr/>
                    <a:lstStyle/>
                    <a:p>
                      <a:r>
                        <a:rPr sz="1200" b="0" i="0">
                          <a:solidFill>
                            <a:srgbClr val="1A1440"/>
                          </a:solidFill>
                          <a:latin typeface="Calibri"/>
                        </a:rPr>
                        <a:t>Rs 2,10,00,000</a:t>
                      </a:r>
                    </a:p>
                  </a:txBody>
                  <a:tcPr marL="101600" marR="101600" marT="38100" marB="38100" anchor="ctr">
                    <a:solidFill>
                      <a:srgbClr val="F4F2FA"/>
                    </a:solidFill>
                  </a:tcPr>
                </a:tc>
                <a:tc>
                  <a:txBody>
                    <a:bodyPr/>
                    <a:lstStyle/>
                    <a:p>
                      <a:r>
                        <a:rPr sz="1200" b="0" i="0">
                          <a:solidFill>
                            <a:srgbClr val="1A1440"/>
                          </a:solidFill>
                          <a:latin typeface="Calibri"/>
                        </a:rPr>
                        <a:t>Rs 1,87,00,000</a:t>
                      </a:r>
                    </a:p>
                  </a:txBody>
                  <a:tcPr marL="101600" marR="101600" marT="38100" marB="38100" anchor="ctr">
                    <a:solidFill>
                      <a:srgbClr val="F4F2FA"/>
                    </a:solidFill>
                  </a:tcPr>
                </a:tc>
                <a:tc>
                  <a:txBody>
                    <a:bodyPr/>
                    <a:lstStyle/>
                    <a:p>
                      <a:r>
                        <a:rPr sz="1200" b="0" i="0">
                          <a:solidFill>
                            <a:srgbClr val="1A1440"/>
                          </a:solidFill>
                          <a:latin typeface="Calibri"/>
                        </a:rPr>
                        <a:t>-11.0%</a:t>
                      </a:r>
                    </a:p>
                  </a:txBody>
                  <a:tcPr marL="101600" marR="101600" marT="38100" marB="38100" anchor="ctr">
                    <a:solidFill>
                      <a:srgbClr val="F4F2FA"/>
                    </a:solidFill>
                  </a:tcPr>
                </a:tc>
              </a:tr>
            </a:tbl>
          </a:graphicData>
        </a:graphic>
      </p:graphicFrame>
      <p:sp>
        <p:nvSpPr>
          <p:cNvPr id="10" name="Rounded Rectangle 9"/>
          <p:cNvSpPr/>
          <p:nvPr/>
        </p:nvSpPr>
        <p:spPr>
          <a:xfrm>
            <a:off x="530352" y="388924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17263"/>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08119"/>
            <a:ext cx="10564063" cy="6248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The branches multiply back to revenue: 1.000 times 0.754 times 1.180 is 0.890, and Rs 1.87 crore over Rs 2.10 crore is 0.890.</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7" name="Oval 16"/>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45337"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Round 2, which branch moved</a:t>
            </a:r>
          </a:p>
        </p:txBody>
      </p:sp>
      <p:sp>
        <p:nvSpPr>
          <p:cNvPr id="19" name="Oval 18"/>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S24  ·  28 / 52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In rupees, frequency cost Rs 51.6 lakh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revenue bridge moves one branch at a time from Q1 to Q2.</a:t>
            </a:r>
          </a:p>
        </p:txBody>
      </p:sp>
      <p:pic>
        <p:nvPicPr>
          <p:cNvPr id="9" name="mermaid diagram" descr="5c14b560c0097860.png"/>
          <p:cNvPicPr>
            <a:picLocks noChangeAspect="1"/>
          </p:cNvPicPr>
          <p:nvPr/>
        </p:nvPicPr>
        <p:blipFill>
          <a:blip r:embed="rId5"/>
          <a:stretch>
            <a:fillRect/>
          </a:stretch>
        </p:blipFill>
        <p:spPr>
          <a:xfrm>
            <a:off x="530352" y="1956816"/>
            <a:ext cx="11130991" cy="795070"/>
          </a:xfrm>
          <a:prstGeom prst="rect">
            <a:avLst/>
          </a:prstGeom>
        </p:spPr>
      </p:pic>
      <p:sp>
        <p:nvSpPr>
          <p:cNvPr id="10" name="TextBox 9"/>
          <p:cNvSpPr txBox="1"/>
          <p:nvPr/>
        </p:nvSpPr>
        <p:spPr>
          <a:xfrm>
            <a:off x="530352" y="2898190"/>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Frequency lost 28 orders at Q1's Rs 1,84,211 each; the remaining 86 orders each brought Rs 33,231 more.</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5" name="Oval 14"/>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45337"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Round 2, which branch moved</a:t>
            </a:r>
          </a:p>
        </p:txBody>
      </p:sp>
      <p:sp>
        <p:nvSpPr>
          <p:cNvPr id="17" name="Oval 16"/>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S25  ·  29 / 52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discount branch stops on a KeyError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Some orders carry no discount field, so asking for it by name stops the loop.</a:t>
            </a:r>
          </a:p>
        </p:txBody>
      </p:sp>
      <p:sp>
        <p:nvSpPr>
          <p:cNvPr id="9" name="Rounded Rectangle 8"/>
          <p:cNvSpPr/>
          <p:nvPr/>
        </p:nvSpPr>
        <p:spPr>
          <a:xfrm>
            <a:off x="530352" y="1956816"/>
            <a:ext cx="11130991" cy="1214627"/>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812291"/>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given = 0</a:t>
            </a:r>
          </a:p>
          <a:p>
            <a:pPr>
              <a:spcAft>
                <a:spcPts val="200"/>
              </a:spcAft>
            </a:pPr>
            <a:r>
              <a:rPr sz="1400" b="0" i="0">
                <a:solidFill>
                  <a:srgbClr val="E4E1F1"/>
                </a:solidFill>
                <a:latin typeface="Consolas"/>
              </a:rPr>
              <a:t>for order in ORDERS:</a:t>
            </a:r>
          </a:p>
          <a:p>
            <a:pPr>
              <a:spcAft>
                <a:spcPts val="200"/>
              </a:spcAft>
            </a:pPr>
            <a:r>
              <a:rPr sz="1400" b="0" i="0">
                <a:solidFill>
                  <a:srgbClr val="E4E1F1"/>
                </a:solidFill>
                <a:latin typeface="Consolas"/>
              </a:rPr>
              <a:t>    given += order["discount"]</a:t>
            </a:r>
          </a:p>
        </p:txBody>
      </p:sp>
      <p:sp>
        <p:nvSpPr>
          <p:cNvPr id="14" name="Rounded Rectangle 13"/>
          <p:cNvSpPr/>
          <p:nvPr/>
        </p:nvSpPr>
        <p:spPr>
          <a:xfrm>
            <a:off x="530352" y="3336036"/>
            <a:ext cx="11130991" cy="709676"/>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13232" y="346405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868680" y="346405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024128" y="346405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04671" y="3665219"/>
            <a:ext cx="10673791" cy="307340"/>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KeyError: 'discount'</a:t>
            </a:r>
          </a:p>
        </p:txBody>
      </p:sp>
      <p:sp>
        <p:nvSpPr>
          <p:cNvPr id="19" name="Oval 1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21" name="Oval 20"/>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23" name="Oval 22"/>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845337"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Round 2, which branch moved</a:t>
            </a:r>
          </a:p>
        </p:txBody>
      </p:sp>
      <p:sp>
        <p:nvSpPr>
          <p:cNvPr id="25" name="Oval 24"/>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S26  ·  30 / 52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wrong answer: discounts fell 8.0 percent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Reading a missing discount as zero gives a total, a story and a decision.</a:t>
            </a:r>
          </a:p>
        </p:txBody>
      </p:sp>
      <p:sp>
        <p:nvSpPr>
          <p:cNvPr id="9" name="Rounded Rectangle 8"/>
          <p:cNvSpPr/>
          <p:nvPr/>
        </p:nvSpPr>
        <p:spPr>
          <a:xfrm>
            <a:off x="530352" y="1956816"/>
            <a:ext cx="11130991" cy="1214627"/>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812291"/>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given = 0</a:t>
            </a:r>
          </a:p>
          <a:p>
            <a:pPr>
              <a:spcAft>
                <a:spcPts val="200"/>
              </a:spcAft>
            </a:pPr>
            <a:r>
              <a:rPr sz="1400" b="0" i="0">
                <a:solidFill>
                  <a:srgbClr val="E4E1F1"/>
                </a:solidFill>
                <a:latin typeface="Consolas"/>
              </a:rPr>
              <a:t>for order in quarter_rows:</a:t>
            </a:r>
          </a:p>
          <a:p>
            <a:pPr>
              <a:spcAft>
                <a:spcPts val="200"/>
              </a:spcAft>
            </a:pPr>
            <a:r>
              <a:rPr sz="1400" b="0" i="0">
                <a:solidFill>
                  <a:srgbClr val="E4E1F1"/>
                </a:solidFill>
                <a:latin typeface="Consolas"/>
              </a:rPr>
              <a:t>    given += order.get("discount", 0)</a:t>
            </a:r>
          </a:p>
        </p:txBody>
      </p:sp>
      <p:pic>
        <p:nvPicPr>
          <p:cNvPr id="14" name="mermaid diagram" descr="7f26524e1650c623.png"/>
          <p:cNvPicPr>
            <a:picLocks noChangeAspect="1"/>
          </p:cNvPicPr>
          <p:nvPr/>
        </p:nvPicPr>
        <p:blipFill>
          <a:blip r:embed="rId5"/>
          <a:stretch>
            <a:fillRect/>
          </a:stretch>
        </p:blipFill>
        <p:spPr>
          <a:xfrm>
            <a:off x="3402653" y="3336036"/>
            <a:ext cx="5386387" cy="1128712"/>
          </a:xfrm>
          <a:prstGeom prst="rect">
            <a:avLst/>
          </a:prstGeom>
        </p:spPr>
      </p:pic>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7" name="Oval 1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9" name="Oval 18"/>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45337"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Round 2, which branch moved</a:t>
            </a:r>
          </a:p>
        </p:txBody>
      </p:sp>
      <p:sp>
        <p:nvSpPr>
          <p:cNvPr id="21" name="Oval 20"/>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S27  ·  31 / 52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is wrong: an absent field is unknown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Three invented orders show what reading absent as zero does to an average.</a:t>
            </a:r>
          </a:p>
        </p:txBody>
      </p:sp>
      <p:graphicFrame>
        <p:nvGraphicFramePr>
          <p:cNvPr id="9" name="Table 8"/>
          <p:cNvGraphicFramePr>
            <a:graphicFrameLocks noGrp="1"/>
          </p:cNvGraphicFramePr>
          <p:nvPr/>
        </p:nvGraphicFramePr>
        <p:xfrm>
          <a:off x="530352" y="1956816"/>
          <a:ext cx="11130989" cy="1676400"/>
        </p:xfrm>
        <a:graphic>
          <a:graphicData uri="http://schemas.openxmlformats.org/drawingml/2006/table">
            <a:tbl>
              <a:tblPr firstRow="0" bandRow="0">
                <a:tableStyleId>{2D5ABB26-0587-4C30-8999-92F81FD0307C}</a:tableStyleId>
              </a:tblPr>
              <a:tblGrid>
                <a:gridCol w="2915390"/>
                <a:gridCol w="2915390"/>
                <a:gridCol w="2561676"/>
                <a:gridCol w="2738533"/>
              </a:tblGrid>
              <a:tr h="335280">
                <a:tc>
                  <a:txBody>
                    <a:bodyPr/>
                    <a:lstStyle/>
                    <a:p>
                      <a:r>
                        <a:rPr sz="1250" b="1" i="0">
                          <a:solidFill>
                            <a:srgbClr val="FFFFFF"/>
                          </a:solidFill>
                          <a:latin typeface="Calibri"/>
                        </a:rPr>
                        <a:t>Invented order</a:t>
                      </a:r>
                    </a:p>
                  </a:txBody>
                  <a:tcPr marL="101600" marR="101600" marT="38100" marB="38100" anchor="ctr">
                    <a:solidFill>
                      <a:srgbClr val="1A0F5C"/>
                    </a:solidFill>
                  </a:tcPr>
                </a:tc>
                <a:tc>
                  <a:txBody>
                    <a:bodyPr/>
                    <a:lstStyle/>
                    <a:p>
                      <a:r>
                        <a:rPr sz="1250" b="1" i="0">
                          <a:solidFill>
                            <a:srgbClr val="FFFFFF"/>
                          </a:solidFill>
                          <a:latin typeface="Calibri"/>
                        </a:rPr>
                        <a:t>Discount field</a:t>
                      </a:r>
                    </a:p>
                  </a:txBody>
                  <a:tcPr marL="101600" marR="101600" marT="38100" marB="38100" anchor="ctr">
                    <a:solidFill>
                      <a:srgbClr val="1A0F5C"/>
                    </a:solidFill>
                  </a:tcPr>
                </a:tc>
                <a:tc>
                  <a:txBody>
                    <a:bodyPr/>
                    <a:lstStyle/>
                    <a:p>
                      <a:r>
                        <a:rPr sz="1250" b="1" i="0">
                          <a:solidFill>
                            <a:srgbClr val="FFFFFF"/>
                          </a:solidFill>
                          <a:latin typeface="Calibri"/>
                        </a:rPr>
                        <a:t>Read as zero</a:t>
                      </a:r>
                    </a:p>
                  </a:txBody>
                  <a:tcPr marL="101600" marR="101600" marT="38100" marB="38100" anchor="ctr">
                    <a:solidFill>
                      <a:srgbClr val="1A0F5C"/>
                    </a:solidFill>
                  </a:tcPr>
                </a:tc>
                <a:tc>
                  <a:txBody>
                    <a:bodyPr/>
                    <a:lstStyle/>
                    <a:p>
                      <a:r>
                        <a:rPr sz="1250" b="1" i="0">
                          <a:solidFill>
                            <a:srgbClr val="FFFFFF"/>
                          </a:solidFill>
                          <a:latin typeface="Calibri"/>
                        </a:rPr>
                        <a:t>Recorded only</a:t>
                      </a:r>
                    </a:p>
                  </a:txBody>
                  <a:tcPr marL="101600" marR="101600" marT="38100" marB="38100" anchor="ctr">
                    <a:solidFill>
                      <a:srgbClr val="1A0F5C"/>
                    </a:solidFill>
                  </a:tcPr>
                </a:tc>
              </a:tr>
              <a:tr h="335280">
                <a:tc>
                  <a:txBody>
                    <a:bodyPr/>
                    <a:lstStyle/>
                    <a:p>
                      <a:r>
                        <a:rPr sz="1200" b="0" i="0">
                          <a:solidFill>
                            <a:srgbClr val="1A1440"/>
                          </a:solidFill>
                          <a:latin typeface="Calibri"/>
                        </a:rPr>
                        <a:t>A</a:t>
                      </a:r>
                    </a:p>
                  </a:txBody>
                  <a:tcPr marL="101600" marR="101600" marT="38100" marB="38100" anchor="ctr">
                    <a:solidFill>
                      <a:srgbClr val="FFFFFF"/>
                    </a:solidFill>
                  </a:tcPr>
                </a:tc>
                <a:tc>
                  <a:txBody>
                    <a:bodyPr/>
                    <a:lstStyle/>
                    <a:p>
                      <a:r>
                        <a:rPr sz="1200" b="0" i="0">
                          <a:solidFill>
                            <a:srgbClr val="1A1440"/>
                          </a:solidFill>
                          <a:latin typeface="Calibri"/>
                        </a:rPr>
                        <a:t>Rs 100</a:t>
                      </a:r>
                    </a:p>
                  </a:txBody>
                  <a:tcPr marL="101600" marR="101600" marT="38100" marB="38100" anchor="ctr">
                    <a:solidFill>
                      <a:srgbClr val="FFFFFF"/>
                    </a:solidFill>
                  </a:tcPr>
                </a:tc>
                <a:tc>
                  <a:txBody>
                    <a:bodyPr/>
                    <a:lstStyle/>
                    <a:p>
                      <a:r>
                        <a:rPr sz="1200" b="0" i="0">
                          <a:solidFill>
                            <a:srgbClr val="1A1440"/>
                          </a:solidFill>
                          <a:latin typeface="Calibri"/>
                        </a:rPr>
                        <a:t>Rs 100</a:t>
                      </a:r>
                    </a:p>
                  </a:txBody>
                  <a:tcPr marL="101600" marR="101600" marT="38100" marB="38100" anchor="ctr">
                    <a:solidFill>
                      <a:srgbClr val="FFFFFF"/>
                    </a:solidFill>
                  </a:tcPr>
                </a:tc>
                <a:tc>
                  <a:txBody>
                    <a:bodyPr/>
                    <a:lstStyle/>
                    <a:p>
                      <a:r>
                        <a:rPr sz="1200" b="0" i="0">
                          <a:solidFill>
                            <a:srgbClr val="1A1440"/>
                          </a:solidFill>
                          <a:latin typeface="Calibri"/>
                        </a:rPr>
                        <a:t>Rs 100</a:t>
                      </a:r>
                    </a:p>
                  </a:txBody>
                  <a:tcPr marL="101600" marR="101600" marT="38100" marB="38100" anchor="ctr">
                    <a:solidFill>
                      <a:srgbClr val="FFFFFF"/>
                    </a:solidFill>
                  </a:tcPr>
                </a:tc>
              </a:tr>
              <a:tr h="335280">
                <a:tc>
                  <a:txBody>
                    <a:bodyPr/>
                    <a:lstStyle/>
                    <a:p>
                      <a:r>
                        <a:rPr sz="1200" b="0" i="0">
                          <a:solidFill>
                            <a:srgbClr val="1A1440"/>
                          </a:solidFill>
                          <a:latin typeface="Calibri"/>
                        </a:rPr>
                        <a:t>B</a:t>
                      </a:r>
                    </a:p>
                  </a:txBody>
                  <a:tcPr marL="101600" marR="101600" marT="38100" marB="38100" anchor="ctr">
                    <a:solidFill>
                      <a:srgbClr val="F4F2FA"/>
                    </a:solidFill>
                  </a:tcPr>
                </a:tc>
                <a:tc>
                  <a:txBody>
                    <a:bodyPr/>
                    <a:lstStyle/>
                    <a:p>
                      <a:r>
                        <a:rPr sz="1200" b="0" i="0">
                          <a:solidFill>
                            <a:srgbClr val="1A1440"/>
                          </a:solidFill>
                          <a:latin typeface="Calibri"/>
                        </a:rPr>
                        <a:t>Rs 0</a:t>
                      </a:r>
                    </a:p>
                  </a:txBody>
                  <a:tcPr marL="101600" marR="101600" marT="38100" marB="38100" anchor="ctr">
                    <a:solidFill>
                      <a:srgbClr val="F4F2FA"/>
                    </a:solidFill>
                  </a:tcPr>
                </a:tc>
                <a:tc>
                  <a:txBody>
                    <a:bodyPr/>
                    <a:lstStyle/>
                    <a:p>
                      <a:r>
                        <a:rPr sz="1200" b="0" i="0">
                          <a:solidFill>
                            <a:srgbClr val="1A1440"/>
                          </a:solidFill>
                          <a:latin typeface="Calibri"/>
                        </a:rPr>
                        <a:t>Rs 0</a:t>
                      </a:r>
                    </a:p>
                  </a:txBody>
                  <a:tcPr marL="101600" marR="101600" marT="38100" marB="38100" anchor="ctr">
                    <a:solidFill>
                      <a:srgbClr val="F4F2FA"/>
                    </a:solidFill>
                  </a:tcPr>
                </a:tc>
                <a:tc>
                  <a:txBody>
                    <a:bodyPr/>
                    <a:lstStyle/>
                    <a:p>
                      <a:r>
                        <a:rPr sz="1200" b="0" i="0">
                          <a:solidFill>
                            <a:srgbClr val="1A1440"/>
                          </a:solidFill>
                          <a:latin typeface="Calibri"/>
                        </a:rPr>
                        <a:t>Rs 0</a:t>
                      </a:r>
                    </a:p>
                  </a:txBody>
                  <a:tcPr marL="101600" marR="101600" marT="38100" marB="38100" anchor="ctr">
                    <a:solidFill>
                      <a:srgbClr val="F4F2FA"/>
                    </a:solidFill>
                  </a:tcPr>
                </a:tc>
              </a:tr>
              <a:tr h="335280">
                <a:tc>
                  <a:txBody>
                    <a:bodyPr/>
                    <a:lstStyle/>
                    <a:p>
                      <a:r>
                        <a:rPr sz="1200" b="0" i="0">
                          <a:solidFill>
                            <a:srgbClr val="1A1440"/>
                          </a:solidFill>
                          <a:latin typeface="Calibri"/>
                        </a:rPr>
                        <a:t>C</a:t>
                      </a:r>
                    </a:p>
                  </a:txBody>
                  <a:tcPr marL="101600" marR="101600" marT="38100" marB="38100" anchor="ctr">
                    <a:solidFill>
                      <a:srgbClr val="FFFFFF"/>
                    </a:solidFill>
                  </a:tcPr>
                </a:tc>
                <a:tc>
                  <a:txBody>
                    <a:bodyPr/>
                    <a:lstStyle/>
                    <a:p>
                      <a:r>
                        <a:rPr sz="1200" b="0" i="0">
                          <a:solidFill>
                            <a:srgbClr val="1A1440"/>
                          </a:solidFill>
                          <a:latin typeface="Calibri"/>
                        </a:rPr>
                        <a:t>absent</a:t>
                      </a:r>
                    </a:p>
                  </a:txBody>
                  <a:tcPr marL="101600" marR="101600" marT="38100" marB="38100" anchor="ctr">
                    <a:solidFill>
                      <a:srgbClr val="FFFFFF"/>
                    </a:solidFill>
                  </a:tcPr>
                </a:tc>
                <a:tc>
                  <a:txBody>
                    <a:bodyPr/>
                    <a:lstStyle/>
                    <a:p>
                      <a:r>
                        <a:rPr sz="1200" b="0" i="0">
                          <a:solidFill>
                            <a:srgbClr val="1A1440"/>
                          </a:solidFill>
                          <a:latin typeface="Calibri"/>
                        </a:rPr>
                        <a:t>Rs 0</a:t>
                      </a:r>
                    </a:p>
                  </a:txBody>
                  <a:tcPr marL="101600" marR="101600" marT="38100" marB="38100" anchor="ctr">
                    <a:solidFill>
                      <a:srgbClr val="FFFFFF"/>
                    </a:solidFill>
                  </a:tcPr>
                </a:tc>
                <a:tc>
                  <a:txBody>
                    <a:bodyPr/>
                    <a:lstStyle/>
                    <a:p>
                      <a:r>
                        <a:rPr sz="1200" b="0" i="0">
                          <a:solidFill>
                            <a:srgbClr val="1A1440"/>
                          </a:solidFill>
                          <a:latin typeface="Calibri"/>
                        </a:rPr>
                        <a:t>left out</a:t>
                      </a:r>
                    </a:p>
                  </a:txBody>
                  <a:tcPr marL="101600" marR="101600" marT="38100" marB="38100" anchor="ctr">
                    <a:solidFill>
                      <a:srgbClr val="FFFFFF"/>
                    </a:solidFill>
                  </a:tcPr>
                </a:tc>
              </a:tr>
              <a:tr h="335280">
                <a:tc>
                  <a:txBody>
                    <a:bodyPr/>
                    <a:lstStyle/>
                    <a:p>
                      <a:r>
                        <a:rPr sz="1200" b="0" i="0">
                          <a:solidFill>
                            <a:srgbClr val="1A1440"/>
                          </a:solidFill>
                          <a:latin typeface="Calibri"/>
                        </a:rPr>
                        <a:t>Average</a:t>
                      </a:r>
                    </a:p>
                  </a:txBody>
                  <a:tcPr marL="101600" marR="101600" marT="38100" marB="38100" anchor="ctr">
                    <a:solidFill>
                      <a:srgbClr val="F4F2FA"/>
                    </a:solidFill>
                  </a:tcPr>
                </a:tc>
                <a:tc>
                  <a:txBody>
                    <a:bodyPr/>
                    <a:lstStyle/>
                    <a:p/>
                  </a:txBody>
                  <a:tcPr marL="101600" marR="101600" marT="38100" marB="38100" anchor="ctr">
                    <a:solidFill>
                      <a:srgbClr val="F4F2FA"/>
                    </a:solidFill>
                  </a:tcPr>
                </a:tc>
                <a:tc>
                  <a:txBody>
                    <a:bodyPr/>
                    <a:lstStyle/>
                    <a:p>
                      <a:r>
                        <a:rPr sz="1200" b="0" i="0">
                          <a:solidFill>
                            <a:srgbClr val="1A1440"/>
                          </a:solidFill>
                          <a:latin typeface="Calibri"/>
                        </a:rPr>
                        <a:t>Rs 33</a:t>
                      </a:r>
                    </a:p>
                  </a:txBody>
                  <a:tcPr marL="101600" marR="101600" marT="38100" marB="38100" anchor="ctr">
                    <a:solidFill>
                      <a:srgbClr val="F4F2FA"/>
                    </a:solidFill>
                  </a:tcPr>
                </a:tc>
                <a:tc>
                  <a:txBody>
                    <a:bodyPr/>
                    <a:lstStyle/>
                    <a:p>
                      <a:r>
                        <a:rPr sz="1200" b="0" i="0">
                          <a:solidFill>
                            <a:srgbClr val="1A1440"/>
                          </a:solidFill>
                          <a:latin typeface="Calibri"/>
                        </a:rPr>
                        <a:t>Rs 50</a:t>
                      </a:r>
                    </a:p>
                  </a:txBody>
                  <a:tcPr marL="101600" marR="101600" marT="38100" marB="38100" anchor="ctr">
                    <a:solidFill>
                      <a:srgbClr val="F4F2FA"/>
                    </a:solidFill>
                  </a:tcPr>
                </a:tc>
              </a:tr>
            </a:tbl>
          </a:graphicData>
        </a:graphic>
      </p:graphicFrame>
      <p:sp>
        <p:nvSpPr>
          <p:cNvPr id="10" name="Rounded Rectangle 9"/>
          <p:cNvSpPr/>
          <p:nvPr/>
        </p:nvSpPr>
        <p:spPr>
          <a:xfrm>
            <a:off x="530352" y="3889248"/>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22148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bug_39ada6eff46d.png"/>
          <p:cNvPicPr>
            <a:picLocks noChangeAspect="1"/>
          </p:cNvPicPr>
          <p:nvPr/>
        </p:nvPicPr>
        <p:blipFill>
          <a:blip r:embed="rId4"/>
          <a:stretch>
            <a:fillRect/>
          </a:stretch>
        </p:blipFill>
        <p:spPr>
          <a:xfrm>
            <a:off x="868680" y="4331208"/>
            <a:ext cx="237744" cy="237744"/>
          </a:xfrm>
          <a:prstGeom prst="rect">
            <a:avLst/>
          </a:prstGeom>
        </p:spPr>
      </p:pic>
      <p:sp>
        <p:nvSpPr>
          <p:cNvPr id="13" name="TextBox 12"/>
          <p:cNvSpPr txBox="1"/>
          <p:nvPr/>
        </p:nvSpPr>
        <p:spPr>
          <a:xfrm>
            <a:off x="1399031" y="403555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14" name="TextBox 13"/>
          <p:cNvSpPr txBox="1"/>
          <p:nvPr/>
        </p:nvSpPr>
        <p:spPr>
          <a:xfrm>
            <a:off x="1399031" y="4255008"/>
            <a:ext cx="9987991" cy="682752"/>
          </a:xfrm>
          <a:prstGeom prst="rect">
            <a:avLst/>
          </a:prstGeom>
          <a:noFill/>
        </p:spPr>
        <p:txBody>
          <a:bodyPr wrap="square" anchor="t" lIns="0" rIns="0" tIns="0" bIns="0">
            <a:spAutoFit/>
          </a:bodyPr>
          <a:lstStyle/>
          <a:p>
            <a:r>
              <a:rPr sz="1500" b="0" i="0">
                <a:solidFill>
                  <a:srgbClr val="1A1440"/>
                </a:solidFill>
                <a:latin typeface="Calibri"/>
              </a:rPr>
              <a:t>Read as zero, every unrecorded order pulls the average down, and the total becomes a floor that nobody labelled as one.</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7" name="Oval 1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9" name="Oval 18"/>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45337"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Round 2, which branch moved</a:t>
            </a:r>
          </a:p>
        </p:txBody>
      </p:sp>
      <p:sp>
        <p:nvSpPr>
          <p:cNvPr id="21" name="Oval 20"/>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S28  ·  32 / 52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the average where a discount is recorded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Q1 averages Rs 60.98 per order that records one; predict Q2.</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Rs 43.86</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Q1, ABSENT READ AS ZERO</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per order</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Rs 53.49</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Q2, ABSENT READ AS ZERO</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per order</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Rs 60.98</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Q1, RECORDED ONLY</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per order that records it</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76656" y="354787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77824" y="3538728"/>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Predict Q2's average over orders that record a discount: a) Rs 53.49, the same; b) Rs 46.00, down; c) Rs 60.98, flat; d) Rs 76.67, up.</a:t>
            </a:r>
          </a:p>
        </p:txBody>
      </p:sp>
      <p:sp>
        <p:nvSpPr>
          <p:cNvPr id="24" name="Oval 2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26" name="Oval 25"/>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28" name="Oval 27"/>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845337"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Round 2, which branch moved</a:t>
            </a:r>
          </a:p>
        </p:txBody>
      </p:sp>
      <p:sp>
        <p:nvSpPr>
          <p:cNvPr id="30" name="Oval 29"/>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S29  ·  33 / 52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up 25.7 percent, the opposite direction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Counted where it is recorded, the average discount rose.</a:t>
            </a:r>
          </a:p>
        </p:txBody>
      </p:sp>
      <p:graphicFrame>
        <p:nvGraphicFramePr>
          <p:cNvPr id="9" name="Table 8"/>
          <p:cNvGraphicFramePr>
            <a:graphicFrameLocks noGrp="1"/>
          </p:cNvGraphicFramePr>
          <p:nvPr/>
        </p:nvGraphicFramePr>
        <p:xfrm>
          <a:off x="530352" y="1956816"/>
          <a:ext cx="11130991" cy="1341120"/>
        </p:xfrm>
        <a:graphic>
          <a:graphicData uri="http://schemas.openxmlformats.org/drawingml/2006/table">
            <a:tbl>
              <a:tblPr firstRow="0" bandRow="0">
                <a:tableStyleId>{2D5ABB26-0587-4C30-8999-92F81FD0307C}</a:tableStyleId>
              </a:tblPr>
              <a:tblGrid>
                <a:gridCol w="8387791"/>
                <a:gridCol w="914400"/>
                <a:gridCol w="914400"/>
                <a:gridCol w="914400"/>
              </a:tblGrid>
              <a:tr h="335280">
                <a:tc>
                  <a:txBody>
                    <a:bodyPr/>
                    <a:lstStyle/>
                    <a:p>
                      <a:r>
                        <a:rPr sz="1250" b="1" i="0">
                          <a:solidFill>
                            <a:srgbClr val="FFFFFF"/>
                          </a:solidFill>
                          <a:latin typeface="Calibri"/>
                        </a:rPr>
                        <a:t>Reading</a:t>
                      </a:r>
                    </a:p>
                  </a:txBody>
                  <a:tcPr marL="101600" marR="101600" marT="38100" marB="38100" anchor="ctr">
                    <a:solidFill>
                      <a:srgbClr val="1A0F5C"/>
                    </a:solidFill>
                  </a:tcPr>
                </a:tc>
                <a:tc>
                  <a:txBody>
                    <a:bodyPr/>
                    <a:lstStyle/>
                    <a:p>
                      <a:r>
                        <a:rPr sz="1250" b="1" i="0">
                          <a:solidFill>
                            <a:srgbClr val="FFFFFF"/>
                          </a:solidFill>
                          <a:latin typeface="Calibri"/>
                        </a:rPr>
                        <a:t>Q1</a:t>
                      </a:r>
                    </a:p>
                  </a:txBody>
                  <a:tcPr marL="101600" marR="101600" marT="38100" marB="38100" anchor="ctr">
                    <a:solidFill>
                      <a:srgbClr val="1A0F5C"/>
                    </a:solidFill>
                  </a:tcPr>
                </a:tc>
                <a:tc>
                  <a:txBody>
                    <a:bodyPr/>
                    <a:lstStyle/>
                    <a:p>
                      <a:r>
                        <a:rPr sz="1250" b="1" i="0">
                          <a:solidFill>
                            <a:srgbClr val="FFFFFF"/>
                          </a:solidFill>
                          <a:latin typeface="Calibri"/>
                        </a:rPr>
                        <a:t>Q2</a:t>
                      </a:r>
                    </a:p>
                  </a:txBody>
                  <a:tcPr marL="101600" marR="101600" marT="38100" marB="38100" anchor="ctr">
                    <a:solidFill>
                      <a:srgbClr val="1A0F5C"/>
                    </a:solidFill>
                  </a:tcPr>
                </a:tc>
                <a:tc>
                  <a:txBody>
                    <a:bodyPr/>
                    <a:lstStyle/>
                    <a:p>
                      <a:r>
                        <a:rPr sz="1250" b="1" i="0">
                          <a:solidFill>
                            <a:srgbClr val="FFFFFF"/>
                          </a:solidFill>
                          <a:latin typeface="Calibri"/>
                        </a:rPr>
                        <a:t>Change</a:t>
                      </a:r>
                    </a:p>
                  </a:txBody>
                  <a:tcPr marL="101600" marR="101600" marT="38100" marB="38100" anchor="ctr">
                    <a:solidFill>
                      <a:srgbClr val="1A0F5C"/>
                    </a:solidFill>
                  </a:tcPr>
                </a:tc>
              </a:tr>
              <a:tr h="335280">
                <a:tc>
                  <a:txBody>
                    <a:bodyPr/>
                    <a:lstStyle/>
                    <a:p>
                      <a:r>
                        <a:rPr sz="1200" b="0" i="0">
                          <a:solidFill>
                            <a:srgbClr val="1A1440"/>
                          </a:solidFill>
                          <a:latin typeface="Calibri"/>
                        </a:rPr>
                        <a:t>Total, absent read as zero</a:t>
                      </a:r>
                    </a:p>
                  </a:txBody>
                  <a:tcPr marL="101600" marR="101600" marT="38100" marB="38100" anchor="ctr">
                    <a:solidFill>
                      <a:srgbClr val="FFFFFF"/>
                    </a:solidFill>
                  </a:tcPr>
                </a:tc>
                <a:tc>
                  <a:txBody>
                    <a:bodyPr/>
                    <a:lstStyle/>
                    <a:p>
                      <a:r>
                        <a:rPr sz="1200" b="0" i="0">
                          <a:solidFill>
                            <a:srgbClr val="1A1440"/>
                          </a:solidFill>
                          <a:latin typeface="Calibri"/>
                        </a:rPr>
                        <a:t>Rs 5,000</a:t>
                      </a:r>
                    </a:p>
                  </a:txBody>
                  <a:tcPr marL="101600" marR="101600" marT="38100" marB="38100" anchor="ctr">
                    <a:solidFill>
                      <a:srgbClr val="FFFFFF"/>
                    </a:solidFill>
                  </a:tcPr>
                </a:tc>
                <a:tc>
                  <a:txBody>
                    <a:bodyPr/>
                    <a:lstStyle/>
                    <a:p>
                      <a:r>
                        <a:rPr sz="1200" b="0" i="0">
                          <a:solidFill>
                            <a:srgbClr val="1A1440"/>
                          </a:solidFill>
                          <a:latin typeface="Calibri"/>
                        </a:rPr>
                        <a:t>Rs 4,600</a:t>
                      </a:r>
                    </a:p>
                  </a:txBody>
                  <a:tcPr marL="101600" marR="101600" marT="38100" marB="38100" anchor="ctr">
                    <a:solidFill>
                      <a:srgbClr val="FFFFFF"/>
                    </a:solidFill>
                  </a:tcPr>
                </a:tc>
                <a:tc>
                  <a:txBody>
                    <a:bodyPr/>
                    <a:lstStyle/>
                    <a:p>
                      <a:r>
                        <a:rPr sz="1200" b="0" i="0">
                          <a:solidFill>
                            <a:srgbClr val="1A1440"/>
                          </a:solidFill>
                          <a:latin typeface="Calibri"/>
                        </a:rPr>
                        <a:t>-8.0%</a:t>
                      </a:r>
                    </a:p>
                  </a:txBody>
                  <a:tcPr marL="101600" marR="101600" marT="38100" marB="38100" anchor="ctr">
                    <a:solidFill>
                      <a:srgbClr val="FFFFFF"/>
                    </a:solidFill>
                  </a:tcPr>
                </a:tc>
              </a:tr>
              <a:tr h="335280">
                <a:tc>
                  <a:txBody>
                    <a:bodyPr/>
                    <a:lstStyle/>
                    <a:p>
                      <a:r>
                        <a:rPr sz="1200" b="0" i="0">
                          <a:solidFill>
                            <a:srgbClr val="1A1440"/>
                          </a:solidFill>
                          <a:latin typeface="Calibri"/>
                        </a:rPr>
                        <a:t>Average, absent read as zero</a:t>
                      </a:r>
                    </a:p>
                  </a:txBody>
                  <a:tcPr marL="101600" marR="101600" marT="38100" marB="38100" anchor="ctr">
                    <a:solidFill>
                      <a:srgbClr val="F4F2FA"/>
                    </a:solidFill>
                  </a:tcPr>
                </a:tc>
                <a:tc>
                  <a:txBody>
                    <a:bodyPr/>
                    <a:lstStyle/>
                    <a:p>
                      <a:r>
                        <a:rPr sz="1200" b="0" i="0">
                          <a:solidFill>
                            <a:srgbClr val="1A1440"/>
                          </a:solidFill>
                          <a:latin typeface="Calibri"/>
                        </a:rPr>
                        <a:t>Rs 43.86</a:t>
                      </a:r>
                    </a:p>
                  </a:txBody>
                  <a:tcPr marL="101600" marR="101600" marT="38100" marB="38100" anchor="ctr">
                    <a:solidFill>
                      <a:srgbClr val="F4F2FA"/>
                    </a:solidFill>
                  </a:tcPr>
                </a:tc>
                <a:tc>
                  <a:txBody>
                    <a:bodyPr/>
                    <a:lstStyle/>
                    <a:p>
                      <a:r>
                        <a:rPr sz="1200" b="0" i="0">
                          <a:solidFill>
                            <a:srgbClr val="1A1440"/>
                          </a:solidFill>
                          <a:latin typeface="Calibri"/>
                        </a:rPr>
                        <a:t>Rs 53.49</a:t>
                      </a:r>
                    </a:p>
                  </a:txBody>
                  <a:tcPr marL="101600" marR="101600" marT="38100" marB="38100" anchor="ctr">
                    <a:solidFill>
                      <a:srgbClr val="F4F2FA"/>
                    </a:solidFill>
                  </a:tcPr>
                </a:tc>
                <a:tc>
                  <a:txBody>
                    <a:bodyPr/>
                    <a:lstStyle/>
                    <a:p>
                      <a:r>
                        <a:rPr sz="1200" b="0" i="0">
                          <a:solidFill>
                            <a:srgbClr val="1A1440"/>
                          </a:solidFill>
                          <a:latin typeface="Calibri"/>
                        </a:rPr>
                        <a:t>up</a:t>
                      </a:r>
                    </a:p>
                  </a:txBody>
                  <a:tcPr marL="101600" marR="101600" marT="38100" marB="38100" anchor="ctr">
                    <a:solidFill>
                      <a:srgbClr val="F4F2FA"/>
                    </a:solidFill>
                  </a:tcPr>
                </a:tc>
              </a:tr>
              <a:tr h="335280">
                <a:tc>
                  <a:txBody>
                    <a:bodyPr/>
                    <a:lstStyle/>
                    <a:p>
                      <a:r>
                        <a:rPr sz="1200" b="0" i="0">
                          <a:solidFill>
                            <a:srgbClr val="1A1440"/>
                          </a:solidFill>
                          <a:latin typeface="Calibri"/>
                        </a:rPr>
                        <a:t>Average, recorded only</a:t>
                      </a:r>
                    </a:p>
                  </a:txBody>
                  <a:tcPr marL="101600" marR="101600" marT="38100" marB="38100" anchor="ctr">
                    <a:solidFill>
                      <a:srgbClr val="FFFFFF"/>
                    </a:solidFill>
                  </a:tcPr>
                </a:tc>
                <a:tc>
                  <a:txBody>
                    <a:bodyPr/>
                    <a:lstStyle/>
                    <a:p>
                      <a:r>
                        <a:rPr sz="1200" b="0" i="0">
                          <a:solidFill>
                            <a:srgbClr val="1A1440"/>
                          </a:solidFill>
                          <a:latin typeface="Calibri"/>
                        </a:rPr>
                        <a:t>Rs 60.98</a:t>
                      </a:r>
                    </a:p>
                  </a:txBody>
                  <a:tcPr marL="101600" marR="101600" marT="38100" marB="38100" anchor="ctr">
                    <a:solidFill>
                      <a:srgbClr val="FFFFFF"/>
                    </a:solidFill>
                  </a:tcPr>
                </a:tc>
                <a:tc>
                  <a:txBody>
                    <a:bodyPr/>
                    <a:lstStyle/>
                    <a:p>
                      <a:r>
                        <a:rPr sz="1200" b="0" i="0">
                          <a:solidFill>
                            <a:srgbClr val="1A1440"/>
                          </a:solidFill>
                          <a:latin typeface="Calibri"/>
                        </a:rPr>
                        <a:t>Rs 76.67</a:t>
                      </a:r>
                    </a:p>
                  </a:txBody>
                  <a:tcPr marL="101600" marR="101600" marT="38100" marB="38100" anchor="ctr">
                    <a:solidFill>
                      <a:srgbClr val="FFFFFF"/>
                    </a:solidFill>
                  </a:tcPr>
                </a:tc>
                <a:tc>
                  <a:txBody>
                    <a:bodyPr/>
                    <a:lstStyle/>
                    <a:p>
                      <a:r>
                        <a:rPr sz="1200" b="0" i="0">
                          <a:solidFill>
                            <a:srgbClr val="1A1440"/>
                          </a:solidFill>
                          <a:latin typeface="Calibri"/>
                        </a:rPr>
                        <a:t>+25.7%</a:t>
                      </a:r>
                    </a:p>
                  </a:txBody>
                  <a:tcPr marL="101600" marR="101600" marT="38100" marB="38100" anchor="ctr">
                    <a:solidFill>
                      <a:srgbClr val="FFFFFF"/>
                    </a:solidFill>
                  </a:tcPr>
                </a:tc>
              </a:tr>
            </a:tbl>
          </a:graphicData>
        </a:graphic>
      </p:graphicFrame>
      <p:sp>
        <p:nvSpPr>
          <p:cNvPr id="10" name="Rounded Rectangle 9"/>
          <p:cNvSpPr/>
          <p:nvPr/>
        </p:nvSpPr>
        <p:spPr>
          <a:xfrm>
            <a:off x="530352" y="355396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68198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672840"/>
            <a:ext cx="10564063" cy="6248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Count the orders that record the field, and average only over those; then say how many orders the average rests on.</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7" name="Oval 16"/>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45337"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Round 2, which branch moved</a:t>
            </a:r>
          </a:p>
        </p:txBody>
      </p:sp>
      <p:sp>
        <p:nvSpPr>
          <p:cNvPr id="19" name="Oval 18"/>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S30  ·  34 / 52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fix: write the default, then bound the branch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largest recorded discount caps what this branch could possibly explain.</a:t>
            </a:r>
          </a:p>
        </p:txBody>
      </p:sp>
      <p:sp>
        <p:nvSpPr>
          <p:cNvPr id="9" name="TextBox 8"/>
          <p:cNvSpPr txBox="1"/>
          <p:nvPr/>
        </p:nvSpPr>
        <p:spPr>
          <a:xfrm>
            <a:off x="53035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Rs 150</a:t>
            </a:r>
          </a:p>
        </p:txBody>
      </p:sp>
      <p:sp>
        <p:nvSpPr>
          <p:cNvPr id="10" name="TextBox 9"/>
          <p:cNvSpPr txBox="1"/>
          <p:nvPr/>
        </p:nvSpPr>
        <p:spPr>
          <a:xfrm>
            <a:off x="53035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LARGEST RECORDED DISCOUNT</a:t>
            </a:r>
          </a:p>
        </p:txBody>
      </p:sp>
      <p:sp>
        <p:nvSpPr>
          <p:cNvPr id="11" name="TextBox 10"/>
          <p:cNvSpPr txBox="1"/>
          <p:nvPr/>
        </p:nvSpPr>
        <p:spPr>
          <a:xfrm>
            <a:off x="53035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on any order in the file</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Rs 12,900</a:t>
            </a:r>
          </a:p>
        </p:txBody>
      </p:sp>
      <p:sp>
        <p:nvSpPr>
          <p:cNvPr id="14" name="TextBox 13"/>
          <p:cNvSpPr txBox="1"/>
          <p:nvPr/>
        </p:nvSpPr>
        <p:spPr>
          <a:xfrm>
            <a:off x="433212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MOST Q2 COULD GIVE</a:t>
            </a:r>
          </a:p>
        </p:txBody>
      </p:sp>
      <p:sp>
        <p:nvSpPr>
          <p:cNvPr id="15" name="TextBox 14"/>
          <p:cNvSpPr txBox="1"/>
          <p:nvPr/>
        </p:nvSpPr>
        <p:spPr>
          <a:xfrm>
            <a:off x="433212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86 orders at Rs 150 each</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Rs 23,00,000</a:t>
            </a:r>
          </a:p>
        </p:txBody>
      </p:sp>
      <p:sp>
        <p:nvSpPr>
          <p:cNvPr id="18" name="TextBox 17"/>
          <p:cNvSpPr txBox="1"/>
          <p:nvPr/>
        </p:nvSpPr>
        <p:spPr>
          <a:xfrm>
            <a:off x="813389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FALL TO EXPLAIN</a:t>
            </a:r>
          </a:p>
        </p:txBody>
      </p:sp>
      <p:sp>
        <p:nvSpPr>
          <p:cNvPr id="19" name="TextBox 18"/>
          <p:cNvSpPr txBox="1"/>
          <p:nvPr/>
        </p:nvSpPr>
        <p:spPr>
          <a:xfrm>
            <a:off x="813389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Q1 to Q2</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76656" y="354787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77824" y="3538728"/>
            <a:ext cx="10564063" cy="891540"/>
          </a:xfrm>
          <a:prstGeom prst="rect">
            <a:avLst/>
          </a:prstGeom>
          <a:noFill/>
        </p:spPr>
        <p:txBody>
          <a:bodyPr wrap="square" anchor="ctr" lIns="0" rIns="0" tIns="0" bIns="0">
            <a:spAutoFit/>
          </a:bodyPr>
          <a:lstStyle/>
          <a:p>
            <a:r>
              <a:rPr sz="1500" b="1">
                <a:solidFill>
                  <a:srgbClr val="5B3FD6"/>
                </a:solidFill>
                <a:latin typeface="Calibri"/>
              </a:rPr>
              <a:t>The fix. </a:t>
            </a:r>
            <a:r>
              <a:rPr sz="1500" b="0" i="0">
                <a:solidFill>
                  <a:srgbClr val="1A1440"/>
                </a:solidFill>
                <a:latin typeface="Calibri"/>
              </a:rPr>
              <a:t>"Absent means not recorded; reported separately; never summed as zero." Even at Rs 150 on every Q2 order, discounts could explain Rs 12,900 of a Rs 23,00,000 fall, so the discount branch did not move revenue.</a:t>
            </a:r>
          </a:p>
        </p:txBody>
      </p:sp>
      <p:sp>
        <p:nvSpPr>
          <p:cNvPr id="24" name="Oval 2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26" name="Oval 25"/>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28" name="Oval 27"/>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845337"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Round 2, which branch moved</a:t>
            </a:r>
          </a:p>
        </p:txBody>
      </p:sp>
      <p:sp>
        <p:nvSpPr>
          <p:cNvPr id="30" name="Oval 29"/>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S31  ·  35 / 52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the tree on delivered orders only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Anand counts only delivered orders; does the story survive his definition?</a:t>
            </a:r>
          </a:p>
        </p:txBody>
      </p:sp>
      <p:pic>
        <p:nvPicPr>
          <p:cNvPr id="9" name="mermaid diagram" descr="bd6e92df7578c24f.png"/>
          <p:cNvPicPr>
            <a:picLocks noChangeAspect="1"/>
          </p:cNvPicPr>
          <p:nvPr/>
        </p:nvPicPr>
        <p:blipFill>
          <a:blip r:embed="rId5"/>
          <a:stretch>
            <a:fillRect/>
          </a:stretch>
        </p:blipFill>
        <p:spPr>
          <a:xfrm>
            <a:off x="2631128" y="1956816"/>
            <a:ext cx="6929437" cy="1128712"/>
          </a:xfrm>
          <a:prstGeom prst="rect">
            <a:avLst/>
          </a:prstGeom>
        </p:spPr>
      </p:pic>
      <p:sp>
        <p:nvSpPr>
          <p:cNvPr id="10" name="Rounded Rectangle 9"/>
          <p:cNvSpPr/>
          <p:nvPr/>
        </p:nvSpPr>
        <p:spPr>
          <a:xfrm>
            <a:off x="530352" y="3231832"/>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359848"/>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350704"/>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Run the tree on delivered orders in notebook 02, then say which branch carries the fall: a) customers; b) orders per customer; c) revenue per order; d) no branch, the fall disappears.</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7" name="Oval 16"/>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45337"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Round 2, which branch moved</a:t>
            </a:r>
          </a:p>
        </p:txBody>
      </p:sp>
      <p:sp>
        <p:nvSpPr>
          <p:cNvPr id="19" name="Oval 18"/>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S32  ·  36 / 52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frequency still carries the fall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On delivered orders, fewer customers appear, and orders per customer still falls hardest.</a:t>
            </a:r>
          </a:p>
        </p:txBody>
      </p:sp>
      <p:graphicFrame>
        <p:nvGraphicFramePr>
          <p:cNvPr id="9" name="Table 8"/>
          <p:cNvGraphicFramePr>
            <a:graphicFrameLocks noGrp="1"/>
          </p:cNvGraphicFramePr>
          <p:nvPr/>
        </p:nvGraphicFramePr>
        <p:xfrm>
          <a:off x="530352" y="1956816"/>
          <a:ext cx="11130991" cy="1676400"/>
        </p:xfrm>
        <a:graphic>
          <a:graphicData uri="http://schemas.openxmlformats.org/drawingml/2006/table">
            <a:tbl>
              <a:tblPr firstRow="0" bandRow="0">
                <a:tableStyleId>{2D5ABB26-0587-4C30-8999-92F81FD0307C}</a:tableStyleId>
              </a:tblPr>
              <a:tblGrid>
                <a:gridCol w="4593795"/>
                <a:gridCol w="2811398"/>
                <a:gridCol w="2811398"/>
                <a:gridCol w="914400"/>
              </a:tblGrid>
              <a:tr h="335280">
                <a:tc>
                  <a:txBody>
                    <a:bodyPr/>
                    <a:lstStyle/>
                    <a:p>
                      <a:r>
                        <a:rPr sz="1250" b="1" i="0">
                          <a:solidFill>
                            <a:srgbClr val="FFFFFF"/>
                          </a:solidFill>
                          <a:latin typeface="Calibri"/>
                        </a:rPr>
                        <a:t>Branch, delivered only</a:t>
                      </a:r>
                    </a:p>
                  </a:txBody>
                  <a:tcPr marL="101600" marR="101600" marT="38100" marB="38100" anchor="ctr">
                    <a:solidFill>
                      <a:srgbClr val="1A0F5C"/>
                    </a:solidFill>
                  </a:tcPr>
                </a:tc>
                <a:tc>
                  <a:txBody>
                    <a:bodyPr/>
                    <a:lstStyle/>
                    <a:p>
                      <a:r>
                        <a:rPr sz="1250" b="1" i="0">
                          <a:solidFill>
                            <a:srgbClr val="FFFFFF"/>
                          </a:solidFill>
                          <a:latin typeface="Calibri"/>
                        </a:rPr>
                        <a:t>Q1</a:t>
                      </a:r>
                    </a:p>
                  </a:txBody>
                  <a:tcPr marL="101600" marR="101600" marT="38100" marB="38100" anchor="ctr">
                    <a:solidFill>
                      <a:srgbClr val="1A0F5C"/>
                    </a:solidFill>
                  </a:tcPr>
                </a:tc>
                <a:tc>
                  <a:txBody>
                    <a:bodyPr/>
                    <a:lstStyle/>
                    <a:p>
                      <a:r>
                        <a:rPr sz="1250" b="1" i="0">
                          <a:solidFill>
                            <a:srgbClr val="FFFFFF"/>
                          </a:solidFill>
                          <a:latin typeface="Calibri"/>
                        </a:rPr>
                        <a:t>Q2</a:t>
                      </a:r>
                    </a:p>
                  </a:txBody>
                  <a:tcPr marL="101600" marR="101600" marT="38100" marB="38100" anchor="ctr">
                    <a:solidFill>
                      <a:srgbClr val="1A0F5C"/>
                    </a:solidFill>
                  </a:tcPr>
                </a:tc>
                <a:tc>
                  <a:txBody>
                    <a:bodyPr/>
                    <a:lstStyle/>
                    <a:p>
                      <a:r>
                        <a:rPr sz="1250" b="1" i="0">
                          <a:solidFill>
                            <a:srgbClr val="FFFFFF"/>
                          </a:solidFill>
                          <a:latin typeface="Calibri"/>
                        </a:rPr>
                        <a:t>Change</a:t>
                      </a:r>
                    </a:p>
                  </a:txBody>
                  <a:tcPr marL="101600" marR="101600" marT="38100" marB="38100" anchor="ctr">
                    <a:solidFill>
                      <a:srgbClr val="1A0F5C"/>
                    </a:solidFill>
                  </a:tcPr>
                </a:tc>
              </a:tr>
              <a:tr h="335280">
                <a:tc>
                  <a:txBody>
                    <a:bodyPr/>
                    <a:lstStyle/>
                    <a:p>
                      <a:r>
                        <a:rPr sz="1200" b="0" i="0">
                          <a:solidFill>
                            <a:srgbClr val="1A1440"/>
                          </a:solidFill>
                          <a:latin typeface="Calibri"/>
                        </a:rPr>
                        <a:t>Revenue</a:t>
                      </a:r>
                    </a:p>
                  </a:txBody>
                  <a:tcPr marL="101600" marR="101600" marT="38100" marB="38100" anchor="ctr">
                    <a:solidFill>
                      <a:srgbClr val="FFFFFF"/>
                    </a:solidFill>
                  </a:tcPr>
                </a:tc>
                <a:tc>
                  <a:txBody>
                    <a:bodyPr/>
                    <a:lstStyle/>
                    <a:p>
                      <a:r>
                        <a:rPr sz="1200" b="0" i="0">
                          <a:solidFill>
                            <a:srgbClr val="1A1440"/>
                          </a:solidFill>
                          <a:latin typeface="Calibri"/>
                        </a:rPr>
                        <a:t>Rs 1,45,04,970</a:t>
                      </a:r>
                    </a:p>
                  </a:txBody>
                  <a:tcPr marL="101600" marR="101600" marT="38100" marB="38100" anchor="ctr">
                    <a:solidFill>
                      <a:srgbClr val="FFFFFF"/>
                    </a:solidFill>
                  </a:tcPr>
                </a:tc>
                <a:tc>
                  <a:txBody>
                    <a:bodyPr/>
                    <a:lstStyle/>
                    <a:p>
                      <a:r>
                        <a:rPr sz="1200" b="0" i="0">
                          <a:solidFill>
                            <a:srgbClr val="1A1440"/>
                          </a:solidFill>
                          <a:latin typeface="Calibri"/>
                        </a:rPr>
                        <a:t>Rs 1,28,64,680</a:t>
                      </a:r>
                    </a:p>
                  </a:txBody>
                  <a:tcPr marL="101600" marR="101600" marT="38100" marB="38100" anchor="ctr">
                    <a:solidFill>
                      <a:srgbClr val="FFFFFF"/>
                    </a:solidFill>
                  </a:tcPr>
                </a:tc>
                <a:tc>
                  <a:txBody>
                    <a:bodyPr/>
                    <a:lstStyle/>
                    <a:p>
                      <a:r>
                        <a:rPr sz="1200" b="0" i="0">
                          <a:solidFill>
                            <a:srgbClr val="1A1440"/>
                          </a:solidFill>
                          <a:latin typeface="Calibri"/>
                        </a:rPr>
                        <a:t>-11.3%</a:t>
                      </a:r>
                    </a:p>
                  </a:txBody>
                  <a:tcPr marL="101600" marR="101600" marT="38100" marB="38100" anchor="ctr">
                    <a:solidFill>
                      <a:srgbClr val="FFFFFF"/>
                    </a:solidFill>
                  </a:tcPr>
                </a:tc>
              </a:tr>
              <a:tr h="335280">
                <a:tc>
                  <a:txBody>
                    <a:bodyPr/>
                    <a:lstStyle/>
                    <a:p>
                      <a:r>
                        <a:rPr sz="1200" b="0" i="0">
                          <a:solidFill>
                            <a:srgbClr val="1A1440"/>
                          </a:solidFill>
                          <a:latin typeface="Calibri"/>
                        </a:rPr>
                        <a:t>Customers</a:t>
                      </a:r>
                    </a:p>
                  </a:txBody>
                  <a:tcPr marL="101600" marR="101600" marT="38100" marB="38100" anchor="ctr">
                    <a:solidFill>
                      <a:srgbClr val="F4F2FA"/>
                    </a:solidFill>
                  </a:tcPr>
                </a:tc>
                <a:tc>
                  <a:txBody>
                    <a:bodyPr/>
                    <a:lstStyle/>
                    <a:p>
                      <a:r>
                        <a:rPr sz="1200" b="0" i="0">
                          <a:solidFill>
                            <a:srgbClr val="1A1440"/>
                          </a:solidFill>
                          <a:latin typeface="Calibri"/>
                        </a:rPr>
                        <a:t>54</a:t>
                      </a:r>
                    </a:p>
                  </a:txBody>
                  <a:tcPr marL="101600" marR="101600" marT="38100" marB="38100" anchor="ctr">
                    <a:solidFill>
                      <a:srgbClr val="F4F2FA"/>
                    </a:solidFill>
                  </a:tcPr>
                </a:tc>
                <a:tc>
                  <a:txBody>
                    <a:bodyPr/>
                    <a:lstStyle/>
                    <a:p>
                      <a:r>
                        <a:rPr sz="1200" b="0" i="0">
                          <a:solidFill>
                            <a:srgbClr val="1A1440"/>
                          </a:solidFill>
                          <a:latin typeface="Calibri"/>
                        </a:rPr>
                        <a:t>50</a:t>
                      </a:r>
                    </a:p>
                  </a:txBody>
                  <a:tcPr marL="101600" marR="101600" marT="38100" marB="38100" anchor="ctr">
                    <a:solidFill>
                      <a:srgbClr val="F4F2FA"/>
                    </a:solidFill>
                  </a:tcPr>
                </a:tc>
                <a:tc>
                  <a:txBody>
                    <a:bodyPr/>
                    <a:lstStyle/>
                    <a:p>
                      <a:r>
                        <a:rPr sz="1200" b="0" i="0">
                          <a:solidFill>
                            <a:srgbClr val="1A1440"/>
                          </a:solidFill>
                          <a:latin typeface="Calibri"/>
                        </a:rPr>
                        <a:t>-7.4%</a:t>
                      </a:r>
                    </a:p>
                  </a:txBody>
                  <a:tcPr marL="101600" marR="101600" marT="38100" marB="38100" anchor="ctr">
                    <a:solidFill>
                      <a:srgbClr val="F4F2FA"/>
                    </a:solidFill>
                  </a:tcPr>
                </a:tc>
              </a:tr>
              <a:tr h="335280">
                <a:tc>
                  <a:txBody>
                    <a:bodyPr/>
                    <a:lstStyle/>
                    <a:p>
                      <a:r>
                        <a:rPr sz="1200" b="0" i="0">
                          <a:solidFill>
                            <a:srgbClr val="1A1440"/>
                          </a:solidFill>
                          <a:latin typeface="Calibri"/>
                        </a:rPr>
                        <a:t>Orders per customer</a:t>
                      </a:r>
                    </a:p>
                  </a:txBody>
                  <a:tcPr marL="101600" marR="101600" marT="38100" marB="38100" anchor="ctr">
                    <a:solidFill>
                      <a:srgbClr val="FFFFFF"/>
                    </a:solidFill>
                  </a:tcPr>
                </a:tc>
                <a:tc>
                  <a:txBody>
                    <a:bodyPr/>
                    <a:lstStyle/>
                    <a:p>
                      <a:r>
                        <a:rPr sz="1200" b="0" i="0">
                          <a:solidFill>
                            <a:srgbClr val="1A1440"/>
                          </a:solidFill>
                          <a:latin typeface="Calibri"/>
                        </a:rPr>
                        <a:t>1.50</a:t>
                      </a:r>
                    </a:p>
                  </a:txBody>
                  <a:tcPr marL="101600" marR="101600" marT="38100" marB="38100" anchor="ctr">
                    <a:solidFill>
                      <a:srgbClr val="FFFFFF"/>
                    </a:solidFill>
                  </a:tcPr>
                </a:tc>
                <a:tc>
                  <a:txBody>
                    <a:bodyPr/>
                    <a:lstStyle/>
                    <a:p>
                      <a:r>
                        <a:rPr sz="1200" b="0" i="0">
                          <a:solidFill>
                            <a:srgbClr val="1A1440"/>
                          </a:solidFill>
                          <a:latin typeface="Calibri"/>
                        </a:rPr>
                        <a:t>1.14</a:t>
                      </a:r>
                    </a:p>
                  </a:txBody>
                  <a:tcPr marL="101600" marR="101600" marT="38100" marB="38100" anchor="ctr">
                    <a:solidFill>
                      <a:srgbClr val="FFFFFF"/>
                    </a:solidFill>
                  </a:tcPr>
                </a:tc>
                <a:tc>
                  <a:txBody>
                    <a:bodyPr/>
                    <a:lstStyle/>
                    <a:p>
                      <a:r>
                        <a:rPr sz="1200" b="0" i="0">
                          <a:solidFill>
                            <a:srgbClr val="1A1440"/>
                          </a:solidFill>
                          <a:latin typeface="Calibri"/>
                        </a:rPr>
                        <a:t>-24.0%</a:t>
                      </a:r>
                    </a:p>
                  </a:txBody>
                  <a:tcPr marL="101600" marR="101600" marT="38100" marB="38100" anchor="ctr">
                    <a:solidFill>
                      <a:srgbClr val="FFFFFF"/>
                    </a:solidFill>
                  </a:tcPr>
                </a:tc>
              </a:tr>
              <a:tr h="335280">
                <a:tc>
                  <a:txBody>
                    <a:bodyPr/>
                    <a:lstStyle/>
                    <a:p>
                      <a:r>
                        <a:rPr sz="1200" b="0" i="0">
                          <a:solidFill>
                            <a:srgbClr val="1A1440"/>
                          </a:solidFill>
                          <a:latin typeface="Calibri"/>
                        </a:rPr>
                        <a:t>Revenue per order</a:t>
                      </a:r>
                    </a:p>
                  </a:txBody>
                  <a:tcPr marL="101600" marR="101600" marT="38100" marB="38100" anchor="ctr">
                    <a:solidFill>
                      <a:srgbClr val="F4F2FA"/>
                    </a:solidFill>
                  </a:tcPr>
                </a:tc>
                <a:tc>
                  <a:txBody>
                    <a:bodyPr/>
                    <a:lstStyle/>
                    <a:p>
                      <a:r>
                        <a:rPr sz="1200" b="0" i="0">
                          <a:solidFill>
                            <a:srgbClr val="1A1440"/>
                          </a:solidFill>
                          <a:latin typeface="Calibri"/>
                        </a:rPr>
                        <a:t>Rs 1,79,074</a:t>
                      </a:r>
                    </a:p>
                  </a:txBody>
                  <a:tcPr marL="101600" marR="101600" marT="38100" marB="38100" anchor="ctr">
                    <a:solidFill>
                      <a:srgbClr val="F4F2FA"/>
                    </a:solidFill>
                  </a:tcPr>
                </a:tc>
                <a:tc>
                  <a:txBody>
                    <a:bodyPr/>
                    <a:lstStyle/>
                    <a:p>
                      <a:r>
                        <a:rPr sz="1200" b="0" i="0">
                          <a:solidFill>
                            <a:srgbClr val="1A1440"/>
                          </a:solidFill>
                          <a:latin typeface="Calibri"/>
                        </a:rPr>
                        <a:t>Rs 2,25,696</a:t>
                      </a:r>
                    </a:p>
                  </a:txBody>
                  <a:tcPr marL="101600" marR="101600" marT="38100" marB="38100" anchor="ctr">
                    <a:solidFill>
                      <a:srgbClr val="F4F2FA"/>
                    </a:solidFill>
                  </a:tcPr>
                </a:tc>
                <a:tc>
                  <a:txBody>
                    <a:bodyPr/>
                    <a:lstStyle/>
                    <a:p>
                      <a:r>
                        <a:rPr sz="1200" b="0" i="0">
                          <a:solidFill>
                            <a:srgbClr val="1A1440"/>
                          </a:solidFill>
                          <a:latin typeface="Calibri"/>
                        </a:rPr>
                        <a:t>+26.0%</a:t>
                      </a:r>
                    </a:p>
                  </a:txBody>
                  <a:tcPr marL="101600" marR="101600" marT="38100" marB="38100" anchor="ctr">
                    <a:solidFill>
                      <a:srgbClr val="F4F2FA"/>
                    </a:solidFill>
                  </a:tcPr>
                </a:tc>
              </a:tr>
            </a:tbl>
          </a:graphicData>
        </a:graphic>
      </p:graphicFrame>
      <p:sp>
        <p:nvSpPr>
          <p:cNvPr id="10" name="Rounded Rectangle 9"/>
          <p:cNvSpPr/>
          <p:nvPr/>
        </p:nvSpPr>
        <p:spPr>
          <a:xfrm>
            <a:off x="530352" y="3889248"/>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22148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331208"/>
            <a:ext cx="237744" cy="237744"/>
          </a:xfrm>
          <a:prstGeom prst="rect">
            <a:avLst/>
          </a:prstGeom>
        </p:spPr>
      </p:pic>
      <p:sp>
        <p:nvSpPr>
          <p:cNvPr id="13" name="TextBox 12"/>
          <p:cNvSpPr txBox="1"/>
          <p:nvPr/>
        </p:nvSpPr>
        <p:spPr>
          <a:xfrm>
            <a:off x="1399031" y="403555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255008"/>
            <a:ext cx="9987991" cy="682752"/>
          </a:xfrm>
          <a:prstGeom prst="rect">
            <a:avLst/>
          </a:prstGeom>
          <a:noFill/>
        </p:spPr>
        <p:txBody>
          <a:bodyPr wrap="square" anchor="t" lIns="0" rIns="0" tIns="0" bIns="0">
            <a:spAutoFit/>
          </a:bodyPr>
          <a:lstStyle/>
          <a:p>
            <a:r>
              <a:rPr sz="1500" b="0" i="0">
                <a:solidFill>
                  <a:srgbClr val="1A1440"/>
                </a:solidFill>
                <a:latin typeface="Calibri"/>
              </a:rPr>
              <a:t>"The branch that moved is orders per customer, on booked and on delivered. A definition change that leaves the answer standing makes the answer stronger."</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7" name="Oval 1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9" name="Oval 18"/>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45337"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Round 2, which branch moved</a:t>
            </a:r>
          </a:p>
        </p:txBody>
      </p:sp>
      <p:sp>
        <p:nvSpPr>
          <p:cNvPr id="21" name="Oval 20"/>
          <p:cNvSpPr/>
          <p:nvPr/>
        </p:nvSpPr>
        <p:spPr>
          <a:xfrm>
            <a:off x="54532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62980"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Round 3, every kind of customer</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S33  ·  37 / 52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04</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Round 3, every kind of customer</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The same tree for every segment and quarter means writing it once, as a function that returns its answer.</a:t>
            </a:r>
          </a:p>
        </p:txBody>
      </p:sp>
      <p:sp>
        <p:nvSpPr>
          <p:cNvPr id="10" name="Rounded Rectangle 9"/>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ask and the thinking</a:t>
            </a:r>
          </a:p>
        </p:txBody>
      </p:sp>
      <p:sp>
        <p:nvSpPr>
          <p:cNvPr id="11" name="Rounded Rectangle 10"/>
          <p:cNvSpPr/>
          <p:nvPr/>
        </p:nvSpPr>
        <p:spPr>
          <a:xfrm>
            <a:off x="2628191"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Round 1, is the drop real</a:t>
            </a:r>
          </a:p>
        </p:txBody>
      </p:sp>
      <p:sp>
        <p:nvSpPr>
          <p:cNvPr id="12" name="Rounded Rectangle 11"/>
          <p:cNvSpPr/>
          <p:nvPr/>
        </p:nvSpPr>
        <p:spPr>
          <a:xfrm>
            <a:off x="4584078" y="5074920"/>
            <a:ext cx="196459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Round 2, which branch moved</a:t>
            </a:r>
          </a:p>
        </p:txBody>
      </p:sp>
      <p:sp>
        <p:nvSpPr>
          <p:cNvPr id="13" name="Rounded Rectangle 12"/>
          <p:cNvSpPr/>
          <p:nvPr/>
        </p:nvSpPr>
        <p:spPr>
          <a:xfrm>
            <a:off x="6658397" y="5074920"/>
            <a:ext cx="2148840"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Round 3, every kind of customer</a:t>
            </a:r>
          </a:p>
        </p:txBody>
      </p:sp>
      <p:sp>
        <p:nvSpPr>
          <p:cNvPr id="14" name="TextBox 13"/>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2: which branch moved</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38 / 52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Is the fall in every kind of customer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Four segments, two quarters, and the head of Retail-Plus asking about his tier.</a:t>
            </a:r>
          </a:p>
        </p:txBody>
      </p:sp>
      <p:pic>
        <p:nvPicPr>
          <p:cNvPr id="9" name="mermaid diagram" descr="5d0485989b9acb2a.png"/>
          <p:cNvPicPr>
            <a:picLocks noChangeAspect="1"/>
          </p:cNvPicPr>
          <p:nvPr/>
        </p:nvPicPr>
        <p:blipFill>
          <a:blip r:embed="rId6"/>
          <a:stretch>
            <a:fillRect/>
          </a:stretch>
        </p:blipFill>
        <p:spPr>
          <a:xfrm>
            <a:off x="3884840" y="1664208"/>
            <a:ext cx="4422014" cy="3203447"/>
          </a:xfrm>
          <a:prstGeom prst="rect">
            <a:avLst/>
          </a:prstGeom>
        </p:spPr>
      </p:pic>
      <p:sp>
        <p:nvSpPr>
          <p:cNvPr id="10" name="Rounded Rectangle 9"/>
          <p:cNvSpPr/>
          <p:nvPr/>
        </p:nvSpPr>
        <p:spPr>
          <a:xfrm>
            <a:off x="530352" y="4913376"/>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524560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message-square_028dbd132a0a.png"/>
          <p:cNvPicPr>
            <a:picLocks noChangeAspect="1"/>
          </p:cNvPicPr>
          <p:nvPr/>
        </p:nvPicPr>
        <p:blipFill>
          <a:blip r:embed="rId5"/>
          <a:stretch>
            <a:fillRect/>
          </a:stretch>
        </p:blipFill>
        <p:spPr>
          <a:xfrm>
            <a:off x="868680" y="5355336"/>
            <a:ext cx="237744" cy="237744"/>
          </a:xfrm>
          <a:prstGeom prst="rect">
            <a:avLst/>
          </a:prstGeom>
        </p:spPr>
      </p:pic>
      <p:sp>
        <p:nvSpPr>
          <p:cNvPr id="13" name="TextBox 12"/>
          <p:cNvSpPr txBox="1"/>
          <p:nvPr/>
        </p:nvSpPr>
        <p:spPr>
          <a:xfrm>
            <a:off x="1399031" y="505968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4" name="TextBox 13"/>
          <p:cNvSpPr txBox="1"/>
          <p:nvPr/>
        </p:nvSpPr>
        <p:spPr>
          <a:xfrm>
            <a:off x="1399031" y="5279136"/>
            <a:ext cx="9987991" cy="682752"/>
          </a:xfrm>
          <a:prstGeom prst="rect">
            <a:avLst/>
          </a:prstGeom>
          <a:noFill/>
        </p:spPr>
        <p:txBody>
          <a:bodyPr wrap="square" anchor="t" lIns="0" rIns="0" tIns="0" bIns="0">
            <a:spAutoFit/>
          </a:bodyPr>
          <a:lstStyle/>
          <a:p>
            <a:r>
              <a:rPr sz="1500" b="0" i="0">
                <a:solidFill>
                  <a:srgbClr val="FFFFFF"/>
                </a:solidFill>
                <a:latin typeface="Calibri"/>
              </a:rPr>
              <a:t>The head of Retail-Plus wants to know whether his tier is the one slipping, and Meera wants to know whether it is everyone.</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7" name="Oval 1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9" name="Oval 18"/>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21" name="Oval 20"/>
          <p:cNvSpPr/>
          <p:nvPr/>
        </p:nvSpPr>
        <p:spPr>
          <a:xfrm>
            <a:off x="54532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62980" y="6437376"/>
            <a:ext cx="1700498" cy="152146"/>
          </a:xfrm>
          <a:prstGeom prst="rect">
            <a:avLst/>
          </a:prstGeom>
          <a:noFill/>
        </p:spPr>
        <p:txBody>
          <a:bodyPr wrap="square" anchor="t" lIns="0" rIns="0" tIns="0" bIns="0">
            <a:spAutoFit/>
          </a:bodyPr>
          <a:lstStyle/>
          <a:p>
            <a:pPr algn="l"/>
            <a:r>
              <a:rPr sz="700" b="1" i="0">
                <a:solidFill>
                  <a:srgbClr val="5B3FD6"/>
                </a:solidFill>
                <a:latin typeface="Calibri"/>
              </a:rPr>
              <a:t>Round 3, every kind of customer</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S34  ·  39 / 52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function applies one decision everywhere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tree_for takes any group of orders and returns the whole tree for it.</a:t>
            </a:r>
          </a:p>
        </p:txBody>
      </p:sp>
      <p:sp>
        <p:nvSpPr>
          <p:cNvPr id="9" name="Rounded Rectangle 8"/>
          <p:cNvSpPr/>
          <p:nvPr/>
        </p:nvSpPr>
        <p:spPr>
          <a:xfrm>
            <a:off x="530352" y="1956816"/>
            <a:ext cx="11130991" cy="2981960"/>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2579624"/>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def tree_for(rows):</a:t>
            </a:r>
          </a:p>
          <a:p>
            <a:pPr>
              <a:spcAft>
                <a:spcPts val="200"/>
              </a:spcAft>
            </a:pPr>
            <a:r>
              <a:rPr sz="1400" b="0" i="0">
                <a:solidFill>
                  <a:srgbClr val="E4E1F1"/>
                </a:solidFill>
                <a:latin typeface="Consolas"/>
              </a:rPr>
              <a:t>    revenue, ids = 0, []</a:t>
            </a:r>
          </a:p>
          <a:p>
            <a:pPr>
              <a:spcAft>
                <a:spcPts val="200"/>
              </a:spcAft>
            </a:pPr>
            <a:r>
              <a:rPr sz="1400" b="0" i="0">
                <a:solidFill>
                  <a:srgbClr val="E4E1F1"/>
                </a:solidFill>
                <a:latin typeface="Consolas"/>
              </a:rPr>
              <a:t>    for order in rows:</a:t>
            </a:r>
          </a:p>
          <a:p>
            <a:pPr>
              <a:spcAft>
                <a:spcPts val="200"/>
              </a:spcAft>
            </a:pPr>
            <a:r>
              <a:rPr sz="1400" b="0" i="0">
                <a:solidFill>
                  <a:srgbClr val="E4E1F1"/>
                </a:solidFill>
                <a:latin typeface="Consolas"/>
              </a:rPr>
              <a:t>        revenue += order["amount"]</a:t>
            </a:r>
          </a:p>
          <a:p>
            <a:pPr>
              <a:spcAft>
                <a:spcPts val="200"/>
              </a:spcAft>
            </a:pPr>
            <a:r>
              <a:rPr sz="1400" b="0" i="0">
                <a:solidFill>
                  <a:srgbClr val="E4E1F1"/>
                </a:solidFill>
                <a:latin typeface="Consolas"/>
              </a:rPr>
              <a:t>        if order["customer_id"] not in ids:</a:t>
            </a:r>
          </a:p>
          <a:p>
            <a:pPr>
              <a:spcAft>
                <a:spcPts val="200"/>
              </a:spcAft>
            </a:pPr>
            <a:r>
              <a:rPr sz="1400" b="0" i="0">
                <a:solidFill>
                  <a:srgbClr val="E4E1F1"/>
                </a:solidFill>
                <a:latin typeface="Consolas"/>
              </a:rPr>
              <a:t>            ids.append(order["customer_id"])</a:t>
            </a:r>
          </a:p>
          <a:p>
            <a:pPr>
              <a:spcAft>
                <a:spcPts val="200"/>
              </a:spcAft>
            </a:pPr>
            <a:r>
              <a:rPr sz="1400" b="0" i="0">
                <a:solidFill>
                  <a:srgbClr val="E4E1F1"/>
                </a:solidFill>
                <a:latin typeface="Consolas"/>
              </a:rPr>
              <a:t>    return {"revenue": revenue, "orders": len(rows),</a:t>
            </a:r>
          </a:p>
          <a:p>
            <a:pPr>
              <a:spcAft>
                <a:spcPts val="200"/>
              </a:spcAft>
            </a:pPr>
            <a:r>
              <a:rPr sz="1400" b="0" i="0">
                <a:solidFill>
                  <a:srgbClr val="E4E1F1"/>
                </a:solidFill>
                <a:latin typeface="Consolas"/>
              </a:rPr>
              <a:t>            "customers": len(ids),</a:t>
            </a:r>
          </a:p>
          <a:p>
            <a:pPr>
              <a:spcAft>
                <a:spcPts val="200"/>
              </a:spcAft>
            </a:pPr>
            <a:r>
              <a:rPr sz="1400" b="0" i="0">
                <a:solidFill>
                  <a:srgbClr val="E4E1F1"/>
                </a:solidFill>
                <a:latin typeface="Consolas"/>
              </a:rPr>
              <a:t>            "orders_per_customer": len(rows) / len(ids),</a:t>
            </a:r>
          </a:p>
          <a:p>
            <a:pPr>
              <a:spcAft>
                <a:spcPts val="200"/>
              </a:spcAft>
            </a:pPr>
            <a:r>
              <a:rPr sz="1400" b="0" i="0">
                <a:solidFill>
                  <a:srgbClr val="E4E1F1"/>
                </a:solidFill>
                <a:latin typeface="Consolas"/>
              </a:rPr>
              <a:t>            "revenue_per_order": revenue / len(rows)}</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6" name="Oval 15"/>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8" name="Oval 17"/>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20" name="Oval 19"/>
          <p:cNvSpPr/>
          <p:nvPr/>
        </p:nvSpPr>
        <p:spPr>
          <a:xfrm>
            <a:off x="54532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562980" y="6437376"/>
            <a:ext cx="1700498" cy="152146"/>
          </a:xfrm>
          <a:prstGeom prst="rect">
            <a:avLst/>
          </a:prstGeom>
          <a:noFill/>
        </p:spPr>
        <p:txBody>
          <a:bodyPr wrap="square" anchor="t" lIns="0" rIns="0" tIns="0" bIns="0">
            <a:spAutoFit/>
          </a:bodyPr>
          <a:lstStyle/>
          <a:p>
            <a:pPr algn="l"/>
            <a:r>
              <a:rPr sz="700" b="1" i="0">
                <a:solidFill>
                  <a:srgbClr val="5B3FD6"/>
                </a:solidFill>
                <a:latin typeface="Calibri"/>
              </a:rPr>
              <a:t>Round 3, every kind of customer</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S35  ·  40 / 52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function that prints hands back None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Printing shows a number to you; returning hands it to the next line of code.</a:t>
            </a:r>
          </a:p>
        </p:txBody>
      </p:sp>
      <p:sp>
        <p:nvSpPr>
          <p:cNvPr id="9" name="Rounded Rectangle 8"/>
          <p:cNvSpPr/>
          <p:nvPr/>
        </p:nvSpPr>
        <p:spPr>
          <a:xfrm>
            <a:off x="530352" y="1956816"/>
            <a:ext cx="11130991" cy="1719580"/>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317244"/>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def orders_per_customer(rows):</a:t>
            </a:r>
          </a:p>
          <a:p>
            <a:pPr>
              <a:spcAft>
                <a:spcPts val="200"/>
              </a:spcAft>
            </a:pPr>
            <a:r>
              <a:rPr sz="1400" b="0" i="0">
                <a:solidFill>
                  <a:srgbClr val="E4E1F1"/>
                </a:solidFill>
                <a:latin typeface="Consolas"/>
              </a:rPr>
              <a:t>    print(len(rows) / count_customers(rows))</a:t>
            </a:r>
          </a:p>
          <a:p>
            <a:pPr>
              <a:spcAft>
                <a:spcPts val="200"/>
              </a:spcAft>
            </a:pPr>
          </a:p>
          <a:p>
            <a:pPr>
              <a:spcAft>
                <a:spcPts val="200"/>
              </a:spcAft>
            </a:pPr>
            <a:r>
              <a:rPr sz="1400" b="0" i="0">
                <a:solidFill>
                  <a:srgbClr val="E4E1F1"/>
                </a:solidFill>
                <a:latin typeface="Consolas"/>
              </a:rPr>
              <a:t>result = orders_per_customer(q1_rows)   # 1.6521739130434783 is printed</a:t>
            </a:r>
          </a:p>
          <a:p>
            <a:pPr>
              <a:spcAft>
                <a:spcPts val="200"/>
              </a:spcAft>
            </a:pPr>
            <a:r>
              <a:rPr sz="1400" b="0" i="0">
                <a:solidFill>
                  <a:srgbClr val="E4E1F1"/>
                </a:solidFill>
                <a:latin typeface="Consolas"/>
              </a:rPr>
              <a:t>print(result)                           # None</a:t>
            </a:r>
          </a:p>
        </p:txBody>
      </p:sp>
      <p:pic>
        <p:nvPicPr>
          <p:cNvPr id="14" name="mermaid diagram" descr="2172c6e535f96725.png"/>
          <p:cNvPicPr>
            <a:picLocks noChangeAspect="1"/>
          </p:cNvPicPr>
          <p:nvPr/>
        </p:nvPicPr>
        <p:blipFill>
          <a:blip r:embed="rId5"/>
          <a:stretch>
            <a:fillRect/>
          </a:stretch>
        </p:blipFill>
        <p:spPr>
          <a:xfrm>
            <a:off x="4659953" y="3840988"/>
            <a:ext cx="2871787" cy="1800225"/>
          </a:xfrm>
          <a:prstGeom prst="rect">
            <a:avLst/>
          </a:prstGeom>
        </p:spPr>
      </p:pic>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7" name="Oval 1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9" name="Oval 18"/>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21" name="Oval 20"/>
          <p:cNvSpPr/>
          <p:nvPr/>
        </p:nvSpPr>
        <p:spPr>
          <a:xfrm>
            <a:off x="54532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62980" y="6437376"/>
            <a:ext cx="1700498" cy="152146"/>
          </a:xfrm>
          <a:prstGeom prst="rect">
            <a:avLst/>
          </a:prstGeom>
          <a:noFill/>
        </p:spPr>
        <p:txBody>
          <a:bodyPr wrap="square" anchor="t" lIns="0" rIns="0" tIns="0" bIns="0">
            <a:spAutoFit/>
          </a:bodyPr>
          <a:lstStyle/>
          <a:p>
            <a:pPr algn="l"/>
            <a:r>
              <a:rPr sz="700" b="1" i="0">
                <a:solidFill>
                  <a:srgbClr val="5B3FD6"/>
                </a:solidFill>
                <a:latin typeface="Calibri"/>
              </a:rPr>
              <a:t>Round 3, every kind of customer</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S36  ·  41 / 52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Step 3: tree_for reproduces round 2</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Before trusting the function on segments, run it where the answer is known.</a:t>
            </a:r>
          </a:p>
        </p:txBody>
      </p:sp>
      <p:graphicFrame>
        <p:nvGraphicFramePr>
          <p:cNvPr id="9" name="Table 8"/>
          <p:cNvGraphicFramePr>
            <a:graphicFrameLocks noGrp="1"/>
          </p:cNvGraphicFramePr>
          <p:nvPr/>
        </p:nvGraphicFramePr>
        <p:xfrm>
          <a:off x="530352" y="1956816"/>
          <a:ext cx="11130989" cy="1005840"/>
        </p:xfrm>
        <a:graphic>
          <a:graphicData uri="http://schemas.openxmlformats.org/drawingml/2006/table">
            <a:tbl>
              <a:tblPr firstRow="0" bandRow="0">
                <a:tableStyleId>{2D5ABB26-0587-4C30-8999-92F81FD0307C}</a:tableStyleId>
              </a:tblPr>
              <a:tblGrid>
                <a:gridCol w="2089319"/>
                <a:gridCol w="914400"/>
                <a:gridCol w="1779434"/>
                <a:gridCol w="3328861"/>
                <a:gridCol w="3018975"/>
              </a:tblGrid>
              <a:tr h="335280">
                <a:tc>
                  <a:txBody>
                    <a:bodyPr/>
                    <a:lstStyle/>
                    <a:p>
                      <a:r>
                        <a:rPr sz="1250" b="1" i="0">
                          <a:solidFill>
                            <a:srgbClr val="FFFFFF"/>
                          </a:solidFill>
                          <a:latin typeface="Calibri"/>
                        </a:rPr>
                        <a:t>tree_for on</a:t>
                      </a:r>
                    </a:p>
                  </a:txBody>
                  <a:tcPr marL="101600" marR="101600" marT="38100" marB="38100" anchor="ctr">
                    <a:solidFill>
                      <a:srgbClr val="1A0F5C"/>
                    </a:solidFill>
                  </a:tcPr>
                </a:tc>
                <a:tc>
                  <a:txBody>
                    <a:bodyPr/>
                    <a:lstStyle/>
                    <a:p>
                      <a:r>
                        <a:rPr sz="1250" b="1" i="0">
                          <a:solidFill>
                            <a:srgbClr val="FFFFFF"/>
                          </a:solidFill>
                          <a:latin typeface="Calibri"/>
                        </a:rPr>
                        <a:t>Orders</a:t>
                      </a:r>
                    </a:p>
                  </a:txBody>
                  <a:tcPr marL="101600" marR="101600" marT="38100" marB="38100" anchor="ctr">
                    <a:solidFill>
                      <a:srgbClr val="1A0F5C"/>
                    </a:solidFill>
                  </a:tcPr>
                </a:tc>
                <a:tc>
                  <a:txBody>
                    <a:bodyPr/>
                    <a:lstStyle/>
                    <a:p>
                      <a:r>
                        <a:rPr sz="1250" b="1" i="0">
                          <a:solidFill>
                            <a:srgbClr val="FFFFFF"/>
                          </a:solidFill>
                          <a:latin typeface="Calibri"/>
                        </a:rPr>
                        <a:t>Customers</a:t>
                      </a:r>
                    </a:p>
                  </a:txBody>
                  <a:tcPr marL="101600" marR="101600" marT="38100" marB="38100" anchor="ctr">
                    <a:solidFill>
                      <a:srgbClr val="1A0F5C"/>
                    </a:solidFill>
                  </a:tcPr>
                </a:tc>
                <a:tc>
                  <a:txBody>
                    <a:bodyPr/>
                    <a:lstStyle/>
                    <a:p>
                      <a:r>
                        <a:rPr sz="1250" b="1" i="0">
                          <a:solidFill>
                            <a:srgbClr val="FFFFFF"/>
                          </a:solidFill>
                          <a:latin typeface="Calibri"/>
                        </a:rPr>
                        <a:t>Orders per customer</a:t>
                      </a:r>
                    </a:p>
                  </a:txBody>
                  <a:tcPr marL="101600" marR="101600" marT="38100" marB="38100" anchor="ctr">
                    <a:solidFill>
                      <a:srgbClr val="1A0F5C"/>
                    </a:solidFill>
                  </a:tcPr>
                </a:tc>
                <a:tc>
                  <a:txBody>
                    <a:bodyPr/>
                    <a:lstStyle/>
                    <a:p>
                      <a:r>
                        <a:rPr sz="1250" b="1" i="0">
                          <a:solidFill>
                            <a:srgbClr val="FFFFFF"/>
                          </a:solidFill>
                          <a:latin typeface="Calibri"/>
                        </a:rPr>
                        <a:t>Revenue per order</a:t>
                      </a:r>
                    </a:p>
                  </a:txBody>
                  <a:tcPr marL="101600" marR="101600" marT="38100" marB="38100" anchor="ctr">
                    <a:solidFill>
                      <a:srgbClr val="1A0F5C"/>
                    </a:solidFill>
                  </a:tcPr>
                </a:tc>
              </a:tr>
              <a:tr h="335280">
                <a:tc>
                  <a:txBody>
                    <a:bodyPr/>
                    <a:lstStyle/>
                    <a:p>
                      <a:r>
                        <a:rPr sz="1200" b="0" i="0">
                          <a:solidFill>
                            <a:srgbClr val="1A1440"/>
                          </a:solidFill>
                          <a:latin typeface="Calibri"/>
                        </a:rPr>
                        <a:t>All of Q1</a:t>
                      </a:r>
                    </a:p>
                  </a:txBody>
                  <a:tcPr marL="101600" marR="101600" marT="38100" marB="38100" anchor="ctr">
                    <a:solidFill>
                      <a:srgbClr val="FFFFFF"/>
                    </a:solidFill>
                  </a:tcPr>
                </a:tc>
                <a:tc>
                  <a:txBody>
                    <a:bodyPr/>
                    <a:lstStyle/>
                    <a:p>
                      <a:r>
                        <a:rPr sz="1200" b="0" i="0">
                          <a:solidFill>
                            <a:srgbClr val="1A1440"/>
                          </a:solidFill>
                          <a:latin typeface="Calibri"/>
                        </a:rPr>
                        <a:t>114</a:t>
                      </a:r>
                    </a:p>
                  </a:txBody>
                  <a:tcPr marL="101600" marR="101600" marT="38100" marB="38100" anchor="ctr">
                    <a:solidFill>
                      <a:srgbClr val="FFFFFF"/>
                    </a:solidFill>
                  </a:tcPr>
                </a:tc>
                <a:tc>
                  <a:txBody>
                    <a:bodyPr/>
                    <a:lstStyle/>
                    <a:p>
                      <a:r>
                        <a:rPr sz="1200" b="0" i="0">
                          <a:solidFill>
                            <a:srgbClr val="1A1440"/>
                          </a:solidFill>
                          <a:latin typeface="Calibri"/>
                        </a:rPr>
                        <a:t>69</a:t>
                      </a:r>
                    </a:p>
                  </a:txBody>
                  <a:tcPr marL="101600" marR="101600" marT="38100" marB="38100" anchor="ctr">
                    <a:solidFill>
                      <a:srgbClr val="FFFFFF"/>
                    </a:solidFill>
                  </a:tcPr>
                </a:tc>
                <a:tc>
                  <a:txBody>
                    <a:bodyPr/>
                    <a:lstStyle/>
                    <a:p>
                      <a:r>
                        <a:rPr sz="1200" b="0" i="0">
                          <a:solidFill>
                            <a:srgbClr val="1A1440"/>
                          </a:solidFill>
                          <a:latin typeface="Calibri"/>
                        </a:rPr>
                        <a:t>1.65</a:t>
                      </a:r>
                    </a:p>
                  </a:txBody>
                  <a:tcPr marL="101600" marR="101600" marT="38100" marB="38100" anchor="ctr">
                    <a:solidFill>
                      <a:srgbClr val="FFFFFF"/>
                    </a:solidFill>
                  </a:tcPr>
                </a:tc>
                <a:tc>
                  <a:txBody>
                    <a:bodyPr/>
                    <a:lstStyle/>
                    <a:p>
                      <a:r>
                        <a:rPr sz="1200" b="0" i="0">
                          <a:solidFill>
                            <a:srgbClr val="1A1440"/>
                          </a:solidFill>
                          <a:latin typeface="Calibri"/>
                        </a:rPr>
                        <a:t>Rs 1,84,211</a:t>
                      </a:r>
                    </a:p>
                  </a:txBody>
                  <a:tcPr marL="101600" marR="101600" marT="38100" marB="38100" anchor="ctr">
                    <a:solidFill>
                      <a:srgbClr val="FFFFFF"/>
                    </a:solidFill>
                  </a:tcPr>
                </a:tc>
              </a:tr>
              <a:tr h="335280">
                <a:tc>
                  <a:txBody>
                    <a:bodyPr/>
                    <a:lstStyle/>
                    <a:p>
                      <a:r>
                        <a:rPr sz="1200" b="0" i="0">
                          <a:solidFill>
                            <a:srgbClr val="1A1440"/>
                          </a:solidFill>
                          <a:latin typeface="Calibri"/>
                        </a:rPr>
                        <a:t>All of Q2</a:t>
                      </a:r>
                    </a:p>
                  </a:txBody>
                  <a:tcPr marL="101600" marR="101600" marT="38100" marB="38100" anchor="ctr">
                    <a:solidFill>
                      <a:srgbClr val="F4F2FA"/>
                    </a:solidFill>
                  </a:tcPr>
                </a:tc>
                <a:tc>
                  <a:txBody>
                    <a:bodyPr/>
                    <a:lstStyle/>
                    <a:p>
                      <a:r>
                        <a:rPr sz="1200" b="0" i="0">
                          <a:solidFill>
                            <a:srgbClr val="1A1440"/>
                          </a:solidFill>
                          <a:latin typeface="Calibri"/>
                        </a:rPr>
                        <a:t>86</a:t>
                      </a:r>
                    </a:p>
                  </a:txBody>
                  <a:tcPr marL="101600" marR="101600" marT="38100" marB="38100" anchor="ctr">
                    <a:solidFill>
                      <a:srgbClr val="F4F2FA"/>
                    </a:solidFill>
                  </a:tcPr>
                </a:tc>
                <a:tc>
                  <a:txBody>
                    <a:bodyPr/>
                    <a:lstStyle/>
                    <a:p>
                      <a:r>
                        <a:rPr sz="1200" b="0" i="0">
                          <a:solidFill>
                            <a:srgbClr val="1A1440"/>
                          </a:solidFill>
                          <a:latin typeface="Calibri"/>
                        </a:rPr>
                        <a:t>69</a:t>
                      </a:r>
                    </a:p>
                  </a:txBody>
                  <a:tcPr marL="101600" marR="101600" marT="38100" marB="38100" anchor="ctr">
                    <a:solidFill>
                      <a:srgbClr val="F4F2FA"/>
                    </a:solidFill>
                  </a:tcPr>
                </a:tc>
                <a:tc>
                  <a:txBody>
                    <a:bodyPr/>
                    <a:lstStyle/>
                    <a:p>
                      <a:r>
                        <a:rPr sz="1200" b="0" i="0">
                          <a:solidFill>
                            <a:srgbClr val="1A1440"/>
                          </a:solidFill>
                          <a:latin typeface="Calibri"/>
                        </a:rPr>
                        <a:t>1.25</a:t>
                      </a:r>
                    </a:p>
                  </a:txBody>
                  <a:tcPr marL="101600" marR="101600" marT="38100" marB="38100" anchor="ctr">
                    <a:solidFill>
                      <a:srgbClr val="F4F2FA"/>
                    </a:solidFill>
                  </a:tcPr>
                </a:tc>
                <a:tc>
                  <a:txBody>
                    <a:bodyPr/>
                    <a:lstStyle/>
                    <a:p>
                      <a:r>
                        <a:rPr sz="1200" b="0" i="0">
                          <a:solidFill>
                            <a:srgbClr val="1A1440"/>
                          </a:solidFill>
                          <a:latin typeface="Calibri"/>
                        </a:rPr>
                        <a:t>Rs 2,17,442</a:t>
                      </a:r>
                    </a:p>
                  </a:txBody>
                  <a:tcPr marL="101600" marR="101600" marT="38100" marB="38100" anchor="ctr">
                    <a:solidFill>
                      <a:srgbClr val="F4F2FA"/>
                    </a:solidFill>
                  </a:tcPr>
                </a:tc>
              </a:tr>
            </a:tbl>
          </a:graphicData>
        </a:graphic>
      </p:graphicFrame>
      <p:sp>
        <p:nvSpPr>
          <p:cNvPr id="10" name="Rounded Rectangle 9"/>
          <p:cNvSpPr/>
          <p:nvPr/>
        </p:nvSpPr>
        <p:spPr>
          <a:xfrm>
            <a:off x="530352" y="3218688"/>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346704"/>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337560"/>
            <a:ext cx="10564063" cy="3581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A new function earns trust by reproducing a number you already proved another way.</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7" name="Oval 16"/>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19" name="Oval 18"/>
          <p:cNvSpPr/>
          <p:nvPr/>
        </p:nvSpPr>
        <p:spPr>
          <a:xfrm>
            <a:off x="54532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562980" y="6437376"/>
            <a:ext cx="1700498" cy="152146"/>
          </a:xfrm>
          <a:prstGeom prst="rect">
            <a:avLst/>
          </a:prstGeom>
          <a:noFill/>
        </p:spPr>
        <p:txBody>
          <a:bodyPr wrap="square" anchor="t" lIns="0" rIns="0" tIns="0" bIns="0">
            <a:spAutoFit/>
          </a:bodyPr>
          <a:lstStyle/>
          <a:p>
            <a:pPr algn="l"/>
            <a:r>
              <a:rPr sz="700" b="1" i="0">
                <a:solidFill>
                  <a:srgbClr val="5B3FD6"/>
                </a:solidFill>
                <a:latin typeface="Calibri"/>
              </a:rPr>
              <a:t>Round 3, every kind of customer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S37  ·  42 / 52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describe gives each group a typical value and spread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median, the smallest, the largest and the range, returned as one dictionary.</a:t>
            </a:r>
          </a:p>
        </p:txBody>
      </p:sp>
      <p:sp>
        <p:nvSpPr>
          <p:cNvPr id="9" name="Rounded Rectangle 8"/>
          <p:cNvSpPr/>
          <p:nvPr/>
        </p:nvSpPr>
        <p:spPr>
          <a:xfrm>
            <a:off x="530352" y="1956816"/>
            <a:ext cx="11130991" cy="272948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232714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def describe(amounts):</a:t>
            </a:r>
          </a:p>
          <a:p>
            <a:pPr>
              <a:spcAft>
                <a:spcPts val="200"/>
              </a:spcAft>
            </a:pPr>
            <a:r>
              <a:rPr sz="1400" b="0" i="0">
                <a:solidFill>
                  <a:srgbClr val="E4E1F1"/>
                </a:solidFill>
                <a:latin typeface="Consolas"/>
              </a:rPr>
              <a:t>    s = sorted(amounts)</a:t>
            </a:r>
          </a:p>
          <a:p>
            <a:pPr>
              <a:spcAft>
                <a:spcPts val="200"/>
              </a:spcAft>
            </a:pPr>
            <a:r>
              <a:rPr sz="1400" b="0" i="0">
                <a:solidFill>
                  <a:srgbClr val="E4E1F1"/>
                </a:solidFill>
                <a:latin typeface="Consolas"/>
              </a:rPr>
              <a:t>    n = len(s)</a:t>
            </a:r>
          </a:p>
          <a:p>
            <a:pPr>
              <a:spcAft>
                <a:spcPts val="200"/>
              </a:spcAft>
            </a:pPr>
            <a:r>
              <a:rPr sz="1400" b="0" i="0">
                <a:solidFill>
                  <a:srgbClr val="E4E1F1"/>
                </a:solidFill>
                <a:latin typeface="Consolas"/>
              </a:rPr>
              <a:t>    if n % 2 == 1:</a:t>
            </a:r>
          </a:p>
          <a:p>
            <a:pPr>
              <a:spcAft>
                <a:spcPts val="200"/>
              </a:spcAft>
            </a:pPr>
            <a:r>
              <a:rPr sz="1400" b="0" i="0">
                <a:solidFill>
                  <a:srgbClr val="E4E1F1"/>
                </a:solidFill>
                <a:latin typeface="Consolas"/>
              </a:rPr>
              <a:t>        median = s[n // 2]</a:t>
            </a:r>
          </a:p>
          <a:p>
            <a:pPr>
              <a:spcAft>
                <a:spcPts val="200"/>
              </a:spcAft>
            </a:pPr>
            <a:r>
              <a:rPr sz="1400" b="0" i="0">
                <a:solidFill>
                  <a:srgbClr val="E4E1F1"/>
                </a:solidFill>
                <a:latin typeface="Consolas"/>
              </a:rPr>
              <a:t>    else:</a:t>
            </a:r>
          </a:p>
          <a:p>
            <a:pPr>
              <a:spcAft>
                <a:spcPts val="200"/>
              </a:spcAft>
            </a:pPr>
            <a:r>
              <a:rPr sz="1400" b="0" i="0">
                <a:solidFill>
                  <a:srgbClr val="E4E1F1"/>
                </a:solidFill>
                <a:latin typeface="Consolas"/>
              </a:rPr>
              <a:t>        median = (s[n // 2 - 1] + s[n // 2]) / 2</a:t>
            </a:r>
          </a:p>
          <a:p>
            <a:pPr>
              <a:spcAft>
                <a:spcPts val="200"/>
              </a:spcAft>
            </a:pPr>
            <a:r>
              <a:rPr sz="1400" b="0" i="0">
                <a:solidFill>
                  <a:srgbClr val="E4E1F1"/>
                </a:solidFill>
                <a:latin typeface="Consolas"/>
              </a:rPr>
              <a:t>    return {"median": median, "min": s[0], "max": s[-1],</a:t>
            </a:r>
          </a:p>
          <a:p>
            <a:pPr>
              <a:spcAft>
                <a:spcPts val="200"/>
              </a:spcAft>
            </a:pPr>
            <a:r>
              <a:rPr sz="1400" b="0" i="0">
                <a:solidFill>
                  <a:srgbClr val="E4E1F1"/>
                </a:solidFill>
                <a:latin typeface="Consolas"/>
              </a:rPr>
              <a:t>            "range": s[-1] - s[0]}</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6" name="Oval 15"/>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8" name="Oval 17"/>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20" name="Oval 19"/>
          <p:cNvSpPr/>
          <p:nvPr/>
        </p:nvSpPr>
        <p:spPr>
          <a:xfrm>
            <a:off x="54532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562980" y="6437376"/>
            <a:ext cx="1700498" cy="152146"/>
          </a:xfrm>
          <a:prstGeom prst="rect">
            <a:avLst/>
          </a:prstGeom>
          <a:noFill/>
        </p:spPr>
        <p:txBody>
          <a:bodyPr wrap="square" anchor="t" lIns="0" rIns="0" tIns="0" bIns="0">
            <a:spAutoFit/>
          </a:bodyPr>
          <a:lstStyle/>
          <a:p>
            <a:pPr algn="l"/>
            <a:r>
              <a:rPr sz="700" b="1" i="0">
                <a:solidFill>
                  <a:srgbClr val="5B3FD6"/>
                </a:solidFill>
                <a:latin typeface="Calibri"/>
              </a:rPr>
              <a:t>Round 3, every kind of customer</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S38  ·  43 / 52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Step 4: two segments, both quarters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Retail-Core and Business, run through tree_for.</a:t>
            </a:r>
          </a:p>
        </p:txBody>
      </p:sp>
      <p:graphicFrame>
        <p:nvGraphicFramePr>
          <p:cNvPr id="9" name="Table 8"/>
          <p:cNvGraphicFramePr>
            <a:graphicFrameLocks noGrp="1"/>
          </p:cNvGraphicFramePr>
          <p:nvPr/>
        </p:nvGraphicFramePr>
        <p:xfrm>
          <a:off x="530352" y="1956816"/>
          <a:ext cx="11130988" cy="1676400"/>
        </p:xfrm>
        <a:graphic>
          <a:graphicData uri="http://schemas.openxmlformats.org/drawingml/2006/table">
            <a:tbl>
              <a:tblPr firstRow="0" bandRow="0">
                <a:tableStyleId>{2D5ABB26-0587-4C30-8999-92F81FD0307C}</a:tableStyleId>
              </a:tblPr>
              <a:tblGrid>
                <a:gridCol w="2842478"/>
                <a:gridCol w="914400"/>
                <a:gridCol w="1766042"/>
                <a:gridCol w="3303808"/>
                <a:gridCol w="2304260"/>
              </a:tblGrid>
              <a:tr h="335280">
                <a:tc>
                  <a:txBody>
                    <a:bodyPr/>
                    <a:lstStyle/>
                    <a:p>
                      <a:r>
                        <a:rPr sz="1250" b="1" i="0">
                          <a:solidFill>
                            <a:srgbClr val="FFFFFF"/>
                          </a:solidFill>
                          <a:latin typeface="Calibri"/>
                        </a:rPr>
                        <a:t>Segment, quarter</a:t>
                      </a:r>
                    </a:p>
                  </a:txBody>
                  <a:tcPr marL="101600" marR="101600" marT="38100" marB="38100" anchor="ctr">
                    <a:solidFill>
                      <a:srgbClr val="1A0F5C"/>
                    </a:solidFill>
                  </a:tcPr>
                </a:tc>
                <a:tc>
                  <a:txBody>
                    <a:bodyPr/>
                    <a:lstStyle/>
                    <a:p>
                      <a:r>
                        <a:rPr sz="1250" b="1" i="0">
                          <a:solidFill>
                            <a:srgbClr val="FFFFFF"/>
                          </a:solidFill>
                          <a:latin typeface="Calibri"/>
                        </a:rPr>
                        <a:t>Orders</a:t>
                      </a:r>
                    </a:p>
                  </a:txBody>
                  <a:tcPr marL="101600" marR="101600" marT="38100" marB="38100" anchor="ctr">
                    <a:solidFill>
                      <a:srgbClr val="1A0F5C"/>
                    </a:solidFill>
                  </a:tcPr>
                </a:tc>
                <a:tc>
                  <a:txBody>
                    <a:bodyPr/>
                    <a:lstStyle/>
                    <a:p>
                      <a:r>
                        <a:rPr sz="1250" b="1" i="0">
                          <a:solidFill>
                            <a:srgbClr val="FFFFFF"/>
                          </a:solidFill>
                          <a:latin typeface="Calibri"/>
                        </a:rPr>
                        <a:t>Customers</a:t>
                      </a:r>
                    </a:p>
                  </a:txBody>
                  <a:tcPr marL="101600" marR="101600" marT="38100" marB="38100" anchor="ctr">
                    <a:solidFill>
                      <a:srgbClr val="1A0F5C"/>
                    </a:solidFill>
                  </a:tcPr>
                </a:tc>
                <a:tc>
                  <a:txBody>
                    <a:bodyPr/>
                    <a:lstStyle/>
                    <a:p>
                      <a:r>
                        <a:rPr sz="1250" b="1" i="0">
                          <a:solidFill>
                            <a:srgbClr val="FFFFFF"/>
                          </a:solidFill>
                          <a:latin typeface="Calibri"/>
                        </a:rPr>
                        <a:t>Orders per customer</a:t>
                      </a:r>
                    </a:p>
                  </a:txBody>
                  <a:tcPr marL="101600" marR="101600" marT="38100" marB="38100" anchor="ctr">
                    <a:solidFill>
                      <a:srgbClr val="1A0F5C"/>
                    </a:solidFill>
                  </a:tcPr>
                </a:tc>
                <a:tc>
                  <a:txBody>
                    <a:bodyPr/>
                    <a:lstStyle/>
                    <a:p>
                      <a:r>
                        <a:rPr sz="1250" b="1" i="0">
                          <a:solidFill>
                            <a:srgbClr val="FFFFFF"/>
                          </a:solidFill>
                          <a:latin typeface="Calibri"/>
                        </a:rPr>
                        <a:t>Revenue</a:t>
                      </a:r>
                    </a:p>
                  </a:txBody>
                  <a:tcPr marL="101600" marR="101600" marT="38100" marB="38100" anchor="ctr">
                    <a:solidFill>
                      <a:srgbClr val="1A0F5C"/>
                    </a:solidFill>
                  </a:tcPr>
                </a:tc>
              </a:tr>
              <a:tr h="335280">
                <a:tc>
                  <a:txBody>
                    <a:bodyPr/>
                    <a:lstStyle/>
                    <a:p>
                      <a:r>
                        <a:rPr sz="1200" b="0" i="0">
                          <a:solidFill>
                            <a:srgbClr val="1A1440"/>
                          </a:solidFill>
                          <a:latin typeface="Calibri"/>
                        </a:rPr>
                        <a:t>Retail-Core, Q1</a:t>
                      </a:r>
                    </a:p>
                  </a:txBody>
                  <a:tcPr marL="101600" marR="101600" marT="38100" marB="38100" anchor="ctr">
                    <a:solidFill>
                      <a:srgbClr val="FFFFFF"/>
                    </a:solidFill>
                  </a:tcPr>
                </a:tc>
                <a:tc>
                  <a:txBody>
                    <a:bodyPr/>
                    <a:lstStyle/>
                    <a:p>
                      <a:r>
                        <a:rPr sz="1200" b="0" i="0">
                          <a:solidFill>
                            <a:srgbClr val="1A1440"/>
                          </a:solidFill>
                          <a:latin typeface="Calibri"/>
                        </a:rPr>
                        <a:t>38</a:t>
                      </a:r>
                    </a:p>
                  </a:txBody>
                  <a:tcPr marL="101600" marR="101600" marT="38100" marB="38100" anchor="ctr">
                    <a:solidFill>
                      <a:srgbClr val="FFFFFF"/>
                    </a:solidFill>
                  </a:tcPr>
                </a:tc>
                <a:tc>
                  <a:txBody>
                    <a:bodyPr/>
                    <a:lstStyle/>
                    <a:p>
                      <a:r>
                        <a:rPr sz="1200" b="0" i="0">
                          <a:solidFill>
                            <a:srgbClr val="1A1440"/>
                          </a:solidFill>
                          <a:latin typeface="Calibri"/>
                        </a:rPr>
                        <a:t>34</a:t>
                      </a:r>
                    </a:p>
                  </a:txBody>
                  <a:tcPr marL="101600" marR="101600" marT="38100" marB="38100" anchor="ctr">
                    <a:solidFill>
                      <a:srgbClr val="FFFFFF"/>
                    </a:solidFill>
                  </a:tcPr>
                </a:tc>
                <a:tc>
                  <a:txBody>
                    <a:bodyPr/>
                    <a:lstStyle/>
                    <a:p>
                      <a:r>
                        <a:rPr sz="1200" b="0" i="0">
                          <a:solidFill>
                            <a:srgbClr val="1A1440"/>
                          </a:solidFill>
                          <a:latin typeface="Calibri"/>
                        </a:rPr>
                        <a:t>1.12</a:t>
                      </a:r>
                    </a:p>
                  </a:txBody>
                  <a:tcPr marL="101600" marR="101600" marT="38100" marB="38100" anchor="ctr">
                    <a:solidFill>
                      <a:srgbClr val="FFFFFF"/>
                    </a:solidFill>
                  </a:tcPr>
                </a:tc>
                <a:tc>
                  <a:txBody>
                    <a:bodyPr/>
                    <a:lstStyle/>
                    <a:p>
                      <a:r>
                        <a:rPr sz="1200" b="0" i="0">
                          <a:solidFill>
                            <a:srgbClr val="1A1440"/>
                          </a:solidFill>
                          <a:latin typeface="Calibri"/>
                        </a:rPr>
                        <a:t>Rs 80,460</a:t>
                      </a:r>
                    </a:p>
                  </a:txBody>
                  <a:tcPr marL="101600" marR="101600" marT="38100" marB="38100" anchor="ctr">
                    <a:solidFill>
                      <a:srgbClr val="FFFFFF"/>
                    </a:solidFill>
                  </a:tcPr>
                </a:tc>
              </a:tr>
              <a:tr h="335280">
                <a:tc>
                  <a:txBody>
                    <a:bodyPr/>
                    <a:lstStyle/>
                    <a:p>
                      <a:r>
                        <a:rPr sz="1200" b="0" i="0">
                          <a:solidFill>
                            <a:srgbClr val="1A1440"/>
                          </a:solidFill>
                          <a:latin typeface="Calibri"/>
                        </a:rPr>
                        <a:t>Retail-Core, Q2</a:t>
                      </a:r>
                    </a:p>
                  </a:txBody>
                  <a:tcPr marL="101600" marR="101600" marT="38100" marB="38100" anchor="ctr">
                    <a:solidFill>
                      <a:srgbClr val="F4F2FA"/>
                    </a:solidFill>
                  </a:tcPr>
                </a:tc>
                <a:tc>
                  <a:txBody>
                    <a:bodyPr/>
                    <a:lstStyle/>
                    <a:p>
                      <a:r>
                        <a:rPr sz="1200" b="0" i="0">
                          <a:solidFill>
                            <a:srgbClr val="1A1440"/>
                          </a:solidFill>
                          <a:latin typeface="Calibri"/>
                        </a:rPr>
                        <a:t>36</a:t>
                      </a:r>
                    </a:p>
                  </a:txBody>
                  <a:tcPr marL="101600" marR="101600" marT="38100" marB="38100" anchor="ctr">
                    <a:solidFill>
                      <a:srgbClr val="F4F2FA"/>
                    </a:solidFill>
                  </a:tcPr>
                </a:tc>
                <a:tc>
                  <a:txBody>
                    <a:bodyPr/>
                    <a:lstStyle/>
                    <a:p>
                      <a:r>
                        <a:rPr sz="1200" b="0" i="0">
                          <a:solidFill>
                            <a:srgbClr val="1A1440"/>
                          </a:solidFill>
                          <a:latin typeface="Calibri"/>
                        </a:rPr>
                        <a:t>34</a:t>
                      </a:r>
                    </a:p>
                  </a:txBody>
                  <a:tcPr marL="101600" marR="101600" marT="38100" marB="38100" anchor="ctr">
                    <a:solidFill>
                      <a:srgbClr val="F4F2FA"/>
                    </a:solidFill>
                  </a:tcPr>
                </a:tc>
                <a:tc>
                  <a:txBody>
                    <a:bodyPr/>
                    <a:lstStyle/>
                    <a:p>
                      <a:r>
                        <a:rPr sz="1200" b="0" i="0">
                          <a:solidFill>
                            <a:srgbClr val="1A1440"/>
                          </a:solidFill>
                          <a:latin typeface="Calibri"/>
                        </a:rPr>
                        <a:t>1.06</a:t>
                      </a:r>
                    </a:p>
                  </a:txBody>
                  <a:tcPr marL="101600" marR="101600" marT="38100" marB="38100" anchor="ctr">
                    <a:solidFill>
                      <a:srgbClr val="F4F2FA"/>
                    </a:solidFill>
                  </a:tcPr>
                </a:tc>
                <a:tc>
                  <a:txBody>
                    <a:bodyPr/>
                    <a:lstStyle/>
                    <a:p>
                      <a:r>
                        <a:rPr sz="1200" b="0" i="0">
                          <a:solidFill>
                            <a:srgbClr val="1A1440"/>
                          </a:solidFill>
                          <a:latin typeface="Calibri"/>
                        </a:rPr>
                        <a:t>Rs 72,510</a:t>
                      </a:r>
                    </a:p>
                  </a:txBody>
                  <a:tcPr marL="101600" marR="101600" marT="38100" marB="38100" anchor="ctr">
                    <a:solidFill>
                      <a:srgbClr val="F4F2FA"/>
                    </a:solidFill>
                  </a:tcPr>
                </a:tc>
              </a:tr>
              <a:tr h="335280">
                <a:tc>
                  <a:txBody>
                    <a:bodyPr/>
                    <a:lstStyle/>
                    <a:p>
                      <a:r>
                        <a:rPr sz="1200" b="0" i="0">
                          <a:solidFill>
                            <a:srgbClr val="1A1440"/>
                          </a:solidFill>
                          <a:latin typeface="Calibri"/>
                        </a:rPr>
                        <a:t>Business, Q1</a:t>
                      </a:r>
                    </a:p>
                  </a:txBody>
                  <a:tcPr marL="101600" marR="101600" marT="38100" marB="38100" anchor="ctr">
                    <a:solidFill>
                      <a:srgbClr val="FFFFFF"/>
                    </a:solidFill>
                  </a:tcPr>
                </a:tc>
                <a:tc>
                  <a:txBody>
                    <a:bodyPr/>
                    <a:lstStyle/>
                    <a:p>
                      <a:r>
                        <a:rPr sz="1200" b="0" i="0">
                          <a:solidFill>
                            <a:srgbClr val="1A1440"/>
                          </a:solidFill>
                          <a:latin typeface="Calibri"/>
                        </a:rPr>
                        <a:t>20</a:t>
                      </a:r>
                    </a:p>
                  </a:txBody>
                  <a:tcPr marL="101600" marR="101600" marT="38100" marB="38100" anchor="ctr">
                    <a:solidFill>
                      <a:srgbClr val="FFFFFF"/>
                    </a:solidFill>
                  </a:tcPr>
                </a:tc>
                <a:tc>
                  <a:txBody>
                    <a:bodyPr/>
                    <a:lstStyle/>
                    <a:p>
                      <a:r>
                        <a:rPr sz="1200" b="0" i="0">
                          <a:solidFill>
                            <a:srgbClr val="1A1440"/>
                          </a:solidFill>
                          <a:latin typeface="Calibri"/>
                        </a:rPr>
                        <a:t>11</a:t>
                      </a:r>
                    </a:p>
                  </a:txBody>
                  <a:tcPr marL="101600" marR="101600" marT="38100" marB="38100" anchor="ctr">
                    <a:solidFill>
                      <a:srgbClr val="FFFFFF"/>
                    </a:solidFill>
                  </a:tcPr>
                </a:tc>
                <a:tc>
                  <a:txBody>
                    <a:bodyPr/>
                    <a:lstStyle/>
                    <a:p>
                      <a:r>
                        <a:rPr sz="1200" b="0" i="0">
                          <a:solidFill>
                            <a:srgbClr val="1A1440"/>
                          </a:solidFill>
                          <a:latin typeface="Calibri"/>
                        </a:rPr>
                        <a:t>1.82</a:t>
                      </a:r>
                    </a:p>
                  </a:txBody>
                  <a:tcPr marL="101600" marR="101600" marT="38100" marB="38100" anchor="ctr">
                    <a:solidFill>
                      <a:srgbClr val="FFFFFF"/>
                    </a:solidFill>
                  </a:tcPr>
                </a:tc>
                <a:tc>
                  <a:txBody>
                    <a:bodyPr/>
                    <a:lstStyle/>
                    <a:p>
                      <a:r>
                        <a:rPr sz="1200" b="0" i="0">
                          <a:solidFill>
                            <a:srgbClr val="1A1440"/>
                          </a:solidFill>
                          <a:latin typeface="Calibri"/>
                        </a:rPr>
                        <a:t>Rs 2,07,71,180</a:t>
                      </a:r>
                    </a:p>
                  </a:txBody>
                  <a:tcPr marL="101600" marR="101600" marT="38100" marB="38100" anchor="ctr">
                    <a:solidFill>
                      <a:srgbClr val="FFFFFF"/>
                    </a:solidFill>
                  </a:tcPr>
                </a:tc>
              </a:tr>
              <a:tr h="335280">
                <a:tc>
                  <a:txBody>
                    <a:bodyPr/>
                    <a:lstStyle/>
                    <a:p>
                      <a:r>
                        <a:rPr sz="1200" b="0" i="0">
                          <a:solidFill>
                            <a:srgbClr val="1A1440"/>
                          </a:solidFill>
                          <a:latin typeface="Calibri"/>
                        </a:rPr>
                        <a:t>Business, Q2</a:t>
                      </a:r>
                    </a:p>
                  </a:txBody>
                  <a:tcPr marL="101600" marR="101600" marT="38100" marB="38100" anchor="ctr">
                    <a:solidFill>
                      <a:srgbClr val="F4F2FA"/>
                    </a:solidFill>
                  </a:tcPr>
                </a:tc>
                <a:tc>
                  <a:txBody>
                    <a:bodyPr/>
                    <a:lstStyle/>
                    <a:p>
                      <a:r>
                        <a:rPr sz="1200" b="0" i="0">
                          <a:solidFill>
                            <a:srgbClr val="1A1440"/>
                          </a:solidFill>
                          <a:latin typeface="Calibri"/>
                        </a:rPr>
                        <a:t>17</a:t>
                      </a:r>
                    </a:p>
                  </a:txBody>
                  <a:tcPr marL="101600" marR="101600" marT="38100" marB="38100" anchor="ctr">
                    <a:solidFill>
                      <a:srgbClr val="F4F2FA"/>
                    </a:solidFill>
                  </a:tcPr>
                </a:tc>
                <a:tc>
                  <a:txBody>
                    <a:bodyPr/>
                    <a:lstStyle/>
                    <a:p>
                      <a:r>
                        <a:rPr sz="1200" b="0" i="0">
                          <a:solidFill>
                            <a:srgbClr val="1A1440"/>
                          </a:solidFill>
                          <a:latin typeface="Calibri"/>
                        </a:rPr>
                        <a:t>11</a:t>
                      </a:r>
                    </a:p>
                  </a:txBody>
                  <a:tcPr marL="101600" marR="101600" marT="38100" marB="38100" anchor="ctr">
                    <a:solidFill>
                      <a:srgbClr val="F4F2FA"/>
                    </a:solidFill>
                  </a:tcPr>
                </a:tc>
                <a:tc>
                  <a:txBody>
                    <a:bodyPr/>
                    <a:lstStyle/>
                    <a:p>
                      <a:r>
                        <a:rPr sz="1200" b="0" i="0">
                          <a:solidFill>
                            <a:srgbClr val="1A1440"/>
                          </a:solidFill>
                          <a:latin typeface="Calibri"/>
                        </a:rPr>
                        <a:t>1.55</a:t>
                      </a:r>
                    </a:p>
                  </a:txBody>
                  <a:tcPr marL="101600" marR="101600" marT="38100" marB="38100" anchor="ctr">
                    <a:solidFill>
                      <a:srgbClr val="F4F2FA"/>
                    </a:solidFill>
                  </a:tcPr>
                </a:tc>
                <a:tc>
                  <a:txBody>
                    <a:bodyPr/>
                    <a:lstStyle/>
                    <a:p>
                      <a:r>
                        <a:rPr sz="1200" b="0" i="0">
                          <a:solidFill>
                            <a:srgbClr val="1A1440"/>
                          </a:solidFill>
                          <a:latin typeface="Calibri"/>
                        </a:rPr>
                        <a:t>Rs 1,85,41,460</a:t>
                      </a:r>
                    </a:p>
                  </a:txBody>
                  <a:tcPr marL="101600" marR="101600" marT="38100" marB="38100" anchor="ctr">
                    <a:solidFill>
                      <a:srgbClr val="F4F2FA"/>
                    </a:solidFill>
                  </a:tcPr>
                </a:tc>
              </a:tr>
            </a:tbl>
          </a:graphicData>
        </a:graphic>
      </p:graphicFrame>
      <p:sp>
        <p:nvSpPr>
          <p:cNvPr id="10" name="TextBox 9"/>
          <p:cNvSpPr txBox="1"/>
          <p:nvPr/>
        </p:nvSpPr>
        <p:spPr>
          <a:xfrm>
            <a:off x="530352" y="3889248"/>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Two segments run here, and the other two are yours in the last run of the round.</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5" name="Oval 14"/>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17" name="Oval 16"/>
          <p:cNvSpPr/>
          <p:nvPr/>
        </p:nvSpPr>
        <p:spPr>
          <a:xfrm>
            <a:off x="54532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562980" y="6437376"/>
            <a:ext cx="1700498" cy="152146"/>
          </a:xfrm>
          <a:prstGeom prst="rect">
            <a:avLst/>
          </a:prstGeom>
          <a:noFill/>
        </p:spPr>
        <p:txBody>
          <a:bodyPr wrap="square" anchor="t" lIns="0" rIns="0" tIns="0" bIns="0">
            <a:spAutoFit/>
          </a:bodyPr>
          <a:lstStyle/>
          <a:p>
            <a:pPr algn="l"/>
            <a:r>
              <a:rPr sz="700" b="1" i="0">
                <a:solidFill>
                  <a:srgbClr val="5B3FD6"/>
                </a:solidFill>
                <a:latin typeface="Calibri"/>
              </a:rPr>
              <a:t>Round 3, every kind of customer</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S39  ·  44 / 52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what did Business orders look like in Q2</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Q1's median Business order was Rs 9,83,780, with a range of Rs 15,80,940.</a:t>
            </a:r>
          </a:p>
        </p:txBody>
      </p:sp>
      <p:sp>
        <p:nvSpPr>
          <p:cNvPr id="9" name="TextBox 8"/>
          <p:cNvSpPr txBox="1"/>
          <p:nvPr/>
        </p:nvSpPr>
        <p:spPr>
          <a:xfrm>
            <a:off x="530352"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Rs 9,83,780</a:t>
            </a:r>
          </a:p>
        </p:txBody>
      </p:sp>
      <p:sp>
        <p:nvSpPr>
          <p:cNvPr id="10" name="TextBox 9"/>
          <p:cNvSpPr txBox="1"/>
          <p:nvPr/>
        </p:nvSpPr>
        <p:spPr>
          <a:xfrm>
            <a:off x="530352"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Q1 MEDIAN</a:t>
            </a:r>
          </a:p>
        </p:txBody>
      </p:sp>
      <p:sp>
        <p:nvSpPr>
          <p:cNvPr id="11" name="TextBox 10"/>
          <p:cNvSpPr txBox="1"/>
          <p:nvPr/>
        </p:nvSpPr>
        <p:spPr>
          <a:xfrm>
            <a:off x="530352"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Business, 20 orders</a:t>
            </a:r>
          </a:p>
        </p:txBody>
      </p:sp>
      <p:sp>
        <p:nvSpPr>
          <p:cNvPr id="12" name="Rectangle 11"/>
          <p:cNvSpPr/>
          <p:nvPr/>
        </p:nvSpPr>
        <p:spPr>
          <a:xfrm>
            <a:off x="530352"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33007"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Rs 15,80,940</a:t>
            </a:r>
          </a:p>
        </p:txBody>
      </p:sp>
      <p:sp>
        <p:nvSpPr>
          <p:cNvPr id="14" name="TextBox 13"/>
          <p:cNvSpPr txBox="1"/>
          <p:nvPr/>
        </p:nvSpPr>
        <p:spPr>
          <a:xfrm>
            <a:off x="6233007"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Q1 RANGE</a:t>
            </a:r>
          </a:p>
        </p:txBody>
      </p:sp>
      <p:sp>
        <p:nvSpPr>
          <p:cNvPr id="15" name="TextBox 14"/>
          <p:cNvSpPr txBox="1"/>
          <p:nvPr/>
        </p:nvSpPr>
        <p:spPr>
          <a:xfrm>
            <a:off x="6233007"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Rs 2,03,060 to Rs 17,84,000</a:t>
            </a:r>
          </a:p>
        </p:txBody>
      </p:sp>
      <p:sp>
        <p:nvSpPr>
          <p:cNvPr id="16" name="Rectangle 15"/>
          <p:cNvSpPr/>
          <p:nvPr/>
        </p:nvSpPr>
        <p:spPr>
          <a:xfrm>
            <a:off x="6233007"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30352" y="341985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676656" y="354787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77824" y="3538728"/>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Predict describe for Business in Q2: a) the median and the range both fall; b) the median barely moves and the range nearly doubles; c) the median doubles; d) nothing changes.</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22" name="Oval 2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24" name="Oval 23"/>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26" name="Oval 25"/>
          <p:cNvSpPr/>
          <p:nvPr/>
        </p:nvSpPr>
        <p:spPr>
          <a:xfrm>
            <a:off x="54532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562980" y="6437376"/>
            <a:ext cx="1700498" cy="152146"/>
          </a:xfrm>
          <a:prstGeom prst="rect">
            <a:avLst/>
          </a:prstGeom>
          <a:noFill/>
        </p:spPr>
        <p:txBody>
          <a:bodyPr wrap="square" anchor="t" lIns="0" rIns="0" tIns="0" bIns="0">
            <a:spAutoFit/>
          </a:bodyPr>
          <a:lstStyle/>
          <a:p>
            <a:pPr algn="l"/>
            <a:r>
              <a:rPr sz="700" b="1" i="0">
                <a:solidFill>
                  <a:srgbClr val="5B3FD6"/>
                </a:solidFill>
                <a:latin typeface="Calibri"/>
              </a:rPr>
              <a:t>Round 3, every kind of customer</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S40  ·  45 / 52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the median held, one order doubled the range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typical Business order barely changed; one large order stretched the spread.</a:t>
            </a:r>
          </a:p>
        </p:txBody>
      </p:sp>
      <p:graphicFrame>
        <p:nvGraphicFramePr>
          <p:cNvPr id="9" name="Table 8"/>
          <p:cNvGraphicFramePr>
            <a:graphicFrameLocks noGrp="1"/>
          </p:cNvGraphicFramePr>
          <p:nvPr/>
        </p:nvGraphicFramePr>
        <p:xfrm>
          <a:off x="530352" y="1956816"/>
          <a:ext cx="11130989" cy="1676400"/>
        </p:xfrm>
        <a:graphic>
          <a:graphicData uri="http://schemas.openxmlformats.org/drawingml/2006/table">
            <a:tbl>
              <a:tblPr firstRow="0" bandRow="0">
                <a:tableStyleId>{2D5ABB26-0587-4C30-8999-92F81FD0307C}</a:tableStyleId>
              </a:tblPr>
              <a:tblGrid>
                <a:gridCol w="2642237"/>
                <a:gridCol w="2047895"/>
                <a:gridCol w="2047895"/>
                <a:gridCol w="2196481"/>
                <a:gridCol w="2196481"/>
              </a:tblGrid>
              <a:tr h="335280">
                <a:tc>
                  <a:txBody>
                    <a:bodyPr/>
                    <a:lstStyle/>
                    <a:p>
                      <a:r>
                        <a:rPr sz="1250" b="1" i="0">
                          <a:solidFill>
                            <a:srgbClr val="FFFFFF"/>
                          </a:solidFill>
                          <a:latin typeface="Calibri"/>
                        </a:rPr>
                        <a:t>describe</a:t>
                      </a:r>
                    </a:p>
                  </a:txBody>
                  <a:tcPr marL="101600" marR="101600" marT="38100" marB="38100" anchor="ctr">
                    <a:solidFill>
                      <a:srgbClr val="1A0F5C"/>
                    </a:solidFill>
                  </a:tcPr>
                </a:tc>
                <a:tc>
                  <a:txBody>
                    <a:bodyPr/>
                    <a:lstStyle/>
                    <a:p>
                      <a:r>
                        <a:rPr sz="1250" b="1" i="0">
                          <a:solidFill>
                            <a:srgbClr val="FFFFFF"/>
                          </a:solidFill>
                          <a:latin typeface="Calibri"/>
                        </a:rPr>
                        <a:t>Median</a:t>
                      </a:r>
                    </a:p>
                  </a:txBody>
                  <a:tcPr marL="101600" marR="101600" marT="38100" marB="38100" anchor="ctr">
                    <a:solidFill>
                      <a:srgbClr val="1A0F5C"/>
                    </a:solidFill>
                  </a:tcPr>
                </a:tc>
                <a:tc>
                  <a:txBody>
                    <a:bodyPr/>
                    <a:lstStyle/>
                    <a:p>
                      <a:r>
                        <a:rPr sz="1250" b="1" i="0">
                          <a:solidFill>
                            <a:srgbClr val="FFFFFF"/>
                          </a:solidFill>
                          <a:latin typeface="Calibri"/>
                        </a:rPr>
                        <a:t>Min</a:t>
                      </a:r>
                    </a:p>
                  </a:txBody>
                  <a:tcPr marL="101600" marR="101600" marT="38100" marB="38100" anchor="ctr">
                    <a:solidFill>
                      <a:srgbClr val="1A0F5C"/>
                    </a:solidFill>
                  </a:tcPr>
                </a:tc>
                <a:tc>
                  <a:txBody>
                    <a:bodyPr/>
                    <a:lstStyle/>
                    <a:p>
                      <a:r>
                        <a:rPr sz="1250" b="1" i="0">
                          <a:solidFill>
                            <a:srgbClr val="FFFFFF"/>
                          </a:solidFill>
                          <a:latin typeface="Calibri"/>
                        </a:rPr>
                        <a:t>Max</a:t>
                      </a:r>
                    </a:p>
                  </a:txBody>
                  <a:tcPr marL="101600" marR="101600" marT="38100" marB="38100" anchor="ctr">
                    <a:solidFill>
                      <a:srgbClr val="1A0F5C"/>
                    </a:solidFill>
                  </a:tcPr>
                </a:tc>
                <a:tc>
                  <a:txBody>
                    <a:bodyPr/>
                    <a:lstStyle/>
                    <a:p>
                      <a:r>
                        <a:rPr sz="1250" b="1" i="0">
                          <a:solidFill>
                            <a:srgbClr val="FFFFFF"/>
                          </a:solidFill>
                          <a:latin typeface="Calibri"/>
                        </a:rPr>
                        <a:t>Range</a:t>
                      </a:r>
                    </a:p>
                  </a:txBody>
                  <a:tcPr marL="101600" marR="101600" marT="38100" marB="38100" anchor="ctr">
                    <a:solidFill>
                      <a:srgbClr val="1A0F5C"/>
                    </a:solidFill>
                  </a:tcPr>
                </a:tc>
              </a:tr>
              <a:tr h="335280">
                <a:tc>
                  <a:txBody>
                    <a:bodyPr/>
                    <a:lstStyle/>
                    <a:p>
                      <a:r>
                        <a:rPr sz="1200" b="0" i="0">
                          <a:solidFill>
                            <a:srgbClr val="1A1440"/>
                          </a:solidFill>
                          <a:latin typeface="Calibri"/>
                        </a:rPr>
                        <a:t>Retail-Core, Q1</a:t>
                      </a:r>
                    </a:p>
                  </a:txBody>
                  <a:tcPr marL="101600" marR="101600" marT="38100" marB="38100" anchor="ctr">
                    <a:solidFill>
                      <a:srgbClr val="FFFFFF"/>
                    </a:solidFill>
                  </a:tcPr>
                </a:tc>
                <a:tc>
                  <a:txBody>
                    <a:bodyPr/>
                    <a:lstStyle/>
                    <a:p>
                      <a:r>
                        <a:rPr sz="1200" b="0" i="0">
                          <a:solidFill>
                            <a:srgbClr val="1A1440"/>
                          </a:solidFill>
                          <a:latin typeface="Calibri"/>
                        </a:rPr>
                        <a:t>Rs 2,325</a:t>
                      </a:r>
                    </a:p>
                  </a:txBody>
                  <a:tcPr marL="101600" marR="101600" marT="38100" marB="38100" anchor="ctr">
                    <a:solidFill>
                      <a:srgbClr val="FFFFFF"/>
                    </a:solidFill>
                  </a:tcPr>
                </a:tc>
                <a:tc>
                  <a:txBody>
                    <a:bodyPr/>
                    <a:lstStyle/>
                    <a:p>
                      <a:r>
                        <a:rPr sz="1200" b="0" i="0">
                          <a:solidFill>
                            <a:srgbClr val="1A1440"/>
                          </a:solidFill>
                          <a:latin typeface="Calibri"/>
                        </a:rPr>
                        <a:t>Rs 860</a:t>
                      </a:r>
                    </a:p>
                  </a:txBody>
                  <a:tcPr marL="101600" marR="101600" marT="38100" marB="38100" anchor="ctr">
                    <a:solidFill>
                      <a:srgbClr val="FFFFFF"/>
                    </a:solidFill>
                  </a:tcPr>
                </a:tc>
                <a:tc>
                  <a:txBody>
                    <a:bodyPr/>
                    <a:lstStyle/>
                    <a:p>
                      <a:r>
                        <a:rPr sz="1200" b="0" i="0">
                          <a:solidFill>
                            <a:srgbClr val="1A1440"/>
                          </a:solidFill>
                          <a:latin typeface="Calibri"/>
                        </a:rPr>
                        <a:t>Rs 3,000</a:t>
                      </a:r>
                    </a:p>
                  </a:txBody>
                  <a:tcPr marL="101600" marR="101600" marT="38100" marB="38100" anchor="ctr">
                    <a:solidFill>
                      <a:srgbClr val="FFFFFF"/>
                    </a:solidFill>
                  </a:tcPr>
                </a:tc>
                <a:tc>
                  <a:txBody>
                    <a:bodyPr/>
                    <a:lstStyle/>
                    <a:p>
                      <a:r>
                        <a:rPr sz="1200" b="0" i="0">
                          <a:solidFill>
                            <a:srgbClr val="1A1440"/>
                          </a:solidFill>
                          <a:latin typeface="Calibri"/>
                        </a:rPr>
                        <a:t>Rs 2,140</a:t>
                      </a:r>
                    </a:p>
                  </a:txBody>
                  <a:tcPr marL="101600" marR="101600" marT="38100" marB="38100" anchor="ctr">
                    <a:solidFill>
                      <a:srgbClr val="FFFFFF"/>
                    </a:solidFill>
                  </a:tcPr>
                </a:tc>
              </a:tr>
              <a:tr h="335280">
                <a:tc>
                  <a:txBody>
                    <a:bodyPr/>
                    <a:lstStyle/>
                    <a:p>
                      <a:r>
                        <a:rPr sz="1200" b="0" i="0">
                          <a:solidFill>
                            <a:srgbClr val="1A1440"/>
                          </a:solidFill>
                          <a:latin typeface="Calibri"/>
                        </a:rPr>
                        <a:t>Retail-Core, Q2</a:t>
                      </a:r>
                    </a:p>
                  </a:txBody>
                  <a:tcPr marL="101600" marR="101600" marT="38100" marB="38100" anchor="ctr">
                    <a:solidFill>
                      <a:srgbClr val="F4F2FA"/>
                    </a:solidFill>
                  </a:tcPr>
                </a:tc>
                <a:tc>
                  <a:txBody>
                    <a:bodyPr/>
                    <a:lstStyle/>
                    <a:p>
                      <a:r>
                        <a:rPr sz="1200" b="0" i="0">
                          <a:solidFill>
                            <a:srgbClr val="1A1440"/>
                          </a:solidFill>
                          <a:latin typeface="Calibri"/>
                        </a:rPr>
                        <a:t>Rs 2,080</a:t>
                      </a:r>
                    </a:p>
                  </a:txBody>
                  <a:tcPr marL="101600" marR="101600" marT="38100" marB="38100" anchor="ctr">
                    <a:solidFill>
                      <a:srgbClr val="F4F2FA"/>
                    </a:solidFill>
                  </a:tcPr>
                </a:tc>
                <a:tc>
                  <a:txBody>
                    <a:bodyPr/>
                    <a:lstStyle/>
                    <a:p>
                      <a:r>
                        <a:rPr sz="1200" b="0" i="0">
                          <a:solidFill>
                            <a:srgbClr val="1A1440"/>
                          </a:solidFill>
                          <a:latin typeface="Calibri"/>
                        </a:rPr>
                        <a:t>Rs 890</a:t>
                      </a:r>
                    </a:p>
                  </a:txBody>
                  <a:tcPr marL="101600" marR="101600" marT="38100" marB="38100" anchor="ctr">
                    <a:solidFill>
                      <a:srgbClr val="F4F2FA"/>
                    </a:solidFill>
                  </a:tcPr>
                </a:tc>
                <a:tc>
                  <a:txBody>
                    <a:bodyPr/>
                    <a:lstStyle/>
                    <a:p>
                      <a:r>
                        <a:rPr sz="1200" b="0" i="0">
                          <a:solidFill>
                            <a:srgbClr val="1A1440"/>
                          </a:solidFill>
                          <a:latin typeface="Calibri"/>
                        </a:rPr>
                        <a:t>Rs 2,950</a:t>
                      </a:r>
                    </a:p>
                  </a:txBody>
                  <a:tcPr marL="101600" marR="101600" marT="38100" marB="38100" anchor="ctr">
                    <a:solidFill>
                      <a:srgbClr val="F4F2FA"/>
                    </a:solidFill>
                  </a:tcPr>
                </a:tc>
                <a:tc>
                  <a:txBody>
                    <a:bodyPr/>
                    <a:lstStyle/>
                    <a:p>
                      <a:r>
                        <a:rPr sz="1200" b="0" i="0">
                          <a:solidFill>
                            <a:srgbClr val="1A1440"/>
                          </a:solidFill>
                          <a:latin typeface="Calibri"/>
                        </a:rPr>
                        <a:t>Rs 2,060</a:t>
                      </a:r>
                    </a:p>
                  </a:txBody>
                  <a:tcPr marL="101600" marR="101600" marT="38100" marB="38100" anchor="ctr">
                    <a:solidFill>
                      <a:srgbClr val="F4F2FA"/>
                    </a:solidFill>
                  </a:tcPr>
                </a:tc>
              </a:tr>
              <a:tr h="335280">
                <a:tc>
                  <a:txBody>
                    <a:bodyPr/>
                    <a:lstStyle/>
                    <a:p>
                      <a:r>
                        <a:rPr sz="1200" b="0" i="0">
                          <a:solidFill>
                            <a:srgbClr val="1A1440"/>
                          </a:solidFill>
                          <a:latin typeface="Calibri"/>
                        </a:rPr>
                        <a:t>Business, Q1</a:t>
                      </a:r>
                    </a:p>
                  </a:txBody>
                  <a:tcPr marL="101600" marR="101600" marT="38100" marB="38100" anchor="ctr">
                    <a:solidFill>
                      <a:srgbClr val="FFFFFF"/>
                    </a:solidFill>
                  </a:tcPr>
                </a:tc>
                <a:tc>
                  <a:txBody>
                    <a:bodyPr/>
                    <a:lstStyle/>
                    <a:p>
                      <a:r>
                        <a:rPr sz="1200" b="0" i="0">
                          <a:solidFill>
                            <a:srgbClr val="1A1440"/>
                          </a:solidFill>
                          <a:latin typeface="Calibri"/>
                        </a:rPr>
                        <a:t>Rs 9,83,780</a:t>
                      </a:r>
                    </a:p>
                  </a:txBody>
                  <a:tcPr marL="101600" marR="101600" marT="38100" marB="38100" anchor="ctr">
                    <a:solidFill>
                      <a:srgbClr val="FFFFFF"/>
                    </a:solidFill>
                  </a:tcPr>
                </a:tc>
                <a:tc>
                  <a:txBody>
                    <a:bodyPr/>
                    <a:lstStyle/>
                    <a:p>
                      <a:r>
                        <a:rPr sz="1200" b="0" i="0">
                          <a:solidFill>
                            <a:srgbClr val="1A1440"/>
                          </a:solidFill>
                          <a:latin typeface="Calibri"/>
                        </a:rPr>
                        <a:t>Rs 2,03,060</a:t>
                      </a:r>
                    </a:p>
                  </a:txBody>
                  <a:tcPr marL="101600" marR="101600" marT="38100" marB="38100" anchor="ctr">
                    <a:solidFill>
                      <a:srgbClr val="FFFFFF"/>
                    </a:solidFill>
                  </a:tcPr>
                </a:tc>
                <a:tc>
                  <a:txBody>
                    <a:bodyPr/>
                    <a:lstStyle/>
                    <a:p>
                      <a:r>
                        <a:rPr sz="1200" b="0" i="0">
                          <a:solidFill>
                            <a:srgbClr val="1A1440"/>
                          </a:solidFill>
                          <a:latin typeface="Calibri"/>
                        </a:rPr>
                        <a:t>Rs 17,84,000</a:t>
                      </a:r>
                    </a:p>
                  </a:txBody>
                  <a:tcPr marL="101600" marR="101600" marT="38100" marB="38100" anchor="ctr">
                    <a:solidFill>
                      <a:srgbClr val="FFFFFF"/>
                    </a:solidFill>
                  </a:tcPr>
                </a:tc>
                <a:tc>
                  <a:txBody>
                    <a:bodyPr/>
                    <a:lstStyle/>
                    <a:p>
                      <a:r>
                        <a:rPr sz="1200" b="0" i="0">
                          <a:solidFill>
                            <a:srgbClr val="1A1440"/>
                          </a:solidFill>
                          <a:latin typeface="Calibri"/>
                        </a:rPr>
                        <a:t>Rs 15,80,940</a:t>
                      </a:r>
                    </a:p>
                  </a:txBody>
                  <a:tcPr marL="101600" marR="101600" marT="38100" marB="38100" anchor="ctr">
                    <a:solidFill>
                      <a:srgbClr val="FFFFFF"/>
                    </a:solidFill>
                  </a:tcPr>
                </a:tc>
              </a:tr>
              <a:tr h="335280">
                <a:tc>
                  <a:txBody>
                    <a:bodyPr/>
                    <a:lstStyle/>
                    <a:p>
                      <a:r>
                        <a:rPr sz="1200" b="0" i="0">
                          <a:solidFill>
                            <a:srgbClr val="1A1440"/>
                          </a:solidFill>
                          <a:latin typeface="Calibri"/>
                        </a:rPr>
                        <a:t>Business, Q2</a:t>
                      </a:r>
                    </a:p>
                  </a:txBody>
                  <a:tcPr marL="101600" marR="101600" marT="38100" marB="38100" anchor="ctr">
                    <a:solidFill>
                      <a:srgbClr val="F4F2FA"/>
                    </a:solidFill>
                  </a:tcPr>
                </a:tc>
                <a:tc>
                  <a:txBody>
                    <a:bodyPr/>
                    <a:lstStyle/>
                    <a:p>
                      <a:r>
                        <a:rPr sz="1200" b="0" i="0">
                          <a:solidFill>
                            <a:srgbClr val="1A1440"/>
                          </a:solidFill>
                          <a:latin typeface="Calibri"/>
                        </a:rPr>
                        <a:t>Rs 9,52,000</a:t>
                      </a:r>
                    </a:p>
                  </a:txBody>
                  <a:tcPr marL="101600" marR="101600" marT="38100" marB="38100" anchor="ctr">
                    <a:solidFill>
                      <a:srgbClr val="F4F2FA"/>
                    </a:solidFill>
                  </a:tcPr>
                </a:tc>
                <a:tc>
                  <a:txBody>
                    <a:bodyPr/>
                    <a:lstStyle/>
                    <a:p>
                      <a:r>
                        <a:rPr sz="1200" b="0" i="0">
                          <a:solidFill>
                            <a:srgbClr val="1A1440"/>
                          </a:solidFill>
                          <a:latin typeface="Calibri"/>
                        </a:rPr>
                        <a:t>Rs 2,17,000</a:t>
                      </a:r>
                    </a:p>
                  </a:txBody>
                  <a:tcPr marL="101600" marR="101600" marT="38100" marB="38100" anchor="ctr">
                    <a:solidFill>
                      <a:srgbClr val="F4F2FA"/>
                    </a:solidFill>
                  </a:tcPr>
                </a:tc>
                <a:tc>
                  <a:txBody>
                    <a:bodyPr/>
                    <a:lstStyle/>
                    <a:p>
                      <a:r>
                        <a:rPr sz="1200" b="0" i="0">
                          <a:solidFill>
                            <a:srgbClr val="1A1440"/>
                          </a:solidFill>
                          <a:latin typeface="Calibri"/>
                        </a:rPr>
                        <a:t>Rs 29,45,460</a:t>
                      </a:r>
                    </a:p>
                  </a:txBody>
                  <a:tcPr marL="101600" marR="101600" marT="38100" marB="38100" anchor="ctr">
                    <a:solidFill>
                      <a:srgbClr val="F4F2FA"/>
                    </a:solidFill>
                  </a:tcPr>
                </a:tc>
                <a:tc>
                  <a:txBody>
                    <a:bodyPr/>
                    <a:lstStyle/>
                    <a:p>
                      <a:r>
                        <a:rPr sz="1200" b="0" i="0">
                          <a:solidFill>
                            <a:srgbClr val="1A1440"/>
                          </a:solidFill>
                          <a:latin typeface="Calibri"/>
                        </a:rPr>
                        <a:t>Rs 27,28,460</a:t>
                      </a:r>
                    </a:p>
                  </a:txBody>
                  <a:tcPr marL="101600" marR="101600" marT="38100" marB="38100" anchor="ctr">
                    <a:solidFill>
                      <a:srgbClr val="F4F2FA"/>
                    </a:solidFill>
                  </a:tcPr>
                </a:tc>
              </a:tr>
            </a:tbl>
          </a:graphicData>
        </a:graphic>
      </p:graphicFrame>
      <p:sp>
        <p:nvSpPr>
          <p:cNvPr id="10" name="Rounded Rectangle 9"/>
          <p:cNvSpPr/>
          <p:nvPr/>
        </p:nvSpPr>
        <p:spPr>
          <a:xfrm>
            <a:off x="530352" y="388924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17263"/>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08119"/>
            <a:ext cx="10564063" cy="624840"/>
          </a:xfrm>
          <a:prstGeom prst="rect">
            <a:avLst/>
          </a:prstGeom>
          <a:noFill/>
        </p:spPr>
        <p:txBody>
          <a:bodyPr wrap="square" anchor="ctr" lIns="0" rIns="0" tIns="0" bIns="0">
            <a:spAutoFit/>
          </a:bodyPr>
          <a:lstStyle/>
          <a:p>
            <a:r>
              <a:rPr sz="1500" b="1">
                <a:solidFill>
                  <a:srgbClr val="5B3FD6"/>
                </a:solidFill>
                <a:latin typeface="Calibri"/>
              </a:rPr>
              <a:t>The claim. </a:t>
            </a:r>
            <a:r>
              <a:rPr sz="1500" b="0" i="0">
                <a:solidFill>
                  <a:srgbClr val="1A1440"/>
                </a:solidFill>
                <a:latin typeface="Calibri"/>
              </a:rPr>
              <a:t>Business orders are the same size as before, and fewer of them; one order of Rs 29,45,460 is the outlier to name.</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7" name="Oval 16"/>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19" name="Oval 18"/>
          <p:cNvSpPr/>
          <p:nvPr/>
        </p:nvSpPr>
        <p:spPr>
          <a:xfrm>
            <a:off x="54532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562980" y="6437376"/>
            <a:ext cx="1700498" cy="152146"/>
          </a:xfrm>
          <a:prstGeom prst="rect">
            <a:avLst/>
          </a:prstGeom>
          <a:noFill/>
        </p:spPr>
        <p:txBody>
          <a:bodyPr wrap="square" anchor="t" lIns="0" rIns="0" tIns="0" bIns="0">
            <a:spAutoFit/>
          </a:bodyPr>
          <a:lstStyle/>
          <a:p>
            <a:pPr algn="l"/>
            <a:r>
              <a:rPr sz="700" b="1" i="0">
                <a:solidFill>
                  <a:srgbClr val="5B3FD6"/>
                </a:solidFill>
                <a:latin typeface="Calibri"/>
              </a:rPr>
              <a:t>Round 3, every kind of customer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S41  ·  46 / 52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wrong answer: frequency fell only 6.0 percent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Averaging the four segments' orders per customer gives a softer story.</a:t>
            </a:r>
          </a:p>
        </p:txBody>
      </p:sp>
      <p:pic>
        <p:nvPicPr>
          <p:cNvPr id="9" name="mermaid diagram" descr="e5c4706c80eb9847.png"/>
          <p:cNvPicPr>
            <a:picLocks noChangeAspect="1"/>
          </p:cNvPicPr>
          <p:nvPr/>
        </p:nvPicPr>
        <p:blipFill>
          <a:blip r:embed="rId6"/>
          <a:stretch>
            <a:fillRect/>
          </a:stretch>
        </p:blipFill>
        <p:spPr>
          <a:xfrm>
            <a:off x="2892399" y="1664208"/>
            <a:ext cx="6406895" cy="3203447"/>
          </a:xfrm>
          <a:prstGeom prst="rect">
            <a:avLst/>
          </a:prstGeom>
        </p:spPr>
      </p:pic>
      <p:sp>
        <p:nvSpPr>
          <p:cNvPr id="10" name="Rounded Rectangle 9"/>
          <p:cNvSpPr/>
          <p:nvPr/>
        </p:nvSpPr>
        <p:spPr>
          <a:xfrm>
            <a:off x="530352" y="4913376"/>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524560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bug_39ada6eff46d.png"/>
          <p:cNvPicPr>
            <a:picLocks noChangeAspect="1"/>
          </p:cNvPicPr>
          <p:nvPr/>
        </p:nvPicPr>
        <p:blipFill>
          <a:blip r:embed="rId5"/>
          <a:stretch>
            <a:fillRect/>
          </a:stretch>
        </p:blipFill>
        <p:spPr>
          <a:xfrm>
            <a:off x="868680" y="5355336"/>
            <a:ext cx="237744" cy="237744"/>
          </a:xfrm>
          <a:prstGeom prst="rect">
            <a:avLst/>
          </a:prstGeom>
        </p:spPr>
      </p:pic>
      <p:sp>
        <p:nvSpPr>
          <p:cNvPr id="13" name="TextBox 12"/>
          <p:cNvSpPr txBox="1"/>
          <p:nvPr/>
        </p:nvSpPr>
        <p:spPr>
          <a:xfrm>
            <a:off x="1399031" y="505968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14" name="TextBox 13"/>
          <p:cNvSpPr txBox="1"/>
          <p:nvPr/>
        </p:nvSpPr>
        <p:spPr>
          <a:xfrm>
            <a:off x="1399031" y="5279136"/>
            <a:ext cx="9987991" cy="682752"/>
          </a:xfrm>
          <a:prstGeom prst="rect">
            <a:avLst/>
          </a:prstGeom>
          <a:noFill/>
        </p:spPr>
        <p:txBody>
          <a:bodyPr wrap="square" anchor="t" lIns="0" rIns="0" tIns="0" bIns="0">
            <a:spAutoFit/>
          </a:bodyPr>
          <a:lstStyle/>
          <a:p>
            <a:r>
              <a:rPr sz="1500" b="0" i="0">
                <a:solidFill>
                  <a:srgbClr val="1A1440"/>
                </a:solidFill>
                <a:latin typeface="Calibri"/>
              </a:rPr>
              <a:t>Averaged, the four segments say 1.94 to 1.82, a fall of 6.0 percent: "frequency is not the branch, and Marketing may be right".</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7" name="Oval 1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9" name="Oval 18"/>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21" name="Oval 20"/>
          <p:cNvSpPr/>
          <p:nvPr/>
        </p:nvSpPr>
        <p:spPr>
          <a:xfrm>
            <a:off x="54532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62980" y="6437376"/>
            <a:ext cx="1700498" cy="152146"/>
          </a:xfrm>
          <a:prstGeom prst="rect">
            <a:avLst/>
          </a:prstGeom>
          <a:noFill/>
        </p:spPr>
        <p:txBody>
          <a:bodyPr wrap="square" anchor="t" lIns="0" rIns="0" tIns="0" bIns="0">
            <a:spAutoFit/>
          </a:bodyPr>
          <a:lstStyle/>
          <a:p>
            <a:pPr algn="l"/>
            <a:r>
              <a:rPr sz="700" b="1" i="0">
                <a:solidFill>
                  <a:srgbClr val="5B3FD6"/>
                </a:solidFill>
                <a:latin typeface="Calibri"/>
              </a:rPr>
              <a:t>Round 3, every kind of customer</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S42  ·  47 / 52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is wrong: each group counts once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Thirty invented customers and two invented customers get the same vote.</a:t>
            </a:r>
          </a:p>
        </p:txBody>
      </p:sp>
      <p:graphicFrame>
        <p:nvGraphicFramePr>
          <p:cNvPr id="9" name="Table 8"/>
          <p:cNvGraphicFramePr>
            <a:graphicFrameLocks noGrp="1"/>
          </p:cNvGraphicFramePr>
          <p:nvPr/>
        </p:nvGraphicFramePr>
        <p:xfrm>
          <a:off x="530352" y="1956816"/>
          <a:ext cx="11130989" cy="1676400"/>
        </p:xfrm>
        <a:graphic>
          <a:graphicData uri="http://schemas.openxmlformats.org/drawingml/2006/table">
            <a:tbl>
              <a:tblPr firstRow="0" bandRow="0">
                <a:tableStyleId>{2D5ABB26-0587-4C30-8999-92F81FD0307C}</a:tableStyleId>
              </a:tblPr>
              <a:tblGrid>
                <a:gridCol w="3898326"/>
                <a:gridCol w="2200917"/>
                <a:gridCol w="4117346"/>
                <a:gridCol w="914400"/>
              </a:tblGrid>
              <a:tr h="335280">
                <a:tc>
                  <a:txBody>
                    <a:bodyPr/>
                    <a:lstStyle/>
                    <a:p>
                      <a:r>
                        <a:rPr sz="1250" b="1" i="0">
                          <a:solidFill>
                            <a:srgbClr val="FFFFFF"/>
                          </a:solidFill>
                          <a:latin typeface="Calibri"/>
                        </a:rPr>
                        <a:t>Invented group</a:t>
                      </a:r>
                    </a:p>
                  </a:txBody>
                  <a:tcPr marL="101600" marR="101600" marT="38100" marB="38100" anchor="ctr">
                    <a:solidFill>
                      <a:srgbClr val="1A0F5C"/>
                    </a:solidFill>
                  </a:tcPr>
                </a:tc>
                <a:tc>
                  <a:txBody>
                    <a:bodyPr/>
                    <a:lstStyle/>
                    <a:p>
                      <a:r>
                        <a:rPr sz="1250" b="1" i="0">
                          <a:solidFill>
                            <a:srgbClr val="FFFFFF"/>
                          </a:solidFill>
                          <a:latin typeface="Calibri"/>
                        </a:rPr>
                        <a:t>Customers</a:t>
                      </a:r>
                    </a:p>
                  </a:txBody>
                  <a:tcPr marL="101600" marR="101600" marT="38100" marB="38100" anchor="ctr">
                    <a:solidFill>
                      <a:srgbClr val="1A0F5C"/>
                    </a:solidFill>
                  </a:tcPr>
                </a:tc>
                <a:tc>
                  <a:txBody>
                    <a:bodyPr/>
                    <a:lstStyle/>
                    <a:p>
                      <a:r>
                        <a:rPr sz="1250" b="1" i="0">
                          <a:solidFill>
                            <a:srgbClr val="FFFFFF"/>
                          </a:solidFill>
                          <a:latin typeface="Calibri"/>
                        </a:rPr>
                        <a:t>Orders per customer</a:t>
                      </a:r>
                    </a:p>
                  </a:txBody>
                  <a:tcPr marL="101600" marR="101600" marT="38100" marB="38100" anchor="ctr">
                    <a:solidFill>
                      <a:srgbClr val="1A0F5C"/>
                    </a:solidFill>
                  </a:tcPr>
                </a:tc>
                <a:tc>
                  <a:txBody>
                    <a:bodyPr/>
                    <a:lstStyle/>
                    <a:p>
                      <a:r>
                        <a:rPr sz="1250" b="1" i="0">
                          <a:solidFill>
                            <a:srgbClr val="FFFFFF"/>
                          </a:solidFill>
                          <a:latin typeface="Calibri"/>
                        </a:rPr>
                        <a:t>Orders</a:t>
                      </a:r>
                    </a:p>
                  </a:txBody>
                  <a:tcPr marL="101600" marR="101600" marT="38100" marB="38100" anchor="ctr">
                    <a:solidFill>
                      <a:srgbClr val="1A0F5C"/>
                    </a:solidFill>
                  </a:tcPr>
                </a:tc>
              </a:tr>
              <a:tr h="335280">
                <a:tc>
                  <a:txBody>
                    <a:bodyPr/>
                    <a:lstStyle/>
                    <a:p>
                      <a:r>
                        <a:rPr sz="1200" b="0" i="0">
                          <a:solidFill>
                            <a:srgbClr val="1A1440"/>
                          </a:solidFill>
                          <a:latin typeface="Calibri"/>
                        </a:rPr>
                        <a:t>Large</a:t>
                      </a:r>
                    </a:p>
                  </a:txBody>
                  <a:tcPr marL="101600" marR="101600" marT="38100" marB="38100" anchor="ctr">
                    <a:solidFill>
                      <a:srgbClr val="FFFFFF"/>
                    </a:solidFill>
                  </a:tcPr>
                </a:tc>
                <a:tc>
                  <a:txBody>
                    <a:bodyPr/>
                    <a:lstStyle/>
                    <a:p>
                      <a:r>
                        <a:rPr sz="1200" b="0" i="0">
                          <a:solidFill>
                            <a:srgbClr val="1A1440"/>
                          </a:solidFill>
                          <a:latin typeface="Calibri"/>
                        </a:rPr>
                        <a:t>30</a:t>
                      </a:r>
                    </a:p>
                  </a:txBody>
                  <a:tcPr marL="101600" marR="101600" marT="38100" marB="38100" anchor="ctr">
                    <a:solidFill>
                      <a:srgbClr val="FFFFFF"/>
                    </a:solidFill>
                  </a:tcPr>
                </a:tc>
                <a:tc>
                  <a:txBody>
                    <a:bodyPr/>
                    <a:lstStyle/>
                    <a:p>
                      <a:r>
                        <a:rPr sz="1200" b="0" i="0">
                          <a:solidFill>
                            <a:srgbClr val="1A1440"/>
                          </a:solidFill>
                          <a:latin typeface="Calibri"/>
                        </a:rPr>
                        <a:t>1.1</a:t>
                      </a:r>
                    </a:p>
                  </a:txBody>
                  <a:tcPr marL="101600" marR="101600" marT="38100" marB="38100" anchor="ctr">
                    <a:solidFill>
                      <a:srgbClr val="FFFFFF"/>
                    </a:solidFill>
                  </a:tcPr>
                </a:tc>
                <a:tc>
                  <a:txBody>
                    <a:bodyPr/>
                    <a:lstStyle/>
                    <a:p>
                      <a:r>
                        <a:rPr sz="1200" b="0" i="0">
                          <a:solidFill>
                            <a:srgbClr val="1A1440"/>
                          </a:solidFill>
                          <a:latin typeface="Calibri"/>
                        </a:rPr>
                        <a:t>33</a:t>
                      </a:r>
                    </a:p>
                  </a:txBody>
                  <a:tcPr marL="101600" marR="101600" marT="38100" marB="38100" anchor="ctr">
                    <a:solidFill>
                      <a:srgbClr val="FFFFFF"/>
                    </a:solidFill>
                  </a:tcPr>
                </a:tc>
              </a:tr>
              <a:tr h="335280">
                <a:tc>
                  <a:txBody>
                    <a:bodyPr/>
                    <a:lstStyle/>
                    <a:p>
                      <a:r>
                        <a:rPr sz="1200" b="0" i="0">
                          <a:solidFill>
                            <a:srgbClr val="1A1440"/>
                          </a:solidFill>
                          <a:latin typeface="Calibri"/>
                        </a:rPr>
                        <a:t>Small</a:t>
                      </a:r>
                    </a:p>
                  </a:txBody>
                  <a:tcPr marL="101600" marR="101600" marT="38100" marB="38100" anchor="ctr">
                    <a:solidFill>
                      <a:srgbClr val="F4F2FA"/>
                    </a:solidFill>
                  </a:tcPr>
                </a:tc>
                <a:tc>
                  <a:txBody>
                    <a:bodyPr/>
                    <a:lstStyle/>
                    <a:p>
                      <a:r>
                        <a:rPr sz="1200" b="0" i="0">
                          <a:solidFill>
                            <a:srgbClr val="1A1440"/>
                          </a:solidFill>
                          <a:latin typeface="Calibri"/>
                        </a:rPr>
                        <a:t>2</a:t>
                      </a:r>
                    </a:p>
                  </a:txBody>
                  <a:tcPr marL="101600" marR="101600" marT="38100" marB="38100" anchor="ctr">
                    <a:solidFill>
                      <a:srgbClr val="F4F2FA"/>
                    </a:solidFill>
                  </a:tcPr>
                </a:tc>
                <a:tc>
                  <a:txBody>
                    <a:bodyPr/>
                    <a:lstStyle/>
                    <a:p>
                      <a:r>
                        <a:rPr sz="1200" b="0" i="0">
                          <a:solidFill>
                            <a:srgbClr val="1A1440"/>
                          </a:solidFill>
                          <a:latin typeface="Calibri"/>
                        </a:rPr>
                        <a:t>3.5</a:t>
                      </a:r>
                    </a:p>
                  </a:txBody>
                  <a:tcPr marL="101600" marR="101600" marT="38100" marB="38100" anchor="ctr">
                    <a:solidFill>
                      <a:srgbClr val="F4F2FA"/>
                    </a:solidFill>
                  </a:tcPr>
                </a:tc>
                <a:tc>
                  <a:txBody>
                    <a:bodyPr/>
                    <a:lstStyle/>
                    <a:p>
                      <a:r>
                        <a:rPr sz="1200" b="0" i="0">
                          <a:solidFill>
                            <a:srgbClr val="1A1440"/>
                          </a:solidFill>
                          <a:latin typeface="Calibri"/>
                        </a:rPr>
                        <a:t>7</a:t>
                      </a:r>
                    </a:p>
                  </a:txBody>
                  <a:tcPr marL="101600" marR="101600" marT="38100" marB="38100" anchor="ctr">
                    <a:solidFill>
                      <a:srgbClr val="F4F2FA"/>
                    </a:solidFill>
                  </a:tcPr>
                </a:tc>
              </a:tr>
              <a:tr h="335280">
                <a:tc>
                  <a:txBody>
                    <a:bodyPr/>
                    <a:lstStyle/>
                    <a:p>
                      <a:r>
                        <a:rPr sz="1200" b="0" i="0">
                          <a:solidFill>
                            <a:srgbClr val="1A1440"/>
                          </a:solidFill>
                          <a:latin typeface="Calibri"/>
                        </a:rPr>
                        <a:t>Average of the two</a:t>
                      </a:r>
                    </a:p>
                  </a:txBody>
                  <a:tcPr marL="101600" marR="101600" marT="38100" marB="38100" anchor="ctr">
                    <a:solidFill>
                      <a:srgbClr val="FFFFFF"/>
                    </a:solidFill>
                  </a:tcPr>
                </a:tc>
                <a:tc>
                  <a:txBody>
                    <a:bodyPr/>
                    <a:lstStyle/>
                    <a:p/>
                  </a:txBody>
                  <a:tcPr marL="101600" marR="101600" marT="38100" marB="38100" anchor="ctr">
                    <a:solidFill>
                      <a:srgbClr val="FFFFFF"/>
                    </a:solidFill>
                  </a:tcPr>
                </a:tc>
                <a:tc>
                  <a:txBody>
                    <a:bodyPr/>
                    <a:lstStyle/>
                    <a:p>
                      <a:r>
                        <a:rPr sz="1200" b="0" i="0">
                          <a:solidFill>
                            <a:srgbClr val="1A1440"/>
                          </a:solidFill>
                          <a:latin typeface="Calibri"/>
                        </a:rPr>
                        <a:t>2.30</a:t>
                      </a:r>
                    </a:p>
                  </a:txBody>
                  <a:tcPr marL="101600" marR="101600" marT="38100" marB="38100" anchor="ctr">
                    <a:solidFill>
                      <a:srgbClr val="FFFFFF"/>
                    </a:solidFill>
                  </a:tcPr>
                </a:tc>
                <a:tc>
                  <a:txBody>
                    <a:bodyPr/>
                    <a:lstStyle/>
                    <a:p/>
                  </a:txBody>
                  <a:tcPr marL="101600" marR="101600" marT="38100" marB="38100" anchor="ctr">
                    <a:solidFill>
                      <a:srgbClr val="FFFFFF"/>
                    </a:solidFill>
                  </a:tcPr>
                </a:tc>
              </a:tr>
              <a:tr h="335280">
                <a:tc>
                  <a:txBody>
                    <a:bodyPr/>
                    <a:lstStyle/>
                    <a:p>
                      <a:r>
                        <a:rPr sz="1200" b="0" i="0">
                          <a:solidFill>
                            <a:srgbClr val="1A1440"/>
                          </a:solidFill>
                          <a:latin typeface="Calibri"/>
                        </a:rPr>
                        <a:t>Weighted, 40 over 32</a:t>
                      </a:r>
                    </a:p>
                  </a:txBody>
                  <a:tcPr marL="101600" marR="101600" marT="38100" marB="38100" anchor="ctr">
                    <a:solidFill>
                      <a:srgbClr val="F4F2FA"/>
                    </a:solidFill>
                  </a:tcPr>
                </a:tc>
                <a:tc>
                  <a:txBody>
                    <a:bodyPr/>
                    <a:lstStyle/>
                    <a:p>
                      <a:r>
                        <a:rPr sz="1200" b="0" i="0">
                          <a:solidFill>
                            <a:srgbClr val="1A1440"/>
                          </a:solidFill>
                          <a:latin typeface="Calibri"/>
                        </a:rPr>
                        <a:t>32</a:t>
                      </a:r>
                    </a:p>
                  </a:txBody>
                  <a:tcPr marL="101600" marR="101600" marT="38100" marB="38100" anchor="ctr">
                    <a:solidFill>
                      <a:srgbClr val="F4F2FA"/>
                    </a:solidFill>
                  </a:tcPr>
                </a:tc>
                <a:tc>
                  <a:txBody>
                    <a:bodyPr/>
                    <a:lstStyle/>
                    <a:p>
                      <a:r>
                        <a:rPr sz="1200" b="0" i="0">
                          <a:solidFill>
                            <a:srgbClr val="1A1440"/>
                          </a:solidFill>
                          <a:latin typeface="Calibri"/>
                        </a:rPr>
                        <a:t>1.25</a:t>
                      </a:r>
                    </a:p>
                  </a:txBody>
                  <a:tcPr marL="101600" marR="101600" marT="38100" marB="38100" anchor="ctr">
                    <a:solidFill>
                      <a:srgbClr val="F4F2FA"/>
                    </a:solidFill>
                  </a:tcPr>
                </a:tc>
                <a:tc>
                  <a:txBody>
                    <a:bodyPr/>
                    <a:lstStyle/>
                    <a:p>
                      <a:r>
                        <a:rPr sz="1200" b="0" i="0">
                          <a:solidFill>
                            <a:srgbClr val="1A1440"/>
                          </a:solidFill>
                          <a:latin typeface="Calibri"/>
                        </a:rPr>
                        <a:t>40</a:t>
                      </a:r>
                    </a:p>
                  </a:txBody>
                  <a:tcPr marL="101600" marR="101600" marT="38100" marB="38100" anchor="ctr">
                    <a:solidFill>
                      <a:srgbClr val="F4F2FA"/>
                    </a:solidFill>
                  </a:tcPr>
                </a:tc>
              </a:tr>
            </a:tbl>
          </a:graphicData>
        </a:graphic>
      </p:graphicFrame>
      <p:sp>
        <p:nvSpPr>
          <p:cNvPr id="10" name="Rounded Rectangle 9"/>
          <p:cNvSpPr/>
          <p:nvPr/>
        </p:nvSpPr>
        <p:spPr>
          <a:xfrm>
            <a:off x="530352" y="388924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17263"/>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08119"/>
            <a:ext cx="10564063" cy="6248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The roll-up must reproduce the company figure from round 2, 1.65 and 1.25, and the averaged one does not.</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7" name="Oval 16"/>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19" name="Oval 18"/>
          <p:cNvSpPr/>
          <p:nvPr/>
        </p:nvSpPr>
        <p:spPr>
          <a:xfrm>
            <a:off x="54532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562980" y="6437376"/>
            <a:ext cx="1700498" cy="152146"/>
          </a:xfrm>
          <a:prstGeom prst="rect">
            <a:avLst/>
          </a:prstGeom>
          <a:noFill/>
        </p:spPr>
        <p:txBody>
          <a:bodyPr wrap="square" anchor="t" lIns="0" rIns="0" tIns="0" bIns="0">
            <a:spAutoFit/>
          </a:bodyPr>
          <a:lstStyle/>
          <a:p>
            <a:pPr algn="l"/>
            <a:r>
              <a:rPr sz="700" b="1" i="0">
                <a:solidFill>
                  <a:srgbClr val="5B3FD6"/>
                </a:solidFill>
                <a:latin typeface="Calibri"/>
              </a:rPr>
              <a:t>Round 3, every kind of customer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S43  ·  48 / 52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which roll-up reproduces the company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Two ways to turn four segments into one orders-per-customer figure.</a:t>
            </a:r>
          </a:p>
        </p:txBody>
      </p:sp>
      <p:pic>
        <p:nvPicPr>
          <p:cNvPr id="9" name="mermaid diagram" descr="7b59c6bfb78c0a1f.png"/>
          <p:cNvPicPr>
            <a:picLocks noChangeAspect="1"/>
          </p:cNvPicPr>
          <p:nvPr/>
        </p:nvPicPr>
        <p:blipFill>
          <a:blip r:embed="rId5"/>
          <a:stretch>
            <a:fillRect/>
          </a:stretch>
        </p:blipFill>
        <p:spPr>
          <a:xfrm>
            <a:off x="3831278" y="1956816"/>
            <a:ext cx="4529137" cy="2043112"/>
          </a:xfrm>
          <a:prstGeom prst="rect">
            <a:avLst/>
          </a:prstGeom>
        </p:spPr>
      </p:pic>
      <p:sp>
        <p:nvSpPr>
          <p:cNvPr id="10" name="Rounded Rectangle 9"/>
          <p:cNvSpPr/>
          <p:nvPr/>
        </p:nvSpPr>
        <p:spPr>
          <a:xfrm>
            <a:off x="530352" y="4146232"/>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274248"/>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265104"/>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Which roll-up reproduces 1.65 and 1.25: a) the average of the four averages; b) total orders over total customers; c) the median of the four; d) the largest segment's figure.</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17" name="Oval 16"/>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19" name="Oval 18"/>
          <p:cNvSpPr/>
          <p:nvPr/>
        </p:nvSpPr>
        <p:spPr>
          <a:xfrm>
            <a:off x="54532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562980" y="6437376"/>
            <a:ext cx="1700498" cy="152146"/>
          </a:xfrm>
          <a:prstGeom prst="rect">
            <a:avLst/>
          </a:prstGeom>
          <a:noFill/>
        </p:spPr>
        <p:txBody>
          <a:bodyPr wrap="square" anchor="t" lIns="0" rIns="0" tIns="0" bIns="0">
            <a:spAutoFit/>
          </a:bodyPr>
          <a:lstStyle/>
          <a:p>
            <a:pPr algn="l"/>
            <a:r>
              <a:rPr sz="700" b="1" i="0">
                <a:solidFill>
                  <a:srgbClr val="5B3FD6"/>
                </a:solidFill>
                <a:latin typeface="Calibri"/>
              </a:rPr>
              <a:t>Round 3, every kind of customer</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S44  ·  49 / 52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weighted, frequency fell 24.6 percent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Total orders over total customers gives the company figure back.</a:t>
            </a:r>
          </a:p>
        </p:txBody>
      </p:sp>
      <p:sp>
        <p:nvSpPr>
          <p:cNvPr id="9" name="TextBox 8"/>
          <p:cNvSpPr txBox="1"/>
          <p:nvPr/>
        </p:nvSpPr>
        <p:spPr>
          <a:xfrm>
            <a:off x="530352"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1.94 to 1.82</a:t>
            </a:r>
          </a:p>
        </p:txBody>
      </p:sp>
      <p:sp>
        <p:nvSpPr>
          <p:cNvPr id="10" name="TextBox 9"/>
          <p:cNvSpPr txBox="1"/>
          <p:nvPr/>
        </p:nvSpPr>
        <p:spPr>
          <a:xfrm>
            <a:off x="530352"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AVERAGED AVERAGES</a:t>
            </a:r>
          </a:p>
        </p:txBody>
      </p:sp>
      <p:sp>
        <p:nvSpPr>
          <p:cNvPr id="11" name="TextBox 10"/>
          <p:cNvSpPr txBox="1"/>
          <p:nvPr/>
        </p:nvSpPr>
        <p:spPr>
          <a:xfrm>
            <a:off x="530352"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-6.0%, the wrong roll-up</a:t>
            </a:r>
          </a:p>
        </p:txBody>
      </p:sp>
      <p:sp>
        <p:nvSpPr>
          <p:cNvPr id="12" name="Rectangle 11"/>
          <p:cNvSpPr/>
          <p:nvPr/>
        </p:nvSpPr>
        <p:spPr>
          <a:xfrm>
            <a:off x="530352"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33007"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1.65 to 1.25</a:t>
            </a:r>
          </a:p>
        </p:txBody>
      </p:sp>
      <p:sp>
        <p:nvSpPr>
          <p:cNvPr id="14" name="TextBox 13"/>
          <p:cNvSpPr txBox="1"/>
          <p:nvPr/>
        </p:nvSpPr>
        <p:spPr>
          <a:xfrm>
            <a:off x="6233007"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WEIGHTED BY CUSTOMERS</a:t>
            </a:r>
          </a:p>
        </p:txBody>
      </p:sp>
      <p:sp>
        <p:nvSpPr>
          <p:cNvPr id="15" name="TextBox 14"/>
          <p:cNvSpPr txBox="1"/>
          <p:nvPr/>
        </p:nvSpPr>
        <p:spPr>
          <a:xfrm>
            <a:off x="6233007"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-24.6%, the company figure</a:t>
            </a:r>
          </a:p>
        </p:txBody>
      </p:sp>
      <p:sp>
        <p:nvSpPr>
          <p:cNvPr id="16" name="Rectangle 15"/>
          <p:cNvSpPr/>
          <p:nvPr/>
        </p:nvSpPr>
        <p:spPr>
          <a:xfrm>
            <a:off x="6233007"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30352" y="341985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676656" y="354787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77824" y="3538728"/>
            <a:ext cx="10564063" cy="624840"/>
          </a:xfrm>
          <a:prstGeom prst="rect">
            <a:avLst/>
          </a:prstGeom>
          <a:noFill/>
        </p:spPr>
        <p:txBody>
          <a:bodyPr wrap="square" anchor="ctr" lIns="0" rIns="0" tIns="0" bIns="0">
            <a:spAutoFit/>
          </a:bodyPr>
          <a:lstStyle/>
          <a:p>
            <a:r>
              <a:rPr sz="1500" b="1">
                <a:solidFill>
                  <a:srgbClr val="5B3FD6"/>
                </a:solidFill>
                <a:latin typeface="Calibri"/>
              </a:rPr>
              <a:t>The fix. </a:t>
            </a:r>
            <a:r>
              <a:rPr sz="1500" b="0" i="0">
                <a:solidFill>
                  <a:srgbClr val="1A1440"/>
                </a:solidFill>
                <a:latin typeface="Calibri"/>
              </a:rPr>
              <a:t>Roll a rate up with its weights: 114 orders over 69 customers, then 86 over 69. The fall is 24.6 percent, and frequency is the branch.</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22" name="Oval 2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24" name="Oval 23"/>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26" name="Oval 25"/>
          <p:cNvSpPr/>
          <p:nvPr/>
        </p:nvSpPr>
        <p:spPr>
          <a:xfrm>
            <a:off x="54532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562980" y="6437376"/>
            <a:ext cx="1700498" cy="152146"/>
          </a:xfrm>
          <a:prstGeom prst="rect">
            <a:avLst/>
          </a:prstGeom>
          <a:noFill/>
        </p:spPr>
        <p:txBody>
          <a:bodyPr wrap="square" anchor="t" lIns="0" rIns="0" tIns="0" bIns="0">
            <a:spAutoFit/>
          </a:bodyPr>
          <a:lstStyle/>
          <a:p>
            <a:pPr algn="l"/>
            <a:r>
              <a:rPr sz="700" b="1" i="0">
                <a:solidFill>
                  <a:srgbClr val="5B3FD6"/>
                </a:solidFill>
                <a:latin typeface="Calibri"/>
              </a:rPr>
              <a:t>Round 3, every kind of customer</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S45  ·  50 / 52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Your run: all four segments, both quarters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tree_for and describe on every segment, and one sentence to the head of Retail-Plus.</a:t>
            </a:r>
          </a:p>
        </p:txBody>
      </p:sp>
      <p:sp>
        <p:nvSpPr>
          <p:cNvPr id="9" name="Rectangle 8"/>
          <p:cNvSpPr/>
          <p:nvPr/>
        </p:nvSpPr>
        <p:spPr>
          <a:xfrm>
            <a:off x="1853145" y="2523744"/>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STEP 1</a:t>
            </a:r>
          </a:p>
        </p:txBody>
      </p:sp>
      <p:sp>
        <p:nvSpPr>
          <p:cNvPr id="11" name="Oval 10"/>
          <p:cNvSpPr/>
          <p:nvPr/>
        </p:nvSpPr>
        <p:spPr>
          <a:xfrm>
            <a:off x="175256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Four segments in</a:t>
            </a:r>
          </a:p>
        </p:txBody>
      </p:sp>
      <p:sp>
        <p:nvSpPr>
          <p:cNvPr id="14" name="TextBox 13"/>
          <p:cNvSpPr txBox="1"/>
          <p:nvPr/>
        </p:nvSpPr>
        <p:spPr>
          <a:xfrm>
            <a:off x="694944"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Group the orders by segment and by quarter with a dictionary.</a:t>
            </a:r>
          </a:p>
        </p:txBody>
      </p:sp>
      <p:sp>
        <p:nvSpPr>
          <p:cNvPr id="15" name="TextBox 14"/>
          <p:cNvSpPr txBox="1"/>
          <p:nvPr/>
        </p:nvSpPr>
        <p:spPr>
          <a:xfrm>
            <a:off x="3358819"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STEP 2</a:t>
            </a:r>
          </a:p>
        </p:txBody>
      </p:sp>
      <p:sp>
        <p:nvSpPr>
          <p:cNvPr id="16" name="Oval 15"/>
          <p:cNvSpPr/>
          <p:nvPr/>
        </p:nvSpPr>
        <p:spPr>
          <a:xfrm>
            <a:off x="458102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3358819" y="2843784"/>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23411"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Four rows out</a:t>
            </a:r>
          </a:p>
        </p:txBody>
      </p:sp>
      <p:sp>
        <p:nvSpPr>
          <p:cNvPr id="19" name="TextBox 18"/>
          <p:cNvSpPr txBox="1"/>
          <p:nvPr/>
        </p:nvSpPr>
        <p:spPr>
          <a:xfrm>
            <a:off x="3523411"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Call tree_for on each group, and count the rows that come back.</a:t>
            </a:r>
          </a:p>
        </p:txBody>
      </p:sp>
      <p:sp>
        <p:nvSpPr>
          <p:cNvPr id="20" name="TextBox 19"/>
          <p:cNvSpPr txBox="1"/>
          <p:nvPr/>
        </p:nvSpPr>
        <p:spPr>
          <a:xfrm>
            <a:off x="6187287"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STEP 3</a:t>
            </a:r>
          </a:p>
        </p:txBody>
      </p:sp>
      <p:sp>
        <p:nvSpPr>
          <p:cNvPr id="21" name="Oval 20"/>
          <p:cNvSpPr/>
          <p:nvPr/>
        </p:nvSpPr>
        <p:spPr>
          <a:xfrm>
            <a:off x="740949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187287" y="2843784"/>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51879"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Weighted roll-up</a:t>
            </a:r>
          </a:p>
        </p:txBody>
      </p:sp>
      <p:sp>
        <p:nvSpPr>
          <p:cNvPr id="24" name="TextBox 23"/>
          <p:cNvSpPr txBox="1"/>
          <p:nvPr/>
        </p:nvSpPr>
        <p:spPr>
          <a:xfrm>
            <a:off x="6351879"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Check that the segments reproduce 1.65 and 1.25.</a:t>
            </a:r>
          </a:p>
        </p:txBody>
      </p:sp>
      <p:sp>
        <p:nvSpPr>
          <p:cNvPr id="25" name="TextBox 24"/>
          <p:cNvSpPr txBox="1"/>
          <p:nvPr/>
        </p:nvSpPr>
        <p:spPr>
          <a:xfrm>
            <a:off x="9015755"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STEP 4</a:t>
            </a:r>
          </a:p>
        </p:txBody>
      </p:sp>
      <p:sp>
        <p:nvSpPr>
          <p:cNvPr id="26" name="Oval 25"/>
          <p:cNvSpPr/>
          <p:nvPr/>
        </p:nvSpPr>
        <p:spPr>
          <a:xfrm>
            <a:off x="10237965"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9015755" y="2843784"/>
            <a:ext cx="2645587"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80347" y="2990088"/>
            <a:ext cx="2316403" cy="251205"/>
          </a:xfrm>
          <a:prstGeom prst="rect">
            <a:avLst/>
          </a:prstGeom>
          <a:noFill/>
        </p:spPr>
        <p:txBody>
          <a:bodyPr wrap="square" anchor="t" lIns="0" rIns="0" tIns="0" bIns="0">
            <a:spAutoFit/>
          </a:bodyPr>
          <a:lstStyle/>
          <a:p>
            <a:pPr algn="l"/>
            <a:r>
              <a:rPr sz="1300" b="1" i="0">
                <a:solidFill>
                  <a:srgbClr val="FFFFFF"/>
                </a:solidFill>
                <a:latin typeface="Calibri"/>
              </a:rPr>
              <a:t>One sentence</a:t>
            </a:r>
          </a:p>
        </p:txBody>
      </p:sp>
      <p:sp>
        <p:nvSpPr>
          <p:cNvPr id="29" name="TextBox 28"/>
          <p:cNvSpPr txBox="1"/>
          <p:nvPr/>
        </p:nvSpPr>
        <p:spPr>
          <a:xfrm>
            <a:off x="9180347" y="3277870"/>
            <a:ext cx="2316403" cy="531876"/>
          </a:xfrm>
          <a:prstGeom prst="rect">
            <a:avLst/>
          </a:prstGeom>
          <a:noFill/>
        </p:spPr>
        <p:txBody>
          <a:bodyPr wrap="square" anchor="t" lIns="0" rIns="0" tIns="0" bIns="0">
            <a:spAutoFit/>
          </a:bodyPr>
          <a:lstStyle/>
          <a:p>
            <a:pPr algn="l"/>
            <a:r>
              <a:rPr sz="1000" b="0" i="0">
                <a:solidFill>
                  <a:srgbClr val="CFC9EE"/>
                </a:solidFill>
                <a:latin typeface="Calibri"/>
              </a:rPr>
              <a:t>Name the segment whose orders per customer moved most, with its numbers.</a:t>
            </a:r>
          </a:p>
        </p:txBody>
      </p:sp>
      <p:sp>
        <p:nvSpPr>
          <p:cNvPr id="30" name="Oval 2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32" name="Oval 3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34" name="Oval 33"/>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36" name="Oval 35"/>
          <p:cNvSpPr/>
          <p:nvPr/>
        </p:nvSpPr>
        <p:spPr>
          <a:xfrm>
            <a:off x="54532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562980" y="6437376"/>
            <a:ext cx="1700498" cy="152146"/>
          </a:xfrm>
          <a:prstGeom prst="rect">
            <a:avLst/>
          </a:prstGeom>
          <a:noFill/>
        </p:spPr>
        <p:txBody>
          <a:bodyPr wrap="square" anchor="t" lIns="0" rIns="0" tIns="0" bIns="0">
            <a:spAutoFit/>
          </a:bodyPr>
          <a:lstStyle/>
          <a:p>
            <a:pPr algn="l"/>
            <a:r>
              <a:rPr sz="700" b="1" i="0">
                <a:solidFill>
                  <a:srgbClr val="5B3FD6"/>
                </a:solidFill>
                <a:latin typeface="Calibri"/>
              </a:rPr>
              <a:t>Round 3, every kind of customer</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S46  ·  51 / 52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Kavya's review of round 3</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Three rungs climbed, and the morning ends with a segment in your own notebook.</a:t>
            </a:r>
          </a:p>
        </p:txBody>
      </p:sp>
      <p:pic>
        <p:nvPicPr>
          <p:cNvPr id="9" name="mermaid diagram" descr="5dc9510c8f49f25f.png"/>
          <p:cNvPicPr>
            <a:picLocks noChangeAspect="1"/>
          </p:cNvPicPr>
          <p:nvPr/>
        </p:nvPicPr>
        <p:blipFill>
          <a:blip r:embed="rId7"/>
          <a:stretch>
            <a:fillRect/>
          </a:stretch>
        </p:blipFill>
        <p:spPr>
          <a:xfrm>
            <a:off x="1573853" y="1956816"/>
            <a:ext cx="9043987" cy="1128712"/>
          </a:xfrm>
          <a:prstGeom prst="rect">
            <a:avLst/>
          </a:prstGeom>
        </p:spPr>
      </p:pic>
      <p:sp>
        <p:nvSpPr>
          <p:cNvPr id="10" name="Rounded Rectangle 9"/>
          <p:cNvSpPr/>
          <p:nvPr/>
        </p:nvSpPr>
        <p:spPr>
          <a:xfrm>
            <a:off x="530352" y="3231832"/>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356406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5"/>
          <a:stretch>
            <a:fillRect/>
          </a:stretch>
        </p:blipFill>
        <p:spPr>
          <a:xfrm>
            <a:off x="868680" y="3673792"/>
            <a:ext cx="237744" cy="237744"/>
          </a:xfrm>
          <a:prstGeom prst="rect">
            <a:avLst/>
          </a:prstGeom>
        </p:spPr>
      </p:pic>
      <p:sp>
        <p:nvSpPr>
          <p:cNvPr id="13" name="TextBox 12"/>
          <p:cNvSpPr txBox="1"/>
          <p:nvPr/>
        </p:nvSpPr>
        <p:spPr>
          <a:xfrm>
            <a:off x="1399031" y="337813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3597592"/>
            <a:ext cx="9987991" cy="682752"/>
          </a:xfrm>
          <a:prstGeom prst="rect">
            <a:avLst/>
          </a:prstGeom>
          <a:noFill/>
        </p:spPr>
        <p:txBody>
          <a:bodyPr wrap="square" anchor="t" lIns="0" rIns="0" tIns="0" bIns="0">
            <a:spAutoFit/>
          </a:bodyPr>
          <a:lstStyle/>
          <a:p>
            <a:r>
              <a:rPr sz="1500" b="0" i="0">
                <a:solidFill>
                  <a:srgbClr val="1A1440"/>
                </a:solidFill>
                <a:latin typeface="Calibri"/>
              </a:rPr>
              <a:t>"A function returns its answer; count the groups in and the groups out. Roll a rate up with its weights."</a:t>
            </a:r>
          </a:p>
        </p:txBody>
      </p:sp>
      <p:sp>
        <p:nvSpPr>
          <p:cNvPr id="15" name="Rounded Rectangle 14"/>
          <p:cNvSpPr/>
          <p:nvPr/>
        </p:nvSpPr>
        <p:spPr>
          <a:xfrm>
            <a:off x="530352" y="4518088"/>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472078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6"/>
          <a:stretch>
            <a:fillRect/>
          </a:stretch>
        </p:blipFill>
        <p:spPr>
          <a:xfrm>
            <a:off x="868680" y="4830508"/>
            <a:ext cx="237744" cy="237744"/>
          </a:xfrm>
          <a:prstGeom prst="rect">
            <a:avLst/>
          </a:prstGeom>
        </p:spPr>
      </p:pic>
      <p:sp>
        <p:nvSpPr>
          <p:cNvPr id="18" name="TextBox 17"/>
          <p:cNvSpPr txBox="1"/>
          <p:nvPr/>
        </p:nvSpPr>
        <p:spPr>
          <a:xfrm>
            <a:off x="1399031" y="466439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4883848"/>
            <a:ext cx="9987991" cy="423672"/>
          </a:xfrm>
          <a:prstGeom prst="rect">
            <a:avLst/>
          </a:prstGeom>
          <a:noFill/>
        </p:spPr>
        <p:txBody>
          <a:bodyPr wrap="square" anchor="t" lIns="0" rIns="0" tIns="0" bIns="0">
            <a:spAutoFit/>
          </a:bodyPr>
          <a:lstStyle/>
          <a:p>
            <a:r>
              <a:rPr sz="1500" b="0" i="0">
                <a:solidFill>
                  <a:srgbClr val="1A1440"/>
                </a:solidFill>
                <a:latin typeface="Calibri"/>
              </a:rPr>
              <a:t>[F] Why does a function that prints instead of returning break a pipeline?</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ask and the thinking</a:t>
            </a:r>
          </a:p>
        </p:txBody>
      </p:sp>
      <p:sp>
        <p:nvSpPr>
          <p:cNvPr id="22" name="Oval 2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Round 1, is the drop real</a:t>
            </a:r>
          </a:p>
        </p:txBody>
      </p:sp>
      <p:sp>
        <p:nvSpPr>
          <p:cNvPr id="24" name="Oval 23"/>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845337"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Round 2, which branch moved</a:t>
            </a:r>
          </a:p>
        </p:txBody>
      </p:sp>
      <p:sp>
        <p:nvSpPr>
          <p:cNvPr id="26" name="Oval 25"/>
          <p:cNvSpPr/>
          <p:nvPr/>
        </p:nvSpPr>
        <p:spPr>
          <a:xfrm>
            <a:off x="54532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562980" y="6437376"/>
            <a:ext cx="1700498" cy="152146"/>
          </a:xfrm>
          <a:prstGeom prst="rect">
            <a:avLst/>
          </a:prstGeom>
          <a:noFill/>
        </p:spPr>
        <p:txBody>
          <a:bodyPr wrap="square" anchor="t" lIns="0" rIns="0" tIns="0" bIns="0">
            <a:spAutoFit/>
          </a:bodyPr>
          <a:lstStyle/>
          <a:p>
            <a:pPr algn="l"/>
            <a:r>
              <a:rPr sz="700" b="1" i="0">
                <a:solidFill>
                  <a:srgbClr val="5B3FD6"/>
                </a:solidFill>
                <a:latin typeface="Calibri"/>
              </a:rPr>
              <a:t>Round 3, every kind of customer</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S47  ·  52 / 52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