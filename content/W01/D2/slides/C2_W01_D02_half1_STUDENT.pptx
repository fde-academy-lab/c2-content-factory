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reply aloud and leave it on screen while the room settles. Monday</a:t>
            </a:r>
          </a:p>
          <a:p>
            <a:r>
              <a:t>drew the tree; today the tree meets two quarters of orders, and the question is which branch moved.</a:t>
            </a:r>
          </a:p>
          <a:p>
            <a:r>
              <a:t>The morning runs the ask and five chapters, each about 30 minutes and each paired with one notebook.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Chapters 1 to 5 run this morning and chapter 6 opens the afternoon. Leave the question up while</a:t>
            </a:r>
          </a:p>
          <a:p>
            <a:r>
              <a:t>you set the scene. Then Meera's full message.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message aloud. Meera says Monday's tree back to us. Her figures are</a:t>
            </a:r>
          </a:p>
          <a:p>
            <a:r>
              <a:t>rounded and from memory; the file gives exact ones. The retail story behind her words, how a store</a:t>
            </a:r>
          </a:p>
          <a:p>
            <a:r>
              <a:t>chain earns and who owns which lever, is in Monday's domain dossier; point at it, do not retell it.</a:t>
            </a:r>
          </a:p>
          <a:p>
            <a:r>
              <a:t>Ask which number worries her most. The Rs 12 crore: it is about to be spent on an unchecked branch.</a:t>
            </a:r>
          </a:p>
          <a:p>
            <a:r>
              <a:t>Then the three people waiting 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Name the incentive behind each voice without judging it. Marketing is paid to</a:t>
            </a:r>
          </a:p>
          <a:p>
            <a:r>
              <a:t>acquire, so it reads every fall as an acquisition problem; that is how the role is paid and says</a:t>
            </a:r>
          </a:p>
          <a:p>
            <a:r>
              <a:t>nothing about good faith. The head of Retail-Plus wants a verdict on his tier; he gets a number in</a:t>
            </a:r>
          </a:p>
          <a:p>
            <a:r>
              <a:t>chapter 3 and a test of his cause in chapter 6. Anand Iyer, Finance, is listening too. Then what</a:t>
            </a:r>
          </a:p>
          <a:p>
            <a:r>
              <a:t>each branch costs to move.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cost list is the curriculum row's own. Its use today: if the fall sits in</a:t>
            </a:r>
          </a:p>
          <a:p>
            <a:r>
              <a:t>frequency, a cheaper lever is on the table and the Rs 12 crore is aimed at the wrong branch. That is</a:t>
            </a:r>
          </a:p>
          <a:p>
            <a:r>
              <a:t>why every chapter puts rupees on a branch. Chapter 5 brings the published estimates of acquisition</a:t>
            </a:r>
          </a:p>
          <a:p>
            <a:r>
              <a:t>against retention cost. Then a question before any number.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minutes in pairs, then collect answers on the board. Expect "different lengths</a:t>
            </a:r>
          </a:p>
          <a:p>
            <a:r>
              <a:t>of time", "different definition of sales", "missing values", "one huge order". Push for places in</a:t>
            </a:r>
          </a:p>
          <a:p>
            <a:r>
              <a:t>the system as well as in the arithmetic. Keep every answer; the next slide places them on the map.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Place the room's answers on the four hops. Chapter 1 is the export and the tile;</a:t>
            </a:r>
          </a:p>
          <a:p>
            <a:r>
              <a:t>chapter 2 is the order system's empty field; chapter 3 is the dashboard's roll-up; chapter 5 is a</a:t>
            </a:r>
          </a:p>
          <a:p>
            <a:r>
              <a:t>summary script. Checking the pipeline first is the cheapest investigation there is. Then the order</a:t>
            </a:r>
          </a:p>
          <a:p>
            <a:r>
              <a:t>the investigation runs 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ladder on the board, top to bottom, and leave it there all day. Chapters 1</a:t>
            </a:r>
          </a:p>
          <a:p>
            <a:r>
              <a:t>to 5 run this morning, chapter 6 opens the afternoon. This table is also the answer shape for</a:t>
            </a:r>
          </a:p>
          <a:p>
            <a:r>
              <a:t>interview question 1. Source for the ladder's order: britinstitute.uk, data analyst case study</a:t>
            </a:r>
          </a:p>
          <a:p>
            <a:r>
              <a:t>questions, verified 29 Sep 2026. Then the rule every chapter uses to check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These numbers are invented to show the rule. Every chapter uses it: a decomposition</a:t>
            </a:r>
          </a:p>
          <a:p>
            <a:r>
              <a:t>is proved by multiplying the branches back to the revenue ratio. Items per order and price per item</a:t>
            </a:r>
          </a:p>
          <a:p>
            <a:r>
              <a:t>fold into revenue per order today, because the file has no order lines.</a:t>
            </a:r>
          </a:p>
          <a:p>
            <a:r>
              <a:t>Transition: before filling any box, check that the two totals deserve comparing.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1 runs 30 minutes: 1 on the map, 4 on the need and the retailers, 5 on the options</a:t>
            </a:r>
          </a:p>
          <a:p>
            <a:r>
              <a:t>and the picture, 6 on the build and its prediction, 6 on the trap, 5 on the fix and the rates, 3 on</a:t>
            </a:r>
          </a:p>
          <a:p>
            <a:r>
              <a:t>the second route and the close. Open notebooks/C2_W01_D02_01_is_the_drop_real_STUDENT.ipynb now;</a:t>
            </a:r>
          </a:p>
          <a:p>
            <a:r>
              <a:t>its six numbered 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in a line each. Then the slide Marketing sent.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the change in booked revenue, every order placed before</a:t>
            </a:r>
          </a:p>
          <a:p>
            <a:r>
              <a:t>any cancellation or return, between two closed quarters.</a:t>
            </a:r>
          </a:p>
          <a:p>
            <a:r>
              <a:t>Put the claim up exactly as Marketing would: 1,55,59,950 over 2,10,00,000 is 0.741, a fall of 25.9</a:t>
            </a:r>
          </a:p>
          <a:p>
            <a:r>
              <a:t>percent, and the division is right. Overstate the fall and crores move in a hurry; understate it</a:t>
            </a:r>
          </a:p>
          <a:p>
            <a:r>
              <a:t>and a leak runs another quarter. Ask whether anything is wrong; most of the room will not see it yet.</a:t>
            </a:r>
          </a:p>
          <a:p>
            <a:r>
              <a:t>Then how retailers avoid this.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all checked 30 Sep 2026: Avenue Supermarts investor presentation filed</a:t>
            </a:r>
          </a:p>
          <a:p>
            <a:r>
              <a:t>2 May 2026 (LFL definition and FY26 8.1 percent); Target fourth quarter and full year 2023 results</a:t>
            </a:r>
          </a:p>
          <a:p>
            <a:r>
              <a:t>(53 weeks, the extra week $1,715 million) and its 10-K on "equivalent length"; nrf.com 4-5-4 calendar.</a:t>
            </a:r>
          </a:p>
          <a:p>
            <a:r>
              <a:t>The link to Kalpa: Q2's tile had two fewer weeks than Q1. Then the four ways to size the fall.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separates the options is the question each answers and what each leaves</a:t>
            </a:r>
          </a:p>
          <a:p>
            <a:r>
              <a:t>out: B reads 167 rows because it drops the last two weeks of each quarter, and D leaves out</a:t>
            </a:r>
          </a:p>
          <a:p>
            <a:r>
              <a:t>everything until last year's export arrives. Write "A: closed quarters" on the board beside rung 1.</a:t>
            </a:r>
          </a:p>
          <a:p>
            <a:r>
              <a:t>The notebook's first section computes this table; run it now. Then the picture behind the call.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chapter's thinking, and it is also the one-breath answer to interview</a:t>
            </a:r>
          </a:p>
          <a:p>
            <a:r>
              <a:t>question 4. The window is where Marketing's slide breaks; the definition is where the afternoon's</a:t>
            </a:r>
          </a:p>
          <a:p>
            <a:r>
              <a:t>case goes; the population and the denominator come back in chapters 3 and 5. Then the code that</a:t>
            </a:r>
          </a:p>
          <a:p>
            <a:r>
              <a:t>totals each quarter.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loop line by line and do not run it yet. Ask what the dictionary holds</a:t>
            </a:r>
          </a:p>
          <a:p>
            <a:r>
              <a:t>after the first Q1 order, and after the first Q2 order.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Option a is Marketing's slide carried over; option c is what people</a:t>
            </a:r>
          </a:p>
          <a:p>
            <a:r>
              <a:t>guess from Meera's rounded 2.1 and 1.9 when they divide the wrong way round. Run the cell.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Revenue fell from Rs 2,10,00,000 to Rs 1,87,00,000: Rs 23,00,000 less on two</a:t>
            </a:r>
          </a:p>
          <a:p>
            <a:r>
              <a:t>windows of thirteen weeks. That is the number Meera's question starts from, and it is less than</a:t>
            </a:r>
          </a:p>
          <a:p>
            <a:r>
              <a:t>half the fall on Marketing's slide. Then the number Marketing sent, computed their 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chapter's trap, and it is a plausible wrong number with correct</a:t>
            </a:r>
          </a:p>
          <a:p>
            <a:r>
              <a:t>arithmetic. Say the business cost out loud: a crisis read rushes the acquisition budget. The check</a:t>
            </a:r>
          </a:p>
          <a:p>
            <a:r>
              <a:t>is cheap and nobody runs it, because a tile shows a number without its window. Then the question</a:t>
            </a:r>
          </a:p>
          <a:p>
            <a:r>
              <a:t>that exposes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Some count months and say three against two and a half; the count</a:t>
            </a:r>
          </a:p>
          <a:p>
            <a:r>
              <a:t>in weeks is the one a rate per week needs.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Q1 is 13 weeks and 91 days, the tile 11 weeks. The line that</a:t>
            </a:r>
          </a:p>
          <a:p>
            <a:r>
              <a:t>ends at Rs 210.0 lakh is Q1; the other is Q2, Rs 155.6 lakh at week 11, which is the tile, and</a:t>
            </a:r>
          </a:p>
          <a:p>
            <a:r>
              <a:t>Rs 187.0 lakh at the close. Point at the flat stretches: revenue arrives in lumps, and weeks</a:t>
            </a:r>
          </a:p>
          <a:p>
            <a:r>
              <a:t>without a large order barely move.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bridge walks Marketing's gap to the closed quarter: the two weeks the tile</a:t>
            </a:r>
          </a:p>
          <a:p>
            <a:r>
              <a:t>never saw carried Rs 31,40,050. Nothing was lost; it had not been counted yet. Then what a rate</a:t>
            </a:r>
          </a:p>
          <a:p>
            <a:r>
              <a:t>adds when the windows cannot match.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figure is honest because it says what it divided and over which dates, and</a:t>
            </a:r>
          </a:p>
          <a:p>
            <a:r>
              <a:t>none of them is 25.9 percent. The per-week rate is option C in action; the same eleven weeks is</a:t>
            </a:r>
          </a:p>
          <a:p>
            <a:r>
              <a:t>option B, what you send while Q2 is still open, with the cut date in the sentence. They disagree,</a:t>
            </a:r>
          </a:p>
          <a:p>
            <a:r>
              <a:t>minus 12.4 against minus 17.0, because a week with three business orders books lakhs and a week</a:t>
            </a:r>
          </a:p>
          <a:p>
            <a:r>
              <a:t>without one books ten or fifteen thousand rupees. Then a route that never reads the quarter field.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ignores the quarter field and trusts only the dates, so if the</a:t>
            </a:r>
          </a:p>
          <a:p>
            <a:r>
              <a:t>two routes disagreed, one would be reading the file wrongly. The notebook asserts they are equal.</a:t>
            </a:r>
          </a:p>
          <a:p>
            <a:r>
              <a:t>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breath: window length and dates, the definition, the population, the</a:t>
            </a:r>
          </a:p>
          <a:p>
            <a:r>
              <a:t>denominator, and the export's completeness. The design answer: the same weeks of both, with a rate</a:t>
            </a:r>
          </a:p>
          <a:p>
            <a:r>
              <a:t>per week beside it, switching to closed quarters at the close. One comparison is still missing,</a:t>
            </a:r>
          </a:p>
          <a:p>
            <a:r>
              <a:t>last year's Q2, which only the season question needs. Transition: the drop is real, so which</a:t>
            </a:r>
          </a:p>
          <a:p>
            <a:r>
              <a:t>branch moved?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2 runs 30 minutes: 1 on the map, 4 on the need and the companies, 5 on the options</a:t>
            </a:r>
          </a:p>
          <a:p>
            <a:r>
              <a:t>and the bridge's picture, 5 on counting customers, 2 on the bridge, 8 on the discount trap with its</a:t>
            </a:r>
          </a:p>
          <a:p>
            <a:r>
              <a:t>two-minute KeyError, 4 on the second route and the close. Switch to</a:t>
            </a:r>
          </a:p>
          <a:p>
            <a:r>
              <a:t>notebooks/C2_W01_D02_02_which_branch_STUDENT.ipynb.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fifth opens Meera's fourth branch, price, where</a:t>
            </a:r>
          </a:p>
          <a:p>
            <a:r>
              <a:t>Marketing's monsoon plan lives. Then the owners.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Merchandising is the team that picks the range and the pack sizes. The metric at</a:t>
            </a:r>
          </a:p>
          <a:p>
            <a:r>
              <a:t>stake is the rupees each branch carries. A wrong split sends crores to the wrong owner for a</a:t>
            </a:r>
          </a:p>
          <a:p>
            <a:r>
              <a:t>quarter. Remind the room that price and basket fold into revenue per order on this file. Then two</a:t>
            </a:r>
          </a:p>
          <a:p>
            <a:r>
              <a:t>companies that publish this split every quarter.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Eternal shareholders' letter of 28 April 2026, Blinkit</a:t>
            </a:r>
          </a:p>
          <a:p>
            <a:r>
              <a:t>operating metrics (net order value and net average order value, which are net figures); Walmart</a:t>
            </a:r>
          </a:p>
          <a:p>
            <a:r>
              <a:t>earnings release for the second quarter of fiscal 2027, comparable sales excluding fuel up 2.6</a:t>
            </a:r>
          </a:p>
          <a:p>
            <a:r>
              <a:t>percent, transactions 1.5, average ticket 1.1. Then four ways to split Kalpa's fall.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Only B and C put rupees on each branch that add to the fall, and only C is free of</a:t>
            </a:r>
          </a:p>
          <a:p>
            <a:r>
              <a:t>an order. The spread between orders is about Rs 9.3 lakh, the part where two branches moved</a:t>
            </a:r>
          </a:p>
          <a:p>
            <a:r>
              <a:t>together; whichever goes second is charged for it. The symmetric split follows Ang (2005), "The</a:t>
            </a:r>
          </a:p>
          <a:p>
            <a:r>
              <a:t>LMDI approach to decomposition analysis", Energy Policy, checked through Crossref 29 Sep 2026. Then</a:t>
            </a:r>
          </a:p>
          <a:p>
            <a:r>
              <a:t>the picture of a bridge.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symbols the steps are (c2 - c1) x f1 x v1, then c2 x (f2 - f1) x v1, then</a:t>
            </a:r>
          </a:p>
          <a:p>
            <a:r>
              <a:t>c2 x f2 x (v2 - v1), where c is customers, f orders per customer and v revenue per order. Do not</a:t>
            </a:r>
          </a:p>
          <a:p>
            <a:r>
              <a:t>put the symbols on the board unless someone asks; the three boxes carry it. Then the first leaf,</a:t>
            </a:r>
          </a:p>
          <a:p>
            <a:r>
              <a:t>counted.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default aloud with its reason. The same method, .get with a default, is</a:t>
            </a:r>
          </a:p>
          <a:p>
            <a:r>
              <a:t>the one that goes wrong in fifteen minutes on the discount field, where the default has no such</a:t>
            </a:r>
          </a:p>
          <a:p>
            <a:r>
              <a:t>reason behind it.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Option d is Monday's rows-as-customers trap. Option a is Marketing's story carried</a:t>
            </a:r>
          </a:p>
          <a:p>
            <a:r>
              <a:t>through. Take letters, then run the cell.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 the silence land: Marketing's branch is flat, and orders per customer is the</a:t>
            </a:r>
          </a:p>
          <a:p>
            <a:r>
              <a:t>leaf that moved, down 24.6 percent. Whether these are the same 69 people is chapter 5's question.</a:t>
            </a:r>
          </a:p>
          <a:p>
            <a:r>
              <a:t>Revenue per order rising is no price rise until proved; chapter 4 takes it apart. Fill the tree on</a:t>
            </a:r>
          </a:p>
          <a:p>
            <a:r>
              <a:t>the board. Then the rupees.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Customers first at Q1's leaves, then 28 fewer orders at Q1's Rs 1,84,211 each, then</a:t>
            </a:r>
          </a:p>
          <a:p>
            <a:r>
              <a:t>86 orders each Rs 33,231 richer. Transition: Meera's tree had a fourth branch, price, and</a:t>
            </a:r>
          </a:p>
          <a:p>
            <a:r>
              <a:t>Marketing's monsoon plan lives there.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no more. Read the last line of the trace: it names the key. The Python glossary</a:t>
            </a:r>
          </a:p>
          <a:p>
            <a:r>
              <a:t>names the first two styles LBYL and EAFP (docs.python.org glossary, verified 29 Sep 2026). The error</a:t>
            </a:r>
          </a:p>
          <a:p>
            <a:r>
              <a:t>is not the trap; what the third way decides is. Then the number it produces.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chapter's trap. The hurried default silences the error, and the share comes out</a:t>
            </a:r>
          </a:p>
          <a:p>
            <a:r>
              <a:t>at 50.0 percent, 43 of 86. Marketing extends the monsoon discount to the other half, spending margin</a:t>
            </a:r>
          </a:p>
          <a:p>
            <a:r>
              <a:t>on orders that may already carry one. The three orders are invented to show the mechanism. Then the</a:t>
            </a:r>
          </a:p>
          <a:p>
            <a:r>
              <a:t>question that splits the 43.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learner first runs the count in the empty your-turn cell of notebook 02: orders</a:t>
            </a:r>
          </a:p>
          <a:p>
            <a:r>
              <a:t>with no discount field, per quarter. Then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What changed: the extension loses its premise, since only 17 of 86</a:t>
            </a:r>
          </a:p>
          <a:p>
            <a:r>
              <a:t>are known to have had no discount, and discounts leave the list of causes. Ask which system wrote</a:t>
            </a:r>
          </a:p>
          <a:p>
            <a:r>
              <a:t>records without the field (Rubin, 1976, "Inference and missing data", Biometrika, is the formal</a:t>
            </a:r>
          </a:p>
          <a:p>
            <a:r>
              <a:t>version). Interview [S]: a field is missing; do you fill it with zero? Then a split that chooses no</a:t>
            </a:r>
          </a:p>
          <a:p>
            <a:r>
              <a:t>order.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symmetric split shares the fall by logarithms and chooses no order, so it could</a:t>
            </a:r>
          </a:p>
          <a:p>
            <a:r>
              <a:t>have disagreed with the bridge; the Rs 4,30,585 between them is the part where frequency and order</a:t>
            </a:r>
          </a:p>
          <a:p>
            <a:r>
              <a:t>value moved together.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interview: tree, ratios multiply back, one leaf at a time in a</a:t>
            </a:r>
          </a:p>
          <a:p>
            <a:r>
              <a:t>fixed order, rupees add. Transition: the tier's head asked about his tier, so the same numbers are</a:t>
            </a:r>
          </a:p>
          <a:p>
            <a:r>
              <a:t>needed for every segment.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3 runs 30 minutes: 1 on the map, 3 on the need and Costco, 5 on the options and the</a:t>
            </a:r>
          </a:p>
          <a:p>
            <a:r>
              <a:t>picture, 5 on tree_for and its test, 5 on Retail-Core and Business, 5 on the roll-up trap, 5 on the</a:t>
            </a:r>
          </a:p>
          <a:p>
            <a:r>
              <a:t>second route and the room's run, 1 on the close. Switch to</a:t>
            </a:r>
          </a:p>
          <a:p>
            <a:r>
              <a:t>notebooks/C2_W01_D02_03_which_segment_STUDENT.ipynb. The break follows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segment itself is found by each learner in their own</a:t>
            </a:r>
          </a:p>
          <a:p>
            <a:r>
              <a:t>cell at the end of the chapter, never on the projector. Then the tier's question.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His renewals are the metric of his job, so orders per member is his number. A wrong</a:t>
            </a:r>
          </a:p>
          <a:p>
            <a:r>
              <a:t>answer costs a tier nobody protects, or a quarter spent fixing one that was fine. Eight trees are</a:t>
            </a:r>
          </a:p>
          <a:p>
            <a:r>
              <a:t>needed: four segments by two quarters. Then a membership business that reports its segment.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Costco fourth quarter fiscal 2025 results filed with the SEC (exhibit 99),</a:t>
            </a:r>
          </a:p>
          <a:p>
            <a:r>
              <a:t>checked 30 Sep 2026. The link: the head of Retail-Plus needs his tier's rate, never the company's.</a:t>
            </a:r>
          </a:p>
          <a:p>
            <a:r>
              <a:t>Then three ways to get eight groups' numbers.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notebook's first section sizes these. Copying reads the export eight times and</a:t>
            </a:r>
          </a:p>
          <a:p>
            <a:r>
              <a:t>creates eight places for Anand's next definition change to be missed once. Ask how many times the</a:t>
            </a:r>
          </a:p>
          <a:p>
            <a:r>
              <a:t>room wants to paste chapter 2's code. Then the picture of a function.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definitions live in one place, so Anand's next change to what counts as an</a:t>
            </a:r>
          </a:p>
          <a:p>
            <a:r>
              <a:t>order is made once. Chapter 5 meets a colleague's function that prints instead of returning. Then</a:t>
            </a:r>
          </a:p>
          <a:p>
            <a:r>
              <a:t>the function itself.</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Build it line by line: def, the parameter, the body, return. The seen dictionary is</a:t>
            </a:r>
          </a:p>
          <a:p>
            <a:r>
              <a:t>chapter 2's customer count again.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Option c is what a function hands back when it prints its answer and returns</a:t>
            </a:r>
          </a:p>
          <a:p>
            <a:r>
              <a:t>nothing; option d is the order count. Take letters, then run the cell.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Now call it on a segment. Retail-Core and Business are the two segments</a:t>
            </a:r>
          </a:p>
          <a:p>
            <a:r>
              <a:t>demonstrated; do not run Retail-Plus or Student on the projector. Then Retail-Core.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describe is Monday's median by hand, inside a function, with the odd and even case:</a:t>
            </a:r>
          </a:p>
          <a:p>
            <a:r>
              <a:t>it returns a group's median, extremes and range. Retail-Core's typical order fell about Rs 245.</a:t>
            </a:r>
          </a:p>
          <a:p>
            <a:r>
              <a:t>Then Business, where the orders are lakh-sized.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Business revenue fell from Rs 2,07,71,180 to Rs 1,85,41,460.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 eleven Business customers placed 17 orders against 20, down</a:t>
            </a:r>
          </a:p>
          <a:p>
            <a:r>
              <a:t>15.0 percent per customer, on three orders. Neither segment shown falls 24.6 percent, so before</a:t>
            </a:r>
          </a:p>
          <a:p>
            <a:r>
              <a:t>guessing where the rest sits, roll the segments back up.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chapter's trap: correct arithmetic, wrong question. Only the averages and the</a:t>
            </a:r>
          </a:p>
          <a:p>
            <a:r>
              <a:t>weighted figures appear; no per-segment rows are shown.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invented groups show the mechanism: two customers get the same vote as thirty.</a:t>
            </a:r>
          </a:p>
          <a:p>
            <a:r>
              <a:t>Count groups in and out while rolling up: four segments in, 69 customers back. Interview [F]: why</a:t>
            </a:r>
          </a:p>
          <a:p>
            <a:r>
              <a:t>can't you average four segments' rates? Then the second route and the room's own run.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second route's check prints agreement and no segment's numbers. Then the room</a:t>
            </a:r>
          </a:p>
          <a:p>
            <a:r>
              <a:t>types the your-turn cell. Do not run it on the projector and do not confirm any segment aloud;</a:t>
            </a:r>
          </a:p>
          <a:p>
            <a:r>
              <a:t>collect two sentences read aloud without comment.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10-minute break. Neither segment shown explains 24.6 percent, so the</a:t>
            </a:r>
          </a:p>
          <a:p>
            <a:r>
              <a:t>weighted roll-up puts the rest in the two segments each learner's own run opens. One breath for the</a:t>
            </a:r>
          </a:p>
          <a:p>
            <a:r>
              <a:t>design question: a function when groups are asked one at a time and definitions change; a pass by</a:t>
            </a:r>
          </a:p>
          <a:p>
            <a:r>
              <a:t>key when the file is large and every group is needed.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4 runs 30 minutes after the break: 1 on the map, 4 on the need and Swiggy, 5 on the</a:t>
            </a:r>
          </a:p>
          <a:p>
            <a:r>
              <a:t>options and the picture, 6 on the lost orders and the segments' own rates, 4 on the trap and the</a:t>
            </a:r>
          </a:p>
          <a:p>
            <a:r>
              <a:t>code, 5 on the split and its rate part, 3 on the second route, 2 on the close. Switch to</a:t>
            </a:r>
          </a:p>
          <a:p>
            <a:r>
              <a:t>notebooks/C2_W01_D02_04_mix_or_rate_STUDENT.ipynb. From here the segment the room found is named.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Open by naming what the room found at the end of chapter 3: Retail-Plus, the same</a:t>
            </a:r>
          </a:p>
          <a:p>
            <a:r>
              <a:t>22 members, 51 orders to 26. Read the six questions. Then Marketing's new ask.</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a blend across segments whose orders differ several</a:t>
            </a:r>
          </a:p>
          <a:p>
            <a:r>
              <a:t>hundredfold: a Q1 Business order averaged Rs 10,38,559 and a consumer order Rs 2,434. A wrong</a:t>
            </a:r>
          </a:p>
          <a:p>
            <a:r>
              <a:t>reading costs volume: a price rise on customers who never paid more. Then a real company whose order</a:t>
            </a:r>
          </a:p>
          <a:p>
            <a:r>
              <a:t>value rose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Swiggy, the food and grocery delivery app, Q2 FY2026 shareholder letter, checked 30</a:t>
            </a:r>
          </a:p>
          <a:p>
            <a:r>
              <a:t>Sep 2026: the average order value of Instamart, its quick-commerce store, Rs 697, up 14 percent in</a:t>
            </a:r>
          </a:p>
          <a:p>
            <a:r>
              <a:t>the quarter, put down to non-grocery categories and large packs taking a larger share of gross order</a:t>
            </a:r>
          </a:p>
          <a:p>
            <a:r>
              <a:t>value, the value of orders before discounts; net average order value after discounts Rs 485. The</a:t>
            </a:r>
          </a:p>
          <a:p>
            <a:r>
              <a:t>link to Kalpa: Business's lakh-sized orders took a larger share as small member orders left. Then</a:t>
            </a:r>
          </a:p>
          <a:p>
            <a:r>
              <a:t>four readings of Kalpa's rise.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notebook's first section shows that only C puts rupees on a cause, and that</a:t>
            </a:r>
          </a:p>
          <a:p>
            <a:r>
              <a:t>only D is safe from one lakh-sized order. Write "C: mix and rate" beside rung 4. Then the picture of</a:t>
            </a:r>
          </a:p>
          <a:p>
            <a:r>
              <a:t>a blend.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it on the board beside the tree: revenue per order was one leaf; inside it sit</a:t>
            </a:r>
          </a:p>
          <a:p>
            <a:r>
              <a:t>four shares and four rates. Then the first number: where did the 28 lost orders come from?</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then run the orders bridge in notebook 04.</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Ask the room what happens to an average when its smallest items</a:t>
            </a:r>
          </a:p>
          <a:p>
            <a:r>
              <a:t>leave. Then each segment's own revenue per order.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Most pick Business, since its orders are the largest.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Student's 14.8 percent is Rs 142 more an order, and Retail-Plus's 7.0 percent is</a:t>
            </a:r>
          </a:p>
          <a:p>
            <a:r>
              <a:t>Rs 197: the consumer segments moved by a few hundred rupees at most. Then Marketing's reading, as</a:t>
            </a:r>
          </a:p>
          <a:p>
            <a:r>
              <a:t>Marketing wrote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chapter's trap. Say the decision it would have misled: a price rise on the tier</a:t>
            </a:r>
          </a:p>
          <a:p>
            <a:r>
              <a:t>whose orders already halved. Then the code that prices the mix.</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room to predict mix_only before the fix slide: above or below Q1's</a:t>
            </a:r>
          </a:p>
          <a:p>
            <a:r>
              <a:t>Rs 1,84,211? Above, since the small orders left. Then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Retail-Plus fell from 44.7 to 30.2 percent of orders. Then what the Rs 10,330 of</a:t>
            </a:r>
          </a:p>
          <a:p>
            <a:r>
              <a:t>rate is made of.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segment's rate part is its share of Q2's orders times the change in its own</a:t>
            </a:r>
          </a:p>
          <a:p>
            <a:r>
              <a:t>revenue per order; the four add back to Rs 10,330. Then a check a senior can run with no laptop.</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envelope: Business's share of orders rose from 17.5 to 19.8 percent, times the</a:t>
            </a:r>
          </a:p>
          <a:p>
            <a:r>
              <a:t>Rs 10,36,125 by which a Q1 Business order beat a consumer order, is about Rs 23,000. It uses no</a:t>
            </a:r>
          </a:p>
          <a:p>
            <a:r>
              <a:t>consumer rate, so it could have disagreed.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interview: a blend, a mix split, a number for each part.</a:t>
            </a:r>
          </a:p>
          <a:p>
            <a:r>
              <a:t>Transition: Marketing is not done; it comes back with churn.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5 runs 30 minutes: 1 on the map, 4 on the need and the published estimates, 5 on the</a:t>
            </a:r>
          </a:p>
          <a:p>
            <a:r>
              <a:t>options and the picture, 6 on the sets and who slowed, 7 on the summary-script trap, 3 on the</a:t>
            </a:r>
          </a:p>
          <a:p>
            <a:r>
              <a:t>consumer business, 4 on the second route and the close. Switch to</a:t>
            </a:r>
          </a:p>
          <a:p>
            <a:r>
              <a:t>notebooks/C2_W01_D02_05_marketings_hypothesis_STUDENT.ipynb.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Marketing's three attacks.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Churn means customers who stop buying, which new ones must replace. The metric at</a:t>
            </a:r>
          </a:p>
          <a:p>
            <a:r>
              <a:t>stake is retention, and its mirror, new customers. A wrong answer is Rs 12 crore spent replacing</a:t>
            </a:r>
          </a:p>
          <a:p>
            <a:r>
              <a:t>people who never left. Marketing's first claim is fair; test it. Then what the published studies</a:t>
            </a:r>
          </a:p>
          <a:p>
            <a:r>
              <a:t>say about the two levers.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Amy Gallo, "The Value of Keeping the Right Customers", Harvard Business Review,</a:t>
            </a:r>
          </a:p>
          <a:p>
            <a:r>
              <a:t>29 October 2014, checked 30 Sep 2026; the retention figure is Frederick Reichheld of Bain, quoted</a:t>
            </a:r>
          </a:p>
          <a:p>
            <a:r>
              <a:t>there. Estimates across industries: say so. Swiggy, Q2 FY2026 shareholder letter, checked 30 Sep 2026:</a:t>
            </a:r>
          </a:p>
          <a:p>
            <a:r>
              <a:t>monthly transacting users up 34.0 percent to 22.9 million while frequency fell 4.53 to 4.10, a</a:t>
            </a:r>
          </a:p>
          <a:p>
            <a:r>
              <a:t>growing count beside a falling frequency, which new users alone could produce, so the two are read</a:t>
            </a:r>
          </a:p>
          <a:p>
            <a:r>
              <a:t>apart. Then four tests of Marketing's claim.</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B and C read the export already open; D, Marketing's CRM, its customer</a:t>
            </a:r>
          </a:p>
          <a:p>
            <a:r>
              <a:t>database, is a second system whose ids must match the export's. Write "B, then C" beside rung 5.</a:t>
            </a:r>
          </a:p>
          <a:p>
            <a:r>
              <a:t>Then the picture of an overlap.</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Leave the three boxes empty on the board; the next two slides fill them. Then the</a:t>
            </a:r>
          </a:p>
          <a:p>
            <a:r>
              <a:t>code.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Sets are chapter 2's dictionary of ids without the counts. Source for the</a:t>
            </a:r>
          </a:p>
          <a:p>
            <a:r>
              <a:t>operators: docs.python.org, data structures, sets, checked 30 Sep 2026.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then run the set cell in notebook 05.</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Option C, customer by customer, gives the second and third numbers.</a:t>
            </a:r>
          </a:p>
          <a:p>
            <a:r>
              <a:t>Acquisition has nothing to replace on this file. Then Marketing's third attack, the summary script.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chapter's trap. Run the script exactly as it is in notebook 05 and read the</a:t>
            </a:r>
          </a:p>
          <a:p>
            <a:r>
              <a:t>summary aloud. Ask whether anyone trusts it. Most will; it looks tidy.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function that prints and returns nothing hands back None, and the filter drops it</a:t>
            </a:r>
          </a:p>
          <a:p>
            <a:r>
              <a:t>without a word. The segment the script was written to flag, a 49 percent fall, is the one it</a:t>
            </a:r>
          </a:p>
          <a:p>
            <a:r>
              <a:t>silently lost. Student, which rose, also vanished. Interview [F]: why does a function that prints</a:t>
            </a:r>
          </a:p>
          <a:p>
            <a:r>
              <a:t>instead of returning break a pipeline?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helper returns the change every time, in the same type, and the flag sits</a:t>
            </a:r>
          </a:p>
          <a:p>
            <a:r>
              <a:t>beside it. Point at the flags: large moves are flagged, never dropped. A flag asks for a look by</a:t>
            </a:r>
          </a:p>
          <a:p>
            <a:r>
              <a:t>hand and removes nothing from the table. Then Marketing's second attack: too small to matter.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consumer business fell from Rs 2,28,820 to Rs 1,58,540, and Retail-Plus is</a:t>
            </a:r>
          </a:p>
          <a:p>
            <a:r>
              <a:t>Rs 65,250 of the Rs 70,280. The rupee fall in Business is three orders, each worth lakhs, so one</a:t>
            </a:r>
          </a:p>
          <a:p>
            <a:r>
              <a:t>account ordering early or late moves it by lakhs. Say both findings side by side: the rupees in</a:t>
            </a:r>
          </a:p>
          <a:p>
            <a:r>
              <a:t>Business, with their caveat, and the behaviour in Retail-Plus, with its count. Then a second route</a:t>
            </a:r>
          </a:p>
          <a:p>
            <a:r>
              <a:t>to "nobody lost".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takes each customer's first and last order date: every first</a:t>
            </a:r>
          </a:p>
          <a:p>
            <a:r>
              <a:t>order falls in Q1 and every last order in Q2, so none new and none lost, from the dates alone and</a:t>
            </a:r>
          </a:p>
          <a:p>
            <a:r>
              <a:t>without the quarter field, which is why it could have disagreed with the overlap. Then the chapter's</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[D]: test their claim in its own terms, show the overlap, show where</a:t>
            </a:r>
          </a:p>
          <a:p>
            <a:r>
              <a:t>the fall is, end on what would change my mind. Lunch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1.png"/><Relationship Id="rId6"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1.png"/><Relationship Id="rId6"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1.png"/><Relationship Id="rId6"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20.png"/><Relationship Id="rId6"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6.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8.xml"/><Relationship Id="rId6"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11.png"/><Relationship Id="rId6"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3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6.png"/><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3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11.png"/><Relationship Id="rId6" Type="http://schemas.openxmlformats.org/officeDocument/2006/relationships/image" Target="../media/image3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3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20.png"/><Relationship Id="rId6" Type="http://schemas.openxmlformats.org/officeDocument/2006/relationships/image" Target="../media/image3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6.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11.png"/><Relationship Id="rId6" Type="http://schemas.openxmlformats.org/officeDocument/2006/relationships/image" Target="../media/image3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4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4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 Id="rId5" Type="http://schemas.openxmlformats.org/officeDocument/2006/relationships/image" Target="../media/image4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6.png"/><Relationship Id="rId6"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6.xml"/><Relationship Id="rId6" Type="http://schemas.openxmlformats.org/officeDocument/2006/relationships/image" Target="../media/image4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 Id="rId5" Type="http://schemas.openxmlformats.org/officeDocument/2006/relationships/image" Target="../media/image11.png"/><Relationship Id="rId6" Type="http://schemas.openxmlformats.org/officeDocument/2006/relationships/image" Target="../media/image4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 Id="rId5" Type="http://schemas.openxmlformats.org/officeDocument/2006/relationships/image" Target="../media/image46.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4.xml"/><Relationship Id="rId5" Type="http://schemas.openxmlformats.org/officeDocument/2006/relationships/image" Target="../media/image4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6.xml"/><Relationship Id="rId5" Type="http://schemas.openxmlformats.org/officeDocument/2006/relationships/image" Target="../media/image4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7.xml"/><Relationship Id="rId5" Type="http://schemas.openxmlformats.org/officeDocument/2006/relationships/image" Target="../media/image4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6.png"/><Relationship Id="rId6"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branch moved from Q1 to Q2?</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“Are we losing customers, or are the ones we have buying less? Marketing says more customers. Prove it or disprove it.”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replying to Monday's numbers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188434" cy="185166"/>
          </a:xfrm>
          <a:prstGeom prst="rect">
            <a:avLst/>
          </a:prstGeom>
          <a:noFill/>
        </p:spPr>
        <p:txBody>
          <a:bodyPr wrap="square" anchor="t" lIns="0" rIns="0" tIns="0" bIns="0">
            <a:spAutoFit/>
          </a:bodyPr>
          <a:lstStyle/>
          <a:p>
            <a:pPr algn="l"/>
            <a:r>
              <a:rPr sz="900" b="0" i="0">
                <a:solidFill>
                  <a:srgbClr val="FFFFFF"/>
                </a:solidFill>
                <a:latin typeface="Calibri"/>
              </a:rPr>
              <a:t>Is the drop real?</a:t>
            </a:r>
          </a:p>
        </p:txBody>
      </p:sp>
      <p:sp>
        <p:nvSpPr>
          <p:cNvPr id="13" name="TextBox 12"/>
          <p:cNvSpPr txBox="1"/>
          <p:nvPr/>
        </p:nvSpPr>
        <p:spPr>
          <a:xfrm>
            <a:off x="237715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761202"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branch moved?</a:t>
            </a:r>
          </a:p>
        </p:txBody>
      </p:sp>
      <p:sp>
        <p:nvSpPr>
          <p:cNvPr id="15" name="TextBox 14"/>
          <p:cNvSpPr txBox="1"/>
          <p:nvPr/>
        </p:nvSpPr>
        <p:spPr>
          <a:xfrm>
            <a:off x="425081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634865"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segment moved?</a:t>
            </a:r>
          </a:p>
        </p:txBody>
      </p:sp>
      <p:sp>
        <p:nvSpPr>
          <p:cNvPr id="17" name="TextBox 16"/>
          <p:cNvSpPr txBox="1"/>
          <p:nvPr/>
        </p:nvSpPr>
        <p:spPr>
          <a:xfrm>
            <a:off x="618362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567677"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Did customers pay more?</a:t>
            </a:r>
          </a:p>
        </p:txBody>
      </p:sp>
      <p:sp>
        <p:nvSpPr>
          <p:cNvPr id="19" name="TextBox 18"/>
          <p:cNvSpPr txBox="1"/>
          <p:nvPr/>
        </p:nvSpPr>
        <p:spPr>
          <a:xfrm>
            <a:off x="829389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677941"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Were customers lost?</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each raised by the answer before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came in below Q1: are we losing customers, or are the ones we have buying less?</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Is the drop real?</a:t>
            </a:r>
          </a:p>
        </p:txBody>
      </p:sp>
      <p:sp>
        <p:nvSpPr>
          <p:cNvPr id="14" name="TextBox 13"/>
          <p:cNvSpPr txBox="1"/>
          <p:nvPr/>
        </p:nvSpPr>
        <p:spPr>
          <a:xfrm>
            <a:off x="69494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Both quarters on the same weeks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Customers, how often, or order value</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moved?</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same numbers for all four</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Did customers pay more?</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 rise in revenue per order</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Were customers lost?</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Marketing's churn claim, tested</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Did the button do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After lunch: the cause and the memo</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42" name="Oval 4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4" name="Oval 4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6" name="Oval 4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48" name="Oval 4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the branch that moved, with proof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Meera asking, and what rides on the answer?</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 Are we losing customers, or are the ones we have buying less? Marketing says more customers. Prove it or disprove it."</a:t>
            </a:r>
          </a:p>
        </p:txBody>
      </p:sp>
      <p:sp>
        <p:nvSpPr>
          <p:cNvPr id="14" name="TextBox 13"/>
          <p:cNvSpPr txBox="1"/>
          <p:nvPr/>
        </p:nvSpPr>
        <p:spPr>
          <a:xfrm>
            <a:off x="53035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15" name="TextBox 14"/>
          <p:cNvSpPr txBox="1"/>
          <p:nvPr/>
        </p:nvSpPr>
        <p:spPr>
          <a:xfrm>
            <a:off x="53035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APRIL TO JUNE</a:t>
            </a:r>
          </a:p>
        </p:txBody>
      </p:sp>
      <p:sp>
        <p:nvSpPr>
          <p:cNvPr id="16" name="TextBox 15"/>
          <p:cNvSpPr txBox="1"/>
          <p:nvPr/>
        </p:nvSpPr>
        <p:spPr>
          <a:xfrm>
            <a:off x="53035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17" name="Rectangle 16"/>
          <p:cNvSpPr/>
          <p:nvPr/>
        </p:nvSpPr>
        <p:spPr>
          <a:xfrm>
            <a:off x="53035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19" name="TextBox 18"/>
          <p:cNvSpPr txBox="1"/>
          <p:nvPr/>
        </p:nvSpPr>
        <p:spPr>
          <a:xfrm>
            <a:off x="433212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JULY TO SEPTEMBER</a:t>
            </a:r>
          </a:p>
        </p:txBody>
      </p:sp>
      <p:sp>
        <p:nvSpPr>
          <p:cNvPr id="20" name="TextBox 19"/>
          <p:cNvSpPr txBox="1"/>
          <p:nvPr/>
        </p:nvSpPr>
        <p:spPr>
          <a:xfrm>
            <a:off x="433212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21" name="Rectangle 20"/>
          <p:cNvSpPr/>
          <p:nvPr/>
        </p:nvSpPr>
        <p:spPr>
          <a:xfrm>
            <a:off x="433212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3" name="TextBox 22"/>
          <p:cNvSpPr txBox="1"/>
          <p:nvPr/>
        </p:nvSpPr>
        <p:spPr>
          <a:xfrm>
            <a:off x="813389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WAITING ON THE ANSWER</a:t>
            </a:r>
          </a:p>
        </p:txBody>
      </p:sp>
      <p:sp>
        <p:nvSpPr>
          <p:cNvPr id="24" name="TextBox 23"/>
          <p:cNvSpPr txBox="1"/>
          <p:nvPr/>
        </p:nvSpPr>
        <p:spPr>
          <a:xfrm>
            <a:off x="813389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acquisition ask</a:t>
            </a:r>
          </a:p>
        </p:txBody>
      </p:sp>
      <p:sp>
        <p:nvSpPr>
          <p:cNvPr id="25" name="Rectangle 24"/>
          <p:cNvSpPr/>
          <p:nvPr/>
        </p:nvSpPr>
        <p:spPr>
          <a:xfrm>
            <a:off x="813389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49651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Retail India's financial year opens in April, so Q1 is April to June and Q2 is July to September of 2026-27.</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9" name="Oval 28"/>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5" name="Oval 34"/>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voice owns a lever, so the split names the owner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waiting on the answer, and what does each of them want from it?</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round_13fbc0c9977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CEO</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Owns the budget. Wants the branch that moved before she funds any lever, and a sentence she can repeat to the board.</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rown_50cb0a914c8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PAID TIER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Owns member renewals. Forwards a complaint that the app's reorder feature has been broken for six weeks, and asks whether his tier is slipping.</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76c78891bb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ACQUISITION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marketing lead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Owns new customers. Has a slide showing revenue falling by a quarter, and an answer already: more customers.</a:t>
            </a:r>
          </a:p>
        </p:txBody>
      </p:sp>
      <p:sp>
        <p:nvSpPr>
          <p:cNvPr id="27" name="Rounded Rectangle 26"/>
          <p:cNvSpPr/>
          <p:nvPr/>
        </p:nvSpPr>
        <p:spPr>
          <a:xfrm>
            <a:off x="530352" y="44841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6121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602988"/>
            <a:ext cx="10564063" cy="6248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The team works for the number, and each voice gets the same one. A branch that moved hands the problem to the person who owns that lever; a branch that stayed flat takes a budget off the table.</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32" name="Oval 3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8" name="Oval 3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branch has an owner and a different price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it cost to move each branch, and who pays?</a:t>
            </a:r>
          </a:p>
        </p:txBody>
      </p:sp>
      <p:pic>
        <p:nvPicPr>
          <p:cNvPr id="9" name="mermaid diagram" descr="bf28fb96691cce1e.png"/>
          <p:cNvPicPr>
            <a:picLocks noChangeAspect="1"/>
          </p:cNvPicPr>
          <p:nvPr/>
        </p:nvPicPr>
        <p:blipFill>
          <a:blip r:embed="rId5"/>
          <a:stretch>
            <a:fillRect/>
          </a:stretch>
        </p:blipFill>
        <p:spPr>
          <a:xfrm>
            <a:off x="530352" y="2584071"/>
            <a:ext cx="4786326" cy="2713985"/>
          </a:xfrm>
          <a:prstGeom prst="rect">
            <a:avLst/>
          </a:prstGeom>
        </p:spPr>
      </p:pic>
      <p:graphicFrame>
        <p:nvGraphicFramePr>
          <p:cNvPr id="10" name="Table 9"/>
          <p:cNvGraphicFramePr>
            <a:graphicFrameLocks noGrp="1"/>
          </p:cNvGraphicFramePr>
          <p:nvPr/>
        </p:nvGraphicFramePr>
        <p:xfrm>
          <a:off x="5761917" y="1956816"/>
          <a:ext cx="5899423" cy="2712720"/>
        </p:xfrm>
        <a:graphic>
          <a:graphicData uri="http://schemas.openxmlformats.org/drawingml/2006/table">
            <a:tbl>
              <a:tblPr firstRow="0" bandRow="0">
                <a:tableStyleId>{2D5ABB26-0587-4C30-8999-92F81FD0307C}</a:tableStyleId>
              </a:tblPr>
              <a:tblGrid>
                <a:gridCol w="1100694"/>
                <a:gridCol w="1606002"/>
                <a:gridCol w="1302817"/>
                <a:gridCol w="1889910"/>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The lever</a:t>
                      </a:r>
                    </a:p>
                  </a:txBody>
                  <a:tcPr marL="101600" marR="101600" marT="38100" marB="38100" anchor="ctr">
                    <a:solidFill>
                      <a:srgbClr val="1A0F5C"/>
                    </a:solidFill>
                  </a:tcPr>
                </a:tc>
                <a:tc>
                  <a:txBody>
                    <a:bodyPr/>
                    <a:lstStyle/>
                    <a:p>
                      <a:r>
                        <a:rPr sz="1250" b="1" i="0">
                          <a:solidFill>
                            <a:srgbClr val="FFFFFF"/>
                          </a:solidFill>
                          <a:latin typeface="Calibri"/>
                        </a:rPr>
                        <a:t>Who owns it</a:t>
                      </a:r>
                    </a:p>
                  </a:txBody>
                  <a:tcPr marL="101600" marR="101600" marT="38100" marB="38100" anchor="ctr">
                    <a:solidFill>
                      <a:srgbClr val="1A0F5C"/>
                    </a:solidFill>
                  </a:tcPr>
                </a:tc>
                <a:tc>
                  <a:txBody>
                    <a:bodyPr/>
                    <a:lstStyle/>
                    <a:p>
                      <a:r>
                        <a:rPr sz="1250" b="1" i="0">
                          <a:solidFill>
                            <a:srgbClr val="FFFFFF"/>
                          </a:solidFill>
                          <a:latin typeface="Calibri"/>
                        </a:rPr>
                        <a:t>What moving it costs</a:t>
                      </a:r>
                    </a:p>
                  </a:txBody>
                  <a:tcPr marL="101600" marR="101600" marT="38100" marB="38100" anchor="ctr">
                    <a:solidFill>
                      <a:srgbClr val="1A0F5C"/>
                    </a:solidFill>
                  </a:tcPr>
                </a:tc>
              </a:tr>
              <a:tr h="542544">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Acquisition campaigns</a:t>
                      </a:r>
                    </a:p>
                  </a:txBody>
                  <a:tcPr marL="101600" marR="101600" marT="38100" marB="38100" anchor="ctr">
                    <a:solidFill>
                      <a:srgbClr val="FFFFFF"/>
                    </a:solidFill>
                  </a:tcPr>
                </a:tc>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Marketing spend, before any repeat order</a:t>
                      </a:r>
                    </a:p>
                  </a:txBody>
                  <a:tcPr marL="101600" marR="101600" marT="38100" marB="38100" anchor="ctr">
                    <a:solidFill>
                      <a:srgbClr val="FFFFFF"/>
                    </a:solidFill>
                  </a:tcPr>
                </a:tc>
              </a:tr>
              <a:tr h="749808">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Retention, reminders, reorder</a:t>
                      </a:r>
                    </a:p>
                  </a:txBody>
                  <a:tcPr marL="101600" marR="101600" marT="38100" marB="38100" anchor="ctr">
                    <a:solidFill>
                      <a:srgbClr val="F4F2FA"/>
                    </a:solidFill>
                  </a:tcPr>
                </a:tc>
                <a:tc>
                  <a:txBody>
                    <a:bodyPr/>
                    <a:lstStyle/>
                    <a:p>
                      <a:r>
                        <a:rPr sz="1200" b="0" i="0">
                          <a:solidFill>
                            <a:srgbClr val="1A1440"/>
                          </a:solidFill>
                          <a:latin typeface="Calibri"/>
                        </a:rPr>
                        <a:t>Tier and product owners</a:t>
                      </a:r>
                    </a:p>
                  </a:txBody>
                  <a:tcPr marL="101600" marR="101600" marT="38100" marB="38100" anchor="ctr">
                    <a:solidFill>
                      <a:srgbClr val="F4F2FA"/>
                    </a:solidFill>
                  </a:tcPr>
                </a:tc>
                <a:tc>
                  <a:txBody>
                    <a:bodyPr/>
                    <a:lstStyle/>
                    <a:p>
                      <a:r>
                        <a:rPr sz="1200" b="0" i="0">
                          <a:solidFill>
                            <a:srgbClr val="1A1440"/>
                          </a:solidFill>
                          <a:latin typeface="Calibri"/>
                        </a:rPr>
                        <a:t>Service and product work on people already won</a:t>
                      </a:r>
                    </a:p>
                  </a:txBody>
                  <a:tcPr marL="101600" marR="101600" marT="38100" marB="38100" anchor="ctr">
                    <a:solidFill>
                      <a:srgbClr val="F4F2FA"/>
                    </a:solidFill>
                  </a:tcPr>
                </a:tc>
              </a:tr>
              <a:tr h="542544">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Range, bundles, basket</a:t>
                      </a:r>
                    </a:p>
                  </a:txBody>
                  <a:tcPr marL="101600" marR="101600" marT="38100" marB="38100" anchor="ctr">
                    <a:solidFill>
                      <a:srgbClr val="FFFFFF"/>
                    </a:solidFill>
                  </a:tcPr>
                </a:tc>
                <a:tc>
                  <a:txBody>
                    <a:bodyPr/>
                    <a:lstStyle/>
                    <a:p>
                      <a:r>
                        <a:rPr sz="1200" b="0" i="0">
                          <a:solidFill>
                            <a:srgbClr val="1A1440"/>
                          </a:solidFill>
                          <a:latin typeface="Calibri"/>
                        </a:rPr>
                        <a:t>Merchandising</a:t>
                      </a:r>
                    </a:p>
                  </a:txBody>
                  <a:tcPr marL="101600" marR="101600" marT="38100" marB="38100" anchor="ctr">
                    <a:solidFill>
                      <a:srgbClr val="FFFFFF"/>
                    </a:solidFill>
                  </a:tcPr>
                </a:tc>
                <a:tc>
                  <a:txBody>
                    <a:bodyPr/>
                    <a:lstStyle/>
                    <a:p>
                      <a:r>
                        <a:rPr sz="1200" b="0" i="0">
                          <a:solidFill>
                            <a:srgbClr val="1A1440"/>
                          </a:solidFill>
                          <a:latin typeface="Calibri"/>
                        </a:rPr>
                        <a:t>Assortment and margin decisions</a:t>
                      </a:r>
                    </a:p>
                  </a:txBody>
                  <a:tcPr marL="101600" marR="101600" marT="38100" marB="38100" anchor="ctr">
                    <a:solidFill>
                      <a:srgbClr val="FFFFFF"/>
                    </a:solidFill>
                  </a:tcPr>
                </a:tc>
              </a:tr>
              <a:tr h="542544">
                <a:tc>
                  <a:txBody>
                    <a:bodyPr/>
                    <a:lstStyle/>
                    <a:p>
                      <a:r>
                        <a:rPr sz="1200" b="0" i="0">
                          <a:solidFill>
                            <a:srgbClr val="1A1440"/>
                          </a:solidFill>
                          <a:latin typeface="Calibri"/>
                        </a:rPr>
                        <a:t>Price and discounts</a:t>
                      </a:r>
                    </a:p>
                  </a:txBody>
                  <a:tcPr marL="101600" marR="101600" marT="38100" marB="38100" anchor="ctr">
                    <a:solidFill>
                      <a:srgbClr val="F4F2FA"/>
                    </a:solidFill>
                  </a:tcPr>
                </a:tc>
                <a:tc>
                  <a:txBody>
                    <a:bodyPr/>
                    <a:lstStyle/>
                    <a:p>
                      <a:r>
                        <a:rPr sz="1200" b="0" i="0">
                          <a:solidFill>
                            <a:srgbClr val="1A1440"/>
                          </a:solidFill>
                          <a:latin typeface="Calibri"/>
                        </a:rPr>
                        <a:t>Price lists, offers</a:t>
                      </a:r>
                    </a:p>
                  </a:txBody>
                  <a:tcPr marL="101600" marR="101600" marT="38100" marB="38100" anchor="ctr">
                    <a:solidFill>
                      <a:srgbClr val="F4F2FA"/>
                    </a:solidFill>
                  </a:tcPr>
                </a:tc>
                <a:tc>
                  <a:txBody>
                    <a:bodyPr/>
                    <a:lstStyle/>
                    <a:p>
                      <a:r>
                        <a:rPr sz="1200" b="0" i="0">
                          <a:solidFill>
                            <a:srgbClr val="1A1440"/>
                          </a:solidFill>
                          <a:latin typeface="Calibri"/>
                        </a:rPr>
                        <a:t>Finance with Marketing</a:t>
                      </a:r>
                    </a:p>
                  </a:txBody>
                  <a:tcPr marL="101600" marR="101600" marT="38100" marB="38100" anchor="ctr">
                    <a:solidFill>
                      <a:srgbClr val="F4F2FA"/>
                    </a:solidFill>
                  </a:tcPr>
                </a:tc>
                <a:tc>
                  <a:txBody>
                    <a:bodyPr/>
                    <a:lstStyle/>
                    <a:p>
                      <a:r>
                        <a:rPr sz="1200" b="0" i="0">
                          <a:solidFill>
                            <a:srgbClr val="1A1440"/>
                          </a:solidFill>
                          <a:latin typeface="Calibri"/>
                        </a:rPr>
                        <a:t>Volume at risk, or margin given away</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manufacture a drop?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between a checkout and a dashboard could a fall appear that the business never had?</a:t>
            </a:r>
          </a:p>
        </p:txBody>
      </p:sp>
      <p:pic>
        <p:nvPicPr>
          <p:cNvPr id="9" name="mermaid diagram" descr="750c9beb4c70a343.png"/>
          <p:cNvPicPr>
            <a:picLocks noChangeAspect="1"/>
          </p:cNvPicPr>
          <p:nvPr/>
        </p:nvPicPr>
        <p:blipFill>
          <a:blip r:embed="rId5"/>
          <a:stretch>
            <a:fillRect/>
          </a:stretch>
        </p:blipFill>
        <p:spPr>
          <a:xfrm>
            <a:off x="2152497" y="1956816"/>
            <a:ext cx="7886700" cy="2028825"/>
          </a:xfrm>
          <a:prstGeom prst="rect">
            <a:avLst/>
          </a:prstGeom>
        </p:spPr>
      </p:pic>
      <p:sp>
        <p:nvSpPr>
          <p:cNvPr id="10" name="Rounded Rectangle 9"/>
          <p:cNvSpPr/>
          <p:nvPr/>
        </p:nvSpPr>
        <p:spPr>
          <a:xfrm>
            <a:off x="530352" y="41319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599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508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pairs, two minutes: name three places between a customer's checkout and a dashboard tile where a fall could be created that the business never had.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fake drop has an address in the pipeline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between a checkout and a dashboard could a fall appear that the business never had?</a:t>
            </a:r>
          </a:p>
        </p:txBody>
      </p:sp>
      <p:pic>
        <p:nvPicPr>
          <p:cNvPr id="9" name="mermaid diagram" descr="adfb5551bed4fb3a.png"/>
          <p:cNvPicPr>
            <a:picLocks noChangeAspect="1"/>
          </p:cNvPicPr>
          <p:nvPr/>
        </p:nvPicPr>
        <p:blipFill>
          <a:blip r:embed="rId6"/>
          <a:stretch>
            <a:fillRect/>
          </a:stretch>
        </p:blipFill>
        <p:spPr>
          <a:xfrm>
            <a:off x="1954373" y="1664208"/>
            <a:ext cx="8282948"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Find the hop a number came through before you explain it. Today's traps live at these addresses: the window, the empty field, the roll-up and the helper.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Confirm, compare, decompose, isolate, hypothesise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an analyst investigate a drop, and where does each trap wait?</a:t>
            </a:r>
          </a:p>
        </p:txBody>
      </p:sp>
      <p:graphicFrame>
        <p:nvGraphicFramePr>
          <p:cNvPr id="9" name="Table 8"/>
          <p:cNvGraphicFramePr>
            <a:graphicFrameLocks noGrp="1"/>
          </p:cNvGraphicFramePr>
          <p:nvPr/>
        </p:nvGraphicFramePr>
        <p:xfrm>
          <a:off x="530352" y="1956816"/>
          <a:ext cx="11130989" cy="2346960"/>
        </p:xfrm>
        <a:graphic>
          <a:graphicData uri="http://schemas.openxmlformats.org/drawingml/2006/table">
            <a:tbl>
              <a:tblPr firstRow="0" bandRow="0">
                <a:tableStyleId>{2D5ABB26-0587-4C30-8999-92F81FD0307C}</a:tableStyleId>
              </a:tblPr>
              <a:tblGrid>
                <a:gridCol w="914400"/>
                <a:gridCol w="2678354"/>
                <a:gridCol w="3613294"/>
                <a:gridCol w="3924941"/>
              </a:tblGrid>
              <a:tr h="335280">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The question</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c>
                  <a:txBody>
                    <a:bodyPr/>
                    <a:lstStyle/>
                    <a:p>
                      <a:r>
                        <a:rPr sz="1250" b="1" i="0">
                          <a:solidFill>
                            <a:srgbClr val="FFFFFF"/>
                          </a:solidFill>
                          <a:latin typeface="Calibri"/>
                        </a:rPr>
                        <a:t>The trap it guards</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Is the drop real?</a:t>
                      </a:r>
                    </a:p>
                  </a:txBody>
                  <a:tcPr marL="101600" marR="101600" marT="38100" marB="38100" anchor="ctr">
                    <a:solidFill>
                      <a:srgbClr val="FFFFFF"/>
                    </a:solidFill>
                  </a:tcPr>
                </a:tc>
                <a:tc>
                  <a:txBody>
                    <a:bodyPr/>
                    <a:lstStyle/>
                    <a:p>
                      <a:r>
                        <a:rPr sz="1200" b="0" i="0">
                          <a:solidFill>
                            <a:srgbClr val="1A1440"/>
                          </a:solidFill>
                          <a:latin typeface="Calibri"/>
                        </a:rPr>
                        <a:t>Meera, against Marketing's slide</a:t>
                      </a:r>
                    </a:p>
                  </a:txBody>
                  <a:tcPr marL="101600" marR="101600" marT="38100" marB="38100" anchor="ctr">
                    <a:solidFill>
                      <a:srgbClr val="FFFFFF"/>
                    </a:solidFill>
                  </a:tcPr>
                </a:tc>
                <a:tc>
                  <a:txBody>
                    <a:bodyPr/>
                    <a:lstStyle/>
                    <a:p>
                      <a:r>
                        <a:rPr sz="1200" b="0" i="0">
                          <a:solidFill>
                            <a:srgbClr val="1A1440"/>
                          </a:solidFill>
                          <a:latin typeface="Calibri"/>
                        </a:rPr>
                        <a:t>Quarters of unequal length</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Which branch moved?</a:t>
                      </a:r>
                    </a:p>
                  </a:txBody>
                  <a:tcPr marL="101600" marR="101600" marT="38100" marB="38100" anchor="ctr">
                    <a:solidFill>
                      <a:srgbClr val="F4F2FA"/>
                    </a:solidFill>
                  </a:tcPr>
                </a:tc>
                <a:tc>
                  <a:txBody>
                    <a:bodyPr/>
                    <a:lstStyle/>
                    <a:p>
                      <a:r>
                        <a:rPr sz="1200" b="0" i="0">
                          <a:solidFill>
                            <a:srgbClr val="1A1440"/>
                          </a:solidFill>
                          <a:latin typeface="Calibri"/>
                        </a:rPr>
                        <a:t>Meera</a:t>
                      </a:r>
                    </a:p>
                  </a:txBody>
                  <a:tcPr marL="101600" marR="101600" marT="38100" marB="38100" anchor="ctr">
                    <a:solidFill>
                      <a:srgbClr val="F4F2FA"/>
                    </a:solidFill>
                  </a:tcPr>
                </a:tc>
                <a:tc>
                  <a:txBody>
                    <a:bodyPr/>
                    <a:lstStyle/>
                    <a:p>
                      <a:r>
                        <a:rPr sz="1200" b="0" i="0">
                          <a:solidFill>
                            <a:srgbClr val="1A1440"/>
                          </a:solidFill>
                          <a:latin typeface="Calibri"/>
                        </a:rPr>
                        <a:t>A missing discount read as zero</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Which segment moved?</a:t>
                      </a:r>
                    </a:p>
                  </a:txBody>
                  <a:tcPr marL="101600" marR="101600" marT="38100" marB="38100" anchor="ctr">
                    <a:solidFill>
                      <a:srgbClr val="FFFFFF"/>
                    </a:solidFill>
                  </a:tcPr>
                </a:tc>
                <a:tc>
                  <a:txBody>
                    <a:bodyPr/>
                    <a:lstStyle/>
                    <a:p>
                      <a:r>
                        <a:rPr sz="1200" b="0" i="0">
                          <a:solidFill>
                            <a:srgbClr val="1A1440"/>
                          </a:solidFill>
                          <a:latin typeface="Calibri"/>
                        </a:rPr>
                        <a:t>The head of Retail-Plus</a:t>
                      </a:r>
                    </a:p>
                  </a:txBody>
                  <a:tcPr marL="101600" marR="101600" marT="38100" marB="38100" anchor="ctr">
                    <a:solidFill>
                      <a:srgbClr val="FFFFFF"/>
                    </a:solidFill>
                  </a:tcPr>
                </a:tc>
                <a:tc>
                  <a:txBody>
                    <a:bodyPr/>
                    <a:lstStyle/>
                    <a:p>
                      <a:r>
                        <a:rPr sz="1200" b="0" i="0">
                          <a:solidFill>
                            <a:srgbClr val="1A1440"/>
                          </a:solidFill>
                          <a:latin typeface="Calibri"/>
                        </a:rPr>
                        <a:t>Averages averaged</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Did customers pay more?</a:t>
                      </a:r>
                    </a:p>
                  </a:txBody>
                  <a:tcPr marL="101600" marR="101600" marT="38100" marB="38100" anchor="ctr">
                    <a:solidFill>
                      <a:srgbClr val="F4F2FA"/>
                    </a:solidFill>
                  </a:tcPr>
                </a:tc>
                <a:tc>
                  <a:txBody>
                    <a:bodyPr/>
                    <a:lstStyle/>
                    <a:p>
                      <a:r>
                        <a:rPr sz="1200" b="0" i="0">
                          <a:solidFill>
                            <a:srgbClr val="1A1440"/>
                          </a:solidFill>
                          <a:latin typeface="Calibri"/>
                        </a:rPr>
                        <a:t>Marketing, on price</a:t>
                      </a:r>
                    </a:p>
                  </a:txBody>
                  <a:tcPr marL="101600" marR="101600" marT="38100" marB="38100" anchor="ctr">
                    <a:solidFill>
                      <a:srgbClr val="F4F2FA"/>
                    </a:solidFill>
                  </a:tcPr>
                </a:tc>
                <a:tc>
                  <a:txBody>
                    <a:bodyPr/>
                    <a:lstStyle/>
                    <a:p>
                      <a:r>
                        <a:rPr sz="1200" b="0" i="0">
                          <a:solidFill>
                            <a:srgbClr val="1A1440"/>
                          </a:solidFill>
                          <a:latin typeface="Calibri"/>
                        </a:rPr>
                        <a:t>A blended rate read as a price rise</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Were customers lost?</a:t>
                      </a:r>
                    </a:p>
                  </a:txBody>
                  <a:tcPr marL="101600" marR="101600" marT="38100" marB="38100" anchor="ctr">
                    <a:solidFill>
                      <a:srgbClr val="FFFFFF"/>
                    </a:solidFill>
                  </a:tcPr>
                </a:tc>
                <a:tc>
                  <a:txBody>
                    <a:bodyPr/>
                    <a:lstStyle/>
                    <a:p>
                      <a:r>
                        <a:rPr sz="1200" b="0" i="0">
                          <a:solidFill>
                            <a:srgbClr val="1A1440"/>
                          </a:solidFill>
                          <a:latin typeface="Calibri"/>
                        </a:rPr>
                        <a:t>Marketing</a:t>
                      </a:r>
                    </a:p>
                  </a:txBody>
                  <a:tcPr marL="101600" marR="101600" marT="38100" marB="38100" anchor="ctr">
                    <a:solidFill>
                      <a:srgbClr val="FFFFFF"/>
                    </a:solidFill>
                  </a:tcPr>
                </a:tc>
                <a:tc>
                  <a:txBody>
                    <a:bodyPr/>
                    <a:lstStyle/>
                    <a:p>
                      <a:r>
                        <a:rPr sz="1200" b="0" i="0">
                          <a:solidFill>
                            <a:srgbClr val="1A1440"/>
                          </a:solidFill>
                          <a:latin typeface="Calibri"/>
                        </a:rPr>
                        <a:t>A helper that drops a segment</a:t>
                      </a:r>
                    </a:p>
                  </a:txBody>
                  <a:tcPr marL="101600" marR="101600" marT="38100" marB="38100" anchor="ctr">
                    <a:solidFill>
                      <a:srgbClr val="FFFFFF"/>
                    </a:solidFill>
                  </a:tcPr>
                </a:tc>
              </a:tr>
              <a:tr h="335280">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Did the button do it?</a:t>
                      </a:r>
                    </a:p>
                  </a:txBody>
                  <a:tcPr marL="101600" marR="101600" marT="38100" marB="38100" anchor="ctr">
                    <a:solidFill>
                      <a:srgbClr val="F4F2FA"/>
                    </a:solidFill>
                  </a:tcPr>
                </a:tc>
                <a:tc>
                  <a:txBody>
                    <a:bodyPr/>
                    <a:lstStyle/>
                    <a:p>
                      <a:r>
                        <a:rPr sz="1200" b="0" i="0">
                          <a:solidFill>
                            <a:srgbClr val="1A1440"/>
                          </a:solidFill>
                          <a:latin typeface="Calibri"/>
                        </a:rPr>
                        <a:t>The tier and Meera</a:t>
                      </a:r>
                    </a:p>
                  </a:txBody>
                  <a:tcPr marL="101600" marR="101600" marT="38100" marB="38100" anchor="ctr">
                    <a:solidFill>
                      <a:srgbClr val="F4F2FA"/>
                    </a:solidFill>
                  </a:tcPr>
                </a:tc>
                <a:tc>
                  <a:txBody>
                    <a:bodyPr/>
                    <a:lstStyle/>
                    <a:p>
                      <a:r>
                        <a:rPr sz="1200" b="0" i="0">
                          <a:solidFill>
                            <a:srgbClr val="1A1440"/>
                          </a:solidFill>
                          <a:latin typeface="Calibri"/>
                        </a:rPr>
                        <a:t>A cause blamed for the whole fall</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2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001768"/>
            <a:ext cx="237744" cy="237744"/>
          </a:xfrm>
          <a:prstGeom prst="rect">
            <a:avLst/>
          </a:prstGeom>
        </p:spPr>
      </p:pic>
      <p:sp>
        <p:nvSpPr>
          <p:cNvPr id="13" name="TextBox 12"/>
          <p:cNvSpPr txBox="1"/>
          <p:nvPr/>
        </p:nvSpPr>
        <p:spPr>
          <a:xfrm>
            <a:off x="1399031" y="47061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925568"/>
            <a:ext cx="9987991" cy="682752"/>
          </a:xfrm>
          <a:prstGeom prst="rect">
            <a:avLst/>
          </a:prstGeom>
          <a:noFill/>
        </p:spPr>
        <p:txBody>
          <a:bodyPr wrap="square" anchor="t" lIns="0" rIns="0" tIns="0" bIns="0">
            <a:spAutoFit/>
          </a:bodyPr>
          <a:lstStyle/>
          <a:p>
            <a:r>
              <a:rPr sz="1500" b="0" i="0">
                <a:solidFill>
                  <a:srgbClr val="1A1440"/>
                </a:solidFill>
                <a:latin typeface="Calibri"/>
              </a:rPr>
              <a:t>Confirm, compare like with like, decompose, isolate, then hypothesise. Every chapter weighs two to four ways to answer its question, sizes them, picks one, and reaches the same number a second way.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88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Branch changes multiply, so they never simply add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tree's branches combine into the change in revenue?</a:t>
            </a:r>
          </a:p>
        </p:txBody>
      </p:sp>
      <p:pic>
        <p:nvPicPr>
          <p:cNvPr id="9" name="mermaid diagram" descr="127170f2dc7bea20.png"/>
          <p:cNvPicPr>
            <a:picLocks noChangeAspect="1"/>
          </p:cNvPicPr>
          <p:nvPr/>
        </p:nvPicPr>
        <p:blipFill>
          <a:blip r:embed="rId6"/>
          <a:stretch>
            <a:fillRect/>
          </a:stretch>
        </p:blipFill>
        <p:spPr>
          <a:xfrm>
            <a:off x="530352" y="1860341"/>
            <a:ext cx="4786326" cy="4161444"/>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Invented numbers: ten percent more customers and ten percent less frequency is 1.10 times 0.90, which is 0.99, a one percent fall, where adding them says flat.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88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drop real?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Did revenue really fall from Q1 to Q2, and by how much, once both sides cover the same weeks?</a:t>
            </a:r>
          </a:p>
        </p:txBody>
      </p:sp>
      <p:sp>
        <p:nvSpPr>
          <p:cNvPr id="10" name="Rounded Rectangle 9"/>
          <p:cNvSpPr/>
          <p:nvPr/>
        </p:nvSpPr>
        <p:spPr>
          <a:xfrm>
            <a:off x="731519"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drop real?</a:t>
            </a:r>
          </a:p>
        </p:txBody>
      </p:sp>
      <p:sp>
        <p:nvSpPr>
          <p:cNvPr id="11" name="Rounded Rectangle 10"/>
          <p:cNvSpPr/>
          <p:nvPr/>
        </p:nvSpPr>
        <p:spPr>
          <a:xfrm>
            <a:off x="221367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47407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customers pay more?</a:t>
            </a:r>
          </a:p>
        </p:txBody>
      </p:sp>
      <p:sp>
        <p:nvSpPr>
          <p:cNvPr id="14" name="Rounded Rectangle 13"/>
          <p:cNvSpPr/>
          <p:nvPr/>
        </p:nvSpPr>
        <p:spPr>
          <a:xfrm>
            <a:off x="731153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Were customers lost?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10 / 88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Meera replies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decides whether Marketing's Rs 12 crore acquisition request is urgent. Overstate the fall and crores move in a hurry on a lever nobody has checked; understate it and a real leak runs another quarter.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sizes the fall?</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options, sized on this file</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far did it fall?</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two closed quarters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Why does the slide say 25.9?</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dashboard tile's window</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the fall per week?</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rate with its window</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 the same 11 weeks say?</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While a quarter is still open</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the months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A second route, by month</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45" name="Oval 4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51" name="Oval 5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revenue fell 25.9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Meera being asked to fund, and on what number?</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2,10,00,000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ON MARKETING'S SLIDE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 April to 30 June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1,55,59,950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ON MARKETING'S SLIDE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dashboard tile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-25.9%</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HEADLINE</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fell by a quarter"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If revenue fell by a quarter in one quarter, Marketing says, the acquisition budget cannot wait.</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8" name="Oval 27"/>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4" name="Oval 3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DMart and Target compare like with like on purpose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real retailers match their windows before they report a change?</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tore_c62a884f662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INDIA</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DMart</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Like-for-like growth counts only stores open at least 24 months at the year's end; 8.1 percent in FY26.</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UNITED STATES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Target</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Comparable sales use a prior period of equivalent length; its 53-week fiscal 2023 carried an extra week worth $1,715 million.</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uler_ec66f5961a9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CONVENTION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NRF 4-5-4 calendar</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Comparable months hold the same number of weeks and weekends, so a quarter is 13 whole weeks.</a:t>
            </a:r>
          </a:p>
        </p:txBody>
      </p:sp>
      <p:sp>
        <p:nvSpPr>
          <p:cNvPr id="27" name="Rounded Rectangle 26"/>
          <p:cNvSpPr/>
          <p:nvPr/>
        </p:nvSpPr>
        <p:spPr>
          <a:xfrm>
            <a:off x="530352" y="42941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Two windows of different length never compare as totals; the retail industry built its calendars around that.</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32" name="Oval 3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8" name="Oval 3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Closed quarters fit, since both quarters have closed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should size the fall, and what does each leave out?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419214"/>
                <a:gridCol w="1428729"/>
                <a:gridCol w="1419843"/>
                <a:gridCol w="4863204"/>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read</a:t>
                      </a:r>
                    </a:p>
                  </a:txBody>
                  <a:tcPr marL="101600" marR="101600" marT="38100" marB="38100" anchor="ctr">
                    <a:solidFill>
                      <a:srgbClr val="1A0F5C"/>
                    </a:solidFill>
                  </a:tcPr>
                </a:tc>
                <a:tc>
                  <a:txBody>
                    <a:bodyPr/>
                    <a:lstStyle/>
                    <a:p>
                      <a:r>
                        <a:rPr sz="1250" b="1" i="0">
                          <a:solidFill>
                            <a:srgbClr val="FFFFFF"/>
                          </a:solidFill>
                          <a:latin typeface="Calibri"/>
                        </a:rPr>
                        <a:t>Answer</a:t>
                      </a:r>
                    </a:p>
                  </a:txBody>
                  <a:tcPr marL="101600" marR="101600" marT="38100" marB="38100" anchor="ctr">
                    <a:solidFill>
                      <a:srgbClr val="1A0F5C"/>
                    </a:solidFill>
                  </a:tcPr>
                </a:tc>
                <a:tc>
                  <a:txBody>
                    <a:bodyPr/>
                    <a:lstStyle/>
                    <a:p>
                      <a:r>
                        <a:rPr sz="1250" b="1" i="0">
                          <a:solidFill>
                            <a:srgbClr val="FFFFFF"/>
                          </a:solidFill>
                          <a:latin typeface="Calibri"/>
                        </a:rPr>
                        <a:t>What it leaves out</a:t>
                      </a:r>
                    </a:p>
                  </a:txBody>
                  <a:tcPr marL="101600" marR="101600" marT="38100" marB="38100" anchor="ctr">
                    <a:solidFill>
                      <a:srgbClr val="1A0F5C"/>
                    </a:solidFill>
                  </a:tcPr>
                </a:tc>
              </a:tr>
              <a:tr h="335280">
                <a:tc>
                  <a:txBody>
                    <a:bodyPr/>
                    <a:lstStyle/>
                    <a:p>
                      <a:r>
                        <a:rPr sz="1200" b="0" i="0">
                          <a:solidFill>
                            <a:srgbClr val="1A1440"/>
                          </a:solidFill>
                          <a:latin typeface="Calibri"/>
                        </a:rPr>
                        <a:t>A. Closed quarters as totals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c>
                  <a:txBody>
                    <a:bodyPr/>
                    <a:lstStyle/>
                    <a:p>
                      <a:r>
                        <a:rPr sz="1200" b="0" i="0">
                          <a:solidFill>
                            <a:srgbClr val="1A1440"/>
                          </a:solidFill>
                          <a:latin typeface="Calibri"/>
                        </a:rPr>
                        <a:t>Nothing, once both quarters have closed</a:t>
                      </a:r>
                    </a:p>
                  </a:txBody>
                  <a:tcPr marL="101600" marR="101600" marT="38100" marB="38100" anchor="ctr">
                    <a:solidFill>
                      <a:srgbClr val="FFFFFF"/>
                    </a:solidFill>
                  </a:tcPr>
                </a:tc>
              </a:tr>
              <a:tr h="335280">
                <a:tc>
                  <a:txBody>
                    <a:bodyPr/>
                    <a:lstStyle/>
                    <a:p>
                      <a:r>
                        <a:rPr sz="1200" b="0" i="0">
                          <a:solidFill>
                            <a:srgbClr val="1A1440"/>
                          </a:solidFill>
                          <a:latin typeface="Calibri"/>
                        </a:rPr>
                        <a:t>B. The same 11 weeks of each</a:t>
                      </a:r>
                    </a:p>
                  </a:txBody>
                  <a:tcPr marL="101600" marR="101600" marT="38100" marB="38100" anchor="ctr">
                    <a:solidFill>
                      <a:srgbClr val="F4F2FA"/>
                    </a:solidFill>
                  </a:tcPr>
                </a:tc>
                <a:tc>
                  <a:txBody>
                    <a:bodyPr/>
                    <a:lstStyle/>
                    <a:p>
                      <a:r>
                        <a:rPr sz="1200" b="0" i="0">
                          <a:solidFill>
                            <a:srgbClr val="1A1440"/>
                          </a:solidFill>
                          <a:latin typeface="Calibri"/>
                        </a:rPr>
                        <a:t>167</a:t>
                      </a:r>
                    </a:p>
                  </a:txBody>
                  <a:tcPr marL="101600" marR="101600" marT="38100" marB="38100" anchor="ctr">
                    <a:solidFill>
                      <a:srgbClr val="F4F2FA"/>
                    </a:solidFill>
                  </a:tcPr>
                </a:tc>
                <a:tc>
                  <a:txBody>
                    <a:bodyPr/>
                    <a:lstStyle/>
                    <a:p>
                      <a:r>
                        <a:rPr sz="1200" b="0" i="0">
                          <a:solidFill>
                            <a:srgbClr val="1A1440"/>
                          </a:solidFill>
                          <a:latin typeface="Calibri"/>
                        </a:rPr>
                        <a:t>-17.0%</a:t>
                      </a:r>
                    </a:p>
                  </a:txBody>
                  <a:tcPr marL="101600" marR="101600" marT="38100" marB="38100" anchor="ctr">
                    <a:solidFill>
                      <a:srgbClr val="F4F2FA"/>
                    </a:solidFill>
                  </a:tcPr>
                </a:tc>
                <a:tc>
                  <a:txBody>
                    <a:bodyPr/>
                    <a:lstStyle/>
                    <a:p>
                      <a:r>
                        <a:rPr sz="1200" b="0" i="0">
                          <a:solidFill>
                            <a:srgbClr val="1A1440"/>
                          </a:solidFill>
                          <a:latin typeface="Calibri"/>
                        </a:rPr>
                        <a:t>The last two weeks of each quarter</a:t>
                      </a:r>
                    </a:p>
                  </a:txBody>
                  <a:tcPr marL="101600" marR="101600" marT="38100" marB="38100" anchor="ctr">
                    <a:solidFill>
                      <a:srgbClr val="F4F2FA"/>
                    </a:solidFill>
                  </a:tcPr>
                </a:tc>
              </a:tr>
              <a:tr h="335280">
                <a:tc>
                  <a:txBody>
                    <a:bodyPr/>
                    <a:lstStyle/>
                    <a:p>
                      <a:r>
                        <a:rPr sz="1200" b="0" i="0">
                          <a:solidFill>
                            <a:srgbClr val="1A1440"/>
                          </a:solidFill>
                          <a:latin typeface="Calibri"/>
                        </a:rPr>
                        <a:t>C. Per day, closed quarters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-11.9%</a:t>
                      </a:r>
                    </a:p>
                  </a:txBody>
                  <a:tcPr marL="101600" marR="101600" marT="38100" marB="38100" anchor="ctr">
                    <a:solidFill>
                      <a:srgbClr val="FFFFFF"/>
                    </a:solidFill>
                  </a:tcPr>
                </a:tc>
                <a:tc>
                  <a:txBody>
                    <a:bodyPr/>
                    <a:lstStyle/>
                    <a:p>
                      <a:r>
                        <a:rPr sz="1200" b="0" i="0">
                          <a:solidFill>
                            <a:srgbClr val="1A1440"/>
                          </a:solidFill>
                          <a:latin typeface="Calibri"/>
                        </a:rPr>
                        <a:t>Nothing; it spreads 91 and 92 days</a:t>
                      </a:r>
                    </a:p>
                  </a:txBody>
                  <a:tcPr marL="101600" marR="101600" marT="38100" marB="38100" anchor="ctr">
                    <a:solidFill>
                      <a:srgbClr val="FFFFFF"/>
                    </a:solidFill>
                  </a:tcPr>
                </a:tc>
              </a:tr>
              <a:tr h="335280">
                <a:tc>
                  <a:txBody>
                    <a:bodyPr/>
                    <a:lstStyle/>
                    <a:p>
                      <a:r>
                        <a:rPr sz="1200" b="0" i="0">
                          <a:solidFill>
                            <a:srgbClr val="1A1440"/>
                          </a:solidFill>
                          <a:latin typeface="Calibri"/>
                        </a:rPr>
                        <a:t>D. Same quarter last year</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cannot run</a:t>
                      </a:r>
                    </a:p>
                  </a:txBody>
                  <a:tcPr marL="101600" marR="101600" marT="38100" marB="38100" anchor="ctr">
                    <a:solidFill>
                      <a:srgbClr val="F4F2FA"/>
                    </a:solidFill>
                  </a:tcPr>
                </a:tc>
                <a:tc>
                  <a:txBody>
                    <a:bodyPr/>
                    <a:lstStyle/>
                    <a:p>
                      <a:r>
                        <a:rPr sz="1200" b="0" i="0">
                          <a:solidFill>
                            <a:srgbClr val="1A1440"/>
                          </a:solidFill>
                          <a:latin typeface="Calibri"/>
                        </a:rPr>
                        <a:t>Everything, until last year's rows arrive</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because both quarters closed on 30 September at 13 weeks each. </a:t>
            </a:r>
            <a:r>
              <a:rPr sz="1500" b="1" i="0">
                <a:solidFill>
                  <a:srgbClr val="1A1440"/>
                </a:solidFill>
                <a:latin typeface="Calibri"/>
              </a:rPr>
              <a:t>What would change it:</a:t>
            </a:r>
            <a:r>
              <a:rPr sz="1500" b="0" i="0">
                <a:solidFill>
                  <a:srgbClr val="1A1440"/>
                </a:solidFill>
                <a:latin typeface="Calibri"/>
              </a:rPr>
              <a:t> Q2 still open means B; a question about the monsoon means D and a data request.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totals compare only when four things match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to match before two quarters' totals can be compared?</a:t>
            </a:r>
          </a:p>
        </p:txBody>
      </p:sp>
      <p:pic>
        <p:nvPicPr>
          <p:cNvPr id="9" name="mermaid diagram" descr="308f7d4d09f9cc5e.png"/>
          <p:cNvPicPr>
            <a:picLocks noChangeAspect="1"/>
          </p:cNvPicPr>
          <p:nvPr/>
        </p:nvPicPr>
        <p:blipFill>
          <a:blip r:embed="rId6"/>
          <a:stretch>
            <a:fillRect/>
          </a:stretch>
        </p:blipFill>
        <p:spPr>
          <a:xfrm>
            <a:off x="1213842" y="1682496"/>
            <a:ext cx="3419345" cy="4517136"/>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Check the four before you divide. Booked revenue counts every order placed, before any cancellation or return, on both sides.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dictionary adds revenue up by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over the orders total each quarter?</a:t>
            </a:r>
          </a:p>
        </p:txBody>
      </p:sp>
      <p:sp>
        <p:nvSpPr>
          <p:cNvPr id="9" name="Rounded Rectangle 8"/>
          <p:cNvSpPr/>
          <p:nvPr/>
        </p:nvSpPr>
        <p:spPr>
          <a:xfrm>
            <a:off x="530352" y="1806956"/>
            <a:ext cx="11130991" cy="298196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93497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93497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93497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136140"/>
            <a:ext cx="10673791" cy="257962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revenue = {}     # quarter -&gt; rupees booked</a:t>
            </a:r>
          </a:p>
          <a:p>
            <a:pPr>
              <a:spcAft>
                <a:spcPts val="200"/>
              </a:spcAft>
            </a:pPr>
            <a:r>
              <a:rPr sz="1400" b="0" i="0">
                <a:solidFill>
                  <a:srgbClr val="E4E1F1"/>
                </a:solidFill>
                <a:latin typeface="Consolas"/>
              </a:rPr>
              <a:t>orders = {}      # quarter -&gt; number of orders</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q = order["quarter"]</a:t>
            </a:r>
          </a:p>
          <a:p>
            <a:pPr>
              <a:spcAft>
                <a:spcPts val="200"/>
              </a:spcAft>
            </a:pPr>
            <a:r>
              <a:rPr sz="1400" b="0" i="0">
                <a:solidFill>
                  <a:srgbClr val="E4E1F1"/>
                </a:solidFill>
                <a:latin typeface="Consolas"/>
              </a:rPr>
              <a:t>    if q not in revenue:</a:t>
            </a:r>
          </a:p>
          <a:p>
            <a:pPr>
              <a:spcAft>
                <a:spcPts val="200"/>
              </a:spcAft>
            </a:pPr>
            <a:r>
              <a:rPr sz="1400" b="0" i="0">
                <a:solidFill>
                  <a:srgbClr val="E4E1F1"/>
                </a:solidFill>
                <a:latin typeface="Consolas"/>
              </a:rPr>
              <a:t>        revenue[q] = 0</a:t>
            </a:r>
          </a:p>
          <a:p>
            <a:pPr>
              <a:spcAft>
                <a:spcPts val="200"/>
              </a:spcAft>
            </a:pPr>
            <a:r>
              <a:rPr sz="1400" b="0" i="0">
                <a:solidFill>
                  <a:srgbClr val="E4E1F1"/>
                </a:solidFill>
                <a:latin typeface="Consolas"/>
              </a:rPr>
              <a:t>        orders[q] = 0</a:t>
            </a:r>
          </a:p>
          <a:p>
            <a:pPr>
              <a:spcAft>
                <a:spcPts val="200"/>
              </a:spcAft>
            </a:pPr>
            <a:r>
              <a:rPr sz="1400" b="0" i="0">
                <a:solidFill>
                  <a:srgbClr val="E4E1F1"/>
                </a:solidFill>
                <a:latin typeface="Consolas"/>
              </a:rPr>
              <a:t>    revenue[q] += order["amount"]</a:t>
            </a:r>
          </a:p>
          <a:p>
            <a:pPr>
              <a:spcAft>
                <a:spcPts val="200"/>
              </a:spcAft>
            </a:pPr>
            <a:r>
              <a:rPr sz="1400" b="0" i="0">
                <a:solidFill>
                  <a:srgbClr val="E4E1F1"/>
                </a:solidFill>
                <a:latin typeface="Consolas"/>
              </a:rPr>
              <a:t>    orders[q] += 1</a:t>
            </a:r>
          </a:p>
          <a:p>
            <a:pPr>
              <a:spcAft>
                <a:spcPts val="200"/>
              </a:spcAft>
            </a:pPr>
            <a:r>
              <a:rPr sz="1400" b="0" i="0">
                <a:solidFill>
                  <a:srgbClr val="E4E1F1"/>
                </a:solidFill>
                <a:latin typeface="Consolas"/>
              </a:rPr>
              <a:t>change = (revenue["Q2"] - revenue["Q1"]) / revenue["Q1"] * 100</a:t>
            </a:r>
          </a:p>
        </p:txBody>
      </p:sp>
      <p:sp>
        <p:nvSpPr>
          <p:cNvPr id="14" name="Rounded Rectangle 13"/>
          <p:cNvSpPr/>
          <p:nvPr/>
        </p:nvSpPr>
        <p:spPr>
          <a:xfrm>
            <a:off x="530352" y="49535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52857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5395468"/>
            <a:ext cx="237744" cy="237744"/>
          </a:xfrm>
          <a:prstGeom prst="rect">
            <a:avLst/>
          </a:prstGeom>
        </p:spPr>
      </p:pic>
      <p:sp>
        <p:nvSpPr>
          <p:cNvPr id="17" name="TextBox 16"/>
          <p:cNvSpPr txBox="1"/>
          <p:nvPr/>
        </p:nvSpPr>
        <p:spPr>
          <a:xfrm>
            <a:off x="1399031" y="50998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5319268"/>
            <a:ext cx="9987991" cy="682752"/>
          </a:xfrm>
          <a:prstGeom prst="rect">
            <a:avLst/>
          </a:prstGeom>
          <a:noFill/>
        </p:spPr>
        <p:txBody>
          <a:bodyPr wrap="square" anchor="t" lIns="0" rIns="0" tIns="0" bIns="0">
            <a:spAutoFit/>
          </a:bodyPr>
          <a:lstStyle/>
          <a:p>
            <a:r>
              <a:rPr sz="1500" b="0" i="0">
                <a:solidFill>
                  <a:srgbClr val="1A1440"/>
                </a:solidFill>
                <a:latin typeface="Calibri"/>
              </a:rPr>
              <a:t>A key seen for the first time starts at zero, and every order adds to its own quarter. This accumulator is the tool the whole day grows.</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1" name="Oval 20"/>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5" name="Oval 24"/>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7" name="Oval 26"/>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far did revenue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Both quarters closed on 13 weeks: what change does the accumulator print?</a:t>
            </a:r>
          </a:p>
        </p:txBody>
      </p:sp>
      <p:pic>
        <p:nvPicPr>
          <p:cNvPr id="9" name="mermaid diagram" descr="6b6d0ab5b8a66567.png"/>
          <p:cNvPicPr>
            <a:picLocks noChangeAspect="1"/>
          </p:cNvPicPr>
          <p:nvPr/>
        </p:nvPicPr>
        <p:blipFill>
          <a:blip r:embed="rId5"/>
          <a:stretch>
            <a:fillRect/>
          </a:stretch>
        </p:blipFill>
        <p:spPr>
          <a:xfrm>
            <a:off x="3524097" y="1942433"/>
            <a:ext cx="5143500" cy="3043237"/>
          </a:xfrm>
          <a:prstGeom prst="rect">
            <a:avLst/>
          </a:prstGeom>
        </p:spPr>
      </p:pic>
      <p:sp>
        <p:nvSpPr>
          <p:cNvPr id="10" name="Rounded Rectangle 9"/>
          <p:cNvSpPr/>
          <p:nvPr/>
        </p:nvSpPr>
        <p:spPr>
          <a:xfrm>
            <a:off x="530352" y="513197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5999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5084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before it runs: a) it fell about 26 percent; b) it fell about 11 percent; c) it fell about 5 percent; d) it rose.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11.0 percent, Rs 23,00,000 on 13 weeks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Both quarters closed on 13 weeks: what change does the accumulator print?</a:t>
            </a:r>
          </a:p>
        </p:txBody>
      </p:sp>
      <p:pic>
        <p:nvPicPr>
          <p:cNvPr id="9" name="mermaid diagram" descr="0bc25483ec959094.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114 orders plus 86 is 200, so every order sits in one quarter, and the change rounds to minus 11.0 percent. The answer is b.</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25.9 percent crisis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hurried analyst send if Q2 is read off the dashboard tile?</a:t>
            </a:r>
          </a:p>
        </p:txBody>
      </p:sp>
      <p:pic>
        <p:nvPicPr>
          <p:cNvPr id="9" name="mermaid diagram" descr="a37146c08409b527.png"/>
          <p:cNvPicPr>
            <a:picLocks noChangeAspect="1"/>
          </p:cNvPicPr>
          <p:nvPr/>
        </p:nvPicPr>
        <p:blipFill>
          <a:blip r:embed="rId6"/>
          <a:stretch>
            <a:fillRect/>
          </a:stretch>
        </p:blipFill>
        <p:spPr>
          <a:xfrm>
            <a:off x="2530719" y="1664208"/>
            <a:ext cx="7130255"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The arithmetic is right and the reading is wrong: a 25.9 percent crisis rushes the Rs 12 crore acquisition budget out of the door.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weeks does each side cover?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 is the closed quarter and Q2 is the tile as cut on 15 September: how long is each?</a:t>
            </a:r>
          </a:p>
        </p:txBody>
      </p:sp>
      <p:pic>
        <p:nvPicPr>
          <p:cNvPr id="9" name="mermaid diagram" descr="b33e59590f9b633b.png"/>
          <p:cNvPicPr>
            <a:picLocks noChangeAspect="1"/>
          </p:cNvPicPr>
          <p:nvPr/>
        </p:nvPicPr>
        <p:blipFill>
          <a:blip r:embed="rId5"/>
          <a:stretch>
            <a:fillRect/>
          </a:stretch>
        </p:blipFill>
        <p:spPr>
          <a:xfrm>
            <a:off x="3524097" y="1956816"/>
            <a:ext cx="51435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before the loop prints: a) 13 weeks against 13; b) 13 weeks against 11; c) 12 weeks against 12; d) 13 weeks against 9.</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13 weeks against 11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 is the closed quarter and Q2 is the tile as cut on 15 September: how long is each?</a:t>
            </a:r>
          </a:p>
        </p:txBody>
      </p:sp>
      <p:pic>
        <p:nvPicPr>
          <p:cNvPr id="9" name="mermaid diagram" descr="55fabce3bd0560fe.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tile stopped on 15 September, so it holds 11 weeks of trading against 13. </a:t>
            </a:r>
            <a:r>
              <a:rPr sz="1500" b="1" i="0">
                <a:solidFill>
                  <a:srgbClr val="1A1440"/>
                </a:solidFill>
                <a:latin typeface="Calibri"/>
              </a:rPr>
              <a:t>The check:</a:t>
            </a:r>
            <a:r>
              <a:rPr sz="1500" b="0" i="0">
                <a:solidFill>
                  <a:srgbClr val="1A1440"/>
                </a:solidFill>
                <a:latin typeface="Calibri"/>
              </a:rPr>
              <a:t> the first and last order date of each window, and the weeks between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closed quarters, and the fall halves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both sides cover the same thirteen weeks?</a:t>
            </a:r>
          </a:p>
        </p:txBody>
      </p:sp>
      <p:pic>
        <p:nvPicPr>
          <p:cNvPr id="9" name="mermaid diagram" descr="9a7212ba8b39b22e.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fall Meera acts on shrank from Rs 54,40,050 to Rs 23,00,000, from 25.9 to 11.0 percent; sixteen orders worth Rs 31,40,050 had not happened yet when the tile was read.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Per week the fall is 12.4%; same weeks say 17.0%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apart are the quarters as a rate, and on the same eleven weeks?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-12.4%</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 THE TILE AGAINST Q1</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14,14,541 against Rs 16,15,385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-11.9%</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DAY, CLOSED QUARTERS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92 days against 91</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SAME 11 WEEKS OF EACH</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 Apr to 16 Jun, 1 Jul to 15 Sep</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A rate names what it counted, what it divided by and over which dates. The same eleven weeks give minus 17.0 percent because a few large business orders make weeks lumpy, so once a quarter closes, compare closed quarters.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8" name="Oval 27"/>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4" name="Oval 3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Added by month, the fall is still 11.0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adding revenue up by month, ignoring the quarter field, give the same fall?</a:t>
            </a:r>
          </a:p>
        </p:txBody>
      </p:sp>
      <p:pic>
        <p:nvPicPr>
          <p:cNvPr id="9" name="mermaid diagram" descr="dc3eb2c99d3aabd9.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April to June add to Rs 2,10,00,000 and July to September to Rs 1,87,00,000: minus 11.0 percent both ways. </a:t>
            </a:r>
            <a:r>
              <a:rPr sz="1500" b="1" i="0">
                <a:solidFill>
                  <a:srgbClr val="1A1440"/>
                </a:solidFill>
                <a:latin typeface="Calibri"/>
              </a:rPr>
              <a:t>When to switch:</a:t>
            </a:r>
            <a:r>
              <a:rPr sz="1500" b="0" i="0">
                <a:solidFill>
                  <a:srgbClr val="1A1440"/>
                </a:solidFill>
                <a:latin typeface="Calibri"/>
              </a:rPr>
              <a:t> keep the quarter key for the headline, and use the month key once a question moves inside the quarter, as chapter 6's will.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88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the drop is real: 11.0 percent, Rs 23,00,000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drop real, and what did each question on the way answer?</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4728291"/>
                <a:gridCol w="6402699"/>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sizes the fall?</a:t>
                      </a:r>
                    </a:p>
                  </a:txBody>
                  <a:tcPr marL="101600" marR="101600" marT="38100" marB="38100" anchor="ctr">
                    <a:solidFill>
                      <a:srgbClr val="FFFFFF"/>
                    </a:solidFill>
                  </a:tcPr>
                </a:tc>
                <a:tc>
                  <a:txBody>
                    <a:bodyPr/>
                    <a:lstStyle/>
                    <a:p>
                      <a:r>
                        <a:rPr sz="900" b="0" i="0">
                          <a:solidFill>
                            <a:srgbClr val="1A1440"/>
                          </a:solidFill>
                          <a:latin typeface="Calibri"/>
                        </a:rPr>
                        <a:t>Closed quarters, since both closed on 13 weeks</a:t>
                      </a:r>
                    </a:p>
                  </a:txBody>
                  <a:tcPr marL="101600" marR="101600" marT="38100" marB="38100" anchor="ctr">
                    <a:solidFill>
                      <a:srgbClr val="FFFFFF"/>
                    </a:solidFill>
                  </a:tcPr>
                </a:tc>
              </a:tr>
              <a:tr h="310896">
                <a:tc>
                  <a:txBody>
                    <a:bodyPr/>
                    <a:lstStyle/>
                    <a:p>
                      <a:r>
                        <a:rPr sz="900" b="0" i="0">
                          <a:solidFill>
                            <a:srgbClr val="1A1440"/>
                          </a:solidFill>
                          <a:latin typeface="Calibri"/>
                        </a:rPr>
                        <a:t>2. How far did it fall?</a:t>
                      </a:r>
                    </a:p>
                  </a:txBody>
                  <a:tcPr marL="101600" marR="101600" marT="38100" marB="38100" anchor="ctr">
                    <a:solidFill>
                      <a:srgbClr val="F4F2FA"/>
                    </a:solidFill>
                  </a:tcPr>
                </a:tc>
                <a:tc>
                  <a:txBody>
                    <a:bodyPr/>
                    <a:lstStyle/>
                    <a:p>
                      <a:r>
                        <a:rPr sz="900" b="0" i="0">
                          <a:solidFill>
                            <a:srgbClr val="1A1440"/>
                          </a:solidFill>
                          <a:latin typeface="Calibri"/>
                        </a:rPr>
                        <a:t>Rs 23,00,000, which is minus 11.0 percent</a:t>
                      </a:r>
                    </a:p>
                  </a:txBody>
                  <a:tcPr marL="101600" marR="101600" marT="38100" marB="38100" anchor="ctr">
                    <a:solidFill>
                      <a:srgbClr val="F4F2FA"/>
                    </a:solidFill>
                  </a:tcPr>
                </a:tc>
              </a:tr>
              <a:tr h="310896">
                <a:tc>
                  <a:txBody>
                    <a:bodyPr/>
                    <a:lstStyle/>
                    <a:p>
                      <a:r>
                        <a:rPr sz="900" b="0" i="0">
                          <a:solidFill>
                            <a:srgbClr val="1A1440"/>
                          </a:solidFill>
                          <a:latin typeface="Calibri"/>
                        </a:rPr>
                        <a:t>3. Why does the slide say 25.9?</a:t>
                      </a:r>
                    </a:p>
                  </a:txBody>
                  <a:tcPr marL="101600" marR="101600" marT="38100" marB="38100" anchor="ctr">
                    <a:solidFill>
                      <a:srgbClr val="FFFFFF"/>
                    </a:solidFill>
                  </a:tcPr>
                </a:tc>
                <a:tc>
                  <a:txBody>
                    <a:bodyPr/>
                    <a:lstStyle/>
                    <a:p>
                      <a:r>
                        <a:rPr sz="900" b="0" i="0">
                          <a:solidFill>
                            <a:srgbClr val="1A1440"/>
                          </a:solidFill>
                          <a:latin typeface="Calibri"/>
                        </a:rPr>
                        <a:t>Its tile saw 11 weeks against Q1's 13</a:t>
                      </a:r>
                    </a:p>
                  </a:txBody>
                  <a:tcPr marL="101600" marR="101600" marT="38100" marB="38100" anchor="ctr">
                    <a:solidFill>
                      <a:srgbClr val="FFFFFF"/>
                    </a:solidFill>
                  </a:tcPr>
                </a:tc>
              </a:tr>
              <a:tr h="310896">
                <a:tc>
                  <a:txBody>
                    <a:bodyPr/>
                    <a:lstStyle/>
                    <a:p>
                      <a:r>
                        <a:rPr sz="900" b="0" i="0">
                          <a:solidFill>
                            <a:srgbClr val="1A1440"/>
                          </a:solidFill>
                          <a:latin typeface="Calibri"/>
                        </a:rPr>
                        <a:t>4. What is the fall per week?</a:t>
                      </a:r>
                    </a:p>
                  </a:txBody>
                  <a:tcPr marL="101600" marR="101600" marT="38100" marB="38100" anchor="ctr">
                    <a:solidFill>
                      <a:srgbClr val="F4F2FA"/>
                    </a:solidFill>
                  </a:tcPr>
                </a:tc>
                <a:tc>
                  <a:txBody>
                    <a:bodyPr/>
                    <a:lstStyle/>
                    <a:p>
                      <a:r>
                        <a:rPr sz="900" b="0" i="0">
                          <a:solidFill>
                            <a:srgbClr val="1A1440"/>
                          </a:solidFill>
                          <a:latin typeface="Calibri"/>
                        </a:rPr>
                        <a:t>Minus 12.4 percent, with the window named</a:t>
                      </a:r>
                    </a:p>
                  </a:txBody>
                  <a:tcPr marL="101600" marR="101600" marT="38100" marB="38100" anchor="ctr">
                    <a:solidFill>
                      <a:srgbClr val="F4F2FA"/>
                    </a:solidFill>
                  </a:tcPr>
                </a:tc>
              </a:tr>
              <a:tr h="310896">
                <a:tc>
                  <a:txBody>
                    <a:bodyPr/>
                    <a:lstStyle/>
                    <a:p>
                      <a:r>
                        <a:rPr sz="900" b="0" i="0">
                          <a:solidFill>
                            <a:srgbClr val="1A1440"/>
                          </a:solidFill>
                          <a:latin typeface="Calibri"/>
                        </a:rPr>
                        <a:t>5. What do the same 11 weeks say?</a:t>
                      </a:r>
                    </a:p>
                  </a:txBody>
                  <a:tcPr marL="101600" marR="101600" marT="38100" marB="38100" anchor="ctr">
                    <a:solidFill>
                      <a:srgbClr val="FFFFFF"/>
                    </a:solidFill>
                  </a:tcPr>
                </a:tc>
                <a:tc>
                  <a:txBody>
                    <a:bodyPr/>
                    <a:lstStyle/>
                    <a:p>
                      <a:r>
                        <a:rPr sz="900" b="0" i="0">
                          <a:solidFill>
                            <a:srgbClr val="1A1440"/>
                          </a:solidFill>
                          <a:latin typeface="Calibri"/>
                        </a:rPr>
                        <a:t>Minus 17.0 percent, since weeks are lumpy</a:t>
                      </a:r>
                    </a:p>
                  </a:txBody>
                  <a:tcPr marL="101600" marR="101600" marT="38100" marB="38100" anchor="ctr">
                    <a:solidFill>
                      <a:srgbClr val="FFFFFF"/>
                    </a:solidFill>
                  </a:tcPr>
                </a:tc>
              </a:tr>
              <a:tr h="310896">
                <a:tc>
                  <a:txBody>
                    <a:bodyPr/>
                    <a:lstStyle/>
                    <a:p>
                      <a:r>
                        <a:rPr sz="900" b="0" i="0">
                          <a:solidFill>
                            <a:srgbClr val="1A1440"/>
                          </a:solidFill>
                          <a:latin typeface="Calibri"/>
                        </a:rPr>
                        <a:t>6. Do the months agree?</a:t>
                      </a:r>
                    </a:p>
                  </a:txBody>
                  <a:tcPr marL="101600" marR="101600" marT="38100" marB="38100" anchor="ctr">
                    <a:solidFill>
                      <a:srgbClr val="F4F2FA"/>
                    </a:solidFill>
                  </a:tcPr>
                </a:tc>
                <a:tc>
                  <a:txBody>
                    <a:bodyPr/>
                    <a:lstStyle/>
                    <a:p>
                      <a:r>
                        <a:rPr sz="900" b="0" i="0">
                          <a:solidFill>
                            <a:srgbClr val="1A1440"/>
                          </a:solidFill>
                          <a:latin typeface="Calibri"/>
                        </a:rPr>
                        <a:t>Yes: minus 11.0 percent by month too</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"Say both windows out loud with their dates before you say a percentage, and say which option you picked and what would make you pick another."</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[F] What has to match before a quarter-on-quarter comparison is fair? And the design question: Q2 is still open; which comparison do you send?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88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moved?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branch of the revenue tree carries the Rs 23,00,000 fall: customers, how often they buy, or what each order is worth?</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213679"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moved?</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47407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customers pay more?</a:t>
            </a:r>
          </a:p>
        </p:txBody>
      </p:sp>
      <p:sp>
        <p:nvSpPr>
          <p:cNvPr id="14" name="Rounded Rectangle 13"/>
          <p:cNvSpPr/>
          <p:nvPr/>
        </p:nvSpPr>
        <p:spPr>
          <a:xfrm>
            <a:off x="731153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Were customers lost?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26 / 88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budget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which owner gets the problem: Marketing owns customers, the tier and product owners own how often customers buy, merchandising owns the basket, and Finance with Marketing owns price. A wrong split sends crores to the wrong owner for a quarter.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split of the fall?</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sized in rupees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Did customers fall?</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Distinct ids in each quarter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leaf moved?</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tree with both quarters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rupees each?</a:t>
            </a:r>
          </a:p>
        </p:txBody>
      </p:sp>
      <p:sp>
        <p:nvSpPr>
          <p:cNvPr id="32" name="TextBox 31"/>
          <p:cNvSpPr txBox="1"/>
          <p:nvPr/>
        </p:nvSpPr>
        <p:spPr>
          <a:xfrm>
            <a:off x="635187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One leaf at a time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share had a discount?</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field that is sometimes blank</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the symmetric split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A second route, with no order</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45" name="Oval 4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51" name="Oval 5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88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split decides who owns the Rs 23,00,000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Meera need rupees on each branch before anyone acts?</a:t>
            </a:r>
          </a:p>
        </p:txBody>
      </p:sp>
      <p:pic>
        <p:nvPicPr>
          <p:cNvPr id="9" name="mermaid diagram" descr="f5172a9ff23b1f70.png"/>
          <p:cNvPicPr>
            <a:picLocks noChangeAspect="1"/>
          </p:cNvPicPr>
          <p:nvPr/>
        </p:nvPicPr>
        <p:blipFill>
          <a:blip r:embed="rId6"/>
          <a:stretch>
            <a:fillRect/>
          </a:stretch>
        </p:blipFill>
        <p:spPr>
          <a:xfrm>
            <a:off x="530352" y="1740683"/>
            <a:ext cx="4786326" cy="4400761"/>
          </a:xfrm>
          <a:prstGeom prst="rect">
            <a:avLst/>
          </a:prstGeom>
        </p:spPr>
      </p:pic>
      <p:sp>
        <p:nvSpPr>
          <p:cNvPr id="10" name="Rounded Rectangle 9"/>
          <p:cNvSpPr/>
          <p:nvPr/>
        </p:nvSpPr>
        <p:spPr>
          <a:xfrm>
            <a:off x="5761917" y="1956816"/>
            <a:ext cx="5899425"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FFFFFF"/>
                </a:solidFill>
                <a:latin typeface="Calibri"/>
              </a:rPr>
              <a:t>"Are we losing customers, or are the ones we have buying less? Marketing says more customers. Prove it or disprove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Walmart report the same two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real companies split their growth into visits and basket?</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273.9 m</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BLINKIT ORDERS, Q4 FY26</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Rs 525 an order, after discounts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Rs 14,386 cr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BLINKIT NET ORDER VALUE</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times order value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+1.5% / +1.1%</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WALMART U.S. TRANSACTIONS / TICKET</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ticket is spend per visit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quick-commerce app and the world's largest store chain both answer "more visits or bigger baskets?" every quarter.</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2" name="Oval 3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bridge in the tree's order fits, with its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should split the fall between the branches?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961064"/>
                <a:gridCol w="4465898"/>
                <a:gridCol w="2704028"/>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Frequency is charged</a:t>
                      </a:r>
                    </a:p>
                  </a:txBody>
                  <a:tcPr marL="101600" marR="101600" marT="38100" marB="38100" anchor="ctr">
                    <a:solidFill>
                      <a:srgbClr val="1A0F5C"/>
                    </a:solidFill>
                  </a:tcPr>
                </a:tc>
                <a:tc>
                  <a:txBody>
                    <a:bodyPr/>
                    <a:lstStyle/>
                    <a:p>
                      <a:r>
                        <a:rPr sz="1450" b="1" i="0">
                          <a:solidFill>
                            <a:srgbClr val="FFFFFF"/>
                          </a:solidFill>
                          <a:latin typeface="Calibri"/>
                        </a:rPr>
                        <a:t>Depends on order?</a:t>
                      </a:r>
                    </a:p>
                  </a:txBody>
                  <a:tcPr marL="101600" marR="101600" marT="38100" marB="38100" anchor="ctr">
                    <a:solidFill>
                      <a:srgbClr val="1A0F5C"/>
                    </a:solidFill>
                  </a:tcPr>
                </a:tc>
              </a:tr>
              <a:tr h="369824">
                <a:tc>
                  <a:txBody>
                    <a:bodyPr/>
                    <a:lstStyle/>
                    <a:p>
                      <a:r>
                        <a:rPr sz="1400" b="0" i="0">
                          <a:solidFill>
                            <a:srgbClr val="1A1440"/>
                          </a:solidFill>
                          <a:latin typeface="Calibri"/>
                        </a:rPr>
                        <a:t>A. Leaf percentages only</a:t>
                      </a:r>
                    </a:p>
                  </a:txBody>
                  <a:tcPr marL="101600" marR="101600" marT="38100" marB="38100" anchor="ctr">
                    <a:solidFill>
                      <a:srgbClr val="FFFFFF"/>
                    </a:solidFill>
                  </a:tcPr>
                </a:tc>
                <a:tc>
                  <a:txBody>
                    <a:bodyPr/>
                    <a:lstStyle/>
                    <a:p>
                      <a:r>
                        <a:rPr sz="1400" b="0" i="0">
                          <a:solidFill>
                            <a:srgbClr val="1A1440"/>
                          </a:solidFill>
                          <a:latin typeface="Calibri"/>
                        </a:rPr>
                        <a:t>no rupees: percentages do not add</a:t>
                      </a:r>
                    </a:p>
                  </a:txBody>
                  <a:tcPr marL="101600" marR="101600" marT="38100" marB="38100" anchor="ctr">
                    <a:solidFill>
                      <a:srgbClr val="FFFFFF"/>
                    </a:solidFill>
                  </a:tcPr>
                </a:tc>
                <a:tc>
                  <a:txBody>
                    <a:bodyPr/>
                    <a:lstStyle/>
                    <a:p>
                      <a:r>
                        <a:rPr sz="1400" b="0" i="0">
                          <a:solidFill>
                            <a:srgbClr val="1A1440"/>
                          </a:solidFill>
                          <a:latin typeface="Calibri"/>
                        </a:rPr>
                        <a:t>no</a:t>
                      </a:r>
                    </a:p>
                  </a:txBody>
                  <a:tcPr marL="101600" marR="101600" marT="38100" marB="38100" anchor="ctr">
                    <a:solidFill>
                      <a:srgbClr val="FFFFFF"/>
                    </a:solidFill>
                  </a:tcPr>
                </a:tc>
              </a:tr>
              <a:tr h="369824">
                <a:tc>
                  <a:txBody>
                    <a:bodyPr/>
                    <a:lstStyle/>
                    <a:p>
                      <a:r>
                        <a:rPr sz="1400" b="0" i="0">
                          <a:solidFill>
                            <a:srgbClr val="1A1440"/>
                          </a:solidFill>
                          <a:latin typeface="Calibri"/>
                        </a:rPr>
                        <a:t>B. Bridge in the tree's order</a:t>
                      </a:r>
                    </a:p>
                  </a:txBody>
                  <a:tcPr marL="101600" marR="101600" marT="38100" marB="38100" anchor="ctr">
                    <a:solidFill>
                      <a:srgbClr val="F4F2FA"/>
                    </a:solidFill>
                  </a:tcPr>
                </a:tc>
                <a:tc>
                  <a:txBody>
                    <a:bodyPr/>
                    <a:lstStyle/>
                    <a:p>
                      <a:r>
                        <a:rPr sz="1400" b="0" i="0">
                          <a:solidFill>
                            <a:srgbClr val="1A1440"/>
                          </a:solidFill>
                          <a:latin typeface="Calibri"/>
                        </a:rPr>
                        <a:t>-Rs 51,57,895</a:t>
                      </a:r>
                    </a:p>
                  </a:txBody>
                  <a:tcPr marL="101600" marR="101600" marT="38100" marB="38100" anchor="ctr">
                    <a:solidFill>
                      <a:srgbClr val="F4F2FA"/>
                    </a:solidFill>
                  </a:tcPr>
                </a:tc>
                <a:tc>
                  <a:txBody>
                    <a:bodyPr/>
                    <a:lstStyle/>
                    <a:p>
                      <a:r>
                        <a:rPr sz="1400" b="0" i="0">
                          <a:solidFill>
                            <a:srgbClr val="1A1440"/>
                          </a:solidFill>
                          <a:latin typeface="Calibri"/>
                        </a:rPr>
                        <a:t>yes</a:t>
                      </a:r>
                    </a:p>
                  </a:txBody>
                  <a:tcPr marL="101600" marR="101600" marT="38100" marB="38100" anchor="ctr">
                    <a:solidFill>
                      <a:srgbClr val="F4F2FA"/>
                    </a:solidFill>
                  </a:tcPr>
                </a:tc>
              </a:tr>
              <a:tr h="369824">
                <a:tc>
                  <a:txBody>
                    <a:bodyPr/>
                    <a:lstStyle/>
                    <a:p>
                      <a:r>
                        <a:rPr sz="1400" b="0" i="0">
                          <a:solidFill>
                            <a:srgbClr val="1A1440"/>
                          </a:solidFill>
                          <a:latin typeface="Calibri"/>
                        </a:rPr>
                        <a:t>B. Bridge, order reversed</a:t>
                      </a:r>
                    </a:p>
                  </a:txBody>
                  <a:tcPr marL="101600" marR="101600" marT="38100" marB="38100" anchor="ctr">
                    <a:solidFill>
                      <a:srgbClr val="FFFFFF"/>
                    </a:solidFill>
                  </a:tcPr>
                </a:tc>
                <a:tc>
                  <a:txBody>
                    <a:bodyPr/>
                    <a:lstStyle/>
                    <a:p>
                      <a:r>
                        <a:rPr sz="1400" b="0" i="0">
                          <a:solidFill>
                            <a:srgbClr val="1A1440"/>
                          </a:solidFill>
                          <a:latin typeface="Calibri"/>
                        </a:rPr>
                        <a:t>-Rs 60,88,372</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C. Symmetric (log-mean) split</a:t>
                      </a:r>
                    </a:p>
                  </a:txBody>
                  <a:tcPr marL="101600" marR="101600" marT="38100" marB="38100" anchor="ctr">
                    <a:solidFill>
                      <a:srgbClr val="F4F2FA"/>
                    </a:solidFill>
                  </a:tcPr>
                </a:tc>
                <a:tc>
                  <a:txBody>
                    <a:bodyPr/>
                    <a:lstStyle/>
                    <a:p>
                      <a:r>
                        <a:rPr sz="1400" b="0" i="0">
                          <a:solidFill>
                            <a:srgbClr val="1A1440"/>
                          </a:solidFill>
                          <a:latin typeface="Calibri"/>
                        </a:rPr>
                        <a:t>-Rs 55,88,480</a:t>
                      </a:r>
                    </a:p>
                  </a:txBody>
                  <a:tcPr marL="101600" marR="101600" marT="38100" marB="38100" anchor="ctr">
                    <a:solidFill>
                      <a:srgbClr val="F4F2FA"/>
                    </a:solidFill>
                  </a:tcPr>
                </a:tc>
                <a:tc>
                  <a:txBody>
                    <a:bodyPr/>
                    <a:lstStyle/>
                    <a:p>
                      <a:r>
                        <a:rPr sz="1400" b="0" i="0">
                          <a:solidFill>
                            <a:srgbClr val="1A1440"/>
                          </a:solidFill>
                          <a:latin typeface="Calibri"/>
                        </a:rPr>
                        <a:t>no</a:t>
                      </a:r>
                    </a:p>
                  </a:txBody>
                  <a:tcPr marL="101600" marR="101600" marT="38100" marB="38100" anchor="ctr">
                    <a:solidFill>
                      <a:srgbClr val="F4F2FA"/>
                    </a:solidFill>
                  </a:tcPr>
                </a:tc>
              </a:tr>
              <a:tr h="369824">
                <a:tc>
                  <a:txBody>
                    <a:bodyPr/>
                    <a:lstStyle/>
                    <a:p>
                      <a:r>
                        <a:rPr sz="1400" b="0" i="0">
                          <a:solidFill>
                            <a:srgbClr val="1A1440"/>
                          </a:solidFill>
                          <a:latin typeface="Calibri"/>
                        </a:rPr>
                        <a:t>D. Customer by customer</a:t>
                      </a:r>
                    </a:p>
                  </a:txBody>
                  <a:tcPr marL="101600" marR="101600" marT="38100" marB="38100" anchor="ctr">
                    <a:solidFill>
                      <a:srgbClr val="FFFFFF"/>
                    </a:solidFill>
                  </a:tcPr>
                </a:tc>
                <a:tc>
                  <a:txBody>
                    <a:bodyPr/>
                    <a:lstStyle/>
                    <a:p>
                      <a:r>
                        <a:rPr sz="1400" b="0" i="0">
                          <a:solidFill>
                            <a:srgbClr val="1A1440"/>
                          </a:solidFill>
                          <a:latin typeface="Calibri"/>
                        </a:rPr>
                        <a:t>69 rows before any total</a:t>
                      </a:r>
                    </a:p>
                  </a:txBody>
                  <a:tcPr marL="101600" marR="101600" marT="38100" marB="38100" anchor="ctr">
                    <a:solidFill>
                      <a:srgbClr val="FFFFFF"/>
                    </a:solidFill>
                  </a:tcPr>
                </a:tc>
                <a:tc>
                  <a:txBody>
                    <a:bodyPr/>
                    <a:lstStyle/>
                    <a:p>
                      <a:r>
                        <a:rPr sz="1400" b="0" i="0">
                          <a:solidFill>
                            <a:srgbClr val="1A1440"/>
                          </a:solidFill>
                          <a:latin typeface="Calibri"/>
                        </a:rPr>
                        <a:t>no</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with its order written beside it: it adds exactly and a CEO can follow it. </a:t>
            </a:r>
            <a:r>
              <a:rPr sz="1500" b="1" i="0">
                <a:solidFill>
                  <a:srgbClr val="1A1440"/>
                </a:solidFill>
                <a:latin typeface="Calibri"/>
              </a:rPr>
              <a:t>What would change it:</a:t>
            </a:r>
            <a:r>
              <a:rPr sz="1500" b="0" i="0">
                <a:solidFill>
                  <a:srgbClr val="1A1440"/>
                </a:solidFill>
                <a:latin typeface="Calibri"/>
              </a:rPr>
              <a:t> a split Finance rebuilds monthly goes symmetric; "which customers?" goes to D, in chapter 5.</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bridge changes one leaf at a time, in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bridge put rupees on each branch?</a:t>
            </a:r>
          </a:p>
        </p:txBody>
      </p:sp>
      <p:pic>
        <p:nvPicPr>
          <p:cNvPr id="9" name="mermaid diagram" descr="98b919a09c640d50.png"/>
          <p:cNvPicPr>
            <a:picLocks noChangeAspect="1"/>
          </p:cNvPicPr>
          <p:nvPr/>
        </p:nvPicPr>
        <p:blipFill>
          <a:blip r:embed="rId6"/>
          <a:stretch>
            <a:fillRect/>
          </a:stretch>
        </p:blipFill>
        <p:spPr>
          <a:xfrm>
            <a:off x="530352" y="1956816"/>
            <a:ext cx="11130991" cy="1545971"/>
          </a:xfrm>
          <a:prstGeom prst="rect">
            <a:avLst/>
          </a:prstGeom>
        </p:spPr>
      </p:pic>
      <p:sp>
        <p:nvSpPr>
          <p:cNvPr id="10" name="Rounded Rectangle 9"/>
          <p:cNvSpPr/>
          <p:nvPr/>
        </p:nvSpPr>
        <p:spPr>
          <a:xfrm>
            <a:off x="530352" y="3649091"/>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98132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091051"/>
            <a:ext cx="237744" cy="237744"/>
          </a:xfrm>
          <a:prstGeom prst="rect">
            <a:avLst/>
          </a:prstGeom>
        </p:spPr>
      </p:pic>
      <p:sp>
        <p:nvSpPr>
          <p:cNvPr id="13" name="TextBox 12"/>
          <p:cNvSpPr txBox="1"/>
          <p:nvPr/>
        </p:nvSpPr>
        <p:spPr>
          <a:xfrm>
            <a:off x="1399031" y="379539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014851"/>
            <a:ext cx="9987991" cy="682752"/>
          </a:xfrm>
          <a:prstGeom prst="rect">
            <a:avLst/>
          </a:prstGeom>
          <a:noFill/>
        </p:spPr>
        <p:txBody>
          <a:bodyPr wrap="square" anchor="t" lIns="0" rIns="0" tIns="0" bIns="0">
            <a:spAutoFit/>
          </a:bodyPr>
          <a:lstStyle/>
          <a:p>
            <a:r>
              <a:rPr sz="1500" b="0" i="0">
                <a:solidFill>
                  <a:srgbClr val="1A1440"/>
                </a:solidFill>
                <a:latin typeface="Calibri"/>
              </a:rPr>
              <a:t>Each step moves one leaf to its Q2 value and keeps the leaves not yet moved at Q1, so the steps add exactly to the change in revenue. Write the order beside the bridge.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of ids counts each customer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code count each customer once?</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orders_by_customer = {"Q1": {}, "Q2": {}}   # quarter -&gt; {customer_id: orders}</a:t>
            </a:r>
          </a:p>
          <a:p>
            <a:pPr>
              <a:spcAft>
                <a:spcPts val="200"/>
              </a:spcAft>
            </a:pPr>
            <a:r>
              <a:rPr sz="1400" b="0" i="0">
                <a:solidFill>
                  <a:srgbClr val="E4E1F1"/>
                </a:solidFill>
                <a:latin typeface="Consolas"/>
              </a:rPr>
              <a:t>for q in by_quarter:</a:t>
            </a:r>
          </a:p>
          <a:p>
            <a:pPr>
              <a:spcAft>
                <a:spcPts val="200"/>
              </a:spcAft>
            </a:pPr>
            <a:r>
              <a:rPr sz="1400" b="0" i="0">
                <a:solidFill>
                  <a:srgbClr val="E4E1F1"/>
                </a:solidFill>
                <a:latin typeface="Consolas"/>
              </a:rPr>
              <a:t>    for order in by_quarter[q]:</a:t>
            </a:r>
          </a:p>
          <a:p>
            <a:pPr>
              <a:spcAft>
                <a:spcPts val="200"/>
              </a:spcAft>
            </a:pPr>
            <a:r>
              <a:rPr sz="1400" b="0" i="0">
                <a:solidFill>
                  <a:srgbClr val="E4E1F1"/>
                </a:solidFill>
                <a:latin typeface="Consolas"/>
              </a:rPr>
              <a:t>        cid = order["customer_id"]</a:t>
            </a:r>
          </a:p>
          <a:p>
            <a:pPr>
              <a:spcAft>
                <a:spcPts val="200"/>
              </a:spcAft>
            </a:pPr>
            <a:r>
              <a:rPr sz="1400" b="0" i="0">
                <a:solidFill>
                  <a:srgbClr val="A9A3D2"/>
                </a:solidFill>
                <a:latin typeface="Consolas"/>
              </a:rPr>
              <a:t>        # a customer not seen yet this quarter has placed no orders in it so far</a:t>
            </a:r>
          </a:p>
          <a:p>
            <a:pPr>
              <a:spcAft>
                <a:spcPts val="200"/>
              </a:spcAft>
            </a:pPr>
            <a:r>
              <a:rPr sz="1400" b="0" i="0">
                <a:solidFill>
                  <a:srgbClr val="E4E1F1"/>
                </a:solidFill>
                <a:latin typeface="Consolas"/>
              </a:rPr>
              <a:t>        orders_by_customer[q][cid] = orders_by_customer[q].get(cid, 0) + 1</a:t>
            </a:r>
          </a:p>
          <a:p>
            <a:pPr>
              <a:spcAft>
                <a:spcPts val="200"/>
              </a:spcAft>
            </a:pPr>
            <a:r>
              <a:rPr sz="1400" b="0" i="0">
                <a:solidFill>
                  <a:srgbClr val="E4E1F1"/>
                </a:solidFill>
                <a:latin typeface="Consolas"/>
              </a:rPr>
              <a:t>customers = {"Q1": len(orders_by_customer["Q1"]), "Q2": len(orders_by_customer["Q2"])}</a:t>
            </a:r>
          </a:p>
        </p:txBody>
      </p:sp>
      <p:sp>
        <p:nvSpPr>
          <p:cNvPr id="14" name="Rounded Rectangle 13"/>
          <p:cNvSpPr/>
          <p:nvPr/>
        </p:nvSpPr>
        <p:spPr>
          <a:xfrm>
            <a:off x="530352" y="4345939"/>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80771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4917440"/>
            <a:ext cx="237744" cy="237744"/>
          </a:xfrm>
          <a:prstGeom prst="rect">
            <a:avLst/>
          </a:prstGeom>
        </p:spPr>
      </p:pic>
      <p:sp>
        <p:nvSpPr>
          <p:cNvPr id="17" name="TextBox 16"/>
          <p:cNvSpPr txBox="1"/>
          <p:nvPr/>
        </p:nvSpPr>
        <p:spPr>
          <a:xfrm>
            <a:off x="1399031" y="44922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4711700"/>
            <a:ext cx="9987991" cy="941832"/>
          </a:xfrm>
          <a:prstGeom prst="rect">
            <a:avLst/>
          </a:prstGeom>
          <a:noFill/>
        </p:spPr>
        <p:txBody>
          <a:bodyPr wrap="square" anchor="t" lIns="0" rIns="0" tIns="0" bIns="0">
            <a:spAutoFit/>
          </a:bodyPr>
          <a:lstStyle/>
          <a:p>
            <a:r>
              <a:rPr sz="1500" b="0" i="0">
                <a:solidFill>
                  <a:srgbClr val="1A1440"/>
                </a:solidFill>
                <a:latin typeface="Calibri"/>
              </a:rPr>
              <a:t>.get(cid, 0) supplies a default, and this default is right for a reason worth writing down: an id not seen yet has placed no orders so far. Monday counted rows as customers; the keys of this dictionary are the customers.</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1" name="Oval 20"/>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3" name="Oval 22"/>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5" name="Oval 24"/>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7" name="Oval 26"/>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customers bought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Orders fell from 114 to 86 while Marketing says customers are the problem: how many bought in Q2?</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69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distinct ids, April to June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to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down 24.6 percent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Q2's customer count: a) 52, since orders fell by a quarter; b) 69; c) 81; d) 86.</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69 customers, and the tree filled 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Orders fell from 114 to 86 while Marketing says customers are the problem: how many bought in Q2?</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569394"/>
                <a:gridCol w="3405530"/>
                <a:gridCol w="3241665"/>
                <a:gridCol w="914400"/>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Ratio</a:t>
                      </a:r>
                    </a:p>
                  </a:txBody>
                  <a:tcPr marL="101600" marR="101600" marT="38100" marB="38100" anchor="ctr">
                    <a:solidFill>
                      <a:srgbClr val="1A0F5C"/>
                    </a:solidFill>
                  </a:tcPr>
                </a:tc>
              </a:tr>
              <a:tr h="335280">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1.65 (114 over 69)</a:t>
                      </a:r>
                    </a:p>
                  </a:txBody>
                  <a:tcPr marL="101600" marR="101600" marT="38100" marB="38100" anchor="ctr">
                    <a:solidFill>
                      <a:srgbClr val="F4F2FA"/>
                    </a:solidFill>
                  </a:tcPr>
                </a:tc>
                <a:tc>
                  <a:txBody>
                    <a:bodyPr/>
                    <a:lstStyle/>
                    <a:p>
                      <a:r>
                        <a:rPr sz="1200" b="0" i="0">
                          <a:solidFill>
                            <a:srgbClr val="1A1440"/>
                          </a:solidFill>
                          <a:latin typeface="Calibri"/>
                        </a:rPr>
                        <a:t>1.25 (86 over 69)</a:t>
                      </a:r>
                    </a:p>
                  </a:txBody>
                  <a:tcPr marL="101600" marR="101600" marT="38100" marB="38100" anchor="ctr">
                    <a:solidFill>
                      <a:srgbClr val="F4F2FA"/>
                    </a:solidFill>
                  </a:tcPr>
                </a:tc>
                <a:tc>
                  <a:txBody>
                    <a:bodyPr/>
                    <a:lstStyle/>
                    <a:p>
                      <a:r>
                        <a:rPr sz="1200" b="0" i="0">
                          <a:solidFill>
                            <a:srgbClr val="1A1440"/>
                          </a:solidFill>
                          <a:latin typeface="Calibri"/>
                        </a:rPr>
                        <a:t>0.754</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1.180</a:t>
                      </a:r>
                    </a:p>
                  </a:txBody>
                  <a:tcPr marL="101600" marR="101600" marT="38100" marB="38100" anchor="ctr">
                    <a:solidFill>
                      <a:srgbClr val="FFFFFF"/>
                    </a:solidFill>
                  </a:tcPr>
                </a:tc>
              </a:tr>
              <a:tr h="335280">
                <a:tc>
                  <a:txBody>
                    <a:bodyPr/>
                    <a:lstStyle/>
                    <a:p>
                      <a:r>
                        <a:rPr sz="1200" b="0" i="0">
                          <a:solidFill>
                            <a:srgbClr val="1A1440"/>
                          </a:solidFill>
                          <a:latin typeface="Calibri"/>
                        </a:rPr>
                        <a:t>Revenue</a:t>
                      </a:r>
                    </a:p>
                  </a:txBody>
                  <a:tcPr marL="101600" marR="101600" marT="38100" marB="38100" anchor="ctr">
                    <a:solidFill>
                      <a:srgbClr val="F4F2FA"/>
                    </a:solidFill>
                  </a:tcPr>
                </a:tc>
                <a:tc>
                  <a:txBody>
                    <a:bodyPr/>
                    <a:lstStyle/>
                    <a:p>
                      <a:r>
                        <a:rPr sz="1200" b="0" i="0">
                          <a:solidFill>
                            <a:srgbClr val="1A1440"/>
                          </a:solidFill>
                          <a:latin typeface="Calibri"/>
                        </a:rPr>
                        <a:t>Rs 2,10,00,000</a:t>
                      </a:r>
                    </a:p>
                  </a:txBody>
                  <a:tcPr marL="101600" marR="101600" marT="38100" marB="38100" anchor="ctr">
                    <a:solidFill>
                      <a:srgbClr val="F4F2FA"/>
                    </a:solidFill>
                  </a:tcPr>
                </a:tc>
                <a:tc>
                  <a:txBody>
                    <a:bodyPr/>
                    <a:lstStyle/>
                    <a:p>
                      <a:r>
                        <a:rPr sz="1200" b="0" i="0">
                          <a:solidFill>
                            <a:srgbClr val="1A1440"/>
                          </a:solidFill>
                          <a:latin typeface="Calibri"/>
                        </a:rPr>
                        <a:t>Rs 1,87,00,000</a:t>
                      </a:r>
                    </a:p>
                  </a:txBody>
                  <a:tcPr marL="101600" marR="101600" marT="38100" marB="38100" anchor="ctr">
                    <a:solidFill>
                      <a:srgbClr val="F4F2FA"/>
                    </a:solidFill>
                  </a:tcPr>
                </a:tc>
                <a:tc>
                  <a:txBody>
                    <a:bodyPr/>
                    <a:lstStyle/>
                    <a:p>
                      <a:r>
                        <a:rPr sz="1200" b="0" i="0">
                          <a:solidFill>
                            <a:srgbClr val="1A1440"/>
                          </a:solidFill>
                          <a:latin typeface="Calibri"/>
                        </a:rPr>
                        <a:t>0.890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1.000 times 0.754 times 1.180 is 0.890, the revenue ratio; adding the percentages would have said minus 6.6. The answer is b.</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costs Rs 51,57,895; order value adds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rupees does each branch carry, one leaf at a time?</a:t>
            </a:r>
          </a:p>
        </p:txBody>
      </p:sp>
      <p:pic>
        <p:nvPicPr>
          <p:cNvPr id="9" name="mermaid diagram" descr="a7ceda988e2fd18b.png"/>
          <p:cNvPicPr>
            <a:picLocks noChangeAspect="1"/>
          </p:cNvPicPr>
          <p:nvPr/>
        </p:nvPicPr>
        <p:blipFill>
          <a:blip r:embed="rId5"/>
          <a:stretch>
            <a:fillRect/>
          </a:stretch>
        </p:blipFill>
        <p:spPr>
          <a:xfrm>
            <a:off x="530352" y="1956816"/>
            <a:ext cx="11130991" cy="1129748"/>
          </a:xfrm>
          <a:prstGeom prst="rect">
            <a:avLst/>
          </a:prstGeom>
        </p:spPr>
      </p:pic>
      <p:sp>
        <p:nvSpPr>
          <p:cNvPr id="10" name="Rounded Rectangle 9"/>
          <p:cNvSpPr/>
          <p:nvPr/>
        </p:nvSpPr>
        <p:spPr>
          <a:xfrm>
            <a:off x="530352" y="32328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608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17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Rs 0 less Rs 51,57,895 plus Rs 28,57,895 is minus Rs 23,00,000, the fall to the rupee. The customer branch contributes nothing, so Marketing's case for acquisition has no rupees behind it on this file.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ways past a KeyError each decide something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KeyError on "discount" say, and what does each way past it decide?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KeyError: 'discount'</a:t>
            </a:r>
          </a:p>
        </p:txBody>
      </p:sp>
      <p:graphicFrame>
        <p:nvGraphicFramePr>
          <p:cNvPr id="14" name="Table 13"/>
          <p:cNvGraphicFramePr>
            <a:graphicFrameLocks noGrp="1"/>
          </p:cNvGraphicFramePr>
          <p:nvPr/>
        </p:nvGraphicFramePr>
        <p:xfrm>
          <a:off x="530352" y="2831084"/>
          <a:ext cx="11130989" cy="1479296"/>
        </p:xfrm>
        <a:graphic>
          <a:graphicData uri="http://schemas.openxmlformats.org/drawingml/2006/table">
            <a:tbl>
              <a:tblPr firstRow="0" bandRow="0">
                <a:tableStyleId>{2D5ABB26-0587-4C30-8999-92F81FD0307C}</a:tableStyleId>
              </a:tblPr>
              <a:tblGrid>
                <a:gridCol w="3400705"/>
                <a:gridCol w="3400705"/>
                <a:gridCol w="4329579"/>
              </a:tblGrid>
              <a:tr h="369824">
                <a:tc>
                  <a:txBody>
                    <a:bodyPr/>
                    <a:lstStyle/>
                    <a:p>
                      <a:r>
                        <a:rPr sz="1450" b="1" i="0">
                          <a:solidFill>
                            <a:srgbClr val="FFFFFF"/>
                          </a:solidFill>
                          <a:latin typeface="Calibri"/>
                        </a:rPr>
                        <a:t>Way past it</a:t>
                      </a:r>
                    </a:p>
                  </a:txBody>
                  <a:tcPr marL="101600" marR="101600" marT="38100" marB="38100" anchor="ctr">
                    <a:solidFill>
                      <a:srgbClr val="1A0F5C"/>
                    </a:solidFill>
                  </a:tcPr>
                </a:tc>
                <a:tc>
                  <a:txBody>
                    <a:bodyPr/>
                    <a:lstStyle/>
                    <a:p>
                      <a:r>
                        <a:rPr sz="1450" b="1" i="0">
                          <a:solidFill>
                            <a:srgbClr val="FFFFFF"/>
                          </a:solidFill>
                          <a:latin typeface="Calibri"/>
                        </a:rPr>
                        <a:t>Python's name for it</a:t>
                      </a:r>
                    </a:p>
                  </a:txBody>
                  <a:tcPr marL="101600" marR="101600" marT="38100" marB="38100" anchor="ctr">
                    <a:solidFill>
                      <a:srgbClr val="1A0F5C"/>
                    </a:solidFill>
                  </a:tcPr>
                </a:tc>
                <a:tc>
                  <a:txBody>
                    <a:bodyPr/>
                    <a:lstStyle/>
                    <a:p>
                      <a:r>
                        <a:rPr sz="1450" b="1" i="0">
                          <a:solidFill>
                            <a:srgbClr val="FFFFFF"/>
                          </a:solidFill>
                          <a:latin typeface="Calibri"/>
                        </a:rPr>
                        <a:t>The decision it makes quietly</a:t>
                      </a:r>
                    </a:p>
                  </a:txBody>
                  <a:tcPr marL="101600" marR="101600" marT="38100" marB="38100" anchor="ctr">
                    <a:solidFill>
                      <a:srgbClr val="1A0F5C"/>
                    </a:solidFill>
                  </a:tcPr>
                </a:tc>
              </a:tr>
              <a:tr h="369824">
                <a:tc>
                  <a:txBody>
                    <a:bodyPr/>
                    <a:lstStyle/>
                    <a:p>
                      <a:r>
                        <a:rPr sz="1400" b="0" i="0">
                          <a:solidFill>
                            <a:srgbClr val="1A1440"/>
                          </a:solidFill>
                          <a:latin typeface="Calibri"/>
                        </a:rPr>
                        <a:t>if "discount" in order:</a:t>
                      </a:r>
                    </a:p>
                  </a:txBody>
                  <a:tcPr marL="101600" marR="101600" marT="38100" marB="38100" anchor="ctr">
                    <a:solidFill>
                      <a:srgbClr val="FFFFFF"/>
                    </a:solidFill>
                  </a:tcPr>
                </a:tc>
                <a:tc>
                  <a:txBody>
                    <a:bodyPr/>
                    <a:lstStyle/>
                    <a:p>
                      <a:r>
                        <a:rPr sz="1400" b="0" i="0">
                          <a:solidFill>
                            <a:srgbClr val="1A1440"/>
                          </a:solidFill>
                          <a:latin typeface="Calibri"/>
                        </a:rPr>
                        <a:t>Look before you leap</a:t>
                      </a:r>
                    </a:p>
                  </a:txBody>
                  <a:tcPr marL="101600" marR="101600" marT="38100" marB="38100" anchor="ctr">
                    <a:solidFill>
                      <a:srgbClr val="FFFFFF"/>
                    </a:solidFill>
                  </a:tcPr>
                </a:tc>
                <a:tc>
                  <a:txBody>
                    <a:bodyPr/>
                    <a:lstStyle/>
                    <a:p>
                      <a:r>
                        <a:rPr sz="1400" b="0" i="0">
                          <a:solidFill>
                            <a:srgbClr val="1A1440"/>
                          </a:solidFill>
                          <a:latin typeface="Calibri"/>
                        </a:rPr>
                        <a:t>Orders without it are skipped</a:t>
                      </a:r>
                    </a:p>
                  </a:txBody>
                  <a:tcPr marL="101600" marR="101600" marT="38100" marB="38100" anchor="ctr">
                    <a:solidFill>
                      <a:srgbClr val="FFFFFF"/>
                    </a:solidFill>
                  </a:tcPr>
                </a:tc>
              </a:tr>
              <a:tr h="369824">
                <a:tc>
                  <a:txBody>
                    <a:bodyPr/>
                    <a:lstStyle/>
                    <a:p>
                      <a:r>
                        <a:rPr sz="1400" b="0" i="0">
                          <a:solidFill>
                            <a:srgbClr val="1A1440"/>
                          </a:solidFill>
                          <a:latin typeface="Calibri"/>
                        </a:rPr>
                        <a:t>try: ... except KeyError:</a:t>
                      </a:r>
                    </a:p>
                  </a:txBody>
                  <a:tcPr marL="101600" marR="101600" marT="38100" marB="38100" anchor="ctr">
                    <a:solidFill>
                      <a:srgbClr val="F4F2FA"/>
                    </a:solidFill>
                  </a:tcPr>
                </a:tc>
                <a:tc>
                  <a:txBody>
                    <a:bodyPr/>
                    <a:lstStyle/>
                    <a:p>
                      <a:r>
                        <a:rPr sz="1400" b="0" i="0">
                          <a:solidFill>
                            <a:srgbClr val="1A1440"/>
                          </a:solidFill>
                          <a:latin typeface="Calibri"/>
                        </a:rPr>
                        <a:t>Easier to ask forgiveness</a:t>
                      </a:r>
                    </a:p>
                  </a:txBody>
                  <a:tcPr marL="101600" marR="101600" marT="38100" marB="38100" anchor="ctr">
                    <a:solidFill>
                      <a:srgbClr val="F4F2FA"/>
                    </a:solidFill>
                  </a:tcPr>
                </a:tc>
                <a:tc>
                  <a:txBody>
                    <a:bodyPr/>
                    <a:lstStyle/>
                    <a:p>
                      <a:r>
                        <a:rPr sz="1400" b="0" i="0">
                          <a:solidFill>
                            <a:srgbClr val="1A1440"/>
                          </a:solidFill>
                          <a:latin typeface="Calibri"/>
                        </a:rPr>
                        <a:t>Whatever the except branch does</a:t>
                      </a:r>
                    </a:p>
                  </a:txBody>
                  <a:tcPr marL="101600" marR="101600" marT="38100" marB="38100" anchor="ctr">
                    <a:solidFill>
                      <a:srgbClr val="F4F2FA"/>
                    </a:solidFill>
                  </a:tcPr>
                </a:tc>
              </a:tr>
              <a:tr h="369824">
                <a:tc>
                  <a:txBody>
                    <a:bodyPr/>
                    <a:lstStyle/>
                    <a:p>
                      <a:r>
                        <a:rPr sz="1400" b="0" i="0">
                          <a:solidFill>
                            <a:srgbClr val="1A1440"/>
                          </a:solidFill>
                          <a:latin typeface="Calibri"/>
                        </a:rPr>
                        <a:t>order.get("discount", 0)</a:t>
                      </a:r>
                    </a:p>
                  </a:txBody>
                  <a:tcPr marL="101600" marR="101600" marT="38100" marB="38100" anchor="ctr">
                    <a:solidFill>
                      <a:srgbClr val="FFFFFF"/>
                    </a:solidFill>
                  </a:tcPr>
                </a:tc>
                <a:tc>
                  <a:txBody>
                    <a:bodyPr/>
                    <a:lstStyle/>
                    <a:p>
                      <a:r>
                        <a:rPr sz="1400" b="0" i="0">
                          <a:solidFill>
                            <a:srgbClr val="1A1440"/>
                          </a:solidFill>
                          <a:latin typeface="Calibri"/>
                        </a:rPr>
                        <a:t>A default</a:t>
                      </a:r>
                    </a:p>
                  </a:txBody>
                  <a:tcPr marL="101600" marR="101600" marT="38100" marB="38100" anchor="ctr">
                    <a:solidFill>
                      <a:srgbClr val="FFFFFF"/>
                    </a:solidFill>
                  </a:tcPr>
                </a:tc>
                <a:tc>
                  <a:txBody>
                    <a:bodyPr/>
                    <a:lstStyle/>
                    <a:p>
                      <a:r>
                        <a:rPr sz="1400" b="0" i="0">
                          <a:solidFill>
                            <a:srgbClr val="1A1440"/>
                          </a:solidFill>
                          <a:latin typeface="Calibri"/>
                        </a:rPr>
                        <a:t>Absent becomes zero rupees</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half had no discount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orders carried a discount if a blank is read as zero?</a:t>
            </a:r>
          </a:p>
        </p:txBody>
      </p:sp>
      <p:pic>
        <p:nvPicPr>
          <p:cNvPr id="9" name="mermaid diagram" descr="a5ab49e5be021e19.png"/>
          <p:cNvPicPr>
            <a:picLocks noChangeAspect="1"/>
          </p:cNvPicPr>
          <p:nvPr/>
        </p:nvPicPr>
        <p:blipFill>
          <a:blip r:embed="rId5"/>
          <a:stretch>
            <a:fillRect/>
          </a:stretch>
        </p:blipFill>
        <p:spPr>
          <a:xfrm>
            <a:off x="780897" y="1956816"/>
            <a:ext cx="10629900" cy="1357312"/>
          </a:xfrm>
          <a:prstGeom prst="rect">
            <a:avLst/>
          </a:prstGeom>
        </p:spPr>
      </p:pic>
      <p:graphicFrame>
        <p:nvGraphicFramePr>
          <p:cNvPr id="10" name="Table 9"/>
          <p:cNvGraphicFramePr>
            <a:graphicFrameLocks noGrp="1"/>
          </p:cNvGraphicFramePr>
          <p:nvPr/>
        </p:nvGraphicFramePr>
        <p:xfrm>
          <a:off x="530352" y="3460432"/>
          <a:ext cx="11130989" cy="1341120"/>
        </p:xfrm>
        <a:graphic>
          <a:graphicData uri="http://schemas.openxmlformats.org/drawingml/2006/table">
            <a:tbl>
              <a:tblPr firstRow="0" bandRow="0">
                <a:tableStyleId>{2D5ABB26-0587-4C30-8999-92F81FD0307C}</a:tableStyleId>
              </a:tblPr>
              <a:tblGrid>
                <a:gridCol w="3491920"/>
                <a:gridCol w="2710802"/>
                <a:gridCol w="2381911"/>
                <a:gridCol w="2546356"/>
              </a:tblGrid>
              <a:tr h="335280">
                <a:tc>
                  <a:txBody>
                    <a:bodyPr/>
                    <a:lstStyle/>
                    <a:p>
                      <a:r>
                        <a:rPr sz="1250" b="1" i="0">
                          <a:solidFill>
                            <a:srgbClr val="FFFFFF"/>
                          </a:solidFill>
                          <a:latin typeface="Calibri"/>
                        </a:rPr>
                        <a:t>Invented order</a:t>
                      </a:r>
                    </a:p>
                  </a:txBody>
                  <a:tcPr marL="101600" marR="101600" marT="38100" marB="38100" anchor="ctr">
                    <a:solidFill>
                      <a:srgbClr val="1A0F5C"/>
                    </a:solidFill>
                  </a:tcPr>
                </a:tc>
                <a:tc>
                  <a:txBody>
                    <a:bodyPr/>
                    <a:lstStyle/>
                    <a:p>
                      <a:r>
                        <a:rPr sz="1250" b="1" i="0">
                          <a:solidFill>
                            <a:srgbClr val="FFFFFF"/>
                          </a:solidFill>
                          <a:latin typeface="Calibri"/>
                        </a:rPr>
                        <a:t>Discount field</a:t>
                      </a:r>
                    </a:p>
                  </a:txBody>
                  <a:tcPr marL="101600" marR="101600" marT="38100" marB="38100" anchor="ctr">
                    <a:solidFill>
                      <a:srgbClr val="1A0F5C"/>
                    </a:solidFill>
                  </a:tcPr>
                </a:tc>
                <a:tc>
                  <a:txBody>
                    <a:bodyPr/>
                    <a:lstStyle/>
                    <a:p>
                      <a:r>
                        <a:rPr sz="1250" b="1" i="0">
                          <a:solidFill>
                            <a:srgbClr val="FFFFFF"/>
                          </a:solidFill>
                          <a:latin typeface="Calibri"/>
                        </a:rPr>
                        <a:t>Read as zero</a:t>
                      </a:r>
                    </a:p>
                  </a:txBody>
                  <a:tcPr marL="101600" marR="101600" marT="38100" marB="38100" anchor="ctr">
                    <a:solidFill>
                      <a:srgbClr val="1A0F5C"/>
                    </a:solidFill>
                  </a:tcPr>
                </a:tc>
                <a:tc>
                  <a:txBody>
                    <a:bodyPr/>
                    <a:lstStyle/>
                    <a:p>
                      <a:r>
                        <a:rPr sz="1250" b="1" i="0">
                          <a:solidFill>
                            <a:srgbClr val="FFFFFF"/>
                          </a:solidFill>
                          <a:latin typeface="Calibri"/>
                        </a:rPr>
                        <a:t>Recorded only</a:t>
                      </a:r>
                    </a:p>
                  </a:txBody>
                  <a:tcPr marL="101600" marR="101600" marT="38100" marB="38100" anchor="ctr">
                    <a:solidFill>
                      <a:srgbClr val="1A0F5C"/>
                    </a:solidFill>
                  </a:tcPr>
                </a:tc>
              </a:tr>
              <a:tr h="335280">
                <a:tc>
                  <a:txBody>
                    <a:bodyPr/>
                    <a:lstStyle/>
                    <a:p>
                      <a:r>
                        <a:rPr sz="1200" b="0" i="0">
                          <a:solidFill>
                            <a:srgbClr val="1A1440"/>
                          </a:solidFill>
                          <a:latin typeface="Calibri"/>
                        </a:rPr>
                        <a:t>A, B</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r>
              <a:tr h="335280">
                <a:tc>
                  <a:txBody>
                    <a:bodyPr/>
                    <a:lstStyle/>
                    <a:p>
                      <a:r>
                        <a:rPr sz="1200" b="0" i="0">
                          <a:solidFill>
                            <a:srgbClr val="1A1440"/>
                          </a:solidFill>
                          <a:latin typeface="Calibri"/>
                        </a:rPr>
                        <a:t>C</a:t>
                      </a:r>
                    </a:p>
                  </a:txBody>
                  <a:tcPr marL="101600" marR="101600" marT="38100" marB="38100" anchor="ctr">
                    <a:solidFill>
                      <a:srgbClr val="F4F2FA"/>
                    </a:solidFill>
                  </a:tcPr>
                </a:tc>
                <a:tc>
                  <a:txBody>
                    <a:bodyPr/>
                    <a:lstStyle/>
                    <a:p>
                      <a:r>
                        <a:rPr sz="1200" b="0" i="0">
                          <a:solidFill>
                            <a:srgbClr val="1A1440"/>
                          </a:solidFill>
                          <a:latin typeface="Calibri"/>
                        </a:rPr>
                        <a:t>absent</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left out</a:t>
                      </a:r>
                    </a:p>
                  </a:txBody>
                  <a:tcPr marL="101600" marR="101600" marT="38100" marB="38100" anchor="ctr">
                    <a:solidFill>
                      <a:srgbClr val="F4F2FA"/>
                    </a:solidFill>
                  </a:tcPr>
                </a:tc>
              </a:tr>
              <a:tr h="335280">
                <a:tc>
                  <a:txBody>
                    <a:bodyPr/>
                    <a:lstStyle/>
                    <a:p>
                      <a:r>
                        <a:rPr sz="1200" b="0" i="0">
                          <a:solidFill>
                            <a:srgbClr val="1A1440"/>
                          </a:solidFill>
                          <a:latin typeface="Calibri"/>
                        </a:rPr>
                        <a:t>Share with a discount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1 of 3, 33%</a:t>
                      </a:r>
                    </a:p>
                  </a:txBody>
                  <a:tcPr marL="101600" marR="101600" marT="38100" marB="38100" anchor="ctr">
                    <a:solidFill>
                      <a:srgbClr val="FFFFFF"/>
                    </a:solidFill>
                  </a:tcPr>
                </a:tc>
                <a:tc>
                  <a:txBody>
                    <a:bodyPr/>
                    <a:lstStyle/>
                    <a:p>
                      <a:r>
                        <a:rPr sz="1200" b="0" i="0">
                          <a:solidFill>
                            <a:srgbClr val="1A1440"/>
                          </a:solidFill>
                          <a:latin typeface="Calibri"/>
                        </a:rPr>
                        <a:t>1 of 2, 50%</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were the 43 "no discount"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reading says 43 of Q2's 86 orders went without: how many of them record Rs 0?</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42.1%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ABSENT AS ZERO</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ABSENT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READ AS NONE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86 orders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43 Q2 orders read as "no discount", how many record Rs 0? a) all 43; b) 34; c) 17; d) none.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2" name="Oval 3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88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 recorded zeros and 26 unknowns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reading says 43 of Q2's 86 orders went without: how many of them record Rs 0?</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667442"/>
                <a:gridCol w="2808144"/>
                <a:gridCol w="2655404"/>
              </a:tblGrid>
              <a:tr h="369824">
                <a:tc>
                  <a:txBody>
                    <a:bodyPr/>
                    <a:lstStyle/>
                    <a:p>
                      <a:r>
                        <a:rPr sz="1450" b="1" i="0">
                          <a:solidFill>
                            <a:srgbClr val="FFFFFF"/>
                          </a:solidFill>
                          <a:latin typeface="Calibri"/>
                        </a:rPr>
                        <a:t>Share of orders with a discount</a:t>
                      </a:r>
                    </a:p>
                  </a:txBody>
                  <a:tcPr marL="101600" marR="101600" marT="38100" marB="38100" anchor="ctr">
                    <a:solidFill>
                      <a:srgbClr val="1A0F5C"/>
                    </a:solidFill>
                  </a:tcPr>
                </a:tc>
                <a:tc>
                  <a:txBody>
                    <a:bodyPr/>
                    <a:lstStyle/>
                    <a:p>
                      <a:r>
                        <a:rPr sz="1450" b="1" i="0">
                          <a:solidFill>
                            <a:srgbClr val="FFFFFF"/>
                          </a:solidFill>
                          <a:latin typeface="Calibri"/>
                        </a:rPr>
                        <a:t>Q1</a:t>
                      </a:r>
                    </a:p>
                  </a:txBody>
                  <a:tcPr marL="101600" marR="101600" marT="38100" marB="38100" anchor="ctr">
                    <a:solidFill>
                      <a:srgbClr val="1A0F5C"/>
                    </a:solidFill>
                  </a:tcPr>
                </a:tc>
                <a:tc>
                  <a:txBody>
                    <a:bodyPr/>
                    <a:lstStyle/>
                    <a:p>
                      <a:r>
                        <a:rPr sz="1450" b="1" i="0">
                          <a:solidFill>
                            <a:srgbClr val="FFFFFF"/>
                          </a:solidFill>
                          <a:latin typeface="Calibri"/>
                        </a:rPr>
                        <a:t>Q2</a:t>
                      </a:r>
                    </a:p>
                  </a:txBody>
                  <a:tcPr marL="101600" marR="101600" marT="38100" marB="38100" anchor="ctr">
                    <a:solidFill>
                      <a:srgbClr val="1A0F5C"/>
                    </a:solidFill>
                  </a:tcPr>
                </a:tc>
              </a:tr>
              <a:tr h="369824">
                <a:tc>
                  <a:txBody>
                    <a:bodyPr/>
                    <a:lstStyle/>
                    <a:p>
                      <a:r>
                        <a:rPr sz="1400" b="0" i="0">
                          <a:solidFill>
                            <a:srgbClr val="1A1440"/>
                          </a:solidFill>
                          <a:latin typeface="Calibri"/>
                        </a:rPr>
                        <a:t>Blanks read as zero</a:t>
                      </a:r>
                    </a:p>
                  </a:txBody>
                  <a:tcPr marL="101600" marR="101600" marT="38100" marB="38100" anchor="ctr">
                    <a:solidFill>
                      <a:srgbClr val="FFFFFF"/>
                    </a:solidFill>
                  </a:tcPr>
                </a:tc>
                <a:tc>
                  <a:txBody>
                    <a:bodyPr/>
                    <a:lstStyle/>
                    <a:p>
                      <a:r>
                        <a:rPr sz="1400" b="0" i="0">
                          <a:solidFill>
                            <a:srgbClr val="1A1440"/>
                          </a:solidFill>
                          <a:latin typeface="Calibri"/>
                        </a:rPr>
                        <a:t>42.1%, 48 of 114</a:t>
                      </a:r>
                    </a:p>
                  </a:txBody>
                  <a:tcPr marL="101600" marR="101600" marT="38100" marB="38100" anchor="ctr">
                    <a:solidFill>
                      <a:srgbClr val="FFFFFF"/>
                    </a:solidFill>
                  </a:tcPr>
                </a:tc>
                <a:tc>
                  <a:txBody>
                    <a:bodyPr/>
                    <a:lstStyle/>
                    <a:p>
                      <a:r>
                        <a:rPr sz="1400" b="0" i="0">
                          <a:solidFill>
                            <a:srgbClr val="1A1440"/>
                          </a:solidFill>
                          <a:latin typeface="Calibri"/>
                        </a:rPr>
                        <a:t>50.0%, 43 of 86</a:t>
                      </a:r>
                    </a:p>
                  </a:txBody>
                  <a:tcPr marL="101600" marR="101600" marT="38100" marB="38100" anchor="ctr">
                    <a:solidFill>
                      <a:srgbClr val="FFFFFF"/>
                    </a:solidFill>
                  </a:tcPr>
                </a:tc>
              </a:tr>
              <a:tr h="369824">
                <a:tc>
                  <a:txBody>
                    <a:bodyPr/>
                    <a:lstStyle/>
                    <a:p>
                      <a:r>
                        <a:rPr sz="1400" b="0" i="0">
                          <a:solidFill>
                            <a:srgbClr val="1A1440"/>
                          </a:solidFill>
                          <a:latin typeface="Calibri"/>
                        </a:rPr>
                        <a:t>Over orders that record the field</a:t>
                      </a:r>
                    </a:p>
                  </a:txBody>
                  <a:tcPr marL="101600" marR="101600" marT="38100" marB="38100" anchor="ctr">
                    <a:solidFill>
                      <a:srgbClr val="F4F2FA"/>
                    </a:solidFill>
                  </a:tcPr>
                </a:tc>
                <a:tc>
                  <a:txBody>
                    <a:bodyPr/>
                    <a:lstStyle/>
                    <a:p>
                      <a:r>
                        <a:rPr sz="1400" b="0" i="0">
                          <a:solidFill>
                            <a:srgbClr val="1A1440"/>
                          </a:solidFill>
                          <a:latin typeface="Calibri"/>
                        </a:rPr>
                        <a:t>58.5%, 48 of 82</a:t>
                      </a:r>
                    </a:p>
                  </a:txBody>
                  <a:tcPr marL="101600" marR="101600" marT="38100" marB="38100" anchor="ctr">
                    <a:solidFill>
                      <a:srgbClr val="F4F2FA"/>
                    </a:solidFill>
                  </a:tcPr>
                </a:tc>
                <a:tc>
                  <a:txBody>
                    <a:bodyPr/>
                    <a:lstStyle/>
                    <a:p>
                      <a:r>
                        <a:rPr sz="1400" b="0" i="0">
                          <a:solidFill>
                            <a:srgbClr val="1A1440"/>
                          </a:solidFill>
                          <a:latin typeface="Calibri"/>
                        </a:rPr>
                        <a:t>71.7%, 43 of 60</a:t>
                      </a:r>
                    </a:p>
                  </a:txBody>
                  <a:tcPr marL="101600" marR="101600" marT="38100" marB="38100" anchor="ctr">
                    <a:solidFill>
                      <a:srgbClr val="F4F2FA"/>
                    </a:solidFill>
                  </a:tcPr>
                </a:tc>
              </a:tr>
              <a:tr h="369824">
                <a:tc>
                  <a:txBody>
                    <a:bodyPr/>
                    <a:lstStyle/>
                    <a:p>
                      <a:r>
                        <a:rPr sz="1400" b="0" i="0">
                          <a:solidFill>
                            <a:srgbClr val="1A1440"/>
                          </a:solidFill>
                          <a:latin typeface="Calibri"/>
                        </a:rPr>
                        <a:t>Range, blanks unknown</a:t>
                      </a:r>
                    </a:p>
                  </a:txBody>
                  <a:tcPr marL="101600" marR="101600" marT="38100" marB="38100" anchor="ctr">
                    <a:solidFill>
                      <a:srgbClr val="FFFFFF"/>
                    </a:solidFill>
                  </a:tcPr>
                </a:tc>
                <a:tc>
                  <a:txBody>
                    <a:bodyPr/>
                    <a:lstStyle/>
                    <a:p>
                      <a:r>
                        <a:rPr sz="1400" b="0" i="0">
                          <a:solidFill>
                            <a:srgbClr val="1A1440"/>
                          </a:solidFill>
                          <a:latin typeface="Calibri"/>
                        </a:rPr>
                        <a:t>42.1% to 70.2%</a:t>
                      </a:r>
                    </a:p>
                  </a:txBody>
                  <a:tcPr marL="101600" marR="101600" marT="38100" marB="38100" anchor="ctr">
                    <a:solidFill>
                      <a:srgbClr val="FFFFFF"/>
                    </a:solidFill>
                  </a:tcPr>
                </a:tc>
                <a:tc>
                  <a:txBody>
                    <a:bodyPr/>
                    <a:lstStyle/>
                    <a:p>
                      <a:r>
                        <a:rPr sz="1400" b="0" i="0">
                          <a:solidFill>
                            <a:srgbClr val="1A1440"/>
                          </a:solidFill>
                          <a:latin typeface="Calibri"/>
                        </a:rPr>
                        <a:t>50.0% to 80.2%</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Write the rule down: "absent means not recorded; reported separately; never counted as zero". At Rs 150 on every Q2 order, the most anyone recorded, the discount branch holds at most Rs 12,900 of a Rs 23,00,000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88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symmetric split charges frequency Rs 55,88,480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split that chooses no order put the fall on the same branch?</a:t>
            </a:r>
          </a:p>
        </p:txBody>
      </p:sp>
      <p:pic>
        <p:nvPicPr>
          <p:cNvPr id="9" name="mermaid diagram" descr="90b144a5709ab102.png"/>
          <p:cNvPicPr>
            <a:picLocks noChangeAspect="1"/>
          </p:cNvPicPr>
          <p:nvPr/>
        </p:nvPicPr>
        <p:blipFill>
          <a:blip r:embed="rId5"/>
          <a:stretch>
            <a:fillRect/>
          </a:stretch>
        </p:blipFill>
        <p:spPr>
          <a:xfrm>
            <a:off x="3542901" y="1664208"/>
            <a:ext cx="5105891"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Keep the bridge for Meera, with its order beside it; go symmetric when two branches keep moving together and someone else rebuilds the split every month.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88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Orders per customer moved: Rs 51,57,895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moved, and what did each question on the way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019824"/>
                <a:gridCol w="7111166"/>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split of the fall?</a:t>
                      </a:r>
                    </a:p>
                  </a:txBody>
                  <a:tcPr marL="101600" marR="101600" marT="38100" marB="38100" anchor="ctr">
                    <a:solidFill>
                      <a:srgbClr val="FFFFFF"/>
                    </a:solidFill>
                  </a:tcPr>
                </a:tc>
                <a:tc>
                  <a:txBody>
                    <a:bodyPr/>
                    <a:lstStyle/>
                    <a:p>
                      <a:r>
                        <a:rPr sz="900" b="0" i="0">
                          <a:solidFill>
                            <a:srgbClr val="1A1440"/>
                          </a:solidFill>
                          <a:latin typeface="Calibri"/>
                        </a:rPr>
                        <a:t>The bridge in the tree's order, order stated</a:t>
                      </a:r>
                    </a:p>
                  </a:txBody>
                  <a:tcPr marL="101600" marR="101600" marT="38100" marB="38100" anchor="ctr">
                    <a:solidFill>
                      <a:srgbClr val="FFFFFF"/>
                    </a:solidFill>
                  </a:tcPr>
                </a:tc>
              </a:tr>
              <a:tr h="310896">
                <a:tc>
                  <a:txBody>
                    <a:bodyPr/>
                    <a:lstStyle/>
                    <a:p>
                      <a:r>
                        <a:rPr sz="900" b="0" i="0">
                          <a:solidFill>
                            <a:srgbClr val="1A1440"/>
                          </a:solidFill>
                          <a:latin typeface="Calibri"/>
                        </a:rPr>
                        <a:t>2. Did customers fall?</a:t>
                      </a:r>
                    </a:p>
                  </a:txBody>
                  <a:tcPr marL="101600" marR="101600" marT="38100" marB="38100" anchor="ctr">
                    <a:solidFill>
                      <a:srgbClr val="F4F2FA"/>
                    </a:solidFill>
                  </a:tcPr>
                </a:tc>
                <a:tc>
                  <a:txBody>
                    <a:bodyPr/>
                    <a:lstStyle/>
                    <a:p>
                      <a:r>
                        <a:rPr sz="900" b="0" i="0">
                          <a:solidFill>
                            <a:srgbClr val="1A1440"/>
                          </a:solidFill>
                          <a:latin typeface="Calibri"/>
                        </a:rPr>
                        <a:t>No: 69 in each quarter</a:t>
                      </a:r>
                    </a:p>
                  </a:txBody>
                  <a:tcPr marL="101600" marR="101600" marT="38100" marB="38100" anchor="ctr">
                    <a:solidFill>
                      <a:srgbClr val="F4F2FA"/>
                    </a:solidFill>
                  </a:tcPr>
                </a:tc>
              </a:tr>
              <a:tr h="310896">
                <a:tc>
                  <a:txBody>
                    <a:bodyPr/>
                    <a:lstStyle/>
                    <a:p>
                      <a:r>
                        <a:rPr sz="900" b="0" i="0">
                          <a:solidFill>
                            <a:srgbClr val="1A1440"/>
                          </a:solidFill>
                          <a:latin typeface="Calibri"/>
                        </a:rPr>
                        <a:t>3. Which leaf moved?</a:t>
                      </a:r>
                    </a:p>
                  </a:txBody>
                  <a:tcPr marL="101600" marR="101600" marT="38100" marB="38100" anchor="ctr">
                    <a:solidFill>
                      <a:srgbClr val="FFFFFF"/>
                    </a:solidFill>
                  </a:tcPr>
                </a:tc>
                <a:tc>
                  <a:txBody>
                    <a:bodyPr/>
                    <a:lstStyle/>
                    <a:p>
                      <a:r>
                        <a:rPr sz="900" b="0" i="0">
                          <a:solidFill>
                            <a:srgbClr val="1A1440"/>
                          </a:solidFill>
                          <a:latin typeface="Calibri"/>
                        </a:rPr>
                        <a:t>Orders per customer, 1.65 to 1.25</a:t>
                      </a:r>
                    </a:p>
                  </a:txBody>
                  <a:tcPr marL="101600" marR="101600" marT="38100" marB="38100" anchor="ctr">
                    <a:solidFill>
                      <a:srgbClr val="FFFFFF"/>
                    </a:solidFill>
                  </a:tcPr>
                </a:tc>
              </a:tr>
              <a:tr h="310896">
                <a:tc>
                  <a:txBody>
                    <a:bodyPr/>
                    <a:lstStyle/>
                    <a:p>
                      <a:r>
                        <a:rPr sz="900" b="0" i="0">
                          <a:solidFill>
                            <a:srgbClr val="1A1440"/>
                          </a:solidFill>
                          <a:latin typeface="Calibri"/>
                        </a:rPr>
                        <a:t>4. How many rupees each?</a:t>
                      </a:r>
                    </a:p>
                  </a:txBody>
                  <a:tcPr marL="101600" marR="101600" marT="38100" marB="38100" anchor="ctr">
                    <a:solidFill>
                      <a:srgbClr val="F4F2FA"/>
                    </a:solidFill>
                  </a:tcPr>
                </a:tc>
                <a:tc>
                  <a:txBody>
                    <a:bodyPr/>
                    <a:lstStyle/>
                    <a:p>
                      <a:r>
                        <a:rPr sz="900" b="0" i="0">
                          <a:solidFill>
                            <a:srgbClr val="1A1440"/>
                          </a:solidFill>
                          <a:latin typeface="Calibri"/>
                        </a:rPr>
                        <a:t>Frequency -Rs 51,57,895, order value +Rs 28,57,895</a:t>
                      </a:r>
                    </a:p>
                  </a:txBody>
                  <a:tcPr marL="101600" marR="101600" marT="38100" marB="38100" anchor="ctr">
                    <a:solidFill>
                      <a:srgbClr val="F4F2FA"/>
                    </a:solidFill>
                  </a:tcPr>
                </a:tc>
              </a:tr>
              <a:tr h="310896">
                <a:tc>
                  <a:txBody>
                    <a:bodyPr/>
                    <a:lstStyle/>
                    <a:p>
                      <a:r>
                        <a:rPr sz="900" b="0" i="0">
                          <a:solidFill>
                            <a:srgbClr val="1A1440"/>
                          </a:solidFill>
                          <a:latin typeface="Calibri"/>
                        </a:rPr>
                        <a:t>5. What share had a discount?</a:t>
                      </a:r>
                    </a:p>
                  </a:txBody>
                  <a:tcPr marL="101600" marR="101600" marT="38100" marB="38100" anchor="ctr">
                    <a:solidFill>
                      <a:srgbClr val="FFFFFF"/>
                    </a:solidFill>
                  </a:tcPr>
                </a:tc>
                <a:tc>
                  <a:txBody>
                    <a:bodyPr/>
                    <a:lstStyle/>
                    <a:p>
                      <a:r>
                        <a:rPr sz="900" b="0" i="0">
                          <a:solidFill>
                            <a:srgbClr val="1A1440"/>
                          </a:solidFill>
                          <a:latin typeface="Calibri"/>
                        </a:rPr>
                        <a:t>71.7% of recorded Q2 orders; the branch holds Rs 12,900 at most</a:t>
                      </a:r>
                    </a:p>
                  </a:txBody>
                  <a:tcPr marL="101600" marR="101600" marT="38100" marB="38100" anchor="ctr">
                    <a:solidFill>
                      <a:srgbClr val="FFFFFF"/>
                    </a:solidFill>
                  </a:tcPr>
                </a:tc>
              </a:tr>
              <a:tr h="310896">
                <a:tc>
                  <a:txBody>
                    <a:bodyPr/>
                    <a:lstStyle/>
                    <a:p>
                      <a:r>
                        <a:rPr sz="900" b="0" i="0">
                          <a:solidFill>
                            <a:srgbClr val="1A1440"/>
                          </a:solidFill>
                          <a:latin typeface="Calibri"/>
                        </a:rPr>
                        <a:t>6. Does the symmetric split agree?</a:t>
                      </a:r>
                    </a:p>
                  </a:txBody>
                  <a:tcPr marL="101600" marR="101600" marT="38100" marB="38100" anchor="ctr">
                    <a:solidFill>
                      <a:srgbClr val="F4F2FA"/>
                    </a:solidFill>
                  </a:tcPr>
                </a:tc>
                <a:tc>
                  <a:txBody>
                    <a:bodyPr/>
                    <a:lstStyle/>
                    <a:p>
                      <a:r>
                        <a:rPr sz="900" b="0" i="0">
                          <a:solidFill>
                            <a:srgbClr val="1A1440"/>
                          </a:solidFill>
                          <a:latin typeface="Calibri"/>
                        </a:rPr>
                        <a:t>Yes: the same branch, Rs 55,88,480</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"Customers held at 69 and the ones we have bought less often. Put the bridge in front of Meera with its order beside it, and do not call bigger orders good news until you know where they came from."</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How do you split a revenue change between customers, frequency and order value?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41 / 88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 moved?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of the four customer segments carries the fall in orders per customer, measured the same way for every segment and quarter?</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21367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81427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 moved?</a:t>
            </a:r>
          </a:p>
        </p:txBody>
      </p:sp>
      <p:sp>
        <p:nvSpPr>
          <p:cNvPr id="13" name="Rounded Rectangle 12"/>
          <p:cNvSpPr/>
          <p:nvPr/>
        </p:nvSpPr>
        <p:spPr>
          <a:xfrm>
            <a:off x="547407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customers pay more?</a:t>
            </a:r>
          </a:p>
        </p:txBody>
      </p:sp>
      <p:sp>
        <p:nvSpPr>
          <p:cNvPr id="14" name="Rounded Rectangle 13"/>
          <p:cNvSpPr/>
          <p:nvPr/>
        </p:nvSpPr>
        <p:spPr>
          <a:xfrm>
            <a:off x="731153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Were customers lost?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88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for the tier's 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the paid membership tier, decides whether his tier needs rescuing, and orders per member is his number. A wrong answer costs a tier nobody protects, or a quarter spent fixing one that was fine.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Copy, function or one pass?</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Eight groups, one definition</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tree_for agree?</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Chapter 2's numbers, reproduced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did Retail-Core move?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Rate and typical order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Business do?</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median against the range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roll-up say?</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segments back into one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one pass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A second route, by key</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45" name="Oval 4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7" name="Oval 4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51" name="Oval 5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asks if his tier slips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tier's head need to know, and how does each segment earn?</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"One of my members says the app's reorder button has been broken for six weeks. Is my tier the one slipping?"</a:t>
            </a:r>
          </a:p>
        </p:txBody>
      </p:sp>
      <p:graphicFrame>
        <p:nvGraphicFramePr>
          <p:cNvPr id="14" name="Table 13"/>
          <p:cNvGraphicFramePr>
            <a:graphicFrameLocks noGrp="1"/>
          </p:cNvGraphicFramePr>
          <p:nvPr/>
        </p:nvGraphicFramePr>
        <p:xfrm>
          <a:off x="530352" y="3243072"/>
          <a:ext cx="11130990" cy="1849120"/>
        </p:xfrm>
        <a:graphic>
          <a:graphicData uri="http://schemas.openxmlformats.org/drawingml/2006/table">
            <a:tbl>
              <a:tblPr firstRow="0" bandRow="0">
                <a:tableStyleId>{2D5ABB26-0587-4C30-8999-92F81FD0307C}</a:tableStyleId>
              </a:tblPr>
              <a:tblGrid>
                <a:gridCol w="3893206"/>
                <a:gridCol w="3618892"/>
                <a:gridCol w="3618892"/>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How it earns</a:t>
                      </a:r>
                    </a:p>
                  </a:txBody>
                  <a:tcPr marL="101600" marR="101600" marT="38100" marB="38100" anchor="ctr">
                    <a:solidFill>
                      <a:srgbClr val="1A0F5C"/>
                    </a:solidFill>
                  </a:tcPr>
                </a:tc>
                <a:tc>
                  <a:txBody>
                    <a:bodyPr/>
                    <a:lstStyle/>
                    <a:p>
                      <a:r>
                        <a:rPr sz="1450" b="1" i="0">
                          <a:solidFill>
                            <a:srgbClr val="FFFFFF"/>
                          </a:solidFill>
                          <a:latin typeface="Calibri"/>
                        </a:rPr>
                        <a:t>Watch first</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Many small orders</a:t>
                      </a:r>
                    </a:p>
                  </a:txBody>
                  <a:tcPr marL="101600" marR="101600" marT="38100" marB="38100" anchor="ctr">
                    <a:solidFill>
                      <a:srgbClr val="FFFFFF"/>
                    </a:solidFill>
                  </a:tcPr>
                </a:tc>
                <a:tc>
                  <a:txBody>
                    <a:bodyPr/>
                    <a:lstStyle/>
                    <a:p>
                      <a:r>
                        <a:rPr sz="1400" b="0" i="0">
                          <a:solidFill>
                            <a:srgbClr val="1A1440"/>
                          </a:solidFill>
                          <a:latin typeface="Calibri"/>
                        </a:rPr>
                        <a:t>Customers active</a:t>
                      </a:r>
                    </a:p>
                  </a:txBody>
                  <a:tcPr marL="101600" marR="101600" marT="38100" marB="38100" anchor="ctr">
                    <a:solidFill>
                      <a:srgbClr val="FFFFFF"/>
                    </a:solidFill>
                  </a:tcPr>
                </a:tc>
              </a:tr>
              <a:tr h="369824">
                <a:tc>
                  <a:txBody>
                    <a:bodyPr/>
                    <a:lstStyle/>
                    <a:p>
                      <a:r>
                        <a:rPr sz="1400" b="0" i="0">
                          <a:solidFill>
                            <a:srgbClr val="1A1440"/>
                          </a:solidFill>
                          <a:latin typeface="Calibri"/>
                        </a:rPr>
                        <a:t>Retail-Plus, the paid tier</a:t>
                      </a:r>
                    </a:p>
                  </a:txBody>
                  <a:tcPr marL="101600" marR="101600" marT="38100" marB="38100" anchor="ctr">
                    <a:solidFill>
                      <a:srgbClr val="F4F2FA"/>
                    </a:solidFill>
                  </a:tcPr>
                </a:tc>
                <a:tc>
                  <a:txBody>
                    <a:bodyPr/>
                    <a:lstStyle/>
                    <a:p>
                      <a:r>
                        <a:rPr sz="1400" b="0" i="0">
                          <a:solidFill>
                            <a:srgbClr val="1A1440"/>
                          </a:solidFill>
                          <a:latin typeface="Calibri"/>
                        </a:rPr>
                        <a:t>Members' repeat buying</a:t>
                      </a:r>
                    </a:p>
                  </a:txBody>
                  <a:tcPr marL="101600" marR="101600" marT="38100" marB="38100" anchor="ctr">
                    <a:solidFill>
                      <a:srgbClr val="F4F2FA"/>
                    </a:solidFill>
                  </a:tcPr>
                </a:tc>
                <a:tc>
                  <a:txBody>
                    <a:bodyPr/>
                    <a:lstStyle/>
                    <a:p>
                      <a:r>
                        <a:rPr sz="1400" b="0" i="0">
                          <a:solidFill>
                            <a:srgbClr val="1A1440"/>
                          </a:solidFill>
                          <a:latin typeface="Calibri"/>
                        </a:rPr>
                        <a:t>Orders per member</a:t>
                      </a:r>
                    </a:p>
                  </a:txBody>
                  <a:tcPr marL="101600" marR="101600" marT="38100" marB="38100" anchor="ctr">
                    <a:solidFill>
                      <a:srgbClr val="F4F2FA"/>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Few very large accounts</a:t>
                      </a:r>
                    </a:p>
                  </a:txBody>
                  <a:tcPr marL="101600" marR="101600" marT="38100" marB="38100" anchor="ctr">
                    <a:solidFill>
                      <a:srgbClr val="FFFFFF"/>
                    </a:solidFill>
                  </a:tcPr>
                </a:tc>
                <a:tc>
                  <a:txBody>
                    <a:bodyPr/>
                    <a:lstStyle/>
                    <a:p>
                      <a:r>
                        <a:rPr sz="1400" b="0" i="0">
                          <a:solidFill>
                            <a:srgbClr val="1A1440"/>
                          </a:solidFill>
                          <a:latin typeface="Calibri"/>
                        </a:rPr>
                        <a:t>Order timing per account</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Small discounted baskets</a:t>
                      </a:r>
                    </a:p>
                  </a:txBody>
                  <a:tcPr marL="101600" marR="101600" marT="38100" marB="38100" anchor="ctr">
                    <a:solidFill>
                      <a:srgbClr val="F4F2FA"/>
                    </a:solidFill>
                  </a:tcPr>
                </a:tc>
                <a:tc>
                  <a:txBody>
                    <a:bodyPr/>
                    <a:lstStyle/>
                    <a:p>
                      <a:r>
                        <a:rPr sz="1400" b="0" i="0">
                          <a:solidFill>
                            <a:srgbClr val="1A1440"/>
                          </a:solidFill>
                          <a:latin typeface="Calibri"/>
                        </a:rPr>
                        <a:t>Discount per order</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Costco reports its renewal rate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membership business report its segment beside the whole?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92.3%</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U.S. AND CANADA</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membership renewal rate, fiscal 2025</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89.8%</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WORLDWIDE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measure, all regions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membership business reports its rate by segment because the blend can hide the one that slips.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function fits: one definition, any subset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should compute the same numbers for eight groups?</a:t>
            </a:r>
          </a:p>
        </p:txBody>
      </p:sp>
      <p:pic>
        <p:nvPicPr>
          <p:cNvPr id="9" name="mermaid diagram" descr="0601c7293ef1a251.png"/>
          <p:cNvPicPr>
            <a:picLocks noChangeAspect="1"/>
          </p:cNvPicPr>
          <p:nvPr/>
        </p:nvPicPr>
        <p:blipFill>
          <a:blip r:embed="rId5"/>
          <a:stretch>
            <a:fillRect/>
          </a:stretch>
        </p:blipFill>
        <p:spPr>
          <a:xfrm>
            <a:off x="530352" y="2093010"/>
            <a:ext cx="4786326" cy="3696107"/>
          </a:xfrm>
          <a:prstGeom prst="rect">
            <a:avLst/>
          </a:prstGeom>
        </p:spPr>
      </p:pic>
      <p:graphicFrame>
        <p:nvGraphicFramePr>
          <p:cNvPr id="10" name="Table 9"/>
          <p:cNvGraphicFramePr>
            <a:graphicFrameLocks noGrp="1"/>
          </p:cNvGraphicFramePr>
          <p:nvPr/>
        </p:nvGraphicFramePr>
        <p:xfrm>
          <a:off x="5761917" y="1956816"/>
          <a:ext cx="5899423" cy="1341120"/>
        </p:xfrm>
        <a:graphic>
          <a:graphicData uri="http://schemas.openxmlformats.org/drawingml/2006/table">
            <a:tbl>
              <a:tblPr firstRow="0" bandRow="0">
                <a:tableStyleId>{2D5ABB26-0587-4C30-8999-92F81FD0307C}</a:tableStyleId>
              </a:tblPr>
              <a:tblGrid>
                <a:gridCol w="2510577"/>
                <a:gridCol w="914400"/>
                <a:gridCol w="1458401"/>
                <a:gridCol w="101604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Lines</a:t>
                      </a:r>
                    </a:p>
                  </a:txBody>
                  <a:tcPr marL="101600" marR="101600" marT="38100" marB="38100" anchor="ctr">
                    <a:solidFill>
                      <a:srgbClr val="1A0F5C"/>
                    </a:solidFill>
                  </a:tcPr>
                </a:tc>
                <a:tc>
                  <a:txBody>
                    <a:bodyPr/>
                    <a:lstStyle/>
                    <a:p>
                      <a:r>
                        <a:rPr sz="1250" b="1" i="0">
                          <a:solidFill>
                            <a:srgbClr val="FFFFFF"/>
                          </a:solidFill>
                          <a:latin typeface="Calibri"/>
                        </a:rPr>
                        <a:t>Places to edit</a:t>
                      </a:r>
                    </a:p>
                  </a:txBody>
                  <a:tcPr marL="101600" marR="101600" marT="38100" marB="38100" anchor="ctr">
                    <a:solidFill>
                      <a:srgbClr val="1A0F5C"/>
                    </a:solidFill>
                  </a:tcPr>
                </a:tc>
                <a:tc>
                  <a:txBody>
                    <a:bodyPr/>
                    <a:lstStyle/>
                    <a:p>
                      <a:r>
                        <a:rPr sz="1250" b="1" i="0">
                          <a:solidFill>
                            <a:srgbClr val="FFFFFF"/>
                          </a:solidFill>
                          <a:latin typeface="Calibri"/>
                        </a:rPr>
                        <a:t>Rows read</a:t>
                      </a:r>
                    </a:p>
                  </a:txBody>
                  <a:tcPr marL="101600" marR="101600" marT="38100" marB="38100" anchor="ctr">
                    <a:solidFill>
                      <a:srgbClr val="1A0F5C"/>
                    </a:solidFill>
                  </a:tcPr>
                </a:tc>
              </a:tr>
              <a:tr h="335280">
                <a:tc>
                  <a:txBody>
                    <a:bodyPr/>
                    <a:lstStyle/>
                    <a:p>
                      <a:r>
                        <a:rPr sz="1200" b="0" i="0">
                          <a:solidFill>
                            <a:srgbClr val="1A1440"/>
                          </a:solidFill>
                          <a:latin typeface="Calibri"/>
                        </a:rPr>
                        <a:t>A. Copy the loop per group</a:t>
                      </a:r>
                    </a:p>
                  </a:txBody>
                  <a:tcPr marL="101600" marR="101600" marT="38100" marB="38100" anchor="ctr">
                    <a:solidFill>
                      <a:srgbClr val="FFFFFF"/>
                    </a:solidFill>
                  </a:tcPr>
                </a:tc>
                <a:tc>
                  <a:txBody>
                    <a:bodyPr/>
                    <a:lstStyle/>
                    <a:p>
                      <a:r>
                        <a:rPr sz="1200" b="0" i="0">
                          <a:solidFill>
                            <a:srgbClr val="1A1440"/>
                          </a:solidFill>
                          <a:latin typeface="Calibri"/>
                        </a:rPr>
                        <a:t>72</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1,600</a:t>
                      </a:r>
                    </a:p>
                  </a:txBody>
                  <a:tcPr marL="101600" marR="101600" marT="38100" marB="38100" anchor="ctr">
                    <a:solidFill>
                      <a:srgbClr val="FFFFFF"/>
                    </a:solidFill>
                  </a:tcPr>
                </a:tc>
              </a:tr>
              <a:tr h="335280">
                <a:tc>
                  <a:txBody>
                    <a:bodyPr/>
                    <a:lstStyle/>
                    <a:p>
                      <a:r>
                        <a:rPr sz="1200" b="0" i="0">
                          <a:solidFill>
                            <a:srgbClr val="1A1440"/>
                          </a:solidFill>
                          <a:latin typeface="Calibri"/>
                        </a:rPr>
                        <a:t>B. A function, tree_for(rows)</a:t>
                      </a:r>
                    </a:p>
                  </a:txBody>
                  <a:tcPr marL="101600" marR="101600" marT="38100" marB="38100" anchor="ctr">
                    <a:solidFill>
                      <a:srgbClr val="F4F2FA"/>
                    </a:solidFill>
                  </a:tcPr>
                </a:tc>
                <a:tc>
                  <a:txBody>
                    <a:bodyPr/>
                    <a:lstStyle/>
                    <a:p>
                      <a:r>
                        <a:rPr sz="1200" b="0" i="0">
                          <a:solidFill>
                            <a:srgbClr val="1A1440"/>
                          </a:solidFill>
                          <a:latin typeface="Calibri"/>
                        </a:rPr>
                        <a:t>21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r>
              <a:tr h="335280">
                <a:tc>
                  <a:txBody>
                    <a:bodyPr/>
                    <a:lstStyle/>
                    <a:p>
                      <a:r>
                        <a:rPr sz="1200" b="0" i="0">
                          <a:solidFill>
                            <a:srgbClr val="1A1440"/>
                          </a:solidFill>
                          <a:latin typeface="Calibri"/>
                        </a:rPr>
                        <a:t>C. Group by a key in one pass</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r>
            </a:tbl>
          </a:graphicData>
        </a:graphic>
      </p:graphicFrame>
      <p:sp>
        <p:nvSpPr>
          <p:cNvPr id="11" name="Rounded Rectangle 10"/>
          <p:cNvSpPr/>
          <p:nvPr/>
        </p:nvSpPr>
        <p:spPr>
          <a:xfrm>
            <a:off x="5761917" y="3553968"/>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908221" y="368198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09389" y="3672840"/>
            <a:ext cx="533249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same numbers will be asked for a channel, a month and delivered orders today. </a:t>
            </a:r>
            <a:r>
              <a:rPr sz="1500" b="1" i="0">
                <a:solidFill>
                  <a:srgbClr val="1A1440"/>
                </a:solidFill>
                <a:latin typeface="Calibri"/>
              </a:rPr>
              <a:t>What would change it:</a:t>
            </a:r>
            <a:r>
              <a:rPr sz="1500" b="0" i="0">
                <a:solidFill>
                  <a:srgbClr val="1A1440"/>
                </a:solidFill>
                <a:latin typeface="Calibri"/>
              </a:rPr>
              <a:t> millions of rows, every group at once, means C, which is groupby in Week 2.</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6" name="Oval 1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8" name="Oval 17"/>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0" name="Oval 1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function takes any orders and returns five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function do that a copied loop cannot?</a:t>
            </a:r>
          </a:p>
        </p:txBody>
      </p:sp>
      <p:pic>
        <p:nvPicPr>
          <p:cNvPr id="9" name="mermaid diagram" descr="eb9f8e8abe6f58dd.png"/>
          <p:cNvPicPr>
            <a:picLocks noChangeAspect="1"/>
          </p:cNvPicPr>
          <p:nvPr/>
        </p:nvPicPr>
        <p:blipFill>
          <a:blip r:embed="rId6"/>
          <a:stretch>
            <a:fillRect/>
          </a:stretch>
        </p:blipFill>
        <p:spPr>
          <a:xfrm>
            <a:off x="780897" y="1956816"/>
            <a:ext cx="10629900" cy="1857375"/>
          </a:xfrm>
          <a:prstGeom prst="rect">
            <a:avLst/>
          </a:prstGeom>
        </p:spPr>
      </p:pic>
      <p:sp>
        <p:nvSpPr>
          <p:cNvPr id="10" name="Rounded Rectangle 9"/>
          <p:cNvSpPr/>
          <p:nvPr/>
        </p:nvSpPr>
        <p:spPr>
          <a:xfrm>
            <a:off x="530352" y="39604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927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402455"/>
            <a:ext cx="237744" cy="237744"/>
          </a:xfrm>
          <a:prstGeom prst="rect">
            <a:avLst/>
          </a:prstGeom>
        </p:spPr>
      </p:pic>
      <p:sp>
        <p:nvSpPr>
          <p:cNvPr id="13" name="TextBox 12"/>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26255"/>
            <a:ext cx="9987991" cy="682752"/>
          </a:xfrm>
          <a:prstGeom prst="rect">
            <a:avLst/>
          </a:prstGeom>
          <a:noFill/>
        </p:spPr>
        <p:txBody>
          <a:bodyPr wrap="square" anchor="t" lIns="0" rIns="0" tIns="0" bIns="0">
            <a:spAutoFit/>
          </a:bodyPr>
          <a:lstStyle/>
          <a:p>
            <a:r>
              <a:rPr sz="1500" b="0" i="0">
                <a:solidFill>
                  <a:srgbClr val="1A1440"/>
                </a:solidFill>
                <a:latin typeface="Calibri"/>
              </a:rPr>
              <a:t>A function returns its answer, so the caller can put it in a table, a chart or a check; a function that only prints hands back nothing.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tree_for is a metric definition, written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tree_for written, and how do we know it is right?</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tree_for(rows):</a:t>
            </a:r>
          </a:p>
          <a:p>
            <a:pPr>
              <a:spcAft>
                <a:spcPts val="200"/>
              </a:spcAft>
            </a:pPr>
            <a:r>
              <a:rPr sz="1400" b="0" i="0">
                <a:solidFill>
                  <a:srgbClr val="E4E1F1"/>
                </a:solidFill>
                <a:latin typeface="Consolas"/>
              </a:rPr>
              <a:t>    """Revenue, orders, customers and the two rates for any group of orders."""</a:t>
            </a:r>
          </a:p>
          <a:p>
            <a:pPr>
              <a:spcAft>
                <a:spcPts val="200"/>
              </a:spcAft>
            </a:pPr>
            <a:r>
              <a:rPr sz="1400" b="0" i="0">
                <a:solidFill>
                  <a:srgbClr val="E4E1F1"/>
                </a:solidFill>
                <a:latin typeface="Consolas"/>
              </a:rPr>
              <a:t>    revenue, seen = 0, {}</a:t>
            </a:r>
          </a:p>
          <a:p>
            <a:pPr>
              <a:spcAft>
                <a:spcPts val="200"/>
              </a:spcAft>
            </a:pPr>
            <a:r>
              <a:rPr sz="1400" b="0" i="0">
                <a:solidFill>
                  <a:srgbClr val="E4E1F1"/>
                </a:solidFill>
                <a:latin typeface="Consolas"/>
              </a:rPr>
              <a:t>    for order in rows:</a:t>
            </a:r>
          </a:p>
          <a:p>
            <a:pPr>
              <a:spcAft>
                <a:spcPts val="200"/>
              </a:spcAft>
            </a:pPr>
            <a:r>
              <a:rPr sz="1400" b="0" i="0">
                <a:solidFill>
                  <a:srgbClr val="E4E1F1"/>
                </a:solidFill>
                <a:latin typeface="Consolas"/>
              </a:rPr>
              <a:t>        revenue += order["amount"]</a:t>
            </a:r>
          </a:p>
          <a:p>
            <a:pPr>
              <a:spcAft>
                <a:spcPts val="200"/>
              </a:spcAft>
            </a:pPr>
            <a:r>
              <a:rPr sz="1400" b="0" i="0">
                <a:solidFill>
                  <a:srgbClr val="E4E1F1"/>
                </a:solidFill>
                <a:latin typeface="Consolas"/>
              </a:rPr>
              <a:t>        seen[order["customer_id"]] = True</a:t>
            </a:r>
          </a:p>
          <a:p>
            <a:pPr>
              <a:spcAft>
                <a:spcPts val="200"/>
              </a:spcAft>
            </a:pPr>
            <a:r>
              <a:rPr sz="1400" b="0" i="0">
                <a:solidFill>
                  <a:srgbClr val="E4E1F1"/>
                </a:solidFill>
                <a:latin typeface="Consolas"/>
              </a:rPr>
              <a:t>    return {"revenue": revenue, "orders": len(rows), "customers": len(seen),</a:t>
            </a:r>
          </a:p>
          <a:p>
            <a:pPr>
              <a:spcAft>
                <a:spcPts val="200"/>
              </a:spcAft>
            </a:pPr>
            <a:r>
              <a:rPr sz="1400" b="0" i="0">
                <a:solidFill>
                  <a:srgbClr val="E4E1F1"/>
                </a:solidFill>
                <a:latin typeface="Consolas"/>
              </a:rPr>
              <a:t>            "orders_per_customer": len(rows) / len(seen),</a:t>
            </a:r>
          </a:p>
          <a:p>
            <a:pPr>
              <a:spcAft>
                <a:spcPts val="200"/>
              </a:spcAft>
            </a:pPr>
            <a:r>
              <a:rPr sz="1400" b="0" i="0">
                <a:solidFill>
                  <a:srgbClr val="E4E1F1"/>
                </a:solidFill>
                <a:latin typeface="Consolas"/>
              </a:rPr>
              <a:t>            "revenue_per_order": revenue / len(rows)}</a:t>
            </a:r>
          </a:p>
        </p:txBody>
      </p:sp>
      <p:sp>
        <p:nvSpPr>
          <p:cNvPr id="14" name="Rounded Rectangle 13"/>
          <p:cNvSpPr/>
          <p:nvPr/>
        </p:nvSpPr>
        <p:spPr>
          <a:xfrm>
            <a:off x="530352" y="48508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9789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969764"/>
            <a:ext cx="10564063" cy="624840"/>
          </a:xfrm>
          <a:prstGeom prst="rect">
            <a:avLst/>
          </a:prstGeom>
          <a:noFill/>
        </p:spPr>
        <p:txBody>
          <a:bodyPr wrap="square" anchor="ctr" lIns="0" rIns="0" tIns="0" bIns="0">
            <a:spAutoFit/>
          </a:bodyPr>
          <a:lstStyle/>
          <a:p>
            <a:r>
              <a:rPr sz="1500" b="1">
                <a:solidFill>
                  <a:srgbClr val="5B3FD6"/>
                </a:solidFill>
                <a:latin typeface="Calibri"/>
              </a:rPr>
              <a:t>Test it where the answer is known. </a:t>
            </a:r>
            <a:r>
              <a:rPr sz="1500" b="0" i="0">
                <a:solidFill>
                  <a:srgbClr val="1A1440"/>
                </a:solidFill>
                <a:latin typeface="Calibri"/>
              </a:rPr>
              <a:t>A new function earns trust by reproducing a number proved another way, so it runs first on all of each quarter.</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9" name="Oval 18"/>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5" name="Oval 24"/>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tree_for give for all of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Called on every Q1 order, what orders per customer should the function return?</a:t>
            </a:r>
          </a:p>
        </p:txBody>
      </p:sp>
      <p:pic>
        <p:nvPicPr>
          <p:cNvPr id="9" name="mermaid diagram" descr="94fd0e1e07ec16eb.png"/>
          <p:cNvPicPr>
            <a:picLocks noChangeAspect="1"/>
          </p:cNvPicPr>
          <p:nvPr/>
        </p:nvPicPr>
        <p:blipFill>
          <a:blip r:embed="rId5"/>
          <a:stretch>
            <a:fillRect/>
          </a:stretch>
        </p:blipFill>
        <p:spPr>
          <a:xfrm>
            <a:off x="2152497" y="1956816"/>
            <a:ext cx="7886700" cy="1100137"/>
          </a:xfrm>
          <a:prstGeom prst="rect">
            <a:avLst/>
          </a:prstGeom>
        </p:spPr>
      </p:pic>
      <p:sp>
        <p:nvSpPr>
          <p:cNvPr id="10" name="Rounded Rectangle 9"/>
          <p:cNvSpPr/>
          <p:nvPr/>
        </p:nvSpPr>
        <p:spPr>
          <a:xfrm>
            <a:off x="530352" y="3203257"/>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3127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22129"/>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1.65; b) 1.25; c) None; d) 114.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1.65 and 1.25, chapter 2 reproduced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Called on every Q1 order, what orders per customer should the function return?</a:t>
            </a:r>
          </a:p>
        </p:txBody>
      </p:sp>
      <p:sp>
        <p:nvSpPr>
          <p:cNvPr id="9" name="TextBox 8"/>
          <p:cNvSpPr txBox="1"/>
          <p:nvPr/>
        </p:nvSpPr>
        <p:spPr>
          <a:xfrm>
            <a:off x="53035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114 / 69 / 1.65</a:t>
            </a:r>
          </a:p>
        </p:txBody>
      </p:sp>
      <p:sp>
        <p:nvSpPr>
          <p:cNvPr id="10" name="TextBox 9"/>
          <p:cNvSpPr txBox="1"/>
          <p:nvPr/>
        </p:nvSpPr>
        <p:spPr>
          <a:xfrm>
            <a:off x="53035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ORDERS / CUSTOMERS / RATE</a:t>
            </a:r>
          </a:p>
        </p:txBody>
      </p:sp>
      <p:sp>
        <p:nvSpPr>
          <p:cNvPr id="11" name="TextBox 10"/>
          <p:cNvSpPr txBox="1"/>
          <p:nvPr/>
        </p:nvSpPr>
        <p:spPr>
          <a:xfrm>
            <a:off x="53035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all of Q1</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86 / 69 / 1.25</a:t>
            </a:r>
          </a:p>
        </p:txBody>
      </p:sp>
      <p:sp>
        <p:nvSpPr>
          <p:cNvPr id="14" name="TextBox 13"/>
          <p:cNvSpPr txBox="1"/>
          <p:nvPr/>
        </p:nvSpPr>
        <p:spPr>
          <a:xfrm>
            <a:off x="433212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ORDERS / CUSTOMERS / RATE</a:t>
            </a:r>
          </a:p>
        </p:txBody>
      </p:sp>
      <p:sp>
        <p:nvSpPr>
          <p:cNvPr id="15" name="TextBox 14"/>
          <p:cNvSpPr txBox="1"/>
          <p:nvPr/>
        </p:nvSpPr>
        <p:spPr>
          <a:xfrm>
            <a:off x="433212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all of Q2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Rs 1,84,211 to Rs 2,17,442</a:t>
            </a:r>
          </a:p>
        </p:txBody>
      </p:sp>
      <p:sp>
        <p:nvSpPr>
          <p:cNvPr id="18" name="TextBox 17"/>
          <p:cNvSpPr txBox="1"/>
          <p:nvPr/>
        </p:nvSpPr>
        <p:spPr>
          <a:xfrm>
            <a:off x="813389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ORDER</a:t>
            </a:r>
          </a:p>
        </p:txBody>
      </p:sp>
      <p:sp>
        <p:nvSpPr>
          <p:cNvPr id="19" name="TextBox 18"/>
          <p:cNvSpPr txBox="1"/>
          <p:nvPr/>
        </p:nvSpPr>
        <p:spPr>
          <a:xfrm>
            <a:off x="813389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function reproduces chapter 2's leaves exactly, so it can be trusted on a group nobody has counted yet. The answer is a.</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2" name="Oval 3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Retail-Core: 1.12 to 1.06, minus 5.3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Retail-Core's orders per customer and typical order move?</a:t>
            </a:r>
          </a:p>
        </p:txBody>
      </p:sp>
      <p:sp>
        <p:nvSpPr>
          <p:cNvPr id="9" name="TextBox 8"/>
          <p:cNvSpPr txBox="1"/>
          <p:nvPr/>
        </p:nvSpPr>
        <p:spPr>
          <a:xfrm>
            <a:off x="53035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34 and 34</a:t>
            </a:r>
          </a:p>
        </p:txBody>
      </p:sp>
      <p:sp>
        <p:nvSpPr>
          <p:cNvPr id="10" name="TextBox 9"/>
          <p:cNvSpPr txBox="1"/>
          <p:nvPr/>
        </p:nvSpPr>
        <p:spPr>
          <a:xfrm>
            <a:off x="53035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 CUSTOMERS</a:t>
            </a:r>
          </a:p>
        </p:txBody>
      </p:sp>
      <p:sp>
        <p:nvSpPr>
          <p:cNvPr id="11" name="TextBox 10"/>
          <p:cNvSpPr txBox="1"/>
          <p:nvPr/>
        </p:nvSpPr>
        <p:spPr>
          <a:xfrm>
            <a:off x="53035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count in both quarters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38 to 36</a:t>
            </a:r>
          </a:p>
        </p:txBody>
      </p:sp>
      <p:sp>
        <p:nvSpPr>
          <p:cNvPr id="14" name="TextBox 13"/>
          <p:cNvSpPr txBox="1"/>
          <p:nvPr/>
        </p:nvSpPr>
        <p:spPr>
          <a:xfrm>
            <a:off x="433212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433212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1.12 to 1.06 per customer, -5.3%</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Rs 2,325 to Rs 2,080</a:t>
            </a:r>
          </a:p>
        </p:txBody>
      </p:sp>
      <p:sp>
        <p:nvSpPr>
          <p:cNvPr id="18" name="TextBox 17"/>
          <p:cNvSpPr txBox="1"/>
          <p:nvPr/>
        </p:nvSpPr>
        <p:spPr>
          <a:xfrm>
            <a:off x="813389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ORDER</a:t>
            </a:r>
          </a:p>
        </p:txBody>
      </p:sp>
      <p:sp>
        <p:nvSpPr>
          <p:cNvPr id="19" name="TextBox 18"/>
          <p:cNvSpPr txBox="1"/>
          <p:nvPr/>
        </p:nvSpPr>
        <p:spPr>
          <a:xfrm>
            <a:off x="813389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typical order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Retail-Core slipped a little, far short of the company's 24.6 percent.</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2" name="Oval 3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did Business orders look like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describe returns a group's median, extremes and range: how did Business's move from Q1?</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9,83,780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MEDIAN</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Business, 20 orders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15,80,940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RANGE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Rs 2,03,060 to Rs 17,84,000</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describe for Business in Q2: a) median and range both fall; b) the median barely moves and the range jumps; c) the median doubles; d) nothing changes.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88</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stretched the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describe returns a group's median, extremes and range: how did Business's move from Q1?</a:t>
            </a:r>
          </a:p>
        </p:txBody>
      </p:sp>
      <p:graphicFrame>
        <p:nvGraphicFramePr>
          <p:cNvPr id="9" name="Table 8"/>
          <p:cNvGraphicFramePr>
            <a:graphicFrameLocks noGrp="1"/>
          </p:cNvGraphicFramePr>
          <p:nvPr/>
        </p:nvGraphicFramePr>
        <p:xfrm>
          <a:off x="530352" y="1919668"/>
          <a:ext cx="11130989" cy="1243584"/>
        </p:xfrm>
        <a:graphic>
          <a:graphicData uri="http://schemas.openxmlformats.org/drawingml/2006/table">
            <a:tbl>
              <a:tblPr firstRow="0" bandRow="0">
                <a:tableStyleId>{2D5ABB26-0587-4C30-8999-92F81FD0307C}</a:tableStyleId>
              </a:tblPr>
              <a:tblGrid>
                <a:gridCol w="2567971"/>
                <a:gridCol w="2242554"/>
                <a:gridCol w="2405262"/>
                <a:gridCol w="3915202"/>
              </a:tblGrid>
              <a:tr h="310896">
                <a:tc>
                  <a:txBody>
                    <a:bodyPr/>
                    <a:lstStyle/>
                    <a:p>
                      <a:r>
                        <a:rPr sz="950" b="1" i="0">
                          <a:solidFill>
                            <a:srgbClr val="FFFFFF"/>
                          </a:solidFill>
                          <a:latin typeface="Calibri"/>
                        </a:rPr>
                        <a:t>Business</a:t>
                      </a:r>
                    </a:p>
                  </a:txBody>
                  <a:tcPr marL="101600" marR="101600" marT="38100" marB="38100" anchor="ctr">
                    <a:solidFill>
                      <a:srgbClr val="1A0F5C"/>
                    </a:solidFill>
                  </a:tcPr>
                </a:tc>
                <a:tc>
                  <a:txBody>
                    <a:bodyPr/>
                    <a:lstStyle/>
                    <a:p>
                      <a:r>
                        <a:rPr sz="950" b="1" i="0">
                          <a:solidFill>
                            <a:srgbClr val="FFFFFF"/>
                          </a:solidFill>
                          <a:latin typeface="Calibri"/>
                        </a:rPr>
                        <a:t>Median</a:t>
                      </a:r>
                    </a:p>
                  </a:txBody>
                  <a:tcPr marL="101600" marR="101600" marT="38100" marB="38100" anchor="ctr">
                    <a:solidFill>
                      <a:srgbClr val="1A0F5C"/>
                    </a:solidFill>
                  </a:tcPr>
                </a:tc>
                <a:tc>
                  <a:txBody>
                    <a:bodyPr/>
                    <a:lstStyle/>
                    <a:p>
                      <a:r>
                        <a:rPr sz="950" b="1" i="0">
                          <a:solidFill>
                            <a:srgbClr val="FFFFFF"/>
                          </a:solidFill>
                          <a:latin typeface="Calibri"/>
                        </a:rPr>
                        <a:t>Range</a:t>
                      </a:r>
                    </a:p>
                  </a:txBody>
                  <a:tcPr marL="101600" marR="101600" marT="38100" marB="38100" anchor="ctr">
                    <a:solidFill>
                      <a:srgbClr val="1A0F5C"/>
                    </a:solidFill>
                  </a:tcPr>
                </a:tc>
                <a:tc>
                  <a:txBody>
                    <a:bodyPr/>
                    <a:lstStyle/>
                    <a:p>
                      <a:r>
                        <a:rPr sz="950" b="1" i="0">
                          <a:solidFill>
                            <a:srgbClr val="FFFFFF"/>
                          </a:solidFill>
                          <a:latin typeface="Calibri"/>
                        </a:rPr>
                        <a:t>Orders per customer</a:t>
                      </a:r>
                    </a:p>
                  </a:txBody>
                  <a:tcPr marL="101600" marR="101600" marT="38100" marB="38100" anchor="ctr">
                    <a:solidFill>
                      <a:srgbClr val="1A0F5C"/>
                    </a:solidFill>
                  </a:tcPr>
                </a:tc>
              </a:tr>
              <a:tr h="310896">
                <a:tc>
                  <a:txBody>
                    <a:bodyPr/>
                    <a:lstStyle/>
                    <a:p>
                      <a:r>
                        <a:rPr sz="900" b="0" i="0">
                          <a:solidFill>
                            <a:srgbClr val="1A1440"/>
                          </a:solidFill>
                          <a:latin typeface="Calibri"/>
                        </a:rPr>
                        <a:t>Q1, 20 orders</a:t>
                      </a:r>
                    </a:p>
                  </a:txBody>
                  <a:tcPr marL="101600" marR="101600" marT="38100" marB="38100" anchor="ctr">
                    <a:solidFill>
                      <a:srgbClr val="FFFFFF"/>
                    </a:solidFill>
                  </a:tcPr>
                </a:tc>
                <a:tc>
                  <a:txBody>
                    <a:bodyPr/>
                    <a:lstStyle/>
                    <a:p>
                      <a:r>
                        <a:rPr sz="900" b="0" i="0">
                          <a:solidFill>
                            <a:srgbClr val="1A1440"/>
                          </a:solidFill>
                          <a:latin typeface="Calibri"/>
                        </a:rPr>
                        <a:t>Rs 9,83,780</a:t>
                      </a:r>
                    </a:p>
                  </a:txBody>
                  <a:tcPr marL="101600" marR="101600" marT="38100" marB="38100" anchor="ctr">
                    <a:solidFill>
                      <a:srgbClr val="FFFFFF"/>
                    </a:solidFill>
                  </a:tcPr>
                </a:tc>
                <a:tc>
                  <a:txBody>
                    <a:bodyPr/>
                    <a:lstStyle/>
                    <a:p>
                      <a:r>
                        <a:rPr sz="900" b="0" i="0">
                          <a:solidFill>
                            <a:srgbClr val="1A1440"/>
                          </a:solidFill>
                          <a:latin typeface="Calibri"/>
                        </a:rPr>
                        <a:t>Rs 15,80,940</a:t>
                      </a:r>
                    </a:p>
                  </a:txBody>
                  <a:tcPr marL="101600" marR="101600" marT="38100" marB="38100" anchor="ctr">
                    <a:solidFill>
                      <a:srgbClr val="FFFFFF"/>
                    </a:solidFill>
                  </a:tcPr>
                </a:tc>
                <a:tc>
                  <a:txBody>
                    <a:bodyPr/>
                    <a:lstStyle/>
                    <a:p>
                      <a:r>
                        <a:rPr sz="900" b="0" i="0">
                          <a:solidFill>
                            <a:srgbClr val="1A1440"/>
                          </a:solidFill>
                          <a:latin typeface="Calibri"/>
                        </a:rPr>
                        <a:t>1.82</a:t>
                      </a:r>
                    </a:p>
                  </a:txBody>
                  <a:tcPr marL="101600" marR="101600" marT="38100" marB="38100" anchor="ctr">
                    <a:solidFill>
                      <a:srgbClr val="FFFFFF"/>
                    </a:solidFill>
                  </a:tcPr>
                </a:tc>
              </a:tr>
              <a:tr h="310896">
                <a:tc>
                  <a:txBody>
                    <a:bodyPr/>
                    <a:lstStyle/>
                    <a:p>
                      <a:r>
                        <a:rPr sz="900" b="0" i="0">
                          <a:solidFill>
                            <a:srgbClr val="1A1440"/>
                          </a:solidFill>
                          <a:latin typeface="Calibri"/>
                        </a:rPr>
                        <a:t>Q2, 17 orders</a:t>
                      </a:r>
                    </a:p>
                  </a:txBody>
                  <a:tcPr marL="101600" marR="101600" marT="38100" marB="38100" anchor="ctr">
                    <a:solidFill>
                      <a:srgbClr val="F4F2FA"/>
                    </a:solidFill>
                  </a:tcPr>
                </a:tc>
                <a:tc>
                  <a:txBody>
                    <a:bodyPr/>
                    <a:lstStyle/>
                    <a:p>
                      <a:r>
                        <a:rPr sz="900" b="0" i="0">
                          <a:solidFill>
                            <a:srgbClr val="1A1440"/>
                          </a:solidFill>
                          <a:latin typeface="Calibri"/>
                        </a:rPr>
                        <a:t>Rs 9,52,000</a:t>
                      </a:r>
                    </a:p>
                  </a:txBody>
                  <a:tcPr marL="101600" marR="101600" marT="38100" marB="38100" anchor="ctr">
                    <a:solidFill>
                      <a:srgbClr val="F4F2FA"/>
                    </a:solidFill>
                  </a:tcPr>
                </a:tc>
                <a:tc>
                  <a:txBody>
                    <a:bodyPr/>
                    <a:lstStyle/>
                    <a:p>
                      <a:r>
                        <a:rPr sz="900" b="0" i="0">
                          <a:solidFill>
                            <a:srgbClr val="1A1440"/>
                          </a:solidFill>
                          <a:latin typeface="Calibri"/>
                        </a:rPr>
                        <a:t>Rs 27,28,460</a:t>
                      </a:r>
                    </a:p>
                  </a:txBody>
                  <a:tcPr marL="101600" marR="101600" marT="38100" marB="38100" anchor="ctr">
                    <a:solidFill>
                      <a:srgbClr val="F4F2FA"/>
                    </a:solidFill>
                  </a:tcPr>
                </a:tc>
                <a:tc>
                  <a:txBody>
                    <a:bodyPr/>
                    <a:lstStyle/>
                    <a:p>
                      <a:r>
                        <a:rPr sz="900" b="0" i="0">
                          <a:solidFill>
                            <a:srgbClr val="1A1440"/>
                          </a:solidFill>
                          <a:latin typeface="Calibri"/>
                        </a:rPr>
                        <a:t>1.55</a:t>
                      </a:r>
                    </a:p>
                  </a:txBody>
                  <a:tcPr marL="101600" marR="101600" marT="38100" marB="38100" anchor="ctr">
                    <a:solidFill>
                      <a:srgbClr val="F4F2FA"/>
                    </a:solidFill>
                  </a:tcPr>
                </a:tc>
              </a:tr>
              <a:tr h="310896">
                <a:tc>
                  <a:txBody>
                    <a:bodyPr/>
                    <a:lstStyle/>
                    <a:p>
                      <a:r>
                        <a:rPr sz="900" b="0" i="0">
                          <a:solidFill>
                            <a:srgbClr val="1A1440"/>
                          </a:solidFill>
                          <a:latin typeface="Calibri"/>
                        </a:rPr>
                        <a:t>Change</a:t>
                      </a:r>
                    </a:p>
                  </a:txBody>
                  <a:tcPr marL="101600" marR="101600" marT="38100" marB="38100" anchor="ctr">
                    <a:solidFill>
                      <a:srgbClr val="FFFFFF"/>
                    </a:solidFill>
                  </a:tcPr>
                </a:tc>
                <a:tc>
                  <a:txBody>
                    <a:bodyPr/>
                    <a:lstStyle/>
                    <a:p>
                      <a:r>
                        <a:rPr sz="900" b="0" i="0">
                          <a:solidFill>
                            <a:srgbClr val="1A1440"/>
                          </a:solidFill>
                          <a:latin typeface="Calibri"/>
                        </a:rPr>
                        <a:t>-3.2%</a:t>
                      </a:r>
                    </a:p>
                  </a:txBody>
                  <a:tcPr marL="101600" marR="101600" marT="38100" marB="38100" anchor="ctr">
                    <a:solidFill>
                      <a:srgbClr val="FFFFFF"/>
                    </a:solidFill>
                  </a:tcPr>
                </a:tc>
                <a:tc>
                  <a:txBody>
                    <a:bodyPr/>
                    <a:lstStyle/>
                    <a:p>
                      <a:r>
                        <a:rPr sz="900" b="0" i="0">
                          <a:solidFill>
                            <a:srgbClr val="1A1440"/>
                          </a:solidFill>
                          <a:latin typeface="Calibri"/>
                        </a:rPr>
                        <a:t>+72.6%</a:t>
                      </a:r>
                    </a:p>
                  </a:txBody>
                  <a:tcPr marL="101600" marR="101600" marT="38100" marB="38100" anchor="ctr">
                    <a:solidFill>
                      <a:srgbClr val="FFFFFF"/>
                    </a:solidFill>
                  </a:tcPr>
                </a:tc>
                <a:tc>
                  <a:txBody>
                    <a:bodyPr/>
                    <a:lstStyle/>
                    <a:p>
                      <a:r>
                        <a:rPr sz="900" b="0" i="0">
                          <a:solidFill>
                            <a:srgbClr val="1A1440"/>
                          </a:solidFill>
                          <a:latin typeface="Calibri"/>
                        </a:rPr>
                        <a:t>-15.0%</a:t>
                      </a:r>
                    </a:p>
                  </a:txBody>
                  <a:tcPr marL="101600" marR="101600" marT="38100" marB="38100" anchor="ctr">
                    <a:solidFill>
                      <a:srgbClr val="FFFFFF"/>
                    </a:solidFill>
                  </a:tcPr>
                </a:tc>
              </a:tr>
            </a:tbl>
          </a:graphicData>
        </a:graphic>
      </p:graphicFrame>
      <p:pic>
        <p:nvPicPr>
          <p:cNvPr id="10" name="mermaid diagram" descr="8d841d31d1404275.png"/>
          <p:cNvPicPr>
            <a:picLocks noChangeAspect="1"/>
          </p:cNvPicPr>
          <p:nvPr/>
        </p:nvPicPr>
        <p:blipFill>
          <a:blip r:embed="rId5"/>
          <a:stretch>
            <a:fillRect/>
          </a:stretch>
        </p:blipFill>
        <p:spPr>
          <a:xfrm>
            <a:off x="3524097" y="3419284"/>
            <a:ext cx="5143500" cy="2543175"/>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53 / 88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frequency fell 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did orders per customer fall if the four segments' rates are averaged?</a:t>
            </a:r>
          </a:p>
        </p:txBody>
      </p:sp>
      <p:pic>
        <p:nvPicPr>
          <p:cNvPr id="9" name="mermaid diagram" descr="6e4528260c9d3c3e.png"/>
          <p:cNvPicPr>
            <a:picLocks noChangeAspect="1"/>
          </p:cNvPicPr>
          <p:nvPr/>
        </p:nvPicPr>
        <p:blipFill>
          <a:blip r:embed="rId6"/>
          <a:stretch>
            <a:fillRect/>
          </a:stretch>
        </p:blipFill>
        <p:spPr>
          <a:xfrm>
            <a:off x="3151479" y="1664208"/>
            <a:ext cx="5888736"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Averaged, the segments say 1.94 to 1.82, minus 6.0 percent: "frequency is not the branch, so Marketing may be right", and the Rs 12 crore goes back on the table. </a:t>
            </a:r>
            <a:r>
              <a:rPr sz="1500" b="1" i="0">
                <a:solidFill>
                  <a:srgbClr val="1A1440"/>
                </a:solidFill>
                <a:latin typeface="Calibri"/>
              </a:rPr>
              <a:t>The check:</a:t>
            </a:r>
            <a:r>
              <a:rPr sz="1500" b="0" i="0">
                <a:solidFill>
                  <a:srgbClr val="1A1440"/>
                </a:solidFill>
                <a:latin typeface="Calibri"/>
              </a:rPr>
              <a:t> a roll-up must reproduce 1.65 and 1.25.</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54 / 88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ratio of totals, never a mean of ratios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averaging four rates mislead, and what does the roll-up do instead?</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5028018"/>
                <a:gridCol w="1807398"/>
                <a:gridCol w="3381174"/>
                <a:gridCol w="914400"/>
              </a:tblGrid>
              <a:tr h="335280">
                <a:tc>
                  <a:txBody>
                    <a:bodyPr/>
                    <a:lstStyle/>
                    <a:p>
                      <a:r>
                        <a:rPr sz="1250" b="1" i="0">
                          <a:solidFill>
                            <a:srgbClr val="FFFFFF"/>
                          </a:solidFill>
                          <a:latin typeface="Calibri"/>
                        </a:rPr>
                        <a:t>Invented group</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r>
              <a:tr h="335280">
                <a:tc>
                  <a:txBody>
                    <a:bodyPr/>
                    <a:lstStyle/>
                    <a:p>
                      <a:r>
                        <a:rPr sz="1200" b="0" i="0">
                          <a:solidFill>
                            <a:srgbClr val="1A1440"/>
                          </a:solidFill>
                          <a:latin typeface="Calibri"/>
                        </a:rPr>
                        <a:t>Large</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33</a:t>
                      </a:r>
                    </a:p>
                  </a:txBody>
                  <a:tcPr marL="101600" marR="101600" marT="38100" marB="38100" anchor="ctr">
                    <a:solidFill>
                      <a:srgbClr val="FFFFFF"/>
                    </a:solidFill>
                  </a:tcPr>
                </a:tc>
              </a:tr>
              <a:tr h="335280">
                <a:tc>
                  <a:txBody>
                    <a:bodyPr/>
                    <a:lstStyle/>
                    <a:p>
                      <a:r>
                        <a:rPr sz="1200" b="0" i="0">
                          <a:solidFill>
                            <a:srgbClr val="1A1440"/>
                          </a:solidFill>
                          <a:latin typeface="Calibri"/>
                        </a:rPr>
                        <a:t>Small</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3.5</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r>
              <a:tr h="335280">
                <a:tc>
                  <a:txBody>
                    <a:bodyPr/>
                    <a:lstStyle/>
                    <a:p>
                      <a:r>
                        <a:rPr sz="1200" b="0" i="0">
                          <a:solidFill>
                            <a:srgbClr val="1A1440"/>
                          </a:solidFill>
                          <a:latin typeface="Calibri"/>
                        </a:rPr>
                        <a:t>Mean of the two rates</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2.30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Total orders over total customers</a:t>
                      </a:r>
                    </a:p>
                  </a:txBody>
                  <a:tcPr marL="101600" marR="101600" marT="38100" marB="38100" anchor="ctr">
                    <a:solidFill>
                      <a:srgbClr val="F4F2FA"/>
                    </a:solidFill>
                  </a:tcPr>
                </a:tc>
                <a:tc>
                  <a:txBody>
                    <a:bodyPr/>
                    <a:lstStyle/>
                    <a:p>
                      <a:r>
                        <a:rPr sz="1200" b="0" i="0">
                          <a:solidFill>
                            <a:srgbClr val="1A1440"/>
                          </a:solidFill>
                          <a:latin typeface="Calibri"/>
                        </a:rPr>
                        <a:t>32</a:t>
                      </a:r>
                    </a:p>
                  </a:txBody>
                  <a:tcPr marL="101600" marR="101600" marT="38100" marB="38100" anchor="ctr">
                    <a:solidFill>
                      <a:srgbClr val="F4F2FA"/>
                    </a:solidFill>
                  </a:tcPr>
                </a:tc>
                <a:tc>
                  <a:txBody>
                    <a:bodyPr/>
                    <a:lstStyle/>
                    <a:p>
                      <a:r>
                        <a:rPr sz="1200" b="0" i="0">
                          <a:solidFill>
                            <a:srgbClr val="1A1440"/>
                          </a:solidFill>
                          <a:latin typeface="Calibri"/>
                        </a:rPr>
                        <a:t>1.25</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Weighted by customers the segments give 114 over 69, then 86 over 69, minus 24.6 percent: frequency stays the branch and the acquisition budget stays shut.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55 / 88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pass by key agrees, then your run on all four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one pass grouped by key agree with tree_for for all eight groups?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ROUTE TWO</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pass by key</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totals[(quarter, segment)] over 200 orders; all 8 groups agree with tree_for.</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segments in</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Call tree_for on each segment in each quarter.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rows out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Count the rows that come back, and check the weighted roll-up.</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One sentence</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Name the segment whose orders per customer moved most, with its denominator.</a:t>
            </a:r>
          </a:p>
        </p:txBody>
      </p:sp>
      <p:sp>
        <p:nvSpPr>
          <p:cNvPr id="30" name="Rounded Rectangle 29"/>
          <p:cNvSpPr/>
          <p:nvPr/>
        </p:nvSpPr>
        <p:spPr>
          <a:xfrm>
            <a:off x="530352" y="42763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676656" y="4404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 y="4395216"/>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Keep the function while groups are asked for one at a time; switch to the pass by key when every group is needed at once on a large file, which is Week 2's groupby.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35" name="Oval 3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7" name="Oval 3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39" name="Oval 3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56 / 88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own run names the segment that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 moved, and what did each question on the way answer?</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4243678"/>
                <a:gridCol w="6887312"/>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Copy, function or one pass?</a:t>
                      </a:r>
                    </a:p>
                  </a:txBody>
                  <a:tcPr marL="101600" marR="101600" marT="38100" marB="38100" anchor="ctr">
                    <a:solidFill>
                      <a:srgbClr val="FFFFFF"/>
                    </a:solidFill>
                  </a:tcPr>
                </a:tc>
                <a:tc>
                  <a:txBody>
                    <a:bodyPr/>
                    <a:lstStyle/>
                    <a:p>
                      <a:r>
                        <a:rPr sz="900" b="0" i="0">
                          <a:solidFill>
                            <a:srgbClr val="1A1440"/>
                          </a:solidFill>
                          <a:latin typeface="Calibri"/>
                        </a:rPr>
                        <a:t>A function: 21 lines and one place to edit</a:t>
                      </a:r>
                    </a:p>
                  </a:txBody>
                  <a:tcPr marL="101600" marR="101600" marT="38100" marB="38100" anchor="ctr">
                    <a:solidFill>
                      <a:srgbClr val="FFFFFF"/>
                    </a:solidFill>
                  </a:tcPr>
                </a:tc>
              </a:tr>
              <a:tr h="310896">
                <a:tc>
                  <a:txBody>
                    <a:bodyPr/>
                    <a:lstStyle/>
                    <a:p>
                      <a:r>
                        <a:rPr sz="900" b="0" i="0">
                          <a:solidFill>
                            <a:srgbClr val="1A1440"/>
                          </a:solidFill>
                          <a:latin typeface="Calibri"/>
                        </a:rPr>
                        <a:t>2. Does tree_for agree?</a:t>
                      </a:r>
                    </a:p>
                  </a:txBody>
                  <a:tcPr marL="101600" marR="101600" marT="38100" marB="38100" anchor="ctr">
                    <a:solidFill>
                      <a:srgbClr val="F4F2FA"/>
                    </a:solidFill>
                  </a:tcPr>
                </a:tc>
                <a:tc>
                  <a:txBody>
                    <a:bodyPr/>
                    <a:lstStyle/>
                    <a:p>
                      <a:r>
                        <a:rPr sz="900" b="0" i="0">
                          <a:solidFill>
                            <a:srgbClr val="1A1440"/>
                          </a:solidFill>
                          <a:latin typeface="Calibri"/>
                        </a:rPr>
                        <a:t>Yes: 1.65 and 1.25 on 69 customers</a:t>
                      </a:r>
                    </a:p>
                  </a:txBody>
                  <a:tcPr marL="101600" marR="101600" marT="38100" marB="38100" anchor="ctr">
                    <a:solidFill>
                      <a:srgbClr val="F4F2FA"/>
                    </a:solidFill>
                  </a:tcPr>
                </a:tc>
              </a:tr>
              <a:tr h="310896">
                <a:tc>
                  <a:txBody>
                    <a:bodyPr/>
                    <a:lstStyle/>
                    <a:p>
                      <a:r>
                        <a:rPr sz="900" b="0" i="0">
                          <a:solidFill>
                            <a:srgbClr val="1A1440"/>
                          </a:solidFill>
                          <a:latin typeface="Calibri"/>
                        </a:rPr>
                        <a:t>3. How did Retail-Core move?</a:t>
                      </a:r>
                    </a:p>
                  </a:txBody>
                  <a:tcPr marL="101600" marR="101600" marT="38100" marB="38100" anchor="ctr">
                    <a:solidFill>
                      <a:srgbClr val="FFFFFF"/>
                    </a:solidFill>
                  </a:tcPr>
                </a:tc>
                <a:tc>
                  <a:txBody>
                    <a:bodyPr/>
                    <a:lstStyle/>
                    <a:p>
                      <a:r>
                        <a:rPr sz="900" b="0" i="0">
                          <a:solidFill>
                            <a:srgbClr val="1A1440"/>
                          </a:solidFill>
                          <a:latin typeface="Calibri"/>
                        </a:rPr>
                        <a:t>1.12 to 1.06, minus 5.3 percent</a:t>
                      </a:r>
                    </a:p>
                  </a:txBody>
                  <a:tcPr marL="101600" marR="101600" marT="38100" marB="38100" anchor="ctr">
                    <a:solidFill>
                      <a:srgbClr val="FFFFFF"/>
                    </a:solidFill>
                  </a:tcPr>
                </a:tc>
              </a:tr>
              <a:tr h="310896">
                <a:tc>
                  <a:txBody>
                    <a:bodyPr/>
                    <a:lstStyle/>
                    <a:p>
                      <a:r>
                        <a:rPr sz="900" b="0" i="0">
                          <a:solidFill>
                            <a:srgbClr val="1A1440"/>
                          </a:solidFill>
                          <a:latin typeface="Calibri"/>
                        </a:rPr>
                        <a:t>4. What did Business do?</a:t>
                      </a:r>
                    </a:p>
                  </a:txBody>
                  <a:tcPr marL="101600" marR="101600" marT="38100" marB="38100" anchor="ctr">
                    <a:solidFill>
                      <a:srgbClr val="F4F2FA"/>
                    </a:solidFill>
                  </a:tcPr>
                </a:tc>
                <a:tc>
                  <a:txBody>
                    <a:bodyPr/>
                    <a:lstStyle/>
                    <a:p>
                      <a:r>
                        <a:rPr sz="900" b="0" i="0">
                          <a:solidFill>
                            <a:srgbClr val="1A1440"/>
                          </a:solidFill>
                          <a:latin typeface="Calibri"/>
                        </a:rPr>
                        <a:t>The median held; one order stretched the range</a:t>
                      </a:r>
                    </a:p>
                  </a:txBody>
                  <a:tcPr marL="101600" marR="101600" marT="38100" marB="38100" anchor="ctr">
                    <a:solidFill>
                      <a:srgbClr val="F4F2FA"/>
                    </a:solidFill>
                  </a:tcPr>
                </a:tc>
              </a:tr>
              <a:tr h="310896">
                <a:tc>
                  <a:txBody>
                    <a:bodyPr/>
                    <a:lstStyle/>
                    <a:p>
                      <a:r>
                        <a:rPr sz="900" b="0" i="0">
                          <a:solidFill>
                            <a:srgbClr val="1A1440"/>
                          </a:solidFill>
                          <a:latin typeface="Calibri"/>
                        </a:rPr>
                        <a:t>5. What does the roll-up say?</a:t>
                      </a:r>
                    </a:p>
                  </a:txBody>
                  <a:tcPr marL="101600" marR="101600" marT="38100" marB="38100" anchor="ctr">
                    <a:solidFill>
                      <a:srgbClr val="FFFFFF"/>
                    </a:solidFill>
                  </a:tcPr>
                </a:tc>
                <a:tc>
                  <a:txBody>
                    <a:bodyPr/>
                    <a:lstStyle/>
                    <a:p>
                      <a:r>
                        <a:rPr sz="900" b="0" i="0">
                          <a:solidFill>
                            <a:srgbClr val="1A1440"/>
                          </a:solidFill>
                          <a:latin typeface="Calibri"/>
                        </a:rPr>
                        <a:t>Weighted, minus 24.6 percent; averaged, a false 6.0</a:t>
                      </a:r>
                    </a:p>
                  </a:txBody>
                  <a:tcPr marL="101600" marR="101600" marT="38100" marB="38100" anchor="ctr">
                    <a:solidFill>
                      <a:srgbClr val="FFFFFF"/>
                    </a:solidFill>
                  </a:tcPr>
                </a:tc>
              </a:tr>
              <a:tr h="310896">
                <a:tc>
                  <a:txBody>
                    <a:bodyPr/>
                    <a:lstStyle/>
                    <a:p>
                      <a:r>
                        <a:rPr sz="900" b="0" i="0">
                          <a:solidFill>
                            <a:srgbClr val="1A1440"/>
                          </a:solidFill>
                          <a:latin typeface="Calibri"/>
                        </a:rPr>
                        <a:t>6. Does one pass agree?</a:t>
                      </a:r>
                    </a:p>
                  </a:txBody>
                  <a:tcPr marL="101600" marR="101600" marT="38100" marB="38100" anchor="ctr">
                    <a:solidFill>
                      <a:srgbClr val="F4F2FA"/>
                    </a:solidFill>
                  </a:tcPr>
                </a:tc>
                <a:tc>
                  <a:txBody>
                    <a:bodyPr/>
                    <a:lstStyle/>
                    <a:p>
                      <a:r>
                        <a:rPr sz="900" b="0" i="0">
                          <a:solidFill>
                            <a:srgbClr val="1A1440"/>
                          </a:solidFill>
                          <a:latin typeface="Calibri"/>
                        </a:rPr>
                        <a:t>Yes, for all eight groups</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"Two functions, eight groups, no copied loops. Say the segment on your screen with its denominator before anyone draws a conclusion from it."</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The design question: the same metrics for every segment and quarter; copy, function or group by key?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57 / 88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customers pay more?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Revenue per order rose 18 percent while revenue fell: did customers pay more, or did the mix of orders change?</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21367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474078"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customers pay more?</a:t>
            </a:r>
          </a:p>
        </p:txBody>
      </p:sp>
      <p:sp>
        <p:nvSpPr>
          <p:cNvPr id="14" name="Rounded Rectangle 13"/>
          <p:cNvSpPr/>
          <p:nvPr/>
        </p:nvSpPr>
        <p:spPr>
          <a:xfrm>
            <a:off x="731153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Were customers lost?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58 / 88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a price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and Finance decide whether a price rise goes into the plan, on Marketing's reading of the 18 percent. A wrong reading raises prices on customers who never paid more, and costs volume in the tier whose orders already halved.</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reading of the rise?</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readings, one that adds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Whose orders were lost?</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28 orders, by segment</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Did any segment rise 18%?</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segment's own rate</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Price or mix?</a:t>
            </a:r>
          </a:p>
        </p:txBody>
      </p:sp>
      <p:sp>
        <p:nvSpPr>
          <p:cNvPr id="32" name="TextBox 31"/>
          <p:cNvSpPr txBox="1"/>
          <p:nvPr/>
        </p:nvSpPr>
        <p:spPr>
          <a:xfrm>
            <a:off x="635187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Marketing's reading, tested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the rate part?</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Segment by segment</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the envelope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A second route, two groups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45" name="Oval 4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51" name="Oval 5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wants a price rise on an 18% blend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Marketing asking for, and what would a wrong reading cost?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"Revenue per order is up 18 percent. Our customers are happy to pay more, so the premium range is working. Put a price rise into the plan." (the marketing lead)</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+18.0%</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ORDER</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all orders, blended</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26 of 51</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ORDERS KEPT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22 members</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430x</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 SIZE, BUSINESS TO CONSUMER</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lakhs against thousands, Q1</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8" name="Oval 27"/>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34" name="Oval 3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 an order value that rose on its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seen its average order rise on its mix alone?</a:t>
            </a:r>
          </a:p>
        </p:txBody>
      </p:sp>
      <p:pic>
        <p:nvPicPr>
          <p:cNvPr id="9" name="mermaid diagram" descr="a35e9daf1660def0.png"/>
          <p:cNvPicPr>
            <a:picLocks noChangeAspect="1"/>
          </p:cNvPicPr>
          <p:nvPr/>
        </p:nvPicPr>
        <p:blipFill>
          <a:blip r:embed="rId5"/>
          <a:stretch>
            <a:fillRect/>
          </a:stretch>
        </p:blipFill>
        <p:spPr>
          <a:xfrm>
            <a:off x="2152497" y="1956816"/>
            <a:ext cx="78867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When groups differ in order size and their shares move, a blended order value can rise with no customer paying more for the same thing.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Split into mix and rate: the only reading that adds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readings can put rupees on "customers paid more" and on "the mix changed"?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can say</a:t>
                      </a:r>
                    </a:p>
                  </a:txBody>
                  <a:tcPr marL="101600" marR="101600" marT="38100" marB="38100" anchor="ctr">
                    <a:solidFill>
                      <a:srgbClr val="1A0F5C"/>
                    </a:solidFill>
                  </a:tcPr>
                </a:tc>
              </a:tr>
              <a:tr h="369824">
                <a:tc>
                  <a:txBody>
                    <a:bodyPr/>
                    <a:lstStyle/>
                    <a:p>
                      <a:r>
                        <a:rPr sz="1400" b="0" i="0">
                          <a:solidFill>
                            <a:srgbClr val="1A1440"/>
                          </a:solidFill>
                          <a:latin typeface="Calibri"/>
                        </a:rPr>
                        <a:t>A. Read the blended change</a:t>
                      </a:r>
                    </a:p>
                  </a:txBody>
                  <a:tcPr marL="101600" marR="101600" marT="38100" marB="38100" anchor="ctr">
                    <a:solidFill>
                      <a:srgbClr val="FFFFFF"/>
                    </a:solidFill>
                  </a:tcPr>
                </a:tc>
                <a:tc>
                  <a:txBody>
                    <a:bodyPr/>
                    <a:lstStyle/>
                    <a:p>
                      <a:r>
                        <a:rPr sz="1400" b="0" i="0">
                          <a:solidFill>
                            <a:srgbClr val="1A1440"/>
                          </a:solidFill>
                          <a:latin typeface="Calibri"/>
                        </a:rPr>
                        <a:t>The size of the rise, nothing about why</a:t>
                      </a:r>
                    </a:p>
                  </a:txBody>
                  <a:tcPr marL="101600" marR="101600" marT="38100" marB="38100" anchor="ctr">
                    <a:solidFill>
                      <a:srgbClr val="FFFFFF"/>
                    </a:solidFill>
                  </a:tcPr>
                </a:tc>
              </a:tr>
              <a:tr h="369824">
                <a:tc>
                  <a:txBody>
                    <a:bodyPr/>
                    <a:lstStyle/>
                    <a:p>
                      <a:r>
                        <a:rPr sz="1400" b="0" i="0">
                          <a:solidFill>
                            <a:srgbClr val="1A1440"/>
                          </a:solidFill>
                          <a:latin typeface="Calibri"/>
                        </a:rPr>
                        <a:t>B. Each segment's own revenue per order</a:t>
                      </a:r>
                    </a:p>
                  </a:txBody>
                  <a:tcPr marL="101600" marR="101600" marT="38100" marB="38100" anchor="ctr">
                    <a:solidFill>
                      <a:srgbClr val="F4F2FA"/>
                    </a:solidFill>
                  </a:tcPr>
                </a:tc>
                <a:tc>
                  <a:txBody>
                    <a:bodyPr/>
                    <a:lstStyle/>
                    <a:p>
                      <a:r>
                        <a:rPr sz="1400" b="0" i="0">
                          <a:solidFill>
                            <a:srgbClr val="1A1440"/>
                          </a:solidFill>
                          <a:latin typeface="Calibri"/>
                        </a:rPr>
                        <a:t>Whether any segment paid more</a:t>
                      </a:r>
                    </a:p>
                  </a:txBody>
                  <a:tcPr marL="101600" marR="101600" marT="38100" marB="38100" anchor="ctr">
                    <a:solidFill>
                      <a:srgbClr val="F4F2FA"/>
                    </a:solidFill>
                  </a:tcPr>
                </a:tc>
              </a:tr>
              <a:tr h="369824">
                <a:tc>
                  <a:txBody>
                    <a:bodyPr/>
                    <a:lstStyle/>
                    <a:p>
                      <a:r>
                        <a:rPr sz="1400" b="0" i="0">
                          <a:solidFill>
                            <a:srgbClr val="1A1440"/>
                          </a:solidFill>
                          <a:latin typeface="Calibri"/>
                        </a:rPr>
                        <a:t>C. Split into mix and rate</a:t>
                      </a:r>
                    </a:p>
                  </a:txBody>
                  <a:tcPr marL="101600" marR="101600" marT="38100" marB="38100" anchor="ctr">
                    <a:solidFill>
                      <a:srgbClr val="FFFFFF"/>
                    </a:solidFill>
                  </a:tcPr>
                </a:tc>
                <a:tc>
                  <a:txBody>
                    <a:bodyPr/>
                    <a:lstStyle/>
                    <a:p>
                      <a:r>
                        <a:rPr sz="1400" b="0" i="0">
                          <a:solidFill>
                            <a:srgbClr val="1A1440"/>
                          </a:solidFill>
                          <a:latin typeface="Calibri"/>
                        </a:rPr>
                        <a:t>Rupees from each, adding to Rs 33,231</a:t>
                      </a:r>
                    </a:p>
                  </a:txBody>
                  <a:tcPr marL="101600" marR="101600" marT="38100" marB="38100" anchor="ctr">
                    <a:solidFill>
                      <a:srgbClr val="FFFFFF"/>
                    </a:solidFill>
                  </a:tcPr>
                </a:tc>
              </a:tr>
              <a:tr h="369824">
                <a:tc>
                  <a:txBody>
                    <a:bodyPr/>
                    <a:lstStyle/>
                    <a:p>
                      <a:r>
                        <a:rPr sz="1400" b="0" i="0">
                          <a:solidFill>
                            <a:srgbClr val="1A1440"/>
                          </a:solidFill>
                          <a:latin typeface="Calibri"/>
                        </a:rPr>
                        <a:t>D. Each segment's median order</a:t>
                      </a:r>
                    </a:p>
                  </a:txBody>
                  <a:tcPr marL="101600" marR="101600" marT="38100" marB="38100" anchor="ctr">
                    <a:solidFill>
                      <a:srgbClr val="F4F2FA"/>
                    </a:solidFill>
                  </a:tcPr>
                </a:tc>
                <a:tc>
                  <a:txBody>
                    <a:bodyPr/>
                    <a:lstStyle/>
                    <a:p>
                      <a:r>
                        <a:rPr sz="1400" b="0" i="0">
                          <a:solidFill>
                            <a:srgbClr val="1A1440"/>
                          </a:solidFill>
                          <a:latin typeface="Calibri"/>
                        </a:rPr>
                        <a:t>The typical order, and no rupees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built on B's per-segment rates. </a:t>
            </a:r>
            <a:r>
              <a:rPr sz="1500" b="1" i="0">
                <a:solidFill>
                  <a:srgbClr val="1A1440"/>
                </a:solidFill>
                <a:latin typeface="Calibri"/>
              </a:rPr>
              <a:t>What would change it:</a:t>
            </a:r>
            <a:r>
              <a:rPr sz="1500" b="0" i="0">
                <a:solidFill>
                  <a:srgbClr val="1A1440"/>
                </a:solidFill>
                <a:latin typeface="Calibri"/>
              </a:rPr>
              <a:t> segments of similar order size would make mix negligible and B enough; a question about which products' prices moved needs order lines this file lacks.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blend moves with its shares or with its rates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move a blended revenue per order?</a:t>
            </a:r>
          </a:p>
        </p:txBody>
      </p:sp>
      <p:pic>
        <p:nvPicPr>
          <p:cNvPr id="9" name="mermaid diagram" descr="ba4c78974cfd796b.png"/>
          <p:cNvPicPr>
            <a:picLocks noChangeAspect="1"/>
          </p:cNvPicPr>
          <p:nvPr/>
        </p:nvPicPr>
        <p:blipFill>
          <a:blip r:embed="rId6"/>
          <a:stretch>
            <a:fillRect/>
          </a:stretch>
        </p:blipFill>
        <p:spPr>
          <a:xfrm>
            <a:off x="2971636" y="1664208"/>
            <a:ext cx="6248421"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The blend is each segment's share of orders times its own revenue per order, added up, so it can rise because the shares moved while every segment's own figure held.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lost orders were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Twenty-eight orders were lost between the quarters: how many were Retail-Plus?</a:t>
            </a:r>
          </a:p>
        </p:txBody>
      </p:sp>
      <p:pic>
        <p:nvPicPr>
          <p:cNvPr id="9" name="mermaid diagram" descr="2f3ff123fef4d2c7.png"/>
          <p:cNvPicPr>
            <a:picLocks noChangeAspect="1"/>
          </p:cNvPicPr>
          <p:nvPr/>
        </p:nvPicPr>
        <p:blipFill>
          <a:blip r:embed="rId5"/>
          <a:stretch>
            <a:fillRect/>
          </a:stretch>
        </p:blipFill>
        <p:spPr>
          <a:xfrm>
            <a:off x="2152497" y="1956816"/>
            <a:ext cx="7886700" cy="1100137"/>
          </a:xfrm>
          <a:prstGeom prst="rect">
            <a:avLst/>
          </a:prstGeom>
        </p:spPr>
      </p:pic>
      <p:sp>
        <p:nvSpPr>
          <p:cNvPr id="10" name="Rounded Rectangle 9"/>
          <p:cNvSpPr/>
          <p:nvPr/>
        </p:nvSpPr>
        <p:spPr>
          <a:xfrm>
            <a:off x="530352" y="3203257"/>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3127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22129"/>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28 lost orders: a) about 7; b) about 14; c) 25; d) all 28.</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25 of the 28 were small member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Twenty-eight orders were lost between the quarters: how many were Retail-Plus?</a:t>
            </a:r>
          </a:p>
        </p:txBody>
      </p:sp>
      <p:pic>
        <p:nvPicPr>
          <p:cNvPr id="9" name="mermaid diagram" descr="c47533a1abe46dfb.png"/>
          <p:cNvPicPr>
            <a:picLocks noChangeAspect="1"/>
          </p:cNvPicPr>
          <p:nvPr/>
        </p:nvPicPr>
        <p:blipFill>
          <a:blip r:embed="rId5"/>
          <a:stretch>
            <a:fillRect/>
          </a:stretch>
        </p:blipFill>
        <p:spPr>
          <a:xfrm>
            <a:off x="530352" y="1956816"/>
            <a:ext cx="11130991" cy="759828"/>
          </a:xfrm>
          <a:prstGeom prst="rect">
            <a:avLst/>
          </a:prstGeom>
        </p:spPr>
      </p:pic>
      <p:sp>
        <p:nvSpPr>
          <p:cNvPr id="10" name="Rounded Rectangle 9"/>
          <p:cNvSpPr/>
          <p:nvPr/>
        </p:nvSpPr>
        <p:spPr>
          <a:xfrm>
            <a:off x="530352" y="28629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9096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81820"/>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orders that vanished were about three thousand rupees each, which already hints at why the average order grew.</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did any segment's rate rise 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blend rose 18.0 percent: which segment's own revenue per order rose that far?</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1,84,211</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ALL ORDERS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revenue per order</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2,17,442</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Q2, ALL 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up 18.0 percent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Business; b) Retail-Plus; c) Student; d) none of them.</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the largest own rise is 14.8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blend rose 18.0 percent: which segment's own revenue per order rose that far?</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3084555"/>
                <a:gridCol w="3566017"/>
                <a:gridCol w="3566017"/>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revenue per order</a:t>
                      </a:r>
                    </a:p>
                  </a:txBody>
                  <a:tcPr marL="101600" marR="101600" marT="38100" marB="38100" anchor="ctr">
                    <a:solidFill>
                      <a:srgbClr val="1A0F5C"/>
                    </a:solidFill>
                  </a:tcPr>
                </a:tc>
                <a:tc>
                  <a:txBody>
                    <a:bodyPr/>
                    <a:lstStyle/>
                    <a:p>
                      <a:r>
                        <a:rPr sz="1250" b="1" i="0">
                          <a:solidFill>
                            <a:srgbClr val="FFFFFF"/>
                          </a:solidFill>
                          <a:latin typeface="Calibri"/>
                        </a:rPr>
                        <a:t>Q2 revenue per order</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Rs 2,117</a:t>
                      </a:r>
                    </a:p>
                  </a:txBody>
                  <a:tcPr marL="101600" marR="101600" marT="38100" marB="38100" anchor="ctr">
                    <a:solidFill>
                      <a:srgbClr val="FFFFFF"/>
                    </a:solidFill>
                  </a:tcPr>
                </a:tc>
                <a:tc>
                  <a:txBody>
                    <a:bodyPr/>
                    <a:lstStyle/>
                    <a:p>
                      <a:r>
                        <a:rPr sz="1200" b="0" i="0">
                          <a:solidFill>
                            <a:srgbClr val="1A1440"/>
                          </a:solidFill>
                          <a:latin typeface="Calibri"/>
                        </a:rPr>
                        <a:t>Rs 2,014</a:t>
                      </a:r>
                    </a:p>
                  </a:txBody>
                  <a:tcPr marL="101600" marR="101600" marT="38100" marB="38100" anchor="ctr">
                    <a:solidFill>
                      <a:srgbClr val="FFFFFF"/>
                    </a:solidFill>
                  </a:tcPr>
                </a:tc>
                <a:tc>
                  <a:txBody>
                    <a:bodyPr/>
                    <a:lstStyle/>
                    <a:p>
                      <a:r>
                        <a:rPr sz="1200" b="0" i="0">
                          <a:solidFill>
                            <a:srgbClr val="1A1440"/>
                          </a:solidFill>
                          <a:latin typeface="Calibri"/>
                        </a:rPr>
                        <a:t>-4.9%</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Rs 2,815</a:t>
                      </a:r>
                    </a:p>
                  </a:txBody>
                  <a:tcPr marL="101600" marR="101600" marT="38100" marB="38100" anchor="ctr">
                    <a:solidFill>
                      <a:srgbClr val="F4F2FA"/>
                    </a:solidFill>
                  </a:tcPr>
                </a:tc>
                <a:tc>
                  <a:txBody>
                    <a:bodyPr/>
                    <a:lstStyle/>
                    <a:p>
                      <a:r>
                        <a:rPr sz="1200" b="0" i="0">
                          <a:solidFill>
                            <a:srgbClr val="1A1440"/>
                          </a:solidFill>
                          <a:latin typeface="Calibri"/>
                        </a:rPr>
                        <a:t>Rs 3,012</a:t>
                      </a:r>
                    </a:p>
                  </a:txBody>
                  <a:tcPr marL="101600" marR="101600" marT="38100" marB="38100" anchor="ctr">
                    <a:solidFill>
                      <a:srgbClr val="F4F2FA"/>
                    </a:solidFill>
                  </a:tcPr>
                </a:tc>
                <a:tc>
                  <a:txBody>
                    <a:bodyPr/>
                    <a:lstStyle/>
                    <a:p>
                      <a:r>
                        <a:rPr sz="1200" b="0" i="0">
                          <a:solidFill>
                            <a:srgbClr val="1A1440"/>
                          </a:solidFill>
                          <a:latin typeface="Calibri"/>
                        </a:rPr>
                        <a:t>+7.0%</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Rs 10,38,559</a:t>
                      </a:r>
                    </a:p>
                  </a:txBody>
                  <a:tcPr marL="101600" marR="101600" marT="38100" marB="38100" anchor="ctr">
                    <a:solidFill>
                      <a:srgbClr val="FFFFFF"/>
                    </a:solidFill>
                  </a:tcPr>
                </a:tc>
                <a:tc>
                  <a:txBody>
                    <a:bodyPr/>
                    <a:lstStyle/>
                    <a:p>
                      <a:r>
                        <a:rPr sz="1200" b="0" i="0">
                          <a:solidFill>
                            <a:srgbClr val="1A1440"/>
                          </a:solidFill>
                          <a:latin typeface="Calibri"/>
                        </a:rPr>
                        <a:t>Rs 10,90,674</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Rs 962</a:t>
                      </a:r>
                    </a:p>
                  </a:txBody>
                  <a:tcPr marL="101600" marR="101600" marT="38100" marB="38100" anchor="ctr">
                    <a:solidFill>
                      <a:srgbClr val="F4F2FA"/>
                    </a:solidFill>
                  </a:tcPr>
                </a:tc>
                <a:tc>
                  <a:txBody>
                    <a:bodyPr/>
                    <a:lstStyle/>
                    <a:p>
                      <a:r>
                        <a:rPr sz="1200" b="0" i="0">
                          <a:solidFill>
                            <a:srgbClr val="1A1440"/>
                          </a:solidFill>
                          <a:latin typeface="Calibri"/>
                        </a:rPr>
                        <a:t>Rs 1,104</a:t>
                      </a:r>
                    </a:p>
                  </a:txBody>
                  <a:tcPr marL="101600" marR="101600" marT="38100" marB="38100" anchor="ctr">
                    <a:solidFill>
                      <a:srgbClr val="F4F2FA"/>
                    </a:solidFill>
                  </a:tcPr>
                </a:tc>
                <a:tc>
                  <a:txBody>
                    <a:bodyPr/>
                    <a:lstStyle/>
                    <a:p>
                      <a:r>
                        <a:rPr sz="1200" b="0" i="0">
                          <a:solidFill>
                            <a:srgbClr val="1A1440"/>
                          </a:solidFill>
                          <a:latin typeface="Calibri"/>
                        </a:rPr>
                        <a:t>+14.8%</a:t>
                      </a:r>
                    </a:p>
                  </a:txBody>
                  <a:tcPr marL="101600" marR="101600" marT="38100" marB="38100" anchor="ctr">
                    <a:solidFill>
                      <a:srgbClr val="F4F2FA"/>
                    </a:solidFill>
                  </a:tcPr>
                </a:tc>
              </a:tr>
              <a:tr h="335280">
                <a:tc>
                  <a:txBody>
                    <a:bodyPr/>
                    <a:lstStyle/>
                    <a:p>
                      <a:r>
                        <a:rPr sz="1200" b="0" i="0">
                          <a:solidFill>
                            <a:srgbClr val="1A1440"/>
                          </a:solidFill>
                          <a:latin typeface="Calibri"/>
                        </a:rPr>
                        <a:t>All orders, blended</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+18.0%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No segment rose 18 percent, so the blend rose because the mix of orders moved. The answer is 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67 / 88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customers pay 18%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read into the 18 percent, and what would it decide?</a:t>
            </a:r>
          </a:p>
        </p:txBody>
      </p:sp>
      <p:pic>
        <p:nvPicPr>
          <p:cNvPr id="9" name="mermaid diagram" descr="2241c1ee6dbb2ee0.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blend rises whenever small orders fall away, and no segment's own figure rose 18 percent. </a:t>
            </a:r>
            <a:r>
              <a:rPr sz="1500" b="1" i="0">
                <a:solidFill>
                  <a:srgbClr val="1A1440"/>
                </a:solidFill>
                <a:latin typeface="Calibri"/>
              </a:rPr>
              <a:t>The check</a:t>
            </a:r>
            <a:r>
              <a:rPr sz="1500" b="0" i="0">
                <a:solidFill>
                  <a:srgbClr val="1A1440"/>
                </a:solidFill>
                <a:latin typeface="Calibri"/>
              </a:rPr>
              <a:t> is the table of each segment's own rate.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68 / 88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Q2's mix at Q1's rates prices the mix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Rs 33,231 rise split into a mix part and a rate part?</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mix_only = 0</a:t>
            </a:r>
          </a:p>
          <a:p>
            <a:pPr>
              <a:spcAft>
                <a:spcPts val="200"/>
              </a:spcAft>
            </a:pPr>
            <a:r>
              <a:rPr sz="1400" b="0" i="0">
                <a:solidFill>
                  <a:srgbClr val="E4E1F1"/>
                </a:solidFill>
                <a:latin typeface="Consolas"/>
              </a:rPr>
              <a:t>for seg in SEGMENTS:</a:t>
            </a:r>
          </a:p>
          <a:p>
            <a:pPr>
              <a:spcAft>
                <a:spcPts val="200"/>
              </a:spcAft>
            </a:pPr>
            <a:r>
              <a:rPr sz="1400" b="0" i="0">
                <a:solidFill>
                  <a:srgbClr val="E4E1F1"/>
                </a:solidFill>
                <a:latin typeface="Consolas"/>
              </a:rPr>
              <a:t>    share_q2 = orders_q2[seg] / 86           # each segment's share of Q2's orders</a:t>
            </a:r>
          </a:p>
          <a:p>
            <a:pPr>
              <a:spcAft>
                <a:spcPts val="200"/>
              </a:spcAft>
            </a:pPr>
            <a:r>
              <a:rPr sz="1400" b="0" i="0">
                <a:solidFill>
                  <a:srgbClr val="E4E1F1"/>
                </a:solidFill>
                <a:latin typeface="Consolas"/>
              </a:rPr>
              <a:t>    mix_only += share_q2 * rate_q1[seg]      # priced at Q1's revenue per order</a:t>
            </a:r>
          </a:p>
          <a:p>
            <a:pPr>
              <a:spcAft>
                <a:spcPts val="200"/>
              </a:spcAft>
            </a:pPr>
            <a:r>
              <a:rPr sz="1400" b="0" i="0">
                <a:solidFill>
                  <a:srgbClr val="E4E1F1"/>
                </a:solidFill>
                <a:latin typeface="Consolas"/>
              </a:rPr>
              <a:t>mix = mix_only - 184211                      # the mix part</a:t>
            </a:r>
          </a:p>
          <a:p>
            <a:pPr>
              <a:spcAft>
                <a:spcPts val="200"/>
              </a:spcAft>
            </a:pPr>
            <a:r>
              <a:rPr sz="1400" b="0" i="0">
                <a:solidFill>
                  <a:srgbClr val="E4E1F1"/>
                </a:solidFill>
                <a:latin typeface="Consolas"/>
              </a:rPr>
              <a:t>rate = 217442 - mix_only                     # the rate part</a:t>
            </a:r>
          </a:p>
        </p:txBody>
      </p:sp>
      <p:sp>
        <p:nvSpPr>
          <p:cNvPr id="14" name="Rounded Rectangle 13"/>
          <p:cNvSpPr/>
          <p:nvPr/>
        </p:nvSpPr>
        <p:spPr>
          <a:xfrm>
            <a:off x="530352" y="4093463"/>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42569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4535423"/>
            <a:ext cx="237744" cy="237744"/>
          </a:xfrm>
          <a:prstGeom prst="rect">
            <a:avLst/>
          </a:prstGeom>
        </p:spPr>
      </p:pic>
      <p:sp>
        <p:nvSpPr>
          <p:cNvPr id="17" name="TextBox 16"/>
          <p:cNvSpPr txBox="1"/>
          <p:nvPr/>
        </p:nvSpPr>
        <p:spPr>
          <a:xfrm>
            <a:off x="1399031" y="423976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4459223"/>
            <a:ext cx="9987991" cy="682752"/>
          </a:xfrm>
          <a:prstGeom prst="rect">
            <a:avLst/>
          </a:prstGeom>
          <a:noFill/>
        </p:spPr>
        <p:txBody>
          <a:bodyPr wrap="square" anchor="t" lIns="0" rIns="0" tIns="0" bIns="0">
            <a:spAutoFit/>
          </a:bodyPr>
          <a:lstStyle/>
          <a:p>
            <a:r>
              <a:rPr sz="1500" b="0" i="0">
                <a:solidFill>
                  <a:srgbClr val="1A1440"/>
                </a:solidFill>
                <a:latin typeface="Calibri"/>
              </a:rPr>
              <a:t>Hold every segment at Q1's revenue per order and move only the shares: what the blend does then is the mix, and the rest is the rate.</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1" name="Oval 20"/>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5" name="Oval 24"/>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7" name="Oval 26"/>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69 / 88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69 percent of the rise is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At Q2's mix and Q1's rates, what would revenue per order have been?</a:t>
            </a:r>
          </a:p>
        </p:txBody>
      </p:sp>
      <p:pic>
        <p:nvPicPr>
          <p:cNvPr id="9" name="mermaid diagram" descr="a64e70afcab3fdf2.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At Q2's mix and Q1's rates revenue per order would already be Rs 2,07,112. "Customers pay 18 percent more, raise prices" became "the mix explains Rs 22,902 of the Rs 33,231 rise", and the price rise loses its evidence.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70 / 88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rate part is almost all Business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Rs 10,330 rate part made of, segment by segment?</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Rs 10,302</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17 orders, each about Rs 52,000 larger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Rs 60</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2,815 to Rs 3,012 an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Rs 12 and -Rs 43</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STUDENT AND RETAIL-CORE</a:t>
            </a:r>
          </a:p>
        </p:txBody>
      </p:sp>
      <p:sp>
        <p:nvSpPr>
          <p:cNvPr id="19" name="TextBox 18"/>
          <p:cNvSpPr txBox="1"/>
          <p:nvPr/>
        </p:nvSpPr>
        <p:spPr>
          <a:xfrm>
            <a:off x="813389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a hundred rupees or less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Business's lakh-sized orders carry almost all of the rate part, driven by one large order, as chapter 3's range showed; the consumer segments' own prices moved by a few hundred rupees at most.</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0" name="Oval 29"/>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32" name="Oval 3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71 / 88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groups on an envelope give 69.3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two groups, Business and everyone else, put the same share on the mix?</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1970115"/>
                <a:gridCol w="4965994"/>
                <a:gridCol w="1470802"/>
                <a:gridCol w="2724078"/>
              </a:tblGrid>
              <a:tr h="335280">
                <a:tc>
                  <a:txBody>
                    <a:bodyPr/>
                    <a:lstStyle/>
                    <a:p>
                      <a:r>
                        <a:rPr sz="1250" b="1" i="0">
                          <a:solidFill>
                            <a:srgbClr val="FFFFFF"/>
                          </a:solidFill>
                          <a:latin typeface="Calibri"/>
                        </a:rPr>
                        <a:t>Route</a:t>
                      </a:r>
                    </a:p>
                  </a:txBody>
                  <a:tcPr marL="101600" marR="101600" marT="38100" marB="38100" anchor="ctr">
                    <a:solidFill>
                      <a:srgbClr val="1A0F5C"/>
                    </a:solidFill>
                  </a:tcPr>
                </a:tc>
                <a:tc>
                  <a:txBody>
                    <a:bodyPr/>
                    <a:lstStyle/>
                    <a:p>
                      <a:r>
                        <a:rPr sz="1250" b="1" i="0">
                          <a:solidFill>
                            <a:srgbClr val="FFFFFF"/>
                          </a:solidFill>
                          <a:latin typeface="Calibri"/>
                        </a:rPr>
                        <a:t>What it prices</a:t>
                      </a:r>
                    </a:p>
                  </a:txBody>
                  <a:tcPr marL="101600" marR="101600" marT="38100" marB="38100" anchor="ctr">
                    <a:solidFill>
                      <a:srgbClr val="1A0F5C"/>
                    </a:solidFill>
                  </a:tcPr>
                </a:tc>
                <a:tc>
                  <a:txBody>
                    <a:bodyPr/>
                    <a:lstStyle/>
                    <a:p>
                      <a:r>
                        <a:rPr sz="1250" b="1" i="0">
                          <a:solidFill>
                            <a:srgbClr val="FFFFFF"/>
                          </a:solidFill>
                          <a:latin typeface="Calibri"/>
                        </a:rPr>
                        <a:t>Mix</a:t>
                      </a:r>
                    </a:p>
                  </a:txBody>
                  <a:tcPr marL="101600" marR="101600" marT="38100" marB="38100" anchor="ctr">
                    <a:solidFill>
                      <a:srgbClr val="1A0F5C"/>
                    </a:solidFill>
                  </a:tcPr>
                </a:tc>
                <a:tc>
                  <a:txBody>
                    <a:bodyPr/>
                    <a:lstStyle/>
                    <a:p>
                      <a:r>
                        <a:rPr sz="1250" b="1" i="0">
                          <a:solidFill>
                            <a:srgbClr val="FFFFFF"/>
                          </a:solidFill>
                          <a:latin typeface="Calibri"/>
                        </a:rPr>
                        <a:t>Share of the rise</a:t>
                      </a:r>
                    </a:p>
                  </a:txBody>
                  <a:tcPr marL="101600" marR="101600" marT="38100" marB="38100" anchor="ctr">
                    <a:solidFill>
                      <a:srgbClr val="1A0F5C"/>
                    </a:solidFill>
                  </a:tcPr>
                </a:tc>
              </a:tr>
              <a:tr h="335280">
                <a:tc>
                  <a:txBody>
                    <a:bodyPr/>
                    <a:lstStyle/>
                    <a:p>
                      <a:r>
                        <a:rPr sz="1200" b="0" i="0">
                          <a:solidFill>
                            <a:srgbClr val="1A1440"/>
                          </a:solidFill>
                          <a:latin typeface="Calibri"/>
                        </a:rPr>
                        <a:t>Four segments</a:t>
                      </a:r>
                    </a:p>
                  </a:txBody>
                  <a:tcPr marL="101600" marR="101600" marT="38100" marB="38100" anchor="ctr">
                    <a:solidFill>
                      <a:srgbClr val="FFFFFF"/>
                    </a:solidFill>
                  </a:tcPr>
                </a:tc>
                <a:tc>
                  <a:txBody>
                    <a:bodyPr/>
                    <a:lstStyle/>
                    <a:p>
                      <a:r>
                        <a:rPr sz="1200" b="0" i="0">
                          <a:solidFill>
                            <a:srgbClr val="1A1440"/>
                          </a:solidFill>
                          <a:latin typeface="Calibri"/>
                        </a:rPr>
                        <a:t>Q2's mix at each segment's Q1 rate</a:t>
                      </a:r>
                    </a:p>
                  </a:txBody>
                  <a:tcPr marL="101600" marR="101600" marT="38100" marB="38100" anchor="ctr">
                    <a:solidFill>
                      <a:srgbClr val="FFFFFF"/>
                    </a:solidFill>
                  </a:tcPr>
                </a:tc>
                <a:tc>
                  <a:txBody>
                    <a:bodyPr/>
                    <a:lstStyle/>
                    <a:p>
                      <a:r>
                        <a:rPr sz="1200" b="0" i="0">
                          <a:solidFill>
                            <a:srgbClr val="1A1440"/>
                          </a:solidFill>
                          <a:latin typeface="Calibri"/>
                        </a:rPr>
                        <a:t>Rs 22,902</a:t>
                      </a:r>
                    </a:p>
                  </a:txBody>
                  <a:tcPr marL="101600" marR="101600" marT="38100" marB="38100" anchor="ctr">
                    <a:solidFill>
                      <a:srgbClr val="FFFFFF"/>
                    </a:solidFill>
                  </a:tcPr>
                </a:tc>
                <a:tc>
                  <a:txBody>
                    <a:bodyPr/>
                    <a:lstStyle/>
                    <a:p>
                      <a:r>
                        <a:rPr sz="1200" b="0" i="0">
                          <a:solidFill>
                            <a:srgbClr val="1A1440"/>
                          </a:solidFill>
                          <a:latin typeface="Calibri"/>
                        </a:rPr>
                        <a:t>68.9%</a:t>
                      </a:r>
                    </a:p>
                  </a:txBody>
                  <a:tcPr marL="101600" marR="101600" marT="38100" marB="38100" anchor="ctr">
                    <a:solidFill>
                      <a:srgbClr val="FFFFFF"/>
                    </a:solidFill>
                  </a:tcPr>
                </a:tc>
              </a:tr>
              <a:tr h="335280">
                <a:tc>
                  <a:txBody>
                    <a:bodyPr/>
                    <a:lstStyle/>
                    <a:p>
                      <a:r>
                        <a:rPr sz="1200" b="0" i="0">
                          <a:solidFill>
                            <a:srgbClr val="1A1440"/>
                          </a:solidFill>
                          <a:latin typeface="Calibri"/>
                        </a:rPr>
                        <a:t>Two groups</a:t>
                      </a:r>
                    </a:p>
                  </a:txBody>
                  <a:tcPr marL="101600" marR="101600" marT="38100" marB="38100" anchor="ctr">
                    <a:solidFill>
                      <a:srgbClr val="F4F2FA"/>
                    </a:solidFill>
                  </a:tcPr>
                </a:tc>
                <a:tc>
                  <a:txBody>
                    <a:bodyPr/>
                    <a:lstStyle/>
                    <a:p>
                      <a:r>
                        <a:rPr sz="1200" b="0" i="0">
                          <a:solidFill>
                            <a:srgbClr val="1A1440"/>
                          </a:solidFill>
                          <a:latin typeface="Calibri"/>
                        </a:rPr>
                        <a:t>Business's share change times its gap</a:t>
                      </a:r>
                    </a:p>
                  </a:txBody>
                  <a:tcPr marL="101600" marR="101600" marT="38100" marB="38100" anchor="ctr">
                    <a:solidFill>
                      <a:srgbClr val="F4F2FA"/>
                    </a:solidFill>
                  </a:tcPr>
                </a:tc>
                <a:tc>
                  <a:txBody>
                    <a:bodyPr/>
                    <a:lstStyle/>
                    <a:p>
                      <a:r>
                        <a:rPr sz="1200" b="0" i="0">
                          <a:solidFill>
                            <a:srgbClr val="1A1440"/>
                          </a:solidFill>
                          <a:latin typeface="Calibri"/>
                        </a:rPr>
                        <a:t>Rs 23,039</a:t>
                      </a:r>
                    </a:p>
                  </a:txBody>
                  <a:tcPr marL="101600" marR="101600" marT="38100" marB="38100" anchor="ctr">
                    <a:solidFill>
                      <a:srgbClr val="F4F2FA"/>
                    </a:solidFill>
                  </a:tcPr>
                </a:tc>
                <a:tc>
                  <a:txBody>
                    <a:bodyPr/>
                    <a:lstStyle/>
                    <a:p>
                      <a:r>
                        <a:rPr sz="1200" b="0" i="0">
                          <a:solidFill>
                            <a:srgbClr val="1A1440"/>
                          </a:solidFill>
                          <a:latin typeface="Calibri"/>
                        </a:rPr>
                        <a:t>69.3%</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Report the four-segment split, since it names each segment's part; the envelope is the check with no laptop, and it stops agreeing when the consumer segments' own shares move a lot against each other.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72 / 88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 price signal: 69 percent of the rise is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customers pay more, and what did each question on the way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5027545"/>
                <a:gridCol w="6103445"/>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reading of the rise?</a:t>
                      </a:r>
                    </a:p>
                  </a:txBody>
                  <a:tcPr marL="101600" marR="101600" marT="38100" marB="38100" anchor="ctr">
                    <a:solidFill>
                      <a:srgbClr val="FFFFFF"/>
                    </a:solidFill>
                  </a:tcPr>
                </a:tc>
                <a:tc>
                  <a:txBody>
                    <a:bodyPr/>
                    <a:lstStyle/>
                    <a:p>
                      <a:r>
                        <a:rPr sz="900" b="0" i="0">
                          <a:solidFill>
                            <a:srgbClr val="1A1440"/>
                          </a:solidFill>
                          <a:latin typeface="Calibri"/>
                        </a:rPr>
                        <a:t>The split into mix and rate</a:t>
                      </a:r>
                    </a:p>
                  </a:txBody>
                  <a:tcPr marL="101600" marR="101600" marT="38100" marB="38100" anchor="ctr">
                    <a:solidFill>
                      <a:srgbClr val="FFFFFF"/>
                    </a:solidFill>
                  </a:tcPr>
                </a:tc>
              </a:tr>
              <a:tr h="310896">
                <a:tc>
                  <a:txBody>
                    <a:bodyPr/>
                    <a:lstStyle/>
                    <a:p>
                      <a:r>
                        <a:rPr sz="900" b="0" i="0">
                          <a:solidFill>
                            <a:srgbClr val="1A1440"/>
                          </a:solidFill>
                          <a:latin typeface="Calibri"/>
                        </a:rPr>
                        <a:t>2. Whose orders were lost?</a:t>
                      </a:r>
                    </a:p>
                  </a:txBody>
                  <a:tcPr marL="101600" marR="101600" marT="38100" marB="38100" anchor="ctr">
                    <a:solidFill>
                      <a:srgbClr val="F4F2FA"/>
                    </a:solidFill>
                  </a:tcPr>
                </a:tc>
                <a:tc>
                  <a:txBody>
                    <a:bodyPr/>
                    <a:lstStyle/>
                    <a:p>
                      <a:r>
                        <a:rPr sz="900" b="0" i="0">
                          <a:solidFill>
                            <a:srgbClr val="1A1440"/>
                          </a:solidFill>
                          <a:latin typeface="Calibri"/>
                        </a:rPr>
                        <a:t>Retail-Plus lost 25 of the 28</a:t>
                      </a:r>
                    </a:p>
                  </a:txBody>
                  <a:tcPr marL="101600" marR="101600" marT="38100" marB="38100" anchor="ctr">
                    <a:solidFill>
                      <a:srgbClr val="F4F2FA"/>
                    </a:solidFill>
                  </a:tcPr>
                </a:tc>
              </a:tr>
              <a:tr h="310896">
                <a:tc>
                  <a:txBody>
                    <a:bodyPr/>
                    <a:lstStyle/>
                    <a:p>
                      <a:r>
                        <a:rPr sz="900" b="0" i="0">
                          <a:solidFill>
                            <a:srgbClr val="1A1440"/>
                          </a:solidFill>
                          <a:latin typeface="Calibri"/>
                        </a:rPr>
                        <a:t>3. Did any segment rise 18%?</a:t>
                      </a:r>
                    </a:p>
                  </a:txBody>
                  <a:tcPr marL="101600" marR="101600" marT="38100" marB="38100" anchor="ctr">
                    <a:solidFill>
                      <a:srgbClr val="FFFFFF"/>
                    </a:solidFill>
                  </a:tcPr>
                </a:tc>
                <a:tc>
                  <a:txBody>
                    <a:bodyPr/>
                    <a:lstStyle/>
                    <a:p>
                      <a:r>
                        <a:rPr sz="900" b="0" i="0">
                          <a:solidFill>
                            <a:srgbClr val="1A1440"/>
                          </a:solidFill>
                          <a:latin typeface="Calibri"/>
                        </a:rPr>
                        <a:t>No; Student's 14.8 was the most</a:t>
                      </a:r>
                    </a:p>
                  </a:txBody>
                  <a:tcPr marL="101600" marR="101600" marT="38100" marB="38100" anchor="ctr">
                    <a:solidFill>
                      <a:srgbClr val="FFFFFF"/>
                    </a:solidFill>
                  </a:tcPr>
                </a:tc>
              </a:tr>
              <a:tr h="310896">
                <a:tc>
                  <a:txBody>
                    <a:bodyPr/>
                    <a:lstStyle/>
                    <a:p>
                      <a:r>
                        <a:rPr sz="900" b="0" i="0">
                          <a:solidFill>
                            <a:srgbClr val="1A1440"/>
                          </a:solidFill>
                          <a:latin typeface="Calibri"/>
                        </a:rPr>
                        <a:t>4. Price or mix?</a:t>
                      </a:r>
                    </a:p>
                  </a:txBody>
                  <a:tcPr marL="101600" marR="101600" marT="38100" marB="38100" anchor="ctr">
                    <a:solidFill>
                      <a:srgbClr val="F4F2FA"/>
                    </a:solidFill>
                  </a:tcPr>
                </a:tc>
                <a:tc>
                  <a:txBody>
                    <a:bodyPr/>
                    <a:lstStyle/>
                    <a:p>
                      <a:r>
                        <a:rPr sz="900" b="0" i="0">
                          <a:solidFill>
                            <a:srgbClr val="1A1440"/>
                          </a:solidFill>
                          <a:latin typeface="Calibri"/>
                        </a:rPr>
                        <a:t>Mix: Rs 22,902 of the Rs 33,231 rise</a:t>
                      </a:r>
                    </a:p>
                  </a:txBody>
                  <a:tcPr marL="101600" marR="101600" marT="38100" marB="38100" anchor="ctr">
                    <a:solidFill>
                      <a:srgbClr val="F4F2FA"/>
                    </a:solidFill>
                  </a:tcPr>
                </a:tc>
              </a:tr>
              <a:tr h="310896">
                <a:tc>
                  <a:txBody>
                    <a:bodyPr/>
                    <a:lstStyle/>
                    <a:p>
                      <a:r>
                        <a:rPr sz="900" b="0" i="0">
                          <a:solidFill>
                            <a:srgbClr val="1A1440"/>
                          </a:solidFill>
                          <a:latin typeface="Calibri"/>
                        </a:rPr>
                        <a:t>5. What is the rate part?</a:t>
                      </a:r>
                    </a:p>
                  </a:txBody>
                  <a:tcPr marL="101600" marR="101600" marT="38100" marB="38100" anchor="ctr">
                    <a:solidFill>
                      <a:srgbClr val="FFFFFF"/>
                    </a:solidFill>
                  </a:tcPr>
                </a:tc>
                <a:tc>
                  <a:txBody>
                    <a:bodyPr/>
                    <a:lstStyle/>
                    <a:p>
                      <a:r>
                        <a:rPr sz="900" b="0" i="0">
                          <a:solidFill>
                            <a:srgbClr val="1A1440"/>
                          </a:solidFill>
                          <a:latin typeface="Calibri"/>
                        </a:rPr>
                        <a:t>Business, Rs 10,302 of Rs 10,330</a:t>
                      </a:r>
                    </a:p>
                  </a:txBody>
                  <a:tcPr marL="101600" marR="101600" marT="38100" marB="38100" anchor="ctr">
                    <a:solidFill>
                      <a:srgbClr val="FFFFFF"/>
                    </a:solidFill>
                  </a:tcPr>
                </a:tc>
              </a:tr>
              <a:tr h="310896">
                <a:tc>
                  <a:txBody>
                    <a:bodyPr/>
                    <a:lstStyle/>
                    <a:p>
                      <a:r>
                        <a:rPr sz="900" b="0" i="0">
                          <a:solidFill>
                            <a:srgbClr val="1A1440"/>
                          </a:solidFill>
                          <a:latin typeface="Calibri"/>
                        </a:rPr>
                        <a:t>6. Does the envelope agree?</a:t>
                      </a:r>
                    </a:p>
                  </a:txBody>
                  <a:tcPr marL="101600" marR="101600" marT="38100" marB="38100" anchor="ctr">
                    <a:solidFill>
                      <a:srgbClr val="F4F2FA"/>
                    </a:solidFill>
                  </a:tcPr>
                </a:tc>
                <a:tc>
                  <a:txBody>
                    <a:bodyPr/>
                    <a:lstStyle/>
                    <a:p>
                      <a:r>
                        <a:rPr sz="900" b="0" i="0">
                          <a:solidFill>
                            <a:srgbClr val="1A1440"/>
                          </a:solidFill>
                          <a:latin typeface="Calibri"/>
                        </a:rPr>
                        <a:t>Yes: 69.3 against 68.9 percent</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"Marketing looked at a blend and saw a price signal. You opened it and found 25 small orders missing. No consumer segment paid meaningfully more; the small orders disappeared, from the tier we are about to ask about."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Revenue per order rose 18 percent while revenue fell; did prices go up?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Did customers pay more?</a:t>
            </a:r>
          </a:p>
        </p:txBody>
      </p:sp>
      <p:sp>
        <p:nvSpPr>
          <p:cNvPr id="28" name="Oval 2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73 / 88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Were customers lost?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says the flat count hides customers lost and replaced: were any lost, who slowed instead, and which segment fell most?</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21367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47407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customers pay more?</a:t>
            </a:r>
          </a:p>
        </p:txBody>
      </p:sp>
      <p:sp>
        <p:nvSpPr>
          <p:cNvPr id="14" name="Rounded Rectangle 13"/>
          <p:cNvSpPr/>
          <p:nvPr/>
        </p:nvSpPr>
        <p:spPr>
          <a:xfrm>
            <a:off x="731153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Were customers lost?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 from Q1 to Q2?</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74 / 88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Rs 12 crore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whether to release the Rs 12 crore acquisition budget, which Marketing now rests on churn hiding in a flat count. A wrong answer spends crores replacing customers who never left, while the ones who slowed keep slowing.</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test sees churn?</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tests,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are missing?</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Q1's 69 against Q2's ids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slowed down?</a:t>
            </a:r>
          </a:p>
        </p:txBody>
      </p:sp>
      <p:sp>
        <p:nvSpPr>
          <p:cNvPr id="27" name="TextBox 26"/>
          <p:cNvSpPr txBox="1"/>
          <p:nvPr/>
        </p:nvSpPr>
        <p:spPr>
          <a:xfrm>
            <a:off x="4466234"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Customer by customer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fell most?</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Last quarter's summary script</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Too small to matter?</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Retail-Plus in rupees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the dates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A second route, first and last orders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45" name="Oval 4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51" name="Oval 5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churn is hiding in a flat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claim now, and what would a wrong answer cost?</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"A flat count can hide churn replaced by new customers, which is why we need acquisition. And Retail-Plus is Rs 65,250 out of a Rs 23 lakh fall. Last quarter's summary script says Business fell most." (the marketing lead)</a:t>
            </a:r>
          </a:p>
        </p:txBody>
      </p:sp>
      <p:pic>
        <p:nvPicPr>
          <p:cNvPr id="14" name="mermaid diagram" descr="6138a9a6c709e7e1.png"/>
          <p:cNvPicPr>
            <a:picLocks noChangeAspect="1"/>
          </p:cNvPicPr>
          <p:nvPr/>
        </p:nvPicPr>
        <p:blipFill>
          <a:blip r:embed="rId6"/>
          <a:stretch>
            <a:fillRect/>
          </a:stretch>
        </p:blipFill>
        <p:spPr>
          <a:xfrm>
            <a:off x="3524097" y="3502152"/>
            <a:ext cx="5143500" cy="22860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Keeping a customer costs a fraction of winning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published studies say about acquisition against retention?</a:t>
            </a:r>
          </a:p>
        </p:txBody>
      </p:sp>
      <p:sp>
        <p:nvSpPr>
          <p:cNvPr id="9" name="TextBox 8"/>
          <p:cNvSpPr txBox="1"/>
          <p:nvPr/>
        </p:nvSpPr>
        <p:spPr>
          <a:xfrm>
            <a:off x="53035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5 to 25x</a:t>
            </a:r>
          </a:p>
        </p:txBody>
      </p:sp>
      <p:sp>
        <p:nvSpPr>
          <p:cNvPr id="10" name="TextBox 9"/>
          <p:cNvSpPr txBox="1"/>
          <p:nvPr/>
        </p:nvSpPr>
        <p:spPr>
          <a:xfrm>
            <a:off x="53035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ACQUISITION AGAINST RETENTION</a:t>
            </a:r>
          </a:p>
        </p:txBody>
      </p:sp>
      <p:sp>
        <p:nvSpPr>
          <p:cNvPr id="11" name="TextBox 10"/>
          <p:cNvSpPr txBox="1"/>
          <p:nvPr/>
        </p:nvSpPr>
        <p:spPr>
          <a:xfrm>
            <a:off x="53035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cost, by study and industry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25 to 95%</a:t>
            </a:r>
          </a:p>
        </p:txBody>
      </p:sp>
      <p:sp>
        <p:nvSpPr>
          <p:cNvPr id="14" name="TextBox 13"/>
          <p:cNvSpPr txBox="1"/>
          <p:nvPr/>
        </p:nvSpPr>
        <p:spPr>
          <a:xfrm>
            <a:off x="433212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PROFIT LIFT</a:t>
            </a:r>
          </a:p>
        </p:txBody>
      </p:sp>
      <p:sp>
        <p:nvSpPr>
          <p:cNvPr id="15" name="TextBox 14"/>
          <p:cNvSpPr txBox="1"/>
          <p:nvPr/>
        </p:nvSpPr>
        <p:spPr>
          <a:xfrm>
            <a:off x="433212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a 5 percent rise in retention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+34% / 4.53 to 4.10</a:t>
            </a:r>
          </a:p>
        </p:txBody>
      </p:sp>
      <p:sp>
        <p:nvSpPr>
          <p:cNvPr id="18" name="TextBox 17"/>
          <p:cNvSpPr txBox="1"/>
          <p:nvPr/>
        </p:nvSpPr>
        <p:spPr>
          <a:xfrm>
            <a:off x="813389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SWIGGY USERS / ORDERS PER USER</a:t>
            </a:r>
          </a:p>
        </p:txBody>
      </p:sp>
      <p:sp>
        <p:nvSpPr>
          <p:cNvPr id="19" name="TextBox 18"/>
          <p:cNvSpPr txBox="1"/>
          <p:nvPr/>
        </p:nvSpPr>
        <p:spPr>
          <a:xfrm>
            <a:off x="813389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Sep 2025</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If the fall is frequency among customers Kalpa already has, the cheaper lever is on the table; the reply asks Finance for Kalpa's own acquisition cost before comparing rupees.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2" name="Oval 31"/>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88</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id overlap, then each customer, answers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tests can see customers lost and customers new?</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481654"/>
                <a:gridCol w="1935551"/>
                <a:gridCol w="1767015"/>
                <a:gridCol w="294676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Sees lost</a:t>
                      </a:r>
                    </a:p>
                  </a:txBody>
                  <a:tcPr marL="101600" marR="101600" marT="38100" marB="38100" anchor="ctr">
                    <a:solidFill>
                      <a:srgbClr val="1A0F5C"/>
                    </a:solidFill>
                  </a:tcPr>
                </a:tc>
                <a:tc>
                  <a:txBody>
                    <a:bodyPr/>
                    <a:lstStyle/>
                    <a:p>
                      <a:r>
                        <a:rPr sz="1250" b="1" i="0">
                          <a:solidFill>
                            <a:srgbClr val="FFFFFF"/>
                          </a:solidFill>
                          <a:latin typeface="Calibri"/>
                        </a:rPr>
                        <a:t>Sees new</a:t>
                      </a:r>
                    </a:p>
                  </a:txBody>
                  <a:tcPr marL="101600" marR="101600" marT="38100" marB="38100" anchor="ctr">
                    <a:solidFill>
                      <a:srgbClr val="1A0F5C"/>
                    </a:solidFill>
                  </a:tcPr>
                </a:tc>
                <a:tc>
                  <a:txBody>
                    <a:bodyPr/>
                    <a:lstStyle/>
                    <a:p>
                      <a:r>
                        <a:rPr sz="1250" b="1" i="0">
                          <a:solidFill>
                            <a:srgbClr val="FFFFFF"/>
                          </a:solidFill>
                          <a:latin typeface="Calibri"/>
                        </a:rPr>
                        <a:t>Sees who slowed</a:t>
                      </a:r>
                    </a:p>
                  </a:txBody>
                  <a:tcPr marL="101600" marR="101600" marT="38100" marB="38100" anchor="ctr">
                    <a:solidFill>
                      <a:srgbClr val="1A0F5C"/>
                    </a:solidFill>
                  </a:tcPr>
                </a:tc>
              </a:tr>
              <a:tr h="335280">
                <a:tc>
                  <a:txBody>
                    <a:bodyPr/>
                    <a:lstStyle/>
                    <a:p>
                      <a:r>
                        <a:rPr sz="1200" b="0" i="0">
                          <a:solidFill>
                            <a:srgbClr val="1A1440"/>
                          </a:solidFill>
                          <a:latin typeface="Calibri"/>
                        </a:rPr>
                        <a:t>A. Compare the counts</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The id overlap, as sets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Customer by customer</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Marketing's CRM sign-ups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then C: three numbers anyone can rerun, then who slowed. </a:t>
            </a:r>
            <a:r>
              <a:rPr sz="1500" b="1" i="0">
                <a:solidFill>
                  <a:srgbClr val="1A1440"/>
                </a:solidFill>
                <a:latin typeface="Calibri"/>
              </a:rPr>
              <a:t>What would change it:</a:t>
            </a:r>
            <a:r>
              <a:rPr sz="1500" b="0" i="0">
                <a:solidFill>
                  <a:srgbClr val="1A1440"/>
                </a:solidFill>
                <a:latin typeface="Calibri"/>
              </a:rPr>
              <a:t> one person holding two ids, store and app, would make the overlap invent churn, and the CRM would be needed to join them first.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sets of ids split into kept, lost and new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net count hide, and what do two sets of ids show?</a:t>
            </a:r>
          </a:p>
        </p:txBody>
      </p:sp>
      <p:pic>
        <p:nvPicPr>
          <p:cNvPr id="9" name="mermaid diagram" descr="f66c9372c04f462f.png"/>
          <p:cNvPicPr>
            <a:picLocks noChangeAspect="1"/>
          </p:cNvPicPr>
          <p:nvPr/>
        </p:nvPicPr>
        <p:blipFill>
          <a:blip r:embed="rId6"/>
          <a:stretch>
            <a:fillRect/>
          </a:stretch>
        </p:blipFill>
        <p:spPr>
          <a:xfrm>
            <a:off x="4021672" y="1664208"/>
            <a:ext cx="4148349"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A count is net: twenty lost and twenty new leave it where it was. Only the ids themselves separate the three groups.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3" name="Oval 22"/>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set operations answer Marketing's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code find who is kept, lost and new?</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ids = {"Q1": set(), "Q2": set()}</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ids[order["quarter"]].add(order["customer_id"])</a:t>
            </a:r>
          </a:p>
          <a:p>
            <a:pPr>
              <a:spcAft>
                <a:spcPts val="200"/>
              </a:spcAft>
            </a:pPr>
            <a:r>
              <a:rPr sz="1400" b="0" i="0">
                <a:solidFill>
                  <a:srgbClr val="E4E1F1"/>
                </a:solidFill>
                <a:latin typeface="Consolas"/>
              </a:rPr>
              <a:t>both = ids["Q1"] &amp; ids["Q2"]    # bought in both quarters</a:t>
            </a:r>
          </a:p>
          <a:p>
            <a:pPr>
              <a:spcAft>
                <a:spcPts val="200"/>
              </a:spcAft>
            </a:pPr>
            <a:r>
              <a:rPr sz="1400" b="0" i="0">
                <a:solidFill>
                  <a:srgbClr val="E4E1F1"/>
                </a:solidFill>
                <a:latin typeface="Consolas"/>
              </a:rPr>
              <a:t>lost = ids["Q1"] - ids["Q2"]    # bought in Q1 only</a:t>
            </a:r>
          </a:p>
          <a:p>
            <a:pPr>
              <a:spcAft>
                <a:spcPts val="200"/>
              </a:spcAft>
            </a:pPr>
            <a:r>
              <a:rPr sz="1400" b="0" i="0">
                <a:solidFill>
                  <a:srgbClr val="E4E1F1"/>
                </a:solidFill>
                <a:latin typeface="Consolas"/>
              </a:rPr>
              <a:t>new = ids["Q2"] - ids["Q1"]     # bought in Q2 only</a:t>
            </a:r>
          </a:p>
        </p:txBody>
      </p:sp>
      <p:sp>
        <p:nvSpPr>
          <p:cNvPr id="14" name="Rounded Rectangle 13"/>
          <p:cNvSpPr/>
          <p:nvPr/>
        </p:nvSpPr>
        <p:spPr>
          <a:xfrm>
            <a:off x="530352" y="4093463"/>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42569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4535423"/>
            <a:ext cx="237744" cy="237744"/>
          </a:xfrm>
          <a:prstGeom prst="rect">
            <a:avLst/>
          </a:prstGeom>
        </p:spPr>
      </p:pic>
      <p:sp>
        <p:nvSpPr>
          <p:cNvPr id="17" name="TextBox 16"/>
          <p:cNvSpPr txBox="1"/>
          <p:nvPr/>
        </p:nvSpPr>
        <p:spPr>
          <a:xfrm>
            <a:off x="1399031" y="423976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4459223"/>
            <a:ext cx="9987991" cy="682752"/>
          </a:xfrm>
          <a:prstGeom prst="rect">
            <a:avLst/>
          </a:prstGeom>
          <a:noFill/>
        </p:spPr>
        <p:txBody>
          <a:bodyPr wrap="square" anchor="t" lIns="0" rIns="0" tIns="0" bIns="0">
            <a:spAutoFit/>
          </a:bodyPr>
          <a:lstStyle/>
          <a:p>
            <a:r>
              <a:rPr sz="1500" b="0" i="0">
                <a:solidFill>
                  <a:srgbClr val="1A1440"/>
                </a:solidFill>
                <a:latin typeface="Calibri"/>
              </a:rPr>
              <a:t>A set holds each id once, &amp; keeps what both sets share and - keeps what the first has and the second lacks.</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1" name="Oval 20"/>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5" name="Oval 24"/>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7" name="Oval 26"/>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Q1's 69 are missing?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twenty lost and twenty new would look exactly like 69 and 69: how many are missing?</a:t>
            </a:r>
          </a:p>
        </p:txBody>
      </p:sp>
      <p:pic>
        <p:nvPicPr>
          <p:cNvPr id="9" name="mermaid diagram" descr="c90f09baabec8381.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about 20, replaced by 20 new; b) about 5; c) none; d) it cannot be told from one export.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lost, none new, 18 members slowed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twenty lost and twenty new would look exactly like 69 and 69: how many are missing?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69 / 0 / 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BOTH / ONLY Q1 / ONLY Q2</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id overlap</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WHO SLOWED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44 ordered as often as before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18</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THEM IN RETAIL-PLUS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7 fell by two orders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flat count hides no churn; the fall is people Kalpa already has, buying less often, and most of them are members.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32" name="Oval 31"/>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Business fell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 fell most, according to last quarter's summary script?</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pct_change(before, after):</a:t>
            </a:r>
          </a:p>
          <a:p>
            <a:pPr>
              <a:spcAft>
                <a:spcPts val="200"/>
              </a:spcAft>
            </a:pPr>
            <a:r>
              <a:rPr sz="1400" b="0" i="0">
                <a:solidFill>
                  <a:srgbClr val="E4E1F1"/>
                </a:solidFill>
                <a:latin typeface="Consolas"/>
              </a:rPr>
              <a:t>    change = 100 * (after - before) / before</a:t>
            </a:r>
          </a:p>
          <a:p>
            <a:pPr>
              <a:spcAft>
                <a:spcPts val="200"/>
              </a:spcAft>
            </a:pPr>
            <a:r>
              <a:rPr sz="1400" b="0" i="0">
                <a:solidFill>
                  <a:srgbClr val="E4E1F1"/>
                </a:solidFill>
                <a:latin typeface="Consolas"/>
              </a:rPr>
              <a:t>    if abs(change) &gt; 30:</a:t>
            </a:r>
          </a:p>
          <a:p>
            <a:pPr>
              <a:spcAft>
                <a:spcPts val="200"/>
              </a:spcAft>
            </a:pPr>
            <a:r>
              <a:rPr sz="1400" b="0" i="0">
                <a:solidFill>
                  <a:srgbClr val="E4E1F1"/>
                </a:solidFill>
                <a:latin typeface="Consolas"/>
              </a:rPr>
              <a:t>        print(f"  check by hand: {change:+.1f}%")</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return round(change, 1)</a:t>
            </a:r>
          </a:p>
          <a:p>
            <a:pPr>
              <a:spcAft>
                <a:spcPts val="200"/>
              </a:spcAft>
            </a:pPr>
            <a:r>
              <a:rPr sz="1400" b="0" i="0">
                <a:solidFill>
                  <a:srgbClr val="A9A3D2"/>
                </a:solidFill>
                <a:latin typeface="Consolas"/>
              </a:rPr>
              <a:t># summary: {'Retail-Core': -5.3, 'Business': -15.0}</a:t>
            </a:r>
          </a:p>
        </p:txBody>
      </p:sp>
      <p:sp>
        <p:nvSpPr>
          <p:cNvPr id="14" name="Rounded Rectangle 13"/>
          <p:cNvSpPr/>
          <p:nvPr/>
        </p:nvSpPr>
        <p:spPr>
          <a:xfrm>
            <a:off x="530352" y="4345939"/>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6781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bug_39ada6eff46d.png"/>
          <p:cNvPicPr>
            <a:picLocks noChangeAspect="1"/>
          </p:cNvPicPr>
          <p:nvPr/>
        </p:nvPicPr>
        <p:blipFill>
          <a:blip r:embed="rId4"/>
          <a:stretch>
            <a:fillRect/>
          </a:stretch>
        </p:blipFill>
        <p:spPr>
          <a:xfrm>
            <a:off x="868680" y="4787900"/>
            <a:ext cx="237744" cy="237744"/>
          </a:xfrm>
          <a:prstGeom prst="rect">
            <a:avLst/>
          </a:prstGeom>
        </p:spPr>
      </p:pic>
      <p:sp>
        <p:nvSpPr>
          <p:cNvPr id="17" name="TextBox 16"/>
          <p:cNvSpPr txBox="1"/>
          <p:nvPr/>
        </p:nvSpPr>
        <p:spPr>
          <a:xfrm>
            <a:off x="1399031" y="44922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8" name="TextBox 17"/>
          <p:cNvSpPr txBox="1"/>
          <p:nvPr/>
        </p:nvSpPr>
        <p:spPr>
          <a:xfrm>
            <a:off x="1399031" y="4711700"/>
            <a:ext cx="9987991" cy="682752"/>
          </a:xfrm>
          <a:prstGeom prst="rect">
            <a:avLst/>
          </a:prstGeom>
          <a:noFill/>
        </p:spPr>
        <p:txBody>
          <a:bodyPr wrap="square" anchor="t" lIns="0" rIns="0" tIns="0" bIns="0">
            <a:spAutoFit/>
          </a:bodyPr>
          <a:lstStyle/>
          <a:p>
            <a:r>
              <a:rPr sz="1500" b="0" i="0">
                <a:solidFill>
                  <a:srgbClr val="1A1440"/>
                </a:solidFill>
                <a:latin typeface="Calibri"/>
              </a:rPr>
              <a:t>"Orders per customer fell most in Business, 15.0 percent": Meera opens Business accounts first, and the head of Retail-Plus is told his tier is not in the table.</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1" name="Oval 20"/>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5" name="Oval 24"/>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7" name="Oval 26"/>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83 / 88</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segments came back as None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tidy summary hold two segments when four went in?</a:t>
            </a:r>
          </a:p>
        </p:txBody>
      </p:sp>
      <p:pic>
        <p:nvPicPr>
          <p:cNvPr id="9" name="mermaid diagram" descr="e248c891e60b1bd4.png"/>
          <p:cNvPicPr>
            <a:picLocks noChangeAspect="1"/>
          </p:cNvPicPr>
          <p:nvPr/>
        </p:nvPicPr>
        <p:blipFill>
          <a:blip r:embed="rId5"/>
          <a:stretch>
            <a:fillRect/>
          </a:stretch>
        </p:blipFill>
        <p:spPr>
          <a:xfrm>
            <a:off x="530352" y="1956816"/>
            <a:ext cx="11130991" cy="1331913"/>
          </a:xfrm>
          <a:prstGeom prst="rect">
            <a:avLst/>
          </a:prstGeom>
        </p:spPr>
      </p:pic>
      <p:sp>
        <p:nvSpPr>
          <p:cNvPr id="10" name="Rounded Rectangle 9"/>
          <p:cNvSpPr/>
          <p:nvPr/>
        </p:nvSpPr>
        <p:spPr>
          <a:xfrm>
            <a:off x="530352" y="3435033"/>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63049"/>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53905"/>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groups in and groups out: four segments went in, two came back with a number.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84 / 88</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return every change, flag it in a column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the helper hand back, and where does the flag go?</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910190"/>
                <a:gridCol w="914400"/>
                <a:gridCol w="914400"/>
                <a:gridCol w="914400"/>
                <a:gridCol w="44776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c>
                  <a:txBody>
                    <a:bodyPr/>
                    <a:lstStyle/>
                    <a:p>
                      <a:r>
                        <a:rPr sz="1250" b="1" i="0">
                          <a:solidFill>
                            <a:srgbClr val="FFFFFF"/>
                          </a:solidFill>
                          <a:latin typeface="Calibri"/>
                        </a:rPr>
                        <a:t>Flag</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1.12</a:t>
                      </a:r>
                    </a:p>
                  </a:txBody>
                  <a:tcPr marL="101600" marR="101600" marT="38100" marB="38100" anchor="ctr">
                    <a:solidFill>
                      <a:srgbClr val="FFFFFF"/>
                    </a:solidFill>
                  </a:tcPr>
                </a:tc>
                <a:tc>
                  <a:txBody>
                    <a:bodyPr/>
                    <a:lstStyle/>
                    <a:p>
                      <a:r>
                        <a:rPr sz="1200" b="0" i="0">
                          <a:solidFill>
                            <a:srgbClr val="1A1440"/>
                          </a:solidFill>
                          <a:latin typeface="Calibri"/>
                        </a:rPr>
                        <a:t>1.06</a:t>
                      </a:r>
                    </a:p>
                  </a:txBody>
                  <a:tcPr marL="101600" marR="101600" marT="38100" marB="38100" anchor="ctr">
                    <a:solidFill>
                      <a:srgbClr val="FFFFFF"/>
                    </a:solidFill>
                  </a:tcPr>
                </a:tc>
                <a:tc>
                  <a:txBody>
                    <a:bodyPr/>
                    <a:lstStyle/>
                    <a:p>
                      <a:r>
                        <a:rPr sz="1200" b="0" i="0">
                          <a:solidFill>
                            <a:srgbClr val="1A1440"/>
                          </a:solidFill>
                          <a:latin typeface="Calibri"/>
                        </a:rPr>
                        <a:t>-5.3%</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2.32</a:t>
                      </a:r>
                    </a:p>
                  </a:txBody>
                  <a:tcPr marL="101600" marR="101600" marT="38100" marB="38100" anchor="ctr">
                    <a:solidFill>
                      <a:srgbClr val="F4F2FA"/>
                    </a:solidFill>
                  </a:tcPr>
                </a:tc>
                <a:tc>
                  <a:txBody>
                    <a:bodyPr/>
                    <a:lstStyle/>
                    <a:p>
                      <a:r>
                        <a:rPr sz="1200" b="0" i="0">
                          <a:solidFill>
                            <a:srgbClr val="1A1440"/>
                          </a:solidFill>
                          <a:latin typeface="Calibri"/>
                        </a:rPr>
                        <a:t>1.18</a:t>
                      </a:r>
                    </a:p>
                  </a:txBody>
                  <a:tcPr marL="101600" marR="101600" marT="38100" marB="38100" anchor="ctr">
                    <a:solidFill>
                      <a:srgbClr val="F4F2FA"/>
                    </a:solidFill>
                  </a:tcPr>
                </a:tc>
                <a:tc>
                  <a:txBody>
                    <a:bodyPr/>
                    <a:lstStyle/>
                    <a:p>
                      <a:r>
                        <a:rPr sz="1200" b="0" i="0">
                          <a:solidFill>
                            <a:srgbClr val="1A1440"/>
                          </a:solidFill>
                          <a:latin typeface="Calibri"/>
                        </a:rPr>
                        <a:t>-49.0%</a:t>
                      </a:r>
                    </a:p>
                  </a:txBody>
                  <a:tcPr marL="101600" marR="101600" marT="38100" marB="38100" anchor="ctr">
                    <a:solidFill>
                      <a:srgbClr val="F4F2FA"/>
                    </a:solidFill>
                  </a:tcPr>
                </a:tc>
                <a:tc>
                  <a:txBody>
                    <a:bodyPr/>
                    <a:lstStyle/>
                    <a:p>
                      <a:r>
                        <a:rPr sz="1200" b="0" i="0">
                          <a:solidFill>
                            <a:srgbClr val="1A1440"/>
                          </a:solidFill>
                          <a:latin typeface="Calibri"/>
                        </a:rPr>
                        <a:t>check by hand</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1.55</a:t>
                      </a:r>
                    </a:p>
                  </a:txBody>
                  <a:tcPr marL="101600" marR="101600" marT="38100" marB="38100" anchor="ctr">
                    <a:solidFill>
                      <a:srgbClr val="FFFFFF"/>
                    </a:solidFill>
                  </a:tcPr>
                </a:tc>
                <a:tc>
                  <a:txBody>
                    <a:bodyPr/>
                    <a:lstStyle/>
                    <a:p>
                      <a:r>
                        <a:rPr sz="1200" b="0" i="0">
                          <a:solidFill>
                            <a:srgbClr val="1A1440"/>
                          </a:solidFill>
                          <a:latin typeface="Calibri"/>
                        </a:rPr>
                        <a:t>-15.0%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2.50</a:t>
                      </a:r>
                    </a:p>
                  </a:txBody>
                  <a:tcPr marL="101600" marR="101600" marT="38100" marB="38100" anchor="ctr">
                    <a:solidFill>
                      <a:srgbClr val="F4F2FA"/>
                    </a:solidFill>
                  </a:tcPr>
                </a:tc>
                <a:tc>
                  <a:txBody>
                    <a:bodyPr/>
                    <a:lstStyle/>
                    <a:p>
                      <a:r>
                        <a:rPr sz="1200" b="0" i="0">
                          <a:solidFill>
                            <a:srgbClr val="1A1440"/>
                          </a:solidFill>
                          <a:latin typeface="Calibri"/>
                        </a:rPr>
                        <a:t>3.50</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c>
                  <a:txBody>
                    <a:bodyPr/>
                    <a:lstStyle/>
                    <a:p>
                      <a:r>
                        <a:rPr sz="1200" b="0" i="0">
                          <a:solidFill>
                            <a:srgbClr val="1A1440"/>
                          </a:solidFill>
                          <a:latin typeface="Calibri"/>
                        </a:rPr>
                        <a:t>check by hand</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"Business fell most, 15.0 percent" became "Retail-Plus fell 49.0 percent, 2.32 to 1.18 orders per member; Business 15.0 percent on three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85 / 88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 is 93 percent of the consumer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Retail-Plus too small to matter at Rs 65,250 of a Rs 23 lakh fall?</a:t>
            </a:r>
          </a:p>
        </p:txBody>
      </p:sp>
      <p:pic>
        <p:nvPicPr>
          <p:cNvPr id="9" name="mermaid diagram" descr="2d3b2c1e236acd31.png"/>
          <p:cNvPicPr>
            <a:picLocks noChangeAspect="1"/>
          </p:cNvPicPr>
          <p:nvPr/>
        </p:nvPicPr>
        <p:blipFill>
          <a:blip r:embed="rId5"/>
          <a:stretch>
            <a:fillRect/>
          </a:stretch>
        </p:blipFill>
        <p:spPr>
          <a:xfrm>
            <a:off x="530352" y="1740683"/>
            <a:ext cx="4786326" cy="4400761"/>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In the consumer business, Retail-Plus is the fall. The Business rupees are three lakh-sized orders out of twenty, which one account's timing can move, so both findings go to Meera side by side.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86 / 88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First and last order dates find nobody lost or new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each customer's first and last order dates agree with the overlap?</a:t>
            </a:r>
          </a:p>
        </p:txBody>
      </p:sp>
      <p:pic>
        <p:nvPicPr>
          <p:cNvPr id="9" name="mermaid diagram" descr="585961a3f081f039.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Show Marketing the overlap, since it names lost and new in three numbers; the dates add that "new" means new since 1 April, so a longer question needs each customer's whole history, which the CRM holds.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87 / 88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None lost, none new: 23 customers slowed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Were customers lost, and what did each question on the way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473083"/>
                <a:gridCol w="6657907"/>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test sees churn?</a:t>
                      </a:r>
                    </a:p>
                  </a:txBody>
                  <a:tcPr marL="101600" marR="101600" marT="38100" marB="38100" anchor="ctr">
                    <a:solidFill>
                      <a:srgbClr val="FFFFFF"/>
                    </a:solidFill>
                  </a:tcPr>
                </a:tc>
                <a:tc>
                  <a:txBody>
                    <a:bodyPr/>
                    <a:lstStyle/>
                    <a:p>
                      <a:r>
                        <a:rPr sz="900" b="0" i="0">
                          <a:solidFill>
                            <a:srgbClr val="1A1440"/>
                          </a:solidFill>
                          <a:latin typeface="Calibri"/>
                        </a:rPr>
                        <a:t>The id overlap, then customer by customer</a:t>
                      </a:r>
                    </a:p>
                  </a:txBody>
                  <a:tcPr marL="101600" marR="101600" marT="38100" marB="38100" anchor="ctr">
                    <a:solidFill>
                      <a:srgbClr val="FFFFFF"/>
                    </a:solidFill>
                  </a:tcPr>
                </a:tc>
              </a:tr>
              <a:tr h="310896">
                <a:tc>
                  <a:txBody>
                    <a:bodyPr/>
                    <a:lstStyle/>
                    <a:p>
                      <a:r>
                        <a:rPr sz="900" b="0" i="0">
                          <a:solidFill>
                            <a:srgbClr val="1A1440"/>
                          </a:solidFill>
                          <a:latin typeface="Calibri"/>
                        </a:rPr>
                        <a:t>2. How many are missing?</a:t>
                      </a:r>
                    </a:p>
                  </a:txBody>
                  <a:tcPr marL="101600" marR="101600" marT="38100" marB="38100" anchor="ctr">
                    <a:solidFill>
                      <a:srgbClr val="F4F2FA"/>
                    </a:solidFill>
                  </a:tcPr>
                </a:tc>
                <a:tc>
                  <a:txBody>
                    <a:bodyPr/>
                    <a:lstStyle/>
                    <a:p>
                      <a:r>
                        <a:rPr sz="900" b="0" i="0">
                          <a:solidFill>
                            <a:srgbClr val="1A1440"/>
                          </a:solidFill>
                          <a:latin typeface="Calibri"/>
                        </a:rPr>
                        <a:t>None: 69 in both, 0 lost, 0 new</a:t>
                      </a:r>
                    </a:p>
                  </a:txBody>
                  <a:tcPr marL="101600" marR="101600" marT="38100" marB="38100" anchor="ctr">
                    <a:solidFill>
                      <a:srgbClr val="F4F2FA"/>
                    </a:solidFill>
                  </a:tcPr>
                </a:tc>
              </a:tr>
              <a:tr h="310896">
                <a:tc>
                  <a:txBody>
                    <a:bodyPr/>
                    <a:lstStyle/>
                    <a:p>
                      <a:r>
                        <a:rPr sz="900" b="0" i="0">
                          <a:solidFill>
                            <a:srgbClr val="1A1440"/>
                          </a:solidFill>
                          <a:latin typeface="Calibri"/>
                        </a:rPr>
                        <a:t>3. Who slowed down?</a:t>
                      </a:r>
                    </a:p>
                  </a:txBody>
                  <a:tcPr marL="101600" marR="101600" marT="38100" marB="38100" anchor="ctr">
                    <a:solidFill>
                      <a:srgbClr val="FFFFFF"/>
                    </a:solidFill>
                  </a:tcPr>
                </a:tc>
                <a:tc>
                  <a:txBody>
                    <a:bodyPr/>
                    <a:lstStyle/>
                    <a:p>
                      <a:r>
                        <a:rPr sz="900" b="0" i="0">
                          <a:solidFill>
                            <a:srgbClr val="1A1440"/>
                          </a:solidFill>
                          <a:latin typeface="Calibri"/>
                        </a:rPr>
                        <a:t>23 customers, 18 of them members</a:t>
                      </a:r>
                    </a:p>
                  </a:txBody>
                  <a:tcPr marL="101600" marR="101600" marT="38100" marB="38100" anchor="ctr">
                    <a:solidFill>
                      <a:srgbClr val="FFFFFF"/>
                    </a:solidFill>
                  </a:tcPr>
                </a:tc>
              </a:tr>
              <a:tr h="310896">
                <a:tc>
                  <a:txBody>
                    <a:bodyPr/>
                    <a:lstStyle/>
                    <a:p>
                      <a:r>
                        <a:rPr sz="900" b="0" i="0">
                          <a:solidFill>
                            <a:srgbClr val="1A1440"/>
                          </a:solidFill>
                          <a:latin typeface="Calibri"/>
                        </a:rPr>
                        <a:t>4. Which segment fell most?</a:t>
                      </a:r>
                    </a:p>
                  </a:txBody>
                  <a:tcPr marL="101600" marR="101600" marT="38100" marB="38100" anchor="ctr">
                    <a:solidFill>
                      <a:srgbClr val="F4F2FA"/>
                    </a:solidFill>
                  </a:tcPr>
                </a:tc>
                <a:tc>
                  <a:txBody>
                    <a:bodyPr/>
                    <a:lstStyle/>
                    <a:p>
                      <a:r>
                        <a:rPr sz="900" b="0" i="0">
                          <a:solidFill>
                            <a:srgbClr val="1A1440"/>
                          </a:solidFill>
                          <a:latin typeface="Calibri"/>
                        </a:rPr>
                        <a:t>Retail-Plus, minus 49.0 percent per member</a:t>
                      </a:r>
                    </a:p>
                  </a:txBody>
                  <a:tcPr marL="101600" marR="101600" marT="38100" marB="38100" anchor="ctr">
                    <a:solidFill>
                      <a:srgbClr val="F4F2FA"/>
                    </a:solidFill>
                  </a:tcPr>
                </a:tc>
              </a:tr>
              <a:tr h="310896">
                <a:tc>
                  <a:txBody>
                    <a:bodyPr/>
                    <a:lstStyle/>
                    <a:p>
                      <a:r>
                        <a:rPr sz="900" b="0" i="0">
                          <a:solidFill>
                            <a:srgbClr val="1A1440"/>
                          </a:solidFill>
                          <a:latin typeface="Calibri"/>
                        </a:rPr>
                        <a:t>5. Too small to matter?</a:t>
                      </a:r>
                    </a:p>
                  </a:txBody>
                  <a:tcPr marL="101600" marR="101600" marT="38100" marB="38100" anchor="ctr">
                    <a:solidFill>
                      <a:srgbClr val="FFFFFF"/>
                    </a:solidFill>
                  </a:tcPr>
                </a:tc>
                <a:tc>
                  <a:txBody>
                    <a:bodyPr/>
                    <a:lstStyle/>
                    <a:p>
                      <a:r>
                        <a:rPr sz="900" b="0" i="0">
                          <a:solidFill>
                            <a:srgbClr val="1A1440"/>
                          </a:solidFill>
                          <a:latin typeface="Calibri"/>
                        </a:rPr>
                        <a:t>No: 93 percent of the consumer fall</a:t>
                      </a:r>
                    </a:p>
                  </a:txBody>
                  <a:tcPr marL="101600" marR="101600" marT="38100" marB="38100" anchor="ctr">
                    <a:solidFill>
                      <a:srgbClr val="FFFFFF"/>
                    </a:solidFill>
                  </a:tcPr>
                </a:tc>
              </a:tr>
              <a:tr h="310896">
                <a:tc>
                  <a:txBody>
                    <a:bodyPr/>
                    <a:lstStyle/>
                    <a:p>
                      <a:r>
                        <a:rPr sz="900" b="0" i="0">
                          <a:solidFill>
                            <a:srgbClr val="1A1440"/>
                          </a:solidFill>
                          <a:latin typeface="Calibri"/>
                        </a:rPr>
                        <a:t>6. Do the dates agree?</a:t>
                      </a:r>
                    </a:p>
                  </a:txBody>
                  <a:tcPr marL="101600" marR="101600" marT="38100" marB="38100" anchor="ctr">
                    <a:solidFill>
                      <a:srgbClr val="F4F2FA"/>
                    </a:solidFill>
                  </a:tcPr>
                </a:tc>
                <a:tc>
                  <a:txBody>
                    <a:bodyPr/>
                    <a:lstStyle/>
                    <a:p>
                      <a:r>
                        <a:rPr sz="900" b="0" i="0">
                          <a:solidFill>
                            <a:srgbClr val="1A1440"/>
                          </a:solidFill>
                          <a:latin typeface="Calibri"/>
                        </a:rPr>
                        <a:t>Yes: first orders in Q1, last in Q2</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"Three attacks, three checks anyone can rerun. And you nearly shipped a summary that lost the one segment that matters. Count what comes back from every helper you did not write."</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[D] Marketing insists the answer is acquisition and your data says frequency; how do you make the case in the room?</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Did customers pay more?</a:t>
            </a:r>
          </a:p>
        </p:txBody>
      </p:sp>
      <p:sp>
        <p:nvSpPr>
          <p:cNvPr id="28" name="Oval 27"/>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7648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Were customers lost?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88 / 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