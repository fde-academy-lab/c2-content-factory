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opens the afternoon. Leave the question up while</a:t>
            </a:r>
          </a:p>
          <a:p>
            <a:r>
              <a:t>you set the scene. Then Meera's full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a:p>
            <a:r>
              <a:t>Then the three people waiting 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 Then what</a:t>
            </a:r>
          </a:p>
          <a:p>
            <a:r>
              <a:t>each branch costs to move.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 Then a question before any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 Then the order</a:t>
            </a:r>
          </a:p>
          <a:p>
            <a:r>
              <a:t>the investigation runs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 Then the rule every chapter uses to check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1 on the map, 4 on the need and the retailers, 5 on the options</a:t>
            </a:r>
          </a:p>
          <a:p>
            <a:r>
              <a:t>and the picture, 6 on the build and its prediction, 6 on the trap, 5 on the fix and the rates, 3 on</a:t>
            </a:r>
          </a:p>
          <a:p>
            <a:r>
              <a:t>the second route and the close. Open notebooks/C2_W01_D02_01_is_the_drop_real_STUDENT.ipynb now;</a:t>
            </a:r>
          </a:p>
          <a:p>
            <a:r>
              <a:t>its six 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slide Marketing sent.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every order placed before</a:t>
            </a:r>
          </a:p>
          <a:p>
            <a:r>
              <a:t>any cancellation or return,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a:p>
            <a:r>
              <a:t>Then how retailers avoid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 Then the four ways to size the fall.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the question each answers and what each leaves</a:t>
            </a:r>
          </a:p>
          <a:p>
            <a:r>
              <a:t>out: B reads 167 rows because it drops the last two weeks of each quarter, and D leaves out</a:t>
            </a:r>
          </a:p>
          <a:p>
            <a:r>
              <a:t>everything until last year's export arrives. Write "A: closed quarters" on the board beside rung 1.</a:t>
            </a:r>
          </a:p>
          <a:p>
            <a:r>
              <a:t>The notebook's first section computes this table; run it now. Then the picture behind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thinking, and it is also the one-breath answer to interview</a:t>
            </a:r>
          </a:p>
          <a:p>
            <a:r>
              <a:t>question 4. The window is where Marketing's slide breaks; the definition is where the afternoon's</a:t>
            </a:r>
          </a:p>
          <a:p>
            <a:r>
              <a:t>case goes; the population and the denominator come back in chapters 3 and 5. Then the code that</a:t>
            </a:r>
          </a:p>
          <a:p>
            <a:r>
              <a:t>totals each quarter.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and do not run it yet. Ask what the dictionary holds</a:t>
            </a:r>
          </a:p>
          <a:p>
            <a:r>
              <a:t>after the first Q1 order, and after the first Q2 order.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Marketing's slide carried over; option c is what people</a:t>
            </a:r>
          </a:p>
          <a:p>
            <a:r>
              <a:t>guess from Meera's rounded 2.1 and 1.9 when they divide the wrong way round.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fell from Rs 2,10,00,000 to Rs 1,87,00,000: Rs 23,00,000 less on two</a:t>
            </a:r>
          </a:p>
          <a:p>
            <a:r>
              <a:t>windows of thirteen weeks. That is the number Meera's question starts from, and it is less than</a:t>
            </a:r>
          </a:p>
          <a:p>
            <a:r>
              <a:t>half the fall on Marketing's slide. Then the number Marketing sent, computed their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 Then the question</a:t>
            </a:r>
          </a:p>
          <a:p>
            <a:r>
              <a:t>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Q1 is 13 weeks and 91 days, the tile 11 weeks. The line that</a:t>
            </a:r>
          </a:p>
          <a:p>
            <a:r>
              <a:t>ends at Rs 210.0 lakh is Q1; the other is Q2, Rs 155.6 lakh at week 11, which is the tile, and</a:t>
            </a:r>
          </a:p>
          <a:p>
            <a:r>
              <a:t>Rs 187.0 lakh at the close. Point at the flat stretches: revenue arrives in lumps, and weeks</a:t>
            </a:r>
          </a:p>
          <a:p>
            <a:r>
              <a:t>without a large order barely move.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bridge walks Marketing's gap to the closed quarter: the two weeks the tile</a:t>
            </a:r>
          </a:p>
          <a:p>
            <a:r>
              <a:t>never saw carried Rs 31,40,050. Nothing was lost; it had not been counted yet. Then what a rate</a:t>
            </a:r>
          </a:p>
          <a:p>
            <a:r>
              <a:t>adds when the windows cannot match.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figure is honest because it says what it divided and over which dates, and</a:t>
            </a:r>
          </a:p>
          <a:p>
            <a:r>
              <a:t>none of them is 25.9 percent. The per-week rate is option C in action; the same eleven weeks is</a:t>
            </a:r>
          </a:p>
          <a:p>
            <a:r>
              <a:t>option B, what you send while Q2 is still open, with the cut date in the sentence. They disagree,</a:t>
            </a:r>
          </a:p>
          <a:p>
            <a:r>
              <a:t>minus 12.4 against minus 17.0, because a week with three business orders books lakhs and a week</a:t>
            </a:r>
          </a:p>
          <a:p>
            <a:r>
              <a:t>without one books ten or fifteen thousand rupees. Then a route that never reads the quarter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ignores the quarter field and trusts only the dates, so if the</a:t>
            </a:r>
          </a:p>
          <a:p>
            <a:r>
              <a:t>two routes disagreed, one would be reading the file wrongly. The notebook asserts they are equal.</a:t>
            </a:r>
          </a:p>
          <a:p>
            <a:r>
              <a:t>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breath: window length and dates, the definition, the population, the</a:t>
            </a:r>
          </a:p>
          <a:p>
            <a:r>
              <a:t>denominator, and the export's completeness. The design answer: the same weeks of both, with a rate</a:t>
            </a:r>
          </a:p>
          <a:p>
            <a:r>
              <a:t>per week beside it, switching to closed quarters at the close. One comparison is still missing,</a:t>
            </a:r>
          </a:p>
          <a:p>
            <a:r>
              <a:t>last year's Q2, which only the season question needs. Transition: the drop is real, so which</a:t>
            </a:r>
          </a:p>
          <a:p>
            <a:r>
              <a:t>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1 on the map, 4 on the need and the companies, 5 on the options</a:t>
            </a:r>
          </a:p>
          <a:p>
            <a:r>
              <a:t>and the bridge's picture, 5 on counting customers, 2 on the bridge, 8 on the discount trap with its</a:t>
            </a:r>
          </a:p>
          <a:p>
            <a:r>
              <a:t>two-minute KeyError, 4 on the second route and the close. Switch to</a:t>
            </a:r>
          </a:p>
          <a:p>
            <a:r>
              <a:t>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fifth opens Meera's fourth branch, price, where</a:t>
            </a:r>
          </a:p>
          <a:p>
            <a:r>
              <a:t>Marketing's monsoon plan lives. Then the owners.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Merchandising is the team that picks the range and the pack sizes. The metric at</a:t>
            </a:r>
          </a:p>
          <a:p>
            <a:r>
              <a:t>stake is the rupees each branch carries. A wrong split sends crores to the wrong owner for a</a:t>
            </a:r>
          </a:p>
          <a:p>
            <a:r>
              <a:t>quarter. Remind the room that price and basket fold into revenue per order on this file. Then two</a:t>
            </a:r>
          </a:p>
          <a:p>
            <a:r>
              <a:t>companies that publish this split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 Then four ways to split Kalpa's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Only B and C put rupees on each branch that add to the fall, and only C is free of</a:t>
            </a:r>
          </a:p>
          <a:p>
            <a:r>
              <a:t>an order. The spread between orders is about Rs 9.3 lakh, the part where two branches moved</a:t>
            </a:r>
          </a:p>
          <a:p>
            <a:r>
              <a:t>together; whichever goes second is charged for it. The symmetric split follows Ang (2005), "The</a:t>
            </a:r>
          </a:p>
          <a:p>
            <a:r>
              <a:t>LMDI approach to decomposition analysis", Energy Policy, checked through Crossref 29 Sep 2026. Then</a:t>
            </a:r>
          </a:p>
          <a:p>
            <a:r>
              <a:t>the picture of a bridge.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symbols the steps are (c2 - c1) x f1 x v1, then c2 x (f2 - f1) x v1, then</a:t>
            </a:r>
          </a:p>
          <a:p>
            <a:r>
              <a:t>c2 x f2 x (v2 - v1), where c is customers, f orders per customer and v revenue per order. Do not</a:t>
            </a:r>
          </a:p>
          <a:p>
            <a:r>
              <a:t>put the symbols on the board unless someone asks; the three boxes carry it. Then the first leaf,</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default aloud with its reason. The same method, .get with a default, is</a:t>
            </a:r>
          </a:p>
          <a:p>
            <a:r>
              <a:t>the one that goes wrong in fifteen minutes on the discount field, where the default has no such</a:t>
            </a:r>
          </a:p>
          <a:p>
            <a:r>
              <a:t>reason behind it.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 the silence land: Marketing's branch is flat, and orders per customer is the</a:t>
            </a:r>
          </a:p>
          <a:p>
            <a:r>
              <a:t>leaf that moved, down 24.6 percent. Whether these are the same 69 people is chapter 5's question.</a:t>
            </a:r>
          </a:p>
          <a:p>
            <a:r>
              <a:t>Revenue per order rising is no price rise until proved; chapter 4 takes it apart. Fill the tree on</a:t>
            </a:r>
          </a:p>
          <a:p>
            <a:r>
              <a:t>the board. Then the rupees.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 Then the number it produces.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 Then the</a:t>
            </a:r>
          </a:p>
          <a:p>
            <a:r>
              <a:t>question that splits the 43.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 Then a split that chooses no</a:t>
            </a:r>
          </a:p>
          <a:p>
            <a:r>
              <a:t>order.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symmetric split shares the fall by logarithms and chooses no order, so it could</a:t>
            </a:r>
          </a:p>
          <a:p>
            <a:r>
              <a:t>have disagreed with the bridge; the Rs 4,30,585 between them is the part where frequency and order</a:t>
            </a:r>
          </a:p>
          <a:p>
            <a:r>
              <a:t>value moved together.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tree, ratios multiply back, one leaf at a time in a</a:t>
            </a:r>
          </a:p>
          <a:p>
            <a:r>
              <a:t>fixed order, rupees add. Transition: the tier's head asked about his tier, so the same numbers are</a:t>
            </a:r>
          </a:p>
          <a:p>
            <a:r>
              <a:t>needed for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1 on the map, 3 on the need and Costco, 5 on the options and the</a:t>
            </a:r>
          </a:p>
          <a:p>
            <a:r>
              <a:t>picture, 5 on tree_for and its test, 5 on Retail-Core and Business, 5 on the roll-up trap, 5 on the</a:t>
            </a:r>
          </a:p>
          <a:p>
            <a:r>
              <a:t>second route and the room's run, 1 on the close.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segment itself is found by each learner in their own</a:t>
            </a:r>
          </a:p>
          <a:p>
            <a:r>
              <a:t>cell at the end of the chapter, never on the projector. Then the tier's question.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 Then a membership business that reports its segment.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a:p>
            <a:r>
              <a:t>Then three ways to get eight groups' numbers.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first section sizes these. Copying reads the export eight times and</a:t>
            </a:r>
          </a:p>
          <a:p>
            <a:r>
              <a:t>creates eight places for Anand's next definition change to be missed once. Ask how many times the</a:t>
            </a:r>
          </a:p>
          <a:p>
            <a:r>
              <a:t>room wants to paste chapter 2's code. Then the picture of a function.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definitions live in one place, so Anand's next change to what counts as an</a:t>
            </a:r>
          </a:p>
          <a:p>
            <a:r>
              <a:t>order is made once. Chapter 5 meets a colleague's function that prints instead of returning. Then</a:t>
            </a:r>
          </a:p>
          <a:p>
            <a:r>
              <a:t>the function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Build it line by line: def, the parameter, the body, return. The seen dictionary is</a:t>
            </a:r>
          </a:p>
          <a:p>
            <a:r>
              <a:t>chapter 2's customer count again.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c is what a function hands back when it prints its answer and returns</a:t>
            </a:r>
          </a:p>
          <a:p>
            <a:r>
              <a:t>nothing; option d is the order count.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Now call it on a segment. Retail-Core and Business are the two segments</a:t>
            </a:r>
          </a:p>
          <a:p>
            <a:r>
              <a:t>demonstrated; do not run Retail-Plus or Student on the projector. Then Retail-Core.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it returns a group's median, extremes and range. Retail-Core's typical order fell about Rs 245.</a:t>
            </a:r>
          </a:p>
          <a:p>
            <a:r>
              <a:t>Then Business, where the orders are lakh-sized.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Business revenue fell from Rs 2,07,71,180 to Rs 1,85,41,460.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eleven Business customers placed 17 orders against 20, down</a:t>
            </a:r>
          </a:p>
          <a:p>
            <a:r>
              <a:t>15.0 percent per customer, on three orders.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correct arithmetic, wrong question. Only the averages and the</a:t>
            </a:r>
          </a:p>
          <a:p>
            <a:r>
              <a:t>weighted figures appear; no per-segment rows are shown.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groups show the mechanism: two customers get the same vote as thirty.</a:t>
            </a:r>
          </a:p>
          <a:p>
            <a:r>
              <a:t>Count groups in and out while rolling up: four segments in, 69 customers back. Interview [F]: why</a:t>
            </a:r>
          </a:p>
          <a:p>
            <a:r>
              <a:t>can't you average four segments' rates? Then the second route and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Then the room</a:t>
            </a:r>
          </a:p>
          <a:p>
            <a:r>
              <a:t>types the your-turn cell. Do not run it on the projector and do not confirm any segment aloud;</a:t>
            </a:r>
          </a:p>
          <a:p>
            <a:r>
              <a:t>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10-minute break. Neither segment shown explains 24.6 percent, so the</a:t>
            </a:r>
          </a:p>
          <a:p>
            <a:r>
              <a:t>weighted roll-up puts the rest in the two segments each learner's own run opens. One breath for the</a:t>
            </a:r>
          </a:p>
          <a:p>
            <a:r>
              <a:t>design question: a function when groups are asked one at a time and definitions change; a pass by</a:t>
            </a:r>
          </a:p>
          <a:p>
            <a:r>
              <a:t>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1 on the map, 4 on the need and Swiggy, 5 on the</a:t>
            </a:r>
          </a:p>
          <a:p>
            <a:r>
              <a:t>options and the picture, 6 on the lost orders and the segments' own rates, 4 on the trap and the</a:t>
            </a:r>
          </a:p>
          <a:p>
            <a:r>
              <a:t>code, 5 on the split and its rate part, 3 on the second route, 2 on the close.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Open by naming what the room found at the end of chapter 3: Retail-Plus, the same</a:t>
            </a:r>
          </a:p>
          <a:p>
            <a:r>
              <a:t>22 members, 51 orders to 26. Read the six questions. Then Marketing's new ask.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a blend across segments whose orders differ several</a:t>
            </a:r>
          </a:p>
          <a:p>
            <a:r>
              <a:t>hundredfold: a Q1 Business order averaged Rs 10,38,559 and a consumer order Rs 2,434. A wrong</a:t>
            </a:r>
          </a:p>
          <a:p>
            <a:r>
              <a:t>reading costs volume: a price rise on customers who never paid more. Then a real company whose order</a:t>
            </a:r>
          </a:p>
          <a:p>
            <a:r>
              <a:t>value rose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Swiggy, the food and grocery delivery app, Q2 FY2026 shareholder letter, checked 30</a:t>
            </a:r>
          </a:p>
          <a:p>
            <a:r>
              <a:t>Sep 2026: the average order value of Instamart, its quick-commerce store, Rs 697, up 14 percent in</a:t>
            </a:r>
          </a:p>
          <a:p>
            <a:r>
              <a:t>the quarter, put down to non-grocery categories and large packs taking a larger share of gross order</a:t>
            </a:r>
          </a:p>
          <a:p>
            <a:r>
              <a:t>value, the value of orders before discounts; net average order value after discounts Rs 485. The</a:t>
            </a:r>
          </a:p>
          <a:p>
            <a:r>
              <a:t>link to Kalpa: Business's lakh-sized orders took a larger share as small member orders left. Then</a:t>
            </a:r>
          </a:p>
          <a:p>
            <a:r>
              <a:t>four readings of Kalpa's rise.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first section shows that only C puts rupees on a cause, and that</a:t>
            </a:r>
          </a:p>
          <a:p>
            <a:r>
              <a:t>only D is safe from one lakh-sized order. Write "C: mix and rate" beside rung 4. Then the picture of</a:t>
            </a:r>
          </a:p>
          <a:p>
            <a:r>
              <a:t>a blend.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on the board beside the tree: revenue per order was one leaf; inside it sit</a:t>
            </a:r>
          </a:p>
          <a:p>
            <a:r>
              <a:t>four shares and four rates. Then the first number: where did the 28 lost orders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Ask the room what happens to an average when its smallest items</a:t>
            </a:r>
          </a:p>
          <a:p>
            <a:r>
              <a:t>leave. Then each segment's own revenue per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Most pick Business, since its orders are the largest.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Student's 14.8 percent is Rs 142 more an order, and Retail-Plus's 7.0 percent is</a:t>
            </a:r>
          </a:p>
          <a:p>
            <a:r>
              <a:t>Rs 197: the consumer segments moved by a few hundred rupees at most. Then Marketing's reading, as</a:t>
            </a:r>
          </a:p>
          <a:p>
            <a:r>
              <a:t>Marketing wrote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Say the decision it would have misled: a price rise on the tier</a:t>
            </a:r>
          </a:p>
          <a:p>
            <a:r>
              <a:t>whose orders already halved. Then the code that prices the mix.</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mix_only before the fix slide: above or below Q1's</a:t>
            </a:r>
          </a:p>
          <a:p>
            <a:r>
              <a:t>Rs 1,84,211? Above, since the small orders left. Then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Retail-Plus fell from 44.7 to 30.2 percent of orders. Then what the Rs 10,330 of</a:t>
            </a:r>
          </a:p>
          <a:p>
            <a:r>
              <a:t>rate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segment's rate part is its share of Q2's orders times the change in its own</a:t>
            </a:r>
          </a:p>
          <a:p>
            <a:r>
              <a:t>revenue per order; the four add back to Rs 10,330. Then a check a senior can run with no laptop.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envelope: Business's share of orders rose from 17.5 to 19.8 percent, times the</a:t>
            </a:r>
          </a:p>
          <a:p>
            <a:r>
              <a:t>Rs 10,36,125 by which a Q1 Business order beat a consumer order, is about Rs 23,000. It uses no</a:t>
            </a:r>
          </a:p>
          <a:p>
            <a:r>
              <a:t>consumer rate, so it could have disagreed.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a blend, a mix split, a number for each part.</a:t>
            </a:r>
          </a:p>
          <a:p>
            <a:r>
              <a:t>Transition: Marketing is not done; it comes back with churn.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1 on the map, 4 on the need and the published estimates, 5 on the</a:t>
            </a:r>
          </a:p>
          <a:p>
            <a:r>
              <a:t>options and the picture, 6 on the sets and who slowed, 7 on the summary-script trap, 3 on the</a:t>
            </a:r>
          </a:p>
          <a:p>
            <a:r>
              <a:t>consumer business, 4 on the second route and the close. Switch to</a:t>
            </a:r>
          </a:p>
          <a:p>
            <a:r>
              <a:t>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Marketing's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Churn means customers who stop buying, which new ones must replace. The metric at</a:t>
            </a:r>
          </a:p>
          <a:p>
            <a:r>
              <a:t>stake is retention, and its mirror, new customers. A wrong answer is Rs 12 crore spent replacing</a:t>
            </a:r>
          </a:p>
          <a:p>
            <a:r>
              <a:t>people who never left. Marketing's first claim is fair; test it. Then what the published studies</a:t>
            </a:r>
          </a:p>
          <a:p>
            <a:r>
              <a:t>say about the two levers.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a:t>
            </a:r>
          </a:p>
          <a:p>
            <a:r>
              <a:t>growing count beside a falling frequency, which new users alone could produce, so the two are read</a:t>
            </a:r>
          </a:p>
          <a:p>
            <a:r>
              <a:t>apart. Then four tests of Marketing's claim.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B and C read the export already open; D, Marketing's CRM, its customer</a:t>
            </a:r>
          </a:p>
          <a:p>
            <a:r>
              <a:t>database, is a second system whose ids must match the export's. Write "B, then C" beside rung 5.</a:t>
            </a:r>
          </a:p>
          <a:p>
            <a:r>
              <a:t>Then the picture of an overlap.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three boxes empty on the board; the next two slides fill them. Then the</a:t>
            </a:r>
          </a:p>
          <a:p>
            <a:r>
              <a:t>code.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Sets are chapter 2's dictionary of ids without the counts. Source for the</a:t>
            </a:r>
          </a:p>
          <a:p>
            <a:r>
              <a:t>operators: docs.python.org, data structures, sets, checked 30 Sep 2026.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Option C, customer by customer, gives the second and third numbers.</a:t>
            </a:r>
          </a:p>
          <a:p>
            <a:r>
              <a:t>Acquisition has nothing to replace on this file. Then Marketing's third attack, the summary script.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Run the script exactly as it is in notebook 05 and read the</a:t>
            </a:r>
          </a:p>
          <a:p>
            <a:r>
              <a:t>summary aloud. Ask whether anyone trusts it. Most will; it looks tidy.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function that prints and returns nothing hands back None, and the filter drops it</a:t>
            </a:r>
          </a:p>
          <a:p>
            <a:r>
              <a:t>without a word. The segment the script was written to flag, a 49 percent fall, is the one it</a:t>
            </a:r>
          </a:p>
          <a:p>
            <a:r>
              <a:t>silently lost. Student, which rose, also vanished. Interview [F]: why does a function that prints</a:t>
            </a:r>
          </a:p>
          <a:p>
            <a:r>
              <a:t>instead of returning break a pipeline?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helper returns the change every time, in the same type, and the flag sits</a:t>
            </a:r>
          </a:p>
          <a:p>
            <a:r>
              <a:t>beside it. Point at the flags: large moves are flagged, never dropped. A flag asks for a look by</a:t>
            </a:r>
          </a:p>
          <a:p>
            <a:r>
              <a:t>hand and removes nothing from the table. Then Marketing's second attack: too small to matter.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consumer business fell from Rs 2,28,820 to Rs 1,58,540, and Retail-Plus is</a:t>
            </a:r>
          </a:p>
          <a:p>
            <a:r>
              <a:t>Rs 65,250 of the Rs 70,280. The rupee fall in Business is three orders, each worth lakhs, so one</a:t>
            </a:r>
          </a:p>
          <a:p>
            <a:r>
              <a:t>account ordering early or late moves it by lakhs. Say both findings side by side: the rupees in</a:t>
            </a:r>
          </a:p>
          <a:p>
            <a:r>
              <a:t>Business, with their caveat, and the behaviour in Retail-Plus, with its count. Then a second route</a:t>
            </a:r>
          </a:p>
          <a:p>
            <a:r>
              <a:t>to "nobody lost".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takes each customer's first and last order date: every first</a:t>
            </a:r>
          </a:p>
          <a:p>
            <a:r>
              <a:t>order falls in Q1 and every last order in Q2, so none new and none lost, from the dates alone and</a:t>
            </a:r>
          </a:p>
          <a:p>
            <a:r>
              <a:t>without the quarter field, which is why it could have disagreed with the overlap. Then the chapter's</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[D]: test their claim in its own terms, show the overlap, show where</a:t>
            </a:r>
          </a:p>
          <a:p>
            <a:r>
              <a:t>the fall is, end 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1.png"/><Relationship Id="rId6"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20.png"/><Relationship Id="rId6"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1.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1.png"/><Relationship Id="rId6" Type="http://schemas.openxmlformats.org/officeDocument/2006/relationships/image" Target="../media/image3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20.png"/><Relationship Id="rId6" Type="http://schemas.openxmlformats.org/officeDocument/2006/relationships/image" Target="../media/image3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11.png"/><Relationship Id="rId6" Type="http://schemas.openxmlformats.org/officeDocument/2006/relationships/image" Target="../media/image3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4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6.xml"/><Relationship Id="rId6" Type="http://schemas.openxmlformats.org/officeDocument/2006/relationships/image" Target="../media/image4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1.png"/><Relationship Id="rId6" Type="http://schemas.openxmlformats.org/officeDocument/2006/relationships/image" Target="../media/image4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 from Q1 to Q2?</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771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61202"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Did customers pay more?</a:t>
            </a:r>
          </a:p>
        </p:txBody>
      </p:sp>
      <p:sp>
        <p:nvSpPr>
          <p:cNvPr id="19" name="TextBox 18"/>
          <p:cNvSpPr txBox="1"/>
          <p:nvPr/>
        </p:nvSpPr>
        <p:spPr>
          <a:xfrm>
            <a:off x="82938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7794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Were customers lost?</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each raised by the answer before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are we losing customers, or are the ones we have buying less?</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the drop real?</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on the same weeks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Customers, how often, or order value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for all four</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pay more?</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rise in revenue per order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Were customers lost?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churn claim, tested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Did the button do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the cause and the memo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2" name="Oval 4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8" name="Oval 4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the branch that moved, with proof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rides on the answer?</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5" name="Oval 3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voice owns a lever, so the split names the owner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the answer, and what does each of them want from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has an owner and a different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it cost to move each branch, and who pays?</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Confirm, compare, decompose, isolate, hypothesise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an analyst investigate a drop, and where does each trap wait?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678354"/>
                <a:gridCol w="3613294"/>
                <a:gridCol w="3924941"/>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 moved?</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Did customers pay more?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Were customers lost?</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Did the button do it?</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Branch changes multiply, so they never simply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tree's branches combine into the change in revenue?</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Did revenue really fall from Q1 to Q2, and by how much, once both sides cover the same weeks?</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88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Meera replies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whether Marketing's Rs 12 crore acquisition request is urgent. Overstate the fall and crores move in a hurry on a lever nobody has checked; understate it and a real leak runs another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sizes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options, sized on this file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far did it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two closed quarters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the slide say 25.9?</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dashboard tile's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fall per week?</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rate with its window</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same 11 weeks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While a quarter is still open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months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month</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being asked to fund, and on what number?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 and Target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retailers match their windows before they report a change?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Closed quarters fit, since both quarters have closed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size the fall, and what does each leave out?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419214"/>
                <a:gridCol w="1428729"/>
                <a:gridCol w="1419843"/>
                <a:gridCol w="486320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What it leaves out</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Nothing, once both quarters have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The last two weeks of each quarter</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Nothing; it spreads 91 and 92 days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Everything, until last year's rows arrive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had closed by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totals compare only when four things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match before two quarters' totals can be compared?</a:t>
            </a:r>
          </a:p>
        </p:txBody>
      </p:sp>
      <p:pic>
        <p:nvPicPr>
          <p:cNvPr id="9" name="mermaid diagram" descr="308f7d4d09f9cc5e.png"/>
          <p:cNvPicPr>
            <a:picLocks noChangeAspect="1"/>
          </p:cNvPicPr>
          <p:nvPr/>
        </p:nvPicPr>
        <p:blipFill>
          <a:blip r:embed="rId6"/>
          <a:stretch>
            <a:fillRect/>
          </a:stretch>
        </p:blipFill>
        <p:spPr>
          <a:xfrm>
            <a:off x="1213842" y="1682496"/>
            <a:ext cx="3419345"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Check the four before you divide. Booked revenue counts every order placed, before any cancellation or return, on both sides.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dictionary adds revenue up by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orders total each quarter?</a:t>
            </a:r>
          </a:p>
        </p:txBody>
      </p:sp>
      <p:sp>
        <p:nvSpPr>
          <p:cNvPr id="9" name="Rounded Rectangle 8"/>
          <p:cNvSpPr/>
          <p:nvPr/>
        </p:nvSpPr>
        <p:spPr>
          <a:xfrm>
            <a:off x="530352" y="180695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349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349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349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3614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revenue = {}     # quarter -&gt; rupees booked</a:t>
            </a:r>
          </a:p>
          <a:p>
            <a:pPr>
              <a:spcAft>
                <a:spcPts val="200"/>
              </a:spcAft>
            </a:pPr>
            <a:r>
              <a:rPr sz="1400" b="0" i="0">
                <a:solidFill>
                  <a:srgbClr val="E4E1F1"/>
                </a:solidFill>
                <a:latin typeface="Consolas"/>
              </a:rPr>
              <a:t>orders = {}      # quarter -&gt; number of orders</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q = order["quarter"]</a:t>
            </a:r>
          </a:p>
          <a:p>
            <a:pPr>
              <a:spcAft>
                <a:spcPts val="200"/>
              </a:spcAft>
            </a:pPr>
            <a:r>
              <a:rPr sz="1400" b="0" i="0">
                <a:solidFill>
                  <a:srgbClr val="E4E1F1"/>
                </a:solidFill>
                <a:latin typeface="Consolas"/>
              </a:rPr>
              <a:t>    if q not in revenue:</a:t>
            </a:r>
          </a:p>
          <a:p>
            <a:pPr>
              <a:spcAft>
                <a:spcPts val="200"/>
              </a:spcAft>
            </a:pPr>
            <a:r>
              <a:rPr sz="1400" b="0" i="0">
                <a:solidFill>
                  <a:srgbClr val="E4E1F1"/>
                </a:solidFill>
                <a:latin typeface="Consolas"/>
              </a:rPr>
              <a:t>        revenue[q] = 0</a:t>
            </a:r>
          </a:p>
          <a:p>
            <a:pPr>
              <a:spcAft>
                <a:spcPts val="200"/>
              </a:spcAft>
            </a:pPr>
            <a:r>
              <a:rPr sz="1400" b="0" i="0">
                <a:solidFill>
                  <a:srgbClr val="E4E1F1"/>
                </a:solidFill>
                <a:latin typeface="Consolas"/>
              </a:rPr>
              <a:t>        orders[q] = 0</a:t>
            </a:r>
          </a:p>
          <a:p>
            <a:pPr>
              <a:spcAft>
                <a:spcPts val="200"/>
              </a:spcAft>
            </a:pPr>
            <a:r>
              <a:rPr sz="1400" b="0" i="0">
                <a:solidFill>
                  <a:srgbClr val="E4E1F1"/>
                </a:solidFill>
                <a:latin typeface="Consolas"/>
              </a:rPr>
              <a:t>    revenue[q] += order["amount"]</a:t>
            </a:r>
          </a:p>
          <a:p>
            <a:pPr>
              <a:spcAft>
                <a:spcPts val="200"/>
              </a:spcAft>
            </a:pPr>
            <a:r>
              <a:rPr sz="1400" b="0" i="0">
                <a:solidFill>
                  <a:srgbClr val="E4E1F1"/>
                </a:solidFill>
                <a:latin typeface="Consolas"/>
              </a:rPr>
              <a:t>    orders[q] += 1</a:t>
            </a:r>
          </a:p>
          <a:p>
            <a:pPr>
              <a:spcAft>
                <a:spcPts val="200"/>
              </a:spcAft>
            </a:pPr>
            <a:r>
              <a:rPr sz="1400" b="0" i="0">
                <a:solidFill>
                  <a:srgbClr val="E4E1F1"/>
                </a:solidFill>
                <a:latin typeface="Consolas"/>
              </a:rPr>
              <a:t>change = (revenue["Q2"] - revenue["Q1"]) / revenue["Q1"] * 100</a:t>
            </a:r>
          </a:p>
        </p:txBody>
      </p:sp>
      <p:sp>
        <p:nvSpPr>
          <p:cNvPr id="14" name="Rounded Rectangle 13"/>
          <p:cNvSpPr/>
          <p:nvPr/>
        </p:nvSpPr>
        <p:spPr>
          <a:xfrm>
            <a:off x="530352" y="49535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857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95468"/>
            <a:ext cx="237744" cy="237744"/>
          </a:xfrm>
          <a:prstGeom prst="rect">
            <a:avLst/>
          </a:prstGeom>
        </p:spPr>
      </p:pic>
      <p:sp>
        <p:nvSpPr>
          <p:cNvPr id="17" name="TextBox 16"/>
          <p:cNvSpPr txBox="1"/>
          <p:nvPr/>
        </p:nvSpPr>
        <p:spPr>
          <a:xfrm>
            <a:off x="1399031" y="50998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319268"/>
            <a:ext cx="9987991" cy="682752"/>
          </a:xfrm>
          <a:prstGeom prst="rect">
            <a:avLst/>
          </a:prstGeom>
          <a:noFill/>
        </p:spPr>
        <p:txBody>
          <a:bodyPr wrap="square" anchor="t" lIns="0" rIns="0" tIns="0" bIns="0">
            <a:spAutoFit/>
          </a:bodyPr>
          <a:lstStyle/>
          <a:p>
            <a:r>
              <a:rPr sz="1500" b="0" i="0">
                <a:solidFill>
                  <a:srgbClr val="1A1440"/>
                </a:solidFill>
                <a:latin typeface="Calibri"/>
              </a:rPr>
              <a:t>A key seen for the first time starts at zero, and every order adds to its own quarter. This accumulator is the tool the whole day grows.</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did revenue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6b6d0ab5b8a66567.png"/>
          <p:cNvPicPr>
            <a:picLocks noChangeAspect="1"/>
          </p:cNvPicPr>
          <p:nvPr/>
        </p:nvPicPr>
        <p:blipFill>
          <a:blip r:embed="rId5"/>
          <a:stretch>
            <a:fillRect/>
          </a:stretch>
        </p:blipFill>
        <p:spPr>
          <a:xfrm>
            <a:off x="3524097" y="1942433"/>
            <a:ext cx="51435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it runs: a) it fell about 26 percent; b) it fell about 11 percent; c) it fell about 5 percent; d) it rose.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11.0 percent, Rs 23,00,000 on 13 weeks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0bc25483ec95909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114 orders plus 86 is 200, so every order sits in one quarter, and the change rounds to minus 11.0 percent. The answer is b.</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analyst send if Q2 is read off the dashboard tile?</a:t>
            </a:r>
          </a:p>
        </p:txBody>
      </p:sp>
      <p:pic>
        <p:nvPicPr>
          <p:cNvPr id="9" name="mermaid diagram" descr="a37146c08409b527.png"/>
          <p:cNvPicPr>
            <a:picLocks noChangeAspect="1"/>
          </p:cNvPicPr>
          <p:nvPr/>
        </p:nvPicPr>
        <p:blipFill>
          <a:blip r:embed="rId6"/>
          <a:stretch>
            <a:fillRect/>
          </a:stretch>
        </p:blipFill>
        <p:spPr>
          <a:xfrm>
            <a:off x="2530719" y="1664208"/>
            <a:ext cx="713025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arithmetic is right and the reading is wrong: a 25.9 percent crisis rushes the Rs 12 crore acquisition budget out of the door.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55fabce3bd0560f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the fall halves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both sides cover the same thirteen weeks?</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fall Meera acts on shrank from Rs 54,40,050 to Rs 23,00,000, from 25.9 to 11.0 percent; sixteen orders worth Rs 31,40,050 had not happened yet when the tile was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week the fall is 12.4%; same weeks say 17.0%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quarters as a rate, and on the same eleven weeks?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 THE TILE AGAINST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14,14,541 against Rs 16,15,385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DAY, CLOSED QUARTERS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days against 91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SAME 11 WEEKS OF EACH</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 to 16 Jun, 1 Jul to 15 Sep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rate names what it counted, what it divided by and over which dates. The same eleven weeks give minus 17.0 percent because a few large business orders make weeks lumpy, so once a quarter closes, compare closed quarters.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Added by month, the fall is still 11.0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adding revenue up by month, ignoring the quarter field, give the same fall?</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the drop is real: 11.0 percent,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drop real, and what did each question on the way answer?</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728291"/>
                <a:gridCol w="6402699"/>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sizes the fall?</a:t>
                      </a:r>
                    </a:p>
                  </a:txBody>
                  <a:tcPr marL="101600" marR="101600" marT="38100" marB="38100" anchor="ctr">
                    <a:solidFill>
                      <a:srgbClr val="FFFFFF"/>
                    </a:solidFill>
                  </a:tcPr>
                </a:tc>
                <a:tc>
                  <a:txBody>
                    <a:bodyPr/>
                    <a:lstStyle/>
                    <a:p>
                      <a:r>
                        <a:rPr sz="900" b="0" i="0">
                          <a:solidFill>
                            <a:srgbClr val="1A1440"/>
                          </a:solidFill>
                          <a:latin typeface="Calibri"/>
                        </a:rPr>
                        <a:t>Closed quarters, since both closed on 13 weeks</a:t>
                      </a:r>
                    </a:p>
                  </a:txBody>
                  <a:tcPr marL="101600" marR="101600" marT="38100" marB="38100" anchor="ctr">
                    <a:solidFill>
                      <a:srgbClr val="FFFFFF"/>
                    </a:solidFill>
                  </a:tcPr>
                </a:tc>
              </a:tr>
              <a:tr h="310896">
                <a:tc>
                  <a:txBody>
                    <a:bodyPr/>
                    <a:lstStyle/>
                    <a:p>
                      <a:r>
                        <a:rPr sz="900" b="0" i="0">
                          <a:solidFill>
                            <a:srgbClr val="1A1440"/>
                          </a:solidFill>
                          <a:latin typeface="Calibri"/>
                        </a:rPr>
                        <a:t>2. How far did it fall?</a:t>
                      </a:r>
                    </a:p>
                  </a:txBody>
                  <a:tcPr marL="101600" marR="101600" marT="38100" marB="38100" anchor="ctr">
                    <a:solidFill>
                      <a:srgbClr val="F4F2FA"/>
                    </a:solidFill>
                  </a:tcPr>
                </a:tc>
                <a:tc>
                  <a:txBody>
                    <a:bodyPr/>
                    <a:lstStyle/>
                    <a:p>
                      <a:r>
                        <a:rPr sz="900" b="0" i="0">
                          <a:solidFill>
                            <a:srgbClr val="1A1440"/>
                          </a:solidFill>
                          <a:latin typeface="Calibri"/>
                        </a:rPr>
                        <a:t>Rs 23,00,000, which is minus 11.0 percent</a:t>
                      </a:r>
                    </a:p>
                  </a:txBody>
                  <a:tcPr marL="101600" marR="101600" marT="38100" marB="38100" anchor="ctr">
                    <a:solidFill>
                      <a:srgbClr val="F4F2FA"/>
                    </a:solidFill>
                  </a:tcPr>
                </a:tc>
              </a:tr>
              <a:tr h="310896">
                <a:tc>
                  <a:txBody>
                    <a:bodyPr/>
                    <a:lstStyle/>
                    <a:p>
                      <a:r>
                        <a:rPr sz="900" b="0" i="0">
                          <a:solidFill>
                            <a:srgbClr val="1A1440"/>
                          </a:solidFill>
                          <a:latin typeface="Calibri"/>
                        </a:rPr>
                        <a:t>3. Why does the slide say 25.9?</a:t>
                      </a:r>
                    </a:p>
                  </a:txBody>
                  <a:tcPr marL="101600" marR="101600" marT="38100" marB="38100" anchor="ctr">
                    <a:solidFill>
                      <a:srgbClr val="FFFFFF"/>
                    </a:solidFill>
                  </a:tcPr>
                </a:tc>
                <a:tc>
                  <a:txBody>
                    <a:bodyPr/>
                    <a:lstStyle/>
                    <a:p>
                      <a:r>
                        <a:rPr sz="900" b="0" i="0">
                          <a:solidFill>
                            <a:srgbClr val="1A1440"/>
                          </a:solidFill>
                          <a:latin typeface="Calibri"/>
                        </a:rPr>
                        <a:t>Its tile saw 11 weeks against Q1's 13</a:t>
                      </a:r>
                    </a:p>
                  </a:txBody>
                  <a:tcPr marL="101600" marR="101600" marT="38100" marB="38100" anchor="ctr">
                    <a:solidFill>
                      <a:srgbClr val="FFFFFF"/>
                    </a:solidFill>
                  </a:tcPr>
                </a:tc>
              </a:tr>
              <a:tr h="310896">
                <a:tc>
                  <a:txBody>
                    <a:bodyPr/>
                    <a:lstStyle/>
                    <a:p>
                      <a:r>
                        <a:rPr sz="900" b="0" i="0">
                          <a:solidFill>
                            <a:srgbClr val="1A1440"/>
                          </a:solidFill>
                          <a:latin typeface="Calibri"/>
                        </a:rPr>
                        <a:t>4. What is the fall per week?</a:t>
                      </a:r>
                    </a:p>
                  </a:txBody>
                  <a:tcPr marL="101600" marR="101600" marT="38100" marB="38100" anchor="ctr">
                    <a:solidFill>
                      <a:srgbClr val="F4F2FA"/>
                    </a:solidFill>
                  </a:tcPr>
                </a:tc>
                <a:tc>
                  <a:txBody>
                    <a:bodyPr/>
                    <a:lstStyle/>
                    <a:p>
                      <a:r>
                        <a:rPr sz="900" b="0" i="0">
                          <a:solidFill>
                            <a:srgbClr val="1A1440"/>
                          </a:solidFill>
                          <a:latin typeface="Calibri"/>
                        </a:rPr>
                        <a:t>Minus 12.4 percent, with the window named</a:t>
                      </a:r>
                    </a:p>
                  </a:txBody>
                  <a:tcPr marL="101600" marR="101600" marT="38100" marB="38100" anchor="ctr">
                    <a:solidFill>
                      <a:srgbClr val="F4F2FA"/>
                    </a:solidFill>
                  </a:tcPr>
                </a:tc>
              </a:tr>
              <a:tr h="310896">
                <a:tc>
                  <a:txBody>
                    <a:bodyPr/>
                    <a:lstStyle/>
                    <a:p>
                      <a:r>
                        <a:rPr sz="900" b="0" i="0">
                          <a:solidFill>
                            <a:srgbClr val="1A1440"/>
                          </a:solidFill>
                          <a:latin typeface="Calibri"/>
                        </a:rPr>
                        <a:t>5. What do the same 11 weeks say?</a:t>
                      </a:r>
                    </a:p>
                  </a:txBody>
                  <a:tcPr marL="101600" marR="101600" marT="38100" marB="38100" anchor="ctr">
                    <a:solidFill>
                      <a:srgbClr val="FFFFFF"/>
                    </a:solidFill>
                  </a:tcPr>
                </a:tc>
                <a:tc>
                  <a:txBody>
                    <a:bodyPr/>
                    <a:lstStyle/>
                    <a:p>
                      <a:r>
                        <a:rPr sz="900" b="0" i="0">
                          <a:solidFill>
                            <a:srgbClr val="1A1440"/>
                          </a:solidFill>
                          <a:latin typeface="Calibri"/>
                        </a:rPr>
                        <a:t>Minus 17.0 percent, since weeks are lumpy</a:t>
                      </a:r>
                    </a:p>
                  </a:txBody>
                  <a:tcPr marL="101600" marR="101600" marT="38100" marB="38100" anchor="ctr">
                    <a:solidFill>
                      <a:srgbClr val="FFFFFF"/>
                    </a:solidFill>
                  </a:tcPr>
                </a:tc>
              </a:tr>
              <a:tr h="310896">
                <a:tc>
                  <a:txBody>
                    <a:bodyPr/>
                    <a:lstStyle/>
                    <a:p>
                      <a:r>
                        <a:rPr sz="900" b="0" i="0">
                          <a:solidFill>
                            <a:srgbClr val="1A1440"/>
                          </a:solidFill>
                          <a:latin typeface="Calibri"/>
                        </a:rPr>
                        <a:t>6. Do the months agree?</a:t>
                      </a:r>
                    </a:p>
                  </a:txBody>
                  <a:tcPr marL="101600" marR="101600" marT="38100" marB="38100" anchor="ctr">
                    <a:solidFill>
                      <a:srgbClr val="F4F2FA"/>
                    </a:solidFill>
                  </a:tcPr>
                </a:tc>
                <a:tc>
                  <a:txBody>
                    <a:bodyPr/>
                    <a:lstStyle/>
                    <a:p>
                      <a:r>
                        <a:rPr sz="900" b="0" i="0">
                          <a:solidFill>
                            <a:srgbClr val="1A1440"/>
                          </a:solidFill>
                          <a:latin typeface="Calibri"/>
                        </a:rPr>
                        <a:t>Yes: minus 11.0 percent by month too</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branch of the revenue tree carries the Rs 23,00,000 fall: customers, how often they buy, or what each order is worth?</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26 /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which owner gets the problem: Marketing owns customers, the tier and product owners own how often customers buy, merchandising owns the basket, and Finance with Marketing owns price. A wrong split sends crores to the wrong owner for a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split of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sized in rupees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Distinct ids in each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leaf moved?</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with both quarters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rupees each?</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leaf at a time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share had a discount?</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field that is sometimes blank</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symmetric split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with no order</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decides who owns the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Meera need rupees on each branch before anyone acts?</a:t>
            </a:r>
          </a:p>
        </p:txBody>
      </p:sp>
      <p:pic>
        <p:nvPicPr>
          <p:cNvPr id="9" name="mermaid diagram" descr="f5172a9ff23b1f70.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companies split their growth into visits and basket?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Rs 525 an order, after discounts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ticket is spend per visit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in the tree's order fits, with its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split the fall between the branches?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changes one leaf at a time,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bridge put rupees on each branch?</a:t>
            </a:r>
          </a:p>
        </p:txBody>
      </p:sp>
      <p:pic>
        <p:nvPicPr>
          <p:cNvPr id="9" name="mermaid diagram" descr="98b919a09c640d50.png"/>
          <p:cNvPicPr>
            <a:picLocks noChangeAspect="1"/>
          </p:cNvPicPr>
          <p:nvPr/>
        </p:nvPicPr>
        <p:blipFill>
          <a:blip r:embed="rId6"/>
          <a:stretch>
            <a:fillRect/>
          </a:stretch>
        </p:blipFill>
        <p:spPr>
          <a:xfrm>
            <a:off x="530352" y="1956816"/>
            <a:ext cx="11130991" cy="1545971"/>
          </a:xfrm>
          <a:prstGeom prst="rect">
            <a:avLst/>
          </a:prstGeom>
        </p:spPr>
      </p:pic>
      <p:sp>
        <p:nvSpPr>
          <p:cNvPr id="10" name="Rounded Rectangle 9"/>
          <p:cNvSpPr/>
          <p:nvPr/>
        </p:nvSpPr>
        <p:spPr>
          <a:xfrm>
            <a:off x="530352" y="364909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8132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91051"/>
            <a:ext cx="237744" cy="237744"/>
          </a:xfrm>
          <a:prstGeom prst="rect">
            <a:avLst/>
          </a:prstGeom>
        </p:spPr>
      </p:pic>
      <p:sp>
        <p:nvSpPr>
          <p:cNvPr id="13" name="TextBox 12"/>
          <p:cNvSpPr txBox="1"/>
          <p:nvPr/>
        </p:nvSpPr>
        <p:spPr>
          <a:xfrm>
            <a:off x="1399031" y="379539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14851"/>
            <a:ext cx="9987991" cy="682752"/>
          </a:xfrm>
          <a:prstGeom prst="rect">
            <a:avLst/>
          </a:prstGeom>
          <a:noFill/>
        </p:spPr>
        <p:txBody>
          <a:bodyPr wrap="square" anchor="t" lIns="0" rIns="0" tIns="0" bIns="0">
            <a:spAutoFit/>
          </a:bodyPr>
          <a:lstStyle/>
          <a:p>
            <a:r>
              <a:rPr sz="1500" b="0" i="0">
                <a:solidFill>
                  <a:srgbClr val="1A1440"/>
                </a:solidFill>
                <a:latin typeface="Calibri"/>
              </a:rPr>
              <a:t>Each step moves one leaf to its Q2 value and keeps the leaves not yet moved at Q1, so the steps add exactly to the change in revenue. Write the order beside the bridge.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of ids counts each customer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each customer once?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orders_by_customer = {"Q1": {}, "Q2": {}}   # quarter -&gt; {customer_id: orders}</a:t>
            </a:r>
          </a:p>
          <a:p>
            <a:pPr>
              <a:spcAft>
                <a:spcPts val="200"/>
              </a:spcAft>
            </a:pPr>
            <a:r>
              <a:rPr sz="1400" b="0" i="0">
                <a:solidFill>
                  <a:srgbClr val="E4E1F1"/>
                </a:solidFill>
                <a:latin typeface="Consolas"/>
              </a:rPr>
              <a:t>for q in by_quarter:</a:t>
            </a:r>
          </a:p>
          <a:p>
            <a:pPr>
              <a:spcAft>
                <a:spcPts val="200"/>
              </a:spcAft>
            </a:pPr>
            <a:r>
              <a:rPr sz="1400" b="0" i="0">
                <a:solidFill>
                  <a:srgbClr val="E4E1F1"/>
                </a:solidFill>
                <a:latin typeface="Consolas"/>
              </a:rPr>
              <a:t>    for order in by_quarter[q]:</a:t>
            </a:r>
          </a:p>
          <a:p>
            <a:pPr>
              <a:spcAft>
                <a:spcPts val="200"/>
              </a:spcAft>
            </a:pPr>
            <a:r>
              <a:rPr sz="1400" b="0" i="0">
                <a:solidFill>
                  <a:srgbClr val="E4E1F1"/>
                </a:solidFill>
                <a:latin typeface="Consolas"/>
              </a:rPr>
              <a:t>        cid = order["customer_id"]</a:t>
            </a:r>
          </a:p>
          <a:p>
            <a:pPr>
              <a:spcAft>
                <a:spcPts val="200"/>
              </a:spcAft>
            </a:pPr>
            <a:r>
              <a:rPr sz="1400" b="0" i="0">
                <a:solidFill>
                  <a:srgbClr val="A9A3D2"/>
                </a:solidFill>
                <a:latin typeface="Consolas"/>
              </a:rPr>
              <a:t>        # a customer not seen yet this quarter has placed no orders in it so far</a:t>
            </a:r>
          </a:p>
          <a:p>
            <a:pPr>
              <a:spcAft>
                <a:spcPts val="200"/>
              </a:spcAft>
            </a:pPr>
            <a:r>
              <a:rPr sz="1400" b="0" i="0">
                <a:solidFill>
                  <a:srgbClr val="E4E1F1"/>
                </a:solidFill>
                <a:latin typeface="Consolas"/>
              </a:rPr>
              <a:t>        orders_by_customer[q][cid] = orders_by_customer[q].get(cid, 0) + 1</a:t>
            </a:r>
          </a:p>
          <a:p>
            <a:pPr>
              <a:spcAft>
                <a:spcPts val="200"/>
              </a:spcAft>
            </a:pPr>
            <a:r>
              <a:rPr sz="1400" b="0" i="0">
                <a:solidFill>
                  <a:srgbClr val="E4E1F1"/>
                </a:solidFill>
                <a:latin typeface="Consolas"/>
              </a:rPr>
              <a:t>customers = {"Q1": len(orders_by_customer["Q1"]), "Q2": len(orders_by_customer["Q2"])}</a:t>
            </a:r>
          </a:p>
        </p:txBody>
      </p:sp>
      <p:sp>
        <p:nvSpPr>
          <p:cNvPr id="14" name="Rounded Rectangle 13"/>
          <p:cNvSpPr/>
          <p:nvPr/>
        </p:nvSpPr>
        <p:spPr>
          <a:xfrm>
            <a:off x="530352" y="434593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8077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91744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711700"/>
            <a:ext cx="9987991" cy="941832"/>
          </a:xfrm>
          <a:prstGeom prst="rect">
            <a:avLst/>
          </a:prstGeom>
          <a:noFill/>
        </p:spPr>
        <p:txBody>
          <a:bodyPr wrap="square" anchor="t" lIns="0" rIns="0" tIns="0" bIns="0">
            <a:spAutoFit/>
          </a:bodyPr>
          <a:lstStyle/>
          <a:p>
            <a:r>
              <a:rPr sz="1500" b="0" i="0">
                <a:solidFill>
                  <a:srgbClr val="1A1440"/>
                </a:solidFill>
                <a:latin typeface="Calibri"/>
              </a:rPr>
              <a:t>.get(cid, 0) supplies a default, and this default is right for a reason worth writing down: an id not seen yet has placed no orders so far. Monday counted rows as customers; the keys of this dictionary are the customers.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costs Rs 51,57,895; order value adds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rupees does each branch carry, one leaf at a time?</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Rs 0 less Rs 51,57,895 plus Rs 28,57,895 is minus Rs 23,00,000, the fall to the rupee. 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ways past a KeyError each decide something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KeyError on "discount" say, and what does each way past it decide?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orders carried a discount if a blank is read as zero?</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symmetric split charges frequency Rs 55,88,480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split that chooses no order put the fall on the same branch?</a:t>
            </a:r>
          </a:p>
        </p:txBody>
      </p:sp>
      <p:pic>
        <p:nvPicPr>
          <p:cNvPr id="9" name="mermaid diagram" descr="90b144a5709ab102.png"/>
          <p:cNvPicPr>
            <a:picLocks noChangeAspect="1"/>
          </p:cNvPicPr>
          <p:nvPr/>
        </p:nvPicPr>
        <p:blipFill>
          <a:blip r:embed="rId5"/>
          <a:stretch>
            <a:fillRect/>
          </a:stretch>
        </p:blipFill>
        <p:spPr>
          <a:xfrm>
            <a:off x="3542901" y="1664208"/>
            <a:ext cx="5105891"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bridge for Meera, with its order beside it; go symmetric when two branches keep moving together and someone else rebuilds the split every month.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customer moved: Rs 51,57,895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019824"/>
                <a:gridCol w="711116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split of the fall?</a:t>
                      </a:r>
                    </a:p>
                  </a:txBody>
                  <a:tcPr marL="101600" marR="101600" marT="38100" marB="38100" anchor="ctr">
                    <a:solidFill>
                      <a:srgbClr val="FFFFFF"/>
                    </a:solidFill>
                  </a:tcPr>
                </a:tc>
                <a:tc>
                  <a:txBody>
                    <a:bodyPr/>
                    <a:lstStyle/>
                    <a:p>
                      <a:r>
                        <a:rPr sz="900" b="0" i="0">
                          <a:solidFill>
                            <a:srgbClr val="1A1440"/>
                          </a:solidFill>
                          <a:latin typeface="Calibri"/>
                        </a:rPr>
                        <a:t>The bridge in the tree's order, order stated</a:t>
                      </a:r>
                    </a:p>
                  </a:txBody>
                  <a:tcPr marL="101600" marR="101600" marT="38100" marB="38100" anchor="ctr">
                    <a:solidFill>
                      <a:srgbClr val="FFFFFF"/>
                    </a:solidFill>
                  </a:tcPr>
                </a:tc>
              </a:tr>
              <a:tr h="310896">
                <a:tc>
                  <a:txBody>
                    <a:bodyPr/>
                    <a:lstStyle/>
                    <a:p>
                      <a:r>
                        <a:rPr sz="900" b="0" i="0">
                          <a:solidFill>
                            <a:srgbClr val="1A1440"/>
                          </a:solidFill>
                          <a:latin typeface="Calibri"/>
                        </a:rPr>
                        <a:t>2. Did customers fall?</a:t>
                      </a:r>
                    </a:p>
                  </a:txBody>
                  <a:tcPr marL="101600" marR="101600" marT="38100" marB="38100" anchor="ctr">
                    <a:solidFill>
                      <a:srgbClr val="F4F2FA"/>
                    </a:solidFill>
                  </a:tcPr>
                </a:tc>
                <a:tc>
                  <a:txBody>
                    <a:bodyPr/>
                    <a:lstStyle/>
                    <a:p>
                      <a:r>
                        <a:rPr sz="900" b="0" i="0">
                          <a:solidFill>
                            <a:srgbClr val="1A1440"/>
                          </a:solidFill>
                          <a:latin typeface="Calibri"/>
                        </a:rPr>
                        <a:t>No: 69 in each quarter</a:t>
                      </a:r>
                    </a:p>
                  </a:txBody>
                  <a:tcPr marL="101600" marR="101600" marT="38100" marB="38100" anchor="ctr">
                    <a:solidFill>
                      <a:srgbClr val="F4F2FA"/>
                    </a:solidFill>
                  </a:tcPr>
                </a:tc>
              </a:tr>
              <a:tr h="310896">
                <a:tc>
                  <a:txBody>
                    <a:bodyPr/>
                    <a:lstStyle/>
                    <a:p>
                      <a:r>
                        <a:rPr sz="900" b="0" i="0">
                          <a:solidFill>
                            <a:srgbClr val="1A1440"/>
                          </a:solidFill>
                          <a:latin typeface="Calibri"/>
                        </a:rPr>
                        <a:t>3. Which leaf moved?</a:t>
                      </a:r>
                    </a:p>
                  </a:txBody>
                  <a:tcPr marL="101600" marR="101600" marT="38100" marB="38100" anchor="ctr">
                    <a:solidFill>
                      <a:srgbClr val="FFFFFF"/>
                    </a:solidFill>
                  </a:tcPr>
                </a:tc>
                <a:tc>
                  <a:txBody>
                    <a:bodyPr/>
                    <a:lstStyle/>
                    <a:p>
                      <a:r>
                        <a:rPr sz="900" b="0" i="0">
                          <a:solidFill>
                            <a:srgbClr val="1A1440"/>
                          </a:solidFill>
                          <a:latin typeface="Calibri"/>
                        </a:rPr>
                        <a:t>Orders per customer, 1.65 to 1.25</a:t>
                      </a:r>
                    </a:p>
                  </a:txBody>
                  <a:tcPr marL="101600" marR="101600" marT="38100" marB="38100" anchor="ctr">
                    <a:solidFill>
                      <a:srgbClr val="FFFFFF"/>
                    </a:solidFill>
                  </a:tcPr>
                </a:tc>
              </a:tr>
              <a:tr h="310896">
                <a:tc>
                  <a:txBody>
                    <a:bodyPr/>
                    <a:lstStyle/>
                    <a:p>
                      <a:r>
                        <a:rPr sz="900" b="0" i="0">
                          <a:solidFill>
                            <a:srgbClr val="1A1440"/>
                          </a:solidFill>
                          <a:latin typeface="Calibri"/>
                        </a:rPr>
                        <a:t>4. How many rupees each?</a:t>
                      </a:r>
                    </a:p>
                  </a:txBody>
                  <a:tcPr marL="101600" marR="101600" marT="38100" marB="38100" anchor="ctr">
                    <a:solidFill>
                      <a:srgbClr val="F4F2FA"/>
                    </a:solidFill>
                  </a:tcPr>
                </a:tc>
                <a:tc>
                  <a:txBody>
                    <a:bodyPr/>
                    <a:lstStyle/>
                    <a:p>
                      <a:r>
                        <a:rPr sz="900" b="0" i="0">
                          <a:solidFill>
                            <a:srgbClr val="1A1440"/>
                          </a:solidFill>
                          <a:latin typeface="Calibri"/>
                        </a:rPr>
                        <a:t>Frequency -Rs 51,57,895, order value +Rs 28,57,895</a:t>
                      </a:r>
                    </a:p>
                  </a:txBody>
                  <a:tcPr marL="101600" marR="101600" marT="38100" marB="38100" anchor="ctr">
                    <a:solidFill>
                      <a:srgbClr val="F4F2FA"/>
                    </a:solidFill>
                  </a:tcPr>
                </a:tc>
              </a:tr>
              <a:tr h="310896">
                <a:tc>
                  <a:txBody>
                    <a:bodyPr/>
                    <a:lstStyle/>
                    <a:p>
                      <a:r>
                        <a:rPr sz="900" b="0" i="0">
                          <a:solidFill>
                            <a:srgbClr val="1A1440"/>
                          </a:solidFill>
                          <a:latin typeface="Calibri"/>
                        </a:rPr>
                        <a:t>5. What share had a discount?</a:t>
                      </a:r>
                    </a:p>
                  </a:txBody>
                  <a:tcPr marL="101600" marR="101600" marT="38100" marB="38100" anchor="ctr">
                    <a:solidFill>
                      <a:srgbClr val="FFFFFF"/>
                    </a:solidFill>
                  </a:tcPr>
                </a:tc>
                <a:tc>
                  <a:txBody>
                    <a:bodyPr/>
                    <a:lstStyle/>
                    <a:p>
                      <a:r>
                        <a:rPr sz="900" b="0" i="0">
                          <a:solidFill>
                            <a:srgbClr val="1A1440"/>
                          </a:solidFill>
                          <a:latin typeface="Calibri"/>
                        </a:rPr>
                        <a:t>71.7% of recorded Q2 orders; the branch holds Rs 12,900 at most</a:t>
                      </a:r>
                    </a:p>
                  </a:txBody>
                  <a:tcPr marL="101600" marR="101600" marT="38100" marB="38100" anchor="ctr">
                    <a:solidFill>
                      <a:srgbClr val="FFFFFF"/>
                    </a:solidFill>
                  </a:tcPr>
                </a:tc>
              </a:tr>
              <a:tr h="310896">
                <a:tc>
                  <a:txBody>
                    <a:bodyPr/>
                    <a:lstStyle/>
                    <a:p>
                      <a:r>
                        <a:rPr sz="900" b="0" i="0">
                          <a:solidFill>
                            <a:srgbClr val="1A1440"/>
                          </a:solidFill>
                          <a:latin typeface="Calibri"/>
                        </a:rPr>
                        <a:t>6. Does the symmetric split agree?</a:t>
                      </a:r>
                    </a:p>
                  </a:txBody>
                  <a:tcPr marL="101600" marR="101600" marT="38100" marB="38100" anchor="ctr">
                    <a:solidFill>
                      <a:srgbClr val="F4F2FA"/>
                    </a:solidFill>
                  </a:tcPr>
                </a:tc>
                <a:tc>
                  <a:txBody>
                    <a:bodyPr/>
                    <a:lstStyle/>
                    <a:p>
                      <a:r>
                        <a:rPr sz="900" b="0" i="0">
                          <a:solidFill>
                            <a:srgbClr val="1A1440"/>
                          </a:solidFill>
                          <a:latin typeface="Calibri"/>
                        </a:rPr>
                        <a:t>Yes: the same branch, Rs 55,88,480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four customer segments carries the fall in orders per customer, measured the same way for every segment and quarter?</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for the tier's 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the paid membership tier, decides whether his tier needs rescuing, and orders per member is his number. A wrong answer costs a tier nobody protects, or a quarter spent fixing one that was fine.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Copy, function or one pass?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Eight groups, one definition</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tree_for agree?</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Chapter 2's numbers,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did Retail-Core move?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Rate and typical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Business do?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median against the range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roll-up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segments back into one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one pass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key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need to know, and how does each segment earn?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90" cy="1849120"/>
        </p:xfrm>
        <a:graphic>
          <a:graphicData uri="http://schemas.openxmlformats.org/drawingml/2006/table">
            <a:tbl>
              <a:tblPr firstRow="0" bandRow="0">
                <a:tableStyleId>{2D5ABB26-0587-4C30-8999-92F81FD0307C}</a:tableStyleId>
              </a:tblPr>
              <a:tblGrid>
                <a:gridCol w="3893206"/>
                <a:gridCol w="3618892"/>
                <a:gridCol w="3618892"/>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discounted baskets</a:t>
                      </a:r>
                    </a:p>
                  </a:txBody>
                  <a:tcPr marL="101600" marR="101600" marT="38100" marB="38100" anchor="ctr">
                    <a:solidFill>
                      <a:srgbClr val="F4F2FA"/>
                    </a:solidFill>
                  </a:tcPr>
                </a:tc>
                <a:tc>
                  <a:txBody>
                    <a:bodyPr/>
                    <a:lstStyle/>
                    <a:p>
                      <a:r>
                        <a:rPr sz="1400" b="0" i="0">
                          <a:solidFill>
                            <a:srgbClr val="1A1440"/>
                          </a:solidFill>
                          <a:latin typeface="Calibri"/>
                        </a:rPr>
                        <a:t>Discount per order</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membership business report its segment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fits: one definition, any subset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compute the same numbers for eight groups?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0" name="Oval 1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takes any orders and returns five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function do that a copied loop cannot?</a:t>
            </a:r>
          </a:p>
        </p:txBody>
      </p:sp>
      <p:pic>
        <p:nvPicPr>
          <p:cNvPr id="9" name="mermaid diagram" descr="eb9f8e8abe6f58dd.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A function returns its answer, so the caller can put it in a table, a chart or a check; a function that only prints hands back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tree_for written, and how do we know it is right?</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A new function earns trust by reproducing a number proved another way, so it runs first on all of each quarter.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5" name="Oval 2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tree_for give for all of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pic>
        <p:nvPicPr>
          <p:cNvPr id="9" name="mermaid diagram" descr="94fd0e1e07ec16eb.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1.65; b) 1.25; c) None; 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1.65 and 1.25, chapter 2 reproduced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114 / 69 / 1.65</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 / CUSTOMERS / RATE</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86 / 69 / 1.25</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 CUSTOMERS / RATE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1,84,211 to Rs 2,17,442</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function reproduces chapter 2's leaves exactly, so it can be trusted on a group nobody has counted yet. The answer is a.</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 1.12 to 1.06, minus 5.3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Retail-Core's orders per customer and typical order move?</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and 34</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CUSTOMERS</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count in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38 to 36</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1.12 to 1.06 per customer, -5.3%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Rs 2,325 to Rs 2,080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Retail-Core slipped a little, far short of the company's 24.6 percent.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orders per customer fall if the four segments' rates are averaged?</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four rates mislead, and what does the roll-up do instead?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pass by key agrees,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pass grouped by key agree with tree_for for all eight groups?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Rounded Rectangle 29"/>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function while groups are asked for one at a time; switch to the pass by key when every group is needed at once on a large file, which is Week 2's groupby.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7" name="Oval 3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9" name="Oval 3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own run names the segment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moved,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243678"/>
                <a:gridCol w="688731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Copy, function or one pass?</a:t>
                      </a:r>
                    </a:p>
                  </a:txBody>
                  <a:tcPr marL="101600" marR="101600" marT="38100" marB="38100" anchor="ctr">
                    <a:solidFill>
                      <a:srgbClr val="FFFFFF"/>
                    </a:solidFill>
                  </a:tcPr>
                </a:tc>
                <a:tc>
                  <a:txBody>
                    <a:bodyPr/>
                    <a:lstStyle/>
                    <a:p>
                      <a:r>
                        <a:rPr sz="900" b="0" i="0">
                          <a:solidFill>
                            <a:srgbClr val="1A1440"/>
                          </a:solidFill>
                          <a:latin typeface="Calibri"/>
                        </a:rPr>
                        <a:t>A function: 21 lines and one place to edit</a:t>
                      </a:r>
                    </a:p>
                  </a:txBody>
                  <a:tcPr marL="101600" marR="101600" marT="38100" marB="38100" anchor="ctr">
                    <a:solidFill>
                      <a:srgbClr val="FFFFFF"/>
                    </a:solidFill>
                  </a:tcPr>
                </a:tc>
              </a:tr>
              <a:tr h="310896">
                <a:tc>
                  <a:txBody>
                    <a:bodyPr/>
                    <a:lstStyle/>
                    <a:p>
                      <a:r>
                        <a:rPr sz="900" b="0" i="0">
                          <a:solidFill>
                            <a:srgbClr val="1A1440"/>
                          </a:solidFill>
                          <a:latin typeface="Calibri"/>
                        </a:rPr>
                        <a:t>2. Does tree_for agree?</a:t>
                      </a:r>
                    </a:p>
                  </a:txBody>
                  <a:tcPr marL="101600" marR="101600" marT="38100" marB="38100" anchor="ctr">
                    <a:solidFill>
                      <a:srgbClr val="F4F2FA"/>
                    </a:solidFill>
                  </a:tcPr>
                </a:tc>
                <a:tc>
                  <a:txBody>
                    <a:bodyPr/>
                    <a:lstStyle/>
                    <a:p>
                      <a:r>
                        <a:rPr sz="900" b="0" i="0">
                          <a:solidFill>
                            <a:srgbClr val="1A1440"/>
                          </a:solidFill>
                          <a:latin typeface="Calibri"/>
                        </a:rPr>
                        <a:t>Yes: 1.65 and 1.25 on 69 customers</a:t>
                      </a:r>
                    </a:p>
                  </a:txBody>
                  <a:tcPr marL="101600" marR="101600" marT="38100" marB="38100" anchor="ctr">
                    <a:solidFill>
                      <a:srgbClr val="F4F2FA"/>
                    </a:solidFill>
                  </a:tcPr>
                </a:tc>
              </a:tr>
              <a:tr h="310896">
                <a:tc>
                  <a:txBody>
                    <a:bodyPr/>
                    <a:lstStyle/>
                    <a:p>
                      <a:r>
                        <a:rPr sz="900" b="0" i="0">
                          <a:solidFill>
                            <a:srgbClr val="1A1440"/>
                          </a:solidFill>
                          <a:latin typeface="Calibri"/>
                        </a:rPr>
                        <a:t>3. How did Retail-Core move?</a:t>
                      </a:r>
                    </a:p>
                  </a:txBody>
                  <a:tcPr marL="101600" marR="101600" marT="38100" marB="38100" anchor="ctr">
                    <a:solidFill>
                      <a:srgbClr val="FFFFFF"/>
                    </a:solidFill>
                  </a:tcPr>
                </a:tc>
                <a:tc>
                  <a:txBody>
                    <a:bodyPr/>
                    <a:lstStyle/>
                    <a:p>
                      <a:r>
                        <a:rPr sz="900" b="0" i="0">
                          <a:solidFill>
                            <a:srgbClr val="1A1440"/>
                          </a:solidFill>
                          <a:latin typeface="Calibri"/>
                        </a:rPr>
                        <a:t>1.12 to 1.06, minus 5.3 percent</a:t>
                      </a:r>
                    </a:p>
                  </a:txBody>
                  <a:tcPr marL="101600" marR="101600" marT="38100" marB="38100" anchor="ctr">
                    <a:solidFill>
                      <a:srgbClr val="FFFFFF"/>
                    </a:solidFill>
                  </a:tcPr>
                </a:tc>
              </a:tr>
              <a:tr h="310896">
                <a:tc>
                  <a:txBody>
                    <a:bodyPr/>
                    <a:lstStyle/>
                    <a:p>
                      <a:r>
                        <a:rPr sz="900" b="0" i="0">
                          <a:solidFill>
                            <a:srgbClr val="1A1440"/>
                          </a:solidFill>
                          <a:latin typeface="Calibri"/>
                        </a:rPr>
                        <a:t>4. What did Business do?</a:t>
                      </a:r>
                    </a:p>
                  </a:txBody>
                  <a:tcPr marL="101600" marR="101600" marT="38100" marB="38100" anchor="ctr">
                    <a:solidFill>
                      <a:srgbClr val="F4F2FA"/>
                    </a:solidFill>
                  </a:tcPr>
                </a:tc>
                <a:tc>
                  <a:txBody>
                    <a:bodyPr/>
                    <a:lstStyle/>
                    <a:p>
                      <a:r>
                        <a:rPr sz="900" b="0" i="0">
                          <a:solidFill>
                            <a:srgbClr val="1A1440"/>
                          </a:solidFill>
                          <a:latin typeface="Calibri"/>
                        </a:rPr>
                        <a:t>The median held; one order stretched the range</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roll-up say?</a:t>
                      </a:r>
                    </a:p>
                  </a:txBody>
                  <a:tcPr marL="101600" marR="101600" marT="38100" marB="38100" anchor="ctr">
                    <a:solidFill>
                      <a:srgbClr val="FFFFFF"/>
                    </a:solidFill>
                  </a:tcPr>
                </a:tc>
                <a:tc>
                  <a:txBody>
                    <a:bodyPr/>
                    <a:lstStyle/>
                    <a:p>
                      <a:r>
                        <a:rPr sz="900" b="0" i="0">
                          <a:solidFill>
                            <a:srgbClr val="1A1440"/>
                          </a:solidFill>
                          <a:latin typeface="Calibri"/>
                        </a:rPr>
                        <a:t>Weighted, minus 24.6 percent; averaged, a false 6.0</a:t>
                      </a:r>
                    </a:p>
                  </a:txBody>
                  <a:tcPr marL="101600" marR="101600" marT="38100" marB="38100" anchor="ctr">
                    <a:solidFill>
                      <a:srgbClr val="FFFFFF"/>
                    </a:solidFill>
                  </a:tcPr>
                </a:tc>
              </a:tr>
              <a:tr h="310896">
                <a:tc>
                  <a:txBody>
                    <a:bodyPr/>
                    <a:lstStyle/>
                    <a:p>
                      <a:r>
                        <a:rPr sz="900" b="0" i="0">
                          <a:solidFill>
                            <a:srgbClr val="1A1440"/>
                          </a:solidFill>
                          <a:latin typeface="Calibri"/>
                        </a:rPr>
                        <a:t>6. Does one pass agree?</a:t>
                      </a:r>
                    </a:p>
                  </a:txBody>
                  <a:tcPr marL="101600" marR="101600" marT="38100" marB="38100" anchor="ctr">
                    <a:solidFill>
                      <a:srgbClr val="F4F2FA"/>
                    </a:solidFill>
                  </a:tcPr>
                </a:tc>
                <a:tc>
                  <a:txBody>
                    <a:bodyPr/>
                    <a:lstStyle/>
                    <a:p>
                      <a:r>
                        <a:rPr sz="900" b="0" i="0">
                          <a:solidFill>
                            <a:srgbClr val="1A1440"/>
                          </a:solidFill>
                          <a:latin typeface="Calibri"/>
                        </a:rPr>
                        <a:t>Yes, for all eight groups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wrote two functions for eight groups and copied no loops. Say the segment on your screen with its denominator before anyone draws a conclusion from it."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customers pay more?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while revenue fell: did customers pay more, or did the mix of orders change?</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 price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Finance decide whether a price rise goes into the plan, on Marketing's reading of the 18 percent. A wrong reading raises prices on customers who never paid more, and costs volume in the tier whose orders already halved.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the rise?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readings, one that adds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orders were lost?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28 orders, by segment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any segment rise 18%?</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segment's own rate</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Price or mix?</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reading, tested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rate part?</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envelope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two groups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Marketing asking for, and what would a wrong reading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430x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 Q1</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an order value that rose on its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its average order rise on its mix alone?</a:t>
            </a:r>
          </a:p>
        </p:txBody>
      </p:sp>
      <p:pic>
        <p:nvPicPr>
          <p:cNvPr id="9" name="mermaid diagram" descr="a35e9daf1660def0.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order size and their shares move, a blended order value can rise with no customer paying more for the same thing.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into mix and rate: the only reading that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readings can put rupees on "customers paid more" and on "the mix changed"?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moves with its shares or with its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move a blended revenue per order?</a:t>
            </a:r>
          </a:p>
        </p:txBody>
      </p:sp>
      <p:pic>
        <p:nvPicPr>
          <p:cNvPr id="9" name="mermaid diagram" descr="ba4c78974cfd796b.png"/>
          <p:cNvPicPr>
            <a:picLocks noChangeAspect="1"/>
          </p:cNvPicPr>
          <p:nvPr/>
        </p:nvPicPr>
        <p:blipFill>
          <a:blip r:embed="rId6"/>
          <a:stretch>
            <a:fillRect/>
          </a:stretch>
        </p:blipFill>
        <p:spPr>
          <a:xfrm>
            <a:off x="2971636" y="1664208"/>
            <a:ext cx="624842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blend is each segment's share of orders times its own revenue per order, added up, so it can rise because the shares moved while every segment's own figure held.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did any segment's rate rise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1,84,211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ALL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revenue per order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2,17,442</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ALL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up 18.0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Business; b) Retail-Plus; c) Student; d) none of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the largest own rise is 14.8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No segment rose 18 percent, so the blend rose because the mix of orders moved. The answer is 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read into the 18 percent, and what would it decide?</a:t>
            </a:r>
          </a:p>
        </p:txBody>
      </p:sp>
      <p:pic>
        <p:nvPicPr>
          <p:cNvPr id="9" name="mermaid diagram" descr="2241c1ee6dbb2ee0.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and no segment's own figure rose 18 percent. </a:t>
            </a:r>
            <a:r>
              <a:rPr sz="1500" b="1" i="0">
                <a:solidFill>
                  <a:srgbClr val="1A1440"/>
                </a:solidFill>
                <a:latin typeface="Calibri"/>
              </a:rPr>
              <a:t>The check</a:t>
            </a:r>
            <a:r>
              <a:rPr sz="1500" b="0" i="0">
                <a:solidFill>
                  <a:srgbClr val="1A1440"/>
                </a:solidFill>
                <a:latin typeface="Calibri"/>
              </a:rPr>
              <a:t> is the table of each segment's own rate.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Q2's mix at Q1's rates prices the mix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Rs 33,231 rise split into a mix part and a rate part?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mix_only = 0</a:t>
            </a:r>
          </a:p>
          <a:p>
            <a:pPr>
              <a:spcAft>
                <a:spcPts val="200"/>
              </a:spcAft>
            </a:pPr>
            <a:r>
              <a:rPr sz="1400" b="0" i="0">
                <a:solidFill>
                  <a:srgbClr val="E4E1F1"/>
                </a:solidFill>
                <a:latin typeface="Consolas"/>
              </a:rPr>
              <a:t>for seg in SEGMENTS:</a:t>
            </a:r>
          </a:p>
          <a:p>
            <a:pPr>
              <a:spcAft>
                <a:spcPts val="200"/>
              </a:spcAft>
            </a:pPr>
            <a:r>
              <a:rPr sz="1400" b="0" i="0">
                <a:solidFill>
                  <a:srgbClr val="E4E1F1"/>
                </a:solidFill>
                <a:latin typeface="Consolas"/>
              </a:rPr>
              <a:t>    share_q2 = orders_q2[seg] / 86           # each segment's share of Q2's orders</a:t>
            </a:r>
          </a:p>
          <a:p>
            <a:pPr>
              <a:spcAft>
                <a:spcPts val="200"/>
              </a:spcAft>
            </a:pPr>
            <a:r>
              <a:rPr sz="1400" b="0" i="0">
                <a:solidFill>
                  <a:srgbClr val="E4E1F1"/>
                </a:solidFill>
                <a:latin typeface="Consolas"/>
              </a:rPr>
              <a:t>    mix_only += share_q2 * rate_q1[seg]      # priced at Q1's revenue per order</a:t>
            </a:r>
          </a:p>
          <a:p>
            <a:pPr>
              <a:spcAft>
                <a:spcPts val="200"/>
              </a:spcAft>
            </a:pPr>
            <a:r>
              <a:rPr sz="1400" b="0" i="0">
                <a:solidFill>
                  <a:srgbClr val="E4E1F1"/>
                </a:solidFill>
                <a:latin typeface="Consolas"/>
              </a:rPr>
              <a:t>mix = mix_only - 184211                      # the mix part</a:t>
            </a:r>
          </a:p>
          <a:p>
            <a:pPr>
              <a:spcAft>
                <a:spcPts val="200"/>
              </a:spcAft>
            </a:pPr>
            <a:r>
              <a:rPr sz="1400" b="0" i="0">
                <a:solidFill>
                  <a:srgbClr val="E4E1F1"/>
                </a:solidFill>
                <a:latin typeface="Consolas"/>
              </a:rPr>
              <a:t>rate = 217442 - mix_only                     # the rate part</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Hold every segment at Q1's revenue per order and move only the shares: what the blend does then is the mix, and the rest is the rate.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rates, what would revenue per order have been?</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At Q2's mix and Q1's rates revenue per order would already be Rs 2,07,112. "Customers pay 18 percent more, raise prices" became "the mix explains Rs 22,902 of the Rs 33,231 rise", and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part is almost all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Rs 10,330 rate part made of, segment by segment?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10,302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17 orders, each about Rs 52,000 larger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60</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2,815 to Rs 3,012 an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12 and -Rs 43</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STUDENT AND RETAIL-CORE</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a hundred rupees or less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Business's lakh-sized orders carry almost all of the rate part, driven by one large order, as chapter 3's range showed; the consumer segments' own prices moved by a few hundred rupees at most.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groups on an envelope give 69.3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groups, Business and everyone else, put the same share on the mix?</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970115"/>
                <a:gridCol w="4965994"/>
                <a:gridCol w="1470802"/>
                <a:gridCol w="2724078"/>
              </a:tblGrid>
              <a:tr h="335280">
                <a:tc>
                  <a:txBody>
                    <a:bodyPr/>
                    <a:lstStyle/>
                    <a:p>
                      <a:r>
                        <a:rPr sz="1250" b="1" i="0">
                          <a:solidFill>
                            <a:srgbClr val="FFFFFF"/>
                          </a:solidFill>
                          <a:latin typeface="Calibri"/>
                        </a:rPr>
                        <a:t>Route</a:t>
                      </a:r>
                    </a:p>
                  </a:txBody>
                  <a:tcPr marL="101600" marR="101600" marT="38100" marB="38100" anchor="ctr">
                    <a:solidFill>
                      <a:srgbClr val="1A0F5C"/>
                    </a:solidFill>
                  </a:tcPr>
                </a:tc>
                <a:tc>
                  <a:txBody>
                    <a:bodyPr/>
                    <a:lstStyle/>
                    <a:p>
                      <a:r>
                        <a:rPr sz="1250" b="1" i="0">
                          <a:solidFill>
                            <a:srgbClr val="FFFFFF"/>
                          </a:solidFill>
                          <a:latin typeface="Calibri"/>
                        </a:rPr>
                        <a:t>What it prices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Share of the rise</a:t>
                      </a:r>
                    </a:p>
                  </a:txBody>
                  <a:tcPr marL="101600" marR="101600" marT="38100" marB="38100" anchor="ctr">
                    <a:solidFill>
                      <a:srgbClr val="1A0F5C"/>
                    </a:solidFill>
                  </a:tcPr>
                </a:tc>
              </a:tr>
              <a:tr h="335280">
                <a:tc>
                  <a:txBody>
                    <a:bodyPr/>
                    <a:lstStyle/>
                    <a:p>
                      <a:r>
                        <a:rPr sz="1200" b="0" i="0">
                          <a:solidFill>
                            <a:srgbClr val="1A1440"/>
                          </a:solidFill>
                          <a:latin typeface="Calibri"/>
                        </a:rPr>
                        <a:t>Four segments</a:t>
                      </a:r>
                    </a:p>
                  </a:txBody>
                  <a:tcPr marL="101600" marR="101600" marT="38100" marB="38100" anchor="ctr">
                    <a:solidFill>
                      <a:srgbClr val="FFFFFF"/>
                    </a:solidFill>
                  </a:tcPr>
                </a:tc>
                <a:tc>
                  <a:txBody>
                    <a:bodyPr/>
                    <a:lstStyle/>
                    <a:p>
                      <a:r>
                        <a:rPr sz="1200" b="0" i="0">
                          <a:solidFill>
                            <a:srgbClr val="1A1440"/>
                          </a:solidFill>
                          <a:latin typeface="Calibri"/>
                        </a:rPr>
                        <a:t>Q2's mix at each segment's Q1 rate</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Two groups</a:t>
                      </a:r>
                    </a:p>
                  </a:txBody>
                  <a:tcPr marL="101600" marR="101600" marT="38100" marB="38100" anchor="ctr">
                    <a:solidFill>
                      <a:srgbClr val="F4F2FA"/>
                    </a:solidFill>
                  </a:tcPr>
                </a:tc>
                <a:tc>
                  <a:txBody>
                    <a:bodyPr/>
                    <a:lstStyle/>
                    <a:p>
                      <a:r>
                        <a:rPr sz="1200" b="0" i="0">
                          <a:solidFill>
                            <a:srgbClr val="1A1440"/>
                          </a:solidFill>
                          <a:latin typeface="Calibri"/>
                        </a:rPr>
                        <a:t>Business's share change times its gap</a:t>
                      </a:r>
                    </a:p>
                  </a:txBody>
                  <a:tcPr marL="101600" marR="101600" marT="38100" marB="38100" anchor="ctr">
                    <a:solidFill>
                      <a:srgbClr val="F4F2FA"/>
                    </a:solidFill>
                  </a:tcPr>
                </a:tc>
                <a:tc>
                  <a:txBody>
                    <a:bodyPr/>
                    <a:lstStyle/>
                    <a:p>
                      <a:r>
                        <a:rPr sz="1200" b="0" i="0">
                          <a:solidFill>
                            <a:srgbClr val="1A1440"/>
                          </a:solidFill>
                          <a:latin typeface="Calibri"/>
                        </a:rPr>
                        <a:t>Rs 23,039</a:t>
                      </a:r>
                    </a:p>
                  </a:txBody>
                  <a:tcPr marL="101600" marR="101600" marT="38100" marB="38100" anchor="ctr">
                    <a:solidFill>
                      <a:srgbClr val="F4F2FA"/>
                    </a:solidFill>
                  </a:tcPr>
                </a:tc>
                <a:tc>
                  <a:txBody>
                    <a:bodyPr/>
                    <a:lstStyle/>
                    <a:p>
                      <a:r>
                        <a:rPr sz="1200" b="0" i="0">
                          <a:solidFill>
                            <a:srgbClr val="1A1440"/>
                          </a:solidFill>
                          <a:latin typeface="Calibri"/>
                        </a:rPr>
                        <a:t>69.3%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Report the four-segment split, since it names each segment's part; the envelope is the check with no laptop, and it stops agreeing when the consumer segments' own shares move a lot against each other.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72 / 88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price signal: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customers pay more,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27545"/>
                <a:gridCol w="6103445"/>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the rise?</a:t>
                      </a:r>
                    </a:p>
                  </a:txBody>
                  <a:tcPr marL="101600" marR="101600" marT="38100" marB="38100" anchor="ctr">
                    <a:solidFill>
                      <a:srgbClr val="FFFFFF"/>
                    </a:solidFill>
                  </a:tcPr>
                </a:tc>
                <a:tc>
                  <a:txBody>
                    <a:bodyPr/>
                    <a:lstStyle/>
                    <a:p>
                      <a:r>
                        <a:rPr sz="900" b="0" i="0">
                          <a:solidFill>
                            <a:srgbClr val="1A1440"/>
                          </a:solidFill>
                          <a:latin typeface="Calibri"/>
                        </a:rPr>
                        <a:t>The split into mix and rate</a:t>
                      </a:r>
                    </a:p>
                  </a:txBody>
                  <a:tcPr marL="101600" marR="101600" marT="38100" marB="38100" anchor="ctr">
                    <a:solidFill>
                      <a:srgbClr val="FFFFFF"/>
                    </a:solidFill>
                  </a:tcPr>
                </a:tc>
              </a:tr>
              <a:tr h="310896">
                <a:tc>
                  <a:txBody>
                    <a:bodyPr/>
                    <a:lstStyle/>
                    <a:p>
                      <a:r>
                        <a:rPr sz="900" b="0" i="0">
                          <a:solidFill>
                            <a:srgbClr val="1A1440"/>
                          </a:solidFill>
                          <a:latin typeface="Calibri"/>
                        </a:rPr>
                        <a:t>2. Whose orders were lost?</a:t>
                      </a:r>
                    </a:p>
                  </a:txBody>
                  <a:tcPr marL="101600" marR="101600" marT="38100" marB="38100" anchor="ctr">
                    <a:solidFill>
                      <a:srgbClr val="F4F2FA"/>
                    </a:solidFill>
                  </a:tcPr>
                </a:tc>
                <a:tc>
                  <a:txBody>
                    <a:bodyPr/>
                    <a:lstStyle/>
                    <a:p>
                      <a:r>
                        <a:rPr sz="900" b="0" i="0">
                          <a:solidFill>
                            <a:srgbClr val="1A1440"/>
                          </a:solidFill>
                          <a:latin typeface="Calibri"/>
                        </a:rPr>
                        <a:t>Retail-Plus lost 25 of the 28</a:t>
                      </a:r>
                    </a:p>
                  </a:txBody>
                  <a:tcPr marL="101600" marR="101600" marT="38100" marB="38100" anchor="ctr">
                    <a:solidFill>
                      <a:srgbClr val="F4F2FA"/>
                    </a:solidFill>
                  </a:tcPr>
                </a:tc>
              </a:tr>
              <a:tr h="310896">
                <a:tc>
                  <a:txBody>
                    <a:bodyPr/>
                    <a:lstStyle/>
                    <a:p>
                      <a:r>
                        <a:rPr sz="900" b="0" i="0">
                          <a:solidFill>
                            <a:srgbClr val="1A1440"/>
                          </a:solidFill>
                          <a:latin typeface="Calibri"/>
                        </a:rPr>
                        <a:t>3. Did any segment rise 18%?</a:t>
                      </a:r>
                    </a:p>
                  </a:txBody>
                  <a:tcPr marL="101600" marR="101600" marT="38100" marB="38100" anchor="ctr">
                    <a:solidFill>
                      <a:srgbClr val="FFFFFF"/>
                    </a:solidFill>
                  </a:tcPr>
                </a:tc>
                <a:tc>
                  <a:txBody>
                    <a:bodyPr/>
                    <a:lstStyle/>
                    <a:p>
                      <a:r>
                        <a:rPr sz="900" b="0" i="0">
                          <a:solidFill>
                            <a:srgbClr val="1A1440"/>
                          </a:solidFill>
                          <a:latin typeface="Calibri"/>
                        </a:rPr>
                        <a:t>No; Student's 14.8 was the most</a:t>
                      </a:r>
                    </a:p>
                  </a:txBody>
                  <a:tcPr marL="101600" marR="101600" marT="38100" marB="38100" anchor="ctr">
                    <a:solidFill>
                      <a:srgbClr val="FFFFFF"/>
                    </a:solidFill>
                  </a:tcPr>
                </a:tc>
              </a:tr>
              <a:tr h="310896">
                <a:tc>
                  <a:txBody>
                    <a:bodyPr/>
                    <a:lstStyle/>
                    <a:p>
                      <a:r>
                        <a:rPr sz="900" b="0" i="0">
                          <a:solidFill>
                            <a:srgbClr val="1A1440"/>
                          </a:solidFill>
                          <a:latin typeface="Calibri"/>
                        </a:rPr>
                        <a:t>4. Price or mix?</a:t>
                      </a:r>
                    </a:p>
                  </a:txBody>
                  <a:tcPr marL="101600" marR="101600" marT="38100" marB="38100" anchor="ctr">
                    <a:solidFill>
                      <a:srgbClr val="F4F2FA"/>
                    </a:solidFill>
                  </a:tcPr>
                </a:tc>
                <a:tc>
                  <a:txBody>
                    <a:bodyPr/>
                    <a:lstStyle/>
                    <a:p>
                      <a:r>
                        <a:rPr sz="900" b="0" i="0">
                          <a:solidFill>
                            <a:srgbClr val="1A1440"/>
                          </a:solidFill>
                          <a:latin typeface="Calibri"/>
                        </a:rPr>
                        <a:t>Mix: Rs 22,902 of the Rs 33,231 rise</a:t>
                      </a:r>
                    </a:p>
                  </a:txBody>
                  <a:tcPr marL="101600" marR="101600" marT="38100" marB="38100" anchor="ctr">
                    <a:solidFill>
                      <a:srgbClr val="F4F2FA"/>
                    </a:solidFill>
                  </a:tcPr>
                </a:tc>
              </a:tr>
              <a:tr h="310896">
                <a:tc>
                  <a:txBody>
                    <a:bodyPr/>
                    <a:lstStyle/>
                    <a:p>
                      <a:r>
                        <a:rPr sz="900" b="0" i="0">
                          <a:solidFill>
                            <a:srgbClr val="1A1440"/>
                          </a:solidFill>
                          <a:latin typeface="Calibri"/>
                        </a:rPr>
                        <a:t>5. What is the rate part?</a:t>
                      </a:r>
                    </a:p>
                  </a:txBody>
                  <a:tcPr marL="101600" marR="101600" marT="38100" marB="38100" anchor="ctr">
                    <a:solidFill>
                      <a:srgbClr val="FFFFFF"/>
                    </a:solidFill>
                  </a:tcPr>
                </a:tc>
                <a:tc>
                  <a:txBody>
                    <a:bodyPr/>
                    <a:lstStyle/>
                    <a:p>
                      <a:r>
                        <a:rPr sz="900" b="0" i="0">
                          <a:solidFill>
                            <a:srgbClr val="1A1440"/>
                          </a:solidFill>
                          <a:latin typeface="Calibri"/>
                        </a:rPr>
                        <a:t>Business, Rs 10,302 of Rs 10,330</a:t>
                      </a:r>
                    </a:p>
                  </a:txBody>
                  <a:tcPr marL="101600" marR="101600" marT="38100" marB="38100" anchor="ctr">
                    <a:solidFill>
                      <a:srgbClr val="FFFFFF"/>
                    </a:solidFill>
                  </a:tcPr>
                </a:tc>
              </a:tr>
              <a:tr h="310896">
                <a:tc>
                  <a:txBody>
                    <a:bodyPr/>
                    <a:lstStyle/>
                    <a:p>
                      <a:r>
                        <a:rPr sz="900" b="0" i="0">
                          <a:solidFill>
                            <a:srgbClr val="1A1440"/>
                          </a:solidFill>
                          <a:latin typeface="Calibri"/>
                        </a:rPr>
                        <a:t>6. Does the envelope agree?</a:t>
                      </a:r>
                    </a:p>
                  </a:txBody>
                  <a:tcPr marL="101600" marR="101600" marT="38100" marB="38100" anchor="ctr">
                    <a:solidFill>
                      <a:srgbClr val="F4F2FA"/>
                    </a:solidFill>
                  </a:tcPr>
                </a:tc>
                <a:tc>
                  <a:txBody>
                    <a:bodyPr/>
                    <a:lstStyle/>
                    <a:p>
                      <a:r>
                        <a:rPr sz="900" b="0" i="0">
                          <a:solidFill>
                            <a:srgbClr val="1A1440"/>
                          </a:solidFill>
                          <a:latin typeface="Calibri"/>
                        </a:rPr>
                        <a:t>Yes: 69.3 against 68.9 percent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73 / 88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Were customers lost?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flat count hides customers lost and replaced: were any lost, who slowed instead, and which segment fell most?</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74 / 88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to release the Rs 12 crore acquisition budget, which Marketing now rests on churn hiding in a flat count. A wrong answer spends crores replacing customers who never left, while the ones who slowed keep slowing.</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 sees churn?</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tests,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are missing?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Q1's 69 against Q2's ids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slowed down?</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Customer by customer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fell most?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Last quarter's summary script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Too small to matter?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in rupees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dates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first and last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now, and what would a wrong answer cost?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published studies say about acquisition against retention?</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overlap, then each customer, answers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can see customers lost and customers new?</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sets of ids split into kept, lost and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net count hide, and what do two sets of ids show?</a:t>
            </a:r>
          </a:p>
        </p:txBody>
      </p:sp>
      <p:pic>
        <p:nvPicPr>
          <p:cNvPr id="9" name="mermaid diagram" descr="f66c9372c04f462f.png"/>
          <p:cNvPicPr>
            <a:picLocks noChangeAspect="1"/>
          </p:cNvPicPr>
          <p:nvPr/>
        </p:nvPicPr>
        <p:blipFill>
          <a:blip r:embed="rId6"/>
          <a:stretch>
            <a:fillRect/>
          </a:stretch>
        </p:blipFill>
        <p:spPr>
          <a:xfrm>
            <a:off x="4021672" y="1664208"/>
            <a:ext cx="4148349"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count is net: twenty lost and twenty new leave it where it was. Only the ids themselves separate the three groups.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set operations answer Marketing's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find who is kept, lost and new?</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{"Q1": set(), "Q2": set()}</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ids[order["quarter"]].add(order["customer_id"])</a:t>
            </a:r>
          </a:p>
          <a:p>
            <a:pPr>
              <a:spcAft>
                <a:spcPts val="200"/>
              </a:spcAft>
            </a:pPr>
            <a:r>
              <a:rPr sz="1400" b="0" i="0">
                <a:solidFill>
                  <a:srgbClr val="E4E1F1"/>
                </a:solidFill>
                <a:latin typeface="Consolas"/>
              </a:rPr>
              <a:t>both = ids["Q1"] &amp; ids["Q2"]    # bought in both quarters</a:t>
            </a:r>
          </a:p>
          <a:p>
            <a:pPr>
              <a:spcAft>
                <a:spcPts val="200"/>
              </a:spcAft>
            </a:pPr>
            <a:r>
              <a:rPr sz="1400" b="0" i="0">
                <a:solidFill>
                  <a:srgbClr val="E4E1F1"/>
                </a:solidFill>
                <a:latin typeface="Consolas"/>
              </a:rPr>
              <a:t>lost = ids["Q1"] - ids["Q2"]    # bought in Q1 only</a:t>
            </a:r>
          </a:p>
          <a:p>
            <a:pPr>
              <a:spcAft>
                <a:spcPts val="200"/>
              </a:spcAft>
            </a:pPr>
            <a:r>
              <a:rPr sz="1400" b="0" i="0">
                <a:solidFill>
                  <a:srgbClr val="E4E1F1"/>
                </a:solidFill>
                <a:latin typeface="Consolas"/>
              </a:rPr>
              <a:t>new = ids["Q2"] - ids["Q1"]     # bought in Q2 only</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A set holds each id once, &amp; keeps what both sets share and - keeps what the first has and the second lacks.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fell most, according to last quarter's summary script?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tidy summary hold two segments when four went in?</a:t>
            </a:r>
          </a:p>
        </p:txBody>
      </p:sp>
      <p:pic>
        <p:nvPicPr>
          <p:cNvPr id="9" name="mermaid diagram" descr="e248c891e60b1bd4.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the helper hand back, and where does the flag go?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93 percent of the consumer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Retail-Plus too small to matter at Rs 65,250 of a Rs 23 lakh fall?</a:t>
            </a:r>
          </a:p>
        </p:txBody>
      </p:sp>
      <p:pic>
        <p:nvPicPr>
          <p:cNvPr id="9" name="mermaid diagram" descr="2d3b2c1e236acd31.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In the consumer business, Retail-Plus is the fall. The Business rupees are three lakh-sized orders out of twenty, which one account's timing can move, so both findings go to Meera side by side.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86 / 88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First and last order dates find nobody lost or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each customer's first and last order dates agree with the overlap?</a:t>
            </a:r>
          </a:p>
        </p:txBody>
      </p:sp>
      <p:pic>
        <p:nvPicPr>
          <p:cNvPr id="9" name="mermaid diagram" descr="585961a3f081f039.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Show Marketing the overlap, since it names lost and new in three numbers; the dates add that "new" means new since 1 April, so a longer question needs each customer's whole history, which the CRM holds.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87 / 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None lost, none new: 23 customers slowed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Were customers lost,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73083"/>
                <a:gridCol w="665790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 sees churn?</a:t>
                      </a:r>
                    </a:p>
                  </a:txBody>
                  <a:tcPr marL="101600" marR="101600" marT="38100" marB="38100" anchor="ctr">
                    <a:solidFill>
                      <a:srgbClr val="FFFFFF"/>
                    </a:solidFill>
                  </a:tcPr>
                </a:tc>
                <a:tc>
                  <a:txBody>
                    <a:bodyPr/>
                    <a:lstStyle/>
                    <a:p>
                      <a:r>
                        <a:rPr sz="900" b="0" i="0">
                          <a:solidFill>
                            <a:srgbClr val="1A1440"/>
                          </a:solidFill>
                          <a:latin typeface="Calibri"/>
                        </a:rPr>
                        <a:t>The id overlap, then customer by customer</a:t>
                      </a:r>
                    </a:p>
                  </a:txBody>
                  <a:tcPr marL="101600" marR="101600" marT="38100" marB="38100" anchor="ctr">
                    <a:solidFill>
                      <a:srgbClr val="FFFFFF"/>
                    </a:solidFill>
                  </a:tcPr>
                </a:tc>
              </a:tr>
              <a:tr h="310896">
                <a:tc>
                  <a:txBody>
                    <a:bodyPr/>
                    <a:lstStyle/>
                    <a:p>
                      <a:r>
                        <a:rPr sz="900" b="0" i="0">
                          <a:solidFill>
                            <a:srgbClr val="1A1440"/>
                          </a:solidFill>
                          <a:latin typeface="Calibri"/>
                        </a:rPr>
                        <a:t>2. How many are missing?</a:t>
                      </a:r>
                    </a:p>
                  </a:txBody>
                  <a:tcPr marL="101600" marR="101600" marT="38100" marB="38100" anchor="ctr">
                    <a:solidFill>
                      <a:srgbClr val="F4F2FA"/>
                    </a:solidFill>
                  </a:tcPr>
                </a:tc>
                <a:tc>
                  <a:txBody>
                    <a:bodyPr/>
                    <a:lstStyle/>
                    <a:p>
                      <a:r>
                        <a:rPr sz="900" b="0" i="0">
                          <a:solidFill>
                            <a:srgbClr val="1A1440"/>
                          </a:solidFill>
                          <a:latin typeface="Calibri"/>
                        </a:rPr>
                        <a:t>None: 69 in both, 0 lost, 0 new</a:t>
                      </a:r>
                    </a:p>
                  </a:txBody>
                  <a:tcPr marL="101600" marR="101600" marT="38100" marB="38100" anchor="ctr">
                    <a:solidFill>
                      <a:srgbClr val="F4F2FA"/>
                    </a:solidFill>
                  </a:tcPr>
                </a:tc>
              </a:tr>
              <a:tr h="310896">
                <a:tc>
                  <a:txBody>
                    <a:bodyPr/>
                    <a:lstStyle/>
                    <a:p>
                      <a:r>
                        <a:rPr sz="900" b="0" i="0">
                          <a:solidFill>
                            <a:srgbClr val="1A1440"/>
                          </a:solidFill>
                          <a:latin typeface="Calibri"/>
                        </a:rPr>
                        <a:t>3. Who slowed down?</a:t>
                      </a:r>
                    </a:p>
                  </a:txBody>
                  <a:tcPr marL="101600" marR="101600" marT="38100" marB="38100" anchor="ctr">
                    <a:solidFill>
                      <a:srgbClr val="FFFFFF"/>
                    </a:solidFill>
                  </a:tcPr>
                </a:tc>
                <a:tc>
                  <a:txBody>
                    <a:bodyPr/>
                    <a:lstStyle/>
                    <a:p>
                      <a:r>
                        <a:rPr sz="900" b="0" i="0">
                          <a:solidFill>
                            <a:srgbClr val="1A1440"/>
                          </a:solidFill>
                          <a:latin typeface="Calibri"/>
                        </a:rPr>
                        <a:t>23 customers, 18 of them members</a:t>
                      </a:r>
                    </a:p>
                  </a:txBody>
                  <a:tcPr marL="101600" marR="101600" marT="38100" marB="38100" anchor="ctr">
                    <a:solidFill>
                      <a:srgbClr val="FFFFFF"/>
                    </a:solidFill>
                  </a:tcPr>
                </a:tc>
              </a:tr>
              <a:tr h="310896">
                <a:tc>
                  <a:txBody>
                    <a:bodyPr/>
                    <a:lstStyle/>
                    <a:p>
                      <a:r>
                        <a:rPr sz="900" b="0" i="0">
                          <a:solidFill>
                            <a:srgbClr val="1A1440"/>
                          </a:solidFill>
                          <a:latin typeface="Calibri"/>
                        </a:rPr>
                        <a:t>4. Which segment fell most?</a:t>
                      </a:r>
                    </a:p>
                  </a:txBody>
                  <a:tcPr marL="101600" marR="101600" marT="38100" marB="38100" anchor="ctr">
                    <a:solidFill>
                      <a:srgbClr val="F4F2FA"/>
                    </a:solidFill>
                  </a:tcPr>
                </a:tc>
                <a:tc>
                  <a:txBody>
                    <a:bodyPr/>
                    <a:lstStyle/>
                    <a:p>
                      <a:r>
                        <a:rPr sz="900" b="0" i="0">
                          <a:solidFill>
                            <a:srgbClr val="1A1440"/>
                          </a:solidFill>
                          <a:latin typeface="Calibri"/>
                        </a:rPr>
                        <a:t>Retail-Plus, minus 49.0 percent per member</a:t>
                      </a:r>
                    </a:p>
                  </a:txBody>
                  <a:tcPr marL="101600" marR="101600" marT="38100" marB="38100" anchor="ctr">
                    <a:solidFill>
                      <a:srgbClr val="F4F2FA"/>
                    </a:solidFill>
                  </a:tcPr>
                </a:tc>
              </a:tr>
              <a:tr h="310896">
                <a:tc>
                  <a:txBody>
                    <a:bodyPr/>
                    <a:lstStyle/>
                    <a:p>
                      <a:r>
                        <a:rPr sz="900" b="0" i="0">
                          <a:solidFill>
                            <a:srgbClr val="1A1440"/>
                          </a:solidFill>
                          <a:latin typeface="Calibri"/>
                        </a:rPr>
                        <a:t>5. Too small to matter?</a:t>
                      </a:r>
                    </a:p>
                  </a:txBody>
                  <a:tcPr marL="101600" marR="101600" marT="38100" marB="38100" anchor="ctr">
                    <a:solidFill>
                      <a:srgbClr val="FFFFFF"/>
                    </a:solidFill>
                  </a:tcPr>
                </a:tc>
                <a:tc>
                  <a:txBody>
                    <a:bodyPr/>
                    <a:lstStyle/>
                    <a:p>
                      <a:r>
                        <a:rPr sz="900" b="0" i="0">
                          <a:solidFill>
                            <a:srgbClr val="1A1440"/>
                          </a:solidFill>
                          <a:latin typeface="Calibri"/>
                        </a:rPr>
                        <a:t>No: 93 percent of the consumer fall</a:t>
                      </a:r>
                    </a:p>
                  </a:txBody>
                  <a:tcPr marL="101600" marR="101600" marT="38100" marB="38100" anchor="ctr">
                    <a:solidFill>
                      <a:srgbClr val="FFFFFF"/>
                    </a:solidFill>
                  </a:tcPr>
                </a:tc>
              </a:tr>
              <a:tr h="310896">
                <a:tc>
                  <a:txBody>
                    <a:bodyPr/>
                    <a:lstStyle/>
                    <a:p>
                      <a:r>
                        <a:rPr sz="900" b="0" i="0">
                          <a:solidFill>
                            <a:srgbClr val="1A1440"/>
                          </a:solidFill>
                          <a:latin typeface="Calibri"/>
                        </a:rPr>
                        <a:t>6. Do the dates agree?</a:t>
                      </a:r>
                    </a:p>
                  </a:txBody>
                  <a:tcPr marL="101600" marR="101600" marT="38100" marB="38100" anchor="ctr">
                    <a:solidFill>
                      <a:srgbClr val="F4F2FA"/>
                    </a:solidFill>
                  </a:tcPr>
                </a:tc>
                <a:tc>
                  <a:txBody>
                    <a:bodyPr/>
                    <a:lstStyle/>
                    <a:p>
                      <a:r>
                        <a:rPr sz="900" b="0" i="0">
                          <a:solidFill>
                            <a:srgbClr val="1A1440"/>
                          </a:solidFill>
                          <a:latin typeface="Calibri"/>
                        </a:rPr>
                        <a:t>Yes: first orders in Q1, last in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"Marketing made three attacks and you answered each with a check anyone can rerun. You nearly shipped a summary that lost the one segment that matters, so count what comes back from every helper you did not write."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88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