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Meera's reply aloud and leave it on screen while the room settles. Monday</a:t>
            </a:r>
          </a:p>
          <a:p>
            <a:r>
              <a:t>drew the tree; today the tree meets two quarters of orders, and the question is which branch moved.</a:t>
            </a:r>
          </a:p>
          <a:p>
            <a:r>
              <a:t>The morning runs the ask and five chapters, each about 30 minutes and each paired with one notebook.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message aloud. Meera says Monday's tree back to us. Her figures are</a:t>
            </a:r>
          </a:p>
          <a:p>
            <a:r>
              <a:t>rounded and from memory; the file gives exact ones. The retail story behind her words, how a store</a:t>
            </a:r>
          </a:p>
          <a:p>
            <a:r>
              <a:t>chain earns and who owns which lever, is in Monday's domain dossier; point at it, do not retell it.</a:t>
            </a:r>
          </a:p>
          <a:p>
            <a:r>
              <a:t>Ask which number worries her most. The Rs 12 crore: it is about to be spent on an unchecked branch.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Name the incentive behind each voice without judging it. Marketing is paid to</a:t>
            </a:r>
          </a:p>
          <a:p>
            <a:r>
              <a:t>acquire, so it reads every fall as an acquisition problem; that is how the role is paid and says</a:t>
            </a:r>
          </a:p>
          <a:p>
            <a:r>
              <a:t>nothing about good faith. The head of Retail-Plus wants a verdict on his tier; he gets a number in</a:t>
            </a:r>
          </a:p>
          <a:p>
            <a:r>
              <a:t>chapter 3 and a test of his cause in chapter 6. Anand Iyer, Finance, is listening too.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cost list is the curriculum row's own. Its use today: if the fall sits in</a:t>
            </a:r>
          </a:p>
          <a:p>
            <a:r>
              <a:t>frequency, a cheaper lever is on the table and the Rs 12 crore is aimed at the wrong branch. That is</a:t>
            </a:r>
          </a:p>
          <a:p>
            <a:r>
              <a:t>why every chapter puts rupees on a branch. Chapter 5 brings the published estimates of acquisition</a:t>
            </a:r>
          </a:p>
          <a:p>
            <a:r>
              <a:t>against retention cost.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Two minutes in pairs, then collect answers on the board. Expect "different lengths</a:t>
            </a:r>
          </a:p>
          <a:p>
            <a:r>
              <a:t>of time", "different definition of sales", "missing values", "one huge order". Push for places in</a:t>
            </a:r>
          </a:p>
          <a:p>
            <a:r>
              <a:t>the system as well as in the arithmetic. Keep every answer; the next slide places them on the map.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Place the room's answers on the four hops. Chapter 1 is the export and the tile;</a:t>
            </a:r>
          </a:p>
          <a:p>
            <a:r>
              <a:t>chapter 2 is the order system's empty field; chapter 3 is the dashboard's roll-up; chapter 5 is a</a:t>
            </a:r>
          </a:p>
          <a:p>
            <a:r>
              <a:t>summary script. Checking the pipeline first is the cheapest investigation there 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Draw the ladder on the board, top to bottom, and leave it there all day. Chapters 1</a:t>
            </a:r>
          </a:p>
          <a:p>
            <a:r>
              <a:t>to 5 run this morning, chapter 6 opens the afternoon. This table is also the answer shape for</a:t>
            </a:r>
          </a:p>
          <a:p>
            <a:r>
              <a:t>interview question 1. Source for the ladder's order: britinstitute.uk, data analyst case study</a:t>
            </a:r>
          </a:p>
          <a:p>
            <a:r>
              <a:t>questions, verified 29 Sep 2026.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These numbers are invented to show the rule. Every chapter uses it: a decomposition</a:t>
            </a:r>
          </a:p>
          <a:p>
            <a:r>
              <a:t>is proved by multiplying the branches back to the revenue ratio. Items per order and price per item</a:t>
            </a:r>
          </a:p>
          <a:p>
            <a:r>
              <a:t>fold into revenue per order today, because the file has no order lines.</a:t>
            </a:r>
          </a:p>
          <a:p>
            <a:r>
              <a:t>Transition: before filling any box, check that the two totals deserve comparing.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1 runs 30 minutes: 4 on the need and the company, 5 on the options, 8 on the build and</a:t>
            </a:r>
          </a:p>
          <a:p>
            <a:r>
              <a:t>the prediction, 7 on the trap, 4 on rates and the second route, 2 on Kavya. Open</a:t>
            </a:r>
          </a:p>
          <a:p>
            <a:r>
              <a:t>notebooks/C2_W01_D02_01_is_the_drop_real_STUDENT.ipynb now.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at stake is the change in booked revenue between two closed quarters.</a:t>
            </a:r>
          </a:p>
          <a:p>
            <a:r>
              <a:t>Put the claim up exactly as Marketing would: 1,55,59,950 over 2,10,00,000 is 0.741, a fall of 25.9</a:t>
            </a:r>
          </a:p>
          <a:p>
            <a:r>
              <a:t>percent, and the division is right. Overstate the fall and crores move in a hurry; understate it</a:t>
            </a:r>
          </a:p>
          <a:p>
            <a:r>
              <a:t>and a leak runs another quarter. Ask whether anything is wrong; most of the room will not see it yet.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Sources, all checked 30 Sep 2026: Avenue Supermarts investor presentation filed</a:t>
            </a:r>
          </a:p>
          <a:p>
            <a:r>
              <a:t>2 May 2026 (LFL definition and FY26 8.1 percent); Target fourth quarter and full year 2023 results</a:t>
            </a:r>
          </a:p>
          <a:p>
            <a:r>
              <a:t>(53 weeks, the extra week $1,715 million) and its 10-K on "equivalent length"; nrf.com 4-5-4 calendar.</a:t>
            </a:r>
          </a:p>
          <a:p>
            <a:r>
              <a:t>The link to Kalpa: Q2's tile had two fewer weeks than Q1.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Every option runs in well under a second on 200 rows, so speed decides nothing;</a:t>
            </a:r>
          </a:p>
          <a:p>
            <a:r>
              <a:t>what separates them is the question each answers. B reads 167 rows because it drops two weeks of</a:t>
            </a:r>
          </a:p>
          <a:p>
            <a:r>
              <a:t>each quarter. Write "A: closed quarters" on the board beside rung 1. The notebook's sizing cell</a:t>
            </a:r>
          </a:p>
          <a:p>
            <a:r>
              <a:t>computes this table; run it now.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letters. Some count months and say three against two and a half; the count</a:t>
            </a:r>
          </a:p>
          <a:p>
            <a:r>
              <a:t>in weeks is the one a rate per week needs.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Q1 is 13 weeks and 91 days, the tile 11 weeks. Point at the flat</a:t>
            </a:r>
          </a:p>
          <a:p>
            <a:r>
              <a:t>stretches: revenue arrives in lumps, and weeks without a large order barely move.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is the chapter's trap, and it is a plausible wrong number with correct</a:t>
            </a:r>
          </a:p>
          <a:p>
            <a:r>
              <a:t>arithmetic. Say the business cost out loud: a crisis read rushes the acquisition budget. The check</a:t>
            </a:r>
          </a:p>
          <a:p>
            <a:r>
              <a:t>is cheap and nobody runs it, because a tile shows a number without its window.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What changed: the fall Meera acts on shrank from Rs 54,40,050 to Rs 23,00,000, from</a:t>
            </a:r>
          </a:p>
          <a:p>
            <a:r>
              <a:t>25.9 to 11.0 percent; sixteen orders had not happened yet when the tile was read. The per-week row</a:t>
            </a:r>
          </a:p>
          <a:p>
            <a:r>
              <a:t>is a rate with its numerator, denominator and window. The notebook also runs option B, the same 11</a:t>
            </a:r>
          </a:p>
          <a:p>
            <a:r>
              <a:t>weeks of each, at -17.0 percent: lumpy business orders make short windows jumpy, so once a quarter</a:t>
            </a:r>
          </a:p>
          <a:p>
            <a:r>
              <a:t>closes, compare closed quarters.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second route ignores the quarter field and trusts only the dates, so if the</a:t>
            </a:r>
          </a:p>
          <a:p>
            <a:r>
              <a:t>two routes disagreed, one would be reading the file wrongly. The notebook asserts they are equal.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window length and dates, the definition, the population, the</a:t>
            </a:r>
          </a:p>
          <a:p>
            <a:r>
              <a:t>denominator, and the export's completeness. The design answer: the same weeks of both, with a rate</a:t>
            </a:r>
          </a:p>
          <a:p>
            <a:r>
              <a:t>per week beside it, switching to closed quarters at the close. Transition: the drop is real, so</a:t>
            </a:r>
          </a:p>
          <a:p>
            <a:r>
              <a:t>which branch moved?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2 runs 30 minutes: 3 on the need, 5 on the options, 8 on customers, leaves and the</a:t>
            </a:r>
          </a:p>
          <a:p>
            <a:r>
              <a:t>bridge, 10 on the discount trap with its two-minute KeyError, 2 on the second route, 2 on Kavya.</a:t>
            </a:r>
          </a:p>
          <a:p>
            <a:r>
              <a:t>Switch to notebooks/C2_W01_D02_02_which_branch_STUDENT.ipynb.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metric at stake is the rupees each branch carries. A wrong split sends crores to</a:t>
            </a:r>
          </a:p>
          <a:p>
            <a:r>
              <a:t>the wrong owner for a quarter. Remind the room that price and basket fold into revenue per order on</a:t>
            </a:r>
          </a:p>
          <a:p>
            <a:r>
              <a:t>this file.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Eternal shareholders' letter of 28 April 2026, Blinkit</a:t>
            </a:r>
          </a:p>
          <a:p>
            <a:r>
              <a:t>operating metrics (net order value and net average order value, which are net figures); Walmart</a:t>
            </a:r>
          </a:p>
          <a:p>
            <a:r>
              <a:t>earnings release for the second quarter of fiscal 2027, comparable sales excluding fuel up 2.6</a:t>
            </a:r>
          </a:p>
          <a:p>
            <a:r>
              <a:t>percent, transactions 1.5, average ticket 1.1.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All four read the same 200 rows in milliseconds. The spread between orders is</a:t>
            </a:r>
          </a:p>
          <a:p>
            <a:r>
              <a:t>about Rs 9.3 lakh, the part where two branches moved together; whichever goes second is charged for</a:t>
            </a:r>
          </a:p>
          <a:p>
            <a:r>
              <a:t>it. The symmetric split follows Ang (2005), "The LMDI approach to decomposition analysis", Energy</a:t>
            </a:r>
          </a:p>
          <a:p>
            <a:r>
              <a:t>Policy, checked through Crossref 29 Sep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d is Monday's rows-as-customers trap. Option a is Marketing's story carried</a:t>
            </a:r>
          </a:p>
          <a:p>
            <a:r>
              <a:t>through. Take letters, then run the cell.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 the silence land: Marketing's branch is flat. Whether these are the same 69</a:t>
            </a:r>
          </a:p>
          <a:p>
            <a:r>
              <a:t>people is chapter 5's question. Revenue per order rising is not a price rise until proved; chapter 4</a:t>
            </a:r>
          </a:p>
          <a:p>
            <a:r>
              <a:t>takes it apart. Fill the tree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Customers first at Q1's leaves, then 28 fewer orders at Q1's Rs 1,84,211 each, then</a:t>
            </a:r>
          </a:p>
          <a:p>
            <a:r>
              <a:t>86 orders each Rs 33,231 richer. Transition: Meera's tree had a fourth branch, price, and</a:t>
            </a:r>
          </a:p>
          <a:p>
            <a:r>
              <a:t>Marketing's monsoon plan lives there.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and no more. Read the last line of the trace: it names the key. The Python glossary</a:t>
            </a:r>
          </a:p>
          <a:p>
            <a:r>
              <a:t>names the first two styles LBYL and EAFP (docs.python.org glossary, verified 29 Sep 2026). The error</a:t>
            </a:r>
          </a:p>
          <a:p>
            <a:r>
              <a:t>is not the trap; what the third way decides is.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chapter's trap. The hurried default silences the error, and the share comes out</a:t>
            </a:r>
          </a:p>
          <a:p>
            <a:r>
              <a:t>at 50.0 percent, 43 of 86. Marketing extends the monsoon discount to the other half, spending margin</a:t>
            </a:r>
          </a:p>
          <a:p>
            <a:r>
              <a:t>on orders that may already carry one. The three orders are invented to show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learner first runs the count in the empty your-turn cell of notebook 02: orders</a:t>
            </a:r>
          </a:p>
          <a:p>
            <a:r>
              <a:t>with no discount field, per quarter. Then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What changed: the extension loses its premise, since only 17 of 86</a:t>
            </a:r>
          </a:p>
          <a:p>
            <a:r>
              <a:t>are known to have had no discount, and discounts leave the list of causes. Ask which system wrote</a:t>
            </a:r>
          </a:p>
          <a:p>
            <a:r>
              <a:t>records without the field (Rubin, 1976, "Inference and missing data", Biometrika, is the formal</a:t>
            </a:r>
          </a:p>
          <a:p>
            <a:r>
              <a:t>version). Interview [S]: a field is missing; do you fill it with zero?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When to switch: the direct count works only because customers did not move; the</a:t>
            </a:r>
          </a:p>
          <a:p>
            <a:r>
              <a:t>escalated case this afternoon meets a definition where they do. One breath for the interview: tree,</a:t>
            </a:r>
          </a:p>
          <a:p>
            <a:r>
              <a:t>ratios multiply back, one leaf at a time in a fixed order, rupees add.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3 runs 30 minutes: 3 on the need and Costco, 5 on the options, 8 on tree_for and</a:t>
            </a:r>
          </a:p>
          <a:p>
            <a:r>
              <a:t>describe, 7 on the roll-up trap, 5 on the second route and the room's run, 2 on Kavya. Switch to</a:t>
            </a:r>
          </a:p>
          <a:p>
            <a:r>
              <a:t>notebooks/C2_W01_D02_03_which_segment_STUDENT.ipynb. The break follows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His renewals are the metric of his job, so orders per member is his number. A wrong</a:t>
            </a:r>
          </a:p>
          <a:p>
            <a:r>
              <a:t>answer costs a tier nobody protects, or a quarter spent fixing one that was fine. Eight trees are</a:t>
            </a:r>
          </a:p>
          <a:p>
            <a:r>
              <a:t>needed: four segments by two quarters.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Costco fourth quarter fiscal 2025 results filed with the SEC (exhibit 99),</a:t>
            </a:r>
          </a:p>
          <a:p>
            <a:r>
              <a:t>checked 30 Sep 2026. The link: the head of Retail-Plus needs his tier's rate, never the company's.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notebook's sizing cell measures these. Copying reads the export eight times and</a:t>
            </a:r>
          </a:p>
          <a:p>
            <a:r>
              <a:t>creates eight places for Anand's next definition change to be missed once. Ask how many times the</a:t>
            </a:r>
          </a:p>
          <a:p>
            <a:r>
              <a:t>room wants to paste chapter 2's code.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Build it line by line: def, the parameter, the body, return. A function returns</a:t>
            </a:r>
          </a:p>
          <a:p>
            <a:r>
              <a:t>rather than prints, so the caller can put its answer in a table, a chart or a check; chapter 5 meets</a:t>
            </a:r>
          </a:p>
          <a:p>
            <a:r>
              <a:t>one that prints. A new function earns trust by reproducing a number proved another way.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describe is Monday's median by hand, inside a function, with the odd and even case.</a:t>
            </a:r>
          </a:p>
          <a:p>
            <a:r>
              <a:t>Retail-Core and Business are the two segments demonstrated; do not run Retail-Plus or Student on the</a:t>
            </a:r>
          </a:p>
          <a:p>
            <a:r>
              <a:t>projector.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Retail-Core, for comparison: 1.12 to 1.06 orders per customer,</a:t>
            </a:r>
          </a:p>
          <a:p>
            <a:r>
              <a:t>down 5.3 percent, median Rs 2,325 to Rs 2,080. Neither segment shown falls 24.6 percent, so before</a:t>
            </a:r>
          </a:p>
          <a:p>
            <a:r>
              <a:t>guessing where the rest sits, roll the segments back up.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chapter's trap: correct arithmetic, wrong question. Only the averages and the</a:t>
            </a:r>
          </a:p>
          <a:p>
            <a:r>
              <a:t>weighted figures appear; no per-segment rows are shown.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invented groups show the mechanism: two customers get the same vote as thirty.</a:t>
            </a:r>
          </a:p>
          <a:p>
            <a:r>
              <a:t>Count groups in and out while rolling up: four segments in, 69 customers back. Interview [F]: why</a:t>
            </a:r>
          </a:p>
          <a:p>
            <a:r>
              <a:t>can't you average four segments' rates?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second route's check prints agreement and no segment's numbers. When to switch:</a:t>
            </a:r>
          </a:p>
          <a:p>
            <a:r>
              <a:t>keep the function while groups are asked one at a time; switch to the pass by key for every group at</a:t>
            </a:r>
          </a:p>
          <a:p>
            <a:r>
              <a:t>once on a big file. Then the room types the your-turn cell. Do not run it on the projector and do not</a:t>
            </a:r>
          </a:p>
          <a:p>
            <a:r>
              <a:t>confirm any segment aloud; collect two sentences read aloud without comment.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10-minute break. One breath: a function when groups are asked one at a</a:t>
            </a:r>
          </a:p>
          <a:p>
            <a:r>
              <a:t>time and definitions change; a pass by key when the file is large and every group is needed.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4 runs 30 minutes after the break: 3 on the need, 3 on Berkeley, 4 on the options, 5 on</a:t>
            </a:r>
          </a:p>
          <a:p>
            <a:r>
              <a:t>the lost orders, 8 on the trap and the split, 5 on the second route, 2 on Kavya. Switch to</a:t>
            </a:r>
          </a:p>
          <a:p>
            <a:r>
              <a:t>notebooks/C2_W01_D02_04_mix_or_rate_STUDENT.ipynb. From here the segment the room found is named.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Open by naming what the room found at the end of chapter 3: Retail-Plus, the same</a:t>
            </a:r>
          </a:p>
          <a:p>
            <a:r>
              <a:t>22 members, 51 orders to 26. The metric at stake is a blend across segments whose orders differ a</a:t>
            </a:r>
          </a:p>
          <a:p>
            <a:r>
              <a:t>several hundredfold. A wrong reading costs volume: a price rise on customers who never paid more.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Bickel, Hammel and O'Connell, Science 187, 398 to 404, 1975, citation checked</a:t>
            </a:r>
          </a:p>
          <a:p>
            <a:r>
              <a:t>through Crossref 30 Sep 2026; the 44.2 and 34.6 percent rates on 8,442 men and 4,321 women are as a</a:t>
            </a:r>
          </a:p>
          <a:p>
            <a:r>
              <a:t>2025 arXiv re-analysis (2502.10161) summarises the paper's table, so say "about"; the same summary</a:t>
            </a:r>
          </a:p>
          <a:p>
            <a:r>
              <a:t>gives the department-level finding. Swiggy, Q2 FY2026 shareholder letter, checked 30 Sep 2026:</a:t>
            </a:r>
          </a:p>
          <a:p>
            <a:r>
              <a:t>Instamart AOV Rs 697, up 14 percent in the quarter, attributed to non-grocery and large-pack mix.</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All four read the same 200 rows. The notebook's sizing cell shows only C</a:t>
            </a:r>
          </a:p>
          <a:p>
            <a:r>
              <a:t>attributes rupees to a cause. Write "C: mix and rate" beside rung 4.</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letters, then run the orders bridge in notebook 04.</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 Ask the room what happens to an average when its smallest items</a:t>
            </a:r>
          </a:p>
          <a:p>
            <a:r>
              <a:t>leave.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chapter's trap. Say the decision it would have misled: a price rise on the tier</a:t>
            </a:r>
          </a:p>
          <a:p>
            <a:r>
              <a:t>whose orders already halved. Student's 14.8 percent rests on 12 orders.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Retail-Plus fell from 44.7 to 30.2 percent of orders. The rate part by segment is</a:t>
            </a:r>
          </a:p>
          <a:p>
            <a:r>
              <a:t>more than nine tenths Business, driven by one large order, as chapter 3's range showed.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When to switch: report mix-first and say so; show both orders when they disagree</a:t>
            </a:r>
          </a:p>
          <a:p>
            <a:r>
              <a:t>about which part is larger. One breath for the interview: a blend, a mix split, a number for each part.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5 runs 30 minutes: 3 on the need and HBR, 4 on the options, 6 on the overlap and the</a:t>
            </a:r>
          </a:p>
          <a:p>
            <a:r>
              <a:t>customers who slowed, 10 on the summary-script trap, 5 on the consumer business and the second route,</a:t>
            </a:r>
          </a:p>
          <a:p>
            <a:r>
              <a:t>2 on Kavya. Switch to notebooks/C2_W01_D02_05_marketings_hypothesis_STUDENT.ipynb.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metric at stake is retention, and its mirror, new customers. A wrong answer is</a:t>
            </a:r>
          </a:p>
          <a:p>
            <a:r>
              <a:t>Rs 12 crore spent replacing people who never left. Marketing's first claim is fair; test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Amy Gallo, "The Value of Keeping the Right Customers", Harvard Business Review,</a:t>
            </a:r>
          </a:p>
          <a:p>
            <a:r>
              <a:t>29 October 2014, checked 30 Sep 2026; the retention figure is Frederick Reichheld of Bain, quoted</a:t>
            </a:r>
          </a:p>
          <a:p>
            <a:r>
              <a:t>there. Estimates across industries: say so. Swiggy, Q2 FY2026 shareholder letter, checked 30 Sep 2026:</a:t>
            </a:r>
          </a:p>
          <a:p>
            <a:r>
              <a:t>monthly transacting users up 34.0 percent to 22.9 million while frequency fell 4.53 to 4.10, a growing</a:t>
            </a:r>
          </a:p>
          <a:p>
            <a:r>
              <a:t>count hiding customers who buy less often.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All run on the same 200 rows; D needs a second system to reconcile. Write "B, then</a:t>
            </a:r>
          </a:p>
          <a:p>
            <a:r>
              <a:t>C" beside rung 5.</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then run the set cell in notebook 05.</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answer is c. Option C, customer by customer, gives the second and third numbers.</a:t>
            </a:r>
          </a:p>
          <a:p>
            <a:r>
              <a:t>Acquisition has nothing to replace on this file.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chapter's trap. Run the script exactly as it is in notebook 05 and read the</a:t>
            </a:r>
          </a:p>
          <a:p>
            <a:r>
              <a:t>summary aloud. Ask whether anyone trusts it. Most will; it looks tidy.</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segment the script was written to flag, a 49 percent fall, is the one it</a:t>
            </a:r>
          </a:p>
          <a:p>
            <a:r>
              <a:t>silently lost. Student, up 40 percent on two customers, also vanished. Interview [F]: why does a</a:t>
            </a:r>
          </a:p>
          <a:p>
            <a:r>
              <a:t>function that prints instead of returning break a pipeline?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at the flags: large moves are flagged, never dropped. Student's rise is two</a:t>
            </a:r>
          </a:p>
          <a:p>
            <a:r>
              <a:t>customers placing seven orders against five; the afternoon's second case returns to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bridge by consumer segment and the subtraction agree at Rs 70,280. When to</a:t>
            </a:r>
          </a:p>
          <a:p>
            <a:r>
              <a:t>switch: subtraction is quicker and hides which consumer segment moved. The Business rupees rest on</a:t>
            </a:r>
          </a:p>
          <a:p>
            <a:r>
              <a:t>three lakh-sized orders out of twenty, too few to call a trend; say both findings side by side.</a:t>
            </a:r>
          </a:p>
          <a:p>
            <a:r>
              <a:t>One breath for [D]: test their claim in its own terms, show the overlap, show where the fall is, end</a:t>
            </a:r>
          </a:p>
          <a:p>
            <a:r>
              <a:t>on what would change my mind. Lunch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1.png"/><Relationship Id="rId6"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 Id="rId6"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0.xml"/><Relationship Id="rId6" Type="http://schemas.openxmlformats.org/officeDocument/2006/relationships/image" Target="../media/image2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3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31.png"/><Relationship Id="rId6" Type="http://schemas.openxmlformats.org/officeDocument/2006/relationships/image" Target="../media/image3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3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3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 Id="rId5" Type="http://schemas.openxmlformats.org/officeDocument/2006/relationships/image" Target="../media/image3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3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2.xml"/><Relationship Id="rId6" Type="http://schemas.openxmlformats.org/officeDocument/2006/relationships/image" Target="../media/image3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 Id="rId5" Type="http://schemas.openxmlformats.org/officeDocument/2006/relationships/image" Target="../media/image3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4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4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TUESDAY  ·  HALF ONE</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branch moved</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“Are we losing customers, or are the ones we have buying less? Marketing says more customers. Prove it or disprove it.”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 Raghavan, CEO, Kalpa Retail, replying to Monday's numbers</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129284" cy="185166"/>
          </a:xfrm>
          <a:prstGeom prst="rect">
            <a:avLst/>
          </a:prstGeom>
          <a:noFill/>
        </p:spPr>
        <p:txBody>
          <a:bodyPr wrap="square" anchor="t" lIns="0" rIns="0" tIns="0" bIns="0">
            <a:spAutoFit/>
          </a:bodyPr>
          <a:lstStyle/>
          <a:p>
            <a:pPr algn="l"/>
            <a:r>
              <a:rPr sz="900" b="0" i="0">
                <a:solidFill>
                  <a:srgbClr val="FFFFFF"/>
                </a:solidFill>
                <a:latin typeface="Calibri"/>
              </a:rPr>
              <a:t>Is the drop real</a:t>
            </a:r>
          </a:p>
        </p:txBody>
      </p:sp>
      <p:sp>
        <p:nvSpPr>
          <p:cNvPr id="13" name="TextBox 12"/>
          <p:cNvSpPr txBox="1"/>
          <p:nvPr/>
        </p:nvSpPr>
        <p:spPr>
          <a:xfrm>
            <a:off x="231800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702051"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branch moved</a:t>
            </a:r>
          </a:p>
        </p:txBody>
      </p:sp>
      <p:sp>
        <p:nvSpPr>
          <p:cNvPr id="15" name="TextBox 14"/>
          <p:cNvSpPr txBox="1"/>
          <p:nvPr/>
        </p:nvSpPr>
        <p:spPr>
          <a:xfrm>
            <a:off x="413251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516564" y="5248656"/>
            <a:ext cx="951833" cy="185166"/>
          </a:xfrm>
          <a:prstGeom prst="rect">
            <a:avLst/>
          </a:prstGeom>
          <a:noFill/>
        </p:spPr>
        <p:txBody>
          <a:bodyPr wrap="square" anchor="t" lIns="0" rIns="0" tIns="0" bIns="0">
            <a:spAutoFit/>
          </a:bodyPr>
          <a:lstStyle/>
          <a:p>
            <a:pPr algn="l"/>
            <a:r>
              <a:rPr sz="900" b="0" i="0">
                <a:solidFill>
                  <a:srgbClr val="FFFFFF"/>
                </a:solidFill>
                <a:latin typeface="Calibri"/>
              </a:rPr>
              <a:t>Which segment</a:t>
            </a:r>
          </a:p>
        </p:txBody>
      </p:sp>
      <p:sp>
        <p:nvSpPr>
          <p:cNvPr id="17" name="TextBox 16"/>
          <p:cNvSpPr txBox="1"/>
          <p:nvPr/>
        </p:nvSpPr>
        <p:spPr>
          <a:xfrm>
            <a:off x="565127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035325" y="5248656"/>
            <a:ext cx="833532" cy="185166"/>
          </a:xfrm>
          <a:prstGeom prst="rect">
            <a:avLst/>
          </a:prstGeom>
          <a:noFill/>
        </p:spPr>
        <p:txBody>
          <a:bodyPr wrap="square" anchor="t" lIns="0" rIns="0" tIns="0" bIns="0">
            <a:spAutoFit/>
          </a:bodyPr>
          <a:lstStyle/>
          <a:p>
            <a:pPr algn="l"/>
            <a:r>
              <a:rPr sz="900" b="0" i="0">
                <a:solidFill>
                  <a:srgbClr val="FFFFFF"/>
                </a:solidFill>
                <a:latin typeface="Calibri"/>
              </a:rPr>
              <a:t>Mix or rate</a:t>
            </a:r>
          </a:p>
        </p:txBody>
      </p:sp>
      <p:sp>
        <p:nvSpPr>
          <p:cNvPr id="19" name="TextBox 18"/>
          <p:cNvSpPr txBox="1"/>
          <p:nvPr/>
        </p:nvSpPr>
        <p:spPr>
          <a:xfrm>
            <a:off x="705173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7435786"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Marketing's hypothesis</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Which branch moved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60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wants to know which branch moved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 came in below Q1, and she names the two branches she suspects.</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"So revenue is customers, times how often they buy, times basket, times price. Now: which of those moved? Q2 was Rs 1.9 crore, Q1 was 2.1. Are we losing customers, or are the ones we have buying less? Marketing says more customers. Prove it or disprove it."</a:t>
            </a:r>
          </a:p>
        </p:txBody>
      </p:sp>
      <p:sp>
        <p:nvSpPr>
          <p:cNvPr id="14" name="TextBox 13"/>
          <p:cNvSpPr txBox="1"/>
          <p:nvPr/>
        </p:nvSpPr>
        <p:spPr>
          <a:xfrm>
            <a:off x="53035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 cr</a:t>
            </a:r>
          </a:p>
        </p:txBody>
      </p:sp>
      <p:sp>
        <p:nvSpPr>
          <p:cNvPr id="15" name="TextBox 14"/>
          <p:cNvSpPr txBox="1"/>
          <p:nvPr/>
        </p:nvSpPr>
        <p:spPr>
          <a:xfrm>
            <a:off x="53035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APRIL TO JUNE</a:t>
            </a:r>
          </a:p>
        </p:txBody>
      </p:sp>
      <p:sp>
        <p:nvSpPr>
          <p:cNvPr id="16" name="TextBox 15"/>
          <p:cNvSpPr txBox="1"/>
          <p:nvPr/>
        </p:nvSpPr>
        <p:spPr>
          <a:xfrm>
            <a:off x="53035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as Meera remembers it</a:t>
            </a:r>
          </a:p>
        </p:txBody>
      </p:sp>
      <p:sp>
        <p:nvSpPr>
          <p:cNvPr id="17" name="Rectangle 16"/>
          <p:cNvSpPr/>
          <p:nvPr/>
        </p:nvSpPr>
        <p:spPr>
          <a:xfrm>
            <a:off x="53035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 cr</a:t>
            </a:r>
          </a:p>
        </p:txBody>
      </p:sp>
      <p:sp>
        <p:nvSpPr>
          <p:cNvPr id="19" name="TextBox 18"/>
          <p:cNvSpPr txBox="1"/>
          <p:nvPr/>
        </p:nvSpPr>
        <p:spPr>
          <a:xfrm>
            <a:off x="433212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JULY TO SEPTEMBER</a:t>
            </a:r>
          </a:p>
        </p:txBody>
      </p:sp>
      <p:sp>
        <p:nvSpPr>
          <p:cNvPr id="20" name="TextBox 19"/>
          <p:cNvSpPr txBox="1"/>
          <p:nvPr/>
        </p:nvSpPr>
        <p:spPr>
          <a:xfrm>
            <a:off x="433212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as Meera remembers it</a:t>
            </a:r>
          </a:p>
        </p:txBody>
      </p:sp>
      <p:sp>
        <p:nvSpPr>
          <p:cNvPr id="21" name="Rectangle 20"/>
          <p:cNvSpPr/>
          <p:nvPr/>
        </p:nvSpPr>
        <p:spPr>
          <a:xfrm>
            <a:off x="433212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02152"/>
            <a:ext cx="3527450" cy="698500"/>
          </a:xfrm>
          <a:prstGeom prst="rect">
            <a:avLst/>
          </a:prstGeom>
          <a:noFill/>
        </p:spPr>
        <p:txBody>
          <a:bodyPr wrap="square" anchor="t" lIns="0" rIns="0" tIns="0" bIns="0">
            <a:spAutoFit/>
          </a:bodyPr>
          <a:lstStyle/>
          <a:p>
            <a:pPr algn="l"/>
            <a:r>
              <a:rPr sz="4400" b="0" i="0">
                <a:solidFill>
                  <a:srgbClr val="5B3FD6"/>
                </a:solidFill>
                <a:latin typeface="Georgia"/>
              </a:rPr>
              <a:t>Rs 12 cr</a:t>
            </a:r>
          </a:p>
        </p:txBody>
      </p:sp>
      <p:sp>
        <p:nvSpPr>
          <p:cNvPr id="23" name="TextBox 22"/>
          <p:cNvSpPr txBox="1"/>
          <p:nvPr/>
        </p:nvSpPr>
        <p:spPr>
          <a:xfrm>
            <a:off x="8133892" y="423722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WAITING ON THE ANSWER</a:t>
            </a:r>
          </a:p>
        </p:txBody>
      </p:sp>
      <p:sp>
        <p:nvSpPr>
          <p:cNvPr id="24" name="TextBox 23"/>
          <p:cNvSpPr txBox="1"/>
          <p:nvPr/>
        </p:nvSpPr>
        <p:spPr>
          <a:xfrm>
            <a:off x="8133892" y="4438396"/>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Marketing's acquisition ask</a:t>
            </a:r>
          </a:p>
        </p:txBody>
      </p:sp>
      <p:sp>
        <p:nvSpPr>
          <p:cNvPr id="25" name="Rectangle 24"/>
          <p:cNvSpPr/>
          <p:nvPr/>
        </p:nvSpPr>
        <p:spPr>
          <a:xfrm>
            <a:off x="8133892" y="469087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0352" y="49651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Kalpa Retail India's financial year opens in April, so Q1 is April to June and Q2 is July to September of 2026-27.</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9" name="Oval 28"/>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1" name="Oval 30"/>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3" name="Oval 32"/>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5" name="Oval 34"/>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60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voices, three incentives, one set of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stakeholder owns a lever, so the decomposition decides whose problem the fall is.</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round_13fbc0c9977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CEO</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Raghavan</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Owns the budget. Wants the branch that moved before she funds any lever, and a sentence she can repeat to the board.</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rown_50cb0a914c8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PAID TIER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head of Retail-Plus</a:t>
            </a:r>
          </a:p>
        </p:txBody>
      </p:sp>
      <p:sp>
        <p:nvSpPr>
          <p:cNvPr id="20" name="TextBox 19"/>
          <p:cNvSpPr txBox="1"/>
          <p:nvPr/>
        </p:nvSpPr>
        <p:spPr>
          <a:xfrm>
            <a:off x="4502810"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Owns member renewals. Forwards a complaint that the app's reorder feature has been broken for six weeks, and asks whether his tier is slipping.</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gaphone_76c78891bb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ACQUISITION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marketing lead</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Owns new customers. Has a slide showing revenue falling by a quarter, and an answer already: more customers.</a:t>
            </a:r>
          </a:p>
        </p:txBody>
      </p:sp>
      <p:sp>
        <p:nvSpPr>
          <p:cNvPr id="27" name="Rounded Rectangle 26"/>
          <p:cNvSpPr/>
          <p:nvPr/>
        </p:nvSpPr>
        <p:spPr>
          <a:xfrm>
            <a:off x="530352" y="44841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6121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602988"/>
            <a:ext cx="10564063" cy="624840"/>
          </a:xfrm>
          <a:prstGeom prst="rect">
            <a:avLst/>
          </a:prstGeom>
          <a:noFill/>
        </p:spPr>
        <p:txBody>
          <a:bodyPr wrap="square" anchor="ctr" lIns="0" rIns="0" tIns="0" bIns="0">
            <a:spAutoFit/>
          </a:bodyPr>
          <a:lstStyle/>
          <a:p>
            <a:r>
              <a:rPr sz="1500" b="1">
                <a:solidFill>
                  <a:srgbClr val="5B3FD6"/>
                </a:solidFill>
                <a:latin typeface="Calibri"/>
              </a:rPr>
              <a:t>Your role. </a:t>
            </a:r>
            <a:r>
              <a:rPr sz="1500" b="0" i="0">
                <a:solidFill>
                  <a:srgbClr val="1A1440"/>
                </a:solidFill>
                <a:latin typeface="Calibri"/>
              </a:rPr>
              <a:t>The team works for the number, and each voice gets the same one. A branch that moved hands the problem to the person who owns that lever; a branch that stayed flat takes a budget off the table.</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32" name="Oval 3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6" name="Oval 3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8" name="Oval 3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60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each branch costs to move, and who pays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has a lever, an owner and a price, and they are not the same price.</a:t>
            </a:r>
          </a:p>
        </p:txBody>
      </p:sp>
      <p:pic>
        <p:nvPicPr>
          <p:cNvPr id="9" name="mermaid diagram" descr="bf28fb96691cce1e.png"/>
          <p:cNvPicPr>
            <a:picLocks noChangeAspect="1"/>
          </p:cNvPicPr>
          <p:nvPr/>
        </p:nvPicPr>
        <p:blipFill>
          <a:blip r:embed="rId5"/>
          <a:stretch>
            <a:fillRect/>
          </a:stretch>
        </p:blipFill>
        <p:spPr>
          <a:xfrm>
            <a:off x="530352" y="2584071"/>
            <a:ext cx="4786326" cy="2713985"/>
          </a:xfrm>
          <a:prstGeom prst="rect">
            <a:avLst/>
          </a:prstGeom>
        </p:spPr>
      </p:pic>
      <p:graphicFrame>
        <p:nvGraphicFramePr>
          <p:cNvPr id="10" name="Table 9"/>
          <p:cNvGraphicFramePr>
            <a:graphicFrameLocks noGrp="1"/>
          </p:cNvGraphicFramePr>
          <p:nvPr/>
        </p:nvGraphicFramePr>
        <p:xfrm>
          <a:off x="5761917" y="1956816"/>
          <a:ext cx="5899423" cy="2712720"/>
        </p:xfrm>
        <a:graphic>
          <a:graphicData uri="http://schemas.openxmlformats.org/drawingml/2006/table">
            <a:tbl>
              <a:tblPr firstRow="0" bandRow="0">
                <a:tableStyleId>{2D5ABB26-0587-4C30-8999-92F81FD0307C}</a:tableStyleId>
              </a:tblPr>
              <a:tblGrid>
                <a:gridCol w="1100694"/>
                <a:gridCol w="1606002"/>
                <a:gridCol w="1302817"/>
                <a:gridCol w="1889910"/>
              </a:tblGrid>
              <a:tr h="335280">
                <a:tc>
                  <a:txBody>
                    <a:bodyPr/>
                    <a:lstStyle/>
                    <a:p>
                      <a:r>
                        <a:rPr sz="1250" b="1" i="0">
                          <a:solidFill>
                            <a:srgbClr val="FFFFFF"/>
                          </a:solidFill>
                          <a:latin typeface="Calibri"/>
                        </a:rPr>
                        <a:t>Branch</a:t>
                      </a:r>
                    </a:p>
                  </a:txBody>
                  <a:tcPr marL="101600" marR="101600" marT="38100" marB="38100" anchor="ctr">
                    <a:solidFill>
                      <a:srgbClr val="1A0F5C"/>
                    </a:solidFill>
                  </a:tcPr>
                </a:tc>
                <a:tc>
                  <a:txBody>
                    <a:bodyPr/>
                    <a:lstStyle/>
                    <a:p>
                      <a:r>
                        <a:rPr sz="1250" b="1" i="0">
                          <a:solidFill>
                            <a:srgbClr val="FFFFFF"/>
                          </a:solidFill>
                          <a:latin typeface="Calibri"/>
                        </a:rPr>
                        <a:t>The lever</a:t>
                      </a:r>
                    </a:p>
                  </a:txBody>
                  <a:tcPr marL="101600" marR="101600" marT="38100" marB="38100" anchor="ctr">
                    <a:solidFill>
                      <a:srgbClr val="1A0F5C"/>
                    </a:solidFill>
                  </a:tcPr>
                </a:tc>
                <a:tc>
                  <a:txBody>
                    <a:bodyPr/>
                    <a:lstStyle/>
                    <a:p>
                      <a:r>
                        <a:rPr sz="1250" b="1" i="0">
                          <a:solidFill>
                            <a:srgbClr val="FFFFFF"/>
                          </a:solidFill>
                          <a:latin typeface="Calibri"/>
                        </a:rPr>
                        <a:t>Who owns it</a:t>
                      </a:r>
                    </a:p>
                  </a:txBody>
                  <a:tcPr marL="101600" marR="101600" marT="38100" marB="38100" anchor="ctr">
                    <a:solidFill>
                      <a:srgbClr val="1A0F5C"/>
                    </a:solidFill>
                  </a:tcPr>
                </a:tc>
                <a:tc>
                  <a:txBody>
                    <a:bodyPr/>
                    <a:lstStyle/>
                    <a:p>
                      <a:r>
                        <a:rPr sz="1250" b="1" i="0">
                          <a:solidFill>
                            <a:srgbClr val="FFFFFF"/>
                          </a:solidFill>
                          <a:latin typeface="Calibri"/>
                        </a:rPr>
                        <a:t>What moving it costs</a:t>
                      </a:r>
                    </a:p>
                  </a:txBody>
                  <a:tcPr marL="101600" marR="101600" marT="38100" marB="38100" anchor="ctr">
                    <a:solidFill>
                      <a:srgbClr val="1A0F5C"/>
                    </a:solidFill>
                  </a:tcPr>
                </a:tc>
              </a:tr>
              <a:tr h="542544">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Acquisition campaigns</a:t>
                      </a:r>
                    </a:p>
                  </a:txBody>
                  <a:tcPr marL="101600" marR="101600" marT="38100" marB="38100" anchor="ctr">
                    <a:solidFill>
                      <a:srgbClr val="FFFFFF"/>
                    </a:solidFill>
                  </a:tcPr>
                </a:tc>
                <a:tc>
                  <a:txBody>
                    <a:bodyPr/>
                    <a:lstStyle/>
                    <a:p>
                      <a:r>
                        <a:rPr sz="1200" b="0" i="0">
                          <a:solidFill>
                            <a:srgbClr val="1A1440"/>
                          </a:solidFill>
                          <a:latin typeface="Calibri"/>
                        </a:rPr>
                        <a:t>The marketing lead</a:t>
                      </a:r>
                    </a:p>
                  </a:txBody>
                  <a:tcPr marL="101600" marR="101600" marT="38100" marB="38100" anchor="ctr">
                    <a:solidFill>
                      <a:srgbClr val="FFFFFF"/>
                    </a:solidFill>
                  </a:tcPr>
                </a:tc>
                <a:tc>
                  <a:txBody>
                    <a:bodyPr/>
                    <a:lstStyle/>
                    <a:p>
                      <a:r>
                        <a:rPr sz="1200" b="0" i="0">
                          <a:solidFill>
                            <a:srgbClr val="1A1440"/>
                          </a:solidFill>
                          <a:latin typeface="Calibri"/>
                        </a:rPr>
                        <a:t>Marketing spend, before any repeat order</a:t>
                      </a:r>
                    </a:p>
                  </a:txBody>
                  <a:tcPr marL="101600" marR="101600" marT="38100" marB="38100" anchor="ctr">
                    <a:solidFill>
                      <a:srgbClr val="FFFFFF"/>
                    </a:solidFill>
                  </a:tcPr>
                </a:tc>
              </a:tr>
              <a:tr h="749808">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Retention, reminders, reorder</a:t>
                      </a:r>
                    </a:p>
                  </a:txBody>
                  <a:tcPr marL="101600" marR="101600" marT="38100" marB="38100" anchor="ctr">
                    <a:solidFill>
                      <a:srgbClr val="F4F2FA"/>
                    </a:solidFill>
                  </a:tcPr>
                </a:tc>
                <a:tc>
                  <a:txBody>
                    <a:bodyPr/>
                    <a:lstStyle/>
                    <a:p>
                      <a:r>
                        <a:rPr sz="1200" b="0" i="0">
                          <a:solidFill>
                            <a:srgbClr val="1A1440"/>
                          </a:solidFill>
                          <a:latin typeface="Calibri"/>
                        </a:rPr>
                        <a:t>Tier and product owners</a:t>
                      </a:r>
                    </a:p>
                  </a:txBody>
                  <a:tcPr marL="101600" marR="101600" marT="38100" marB="38100" anchor="ctr">
                    <a:solidFill>
                      <a:srgbClr val="F4F2FA"/>
                    </a:solidFill>
                  </a:tcPr>
                </a:tc>
                <a:tc>
                  <a:txBody>
                    <a:bodyPr/>
                    <a:lstStyle/>
                    <a:p>
                      <a:r>
                        <a:rPr sz="1200" b="0" i="0">
                          <a:solidFill>
                            <a:srgbClr val="1A1440"/>
                          </a:solidFill>
                          <a:latin typeface="Calibri"/>
                        </a:rPr>
                        <a:t>Service and product work on people already won</a:t>
                      </a:r>
                    </a:p>
                  </a:txBody>
                  <a:tcPr marL="101600" marR="101600" marT="38100" marB="38100" anchor="ctr">
                    <a:solidFill>
                      <a:srgbClr val="F4F2FA"/>
                    </a:solidFill>
                  </a:tcPr>
                </a:tc>
              </a:tr>
              <a:tr h="542544">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Range, bundles, basket</a:t>
                      </a:r>
                    </a:p>
                  </a:txBody>
                  <a:tcPr marL="101600" marR="101600" marT="38100" marB="38100" anchor="ctr">
                    <a:solidFill>
                      <a:srgbClr val="FFFFFF"/>
                    </a:solidFill>
                  </a:tcPr>
                </a:tc>
                <a:tc>
                  <a:txBody>
                    <a:bodyPr/>
                    <a:lstStyle/>
                    <a:p>
                      <a:r>
                        <a:rPr sz="1200" b="0" i="0">
                          <a:solidFill>
                            <a:srgbClr val="1A1440"/>
                          </a:solidFill>
                          <a:latin typeface="Calibri"/>
                        </a:rPr>
                        <a:t>Merchandising</a:t>
                      </a:r>
                    </a:p>
                  </a:txBody>
                  <a:tcPr marL="101600" marR="101600" marT="38100" marB="38100" anchor="ctr">
                    <a:solidFill>
                      <a:srgbClr val="FFFFFF"/>
                    </a:solidFill>
                  </a:tcPr>
                </a:tc>
                <a:tc>
                  <a:txBody>
                    <a:bodyPr/>
                    <a:lstStyle/>
                    <a:p>
                      <a:r>
                        <a:rPr sz="1200" b="0" i="0">
                          <a:solidFill>
                            <a:srgbClr val="1A1440"/>
                          </a:solidFill>
                          <a:latin typeface="Calibri"/>
                        </a:rPr>
                        <a:t>Assortment and margin decisions</a:t>
                      </a:r>
                    </a:p>
                  </a:txBody>
                  <a:tcPr marL="101600" marR="101600" marT="38100" marB="38100" anchor="ctr">
                    <a:solidFill>
                      <a:srgbClr val="FFFFFF"/>
                    </a:solidFill>
                  </a:tcPr>
                </a:tc>
              </a:tr>
              <a:tr h="542544">
                <a:tc>
                  <a:txBody>
                    <a:bodyPr/>
                    <a:lstStyle/>
                    <a:p>
                      <a:r>
                        <a:rPr sz="1200" b="0" i="0">
                          <a:solidFill>
                            <a:srgbClr val="1A1440"/>
                          </a:solidFill>
                          <a:latin typeface="Calibri"/>
                        </a:rPr>
                        <a:t>Price and discounts</a:t>
                      </a:r>
                    </a:p>
                  </a:txBody>
                  <a:tcPr marL="101600" marR="101600" marT="38100" marB="38100" anchor="ctr">
                    <a:solidFill>
                      <a:srgbClr val="F4F2FA"/>
                    </a:solidFill>
                  </a:tcPr>
                </a:tc>
                <a:tc>
                  <a:txBody>
                    <a:bodyPr/>
                    <a:lstStyle/>
                    <a:p>
                      <a:r>
                        <a:rPr sz="1200" b="0" i="0">
                          <a:solidFill>
                            <a:srgbClr val="1A1440"/>
                          </a:solidFill>
                          <a:latin typeface="Calibri"/>
                        </a:rPr>
                        <a:t>Price lists, offers</a:t>
                      </a:r>
                    </a:p>
                  </a:txBody>
                  <a:tcPr marL="101600" marR="101600" marT="38100" marB="38100" anchor="ctr">
                    <a:solidFill>
                      <a:srgbClr val="F4F2FA"/>
                    </a:solidFill>
                  </a:tcPr>
                </a:tc>
                <a:tc>
                  <a:txBody>
                    <a:bodyPr/>
                    <a:lstStyle/>
                    <a:p>
                      <a:r>
                        <a:rPr sz="1200" b="0" i="0">
                          <a:solidFill>
                            <a:srgbClr val="1A1440"/>
                          </a:solidFill>
                          <a:latin typeface="Calibri"/>
                        </a:rPr>
                        <a:t>Finance with Marketing</a:t>
                      </a:r>
                    </a:p>
                  </a:txBody>
                  <a:tcPr marL="101600" marR="101600" marT="38100" marB="38100" anchor="ctr">
                    <a:solidFill>
                      <a:srgbClr val="F4F2FA"/>
                    </a:solidFill>
                  </a:tcPr>
                </a:tc>
                <a:tc>
                  <a:txBody>
                    <a:bodyPr/>
                    <a:lstStyle/>
                    <a:p>
                      <a:r>
                        <a:rPr sz="1200" b="0" i="0">
                          <a:solidFill>
                            <a:srgbClr val="1A1440"/>
                          </a:solidFill>
                          <a:latin typeface="Calibri"/>
                        </a:rPr>
                        <a:t>Volume at risk, or margin given away</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60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could manufacture a drop?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anyone explains a fall, list what could make one appear when the business had none.</a:t>
            </a:r>
          </a:p>
        </p:txBody>
      </p:sp>
      <p:pic>
        <p:nvPicPr>
          <p:cNvPr id="9" name="mermaid diagram" descr="750c9beb4c70a343.png"/>
          <p:cNvPicPr>
            <a:picLocks noChangeAspect="1"/>
          </p:cNvPicPr>
          <p:nvPr/>
        </p:nvPicPr>
        <p:blipFill>
          <a:blip r:embed="rId5"/>
          <a:stretch>
            <a:fillRect/>
          </a:stretch>
        </p:blipFill>
        <p:spPr>
          <a:xfrm>
            <a:off x="2152497" y="1956816"/>
            <a:ext cx="7886700" cy="2028825"/>
          </a:xfrm>
          <a:prstGeom prst="rect">
            <a:avLst/>
          </a:prstGeom>
        </p:spPr>
      </p:pic>
      <p:sp>
        <p:nvSpPr>
          <p:cNvPr id="10" name="Rounded Rectangle 9"/>
          <p:cNvSpPr/>
          <p:nvPr/>
        </p:nvSpPr>
        <p:spPr>
          <a:xfrm>
            <a:off x="530352" y="41319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599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5081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In pairs, two minutes: name three places between a customer's checkout and a dashboard tile where a fall could be created that the business never had.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60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fake drop has an address in the pipeline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number on a dashboard passed through four hands, and each hand can manufacture a fall.</a:t>
            </a:r>
          </a:p>
        </p:txBody>
      </p:sp>
      <p:pic>
        <p:nvPicPr>
          <p:cNvPr id="9" name="mermaid diagram" descr="adfb5551bed4fb3a.png"/>
          <p:cNvPicPr>
            <a:picLocks noChangeAspect="1"/>
          </p:cNvPicPr>
          <p:nvPr/>
        </p:nvPicPr>
        <p:blipFill>
          <a:blip r:embed="rId6"/>
          <a:stretch>
            <a:fillRect/>
          </a:stretch>
        </p:blipFill>
        <p:spPr>
          <a:xfrm>
            <a:off x="1954373" y="1664208"/>
            <a:ext cx="8282948"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Find the hop a number came through before you explain it. Today's traps live at these addresses: the window, the empty field, the roll-up and the helper.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60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ladder, six chapters, one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chapter answers a harder question, and each has a trap waiting in it.</a:t>
            </a:r>
          </a:p>
        </p:txBody>
      </p:sp>
      <p:graphicFrame>
        <p:nvGraphicFramePr>
          <p:cNvPr id="9" name="Table 8"/>
          <p:cNvGraphicFramePr>
            <a:graphicFrameLocks noGrp="1"/>
          </p:cNvGraphicFramePr>
          <p:nvPr/>
        </p:nvGraphicFramePr>
        <p:xfrm>
          <a:off x="530352" y="1956816"/>
          <a:ext cx="11130989" cy="2346960"/>
        </p:xfrm>
        <a:graphic>
          <a:graphicData uri="http://schemas.openxmlformats.org/drawingml/2006/table">
            <a:tbl>
              <a:tblPr firstRow="0" bandRow="0">
                <a:tableStyleId>{2D5ABB26-0587-4C30-8999-92F81FD0307C}</a:tableStyleId>
              </a:tblPr>
              <a:tblGrid>
                <a:gridCol w="914400"/>
                <a:gridCol w="2828596"/>
                <a:gridCol w="3541279"/>
                <a:gridCol w="3846714"/>
              </a:tblGrid>
              <a:tr h="335280">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The question</a:t>
                      </a:r>
                    </a:p>
                  </a:txBody>
                  <a:tcPr marL="101600" marR="101600" marT="38100" marB="38100" anchor="ctr">
                    <a:solidFill>
                      <a:srgbClr val="1A0F5C"/>
                    </a:solidFill>
                  </a:tcPr>
                </a:tc>
                <a:tc>
                  <a:txBody>
                    <a:bodyPr/>
                    <a:lstStyle/>
                    <a:p>
                      <a:r>
                        <a:rPr sz="1250" b="1" i="0">
                          <a:solidFill>
                            <a:srgbClr val="FFFFFF"/>
                          </a:solidFill>
                          <a:latin typeface="Calibri"/>
                        </a:rPr>
                        <a:t>Who asks</a:t>
                      </a:r>
                    </a:p>
                  </a:txBody>
                  <a:tcPr marL="101600" marR="101600" marT="38100" marB="38100" anchor="ctr">
                    <a:solidFill>
                      <a:srgbClr val="1A0F5C"/>
                    </a:solidFill>
                  </a:tcPr>
                </a:tc>
                <a:tc>
                  <a:txBody>
                    <a:bodyPr/>
                    <a:lstStyle/>
                    <a:p>
                      <a:r>
                        <a:rPr sz="1250" b="1" i="0">
                          <a:solidFill>
                            <a:srgbClr val="FFFFFF"/>
                          </a:solidFill>
                          <a:latin typeface="Calibri"/>
                        </a:rPr>
                        <a:t>The trap it guards</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Is the drop real?</a:t>
                      </a:r>
                    </a:p>
                  </a:txBody>
                  <a:tcPr marL="101600" marR="101600" marT="38100" marB="38100" anchor="ctr">
                    <a:solidFill>
                      <a:srgbClr val="FFFFFF"/>
                    </a:solidFill>
                  </a:tcPr>
                </a:tc>
                <a:tc>
                  <a:txBody>
                    <a:bodyPr/>
                    <a:lstStyle/>
                    <a:p>
                      <a:r>
                        <a:rPr sz="1200" b="0" i="0">
                          <a:solidFill>
                            <a:srgbClr val="1A1440"/>
                          </a:solidFill>
                          <a:latin typeface="Calibri"/>
                        </a:rPr>
                        <a:t>Meera, against Marketing's slide</a:t>
                      </a:r>
                    </a:p>
                  </a:txBody>
                  <a:tcPr marL="101600" marR="101600" marT="38100" marB="38100" anchor="ctr">
                    <a:solidFill>
                      <a:srgbClr val="FFFFFF"/>
                    </a:solidFill>
                  </a:tcPr>
                </a:tc>
                <a:tc>
                  <a:txBody>
                    <a:bodyPr/>
                    <a:lstStyle/>
                    <a:p>
                      <a:r>
                        <a:rPr sz="1200" b="0" i="0">
                          <a:solidFill>
                            <a:srgbClr val="1A1440"/>
                          </a:solidFill>
                          <a:latin typeface="Calibri"/>
                        </a:rPr>
                        <a:t>Quarters of unequal length</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Which branch moved?</a:t>
                      </a:r>
                    </a:p>
                  </a:txBody>
                  <a:tcPr marL="101600" marR="101600" marT="38100" marB="38100" anchor="ctr">
                    <a:solidFill>
                      <a:srgbClr val="F4F2FA"/>
                    </a:solidFill>
                  </a:tcPr>
                </a:tc>
                <a:tc>
                  <a:txBody>
                    <a:bodyPr/>
                    <a:lstStyle/>
                    <a:p>
                      <a:r>
                        <a:rPr sz="1200" b="0" i="0">
                          <a:solidFill>
                            <a:srgbClr val="1A1440"/>
                          </a:solidFill>
                          <a:latin typeface="Calibri"/>
                        </a:rPr>
                        <a:t>Meera</a:t>
                      </a:r>
                    </a:p>
                  </a:txBody>
                  <a:tcPr marL="101600" marR="101600" marT="38100" marB="38100" anchor="ctr">
                    <a:solidFill>
                      <a:srgbClr val="F4F2FA"/>
                    </a:solidFill>
                  </a:tcPr>
                </a:tc>
                <a:tc>
                  <a:txBody>
                    <a:bodyPr/>
                    <a:lstStyle/>
                    <a:p>
                      <a:r>
                        <a:rPr sz="1200" b="0" i="0">
                          <a:solidFill>
                            <a:srgbClr val="1A1440"/>
                          </a:solidFill>
                          <a:latin typeface="Calibri"/>
                        </a:rPr>
                        <a:t>A missing discount read as zero</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Which segment?</a:t>
                      </a:r>
                    </a:p>
                  </a:txBody>
                  <a:tcPr marL="101600" marR="101600" marT="38100" marB="38100" anchor="ctr">
                    <a:solidFill>
                      <a:srgbClr val="FFFFFF"/>
                    </a:solidFill>
                  </a:tcPr>
                </a:tc>
                <a:tc>
                  <a:txBody>
                    <a:bodyPr/>
                    <a:lstStyle/>
                    <a:p>
                      <a:r>
                        <a:rPr sz="1200" b="0" i="0">
                          <a:solidFill>
                            <a:srgbClr val="1A1440"/>
                          </a:solidFill>
                          <a:latin typeface="Calibri"/>
                        </a:rPr>
                        <a:t>The head of Retail-Plus</a:t>
                      </a:r>
                    </a:p>
                  </a:txBody>
                  <a:tcPr marL="101600" marR="101600" marT="38100" marB="38100" anchor="ctr">
                    <a:solidFill>
                      <a:srgbClr val="FFFFFF"/>
                    </a:solidFill>
                  </a:tcPr>
                </a:tc>
                <a:tc>
                  <a:txBody>
                    <a:bodyPr/>
                    <a:lstStyle/>
                    <a:p>
                      <a:r>
                        <a:rPr sz="1200" b="0" i="0">
                          <a:solidFill>
                            <a:srgbClr val="1A1440"/>
                          </a:solidFill>
                          <a:latin typeface="Calibri"/>
                        </a:rPr>
                        <a:t>Averages averaged</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Mix or rate?</a:t>
                      </a:r>
                    </a:p>
                  </a:txBody>
                  <a:tcPr marL="101600" marR="101600" marT="38100" marB="38100" anchor="ctr">
                    <a:solidFill>
                      <a:srgbClr val="F4F2FA"/>
                    </a:solidFill>
                  </a:tcPr>
                </a:tc>
                <a:tc>
                  <a:txBody>
                    <a:bodyPr/>
                    <a:lstStyle/>
                    <a:p>
                      <a:r>
                        <a:rPr sz="1200" b="0" i="0">
                          <a:solidFill>
                            <a:srgbClr val="1A1440"/>
                          </a:solidFill>
                          <a:latin typeface="Calibri"/>
                        </a:rPr>
                        <a:t>Marketing, on price</a:t>
                      </a:r>
                    </a:p>
                  </a:txBody>
                  <a:tcPr marL="101600" marR="101600" marT="38100" marB="38100" anchor="ctr">
                    <a:solidFill>
                      <a:srgbClr val="F4F2FA"/>
                    </a:solidFill>
                  </a:tcPr>
                </a:tc>
                <a:tc>
                  <a:txBody>
                    <a:bodyPr/>
                    <a:lstStyle/>
                    <a:p>
                      <a:r>
                        <a:rPr sz="1200" b="0" i="0">
                          <a:solidFill>
                            <a:srgbClr val="1A1440"/>
                          </a:solidFill>
                          <a:latin typeface="Calibri"/>
                        </a:rPr>
                        <a:t>A blended rate read as a price rise</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Marketing's hypothesis</a:t>
                      </a:r>
                    </a:p>
                  </a:txBody>
                  <a:tcPr marL="101600" marR="101600" marT="38100" marB="38100" anchor="ctr">
                    <a:solidFill>
                      <a:srgbClr val="FFFFFF"/>
                    </a:solidFill>
                  </a:tcPr>
                </a:tc>
                <a:tc>
                  <a:txBody>
                    <a:bodyPr/>
                    <a:lstStyle/>
                    <a:p>
                      <a:r>
                        <a:rPr sz="1200" b="0" i="0">
                          <a:solidFill>
                            <a:srgbClr val="1A1440"/>
                          </a:solidFill>
                          <a:latin typeface="Calibri"/>
                        </a:rPr>
                        <a:t>Marketing</a:t>
                      </a:r>
                    </a:p>
                  </a:txBody>
                  <a:tcPr marL="101600" marR="101600" marT="38100" marB="38100" anchor="ctr">
                    <a:solidFill>
                      <a:srgbClr val="FFFFFF"/>
                    </a:solidFill>
                  </a:tcPr>
                </a:tc>
                <a:tc>
                  <a:txBody>
                    <a:bodyPr/>
                    <a:lstStyle/>
                    <a:p>
                      <a:r>
                        <a:rPr sz="1200" b="0" i="0">
                          <a:solidFill>
                            <a:srgbClr val="1A1440"/>
                          </a:solidFill>
                          <a:latin typeface="Calibri"/>
                        </a:rPr>
                        <a:t>A helper that drops a segment</a:t>
                      </a:r>
                    </a:p>
                  </a:txBody>
                  <a:tcPr marL="101600" marR="101600" marT="38100" marB="38100" anchor="ctr">
                    <a:solidFill>
                      <a:srgbClr val="FFFFFF"/>
                    </a:solidFill>
                  </a:tcPr>
                </a:tc>
              </a:tr>
              <a:tr h="335280">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The memo and its evidence</a:t>
                      </a:r>
                    </a:p>
                  </a:txBody>
                  <a:tcPr marL="101600" marR="101600" marT="38100" marB="38100" anchor="ctr">
                    <a:solidFill>
                      <a:srgbClr val="F4F2FA"/>
                    </a:solidFill>
                  </a:tcPr>
                </a:tc>
                <a:tc>
                  <a:txBody>
                    <a:bodyPr/>
                    <a:lstStyle/>
                    <a:p>
                      <a:r>
                        <a:rPr sz="1200" b="0" i="0">
                          <a:solidFill>
                            <a:srgbClr val="1A1440"/>
                          </a:solidFill>
                          <a:latin typeface="Calibri"/>
                        </a:rPr>
                        <a:t>The tier and Meera</a:t>
                      </a:r>
                    </a:p>
                  </a:txBody>
                  <a:tcPr marL="101600" marR="101600" marT="38100" marB="38100" anchor="ctr">
                    <a:solidFill>
                      <a:srgbClr val="F4F2FA"/>
                    </a:solidFill>
                  </a:tcPr>
                </a:tc>
                <a:tc>
                  <a:txBody>
                    <a:bodyPr/>
                    <a:lstStyle/>
                    <a:p>
                      <a:r>
                        <a:rPr sz="1200" b="0" i="0">
                          <a:solidFill>
                            <a:srgbClr val="1A1440"/>
                          </a:solidFill>
                          <a:latin typeface="Calibri"/>
                        </a:rPr>
                        <a:t>A cause blamed for the whole fall</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20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5001768"/>
            <a:ext cx="237744" cy="237744"/>
          </a:xfrm>
          <a:prstGeom prst="rect">
            <a:avLst/>
          </a:prstGeom>
        </p:spPr>
      </p:pic>
      <p:sp>
        <p:nvSpPr>
          <p:cNvPr id="13" name="TextBox 12"/>
          <p:cNvSpPr txBox="1"/>
          <p:nvPr/>
        </p:nvSpPr>
        <p:spPr>
          <a:xfrm>
            <a:off x="1399031" y="47061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925568"/>
            <a:ext cx="9987991" cy="682752"/>
          </a:xfrm>
          <a:prstGeom prst="rect">
            <a:avLst/>
          </a:prstGeom>
          <a:noFill/>
        </p:spPr>
        <p:txBody>
          <a:bodyPr wrap="square" anchor="t" lIns="0" rIns="0" tIns="0" bIns="0">
            <a:spAutoFit/>
          </a:bodyPr>
          <a:lstStyle/>
          <a:p>
            <a:r>
              <a:rPr sz="1500" b="0" i="0">
                <a:solidFill>
                  <a:srgbClr val="1A1440"/>
                </a:solidFill>
                <a:latin typeface="Calibri"/>
              </a:rPr>
              <a:t>Confirm, compare like with like, decompose, isolate, then hypothesise. Every chapter weighs two to four ways to answer its question, sizes them, picks one, and reaches the same number a second way.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Monday's tree, where changes multiply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branches multiply into revenue, so their changes multiply too, and never simply add.</a:t>
            </a:r>
          </a:p>
        </p:txBody>
      </p:sp>
      <p:pic>
        <p:nvPicPr>
          <p:cNvPr id="9" name="mermaid diagram" descr="127170f2dc7bea20.png"/>
          <p:cNvPicPr>
            <a:picLocks noChangeAspect="1"/>
          </p:cNvPicPr>
          <p:nvPr/>
        </p:nvPicPr>
        <p:blipFill>
          <a:blip r:embed="rId6"/>
          <a:stretch>
            <a:fillRect/>
          </a:stretch>
        </p:blipFill>
        <p:spPr>
          <a:xfrm>
            <a:off x="530352" y="1860341"/>
            <a:ext cx="4786326" cy="4161444"/>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Invented numbers: ten percent more customers and ten percent less frequency is 1.10 times 0.90, which is 0.99, a one percent fall, where adding them says flat.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60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the drop real</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Marketing's slide says revenue fell by a quarter; the first chapter checks the windows before the story.</a:t>
            </a:r>
          </a:p>
        </p:txBody>
      </p:sp>
      <p:sp>
        <p:nvSpPr>
          <p:cNvPr id="10" name="Rounded Rectangle 9"/>
          <p:cNvSpPr/>
          <p:nvPr/>
        </p:nvSpPr>
        <p:spPr>
          <a:xfrm>
            <a:off x="731519"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60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Marketing's slide says revenue fell 25.9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Its Q2 figure is the dashboard tile, the arithmetic on the slide is correct, and Rs 12 crore rides on it.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2,10,00,000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ON MARKETING'S SLIDE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 April to 30 June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1,55,59,950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ON MARKETING'S SLIDE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dashboard tile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-25.9%</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HEADLINE</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"revenue fell by a quarter"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If revenue fell by a quarter in one quarter, Marketing says, the acquisition budget cannot wait.</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28" name="Oval 2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2" name="Oval 31"/>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4" name="Oval 33"/>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60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Retailers compare like with like on purpose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store chain reports growth only on periods and stores that match, because a mismatch reads as growth or loss.</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tore_c62a884f6627.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INDIA</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DMart</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Like-for-like growth counts only stores open at least 24 months at the year's end; 8.1 percent in FY26.</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UNITED STATES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Target</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Comparable sales use a prior period of equivalent length; its 53-week fiscal 2023 carried an extra week worth $1,715 million.</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uler_ec66f5961a99.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CONVENTION</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NRF 4-5-4 calendar</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Comparable months hold the same number of weeks and weekends, so a quarter is 13 whole weeks.</a:t>
            </a:r>
          </a:p>
        </p:txBody>
      </p:sp>
      <p:sp>
        <p:nvSpPr>
          <p:cNvPr id="27" name="Rounded Rectangle 26"/>
          <p:cNvSpPr/>
          <p:nvPr/>
        </p:nvSpPr>
        <p:spPr>
          <a:xfrm>
            <a:off x="530352" y="429412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42214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412996"/>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Two windows of different length never compare as totals; the retail industry built its calendars around that.</a:t>
            </a:r>
          </a:p>
        </p:txBody>
      </p:sp>
      <p:sp>
        <p:nvSpPr>
          <p:cNvPr id="30" name="Oval 2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32" name="Oval 3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6" name="Oval 3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8" name="Oval 3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60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size the fall, and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option answers a slightly different question; the one that fits depends on whether Q2 has closed.</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675993"/>
                <a:gridCol w="1536025"/>
                <a:gridCol w="1526471"/>
                <a:gridCol w="439250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read</a:t>
                      </a:r>
                    </a:p>
                  </a:txBody>
                  <a:tcPr marL="101600" marR="101600" marT="38100" marB="38100" anchor="ctr">
                    <a:solidFill>
                      <a:srgbClr val="1A0F5C"/>
                    </a:solidFill>
                  </a:tcPr>
                </a:tc>
                <a:tc>
                  <a:txBody>
                    <a:bodyPr/>
                    <a:lstStyle/>
                    <a:p>
                      <a:r>
                        <a:rPr sz="1250" b="1" i="0">
                          <a:solidFill>
                            <a:srgbClr val="FFFFFF"/>
                          </a:solidFill>
                          <a:latin typeface="Calibri"/>
                        </a:rPr>
                        <a:t>Answer</a:t>
                      </a:r>
                    </a:p>
                  </a:txBody>
                  <a:tcPr marL="101600" marR="101600" marT="38100" marB="38100" anchor="ctr">
                    <a:solidFill>
                      <a:srgbClr val="1A0F5C"/>
                    </a:solidFill>
                  </a:tcPr>
                </a:tc>
                <a:tc>
                  <a:txBody>
                    <a:bodyPr/>
                    <a:lstStyle/>
                    <a:p>
                      <a:r>
                        <a:rPr sz="1250" b="1" i="0">
                          <a:solidFill>
                            <a:srgbClr val="FFFFFF"/>
                          </a:solidFill>
                          <a:latin typeface="Calibri"/>
                        </a:rPr>
                        <a:t>Controls for</a:t>
                      </a:r>
                    </a:p>
                  </a:txBody>
                  <a:tcPr marL="101600" marR="101600" marT="38100" marB="38100" anchor="ctr">
                    <a:solidFill>
                      <a:srgbClr val="1A0F5C"/>
                    </a:solidFill>
                  </a:tcPr>
                </a:tc>
              </a:tr>
              <a:tr h="335280">
                <a:tc>
                  <a:txBody>
                    <a:bodyPr/>
                    <a:lstStyle/>
                    <a:p>
                      <a:r>
                        <a:rPr sz="1200" b="0" i="0">
                          <a:solidFill>
                            <a:srgbClr val="1A1440"/>
                          </a:solidFill>
                          <a:latin typeface="Calibri"/>
                        </a:rPr>
                        <a:t>A. Closed quarters as totals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c>
                  <a:txBody>
                    <a:bodyPr/>
                    <a:lstStyle/>
                    <a:p>
                      <a:r>
                        <a:rPr sz="1200" b="0" i="0">
                          <a:solidFill>
                            <a:srgbClr val="1A1440"/>
                          </a:solidFill>
                          <a:latin typeface="Calibri"/>
                        </a:rPr>
                        <a:t>Length, once both closed</a:t>
                      </a:r>
                    </a:p>
                  </a:txBody>
                  <a:tcPr marL="101600" marR="101600" marT="38100" marB="38100" anchor="ctr">
                    <a:solidFill>
                      <a:srgbClr val="FFFFFF"/>
                    </a:solidFill>
                  </a:tcPr>
                </a:tc>
              </a:tr>
              <a:tr h="335280">
                <a:tc>
                  <a:txBody>
                    <a:bodyPr/>
                    <a:lstStyle/>
                    <a:p>
                      <a:r>
                        <a:rPr sz="1200" b="0" i="0">
                          <a:solidFill>
                            <a:srgbClr val="1A1440"/>
                          </a:solidFill>
                          <a:latin typeface="Calibri"/>
                        </a:rPr>
                        <a:t>B. The same 11 weeks of each</a:t>
                      </a:r>
                    </a:p>
                  </a:txBody>
                  <a:tcPr marL="101600" marR="101600" marT="38100" marB="38100" anchor="ctr">
                    <a:solidFill>
                      <a:srgbClr val="F4F2FA"/>
                    </a:solidFill>
                  </a:tcPr>
                </a:tc>
                <a:tc>
                  <a:txBody>
                    <a:bodyPr/>
                    <a:lstStyle/>
                    <a:p>
                      <a:r>
                        <a:rPr sz="1200" b="0" i="0">
                          <a:solidFill>
                            <a:srgbClr val="1A1440"/>
                          </a:solidFill>
                          <a:latin typeface="Calibri"/>
                        </a:rPr>
                        <a:t>167</a:t>
                      </a:r>
                    </a:p>
                  </a:txBody>
                  <a:tcPr marL="101600" marR="101600" marT="38100" marB="38100" anchor="ctr">
                    <a:solidFill>
                      <a:srgbClr val="F4F2FA"/>
                    </a:solidFill>
                  </a:tcPr>
                </a:tc>
                <a:tc>
                  <a:txBody>
                    <a:bodyPr/>
                    <a:lstStyle/>
                    <a:p>
                      <a:r>
                        <a:rPr sz="1200" b="0" i="0">
                          <a:solidFill>
                            <a:srgbClr val="1A1440"/>
                          </a:solidFill>
                          <a:latin typeface="Calibri"/>
                        </a:rPr>
                        <a:t>-17.0%</a:t>
                      </a:r>
                    </a:p>
                  </a:txBody>
                  <a:tcPr marL="101600" marR="101600" marT="38100" marB="38100" anchor="ctr">
                    <a:solidFill>
                      <a:srgbClr val="F4F2FA"/>
                    </a:solidFill>
                  </a:tcPr>
                </a:tc>
                <a:tc>
                  <a:txBody>
                    <a:bodyPr/>
                    <a:lstStyle/>
                    <a:p>
                      <a:r>
                        <a:rPr sz="1200" b="0" i="0">
                          <a:solidFill>
                            <a:srgbClr val="1A1440"/>
                          </a:solidFill>
                          <a:latin typeface="Calibri"/>
                        </a:rPr>
                        <a:t>Length and position, while open</a:t>
                      </a:r>
                    </a:p>
                  </a:txBody>
                  <a:tcPr marL="101600" marR="101600" marT="38100" marB="38100" anchor="ctr">
                    <a:solidFill>
                      <a:srgbClr val="F4F2FA"/>
                    </a:solidFill>
                  </a:tcPr>
                </a:tc>
              </a:tr>
              <a:tr h="335280">
                <a:tc>
                  <a:txBody>
                    <a:bodyPr/>
                    <a:lstStyle/>
                    <a:p>
                      <a:r>
                        <a:rPr sz="1200" b="0" i="0">
                          <a:solidFill>
                            <a:srgbClr val="1A1440"/>
                          </a:solidFill>
                          <a:latin typeface="Calibri"/>
                        </a:rPr>
                        <a:t>C. Per day, closed quarters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-11.9%</a:t>
                      </a:r>
                    </a:p>
                  </a:txBody>
                  <a:tcPr marL="101600" marR="101600" marT="38100" marB="38100" anchor="ctr">
                    <a:solidFill>
                      <a:srgbClr val="FFFFFF"/>
                    </a:solidFill>
                  </a:tcPr>
                </a:tc>
                <a:tc>
                  <a:txBody>
                    <a:bodyPr/>
                    <a:lstStyle/>
                    <a:p>
                      <a:r>
                        <a:rPr sz="1200" b="0" i="0">
                          <a:solidFill>
                            <a:srgbClr val="1A1440"/>
                          </a:solidFill>
                          <a:latin typeface="Calibri"/>
                        </a:rPr>
                        <a:t>Length, whatever the windows</a:t>
                      </a:r>
                    </a:p>
                  </a:txBody>
                  <a:tcPr marL="101600" marR="101600" marT="38100" marB="38100" anchor="ctr">
                    <a:solidFill>
                      <a:srgbClr val="FFFFFF"/>
                    </a:solidFill>
                  </a:tcPr>
                </a:tc>
              </a:tr>
              <a:tr h="335280">
                <a:tc>
                  <a:txBody>
                    <a:bodyPr/>
                    <a:lstStyle/>
                    <a:p>
                      <a:r>
                        <a:rPr sz="1200" b="0" i="0">
                          <a:solidFill>
                            <a:srgbClr val="1A1440"/>
                          </a:solidFill>
                          <a:latin typeface="Calibri"/>
                        </a:rPr>
                        <a:t>D. Same quarter last year</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cannot run</a:t>
                      </a:r>
                    </a:p>
                  </a:txBody>
                  <a:tcPr marL="101600" marR="101600" marT="38100" marB="38100" anchor="ctr">
                    <a:solidFill>
                      <a:srgbClr val="F4F2FA"/>
                    </a:solidFill>
                  </a:tcPr>
                </a:tc>
                <a:tc>
                  <a:txBody>
                    <a:bodyPr/>
                    <a:lstStyle/>
                    <a:p>
                      <a:r>
                        <a:rPr sz="1200" b="0" i="0">
                          <a:solidFill>
                            <a:srgbClr val="1A1440"/>
                          </a:solidFill>
                          <a:latin typeface="Calibri"/>
                        </a:rPr>
                        <a:t>The season; needs last year's rows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because both quarters closed on 30 September at 13 weeks each. </a:t>
            </a:r>
            <a:r>
              <a:rPr sz="1500" b="1" i="0">
                <a:solidFill>
                  <a:srgbClr val="1A1440"/>
                </a:solidFill>
                <a:latin typeface="Calibri"/>
              </a:rPr>
              <a:t>What would change it:</a:t>
            </a:r>
            <a:r>
              <a:rPr sz="1500" b="0" i="0">
                <a:solidFill>
                  <a:srgbClr val="1A1440"/>
                </a:solidFill>
                <a:latin typeface="Calibri"/>
              </a:rPr>
              <a:t> Q2 still open means B; a question about the monsoon means D and a data request.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60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weeks does each side cover?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Q1 is the closed quarter; Q2 is the tile as it was cut.</a:t>
            </a:r>
          </a:p>
        </p:txBody>
      </p:sp>
      <p:pic>
        <p:nvPicPr>
          <p:cNvPr id="9" name="mermaid diagram" descr="b33e59590f9b633b.png"/>
          <p:cNvPicPr>
            <a:picLocks noChangeAspect="1"/>
          </p:cNvPicPr>
          <p:nvPr/>
        </p:nvPicPr>
        <p:blipFill>
          <a:blip r:embed="rId5"/>
          <a:stretch>
            <a:fillRect/>
          </a:stretch>
        </p:blipFill>
        <p:spPr>
          <a:xfrm>
            <a:off x="3524097" y="1956816"/>
            <a:ext cx="51435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before the loop prints: a) 13 weeks against 13; b) 13 weeks against 11; c) 12 weeks against 12; d) 13 weeks against 9.</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60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13 weeks against 11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two totals never measured the same stretch of time, and the cumulative lines show where the tile stopped.</a:t>
            </a:r>
          </a:p>
        </p:txBody>
      </p:sp>
      <p:pic>
        <p:nvPicPr>
          <p:cNvPr id="9" name="mermaid diagram" descr="55fabce3bd0560fe.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line that ends at Rs 210.0 lakh is Q1. The other is Q2: Rs 155.6 lakh at week 11, which is the tile, and Rs 187.0 lakh at the close.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60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25.9 percent crisis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missing weeks look exactly like lost customers, and the decision they mislead is the largest on Meera's desk.</a:t>
            </a:r>
          </a:p>
        </p:txBody>
      </p:sp>
      <p:pic>
        <p:nvPicPr>
          <p:cNvPr id="9" name="mermaid diagram" descr="a37146c08409b527.png"/>
          <p:cNvPicPr>
            <a:picLocks noChangeAspect="1"/>
          </p:cNvPicPr>
          <p:nvPr/>
        </p:nvPicPr>
        <p:blipFill>
          <a:blip r:embed="rId5"/>
          <a:stretch>
            <a:fillRect/>
          </a:stretch>
        </p:blipFill>
        <p:spPr>
          <a:xfrm>
            <a:off x="2181330" y="1664208"/>
            <a:ext cx="7829033"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tile stopped on 15 September, so it holds 11 weeks of trading against 13. </a:t>
            </a:r>
            <a:r>
              <a:rPr sz="1500" b="1" i="0">
                <a:solidFill>
                  <a:srgbClr val="1A1440"/>
                </a:solidFill>
                <a:latin typeface="Calibri"/>
              </a:rPr>
              <a:t>The check</a:t>
            </a:r>
            <a:r>
              <a:rPr sz="1500" b="0" i="0">
                <a:solidFill>
                  <a:srgbClr val="1A1440"/>
                </a:solidFill>
                <a:latin typeface="Calibri"/>
              </a:rPr>
              <a:t> that catches it in a minute: the first and last order date of each window, and the weeks between them.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60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closed quarters, and what changed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two weeks the tile never saw hold Rs 31,40,050, and the real fall is Rs 23,00,000.</a:t>
            </a:r>
          </a:p>
        </p:txBody>
      </p:sp>
      <p:pic>
        <p:nvPicPr>
          <p:cNvPr id="9" name="mermaid diagram" descr="9a7212ba8b39b22e.png"/>
          <p:cNvPicPr>
            <a:picLocks noChangeAspect="1"/>
          </p:cNvPicPr>
          <p:nvPr/>
        </p:nvPicPr>
        <p:blipFill>
          <a:blip r:embed="rId5"/>
          <a:stretch>
            <a:fillRect/>
          </a:stretch>
        </p:blipFill>
        <p:spPr>
          <a:xfrm>
            <a:off x="780897" y="1956816"/>
            <a:ext cx="10629900" cy="1600200"/>
          </a:xfrm>
          <a:prstGeom prst="rect">
            <a:avLst/>
          </a:prstGeom>
        </p:spPr>
      </p:pic>
      <p:graphicFrame>
        <p:nvGraphicFramePr>
          <p:cNvPr id="10" name="Table 9"/>
          <p:cNvGraphicFramePr>
            <a:graphicFrameLocks noGrp="1"/>
          </p:cNvGraphicFramePr>
          <p:nvPr/>
        </p:nvGraphicFramePr>
        <p:xfrm>
          <a:off x="530352" y="3703320"/>
          <a:ext cx="11130990" cy="1005840"/>
        </p:xfrm>
        <a:graphic>
          <a:graphicData uri="http://schemas.openxmlformats.org/drawingml/2006/table">
            <a:tbl>
              <a:tblPr firstRow="0" bandRow="0">
                <a:tableStyleId>{2D5ABB26-0587-4C30-8999-92F81FD0307C}</a:tableStyleId>
              </a:tblPr>
              <a:tblGrid>
                <a:gridCol w="5048040"/>
                <a:gridCol w="2584275"/>
                <a:gridCol w="2584275"/>
                <a:gridCol w="914400"/>
              </a:tblGrid>
              <a:tr h="335280">
                <a:tc>
                  <a:txBody>
                    <a:bodyPr/>
                    <a:lstStyle/>
                    <a:p>
                      <a:r>
                        <a:rPr sz="1250" b="1" i="0">
                          <a:solidFill>
                            <a:srgbClr val="FFFFFF"/>
                          </a:solidFill>
                          <a:latin typeface="Calibri"/>
                        </a:rPr>
                        <a:t>Fair reading</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Closed quarters, 13 weeks each</a:t>
                      </a:r>
                    </a:p>
                  </a:txBody>
                  <a:tcPr marL="101600" marR="101600" marT="38100" marB="38100" anchor="ctr">
                    <a:solidFill>
                      <a:srgbClr val="FFFFFF"/>
                    </a:solidFill>
                  </a:tcPr>
                </a:tc>
                <a:tc>
                  <a:txBody>
                    <a:bodyPr/>
                    <a:lstStyle/>
                    <a:p>
                      <a:r>
                        <a:rPr sz="1200" b="0" i="0">
                          <a:solidFill>
                            <a:srgbClr val="1A1440"/>
                          </a:solidFill>
                          <a:latin typeface="Calibri"/>
                        </a:rPr>
                        <a:t>Rs 2,10,00,000</a:t>
                      </a:r>
                    </a:p>
                  </a:txBody>
                  <a:tcPr marL="101600" marR="101600" marT="38100" marB="38100" anchor="ctr">
                    <a:solidFill>
                      <a:srgbClr val="FFFFFF"/>
                    </a:solidFill>
                  </a:tcPr>
                </a:tc>
                <a:tc>
                  <a:txBody>
                    <a:bodyPr/>
                    <a:lstStyle/>
                    <a:p>
                      <a:r>
                        <a:rPr sz="1200" b="0" i="0">
                          <a:solidFill>
                            <a:srgbClr val="1A1440"/>
                          </a:solidFill>
                          <a:latin typeface="Calibri"/>
                        </a:rPr>
                        <a:t>Rs 1,87,00,000</a:t>
                      </a:r>
                    </a:p>
                  </a:txBody>
                  <a:tcPr marL="101600" marR="101600" marT="38100" marB="38100" anchor="ctr">
                    <a:solidFill>
                      <a:srgbClr val="FFFFFF"/>
                    </a:solidFill>
                  </a:tcPr>
                </a:tc>
                <a:tc>
                  <a:txBody>
                    <a:bodyPr/>
                    <a:lstStyle/>
                    <a:p>
                      <a:r>
                        <a:rPr sz="1200" b="0" i="0">
                          <a:solidFill>
                            <a:srgbClr val="1A1440"/>
                          </a:solidFill>
                          <a:latin typeface="Calibri"/>
                        </a:rPr>
                        <a:t>-11.0%</a:t>
                      </a:r>
                    </a:p>
                  </a:txBody>
                  <a:tcPr marL="101600" marR="101600" marT="38100" marB="38100" anchor="ctr">
                    <a:solidFill>
                      <a:srgbClr val="FFFFFF"/>
                    </a:solidFill>
                  </a:tcPr>
                </a:tc>
              </a:tr>
              <a:tr h="335280">
                <a:tc>
                  <a:txBody>
                    <a:bodyPr/>
                    <a:lstStyle/>
                    <a:p>
                      <a:r>
                        <a:rPr sz="1200" b="0" i="0">
                          <a:solidFill>
                            <a:srgbClr val="1A1440"/>
                          </a:solidFill>
                          <a:latin typeface="Calibri"/>
                        </a:rPr>
                        <a:t>Per week, Q1 against the tile</a:t>
                      </a:r>
                    </a:p>
                  </a:txBody>
                  <a:tcPr marL="101600" marR="101600" marT="38100" marB="38100" anchor="ctr">
                    <a:solidFill>
                      <a:srgbClr val="F4F2FA"/>
                    </a:solidFill>
                  </a:tcPr>
                </a:tc>
                <a:tc>
                  <a:txBody>
                    <a:bodyPr/>
                    <a:lstStyle/>
                    <a:p>
                      <a:r>
                        <a:rPr sz="1200" b="0" i="0">
                          <a:solidFill>
                            <a:srgbClr val="1A1440"/>
                          </a:solidFill>
                          <a:latin typeface="Calibri"/>
                        </a:rPr>
                        <a:t>Rs 16,15,385</a:t>
                      </a:r>
                    </a:p>
                  </a:txBody>
                  <a:tcPr marL="101600" marR="101600" marT="38100" marB="38100" anchor="ctr">
                    <a:solidFill>
                      <a:srgbClr val="F4F2FA"/>
                    </a:solidFill>
                  </a:tcPr>
                </a:tc>
                <a:tc>
                  <a:txBody>
                    <a:bodyPr/>
                    <a:lstStyle/>
                    <a:p>
                      <a:r>
                        <a:rPr sz="1200" b="0" i="0">
                          <a:solidFill>
                            <a:srgbClr val="1A1440"/>
                          </a:solidFill>
                          <a:latin typeface="Calibri"/>
                        </a:rPr>
                        <a:t>Rs 14,14,541</a:t>
                      </a:r>
                    </a:p>
                  </a:txBody>
                  <a:tcPr marL="101600" marR="101600" marT="38100" marB="38100" anchor="ctr">
                    <a:solidFill>
                      <a:srgbClr val="F4F2FA"/>
                    </a:solidFill>
                  </a:tcPr>
                </a:tc>
                <a:tc>
                  <a:txBody>
                    <a:bodyPr/>
                    <a:lstStyle/>
                    <a:p>
                      <a:r>
                        <a:rPr sz="1200" b="0" i="0">
                          <a:solidFill>
                            <a:srgbClr val="1A1440"/>
                          </a:solidFill>
                          <a:latin typeface="Calibri"/>
                        </a:rPr>
                        <a:t>-12.4%</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same fall, added by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Key the accumulator by the month in the date instead of the quarter field, and the answer must not move.</a:t>
            </a:r>
          </a:p>
        </p:txBody>
      </p:sp>
      <p:pic>
        <p:nvPicPr>
          <p:cNvPr id="9" name="mermaid diagram" descr="dc3eb2c99d3aabd9.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April to June add to Rs 2,10,00,000 and July to September to Rs 1,87,00,000: minus 11.0 percent both ways. </a:t>
            </a:r>
            <a:r>
              <a:rPr sz="1500" b="1" i="0">
                <a:solidFill>
                  <a:srgbClr val="1A1440"/>
                </a:solidFill>
                <a:latin typeface="Calibri"/>
              </a:rPr>
              <a:t>When to switch:</a:t>
            </a:r>
            <a:r>
              <a:rPr sz="1500" b="0" i="0">
                <a:solidFill>
                  <a:srgbClr val="1A1440"/>
                </a:solidFill>
                <a:latin typeface="Calibri"/>
              </a:rPr>
              <a:t> keep the quarter key for the headline, and use the month key once a question moves inside the quarter, as chapter 6's will.</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drop is real, it is 11.0 percent, and one comparison is still missing.</a:t>
            </a:r>
          </a:p>
        </p:txBody>
      </p:sp>
      <p:pic>
        <p:nvPicPr>
          <p:cNvPr id="9" name="mermaid diagram" descr="7963a25720b9d1a6.png"/>
          <p:cNvPicPr>
            <a:picLocks noChangeAspect="1"/>
          </p:cNvPicPr>
          <p:nvPr/>
        </p:nvPicPr>
        <p:blipFill>
          <a:blip r:embed="rId7"/>
          <a:stretch>
            <a:fillRect/>
          </a:stretch>
        </p:blipFill>
        <p:spPr>
          <a:xfrm>
            <a:off x="2152497" y="1956816"/>
            <a:ext cx="7886700" cy="1357312"/>
          </a:xfrm>
          <a:prstGeom prst="rect">
            <a:avLst/>
          </a:prstGeom>
        </p:spPr>
      </p:pic>
      <p:sp>
        <p:nvSpPr>
          <p:cNvPr id="10" name="Rounded Rectangle 9"/>
          <p:cNvSpPr/>
          <p:nvPr/>
        </p:nvSpPr>
        <p:spPr>
          <a:xfrm>
            <a:off x="530352" y="34604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926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0239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826192"/>
            <a:ext cx="9987991" cy="682752"/>
          </a:xfrm>
          <a:prstGeom prst="rect">
            <a:avLst/>
          </a:prstGeom>
          <a:noFill/>
        </p:spPr>
        <p:txBody>
          <a:bodyPr wrap="square" anchor="t" lIns="0" rIns="0" tIns="0" bIns="0">
            <a:spAutoFit/>
          </a:bodyPr>
          <a:lstStyle/>
          <a:p>
            <a:r>
              <a:rPr sz="1500" b="0" i="0">
                <a:solidFill>
                  <a:srgbClr val="1A1440"/>
                </a:solidFill>
                <a:latin typeface="Calibri"/>
              </a:rPr>
              <a:t>"Say both windows out loud with their dates before you say a percentage, and say which option you picked and what would make you pick another."</a:t>
            </a:r>
          </a:p>
        </p:txBody>
      </p:sp>
      <p:sp>
        <p:nvSpPr>
          <p:cNvPr id="15" name="Rounded Rectangle 14"/>
          <p:cNvSpPr/>
          <p:nvPr/>
        </p:nvSpPr>
        <p:spPr>
          <a:xfrm>
            <a:off x="530352" y="474668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0789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188648"/>
            <a:ext cx="237744" cy="237744"/>
          </a:xfrm>
          <a:prstGeom prst="rect">
            <a:avLst/>
          </a:prstGeom>
        </p:spPr>
      </p:pic>
      <p:sp>
        <p:nvSpPr>
          <p:cNvPr id="18" name="TextBox 17"/>
          <p:cNvSpPr txBox="1"/>
          <p:nvPr/>
        </p:nvSpPr>
        <p:spPr>
          <a:xfrm>
            <a:off x="1399031" y="48929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12448"/>
            <a:ext cx="9987991" cy="682752"/>
          </a:xfrm>
          <a:prstGeom prst="rect">
            <a:avLst/>
          </a:prstGeom>
          <a:noFill/>
        </p:spPr>
        <p:txBody>
          <a:bodyPr wrap="square" anchor="t" lIns="0" rIns="0" tIns="0" bIns="0">
            <a:spAutoFit/>
          </a:bodyPr>
          <a:lstStyle/>
          <a:p>
            <a:r>
              <a:rPr sz="1500" b="0" i="0">
                <a:solidFill>
                  <a:srgbClr val="1A1440"/>
                </a:solidFill>
                <a:latin typeface="Calibri"/>
              </a:rPr>
              <a:t>[F] What has to match before a quarter-on-quarter comparison is fair? And the design question: Q2 is still open; which comparison do you send?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60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branch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tree meets both quarters, rupees go on each branch, and the price branch hides a blank.</a:t>
            </a:r>
          </a:p>
        </p:txBody>
      </p:sp>
      <p:sp>
        <p:nvSpPr>
          <p:cNvPr id="10" name="Rounded Rectangle 9"/>
          <p:cNvSpPr/>
          <p:nvPr/>
        </p:nvSpPr>
        <p:spPr>
          <a:xfrm>
            <a:off x="731519"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60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 owns a Rs 23,00,000 problem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branch has an owner and a price tag, so the split decides who acts and whether Rs 12 crore is aimed right.</a:t>
            </a:r>
          </a:p>
        </p:txBody>
      </p:sp>
      <p:pic>
        <p:nvPicPr>
          <p:cNvPr id="9" name="mermaid diagram" descr="d94757b64e432503.png"/>
          <p:cNvPicPr>
            <a:picLocks noChangeAspect="1"/>
          </p:cNvPicPr>
          <p:nvPr/>
        </p:nvPicPr>
        <p:blipFill>
          <a:blip r:embed="rId6"/>
          <a:stretch>
            <a:fillRect/>
          </a:stretch>
        </p:blipFill>
        <p:spPr>
          <a:xfrm>
            <a:off x="530352" y="1740683"/>
            <a:ext cx="4786326" cy="4400761"/>
          </a:xfrm>
          <a:prstGeom prst="rect">
            <a:avLst/>
          </a:prstGeom>
        </p:spPr>
      </p:pic>
      <p:sp>
        <p:nvSpPr>
          <p:cNvPr id="10" name="Rounded Rectangle 9"/>
          <p:cNvSpPr/>
          <p:nvPr/>
        </p:nvSpPr>
        <p:spPr>
          <a:xfrm>
            <a:off x="5761917" y="1956816"/>
            <a:ext cx="5899425"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4"/>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FFFFFF"/>
                </a:solidFill>
                <a:latin typeface="Calibri"/>
              </a:rPr>
              <a:t>"Are we losing customers, or are the ones we have buying less? Marketing says more customers. Prove it or disprove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Blinkit and Walmart report the same two branches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Visits and basket, orders and order value: companies publish the split because investors ask Meera's question.</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273.9 m</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BLINKIT ORDERS, Q4 FY26</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at a net average order value of Rs 525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Rs 14,386 cr</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BLINKIT NET ORDER VALUE</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times order value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+1.5% / +1.1%</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WALMART U.S. TRANSACTIONS / TICKET</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31 July 2026</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A quick-commerce app and the world's largest store chain both answer "more visits or bigger baskets?" every quarter.</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8" name="Oval 27"/>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0" name="Oval 2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2" name="Oval 31"/>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60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split the fall, and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order in which the branches move changes each branch's rupees, and never which branch is guilty.</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961064"/>
                <a:gridCol w="4465898"/>
                <a:gridCol w="2704028"/>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Frequency is charged</a:t>
                      </a:r>
                    </a:p>
                  </a:txBody>
                  <a:tcPr marL="101600" marR="101600" marT="38100" marB="38100" anchor="ctr">
                    <a:solidFill>
                      <a:srgbClr val="1A0F5C"/>
                    </a:solidFill>
                  </a:tcPr>
                </a:tc>
                <a:tc>
                  <a:txBody>
                    <a:bodyPr/>
                    <a:lstStyle/>
                    <a:p>
                      <a:r>
                        <a:rPr sz="1450" b="1" i="0">
                          <a:solidFill>
                            <a:srgbClr val="FFFFFF"/>
                          </a:solidFill>
                          <a:latin typeface="Calibri"/>
                        </a:rPr>
                        <a:t>Depends on order?</a:t>
                      </a:r>
                    </a:p>
                  </a:txBody>
                  <a:tcPr marL="101600" marR="101600" marT="38100" marB="38100" anchor="ctr">
                    <a:solidFill>
                      <a:srgbClr val="1A0F5C"/>
                    </a:solidFill>
                  </a:tcPr>
                </a:tc>
              </a:tr>
              <a:tr h="369824">
                <a:tc>
                  <a:txBody>
                    <a:bodyPr/>
                    <a:lstStyle/>
                    <a:p>
                      <a:r>
                        <a:rPr sz="1400" b="0" i="0">
                          <a:solidFill>
                            <a:srgbClr val="1A1440"/>
                          </a:solidFill>
                          <a:latin typeface="Calibri"/>
                        </a:rPr>
                        <a:t>A. Leaf percentages only</a:t>
                      </a:r>
                    </a:p>
                  </a:txBody>
                  <a:tcPr marL="101600" marR="101600" marT="38100" marB="38100" anchor="ctr">
                    <a:solidFill>
                      <a:srgbClr val="FFFFFF"/>
                    </a:solidFill>
                  </a:tcPr>
                </a:tc>
                <a:tc>
                  <a:txBody>
                    <a:bodyPr/>
                    <a:lstStyle/>
                    <a:p>
                      <a:r>
                        <a:rPr sz="1400" b="0" i="0">
                          <a:solidFill>
                            <a:srgbClr val="1A1440"/>
                          </a:solidFill>
                          <a:latin typeface="Calibri"/>
                        </a:rPr>
                        <a:t>no rupees: percentages do not add</a:t>
                      </a:r>
                    </a:p>
                  </a:txBody>
                  <a:tcPr marL="101600" marR="101600" marT="38100" marB="38100" anchor="ctr">
                    <a:solidFill>
                      <a:srgbClr val="FFFFFF"/>
                    </a:solidFill>
                  </a:tcPr>
                </a:tc>
                <a:tc>
                  <a:txBody>
                    <a:bodyPr/>
                    <a:lstStyle/>
                    <a:p>
                      <a:r>
                        <a:rPr sz="1400" b="0" i="0">
                          <a:solidFill>
                            <a:srgbClr val="1A1440"/>
                          </a:solidFill>
                          <a:latin typeface="Calibri"/>
                        </a:rPr>
                        <a:t>no</a:t>
                      </a:r>
                    </a:p>
                  </a:txBody>
                  <a:tcPr marL="101600" marR="101600" marT="38100" marB="38100" anchor="ctr">
                    <a:solidFill>
                      <a:srgbClr val="FFFFFF"/>
                    </a:solidFill>
                  </a:tcPr>
                </a:tc>
              </a:tr>
              <a:tr h="369824">
                <a:tc>
                  <a:txBody>
                    <a:bodyPr/>
                    <a:lstStyle/>
                    <a:p>
                      <a:r>
                        <a:rPr sz="1400" b="0" i="0">
                          <a:solidFill>
                            <a:srgbClr val="1A1440"/>
                          </a:solidFill>
                          <a:latin typeface="Calibri"/>
                        </a:rPr>
                        <a:t>B. Bridge in the tree's order</a:t>
                      </a:r>
                    </a:p>
                  </a:txBody>
                  <a:tcPr marL="101600" marR="101600" marT="38100" marB="38100" anchor="ctr">
                    <a:solidFill>
                      <a:srgbClr val="F4F2FA"/>
                    </a:solidFill>
                  </a:tcPr>
                </a:tc>
                <a:tc>
                  <a:txBody>
                    <a:bodyPr/>
                    <a:lstStyle/>
                    <a:p>
                      <a:r>
                        <a:rPr sz="1400" b="0" i="0">
                          <a:solidFill>
                            <a:srgbClr val="1A1440"/>
                          </a:solidFill>
                          <a:latin typeface="Calibri"/>
                        </a:rPr>
                        <a:t>-Rs 51,57,895</a:t>
                      </a:r>
                    </a:p>
                  </a:txBody>
                  <a:tcPr marL="101600" marR="101600" marT="38100" marB="38100" anchor="ctr">
                    <a:solidFill>
                      <a:srgbClr val="F4F2FA"/>
                    </a:solidFill>
                  </a:tcPr>
                </a:tc>
                <a:tc>
                  <a:txBody>
                    <a:bodyPr/>
                    <a:lstStyle/>
                    <a:p>
                      <a:r>
                        <a:rPr sz="1400" b="0" i="0">
                          <a:solidFill>
                            <a:srgbClr val="1A1440"/>
                          </a:solidFill>
                          <a:latin typeface="Calibri"/>
                        </a:rPr>
                        <a:t>yes</a:t>
                      </a:r>
                    </a:p>
                  </a:txBody>
                  <a:tcPr marL="101600" marR="101600" marT="38100" marB="38100" anchor="ctr">
                    <a:solidFill>
                      <a:srgbClr val="F4F2FA"/>
                    </a:solidFill>
                  </a:tcPr>
                </a:tc>
              </a:tr>
              <a:tr h="369824">
                <a:tc>
                  <a:txBody>
                    <a:bodyPr/>
                    <a:lstStyle/>
                    <a:p>
                      <a:r>
                        <a:rPr sz="1400" b="0" i="0">
                          <a:solidFill>
                            <a:srgbClr val="1A1440"/>
                          </a:solidFill>
                          <a:latin typeface="Calibri"/>
                        </a:rPr>
                        <a:t>B. Bridge, order reversed</a:t>
                      </a:r>
                    </a:p>
                  </a:txBody>
                  <a:tcPr marL="101600" marR="101600" marT="38100" marB="38100" anchor="ctr">
                    <a:solidFill>
                      <a:srgbClr val="FFFFFF"/>
                    </a:solidFill>
                  </a:tcPr>
                </a:tc>
                <a:tc>
                  <a:txBody>
                    <a:bodyPr/>
                    <a:lstStyle/>
                    <a:p>
                      <a:r>
                        <a:rPr sz="1400" b="0" i="0">
                          <a:solidFill>
                            <a:srgbClr val="1A1440"/>
                          </a:solidFill>
                          <a:latin typeface="Calibri"/>
                        </a:rPr>
                        <a:t>-Rs 60,88,372</a:t>
                      </a:r>
                    </a:p>
                  </a:txBody>
                  <a:tcPr marL="101600" marR="101600" marT="38100" marB="38100" anchor="ctr">
                    <a:solidFill>
                      <a:srgbClr val="FFFFFF"/>
                    </a:solidFill>
                  </a:tcPr>
                </a:tc>
                <a:tc>
                  <a:txBody>
                    <a:bodyPr/>
                    <a:lstStyle/>
                    <a:p>
                      <a:r>
                        <a:rPr sz="1400" b="0" i="0">
                          <a:solidFill>
                            <a:srgbClr val="1A1440"/>
                          </a:solidFill>
                          <a:latin typeface="Calibri"/>
                        </a:rPr>
                        <a:t>yes</a:t>
                      </a:r>
                    </a:p>
                  </a:txBody>
                  <a:tcPr marL="101600" marR="101600" marT="38100" marB="38100" anchor="ctr">
                    <a:solidFill>
                      <a:srgbClr val="FFFFFF"/>
                    </a:solidFill>
                  </a:tcPr>
                </a:tc>
              </a:tr>
              <a:tr h="369824">
                <a:tc>
                  <a:txBody>
                    <a:bodyPr/>
                    <a:lstStyle/>
                    <a:p>
                      <a:r>
                        <a:rPr sz="1400" b="0" i="0">
                          <a:solidFill>
                            <a:srgbClr val="1A1440"/>
                          </a:solidFill>
                          <a:latin typeface="Calibri"/>
                        </a:rPr>
                        <a:t>C. Symmetric (log-mean) split</a:t>
                      </a:r>
                    </a:p>
                  </a:txBody>
                  <a:tcPr marL="101600" marR="101600" marT="38100" marB="38100" anchor="ctr">
                    <a:solidFill>
                      <a:srgbClr val="F4F2FA"/>
                    </a:solidFill>
                  </a:tcPr>
                </a:tc>
                <a:tc>
                  <a:txBody>
                    <a:bodyPr/>
                    <a:lstStyle/>
                    <a:p>
                      <a:r>
                        <a:rPr sz="1400" b="0" i="0">
                          <a:solidFill>
                            <a:srgbClr val="1A1440"/>
                          </a:solidFill>
                          <a:latin typeface="Calibri"/>
                        </a:rPr>
                        <a:t>-Rs 55,88,480</a:t>
                      </a:r>
                    </a:p>
                  </a:txBody>
                  <a:tcPr marL="101600" marR="101600" marT="38100" marB="38100" anchor="ctr">
                    <a:solidFill>
                      <a:srgbClr val="F4F2FA"/>
                    </a:solidFill>
                  </a:tcPr>
                </a:tc>
                <a:tc>
                  <a:txBody>
                    <a:bodyPr/>
                    <a:lstStyle/>
                    <a:p>
                      <a:r>
                        <a:rPr sz="1400" b="0" i="0">
                          <a:solidFill>
                            <a:srgbClr val="1A1440"/>
                          </a:solidFill>
                          <a:latin typeface="Calibri"/>
                        </a:rPr>
                        <a:t>no</a:t>
                      </a:r>
                    </a:p>
                  </a:txBody>
                  <a:tcPr marL="101600" marR="101600" marT="38100" marB="38100" anchor="ctr">
                    <a:solidFill>
                      <a:srgbClr val="F4F2FA"/>
                    </a:solidFill>
                  </a:tcPr>
                </a:tc>
              </a:tr>
              <a:tr h="369824">
                <a:tc>
                  <a:txBody>
                    <a:bodyPr/>
                    <a:lstStyle/>
                    <a:p>
                      <a:r>
                        <a:rPr sz="1400" b="0" i="0">
                          <a:solidFill>
                            <a:srgbClr val="1A1440"/>
                          </a:solidFill>
                          <a:latin typeface="Calibri"/>
                        </a:rPr>
                        <a:t>D. Customer by customer</a:t>
                      </a:r>
                    </a:p>
                  </a:txBody>
                  <a:tcPr marL="101600" marR="101600" marT="38100" marB="38100" anchor="ctr">
                    <a:solidFill>
                      <a:srgbClr val="FFFFFF"/>
                    </a:solidFill>
                  </a:tcPr>
                </a:tc>
                <a:tc>
                  <a:txBody>
                    <a:bodyPr/>
                    <a:lstStyle/>
                    <a:p>
                      <a:r>
                        <a:rPr sz="1400" b="0" i="0">
                          <a:solidFill>
                            <a:srgbClr val="1A1440"/>
                          </a:solidFill>
                          <a:latin typeface="Calibri"/>
                        </a:rPr>
                        <a:t>69 rows before any total</a:t>
                      </a:r>
                    </a:p>
                  </a:txBody>
                  <a:tcPr marL="101600" marR="101600" marT="38100" marB="38100" anchor="ctr">
                    <a:solidFill>
                      <a:srgbClr val="FFFFFF"/>
                    </a:solidFill>
                  </a:tcPr>
                </a:tc>
                <a:tc>
                  <a:txBody>
                    <a:bodyPr/>
                    <a:lstStyle/>
                    <a:p>
                      <a:r>
                        <a:rPr sz="1400" b="0" i="0">
                          <a:solidFill>
                            <a:srgbClr val="1A1440"/>
                          </a:solidFill>
                          <a:latin typeface="Calibri"/>
                        </a:rPr>
                        <a:t>no</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with its order written beside it: it adds exactly and a CEO can follow it. </a:t>
            </a:r>
            <a:r>
              <a:rPr sz="1500" b="1" i="0">
                <a:solidFill>
                  <a:srgbClr val="1A1440"/>
                </a:solidFill>
                <a:latin typeface="Calibri"/>
              </a:rPr>
              <a:t>What would change it:</a:t>
            </a:r>
            <a:r>
              <a:rPr sz="1500" b="0" i="0">
                <a:solidFill>
                  <a:srgbClr val="1A1440"/>
                </a:solidFill>
                <a:latin typeface="Calibri"/>
              </a:rPr>
              <a:t> a split Finance rebuilds monthly goes symmetric; "which customers?" goes to D, in chapter 5.</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60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customers bought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Orders fell from 114 to 86, and Marketing says customers are the problem.</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69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CUSTOMERS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distinct ids, April to June</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114 to 86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down 24.6 percent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Q2's customer count: a) 52, since orders fell by a quarter; b) 69; c) 81; d) 86.</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60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69 customers, and the tree filled 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branch Marketing wants to fund did not move, and the other two multiply back to the fall.</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569394"/>
                <a:gridCol w="3405530"/>
                <a:gridCol w="3241665"/>
                <a:gridCol w="914400"/>
              </a:tblGrid>
              <a:tr h="335280">
                <a:tc>
                  <a:txBody>
                    <a:bodyPr/>
                    <a:lstStyle/>
                    <a:p>
                      <a:r>
                        <a:rPr sz="1250" b="1" i="0">
                          <a:solidFill>
                            <a:srgbClr val="FFFFFF"/>
                          </a:solidFill>
                          <a:latin typeface="Calibri"/>
                        </a:rPr>
                        <a:t>Branch</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Ratio</a:t>
                      </a:r>
                    </a:p>
                  </a:txBody>
                  <a:tcPr marL="101600" marR="101600" marT="38100" marB="38100" anchor="ctr">
                    <a:solidFill>
                      <a:srgbClr val="1A0F5C"/>
                    </a:solidFill>
                  </a:tcPr>
                </a:tc>
              </a:tr>
              <a:tr h="335280">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1.65 (114 over 69)</a:t>
                      </a:r>
                    </a:p>
                  </a:txBody>
                  <a:tcPr marL="101600" marR="101600" marT="38100" marB="38100" anchor="ctr">
                    <a:solidFill>
                      <a:srgbClr val="F4F2FA"/>
                    </a:solidFill>
                  </a:tcPr>
                </a:tc>
                <a:tc>
                  <a:txBody>
                    <a:bodyPr/>
                    <a:lstStyle/>
                    <a:p>
                      <a:r>
                        <a:rPr sz="1200" b="0" i="0">
                          <a:solidFill>
                            <a:srgbClr val="1A1440"/>
                          </a:solidFill>
                          <a:latin typeface="Calibri"/>
                        </a:rPr>
                        <a:t>1.25 (86 over 69)</a:t>
                      </a:r>
                    </a:p>
                  </a:txBody>
                  <a:tcPr marL="101600" marR="101600" marT="38100" marB="38100" anchor="ctr">
                    <a:solidFill>
                      <a:srgbClr val="F4F2FA"/>
                    </a:solidFill>
                  </a:tcPr>
                </a:tc>
                <a:tc>
                  <a:txBody>
                    <a:bodyPr/>
                    <a:lstStyle/>
                    <a:p>
                      <a:r>
                        <a:rPr sz="1200" b="0" i="0">
                          <a:solidFill>
                            <a:srgbClr val="1A1440"/>
                          </a:solidFill>
                          <a:latin typeface="Calibri"/>
                        </a:rPr>
                        <a:t>0.754</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Rs 1,84,211</a:t>
                      </a:r>
                    </a:p>
                  </a:txBody>
                  <a:tcPr marL="101600" marR="101600" marT="38100" marB="38100" anchor="ctr">
                    <a:solidFill>
                      <a:srgbClr val="FFFFFF"/>
                    </a:solidFill>
                  </a:tcPr>
                </a:tc>
                <a:tc>
                  <a:txBody>
                    <a:bodyPr/>
                    <a:lstStyle/>
                    <a:p>
                      <a:r>
                        <a:rPr sz="1200" b="0" i="0">
                          <a:solidFill>
                            <a:srgbClr val="1A1440"/>
                          </a:solidFill>
                          <a:latin typeface="Calibri"/>
                        </a:rPr>
                        <a:t>Rs 2,17,442</a:t>
                      </a:r>
                    </a:p>
                  </a:txBody>
                  <a:tcPr marL="101600" marR="101600" marT="38100" marB="38100" anchor="ctr">
                    <a:solidFill>
                      <a:srgbClr val="FFFFFF"/>
                    </a:solidFill>
                  </a:tcPr>
                </a:tc>
                <a:tc>
                  <a:txBody>
                    <a:bodyPr/>
                    <a:lstStyle/>
                    <a:p>
                      <a:r>
                        <a:rPr sz="1200" b="0" i="0">
                          <a:solidFill>
                            <a:srgbClr val="1A1440"/>
                          </a:solidFill>
                          <a:latin typeface="Calibri"/>
                        </a:rPr>
                        <a:t>1.180</a:t>
                      </a:r>
                    </a:p>
                  </a:txBody>
                  <a:tcPr marL="101600" marR="101600" marT="38100" marB="38100" anchor="ctr">
                    <a:solidFill>
                      <a:srgbClr val="FFFFFF"/>
                    </a:solidFill>
                  </a:tcPr>
                </a:tc>
              </a:tr>
              <a:tr h="335280">
                <a:tc>
                  <a:txBody>
                    <a:bodyPr/>
                    <a:lstStyle/>
                    <a:p>
                      <a:r>
                        <a:rPr sz="1200" b="0" i="0">
                          <a:solidFill>
                            <a:srgbClr val="1A1440"/>
                          </a:solidFill>
                          <a:latin typeface="Calibri"/>
                        </a:rPr>
                        <a:t>Revenue</a:t>
                      </a:r>
                    </a:p>
                  </a:txBody>
                  <a:tcPr marL="101600" marR="101600" marT="38100" marB="38100" anchor="ctr">
                    <a:solidFill>
                      <a:srgbClr val="F4F2FA"/>
                    </a:solidFill>
                  </a:tcPr>
                </a:tc>
                <a:tc>
                  <a:txBody>
                    <a:bodyPr/>
                    <a:lstStyle/>
                    <a:p>
                      <a:r>
                        <a:rPr sz="1200" b="0" i="0">
                          <a:solidFill>
                            <a:srgbClr val="1A1440"/>
                          </a:solidFill>
                          <a:latin typeface="Calibri"/>
                        </a:rPr>
                        <a:t>Rs 2,10,00,000</a:t>
                      </a:r>
                    </a:p>
                  </a:txBody>
                  <a:tcPr marL="101600" marR="101600" marT="38100" marB="38100" anchor="ctr">
                    <a:solidFill>
                      <a:srgbClr val="F4F2FA"/>
                    </a:solidFill>
                  </a:tcPr>
                </a:tc>
                <a:tc>
                  <a:txBody>
                    <a:bodyPr/>
                    <a:lstStyle/>
                    <a:p>
                      <a:r>
                        <a:rPr sz="1200" b="0" i="0">
                          <a:solidFill>
                            <a:srgbClr val="1A1440"/>
                          </a:solidFill>
                          <a:latin typeface="Calibri"/>
                        </a:rPr>
                        <a:t>Rs 1,87,00,000</a:t>
                      </a:r>
                    </a:p>
                  </a:txBody>
                  <a:tcPr marL="101600" marR="101600" marT="38100" marB="38100" anchor="ctr">
                    <a:solidFill>
                      <a:srgbClr val="F4F2FA"/>
                    </a:solidFill>
                  </a:tcPr>
                </a:tc>
                <a:tc>
                  <a:txBody>
                    <a:bodyPr/>
                    <a:lstStyle/>
                    <a:p>
                      <a:r>
                        <a:rPr sz="1200" b="0" i="0">
                          <a:solidFill>
                            <a:srgbClr val="1A1440"/>
                          </a:solidFill>
                          <a:latin typeface="Calibri"/>
                        </a:rPr>
                        <a:t>0.890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1.000 times 0.754 times 1.180 is 0.890, the revenue ratio; adding the percentages would have said minus 6.6. The answer is b.</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60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frequency costs Rs 51,57,895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leaf at a time in the tree's order, and the moves add exactly to the fall.</a:t>
            </a:r>
          </a:p>
        </p:txBody>
      </p:sp>
      <p:pic>
        <p:nvPicPr>
          <p:cNvPr id="9" name="mermaid diagram" descr="a7ceda988e2fd18b.png"/>
          <p:cNvPicPr>
            <a:picLocks noChangeAspect="1"/>
          </p:cNvPicPr>
          <p:nvPr/>
        </p:nvPicPr>
        <p:blipFill>
          <a:blip r:embed="rId5"/>
          <a:stretch>
            <a:fillRect/>
          </a:stretch>
        </p:blipFill>
        <p:spPr>
          <a:xfrm>
            <a:off x="530352" y="1956816"/>
            <a:ext cx="11130991" cy="1129748"/>
          </a:xfrm>
          <a:prstGeom prst="rect">
            <a:avLst/>
          </a:prstGeom>
        </p:spPr>
      </p:pic>
      <p:sp>
        <p:nvSpPr>
          <p:cNvPr id="10" name="Rounded Rectangle 9"/>
          <p:cNvSpPr/>
          <p:nvPr/>
        </p:nvSpPr>
        <p:spPr>
          <a:xfrm>
            <a:off x="530352" y="32328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608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1740"/>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customer branch contributes nothing, so Marketing's case for acquisition has no rupees behind it on this file.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60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missing key,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discount branch stops on a KeyError, and each way past it hides a different decision.</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KeyError: 'discount'</a:t>
            </a:r>
          </a:p>
        </p:txBody>
      </p:sp>
      <p:graphicFrame>
        <p:nvGraphicFramePr>
          <p:cNvPr id="14" name="Table 13"/>
          <p:cNvGraphicFramePr>
            <a:graphicFrameLocks noGrp="1"/>
          </p:cNvGraphicFramePr>
          <p:nvPr/>
        </p:nvGraphicFramePr>
        <p:xfrm>
          <a:off x="530352" y="2831084"/>
          <a:ext cx="11130989" cy="1479296"/>
        </p:xfrm>
        <a:graphic>
          <a:graphicData uri="http://schemas.openxmlformats.org/drawingml/2006/table">
            <a:tbl>
              <a:tblPr firstRow="0" bandRow="0">
                <a:tableStyleId>{2D5ABB26-0587-4C30-8999-92F81FD0307C}</a:tableStyleId>
              </a:tblPr>
              <a:tblGrid>
                <a:gridCol w="3400705"/>
                <a:gridCol w="3400705"/>
                <a:gridCol w="4329579"/>
              </a:tblGrid>
              <a:tr h="369824">
                <a:tc>
                  <a:txBody>
                    <a:bodyPr/>
                    <a:lstStyle/>
                    <a:p>
                      <a:r>
                        <a:rPr sz="1450" b="1" i="0">
                          <a:solidFill>
                            <a:srgbClr val="FFFFFF"/>
                          </a:solidFill>
                          <a:latin typeface="Calibri"/>
                        </a:rPr>
                        <a:t>Way past it</a:t>
                      </a:r>
                    </a:p>
                  </a:txBody>
                  <a:tcPr marL="101600" marR="101600" marT="38100" marB="38100" anchor="ctr">
                    <a:solidFill>
                      <a:srgbClr val="1A0F5C"/>
                    </a:solidFill>
                  </a:tcPr>
                </a:tc>
                <a:tc>
                  <a:txBody>
                    <a:bodyPr/>
                    <a:lstStyle/>
                    <a:p>
                      <a:r>
                        <a:rPr sz="1450" b="1" i="0">
                          <a:solidFill>
                            <a:srgbClr val="FFFFFF"/>
                          </a:solidFill>
                          <a:latin typeface="Calibri"/>
                        </a:rPr>
                        <a:t>Python's name for it</a:t>
                      </a:r>
                    </a:p>
                  </a:txBody>
                  <a:tcPr marL="101600" marR="101600" marT="38100" marB="38100" anchor="ctr">
                    <a:solidFill>
                      <a:srgbClr val="1A0F5C"/>
                    </a:solidFill>
                  </a:tcPr>
                </a:tc>
                <a:tc>
                  <a:txBody>
                    <a:bodyPr/>
                    <a:lstStyle/>
                    <a:p>
                      <a:r>
                        <a:rPr sz="1450" b="1" i="0">
                          <a:solidFill>
                            <a:srgbClr val="FFFFFF"/>
                          </a:solidFill>
                          <a:latin typeface="Calibri"/>
                        </a:rPr>
                        <a:t>The decision it makes quietly</a:t>
                      </a:r>
                    </a:p>
                  </a:txBody>
                  <a:tcPr marL="101600" marR="101600" marT="38100" marB="38100" anchor="ctr">
                    <a:solidFill>
                      <a:srgbClr val="1A0F5C"/>
                    </a:solidFill>
                  </a:tcPr>
                </a:tc>
              </a:tr>
              <a:tr h="369824">
                <a:tc>
                  <a:txBody>
                    <a:bodyPr/>
                    <a:lstStyle/>
                    <a:p>
                      <a:r>
                        <a:rPr sz="1400" b="0" i="0">
                          <a:solidFill>
                            <a:srgbClr val="1A1440"/>
                          </a:solidFill>
                          <a:latin typeface="Calibri"/>
                        </a:rPr>
                        <a:t>if "discount" in order:</a:t>
                      </a:r>
                    </a:p>
                  </a:txBody>
                  <a:tcPr marL="101600" marR="101600" marT="38100" marB="38100" anchor="ctr">
                    <a:solidFill>
                      <a:srgbClr val="FFFFFF"/>
                    </a:solidFill>
                  </a:tcPr>
                </a:tc>
                <a:tc>
                  <a:txBody>
                    <a:bodyPr/>
                    <a:lstStyle/>
                    <a:p>
                      <a:r>
                        <a:rPr sz="1400" b="0" i="0">
                          <a:solidFill>
                            <a:srgbClr val="1A1440"/>
                          </a:solidFill>
                          <a:latin typeface="Calibri"/>
                        </a:rPr>
                        <a:t>Look before you leap</a:t>
                      </a:r>
                    </a:p>
                  </a:txBody>
                  <a:tcPr marL="101600" marR="101600" marT="38100" marB="38100" anchor="ctr">
                    <a:solidFill>
                      <a:srgbClr val="FFFFFF"/>
                    </a:solidFill>
                  </a:tcPr>
                </a:tc>
                <a:tc>
                  <a:txBody>
                    <a:bodyPr/>
                    <a:lstStyle/>
                    <a:p>
                      <a:r>
                        <a:rPr sz="1400" b="0" i="0">
                          <a:solidFill>
                            <a:srgbClr val="1A1440"/>
                          </a:solidFill>
                          <a:latin typeface="Calibri"/>
                        </a:rPr>
                        <a:t>Orders without it are skipped</a:t>
                      </a:r>
                    </a:p>
                  </a:txBody>
                  <a:tcPr marL="101600" marR="101600" marT="38100" marB="38100" anchor="ctr">
                    <a:solidFill>
                      <a:srgbClr val="FFFFFF"/>
                    </a:solidFill>
                  </a:tcPr>
                </a:tc>
              </a:tr>
              <a:tr h="369824">
                <a:tc>
                  <a:txBody>
                    <a:bodyPr/>
                    <a:lstStyle/>
                    <a:p>
                      <a:r>
                        <a:rPr sz="1400" b="0" i="0">
                          <a:solidFill>
                            <a:srgbClr val="1A1440"/>
                          </a:solidFill>
                          <a:latin typeface="Calibri"/>
                        </a:rPr>
                        <a:t>try: ... except KeyError:</a:t>
                      </a:r>
                    </a:p>
                  </a:txBody>
                  <a:tcPr marL="101600" marR="101600" marT="38100" marB="38100" anchor="ctr">
                    <a:solidFill>
                      <a:srgbClr val="F4F2FA"/>
                    </a:solidFill>
                  </a:tcPr>
                </a:tc>
                <a:tc>
                  <a:txBody>
                    <a:bodyPr/>
                    <a:lstStyle/>
                    <a:p>
                      <a:r>
                        <a:rPr sz="1400" b="0" i="0">
                          <a:solidFill>
                            <a:srgbClr val="1A1440"/>
                          </a:solidFill>
                          <a:latin typeface="Calibri"/>
                        </a:rPr>
                        <a:t>Easier to ask forgiveness</a:t>
                      </a:r>
                    </a:p>
                  </a:txBody>
                  <a:tcPr marL="101600" marR="101600" marT="38100" marB="38100" anchor="ctr">
                    <a:solidFill>
                      <a:srgbClr val="F4F2FA"/>
                    </a:solidFill>
                  </a:tcPr>
                </a:tc>
                <a:tc>
                  <a:txBody>
                    <a:bodyPr/>
                    <a:lstStyle/>
                    <a:p>
                      <a:r>
                        <a:rPr sz="1400" b="0" i="0">
                          <a:solidFill>
                            <a:srgbClr val="1A1440"/>
                          </a:solidFill>
                          <a:latin typeface="Calibri"/>
                        </a:rPr>
                        <a:t>Whatever the except branch does</a:t>
                      </a:r>
                    </a:p>
                  </a:txBody>
                  <a:tcPr marL="101600" marR="101600" marT="38100" marB="38100" anchor="ctr">
                    <a:solidFill>
                      <a:srgbClr val="F4F2FA"/>
                    </a:solidFill>
                  </a:tcPr>
                </a:tc>
              </a:tr>
              <a:tr h="369824">
                <a:tc>
                  <a:txBody>
                    <a:bodyPr/>
                    <a:lstStyle/>
                    <a:p>
                      <a:r>
                        <a:rPr sz="1400" b="0" i="0">
                          <a:solidFill>
                            <a:srgbClr val="1A1440"/>
                          </a:solidFill>
                          <a:latin typeface="Calibri"/>
                        </a:rPr>
                        <a:t>order.get("discount", 0)</a:t>
                      </a:r>
                    </a:p>
                  </a:txBody>
                  <a:tcPr marL="101600" marR="101600" marT="38100" marB="38100" anchor="ctr">
                    <a:solidFill>
                      <a:srgbClr val="FFFFFF"/>
                    </a:solidFill>
                  </a:tcPr>
                </a:tc>
                <a:tc>
                  <a:txBody>
                    <a:bodyPr/>
                    <a:lstStyle/>
                    <a:p>
                      <a:r>
                        <a:rPr sz="1400" b="0" i="0">
                          <a:solidFill>
                            <a:srgbClr val="1A1440"/>
                          </a:solidFill>
                          <a:latin typeface="Calibri"/>
                        </a:rPr>
                        <a:t>A default</a:t>
                      </a:r>
                    </a:p>
                  </a:txBody>
                  <a:tcPr marL="101600" marR="101600" marT="38100" marB="38100" anchor="ctr">
                    <a:solidFill>
                      <a:srgbClr val="FFFFFF"/>
                    </a:solidFill>
                  </a:tcPr>
                </a:tc>
                <a:tc>
                  <a:txBody>
                    <a:bodyPr/>
                    <a:lstStyle/>
                    <a:p>
                      <a:r>
                        <a:rPr sz="1400" b="0" i="0">
                          <a:solidFill>
                            <a:srgbClr val="1A1440"/>
                          </a:solidFill>
                          <a:latin typeface="Calibri"/>
                        </a:rPr>
                        <a:t>Absent becomes zero rupees</a:t>
                      </a:r>
                    </a:p>
                  </a:txBody>
                  <a:tcPr marL="101600" marR="101600" marT="38100" marB="38100" anchor="ctr">
                    <a:solidFill>
                      <a:srgbClr val="FFFFFF"/>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60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half had no discount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Reading a missing discount as zero gives a share, a story and a decision.</a:t>
            </a:r>
          </a:p>
        </p:txBody>
      </p:sp>
      <p:pic>
        <p:nvPicPr>
          <p:cNvPr id="9" name="mermaid diagram" descr="a5ab49e5be021e19.png"/>
          <p:cNvPicPr>
            <a:picLocks noChangeAspect="1"/>
          </p:cNvPicPr>
          <p:nvPr/>
        </p:nvPicPr>
        <p:blipFill>
          <a:blip r:embed="rId5"/>
          <a:stretch>
            <a:fillRect/>
          </a:stretch>
        </p:blipFill>
        <p:spPr>
          <a:xfrm>
            <a:off x="780897" y="1956816"/>
            <a:ext cx="10629900" cy="1357312"/>
          </a:xfrm>
          <a:prstGeom prst="rect">
            <a:avLst/>
          </a:prstGeom>
        </p:spPr>
      </p:pic>
      <p:graphicFrame>
        <p:nvGraphicFramePr>
          <p:cNvPr id="10" name="Table 9"/>
          <p:cNvGraphicFramePr>
            <a:graphicFrameLocks noGrp="1"/>
          </p:cNvGraphicFramePr>
          <p:nvPr/>
        </p:nvGraphicFramePr>
        <p:xfrm>
          <a:off x="530352" y="3460432"/>
          <a:ext cx="11130989" cy="1341120"/>
        </p:xfrm>
        <a:graphic>
          <a:graphicData uri="http://schemas.openxmlformats.org/drawingml/2006/table">
            <a:tbl>
              <a:tblPr firstRow="0" bandRow="0">
                <a:tableStyleId>{2D5ABB26-0587-4C30-8999-92F81FD0307C}</a:tableStyleId>
              </a:tblPr>
              <a:tblGrid>
                <a:gridCol w="3491920"/>
                <a:gridCol w="2710802"/>
                <a:gridCol w="2381911"/>
                <a:gridCol w="2546356"/>
              </a:tblGrid>
              <a:tr h="335280">
                <a:tc>
                  <a:txBody>
                    <a:bodyPr/>
                    <a:lstStyle/>
                    <a:p>
                      <a:r>
                        <a:rPr sz="1250" b="1" i="0">
                          <a:solidFill>
                            <a:srgbClr val="FFFFFF"/>
                          </a:solidFill>
                          <a:latin typeface="Calibri"/>
                        </a:rPr>
                        <a:t>Invented order</a:t>
                      </a:r>
                    </a:p>
                  </a:txBody>
                  <a:tcPr marL="101600" marR="101600" marT="38100" marB="38100" anchor="ctr">
                    <a:solidFill>
                      <a:srgbClr val="1A0F5C"/>
                    </a:solidFill>
                  </a:tcPr>
                </a:tc>
                <a:tc>
                  <a:txBody>
                    <a:bodyPr/>
                    <a:lstStyle/>
                    <a:p>
                      <a:r>
                        <a:rPr sz="1250" b="1" i="0">
                          <a:solidFill>
                            <a:srgbClr val="FFFFFF"/>
                          </a:solidFill>
                          <a:latin typeface="Calibri"/>
                        </a:rPr>
                        <a:t>Discount field</a:t>
                      </a:r>
                    </a:p>
                  </a:txBody>
                  <a:tcPr marL="101600" marR="101600" marT="38100" marB="38100" anchor="ctr">
                    <a:solidFill>
                      <a:srgbClr val="1A0F5C"/>
                    </a:solidFill>
                  </a:tcPr>
                </a:tc>
                <a:tc>
                  <a:txBody>
                    <a:bodyPr/>
                    <a:lstStyle/>
                    <a:p>
                      <a:r>
                        <a:rPr sz="1250" b="1" i="0">
                          <a:solidFill>
                            <a:srgbClr val="FFFFFF"/>
                          </a:solidFill>
                          <a:latin typeface="Calibri"/>
                        </a:rPr>
                        <a:t>Read as zero</a:t>
                      </a:r>
                    </a:p>
                  </a:txBody>
                  <a:tcPr marL="101600" marR="101600" marT="38100" marB="38100" anchor="ctr">
                    <a:solidFill>
                      <a:srgbClr val="1A0F5C"/>
                    </a:solidFill>
                  </a:tcPr>
                </a:tc>
                <a:tc>
                  <a:txBody>
                    <a:bodyPr/>
                    <a:lstStyle/>
                    <a:p>
                      <a:r>
                        <a:rPr sz="1250" b="1" i="0">
                          <a:solidFill>
                            <a:srgbClr val="FFFFFF"/>
                          </a:solidFill>
                          <a:latin typeface="Calibri"/>
                        </a:rPr>
                        <a:t>Recorded only</a:t>
                      </a:r>
                    </a:p>
                  </a:txBody>
                  <a:tcPr marL="101600" marR="101600" marT="38100" marB="38100" anchor="ctr">
                    <a:solidFill>
                      <a:srgbClr val="1A0F5C"/>
                    </a:solidFill>
                  </a:tcPr>
                </a:tc>
              </a:tr>
              <a:tr h="335280">
                <a:tc>
                  <a:txBody>
                    <a:bodyPr/>
                    <a:lstStyle/>
                    <a:p>
                      <a:r>
                        <a:rPr sz="1200" b="0" i="0">
                          <a:solidFill>
                            <a:srgbClr val="1A1440"/>
                          </a:solidFill>
                          <a:latin typeface="Calibri"/>
                        </a:rPr>
                        <a:t>A, B</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c>
                  <a:txBody>
                    <a:bodyPr/>
                    <a:lstStyle/>
                    <a:p>
                      <a:r>
                        <a:rPr sz="1200" b="0" i="0">
                          <a:solidFill>
                            <a:srgbClr val="1A1440"/>
                          </a:solidFill>
                          <a:latin typeface="Calibri"/>
                        </a:rPr>
                        <a:t>Rs 100, Rs 0</a:t>
                      </a:r>
                    </a:p>
                  </a:txBody>
                  <a:tcPr marL="101600" marR="101600" marT="38100" marB="38100" anchor="ctr">
                    <a:solidFill>
                      <a:srgbClr val="FFFFFF"/>
                    </a:solidFill>
                  </a:tcPr>
                </a:tc>
              </a:tr>
              <a:tr h="335280">
                <a:tc>
                  <a:txBody>
                    <a:bodyPr/>
                    <a:lstStyle/>
                    <a:p>
                      <a:r>
                        <a:rPr sz="1200" b="0" i="0">
                          <a:solidFill>
                            <a:srgbClr val="1A1440"/>
                          </a:solidFill>
                          <a:latin typeface="Calibri"/>
                        </a:rPr>
                        <a:t>C</a:t>
                      </a:r>
                    </a:p>
                  </a:txBody>
                  <a:tcPr marL="101600" marR="101600" marT="38100" marB="38100" anchor="ctr">
                    <a:solidFill>
                      <a:srgbClr val="F4F2FA"/>
                    </a:solidFill>
                  </a:tcPr>
                </a:tc>
                <a:tc>
                  <a:txBody>
                    <a:bodyPr/>
                    <a:lstStyle/>
                    <a:p>
                      <a:r>
                        <a:rPr sz="1200" b="0" i="0">
                          <a:solidFill>
                            <a:srgbClr val="1A1440"/>
                          </a:solidFill>
                          <a:latin typeface="Calibri"/>
                        </a:rPr>
                        <a:t>absent</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left out</a:t>
                      </a:r>
                    </a:p>
                  </a:txBody>
                  <a:tcPr marL="101600" marR="101600" marT="38100" marB="38100" anchor="ctr">
                    <a:solidFill>
                      <a:srgbClr val="F4F2FA"/>
                    </a:solidFill>
                  </a:tcPr>
                </a:tc>
              </a:tr>
              <a:tr h="335280">
                <a:tc>
                  <a:txBody>
                    <a:bodyPr/>
                    <a:lstStyle/>
                    <a:p>
                      <a:r>
                        <a:rPr sz="1200" b="0" i="0">
                          <a:solidFill>
                            <a:srgbClr val="1A1440"/>
                          </a:solidFill>
                          <a:latin typeface="Calibri"/>
                        </a:rPr>
                        <a:t>Share with a discount</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1 of 3, 33%</a:t>
                      </a:r>
                    </a:p>
                  </a:txBody>
                  <a:tcPr marL="101600" marR="101600" marT="38100" marB="38100" anchor="ctr">
                    <a:solidFill>
                      <a:srgbClr val="FFFFFF"/>
                    </a:solidFill>
                  </a:tcPr>
                </a:tc>
                <a:tc>
                  <a:txBody>
                    <a:bodyPr/>
                    <a:lstStyle/>
                    <a:p>
                      <a:r>
                        <a:rPr sz="1200" b="0" i="0">
                          <a:solidFill>
                            <a:srgbClr val="1A1440"/>
                          </a:solidFill>
                          <a:latin typeface="Calibri"/>
                        </a:rPr>
                        <a:t>1 of 2, 50%</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5" name="Oval 14"/>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60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were the 43 "no discount"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hurried reading says 43 of Q2's 86 orders went without; predict what they are.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42.1%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ABSENT AS ZERO</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with a discount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ABSENT AS ZERO</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with a discount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READ AS NONE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86 orders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43 Q2 orders read as "no discount", how many record Rs 0? a) all 43; b) 34; c) 17; d) none.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8" name="Oval 27"/>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0" name="Oval 2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2" name="Oval 31"/>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60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17 recorded zeros and 26 unknowns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the field is recorded, 71.7 percent of Q2's orders carry a discount, and the branch holds at most Rs 12,900.</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667442"/>
                <a:gridCol w="2808144"/>
                <a:gridCol w="2655404"/>
              </a:tblGrid>
              <a:tr h="369824">
                <a:tc>
                  <a:txBody>
                    <a:bodyPr/>
                    <a:lstStyle/>
                    <a:p>
                      <a:r>
                        <a:rPr sz="1450" b="1" i="0">
                          <a:solidFill>
                            <a:srgbClr val="FFFFFF"/>
                          </a:solidFill>
                          <a:latin typeface="Calibri"/>
                        </a:rPr>
                        <a:t>Share of orders with a discount</a:t>
                      </a:r>
                    </a:p>
                  </a:txBody>
                  <a:tcPr marL="101600" marR="101600" marT="38100" marB="38100" anchor="ctr">
                    <a:solidFill>
                      <a:srgbClr val="1A0F5C"/>
                    </a:solidFill>
                  </a:tcPr>
                </a:tc>
                <a:tc>
                  <a:txBody>
                    <a:bodyPr/>
                    <a:lstStyle/>
                    <a:p>
                      <a:r>
                        <a:rPr sz="1450" b="1" i="0">
                          <a:solidFill>
                            <a:srgbClr val="FFFFFF"/>
                          </a:solidFill>
                          <a:latin typeface="Calibri"/>
                        </a:rPr>
                        <a:t>Q1</a:t>
                      </a:r>
                    </a:p>
                  </a:txBody>
                  <a:tcPr marL="101600" marR="101600" marT="38100" marB="38100" anchor="ctr">
                    <a:solidFill>
                      <a:srgbClr val="1A0F5C"/>
                    </a:solidFill>
                  </a:tcPr>
                </a:tc>
                <a:tc>
                  <a:txBody>
                    <a:bodyPr/>
                    <a:lstStyle/>
                    <a:p>
                      <a:r>
                        <a:rPr sz="1450" b="1" i="0">
                          <a:solidFill>
                            <a:srgbClr val="FFFFFF"/>
                          </a:solidFill>
                          <a:latin typeface="Calibri"/>
                        </a:rPr>
                        <a:t>Q2</a:t>
                      </a:r>
                    </a:p>
                  </a:txBody>
                  <a:tcPr marL="101600" marR="101600" marT="38100" marB="38100" anchor="ctr">
                    <a:solidFill>
                      <a:srgbClr val="1A0F5C"/>
                    </a:solidFill>
                  </a:tcPr>
                </a:tc>
              </a:tr>
              <a:tr h="369824">
                <a:tc>
                  <a:txBody>
                    <a:bodyPr/>
                    <a:lstStyle/>
                    <a:p>
                      <a:r>
                        <a:rPr sz="1400" b="0" i="0">
                          <a:solidFill>
                            <a:srgbClr val="1A1440"/>
                          </a:solidFill>
                          <a:latin typeface="Calibri"/>
                        </a:rPr>
                        <a:t>Blanks read as zero</a:t>
                      </a:r>
                    </a:p>
                  </a:txBody>
                  <a:tcPr marL="101600" marR="101600" marT="38100" marB="38100" anchor="ctr">
                    <a:solidFill>
                      <a:srgbClr val="FFFFFF"/>
                    </a:solidFill>
                  </a:tcPr>
                </a:tc>
                <a:tc>
                  <a:txBody>
                    <a:bodyPr/>
                    <a:lstStyle/>
                    <a:p>
                      <a:r>
                        <a:rPr sz="1400" b="0" i="0">
                          <a:solidFill>
                            <a:srgbClr val="1A1440"/>
                          </a:solidFill>
                          <a:latin typeface="Calibri"/>
                        </a:rPr>
                        <a:t>42.1%, 48 of 114</a:t>
                      </a:r>
                    </a:p>
                  </a:txBody>
                  <a:tcPr marL="101600" marR="101600" marT="38100" marB="38100" anchor="ctr">
                    <a:solidFill>
                      <a:srgbClr val="FFFFFF"/>
                    </a:solidFill>
                  </a:tcPr>
                </a:tc>
                <a:tc>
                  <a:txBody>
                    <a:bodyPr/>
                    <a:lstStyle/>
                    <a:p>
                      <a:r>
                        <a:rPr sz="1400" b="0" i="0">
                          <a:solidFill>
                            <a:srgbClr val="1A1440"/>
                          </a:solidFill>
                          <a:latin typeface="Calibri"/>
                        </a:rPr>
                        <a:t>50.0%, 43 of 86</a:t>
                      </a:r>
                    </a:p>
                  </a:txBody>
                  <a:tcPr marL="101600" marR="101600" marT="38100" marB="38100" anchor="ctr">
                    <a:solidFill>
                      <a:srgbClr val="FFFFFF"/>
                    </a:solidFill>
                  </a:tcPr>
                </a:tc>
              </a:tr>
              <a:tr h="369824">
                <a:tc>
                  <a:txBody>
                    <a:bodyPr/>
                    <a:lstStyle/>
                    <a:p>
                      <a:r>
                        <a:rPr sz="1400" b="0" i="0">
                          <a:solidFill>
                            <a:srgbClr val="1A1440"/>
                          </a:solidFill>
                          <a:latin typeface="Calibri"/>
                        </a:rPr>
                        <a:t>Over orders that record the field</a:t>
                      </a:r>
                    </a:p>
                  </a:txBody>
                  <a:tcPr marL="101600" marR="101600" marT="38100" marB="38100" anchor="ctr">
                    <a:solidFill>
                      <a:srgbClr val="F4F2FA"/>
                    </a:solidFill>
                  </a:tcPr>
                </a:tc>
                <a:tc>
                  <a:txBody>
                    <a:bodyPr/>
                    <a:lstStyle/>
                    <a:p>
                      <a:r>
                        <a:rPr sz="1400" b="0" i="0">
                          <a:solidFill>
                            <a:srgbClr val="1A1440"/>
                          </a:solidFill>
                          <a:latin typeface="Calibri"/>
                        </a:rPr>
                        <a:t>58.5%, 48 of 82</a:t>
                      </a:r>
                    </a:p>
                  </a:txBody>
                  <a:tcPr marL="101600" marR="101600" marT="38100" marB="38100" anchor="ctr">
                    <a:solidFill>
                      <a:srgbClr val="F4F2FA"/>
                    </a:solidFill>
                  </a:tcPr>
                </a:tc>
                <a:tc>
                  <a:txBody>
                    <a:bodyPr/>
                    <a:lstStyle/>
                    <a:p>
                      <a:r>
                        <a:rPr sz="1400" b="0" i="0">
                          <a:solidFill>
                            <a:srgbClr val="1A1440"/>
                          </a:solidFill>
                          <a:latin typeface="Calibri"/>
                        </a:rPr>
                        <a:t>71.7%, 43 of 60</a:t>
                      </a:r>
                    </a:p>
                  </a:txBody>
                  <a:tcPr marL="101600" marR="101600" marT="38100" marB="38100" anchor="ctr">
                    <a:solidFill>
                      <a:srgbClr val="F4F2FA"/>
                    </a:solidFill>
                  </a:tcPr>
                </a:tc>
              </a:tr>
              <a:tr h="369824">
                <a:tc>
                  <a:txBody>
                    <a:bodyPr/>
                    <a:lstStyle/>
                    <a:p>
                      <a:r>
                        <a:rPr sz="1400" b="0" i="0">
                          <a:solidFill>
                            <a:srgbClr val="1A1440"/>
                          </a:solidFill>
                          <a:latin typeface="Calibri"/>
                        </a:rPr>
                        <a:t>Range, blanks unknown</a:t>
                      </a:r>
                    </a:p>
                  </a:txBody>
                  <a:tcPr marL="101600" marR="101600" marT="38100" marB="38100" anchor="ctr">
                    <a:solidFill>
                      <a:srgbClr val="FFFFFF"/>
                    </a:solidFill>
                  </a:tcPr>
                </a:tc>
                <a:tc>
                  <a:txBody>
                    <a:bodyPr/>
                    <a:lstStyle/>
                    <a:p>
                      <a:r>
                        <a:rPr sz="1400" b="0" i="0">
                          <a:solidFill>
                            <a:srgbClr val="1A1440"/>
                          </a:solidFill>
                          <a:latin typeface="Calibri"/>
                        </a:rPr>
                        <a:t>42.1% to 70.2%</a:t>
                      </a:r>
                    </a:p>
                  </a:txBody>
                  <a:tcPr marL="101600" marR="101600" marT="38100" marB="38100" anchor="ctr">
                    <a:solidFill>
                      <a:srgbClr val="FFFFFF"/>
                    </a:solidFill>
                  </a:tcPr>
                </a:tc>
                <a:tc>
                  <a:txBody>
                    <a:bodyPr/>
                    <a:lstStyle/>
                    <a:p>
                      <a:r>
                        <a:rPr sz="1400" b="0" i="0">
                          <a:solidFill>
                            <a:srgbClr val="1A1440"/>
                          </a:solidFill>
                          <a:latin typeface="Calibri"/>
                        </a:rPr>
                        <a:t>50.0% to 80.2%</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The fix. </a:t>
            </a:r>
            <a:r>
              <a:rPr sz="1500" b="0" i="0">
                <a:solidFill>
                  <a:srgbClr val="1A1440"/>
                </a:solidFill>
                <a:latin typeface="Calibri"/>
              </a:rPr>
              <a:t>Write the rule down: "absent means not recorded; reported separately; never counted as zero". At Rs 150 on every Q2 order, the most anyone recorded, the discount branch holds at most Rs 12,900 of a Rs 23,00,000 fall.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60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Kavya's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Twenty-eight lost orders at Q1's Rs 1,84,211 each is the bridge's frequency step, to the rupee.</a:t>
            </a:r>
          </a:p>
        </p:txBody>
      </p:sp>
      <p:pic>
        <p:nvPicPr>
          <p:cNvPr id="9" name="mermaid diagram" descr="7a8e3d83921bd704.png"/>
          <p:cNvPicPr>
            <a:picLocks noChangeAspect="1"/>
          </p:cNvPicPr>
          <p:nvPr/>
        </p:nvPicPr>
        <p:blipFill>
          <a:blip r:embed="rId7"/>
          <a:stretch>
            <a:fillRect/>
          </a:stretch>
        </p:blipFill>
        <p:spPr>
          <a:xfrm>
            <a:off x="2152497" y="1956816"/>
            <a:ext cx="7886700" cy="1600200"/>
          </a:xfrm>
          <a:prstGeom prst="rect">
            <a:avLst/>
          </a:prstGeom>
        </p:spPr>
      </p:pic>
      <p:sp>
        <p:nvSpPr>
          <p:cNvPr id="10" name="Rounded Rectangle 9"/>
          <p:cNvSpPr/>
          <p:nvPr/>
        </p:nvSpPr>
        <p:spPr>
          <a:xfrm>
            <a:off x="530352" y="3703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35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145280"/>
            <a:ext cx="237744" cy="237744"/>
          </a:xfrm>
          <a:prstGeom prst="rect">
            <a:avLst/>
          </a:prstGeom>
        </p:spPr>
      </p:pic>
      <p:sp>
        <p:nvSpPr>
          <p:cNvPr id="13" name="TextBox 12"/>
          <p:cNvSpPr txBox="1"/>
          <p:nvPr/>
        </p:nvSpPr>
        <p:spPr>
          <a:xfrm>
            <a:off x="1399031" y="3849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069080"/>
            <a:ext cx="9987991" cy="682752"/>
          </a:xfrm>
          <a:prstGeom prst="rect">
            <a:avLst/>
          </a:prstGeom>
          <a:noFill/>
        </p:spPr>
        <p:txBody>
          <a:bodyPr wrap="square" anchor="t" lIns="0" rIns="0" tIns="0" bIns="0">
            <a:spAutoFit/>
          </a:bodyPr>
          <a:lstStyle/>
          <a:p>
            <a:r>
              <a:rPr sz="1500" b="0" i="0">
                <a:solidFill>
                  <a:srgbClr val="1A1440"/>
                </a:solidFill>
                <a:latin typeface="Calibri"/>
              </a:rPr>
              <a:t>"Customers held at 69 and the ones we have bought less often. Put the bridge in front of Meera with its order beside it, and do not call bigger orders good news until you know where they came from."</a:t>
            </a:r>
          </a:p>
        </p:txBody>
      </p:sp>
      <p:sp>
        <p:nvSpPr>
          <p:cNvPr id="15" name="Rounded Rectangle 14"/>
          <p:cNvSpPr/>
          <p:nvPr/>
        </p:nvSpPr>
        <p:spPr>
          <a:xfrm>
            <a:off x="530352" y="498957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922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01996"/>
            <a:ext cx="237744" cy="237744"/>
          </a:xfrm>
          <a:prstGeom prst="rect">
            <a:avLst/>
          </a:prstGeom>
        </p:spPr>
      </p:pic>
      <p:sp>
        <p:nvSpPr>
          <p:cNvPr id="18" name="TextBox 17"/>
          <p:cNvSpPr txBox="1"/>
          <p:nvPr/>
        </p:nvSpPr>
        <p:spPr>
          <a:xfrm>
            <a:off x="1399031" y="51358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355336"/>
            <a:ext cx="9987991" cy="423672"/>
          </a:xfrm>
          <a:prstGeom prst="rect">
            <a:avLst/>
          </a:prstGeom>
          <a:noFill/>
        </p:spPr>
        <p:txBody>
          <a:bodyPr wrap="square" anchor="t" lIns="0" rIns="0" tIns="0" bIns="0">
            <a:spAutoFit/>
          </a:bodyPr>
          <a:lstStyle/>
          <a:p>
            <a:r>
              <a:rPr sz="1500" b="0" i="0">
                <a:solidFill>
                  <a:srgbClr val="1A1440"/>
                </a:solidFill>
                <a:latin typeface="Calibri"/>
              </a:rPr>
              <a:t>[F] How do you split a revenue change between customers, frequency and order value?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60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segment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same tree for every segment and quarter means writing it once, as a function that returns its answer.</a:t>
            </a:r>
          </a:p>
        </p:txBody>
      </p:sp>
      <p:sp>
        <p:nvSpPr>
          <p:cNvPr id="10" name="Rounded Rectangle 9"/>
          <p:cNvSpPr/>
          <p:nvPr/>
        </p:nvSpPr>
        <p:spPr>
          <a:xfrm>
            <a:off x="731519"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60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asks if his tier slips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kinds of customer earn money four ways, so each has a different first number to watch.</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"One of my members says the app's reorder button has been broken for six weeks. Is my tier the one slipping?"</a:t>
            </a:r>
          </a:p>
        </p:txBody>
      </p:sp>
      <p:graphicFrame>
        <p:nvGraphicFramePr>
          <p:cNvPr id="14" name="Table 13"/>
          <p:cNvGraphicFramePr>
            <a:graphicFrameLocks noGrp="1"/>
          </p:cNvGraphicFramePr>
          <p:nvPr/>
        </p:nvGraphicFramePr>
        <p:xfrm>
          <a:off x="530352" y="3243072"/>
          <a:ext cx="11130989" cy="1849120"/>
        </p:xfrm>
        <a:graphic>
          <a:graphicData uri="http://schemas.openxmlformats.org/drawingml/2006/table">
            <a:tbl>
              <a:tblPr firstRow="0" bandRow="0">
                <a:tableStyleId>{2D5ABB26-0587-4C30-8999-92F81FD0307C}</a:tableStyleId>
              </a:tblPr>
              <a:tblGrid>
                <a:gridCol w="3466109"/>
                <a:gridCol w="3343999"/>
                <a:gridCol w="4320881"/>
              </a:tblGrid>
              <a:tr h="369824">
                <a:tc>
                  <a:txBody>
                    <a:bodyPr/>
                    <a:lstStyle/>
                    <a:p>
                      <a:r>
                        <a:rPr sz="1450" b="1" i="0">
                          <a:solidFill>
                            <a:srgbClr val="FFFFFF"/>
                          </a:solidFill>
                          <a:latin typeface="Calibri"/>
                        </a:rPr>
                        <a:t>Segment</a:t>
                      </a:r>
                    </a:p>
                  </a:txBody>
                  <a:tcPr marL="101600" marR="101600" marT="38100" marB="38100" anchor="ctr">
                    <a:solidFill>
                      <a:srgbClr val="1A0F5C"/>
                    </a:solidFill>
                  </a:tcPr>
                </a:tc>
                <a:tc>
                  <a:txBody>
                    <a:bodyPr/>
                    <a:lstStyle/>
                    <a:p>
                      <a:r>
                        <a:rPr sz="1450" b="1" i="0">
                          <a:solidFill>
                            <a:srgbClr val="FFFFFF"/>
                          </a:solidFill>
                          <a:latin typeface="Calibri"/>
                        </a:rPr>
                        <a:t>How it earns</a:t>
                      </a:r>
                    </a:p>
                  </a:txBody>
                  <a:tcPr marL="101600" marR="101600" marT="38100" marB="38100" anchor="ctr">
                    <a:solidFill>
                      <a:srgbClr val="1A0F5C"/>
                    </a:solidFill>
                  </a:tcPr>
                </a:tc>
                <a:tc>
                  <a:txBody>
                    <a:bodyPr/>
                    <a:lstStyle/>
                    <a:p>
                      <a:r>
                        <a:rPr sz="1450" b="1" i="0">
                          <a:solidFill>
                            <a:srgbClr val="FFFFFF"/>
                          </a:solidFill>
                          <a:latin typeface="Calibri"/>
                        </a:rPr>
                        <a:t>Watch first</a:t>
                      </a:r>
                    </a:p>
                  </a:txBody>
                  <a:tcPr marL="101600" marR="101600" marT="38100" marB="38100" anchor="ctr">
                    <a:solidFill>
                      <a:srgbClr val="1A0F5C"/>
                    </a:solidFill>
                  </a:tcPr>
                </a:tc>
              </a:tr>
              <a:tr h="369824">
                <a:tc>
                  <a:txBody>
                    <a:bodyPr/>
                    <a:lstStyle/>
                    <a:p>
                      <a:r>
                        <a:rPr sz="1400" b="0" i="0">
                          <a:solidFill>
                            <a:srgbClr val="1A1440"/>
                          </a:solidFill>
                          <a:latin typeface="Calibri"/>
                        </a:rPr>
                        <a:t>Retail-Core</a:t>
                      </a:r>
                    </a:p>
                  </a:txBody>
                  <a:tcPr marL="101600" marR="101600" marT="38100" marB="38100" anchor="ctr">
                    <a:solidFill>
                      <a:srgbClr val="FFFFFF"/>
                    </a:solidFill>
                  </a:tcPr>
                </a:tc>
                <a:tc>
                  <a:txBody>
                    <a:bodyPr/>
                    <a:lstStyle/>
                    <a:p>
                      <a:r>
                        <a:rPr sz="1400" b="0" i="0">
                          <a:solidFill>
                            <a:srgbClr val="1A1440"/>
                          </a:solidFill>
                          <a:latin typeface="Calibri"/>
                        </a:rPr>
                        <a:t>Many small orders</a:t>
                      </a:r>
                    </a:p>
                  </a:txBody>
                  <a:tcPr marL="101600" marR="101600" marT="38100" marB="38100" anchor="ctr">
                    <a:solidFill>
                      <a:srgbClr val="FFFFFF"/>
                    </a:solidFill>
                  </a:tcPr>
                </a:tc>
                <a:tc>
                  <a:txBody>
                    <a:bodyPr/>
                    <a:lstStyle/>
                    <a:p>
                      <a:r>
                        <a:rPr sz="1400" b="0" i="0">
                          <a:solidFill>
                            <a:srgbClr val="1A1440"/>
                          </a:solidFill>
                          <a:latin typeface="Calibri"/>
                        </a:rPr>
                        <a:t>Customers active</a:t>
                      </a:r>
                    </a:p>
                  </a:txBody>
                  <a:tcPr marL="101600" marR="101600" marT="38100" marB="38100" anchor="ctr">
                    <a:solidFill>
                      <a:srgbClr val="FFFFFF"/>
                    </a:solidFill>
                  </a:tcPr>
                </a:tc>
              </a:tr>
              <a:tr h="369824">
                <a:tc>
                  <a:txBody>
                    <a:bodyPr/>
                    <a:lstStyle/>
                    <a:p>
                      <a:r>
                        <a:rPr sz="1400" b="0" i="0">
                          <a:solidFill>
                            <a:srgbClr val="1A1440"/>
                          </a:solidFill>
                          <a:latin typeface="Calibri"/>
                        </a:rPr>
                        <a:t>Retail-Plus, the paid tier</a:t>
                      </a:r>
                    </a:p>
                  </a:txBody>
                  <a:tcPr marL="101600" marR="101600" marT="38100" marB="38100" anchor="ctr">
                    <a:solidFill>
                      <a:srgbClr val="F4F2FA"/>
                    </a:solidFill>
                  </a:tcPr>
                </a:tc>
                <a:tc>
                  <a:txBody>
                    <a:bodyPr/>
                    <a:lstStyle/>
                    <a:p>
                      <a:r>
                        <a:rPr sz="1400" b="0" i="0">
                          <a:solidFill>
                            <a:srgbClr val="1A1440"/>
                          </a:solidFill>
                          <a:latin typeface="Calibri"/>
                        </a:rPr>
                        <a:t>Members' repeat buying</a:t>
                      </a:r>
                    </a:p>
                  </a:txBody>
                  <a:tcPr marL="101600" marR="101600" marT="38100" marB="38100" anchor="ctr">
                    <a:solidFill>
                      <a:srgbClr val="F4F2FA"/>
                    </a:solidFill>
                  </a:tcPr>
                </a:tc>
                <a:tc>
                  <a:txBody>
                    <a:bodyPr/>
                    <a:lstStyle/>
                    <a:p>
                      <a:r>
                        <a:rPr sz="1400" b="0" i="0">
                          <a:solidFill>
                            <a:srgbClr val="1A1440"/>
                          </a:solidFill>
                          <a:latin typeface="Calibri"/>
                        </a:rPr>
                        <a:t>Orders per member</a:t>
                      </a:r>
                    </a:p>
                  </a:txBody>
                  <a:tcPr marL="101600" marR="101600" marT="38100" marB="38100" anchor="ctr">
                    <a:solidFill>
                      <a:srgbClr val="F4F2FA"/>
                    </a:solidFill>
                  </a:tcPr>
                </a:tc>
              </a:tr>
              <a:tr h="369824">
                <a:tc>
                  <a:txBody>
                    <a:bodyPr/>
                    <a:lstStyle/>
                    <a:p>
                      <a:r>
                        <a:rPr sz="1400" b="0" i="0">
                          <a:solidFill>
                            <a:srgbClr val="1A1440"/>
                          </a:solidFill>
                          <a:latin typeface="Calibri"/>
                        </a:rPr>
                        <a:t>Business</a:t>
                      </a:r>
                    </a:p>
                  </a:txBody>
                  <a:tcPr marL="101600" marR="101600" marT="38100" marB="38100" anchor="ctr">
                    <a:solidFill>
                      <a:srgbClr val="FFFFFF"/>
                    </a:solidFill>
                  </a:tcPr>
                </a:tc>
                <a:tc>
                  <a:txBody>
                    <a:bodyPr/>
                    <a:lstStyle/>
                    <a:p>
                      <a:r>
                        <a:rPr sz="1400" b="0" i="0">
                          <a:solidFill>
                            <a:srgbClr val="1A1440"/>
                          </a:solidFill>
                          <a:latin typeface="Calibri"/>
                        </a:rPr>
                        <a:t>Few very large accounts</a:t>
                      </a:r>
                    </a:p>
                  </a:txBody>
                  <a:tcPr marL="101600" marR="101600" marT="38100" marB="38100" anchor="ctr">
                    <a:solidFill>
                      <a:srgbClr val="FFFFFF"/>
                    </a:solidFill>
                  </a:tcPr>
                </a:tc>
                <a:tc>
                  <a:txBody>
                    <a:bodyPr/>
                    <a:lstStyle/>
                    <a:p>
                      <a:r>
                        <a:rPr sz="1400" b="0" i="0">
                          <a:solidFill>
                            <a:srgbClr val="1A1440"/>
                          </a:solidFill>
                          <a:latin typeface="Calibri"/>
                        </a:rPr>
                        <a:t>Order timing per account</a:t>
                      </a:r>
                    </a:p>
                  </a:txBody>
                  <a:tcPr marL="101600" marR="101600" marT="38100" marB="38100" anchor="ctr">
                    <a:solidFill>
                      <a:srgbClr val="FFFFFF"/>
                    </a:solidFill>
                  </a:tcPr>
                </a:tc>
              </a:tr>
              <a:tr h="369824">
                <a:tc>
                  <a:txBody>
                    <a:bodyPr/>
                    <a:lstStyle/>
                    <a:p>
                      <a:r>
                        <a:rPr sz="1400" b="0" i="0">
                          <a:solidFill>
                            <a:srgbClr val="1A1440"/>
                          </a:solidFill>
                          <a:latin typeface="Calibri"/>
                        </a:rPr>
                        <a:t>Student</a:t>
                      </a:r>
                    </a:p>
                  </a:txBody>
                  <a:tcPr marL="101600" marR="101600" marT="38100" marB="38100" anchor="ctr">
                    <a:solidFill>
                      <a:srgbClr val="F4F2FA"/>
                    </a:solidFill>
                  </a:tcPr>
                </a:tc>
                <a:tc>
                  <a:txBody>
                    <a:bodyPr/>
                    <a:lstStyle/>
                    <a:p>
                      <a:r>
                        <a:rPr sz="1400" b="0" i="0">
                          <a:solidFill>
                            <a:srgbClr val="1A1440"/>
                          </a:solidFill>
                          <a:latin typeface="Calibri"/>
                        </a:rPr>
                        <a:t>Small baskets, few buyers</a:t>
                      </a:r>
                    </a:p>
                  </a:txBody>
                  <a:tcPr marL="101600" marR="101600" marT="38100" marB="38100" anchor="ctr">
                    <a:solidFill>
                      <a:srgbClr val="F4F2FA"/>
                    </a:solidFill>
                  </a:tcPr>
                </a:tc>
                <a:tc>
                  <a:txBody>
                    <a:bodyPr/>
                    <a:lstStyle/>
                    <a:p>
                      <a:r>
                        <a:rPr sz="1400" b="0" i="0">
                          <a:solidFill>
                            <a:srgbClr val="1A1440"/>
                          </a:solidFill>
                          <a:latin typeface="Calibri"/>
                        </a:rPr>
                        <a:t>How many orders a figure rests on</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60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Costco reports its renewal rate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blended rate would hide where renewals are weaker, so the segment sits beside the whole.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92.3%</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U.S. AND CANADA</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membership renewal rate, fiscal 2025</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89.8%</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WORLDWIDE</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same measure, all regions</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A membership business reports its rate by segment because the blend can hide the one that slips.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60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Copy, function or group by key: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five numbers for eight groups can be pasted, written once, or gathered in one pass.</a:t>
            </a:r>
          </a:p>
        </p:txBody>
      </p:sp>
      <p:pic>
        <p:nvPicPr>
          <p:cNvPr id="9" name="mermaid diagram" descr="0601c7293ef1a251.png"/>
          <p:cNvPicPr>
            <a:picLocks noChangeAspect="1"/>
          </p:cNvPicPr>
          <p:nvPr/>
        </p:nvPicPr>
        <p:blipFill>
          <a:blip r:embed="rId5"/>
          <a:stretch>
            <a:fillRect/>
          </a:stretch>
        </p:blipFill>
        <p:spPr>
          <a:xfrm>
            <a:off x="530352" y="2093010"/>
            <a:ext cx="4786326" cy="3696107"/>
          </a:xfrm>
          <a:prstGeom prst="rect">
            <a:avLst/>
          </a:prstGeom>
        </p:spPr>
      </p:pic>
      <p:graphicFrame>
        <p:nvGraphicFramePr>
          <p:cNvPr id="10" name="Table 9"/>
          <p:cNvGraphicFramePr>
            <a:graphicFrameLocks noGrp="1"/>
          </p:cNvGraphicFramePr>
          <p:nvPr/>
        </p:nvGraphicFramePr>
        <p:xfrm>
          <a:off x="5761917" y="1956816"/>
          <a:ext cx="5899423" cy="1341120"/>
        </p:xfrm>
        <a:graphic>
          <a:graphicData uri="http://schemas.openxmlformats.org/drawingml/2006/table">
            <a:tbl>
              <a:tblPr firstRow="0" bandRow="0">
                <a:tableStyleId>{2D5ABB26-0587-4C30-8999-92F81FD0307C}</a:tableStyleId>
              </a:tblPr>
              <a:tblGrid>
                <a:gridCol w="2510577"/>
                <a:gridCol w="914400"/>
                <a:gridCol w="1458401"/>
                <a:gridCol w="101604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Lines</a:t>
                      </a:r>
                    </a:p>
                  </a:txBody>
                  <a:tcPr marL="101600" marR="101600" marT="38100" marB="38100" anchor="ctr">
                    <a:solidFill>
                      <a:srgbClr val="1A0F5C"/>
                    </a:solidFill>
                  </a:tcPr>
                </a:tc>
                <a:tc>
                  <a:txBody>
                    <a:bodyPr/>
                    <a:lstStyle/>
                    <a:p>
                      <a:r>
                        <a:rPr sz="1250" b="1" i="0">
                          <a:solidFill>
                            <a:srgbClr val="FFFFFF"/>
                          </a:solidFill>
                          <a:latin typeface="Calibri"/>
                        </a:rPr>
                        <a:t>Places to edit</a:t>
                      </a:r>
                    </a:p>
                  </a:txBody>
                  <a:tcPr marL="101600" marR="101600" marT="38100" marB="38100" anchor="ctr">
                    <a:solidFill>
                      <a:srgbClr val="1A0F5C"/>
                    </a:solidFill>
                  </a:tcPr>
                </a:tc>
                <a:tc>
                  <a:txBody>
                    <a:bodyPr/>
                    <a:lstStyle/>
                    <a:p>
                      <a:r>
                        <a:rPr sz="1250" b="1" i="0">
                          <a:solidFill>
                            <a:srgbClr val="FFFFFF"/>
                          </a:solidFill>
                          <a:latin typeface="Calibri"/>
                        </a:rPr>
                        <a:t>Rows read</a:t>
                      </a:r>
                    </a:p>
                  </a:txBody>
                  <a:tcPr marL="101600" marR="101600" marT="38100" marB="38100" anchor="ctr">
                    <a:solidFill>
                      <a:srgbClr val="1A0F5C"/>
                    </a:solidFill>
                  </a:tcPr>
                </a:tc>
              </a:tr>
              <a:tr h="335280">
                <a:tc>
                  <a:txBody>
                    <a:bodyPr/>
                    <a:lstStyle/>
                    <a:p>
                      <a:r>
                        <a:rPr sz="1200" b="0" i="0">
                          <a:solidFill>
                            <a:srgbClr val="1A1440"/>
                          </a:solidFill>
                          <a:latin typeface="Calibri"/>
                        </a:rPr>
                        <a:t>A. Copy the loop per group</a:t>
                      </a:r>
                    </a:p>
                  </a:txBody>
                  <a:tcPr marL="101600" marR="101600" marT="38100" marB="38100" anchor="ctr">
                    <a:solidFill>
                      <a:srgbClr val="FFFFFF"/>
                    </a:solidFill>
                  </a:tcPr>
                </a:tc>
                <a:tc>
                  <a:txBody>
                    <a:bodyPr/>
                    <a:lstStyle/>
                    <a:p>
                      <a:r>
                        <a:rPr sz="1200" b="0" i="0">
                          <a:solidFill>
                            <a:srgbClr val="1A1440"/>
                          </a:solidFill>
                          <a:latin typeface="Calibri"/>
                        </a:rPr>
                        <a:t>72</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1,600</a:t>
                      </a:r>
                    </a:p>
                  </a:txBody>
                  <a:tcPr marL="101600" marR="101600" marT="38100" marB="38100" anchor="ctr">
                    <a:solidFill>
                      <a:srgbClr val="FFFFFF"/>
                    </a:solidFill>
                  </a:tcPr>
                </a:tc>
              </a:tr>
              <a:tr h="335280">
                <a:tc>
                  <a:txBody>
                    <a:bodyPr/>
                    <a:lstStyle/>
                    <a:p>
                      <a:r>
                        <a:rPr sz="1200" b="0" i="0">
                          <a:solidFill>
                            <a:srgbClr val="1A1440"/>
                          </a:solidFill>
                          <a:latin typeface="Calibri"/>
                        </a:rPr>
                        <a:t>B. A function, tree_for(rows)</a:t>
                      </a:r>
                    </a:p>
                  </a:txBody>
                  <a:tcPr marL="101600" marR="101600" marT="38100" marB="38100" anchor="ctr">
                    <a:solidFill>
                      <a:srgbClr val="F4F2FA"/>
                    </a:solidFill>
                  </a:tcPr>
                </a:tc>
                <a:tc>
                  <a:txBody>
                    <a:bodyPr/>
                    <a:lstStyle/>
                    <a:p>
                      <a:r>
                        <a:rPr sz="1200" b="0" i="0">
                          <a:solidFill>
                            <a:srgbClr val="1A1440"/>
                          </a:solidFill>
                          <a:latin typeface="Calibri"/>
                        </a:rPr>
                        <a:t>21</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r>
              <a:tr h="335280">
                <a:tc>
                  <a:txBody>
                    <a:bodyPr/>
                    <a:lstStyle/>
                    <a:p>
                      <a:r>
                        <a:rPr sz="1200" b="0" i="0">
                          <a:solidFill>
                            <a:srgbClr val="1A1440"/>
                          </a:solidFill>
                          <a:latin typeface="Calibri"/>
                        </a:rPr>
                        <a:t>C. Group by a key in one pass</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r>
            </a:tbl>
          </a:graphicData>
        </a:graphic>
      </p:graphicFrame>
      <p:sp>
        <p:nvSpPr>
          <p:cNvPr id="11" name="Rounded Rectangle 10"/>
          <p:cNvSpPr/>
          <p:nvPr/>
        </p:nvSpPr>
        <p:spPr>
          <a:xfrm>
            <a:off x="5761917" y="3553968"/>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908221" y="368198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109389" y="3672840"/>
            <a:ext cx="5332497"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 same numbers will be asked for a channel, a month and delivered orders today. </a:t>
            </a:r>
            <a:r>
              <a:rPr sz="1500" b="1" i="0">
                <a:solidFill>
                  <a:srgbClr val="1A1440"/>
                </a:solidFill>
                <a:latin typeface="Calibri"/>
              </a:rPr>
              <a:t>What would change it:</a:t>
            </a:r>
            <a:r>
              <a:rPr sz="1500" b="0" i="0">
                <a:solidFill>
                  <a:srgbClr val="1A1440"/>
                </a:solidFill>
                <a:latin typeface="Calibri"/>
              </a:rPr>
              <a:t> millions of rows, every group at once, means C, which is groupby in Week 2.</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6" name="Oval 1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8" name="Oval 17"/>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0" name="Oval 1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2" name="Oval 21"/>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60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tree_for is a metric definition, written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function holds the day's definitions, so every segment and quarter gets the same ones.</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tree_for(rows):</a:t>
            </a:r>
          </a:p>
          <a:p>
            <a:pPr>
              <a:spcAft>
                <a:spcPts val="200"/>
              </a:spcAft>
            </a:pPr>
            <a:r>
              <a:rPr sz="1400" b="0" i="0">
                <a:solidFill>
                  <a:srgbClr val="E4E1F1"/>
                </a:solidFill>
                <a:latin typeface="Consolas"/>
              </a:rPr>
              <a:t>    """Revenue, orders, customers and the two rates for any group of orders."""</a:t>
            </a:r>
          </a:p>
          <a:p>
            <a:pPr>
              <a:spcAft>
                <a:spcPts val="200"/>
              </a:spcAft>
            </a:pPr>
            <a:r>
              <a:rPr sz="1400" b="0" i="0">
                <a:solidFill>
                  <a:srgbClr val="E4E1F1"/>
                </a:solidFill>
                <a:latin typeface="Consolas"/>
              </a:rPr>
              <a:t>    revenue, seen = 0, {}</a:t>
            </a:r>
          </a:p>
          <a:p>
            <a:pPr>
              <a:spcAft>
                <a:spcPts val="200"/>
              </a:spcAft>
            </a:pPr>
            <a:r>
              <a:rPr sz="1400" b="0" i="0">
                <a:solidFill>
                  <a:srgbClr val="E4E1F1"/>
                </a:solidFill>
                <a:latin typeface="Consolas"/>
              </a:rPr>
              <a:t>    for order in rows:</a:t>
            </a:r>
          </a:p>
          <a:p>
            <a:pPr>
              <a:spcAft>
                <a:spcPts val="200"/>
              </a:spcAft>
            </a:pPr>
            <a:r>
              <a:rPr sz="1400" b="0" i="0">
                <a:solidFill>
                  <a:srgbClr val="E4E1F1"/>
                </a:solidFill>
                <a:latin typeface="Consolas"/>
              </a:rPr>
              <a:t>        revenue += order["amount"]</a:t>
            </a:r>
          </a:p>
          <a:p>
            <a:pPr>
              <a:spcAft>
                <a:spcPts val="200"/>
              </a:spcAft>
            </a:pPr>
            <a:r>
              <a:rPr sz="1400" b="0" i="0">
                <a:solidFill>
                  <a:srgbClr val="E4E1F1"/>
                </a:solidFill>
                <a:latin typeface="Consolas"/>
              </a:rPr>
              <a:t>        seen[order["customer_id"]] = True</a:t>
            </a:r>
          </a:p>
          <a:p>
            <a:pPr>
              <a:spcAft>
                <a:spcPts val="200"/>
              </a:spcAft>
            </a:pPr>
            <a:r>
              <a:rPr sz="1400" b="0" i="0">
                <a:solidFill>
                  <a:srgbClr val="E4E1F1"/>
                </a:solidFill>
                <a:latin typeface="Consolas"/>
              </a:rPr>
              <a:t>    return {"revenue": revenue, "orders": len(rows), "customers": len(seen),</a:t>
            </a:r>
          </a:p>
          <a:p>
            <a:pPr>
              <a:spcAft>
                <a:spcPts val="200"/>
              </a:spcAft>
            </a:pPr>
            <a:r>
              <a:rPr sz="1400" b="0" i="0">
                <a:solidFill>
                  <a:srgbClr val="E4E1F1"/>
                </a:solidFill>
                <a:latin typeface="Consolas"/>
              </a:rPr>
              <a:t>            "orders_per_customer": len(rows) / len(seen),</a:t>
            </a:r>
          </a:p>
          <a:p>
            <a:pPr>
              <a:spcAft>
                <a:spcPts val="200"/>
              </a:spcAft>
            </a:pPr>
            <a:r>
              <a:rPr sz="1400" b="0" i="0">
                <a:solidFill>
                  <a:srgbClr val="E4E1F1"/>
                </a:solidFill>
                <a:latin typeface="Consolas"/>
              </a:rPr>
              <a:t>            "revenue_per_order": revenue / len(rows)}</a:t>
            </a:r>
          </a:p>
        </p:txBody>
      </p:sp>
      <p:sp>
        <p:nvSpPr>
          <p:cNvPr id="14" name="Rounded Rectangle 13"/>
          <p:cNvSpPr/>
          <p:nvPr/>
        </p:nvSpPr>
        <p:spPr>
          <a:xfrm>
            <a:off x="530352" y="48508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9789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969764"/>
            <a:ext cx="10564063" cy="624840"/>
          </a:xfrm>
          <a:prstGeom prst="rect">
            <a:avLst/>
          </a:prstGeom>
          <a:noFill/>
        </p:spPr>
        <p:txBody>
          <a:bodyPr wrap="square" anchor="ctr" lIns="0" rIns="0" tIns="0" bIns="0">
            <a:spAutoFit/>
          </a:bodyPr>
          <a:lstStyle/>
          <a:p>
            <a:r>
              <a:rPr sz="1500" b="1">
                <a:solidFill>
                  <a:srgbClr val="5B3FD6"/>
                </a:solidFill>
                <a:latin typeface="Calibri"/>
              </a:rPr>
              <a:t>Test it where the answer is known. </a:t>
            </a:r>
            <a:r>
              <a:rPr sz="1500" b="0" i="0">
                <a:solidFill>
                  <a:srgbClr val="1A1440"/>
                </a:solidFill>
                <a:latin typeface="Calibri"/>
              </a:rPr>
              <a:t>On all of Q1 it returns 114 orders, 69 customers and 1.65; on all of Q2, 86, 69 and 1.25: chapter 2, reproduced.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9" name="Oval 18"/>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1" name="Oval 20"/>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3" name="Oval 22"/>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5" name="Oval 24"/>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60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did Business orders look like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describe returns a group's median, extremes and range; Q1's median Business order was Rs 9,83,780.</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9,83,780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MEDIAN</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Business, 20 orders</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15,80,940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RANGE</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Rs 2,03,060 to Rs 17,84,000</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Predict describe for Business in Q2: a) median and range both fall; b) the median barely moves and the range jumps; c) the median doubles; d) nothing changes.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60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order stretched the range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typical Business order barely changed; one large order stretched the extremes.</a:t>
            </a:r>
          </a:p>
        </p:txBody>
      </p:sp>
      <p:graphicFrame>
        <p:nvGraphicFramePr>
          <p:cNvPr id="9" name="Table 8"/>
          <p:cNvGraphicFramePr>
            <a:graphicFrameLocks noGrp="1"/>
          </p:cNvGraphicFramePr>
          <p:nvPr/>
        </p:nvGraphicFramePr>
        <p:xfrm>
          <a:off x="530352" y="1919668"/>
          <a:ext cx="11130989" cy="1243584"/>
        </p:xfrm>
        <a:graphic>
          <a:graphicData uri="http://schemas.openxmlformats.org/drawingml/2006/table">
            <a:tbl>
              <a:tblPr firstRow="0" bandRow="0">
                <a:tableStyleId>{2D5ABB26-0587-4C30-8999-92F81FD0307C}</a:tableStyleId>
              </a:tblPr>
              <a:tblGrid>
                <a:gridCol w="2567971"/>
                <a:gridCol w="2242554"/>
                <a:gridCol w="2405262"/>
                <a:gridCol w="3915202"/>
              </a:tblGrid>
              <a:tr h="310896">
                <a:tc>
                  <a:txBody>
                    <a:bodyPr/>
                    <a:lstStyle/>
                    <a:p>
                      <a:r>
                        <a:rPr sz="950" b="1" i="0">
                          <a:solidFill>
                            <a:srgbClr val="FFFFFF"/>
                          </a:solidFill>
                          <a:latin typeface="Calibri"/>
                        </a:rPr>
                        <a:t>Business</a:t>
                      </a:r>
                    </a:p>
                  </a:txBody>
                  <a:tcPr marL="101600" marR="101600" marT="38100" marB="38100" anchor="ctr">
                    <a:solidFill>
                      <a:srgbClr val="1A0F5C"/>
                    </a:solidFill>
                  </a:tcPr>
                </a:tc>
                <a:tc>
                  <a:txBody>
                    <a:bodyPr/>
                    <a:lstStyle/>
                    <a:p>
                      <a:r>
                        <a:rPr sz="950" b="1" i="0">
                          <a:solidFill>
                            <a:srgbClr val="FFFFFF"/>
                          </a:solidFill>
                          <a:latin typeface="Calibri"/>
                        </a:rPr>
                        <a:t>Median</a:t>
                      </a:r>
                    </a:p>
                  </a:txBody>
                  <a:tcPr marL="101600" marR="101600" marT="38100" marB="38100" anchor="ctr">
                    <a:solidFill>
                      <a:srgbClr val="1A0F5C"/>
                    </a:solidFill>
                  </a:tcPr>
                </a:tc>
                <a:tc>
                  <a:txBody>
                    <a:bodyPr/>
                    <a:lstStyle/>
                    <a:p>
                      <a:r>
                        <a:rPr sz="950" b="1" i="0">
                          <a:solidFill>
                            <a:srgbClr val="FFFFFF"/>
                          </a:solidFill>
                          <a:latin typeface="Calibri"/>
                        </a:rPr>
                        <a:t>Range</a:t>
                      </a:r>
                    </a:p>
                  </a:txBody>
                  <a:tcPr marL="101600" marR="101600" marT="38100" marB="38100" anchor="ctr">
                    <a:solidFill>
                      <a:srgbClr val="1A0F5C"/>
                    </a:solidFill>
                  </a:tcPr>
                </a:tc>
                <a:tc>
                  <a:txBody>
                    <a:bodyPr/>
                    <a:lstStyle/>
                    <a:p>
                      <a:r>
                        <a:rPr sz="950" b="1" i="0">
                          <a:solidFill>
                            <a:srgbClr val="FFFFFF"/>
                          </a:solidFill>
                          <a:latin typeface="Calibri"/>
                        </a:rPr>
                        <a:t>Orders per customer</a:t>
                      </a:r>
                    </a:p>
                  </a:txBody>
                  <a:tcPr marL="101600" marR="101600" marT="38100" marB="38100" anchor="ctr">
                    <a:solidFill>
                      <a:srgbClr val="1A0F5C"/>
                    </a:solidFill>
                  </a:tcPr>
                </a:tc>
              </a:tr>
              <a:tr h="310896">
                <a:tc>
                  <a:txBody>
                    <a:bodyPr/>
                    <a:lstStyle/>
                    <a:p>
                      <a:r>
                        <a:rPr sz="900" b="0" i="0">
                          <a:solidFill>
                            <a:srgbClr val="1A1440"/>
                          </a:solidFill>
                          <a:latin typeface="Calibri"/>
                        </a:rPr>
                        <a:t>Q1, 20 orders</a:t>
                      </a:r>
                    </a:p>
                  </a:txBody>
                  <a:tcPr marL="101600" marR="101600" marT="38100" marB="38100" anchor="ctr">
                    <a:solidFill>
                      <a:srgbClr val="FFFFFF"/>
                    </a:solidFill>
                  </a:tcPr>
                </a:tc>
                <a:tc>
                  <a:txBody>
                    <a:bodyPr/>
                    <a:lstStyle/>
                    <a:p>
                      <a:r>
                        <a:rPr sz="900" b="0" i="0">
                          <a:solidFill>
                            <a:srgbClr val="1A1440"/>
                          </a:solidFill>
                          <a:latin typeface="Calibri"/>
                        </a:rPr>
                        <a:t>Rs 9,83,780</a:t>
                      </a:r>
                    </a:p>
                  </a:txBody>
                  <a:tcPr marL="101600" marR="101600" marT="38100" marB="38100" anchor="ctr">
                    <a:solidFill>
                      <a:srgbClr val="FFFFFF"/>
                    </a:solidFill>
                  </a:tcPr>
                </a:tc>
                <a:tc>
                  <a:txBody>
                    <a:bodyPr/>
                    <a:lstStyle/>
                    <a:p>
                      <a:r>
                        <a:rPr sz="900" b="0" i="0">
                          <a:solidFill>
                            <a:srgbClr val="1A1440"/>
                          </a:solidFill>
                          <a:latin typeface="Calibri"/>
                        </a:rPr>
                        <a:t>Rs 15,80,940</a:t>
                      </a:r>
                    </a:p>
                  </a:txBody>
                  <a:tcPr marL="101600" marR="101600" marT="38100" marB="38100" anchor="ctr">
                    <a:solidFill>
                      <a:srgbClr val="FFFFFF"/>
                    </a:solidFill>
                  </a:tcPr>
                </a:tc>
                <a:tc>
                  <a:txBody>
                    <a:bodyPr/>
                    <a:lstStyle/>
                    <a:p>
                      <a:r>
                        <a:rPr sz="900" b="0" i="0">
                          <a:solidFill>
                            <a:srgbClr val="1A1440"/>
                          </a:solidFill>
                          <a:latin typeface="Calibri"/>
                        </a:rPr>
                        <a:t>1.82</a:t>
                      </a:r>
                    </a:p>
                  </a:txBody>
                  <a:tcPr marL="101600" marR="101600" marT="38100" marB="38100" anchor="ctr">
                    <a:solidFill>
                      <a:srgbClr val="FFFFFF"/>
                    </a:solidFill>
                  </a:tcPr>
                </a:tc>
              </a:tr>
              <a:tr h="310896">
                <a:tc>
                  <a:txBody>
                    <a:bodyPr/>
                    <a:lstStyle/>
                    <a:p>
                      <a:r>
                        <a:rPr sz="900" b="0" i="0">
                          <a:solidFill>
                            <a:srgbClr val="1A1440"/>
                          </a:solidFill>
                          <a:latin typeface="Calibri"/>
                        </a:rPr>
                        <a:t>Q2, 17 orders</a:t>
                      </a:r>
                    </a:p>
                  </a:txBody>
                  <a:tcPr marL="101600" marR="101600" marT="38100" marB="38100" anchor="ctr">
                    <a:solidFill>
                      <a:srgbClr val="F4F2FA"/>
                    </a:solidFill>
                  </a:tcPr>
                </a:tc>
                <a:tc>
                  <a:txBody>
                    <a:bodyPr/>
                    <a:lstStyle/>
                    <a:p>
                      <a:r>
                        <a:rPr sz="900" b="0" i="0">
                          <a:solidFill>
                            <a:srgbClr val="1A1440"/>
                          </a:solidFill>
                          <a:latin typeface="Calibri"/>
                        </a:rPr>
                        <a:t>Rs 9,52,000</a:t>
                      </a:r>
                    </a:p>
                  </a:txBody>
                  <a:tcPr marL="101600" marR="101600" marT="38100" marB="38100" anchor="ctr">
                    <a:solidFill>
                      <a:srgbClr val="F4F2FA"/>
                    </a:solidFill>
                  </a:tcPr>
                </a:tc>
                <a:tc>
                  <a:txBody>
                    <a:bodyPr/>
                    <a:lstStyle/>
                    <a:p>
                      <a:r>
                        <a:rPr sz="900" b="0" i="0">
                          <a:solidFill>
                            <a:srgbClr val="1A1440"/>
                          </a:solidFill>
                          <a:latin typeface="Calibri"/>
                        </a:rPr>
                        <a:t>Rs 27,28,460</a:t>
                      </a:r>
                    </a:p>
                  </a:txBody>
                  <a:tcPr marL="101600" marR="101600" marT="38100" marB="38100" anchor="ctr">
                    <a:solidFill>
                      <a:srgbClr val="F4F2FA"/>
                    </a:solidFill>
                  </a:tcPr>
                </a:tc>
                <a:tc>
                  <a:txBody>
                    <a:bodyPr/>
                    <a:lstStyle/>
                    <a:p>
                      <a:r>
                        <a:rPr sz="900" b="0" i="0">
                          <a:solidFill>
                            <a:srgbClr val="1A1440"/>
                          </a:solidFill>
                          <a:latin typeface="Calibri"/>
                        </a:rPr>
                        <a:t>1.55</a:t>
                      </a:r>
                    </a:p>
                  </a:txBody>
                  <a:tcPr marL="101600" marR="101600" marT="38100" marB="38100" anchor="ctr">
                    <a:solidFill>
                      <a:srgbClr val="F4F2FA"/>
                    </a:solidFill>
                  </a:tcPr>
                </a:tc>
              </a:tr>
              <a:tr h="310896">
                <a:tc>
                  <a:txBody>
                    <a:bodyPr/>
                    <a:lstStyle/>
                    <a:p>
                      <a:r>
                        <a:rPr sz="900" b="0" i="0">
                          <a:solidFill>
                            <a:srgbClr val="1A1440"/>
                          </a:solidFill>
                          <a:latin typeface="Calibri"/>
                        </a:rPr>
                        <a:t>Change</a:t>
                      </a:r>
                    </a:p>
                  </a:txBody>
                  <a:tcPr marL="101600" marR="101600" marT="38100" marB="38100" anchor="ctr">
                    <a:solidFill>
                      <a:srgbClr val="FFFFFF"/>
                    </a:solidFill>
                  </a:tcPr>
                </a:tc>
                <a:tc>
                  <a:txBody>
                    <a:bodyPr/>
                    <a:lstStyle/>
                    <a:p>
                      <a:r>
                        <a:rPr sz="900" b="0" i="0">
                          <a:solidFill>
                            <a:srgbClr val="1A1440"/>
                          </a:solidFill>
                          <a:latin typeface="Calibri"/>
                        </a:rPr>
                        <a:t>-3.2%</a:t>
                      </a:r>
                    </a:p>
                  </a:txBody>
                  <a:tcPr marL="101600" marR="101600" marT="38100" marB="38100" anchor="ctr">
                    <a:solidFill>
                      <a:srgbClr val="FFFFFF"/>
                    </a:solidFill>
                  </a:tcPr>
                </a:tc>
                <a:tc>
                  <a:txBody>
                    <a:bodyPr/>
                    <a:lstStyle/>
                    <a:p>
                      <a:r>
                        <a:rPr sz="900" b="0" i="0">
                          <a:solidFill>
                            <a:srgbClr val="1A1440"/>
                          </a:solidFill>
                          <a:latin typeface="Calibri"/>
                        </a:rPr>
                        <a:t>+72.6%</a:t>
                      </a:r>
                    </a:p>
                  </a:txBody>
                  <a:tcPr marL="101600" marR="101600" marT="38100" marB="38100" anchor="ctr">
                    <a:solidFill>
                      <a:srgbClr val="FFFFFF"/>
                    </a:solidFill>
                  </a:tcPr>
                </a:tc>
                <a:tc>
                  <a:txBody>
                    <a:bodyPr/>
                    <a:lstStyle/>
                    <a:p>
                      <a:r>
                        <a:rPr sz="900" b="0" i="0">
                          <a:solidFill>
                            <a:srgbClr val="1A1440"/>
                          </a:solidFill>
                          <a:latin typeface="Calibri"/>
                        </a:rPr>
                        <a:t>-15.0%</a:t>
                      </a:r>
                    </a:p>
                  </a:txBody>
                  <a:tcPr marL="101600" marR="101600" marT="38100" marB="38100" anchor="ctr">
                    <a:solidFill>
                      <a:srgbClr val="FFFFFF"/>
                    </a:solidFill>
                  </a:tcPr>
                </a:tc>
              </a:tr>
            </a:tbl>
          </a:graphicData>
        </a:graphic>
      </p:graphicFrame>
      <p:pic>
        <p:nvPicPr>
          <p:cNvPr id="10" name="mermaid diagram" descr="8d841d31d1404275.png"/>
          <p:cNvPicPr>
            <a:picLocks noChangeAspect="1"/>
          </p:cNvPicPr>
          <p:nvPr/>
        </p:nvPicPr>
        <p:blipFill>
          <a:blip r:embed="rId5"/>
          <a:stretch>
            <a:fillRect/>
          </a:stretch>
        </p:blipFill>
        <p:spPr>
          <a:xfrm>
            <a:off x="3524097" y="3419284"/>
            <a:ext cx="5143500" cy="2543175"/>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3" name="Oval 12"/>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5" name="Oval 14"/>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17" name="Oval 16"/>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19" name="Oval 18"/>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60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frequency fell 6.0%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Averaging the four segments' orders per customer gives a softer story and a different decision.</a:t>
            </a:r>
          </a:p>
        </p:txBody>
      </p:sp>
      <p:pic>
        <p:nvPicPr>
          <p:cNvPr id="9" name="mermaid diagram" descr="6e4528260c9d3c3e.png"/>
          <p:cNvPicPr>
            <a:picLocks noChangeAspect="1"/>
          </p:cNvPicPr>
          <p:nvPr/>
        </p:nvPicPr>
        <p:blipFill>
          <a:blip r:embed="rId6"/>
          <a:stretch>
            <a:fillRect/>
          </a:stretch>
        </p:blipFill>
        <p:spPr>
          <a:xfrm>
            <a:off x="3151479" y="1664208"/>
            <a:ext cx="5888736"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Averaged, the segments say 1.94 to 1.82, minus 6.0 percent: "frequency is not the branch, so Marketing may be right", and the Rs 12 crore goes back on the table. </a:t>
            </a:r>
            <a:r>
              <a:rPr sz="1500" b="1" i="0">
                <a:solidFill>
                  <a:srgbClr val="1A1440"/>
                </a:solidFill>
                <a:latin typeface="Calibri"/>
              </a:rPr>
              <a:t>The check:</a:t>
            </a:r>
            <a:r>
              <a:rPr sz="1500" b="0" i="0">
                <a:solidFill>
                  <a:srgbClr val="1A1440"/>
                </a:solidFill>
                <a:latin typeface="Calibri"/>
              </a:rPr>
              <a:t> a roll-up must reproduce 1.65 and 1.25.</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60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ratio of totals, never a mean of ratios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segment's rate carries its own denominator, and the roll-up must carry it too.</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5028018"/>
                <a:gridCol w="1807398"/>
                <a:gridCol w="3381174"/>
                <a:gridCol w="914400"/>
              </a:tblGrid>
              <a:tr h="335280">
                <a:tc>
                  <a:txBody>
                    <a:bodyPr/>
                    <a:lstStyle/>
                    <a:p>
                      <a:r>
                        <a:rPr sz="1250" b="1" i="0">
                          <a:solidFill>
                            <a:srgbClr val="FFFFFF"/>
                          </a:solidFill>
                          <a:latin typeface="Calibri"/>
                        </a:rPr>
                        <a:t>Invented group</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 per customer</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r>
              <a:tr h="335280">
                <a:tc>
                  <a:txBody>
                    <a:bodyPr/>
                    <a:lstStyle/>
                    <a:p>
                      <a:r>
                        <a:rPr sz="1200" b="0" i="0">
                          <a:solidFill>
                            <a:srgbClr val="1A1440"/>
                          </a:solidFill>
                          <a:latin typeface="Calibri"/>
                        </a:rPr>
                        <a:t>Large</a:t>
                      </a:r>
                    </a:p>
                  </a:txBody>
                  <a:tcPr marL="101600" marR="101600" marT="38100" marB="38100" anchor="ctr">
                    <a:solidFill>
                      <a:srgbClr val="FFFFFF"/>
                    </a:solidFill>
                  </a:tcPr>
                </a:tc>
                <a:tc>
                  <a:txBody>
                    <a:bodyPr/>
                    <a:lstStyle/>
                    <a:p>
                      <a:r>
                        <a:rPr sz="1200" b="0" i="0">
                          <a:solidFill>
                            <a:srgbClr val="1A1440"/>
                          </a:solidFill>
                          <a:latin typeface="Calibri"/>
                        </a:rPr>
                        <a:t>30</a:t>
                      </a:r>
                    </a:p>
                  </a:txBody>
                  <a:tcPr marL="101600" marR="101600" marT="38100" marB="38100" anchor="ctr">
                    <a:solidFill>
                      <a:srgbClr val="FFFFFF"/>
                    </a:solidFill>
                  </a:tcPr>
                </a:tc>
                <a:tc>
                  <a:txBody>
                    <a:bodyPr/>
                    <a:lstStyle/>
                    <a:p>
                      <a:r>
                        <a:rPr sz="1200" b="0" i="0">
                          <a:solidFill>
                            <a:srgbClr val="1A1440"/>
                          </a:solidFill>
                          <a:latin typeface="Calibri"/>
                        </a:rPr>
                        <a:t>1.1</a:t>
                      </a:r>
                    </a:p>
                  </a:txBody>
                  <a:tcPr marL="101600" marR="101600" marT="38100" marB="38100" anchor="ctr">
                    <a:solidFill>
                      <a:srgbClr val="FFFFFF"/>
                    </a:solidFill>
                  </a:tcPr>
                </a:tc>
                <a:tc>
                  <a:txBody>
                    <a:bodyPr/>
                    <a:lstStyle/>
                    <a:p>
                      <a:r>
                        <a:rPr sz="1200" b="0" i="0">
                          <a:solidFill>
                            <a:srgbClr val="1A1440"/>
                          </a:solidFill>
                          <a:latin typeface="Calibri"/>
                        </a:rPr>
                        <a:t>33</a:t>
                      </a:r>
                    </a:p>
                  </a:txBody>
                  <a:tcPr marL="101600" marR="101600" marT="38100" marB="38100" anchor="ctr">
                    <a:solidFill>
                      <a:srgbClr val="FFFFFF"/>
                    </a:solidFill>
                  </a:tcPr>
                </a:tc>
              </a:tr>
              <a:tr h="335280">
                <a:tc>
                  <a:txBody>
                    <a:bodyPr/>
                    <a:lstStyle/>
                    <a:p>
                      <a:r>
                        <a:rPr sz="1200" b="0" i="0">
                          <a:solidFill>
                            <a:srgbClr val="1A1440"/>
                          </a:solidFill>
                          <a:latin typeface="Calibri"/>
                        </a:rPr>
                        <a:t>Small</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3.5</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r>
              <a:tr h="335280">
                <a:tc>
                  <a:txBody>
                    <a:bodyPr/>
                    <a:lstStyle/>
                    <a:p>
                      <a:r>
                        <a:rPr sz="1200" b="0" i="0">
                          <a:solidFill>
                            <a:srgbClr val="1A1440"/>
                          </a:solidFill>
                          <a:latin typeface="Calibri"/>
                        </a:rPr>
                        <a:t>Mean of the two rates</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2.30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Total orders over total customers</a:t>
                      </a:r>
                    </a:p>
                  </a:txBody>
                  <a:tcPr marL="101600" marR="101600" marT="38100" marB="38100" anchor="ctr">
                    <a:solidFill>
                      <a:srgbClr val="F4F2FA"/>
                    </a:solidFill>
                  </a:tcPr>
                </a:tc>
                <a:tc>
                  <a:txBody>
                    <a:bodyPr/>
                    <a:lstStyle/>
                    <a:p>
                      <a:r>
                        <a:rPr sz="1200" b="0" i="0">
                          <a:solidFill>
                            <a:srgbClr val="1A1440"/>
                          </a:solidFill>
                          <a:latin typeface="Calibri"/>
                        </a:rPr>
                        <a:t>32</a:t>
                      </a:r>
                    </a:p>
                  </a:txBody>
                  <a:tcPr marL="101600" marR="101600" marT="38100" marB="38100" anchor="ctr">
                    <a:solidFill>
                      <a:srgbClr val="F4F2FA"/>
                    </a:solidFill>
                  </a:tcPr>
                </a:tc>
                <a:tc>
                  <a:txBody>
                    <a:bodyPr/>
                    <a:lstStyle/>
                    <a:p>
                      <a:r>
                        <a:rPr sz="1200" b="0" i="0">
                          <a:solidFill>
                            <a:srgbClr val="1A1440"/>
                          </a:solidFill>
                          <a:latin typeface="Calibri"/>
                        </a:rPr>
                        <a:t>1.25</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Weighted by customers the segments give 114 over 69, then 86 over 69, minus 24.6 percent: frequency stays the branch and the acquisition budget stays shut.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60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then your run on all four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pass grouped by key must give tree_for's numbers for all eight groups, and then the room runs the segments.</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ROUTE TWO</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One pass by key</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totals[(quarter, segment)] over 200 orders; all 8 groups agree with tree_for.</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segments in</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Call tree_for on each segment in each quarter.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Four rows out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Count the rows that come back, and check the weighted roll-up.</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One sentence</a:t>
            </a:r>
          </a:p>
        </p:txBody>
      </p:sp>
      <p:sp>
        <p:nvSpPr>
          <p:cNvPr id="29" name="TextBox 28"/>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Name the segment whose orders per customer moved most, with its denominator.</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32" name="Oval 3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4" name="Oval 33"/>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36" name="Oval 3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8" name="Oval 3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60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rungs climbed, and a segment is on your own screen.</a:t>
            </a:r>
          </a:p>
        </p:txBody>
      </p:sp>
      <p:pic>
        <p:nvPicPr>
          <p:cNvPr id="9" name="mermaid diagram" descr="f3d033c7bc91f37e.png"/>
          <p:cNvPicPr>
            <a:picLocks noChangeAspect="1"/>
          </p:cNvPicPr>
          <p:nvPr/>
        </p:nvPicPr>
        <p:blipFill>
          <a:blip r:embed="rId7"/>
          <a:stretch>
            <a:fillRect/>
          </a:stretch>
        </p:blipFill>
        <p:spPr>
          <a:xfrm>
            <a:off x="773753" y="1956816"/>
            <a:ext cx="10644187" cy="1600200"/>
          </a:xfrm>
          <a:prstGeom prst="rect">
            <a:avLst/>
          </a:prstGeom>
        </p:spPr>
      </p:pic>
      <p:sp>
        <p:nvSpPr>
          <p:cNvPr id="10" name="Rounded Rectangle 9"/>
          <p:cNvSpPr/>
          <p:nvPr/>
        </p:nvSpPr>
        <p:spPr>
          <a:xfrm>
            <a:off x="530352" y="37033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0355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145280"/>
            <a:ext cx="237744" cy="237744"/>
          </a:xfrm>
          <a:prstGeom prst="rect">
            <a:avLst/>
          </a:prstGeom>
        </p:spPr>
      </p:pic>
      <p:sp>
        <p:nvSpPr>
          <p:cNvPr id="13" name="TextBox 12"/>
          <p:cNvSpPr txBox="1"/>
          <p:nvPr/>
        </p:nvSpPr>
        <p:spPr>
          <a:xfrm>
            <a:off x="1399031" y="38496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069080"/>
            <a:ext cx="9987991" cy="682752"/>
          </a:xfrm>
          <a:prstGeom prst="rect">
            <a:avLst/>
          </a:prstGeom>
          <a:noFill/>
        </p:spPr>
        <p:txBody>
          <a:bodyPr wrap="square" anchor="t" lIns="0" rIns="0" tIns="0" bIns="0">
            <a:spAutoFit/>
          </a:bodyPr>
          <a:lstStyle/>
          <a:p>
            <a:r>
              <a:rPr sz="1500" b="0" i="0">
                <a:solidFill>
                  <a:srgbClr val="1A1440"/>
                </a:solidFill>
                <a:latin typeface="Calibri"/>
              </a:rPr>
              <a:t>"Two functions, eight groups, no copied loops. Say the segment on your screen with its denominator before anyone draws a conclusion from it."</a:t>
            </a:r>
          </a:p>
        </p:txBody>
      </p:sp>
      <p:sp>
        <p:nvSpPr>
          <p:cNvPr id="15" name="Rounded Rectangle 14"/>
          <p:cNvSpPr/>
          <p:nvPr/>
        </p:nvSpPr>
        <p:spPr>
          <a:xfrm>
            <a:off x="530352" y="498957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922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301996"/>
            <a:ext cx="237744" cy="237744"/>
          </a:xfrm>
          <a:prstGeom prst="rect">
            <a:avLst/>
          </a:prstGeom>
        </p:spPr>
      </p:pic>
      <p:sp>
        <p:nvSpPr>
          <p:cNvPr id="18" name="TextBox 17"/>
          <p:cNvSpPr txBox="1"/>
          <p:nvPr/>
        </p:nvSpPr>
        <p:spPr>
          <a:xfrm>
            <a:off x="1399031" y="51358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355336"/>
            <a:ext cx="9987991" cy="423672"/>
          </a:xfrm>
          <a:prstGeom prst="rect">
            <a:avLst/>
          </a:prstGeom>
          <a:noFill/>
        </p:spPr>
        <p:txBody>
          <a:bodyPr wrap="square" anchor="t" lIns="0" rIns="0" tIns="0" bIns="0">
            <a:spAutoFit/>
          </a:bodyPr>
          <a:lstStyle/>
          <a:p>
            <a:r>
              <a:rPr sz="1500" b="0" i="0">
                <a:solidFill>
                  <a:srgbClr val="1A1440"/>
                </a:solidFill>
                <a:latin typeface="Calibri"/>
              </a:rPr>
              <a:t>The design question: the same metrics for every segment and quarter; copy, function or group by key?</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1" i="0">
                <a:solidFill>
                  <a:srgbClr val="5B3FD6"/>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60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Mix or rate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Revenue per order rose 18 percent, and Marketing reads a price signal into a blend.</a:t>
            </a:r>
          </a:p>
        </p:txBody>
      </p:sp>
      <p:sp>
        <p:nvSpPr>
          <p:cNvPr id="10" name="Rounded Rectangle 9"/>
          <p:cNvSpPr/>
          <p:nvPr/>
        </p:nvSpPr>
        <p:spPr>
          <a:xfrm>
            <a:off x="731519"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wants a price rise on an 18% blend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Revenue per order rose from Rs 1,84,211 to Rs 2,17,442, and the plan is about to raise prices on it.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"Revenue per order is up 18 percent. Our customers are happy to pay more, so the premium range is working. Put a price rise into the plan." (the marketing lead)</a:t>
            </a:r>
          </a:p>
        </p:txBody>
      </p:sp>
      <p:sp>
        <p:nvSpPr>
          <p:cNvPr id="14" name="TextBox 13"/>
          <p:cNvSpPr txBox="1"/>
          <p:nvPr/>
        </p:nvSpPr>
        <p:spPr>
          <a:xfrm>
            <a:off x="53035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+18.0%</a:t>
            </a:r>
          </a:p>
        </p:txBody>
      </p:sp>
      <p:sp>
        <p:nvSpPr>
          <p:cNvPr id="15" name="TextBox 14"/>
          <p:cNvSpPr txBox="1"/>
          <p:nvPr/>
        </p:nvSpPr>
        <p:spPr>
          <a:xfrm>
            <a:off x="53035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PER ORDER</a:t>
            </a:r>
          </a:p>
        </p:txBody>
      </p:sp>
      <p:sp>
        <p:nvSpPr>
          <p:cNvPr id="16" name="TextBox 15"/>
          <p:cNvSpPr txBox="1"/>
          <p:nvPr/>
        </p:nvSpPr>
        <p:spPr>
          <a:xfrm>
            <a:off x="53035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all orders, blended</a:t>
            </a:r>
          </a:p>
        </p:txBody>
      </p:sp>
      <p:sp>
        <p:nvSpPr>
          <p:cNvPr id="17" name="Rectangle 16"/>
          <p:cNvSpPr/>
          <p:nvPr/>
        </p:nvSpPr>
        <p:spPr>
          <a:xfrm>
            <a:off x="53035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26 of 51</a:t>
            </a:r>
          </a:p>
        </p:txBody>
      </p:sp>
      <p:sp>
        <p:nvSpPr>
          <p:cNvPr id="19" name="TextBox 18"/>
          <p:cNvSpPr txBox="1"/>
          <p:nvPr/>
        </p:nvSpPr>
        <p:spPr>
          <a:xfrm>
            <a:off x="433212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 ORDERS KEPT</a:t>
            </a:r>
          </a:p>
        </p:txBody>
      </p:sp>
      <p:sp>
        <p:nvSpPr>
          <p:cNvPr id="20" name="TextBox 19"/>
          <p:cNvSpPr txBox="1"/>
          <p:nvPr/>
        </p:nvSpPr>
        <p:spPr>
          <a:xfrm>
            <a:off x="433212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22 members</a:t>
            </a:r>
          </a:p>
        </p:txBody>
      </p:sp>
      <p:sp>
        <p:nvSpPr>
          <p:cNvPr id="21" name="Rectangle 20"/>
          <p:cNvSpPr/>
          <p:nvPr/>
        </p:nvSpPr>
        <p:spPr>
          <a:xfrm>
            <a:off x="433212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243072"/>
            <a:ext cx="3527450" cy="698500"/>
          </a:xfrm>
          <a:prstGeom prst="rect">
            <a:avLst/>
          </a:prstGeom>
          <a:noFill/>
        </p:spPr>
        <p:txBody>
          <a:bodyPr wrap="square" anchor="t" lIns="0" rIns="0" tIns="0" bIns="0">
            <a:spAutoFit/>
          </a:bodyPr>
          <a:lstStyle/>
          <a:p>
            <a:pPr algn="l"/>
            <a:r>
              <a:rPr sz="4400" b="0" i="0">
                <a:solidFill>
                  <a:srgbClr val="5B3FD6"/>
                </a:solidFill>
                <a:latin typeface="Georgia"/>
              </a:rPr>
              <a:t>1,000x</a:t>
            </a:r>
          </a:p>
        </p:txBody>
      </p:sp>
      <p:sp>
        <p:nvSpPr>
          <p:cNvPr id="23" name="TextBox 22"/>
          <p:cNvSpPr txBox="1"/>
          <p:nvPr/>
        </p:nvSpPr>
        <p:spPr>
          <a:xfrm>
            <a:off x="8133892" y="397814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 SIZE, BUSINESS TO CONSUMER</a:t>
            </a:r>
          </a:p>
        </p:txBody>
      </p:sp>
      <p:sp>
        <p:nvSpPr>
          <p:cNvPr id="24" name="TextBox 23"/>
          <p:cNvSpPr txBox="1"/>
          <p:nvPr/>
        </p:nvSpPr>
        <p:spPr>
          <a:xfrm>
            <a:off x="8133892" y="4179316"/>
            <a:ext cx="3527450" cy="193421"/>
          </a:xfrm>
          <a:prstGeom prst="rect">
            <a:avLst/>
          </a:prstGeom>
          <a:noFill/>
        </p:spPr>
        <p:txBody>
          <a:bodyPr wrap="square" anchor="t" lIns="0" rIns="0" tIns="0" bIns="0">
            <a:spAutoFit/>
          </a:bodyPr>
          <a:lstStyle/>
          <a:p>
            <a:pPr algn="l"/>
            <a:r>
              <a:rPr sz="950" b="0" i="0">
                <a:solidFill>
                  <a:srgbClr val="6B6690"/>
                </a:solidFill>
                <a:latin typeface="Calibri"/>
              </a:rPr>
              <a:t>lakhs against thousands</a:t>
            </a:r>
          </a:p>
        </p:txBody>
      </p:sp>
      <p:sp>
        <p:nvSpPr>
          <p:cNvPr id="25" name="Rectangle 24"/>
          <p:cNvSpPr/>
          <p:nvPr/>
        </p:nvSpPr>
        <p:spPr>
          <a:xfrm>
            <a:off x="8133892" y="443179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8" name="Oval 27"/>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30" name="Oval 29"/>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2" name="Oval 31"/>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34" name="Oval 33"/>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60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Berkeley 1973: a blend moved, the mix did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University-wide admission rates differed by sex while department by department they did not differ significantly.</a:t>
            </a:r>
          </a:p>
        </p:txBody>
      </p:sp>
      <p:pic>
        <p:nvPicPr>
          <p:cNvPr id="9" name="mermaid diagram" descr="7399fa5d65549d13.png"/>
          <p:cNvPicPr>
            <a:picLocks noChangeAspect="1"/>
          </p:cNvPicPr>
          <p:nvPr/>
        </p:nvPicPr>
        <p:blipFill>
          <a:blip r:embed="rId5"/>
          <a:stretch>
            <a:fillRect/>
          </a:stretch>
        </p:blipFill>
        <p:spPr>
          <a:xfrm>
            <a:off x="2152497" y="1956816"/>
            <a:ext cx="7886700" cy="2100262"/>
          </a:xfrm>
          <a:prstGeom prst="rect">
            <a:avLst/>
          </a:prstGeom>
        </p:spPr>
      </p:pic>
      <p:sp>
        <p:nvSpPr>
          <p:cNvPr id="10" name="Rounded Rectangle 9"/>
          <p:cNvSpPr/>
          <p:nvPr/>
        </p:nvSpPr>
        <p:spPr>
          <a:xfrm>
            <a:off x="530352" y="420338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3139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22254"/>
            <a:ext cx="10564063" cy="8915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When groups differ in rate and their shares move, a blended rate can move with no group moving. Swiggy said the same of Instamart's order value, up 14 percent in a quarter to Rs 697, as non-grocery categories took a larger share of gross order value.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60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readings of one rise, and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Only one reading puts rupees on "the mix changed" and on "customers paid more" and makes them add.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5565495"/>
                <a:gridCol w="5565495"/>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can say</a:t>
                      </a:r>
                    </a:p>
                  </a:txBody>
                  <a:tcPr marL="101600" marR="101600" marT="38100" marB="38100" anchor="ctr">
                    <a:solidFill>
                      <a:srgbClr val="1A0F5C"/>
                    </a:solidFill>
                  </a:tcPr>
                </a:tc>
              </a:tr>
              <a:tr h="369824">
                <a:tc>
                  <a:txBody>
                    <a:bodyPr/>
                    <a:lstStyle/>
                    <a:p>
                      <a:r>
                        <a:rPr sz="1400" b="0" i="0">
                          <a:solidFill>
                            <a:srgbClr val="1A1440"/>
                          </a:solidFill>
                          <a:latin typeface="Calibri"/>
                        </a:rPr>
                        <a:t>A. Read the blended change</a:t>
                      </a:r>
                    </a:p>
                  </a:txBody>
                  <a:tcPr marL="101600" marR="101600" marT="38100" marB="38100" anchor="ctr">
                    <a:solidFill>
                      <a:srgbClr val="FFFFFF"/>
                    </a:solidFill>
                  </a:tcPr>
                </a:tc>
                <a:tc>
                  <a:txBody>
                    <a:bodyPr/>
                    <a:lstStyle/>
                    <a:p>
                      <a:r>
                        <a:rPr sz="1400" b="0" i="0">
                          <a:solidFill>
                            <a:srgbClr val="1A1440"/>
                          </a:solidFill>
                          <a:latin typeface="Calibri"/>
                        </a:rPr>
                        <a:t>The size of the rise, nothing about why</a:t>
                      </a:r>
                    </a:p>
                  </a:txBody>
                  <a:tcPr marL="101600" marR="101600" marT="38100" marB="38100" anchor="ctr">
                    <a:solidFill>
                      <a:srgbClr val="FFFFFF"/>
                    </a:solidFill>
                  </a:tcPr>
                </a:tc>
              </a:tr>
              <a:tr h="369824">
                <a:tc>
                  <a:txBody>
                    <a:bodyPr/>
                    <a:lstStyle/>
                    <a:p>
                      <a:r>
                        <a:rPr sz="1400" b="0" i="0">
                          <a:solidFill>
                            <a:srgbClr val="1A1440"/>
                          </a:solidFill>
                          <a:latin typeface="Calibri"/>
                        </a:rPr>
                        <a:t>B. Each segment's own revenue per order</a:t>
                      </a:r>
                    </a:p>
                  </a:txBody>
                  <a:tcPr marL="101600" marR="101600" marT="38100" marB="38100" anchor="ctr">
                    <a:solidFill>
                      <a:srgbClr val="F4F2FA"/>
                    </a:solidFill>
                  </a:tcPr>
                </a:tc>
                <a:tc>
                  <a:txBody>
                    <a:bodyPr/>
                    <a:lstStyle/>
                    <a:p>
                      <a:r>
                        <a:rPr sz="1400" b="0" i="0">
                          <a:solidFill>
                            <a:srgbClr val="1A1440"/>
                          </a:solidFill>
                          <a:latin typeface="Calibri"/>
                        </a:rPr>
                        <a:t>Whether any segment paid more</a:t>
                      </a:r>
                    </a:p>
                  </a:txBody>
                  <a:tcPr marL="101600" marR="101600" marT="38100" marB="38100" anchor="ctr">
                    <a:solidFill>
                      <a:srgbClr val="F4F2FA"/>
                    </a:solidFill>
                  </a:tcPr>
                </a:tc>
              </a:tr>
              <a:tr h="369824">
                <a:tc>
                  <a:txBody>
                    <a:bodyPr/>
                    <a:lstStyle/>
                    <a:p>
                      <a:r>
                        <a:rPr sz="1400" b="0" i="0">
                          <a:solidFill>
                            <a:srgbClr val="1A1440"/>
                          </a:solidFill>
                          <a:latin typeface="Calibri"/>
                        </a:rPr>
                        <a:t>C. Split into mix and rate</a:t>
                      </a:r>
                    </a:p>
                  </a:txBody>
                  <a:tcPr marL="101600" marR="101600" marT="38100" marB="38100" anchor="ctr">
                    <a:solidFill>
                      <a:srgbClr val="FFFFFF"/>
                    </a:solidFill>
                  </a:tcPr>
                </a:tc>
                <a:tc>
                  <a:txBody>
                    <a:bodyPr/>
                    <a:lstStyle/>
                    <a:p>
                      <a:r>
                        <a:rPr sz="1400" b="0" i="0">
                          <a:solidFill>
                            <a:srgbClr val="1A1440"/>
                          </a:solidFill>
                          <a:latin typeface="Calibri"/>
                        </a:rPr>
                        <a:t>Rupees from each, adding to Rs 33,231</a:t>
                      </a:r>
                    </a:p>
                  </a:txBody>
                  <a:tcPr marL="101600" marR="101600" marT="38100" marB="38100" anchor="ctr">
                    <a:solidFill>
                      <a:srgbClr val="FFFFFF"/>
                    </a:solidFill>
                  </a:tcPr>
                </a:tc>
              </a:tr>
              <a:tr h="369824">
                <a:tc>
                  <a:txBody>
                    <a:bodyPr/>
                    <a:lstStyle/>
                    <a:p>
                      <a:r>
                        <a:rPr sz="1400" b="0" i="0">
                          <a:solidFill>
                            <a:srgbClr val="1A1440"/>
                          </a:solidFill>
                          <a:latin typeface="Calibri"/>
                        </a:rPr>
                        <a:t>D. Each segment's median order</a:t>
                      </a:r>
                    </a:p>
                  </a:txBody>
                  <a:tcPr marL="101600" marR="101600" marT="38100" marB="38100" anchor="ctr">
                    <a:solidFill>
                      <a:srgbClr val="F4F2FA"/>
                    </a:solidFill>
                  </a:tcPr>
                </a:tc>
                <a:tc>
                  <a:txBody>
                    <a:bodyPr/>
                    <a:lstStyle/>
                    <a:p>
                      <a:r>
                        <a:rPr sz="1400" b="0" i="0">
                          <a:solidFill>
                            <a:srgbClr val="1A1440"/>
                          </a:solidFill>
                          <a:latin typeface="Calibri"/>
                        </a:rPr>
                        <a:t>The typical order, and no rupees</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built on B's per-segment rates. </a:t>
            </a:r>
            <a:r>
              <a:rPr sz="1500" b="1" i="0">
                <a:solidFill>
                  <a:srgbClr val="1A1440"/>
                </a:solidFill>
                <a:latin typeface="Calibri"/>
              </a:rPr>
              <a:t>What would change it:</a:t>
            </a:r>
            <a:r>
              <a:rPr sz="1500" b="0" i="0">
                <a:solidFill>
                  <a:srgbClr val="1A1440"/>
                </a:solidFill>
                <a:latin typeface="Calibri"/>
              </a:rPr>
              <a:t> segments of similar order size would make mix negligible and B enough; a question about which products' prices moved needs order lines this file lacks.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60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lost orders were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Twenty-eight orders were lost between the quarters; predict how many were Retail-Plus.</a:t>
            </a:r>
          </a:p>
        </p:txBody>
      </p:sp>
      <p:pic>
        <p:nvPicPr>
          <p:cNvPr id="9" name="mermaid diagram" descr="2f3ff123fef4d2c7.png"/>
          <p:cNvPicPr>
            <a:picLocks noChangeAspect="1"/>
          </p:cNvPicPr>
          <p:nvPr/>
        </p:nvPicPr>
        <p:blipFill>
          <a:blip r:embed="rId5"/>
          <a:stretch>
            <a:fillRect/>
          </a:stretch>
        </p:blipFill>
        <p:spPr>
          <a:xfrm>
            <a:off x="2152497" y="1956816"/>
            <a:ext cx="7886700" cy="1100137"/>
          </a:xfrm>
          <a:prstGeom prst="rect">
            <a:avLst/>
          </a:prstGeom>
        </p:spPr>
      </p:pic>
      <p:sp>
        <p:nvSpPr>
          <p:cNvPr id="10" name="Rounded Rectangle 9"/>
          <p:cNvSpPr/>
          <p:nvPr/>
        </p:nvSpPr>
        <p:spPr>
          <a:xfrm>
            <a:off x="530352" y="3203257"/>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3127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22129"/>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28 lost orders: a) about 7; b) about 14; c) 25; d) all 28.</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60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25 of the 28 were small member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lost 25, Business 3, Retail-Core 2, and Student gained 2.</a:t>
            </a:r>
          </a:p>
        </p:txBody>
      </p:sp>
      <p:pic>
        <p:nvPicPr>
          <p:cNvPr id="9" name="mermaid diagram" descr="c47533a1abe46dfb.png"/>
          <p:cNvPicPr>
            <a:picLocks noChangeAspect="1"/>
          </p:cNvPicPr>
          <p:nvPr/>
        </p:nvPicPr>
        <p:blipFill>
          <a:blip r:embed="rId5"/>
          <a:stretch>
            <a:fillRect/>
          </a:stretch>
        </p:blipFill>
        <p:spPr>
          <a:xfrm>
            <a:off x="530352" y="1956816"/>
            <a:ext cx="11130991" cy="759828"/>
          </a:xfrm>
          <a:prstGeom prst="rect">
            <a:avLst/>
          </a:prstGeom>
        </p:spPr>
      </p:pic>
      <p:sp>
        <p:nvSpPr>
          <p:cNvPr id="10" name="Rounded Rectangle 9"/>
          <p:cNvSpPr/>
          <p:nvPr/>
        </p:nvSpPr>
        <p:spPr>
          <a:xfrm>
            <a:off x="530352" y="28629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99096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981820"/>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orders that vanished were about three thousand rupees each, which already hints at why the average order grew.</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60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customers pay 18%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No segment's own revenue per order rose 18 percent; the blend did.</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3084555"/>
                <a:gridCol w="3566017"/>
                <a:gridCol w="3566017"/>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 revenue per order</a:t>
                      </a:r>
                    </a:p>
                  </a:txBody>
                  <a:tcPr marL="101600" marR="101600" marT="38100" marB="38100" anchor="ctr">
                    <a:solidFill>
                      <a:srgbClr val="1A0F5C"/>
                    </a:solidFill>
                  </a:tcPr>
                </a:tc>
                <a:tc>
                  <a:txBody>
                    <a:bodyPr/>
                    <a:lstStyle/>
                    <a:p>
                      <a:r>
                        <a:rPr sz="1250" b="1" i="0">
                          <a:solidFill>
                            <a:srgbClr val="FFFFFF"/>
                          </a:solidFill>
                          <a:latin typeface="Calibri"/>
                        </a:rPr>
                        <a:t>Q2 revenue per order</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Rs 2,117</a:t>
                      </a:r>
                    </a:p>
                  </a:txBody>
                  <a:tcPr marL="101600" marR="101600" marT="38100" marB="38100" anchor="ctr">
                    <a:solidFill>
                      <a:srgbClr val="FFFFFF"/>
                    </a:solidFill>
                  </a:tcPr>
                </a:tc>
                <a:tc>
                  <a:txBody>
                    <a:bodyPr/>
                    <a:lstStyle/>
                    <a:p>
                      <a:r>
                        <a:rPr sz="1200" b="0" i="0">
                          <a:solidFill>
                            <a:srgbClr val="1A1440"/>
                          </a:solidFill>
                          <a:latin typeface="Calibri"/>
                        </a:rPr>
                        <a:t>Rs 2,014</a:t>
                      </a:r>
                    </a:p>
                  </a:txBody>
                  <a:tcPr marL="101600" marR="101600" marT="38100" marB="38100" anchor="ctr">
                    <a:solidFill>
                      <a:srgbClr val="FFFFFF"/>
                    </a:solidFill>
                  </a:tcPr>
                </a:tc>
                <a:tc>
                  <a:txBody>
                    <a:bodyPr/>
                    <a:lstStyle/>
                    <a:p>
                      <a:r>
                        <a:rPr sz="1200" b="0" i="0">
                          <a:solidFill>
                            <a:srgbClr val="1A1440"/>
                          </a:solidFill>
                          <a:latin typeface="Calibri"/>
                        </a:rPr>
                        <a:t>-4.9%</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Rs 2,815</a:t>
                      </a:r>
                    </a:p>
                  </a:txBody>
                  <a:tcPr marL="101600" marR="101600" marT="38100" marB="38100" anchor="ctr">
                    <a:solidFill>
                      <a:srgbClr val="F4F2FA"/>
                    </a:solidFill>
                  </a:tcPr>
                </a:tc>
                <a:tc>
                  <a:txBody>
                    <a:bodyPr/>
                    <a:lstStyle/>
                    <a:p>
                      <a:r>
                        <a:rPr sz="1200" b="0" i="0">
                          <a:solidFill>
                            <a:srgbClr val="1A1440"/>
                          </a:solidFill>
                          <a:latin typeface="Calibri"/>
                        </a:rPr>
                        <a:t>Rs 3,012</a:t>
                      </a:r>
                    </a:p>
                  </a:txBody>
                  <a:tcPr marL="101600" marR="101600" marT="38100" marB="38100" anchor="ctr">
                    <a:solidFill>
                      <a:srgbClr val="F4F2FA"/>
                    </a:solidFill>
                  </a:tcPr>
                </a:tc>
                <a:tc>
                  <a:txBody>
                    <a:bodyPr/>
                    <a:lstStyle/>
                    <a:p>
                      <a:r>
                        <a:rPr sz="1200" b="0" i="0">
                          <a:solidFill>
                            <a:srgbClr val="1A1440"/>
                          </a:solidFill>
                          <a:latin typeface="Calibri"/>
                        </a:rPr>
                        <a:t>+7.0%</a:t>
                      </a:r>
                    </a:p>
                  </a:txBody>
                  <a:tcPr marL="101600" marR="101600" marT="38100" marB="38100" anchor="ctr">
                    <a:solidFill>
                      <a:srgbClr val="F4F2FA"/>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Rs 10,38,559</a:t>
                      </a:r>
                    </a:p>
                  </a:txBody>
                  <a:tcPr marL="101600" marR="101600" marT="38100" marB="38100" anchor="ctr">
                    <a:solidFill>
                      <a:srgbClr val="FFFFFF"/>
                    </a:solidFill>
                  </a:tcPr>
                </a:tc>
                <a:tc>
                  <a:txBody>
                    <a:bodyPr/>
                    <a:lstStyle/>
                    <a:p>
                      <a:r>
                        <a:rPr sz="1200" b="0" i="0">
                          <a:solidFill>
                            <a:srgbClr val="1A1440"/>
                          </a:solidFill>
                          <a:latin typeface="Calibri"/>
                        </a:rPr>
                        <a:t>Rs 10,90,674</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Rs 962</a:t>
                      </a:r>
                    </a:p>
                  </a:txBody>
                  <a:tcPr marL="101600" marR="101600" marT="38100" marB="38100" anchor="ctr">
                    <a:solidFill>
                      <a:srgbClr val="F4F2FA"/>
                    </a:solidFill>
                  </a:tcPr>
                </a:tc>
                <a:tc>
                  <a:txBody>
                    <a:bodyPr/>
                    <a:lstStyle/>
                    <a:p>
                      <a:r>
                        <a:rPr sz="1200" b="0" i="0">
                          <a:solidFill>
                            <a:srgbClr val="1A1440"/>
                          </a:solidFill>
                          <a:latin typeface="Calibri"/>
                        </a:rPr>
                        <a:t>Rs 1,104</a:t>
                      </a:r>
                    </a:p>
                  </a:txBody>
                  <a:tcPr marL="101600" marR="101600" marT="38100" marB="38100" anchor="ctr">
                    <a:solidFill>
                      <a:srgbClr val="F4F2FA"/>
                    </a:solidFill>
                  </a:tcPr>
                </a:tc>
                <a:tc>
                  <a:txBody>
                    <a:bodyPr/>
                    <a:lstStyle/>
                    <a:p>
                      <a:r>
                        <a:rPr sz="1200" b="0" i="0">
                          <a:solidFill>
                            <a:srgbClr val="1A1440"/>
                          </a:solidFill>
                          <a:latin typeface="Calibri"/>
                        </a:rPr>
                        <a:t>+14.8%</a:t>
                      </a:r>
                    </a:p>
                  </a:txBody>
                  <a:tcPr marL="101600" marR="101600" marT="38100" marB="38100" anchor="ctr">
                    <a:solidFill>
                      <a:srgbClr val="F4F2FA"/>
                    </a:solidFill>
                  </a:tcPr>
                </a:tc>
              </a:tr>
              <a:tr h="335280">
                <a:tc>
                  <a:txBody>
                    <a:bodyPr/>
                    <a:lstStyle/>
                    <a:p>
                      <a:r>
                        <a:rPr sz="1200" b="0" i="0">
                          <a:solidFill>
                            <a:srgbClr val="1A1440"/>
                          </a:solidFill>
                          <a:latin typeface="Calibri"/>
                        </a:rPr>
                        <a:t>All orders, blended</a:t>
                      </a:r>
                    </a:p>
                  </a:txBody>
                  <a:tcPr marL="101600" marR="101600" marT="38100" marB="38100" anchor="ctr">
                    <a:solidFill>
                      <a:srgbClr val="FFFFFF"/>
                    </a:solidFill>
                  </a:tcPr>
                </a:tc>
                <a:tc>
                  <a:txBody>
                    <a:bodyPr/>
                    <a:lstStyle/>
                    <a:p>
                      <a:r>
                        <a:rPr sz="1200" b="0" i="0">
                          <a:solidFill>
                            <a:srgbClr val="1A1440"/>
                          </a:solidFill>
                          <a:latin typeface="Calibri"/>
                        </a:rPr>
                        <a:t>Rs 1,84,211</a:t>
                      </a:r>
                    </a:p>
                  </a:txBody>
                  <a:tcPr marL="101600" marR="101600" marT="38100" marB="38100" anchor="ctr">
                    <a:solidFill>
                      <a:srgbClr val="FFFFFF"/>
                    </a:solidFill>
                  </a:tcPr>
                </a:tc>
                <a:tc>
                  <a:txBody>
                    <a:bodyPr/>
                    <a:lstStyle/>
                    <a:p>
                      <a:r>
                        <a:rPr sz="1200" b="0" i="0">
                          <a:solidFill>
                            <a:srgbClr val="1A1440"/>
                          </a:solidFill>
                          <a:latin typeface="Calibri"/>
                        </a:rPr>
                        <a:t>Rs 2,17,442</a:t>
                      </a:r>
                    </a:p>
                  </a:txBody>
                  <a:tcPr marL="101600" marR="101600" marT="38100" marB="38100" anchor="ctr">
                    <a:solidFill>
                      <a:srgbClr val="FFFFFF"/>
                    </a:solidFill>
                  </a:tcPr>
                </a:tc>
                <a:tc>
                  <a:txBody>
                    <a:bodyPr/>
                    <a:lstStyle/>
                    <a:p>
                      <a:r>
                        <a:rPr sz="1200" b="0" i="0">
                          <a:solidFill>
                            <a:srgbClr val="1A1440"/>
                          </a:solidFill>
                          <a:latin typeface="Calibri"/>
                        </a:rPr>
                        <a:t>+18.0%</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6248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A blend rises whenever small orders fall away. </a:t>
            </a:r>
            <a:r>
              <a:rPr sz="1500" b="1" i="0">
                <a:solidFill>
                  <a:srgbClr val="1A1440"/>
                </a:solidFill>
                <a:latin typeface="Calibri"/>
              </a:rPr>
              <a:t>The check</a:t>
            </a:r>
            <a:r>
              <a:rPr sz="1500" b="0" i="0">
                <a:solidFill>
                  <a:srgbClr val="1A1440"/>
                </a:solidFill>
                <a:latin typeface="Calibri"/>
              </a:rPr>
              <a:t> is this table: no segment rose 18 percent.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60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69 percent of the rise is mix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At Q2's mix and Q1's prices, revenue per order would already have been Rs 2,07,112.</a:t>
            </a:r>
          </a:p>
        </p:txBody>
      </p:sp>
      <p:pic>
        <p:nvPicPr>
          <p:cNvPr id="9" name="mermaid diagram" descr="a64e70afcab3fdf2.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"Customers pay 18 percent more, raise prices" became "the mix explains Rs 22,902 of the Rs 33,231 rise; Business's lakh-sized orders carry almost all the rest". The price rise loses its evidence.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1" name="Oval 20"/>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60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Kavya's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Move the rate first instead: the parts shift, both still add to Rs 33,231, and mix stays above two thirds.</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4301366"/>
                <a:gridCol w="2209047"/>
                <a:gridCol w="2209047"/>
                <a:gridCol w="2411529"/>
              </a:tblGrid>
              <a:tr h="335280">
                <a:tc>
                  <a:txBody>
                    <a:bodyPr/>
                    <a:lstStyle/>
                    <a:p>
                      <a:r>
                        <a:rPr sz="1250" b="1" i="0">
                          <a:solidFill>
                            <a:srgbClr val="FFFFFF"/>
                          </a:solidFill>
                          <a:latin typeface="Calibri"/>
                        </a:rPr>
                        <a:t>Order of the steps</a:t>
                      </a:r>
                    </a:p>
                  </a:txBody>
                  <a:tcPr marL="101600" marR="101600" marT="38100" marB="38100" anchor="ctr">
                    <a:solidFill>
                      <a:srgbClr val="1A0F5C"/>
                    </a:solidFill>
                  </a:tcPr>
                </a:tc>
                <a:tc>
                  <a:txBody>
                    <a:bodyPr/>
                    <a:lstStyle/>
                    <a:p>
                      <a:r>
                        <a:rPr sz="1250" b="1" i="0">
                          <a:solidFill>
                            <a:srgbClr val="FFFFFF"/>
                          </a:solidFill>
                          <a:latin typeface="Calibri"/>
                        </a:rPr>
                        <a:t>Mix</a:t>
                      </a:r>
                    </a:p>
                  </a:txBody>
                  <a:tcPr marL="101600" marR="101600" marT="38100" marB="38100" anchor="ctr">
                    <a:solidFill>
                      <a:srgbClr val="1A0F5C"/>
                    </a:solidFill>
                  </a:tcPr>
                </a:tc>
                <a:tc>
                  <a:txBody>
                    <a:bodyPr/>
                    <a:lstStyle/>
                    <a:p>
                      <a:r>
                        <a:rPr sz="1250" b="1" i="0">
                          <a:solidFill>
                            <a:srgbClr val="FFFFFF"/>
                          </a:solidFill>
                          <a:latin typeface="Calibri"/>
                        </a:rPr>
                        <a:t>Rate</a:t>
                      </a:r>
                    </a:p>
                  </a:txBody>
                  <a:tcPr marL="101600" marR="101600" marT="38100" marB="38100" anchor="ctr">
                    <a:solidFill>
                      <a:srgbClr val="1A0F5C"/>
                    </a:solidFill>
                  </a:tcPr>
                </a:tc>
                <a:tc>
                  <a:txBody>
                    <a:bodyPr/>
                    <a:lstStyle/>
                    <a:p>
                      <a:r>
                        <a:rPr sz="1250" b="1" i="0">
                          <a:solidFill>
                            <a:srgbClr val="FFFFFF"/>
                          </a:solidFill>
                          <a:latin typeface="Calibri"/>
                        </a:rPr>
                        <a:t>Mix share</a:t>
                      </a:r>
                    </a:p>
                  </a:txBody>
                  <a:tcPr marL="101600" marR="101600" marT="38100" marB="38100" anchor="ctr">
                    <a:solidFill>
                      <a:srgbClr val="1A0F5C"/>
                    </a:solidFill>
                  </a:tcPr>
                </a:tc>
              </a:tr>
              <a:tr h="335280">
                <a:tc>
                  <a:txBody>
                    <a:bodyPr/>
                    <a:lstStyle/>
                    <a:p>
                      <a:r>
                        <a:rPr sz="1200" b="0" i="0">
                          <a:solidFill>
                            <a:srgbClr val="1A1440"/>
                          </a:solidFill>
                          <a:latin typeface="Calibri"/>
                        </a:rPr>
                        <a:t>Mix first</a:t>
                      </a:r>
                    </a:p>
                  </a:txBody>
                  <a:tcPr marL="101600" marR="101600" marT="38100" marB="38100" anchor="ctr">
                    <a:solidFill>
                      <a:srgbClr val="FFFFFF"/>
                    </a:solidFill>
                  </a:tcPr>
                </a:tc>
                <a:tc>
                  <a:txBody>
                    <a:bodyPr/>
                    <a:lstStyle/>
                    <a:p>
                      <a:r>
                        <a:rPr sz="1200" b="0" i="0">
                          <a:solidFill>
                            <a:srgbClr val="1A1440"/>
                          </a:solidFill>
                          <a:latin typeface="Calibri"/>
                        </a:rPr>
                        <a:t>Rs 22,902</a:t>
                      </a:r>
                    </a:p>
                  </a:txBody>
                  <a:tcPr marL="101600" marR="101600" marT="38100" marB="38100" anchor="ctr">
                    <a:solidFill>
                      <a:srgbClr val="FFFFFF"/>
                    </a:solidFill>
                  </a:tcPr>
                </a:tc>
                <a:tc>
                  <a:txBody>
                    <a:bodyPr/>
                    <a:lstStyle/>
                    <a:p>
                      <a:r>
                        <a:rPr sz="1200" b="0" i="0">
                          <a:solidFill>
                            <a:srgbClr val="1A1440"/>
                          </a:solidFill>
                          <a:latin typeface="Calibri"/>
                        </a:rPr>
                        <a:t>Rs 10,330</a:t>
                      </a:r>
                    </a:p>
                  </a:txBody>
                  <a:tcPr marL="101600" marR="101600" marT="38100" marB="38100" anchor="ctr">
                    <a:solidFill>
                      <a:srgbClr val="FFFFFF"/>
                    </a:solidFill>
                  </a:tcPr>
                </a:tc>
                <a:tc>
                  <a:txBody>
                    <a:bodyPr/>
                    <a:lstStyle/>
                    <a:p>
                      <a:r>
                        <a:rPr sz="1200" b="0" i="0">
                          <a:solidFill>
                            <a:srgbClr val="1A1440"/>
                          </a:solidFill>
                          <a:latin typeface="Calibri"/>
                        </a:rPr>
                        <a:t>68.9%</a:t>
                      </a:r>
                    </a:p>
                  </a:txBody>
                  <a:tcPr marL="101600" marR="101600" marT="38100" marB="38100" anchor="ctr">
                    <a:solidFill>
                      <a:srgbClr val="FFFFFF"/>
                    </a:solidFill>
                  </a:tcPr>
                </a:tc>
              </a:tr>
              <a:tr h="335280">
                <a:tc>
                  <a:txBody>
                    <a:bodyPr/>
                    <a:lstStyle/>
                    <a:p>
                      <a:r>
                        <a:rPr sz="1200" b="0" i="0">
                          <a:solidFill>
                            <a:srgbClr val="1A1440"/>
                          </a:solidFill>
                          <a:latin typeface="Calibri"/>
                        </a:rPr>
                        <a:t>Rate first</a:t>
                      </a:r>
                    </a:p>
                  </a:txBody>
                  <a:tcPr marL="101600" marR="101600" marT="38100" marB="38100" anchor="ctr">
                    <a:solidFill>
                      <a:srgbClr val="F4F2FA"/>
                    </a:solidFill>
                  </a:tcPr>
                </a:tc>
                <a:tc>
                  <a:txBody>
                    <a:bodyPr/>
                    <a:lstStyle/>
                    <a:p>
                      <a:r>
                        <a:rPr sz="1200" b="0" i="0">
                          <a:solidFill>
                            <a:srgbClr val="1A1440"/>
                          </a:solidFill>
                          <a:latin typeface="Calibri"/>
                        </a:rPr>
                        <a:t>Rs 24,028</a:t>
                      </a:r>
                    </a:p>
                  </a:txBody>
                  <a:tcPr marL="101600" marR="101600" marT="38100" marB="38100" anchor="ctr">
                    <a:solidFill>
                      <a:srgbClr val="F4F2FA"/>
                    </a:solidFill>
                  </a:tcPr>
                </a:tc>
                <a:tc>
                  <a:txBody>
                    <a:bodyPr/>
                    <a:lstStyle/>
                    <a:p>
                      <a:r>
                        <a:rPr sz="1200" b="0" i="0">
                          <a:solidFill>
                            <a:srgbClr val="1A1440"/>
                          </a:solidFill>
                          <a:latin typeface="Calibri"/>
                        </a:rPr>
                        <a:t>Rs 9,203</a:t>
                      </a:r>
                    </a:p>
                  </a:txBody>
                  <a:tcPr marL="101600" marR="101600" marT="38100" marB="38100" anchor="ctr">
                    <a:solidFill>
                      <a:srgbClr val="F4F2FA"/>
                    </a:solidFill>
                  </a:tcPr>
                </a:tc>
                <a:tc>
                  <a:txBody>
                    <a:bodyPr/>
                    <a:lstStyle/>
                    <a:p>
                      <a:r>
                        <a:rPr sz="1200" b="0" i="0">
                          <a:solidFill>
                            <a:srgbClr val="1A1440"/>
                          </a:solidFill>
                          <a:latin typeface="Calibri"/>
                        </a:rPr>
                        <a:t>72.3%</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804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3790188"/>
            <a:ext cx="237744" cy="237744"/>
          </a:xfrm>
          <a:prstGeom prst="rect">
            <a:avLst/>
          </a:prstGeom>
        </p:spPr>
      </p:pic>
      <p:sp>
        <p:nvSpPr>
          <p:cNvPr id="13" name="TextBox 12"/>
          <p:cNvSpPr txBox="1"/>
          <p:nvPr/>
        </p:nvSpPr>
        <p:spPr>
          <a:xfrm>
            <a:off x="1399031" y="33649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584448"/>
            <a:ext cx="9987991" cy="941832"/>
          </a:xfrm>
          <a:prstGeom prst="rect">
            <a:avLst/>
          </a:prstGeom>
          <a:noFill/>
        </p:spPr>
        <p:txBody>
          <a:bodyPr wrap="square" anchor="t" lIns="0" rIns="0" tIns="0" bIns="0">
            <a:spAutoFit/>
          </a:bodyPr>
          <a:lstStyle/>
          <a:p>
            <a:r>
              <a:rPr sz="1500" b="0" i="0">
                <a:solidFill>
                  <a:srgbClr val="1A1440"/>
                </a:solidFill>
                <a:latin typeface="Calibri"/>
              </a:rPr>
              <a:t>"Marketing looked at a blend and saw a price signal. You opened it and found 25 small orders missing. No consumer segment paid meaningfully more; the small orders disappeared, from the tier we are about to ask about."</a:t>
            </a:r>
          </a:p>
        </p:txBody>
      </p:sp>
      <p:sp>
        <p:nvSpPr>
          <p:cNvPr id="15" name="Rounded Rectangle 14"/>
          <p:cNvSpPr/>
          <p:nvPr/>
        </p:nvSpPr>
        <p:spPr>
          <a:xfrm>
            <a:off x="530352" y="476402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49667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076444"/>
            <a:ext cx="237744" cy="237744"/>
          </a:xfrm>
          <a:prstGeom prst="rect">
            <a:avLst/>
          </a:prstGeom>
        </p:spPr>
      </p:pic>
      <p:sp>
        <p:nvSpPr>
          <p:cNvPr id="18" name="TextBox 17"/>
          <p:cNvSpPr txBox="1"/>
          <p:nvPr/>
        </p:nvSpPr>
        <p:spPr>
          <a:xfrm>
            <a:off x="1399031" y="49103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29784"/>
            <a:ext cx="9987991" cy="423672"/>
          </a:xfrm>
          <a:prstGeom prst="rect">
            <a:avLst/>
          </a:prstGeom>
          <a:noFill/>
        </p:spPr>
        <p:txBody>
          <a:bodyPr wrap="square" anchor="t" lIns="0" rIns="0" tIns="0" bIns="0">
            <a:spAutoFit/>
          </a:bodyPr>
          <a:lstStyle/>
          <a:p>
            <a:r>
              <a:rPr sz="1500" b="0" i="0">
                <a:solidFill>
                  <a:srgbClr val="1A1440"/>
                </a:solidFill>
                <a:latin typeface="Calibri"/>
              </a:rPr>
              <a:t>[F] Revenue per order rose 18 percent while revenue fell; did prices go up?</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1" i="0">
                <a:solidFill>
                  <a:srgbClr val="5B3FD6"/>
                </a:solidFill>
                <a:latin typeface="Calibri"/>
              </a:rPr>
              <a:t>Mix or rate</a:t>
            </a:r>
          </a:p>
        </p:txBody>
      </p:sp>
      <p:sp>
        <p:nvSpPr>
          <p:cNvPr id="28" name="Oval 27"/>
          <p:cNvSpPr/>
          <p:nvPr/>
        </p:nvSpPr>
        <p:spPr>
          <a:xfrm>
            <a:off x="510063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60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Marketing's hypothesis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Marketing comes back with three attacks, and each gets a check it can rerun itself.</a:t>
            </a:r>
          </a:p>
        </p:txBody>
      </p:sp>
      <p:sp>
        <p:nvSpPr>
          <p:cNvPr id="10" name="Rounded Rectangle 9"/>
          <p:cNvSpPr/>
          <p:nvPr/>
        </p:nvSpPr>
        <p:spPr>
          <a:xfrm>
            <a:off x="731519" y="5074920"/>
            <a:ext cx="131321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drop real</a:t>
            </a:r>
          </a:p>
        </p:txBody>
      </p:sp>
      <p:sp>
        <p:nvSpPr>
          <p:cNvPr id="11" name="Rounded Rectangle 10"/>
          <p:cNvSpPr/>
          <p:nvPr/>
        </p:nvSpPr>
        <p:spPr>
          <a:xfrm>
            <a:off x="215446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branch moved</a:t>
            </a:r>
          </a:p>
        </p:txBody>
      </p:sp>
      <p:sp>
        <p:nvSpPr>
          <p:cNvPr id="12" name="Rounded Rectangle 11"/>
          <p:cNvSpPr/>
          <p:nvPr/>
        </p:nvSpPr>
        <p:spPr>
          <a:xfrm>
            <a:off x="3695839" y="5074920"/>
            <a:ext cx="113556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a:t>
            </a:r>
          </a:p>
        </p:txBody>
      </p:sp>
      <p:sp>
        <p:nvSpPr>
          <p:cNvPr id="13" name="Rounded Rectangle 12"/>
          <p:cNvSpPr/>
          <p:nvPr/>
        </p:nvSpPr>
        <p:spPr>
          <a:xfrm>
            <a:off x="4941134" y="5074920"/>
            <a:ext cx="101713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Mix or rate</a:t>
            </a:r>
          </a:p>
        </p:txBody>
      </p:sp>
      <p:sp>
        <p:nvSpPr>
          <p:cNvPr id="14" name="Rounded Rectangle 13"/>
          <p:cNvSpPr/>
          <p:nvPr/>
        </p:nvSpPr>
        <p:spPr>
          <a:xfrm>
            <a:off x="606799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Marketing's hypothesis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Tuesday: which branch moved</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51 / 60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churn is hiding in a flat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12 crore rests on one claim, that Kalpa loses customers and must replace them.</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"A flat count can hide churn replaced by new customers, which is why we need acquisition. And Retail-Plus is Rs 65,250 out of a Rs 23 lakh fall. Last quarter's summary script says Business fell most." (the marketing lead)</a:t>
            </a:r>
          </a:p>
        </p:txBody>
      </p:sp>
      <p:pic>
        <p:nvPicPr>
          <p:cNvPr id="14" name="mermaid diagram" descr="6138a9a6c709e7e1.png"/>
          <p:cNvPicPr>
            <a:picLocks noChangeAspect="1"/>
          </p:cNvPicPr>
          <p:nvPr/>
        </p:nvPicPr>
        <p:blipFill>
          <a:blip r:embed="rId6"/>
          <a:stretch>
            <a:fillRect/>
          </a:stretch>
        </p:blipFill>
        <p:spPr>
          <a:xfrm>
            <a:off x="3524097" y="3502152"/>
            <a:ext cx="5143500" cy="2286000"/>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7" name="Oval 16"/>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9" name="Oval 18"/>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1" name="Oval 20"/>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3" name="Oval 22"/>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52 / 60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Keeping a customer costs a fraction of winning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published estimates behind every retention argument, which are never Kalpa's own figures.</a:t>
            </a:r>
          </a:p>
        </p:txBody>
      </p:sp>
      <p:sp>
        <p:nvSpPr>
          <p:cNvPr id="9" name="TextBox 8"/>
          <p:cNvSpPr txBox="1"/>
          <p:nvPr/>
        </p:nvSpPr>
        <p:spPr>
          <a:xfrm>
            <a:off x="53035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5 to 25x</a:t>
            </a:r>
          </a:p>
        </p:txBody>
      </p:sp>
      <p:sp>
        <p:nvSpPr>
          <p:cNvPr id="10" name="TextBox 9"/>
          <p:cNvSpPr txBox="1"/>
          <p:nvPr/>
        </p:nvSpPr>
        <p:spPr>
          <a:xfrm>
            <a:off x="53035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ACQUISITION AGAINST RETENTION</a:t>
            </a:r>
          </a:p>
        </p:txBody>
      </p:sp>
      <p:sp>
        <p:nvSpPr>
          <p:cNvPr id="11" name="TextBox 10"/>
          <p:cNvSpPr txBox="1"/>
          <p:nvPr/>
        </p:nvSpPr>
        <p:spPr>
          <a:xfrm>
            <a:off x="53035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cost, by study and industry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25 to 95%</a:t>
            </a:r>
          </a:p>
        </p:txBody>
      </p:sp>
      <p:sp>
        <p:nvSpPr>
          <p:cNvPr id="14" name="TextBox 13"/>
          <p:cNvSpPr txBox="1"/>
          <p:nvPr/>
        </p:nvSpPr>
        <p:spPr>
          <a:xfrm>
            <a:off x="433212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PROFIT LIFT</a:t>
            </a:r>
          </a:p>
        </p:txBody>
      </p:sp>
      <p:sp>
        <p:nvSpPr>
          <p:cNvPr id="15" name="TextBox 14"/>
          <p:cNvSpPr txBox="1"/>
          <p:nvPr/>
        </p:nvSpPr>
        <p:spPr>
          <a:xfrm>
            <a:off x="433212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a 5 percent rise in retention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+34% / 4.53 to 4.10</a:t>
            </a:r>
          </a:p>
        </p:txBody>
      </p:sp>
      <p:sp>
        <p:nvSpPr>
          <p:cNvPr id="18" name="TextBox 17"/>
          <p:cNvSpPr txBox="1"/>
          <p:nvPr/>
        </p:nvSpPr>
        <p:spPr>
          <a:xfrm>
            <a:off x="813389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SWIGGY USERS / ORDERS PER USER</a:t>
            </a:r>
          </a:p>
        </p:txBody>
      </p:sp>
      <p:sp>
        <p:nvSpPr>
          <p:cNvPr id="19" name="TextBox 18"/>
          <p:cNvSpPr txBox="1"/>
          <p:nvPr/>
        </p:nvSpPr>
        <p:spPr>
          <a:xfrm>
            <a:off x="813389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to Sep 2025</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If the fall is frequency among customers Kalpa already has, the cheaper lever is on the table; the reply asks Finance for Kalpa's own acquisition cost before comparing rupees.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0" name="Oval 2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2" name="Oval 31"/>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53 / 60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tests of "churn hides in the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count is net; only a test that names lost and new separately can answer Marketing.</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4481654"/>
                <a:gridCol w="1935551"/>
                <a:gridCol w="1767015"/>
                <a:gridCol w="294676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Sees lost</a:t>
                      </a:r>
                    </a:p>
                  </a:txBody>
                  <a:tcPr marL="101600" marR="101600" marT="38100" marB="38100" anchor="ctr">
                    <a:solidFill>
                      <a:srgbClr val="1A0F5C"/>
                    </a:solidFill>
                  </a:tcPr>
                </a:tc>
                <a:tc>
                  <a:txBody>
                    <a:bodyPr/>
                    <a:lstStyle/>
                    <a:p>
                      <a:r>
                        <a:rPr sz="1250" b="1" i="0">
                          <a:solidFill>
                            <a:srgbClr val="FFFFFF"/>
                          </a:solidFill>
                          <a:latin typeface="Calibri"/>
                        </a:rPr>
                        <a:t>Sees new</a:t>
                      </a:r>
                    </a:p>
                  </a:txBody>
                  <a:tcPr marL="101600" marR="101600" marT="38100" marB="38100" anchor="ctr">
                    <a:solidFill>
                      <a:srgbClr val="1A0F5C"/>
                    </a:solidFill>
                  </a:tcPr>
                </a:tc>
                <a:tc>
                  <a:txBody>
                    <a:bodyPr/>
                    <a:lstStyle/>
                    <a:p>
                      <a:r>
                        <a:rPr sz="1250" b="1" i="0">
                          <a:solidFill>
                            <a:srgbClr val="FFFFFF"/>
                          </a:solidFill>
                          <a:latin typeface="Calibri"/>
                        </a:rPr>
                        <a:t>Sees who slowed</a:t>
                      </a:r>
                    </a:p>
                  </a:txBody>
                  <a:tcPr marL="101600" marR="101600" marT="38100" marB="38100" anchor="ctr">
                    <a:solidFill>
                      <a:srgbClr val="1A0F5C"/>
                    </a:solidFill>
                  </a:tcPr>
                </a:tc>
              </a:tr>
              <a:tr h="335280">
                <a:tc>
                  <a:txBody>
                    <a:bodyPr/>
                    <a:lstStyle/>
                    <a:p>
                      <a:r>
                        <a:rPr sz="1200" b="0" i="0">
                          <a:solidFill>
                            <a:srgbClr val="1A1440"/>
                          </a:solidFill>
                          <a:latin typeface="Calibri"/>
                        </a:rPr>
                        <a:t>A. Compare the counts</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The id overlap, as sets</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Customer by customer</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Marketing's CRM sign-ups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then C: three numbers anyone can rerun, then who slowed. </a:t>
            </a:r>
            <a:r>
              <a:rPr sz="1500" b="1" i="0">
                <a:solidFill>
                  <a:srgbClr val="1A1440"/>
                </a:solidFill>
                <a:latin typeface="Calibri"/>
              </a:rPr>
              <a:t>What would change it:</a:t>
            </a:r>
            <a:r>
              <a:rPr sz="1500" b="0" i="0">
                <a:solidFill>
                  <a:srgbClr val="1A1440"/>
                </a:solidFill>
                <a:latin typeface="Calibri"/>
              </a:rPr>
              <a:t> one person holding two ids, store and app, would make the overlap invent churn, and the CRM would be needed to join them first.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60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of Q1's 69 are missing?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Marketing says twenty lost and twenty new would look exactly like 69 and 69.</a:t>
            </a:r>
          </a:p>
        </p:txBody>
      </p:sp>
      <p:pic>
        <p:nvPicPr>
          <p:cNvPr id="9" name="mermaid diagram" descr="c90f09baabec8381.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about 20, replaced by 20 new; b) about 5; c) none; d) it cannot be told from one export.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60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none lost, none new, 18 members slowed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All 69 bought in both quarters; of the 23 customers who ordered less, 18 pay for membership.</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69 / 0 / 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BOTH / ONLY Q1 / ONLY Q2</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id overlap</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23</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WHO SLOWED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44 ordered as often as before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18</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THEM IN RETAIL-PLUS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7 fell by two orders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The flat count hides no churn; the fall is people Kalpa already has, buying less often, and most of them are members.</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6" name="Oval 25"/>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8" name="Oval 27"/>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30" name="Oval 29"/>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32" name="Oval 31"/>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60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Business fell most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Last quarter's summary script runs cleanly and prints a tidy answer.</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pct_change(before, after):</a:t>
            </a:r>
          </a:p>
          <a:p>
            <a:pPr>
              <a:spcAft>
                <a:spcPts val="200"/>
              </a:spcAft>
            </a:pPr>
            <a:r>
              <a:rPr sz="1400" b="0" i="0">
                <a:solidFill>
                  <a:srgbClr val="E4E1F1"/>
                </a:solidFill>
                <a:latin typeface="Consolas"/>
              </a:rPr>
              <a:t>    change = 100 * (after - before) / before</a:t>
            </a:r>
          </a:p>
          <a:p>
            <a:pPr>
              <a:spcAft>
                <a:spcPts val="200"/>
              </a:spcAft>
            </a:pPr>
            <a:r>
              <a:rPr sz="1400" b="0" i="0">
                <a:solidFill>
                  <a:srgbClr val="E4E1F1"/>
                </a:solidFill>
                <a:latin typeface="Consolas"/>
              </a:rPr>
              <a:t>    if abs(change) &gt; 30:</a:t>
            </a:r>
          </a:p>
          <a:p>
            <a:pPr>
              <a:spcAft>
                <a:spcPts val="200"/>
              </a:spcAft>
            </a:pPr>
            <a:r>
              <a:rPr sz="1400" b="0" i="0">
                <a:solidFill>
                  <a:srgbClr val="E4E1F1"/>
                </a:solidFill>
                <a:latin typeface="Consolas"/>
              </a:rPr>
              <a:t>        print(f"  check by hand: {change:+.1f}%")</a:t>
            </a:r>
          </a:p>
          <a:p>
            <a:pPr>
              <a:spcAft>
                <a:spcPts val="200"/>
              </a:spcAft>
            </a:pPr>
            <a:r>
              <a:rPr sz="1400" b="0" i="0">
                <a:solidFill>
                  <a:srgbClr val="E4E1F1"/>
                </a:solidFill>
                <a:latin typeface="Consolas"/>
              </a:rPr>
              <a:t>    else:</a:t>
            </a:r>
          </a:p>
          <a:p>
            <a:pPr>
              <a:spcAft>
                <a:spcPts val="200"/>
              </a:spcAft>
            </a:pPr>
            <a:r>
              <a:rPr sz="1400" b="0" i="0">
                <a:solidFill>
                  <a:srgbClr val="E4E1F1"/>
                </a:solidFill>
                <a:latin typeface="Consolas"/>
              </a:rPr>
              <a:t>        return round(change, 1)</a:t>
            </a:r>
          </a:p>
          <a:p>
            <a:pPr>
              <a:spcAft>
                <a:spcPts val="200"/>
              </a:spcAft>
            </a:pPr>
            <a:r>
              <a:rPr sz="1400" b="0" i="0">
                <a:solidFill>
                  <a:srgbClr val="A9A3D2"/>
                </a:solidFill>
                <a:latin typeface="Consolas"/>
              </a:rPr>
              <a:t># summary: {'Retail-Core': -5.3, 'Business': -15.0}</a:t>
            </a:r>
          </a:p>
        </p:txBody>
      </p:sp>
      <p:sp>
        <p:nvSpPr>
          <p:cNvPr id="14" name="Rounded Rectangle 13"/>
          <p:cNvSpPr/>
          <p:nvPr/>
        </p:nvSpPr>
        <p:spPr>
          <a:xfrm>
            <a:off x="530352" y="4345939"/>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46781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bug_39ada6eff46d.png"/>
          <p:cNvPicPr>
            <a:picLocks noChangeAspect="1"/>
          </p:cNvPicPr>
          <p:nvPr/>
        </p:nvPicPr>
        <p:blipFill>
          <a:blip r:embed="rId4"/>
          <a:stretch>
            <a:fillRect/>
          </a:stretch>
        </p:blipFill>
        <p:spPr>
          <a:xfrm>
            <a:off x="868680" y="4787900"/>
            <a:ext cx="237744" cy="237744"/>
          </a:xfrm>
          <a:prstGeom prst="rect">
            <a:avLst/>
          </a:prstGeom>
        </p:spPr>
      </p:pic>
      <p:sp>
        <p:nvSpPr>
          <p:cNvPr id="17" name="TextBox 16"/>
          <p:cNvSpPr txBox="1"/>
          <p:nvPr/>
        </p:nvSpPr>
        <p:spPr>
          <a:xfrm>
            <a:off x="1399031" y="449224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8" name="TextBox 17"/>
          <p:cNvSpPr txBox="1"/>
          <p:nvPr/>
        </p:nvSpPr>
        <p:spPr>
          <a:xfrm>
            <a:off x="1399031" y="4711700"/>
            <a:ext cx="9987991" cy="682752"/>
          </a:xfrm>
          <a:prstGeom prst="rect">
            <a:avLst/>
          </a:prstGeom>
          <a:noFill/>
        </p:spPr>
        <p:txBody>
          <a:bodyPr wrap="square" anchor="t" lIns="0" rIns="0" tIns="0" bIns="0">
            <a:spAutoFit/>
          </a:bodyPr>
          <a:lstStyle/>
          <a:p>
            <a:r>
              <a:rPr sz="1500" b="0" i="0">
                <a:solidFill>
                  <a:srgbClr val="1A1440"/>
                </a:solidFill>
                <a:latin typeface="Calibri"/>
              </a:rPr>
              <a:t>"Orders per customer fell most in Business, 15.0 percent": Meera opens Business accounts first, and the head of Retail-Plus is told his tier is not in the table.</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1" name="Oval 20"/>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3" name="Oval 22"/>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5" name="Oval 24"/>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7" name="Oval 26"/>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60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segments came back as None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function that prints and returns nothing hands back None, and the filter drops it without a word.</a:t>
            </a:r>
          </a:p>
        </p:txBody>
      </p:sp>
      <p:pic>
        <p:nvPicPr>
          <p:cNvPr id="9" name="mermaid diagram" descr="e248c891e60b1bd4.png"/>
          <p:cNvPicPr>
            <a:picLocks noChangeAspect="1"/>
          </p:cNvPicPr>
          <p:nvPr/>
        </p:nvPicPr>
        <p:blipFill>
          <a:blip r:embed="rId5"/>
          <a:stretch>
            <a:fillRect/>
          </a:stretch>
        </p:blipFill>
        <p:spPr>
          <a:xfrm>
            <a:off x="530352" y="1956816"/>
            <a:ext cx="11130991" cy="1331913"/>
          </a:xfrm>
          <a:prstGeom prst="rect">
            <a:avLst/>
          </a:prstGeom>
        </p:spPr>
      </p:pic>
      <p:sp>
        <p:nvSpPr>
          <p:cNvPr id="10" name="Rounded Rectangle 9"/>
          <p:cNvSpPr/>
          <p:nvPr/>
        </p:nvSpPr>
        <p:spPr>
          <a:xfrm>
            <a:off x="530352" y="3435033"/>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63049"/>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53905"/>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groups in and groups out: four segments went in, two came back with a number.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60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return every change, flag it in a column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helper returns the change every time, in the same type, and the flag sits beside it.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3910190"/>
                <a:gridCol w="914400"/>
                <a:gridCol w="914400"/>
                <a:gridCol w="914400"/>
                <a:gridCol w="44776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c>
                  <a:txBody>
                    <a:bodyPr/>
                    <a:lstStyle/>
                    <a:p>
                      <a:r>
                        <a:rPr sz="1250" b="1" i="0">
                          <a:solidFill>
                            <a:srgbClr val="FFFFFF"/>
                          </a:solidFill>
                          <a:latin typeface="Calibri"/>
                        </a:rPr>
                        <a:t>Flag</a:t>
                      </a:r>
                    </a:p>
                  </a:txBody>
                  <a:tcPr marL="101600" marR="101600" marT="38100" marB="38100" anchor="ctr">
                    <a:solidFill>
                      <a:srgbClr val="1A0F5C"/>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1.12</a:t>
                      </a:r>
                    </a:p>
                  </a:txBody>
                  <a:tcPr marL="101600" marR="101600" marT="38100" marB="38100" anchor="ctr">
                    <a:solidFill>
                      <a:srgbClr val="FFFFFF"/>
                    </a:solidFill>
                  </a:tcPr>
                </a:tc>
                <a:tc>
                  <a:txBody>
                    <a:bodyPr/>
                    <a:lstStyle/>
                    <a:p>
                      <a:r>
                        <a:rPr sz="1200" b="0" i="0">
                          <a:solidFill>
                            <a:srgbClr val="1A1440"/>
                          </a:solidFill>
                          <a:latin typeface="Calibri"/>
                        </a:rPr>
                        <a:t>1.06</a:t>
                      </a:r>
                    </a:p>
                  </a:txBody>
                  <a:tcPr marL="101600" marR="101600" marT="38100" marB="38100" anchor="ctr">
                    <a:solidFill>
                      <a:srgbClr val="FFFFFF"/>
                    </a:solidFill>
                  </a:tcPr>
                </a:tc>
                <a:tc>
                  <a:txBody>
                    <a:bodyPr/>
                    <a:lstStyle/>
                    <a:p>
                      <a:r>
                        <a:rPr sz="1200" b="0" i="0">
                          <a:solidFill>
                            <a:srgbClr val="1A1440"/>
                          </a:solidFill>
                          <a:latin typeface="Calibri"/>
                        </a:rPr>
                        <a:t>-5.3%</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2.32</a:t>
                      </a:r>
                    </a:p>
                  </a:txBody>
                  <a:tcPr marL="101600" marR="101600" marT="38100" marB="38100" anchor="ctr">
                    <a:solidFill>
                      <a:srgbClr val="F4F2FA"/>
                    </a:solidFill>
                  </a:tcPr>
                </a:tc>
                <a:tc>
                  <a:txBody>
                    <a:bodyPr/>
                    <a:lstStyle/>
                    <a:p>
                      <a:r>
                        <a:rPr sz="1200" b="0" i="0">
                          <a:solidFill>
                            <a:srgbClr val="1A1440"/>
                          </a:solidFill>
                          <a:latin typeface="Calibri"/>
                        </a:rPr>
                        <a:t>1.18</a:t>
                      </a:r>
                    </a:p>
                  </a:txBody>
                  <a:tcPr marL="101600" marR="101600" marT="38100" marB="38100" anchor="ctr">
                    <a:solidFill>
                      <a:srgbClr val="F4F2FA"/>
                    </a:solidFill>
                  </a:tcPr>
                </a:tc>
                <a:tc>
                  <a:txBody>
                    <a:bodyPr/>
                    <a:lstStyle/>
                    <a:p>
                      <a:r>
                        <a:rPr sz="1200" b="0" i="0">
                          <a:solidFill>
                            <a:srgbClr val="1A1440"/>
                          </a:solidFill>
                          <a:latin typeface="Calibri"/>
                        </a:rPr>
                        <a:t>-49.0%</a:t>
                      </a:r>
                    </a:p>
                  </a:txBody>
                  <a:tcPr marL="101600" marR="101600" marT="38100" marB="38100" anchor="ctr">
                    <a:solidFill>
                      <a:srgbClr val="F4F2FA"/>
                    </a:solidFill>
                  </a:tcPr>
                </a:tc>
                <a:tc>
                  <a:txBody>
                    <a:bodyPr/>
                    <a:lstStyle/>
                    <a:p>
                      <a:r>
                        <a:rPr sz="1200" b="0" i="0">
                          <a:solidFill>
                            <a:srgbClr val="1A1440"/>
                          </a:solidFill>
                          <a:latin typeface="Calibri"/>
                        </a:rPr>
                        <a:t>check by hand</a:t>
                      </a:r>
                    </a:p>
                  </a:txBody>
                  <a:tcPr marL="101600" marR="101600" marT="38100" marB="38100" anchor="ctr">
                    <a:solidFill>
                      <a:srgbClr val="F4F2FA"/>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1.82</a:t>
                      </a:r>
                    </a:p>
                  </a:txBody>
                  <a:tcPr marL="101600" marR="101600" marT="38100" marB="38100" anchor="ctr">
                    <a:solidFill>
                      <a:srgbClr val="FFFFFF"/>
                    </a:solidFill>
                  </a:tcPr>
                </a:tc>
                <a:tc>
                  <a:txBody>
                    <a:bodyPr/>
                    <a:lstStyle/>
                    <a:p>
                      <a:r>
                        <a:rPr sz="1200" b="0" i="0">
                          <a:solidFill>
                            <a:srgbClr val="1A1440"/>
                          </a:solidFill>
                          <a:latin typeface="Calibri"/>
                        </a:rPr>
                        <a:t>1.55</a:t>
                      </a:r>
                    </a:p>
                  </a:txBody>
                  <a:tcPr marL="101600" marR="101600" marT="38100" marB="38100" anchor="ctr">
                    <a:solidFill>
                      <a:srgbClr val="FFFFFF"/>
                    </a:solidFill>
                  </a:tcPr>
                </a:tc>
                <a:tc>
                  <a:txBody>
                    <a:bodyPr/>
                    <a:lstStyle/>
                    <a:p>
                      <a:r>
                        <a:rPr sz="1200" b="0" i="0">
                          <a:solidFill>
                            <a:srgbClr val="1A1440"/>
                          </a:solidFill>
                          <a:latin typeface="Calibri"/>
                        </a:rPr>
                        <a:t>-15.0%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2.50</a:t>
                      </a:r>
                    </a:p>
                  </a:txBody>
                  <a:tcPr marL="101600" marR="101600" marT="38100" marB="38100" anchor="ctr">
                    <a:solidFill>
                      <a:srgbClr val="F4F2FA"/>
                    </a:solidFill>
                  </a:tcPr>
                </a:tc>
                <a:tc>
                  <a:txBody>
                    <a:bodyPr/>
                    <a:lstStyle/>
                    <a:p>
                      <a:r>
                        <a:rPr sz="1200" b="0" i="0">
                          <a:solidFill>
                            <a:srgbClr val="1A1440"/>
                          </a:solidFill>
                          <a:latin typeface="Calibri"/>
                        </a:rPr>
                        <a:t>3.50</a:t>
                      </a:r>
                    </a:p>
                  </a:txBody>
                  <a:tcPr marL="101600" marR="101600" marT="38100" marB="38100" anchor="ctr">
                    <a:solidFill>
                      <a:srgbClr val="F4F2FA"/>
                    </a:solidFill>
                  </a:tcPr>
                </a:tc>
                <a:tc>
                  <a:txBody>
                    <a:bodyPr/>
                    <a:lstStyle/>
                    <a:p>
                      <a:r>
                        <a:rPr sz="1200" b="0" i="0">
                          <a:solidFill>
                            <a:srgbClr val="1A1440"/>
                          </a:solidFill>
                          <a:latin typeface="Calibri"/>
                        </a:rPr>
                        <a:t>+40.0%</a:t>
                      </a:r>
                    </a:p>
                  </a:txBody>
                  <a:tcPr marL="101600" marR="101600" marT="38100" marB="38100" anchor="ctr">
                    <a:solidFill>
                      <a:srgbClr val="F4F2FA"/>
                    </a:solidFill>
                  </a:tcPr>
                </a:tc>
                <a:tc>
                  <a:txBody>
                    <a:bodyPr/>
                    <a:lstStyle/>
                    <a:p>
                      <a:r>
                        <a:rPr sz="1200" b="0" i="0">
                          <a:solidFill>
                            <a:srgbClr val="1A1440"/>
                          </a:solidFill>
                          <a:latin typeface="Calibri"/>
                        </a:rPr>
                        <a:t>check by hand</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"Business fell most, 15.0 percent" became "Retail-Plus fell 49.0 percent, 2.32 to 1.18 orders per member; Business 15.0 percent on three orders".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15" name="Oval 14"/>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17" name="Oval 16"/>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19" name="Oval 18"/>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1" name="Oval 20"/>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60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Too small? A second route, and Kavya's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is 93 percent of the consumer fall, reached by a bridge and by subtraction alike.</a:t>
            </a:r>
          </a:p>
        </p:txBody>
      </p:sp>
      <p:pic>
        <p:nvPicPr>
          <p:cNvPr id="9" name="mermaid diagram" descr="25288249e57332ca.png"/>
          <p:cNvPicPr>
            <a:picLocks noChangeAspect="1"/>
          </p:cNvPicPr>
          <p:nvPr/>
        </p:nvPicPr>
        <p:blipFill>
          <a:blip r:embed="rId7"/>
          <a:stretch>
            <a:fillRect/>
          </a:stretch>
        </p:blipFill>
        <p:spPr>
          <a:xfrm>
            <a:off x="780897" y="1956816"/>
            <a:ext cx="10629900" cy="1357312"/>
          </a:xfrm>
          <a:prstGeom prst="rect">
            <a:avLst/>
          </a:prstGeom>
        </p:spPr>
      </p:pic>
      <p:sp>
        <p:nvSpPr>
          <p:cNvPr id="10" name="Rounded Rectangle 9"/>
          <p:cNvSpPr/>
          <p:nvPr/>
        </p:nvSpPr>
        <p:spPr>
          <a:xfrm>
            <a:off x="530352" y="34604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926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390239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3826192"/>
            <a:ext cx="9987991" cy="682752"/>
          </a:xfrm>
          <a:prstGeom prst="rect">
            <a:avLst/>
          </a:prstGeom>
          <a:noFill/>
        </p:spPr>
        <p:txBody>
          <a:bodyPr wrap="square" anchor="t" lIns="0" rIns="0" tIns="0" bIns="0">
            <a:spAutoFit/>
          </a:bodyPr>
          <a:lstStyle/>
          <a:p>
            <a:r>
              <a:rPr sz="1500" b="0" i="0">
                <a:solidFill>
                  <a:srgbClr val="1A1440"/>
                </a:solidFill>
                <a:latin typeface="Calibri"/>
              </a:rPr>
              <a:t>"Three attacks, three checks anyone can rerun. And you nearly shipped a summary that lost the one segment that matters. Count what comes back from every helper you did not write."</a:t>
            </a:r>
          </a:p>
        </p:txBody>
      </p:sp>
      <p:sp>
        <p:nvSpPr>
          <p:cNvPr id="15" name="Rounded Rectangle 14"/>
          <p:cNvSpPr/>
          <p:nvPr/>
        </p:nvSpPr>
        <p:spPr>
          <a:xfrm>
            <a:off x="530352" y="474668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07892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6"/>
          <a:stretch>
            <a:fillRect/>
          </a:stretch>
        </p:blipFill>
        <p:spPr>
          <a:xfrm>
            <a:off x="868680" y="5188648"/>
            <a:ext cx="237744" cy="237744"/>
          </a:xfrm>
          <a:prstGeom prst="rect">
            <a:avLst/>
          </a:prstGeom>
        </p:spPr>
      </p:pic>
      <p:sp>
        <p:nvSpPr>
          <p:cNvPr id="18" name="TextBox 17"/>
          <p:cNvSpPr txBox="1"/>
          <p:nvPr/>
        </p:nvSpPr>
        <p:spPr>
          <a:xfrm>
            <a:off x="1399031" y="48929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112448"/>
            <a:ext cx="9987991" cy="682752"/>
          </a:xfrm>
          <a:prstGeom prst="rect">
            <a:avLst/>
          </a:prstGeom>
          <a:noFill/>
        </p:spPr>
        <p:txBody>
          <a:bodyPr wrap="square" anchor="t" lIns="0" rIns="0" tIns="0" bIns="0">
            <a:spAutoFit/>
          </a:bodyPr>
          <a:lstStyle/>
          <a:p>
            <a:r>
              <a:rPr sz="1500" b="0" i="0">
                <a:solidFill>
                  <a:srgbClr val="1A1440"/>
                </a:solidFill>
                <a:latin typeface="Calibri"/>
              </a:rPr>
              <a:t>[D] Marketing insists the answer is acquisition and your data says frequency; how do you make the case in the room?</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Is the drop real</a:t>
            </a:r>
          </a:p>
        </p:txBody>
      </p:sp>
      <p:sp>
        <p:nvSpPr>
          <p:cNvPr id="22" name="Oval 21"/>
          <p:cNvSpPr/>
          <p:nvPr/>
        </p:nvSpPr>
        <p:spPr>
          <a:xfrm>
            <a:off x="174193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851660"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branch moved</a:t>
            </a:r>
          </a:p>
        </p:txBody>
      </p:sp>
      <p:sp>
        <p:nvSpPr>
          <p:cNvPr id="24" name="Oval 23"/>
          <p:cNvSpPr/>
          <p:nvPr/>
        </p:nvSpPr>
        <p:spPr>
          <a:xfrm>
            <a:off x="304552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155251" y="6437376"/>
            <a:ext cx="872394" cy="152146"/>
          </a:xfrm>
          <a:prstGeom prst="rect">
            <a:avLst/>
          </a:prstGeom>
          <a:noFill/>
        </p:spPr>
        <p:txBody>
          <a:bodyPr wrap="square" anchor="t" lIns="0" rIns="0" tIns="0" bIns="0">
            <a:spAutoFit/>
          </a:bodyPr>
          <a:lstStyle/>
          <a:p>
            <a:pPr algn="l"/>
            <a:r>
              <a:rPr sz="700" b="0" i="0">
                <a:solidFill>
                  <a:srgbClr val="6B6690"/>
                </a:solidFill>
                <a:latin typeface="Calibri"/>
              </a:rPr>
              <a:t>Which segment</a:t>
            </a:r>
          </a:p>
        </p:txBody>
      </p:sp>
      <p:sp>
        <p:nvSpPr>
          <p:cNvPr id="26" name="Oval 25"/>
          <p:cNvSpPr/>
          <p:nvPr/>
        </p:nvSpPr>
        <p:spPr>
          <a:xfrm>
            <a:off x="41190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228814" y="6437376"/>
            <a:ext cx="780383" cy="152146"/>
          </a:xfrm>
          <a:prstGeom prst="rect">
            <a:avLst/>
          </a:prstGeom>
          <a:noFill/>
        </p:spPr>
        <p:txBody>
          <a:bodyPr wrap="square" anchor="t" lIns="0" rIns="0" tIns="0" bIns="0">
            <a:spAutoFit/>
          </a:bodyPr>
          <a:lstStyle/>
          <a:p>
            <a:pPr algn="l"/>
            <a:r>
              <a:rPr sz="700" b="0" i="0">
                <a:solidFill>
                  <a:srgbClr val="6B6690"/>
                </a:solidFill>
                <a:latin typeface="Calibri"/>
              </a:rPr>
              <a:t>Mix or rate</a:t>
            </a:r>
          </a:p>
        </p:txBody>
      </p:sp>
      <p:sp>
        <p:nvSpPr>
          <p:cNvPr id="28" name="Oval 27"/>
          <p:cNvSpPr/>
          <p:nvPr/>
        </p:nvSpPr>
        <p:spPr>
          <a:xfrm>
            <a:off x="510063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1036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Marketing's hypothesis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