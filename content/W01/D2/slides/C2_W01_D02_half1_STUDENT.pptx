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Ask which number worries her most. The Rs 12 crore: it is about to be spent on an unchecked branch.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incentive behind each voice without judging it. Marketing is paid to</a:t>
            </a:r>
          </a:p>
          <a:p>
            <a:r>
              <a:t>acquire, so it reads every fall as an acquisition problem; that is how the role is paid and says</a:t>
            </a:r>
          </a:p>
          <a:p>
            <a:r>
              <a:t>nothing about good faith. The head of Retail-Plus wants a verdict on his tier; he gets a number in</a:t>
            </a:r>
          </a:p>
          <a:p>
            <a:r>
              <a:t>chapter 3 and a test of his cause in chapter 6. Anand Iyer, Finance, is listening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list is the curriculum row's own. Its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4 on the need and the company, 5 on the options, 8 on the build and</a:t>
            </a:r>
          </a:p>
          <a:p>
            <a:r>
              <a:t>the prediction, 7 on the trap, 4 on rates and the second route, 2 on Kavya. Open</a:t>
            </a:r>
          </a:p>
          <a:p>
            <a:r>
              <a:t>notebooks/C2_W01_D02_01_is_the_drop_real_STUDENT.ipynb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Every option runs in well under a second on 200 rows, so speed decides nothing;</a:t>
            </a:r>
          </a:p>
          <a:p>
            <a:r>
              <a:t>what separates them is the question each answers. B reads 167 rows because it drops two weeks of</a:t>
            </a:r>
          </a:p>
          <a:p>
            <a:r>
              <a:t>each quarter. Write "A: closed quarters" on the board beside rung 1. The notebook's sizing cell</a:t>
            </a:r>
          </a:p>
          <a:p>
            <a:r>
              <a:t>computes this table; run it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Q1 is 13 weeks and 91 days, the tile 11 weeks. Point at the flat</a:t>
            </a:r>
          </a:p>
          <a:p>
            <a:r>
              <a:t>stretches: revenue arrives in lumps, and weeks without a large order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chapter's trap, and it is a plausible wrong number with correct</a:t>
            </a:r>
          </a:p>
          <a:p>
            <a:r>
              <a:t>arithmetic. Say the business cost out loud: a crisis read rushes the acquisition budget. The check</a:t>
            </a:r>
          </a:p>
          <a:p>
            <a:r>
              <a:t>is cheap and nobody runs it, because a tile shows a number without its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changed: the fall Meera acts on shrank from Rs 54,40,050 to Rs 23,00,000, from</a:t>
            </a:r>
          </a:p>
          <a:p>
            <a:r>
              <a:t>25.9 to 11.0 percent; sixteen orders had not happened yet when the tile was read. The per-week row</a:t>
            </a:r>
          </a:p>
          <a:p>
            <a:r>
              <a:t>is a rate with its numerator, denominator and window. The notebook also runs option B, the same 11</a:t>
            </a:r>
          </a:p>
          <a:p>
            <a:r>
              <a:t>weeks of each, at -17.0 percent: lumpy business orders make short windows jumpy, so once a quarter</a:t>
            </a:r>
          </a:p>
          <a:p>
            <a:r>
              <a:t>closes, compare closed quarters.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second route ignores the quarter field and trusts only the dates, so if the</a:t>
            </a:r>
          </a:p>
          <a:p>
            <a:r>
              <a:t>two routes disagreed, one would be reading the file wrongly. The notebook asserts they are equal.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window length and dates, the definition, the population, the</a:t>
            </a:r>
          </a:p>
          <a:p>
            <a:r>
              <a:t>denominator, and the export's completeness. The design answer: the same weeks of both, with a rate</a:t>
            </a:r>
          </a:p>
          <a:p>
            <a:r>
              <a:t>per week beside it, switching to closed quarters at the close. Transition: the drop is real, so</a:t>
            </a:r>
          </a:p>
          <a:p>
            <a:r>
              <a:t>which 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3 on the need, 5 on the options, 8 on customers, leaves and the</a:t>
            </a:r>
          </a:p>
          <a:p>
            <a:r>
              <a:t>bridge, 10 on the discount trap with its two-minute KeyError, 2 on the second route, 2 on Kavya.</a:t>
            </a:r>
          </a:p>
          <a:p>
            <a:r>
              <a:t>Switch to 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the rupees each branch carries. A wrong split sends crores to</a:t>
            </a:r>
          </a:p>
          <a:p>
            <a:r>
              <a:t>the wrong owner for a quarter. Remind the room that price and basket fold into revenue per order on</a:t>
            </a:r>
          </a:p>
          <a:p>
            <a:r>
              <a:t>this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All four read the same 200 rows in milliseconds. The spread between orders is</a:t>
            </a:r>
          </a:p>
          <a:p>
            <a:r>
              <a:t>about Rs 9.3 lakh, the part where two branches moved together; whichever goes second is charged for</a:t>
            </a:r>
          </a:p>
          <a:p>
            <a:r>
              <a:t>it. The symmetric split follows Ang (2005), "The LMDI approach to decomposition analysis", Energy</a:t>
            </a:r>
          </a:p>
          <a:p>
            <a:r>
              <a:t>Policy, checked through Crossref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silence land: Marketing's branch is flat. Whether these are the same 69</a:t>
            </a:r>
          </a:p>
          <a:p>
            <a:r>
              <a:t>people is chapter 5's question. Revenue per order rising is not a price rise until proved; chapter 4</a:t>
            </a:r>
          </a:p>
          <a:p>
            <a:r>
              <a:t>takes it apart. Fill the tree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error</a:t>
            </a:r>
          </a:p>
          <a:p>
            <a:r>
              <a:t>is not the trap; what the third way decides 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When to switch: the direct count works only because customers did not move; the</a:t>
            </a:r>
          </a:p>
          <a:p>
            <a:r>
              <a:t>escalated case this afternoon meets a definition where they do. One breath for the interview: tree,</a:t>
            </a:r>
          </a:p>
          <a:p>
            <a:r>
              <a:t>ratios multiply back, one leaf at a time in a fixed order, rupees add.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3 on the need and Costco, 5 on the options, 8 on tree_for and</a:t>
            </a:r>
          </a:p>
          <a:p>
            <a:r>
              <a:t>describe, 7 on the roll-up trap, 5 on the second route and the room's run, 2 on Kavya.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rate, never the company's.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sizing cell measures these. Copying reads the export eight times and</a:t>
            </a:r>
          </a:p>
          <a:p>
            <a:r>
              <a:t>creates eight places for Anand's next definition change to be missed once. Ask how many times the</a:t>
            </a:r>
          </a:p>
          <a:p>
            <a:r>
              <a:t>room wants to paste chapter 2's 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it line by line: def, the parameter, the body, return. A function returns</a:t>
            </a:r>
          </a:p>
          <a:p>
            <a:r>
              <a:t>rather than prints, so the caller can put its answer in a table, a chart or a check; chapter 5 meets</a:t>
            </a:r>
          </a:p>
          <a:p>
            <a:r>
              <a:t>one that prints. A new function earns trust by reproducing a number proved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Retail-Core and Business are the two segments demonstrated; do not run Retail-Plus or Student on the</a:t>
            </a:r>
          </a:p>
          <a:p>
            <a:r>
              <a:t>projector.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Retail-Core, for comparison: 1.12 to 1.06 orders per customer,</a:t>
            </a:r>
          </a:p>
          <a:p>
            <a:r>
              <a:t>down 5.3 percent, median Rs 2,325 to Rs 2,080.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correct arithmetic, wrong question. Only the averages and the</a:t>
            </a:r>
          </a:p>
          <a:p>
            <a:r>
              <a:t>weighted figures appear; no per-segment rows are shown.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groups show the mechanism: two customers get the same vote as thirty.</a:t>
            </a:r>
          </a:p>
          <a:p>
            <a:r>
              <a:t>Count groups in and out while rolling up: four segments in, 69 customers back. Interview [F]: why</a:t>
            </a:r>
          </a:p>
          <a:p>
            <a:r>
              <a:t>can't you average four segments' rates?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When to switch:</a:t>
            </a:r>
          </a:p>
          <a:p>
            <a:r>
              <a:t>keep the function while groups are asked one at a time; switch to the pass by key for every group at</a:t>
            </a:r>
          </a:p>
          <a:p>
            <a:r>
              <a:t>once on a big file. Then the room types the your-turn cell. Do not run it on the projector and do not</a:t>
            </a:r>
          </a:p>
          <a:p>
            <a:r>
              <a:t>confirm any segment aloud; 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 One breath: a function when groups are asked one at a</a:t>
            </a:r>
          </a:p>
          <a:p>
            <a:r>
              <a:t>time and definitions change; a pass by 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3 on the need, 3 on Berkeley, 4 on the options, 5 on</a:t>
            </a:r>
          </a:p>
          <a:p>
            <a:r>
              <a:t>the lost orders, 8 on the trap and the split, 5 on the second route, 2 on Kavya.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Open by naming what the room found at the end of chapter 3: Retail-Plus, the same</a:t>
            </a:r>
          </a:p>
          <a:p>
            <a:r>
              <a:t>22 members, 51 orders to 26. The metric at stake is a blend across segments whose orders differ a</a:t>
            </a:r>
          </a:p>
          <a:p>
            <a:r>
              <a:t>several hundredfold. A wrong reading costs volume: a price rise on customers who never paid more.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Bickel, Hammel and O'Connell, Science 187, 398 to 404, 1975, citation checked</a:t>
            </a:r>
          </a:p>
          <a:p>
            <a:r>
              <a:t>through Crossref 30 Sep 2026; the 44.2 and 34.6 percent rates on 8,442 men and 4,321 women are as a</a:t>
            </a:r>
          </a:p>
          <a:p>
            <a:r>
              <a:t>2025 arXiv re-analysis (2502.10161) summarises the paper's table, so say "about"; the same summary</a:t>
            </a:r>
          </a:p>
          <a:p>
            <a:r>
              <a:t>gives the department-level finding. Swiggy, Q2 FY2026 shareholder letter, checked 30 Sep 2026:</a:t>
            </a:r>
          </a:p>
          <a:p>
            <a:r>
              <a:t>Instamart AOV Rs 697, up 14 percent in the quarter, attributed to non-grocery and large-pack mix.</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four read the same 200 rows. The notebook's sizing cell shows only C</a:t>
            </a:r>
          </a:p>
          <a:p>
            <a:r>
              <a:t>attributes rupees to a cause. Write "C: mix and rate" beside rung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Ask the room what happens to an average when its smallest items</a:t>
            </a:r>
          </a:p>
          <a:p>
            <a:r>
              <a:t>leave.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Say the decision it would have misled: a price rise on the tier</a:t>
            </a:r>
          </a:p>
          <a:p>
            <a:r>
              <a:t>whose orders already halved. Student's 14.8 percent rests on 12 orders.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Retail-Plus fell from 44.7 to 30.2 percent of orders. The rate part by segment is</a:t>
            </a:r>
          </a:p>
          <a:p>
            <a:r>
              <a:t>more than nine tenths Business, driven by one large order, as chapter 3's range showed.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When to switch: report mix-first and say so; show both orders when they disagree</a:t>
            </a:r>
          </a:p>
          <a:p>
            <a:r>
              <a:t>about which part is larger. One breath for the interview: a blend, a mix split, a number for each part.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3 on the need and HBR, 4 on the options, 6 on the overlap and the</a:t>
            </a:r>
          </a:p>
          <a:p>
            <a:r>
              <a:t>customers who slowed, 10 on the summary-script trap, 5 on the consumer business and the second route,</a:t>
            </a:r>
          </a:p>
          <a:p>
            <a:r>
              <a:t>2 on Kavya. Switch to 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retention, and its mirror, new customers. A wrong answer is</a:t>
            </a:r>
          </a:p>
          <a:p>
            <a:r>
              <a:t>Rs 12 crore spent replacing people who never left. Marketing's first claim is fair; test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Amy Gallo, "The Value of Keeping the Right Customers", Harvard Business Review,</a:t>
            </a:r>
          </a:p>
          <a:p>
            <a:r>
              <a:t>29 October 2014, checked 30 Sep 2026; the retention figure is Frederick Reichheld of Bain, quoted</a:t>
            </a:r>
          </a:p>
          <a:p>
            <a:r>
              <a:t>there. Estimates across industries: say so. Swiggy, Q2 FY2026 shareholder letter, checked 30 Sep 2026:</a:t>
            </a:r>
          </a:p>
          <a:p>
            <a:r>
              <a:t>monthly transacting users up 34.0 percent to 22.9 million while frequency fell 4.53 to 4.10, a growing count beside a falling frequency, which new users alone could produce, so the two are read apart.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run on the same 200 rows; D needs a second system to reconcile. Write "B, then</a:t>
            </a:r>
          </a:p>
          <a:p>
            <a:r>
              <a:t>C" beside rung 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Option C, customer by customer, gives the second and third numbers.</a:t>
            </a:r>
          </a:p>
          <a:p>
            <a:r>
              <a:t>Acquisition has nothing to replace on this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Run the script exactly as it is in notebook 05 and read the</a:t>
            </a:r>
          </a:p>
          <a:p>
            <a:r>
              <a:t>summary aloud. Ask whether anyone trusts it. Most will; it looks tidy.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segment the script was written to flag, a 49 percent fall, is the one it</a:t>
            </a:r>
          </a:p>
          <a:p>
            <a:r>
              <a:t>silently lost. Student, up 40 percent on two customers, also vanished. Interview [F]: why does a</a:t>
            </a:r>
          </a:p>
          <a:p>
            <a:r>
              <a:t>function that prints instead of returning break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flags: large moves are flagged, never dropped. Student's rise is two</a:t>
            </a:r>
          </a:p>
          <a:p>
            <a:r>
              <a:t>customers placing seven orders against five; the afternoon's second case returns to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bridge by consumer segment and the subtraction agree at Rs 70,280. When to</a:t>
            </a:r>
          </a:p>
          <a:p>
            <a:r>
              <a:t>switch: subtraction is quicker and hides which consumer segment moved. The Business rupees rest on</a:t>
            </a:r>
          </a:p>
          <a:p>
            <a:r>
              <a:t>three lakh-sized orders out of twenty, too few to call a trend; say both findings side by side.</a:t>
            </a:r>
          </a:p>
          <a:p>
            <a:r>
              <a:t>One breath for [D]: test their claim in its own terms, show the overlap, show where the fall is, end</a:t>
            </a:r>
          </a:p>
          <a:p>
            <a:r>
              <a:t>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 Id="rId6"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1.png"/><Relationship Id="rId6"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2.xml"/><Relationship Id="rId6" Type="http://schemas.openxmlformats.org/officeDocument/2006/relationships/image" Target="../media/image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4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1800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02051"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13251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1656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Which segment</a:t>
            </a:r>
          </a:p>
        </p:txBody>
      </p:sp>
      <p:sp>
        <p:nvSpPr>
          <p:cNvPr id="17" name="TextBox 16"/>
          <p:cNvSpPr txBox="1"/>
          <p:nvPr/>
        </p:nvSpPr>
        <p:spPr>
          <a:xfrm>
            <a:off x="565127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035325"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Mix or rate</a:t>
            </a:r>
          </a:p>
        </p:txBody>
      </p:sp>
      <p:sp>
        <p:nvSpPr>
          <p:cNvPr id="19" name="TextBox 18"/>
          <p:cNvSpPr txBox="1"/>
          <p:nvPr/>
        </p:nvSpPr>
        <p:spPr>
          <a:xfrm>
            <a:off x="705173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435786"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Marketing's hypothesis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and she names the two branches she suspects.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3" name="Oval 3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5" name="Oval 3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voices, three incentives,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owns a lever, so the decomposition decides whose problem the fall is.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branch costs to move, and who pays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has a lever, an owner and a price, and they are not the same price.</a:t>
            </a:r>
          </a:p>
        </p:txBody>
      </p:sp>
      <p:pic>
        <p:nvPicPr>
          <p:cNvPr id="9" name="mermaid diagram" descr="bf28fb96691cce1e.png"/>
          <p:cNvPicPr>
            <a:picLocks noChangeAspect="1"/>
          </p:cNvPicPr>
          <p:nvPr/>
        </p:nvPicPr>
        <p:blipFill>
          <a:blip r:embed="rId5"/>
          <a:stretch>
            <a:fillRect/>
          </a:stretch>
        </p:blipFill>
        <p:spPr>
          <a:xfrm>
            <a:off x="530352" y="2584071"/>
            <a:ext cx="4786326" cy="2713985"/>
          </a:xfrm>
          <a:prstGeom prst="rect">
            <a:avLst/>
          </a:prstGeom>
        </p:spPr>
      </p:pic>
      <p:graphicFrame>
        <p:nvGraphicFramePr>
          <p:cNvPr id="10" name="Table 9"/>
          <p:cNvGraphicFramePr>
            <a:graphicFrameLocks noGrp="1"/>
          </p:cNvGraphicFramePr>
          <p:nvPr/>
        </p:nvGraphicFramePr>
        <p:xfrm>
          <a:off x="5761917" y="1956816"/>
          <a:ext cx="5899423" cy="2712720"/>
        </p:xfrm>
        <a:graphic>
          <a:graphicData uri="http://schemas.openxmlformats.org/drawingml/2006/table">
            <a:tbl>
              <a:tblPr firstRow="0" bandRow="0">
                <a:tableStyleId>{2D5ABB26-0587-4C30-8999-92F81FD0307C}</a:tableStyleId>
              </a:tblPr>
              <a:tblGrid>
                <a:gridCol w="1100694"/>
                <a:gridCol w="1606002"/>
                <a:gridCol w="1302817"/>
                <a:gridCol w="188991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542544">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749808">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542544">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542544">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anyone explains a fall, list what could make one appear when the business had none.</a:t>
            </a:r>
          </a:p>
        </p:txBody>
      </p:sp>
      <p:pic>
        <p:nvPicPr>
          <p:cNvPr id="9" name="mermaid diagram" descr="750c9beb4c70a343.png"/>
          <p:cNvPicPr>
            <a:picLocks noChangeAspect="1"/>
          </p:cNvPicPr>
          <p:nvPr/>
        </p:nvPicPr>
        <p:blipFill>
          <a:blip r:embed="rId5"/>
          <a:stretch>
            <a:fillRect/>
          </a:stretch>
        </p:blipFill>
        <p:spPr>
          <a:xfrm>
            <a:off x="2152497" y="1956816"/>
            <a:ext cx="7886700" cy="2028825"/>
          </a:xfrm>
          <a:prstGeom prst="rect">
            <a:avLst/>
          </a:prstGeom>
        </p:spPr>
      </p:pic>
      <p:sp>
        <p:nvSpPr>
          <p:cNvPr id="10" name="Rounded Rectangle 9"/>
          <p:cNvSpPr/>
          <p:nvPr/>
        </p:nvSpPr>
        <p:spPr>
          <a:xfrm>
            <a:off x="530352" y="41319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on a dashboard passed through four hands, and each hand can manufacture a fall.</a:t>
            </a:r>
          </a:p>
        </p:txBody>
      </p:sp>
      <p:pic>
        <p:nvPicPr>
          <p:cNvPr id="9" name="mermaid diagram" descr="adfb5551bed4fb3a.png"/>
          <p:cNvPicPr>
            <a:picLocks noChangeAspect="1"/>
          </p:cNvPicPr>
          <p:nvPr/>
        </p:nvPicPr>
        <p:blipFill>
          <a:blip r:embed="rId6"/>
          <a:stretch>
            <a:fillRect/>
          </a:stretch>
        </p:blipFill>
        <p:spPr>
          <a:xfrm>
            <a:off x="1954373" y="1664208"/>
            <a:ext cx="828294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these addresses: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ladder, six chapters, one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chapter answers a harder question, and each has a trap waiting in 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828596"/>
                <a:gridCol w="3541279"/>
                <a:gridCol w="3846714"/>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Mix or rate?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Marketing's hypothesis</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The memo and its evidence</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where changes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branches multiply into revenue, so their changes multiply too, and never simply add.</a:t>
            </a:r>
          </a:p>
        </p:txBody>
      </p:sp>
      <p:pic>
        <p:nvPicPr>
          <p:cNvPr id="9" name="mermaid diagram" descr="127170f2dc7bea20.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slide says revenue fell by a quarter; the first chapter checks the windows before the story.</a:t>
            </a:r>
          </a:p>
        </p:txBody>
      </p:sp>
      <p:sp>
        <p:nvSpPr>
          <p:cNvPr id="10" name="Rounded Rectangle 9"/>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Q2 figure is the dashboard tile, the arithmetic on the slide is correct, and Rs 12 crore rides on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Retailers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store chain reports growth only on periods and stores that match, because a mismatch reads as growth or loss.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Two windows of different length never compare as totals; the retail industry built its calendars around that.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size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answers a slightly different question; the one that fits depends on whether Q2 has closed.</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75993"/>
                <a:gridCol w="1536025"/>
                <a:gridCol w="1526471"/>
                <a:gridCol w="43925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Controls for</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Length, once both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Length and position, while open</a:t>
                      </a:r>
                    </a:p>
                  </a:txBody>
                  <a:tcPr marL="101600" marR="101600" marT="38100" marB="38100" anchor="ctr">
                    <a:solidFill>
                      <a:srgbClr val="F4F2FA"/>
                    </a:solidFill>
                  </a:tcPr>
                </a:tc>
              </a:tr>
              <a:tr h="335280">
                <a:tc>
                  <a:txBody>
                    <a:bodyPr/>
                    <a:lstStyle/>
                    <a:p>
                      <a:r>
                        <a:rPr sz="1200" b="0" i="0">
                          <a:solidFill>
                            <a:srgbClr val="1A1440"/>
                          </a:solidFill>
                          <a:latin typeface="Calibri"/>
                        </a:rPr>
                        <a:t>C. Per day, closed quarters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a:t>
                      </a:r>
                    </a:p>
                  </a:txBody>
                  <a:tcPr marL="101600" marR="101600" marT="38100" marB="38100" anchor="ctr">
                    <a:solidFill>
                      <a:srgbClr val="FFFFFF"/>
                    </a:solidFill>
                  </a:tcPr>
                </a:tc>
                <a:tc>
                  <a:txBody>
                    <a:bodyPr/>
                    <a:lstStyle/>
                    <a:p>
                      <a:r>
                        <a:rPr sz="1200" b="0" i="0">
                          <a:solidFill>
                            <a:srgbClr val="1A1440"/>
                          </a:solidFill>
                          <a:latin typeface="Calibri"/>
                        </a:rPr>
                        <a:t>Length, whatever the windows</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The season; needs last year's rows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closed on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Q2 is the tile as it was cut.</a:t>
            </a:r>
          </a:p>
        </p:txBody>
      </p:sp>
      <p:pic>
        <p:nvPicPr>
          <p:cNvPr id="9" name="mermaid diagram" descr="b33e59590f9b633b.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totals never measured the same stretch of time, and the cumulative lines show where the tile stopped.</a:t>
            </a:r>
          </a:p>
        </p:txBody>
      </p:sp>
      <p:pic>
        <p:nvPicPr>
          <p:cNvPr id="9" name="mermaid diagram" descr="55fabce3bd0560f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line that ends at Rs 210.0 lakh is Q1. The other is Q2: Rs 155.6 lakh at week 11, which is the tile, and Rs 187.0 lakh at the close.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missing weeks look exactly like lost customers, and the decision they mislead is the largest on Meera's desk.</a:t>
            </a:r>
          </a:p>
        </p:txBody>
      </p:sp>
      <p:pic>
        <p:nvPicPr>
          <p:cNvPr id="9" name="mermaid diagram" descr="a37146c08409b527.png"/>
          <p:cNvPicPr>
            <a:picLocks noChangeAspect="1"/>
          </p:cNvPicPr>
          <p:nvPr/>
        </p:nvPicPr>
        <p:blipFill>
          <a:blip r:embed="rId5"/>
          <a:stretch>
            <a:fillRect/>
          </a:stretch>
        </p:blipFill>
        <p:spPr>
          <a:xfrm>
            <a:off x="2181330" y="1664208"/>
            <a:ext cx="78290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so it holds 11 weeks of trading against 13. </a:t>
            </a:r>
            <a:r>
              <a:rPr sz="1500" b="1" i="0">
                <a:solidFill>
                  <a:srgbClr val="1A1440"/>
                </a:solidFill>
                <a:latin typeface="Calibri"/>
              </a:rPr>
              <a:t>The check</a:t>
            </a:r>
            <a:r>
              <a:rPr sz="1500" b="0" i="0">
                <a:solidFill>
                  <a:srgbClr val="1A1440"/>
                </a:solidFill>
                <a:latin typeface="Calibri"/>
              </a:rPr>
              <a:t> that catches it in a minute: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and what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weeks the tile never saw hold Rs 31,40,050, and the real fall is Rs 23,00,000.</a:t>
            </a:r>
          </a:p>
        </p:txBody>
      </p:sp>
      <p:pic>
        <p:nvPicPr>
          <p:cNvPr id="9" name="mermaid diagram" descr="9a7212ba8b39b22e.png"/>
          <p:cNvPicPr>
            <a:picLocks noChangeAspect="1"/>
          </p:cNvPicPr>
          <p:nvPr/>
        </p:nvPicPr>
        <p:blipFill>
          <a:blip r:embed="rId5"/>
          <a:stretch>
            <a:fillRect/>
          </a:stretch>
        </p:blipFill>
        <p:spPr>
          <a:xfrm>
            <a:off x="780897" y="1956816"/>
            <a:ext cx="10629900" cy="1600200"/>
          </a:xfrm>
          <a:prstGeom prst="rect">
            <a:avLst/>
          </a:prstGeom>
        </p:spPr>
      </p:pic>
      <p:graphicFrame>
        <p:nvGraphicFramePr>
          <p:cNvPr id="10" name="Table 9"/>
          <p:cNvGraphicFramePr>
            <a:graphicFrameLocks noGrp="1"/>
          </p:cNvGraphicFramePr>
          <p:nvPr/>
        </p:nvGraphicFramePr>
        <p:xfrm>
          <a:off x="530352" y="3703320"/>
          <a:ext cx="11130990" cy="1005840"/>
        </p:xfrm>
        <a:graphic>
          <a:graphicData uri="http://schemas.openxmlformats.org/drawingml/2006/table">
            <a:tbl>
              <a:tblPr firstRow="0" bandRow="0">
                <a:tableStyleId>{2D5ABB26-0587-4C30-8999-92F81FD0307C}</a:tableStyleId>
              </a:tblPr>
              <a:tblGrid>
                <a:gridCol w="5048040"/>
                <a:gridCol w="2584275"/>
                <a:gridCol w="2584275"/>
                <a:gridCol w="914400"/>
              </a:tblGrid>
              <a:tr h="335280">
                <a:tc>
                  <a:txBody>
                    <a:bodyPr/>
                    <a:lstStyle/>
                    <a:p>
                      <a:r>
                        <a:rPr sz="1250" b="1" i="0">
                          <a:solidFill>
                            <a:srgbClr val="FFFFFF"/>
                          </a:solidFill>
                          <a:latin typeface="Calibri"/>
                        </a:rPr>
                        <a:t>Fair reading</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Closed quarters, 13 weeks each</a:t>
                      </a:r>
                    </a:p>
                  </a:txBody>
                  <a:tcPr marL="101600" marR="101600" marT="38100" marB="38100" anchor="ctr">
                    <a:solidFill>
                      <a:srgbClr val="FFFFFF"/>
                    </a:solidFill>
                  </a:tcPr>
                </a:tc>
                <a:tc>
                  <a:txBody>
                    <a:bodyPr/>
                    <a:lstStyle/>
                    <a:p>
                      <a:r>
                        <a:rPr sz="1200" b="0" i="0">
                          <a:solidFill>
                            <a:srgbClr val="1A1440"/>
                          </a:solidFill>
                          <a:latin typeface="Calibri"/>
                        </a:rPr>
                        <a:t>Rs 2,10,00,000</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Per week, Q1 against the tile</a:t>
                      </a:r>
                    </a:p>
                  </a:txBody>
                  <a:tcPr marL="101600" marR="101600" marT="38100" marB="38100" anchor="ctr">
                    <a:solidFill>
                      <a:srgbClr val="F4F2FA"/>
                    </a:solidFill>
                  </a:tcPr>
                </a:tc>
                <a:tc>
                  <a:txBody>
                    <a:bodyPr/>
                    <a:lstStyle/>
                    <a:p>
                      <a:r>
                        <a:rPr sz="1200" b="0" i="0">
                          <a:solidFill>
                            <a:srgbClr val="1A1440"/>
                          </a:solidFill>
                          <a:latin typeface="Calibri"/>
                        </a:rPr>
                        <a:t>Rs 16,15,385</a:t>
                      </a:r>
                    </a:p>
                  </a:txBody>
                  <a:tcPr marL="101600" marR="101600" marT="38100" marB="38100" anchor="ctr">
                    <a:solidFill>
                      <a:srgbClr val="F4F2FA"/>
                    </a:solidFill>
                  </a:tcPr>
                </a:tc>
                <a:tc>
                  <a:txBody>
                    <a:bodyPr/>
                    <a:lstStyle/>
                    <a:p>
                      <a:r>
                        <a:rPr sz="1200" b="0" i="0">
                          <a:solidFill>
                            <a:srgbClr val="1A1440"/>
                          </a:solidFill>
                          <a:latin typeface="Calibri"/>
                        </a:rPr>
                        <a:t>Rs 14,14,541</a:t>
                      </a:r>
                    </a:p>
                  </a:txBody>
                  <a:tcPr marL="101600" marR="101600" marT="38100" marB="38100" anchor="ctr">
                    <a:solidFill>
                      <a:srgbClr val="F4F2FA"/>
                    </a:solidFill>
                  </a:tcPr>
                </a:tc>
                <a:tc>
                  <a:txBody>
                    <a:bodyPr/>
                    <a:lstStyle/>
                    <a:p>
                      <a:r>
                        <a:rPr sz="1200" b="0" i="0">
                          <a:solidFill>
                            <a:srgbClr val="1A1440"/>
                          </a:solidFill>
                          <a:latin typeface="Calibri"/>
                        </a:rPr>
                        <a:t>-12.4%</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same fall, added by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Key the accumulator by the month in the date instead of the quarter field, and the answer must not move.</a:t>
            </a:r>
          </a:p>
        </p:txBody>
      </p:sp>
      <p:pic>
        <p:nvPicPr>
          <p:cNvPr id="9" name="mermaid diagram" descr="dc3eb2c99d3aabd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drop is real, it is 11.0 percent, and one comparison is still missing.</a:t>
            </a:r>
          </a:p>
        </p:txBody>
      </p:sp>
      <p:pic>
        <p:nvPicPr>
          <p:cNvPr id="9" name="mermaid diagram" descr="7963a25720b9d1a6.png"/>
          <p:cNvPicPr>
            <a:picLocks noChangeAspect="1"/>
          </p:cNvPicPr>
          <p:nvPr/>
        </p:nvPicPr>
        <p:blipFill>
          <a:blip r:embed="rId7"/>
          <a:stretch>
            <a:fillRect/>
          </a:stretch>
        </p:blipFill>
        <p:spPr>
          <a:xfrm>
            <a:off x="2152497" y="1956816"/>
            <a:ext cx="78867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tree meets both quarters, rupees go on each branch, and the price branch hides a blank.</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owns a Rs 23,00,000 problem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has an owner and a price tag, so the split decides who acts and whether Rs 12 crore is aimed right.</a:t>
            </a:r>
          </a:p>
        </p:txBody>
      </p:sp>
      <p:pic>
        <p:nvPicPr>
          <p:cNvPr id="9" name="mermaid diagram" descr="f5172a9ff23b1f70.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Visits and basket, orders and order value: companies publish the split because investors ask Meera's question.</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at a net average order value of Rs 525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31 July 2026</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quick-commerce app and the world's largest store chain both answer "more visits or bigger baskets?" every quarter.</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split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order in which the branches move changes each branch's rupees, and never which branch is guilty.</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(log-mean)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and Marketing says customers are the problem.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Marketing wants to fund did not move, and the other two multiply back to the fall.</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frequency costs Rs 51,57,895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leaf at a time in the tree's order, and the moves add exactly to the fall.</a:t>
            </a:r>
          </a:p>
        </p:txBody>
      </p:sp>
      <p:pic>
        <p:nvPicPr>
          <p:cNvPr id="9" name="mermaid diagram" descr="a7ceda988e2fd1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key,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discount branch stops on a KeyError, and each way past it hides a different decision.</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a missing discount as zero gives a share, a story and a decision.</a:t>
            </a:r>
          </a:p>
        </p:txBody>
      </p:sp>
      <p:pic>
        <p:nvPicPr>
          <p:cNvPr id="9" name="mermaid diagram" descr="a5ab49e5be021e19.png"/>
          <p:cNvPicPr>
            <a:picLocks noChangeAspect="1"/>
          </p:cNvPicPr>
          <p:nvPr/>
        </p:nvPicPr>
        <p:blipFill>
          <a:blip r:embed="rId5"/>
          <a:stretch>
            <a:fillRect/>
          </a:stretch>
        </p:blipFill>
        <p:spPr>
          <a:xfrm>
            <a:off x="780897" y="1956816"/>
            <a:ext cx="10629900" cy="1357312"/>
          </a:xfrm>
          <a:prstGeom prst="rect">
            <a:avLst/>
          </a:prstGeom>
        </p:spPr>
      </p:pic>
      <p:graphicFrame>
        <p:nvGraphicFramePr>
          <p:cNvPr id="10" name="Table 9"/>
          <p:cNvGraphicFramePr>
            <a:graphicFrameLocks noGrp="1"/>
          </p:cNvGraphicFramePr>
          <p:nvPr/>
        </p:nvGraphicFramePr>
        <p:xfrm>
          <a:off x="530352" y="34604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predict what they 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the field is recorded, 71.7 percent of Q2's orders carry a discount, and the branch holds at most Rs 12,900.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lost orders at Q1's Rs 1,84,211 each is the bridge's frequency step, to the rupee.</a:t>
            </a:r>
          </a:p>
        </p:txBody>
      </p:sp>
      <p:pic>
        <p:nvPicPr>
          <p:cNvPr id="9" name="mermaid diagram" descr="7a8e3d83921bd704.png"/>
          <p:cNvPicPr>
            <a:picLocks noChangeAspect="1"/>
          </p:cNvPicPr>
          <p:nvPr/>
        </p:nvPicPr>
        <p:blipFill>
          <a:blip r:embed="rId7"/>
          <a:stretch>
            <a:fillRect/>
          </a:stretch>
        </p:blipFill>
        <p:spPr>
          <a:xfrm>
            <a:off x="2152497" y="1956816"/>
            <a:ext cx="78867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same tree for every segment and quarter means writing it once, as a function that returns its answer.</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kinds of customer earn money four ways, so each has a different first number to watch.</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89" cy="1849120"/>
        </p:xfrm>
        <a:graphic>
          <a:graphicData uri="http://schemas.openxmlformats.org/drawingml/2006/table">
            <a:tbl>
              <a:tblPr firstRow="0" bandRow="0">
                <a:tableStyleId>{2D5ABB26-0587-4C30-8999-92F81FD0307C}</a:tableStyleId>
              </a:tblPr>
              <a:tblGrid>
                <a:gridCol w="3466109"/>
                <a:gridCol w="3343999"/>
                <a:gridCol w="4320881"/>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baskets, few buyers</a:t>
                      </a:r>
                    </a:p>
                  </a:txBody>
                  <a:tcPr marL="101600" marR="101600" marT="38100" marB="38100" anchor="ctr">
                    <a:solidFill>
                      <a:srgbClr val="F4F2FA"/>
                    </a:solidFill>
                  </a:tcPr>
                </a:tc>
                <a:tc>
                  <a:txBody>
                    <a:bodyPr/>
                    <a:lstStyle/>
                    <a:p>
                      <a:r>
                        <a:rPr sz="1400" b="0" i="0">
                          <a:solidFill>
                            <a:srgbClr val="1A1440"/>
                          </a:solidFill>
                          <a:latin typeface="Calibri"/>
                        </a:rPr>
                        <a:t>How many orders a figure rests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blended rate would hide where renewals are weaker, so the segment sits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membership business reports its rate by segment because the blend can hide the one that slips.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Copy, function or group by key: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five numbers for eight groups can be pasted, written once, or gathered in one pass.</a:t>
            </a:r>
          </a:p>
        </p:txBody>
      </p:sp>
      <p:pic>
        <p:nvPicPr>
          <p:cNvPr id="9" name="mermaid diagram" descr="0601c7293ef1a251.png"/>
          <p:cNvPicPr>
            <a:picLocks noChangeAspect="1"/>
          </p:cNvPicPr>
          <p:nvPr/>
        </p:nvPicPr>
        <p:blipFill>
          <a:blip r:embed="rId5"/>
          <a:stretch>
            <a:fillRect/>
          </a:stretch>
        </p:blipFill>
        <p:spPr>
          <a:xfrm>
            <a:off x="530352" y="2093010"/>
            <a:ext cx="4786326" cy="3696107"/>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0" name="Oval 1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2" name="Oval 2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function holds the day's definitions, so every segment and quarter gets the same ones.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On all of Q1 it returns 114 orders, 69 customers and 1.65; on all of Q2, 86, 69 and 1.25: chapter 2, reproduced.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3" name="Oval 2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5" name="Oval 2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Q1's median Business order was Rs 9,83,780.</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typical Business order barely changed; one large order stretched the extremes.</a:t>
            </a:r>
          </a:p>
        </p:txBody>
      </p:sp>
      <p:graphicFrame>
        <p:nvGraphicFramePr>
          <p:cNvPr id="9" name="Table 8"/>
          <p:cNvGraphicFramePr>
            <a:graphicFrameLocks noGrp="1"/>
          </p:cNvGraphicFramePr>
          <p:nvPr/>
        </p:nvGraphicFramePr>
        <p:xfrm>
          <a:off x="530352" y="1919668"/>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8d841d31d1404275.png"/>
          <p:cNvPicPr>
            <a:picLocks noChangeAspect="1"/>
          </p:cNvPicPr>
          <p:nvPr/>
        </p:nvPicPr>
        <p:blipFill>
          <a:blip r:embed="rId5"/>
          <a:stretch>
            <a:fillRect/>
          </a:stretch>
        </p:blipFill>
        <p:spPr>
          <a:xfrm>
            <a:off x="3524097" y="3419284"/>
            <a:ext cx="5143500" cy="254317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Averaging the four segments' orders per customer gives a softer story and a different decision.</a:t>
            </a:r>
          </a:p>
        </p:txBody>
      </p:sp>
      <p:pic>
        <p:nvPicPr>
          <p:cNvPr id="9" name="mermaid diagram" descr="6e4528260c9d3c3e.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segment's rate carries its own denominator, and the roll-up must carry it too.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pass grouped by key must give tree_for's numbers for all eight groups, and then the room runs the segments.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rungs climbed, and a segment is on your own screen.</a:t>
            </a:r>
          </a:p>
        </p:txBody>
      </p:sp>
      <p:pic>
        <p:nvPicPr>
          <p:cNvPr id="9" name="mermaid diagram" descr="f3d033c7bc91f37e.png"/>
          <p:cNvPicPr>
            <a:picLocks noChangeAspect="1"/>
          </p:cNvPicPr>
          <p:nvPr/>
        </p:nvPicPr>
        <p:blipFill>
          <a:blip r:embed="rId7"/>
          <a:stretch>
            <a:fillRect/>
          </a:stretch>
        </p:blipFill>
        <p:spPr>
          <a:xfrm>
            <a:off x="773753" y="1956816"/>
            <a:ext cx="10644187"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"Two functions, eight groups, no copied loops. Say the segment on your screen with its denominator before anyone draws a conclusion from it."</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Mix or rate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and Marketing reads a price signal into a blend.</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per order rose from Rs 1,84,211 to Rs 2,17,442, and the plan is about to raise prices on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1,000x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Berkeley 1973: a blend moved, the mix did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University-wide admission rates differed by sex while department by department they did not differ significantly.</a:t>
            </a:r>
          </a:p>
        </p:txBody>
      </p:sp>
      <p:pic>
        <p:nvPicPr>
          <p:cNvPr id="9" name="mermaid diagram" descr="7399fa5d65549d13.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8915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When groups differ in rate and their shares move, a blended rate can move with no group moving. Swiggy said the same of Instamart's order value, up 14 percent in a quarter to Rs 697, as non-grocery categories took a larger share of gross order value.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of one rise,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Only one reading puts rupees on "the mix changed" and on "customers paid more" and makes them add.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can say</a:t>
                      </a:r>
                    </a:p>
                  </a:txBody>
                  <a:tcPr marL="101600" marR="101600" marT="38100" marB="38100" anchor="ctr">
                    <a:solidFill>
                      <a:srgbClr val="1A0F5C"/>
                    </a:solidFill>
                  </a:tcPr>
                </a:tc>
              </a:tr>
              <a:tr h="369824">
                <a:tc>
                  <a:txBody>
                    <a:bodyPr/>
                    <a:lstStyle/>
                    <a:p>
                      <a:r>
                        <a:rPr sz="1400" b="0" i="0">
                          <a:solidFill>
                            <a:srgbClr val="1A1440"/>
                          </a:solidFill>
                          <a:latin typeface="Calibri"/>
                        </a:rPr>
                        <a:t>A. Read the blended change</a:t>
                      </a:r>
                    </a:p>
                  </a:txBody>
                  <a:tcPr marL="101600" marR="101600" marT="38100" marB="38100" anchor="ctr">
                    <a:solidFill>
                      <a:srgbClr val="FFFFFF"/>
                    </a:solidFill>
                  </a:tcPr>
                </a:tc>
                <a:tc>
                  <a:txBody>
                    <a:bodyPr/>
                    <a:lstStyle/>
                    <a:p>
                      <a:r>
                        <a:rPr sz="1400" b="0" i="0">
                          <a:solidFill>
                            <a:srgbClr val="1A1440"/>
                          </a:solidFill>
                          <a:latin typeface="Calibri"/>
                        </a:rPr>
                        <a:t>The size of the rise, nothing about why</a:t>
                      </a:r>
                    </a:p>
                  </a:txBody>
                  <a:tcPr marL="101600" marR="101600" marT="38100" marB="38100" anchor="ctr">
                    <a:solidFill>
                      <a:srgbClr val="FFFFFF"/>
                    </a:solidFill>
                  </a:tcPr>
                </a:tc>
              </a:tr>
              <a:tr h="369824">
                <a:tc>
                  <a:txBody>
                    <a:bodyPr/>
                    <a:lstStyle/>
                    <a:p>
                      <a:r>
                        <a:rPr sz="14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400" b="0" i="0">
                          <a:solidFill>
                            <a:srgbClr val="1A1440"/>
                          </a:solidFill>
                          <a:latin typeface="Calibri"/>
                        </a:rPr>
                        <a:t>Whether any segment paid more</a:t>
                      </a:r>
                    </a:p>
                  </a:txBody>
                  <a:tcPr marL="101600" marR="101600" marT="38100" marB="38100" anchor="ctr">
                    <a:solidFill>
                      <a:srgbClr val="F4F2FA"/>
                    </a:solidFill>
                  </a:tcPr>
                </a:tc>
              </a:tr>
              <a:tr h="369824">
                <a:tc>
                  <a:txBody>
                    <a:bodyPr/>
                    <a:lstStyle/>
                    <a:p>
                      <a:r>
                        <a:rPr sz="1400" b="0" i="0">
                          <a:solidFill>
                            <a:srgbClr val="1A1440"/>
                          </a:solidFill>
                          <a:latin typeface="Calibri"/>
                        </a:rPr>
                        <a:t>C. Split into mix and rate</a:t>
                      </a:r>
                    </a:p>
                  </a:txBody>
                  <a:tcPr marL="101600" marR="101600" marT="38100" marB="38100" anchor="ctr">
                    <a:solidFill>
                      <a:srgbClr val="FFFFFF"/>
                    </a:solidFill>
                  </a:tcPr>
                </a:tc>
                <a:tc>
                  <a:txBody>
                    <a:bodyPr/>
                    <a:lstStyle/>
                    <a:p>
                      <a:r>
                        <a:rPr sz="1400" b="0" i="0">
                          <a:solidFill>
                            <a:srgbClr val="1A1440"/>
                          </a:solidFill>
                          <a:latin typeface="Calibri"/>
                        </a:rPr>
                        <a:t>Rupees from each, adding to Rs 33,231</a:t>
                      </a:r>
                    </a:p>
                  </a:txBody>
                  <a:tcPr marL="101600" marR="101600" marT="38100" marB="38100" anchor="ctr">
                    <a:solidFill>
                      <a:srgbClr val="FFFFFF"/>
                    </a:solidFill>
                  </a:tcPr>
                </a:tc>
              </a:tr>
              <a:tr h="369824">
                <a:tc>
                  <a:txBody>
                    <a:bodyPr/>
                    <a:lstStyle/>
                    <a:p>
                      <a:r>
                        <a:rPr sz="1400" b="0" i="0">
                          <a:solidFill>
                            <a:srgbClr val="1A1440"/>
                          </a:solidFill>
                          <a:latin typeface="Calibri"/>
                        </a:rPr>
                        <a:t>D. Each segment's median order</a:t>
                      </a:r>
                    </a:p>
                  </a:txBody>
                  <a:tcPr marL="101600" marR="101600" marT="38100" marB="38100" anchor="ctr">
                    <a:solidFill>
                      <a:srgbClr val="F4F2FA"/>
                    </a:solidFill>
                  </a:tcPr>
                </a:tc>
                <a:tc>
                  <a:txBody>
                    <a:bodyPr/>
                    <a:lstStyle/>
                    <a:p>
                      <a:r>
                        <a:rPr sz="1400" b="0" i="0">
                          <a:solidFill>
                            <a:srgbClr val="1A1440"/>
                          </a:solidFill>
                          <a:latin typeface="Calibri"/>
                        </a:rPr>
                        <a:t>The typical order, and no rupees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predict how many were Retail-Plus.</a:t>
            </a:r>
          </a:p>
        </p:txBody>
      </p:sp>
      <p:pic>
        <p:nvPicPr>
          <p:cNvPr id="9" name="mermaid diagram" descr="2f3ff123fef4d2c7.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25, Business 3, Retail-Core 2, and Student gained 2.</a:t>
            </a:r>
          </a:p>
        </p:txBody>
      </p:sp>
      <p:pic>
        <p:nvPicPr>
          <p:cNvPr id="9" name="mermaid diagram" descr="c47533a1abe46dfb.png"/>
          <p:cNvPicPr>
            <a:picLocks noChangeAspect="1"/>
          </p:cNvPicPr>
          <p:nvPr/>
        </p:nvPicPr>
        <p:blipFill>
          <a:blip r:embed="rId5"/>
          <a:stretch>
            <a:fillRect/>
          </a:stretch>
        </p:blipFill>
        <p:spPr>
          <a:xfrm>
            <a:off x="530352" y="1956816"/>
            <a:ext cx="11130991" cy="759828"/>
          </a:xfrm>
          <a:prstGeom prst="rect">
            <a:avLst/>
          </a:prstGeom>
        </p:spPr>
      </p:pic>
      <p:sp>
        <p:nvSpPr>
          <p:cNvPr id="10" name="Rounded Rectangle 9"/>
          <p:cNvSpPr/>
          <p:nvPr/>
        </p:nvSpPr>
        <p:spPr>
          <a:xfrm>
            <a:off x="530352" y="28629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909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8182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orders that vanished were about three thousand rupees each, which already hints at why the average order grew.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 segment's own revenue per order rose 18 percent; the blend did.</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t>
            </a:r>
            <a:r>
              <a:rPr sz="1500" b="1" i="0">
                <a:solidFill>
                  <a:srgbClr val="1A1440"/>
                </a:solidFill>
                <a:latin typeface="Calibri"/>
              </a:rPr>
              <a:t>The check</a:t>
            </a:r>
            <a:r>
              <a:rPr sz="1500" b="0" i="0">
                <a:solidFill>
                  <a:srgbClr val="1A1440"/>
                </a:solidFill>
                <a:latin typeface="Calibri"/>
              </a:rPr>
              <a:t> is this table: no segment rose 18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prices, revenue per order would already have been Rs 2,07,112.</a:t>
            </a:r>
          </a:p>
        </p:txBody>
      </p:sp>
      <p:pic>
        <p:nvPicPr>
          <p:cNvPr id="9" name="mermaid diagram" descr="a64e70afcab3fdf2.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"Customers pay 18 percent more, raise prices" became "the mix explains Rs 22,902 of the Rs 33,231 rise; Business's lakh-sized orders carry almost all the rest". The price rise loses its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Move the rate first instead: the parts shift, both still add to Rs 33,231, and mix stays above two thirds.</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4301366"/>
                <a:gridCol w="2209047"/>
                <a:gridCol w="2209047"/>
                <a:gridCol w="2411529"/>
              </a:tblGrid>
              <a:tr h="335280">
                <a:tc>
                  <a:txBody>
                    <a:bodyPr/>
                    <a:lstStyle/>
                    <a:p>
                      <a:r>
                        <a:rPr sz="1250" b="1" i="0">
                          <a:solidFill>
                            <a:srgbClr val="FFFFFF"/>
                          </a:solidFill>
                          <a:latin typeface="Calibri"/>
                        </a:rPr>
                        <a:t>Order of the steps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Rate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r>
              <a:tr h="335280">
                <a:tc>
                  <a:txBody>
                    <a:bodyPr/>
                    <a:lstStyle/>
                    <a:p>
                      <a:r>
                        <a:rPr sz="1200" b="0" i="0">
                          <a:solidFill>
                            <a:srgbClr val="1A1440"/>
                          </a:solidFill>
                          <a:latin typeface="Calibri"/>
                        </a:rPr>
                        <a:t>Mix first</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Rs 10,330</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Rate first</a:t>
                      </a:r>
                    </a:p>
                  </a:txBody>
                  <a:tcPr marL="101600" marR="101600" marT="38100" marB="38100" anchor="ctr">
                    <a:solidFill>
                      <a:srgbClr val="F4F2FA"/>
                    </a:solidFill>
                  </a:tcPr>
                </a:tc>
                <a:tc>
                  <a:txBody>
                    <a:bodyPr/>
                    <a:lstStyle/>
                    <a:p>
                      <a:r>
                        <a:rPr sz="1200" b="0" i="0">
                          <a:solidFill>
                            <a:srgbClr val="1A1440"/>
                          </a:solidFill>
                          <a:latin typeface="Calibri"/>
                        </a:rPr>
                        <a:t>Rs 24,028</a:t>
                      </a:r>
                    </a:p>
                  </a:txBody>
                  <a:tcPr marL="101600" marR="101600" marT="38100" marB="38100" anchor="ctr">
                    <a:solidFill>
                      <a:srgbClr val="F4F2FA"/>
                    </a:solidFill>
                  </a:tcPr>
                </a:tc>
                <a:tc>
                  <a:txBody>
                    <a:bodyPr/>
                    <a:lstStyle/>
                    <a:p>
                      <a:r>
                        <a:rPr sz="1200" b="0" i="0">
                          <a:solidFill>
                            <a:srgbClr val="1A1440"/>
                          </a:solidFill>
                          <a:latin typeface="Calibri"/>
                        </a:rPr>
                        <a:t>Rs 9,203</a:t>
                      </a:r>
                    </a:p>
                  </a:txBody>
                  <a:tcPr marL="101600" marR="101600" marT="38100" marB="38100" anchor="ctr">
                    <a:solidFill>
                      <a:srgbClr val="F4F2FA"/>
                    </a:solidFill>
                  </a:tcPr>
                </a:tc>
                <a:tc>
                  <a:txBody>
                    <a:bodyPr/>
                    <a:lstStyle/>
                    <a:p>
                      <a:r>
                        <a:rPr sz="1200" b="0" i="0">
                          <a:solidFill>
                            <a:srgbClr val="1A1440"/>
                          </a:solidFill>
                          <a:latin typeface="Calibri"/>
                        </a:rPr>
                        <a:t>72.3%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80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379018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4448"/>
            <a:ext cx="9987991" cy="941832"/>
          </a:xfrm>
          <a:prstGeom prst="rect">
            <a:avLst/>
          </a:prstGeom>
          <a:noFill/>
        </p:spPr>
        <p:txBody>
          <a:bodyPr wrap="square" anchor="t" lIns="0" rIns="0" tIns="0" bIns="0">
            <a:spAutoFit/>
          </a:bodyPr>
          <a:lstStyle/>
          <a:p>
            <a:r>
              <a:rPr sz="1500" b="0" i="0">
                <a:solidFill>
                  <a:srgbClr val="1A1440"/>
                </a:solidFill>
                <a:latin typeface="Calibri"/>
              </a:rPr>
              <a:t>"Marketing looked at a blend and saw a price signal. You opened it and found 25 small orders missing. No consumer segment paid meaningfully more; the small orders disappeared, from the tier we are about to ask about."</a:t>
            </a:r>
          </a:p>
        </p:txBody>
      </p:sp>
      <p:sp>
        <p:nvSpPr>
          <p:cNvPr id="15" name="Rounded Rectangle 14"/>
          <p:cNvSpPr/>
          <p:nvPr/>
        </p:nvSpPr>
        <p:spPr>
          <a:xfrm>
            <a:off x="530352" y="4764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966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076444"/>
            <a:ext cx="237744" cy="237744"/>
          </a:xfrm>
          <a:prstGeom prst="rect">
            <a:avLst/>
          </a:prstGeom>
        </p:spPr>
      </p:pic>
      <p:sp>
        <p:nvSpPr>
          <p:cNvPr id="18" name="TextBox 17"/>
          <p:cNvSpPr txBox="1"/>
          <p:nvPr/>
        </p:nvSpPr>
        <p:spPr>
          <a:xfrm>
            <a:off x="1399031" y="4910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29784"/>
            <a:ext cx="9987991" cy="423672"/>
          </a:xfrm>
          <a:prstGeom prst="rect">
            <a:avLst/>
          </a:prstGeom>
          <a:noFill/>
        </p:spPr>
        <p:txBody>
          <a:bodyPr wrap="square" anchor="t" lIns="0" rIns="0" tIns="0" bIns="0">
            <a:spAutoFit/>
          </a:bodyPr>
          <a:lstStyle/>
          <a:p>
            <a:r>
              <a:rPr sz="15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Marketing's hypothesis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Marketing comes back with three attacks, and each gets a check it can rerun itself.</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12 crore rests on one claim, that Kalpa loses customers and must replace them.</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138a9a6c709e7e1.png"/>
          <p:cNvPicPr>
            <a:picLocks noChangeAspect="1"/>
          </p:cNvPicPr>
          <p:nvPr/>
        </p:nvPicPr>
        <p:blipFill>
          <a:blip r:embed="rId6"/>
          <a:stretch>
            <a:fillRect/>
          </a:stretch>
        </p:blipFill>
        <p:spPr>
          <a:xfrm>
            <a:off x="3524097" y="3502152"/>
            <a:ext cx="5143500" cy="22860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published estimates behind every retention argument, which are never Kalpa's own figures.</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 to 25x</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25 to 95%</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 4.53 to 4.10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SWIGGY USERS / ORDERS PER USER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Sep 2025</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"churn hides in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is net; only a test that names lost and new separately can answer Marketing.</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481654"/>
                <a:gridCol w="1935551"/>
                <a:gridCol w="1767015"/>
                <a:gridCol w="294676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Sees lost</a:t>
                      </a:r>
                    </a:p>
                  </a:txBody>
                  <a:tcPr marL="101600" marR="101600" marT="38100" marB="38100" anchor="ctr">
                    <a:solidFill>
                      <a:srgbClr val="1A0F5C"/>
                    </a:solidFill>
                  </a:tcPr>
                </a:tc>
                <a:tc>
                  <a:txBody>
                    <a:bodyPr/>
                    <a:lstStyle/>
                    <a:p>
                      <a:r>
                        <a:rPr sz="1250" b="1" i="0">
                          <a:solidFill>
                            <a:srgbClr val="FFFFFF"/>
                          </a:solidFill>
                          <a:latin typeface="Calibri"/>
                        </a:rPr>
                        <a:t>Sees new</a:t>
                      </a:r>
                    </a:p>
                  </a:txBody>
                  <a:tcPr marL="101600" marR="101600" marT="38100" marB="38100" anchor="ctr">
                    <a:solidFill>
                      <a:srgbClr val="1A0F5C"/>
                    </a:solidFill>
                  </a:tcPr>
                </a:tc>
                <a:tc>
                  <a:txBody>
                    <a:bodyPr/>
                    <a:lstStyle/>
                    <a:p>
                      <a:r>
                        <a:rPr sz="1250" b="1" i="0">
                          <a:solidFill>
                            <a:srgbClr val="FFFFFF"/>
                          </a:solidFill>
                          <a:latin typeface="Calibri"/>
                        </a:rPr>
                        <a:t>Sees who slowed</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a:t>
            </a:r>
          </a:p>
        </p:txBody>
      </p:sp>
      <p:pic>
        <p:nvPicPr>
          <p:cNvPr id="9" name="mermaid diagram" descr="c90f09baabec838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69 bought in both quarters; of the 23 customers who ordered less, 18 pay for membership.</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flat count hides no churn; the fall is people Kalpa already has, buying less often, and most of them are members.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quarter's summary script runs cleanly and prints a tidy answer.</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5" name="Oval 24"/>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7" name="Oval 26"/>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function that prints and returns nothing hands back None, and the filter drops it without a word.</a:t>
            </a:r>
          </a:p>
        </p:txBody>
      </p:sp>
      <p:pic>
        <p:nvPicPr>
          <p:cNvPr id="9" name="mermaid diagram" descr="e248c891e60b1bd4.png"/>
          <p:cNvPicPr>
            <a:picLocks noChangeAspect="1"/>
          </p:cNvPicPr>
          <p:nvPr/>
        </p:nvPicPr>
        <p:blipFill>
          <a:blip r:embed="rId5"/>
          <a:stretch>
            <a:fillRect/>
          </a:stretch>
        </p:blipFill>
        <p:spPr>
          <a:xfrm>
            <a:off x="530352" y="1956816"/>
            <a:ext cx="11130991" cy="1331913"/>
          </a:xfrm>
          <a:prstGeom prst="rect">
            <a:avLst/>
          </a:prstGeom>
        </p:spPr>
      </p:pic>
      <p:sp>
        <p:nvSpPr>
          <p:cNvPr id="10" name="Rounded Rectangle 9"/>
          <p:cNvSpPr/>
          <p:nvPr/>
        </p:nvSpPr>
        <p:spPr>
          <a:xfrm>
            <a:off x="530352" y="343503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6304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53905"/>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returns the change every time, in the same type, and the flag sits beside it.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Too small? 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is 93 percent of the consumer fall, reached by a bridge and by subtraction alike.</a:t>
            </a:r>
          </a:p>
        </p:txBody>
      </p:sp>
      <p:pic>
        <p:nvPicPr>
          <p:cNvPr id="9" name="mermaid diagram" descr="25288249e57332ca.png"/>
          <p:cNvPicPr>
            <a:picLocks noChangeAspect="1"/>
          </p:cNvPicPr>
          <p:nvPr/>
        </p:nvPicPr>
        <p:blipFill>
          <a:blip r:embed="rId7"/>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"Three attacks, three checks anyone can rerun. And you nearly shipped a summary that lost the one segment that matters. Count what comes back from every helper you did not write."</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