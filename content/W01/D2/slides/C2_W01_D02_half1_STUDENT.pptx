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Meera's reply aloud and leave it on screen while the room settles. Monday</a:t>
            </a:r>
          </a:p>
          <a:p>
            <a:r>
              <a:t>drew the tree; today the tree meets two quarters of orders, and the question is which branch moved.</a:t>
            </a:r>
          </a:p>
          <a:p>
            <a:r>
              <a:t>The morning runs three rounds on one case, each harder than the last, and the afternoon escalates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This chapter runs 20 minutes and opens no notebook. Seven slides at about three minutes</a:t>
            </a:r>
          </a:p>
          <a:p>
            <a:r>
              <a:t>each. Its job is to put the money, the owners, the machinery and the ladder on the board, so every</a:t>
            </a:r>
          </a:p>
          <a:p>
            <a:r>
              <a:t>round after it has something to stand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message aloud. Meera has done Monday's work in her head: she says the</a:t>
            </a:r>
          </a:p>
          <a:p>
            <a:r>
              <a:t>tree back to us. Her figures are rounded and from memory; the file gives exact ones. The quarters</a:t>
            </a:r>
          </a:p>
          <a:p>
            <a:r>
              <a:t>follow the April-to-March financial year the extract is cut on, so Q1 and Q2 are consecutive</a:t>
            </a:r>
          </a:p>
          <a:p>
            <a:r>
              <a:t>quarters, which matters in round 1: consecutive quarters carry different seasons.</a:t>
            </a:r>
          </a:p>
          <a:p>
            <a:r>
              <a:t>Ask which number worries her most. The Rs 12 crore: it is about to be spent on an unchecked branch.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Name the incentive behind each voice without judging it. Marketing is paid to</a:t>
            </a:r>
          </a:p>
          <a:p>
            <a:r>
              <a:t>acquire, so it reads every fall as an acquisition problem; that is how the role is paid, and it says nothing about good faith. The</a:t>
            </a:r>
          </a:p>
          <a:p>
            <a:r>
              <a:t>head of Retail-Plus wants a verdict on his tier; do not give him one this morning, his question</a:t>
            </a:r>
          </a:p>
          <a:p>
            <a:r>
              <a:t>returns after lunch. Anand Iyer, Finance, is listening too: he will ask whether our numbers match</a:t>
            </a:r>
          </a:p>
          <a:p>
            <a:r>
              <a:t>his books, and tomorrow he will.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cost list is the curriculum row's own: acquisition costs marketing, frequency</a:t>
            </a:r>
          </a:p>
          <a:p>
            <a:r>
              <a:t>costs retention, basket costs merchandising, price risks volume, discounts trade margin for</a:t>
            </a:r>
          </a:p>
          <a:p>
            <a:r>
              <a:t>quantity. The HBR figures are published estimates across industries, and Kalpa has none of its own yet; say so.</a:t>
            </a:r>
          </a:p>
          <a:p>
            <a:r>
              <a:t>Their use today: if the fall sits in frequency, the cheaper lever is on the table and the Rs 12</a:t>
            </a:r>
          </a:p>
          <a:p>
            <a:r>
              <a:t>crore is aimed at the wrong branch. That is why the decomposition matters in rupees.</a:t>
            </a:r>
          </a:p>
          <a:p>
            <a:r>
              <a:t>Source: HBR, "The Value of Keeping the Right Customers", Amy Gallo, 29 Oct 2014.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Two minutes in pairs, then collect answers on the board. Expect "different lengths</a:t>
            </a:r>
          </a:p>
          <a:p>
            <a:r>
              <a:t>of time", "different definition of sales", "missing values", "one huge order". Push for places in</a:t>
            </a:r>
          </a:p>
          <a:p>
            <a:r>
              <a:t>the system as well as in the arithmetic: where the data is written, moved and summarised. Keep every</a:t>
            </a:r>
          </a:p>
          <a:p>
            <a:r>
              <a:t>answer; the next slide places them on the map.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Place the room's answers on the four hops. The fifth way, a few very large orders,</a:t>
            </a:r>
          </a:p>
          <a:p>
            <a:r>
              <a:t>is not a system fault at all: it is the business being lumpy, and it returns in rounds 1 and 3.</a:t>
            </a:r>
          </a:p>
          <a:p>
            <a:r>
              <a:t>Round 1 is the export and the tile; round 2 is the order system's empty field; round 3 is the</a:t>
            </a:r>
          </a:p>
          <a:p>
            <a:r>
              <a:t>dashboard's roll-up. Engineers in a GCC are asked this constantly: the drop sat in a</a:t>
            </a:r>
          </a:p>
          <a:p>
            <a:r>
              <a:t>pipeline while the market held. Checking the pipeline first is the cheapest investigation there 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Draw the ladder on the board, left to right, and leave it there all day. The</a:t>
            </a:r>
          </a:p>
          <a:p>
            <a:r>
              <a:t>morning climbs rungs 1 to 3; rung 4 is the escalated case after lunch and rung 5 the second case.</a:t>
            </a:r>
          </a:p>
          <a:p>
            <a:r>
              <a:t>Rung 5 is the only one that needs data the file does not carry, which is why it is last: every</a:t>
            </a:r>
          </a:p>
          <a:p>
            <a:r>
              <a:t>cause you propose must say which data would prove it. This table is also the answer shape for</a:t>
            </a:r>
          </a:p>
          <a:p>
            <a:r>
              <a:t>interview question 1. Source: britinstitute.uk, data analyst case study questions, verified 29 Sep 2026.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These numbers are invented to show the rule. Every round today uses it: a</a:t>
            </a:r>
          </a:p>
          <a:p>
            <a:r>
              <a:t>decomposition is proved by multiplying the branches back to the revenue ratio. Items per order and</a:t>
            </a:r>
          </a:p>
          <a:p>
            <a:r>
              <a:t>price per item fold into revenue per order today, because the file has no order lines.</a:t>
            </a:r>
          </a:p>
          <a:p>
            <a:r>
              <a:t>Ask: if customers stayed flat and revenue fell, which branches must have moved? Then move on.</a:t>
            </a:r>
          </a:p>
          <a:p>
            <a:r>
              <a:t>Transition: before filling any box, check that the two totals deserve comparing.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1 runs 50 minutes: 5 on the claim and the conventions, 15 in notebook 01, 10 on the</a:t>
            </a:r>
          </a:p>
          <a:p>
            <a:r>
              <a:t>trap, 12 on the room's variant, 5 on Kavya's review. Open</a:t>
            </a:r>
          </a:p>
          <a:p>
            <a:r>
              <a:t>notebooks/C2_W01_D02_01_is_the_drop_real_STUDENT.ipynb now.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Put the claim up exactly as Marketing would. 1,55,59,950 over 2,10,00,000 is 0.741,</a:t>
            </a:r>
          </a:p>
          <a:p>
            <a:r>
              <a:t>a fall of 25.9 percent: the division is right. Ask whether anything is wrong. Most of the room will</a:t>
            </a:r>
          </a:p>
          <a:p>
            <a:r>
              <a:t>not see it yet, and that is the round.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This is the business knowledge under rung 1. Same-store or like-for-like sales</a:t>
            </a:r>
          </a:p>
          <a:p>
            <a:r>
              <a:t>compares only outlets open in both periods; the 4-5-4 calendar makes every quarter 13 whole weeks</a:t>
            </a:r>
          </a:p>
          <a:p>
            <a:r>
              <a:t>with the same weekends. Meera's question is quarter on quarter, and Q2 is monsoon while Q1 is</a:t>
            </a:r>
          </a:p>
          <a:p>
            <a:r>
              <a:t>summer, so even perfect windows leave the season in the comparison. The fix for season is last</a:t>
            </a:r>
          </a:p>
          <a:p>
            <a:r>
              <a:t>year's Q2, which this file does not hold; write it down as an ask, round 1 closes on it.</a:t>
            </a:r>
          </a:p>
          <a:p>
            <a:r>
              <a:t>Sources: nrf.com/resources/4-5-4-calendar, verified 29 Sep 2026; the same-store definition is the</a:t>
            </a:r>
          </a:p>
          <a:p>
            <a:r>
              <a:t>standard one used in retail reporting.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Type it in notebook 01 with the room, first for Q1, then for the tile's Q2 window.</a:t>
            </a:r>
          </a:p>
          <a:p>
            <a:r>
              <a:t>The starting values are chosen so any real date beats them. The system point: a tile shows a number</a:t>
            </a:r>
          </a:p>
          <a:p>
            <a:r>
              <a:t>without its window unless someone puts the refresh date on it. Ask the room how often they have</a:t>
            </a:r>
          </a:p>
          <a:p>
            <a:r>
              <a:t>seen a dashboard number with its dates beside it. Do not read out the results yet.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Some count months and say three against two and a half; the count</a:t>
            </a:r>
          </a:p>
          <a:p>
            <a:r>
              <a:t>in weeks is the one a rate per week needs.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answer is b: Q1 is 13 weeks and 91 days, the tile 11 weeks. The two weeks the</a:t>
            </a:r>
          </a:p>
          <a:p>
            <a:r>
              <a:t>tile never saw hold 16 orders and Rs 31,40,050. Point at the flat stretches: revenue arrives in</a:t>
            </a:r>
          </a:p>
          <a:p>
            <a:r>
              <a:t>lumps, and weeks without a large order barely move. That lumpiness returns in the room's variant.</a:t>
            </a:r>
          </a:p>
          <a:p>
            <a:r>
              <a:t>The trap in one line: two missing weeks look exactly like lost customers, and the decision they</a:t>
            </a:r>
          </a:p>
          <a:p>
            <a:r>
              <a:t>mislead is the largest one on Meera's desk.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per-week row as a rate: a numerator, a denominator and a window, the same</a:t>
            </a:r>
          </a:p>
          <a:p>
            <a:r>
              <a:t>anatomy as orders per customer. The per-day row shows even closed quarters differ by a day, which is</a:t>
            </a:r>
          </a:p>
          <a:p>
            <a:r>
              <a:t>the problem the 4-5-4 calendar removes. Say once: every number today is on the export as it stands,</a:t>
            </a:r>
          </a:p>
          <a:p>
            <a:r>
              <a:t>and tomorrow's work checks that export against Finance's books.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8 for the room's run, 2 for letters. This is the harder variant. Pairs filter Q1</a:t>
            </a:r>
          </a:p>
          <a:p>
            <a:r>
              <a:t>to order_date on or before 2026-06-16 and total it. Watch for pairs who reuse the per-week figure</a:t>
            </a:r>
          </a:p>
          <a:p>
            <a:r>
              <a:t>without running anything.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answer is b. Twenty Business orders carry 98.9 percent of Q1's revenue, so</a:t>
            </a:r>
          </a:p>
          <a:p>
            <a:r>
              <a:t>one of them landing in week 11 instead of week 12 moves a partial window by lakhs. That is Anand's</a:t>
            </a:r>
          </a:p>
          <a:p>
            <a:r>
              <a:t>Monday warning at the level of time instead of averages. Three numbers now describe one drop:</a:t>
            </a:r>
          </a:p>
          <a:p>
            <a:r>
              <a:t>-11.0, -12.4 and -17.0 percent. The honest one for Meera is the closed quarters, because both</a:t>
            </a:r>
          </a:p>
          <a:p>
            <a:r>
              <a:t>windows are complete. Thursday asks how much of any gap such lumpy data can produce by chance.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breath for the interview answer: the window's length and dates, the metric's</a:t>
            </a:r>
          </a:p>
          <a:p>
            <a:r>
              <a:t>definition, the population counted, and the season, which only a year-on-year comparison removes.</a:t>
            </a:r>
          </a:p>
          <a:p>
            <a:r>
              <a:t>Transition: the drop is real, so which branch of the tree moved?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2 runs 50 minutes: 6 on the code, 7 on customers and the tree, 6 on the bridge, 12 on</a:t>
            </a:r>
          </a:p>
          <a:p>
            <a:r>
              <a:t>the discount trap, 12 on the room's variant, 4 on Kavya. Switch to</a:t>
            </a:r>
          </a:p>
          <a:p>
            <a:r>
              <a:t>notebooks/C2_W01_D02_02_which_branch_STUDENT.ipynb.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get(q, 0) is a decision, and here it is the right one: a quarter with no orders</a:t>
            </a:r>
          </a:p>
          <a:p>
            <a:r>
              <a:t>yet has summed to zero. Keep that sentence; the discount branch will test whether zero is always the</a:t>
            </a:r>
          </a:p>
          <a:p>
            <a:r>
              <a:t>right default. The keys: Python's own performance notes give membership in a list as proportional to</a:t>
            </a:r>
          </a:p>
          <a:p>
            <a:r>
              <a:t>its length and in a set or dictionary as constant on average (wiki.python.org, TimeComplexity,</a:t>
            </a:r>
          </a:p>
          <a:p>
            <a:r>
              <a:t>verified 29 Sep 2026). At 200 rows nobody notices; at a million orders a list-based distinct count</a:t>
            </a:r>
          </a:p>
          <a:p>
            <a:r>
              <a:t>does about half a million million comparisons. Cover the customer output; the next slide predicts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Option d is Monday's rows-as-customers trap. Option a is Marketing's story carried</a:t>
            </a:r>
          </a:p>
          <a:p>
            <a:r>
              <a:t>through. Take letters, then uncover the output.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Let the silence land: Marketing's branch is flat. A flat count alone does not prove</a:t>
            </a:r>
          </a:p>
          <a:p>
            <a:r>
              <a:t>nobody left; whether these are the same 69 people is the afternoon's sharper question. Revenue per</a:t>
            </a:r>
          </a:p>
          <a:p>
            <a:r>
              <a:t>order rising is not a price rise until proved; the afternoon takes that apart as mix against rate.</a:t>
            </a:r>
          </a:p>
          <a:p>
            <a:r>
              <a:t>Fill the tree on the board with these ratios.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Row one: 28 fewer orders at Q1's Rs 1,84,211 each, then 86 orders each Rs 33,231</a:t>
            </a:r>
          </a:p>
          <a:p>
            <a:r>
              <a:t>richer. Row two moves order value first on 114 orders, then charges the 28 lost orders at Q2's</a:t>
            </a:r>
          </a:p>
          <a:p>
            <a:r>
              <a:t>higher value. The gap between them is the interaction, and finance teams settle it by convention in</a:t>
            </a:r>
          </a:p>
          <a:p>
            <a:r>
              <a:t>their variance bridges. The symmetric split weights each branch's log change by the logarithmic mean</a:t>
            </a:r>
          </a:p>
          <a:p>
            <a:r>
              <a:t>of the two revenues (Ang, 2005, "The LMDI approach to decomposition analysis", Energy Policy), so the</a:t>
            </a:r>
          </a:p>
          <a:p>
            <a:r>
              <a:t>answer no longer depends on the order. Whichever row you use, frequency is the branch that cost</a:t>
            </a:r>
          </a:p>
          <a:p>
            <a:r>
              <a:t>money. The notebook draws row one with kit.bridge.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and no more. Read the last line of the trace: it names the key. The Python</a:t>
            </a:r>
          </a:p>
          <a:p>
            <a:r>
              <a:t>glossary names the first two styles LBYL and EAFP (docs.python.org glossary, verified 29 Sep 2026).</a:t>
            </a:r>
          </a:p>
          <a:p>
            <a:r>
              <a:t>None of the three is wrong as code; each one decides what an absent discount means, and the next</a:t>
            </a:r>
          </a:p>
          <a:p>
            <a:r>
              <a:t>slide shows what the third one decides.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is the round's trap. The hurried default silences the error, and the share of</a:t>
            </a:r>
          </a:p>
          <a:p>
            <a:r>
              <a:t>Q2 orders with a discount above zero comes out at 50.0 percent, 43 of 86. The story writes itself:</a:t>
            </a:r>
          </a:p>
          <a:p>
            <a:r>
              <a:t>half the orders went without, so Marketing extends the monsoon discount to the other half. The three</a:t>
            </a:r>
          </a:p>
          <a:p>
            <a:r>
              <a:t>orders are invented to show the mechanism: B is a real zero, someone recorded no discount; C is</a:t>
            </a:r>
          </a:p>
          <a:p>
            <a:r>
              <a:t>unknown. The default of zero files C beside B, and the share becomes a floor nobody labelled.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Before the answer, each learner runs the count in the empty your-turn cell of</a:t>
            </a:r>
          </a:p>
          <a:p>
            <a:r>
              <a:t>notebook 02: orders with no discount field, per quarter. Then take letters. Anyone who says a) has</a:t>
            </a:r>
          </a:p>
          <a:p>
            <a:r>
              <a:t>not yet separated a recorded zero from a field nobody wrote.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answer is c: 17 recorded zeros and 26 records with no field. Three moves.</a:t>
            </a:r>
          </a:p>
          <a:p>
            <a:r>
              <a:t>First, the decision goes in writing beside the number. Second, ask who wrote the records without the</a:t>
            </a:r>
          </a:p>
          <a:p>
            <a:r>
              <a:t>field: an older checkout, a channel, a batch. Statisticians separate data missing at random from</a:t>
            </a:r>
          </a:p>
          <a:p>
            <a:r>
              <a:t>data missing for a reason (Rubin, 1976, "Inference and missing data", Biometrika); the business</a:t>
            </a:r>
          </a:p>
          <a:p>
            <a:r>
              <a:t>version is "which system left it empty, and does that system sell differently?". Third, a bound: the</a:t>
            </a:r>
          </a:p>
          <a:p>
            <a:r>
              <a:t>share lies between 50.0 and 80.2 percent, and in rupees the branch is under one percent of the fall.</a:t>
            </a:r>
          </a:p>
          <a:p>
            <a:r>
              <a:t>Interview question [S] lives here: a field is missing on some records; do you fill it with zero?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10 for the run, 2 to collect sentences. This is the harder variant. Watch for pairs</a:t>
            </a:r>
          </a:p>
          <a:p>
            <a:r>
              <a:t>who filter one quarter and forget the other, which manufactures a drop of exactly the kind S5 mapped.</a:t>
            </a:r>
          </a:p>
          <a:p>
            <a:r>
              <a:t>The answer goes up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Customers dip on this definition, and a sharp learner will say so: the dip is four</a:t>
            </a:r>
          </a:p>
          <a:p>
            <a:r>
              <a:t>people, far smaller than the fall in frequency. The system point: a late return turns a delivered</a:t>
            </a:r>
          </a:p>
          <a:p>
            <a:r>
              <a:t>order into a returned one weeks after the quarter closed, so the newest quarter's delivered figure</a:t>
            </a:r>
          </a:p>
          <a:p>
            <a:r>
              <a:t>can only fall. One breath for the interview answer: "down 20 percent" of what, over which window and</a:t>
            </a:r>
          </a:p>
          <a:p>
            <a:r>
              <a:t>which base is unknown, so nobody can check it or compare it. Break for 10 minutes after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3 runs 50 minutes after the break: 3 on the lens, 11 on functions, 9 on describe, 9 on</a:t>
            </a:r>
          </a:p>
          <a:p>
            <a:r>
              <a:t>the roll-up trap, 15 on the room's run, 3 on Kavya. Switch to</a:t>
            </a:r>
          </a:p>
          <a:p>
            <a:r>
              <a:t>notebooks/C2_W01_D02_03_which_segment_STUDENT.ipynb.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head of Retail-Plus asked whether his tier is slipping, and Meera asked</a:t>
            </a:r>
          </a:p>
          <a:p>
            <a:r>
              <a:t>whether it is everyone. This table is a lens that points the question: it says which number to read first for</a:t>
            </a:r>
          </a:p>
          <a:p>
            <a:r>
              <a:t>each kind of customer. A paid tier is sold on repeat buying, so its health shows in frequency before</a:t>
            </a:r>
          </a:p>
          <a:p>
            <a:r>
              <a:t>it shows in the member count. Eight trees are needed, four segments by two quarters; ask how many</a:t>
            </a:r>
          </a:p>
          <a:p>
            <a:r>
              <a:t>times the room wants to paste round 2's code.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Build it line by line: def, the parameter, the body, return. The system point: a</a:t>
            </a:r>
          </a:p>
          <a:p>
            <a:r>
              <a:t>definition of "customer" that lives in one function changes everywhere at once, and one that lives</a:t>
            </a:r>
          </a:p>
          <a:p>
            <a:r>
              <a:t>in six pasted copies drifts. Week 2 puts the same definitions in the warehouse as queries every team</a:t>
            </a:r>
          </a:p>
          <a:p>
            <a:r>
              <a:t>shares. A new function earns trust by reproducing a number proved another way; the notebook's check</a:t>
            </a:r>
          </a:p>
          <a:p>
            <a:r>
              <a:t>cell does exactly that before any segment is run.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 passing. A function without return hands back None: it looks right on screen</a:t>
            </a:r>
          </a:p>
          <a:p>
            <a:r>
              <a:t>and breaks the next step silently, either by crashing or by being skipped. The afternoon's helper</a:t>
            </a:r>
          </a:p>
          <a:p>
            <a:r>
              <a:t>tests exactly this. Interview question [F]: why does a function that prints instead of returning</a:t>
            </a:r>
          </a:p>
          <a:p>
            <a:r>
              <a:t>break a pipeline?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Monday's median by hand, now inside a function, exactly as notebook 03 writes it.</a:t>
            </a:r>
          </a:p>
          <a:p>
            <a:r>
              <a:t>The statistics module does the same with statistics.median and statistics.quantiles (Python docs,</a:t>
            </a:r>
          </a:p>
          <a:p>
            <a:r>
              <a:t>verified 29 Sep 2026); modules wait, so name it once and move on. The middle half is the stretch</a:t>
            </a:r>
          </a:p>
          <a:p>
            <a:r>
              <a:t>between the first and third quartiles of the sorted list; S32 reads it off for Business. Anand's</a:t>
            </a:r>
          </a:p>
          <a:p>
            <a:r>
              <a:t>warning returns: each group gets a typical value and its spread, never a mean alone.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then run describe on Business Q2 on the projector. Retail-Core and</a:t>
            </a:r>
          </a:p>
          <a:p>
            <a:r>
              <a:t>Business are the two segments demonstrated; do not run Retail-Plus or Student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mean rose 5 percent and could be sold as "Business orders got bigger": remove</a:t>
            </a:r>
          </a:p>
          <a:p>
            <a:r>
              <a:t>the one order and the mean is Rs 9,74,750, below Q1. This is why the notes say typical value and</a:t>
            </a:r>
          </a:p>
          <a:p>
            <a:r>
              <a:t>spread, and why the middle half is the spread a Finance team trusts. Retail-Core, for comparison:</a:t>
            </a:r>
          </a:p>
          <a:p>
            <a:r>
              <a:t>median Rs 2,325 to Rs 2,080, with a flat spread.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is the round's trap. The room computes each segment's orders per customer,</a:t>
            </a:r>
          </a:p>
          <a:p>
            <a:r>
              <a:t>adds the four and divides by four: correct arithmetic, wrong question. Only the averages and the</a:t>
            </a:r>
          </a:p>
          <a:p>
            <a:r>
              <a:t>weighted figures appear; no per-segment rows are shown.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invented groups show the mechanism: two customers get the same vote as thirty.</a:t>
            </a:r>
          </a:p>
          <a:p>
            <a:r>
              <a:t>In the real file Student has 2 customers and Retail-Core 34. The check that caught it: the roll-up</a:t>
            </a:r>
          </a:p>
          <a:p>
            <a:r>
              <a:t>must reproduce the company figure from round 2. The system point: a report that stores each</a:t>
            </a:r>
          </a:p>
          <a:p>
            <a:r>
              <a:t>segment's average and later averages those is doing this at scale; store numerators and</a:t>
            </a:r>
          </a:p>
          <a:p>
            <a:r>
              <a:t>denominators, and divide last. Interview question [F]: why can't you average four segments' rates</a:t>
            </a:r>
          </a:p>
          <a:p>
            <a:r>
              <a:t>for the company figure?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room's harder variant, in the empty your-turn cells of notebook 03. Do not run</a:t>
            </a:r>
          </a:p>
          <a:p>
            <a:r>
              <a:t>it on the projector and do not confirm any segment aloud. Walk the room and listen for pairs who</a:t>
            </a:r>
          </a:p>
          <a:p>
            <a:r>
              <a:t>count four groups in and four rows out; the afternoon's helper tests that habit. Collect two</a:t>
            </a:r>
          </a:p>
          <a:p>
            <a:r>
              <a:t>sentences read aloud without comment; the afternoon opens on them.</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then lunch. One breath: the caller receives None, the next step crashes or</a:t>
            </a:r>
          </a:p>
          <a:p>
            <a:r>
              <a:t>silently drops that group, and nobody sees it because the screen looked right. Transition to the</a:t>
            </a:r>
          </a:p>
          <a:p>
            <a:r>
              <a:t>afternoon: Meera escalates the case, and a colleague's helper is waiting in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0.png"/><Relationship Id="rId6"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0.png"/><Relationship Id="rId6"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10.png"/><Relationship Id="rId6"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3.png"/><Relationship Id="rId6"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2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TUESDAY  ·  HALF ONE</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branch moved</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“Are we losing customers, or are the ones we have buying less? Marketing says more customers. Prove it or disprove it.”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replying to Monday's numbers</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993392" cy="333756"/>
          </a:xfrm>
          <a:prstGeom prst="rect">
            <a:avLst/>
          </a:prstGeom>
          <a:noFill/>
        </p:spPr>
        <p:txBody>
          <a:bodyPr wrap="square" anchor="t" lIns="0" rIns="0" tIns="0" bIns="0">
            <a:spAutoFit/>
          </a:bodyPr>
          <a:lstStyle/>
          <a:p>
            <a:pPr algn="l"/>
            <a:r>
              <a:rPr sz="900" b="0" i="0">
                <a:solidFill>
                  <a:srgbClr val="FFFFFF"/>
                </a:solidFill>
                <a:latin typeface="Calibri"/>
              </a:rPr>
              <a:t>The ask, the system and the ladder</a:t>
            </a:r>
          </a:p>
        </p:txBody>
      </p:sp>
      <p:sp>
        <p:nvSpPr>
          <p:cNvPr id="13" name="TextBox 12"/>
          <p:cNvSpPr txBox="1"/>
          <p:nvPr/>
        </p:nvSpPr>
        <p:spPr>
          <a:xfrm>
            <a:off x="318211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566160"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Round 1, is the drop real</a:t>
            </a:r>
          </a:p>
        </p:txBody>
      </p:sp>
      <p:sp>
        <p:nvSpPr>
          <p:cNvPr id="15" name="TextBox 14"/>
          <p:cNvSpPr txBox="1"/>
          <p:nvPr/>
        </p:nvSpPr>
        <p:spPr>
          <a:xfrm>
            <a:off x="541067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794724" y="5248656"/>
            <a:ext cx="1779936" cy="185166"/>
          </a:xfrm>
          <a:prstGeom prst="rect">
            <a:avLst/>
          </a:prstGeom>
          <a:noFill/>
        </p:spPr>
        <p:txBody>
          <a:bodyPr wrap="square" anchor="t" lIns="0" rIns="0" tIns="0" bIns="0">
            <a:spAutoFit/>
          </a:bodyPr>
          <a:lstStyle/>
          <a:p>
            <a:pPr algn="l"/>
            <a:r>
              <a:rPr sz="900" b="0" i="0">
                <a:solidFill>
                  <a:srgbClr val="FFFFFF"/>
                </a:solidFill>
                <a:latin typeface="Calibri"/>
              </a:rPr>
              <a:t>Round 2, which branch moved</a:t>
            </a:r>
          </a:p>
        </p:txBody>
      </p:sp>
      <p:sp>
        <p:nvSpPr>
          <p:cNvPr id="17" name="TextBox 16"/>
          <p:cNvSpPr txBox="1"/>
          <p:nvPr/>
        </p:nvSpPr>
        <p:spPr>
          <a:xfrm>
            <a:off x="775754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8141589" y="5248656"/>
            <a:ext cx="1993392" cy="185166"/>
          </a:xfrm>
          <a:prstGeom prst="rect">
            <a:avLst/>
          </a:prstGeom>
          <a:noFill/>
        </p:spPr>
        <p:txBody>
          <a:bodyPr wrap="square" anchor="t" lIns="0" rIns="0" tIns="0" bIns="0">
            <a:spAutoFit/>
          </a:bodyPr>
          <a:lstStyle/>
          <a:p>
            <a:pPr algn="l"/>
            <a:r>
              <a:rPr sz="900" b="0" i="0">
                <a:solidFill>
                  <a:srgbClr val="FFFFFF"/>
                </a:solidFill>
                <a:latin typeface="Calibri"/>
              </a:rPr>
              <a:t>Round 3, every kind of customer</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ask, the system and the ladder</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Three voices, one drop, and the thinking drawn before any code: what each branch costs, where a fake drop is made, and the order an analyst climbs.</a:t>
            </a:r>
          </a:p>
        </p:txBody>
      </p:sp>
      <p:sp>
        <p:nvSpPr>
          <p:cNvPr id="10" name="Rounded Rectangle 9"/>
          <p:cNvSpPr/>
          <p:nvPr/>
        </p:nvSpPr>
        <p:spPr>
          <a:xfrm>
            <a:off x="731519"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ask, the system and the ladder</a:t>
            </a:r>
          </a:p>
        </p:txBody>
      </p:sp>
      <p:sp>
        <p:nvSpPr>
          <p:cNvPr id="11" name="Rounded Rectangle 10"/>
          <p:cNvSpPr/>
          <p:nvPr/>
        </p:nvSpPr>
        <p:spPr>
          <a:xfrm>
            <a:off x="2990088"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is the drop real</a:t>
            </a:r>
          </a:p>
        </p:txBody>
      </p:sp>
      <p:sp>
        <p:nvSpPr>
          <p:cNvPr id="12" name="Rounded Rectangle 11"/>
          <p:cNvSpPr/>
          <p:nvPr/>
        </p:nvSpPr>
        <p:spPr>
          <a:xfrm>
            <a:off x="4945975"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which branch moved</a:t>
            </a:r>
          </a:p>
        </p:txBody>
      </p:sp>
      <p:sp>
        <p:nvSpPr>
          <p:cNvPr id="13" name="Rounded Rectangle 12"/>
          <p:cNvSpPr/>
          <p:nvPr/>
        </p:nvSpPr>
        <p:spPr>
          <a:xfrm>
            <a:off x="7020294"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every kind of customer</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41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wants to know which branch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Q2 came in below Q1, and she names the two branches she suspects.</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"So revenue is customers, times how often they buy, times basket, times price. Now: which of those moved? Q2 was Rs 1.9 crore, Q1 was 2.1. Are we losing customers, or are the ones we have buying less? Marketing says more customers. Prove it or disprove it."</a:t>
            </a:r>
          </a:p>
        </p:txBody>
      </p:sp>
      <p:sp>
        <p:nvSpPr>
          <p:cNvPr id="14" name="TextBox 13"/>
          <p:cNvSpPr txBox="1"/>
          <p:nvPr/>
        </p:nvSpPr>
        <p:spPr>
          <a:xfrm>
            <a:off x="53035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2.1 cr</a:t>
            </a:r>
          </a:p>
        </p:txBody>
      </p:sp>
      <p:sp>
        <p:nvSpPr>
          <p:cNvPr id="15" name="TextBox 14"/>
          <p:cNvSpPr txBox="1"/>
          <p:nvPr/>
        </p:nvSpPr>
        <p:spPr>
          <a:xfrm>
            <a:off x="53035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APRIL TO JUNE</a:t>
            </a:r>
          </a:p>
        </p:txBody>
      </p:sp>
      <p:sp>
        <p:nvSpPr>
          <p:cNvPr id="16" name="TextBox 15"/>
          <p:cNvSpPr txBox="1"/>
          <p:nvPr/>
        </p:nvSpPr>
        <p:spPr>
          <a:xfrm>
            <a:off x="53035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as Meera remembers it</a:t>
            </a:r>
          </a:p>
        </p:txBody>
      </p:sp>
      <p:sp>
        <p:nvSpPr>
          <p:cNvPr id="17" name="Rectangle 16"/>
          <p:cNvSpPr/>
          <p:nvPr/>
        </p:nvSpPr>
        <p:spPr>
          <a:xfrm>
            <a:off x="53035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1.9 cr</a:t>
            </a:r>
          </a:p>
        </p:txBody>
      </p:sp>
      <p:sp>
        <p:nvSpPr>
          <p:cNvPr id="19" name="TextBox 18"/>
          <p:cNvSpPr txBox="1"/>
          <p:nvPr/>
        </p:nvSpPr>
        <p:spPr>
          <a:xfrm>
            <a:off x="433212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JULY TO SEPTEMBER</a:t>
            </a:r>
          </a:p>
        </p:txBody>
      </p:sp>
      <p:sp>
        <p:nvSpPr>
          <p:cNvPr id="20" name="TextBox 19"/>
          <p:cNvSpPr txBox="1"/>
          <p:nvPr/>
        </p:nvSpPr>
        <p:spPr>
          <a:xfrm>
            <a:off x="433212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as Meera remembers it</a:t>
            </a:r>
          </a:p>
        </p:txBody>
      </p:sp>
      <p:sp>
        <p:nvSpPr>
          <p:cNvPr id="21" name="Rectangle 20"/>
          <p:cNvSpPr/>
          <p:nvPr/>
        </p:nvSpPr>
        <p:spPr>
          <a:xfrm>
            <a:off x="433212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12 cr</a:t>
            </a:r>
          </a:p>
        </p:txBody>
      </p:sp>
      <p:sp>
        <p:nvSpPr>
          <p:cNvPr id="23" name="TextBox 22"/>
          <p:cNvSpPr txBox="1"/>
          <p:nvPr/>
        </p:nvSpPr>
        <p:spPr>
          <a:xfrm>
            <a:off x="813389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WAITING ON THE ANSWER</a:t>
            </a:r>
          </a:p>
        </p:txBody>
      </p:sp>
      <p:sp>
        <p:nvSpPr>
          <p:cNvPr id="24" name="TextBox 23"/>
          <p:cNvSpPr txBox="1"/>
          <p:nvPr/>
        </p:nvSpPr>
        <p:spPr>
          <a:xfrm>
            <a:off x="813389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Marketing's acquisition ask</a:t>
            </a:r>
          </a:p>
        </p:txBody>
      </p:sp>
      <p:sp>
        <p:nvSpPr>
          <p:cNvPr id="25" name="Rectangle 24"/>
          <p:cNvSpPr/>
          <p:nvPr/>
        </p:nvSpPr>
        <p:spPr>
          <a:xfrm>
            <a:off x="813389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30352" y="49651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Kalpa Retail India's financial year opens in April, so Q1 is April to June and Q2 is July to September of 2026-27.</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The ask, the system and the ladder</a:t>
            </a:r>
          </a:p>
        </p:txBody>
      </p:sp>
      <p:sp>
        <p:nvSpPr>
          <p:cNvPr id="29" name="Oval 28"/>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31" name="Oval 30"/>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33" name="Oval 32"/>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41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voices, three incentives, one set of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stakeholder owns a lever, so the decomposition decides whose problem the fall is.</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round_13fbc0c9977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CEO</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Raghavan</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Owns the budget. Wants the branch that moved before she funds any lever, and a sentence she can repeat to the board.</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rown_50cb0a914c8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PAID TIER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20" name="TextBox 19"/>
          <p:cNvSpPr txBox="1"/>
          <p:nvPr/>
        </p:nvSpPr>
        <p:spPr>
          <a:xfrm>
            <a:off x="4502810"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Owns member experience. Forwards a complaint that the app's reorder feature has been broken for six weeks, and asks whether his tier is slipping.</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gaphone_76c78891bb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ACQUISITION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marketing lead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Owns new customers. Has a slide showing revenue falling by a quarter, and an answer already: more customers.</a:t>
            </a:r>
          </a:p>
        </p:txBody>
      </p:sp>
      <p:sp>
        <p:nvSpPr>
          <p:cNvPr id="27" name="Rounded Rectangle 26"/>
          <p:cNvSpPr/>
          <p:nvPr/>
        </p:nvSpPr>
        <p:spPr>
          <a:xfrm>
            <a:off x="530352" y="44841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6121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602988"/>
            <a:ext cx="10564063" cy="624840"/>
          </a:xfrm>
          <a:prstGeom prst="rect">
            <a:avLst/>
          </a:prstGeom>
          <a:noFill/>
        </p:spPr>
        <p:txBody>
          <a:bodyPr wrap="square" anchor="ctr" lIns="0" rIns="0" tIns="0" bIns="0">
            <a:spAutoFit/>
          </a:bodyPr>
          <a:lstStyle/>
          <a:p>
            <a:r>
              <a:rPr sz="1500" b="1">
                <a:solidFill>
                  <a:srgbClr val="5B3FD6"/>
                </a:solidFill>
                <a:latin typeface="Calibri"/>
              </a:rPr>
              <a:t>Your role. </a:t>
            </a:r>
            <a:r>
              <a:rPr sz="1500" b="0" i="0">
                <a:solidFill>
                  <a:srgbClr val="1A1440"/>
                </a:solidFill>
                <a:latin typeface="Calibri"/>
              </a:rPr>
              <a:t>The team works for the number, and each voice gets the same one. A branch that moved hands the problem to the person who owns that lever; a branch that stayed flat takes a budget off the table.</a:t>
            </a: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The ask, the system and the ladder</a:t>
            </a:r>
          </a:p>
        </p:txBody>
      </p:sp>
      <p:sp>
        <p:nvSpPr>
          <p:cNvPr id="32" name="Oval 31"/>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34" name="Oval 33"/>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36" name="Oval 35"/>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41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each branch costs to move, and who pays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row's economics: every branch has a lever, an owner and a price, and they are not the same price.</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1892306"/>
                <a:gridCol w="2761029"/>
                <a:gridCol w="2239795"/>
                <a:gridCol w="4237859"/>
              </a:tblGrid>
              <a:tr h="335280">
                <a:tc>
                  <a:txBody>
                    <a:bodyPr/>
                    <a:lstStyle/>
                    <a:p>
                      <a:r>
                        <a:rPr sz="1250" b="1" i="0">
                          <a:solidFill>
                            <a:srgbClr val="FFFFFF"/>
                          </a:solidFill>
                          <a:latin typeface="Calibri"/>
                        </a:rPr>
                        <a:t>Branch</a:t>
                      </a:r>
                    </a:p>
                  </a:txBody>
                  <a:tcPr marL="101600" marR="101600" marT="38100" marB="38100" anchor="ctr">
                    <a:solidFill>
                      <a:srgbClr val="1A0F5C"/>
                    </a:solidFill>
                  </a:tcPr>
                </a:tc>
                <a:tc>
                  <a:txBody>
                    <a:bodyPr/>
                    <a:lstStyle/>
                    <a:p>
                      <a:r>
                        <a:rPr sz="1250" b="1" i="0">
                          <a:solidFill>
                            <a:srgbClr val="FFFFFF"/>
                          </a:solidFill>
                          <a:latin typeface="Calibri"/>
                        </a:rPr>
                        <a:t>The lever</a:t>
                      </a:r>
                    </a:p>
                  </a:txBody>
                  <a:tcPr marL="101600" marR="101600" marT="38100" marB="38100" anchor="ctr">
                    <a:solidFill>
                      <a:srgbClr val="1A0F5C"/>
                    </a:solidFill>
                  </a:tcPr>
                </a:tc>
                <a:tc>
                  <a:txBody>
                    <a:bodyPr/>
                    <a:lstStyle/>
                    <a:p>
                      <a:r>
                        <a:rPr sz="1250" b="1" i="0">
                          <a:solidFill>
                            <a:srgbClr val="FFFFFF"/>
                          </a:solidFill>
                          <a:latin typeface="Calibri"/>
                        </a:rPr>
                        <a:t>Who owns it</a:t>
                      </a:r>
                    </a:p>
                  </a:txBody>
                  <a:tcPr marL="101600" marR="101600" marT="38100" marB="38100" anchor="ctr">
                    <a:solidFill>
                      <a:srgbClr val="1A0F5C"/>
                    </a:solidFill>
                  </a:tcPr>
                </a:tc>
                <a:tc>
                  <a:txBody>
                    <a:bodyPr/>
                    <a:lstStyle/>
                    <a:p>
                      <a:r>
                        <a:rPr sz="1250" b="1" i="0">
                          <a:solidFill>
                            <a:srgbClr val="FFFFFF"/>
                          </a:solidFill>
                          <a:latin typeface="Calibri"/>
                        </a:rPr>
                        <a:t>What moving it costs</a:t>
                      </a:r>
                    </a:p>
                  </a:txBody>
                  <a:tcPr marL="101600" marR="101600" marT="38100" marB="38100" anchor="ctr">
                    <a:solidFill>
                      <a:srgbClr val="1A0F5C"/>
                    </a:solidFill>
                  </a:tcPr>
                </a:tc>
              </a:tr>
              <a:tr h="335280">
                <a:tc>
                  <a:txBody>
                    <a:bodyPr/>
                    <a:lstStyle/>
                    <a:p>
                      <a:r>
                        <a:rPr sz="1200" b="0" i="0">
                          <a:solidFill>
                            <a:srgbClr val="1A1440"/>
                          </a:solidFill>
                          <a:latin typeface="Calibri"/>
                        </a:rPr>
                        <a:t>Customers</a:t>
                      </a:r>
                    </a:p>
                  </a:txBody>
                  <a:tcPr marL="101600" marR="101600" marT="38100" marB="38100" anchor="ctr">
                    <a:solidFill>
                      <a:srgbClr val="FFFFFF"/>
                    </a:solidFill>
                  </a:tcPr>
                </a:tc>
                <a:tc>
                  <a:txBody>
                    <a:bodyPr/>
                    <a:lstStyle/>
                    <a:p>
                      <a:r>
                        <a:rPr sz="1200" b="0" i="0">
                          <a:solidFill>
                            <a:srgbClr val="1A1440"/>
                          </a:solidFill>
                          <a:latin typeface="Calibri"/>
                        </a:rPr>
                        <a:t>Acquisition campaigns</a:t>
                      </a:r>
                    </a:p>
                  </a:txBody>
                  <a:tcPr marL="101600" marR="101600" marT="38100" marB="38100" anchor="ctr">
                    <a:solidFill>
                      <a:srgbClr val="FFFFFF"/>
                    </a:solidFill>
                  </a:tcPr>
                </a:tc>
                <a:tc>
                  <a:txBody>
                    <a:bodyPr/>
                    <a:lstStyle/>
                    <a:p>
                      <a:r>
                        <a:rPr sz="1200" b="0" i="0">
                          <a:solidFill>
                            <a:srgbClr val="1A1440"/>
                          </a:solidFill>
                          <a:latin typeface="Calibri"/>
                        </a:rPr>
                        <a:t>The marketing lead</a:t>
                      </a:r>
                    </a:p>
                  </a:txBody>
                  <a:tcPr marL="101600" marR="101600" marT="38100" marB="38100" anchor="ctr">
                    <a:solidFill>
                      <a:srgbClr val="FFFFFF"/>
                    </a:solidFill>
                  </a:tcPr>
                </a:tc>
                <a:tc>
                  <a:txBody>
                    <a:bodyPr/>
                    <a:lstStyle/>
                    <a:p>
                      <a:r>
                        <a:rPr sz="1200" b="0" i="0">
                          <a:solidFill>
                            <a:srgbClr val="1A1440"/>
                          </a:solidFill>
                          <a:latin typeface="Calibri"/>
                        </a:rPr>
                        <a:t>Marketing spend, before any repeat order</a:t>
                      </a:r>
                    </a:p>
                  </a:txBody>
                  <a:tcPr marL="101600" marR="101600" marT="38100" marB="38100" anchor="ctr">
                    <a:solidFill>
                      <a:srgbClr val="FFFFFF"/>
                    </a:solidFill>
                  </a:tcPr>
                </a:tc>
              </a:tr>
              <a:tr h="335280">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Retention, reminders, reorder</a:t>
                      </a:r>
                    </a:p>
                  </a:txBody>
                  <a:tcPr marL="101600" marR="101600" marT="38100" marB="38100" anchor="ctr">
                    <a:solidFill>
                      <a:srgbClr val="F4F2FA"/>
                    </a:solidFill>
                  </a:tcPr>
                </a:tc>
                <a:tc>
                  <a:txBody>
                    <a:bodyPr/>
                    <a:lstStyle/>
                    <a:p>
                      <a:r>
                        <a:rPr sz="1200" b="0" i="0">
                          <a:solidFill>
                            <a:srgbClr val="1A1440"/>
                          </a:solidFill>
                          <a:latin typeface="Calibri"/>
                        </a:rPr>
                        <a:t>Tier and product owners</a:t>
                      </a:r>
                    </a:p>
                  </a:txBody>
                  <a:tcPr marL="101600" marR="101600" marT="38100" marB="38100" anchor="ctr">
                    <a:solidFill>
                      <a:srgbClr val="F4F2FA"/>
                    </a:solidFill>
                  </a:tcPr>
                </a:tc>
                <a:tc>
                  <a:txBody>
                    <a:bodyPr/>
                    <a:lstStyle/>
                    <a:p>
                      <a:r>
                        <a:rPr sz="1200" b="0" i="0">
                          <a:solidFill>
                            <a:srgbClr val="1A1440"/>
                          </a:solidFill>
                          <a:latin typeface="Calibri"/>
                        </a:rPr>
                        <a:t>Service and product work on people already won</a:t>
                      </a:r>
                    </a:p>
                  </a:txBody>
                  <a:tcPr marL="101600" marR="101600" marT="38100" marB="38100" anchor="ctr">
                    <a:solidFill>
                      <a:srgbClr val="F4F2FA"/>
                    </a:solidFill>
                  </a:tcPr>
                </a:tc>
              </a:tr>
              <a:tr h="335280">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Range, bundles, basket</a:t>
                      </a:r>
                    </a:p>
                  </a:txBody>
                  <a:tcPr marL="101600" marR="101600" marT="38100" marB="38100" anchor="ctr">
                    <a:solidFill>
                      <a:srgbClr val="FFFFFF"/>
                    </a:solidFill>
                  </a:tcPr>
                </a:tc>
                <a:tc>
                  <a:txBody>
                    <a:bodyPr/>
                    <a:lstStyle/>
                    <a:p>
                      <a:r>
                        <a:rPr sz="1200" b="0" i="0">
                          <a:solidFill>
                            <a:srgbClr val="1A1440"/>
                          </a:solidFill>
                          <a:latin typeface="Calibri"/>
                        </a:rPr>
                        <a:t>Merchandising</a:t>
                      </a:r>
                    </a:p>
                  </a:txBody>
                  <a:tcPr marL="101600" marR="101600" marT="38100" marB="38100" anchor="ctr">
                    <a:solidFill>
                      <a:srgbClr val="FFFFFF"/>
                    </a:solidFill>
                  </a:tcPr>
                </a:tc>
                <a:tc>
                  <a:txBody>
                    <a:bodyPr/>
                    <a:lstStyle/>
                    <a:p>
                      <a:r>
                        <a:rPr sz="1200" b="0" i="0">
                          <a:solidFill>
                            <a:srgbClr val="1A1440"/>
                          </a:solidFill>
                          <a:latin typeface="Calibri"/>
                        </a:rPr>
                        <a:t>Assortment and margin decisions</a:t>
                      </a:r>
                    </a:p>
                  </a:txBody>
                  <a:tcPr marL="101600" marR="101600" marT="38100" marB="38100" anchor="ctr">
                    <a:solidFill>
                      <a:srgbClr val="FFFFFF"/>
                    </a:solidFill>
                  </a:tcPr>
                </a:tc>
              </a:tr>
              <a:tr h="335280">
                <a:tc>
                  <a:txBody>
                    <a:bodyPr/>
                    <a:lstStyle/>
                    <a:p>
                      <a:r>
                        <a:rPr sz="1200" b="0" i="0">
                          <a:solidFill>
                            <a:srgbClr val="1A1440"/>
                          </a:solidFill>
                          <a:latin typeface="Calibri"/>
                        </a:rPr>
                        <a:t>Price and discounts</a:t>
                      </a:r>
                    </a:p>
                  </a:txBody>
                  <a:tcPr marL="101600" marR="101600" marT="38100" marB="38100" anchor="ctr">
                    <a:solidFill>
                      <a:srgbClr val="F4F2FA"/>
                    </a:solidFill>
                  </a:tcPr>
                </a:tc>
                <a:tc>
                  <a:txBody>
                    <a:bodyPr/>
                    <a:lstStyle/>
                    <a:p>
                      <a:r>
                        <a:rPr sz="1200" b="0" i="0">
                          <a:solidFill>
                            <a:srgbClr val="1A1440"/>
                          </a:solidFill>
                          <a:latin typeface="Calibri"/>
                        </a:rPr>
                        <a:t>Price lists, offers</a:t>
                      </a:r>
                    </a:p>
                  </a:txBody>
                  <a:tcPr marL="101600" marR="101600" marT="38100" marB="38100" anchor="ctr">
                    <a:solidFill>
                      <a:srgbClr val="F4F2FA"/>
                    </a:solidFill>
                  </a:tcPr>
                </a:tc>
                <a:tc>
                  <a:txBody>
                    <a:bodyPr/>
                    <a:lstStyle/>
                    <a:p>
                      <a:r>
                        <a:rPr sz="1200" b="0" i="0">
                          <a:solidFill>
                            <a:srgbClr val="1A1440"/>
                          </a:solidFill>
                          <a:latin typeface="Calibri"/>
                        </a:rPr>
                        <a:t>Finance with Marketing</a:t>
                      </a:r>
                    </a:p>
                  </a:txBody>
                  <a:tcPr marL="101600" marR="101600" marT="38100" marB="38100" anchor="ctr">
                    <a:solidFill>
                      <a:srgbClr val="F4F2FA"/>
                    </a:solidFill>
                  </a:tcPr>
                </a:tc>
                <a:tc>
                  <a:txBody>
                    <a:bodyPr/>
                    <a:lstStyle/>
                    <a:p>
                      <a:r>
                        <a:rPr sz="1200" b="0" i="0">
                          <a:solidFill>
                            <a:srgbClr val="1A1440"/>
                          </a:solidFill>
                          <a:latin typeface="Calibri"/>
                        </a:rPr>
                        <a:t>Volume at risk, or margin given away</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891540"/>
          </a:xfrm>
          <a:prstGeom prst="rect">
            <a:avLst/>
          </a:prstGeom>
          <a:noFill/>
        </p:spPr>
        <p:txBody>
          <a:bodyPr wrap="square" anchor="ctr" lIns="0" rIns="0" tIns="0" bIns="0">
            <a:spAutoFit/>
          </a:bodyPr>
          <a:lstStyle/>
          <a:p>
            <a:r>
              <a:rPr sz="1500" b="1">
                <a:solidFill>
                  <a:srgbClr val="5B3FD6"/>
                </a:solidFill>
                <a:latin typeface="Calibri"/>
              </a:rPr>
              <a:t>The outside view. </a:t>
            </a:r>
            <a:r>
              <a:rPr sz="1500" b="0" i="0">
                <a:solidFill>
                  <a:srgbClr val="1A1440"/>
                </a:solidFill>
                <a:latin typeface="Calibri"/>
              </a:rPr>
              <a:t>Harvard Business Review (Gallo, 2014): depending on the study and the industry, acquiring a new customer costs 5 to 25 times more than retaining one; Bain's Reichheld found a 5 percent rise in retention lifting profits 25 to 95 percent.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The ask, the system and the ladder</a:t>
            </a:r>
          </a:p>
        </p:txBody>
      </p:sp>
      <p:sp>
        <p:nvSpPr>
          <p:cNvPr id="15" name="Oval 14"/>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17" name="Oval 16"/>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19" name="Oval 18"/>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41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could manufacture a drop?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anyone explains a fall, the room lists what could make one appear when the business had none.</a:t>
            </a:r>
          </a:p>
        </p:txBody>
      </p:sp>
      <p:pic>
        <p:nvPicPr>
          <p:cNvPr id="9" name="mermaid diagram" descr="a03266a1bf890b7a.png"/>
          <p:cNvPicPr>
            <a:picLocks noChangeAspect="1"/>
          </p:cNvPicPr>
          <p:nvPr/>
        </p:nvPicPr>
        <p:blipFill>
          <a:blip r:embed="rId5"/>
          <a:stretch>
            <a:fillRect/>
          </a:stretch>
        </p:blipFill>
        <p:spPr>
          <a:xfrm>
            <a:off x="3581247" y="1956816"/>
            <a:ext cx="5029200" cy="1285875"/>
          </a:xfrm>
          <a:prstGeom prst="rect">
            <a:avLst/>
          </a:prstGeom>
        </p:spPr>
      </p:pic>
      <p:sp>
        <p:nvSpPr>
          <p:cNvPr id="10" name="Rounded Rectangle 9"/>
          <p:cNvSpPr/>
          <p:nvPr/>
        </p:nvSpPr>
        <p:spPr>
          <a:xfrm>
            <a:off x="530352" y="33889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17011"/>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0786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In pairs, two minutes: name three places between a customer's checkout and a dashboard tile where a fall could be created that the business never had.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The ask, the system and the ladder</a:t>
            </a:r>
          </a:p>
        </p:txBody>
      </p:sp>
      <p:sp>
        <p:nvSpPr>
          <p:cNvPr id="15" name="Oval 14"/>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17" name="Oval 16"/>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19" name="Oval 18"/>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41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fake drop has an address in the pipeline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number on a dashboard passed through four hands, and each hand can manufacture a fall.</a:t>
            </a:r>
          </a:p>
        </p:txBody>
      </p:sp>
      <p:pic>
        <p:nvPicPr>
          <p:cNvPr id="9" name="mermaid diagram" descr="d73275b1287a6534.png"/>
          <p:cNvPicPr>
            <a:picLocks noChangeAspect="1"/>
          </p:cNvPicPr>
          <p:nvPr/>
        </p:nvPicPr>
        <p:blipFill>
          <a:blip r:embed="rId6"/>
          <a:stretch>
            <a:fillRect/>
          </a:stretch>
        </p:blipFill>
        <p:spPr>
          <a:xfrm>
            <a:off x="530351" y="1956816"/>
            <a:ext cx="11130991" cy="2588306"/>
          </a:xfrm>
          <a:prstGeom prst="rect">
            <a:avLst/>
          </a:prstGeom>
        </p:spPr>
      </p:pic>
      <p:sp>
        <p:nvSpPr>
          <p:cNvPr id="10" name="Rounded Rectangle 9"/>
          <p:cNvSpPr/>
          <p:nvPr/>
        </p:nvSpPr>
        <p:spPr>
          <a:xfrm>
            <a:off x="530352" y="469142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02365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133386"/>
            <a:ext cx="237744" cy="237744"/>
          </a:xfrm>
          <a:prstGeom prst="rect">
            <a:avLst/>
          </a:prstGeom>
        </p:spPr>
      </p:pic>
      <p:sp>
        <p:nvSpPr>
          <p:cNvPr id="13" name="TextBox 12"/>
          <p:cNvSpPr txBox="1"/>
          <p:nvPr/>
        </p:nvSpPr>
        <p:spPr>
          <a:xfrm>
            <a:off x="1399031" y="483773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057186"/>
            <a:ext cx="9987991" cy="682752"/>
          </a:xfrm>
          <a:prstGeom prst="rect">
            <a:avLst/>
          </a:prstGeom>
          <a:noFill/>
        </p:spPr>
        <p:txBody>
          <a:bodyPr wrap="square" anchor="t" lIns="0" rIns="0" tIns="0" bIns="0">
            <a:spAutoFit/>
          </a:bodyPr>
          <a:lstStyle/>
          <a:p>
            <a:r>
              <a:rPr sz="1500" b="0" i="0">
                <a:solidFill>
                  <a:srgbClr val="1A1440"/>
                </a:solidFill>
                <a:latin typeface="Calibri"/>
              </a:rPr>
              <a:t>Find the hop a number came through before you explain it. Today's traps live at three of these addresses: the window, the empty field and the roll-up.</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The ask, the system and the ladder</a:t>
            </a:r>
          </a:p>
        </p:txBody>
      </p:sp>
      <p:sp>
        <p:nvSpPr>
          <p:cNvPr id="17" name="Oval 16"/>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19" name="Oval 18"/>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21" name="Oval 20"/>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41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ladder, and what each rung needs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rungs climbed in order, each with the data it needs and the trap it guards.</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914400"/>
                <a:gridCol w="2409845"/>
                <a:gridCol w="4511846"/>
                <a:gridCol w="3294898"/>
              </a:tblGrid>
              <a:tr h="335280">
                <a:tc>
                  <a:txBody>
                    <a:bodyPr/>
                    <a:lstStyle/>
                    <a:p>
                      <a:r>
                        <a:rPr sz="1250" b="1" i="0">
                          <a:solidFill>
                            <a:srgbClr val="FFFFFF"/>
                          </a:solidFill>
                          <a:latin typeface="Calibri"/>
                        </a:rPr>
                        <a:t>Rung</a:t>
                      </a:r>
                    </a:p>
                  </a:txBody>
                  <a:tcPr marL="101600" marR="101600" marT="38100" marB="38100" anchor="ctr">
                    <a:solidFill>
                      <a:srgbClr val="1A0F5C"/>
                    </a:solidFill>
                  </a:tcPr>
                </a:tc>
                <a:tc>
                  <a:txBody>
                    <a:bodyPr/>
                    <a:lstStyle/>
                    <a:p>
                      <a:r>
                        <a:rPr sz="1250" b="1" i="0">
                          <a:solidFill>
                            <a:srgbClr val="FFFFFF"/>
                          </a:solidFill>
                          <a:latin typeface="Calibri"/>
                        </a:rPr>
                        <a:t>The question</a:t>
                      </a:r>
                    </a:p>
                  </a:txBody>
                  <a:tcPr marL="101600" marR="101600" marT="38100" marB="38100" anchor="ctr">
                    <a:solidFill>
                      <a:srgbClr val="1A0F5C"/>
                    </a:solidFill>
                  </a:tcPr>
                </a:tc>
                <a:tc>
                  <a:txBody>
                    <a:bodyPr/>
                    <a:lstStyle/>
                    <a:p>
                      <a:r>
                        <a:rPr sz="1250" b="1" i="0">
                          <a:solidFill>
                            <a:srgbClr val="FFFFFF"/>
                          </a:solidFill>
                          <a:latin typeface="Calibri"/>
                        </a:rPr>
                        <a:t>What it needs from the data</a:t>
                      </a:r>
                    </a:p>
                  </a:txBody>
                  <a:tcPr marL="101600" marR="101600" marT="38100" marB="38100" anchor="ctr">
                    <a:solidFill>
                      <a:srgbClr val="1A0F5C"/>
                    </a:solidFill>
                  </a:tcPr>
                </a:tc>
                <a:tc>
                  <a:txBody>
                    <a:bodyPr/>
                    <a:lstStyle/>
                    <a:p>
                      <a:r>
                        <a:rPr sz="1250" b="1" i="0">
                          <a:solidFill>
                            <a:srgbClr val="FFFFFF"/>
                          </a:solidFill>
                          <a:latin typeface="Calibri"/>
                        </a:rPr>
                        <a:t>The trap it guards today</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Is the drop real?</a:t>
                      </a:r>
                    </a:p>
                  </a:txBody>
                  <a:tcPr marL="101600" marR="101600" marT="38100" marB="38100" anchor="ctr">
                    <a:solidFill>
                      <a:srgbClr val="FFFFFF"/>
                    </a:solidFill>
                  </a:tcPr>
                </a:tc>
                <a:tc>
                  <a:txBody>
                    <a:bodyPr/>
                    <a:lstStyle/>
                    <a:p>
                      <a:r>
                        <a:rPr sz="1200" b="0" i="0">
                          <a:solidFill>
                            <a:srgbClr val="1A1440"/>
                          </a:solidFill>
                          <a:latin typeface="Calibri"/>
                        </a:rPr>
                        <a:t>Both windows' dates, one definition</a:t>
                      </a:r>
                    </a:p>
                  </a:txBody>
                  <a:tcPr marL="101600" marR="101600" marT="38100" marB="38100" anchor="ctr">
                    <a:solidFill>
                      <a:srgbClr val="FFFFFF"/>
                    </a:solidFill>
                  </a:tcPr>
                </a:tc>
                <a:tc>
                  <a:txBody>
                    <a:bodyPr/>
                    <a:lstStyle/>
                    <a:p>
                      <a:r>
                        <a:rPr sz="1200" b="0" i="0">
                          <a:solidFill>
                            <a:srgbClr val="1A1440"/>
                          </a:solidFill>
                          <a:latin typeface="Calibri"/>
                        </a:rPr>
                        <a:t>Quarters of unequal length</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Which branch moved?</a:t>
                      </a:r>
                    </a:p>
                  </a:txBody>
                  <a:tcPr marL="101600" marR="101600" marT="38100" marB="38100" anchor="ctr">
                    <a:solidFill>
                      <a:srgbClr val="F4F2FA"/>
                    </a:solidFill>
                  </a:tcPr>
                </a:tc>
                <a:tc>
                  <a:txBody>
                    <a:bodyPr/>
                    <a:lstStyle/>
                    <a:p>
                      <a:r>
                        <a:rPr sz="1200" b="0" i="0">
                          <a:solidFill>
                            <a:srgbClr val="1A1440"/>
                          </a:solidFill>
                          <a:latin typeface="Calibri"/>
                        </a:rPr>
                        <a:t>Customers, orders, revenue per quarter</a:t>
                      </a:r>
                    </a:p>
                  </a:txBody>
                  <a:tcPr marL="101600" marR="101600" marT="38100" marB="38100" anchor="ctr">
                    <a:solidFill>
                      <a:srgbClr val="F4F2FA"/>
                    </a:solidFill>
                  </a:tcPr>
                </a:tc>
                <a:tc>
                  <a:txBody>
                    <a:bodyPr/>
                    <a:lstStyle/>
                    <a:p>
                      <a:r>
                        <a:rPr sz="1200" b="0" i="0">
                          <a:solidFill>
                            <a:srgbClr val="1A1440"/>
                          </a:solidFill>
                          <a:latin typeface="Calibri"/>
                        </a:rPr>
                        <a:t>An empty field read as zero</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Which segment?</a:t>
                      </a:r>
                    </a:p>
                  </a:txBody>
                  <a:tcPr marL="101600" marR="101600" marT="38100" marB="38100" anchor="ctr">
                    <a:solidFill>
                      <a:srgbClr val="FFFFFF"/>
                    </a:solidFill>
                  </a:tcPr>
                </a:tc>
                <a:tc>
                  <a:txBody>
                    <a:bodyPr/>
                    <a:lstStyle/>
                    <a:p>
                      <a:r>
                        <a:rPr sz="1200" b="0" i="0">
                          <a:solidFill>
                            <a:srgbClr val="1A1440"/>
                          </a:solidFill>
                          <a:latin typeface="Calibri"/>
                        </a:rPr>
                        <a:t>The same tree per segment</a:t>
                      </a:r>
                    </a:p>
                  </a:txBody>
                  <a:tcPr marL="101600" marR="101600" marT="38100" marB="38100" anchor="ctr">
                    <a:solidFill>
                      <a:srgbClr val="FFFFFF"/>
                    </a:solidFill>
                  </a:tcPr>
                </a:tc>
                <a:tc>
                  <a:txBody>
                    <a:bodyPr/>
                    <a:lstStyle/>
                    <a:p>
                      <a:r>
                        <a:rPr sz="1200" b="0" i="0">
                          <a:solidFill>
                            <a:srgbClr val="1A1440"/>
                          </a:solidFill>
                          <a:latin typeface="Calibri"/>
                        </a:rPr>
                        <a:t>Averages averaged</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Mix or rate?</a:t>
                      </a:r>
                    </a:p>
                  </a:txBody>
                  <a:tcPr marL="101600" marR="101600" marT="38100" marB="38100" anchor="ctr">
                    <a:solidFill>
                      <a:srgbClr val="F4F2FA"/>
                    </a:solidFill>
                  </a:tcPr>
                </a:tc>
                <a:tc>
                  <a:txBody>
                    <a:bodyPr/>
                    <a:lstStyle/>
                    <a:p>
                      <a:r>
                        <a:rPr sz="1200" b="0" i="0">
                          <a:solidFill>
                            <a:srgbClr val="1A1440"/>
                          </a:solidFill>
                          <a:latin typeface="Calibri"/>
                        </a:rPr>
                        <a:t>Each segment's share and rate</a:t>
                      </a:r>
                    </a:p>
                  </a:txBody>
                  <a:tcPr marL="101600" marR="101600" marT="38100" marB="38100" anchor="ctr">
                    <a:solidFill>
                      <a:srgbClr val="F4F2FA"/>
                    </a:solidFill>
                  </a:tcPr>
                </a:tc>
                <a:tc>
                  <a:txBody>
                    <a:bodyPr/>
                    <a:lstStyle/>
                    <a:p>
                      <a:r>
                        <a:rPr sz="1200" b="0" i="0">
                          <a:solidFill>
                            <a:srgbClr val="1A1440"/>
                          </a:solidFill>
                          <a:latin typeface="Calibri"/>
                        </a:rPr>
                        <a:t>A helper that drops a group</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Why?</a:t>
                      </a:r>
                    </a:p>
                  </a:txBody>
                  <a:tcPr marL="101600" marR="101600" marT="38100" marB="38100" anchor="ctr">
                    <a:solidFill>
                      <a:srgbClr val="FFFFFF"/>
                    </a:solidFill>
                  </a:tcPr>
                </a:tc>
                <a:tc>
                  <a:txBody>
                    <a:bodyPr/>
                    <a:lstStyle/>
                    <a:p>
                      <a:r>
                        <a:rPr sz="1200" b="0" i="0">
                          <a:solidFill>
                            <a:srgbClr val="1A1440"/>
                          </a:solidFill>
                          <a:latin typeface="Calibri"/>
                        </a:rPr>
                        <a:t>Data the file does not carry</a:t>
                      </a:r>
                    </a:p>
                  </a:txBody>
                  <a:tcPr marL="101600" marR="101600" marT="38100" marB="38100" anchor="ctr">
                    <a:solidFill>
                      <a:srgbClr val="FFFFFF"/>
                    </a:solidFill>
                  </a:tcPr>
                </a:tc>
                <a:tc>
                  <a:txBody>
                    <a:bodyPr/>
                    <a:lstStyle/>
                    <a:p>
                      <a:r>
                        <a:rPr sz="1200" b="0" i="0">
                          <a:solidFill>
                            <a:srgbClr val="1A1440"/>
                          </a:solidFill>
                          <a:latin typeface="Calibri"/>
                        </a:rPr>
                        <a:t>A cause stated as a fact</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863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796028"/>
            <a:ext cx="237744" cy="237744"/>
          </a:xfrm>
          <a:prstGeom prst="rect">
            <a:avLst/>
          </a:prstGeom>
        </p:spPr>
      </p:pic>
      <p:sp>
        <p:nvSpPr>
          <p:cNvPr id="13" name="TextBox 12"/>
          <p:cNvSpPr txBox="1"/>
          <p:nvPr/>
        </p:nvSpPr>
        <p:spPr>
          <a:xfrm>
            <a:off x="1399031" y="43708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590288"/>
            <a:ext cx="9987991" cy="941832"/>
          </a:xfrm>
          <a:prstGeom prst="rect">
            <a:avLst/>
          </a:prstGeom>
          <a:noFill/>
        </p:spPr>
        <p:txBody>
          <a:bodyPr wrap="square" anchor="t" lIns="0" rIns="0" tIns="0" bIns="0">
            <a:spAutoFit/>
          </a:bodyPr>
          <a:lstStyle/>
          <a:p>
            <a:r>
              <a:rPr sz="1500" b="0" i="0">
                <a:solidFill>
                  <a:srgbClr val="1A1440"/>
                </a:solidFill>
                <a:latin typeface="Calibri"/>
              </a:rPr>
              <a:t>Confirm, compare like with like, decompose, isolate, then hypothesise. Analyst screens ask the same order: clarify the problem, define the metric, check the data, then segment (Brit Institute's case framework).</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The ask, the system and the ladder</a:t>
            </a:r>
          </a:p>
        </p:txBody>
      </p:sp>
      <p:sp>
        <p:nvSpPr>
          <p:cNvPr id="17" name="Oval 16"/>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19" name="Oval 18"/>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21" name="Oval 20"/>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41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Monday's tree, where changes multiply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branches multiply into revenue, so their changes multiply too, and never simply add.</a:t>
            </a:r>
          </a:p>
        </p:txBody>
      </p:sp>
      <p:pic>
        <p:nvPicPr>
          <p:cNvPr id="9" name="mermaid diagram" descr="0c727955ef425ec9.png"/>
          <p:cNvPicPr>
            <a:picLocks noChangeAspect="1"/>
          </p:cNvPicPr>
          <p:nvPr/>
        </p:nvPicPr>
        <p:blipFill>
          <a:blip r:embed="rId6"/>
          <a:stretch>
            <a:fillRect/>
          </a:stretch>
        </p:blipFill>
        <p:spPr>
          <a:xfrm>
            <a:off x="3774128" y="1820227"/>
            <a:ext cx="4643437" cy="2714625"/>
          </a:xfrm>
          <a:prstGeom prst="rect">
            <a:avLst/>
          </a:prstGeom>
        </p:spPr>
      </p:pic>
      <p:sp>
        <p:nvSpPr>
          <p:cNvPr id="10" name="Rounded Rectangle 9"/>
          <p:cNvSpPr/>
          <p:nvPr/>
        </p:nvSpPr>
        <p:spPr>
          <a:xfrm>
            <a:off x="530352" y="46811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429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252656"/>
            <a:ext cx="237744" cy="237744"/>
          </a:xfrm>
          <a:prstGeom prst="rect">
            <a:avLst/>
          </a:prstGeom>
        </p:spPr>
      </p:pic>
      <p:sp>
        <p:nvSpPr>
          <p:cNvPr id="13" name="TextBox 12"/>
          <p:cNvSpPr txBox="1"/>
          <p:nvPr/>
        </p:nvSpPr>
        <p:spPr>
          <a:xfrm>
            <a:off x="1399031" y="48274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046916"/>
            <a:ext cx="9987991" cy="941832"/>
          </a:xfrm>
          <a:prstGeom prst="rect">
            <a:avLst/>
          </a:prstGeom>
          <a:noFill/>
        </p:spPr>
        <p:txBody>
          <a:bodyPr wrap="square" anchor="t" lIns="0" rIns="0" tIns="0" bIns="0">
            <a:spAutoFit/>
          </a:bodyPr>
          <a:lstStyle/>
          <a:p>
            <a:r>
              <a:rPr sz="1500" b="0" i="0">
                <a:solidFill>
                  <a:srgbClr val="1A1440"/>
                </a:solidFill>
                <a:latin typeface="Calibri"/>
              </a:rPr>
              <a:t>Invented numbers: ten percent more customers and ten percent less frequency is 1.10 times 0.90, which is 0.99, a one percent fall, where adding them says flat. Monday's two ten percent lifts made 21 percent for the same reason.</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The ask, the system and the ladder</a:t>
            </a:r>
          </a:p>
        </p:txBody>
      </p:sp>
      <p:sp>
        <p:nvSpPr>
          <p:cNvPr id="17" name="Oval 16"/>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19" name="Oval 18"/>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21" name="Oval 20"/>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41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1, is the drop real</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Marketing's slide says revenue fell by a quarter, and the first rung checks the windows before the story.</a:t>
            </a:r>
          </a:p>
        </p:txBody>
      </p:sp>
      <p:sp>
        <p:nvSpPr>
          <p:cNvPr id="10" name="Rounded Rectangle 9"/>
          <p:cNvSpPr/>
          <p:nvPr/>
        </p:nvSpPr>
        <p:spPr>
          <a:xfrm>
            <a:off x="73151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 the system and the ladder</a:t>
            </a:r>
          </a:p>
        </p:txBody>
      </p:sp>
      <p:sp>
        <p:nvSpPr>
          <p:cNvPr id="11" name="Rounded Rectangle 10"/>
          <p:cNvSpPr/>
          <p:nvPr/>
        </p:nvSpPr>
        <p:spPr>
          <a:xfrm>
            <a:off x="2990088"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1, is the drop real</a:t>
            </a:r>
          </a:p>
        </p:txBody>
      </p:sp>
      <p:sp>
        <p:nvSpPr>
          <p:cNvPr id="12" name="Rounded Rectangle 11"/>
          <p:cNvSpPr/>
          <p:nvPr/>
        </p:nvSpPr>
        <p:spPr>
          <a:xfrm>
            <a:off x="4945975"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which branch moved</a:t>
            </a:r>
          </a:p>
        </p:txBody>
      </p:sp>
      <p:sp>
        <p:nvSpPr>
          <p:cNvPr id="13" name="Rounded Rectangle 12"/>
          <p:cNvSpPr/>
          <p:nvPr/>
        </p:nvSpPr>
        <p:spPr>
          <a:xfrm>
            <a:off x="7020294"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every kind of customer</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10 / 41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slide says revenue fell 25.9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Its Q2 figure is the dashboard tile, and the arithmetic on the slide is correct.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2,10,00,000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ON MARKETING'S SLIDE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1 April to 30 June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1,55,59,950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ON MARKETING'S SLIDE</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dashboard tile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-25.9%</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HEADLINE</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"revenue fell by a quarter"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If revenue fell by a quarter in one quarter, Marketing says, the acquisition budget cannot wait.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28" name="Oval 27"/>
          <p:cNvSpPr/>
          <p:nvPr/>
        </p:nvSpPr>
        <p:spPr>
          <a:xfrm>
            <a:off x="25700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67976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Round 1, is the drop real</a:t>
            </a:r>
          </a:p>
        </p:txBody>
      </p:sp>
      <p:sp>
        <p:nvSpPr>
          <p:cNvPr id="30" name="Oval 29"/>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32" name="Oval 31"/>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41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retailers keep periods comparable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 learned long ago that two totals only compare when their calendars match.</a:t>
            </a:r>
          </a:p>
        </p:txBody>
      </p:sp>
      <p:graphicFrame>
        <p:nvGraphicFramePr>
          <p:cNvPr id="9" name="Table 8"/>
          <p:cNvGraphicFramePr>
            <a:graphicFrameLocks noGrp="1"/>
          </p:cNvGraphicFramePr>
          <p:nvPr/>
        </p:nvGraphicFramePr>
        <p:xfrm>
          <a:off x="530352" y="1956816"/>
          <a:ext cx="11130990" cy="2574544"/>
        </p:xfrm>
        <a:graphic>
          <a:graphicData uri="http://schemas.openxmlformats.org/drawingml/2006/table">
            <a:tbl>
              <a:tblPr firstRow="0" bandRow="0">
                <a:tableStyleId>{2D5ABB26-0587-4C30-8999-92F81FD0307C}</a:tableStyleId>
              </a:tblPr>
              <a:tblGrid>
                <a:gridCol w="3221959"/>
                <a:gridCol w="4514705"/>
                <a:gridCol w="3394326"/>
              </a:tblGrid>
              <a:tr h="369824">
                <a:tc>
                  <a:txBody>
                    <a:bodyPr/>
                    <a:lstStyle/>
                    <a:p>
                      <a:r>
                        <a:rPr sz="1450" b="1" i="0">
                          <a:solidFill>
                            <a:srgbClr val="FFFFFF"/>
                          </a:solidFill>
                          <a:latin typeface="Calibri"/>
                        </a:rPr>
                        <a:t>Convention</a:t>
                      </a:r>
                    </a:p>
                  </a:txBody>
                  <a:tcPr marL="101600" marR="101600" marT="38100" marB="38100" anchor="ctr">
                    <a:solidFill>
                      <a:srgbClr val="1A0F5C"/>
                    </a:solidFill>
                  </a:tcPr>
                </a:tc>
                <a:tc>
                  <a:txBody>
                    <a:bodyPr/>
                    <a:lstStyle/>
                    <a:p>
                      <a:r>
                        <a:rPr sz="1450" b="1" i="0">
                          <a:solidFill>
                            <a:srgbClr val="FFFFFF"/>
                          </a:solidFill>
                          <a:latin typeface="Calibri"/>
                        </a:rPr>
                        <a:t>What it holds equal</a:t>
                      </a:r>
                    </a:p>
                  </a:txBody>
                  <a:tcPr marL="101600" marR="101600" marT="38100" marB="38100" anchor="ctr">
                    <a:solidFill>
                      <a:srgbClr val="1A0F5C"/>
                    </a:solidFill>
                  </a:tcPr>
                </a:tc>
                <a:tc>
                  <a:txBody>
                    <a:bodyPr/>
                    <a:lstStyle/>
                    <a:p>
                      <a:r>
                        <a:rPr sz="1450" b="1" i="0">
                          <a:solidFill>
                            <a:srgbClr val="FFFFFF"/>
                          </a:solidFill>
                          <a:latin typeface="Calibri"/>
                        </a:rPr>
                        <a:t>What it still misses</a:t>
                      </a:r>
                    </a:p>
                  </a:txBody>
                  <a:tcPr marL="101600" marR="101600" marT="38100" marB="38100" anchor="ctr">
                    <a:solidFill>
                      <a:srgbClr val="1A0F5C"/>
                    </a:solidFill>
                  </a:tcPr>
                </a:tc>
              </a:tr>
              <a:tr h="611632">
                <a:tc>
                  <a:txBody>
                    <a:bodyPr/>
                    <a:lstStyle/>
                    <a:p>
                      <a:r>
                        <a:rPr sz="1400" b="0" i="0">
                          <a:solidFill>
                            <a:srgbClr val="1A1440"/>
                          </a:solidFill>
                          <a:latin typeface="Calibri"/>
                        </a:rPr>
                        <a:t>Like-for-like, or same-store, sales</a:t>
                      </a:r>
                    </a:p>
                  </a:txBody>
                  <a:tcPr marL="101600" marR="101600" marT="38100" marB="38100" anchor="ctr">
                    <a:solidFill>
                      <a:srgbClr val="FFFFFF"/>
                    </a:solidFill>
                  </a:tcPr>
                </a:tc>
                <a:tc>
                  <a:txBody>
                    <a:bodyPr/>
                    <a:lstStyle/>
                    <a:p>
                      <a:r>
                        <a:rPr sz="1400" b="0" i="0">
                          <a:solidFill>
                            <a:srgbClr val="1A1440"/>
                          </a:solidFill>
                          <a:latin typeface="Calibri"/>
                        </a:rPr>
                        <a:t>The same outlets in both periods</a:t>
                      </a:r>
                    </a:p>
                  </a:txBody>
                  <a:tcPr marL="101600" marR="101600" marT="38100" marB="38100" anchor="ctr">
                    <a:solidFill>
                      <a:srgbClr val="FFFFFF"/>
                    </a:solidFill>
                  </a:tcPr>
                </a:tc>
                <a:tc>
                  <a:txBody>
                    <a:bodyPr/>
                    <a:lstStyle/>
                    <a:p>
                      <a:r>
                        <a:rPr sz="1400" b="0" i="0">
                          <a:solidFill>
                            <a:srgbClr val="1A1440"/>
                          </a:solidFill>
                          <a:latin typeface="Calibri"/>
                        </a:rPr>
                        <a:t>Season and calendar</a:t>
                      </a:r>
                    </a:p>
                  </a:txBody>
                  <a:tcPr marL="101600" marR="101600" marT="38100" marB="38100" anchor="ctr">
                    <a:solidFill>
                      <a:srgbClr val="FFFFFF"/>
                    </a:solidFill>
                  </a:tcPr>
                </a:tc>
              </a:tr>
              <a:tr h="611632">
                <a:tc>
                  <a:txBody>
                    <a:bodyPr/>
                    <a:lstStyle/>
                    <a:p>
                      <a:r>
                        <a:rPr sz="1400" b="0" i="0">
                          <a:solidFill>
                            <a:srgbClr val="1A1440"/>
                          </a:solidFill>
                          <a:latin typeface="Calibri"/>
                        </a:rPr>
                        <a:t>The 4-5-4 retail calendar</a:t>
                      </a:r>
                    </a:p>
                  </a:txBody>
                  <a:tcPr marL="101600" marR="101600" marT="38100" marB="38100" anchor="ctr">
                    <a:solidFill>
                      <a:srgbClr val="F4F2FA"/>
                    </a:solidFill>
                  </a:tcPr>
                </a:tc>
                <a:tc>
                  <a:txBody>
                    <a:bodyPr/>
                    <a:lstStyle/>
                    <a:p>
                      <a:r>
                        <a:rPr sz="1400" b="0" i="0">
                          <a:solidFill>
                            <a:srgbClr val="1A1440"/>
                          </a:solidFill>
                          <a:latin typeface="Calibri"/>
                        </a:rPr>
                        <a:t>Weeks per month, and weekends per comparable month</a:t>
                      </a:r>
                    </a:p>
                  </a:txBody>
                  <a:tcPr marL="101600" marR="101600" marT="38100" marB="38100" anchor="ctr">
                    <a:solidFill>
                      <a:srgbClr val="F4F2FA"/>
                    </a:solidFill>
                  </a:tcPr>
                </a:tc>
                <a:tc>
                  <a:txBody>
                    <a:bodyPr/>
                    <a:lstStyle/>
                    <a:p>
                      <a:r>
                        <a:rPr sz="1400" b="0" i="0">
                          <a:solidFill>
                            <a:srgbClr val="1A1440"/>
                          </a:solidFill>
                          <a:latin typeface="Calibri"/>
                        </a:rPr>
                        <a:t>New channels and events</a:t>
                      </a:r>
                    </a:p>
                  </a:txBody>
                  <a:tcPr marL="101600" marR="101600" marT="38100" marB="38100" anchor="ctr">
                    <a:solidFill>
                      <a:srgbClr val="F4F2FA"/>
                    </a:solidFill>
                  </a:tcPr>
                </a:tc>
              </a:tr>
              <a:tr h="611632">
                <a:tc>
                  <a:txBody>
                    <a:bodyPr/>
                    <a:lstStyle/>
                    <a:p>
                      <a:r>
                        <a:rPr sz="1400" b="0" i="0">
                          <a:solidFill>
                            <a:srgbClr val="1A1440"/>
                          </a:solidFill>
                          <a:latin typeface="Calibri"/>
                        </a:rPr>
                        <a:t>Year on year</a:t>
                      </a:r>
                    </a:p>
                  </a:txBody>
                  <a:tcPr marL="101600" marR="101600" marT="38100" marB="38100" anchor="ctr">
                    <a:solidFill>
                      <a:srgbClr val="FFFFFF"/>
                    </a:solidFill>
                  </a:tcPr>
                </a:tc>
                <a:tc>
                  <a:txBody>
                    <a:bodyPr/>
                    <a:lstStyle/>
                    <a:p>
                      <a:r>
                        <a:rPr sz="1400" b="0" i="0">
                          <a:solidFill>
                            <a:srgbClr val="1A1440"/>
                          </a:solidFill>
                          <a:latin typeface="Calibri"/>
                        </a:rPr>
                        <a:t>The season: this Q2 against last Q2</a:t>
                      </a:r>
                    </a:p>
                  </a:txBody>
                  <a:tcPr marL="101600" marR="101600" marT="38100" marB="38100" anchor="ctr">
                    <a:solidFill>
                      <a:srgbClr val="FFFFFF"/>
                    </a:solidFill>
                  </a:tcPr>
                </a:tc>
                <a:tc>
                  <a:txBody>
                    <a:bodyPr/>
                    <a:lstStyle/>
                    <a:p>
                      <a:r>
                        <a:rPr sz="1400" b="0" i="0">
                          <a:solidFill>
                            <a:srgbClr val="1A1440"/>
                          </a:solidFill>
                          <a:latin typeface="Calibri"/>
                        </a:rPr>
                        <a:t>Anything that changed within the year</a:t>
                      </a:r>
                    </a:p>
                  </a:txBody>
                  <a:tcPr marL="101600" marR="101600" marT="38100" marB="38100" anchor="ctr">
                    <a:solidFill>
                      <a:srgbClr val="FFFFFF"/>
                    </a:solidFill>
                  </a:tcPr>
                </a:tc>
              </a:tr>
              <a:tr h="369824">
                <a:tc>
                  <a:txBody>
                    <a:bodyPr/>
                    <a:lstStyle/>
                    <a:p>
                      <a:r>
                        <a:rPr sz="1400" b="0" i="0">
                          <a:solidFill>
                            <a:srgbClr val="1A1440"/>
                          </a:solidFill>
                          <a:latin typeface="Calibri"/>
                        </a:rPr>
                        <a:t>Quarter on quarter</a:t>
                      </a:r>
                    </a:p>
                  </a:txBody>
                  <a:tcPr marL="101600" marR="101600" marT="38100" marB="38100" anchor="ctr">
                    <a:solidFill>
                      <a:srgbClr val="F4F2FA"/>
                    </a:solidFill>
                  </a:tcPr>
                </a:tc>
                <a:tc>
                  <a:txBody>
                    <a:bodyPr/>
                    <a:lstStyle/>
                    <a:p>
                      <a:r>
                        <a:rPr sz="1400" b="0" i="0">
                          <a:solidFill>
                            <a:srgbClr val="1A1440"/>
                          </a:solidFill>
                          <a:latin typeface="Calibri"/>
                        </a:rPr>
                        <a:t>Nothing about season</a:t>
                      </a:r>
                    </a:p>
                  </a:txBody>
                  <a:tcPr marL="101600" marR="101600" marT="38100" marB="38100" anchor="ctr">
                    <a:solidFill>
                      <a:srgbClr val="F4F2FA"/>
                    </a:solidFill>
                  </a:tcPr>
                </a:tc>
                <a:tc>
                  <a:txBody>
                    <a:bodyPr/>
                    <a:lstStyle/>
                    <a:p>
                      <a:r>
                        <a:rPr sz="1400" b="0" i="0">
                          <a:solidFill>
                            <a:srgbClr val="1A1440"/>
                          </a:solidFill>
                          <a:latin typeface="Calibri"/>
                        </a:rPr>
                        <a:t>Monsoon, festivals, school terms</a:t>
                      </a:r>
                    </a:p>
                  </a:txBody>
                  <a:tcPr marL="101600" marR="101600" marT="38100" marB="38100" anchor="ctr">
                    <a:solidFill>
                      <a:srgbClr val="F4F2FA"/>
                    </a:solidFill>
                  </a:tcPr>
                </a:tc>
              </a:tr>
            </a:tbl>
          </a:graphicData>
        </a:graphic>
      </p:graphicFrame>
      <p:sp>
        <p:nvSpPr>
          <p:cNvPr id="10" name="Rounded Rectangle 9"/>
          <p:cNvSpPr/>
          <p:nvPr/>
        </p:nvSpPr>
        <p:spPr>
          <a:xfrm>
            <a:off x="530352" y="478739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1540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06264"/>
            <a:ext cx="10564063" cy="891540"/>
          </a:xfrm>
          <a:prstGeom prst="rect">
            <a:avLst/>
          </a:prstGeom>
          <a:noFill/>
        </p:spPr>
        <p:txBody>
          <a:bodyPr wrap="square" anchor="ctr" lIns="0" rIns="0" tIns="0" bIns="0">
            <a:spAutoFit/>
          </a:bodyPr>
          <a:lstStyle/>
          <a:p>
            <a:r>
              <a:rPr sz="1500" b="1">
                <a:solidFill>
                  <a:srgbClr val="5B3FD6"/>
                </a:solidFill>
                <a:latin typeface="Calibri"/>
              </a:rPr>
              <a:t>The outside view. </a:t>
            </a:r>
            <a:r>
              <a:rPr sz="1500" b="0" i="0">
                <a:solidFill>
                  <a:srgbClr val="1A1440"/>
                </a:solidFill>
                <a:latin typeface="Calibri"/>
              </a:rPr>
              <a:t>The US National Retail Federation's 4-5-4 calendar splits each quarter into 13 whole weeks so like days compare with like days; retailers built it in the 1930s because a month with an extra weekend reads as growth.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5" name="Oval 14"/>
          <p:cNvSpPr/>
          <p:nvPr/>
        </p:nvSpPr>
        <p:spPr>
          <a:xfrm>
            <a:off x="25700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67976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Round 1, is the drop real</a:t>
            </a:r>
          </a:p>
        </p:txBody>
      </p:sp>
      <p:sp>
        <p:nvSpPr>
          <p:cNvPr id="17" name="Oval 16"/>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19" name="Oval 18"/>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41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Read the dates before the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dashboard tile is a query frozen at its last refresh, so its window is whatever the refresh saw.</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first, last = "9999-12-31", "0000-01-01"</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if order["quarter"] == "Q2" and order["order_date"] &lt;= "2026-09-15":</a:t>
            </a:r>
          </a:p>
          <a:p>
            <a:pPr>
              <a:spcAft>
                <a:spcPts val="200"/>
              </a:spcAft>
            </a:pPr>
            <a:r>
              <a:rPr sz="1400" b="0" i="0">
                <a:solidFill>
                  <a:srgbClr val="E4E1F1"/>
                </a:solidFill>
                <a:latin typeface="Consolas"/>
              </a:rPr>
              <a:t>        first = min(first, order["order_date"])</a:t>
            </a:r>
          </a:p>
          <a:p>
            <a:pPr>
              <a:spcAft>
                <a:spcPts val="200"/>
              </a:spcAft>
            </a:pPr>
            <a:r>
              <a:rPr sz="1400" b="0" i="0">
                <a:solidFill>
                  <a:srgbClr val="E4E1F1"/>
                </a:solidFill>
                <a:latin typeface="Consolas"/>
              </a:rPr>
              <a:t>        last = max(last, order["order_date"])</a:t>
            </a:r>
          </a:p>
          <a:p>
            <a:pPr>
              <a:spcAft>
                <a:spcPts val="200"/>
              </a:spcAft>
            </a:pPr>
            <a:r>
              <a:rPr sz="1400" b="0" i="0">
                <a:solidFill>
                  <a:srgbClr val="E4E1F1"/>
                </a:solidFill>
                <a:latin typeface="Consolas"/>
              </a:rPr>
              <a:t>print(first, last)</a:t>
            </a:r>
          </a:p>
        </p:txBody>
      </p:sp>
      <p:sp>
        <p:nvSpPr>
          <p:cNvPr id="14" name="TextBox 13"/>
          <p:cNvSpPr txBox="1"/>
          <p:nvPr/>
        </p:nvSpPr>
        <p:spPr>
          <a:xfrm>
            <a:off x="530352" y="4093463"/>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Dates written as year, month and day sort as text in date order, so min and max work on them directly; a date written day first would not.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7" name="Oval 16"/>
          <p:cNvSpPr/>
          <p:nvPr/>
        </p:nvSpPr>
        <p:spPr>
          <a:xfrm>
            <a:off x="25700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67976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Round 1, is the drop real</a:t>
            </a:r>
          </a:p>
        </p:txBody>
      </p:sp>
      <p:sp>
        <p:nvSpPr>
          <p:cNvPr id="19" name="Oval 18"/>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21" name="Oval 20"/>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41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weeks does each side cover?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Q1 is the closed quarter; Q2 is the tile as it was cut.</a:t>
            </a:r>
          </a:p>
        </p:txBody>
      </p:sp>
      <p:pic>
        <p:nvPicPr>
          <p:cNvPr id="9" name="mermaid diagram" descr="2a32c41e6ff292e6.png"/>
          <p:cNvPicPr>
            <a:picLocks noChangeAspect="1"/>
          </p:cNvPicPr>
          <p:nvPr/>
        </p:nvPicPr>
        <p:blipFill>
          <a:blip r:embed="rId5"/>
          <a:stretch>
            <a:fillRect/>
          </a:stretch>
        </p:blipFill>
        <p:spPr>
          <a:xfrm>
            <a:off x="3302641" y="1956816"/>
            <a:ext cx="5586412" cy="1128712"/>
          </a:xfrm>
          <a:prstGeom prst="rect">
            <a:avLst/>
          </a:prstGeom>
        </p:spPr>
      </p:pic>
      <p:sp>
        <p:nvSpPr>
          <p:cNvPr id="10" name="Rounded Rectangle 9"/>
          <p:cNvSpPr/>
          <p:nvPr/>
        </p:nvSpPr>
        <p:spPr>
          <a:xfrm>
            <a:off x="530352" y="32318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598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070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before the loop prints: a) 13 weeks against 13; b) 13 weeks against 11; c) 12 weeks against 12; d) 13 weeks against 9.</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5" name="Oval 14"/>
          <p:cNvSpPr/>
          <p:nvPr/>
        </p:nvSpPr>
        <p:spPr>
          <a:xfrm>
            <a:off x="25700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67976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Round 1, is the drop real</a:t>
            </a:r>
          </a:p>
        </p:txBody>
      </p:sp>
      <p:sp>
        <p:nvSpPr>
          <p:cNvPr id="17" name="Oval 16"/>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19" name="Oval 18"/>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41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13 weeks against 11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two totals never measured the same stretch of time, and the cumulative lines show where the tile stopped.</a:t>
            </a:r>
          </a:p>
        </p:txBody>
      </p:sp>
      <p:pic>
        <p:nvPicPr>
          <p:cNvPr id="9" name="mermaid diagram" descr="0f9efb18d998f26c.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line that ends at Rs 210.0 lakh is Q1. The other is Q2: Rs 155.6 lakh at week 11, which is the tile, and Rs 187.0 lakh at the close.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3" name="Oval 12"/>
          <p:cNvSpPr/>
          <p:nvPr/>
        </p:nvSpPr>
        <p:spPr>
          <a:xfrm>
            <a:off x="25700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67976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Round 1, is the drop real</a:t>
            </a:r>
          </a:p>
        </p:txBody>
      </p:sp>
      <p:sp>
        <p:nvSpPr>
          <p:cNvPr id="15" name="Oval 14"/>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17" name="Oval 16"/>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41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closed quarters, or a rate per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fair readings sit near 11 percent, and none of them is a crisis.</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5048040"/>
                <a:gridCol w="2584275"/>
                <a:gridCol w="2584275"/>
                <a:gridCol w="914400"/>
              </a:tblGrid>
              <a:tr h="335280">
                <a:tc>
                  <a:txBody>
                    <a:bodyPr/>
                    <a:lstStyle/>
                    <a:p>
                      <a:r>
                        <a:rPr sz="1250" b="1" i="0">
                          <a:solidFill>
                            <a:srgbClr val="FFFFFF"/>
                          </a:solidFill>
                          <a:latin typeface="Calibri"/>
                        </a:rPr>
                        <a:t>Comparison</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Closed quarters, 13 weeks each</a:t>
                      </a:r>
                    </a:p>
                  </a:txBody>
                  <a:tcPr marL="101600" marR="101600" marT="38100" marB="38100" anchor="ctr">
                    <a:solidFill>
                      <a:srgbClr val="FFFFFF"/>
                    </a:solidFill>
                  </a:tcPr>
                </a:tc>
                <a:tc>
                  <a:txBody>
                    <a:bodyPr/>
                    <a:lstStyle/>
                    <a:p>
                      <a:r>
                        <a:rPr sz="1200" b="0" i="0">
                          <a:solidFill>
                            <a:srgbClr val="1A1440"/>
                          </a:solidFill>
                          <a:latin typeface="Calibri"/>
                        </a:rPr>
                        <a:t>Rs 2,10,00,000</a:t>
                      </a:r>
                    </a:p>
                  </a:txBody>
                  <a:tcPr marL="101600" marR="101600" marT="38100" marB="38100" anchor="ctr">
                    <a:solidFill>
                      <a:srgbClr val="FFFFFF"/>
                    </a:solidFill>
                  </a:tcPr>
                </a:tc>
                <a:tc>
                  <a:txBody>
                    <a:bodyPr/>
                    <a:lstStyle/>
                    <a:p>
                      <a:r>
                        <a:rPr sz="1200" b="0" i="0">
                          <a:solidFill>
                            <a:srgbClr val="1A1440"/>
                          </a:solidFill>
                          <a:latin typeface="Calibri"/>
                        </a:rPr>
                        <a:t>Rs 1,87,00,000</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r>
              <a:tr h="335280">
                <a:tc>
                  <a:txBody>
                    <a:bodyPr/>
                    <a:lstStyle/>
                    <a:p>
                      <a:r>
                        <a:rPr sz="1200" b="0" i="0">
                          <a:solidFill>
                            <a:srgbClr val="1A1440"/>
                          </a:solidFill>
                          <a:latin typeface="Calibri"/>
                        </a:rPr>
                        <a:t>Per day, 91 against 92 days</a:t>
                      </a:r>
                    </a:p>
                  </a:txBody>
                  <a:tcPr marL="101600" marR="101600" marT="38100" marB="38100" anchor="ctr">
                    <a:solidFill>
                      <a:srgbClr val="F4F2FA"/>
                    </a:solidFill>
                  </a:tcPr>
                </a:tc>
                <a:tc>
                  <a:txBody>
                    <a:bodyPr/>
                    <a:lstStyle/>
                    <a:p>
                      <a:r>
                        <a:rPr sz="1200" b="0" i="0">
                          <a:solidFill>
                            <a:srgbClr val="1A1440"/>
                          </a:solidFill>
                          <a:latin typeface="Calibri"/>
                        </a:rPr>
                        <a:t>Rs 2,30,769</a:t>
                      </a:r>
                    </a:p>
                  </a:txBody>
                  <a:tcPr marL="101600" marR="101600" marT="38100" marB="38100" anchor="ctr">
                    <a:solidFill>
                      <a:srgbClr val="F4F2FA"/>
                    </a:solidFill>
                  </a:tcPr>
                </a:tc>
                <a:tc>
                  <a:txBody>
                    <a:bodyPr/>
                    <a:lstStyle/>
                    <a:p>
                      <a:r>
                        <a:rPr sz="1200" b="0" i="0">
                          <a:solidFill>
                            <a:srgbClr val="1A1440"/>
                          </a:solidFill>
                          <a:latin typeface="Calibri"/>
                        </a:rPr>
                        <a:t>Rs 2,03,261</a:t>
                      </a:r>
                    </a:p>
                  </a:txBody>
                  <a:tcPr marL="101600" marR="101600" marT="38100" marB="38100" anchor="ctr">
                    <a:solidFill>
                      <a:srgbClr val="F4F2FA"/>
                    </a:solidFill>
                  </a:tcPr>
                </a:tc>
                <a:tc>
                  <a:txBody>
                    <a:bodyPr/>
                    <a:lstStyle/>
                    <a:p>
                      <a:r>
                        <a:rPr sz="1200" b="0" i="0">
                          <a:solidFill>
                            <a:srgbClr val="1A1440"/>
                          </a:solidFill>
                          <a:latin typeface="Calibri"/>
                        </a:rPr>
                        <a:t>-11.9%</a:t>
                      </a:r>
                    </a:p>
                  </a:txBody>
                  <a:tcPr marL="101600" marR="101600" marT="38100" marB="38100" anchor="ctr">
                    <a:solidFill>
                      <a:srgbClr val="F4F2FA"/>
                    </a:solidFill>
                  </a:tcPr>
                </a:tc>
              </a:tr>
              <a:tr h="335280">
                <a:tc>
                  <a:txBody>
                    <a:bodyPr/>
                    <a:lstStyle/>
                    <a:p>
                      <a:r>
                        <a:rPr sz="1200" b="0" i="0">
                          <a:solidFill>
                            <a:srgbClr val="1A1440"/>
                          </a:solidFill>
                          <a:latin typeface="Calibri"/>
                        </a:rPr>
                        <a:t>Per week, Q1 against the tile</a:t>
                      </a:r>
                    </a:p>
                  </a:txBody>
                  <a:tcPr marL="101600" marR="101600" marT="38100" marB="38100" anchor="ctr">
                    <a:solidFill>
                      <a:srgbClr val="FFFFFF"/>
                    </a:solidFill>
                  </a:tcPr>
                </a:tc>
                <a:tc>
                  <a:txBody>
                    <a:bodyPr/>
                    <a:lstStyle/>
                    <a:p>
                      <a:r>
                        <a:rPr sz="1200" b="0" i="0">
                          <a:solidFill>
                            <a:srgbClr val="1A1440"/>
                          </a:solidFill>
                          <a:latin typeface="Calibri"/>
                        </a:rPr>
                        <a:t>Rs 16,15,385</a:t>
                      </a:r>
                    </a:p>
                  </a:txBody>
                  <a:tcPr marL="101600" marR="101600" marT="38100" marB="38100" anchor="ctr">
                    <a:solidFill>
                      <a:srgbClr val="FFFFFF"/>
                    </a:solidFill>
                  </a:tcPr>
                </a:tc>
                <a:tc>
                  <a:txBody>
                    <a:bodyPr/>
                    <a:lstStyle/>
                    <a:p>
                      <a:r>
                        <a:rPr sz="1200" b="0" i="0">
                          <a:solidFill>
                            <a:srgbClr val="1A1440"/>
                          </a:solidFill>
                          <a:latin typeface="Calibri"/>
                        </a:rPr>
                        <a:t>Rs 14,14,541</a:t>
                      </a:r>
                    </a:p>
                  </a:txBody>
                  <a:tcPr marL="101600" marR="101600" marT="38100" marB="38100" anchor="ctr">
                    <a:solidFill>
                      <a:srgbClr val="FFFFFF"/>
                    </a:solidFill>
                  </a:tcPr>
                </a:tc>
                <a:tc>
                  <a:txBody>
                    <a:bodyPr/>
                    <a:lstStyle/>
                    <a:p>
                      <a:r>
                        <a:rPr sz="1200" b="0" i="0">
                          <a:solidFill>
                            <a:srgbClr val="1A1440"/>
                          </a:solidFill>
                          <a:latin typeface="Calibri"/>
                        </a:rPr>
                        <a:t>-12.4%</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624840"/>
          </a:xfrm>
          <a:prstGeom prst="rect">
            <a:avLst/>
          </a:prstGeom>
          <a:noFill/>
        </p:spPr>
        <p:txBody>
          <a:bodyPr wrap="square" anchor="ctr" lIns="0" rIns="0" tIns="0" bIns="0">
            <a:spAutoFit/>
          </a:bodyPr>
          <a:lstStyle/>
          <a:p>
            <a:r>
              <a:rPr sz="1500" b="1">
                <a:solidFill>
                  <a:srgbClr val="5B3FD6"/>
                </a:solidFill>
                <a:latin typeface="Calibri"/>
              </a:rPr>
              <a:t>What changes. </a:t>
            </a:r>
            <a:r>
              <a:rPr sz="1500" b="0" i="0">
                <a:solidFill>
                  <a:srgbClr val="1A1440"/>
                </a:solidFill>
                <a:latin typeface="Calibri"/>
              </a:rPr>
              <a:t>The fall is Rs 23,00,000, less than half the Rs 54,40,050 the tile implied. A real fall that size calls for a diagnosis this week; a 25.9 percent fall would have called for the Rs 12 crore now.</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5" name="Oval 14"/>
          <p:cNvSpPr/>
          <p:nvPr/>
        </p:nvSpPr>
        <p:spPr>
          <a:xfrm>
            <a:off x="25700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67976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Round 1, is the drop real</a:t>
            </a:r>
          </a:p>
        </p:txBody>
      </p:sp>
      <p:sp>
        <p:nvSpPr>
          <p:cNvPr id="17" name="Oval 16"/>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19" name="Oval 18"/>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41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the same 11 weeks of each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Q1 up to 16 June against the tile's Q2 up to 15 September, both 11 weeks long.</a:t>
            </a:r>
          </a:p>
        </p:txBody>
      </p:sp>
      <p:pic>
        <p:nvPicPr>
          <p:cNvPr id="9" name="mermaid diagram" descr="05a13467cb699bb9.png"/>
          <p:cNvPicPr>
            <a:picLocks noChangeAspect="1"/>
          </p:cNvPicPr>
          <p:nvPr/>
        </p:nvPicPr>
        <p:blipFill>
          <a:blip r:embed="rId5"/>
          <a:stretch>
            <a:fillRect/>
          </a:stretch>
        </p:blipFill>
        <p:spPr>
          <a:xfrm>
            <a:off x="3766985" y="1956816"/>
            <a:ext cx="4657725" cy="1800225"/>
          </a:xfrm>
          <a:prstGeom prst="rect">
            <a:avLst/>
          </a:prstGeom>
        </p:spPr>
      </p:pic>
      <p:sp>
        <p:nvSpPr>
          <p:cNvPr id="10" name="Rounded Rectangle 9"/>
          <p:cNvSpPr/>
          <p:nvPr/>
        </p:nvSpPr>
        <p:spPr>
          <a:xfrm>
            <a:off x="530352" y="39033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room runs it in notebook 01; predict first: a) down 12.4 percent, as per week; b) down 17.0 percent; c) down 11.0 percent; d) down 25.9 percent.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5" name="Oval 14"/>
          <p:cNvSpPr/>
          <p:nvPr/>
        </p:nvSpPr>
        <p:spPr>
          <a:xfrm>
            <a:off x="25700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67976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Round 1, is the drop real</a:t>
            </a:r>
          </a:p>
        </p:txBody>
      </p:sp>
      <p:sp>
        <p:nvSpPr>
          <p:cNvPr id="17" name="Oval 16"/>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19" name="Oval 18"/>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41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down 17.0 percent over the same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Matched weeks and the per-week rate disagree, because a few very large orders land where they land.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SAME 11 WEEKS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1,87,51,440 to Rs 1,55,59,950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-12.4%</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 WEEK</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assumes revenue arrives evenly</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98.9%</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Q1 REVENUE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20 Business orders out of 114</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The fewer and larger the orders, the more a short window depends on which week they landed in. Once both quarters have closed, compare the closed quarters, and keep quarter-to-date comparisons to the same weeks of both.</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28" name="Oval 27"/>
          <p:cNvSpPr/>
          <p:nvPr/>
        </p:nvSpPr>
        <p:spPr>
          <a:xfrm>
            <a:off x="25700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67976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Round 1, is the drop real</a:t>
            </a:r>
          </a:p>
        </p:txBody>
      </p:sp>
      <p:sp>
        <p:nvSpPr>
          <p:cNvPr id="30" name="Oval 29"/>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32" name="Oval 31"/>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41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round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Rung 1 holds: the drop is real, it is 11.0 percent, and one comparison is still missing.</a:t>
            </a:r>
          </a:p>
        </p:txBody>
      </p:sp>
      <p:pic>
        <p:nvPicPr>
          <p:cNvPr id="9" name="mermaid diagram" descr="a4d88949be6469ce.png"/>
          <p:cNvPicPr>
            <a:picLocks noChangeAspect="1"/>
          </p:cNvPicPr>
          <p:nvPr/>
        </p:nvPicPr>
        <p:blipFill>
          <a:blip r:embed="rId7"/>
          <a:stretch>
            <a:fillRect/>
          </a:stretch>
        </p:blipFill>
        <p:spPr>
          <a:xfrm>
            <a:off x="1480985" y="1956816"/>
            <a:ext cx="9229725" cy="1128712"/>
          </a:xfrm>
          <a:prstGeom prst="rect">
            <a:avLst/>
          </a:prstGeom>
        </p:spPr>
      </p:pic>
      <p:sp>
        <p:nvSpPr>
          <p:cNvPr id="10" name="Rounded Rectangle 9"/>
          <p:cNvSpPr/>
          <p:nvPr/>
        </p:nvSpPr>
        <p:spPr>
          <a:xfrm>
            <a:off x="530352" y="323183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936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80333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597592"/>
            <a:ext cx="9987991" cy="941832"/>
          </a:xfrm>
          <a:prstGeom prst="rect">
            <a:avLst/>
          </a:prstGeom>
          <a:noFill/>
        </p:spPr>
        <p:txBody>
          <a:bodyPr wrap="square" anchor="t" lIns="0" rIns="0" tIns="0" bIns="0">
            <a:spAutoFit/>
          </a:bodyPr>
          <a:lstStyle/>
          <a:p>
            <a:r>
              <a:rPr sz="1500" b="0" i="0">
                <a:solidFill>
                  <a:srgbClr val="1A1440"/>
                </a:solidFill>
                <a:latin typeface="Calibri"/>
              </a:rPr>
              <a:t>"Put the window beside the number, every time: booked revenue, closed quarters of 13 weeks, Rs 2.10 crore to Rs 1.87 crore, minus 11.0 percent. Then ask the platform team for last year's Q2, because this comparison still carries the season."</a:t>
            </a:r>
          </a:p>
        </p:txBody>
      </p:sp>
      <p:sp>
        <p:nvSpPr>
          <p:cNvPr id="15" name="Rounded Rectangle 14"/>
          <p:cNvSpPr/>
          <p:nvPr/>
        </p:nvSpPr>
        <p:spPr>
          <a:xfrm>
            <a:off x="530352" y="47771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49798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089588"/>
            <a:ext cx="237744" cy="237744"/>
          </a:xfrm>
          <a:prstGeom prst="rect">
            <a:avLst/>
          </a:prstGeom>
        </p:spPr>
      </p:pic>
      <p:sp>
        <p:nvSpPr>
          <p:cNvPr id="18" name="TextBox 17"/>
          <p:cNvSpPr txBox="1"/>
          <p:nvPr/>
        </p:nvSpPr>
        <p:spPr>
          <a:xfrm>
            <a:off x="1399031" y="49234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142928"/>
            <a:ext cx="9987991" cy="423672"/>
          </a:xfrm>
          <a:prstGeom prst="rect">
            <a:avLst/>
          </a:prstGeom>
          <a:noFill/>
        </p:spPr>
        <p:txBody>
          <a:bodyPr wrap="square" anchor="t" lIns="0" rIns="0" tIns="0" bIns="0">
            <a:spAutoFit/>
          </a:bodyPr>
          <a:lstStyle/>
          <a:p>
            <a:r>
              <a:rPr sz="1500" b="0" i="0">
                <a:solidFill>
                  <a:srgbClr val="1A1440"/>
                </a:solidFill>
                <a:latin typeface="Calibri"/>
              </a:rPr>
              <a:t>[F] What has to match before a quarter-on-quarter comparison is fair?</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22" name="Oval 21"/>
          <p:cNvSpPr/>
          <p:nvPr/>
        </p:nvSpPr>
        <p:spPr>
          <a:xfrm>
            <a:off x="25700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67976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Round 1, is the drop real</a:t>
            </a:r>
          </a:p>
        </p:txBody>
      </p:sp>
      <p:sp>
        <p:nvSpPr>
          <p:cNvPr id="24" name="Oval 23"/>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26" name="Oval 25"/>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41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2, which branch moved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tree meets both quarters, and the order of the arithmetic turns out to be a decision too.</a:t>
            </a:r>
          </a:p>
        </p:txBody>
      </p:sp>
      <p:sp>
        <p:nvSpPr>
          <p:cNvPr id="10" name="Rounded Rectangle 9"/>
          <p:cNvSpPr/>
          <p:nvPr/>
        </p:nvSpPr>
        <p:spPr>
          <a:xfrm>
            <a:off x="73151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 the system and the ladder</a:t>
            </a:r>
          </a:p>
        </p:txBody>
      </p:sp>
      <p:sp>
        <p:nvSpPr>
          <p:cNvPr id="11" name="Rounded Rectangle 10"/>
          <p:cNvSpPr/>
          <p:nvPr/>
        </p:nvSpPr>
        <p:spPr>
          <a:xfrm>
            <a:off x="2990088"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is the drop real</a:t>
            </a:r>
          </a:p>
        </p:txBody>
      </p:sp>
      <p:sp>
        <p:nvSpPr>
          <p:cNvPr id="12" name="Rounded Rectangle 11"/>
          <p:cNvSpPr/>
          <p:nvPr/>
        </p:nvSpPr>
        <p:spPr>
          <a:xfrm>
            <a:off x="4945975"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2, which branch moved</a:t>
            </a:r>
          </a:p>
        </p:txBody>
      </p:sp>
      <p:sp>
        <p:nvSpPr>
          <p:cNvPr id="13" name="Rounded Rectangle 12"/>
          <p:cNvSpPr/>
          <p:nvPr/>
        </p:nvSpPr>
        <p:spPr>
          <a:xfrm>
            <a:off x="7020294"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every kind of customer</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41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pass, two dictionaries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Revenue sums by quarter; customers are dictionary keys, so each person is counted once.</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revenue, orders_by_customer = {}, {"Q1": {}, "Q2": {}}</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q, cid = order["quarter"], order["customer_id"]</a:t>
            </a:r>
          </a:p>
          <a:p>
            <a:pPr>
              <a:spcAft>
                <a:spcPts val="200"/>
              </a:spcAft>
            </a:pPr>
            <a:r>
              <a:rPr sz="1400" b="0" i="0">
                <a:solidFill>
                  <a:srgbClr val="E4E1F1"/>
                </a:solidFill>
                <a:latin typeface="Consolas"/>
              </a:rPr>
              <a:t>    revenue[q] = revenue.get(q, 0) + order["amount"]</a:t>
            </a:r>
          </a:p>
          <a:p>
            <a:pPr>
              <a:spcAft>
                <a:spcPts val="200"/>
              </a:spcAft>
            </a:pPr>
            <a:r>
              <a:rPr sz="1400" b="0" i="0">
                <a:solidFill>
                  <a:srgbClr val="E4E1F1"/>
                </a:solidFill>
                <a:latin typeface="Consolas"/>
              </a:rPr>
              <a:t>    orders_by_customer[q][cid] = orders_by_customer[q].get(cid, 0) + 1</a:t>
            </a:r>
          </a:p>
          <a:p>
            <a:pPr>
              <a:spcAft>
                <a:spcPts val="200"/>
              </a:spcAft>
            </a:pPr>
            <a:r>
              <a:rPr sz="1400" b="0" i="0">
                <a:solidFill>
                  <a:srgbClr val="E4E1F1"/>
                </a:solidFill>
                <a:latin typeface="Consolas"/>
              </a:rPr>
              <a:t>print(revenue, len(orders_by_customer["Q1"]), len(orders_by_customer["Q2"]))</a:t>
            </a:r>
          </a:p>
        </p:txBody>
      </p:sp>
      <p:sp>
        <p:nvSpPr>
          <p:cNvPr id="14" name="Rounded Rectangle 13"/>
          <p:cNvSpPr/>
          <p:nvPr/>
        </p:nvSpPr>
        <p:spPr>
          <a:xfrm>
            <a:off x="530352" y="4093463"/>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221479"/>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212335"/>
            <a:ext cx="10564063" cy="891540"/>
          </a:xfrm>
          <a:prstGeom prst="rect">
            <a:avLst/>
          </a:prstGeom>
          <a:noFill/>
        </p:spPr>
        <p:txBody>
          <a:bodyPr wrap="square" anchor="ctr" lIns="0" rIns="0" tIns="0" bIns="0">
            <a:spAutoFit/>
          </a:bodyPr>
          <a:lstStyle/>
          <a:p>
            <a:r>
              <a:rPr sz="1500" b="1">
                <a:solidFill>
                  <a:srgbClr val="5B3FD6"/>
                </a:solidFill>
                <a:latin typeface="Calibri"/>
              </a:rPr>
              <a:t>Why keys. </a:t>
            </a:r>
            <a:r>
              <a:rPr sz="1500" b="0" i="0">
                <a:solidFill>
                  <a:srgbClr val="1A1440"/>
                </a:solidFill>
                <a:latin typeface="Calibri"/>
              </a:rPr>
              <a:t>Monday's list checked every id already seen before adding one, so the work grows with the square of the customers; a dictionary key answers "seen before?" in one step on average, and it keeps each customer's order count for the afternoon.</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9" name="Oval 18"/>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21" name="Oval 20"/>
          <p:cNvSpPr/>
          <p:nvPr/>
        </p:nvSpPr>
        <p:spPr>
          <a:xfrm>
            <a:off x="41956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305395"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which branch moved</a:t>
            </a:r>
          </a:p>
        </p:txBody>
      </p:sp>
      <p:sp>
        <p:nvSpPr>
          <p:cNvPr id="23" name="Oval 22"/>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21 / 41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customers bought in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Orders fell from 114 to 86, and Marketing says customers are the problem.</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69</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CUSTOMERS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distinct ids, April to June</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114 to 86</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down 24.6 percent</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Q2's customer count: a) 52, since orders fell by a quarter; b) 69; c) 81; d) 86.</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22" name="Oval 21"/>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24" name="Oval 23"/>
          <p:cNvSpPr/>
          <p:nvPr/>
        </p:nvSpPr>
        <p:spPr>
          <a:xfrm>
            <a:off x="41956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305395"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which branch moved</a:t>
            </a:r>
          </a:p>
        </p:txBody>
      </p:sp>
      <p:sp>
        <p:nvSpPr>
          <p:cNvPr id="26" name="Oval 25"/>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41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69 customers, and the tree filled 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branch Marketing wants to fund did not move, and the other two multiply back to the fall.</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569394"/>
                <a:gridCol w="3405530"/>
                <a:gridCol w="3241665"/>
                <a:gridCol w="914400"/>
              </a:tblGrid>
              <a:tr h="335280">
                <a:tc>
                  <a:txBody>
                    <a:bodyPr/>
                    <a:lstStyle/>
                    <a:p>
                      <a:r>
                        <a:rPr sz="1250" b="1" i="0">
                          <a:solidFill>
                            <a:srgbClr val="FFFFFF"/>
                          </a:solidFill>
                          <a:latin typeface="Calibri"/>
                        </a:rPr>
                        <a:t>Branch</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Ratio</a:t>
                      </a:r>
                    </a:p>
                  </a:txBody>
                  <a:tcPr marL="101600" marR="101600" marT="38100" marB="38100" anchor="ctr">
                    <a:solidFill>
                      <a:srgbClr val="1A0F5C"/>
                    </a:solidFill>
                  </a:tcPr>
                </a:tc>
              </a:tr>
              <a:tr h="335280">
                <a:tc>
                  <a:txBody>
                    <a:bodyPr/>
                    <a:lstStyle/>
                    <a:p>
                      <a:r>
                        <a:rPr sz="1200" b="0" i="0">
                          <a:solidFill>
                            <a:srgbClr val="1A1440"/>
                          </a:solidFill>
                          <a:latin typeface="Calibri"/>
                        </a:rPr>
                        <a:t>Customers</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1.65 (114 over 69)</a:t>
                      </a:r>
                    </a:p>
                  </a:txBody>
                  <a:tcPr marL="101600" marR="101600" marT="38100" marB="38100" anchor="ctr">
                    <a:solidFill>
                      <a:srgbClr val="F4F2FA"/>
                    </a:solidFill>
                  </a:tcPr>
                </a:tc>
                <a:tc>
                  <a:txBody>
                    <a:bodyPr/>
                    <a:lstStyle/>
                    <a:p>
                      <a:r>
                        <a:rPr sz="1200" b="0" i="0">
                          <a:solidFill>
                            <a:srgbClr val="1A1440"/>
                          </a:solidFill>
                          <a:latin typeface="Calibri"/>
                        </a:rPr>
                        <a:t>1.25 (86 over 69)</a:t>
                      </a:r>
                    </a:p>
                  </a:txBody>
                  <a:tcPr marL="101600" marR="101600" marT="38100" marB="38100" anchor="ctr">
                    <a:solidFill>
                      <a:srgbClr val="F4F2FA"/>
                    </a:solidFill>
                  </a:tcPr>
                </a:tc>
                <a:tc>
                  <a:txBody>
                    <a:bodyPr/>
                    <a:lstStyle/>
                    <a:p>
                      <a:r>
                        <a:rPr sz="1200" b="0" i="0">
                          <a:solidFill>
                            <a:srgbClr val="1A1440"/>
                          </a:solidFill>
                          <a:latin typeface="Calibri"/>
                        </a:rPr>
                        <a:t>0.754</a:t>
                      </a:r>
                    </a:p>
                  </a:txBody>
                  <a:tcPr marL="101600" marR="101600" marT="38100" marB="38100" anchor="ctr">
                    <a:solidFill>
                      <a:srgbClr val="F4F2FA"/>
                    </a:solidFill>
                  </a:tcPr>
                </a:tc>
              </a:tr>
              <a:tr h="335280">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Rs 1,84,211</a:t>
                      </a:r>
                    </a:p>
                  </a:txBody>
                  <a:tcPr marL="101600" marR="101600" marT="38100" marB="38100" anchor="ctr">
                    <a:solidFill>
                      <a:srgbClr val="FFFFFF"/>
                    </a:solidFill>
                  </a:tcPr>
                </a:tc>
                <a:tc>
                  <a:txBody>
                    <a:bodyPr/>
                    <a:lstStyle/>
                    <a:p>
                      <a:r>
                        <a:rPr sz="1200" b="0" i="0">
                          <a:solidFill>
                            <a:srgbClr val="1A1440"/>
                          </a:solidFill>
                          <a:latin typeface="Calibri"/>
                        </a:rPr>
                        <a:t>Rs 2,17,442</a:t>
                      </a:r>
                    </a:p>
                  </a:txBody>
                  <a:tcPr marL="101600" marR="101600" marT="38100" marB="38100" anchor="ctr">
                    <a:solidFill>
                      <a:srgbClr val="FFFFFF"/>
                    </a:solidFill>
                  </a:tcPr>
                </a:tc>
                <a:tc>
                  <a:txBody>
                    <a:bodyPr/>
                    <a:lstStyle/>
                    <a:p>
                      <a:r>
                        <a:rPr sz="1200" b="0" i="0">
                          <a:solidFill>
                            <a:srgbClr val="1A1440"/>
                          </a:solidFill>
                          <a:latin typeface="Calibri"/>
                        </a:rPr>
                        <a:t>1.180</a:t>
                      </a:r>
                    </a:p>
                  </a:txBody>
                  <a:tcPr marL="101600" marR="101600" marT="38100" marB="38100" anchor="ctr">
                    <a:solidFill>
                      <a:srgbClr val="FFFFFF"/>
                    </a:solidFill>
                  </a:tcPr>
                </a:tc>
              </a:tr>
              <a:tr h="335280">
                <a:tc>
                  <a:txBody>
                    <a:bodyPr/>
                    <a:lstStyle/>
                    <a:p>
                      <a:r>
                        <a:rPr sz="1200" b="0" i="0">
                          <a:solidFill>
                            <a:srgbClr val="1A1440"/>
                          </a:solidFill>
                          <a:latin typeface="Calibri"/>
                        </a:rPr>
                        <a:t>Revenue</a:t>
                      </a:r>
                    </a:p>
                  </a:txBody>
                  <a:tcPr marL="101600" marR="101600" marT="38100" marB="38100" anchor="ctr">
                    <a:solidFill>
                      <a:srgbClr val="F4F2FA"/>
                    </a:solidFill>
                  </a:tcPr>
                </a:tc>
                <a:tc>
                  <a:txBody>
                    <a:bodyPr/>
                    <a:lstStyle/>
                    <a:p>
                      <a:r>
                        <a:rPr sz="1200" b="0" i="0">
                          <a:solidFill>
                            <a:srgbClr val="1A1440"/>
                          </a:solidFill>
                          <a:latin typeface="Calibri"/>
                        </a:rPr>
                        <a:t>Rs 2,10,00,000</a:t>
                      </a:r>
                    </a:p>
                  </a:txBody>
                  <a:tcPr marL="101600" marR="101600" marT="38100" marB="38100" anchor="ctr">
                    <a:solidFill>
                      <a:srgbClr val="F4F2FA"/>
                    </a:solidFill>
                  </a:tcPr>
                </a:tc>
                <a:tc>
                  <a:txBody>
                    <a:bodyPr/>
                    <a:lstStyle/>
                    <a:p>
                      <a:r>
                        <a:rPr sz="1200" b="0" i="0">
                          <a:solidFill>
                            <a:srgbClr val="1A1440"/>
                          </a:solidFill>
                          <a:latin typeface="Calibri"/>
                        </a:rPr>
                        <a:t>Rs 1,87,00,000</a:t>
                      </a:r>
                    </a:p>
                  </a:txBody>
                  <a:tcPr marL="101600" marR="101600" marT="38100" marB="38100" anchor="ctr">
                    <a:solidFill>
                      <a:srgbClr val="F4F2FA"/>
                    </a:solidFill>
                  </a:tcPr>
                </a:tc>
                <a:tc>
                  <a:txBody>
                    <a:bodyPr/>
                    <a:lstStyle/>
                    <a:p>
                      <a:r>
                        <a:rPr sz="1200" b="0" i="0">
                          <a:solidFill>
                            <a:srgbClr val="1A1440"/>
                          </a:solidFill>
                          <a:latin typeface="Calibri"/>
                        </a:rPr>
                        <a:t>0.890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1.000 times 0.754 times 1.180 is 0.890, the revenue ratio: the decomposition is complete, and the answer is b. Frequency fell 24.6 percent while revenue per order rose 18.0 percent.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5" name="Oval 14"/>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17" name="Oval 16"/>
          <p:cNvSpPr/>
          <p:nvPr/>
        </p:nvSpPr>
        <p:spPr>
          <a:xfrm>
            <a:off x="41956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05395"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which branch moved</a:t>
            </a:r>
          </a:p>
        </p:txBody>
      </p:sp>
      <p:sp>
        <p:nvSpPr>
          <p:cNvPr id="19" name="Oval 18"/>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41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bridge, and the order you choose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Moving one branch at a time into rupees gives a different split depending on which branch moves first.</a:t>
            </a:r>
          </a:p>
        </p:txBody>
      </p:sp>
      <p:graphicFrame>
        <p:nvGraphicFramePr>
          <p:cNvPr id="9" name="Table 8"/>
          <p:cNvGraphicFramePr>
            <a:graphicFrameLocks noGrp="1"/>
          </p:cNvGraphicFramePr>
          <p:nvPr/>
        </p:nvGraphicFramePr>
        <p:xfrm>
          <a:off x="530352" y="1956816"/>
          <a:ext cx="11130990" cy="1243584"/>
        </p:xfrm>
        <a:graphic>
          <a:graphicData uri="http://schemas.openxmlformats.org/drawingml/2006/table">
            <a:tbl>
              <a:tblPr firstRow="0" bandRow="0">
                <a:tableStyleId>{2D5ABB26-0587-4C30-8999-92F81FD0307C}</a:tableStyleId>
              </a:tblPr>
              <a:tblGrid>
                <a:gridCol w="5118451"/>
                <a:gridCol w="3155616"/>
                <a:gridCol w="2856923"/>
              </a:tblGrid>
              <a:tr h="310896">
                <a:tc>
                  <a:txBody>
                    <a:bodyPr/>
                    <a:lstStyle/>
                    <a:p>
                      <a:r>
                        <a:rPr sz="950" b="1" i="0">
                          <a:solidFill>
                            <a:srgbClr val="FFFFFF"/>
                          </a:solidFill>
                          <a:latin typeface="Calibri"/>
                        </a:rPr>
                        <a:t>Order of the steps</a:t>
                      </a:r>
                    </a:p>
                  </a:txBody>
                  <a:tcPr marL="101600" marR="101600" marT="38100" marB="38100" anchor="ctr">
                    <a:solidFill>
                      <a:srgbClr val="1A0F5C"/>
                    </a:solidFill>
                  </a:tcPr>
                </a:tc>
                <a:tc>
                  <a:txBody>
                    <a:bodyPr/>
                    <a:lstStyle/>
                    <a:p>
                      <a:r>
                        <a:rPr sz="950" b="1" i="0">
                          <a:solidFill>
                            <a:srgbClr val="FFFFFF"/>
                          </a:solidFill>
                          <a:latin typeface="Calibri"/>
                        </a:rPr>
                        <a:t>Orders per customer</a:t>
                      </a:r>
                    </a:p>
                  </a:txBody>
                  <a:tcPr marL="101600" marR="101600" marT="38100" marB="38100" anchor="ctr">
                    <a:solidFill>
                      <a:srgbClr val="1A0F5C"/>
                    </a:solidFill>
                  </a:tcPr>
                </a:tc>
                <a:tc>
                  <a:txBody>
                    <a:bodyPr/>
                    <a:lstStyle/>
                    <a:p>
                      <a:r>
                        <a:rPr sz="950" b="1" i="0">
                          <a:solidFill>
                            <a:srgbClr val="FFFFFF"/>
                          </a:solidFill>
                          <a:latin typeface="Calibri"/>
                        </a:rPr>
                        <a:t>Revenue per order</a:t>
                      </a:r>
                    </a:p>
                  </a:txBody>
                  <a:tcPr marL="101600" marR="101600" marT="38100" marB="38100" anchor="ctr">
                    <a:solidFill>
                      <a:srgbClr val="1A0F5C"/>
                    </a:solidFill>
                  </a:tcPr>
                </a:tc>
              </a:tr>
              <a:tr h="310896">
                <a:tc>
                  <a:txBody>
                    <a:bodyPr/>
                    <a:lstStyle/>
                    <a:p>
                      <a:r>
                        <a:rPr sz="900" b="0" i="0">
                          <a:solidFill>
                            <a:srgbClr val="1A1440"/>
                          </a:solidFill>
                          <a:latin typeface="Calibri"/>
                        </a:rPr>
                        <a:t>Frequency first, at Q1's order value</a:t>
                      </a:r>
                    </a:p>
                  </a:txBody>
                  <a:tcPr marL="101600" marR="101600" marT="38100" marB="38100" anchor="ctr">
                    <a:solidFill>
                      <a:srgbClr val="FFFFFF"/>
                    </a:solidFill>
                  </a:tcPr>
                </a:tc>
                <a:tc>
                  <a:txBody>
                    <a:bodyPr/>
                    <a:lstStyle/>
                    <a:p>
                      <a:r>
                        <a:rPr sz="900" b="0" i="0">
                          <a:solidFill>
                            <a:srgbClr val="1A1440"/>
                          </a:solidFill>
                          <a:latin typeface="Calibri"/>
                        </a:rPr>
                        <a:t>-Rs 51,57,895</a:t>
                      </a:r>
                    </a:p>
                  </a:txBody>
                  <a:tcPr marL="101600" marR="101600" marT="38100" marB="38100" anchor="ctr">
                    <a:solidFill>
                      <a:srgbClr val="FFFFFF"/>
                    </a:solidFill>
                  </a:tcPr>
                </a:tc>
                <a:tc>
                  <a:txBody>
                    <a:bodyPr/>
                    <a:lstStyle/>
                    <a:p>
                      <a:r>
                        <a:rPr sz="900" b="0" i="0">
                          <a:solidFill>
                            <a:srgbClr val="1A1440"/>
                          </a:solidFill>
                          <a:latin typeface="Calibri"/>
                        </a:rPr>
                        <a:t>+Rs 28,57,895</a:t>
                      </a:r>
                    </a:p>
                  </a:txBody>
                  <a:tcPr marL="101600" marR="101600" marT="38100" marB="38100" anchor="ctr">
                    <a:solidFill>
                      <a:srgbClr val="FFFFFF"/>
                    </a:solidFill>
                  </a:tcPr>
                </a:tc>
              </a:tr>
              <a:tr h="310896">
                <a:tc>
                  <a:txBody>
                    <a:bodyPr/>
                    <a:lstStyle/>
                    <a:p>
                      <a:r>
                        <a:rPr sz="900" b="0" i="0">
                          <a:solidFill>
                            <a:srgbClr val="1A1440"/>
                          </a:solidFill>
                          <a:latin typeface="Calibri"/>
                        </a:rPr>
                        <a:t>Order value first, at Q1's orders</a:t>
                      </a:r>
                    </a:p>
                  </a:txBody>
                  <a:tcPr marL="101600" marR="101600" marT="38100" marB="38100" anchor="ctr">
                    <a:solidFill>
                      <a:srgbClr val="F4F2FA"/>
                    </a:solidFill>
                  </a:tcPr>
                </a:tc>
                <a:tc>
                  <a:txBody>
                    <a:bodyPr/>
                    <a:lstStyle/>
                    <a:p>
                      <a:r>
                        <a:rPr sz="900" b="0" i="0">
                          <a:solidFill>
                            <a:srgbClr val="1A1440"/>
                          </a:solidFill>
                          <a:latin typeface="Calibri"/>
                        </a:rPr>
                        <a:t>-Rs 60,88,372</a:t>
                      </a:r>
                    </a:p>
                  </a:txBody>
                  <a:tcPr marL="101600" marR="101600" marT="38100" marB="38100" anchor="ctr">
                    <a:solidFill>
                      <a:srgbClr val="F4F2FA"/>
                    </a:solidFill>
                  </a:tcPr>
                </a:tc>
                <a:tc>
                  <a:txBody>
                    <a:bodyPr/>
                    <a:lstStyle/>
                    <a:p>
                      <a:r>
                        <a:rPr sz="900" b="0" i="0">
                          <a:solidFill>
                            <a:srgbClr val="1A1440"/>
                          </a:solidFill>
                          <a:latin typeface="Calibri"/>
                        </a:rPr>
                        <a:t>+Rs 37,88,372</a:t>
                      </a:r>
                    </a:p>
                  </a:txBody>
                  <a:tcPr marL="101600" marR="101600" marT="38100" marB="38100" anchor="ctr">
                    <a:solidFill>
                      <a:srgbClr val="F4F2FA"/>
                    </a:solidFill>
                  </a:tcPr>
                </a:tc>
              </a:tr>
              <a:tr h="310896">
                <a:tc>
                  <a:txBody>
                    <a:bodyPr/>
                    <a:lstStyle/>
                    <a:p>
                      <a:r>
                        <a:rPr sz="900" b="0" i="0">
                          <a:solidFill>
                            <a:srgbClr val="1A1440"/>
                          </a:solidFill>
                          <a:latin typeface="Calibri"/>
                        </a:rPr>
                        <a:t>Symmetric, the logarithmic split</a:t>
                      </a:r>
                    </a:p>
                  </a:txBody>
                  <a:tcPr marL="101600" marR="101600" marT="38100" marB="38100" anchor="ctr">
                    <a:solidFill>
                      <a:srgbClr val="FFFFFF"/>
                    </a:solidFill>
                  </a:tcPr>
                </a:tc>
                <a:tc>
                  <a:txBody>
                    <a:bodyPr/>
                    <a:lstStyle/>
                    <a:p>
                      <a:r>
                        <a:rPr sz="900" b="0" i="0">
                          <a:solidFill>
                            <a:srgbClr val="1A1440"/>
                          </a:solidFill>
                          <a:latin typeface="Calibri"/>
                        </a:rPr>
                        <a:t>-Rs 55,88,480</a:t>
                      </a:r>
                    </a:p>
                  </a:txBody>
                  <a:tcPr marL="101600" marR="101600" marT="38100" marB="38100" anchor="ctr">
                    <a:solidFill>
                      <a:srgbClr val="FFFFFF"/>
                    </a:solidFill>
                  </a:tcPr>
                </a:tc>
                <a:tc>
                  <a:txBody>
                    <a:bodyPr/>
                    <a:lstStyle/>
                    <a:p>
                      <a:r>
                        <a:rPr sz="900" b="0" i="0">
                          <a:solidFill>
                            <a:srgbClr val="1A1440"/>
                          </a:solidFill>
                          <a:latin typeface="Calibri"/>
                        </a:rPr>
                        <a:t>+Rs 32,88,480</a:t>
                      </a:r>
                    </a:p>
                  </a:txBody>
                  <a:tcPr marL="101600" marR="101600" marT="38100" marB="38100" anchor="ctr">
                    <a:solidFill>
                      <a:srgbClr val="FFFFFF"/>
                    </a:solidFill>
                  </a:tcPr>
                </a:tc>
              </a:tr>
            </a:tbl>
          </a:graphicData>
        </a:graphic>
      </p:graphicFrame>
      <p:sp>
        <p:nvSpPr>
          <p:cNvPr id="10" name="Rounded Rectangle 9"/>
          <p:cNvSpPr/>
          <p:nvPr/>
        </p:nvSpPr>
        <p:spPr>
          <a:xfrm>
            <a:off x="530352" y="345643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9182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027932"/>
            <a:ext cx="237744" cy="237744"/>
          </a:xfrm>
          <a:prstGeom prst="rect">
            <a:avLst/>
          </a:prstGeom>
        </p:spPr>
      </p:pic>
      <p:sp>
        <p:nvSpPr>
          <p:cNvPr id="13" name="TextBox 12"/>
          <p:cNvSpPr txBox="1"/>
          <p:nvPr/>
        </p:nvSpPr>
        <p:spPr>
          <a:xfrm>
            <a:off x="1399031" y="36027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822192"/>
            <a:ext cx="9987991" cy="941832"/>
          </a:xfrm>
          <a:prstGeom prst="rect">
            <a:avLst/>
          </a:prstGeom>
          <a:noFill/>
        </p:spPr>
        <p:txBody>
          <a:bodyPr wrap="square" anchor="t" lIns="0" rIns="0" tIns="0" bIns="0">
            <a:spAutoFit/>
          </a:bodyPr>
          <a:lstStyle/>
          <a:p>
            <a:r>
              <a:rPr sz="1500" b="0" i="0">
                <a:solidFill>
                  <a:srgbClr val="1A1440"/>
                </a:solidFill>
                <a:latin typeface="Calibri"/>
              </a:rPr>
              <a:t>Every row sums to the same Rs 23,00,000 fall; what differs is who is charged for the part where both branches moved at once. Say which order you used, or use the symmetric split, so Finance can rebuild your bridge.</a:t>
            </a:r>
          </a:p>
        </p:txBody>
      </p:sp>
      <p:pic>
        <p:nvPicPr>
          <p:cNvPr id="15" name="mermaid diagram" descr="145416be2a36d128.png"/>
          <p:cNvPicPr>
            <a:picLocks noChangeAspect="1"/>
          </p:cNvPicPr>
          <p:nvPr/>
        </p:nvPicPr>
        <p:blipFill>
          <a:blip r:embed="rId6"/>
          <a:stretch>
            <a:fillRect/>
          </a:stretch>
        </p:blipFill>
        <p:spPr>
          <a:xfrm>
            <a:off x="1909610" y="5001768"/>
            <a:ext cx="8372475" cy="871537"/>
          </a:xfrm>
          <a:prstGeom prst="rect">
            <a:avLst/>
          </a:prstGeom>
        </p:spPr>
      </p:pic>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8" name="Oval 17"/>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20" name="Oval 19"/>
          <p:cNvSpPr/>
          <p:nvPr/>
        </p:nvSpPr>
        <p:spPr>
          <a:xfrm>
            <a:off x="41956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305395"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which branch moved</a:t>
            </a:r>
          </a:p>
        </p:txBody>
      </p:sp>
      <p:sp>
        <p:nvSpPr>
          <p:cNvPr id="22" name="Oval 21"/>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41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missing key,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discount branch stops on a KeyError, and each way past it hides a different decision.</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KeyError: 'discount'</a:t>
            </a:r>
          </a:p>
        </p:txBody>
      </p:sp>
      <p:graphicFrame>
        <p:nvGraphicFramePr>
          <p:cNvPr id="14" name="Table 13"/>
          <p:cNvGraphicFramePr>
            <a:graphicFrameLocks noGrp="1"/>
          </p:cNvGraphicFramePr>
          <p:nvPr/>
        </p:nvGraphicFramePr>
        <p:xfrm>
          <a:off x="530352" y="2831084"/>
          <a:ext cx="11130989" cy="1479296"/>
        </p:xfrm>
        <a:graphic>
          <a:graphicData uri="http://schemas.openxmlformats.org/drawingml/2006/table">
            <a:tbl>
              <a:tblPr firstRow="0" bandRow="0">
                <a:tableStyleId>{2D5ABB26-0587-4C30-8999-92F81FD0307C}</a:tableStyleId>
              </a:tblPr>
              <a:tblGrid>
                <a:gridCol w="3400705"/>
                <a:gridCol w="3400705"/>
                <a:gridCol w="4329579"/>
              </a:tblGrid>
              <a:tr h="369824">
                <a:tc>
                  <a:txBody>
                    <a:bodyPr/>
                    <a:lstStyle/>
                    <a:p>
                      <a:r>
                        <a:rPr sz="1450" b="1" i="0">
                          <a:solidFill>
                            <a:srgbClr val="FFFFFF"/>
                          </a:solidFill>
                          <a:latin typeface="Calibri"/>
                        </a:rPr>
                        <a:t>Way past it</a:t>
                      </a:r>
                    </a:p>
                  </a:txBody>
                  <a:tcPr marL="101600" marR="101600" marT="38100" marB="38100" anchor="ctr">
                    <a:solidFill>
                      <a:srgbClr val="1A0F5C"/>
                    </a:solidFill>
                  </a:tcPr>
                </a:tc>
                <a:tc>
                  <a:txBody>
                    <a:bodyPr/>
                    <a:lstStyle/>
                    <a:p>
                      <a:r>
                        <a:rPr sz="1450" b="1" i="0">
                          <a:solidFill>
                            <a:srgbClr val="FFFFFF"/>
                          </a:solidFill>
                          <a:latin typeface="Calibri"/>
                        </a:rPr>
                        <a:t>Python's name for it</a:t>
                      </a:r>
                    </a:p>
                  </a:txBody>
                  <a:tcPr marL="101600" marR="101600" marT="38100" marB="38100" anchor="ctr">
                    <a:solidFill>
                      <a:srgbClr val="1A0F5C"/>
                    </a:solidFill>
                  </a:tcPr>
                </a:tc>
                <a:tc>
                  <a:txBody>
                    <a:bodyPr/>
                    <a:lstStyle/>
                    <a:p>
                      <a:r>
                        <a:rPr sz="1450" b="1" i="0">
                          <a:solidFill>
                            <a:srgbClr val="FFFFFF"/>
                          </a:solidFill>
                          <a:latin typeface="Calibri"/>
                        </a:rPr>
                        <a:t>The decision it makes quietly</a:t>
                      </a:r>
                    </a:p>
                  </a:txBody>
                  <a:tcPr marL="101600" marR="101600" marT="38100" marB="38100" anchor="ctr">
                    <a:solidFill>
                      <a:srgbClr val="1A0F5C"/>
                    </a:solidFill>
                  </a:tcPr>
                </a:tc>
              </a:tr>
              <a:tr h="369824">
                <a:tc>
                  <a:txBody>
                    <a:bodyPr/>
                    <a:lstStyle/>
                    <a:p>
                      <a:r>
                        <a:rPr sz="1400" b="0" i="0">
                          <a:solidFill>
                            <a:srgbClr val="1A1440"/>
                          </a:solidFill>
                          <a:latin typeface="Calibri"/>
                        </a:rPr>
                        <a:t>if "discount" in order:</a:t>
                      </a:r>
                    </a:p>
                  </a:txBody>
                  <a:tcPr marL="101600" marR="101600" marT="38100" marB="38100" anchor="ctr">
                    <a:solidFill>
                      <a:srgbClr val="FFFFFF"/>
                    </a:solidFill>
                  </a:tcPr>
                </a:tc>
                <a:tc>
                  <a:txBody>
                    <a:bodyPr/>
                    <a:lstStyle/>
                    <a:p>
                      <a:r>
                        <a:rPr sz="1400" b="0" i="0">
                          <a:solidFill>
                            <a:srgbClr val="1A1440"/>
                          </a:solidFill>
                          <a:latin typeface="Calibri"/>
                        </a:rPr>
                        <a:t>Look before you leap</a:t>
                      </a:r>
                    </a:p>
                  </a:txBody>
                  <a:tcPr marL="101600" marR="101600" marT="38100" marB="38100" anchor="ctr">
                    <a:solidFill>
                      <a:srgbClr val="FFFFFF"/>
                    </a:solidFill>
                  </a:tcPr>
                </a:tc>
                <a:tc>
                  <a:txBody>
                    <a:bodyPr/>
                    <a:lstStyle/>
                    <a:p>
                      <a:r>
                        <a:rPr sz="1400" b="0" i="0">
                          <a:solidFill>
                            <a:srgbClr val="1A1440"/>
                          </a:solidFill>
                          <a:latin typeface="Calibri"/>
                        </a:rPr>
                        <a:t>Orders without it are skipped</a:t>
                      </a:r>
                    </a:p>
                  </a:txBody>
                  <a:tcPr marL="101600" marR="101600" marT="38100" marB="38100" anchor="ctr">
                    <a:solidFill>
                      <a:srgbClr val="FFFFFF"/>
                    </a:solidFill>
                  </a:tcPr>
                </a:tc>
              </a:tr>
              <a:tr h="369824">
                <a:tc>
                  <a:txBody>
                    <a:bodyPr/>
                    <a:lstStyle/>
                    <a:p>
                      <a:r>
                        <a:rPr sz="1400" b="0" i="0">
                          <a:solidFill>
                            <a:srgbClr val="1A1440"/>
                          </a:solidFill>
                          <a:latin typeface="Calibri"/>
                        </a:rPr>
                        <a:t>try: ... except KeyError:</a:t>
                      </a:r>
                    </a:p>
                  </a:txBody>
                  <a:tcPr marL="101600" marR="101600" marT="38100" marB="38100" anchor="ctr">
                    <a:solidFill>
                      <a:srgbClr val="F4F2FA"/>
                    </a:solidFill>
                  </a:tcPr>
                </a:tc>
                <a:tc>
                  <a:txBody>
                    <a:bodyPr/>
                    <a:lstStyle/>
                    <a:p>
                      <a:r>
                        <a:rPr sz="1400" b="0" i="0">
                          <a:solidFill>
                            <a:srgbClr val="1A1440"/>
                          </a:solidFill>
                          <a:latin typeface="Calibri"/>
                        </a:rPr>
                        <a:t>Easier to ask forgiveness</a:t>
                      </a:r>
                    </a:p>
                  </a:txBody>
                  <a:tcPr marL="101600" marR="101600" marT="38100" marB="38100" anchor="ctr">
                    <a:solidFill>
                      <a:srgbClr val="F4F2FA"/>
                    </a:solidFill>
                  </a:tcPr>
                </a:tc>
                <a:tc>
                  <a:txBody>
                    <a:bodyPr/>
                    <a:lstStyle/>
                    <a:p>
                      <a:r>
                        <a:rPr sz="1400" b="0" i="0">
                          <a:solidFill>
                            <a:srgbClr val="1A1440"/>
                          </a:solidFill>
                          <a:latin typeface="Calibri"/>
                        </a:rPr>
                        <a:t>Whatever the except branch does</a:t>
                      </a:r>
                    </a:p>
                  </a:txBody>
                  <a:tcPr marL="101600" marR="101600" marT="38100" marB="38100" anchor="ctr">
                    <a:solidFill>
                      <a:srgbClr val="F4F2FA"/>
                    </a:solidFill>
                  </a:tcPr>
                </a:tc>
              </a:tr>
              <a:tr h="369824">
                <a:tc>
                  <a:txBody>
                    <a:bodyPr/>
                    <a:lstStyle/>
                    <a:p>
                      <a:r>
                        <a:rPr sz="1400" b="0" i="0">
                          <a:solidFill>
                            <a:srgbClr val="1A1440"/>
                          </a:solidFill>
                          <a:latin typeface="Calibri"/>
                        </a:rPr>
                        <a:t>order.get("discount", 0)</a:t>
                      </a:r>
                    </a:p>
                  </a:txBody>
                  <a:tcPr marL="101600" marR="101600" marT="38100" marB="38100" anchor="ctr">
                    <a:solidFill>
                      <a:srgbClr val="FFFFFF"/>
                    </a:solidFill>
                  </a:tcPr>
                </a:tc>
                <a:tc>
                  <a:txBody>
                    <a:bodyPr/>
                    <a:lstStyle/>
                    <a:p>
                      <a:r>
                        <a:rPr sz="1400" b="0" i="0">
                          <a:solidFill>
                            <a:srgbClr val="1A1440"/>
                          </a:solidFill>
                          <a:latin typeface="Calibri"/>
                        </a:rPr>
                        <a:t>A default</a:t>
                      </a:r>
                    </a:p>
                  </a:txBody>
                  <a:tcPr marL="101600" marR="101600" marT="38100" marB="38100" anchor="ctr">
                    <a:solidFill>
                      <a:srgbClr val="FFFFFF"/>
                    </a:solidFill>
                  </a:tcPr>
                </a:tc>
                <a:tc>
                  <a:txBody>
                    <a:bodyPr/>
                    <a:lstStyle/>
                    <a:p>
                      <a:r>
                        <a:rPr sz="1400" b="0" i="0">
                          <a:solidFill>
                            <a:srgbClr val="1A1440"/>
                          </a:solidFill>
                          <a:latin typeface="Calibri"/>
                        </a:rPr>
                        <a:t>Absent becomes zero rupees</a:t>
                      </a:r>
                    </a:p>
                  </a:txBody>
                  <a:tcPr marL="101600" marR="101600" marT="38100" marB="38100" anchor="ctr">
                    <a:solidFill>
                      <a:srgbClr val="FFFFFF"/>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7" name="Oval 16"/>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19" name="Oval 18"/>
          <p:cNvSpPr/>
          <p:nvPr/>
        </p:nvSpPr>
        <p:spPr>
          <a:xfrm>
            <a:off x="41956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05395"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which branch moved</a:t>
            </a:r>
          </a:p>
        </p:txBody>
      </p:sp>
      <p:sp>
        <p:nvSpPr>
          <p:cNvPr id="21" name="Oval 20"/>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41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answer: half the orders had no discount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Reading a missing discount as zero gives a share, a story and a decision.</a:t>
            </a:r>
          </a:p>
        </p:txBody>
      </p:sp>
      <p:pic>
        <p:nvPicPr>
          <p:cNvPr id="9" name="mermaid diagram" descr="26cea2eaab6cb7bd.png"/>
          <p:cNvPicPr>
            <a:picLocks noChangeAspect="1"/>
          </p:cNvPicPr>
          <p:nvPr/>
        </p:nvPicPr>
        <p:blipFill>
          <a:blip r:embed="rId5"/>
          <a:stretch>
            <a:fillRect/>
          </a:stretch>
        </p:blipFill>
        <p:spPr>
          <a:xfrm>
            <a:off x="3095472" y="1956816"/>
            <a:ext cx="6000750" cy="1128712"/>
          </a:xfrm>
          <a:prstGeom prst="rect">
            <a:avLst/>
          </a:prstGeom>
        </p:spPr>
      </p:pic>
      <p:graphicFrame>
        <p:nvGraphicFramePr>
          <p:cNvPr id="10" name="Table 9"/>
          <p:cNvGraphicFramePr>
            <a:graphicFrameLocks noGrp="1"/>
          </p:cNvGraphicFramePr>
          <p:nvPr/>
        </p:nvGraphicFramePr>
        <p:xfrm>
          <a:off x="530352" y="3231832"/>
          <a:ext cx="11130989" cy="1341120"/>
        </p:xfrm>
        <a:graphic>
          <a:graphicData uri="http://schemas.openxmlformats.org/drawingml/2006/table">
            <a:tbl>
              <a:tblPr firstRow="0" bandRow="0">
                <a:tableStyleId>{2D5ABB26-0587-4C30-8999-92F81FD0307C}</a:tableStyleId>
              </a:tblPr>
              <a:tblGrid>
                <a:gridCol w="3491920"/>
                <a:gridCol w="2710802"/>
                <a:gridCol w="2381911"/>
                <a:gridCol w="2546356"/>
              </a:tblGrid>
              <a:tr h="335280">
                <a:tc>
                  <a:txBody>
                    <a:bodyPr/>
                    <a:lstStyle/>
                    <a:p>
                      <a:r>
                        <a:rPr sz="1250" b="1" i="0">
                          <a:solidFill>
                            <a:srgbClr val="FFFFFF"/>
                          </a:solidFill>
                          <a:latin typeface="Calibri"/>
                        </a:rPr>
                        <a:t>Invented order</a:t>
                      </a:r>
                    </a:p>
                  </a:txBody>
                  <a:tcPr marL="101600" marR="101600" marT="38100" marB="38100" anchor="ctr">
                    <a:solidFill>
                      <a:srgbClr val="1A0F5C"/>
                    </a:solidFill>
                  </a:tcPr>
                </a:tc>
                <a:tc>
                  <a:txBody>
                    <a:bodyPr/>
                    <a:lstStyle/>
                    <a:p>
                      <a:r>
                        <a:rPr sz="1250" b="1" i="0">
                          <a:solidFill>
                            <a:srgbClr val="FFFFFF"/>
                          </a:solidFill>
                          <a:latin typeface="Calibri"/>
                        </a:rPr>
                        <a:t>Discount field</a:t>
                      </a:r>
                    </a:p>
                  </a:txBody>
                  <a:tcPr marL="101600" marR="101600" marT="38100" marB="38100" anchor="ctr">
                    <a:solidFill>
                      <a:srgbClr val="1A0F5C"/>
                    </a:solidFill>
                  </a:tcPr>
                </a:tc>
                <a:tc>
                  <a:txBody>
                    <a:bodyPr/>
                    <a:lstStyle/>
                    <a:p>
                      <a:r>
                        <a:rPr sz="1250" b="1" i="0">
                          <a:solidFill>
                            <a:srgbClr val="FFFFFF"/>
                          </a:solidFill>
                          <a:latin typeface="Calibri"/>
                        </a:rPr>
                        <a:t>Read as zero</a:t>
                      </a:r>
                    </a:p>
                  </a:txBody>
                  <a:tcPr marL="101600" marR="101600" marT="38100" marB="38100" anchor="ctr">
                    <a:solidFill>
                      <a:srgbClr val="1A0F5C"/>
                    </a:solidFill>
                  </a:tcPr>
                </a:tc>
                <a:tc>
                  <a:txBody>
                    <a:bodyPr/>
                    <a:lstStyle/>
                    <a:p>
                      <a:r>
                        <a:rPr sz="1250" b="1" i="0">
                          <a:solidFill>
                            <a:srgbClr val="FFFFFF"/>
                          </a:solidFill>
                          <a:latin typeface="Calibri"/>
                        </a:rPr>
                        <a:t>Recorded only</a:t>
                      </a:r>
                    </a:p>
                  </a:txBody>
                  <a:tcPr marL="101600" marR="101600" marT="38100" marB="38100" anchor="ctr">
                    <a:solidFill>
                      <a:srgbClr val="1A0F5C"/>
                    </a:solidFill>
                  </a:tcPr>
                </a:tc>
              </a:tr>
              <a:tr h="335280">
                <a:tc>
                  <a:txBody>
                    <a:bodyPr/>
                    <a:lstStyle/>
                    <a:p>
                      <a:r>
                        <a:rPr sz="1200" b="0" i="0">
                          <a:solidFill>
                            <a:srgbClr val="1A1440"/>
                          </a:solidFill>
                          <a:latin typeface="Calibri"/>
                        </a:rPr>
                        <a:t>A, B</a:t>
                      </a:r>
                    </a:p>
                  </a:txBody>
                  <a:tcPr marL="101600" marR="101600" marT="38100" marB="38100" anchor="ctr">
                    <a:solidFill>
                      <a:srgbClr val="FFFFFF"/>
                    </a:solidFill>
                  </a:tcPr>
                </a:tc>
                <a:tc>
                  <a:txBody>
                    <a:bodyPr/>
                    <a:lstStyle/>
                    <a:p>
                      <a:r>
                        <a:rPr sz="1200" b="0" i="0">
                          <a:solidFill>
                            <a:srgbClr val="1A1440"/>
                          </a:solidFill>
                          <a:latin typeface="Calibri"/>
                        </a:rPr>
                        <a:t>Rs 100, Rs 0</a:t>
                      </a:r>
                    </a:p>
                  </a:txBody>
                  <a:tcPr marL="101600" marR="101600" marT="38100" marB="38100" anchor="ctr">
                    <a:solidFill>
                      <a:srgbClr val="FFFFFF"/>
                    </a:solidFill>
                  </a:tcPr>
                </a:tc>
                <a:tc>
                  <a:txBody>
                    <a:bodyPr/>
                    <a:lstStyle/>
                    <a:p>
                      <a:r>
                        <a:rPr sz="1200" b="0" i="0">
                          <a:solidFill>
                            <a:srgbClr val="1A1440"/>
                          </a:solidFill>
                          <a:latin typeface="Calibri"/>
                        </a:rPr>
                        <a:t>Rs 100, Rs 0</a:t>
                      </a:r>
                    </a:p>
                  </a:txBody>
                  <a:tcPr marL="101600" marR="101600" marT="38100" marB="38100" anchor="ctr">
                    <a:solidFill>
                      <a:srgbClr val="FFFFFF"/>
                    </a:solidFill>
                  </a:tcPr>
                </a:tc>
                <a:tc>
                  <a:txBody>
                    <a:bodyPr/>
                    <a:lstStyle/>
                    <a:p>
                      <a:r>
                        <a:rPr sz="1200" b="0" i="0">
                          <a:solidFill>
                            <a:srgbClr val="1A1440"/>
                          </a:solidFill>
                          <a:latin typeface="Calibri"/>
                        </a:rPr>
                        <a:t>Rs 100, Rs 0</a:t>
                      </a:r>
                    </a:p>
                  </a:txBody>
                  <a:tcPr marL="101600" marR="101600" marT="38100" marB="38100" anchor="ctr">
                    <a:solidFill>
                      <a:srgbClr val="FFFFFF"/>
                    </a:solidFill>
                  </a:tcPr>
                </a:tc>
              </a:tr>
              <a:tr h="335280">
                <a:tc>
                  <a:txBody>
                    <a:bodyPr/>
                    <a:lstStyle/>
                    <a:p>
                      <a:r>
                        <a:rPr sz="1200" b="0" i="0">
                          <a:solidFill>
                            <a:srgbClr val="1A1440"/>
                          </a:solidFill>
                          <a:latin typeface="Calibri"/>
                        </a:rPr>
                        <a:t>C</a:t>
                      </a:r>
                    </a:p>
                  </a:txBody>
                  <a:tcPr marL="101600" marR="101600" marT="38100" marB="38100" anchor="ctr">
                    <a:solidFill>
                      <a:srgbClr val="F4F2FA"/>
                    </a:solidFill>
                  </a:tcPr>
                </a:tc>
                <a:tc>
                  <a:txBody>
                    <a:bodyPr/>
                    <a:lstStyle/>
                    <a:p>
                      <a:r>
                        <a:rPr sz="1200" b="0" i="0">
                          <a:solidFill>
                            <a:srgbClr val="1A1440"/>
                          </a:solidFill>
                          <a:latin typeface="Calibri"/>
                        </a:rPr>
                        <a:t>absent</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left out</a:t>
                      </a:r>
                    </a:p>
                  </a:txBody>
                  <a:tcPr marL="101600" marR="101600" marT="38100" marB="38100" anchor="ctr">
                    <a:solidFill>
                      <a:srgbClr val="F4F2FA"/>
                    </a:solidFill>
                  </a:tcPr>
                </a:tc>
              </a:tr>
              <a:tr h="335280">
                <a:tc>
                  <a:txBody>
                    <a:bodyPr/>
                    <a:lstStyle/>
                    <a:p>
                      <a:r>
                        <a:rPr sz="1200" b="0" i="0">
                          <a:solidFill>
                            <a:srgbClr val="1A1440"/>
                          </a:solidFill>
                          <a:latin typeface="Calibri"/>
                        </a:rPr>
                        <a:t>Share with a discount</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1 of 3, 33%</a:t>
                      </a:r>
                    </a:p>
                  </a:txBody>
                  <a:tcPr marL="101600" marR="101600" marT="38100" marB="38100" anchor="ctr">
                    <a:solidFill>
                      <a:srgbClr val="FFFFFF"/>
                    </a:solidFill>
                  </a:tcPr>
                </a:tc>
                <a:tc>
                  <a:txBody>
                    <a:bodyPr/>
                    <a:lstStyle/>
                    <a:p>
                      <a:r>
                        <a:rPr sz="1200" b="0" i="0">
                          <a:solidFill>
                            <a:srgbClr val="1A1440"/>
                          </a:solidFill>
                          <a:latin typeface="Calibri"/>
                        </a:rPr>
                        <a:t>1 of 2, 50%</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3" name="Oval 12"/>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15" name="Oval 14"/>
          <p:cNvSpPr/>
          <p:nvPr/>
        </p:nvSpPr>
        <p:spPr>
          <a:xfrm>
            <a:off x="41956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05395"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which branch moved</a:t>
            </a:r>
          </a:p>
        </p:txBody>
      </p:sp>
      <p:sp>
        <p:nvSpPr>
          <p:cNvPr id="17" name="Oval 16"/>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41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were the 43 "no discount"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hurried reading says 43 of Q2's 86 orders went without; predict what they are.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42.1%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ABSENT AS ZERO</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with a discount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ABSENT AS ZERO</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with a discount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READ AS NONE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86 orders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Of the 43 Q2 orders read as "no discount", how many record Rs 0? a) all 43; b) 34; c) 17; d) none.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26" name="Oval 25"/>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28" name="Oval 27"/>
          <p:cNvSpPr/>
          <p:nvPr/>
        </p:nvSpPr>
        <p:spPr>
          <a:xfrm>
            <a:off x="41956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305395"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which branch moved</a:t>
            </a:r>
          </a:p>
        </p:txBody>
      </p:sp>
      <p:sp>
        <p:nvSpPr>
          <p:cNvPr id="30" name="Oval 29"/>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41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17 recorded zeros and 26 unknowns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the field is recorded, 71.7 percent of Q2's orders carry a discount, and the rest is a range.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5667442"/>
                <a:gridCol w="2808144"/>
                <a:gridCol w="2655404"/>
              </a:tblGrid>
              <a:tr h="369824">
                <a:tc>
                  <a:txBody>
                    <a:bodyPr/>
                    <a:lstStyle/>
                    <a:p>
                      <a:r>
                        <a:rPr sz="1450" b="1" i="0">
                          <a:solidFill>
                            <a:srgbClr val="FFFFFF"/>
                          </a:solidFill>
                          <a:latin typeface="Calibri"/>
                        </a:rPr>
                        <a:t>Share of orders with a discount</a:t>
                      </a:r>
                    </a:p>
                  </a:txBody>
                  <a:tcPr marL="101600" marR="101600" marT="38100" marB="38100" anchor="ctr">
                    <a:solidFill>
                      <a:srgbClr val="1A0F5C"/>
                    </a:solidFill>
                  </a:tcPr>
                </a:tc>
                <a:tc>
                  <a:txBody>
                    <a:bodyPr/>
                    <a:lstStyle/>
                    <a:p>
                      <a:r>
                        <a:rPr sz="1450" b="1" i="0">
                          <a:solidFill>
                            <a:srgbClr val="FFFFFF"/>
                          </a:solidFill>
                          <a:latin typeface="Calibri"/>
                        </a:rPr>
                        <a:t>Q1</a:t>
                      </a:r>
                    </a:p>
                  </a:txBody>
                  <a:tcPr marL="101600" marR="101600" marT="38100" marB="38100" anchor="ctr">
                    <a:solidFill>
                      <a:srgbClr val="1A0F5C"/>
                    </a:solidFill>
                  </a:tcPr>
                </a:tc>
                <a:tc>
                  <a:txBody>
                    <a:bodyPr/>
                    <a:lstStyle/>
                    <a:p>
                      <a:r>
                        <a:rPr sz="1450" b="1" i="0">
                          <a:solidFill>
                            <a:srgbClr val="FFFFFF"/>
                          </a:solidFill>
                          <a:latin typeface="Calibri"/>
                        </a:rPr>
                        <a:t>Q2</a:t>
                      </a:r>
                    </a:p>
                  </a:txBody>
                  <a:tcPr marL="101600" marR="101600" marT="38100" marB="38100" anchor="ctr">
                    <a:solidFill>
                      <a:srgbClr val="1A0F5C"/>
                    </a:solidFill>
                  </a:tcPr>
                </a:tc>
              </a:tr>
              <a:tr h="369824">
                <a:tc>
                  <a:txBody>
                    <a:bodyPr/>
                    <a:lstStyle/>
                    <a:p>
                      <a:r>
                        <a:rPr sz="1400" b="0" i="0">
                          <a:solidFill>
                            <a:srgbClr val="1A1440"/>
                          </a:solidFill>
                          <a:latin typeface="Calibri"/>
                        </a:rPr>
                        <a:t>Blanks read as zero</a:t>
                      </a:r>
                    </a:p>
                  </a:txBody>
                  <a:tcPr marL="101600" marR="101600" marT="38100" marB="38100" anchor="ctr">
                    <a:solidFill>
                      <a:srgbClr val="FFFFFF"/>
                    </a:solidFill>
                  </a:tcPr>
                </a:tc>
                <a:tc>
                  <a:txBody>
                    <a:bodyPr/>
                    <a:lstStyle/>
                    <a:p>
                      <a:r>
                        <a:rPr sz="1400" b="0" i="0">
                          <a:solidFill>
                            <a:srgbClr val="1A1440"/>
                          </a:solidFill>
                          <a:latin typeface="Calibri"/>
                        </a:rPr>
                        <a:t>42.1%, 48 of 114</a:t>
                      </a:r>
                    </a:p>
                  </a:txBody>
                  <a:tcPr marL="101600" marR="101600" marT="38100" marB="38100" anchor="ctr">
                    <a:solidFill>
                      <a:srgbClr val="FFFFFF"/>
                    </a:solidFill>
                  </a:tcPr>
                </a:tc>
                <a:tc>
                  <a:txBody>
                    <a:bodyPr/>
                    <a:lstStyle/>
                    <a:p>
                      <a:r>
                        <a:rPr sz="1400" b="0" i="0">
                          <a:solidFill>
                            <a:srgbClr val="1A1440"/>
                          </a:solidFill>
                          <a:latin typeface="Calibri"/>
                        </a:rPr>
                        <a:t>50.0%, 43 of 86</a:t>
                      </a:r>
                    </a:p>
                  </a:txBody>
                  <a:tcPr marL="101600" marR="101600" marT="38100" marB="38100" anchor="ctr">
                    <a:solidFill>
                      <a:srgbClr val="FFFFFF"/>
                    </a:solidFill>
                  </a:tcPr>
                </a:tc>
              </a:tr>
              <a:tr h="369824">
                <a:tc>
                  <a:txBody>
                    <a:bodyPr/>
                    <a:lstStyle/>
                    <a:p>
                      <a:r>
                        <a:rPr sz="1400" b="0" i="0">
                          <a:solidFill>
                            <a:srgbClr val="1A1440"/>
                          </a:solidFill>
                          <a:latin typeface="Calibri"/>
                        </a:rPr>
                        <a:t>No discount field (the check)</a:t>
                      </a:r>
                    </a:p>
                  </a:txBody>
                  <a:tcPr marL="101600" marR="101600" marT="38100" marB="38100" anchor="ctr">
                    <a:solidFill>
                      <a:srgbClr val="F4F2FA"/>
                    </a:solidFill>
                  </a:tcPr>
                </a:tc>
                <a:tc>
                  <a:txBody>
                    <a:bodyPr/>
                    <a:lstStyle/>
                    <a:p>
                      <a:r>
                        <a:rPr sz="1400" b="0" i="0">
                          <a:solidFill>
                            <a:srgbClr val="1A1440"/>
                          </a:solidFill>
                          <a:latin typeface="Calibri"/>
                        </a:rPr>
                        <a:t>32 orders</a:t>
                      </a:r>
                    </a:p>
                  </a:txBody>
                  <a:tcPr marL="101600" marR="101600" marT="38100" marB="38100" anchor="ctr">
                    <a:solidFill>
                      <a:srgbClr val="F4F2FA"/>
                    </a:solidFill>
                  </a:tcPr>
                </a:tc>
                <a:tc>
                  <a:txBody>
                    <a:bodyPr/>
                    <a:lstStyle/>
                    <a:p>
                      <a:r>
                        <a:rPr sz="1400" b="0" i="0">
                          <a:solidFill>
                            <a:srgbClr val="1A1440"/>
                          </a:solidFill>
                          <a:latin typeface="Calibri"/>
                        </a:rPr>
                        <a:t>26 orders</a:t>
                      </a:r>
                    </a:p>
                  </a:txBody>
                  <a:tcPr marL="101600" marR="101600" marT="38100" marB="38100" anchor="ctr">
                    <a:solidFill>
                      <a:srgbClr val="F4F2FA"/>
                    </a:solidFill>
                  </a:tcPr>
                </a:tc>
              </a:tr>
              <a:tr h="369824">
                <a:tc>
                  <a:txBody>
                    <a:bodyPr/>
                    <a:lstStyle/>
                    <a:p>
                      <a:r>
                        <a:rPr sz="1400" b="0" i="0">
                          <a:solidFill>
                            <a:srgbClr val="1A1440"/>
                          </a:solidFill>
                          <a:latin typeface="Calibri"/>
                        </a:rPr>
                        <a:t>Over orders that record the field</a:t>
                      </a:r>
                    </a:p>
                  </a:txBody>
                  <a:tcPr marL="101600" marR="101600" marT="38100" marB="38100" anchor="ctr">
                    <a:solidFill>
                      <a:srgbClr val="FFFFFF"/>
                    </a:solidFill>
                  </a:tcPr>
                </a:tc>
                <a:tc>
                  <a:txBody>
                    <a:bodyPr/>
                    <a:lstStyle/>
                    <a:p>
                      <a:r>
                        <a:rPr sz="1400" b="0" i="0">
                          <a:solidFill>
                            <a:srgbClr val="1A1440"/>
                          </a:solidFill>
                          <a:latin typeface="Calibri"/>
                        </a:rPr>
                        <a:t>58.5%, 48 of 82</a:t>
                      </a:r>
                    </a:p>
                  </a:txBody>
                  <a:tcPr marL="101600" marR="101600" marT="38100" marB="38100" anchor="ctr">
                    <a:solidFill>
                      <a:srgbClr val="FFFFFF"/>
                    </a:solidFill>
                  </a:tcPr>
                </a:tc>
                <a:tc>
                  <a:txBody>
                    <a:bodyPr/>
                    <a:lstStyle/>
                    <a:p>
                      <a:r>
                        <a:rPr sz="1400" b="0" i="0">
                          <a:solidFill>
                            <a:srgbClr val="1A1440"/>
                          </a:solidFill>
                          <a:latin typeface="Calibri"/>
                        </a:rPr>
                        <a:t>71.7%, 43 of 60</a:t>
                      </a:r>
                    </a:p>
                  </a:txBody>
                  <a:tcPr marL="101600" marR="101600" marT="38100" marB="38100" anchor="ctr">
                    <a:solidFill>
                      <a:srgbClr val="FFFFFF"/>
                    </a:solidFill>
                  </a:tcPr>
                </a:tc>
              </a:tr>
              <a:tr h="369824">
                <a:tc>
                  <a:txBody>
                    <a:bodyPr/>
                    <a:lstStyle/>
                    <a:p>
                      <a:r>
                        <a:rPr sz="1400" b="0" i="0">
                          <a:solidFill>
                            <a:srgbClr val="1A1440"/>
                          </a:solidFill>
                          <a:latin typeface="Calibri"/>
                        </a:rPr>
                        <a:t>Range, blanks unknown</a:t>
                      </a:r>
                    </a:p>
                  </a:txBody>
                  <a:tcPr marL="101600" marR="101600" marT="38100" marB="38100" anchor="ctr">
                    <a:solidFill>
                      <a:srgbClr val="F4F2FA"/>
                    </a:solidFill>
                  </a:tcPr>
                </a:tc>
                <a:tc>
                  <a:txBody>
                    <a:bodyPr/>
                    <a:lstStyle/>
                    <a:p>
                      <a:r>
                        <a:rPr sz="1400" b="0" i="0">
                          <a:solidFill>
                            <a:srgbClr val="1A1440"/>
                          </a:solidFill>
                          <a:latin typeface="Calibri"/>
                        </a:rPr>
                        <a:t>42.1% to 70.2%</a:t>
                      </a:r>
                    </a:p>
                  </a:txBody>
                  <a:tcPr marL="101600" marR="101600" marT="38100" marB="38100" anchor="ctr">
                    <a:solidFill>
                      <a:srgbClr val="F4F2FA"/>
                    </a:solidFill>
                  </a:tcPr>
                </a:tc>
                <a:tc>
                  <a:txBody>
                    <a:bodyPr/>
                    <a:lstStyle/>
                    <a:p>
                      <a:r>
                        <a:rPr sz="1400" b="0" i="0">
                          <a:solidFill>
                            <a:srgbClr val="1A1440"/>
                          </a:solidFill>
                          <a:latin typeface="Calibri"/>
                        </a:rPr>
                        <a:t>50.0% to 80.2%</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1158240"/>
          </a:xfrm>
          <a:prstGeom prst="rect">
            <a:avLst/>
          </a:prstGeom>
          <a:noFill/>
        </p:spPr>
        <p:txBody>
          <a:bodyPr wrap="square" anchor="ctr" lIns="0" rIns="0" tIns="0" bIns="0">
            <a:spAutoFit/>
          </a:bodyPr>
          <a:lstStyle/>
          <a:p>
            <a:r>
              <a:rPr sz="1500" b="1">
                <a:solidFill>
                  <a:srgbClr val="5B3FD6"/>
                </a:solidFill>
                <a:latin typeface="Calibri"/>
              </a:rPr>
              <a:t>The fix. </a:t>
            </a:r>
            <a:r>
              <a:rPr sz="1500" b="0" i="0">
                <a:solidFill>
                  <a:srgbClr val="1A1440"/>
                </a:solidFill>
                <a:latin typeface="Calibri"/>
              </a:rPr>
              <a:t>Write the default with its reason: "absent means not recorded; reported separately; never counted as zero". Only 17 of Q2's 86 orders are known to have had no discount, so the extension loses its premise; and at Rs 150 on every Q2 order, the most anyone recorded, the branch holds at most Rs 12,900 of a Rs 23,00,000 fall.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5" name="Oval 14"/>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17" name="Oval 16"/>
          <p:cNvSpPr/>
          <p:nvPr/>
        </p:nvSpPr>
        <p:spPr>
          <a:xfrm>
            <a:off x="41956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05395"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which branch moved</a:t>
            </a:r>
          </a:p>
        </p:txBody>
      </p:sp>
      <p:sp>
        <p:nvSpPr>
          <p:cNvPr id="19" name="Oval 18"/>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41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run: the tree on Anand's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 counts delivered orders only; does the branch that moved survive his definition?</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One filter</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Keep orders whose status is delivered, in both quarters, never one.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Three branches</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Customers, orders per customer and revenue per order for each quarter.</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Multiply back</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Check that the three ratios give the delivered revenue ratio.</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One sentence</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Name the branch that carries the fall on Anand's definition, with its change.</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32" name="Oval 31"/>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34" name="Oval 33"/>
          <p:cNvSpPr/>
          <p:nvPr/>
        </p:nvSpPr>
        <p:spPr>
          <a:xfrm>
            <a:off x="41956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305395"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which branch moved</a:t>
            </a:r>
          </a:p>
        </p:txBody>
      </p:sp>
      <p:sp>
        <p:nvSpPr>
          <p:cNvPr id="36" name="Oval 35"/>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41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round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Frequency carries the fall on booked and on delivered, and delivered is still moving.</a:t>
            </a:r>
          </a:p>
        </p:txBody>
      </p:sp>
      <p:graphicFrame>
        <p:nvGraphicFramePr>
          <p:cNvPr id="9" name="Table 8"/>
          <p:cNvGraphicFramePr>
            <a:graphicFrameLocks noGrp="1"/>
          </p:cNvGraphicFramePr>
          <p:nvPr/>
        </p:nvGraphicFramePr>
        <p:xfrm>
          <a:off x="530352" y="1682496"/>
          <a:ext cx="11130990" cy="1676400"/>
        </p:xfrm>
        <a:graphic>
          <a:graphicData uri="http://schemas.openxmlformats.org/drawingml/2006/table">
            <a:tbl>
              <a:tblPr firstRow="0" bandRow="0">
                <a:tableStyleId>{2D5ABB26-0587-4C30-8999-92F81FD0307C}</a:tableStyleId>
              </a:tblPr>
              <a:tblGrid>
                <a:gridCol w="4020826"/>
                <a:gridCol w="3097882"/>
                <a:gridCol w="3097882"/>
                <a:gridCol w="914400"/>
              </a:tblGrid>
              <a:tr h="335280">
                <a:tc>
                  <a:txBody>
                    <a:bodyPr/>
                    <a:lstStyle/>
                    <a:p>
                      <a:r>
                        <a:rPr sz="1250" b="1" i="0">
                          <a:solidFill>
                            <a:srgbClr val="FFFFFF"/>
                          </a:solidFill>
                          <a:latin typeface="Calibri"/>
                        </a:rPr>
                        <a:t>Delivered only</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Revenue</a:t>
                      </a:r>
                    </a:p>
                  </a:txBody>
                  <a:tcPr marL="101600" marR="101600" marT="38100" marB="38100" anchor="ctr">
                    <a:solidFill>
                      <a:srgbClr val="FFFFFF"/>
                    </a:solidFill>
                  </a:tcPr>
                </a:tc>
                <a:tc>
                  <a:txBody>
                    <a:bodyPr/>
                    <a:lstStyle/>
                    <a:p>
                      <a:r>
                        <a:rPr sz="1200" b="0" i="0">
                          <a:solidFill>
                            <a:srgbClr val="1A1440"/>
                          </a:solidFill>
                          <a:latin typeface="Calibri"/>
                        </a:rPr>
                        <a:t>Rs 1,45,04,970</a:t>
                      </a:r>
                    </a:p>
                  </a:txBody>
                  <a:tcPr marL="101600" marR="101600" marT="38100" marB="38100" anchor="ctr">
                    <a:solidFill>
                      <a:srgbClr val="FFFFFF"/>
                    </a:solidFill>
                  </a:tcPr>
                </a:tc>
                <a:tc>
                  <a:txBody>
                    <a:bodyPr/>
                    <a:lstStyle/>
                    <a:p>
                      <a:r>
                        <a:rPr sz="1200" b="0" i="0">
                          <a:solidFill>
                            <a:srgbClr val="1A1440"/>
                          </a:solidFill>
                          <a:latin typeface="Calibri"/>
                        </a:rPr>
                        <a:t>Rs 1,28,64,680</a:t>
                      </a:r>
                    </a:p>
                  </a:txBody>
                  <a:tcPr marL="101600" marR="101600" marT="38100" marB="38100" anchor="ctr">
                    <a:solidFill>
                      <a:srgbClr val="FFFFFF"/>
                    </a:solidFill>
                  </a:tcPr>
                </a:tc>
                <a:tc>
                  <a:txBody>
                    <a:bodyPr/>
                    <a:lstStyle/>
                    <a:p>
                      <a:r>
                        <a:rPr sz="1200" b="0" i="0">
                          <a:solidFill>
                            <a:srgbClr val="1A1440"/>
                          </a:solidFill>
                          <a:latin typeface="Calibri"/>
                        </a:rPr>
                        <a:t>-11.3%</a:t>
                      </a:r>
                    </a:p>
                  </a:txBody>
                  <a:tcPr marL="101600" marR="101600" marT="38100" marB="38100" anchor="ctr">
                    <a:solidFill>
                      <a:srgbClr val="FFFFFF"/>
                    </a:solidFill>
                  </a:tcPr>
                </a:tc>
              </a:tr>
              <a:tr h="335280">
                <a:tc>
                  <a:txBody>
                    <a:bodyPr/>
                    <a:lstStyle/>
                    <a:p>
                      <a:r>
                        <a:rPr sz="1200" b="0" i="0">
                          <a:solidFill>
                            <a:srgbClr val="1A1440"/>
                          </a:solidFill>
                          <a:latin typeface="Calibri"/>
                        </a:rPr>
                        <a:t>Customers</a:t>
                      </a:r>
                    </a:p>
                  </a:txBody>
                  <a:tcPr marL="101600" marR="101600" marT="38100" marB="38100" anchor="ctr">
                    <a:solidFill>
                      <a:srgbClr val="F4F2FA"/>
                    </a:solidFill>
                  </a:tcPr>
                </a:tc>
                <a:tc>
                  <a:txBody>
                    <a:bodyPr/>
                    <a:lstStyle/>
                    <a:p>
                      <a:r>
                        <a:rPr sz="1200" b="0" i="0">
                          <a:solidFill>
                            <a:srgbClr val="1A1440"/>
                          </a:solidFill>
                          <a:latin typeface="Calibri"/>
                        </a:rPr>
                        <a:t>54</a:t>
                      </a:r>
                    </a:p>
                  </a:txBody>
                  <a:tcPr marL="101600" marR="101600" marT="38100" marB="38100" anchor="ctr">
                    <a:solidFill>
                      <a:srgbClr val="F4F2FA"/>
                    </a:solidFill>
                  </a:tcPr>
                </a:tc>
                <a:tc>
                  <a:txBody>
                    <a:bodyPr/>
                    <a:lstStyle/>
                    <a:p>
                      <a:r>
                        <a:rPr sz="1200" b="0" i="0">
                          <a:solidFill>
                            <a:srgbClr val="1A1440"/>
                          </a:solidFill>
                          <a:latin typeface="Calibri"/>
                        </a:rPr>
                        <a:t>50</a:t>
                      </a:r>
                    </a:p>
                  </a:txBody>
                  <a:tcPr marL="101600" marR="101600" marT="38100" marB="38100" anchor="ctr">
                    <a:solidFill>
                      <a:srgbClr val="F4F2FA"/>
                    </a:solidFill>
                  </a:tcPr>
                </a:tc>
                <a:tc>
                  <a:txBody>
                    <a:bodyPr/>
                    <a:lstStyle/>
                    <a:p>
                      <a:r>
                        <a:rPr sz="1200" b="0" i="0">
                          <a:solidFill>
                            <a:srgbClr val="1A1440"/>
                          </a:solidFill>
                          <a:latin typeface="Calibri"/>
                        </a:rPr>
                        <a:t>-7.4%</a:t>
                      </a:r>
                    </a:p>
                  </a:txBody>
                  <a:tcPr marL="101600" marR="101600" marT="38100" marB="38100" anchor="ctr">
                    <a:solidFill>
                      <a:srgbClr val="F4F2FA"/>
                    </a:solidFill>
                  </a:tcPr>
                </a:tc>
              </a:tr>
              <a:tr h="335280">
                <a:tc>
                  <a:txBody>
                    <a:bodyPr/>
                    <a:lstStyle/>
                    <a:p>
                      <a:r>
                        <a:rPr sz="1200" b="0" i="0">
                          <a:solidFill>
                            <a:srgbClr val="1A1440"/>
                          </a:solidFill>
                          <a:latin typeface="Calibri"/>
                        </a:rPr>
                        <a:t>Orders per customer</a:t>
                      </a:r>
                    </a:p>
                  </a:txBody>
                  <a:tcPr marL="101600" marR="101600" marT="38100" marB="38100" anchor="ctr">
                    <a:solidFill>
                      <a:srgbClr val="FFFFFF"/>
                    </a:solidFill>
                  </a:tcPr>
                </a:tc>
                <a:tc>
                  <a:txBody>
                    <a:bodyPr/>
                    <a:lstStyle/>
                    <a:p>
                      <a:r>
                        <a:rPr sz="1200" b="0" i="0">
                          <a:solidFill>
                            <a:srgbClr val="1A1440"/>
                          </a:solidFill>
                          <a:latin typeface="Calibri"/>
                        </a:rPr>
                        <a:t>1.50</a:t>
                      </a:r>
                    </a:p>
                  </a:txBody>
                  <a:tcPr marL="101600" marR="101600" marT="38100" marB="38100" anchor="ctr">
                    <a:solidFill>
                      <a:srgbClr val="FFFFFF"/>
                    </a:solidFill>
                  </a:tcPr>
                </a:tc>
                <a:tc>
                  <a:txBody>
                    <a:bodyPr/>
                    <a:lstStyle/>
                    <a:p>
                      <a:r>
                        <a:rPr sz="1200" b="0" i="0">
                          <a:solidFill>
                            <a:srgbClr val="1A1440"/>
                          </a:solidFill>
                          <a:latin typeface="Calibri"/>
                        </a:rPr>
                        <a:t>1.14</a:t>
                      </a:r>
                    </a:p>
                  </a:txBody>
                  <a:tcPr marL="101600" marR="101600" marT="38100" marB="38100" anchor="ctr">
                    <a:solidFill>
                      <a:srgbClr val="FFFFFF"/>
                    </a:solidFill>
                  </a:tcPr>
                </a:tc>
                <a:tc>
                  <a:txBody>
                    <a:bodyPr/>
                    <a:lstStyle/>
                    <a:p>
                      <a:r>
                        <a:rPr sz="1200" b="0" i="0">
                          <a:solidFill>
                            <a:srgbClr val="1A1440"/>
                          </a:solidFill>
                          <a:latin typeface="Calibri"/>
                        </a:rPr>
                        <a:t>-24.0%</a:t>
                      </a:r>
                    </a:p>
                  </a:txBody>
                  <a:tcPr marL="101600" marR="101600" marT="38100" marB="38100" anchor="ctr">
                    <a:solidFill>
                      <a:srgbClr val="FFFFFF"/>
                    </a:solidFill>
                  </a:tcPr>
                </a:tc>
              </a:tr>
              <a:tr h="335280">
                <a:tc>
                  <a:txBody>
                    <a:bodyPr/>
                    <a:lstStyle/>
                    <a:p>
                      <a:r>
                        <a:rPr sz="1200" b="0" i="0">
                          <a:solidFill>
                            <a:srgbClr val="1A1440"/>
                          </a:solidFill>
                          <a:latin typeface="Calibri"/>
                        </a:rPr>
                        <a:t>Revenue per order</a:t>
                      </a:r>
                    </a:p>
                  </a:txBody>
                  <a:tcPr marL="101600" marR="101600" marT="38100" marB="38100" anchor="ctr">
                    <a:solidFill>
                      <a:srgbClr val="F4F2FA"/>
                    </a:solidFill>
                  </a:tcPr>
                </a:tc>
                <a:tc>
                  <a:txBody>
                    <a:bodyPr/>
                    <a:lstStyle/>
                    <a:p>
                      <a:r>
                        <a:rPr sz="1200" b="0" i="0">
                          <a:solidFill>
                            <a:srgbClr val="1A1440"/>
                          </a:solidFill>
                          <a:latin typeface="Calibri"/>
                        </a:rPr>
                        <a:t>Rs 1,79,074</a:t>
                      </a:r>
                    </a:p>
                  </a:txBody>
                  <a:tcPr marL="101600" marR="101600" marT="38100" marB="38100" anchor="ctr">
                    <a:solidFill>
                      <a:srgbClr val="F4F2FA"/>
                    </a:solidFill>
                  </a:tcPr>
                </a:tc>
                <a:tc>
                  <a:txBody>
                    <a:bodyPr/>
                    <a:lstStyle/>
                    <a:p>
                      <a:r>
                        <a:rPr sz="1200" b="0" i="0">
                          <a:solidFill>
                            <a:srgbClr val="1A1440"/>
                          </a:solidFill>
                          <a:latin typeface="Calibri"/>
                        </a:rPr>
                        <a:t>Rs 2,25,696</a:t>
                      </a:r>
                    </a:p>
                  </a:txBody>
                  <a:tcPr marL="101600" marR="101600" marT="38100" marB="38100" anchor="ctr">
                    <a:solidFill>
                      <a:srgbClr val="F4F2FA"/>
                    </a:solidFill>
                  </a:tcPr>
                </a:tc>
                <a:tc>
                  <a:txBody>
                    <a:bodyPr/>
                    <a:lstStyle/>
                    <a:p>
                      <a:r>
                        <a:rPr sz="1200" b="0" i="0">
                          <a:solidFill>
                            <a:srgbClr val="1A1440"/>
                          </a:solidFill>
                          <a:latin typeface="Calibri"/>
                        </a:rPr>
                        <a:t>+26.0%</a:t>
                      </a:r>
                    </a:p>
                  </a:txBody>
                  <a:tcPr marL="101600" marR="101600" marT="38100" marB="38100" anchor="ctr">
                    <a:solidFill>
                      <a:srgbClr val="F4F2FA"/>
                    </a:solidFill>
                  </a:tcPr>
                </a:tc>
              </a:tr>
            </a:tbl>
          </a:graphicData>
        </a:graphic>
      </p:graphicFrame>
      <p:sp>
        <p:nvSpPr>
          <p:cNvPr id="10" name="Rounded Rectangle 9"/>
          <p:cNvSpPr/>
          <p:nvPr/>
        </p:nvSpPr>
        <p:spPr>
          <a:xfrm>
            <a:off x="530352" y="361492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7669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186428"/>
            <a:ext cx="237744" cy="237744"/>
          </a:xfrm>
          <a:prstGeom prst="rect">
            <a:avLst/>
          </a:prstGeom>
        </p:spPr>
      </p:pic>
      <p:sp>
        <p:nvSpPr>
          <p:cNvPr id="13" name="TextBox 12"/>
          <p:cNvSpPr txBox="1"/>
          <p:nvPr/>
        </p:nvSpPr>
        <p:spPr>
          <a:xfrm>
            <a:off x="1399031" y="37612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980688"/>
            <a:ext cx="9987991" cy="941832"/>
          </a:xfrm>
          <a:prstGeom prst="rect">
            <a:avLst/>
          </a:prstGeom>
          <a:noFill/>
        </p:spPr>
        <p:txBody>
          <a:bodyPr wrap="square" anchor="t" lIns="0" rIns="0" tIns="0" bIns="0">
            <a:spAutoFit/>
          </a:bodyPr>
          <a:lstStyle/>
          <a:p>
            <a:r>
              <a:rPr sz="1500" b="0" i="0">
                <a:solidFill>
                  <a:srgbClr val="1A1440"/>
                </a:solidFill>
                <a:latin typeface="Calibri"/>
              </a:rPr>
              <a:t>"Frequency is the branch on both definitions, which makes it stronger. Delivered revenue for a quarter that has just closed is provisional, because returns keep arriving after it ends; say booked for the headline and delivered with its date."</a:t>
            </a:r>
          </a:p>
        </p:txBody>
      </p:sp>
      <p:sp>
        <p:nvSpPr>
          <p:cNvPr id="15" name="Rounded Rectangle 14"/>
          <p:cNvSpPr/>
          <p:nvPr/>
        </p:nvSpPr>
        <p:spPr>
          <a:xfrm>
            <a:off x="530352" y="5160263"/>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2955"/>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72683"/>
            <a:ext cx="237744" cy="237744"/>
          </a:xfrm>
          <a:prstGeom prst="rect">
            <a:avLst/>
          </a:prstGeom>
        </p:spPr>
      </p:pic>
      <p:sp>
        <p:nvSpPr>
          <p:cNvPr id="18" name="TextBox 17"/>
          <p:cNvSpPr txBox="1"/>
          <p:nvPr/>
        </p:nvSpPr>
        <p:spPr>
          <a:xfrm>
            <a:off x="1399031" y="5306567"/>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26024"/>
            <a:ext cx="9987991" cy="423672"/>
          </a:xfrm>
          <a:prstGeom prst="rect">
            <a:avLst/>
          </a:prstGeom>
          <a:noFill/>
        </p:spPr>
        <p:txBody>
          <a:bodyPr wrap="square" anchor="t" lIns="0" rIns="0" tIns="0" bIns="0">
            <a:spAutoFit/>
          </a:bodyPr>
          <a:lstStyle/>
          <a:p>
            <a:r>
              <a:rPr sz="1500" b="0" i="0">
                <a:solidFill>
                  <a:srgbClr val="1A1440"/>
                </a:solidFill>
                <a:latin typeface="Calibri"/>
              </a:rPr>
              <a:t>[S] Why is a rate without a denominator meaningless?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22" name="Oval 21"/>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24" name="Oval 23"/>
          <p:cNvSpPr/>
          <p:nvPr/>
        </p:nvSpPr>
        <p:spPr>
          <a:xfrm>
            <a:off x="41956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305395"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which branch moved</a:t>
            </a:r>
          </a:p>
        </p:txBody>
      </p:sp>
      <p:sp>
        <p:nvSpPr>
          <p:cNvPr id="26" name="Oval 25"/>
          <p:cNvSpPr/>
          <p:nvPr/>
        </p:nvSpPr>
        <p:spPr>
          <a:xfrm>
            <a:off x="591331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023038"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Round 3, every kind of customer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41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3, every kind of customer</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same tree for every segment and quarter means writing it once, as a function that returns its answer.</a:t>
            </a:r>
          </a:p>
        </p:txBody>
      </p:sp>
      <p:sp>
        <p:nvSpPr>
          <p:cNvPr id="10" name="Rounded Rectangle 9"/>
          <p:cNvSpPr/>
          <p:nvPr/>
        </p:nvSpPr>
        <p:spPr>
          <a:xfrm>
            <a:off x="73151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 the system and the ladder</a:t>
            </a:r>
          </a:p>
        </p:txBody>
      </p:sp>
      <p:sp>
        <p:nvSpPr>
          <p:cNvPr id="11" name="Rounded Rectangle 10"/>
          <p:cNvSpPr/>
          <p:nvPr/>
        </p:nvSpPr>
        <p:spPr>
          <a:xfrm>
            <a:off x="2990088"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is the drop real</a:t>
            </a:r>
          </a:p>
        </p:txBody>
      </p:sp>
      <p:sp>
        <p:nvSpPr>
          <p:cNvPr id="12" name="Rounded Rectangle 11"/>
          <p:cNvSpPr/>
          <p:nvPr/>
        </p:nvSpPr>
        <p:spPr>
          <a:xfrm>
            <a:off x="4945975"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which branch moved</a:t>
            </a:r>
          </a:p>
        </p:txBody>
      </p:sp>
      <p:sp>
        <p:nvSpPr>
          <p:cNvPr id="13" name="Rounded Rectangle 12"/>
          <p:cNvSpPr/>
          <p:nvPr/>
        </p:nvSpPr>
        <p:spPr>
          <a:xfrm>
            <a:off x="7020294"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3, every kind of customer</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41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segment's economics says what to watch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kinds of customer earn money in four different ways, so each has a different first number.</a:t>
            </a:r>
          </a:p>
        </p:txBody>
      </p:sp>
      <p:pic>
        <p:nvPicPr>
          <p:cNvPr id="9" name="mermaid diagram" descr="5d0485989b9acb2a.png"/>
          <p:cNvPicPr>
            <a:picLocks noChangeAspect="1"/>
          </p:cNvPicPr>
          <p:nvPr/>
        </p:nvPicPr>
        <p:blipFill>
          <a:blip r:embed="rId5"/>
          <a:stretch>
            <a:fillRect/>
          </a:stretch>
        </p:blipFill>
        <p:spPr>
          <a:xfrm>
            <a:off x="530352" y="2207380"/>
            <a:ext cx="4786326" cy="3467367"/>
          </a:xfrm>
          <a:prstGeom prst="rect">
            <a:avLst/>
          </a:prstGeom>
        </p:spPr>
      </p:pic>
      <p:graphicFrame>
        <p:nvGraphicFramePr>
          <p:cNvPr id="10" name="Table 9"/>
          <p:cNvGraphicFramePr>
            <a:graphicFrameLocks noGrp="1"/>
          </p:cNvGraphicFramePr>
          <p:nvPr/>
        </p:nvGraphicFramePr>
        <p:xfrm>
          <a:off x="5761917" y="1956816"/>
          <a:ext cx="5899423" cy="2574544"/>
        </p:xfrm>
        <a:graphic>
          <a:graphicData uri="http://schemas.openxmlformats.org/drawingml/2006/table">
            <a:tbl>
              <a:tblPr firstRow="0" bandRow="0">
                <a:tableStyleId>{2D5ABB26-0587-4C30-8999-92F81FD0307C}</a:tableStyleId>
              </a:tblPr>
              <a:tblGrid>
                <a:gridCol w="1906626"/>
                <a:gridCol w="1839456"/>
                <a:gridCol w="2153341"/>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How it earns</a:t>
                      </a:r>
                    </a:p>
                  </a:txBody>
                  <a:tcPr marL="101600" marR="101600" marT="38100" marB="38100" anchor="ctr">
                    <a:solidFill>
                      <a:srgbClr val="1A0F5C"/>
                    </a:solidFill>
                  </a:tcPr>
                </a:tc>
                <a:tc>
                  <a:txBody>
                    <a:bodyPr/>
                    <a:lstStyle/>
                    <a:p>
                      <a:r>
                        <a:rPr sz="1450" b="1" i="0">
                          <a:solidFill>
                            <a:srgbClr val="FFFFFF"/>
                          </a:solidFill>
                          <a:latin typeface="Calibri"/>
                        </a:rPr>
                        <a:t>Watch first</a:t>
                      </a:r>
                    </a:p>
                  </a:txBody>
                  <a:tcPr marL="101600" marR="101600" marT="38100" marB="38100" anchor="ctr">
                    <a:solidFill>
                      <a:srgbClr val="1A0F5C"/>
                    </a:solidFill>
                  </a:tcPr>
                </a:tc>
              </a:tr>
              <a:tr h="369824">
                <a:tc>
                  <a:txBody>
                    <a:bodyPr/>
                    <a:lstStyle/>
                    <a:p>
                      <a:r>
                        <a:rPr sz="1400" b="0" i="0">
                          <a:solidFill>
                            <a:srgbClr val="1A1440"/>
                          </a:solidFill>
                          <a:latin typeface="Calibri"/>
                        </a:rPr>
                        <a:t>Retail-Core</a:t>
                      </a:r>
                    </a:p>
                  </a:txBody>
                  <a:tcPr marL="101600" marR="101600" marT="38100" marB="38100" anchor="ctr">
                    <a:solidFill>
                      <a:srgbClr val="FFFFFF"/>
                    </a:solidFill>
                  </a:tcPr>
                </a:tc>
                <a:tc>
                  <a:txBody>
                    <a:bodyPr/>
                    <a:lstStyle/>
                    <a:p>
                      <a:r>
                        <a:rPr sz="1400" b="0" i="0">
                          <a:solidFill>
                            <a:srgbClr val="1A1440"/>
                          </a:solidFill>
                          <a:latin typeface="Calibri"/>
                        </a:rPr>
                        <a:t>Many small orders</a:t>
                      </a:r>
                    </a:p>
                  </a:txBody>
                  <a:tcPr marL="101600" marR="101600" marT="38100" marB="38100" anchor="ctr">
                    <a:solidFill>
                      <a:srgbClr val="FFFFFF"/>
                    </a:solidFill>
                  </a:tcPr>
                </a:tc>
                <a:tc>
                  <a:txBody>
                    <a:bodyPr/>
                    <a:lstStyle/>
                    <a:p>
                      <a:r>
                        <a:rPr sz="1400" b="0" i="0">
                          <a:solidFill>
                            <a:srgbClr val="1A1440"/>
                          </a:solidFill>
                          <a:latin typeface="Calibri"/>
                        </a:rPr>
                        <a:t>Customers active</a:t>
                      </a:r>
                    </a:p>
                  </a:txBody>
                  <a:tcPr marL="101600" marR="101600" marT="38100" marB="38100" anchor="ctr">
                    <a:solidFill>
                      <a:srgbClr val="FFFFFF"/>
                    </a:solidFill>
                  </a:tcPr>
                </a:tc>
              </a:tr>
              <a:tr h="611632">
                <a:tc>
                  <a:txBody>
                    <a:bodyPr/>
                    <a:lstStyle/>
                    <a:p>
                      <a:r>
                        <a:rPr sz="1400" b="0" i="0">
                          <a:solidFill>
                            <a:srgbClr val="1A1440"/>
                          </a:solidFill>
                          <a:latin typeface="Calibri"/>
                        </a:rPr>
                        <a:t>Retail-Plus, the paid tier</a:t>
                      </a:r>
                    </a:p>
                  </a:txBody>
                  <a:tcPr marL="101600" marR="101600" marT="38100" marB="38100" anchor="ctr">
                    <a:solidFill>
                      <a:srgbClr val="F4F2FA"/>
                    </a:solidFill>
                  </a:tcPr>
                </a:tc>
                <a:tc>
                  <a:txBody>
                    <a:bodyPr/>
                    <a:lstStyle/>
                    <a:p>
                      <a:r>
                        <a:rPr sz="1400" b="0" i="0">
                          <a:solidFill>
                            <a:srgbClr val="1A1440"/>
                          </a:solidFill>
                          <a:latin typeface="Calibri"/>
                        </a:rPr>
                        <a:t>Members' repeat buying</a:t>
                      </a:r>
                    </a:p>
                  </a:txBody>
                  <a:tcPr marL="101600" marR="101600" marT="38100" marB="38100" anchor="ctr">
                    <a:solidFill>
                      <a:srgbClr val="F4F2FA"/>
                    </a:solidFill>
                  </a:tcPr>
                </a:tc>
                <a:tc>
                  <a:txBody>
                    <a:bodyPr/>
                    <a:lstStyle/>
                    <a:p>
                      <a:r>
                        <a:rPr sz="1400" b="0" i="0">
                          <a:solidFill>
                            <a:srgbClr val="1A1440"/>
                          </a:solidFill>
                          <a:latin typeface="Calibri"/>
                        </a:rPr>
                        <a:t>Orders per member</a:t>
                      </a:r>
                    </a:p>
                  </a:txBody>
                  <a:tcPr marL="101600" marR="101600" marT="38100" marB="38100" anchor="ctr">
                    <a:solidFill>
                      <a:srgbClr val="F4F2FA"/>
                    </a:solidFill>
                  </a:tcPr>
                </a:tc>
              </a:tr>
              <a:tr h="611632">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Few very large accounts</a:t>
                      </a:r>
                    </a:p>
                  </a:txBody>
                  <a:tcPr marL="101600" marR="101600" marT="38100" marB="38100" anchor="ctr">
                    <a:solidFill>
                      <a:srgbClr val="FFFFFF"/>
                    </a:solidFill>
                  </a:tcPr>
                </a:tc>
                <a:tc>
                  <a:txBody>
                    <a:bodyPr/>
                    <a:lstStyle/>
                    <a:p>
                      <a:r>
                        <a:rPr sz="1400" b="0" i="0">
                          <a:solidFill>
                            <a:srgbClr val="1A1440"/>
                          </a:solidFill>
                          <a:latin typeface="Calibri"/>
                        </a:rPr>
                        <a:t>Order timing per account</a:t>
                      </a:r>
                    </a:p>
                  </a:txBody>
                  <a:tcPr marL="101600" marR="101600" marT="38100" marB="38100" anchor="ctr">
                    <a:solidFill>
                      <a:srgbClr val="FFFFFF"/>
                    </a:solidFill>
                  </a:tcPr>
                </a:tc>
              </a:tr>
              <a:tr h="611632">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Small baskets, few buyers</a:t>
                      </a:r>
                    </a:p>
                  </a:txBody>
                  <a:tcPr marL="101600" marR="101600" marT="38100" marB="38100" anchor="ctr">
                    <a:solidFill>
                      <a:srgbClr val="F4F2FA"/>
                    </a:solidFill>
                  </a:tcPr>
                </a:tc>
                <a:tc>
                  <a:txBody>
                    <a:bodyPr/>
                    <a:lstStyle/>
                    <a:p>
                      <a:r>
                        <a:rPr sz="1400" b="0" i="0">
                          <a:solidFill>
                            <a:srgbClr val="1A1440"/>
                          </a:solidFill>
                          <a:latin typeface="Calibri"/>
                        </a:rPr>
                        <a:t>How many orders a figure rests on</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3" name="Oval 12"/>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15" name="Oval 14"/>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17" name="Oval 16"/>
          <p:cNvSpPr/>
          <p:nvPr/>
        </p:nvSpPr>
        <p:spPr>
          <a:xfrm>
            <a:off x="591331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023038"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Round 3, every kind of customer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32 / 41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tree_for is a metric definition, written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function holds the day's definitions, so every segment and quarter gets the same ones.</a:t>
            </a:r>
          </a:p>
        </p:txBody>
      </p:sp>
      <p:sp>
        <p:nvSpPr>
          <p:cNvPr id="9" name="Rounded Rectangle 8"/>
          <p:cNvSpPr/>
          <p:nvPr/>
        </p:nvSpPr>
        <p:spPr>
          <a:xfrm>
            <a:off x="530352" y="1956816"/>
            <a:ext cx="11130991"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tree_for(rows):</a:t>
            </a:r>
          </a:p>
          <a:p>
            <a:pPr>
              <a:spcAft>
                <a:spcPts val="200"/>
              </a:spcAft>
            </a:pPr>
            <a:r>
              <a:rPr sz="1400" b="0" i="0">
                <a:solidFill>
                  <a:srgbClr val="E4E1F1"/>
                </a:solidFill>
                <a:latin typeface="Consolas"/>
              </a:rPr>
              <a:t>    """Revenue, orders, customers and the two rates for any group of orders."""</a:t>
            </a:r>
          </a:p>
          <a:p>
            <a:pPr>
              <a:spcAft>
                <a:spcPts val="200"/>
              </a:spcAft>
            </a:pPr>
            <a:r>
              <a:rPr sz="1400" b="0" i="0">
                <a:solidFill>
                  <a:srgbClr val="E4E1F1"/>
                </a:solidFill>
                <a:latin typeface="Consolas"/>
              </a:rPr>
              <a:t>    revenue, seen = 0, {}</a:t>
            </a:r>
          </a:p>
          <a:p>
            <a:pPr>
              <a:spcAft>
                <a:spcPts val="200"/>
              </a:spcAft>
            </a:pPr>
            <a:r>
              <a:rPr sz="1400" b="0" i="0">
                <a:solidFill>
                  <a:srgbClr val="E4E1F1"/>
                </a:solidFill>
                <a:latin typeface="Consolas"/>
              </a:rPr>
              <a:t>    for order in rows:</a:t>
            </a:r>
          </a:p>
          <a:p>
            <a:pPr>
              <a:spcAft>
                <a:spcPts val="200"/>
              </a:spcAft>
            </a:pPr>
            <a:r>
              <a:rPr sz="1400" b="0" i="0">
                <a:solidFill>
                  <a:srgbClr val="E4E1F1"/>
                </a:solidFill>
                <a:latin typeface="Consolas"/>
              </a:rPr>
              <a:t>        revenue += order["amount"]</a:t>
            </a:r>
          </a:p>
          <a:p>
            <a:pPr>
              <a:spcAft>
                <a:spcPts val="200"/>
              </a:spcAft>
            </a:pPr>
            <a:r>
              <a:rPr sz="1400" b="0" i="0">
                <a:solidFill>
                  <a:srgbClr val="E4E1F1"/>
                </a:solidFill>
                <a:latin typeface="Consolas"/>
              </a:rPr>
              <a:t>        seen[order["customer_id"]] = True</a:t>
            </a:r>
          </a:p>
          <a:p>
            <a:pPr>
              <a:spcAft>
                <a:spcPts val="200"/>
              </a:spcAft>
            </a:pPr>
            <a:r>
              <a:rPr sz="1400" b="0" i="0">
                <a:solidFill>
                  <a:srgbClr val="E4E1F1"/>
                </a:solidFill>
                <a:latin typeface="Consolas"/>
              </a:rPr>
              <a:t>    return {"revenue": revenue, "orders": len(rows), "customers": len(seen),</a:t>
            </a:r>
          </a:p>
          <a:p>
            <a:pPr>
              <a:spcAft>
                <a:spcPts val="200"/>
              </a:spcAft>
            </a:pPr>
            <a:r>
              <a:rPr sz="1400" b="0" i="0">
                <a:solidFill>
                  <a:srgbClr val="E4E1F1"/>
                </a:solidFill>
                <a:latin typeface="Consolas"/>
              </a:rPr>
              <a:t>            "orders_per_customer": len(rows) / len(seen),</a:t>
            </a:r>
          </a:p>
          <a:p>
            <a:pPr>
              <a:spcAft>
                <a:spcPts val="200"/>
              </a:spcAft>
            </a:pPr>
            <a:r>
              <a:rPr sz="1400" b="0" i="0">
                <a:solidFill>
                  <a:srgbClr val="E4E1F1"/>
                </a:solidFill>
                <a:latin typeface="Consolas"/>
              </a:rPr>
              <a:t>            "revenue_per_order": revenue / len(rows)}</a:t>
            </a:r>
          </a:p>
        </p:txBody>
      </p:sp>
      <p:sp>
        <p:nvSpPr>
          <p:cNvPr id="14" name="Rounded Rectangle 13"/>
          <p:cNvSpPr/>
          <p:nvPr/>
        </p:nvSpPr>
        <p:spPr>
          <a:xfrm>
            <a:off x="530352" y="48508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9789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969764"/>
            <a:ext cx="10564063" cy="624840"/>
          </a:xfrm>
          <a:prstGeom prst="rect">
            <a:avLst/>
          </a:prstGeom>
          <a:noFill/>
        </p:spPr>
        <p:txBody>
          <a:bodyPr wrap="square" anchor="ctr" lIns="0" rIns="0" tIns="0" bIns="0">
            <a:spAutoFit/>
          </a:bodyPr>
          <a:lstStyle/>
          <a:p>
            <a:r>
              <a:rPr sz="1500" b="1">
                <a:solidFill>
                  <a:srgbClr val="5B3FD6"/>
                </a:solidFill>
                <a:latin typeface="Calibri"/>
              </a:rPr>
              <a:t>Test it where the answer is known. </a:t>
            </a:r>
            <a:r>
              <a:rPr sz="1500" b="0" i="0">
                <a:solidFill>
                  <a:srgbClr val="1A1440"/>
                </a:solidFill>
                <a:latin typeface="Calibri"/>
              </a:rPr>
              <a:t>On all of Q1 it returns 114 orders, 69 customers and 1.65; on all of Q2, 86, 69 and 1.25: round 2, reproduced.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9" name="Oval 18"/>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21" name="Oval 20"/>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23" name="Oval 22"/>
          <p:cNvSpPr/>
          <p:nvPr/>
        </p:nvSpPr>
        <p:spPr>
          <a:xfrm>
            <a:off x="591331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23038"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Round 3, every kind of customer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33 / 41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function that prints hands back None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Printing shows a number to you; returning hands it to the next line of code.</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orders_per_customer(rows):</a:t>
            </a:r>
          </a:p>
          <a:p>
            <a:pPr>
              <a:spcAft>
                <a:spcPts val="200"/>
              </a:spcAft>
            </a:pPr>
            <a:r>
              <a:rPr sz="1400" b="0" i="0">
                <a:solidFill>
                  <a:srgbClr val="E4E1F1"/>
                </a:solidFill>
                <a:latin typeface="Consolas"/>
              </a:rPr>
              <a:t>    print(len(rows) / tree_for(rows)["customers"])</a:t>
            </a:r>
          </a:p>
          <a:p>
            <a:pPr>
              <a:spcAft>
                <a:spcPts val="200"/>
              </a:spcAft>
            </a:pPr>
          </a:p>
          <a:p>
            <a:pPr>
              <a:spcAft>
                <a:spcPts val="200"/>
              </a:spcAft>
            </a:pPr>
            <a:r>
              <a:rPr sz="1400" b="0" i="0">
                <a:solidFill>
                  <a:srgbClr val="E4E1F1"/>
                </a:solidFill>
                <a:latin typeface="Consolas"/>
              </a:rPr>
              <a:t>result = orders_per_customer(q1_rows)   # prints 1.6521739130434783</a:t>
            </a:r>
          </a:p>
          <a:p>
            <a:pPr>
              <a:spcAft>
                <a:spcPts val="200"/>
              </a:spcAft>
            </a:pPr>
            <a:r>
              <a:rPr sz="1400" b="0" i="0">
                <a:solidFill>
                  <a:srgbClr val="E4E1F1"/>
                </a:solidFill>
                <a:latin typeface="Consolas"/>
              </a:rPr>
              <a:t>print(result)                           # None</a:t>
            </a:r>
          </a:p>
        </p:txBody>
      </p:sp>
      <p:pic>
        <p:nvPicPr>
          <p:cNvPr id="14" name="mermaid diagram" descr="5cbafe7bb4333d34.png"/>
          <p:cNvPicPr>
            <a:picLocks noChangeAspect="1"/>
          </p:cNvPicPr>
          <p:nvPr/>
        </p:nvPicPr>
        <p:blipFill>
          <a:blip r:embed="rId5"/>
          <a:stretch>
            <a:fillRect/>
          </a:stretch>
        </p:blipFill>
        <p:spPr>
          <a:xfrm>
            <a:off x="4324197" y="3840988"/>
            <a:ext cx="3543300" cy="180022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7" name="Oval 16"/>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19" name="Oval 18"/>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21" name="Oval 20"/>
          <p:cNvSpPr/>
          <p:nvPr/>
        </p:nvSpPr>
        <p:spPr>
          <a:xfrm>
            <a:off x="591331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23038"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Round 3, every kind of customer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34 / 41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describe gives a group its typical value and spread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median, the smallest, the largest and the range, returned together, because one number never describes a group.</a:t>
            </a:r>
          </a:p>
        </p:txBody>
      </p:sp>
      <p:sp>
        <p:nvSpPr>
          <p:cNvPr id="9" name="Rounded Rectangle 8"/>
          <p:cNvSpPr/>
          <p:nvPr/>
        </p:nvSpPr>
        <p:spPr>
          <a:xfrm>
            <a:off x="530352" y="1956816"/>
            <a:ext cx="11130991" cy="298196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57962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describe(amounts):</a:t>
            </a:r>
          </a:p>
          <a:p>
            <a:pPr>
              <a:spcAft>
                <a:spcPts val="200"/>
              </a:spcAft>
            </a:pPr>
            <a:r>
              <a:rPr sz="1400" b="0" i="0">
                <a:solidFill>
                  <a:srgbClr val="E4E1F1"/>
                </a:solidFill>
                <a:latin typeface="Consolas"/>
              </a:rPr>
              <a:t>    """A group's typical value and spread: median, min, max and range."""</a:t>
            </a:r>
          </a:p>
          <a:p>
            <a:pPr>
              <a:spcAft>
                <a:spcPts val="200"/>
              </a:spcAft>
            </a:pPr>
            <a:r>
              <a:rPr sz="1400" b="0" i="0">
                <a:solidFill>
                  <a:srgbClr val="E4E1F1"/>
                </a:solidFill>
                <a:latin typeface="Consolas"/>
              </a:rPr>
              <a:t>    ordered = sorted(amounts)</a:t>
            </a:r>
          </a:p>
          <a:p>
            <a:pPr>
              <a:spcAft>
                <a:spcPts val="200"/>
              </a:spcAft>
            </a:pPr>
            <a:r>
              <a:rPr sz="1400" b="0" i="0">
                <a:solidFill>
                  <a:srgbClr val="E4E1F1"/>
                </a:solidFill>
                <a:latin typeface="Consolas"/>
              </a:rPr>
              <a:t>    n = len(ordered)</a:t>
            </a:r>
          </a:p>
          <a:p>
            <a:pPr>
              <a:spcAft>
                <a:spcPts val="200"/>
              </a:spcAft>
            </a:pPr>
            <a:r>
              <a:rPr sz="1400" b="0" i="0">
                <a:solidFill>
                  <a:srgbClr val="E4E1F1"/>
                </a:solidFill>
                <a:latin typeface="Consolas"/>
              </a:rPr>
              <a:t>    if n % 2 == 1:</a:t>
            </a:r>
          </a:p>
          <a:p>
            <a:pPr>
              <a:spcAft>
                <a:spcPts val="200"/>
              </a:spcAft>
            </a:pPr>
            <a:r>
              <a:rPr sz="1400" b="0" i="0">
                <a:solidFill>
                  <a:srgbClr val="E4E1F1"/>
                </a:solidFill>
                <a:latin typeface="Consolas"/>
              </a:rPr>
              <a:t>        median = ordered[n // 2]</a:t>
            </a:r>
          </a:p>
          <a:p>
            <a:pPr>
              <a:spcAft>
                <a:spcPts val="200"/>
              </a:spcAft>
            </a:pPr>
            <a:r>
              <a:rPr sz="1400" b="0" i="0">
                <a:solidFill>
                  <a:srgbClr val="E4E1F1"/>
                </a:solidFill>
                <a:latin typeface="Consolas"/>
              </a:rPr>
              <a:t>    else:</a:t>
            </a:r>
          </a:p>
          <a:p>
            <a:pPr>
              <a:spcAft>
                <a:spcPts val="200"/>
              </a:spcAft>
            </a:pPr>
            <a:r>
              <a:rPr sz="1400" b="0" i="0">
                <a:solidFill>
                  <a:srgbClr val="E4E1F1"/>
                </a:solidFill>
                <a:latin typeface="Consolas"/>
              </a:rPr>
              <a:t>        median = (ordered[n // 2 - 1] + ordered[n // 2]) / 2</a:t>
            </a:r>
          </a:p>
          <a:p>
            <a:pPr>
              <a:spcAft>
                <a:spcPts val="200"/>
              </a:spcAft>
            </a:pPr>
            <a:r>
              <a:rPr sz="1400" b="0" i="0">
                <a:solidFill>
                  <a:srgbClr val="E4E1F1"/>
                </a:solidFill>
                <a:latin typeface="Consolas"/>
              </a:rPr>
              <a:t>    return {"median": median, "min": ordered[0], "max": ordered[-1],</a:t>
            </a:r>
          </a:p>
          <a:p>
            <a:pPr>
              <a:spcAft>
                <a:spcPts val="200"/>
              </a:spcAft>
            </a:pPr>
            <a:r>
              <a:rPr sz="1400" b="0" i="0">
                <a:solidFill>
                  <a:srgbClr val="E4E1F1"/>
                </a:solidFill>
                <a:latin typeface="Consolas"/>
              </a:rPr>
              <a:t>            "range": ordered[-1] - ordered[0]}</a:t>
            </a:r>
          </a:p>
        </p:txBody>
      </p:sp>
      <p:sp>
        <p:nvSpPr>
          <p:cNvPr id="14" name="Rounded Rectangle 13"/>
          <p:cNvSpPr/>
          <p:nvPr/>
        </p:nvSpPr>
        <p:spPr>
          <a:xfrm>
            <a:off x="530352" y="51033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52313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5222239"/>
            <a:ext cx="10564063" cy="624840"/>
          </a:xfrm>
          <a:prstGeom prst="rect">
            <a:avLst/>
          </a:prstGeom>
          <a:noFill/>
        </p:spPr>
        <p:txBody>
          <a:bodyPr wrap="square" anchor="ctr" lIns="0" rIns="0" tIns="0" bIns="0">
            <a:spAutoFit/>
          </a:bodyPr>
          <a:lstStyle/>
          <a:p>
            <a:r>
              <a:rPr sz="1500" b="1">
                <a:solidFill>
                  <a:srgbClr val="5B3FD6"/>
                </a:solidFill>
                <a:latin typeface="Calibri"/>
              </a:rPr>
              <a:t>Why these. </a:t>
            </a:r>
            <a:r>
              <a:rPr sz="1500" b="0" i="0">
                <a:solidFill>
                  <a:srgbClr val="1A1440"/>
                </a:solidFill>
                <a:latin typeface="Calibri"/>
              </a:rPr>
              <a:t>The median needs half the orders to move before it moves; the range is made of the two extremes and nothing else. Between them sits the middle half of the sorted orders, the spread a Finance team trusts.</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9" name="Oval 18"/>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21" name="Oval 20"/>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23" name="Oval 22"/>
          <p:cNvSpPr/>
          <p:nvPr/>
        </p:nvSpPr>
        <p:spPr>
          <a:xfrm>
            <a:off x="591331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23038"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Round 3, every kind of customer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35 / 41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did Business orders look like in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Q1's median Business order was Rs 9,83,780, with a range of Rs 15,80,940.</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9,83,780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MEDIAN</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Business, 20 orders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15,80,940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RANGE</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2,03,060 to Rs 17,84,000</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8,02,750</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MIDDLE HALF</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between the quartiles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describe for Business in Q2: a) median, range and middle half all fall; b) the median barely moves, the range jumps and the middle half moves a little; c) the median doubles; d) nothing changes.</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26" name="Oval 25"/>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28" name="Oval 27"/>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30" name="Oval 29"/>
          <p:cNvSpPr/>
          <p:nvPr/>
        </p:nvSpPr>
        <p:spPr>
          <a:xfrm>
            <a:off x="591331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23038"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Round 3, every kind of customer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36 / 41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one order stretched the range; the middle held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typical Business order barely changed; one large order stretched the extremes.</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2366548"/>
                <a:gridCol w="2066655"/>
                <a:gridCol w="2264584"/>
                <a:gridCol w="2216601"/>
                <a:gridCol w="2216601"/>
              </a:tblGrid>
              <a:tr h="335280">
                <a:tc>
                  <a:txBody>
                    <a:bodyPr/>
                    <a:lstStyle/>
                    <a:p>
                      <a:r>
                        <a:rPr sz="1250" b="1" i="0">
                          <a:solidFill>
                            <a:srgbClr val="FFFFFF"/>
                          </a:solidFill>
                          <a:latin typeface="Calibri"/>
                        </a:rPr>
                        <a:t>Business</a:t>
                      </a:r>
                    </a:p>
                  </a:txBody>
                  <a:tcPr marL="101600" marR="101600" marT="38100" marB="38100" anchor="ctr">
                    <a:solidFill>
                      <a:srgbClr val="1A0F5C"/>
                    </a:solidFill>
                  </a:tcPr>
                </a:tc>
                <a:tc>
                  <a:txBody>
                    <a:bodyPr/>
                    <a:lstStyle/>
                    <a:p>
                      <a:r>
                        <a:rPr sz="1250" b="1" i="0">
                          <a:solidFill>
                            <a:srgbClr val="FFFFFF"/>
                          </a:solidFill>
                          <a:latin typeface="Calibri"/>
                        </a:rPr>
                        <a:t>Median</a:t>
                      </a:r>
                    </a:p>
                  </a:txBody>
                  <a:tcPr marL="101600" marR="101600" marT="38100" marB="38100" anchor="ctr">
                    <a:solidFill>
                      <a:srgbClr val="1A0F5C"/>
                    </a:solidFill>
                  </a:tcPr>
                </a:tc>
                <a:tc>
                  <a:txBody>
                    <a:bodyPr/>
                    <a:lstStyle/>
                    <a:p>
                      <a:r>
                        <a:rPr sz="1250" b="1" i="0">
                          <a:solidFill>
                            <a:srgbClr val="FFFFFF"/>
                          </a:solidFill>
                          <a:latin typeface="Calibri"/>
                        </a:rPr>
                        <a:t>Middle half</a:t>
                      </a:r>
                    </a:p>
                  </a:txBody>
                  <a:tcPr marL="101600" marR="101600" marT="38100" marB="38100" anchor="ctr">
                    <a:solidFill>
                      <a:srgbClr val="1A0F5C"/>
                    </a:solidFill>
                  </a:tcPr>
                </a:tc>
                <a:tc>
                  <a:txBody>
                    <a:bodyPr/>
                    <a:lstStyle/>
                    <a:p>
                      <a:r>
                        <a:rPr sz="1250" b="1" i="0">
                          <a:solidFill>
                            <a:srgbClr val="FFFFFF"/>
                          </a:solidFill>
                          <a:latin typeface="Calibri"/>
                        </a:rPr>
                        <a:t>Range</a:t>
                      </a:r>
                    </a:p>
                  </a:txBody>
                  <a:tcPr marL="101600" marR="101600" marT="38100" marB="38100" anchor="ctr">
                    <a:solidFill>
                      <a:srgbClr val="1A0F5C"/>
                    </a:solidFill>
                  </a:tcPr>
                </a:tc>
                <a:tc>
                  <a:txBody>
                    <a:bodyPr/>
                    <a:lstStyle/>
                    <a:p>
                      <a:r>
                        <a:rPr sz="1250" b="1" i="0">
                          <a:solidFill>
                            <a:srgbClr val="FFFFFF"/>
                          </a:solidFill>
                          <a:latin typeface="Calibri"/>
                        </a:rPr>
                        <a:t>Mean</a:t>
                      </a:r>
                    </a:p>
                  </a:txBody>
                  <a:tcPr marL="101600" marR="101600" marT="38100" marB="38100" anchor="ctr">
                    <a:solidFill>
                      <a:srgbClr val="1A0F5C"/>
                    </a:solidFill>
                  </a:tcPr>
                </a:tc>
              </a:tr>
              <a:tr h="335280">
                <a:tc>
                  <a:txBody>
                    <a:bodyPr/>
                    <a:lstStyle/>
                    <a:p>
                      <a:r>
                        <a:rPr sz="1200" b="0" i="0">
                          <a:solidFill>
                            <a:srgbClr val="1A1440"/>
                          </a:solidFill>
                          <a:latin typeface="Calibri"/>
                        </a:rPr>
                        <a:t>Q1, 20 orders</a:t>
                      </a:r>
                    </a:p>
                  </a:txBody>
                  <a:tcPr marL="101600" marR="101600" marT="38100" marB="38100" anchor="ctr">
                    <a:solidFill>
                      <a:srgbClr val="FFFFFF"/>
                    </a:solidFill>
                  </a:tcPr>
                </a:tc>
                <a:tc>
                  <a:txBody>
                    <a:bodyPr/>
                    <a:lstStyle/>
                    <a:p>
                      <a:r>
                        <a:rPr sz="1200" b="0" i="0">
                          <a:solidFill>
                            <a:srgbClr val="1A1440"/>
                          </a:solidFill>
                          <a:latin typeface="Calibri"/>
                        </a:rPr>
                        <a:t>Rs 9,83,780</a:t>
                      </a:r>
                    </a:p>
                  </a:txBody>
                  <a:tcPr marL="101600" marR="101600" marT="38100" marB="38100" anchor="ctr">
                    <a:solidFill>
                      <a:srgbClr val="FFFFFF"/>
                    </a:solidFill>
                  </a:tcPr>
                </a:tc>
                <a:tc>
                  <a:txBody>
                    <a:bodyPr/>
                    <a:lstStyle/>
                    <a:p>
                      <a:r>
                        <a:rPr sz="1200" b="0" i="0">
                          <a:solidFill>
                            <a:srgbClr val="1A1440"/>
                          </a:solidFill>
                          <a:latin typeface="Calibri"/>
                        </a:rPr>
                        <a:t>Rs 8,02,750</a:t>
                      </a:r>
                    </a:p>
                  </a:txBody>
                  <a:tcPr marL="101600" marR="101600" marT="38100" marB="38100" anchor="ctr">
                    <a:solidFill>
                      <a:srgbClr val="FFFFFF"/>
                    </a:solidFill>
                  </a:tcPr>
                </a:tc>
                <a:tc>
                  <a:txBody>
                    <a:bodyPr/>
                    <a:lstStyle/>
                    <a:p>
                      <a:r>
                        <a:rPr sz="1200" b="0" i="0">
                          <a:solidFill>
                            <a:srgbClr val="1A1440"/>
                          </a:solidFill>
                          <a:latin typeface="Calibri"/>
                        </a:rPr>
                        <a:t>Rs 15,80,940</a:t>
                      </a:r>
                    </a:p>
                  </a:txBody>
                  <a:tcPr marL="101600" marR="101600" marT="38100" marB="38100" anchor="ctr">
                    <a:solidFill>
                      <a:srgbClr val="FFFFFF"/>
                    </a:solidFill>
                  </a:tcPr>
                </a:tc>
                <a:tc>
                  <a:txBody>
                    <a:bodyPr/>
                    <a:lstStyle/>
                    <a:p>
                      <a:r>
                        <a:rPr sz="1200" b="0" i="0">
                          <a:solidFill>
                            <a:srgbClr val="1A1440"/>
                          </a:solidFill>
                          <a:latin typeface="Calibri"/>
                        </a:rPr>
                        <a:t>Rs 10,38,559</a:t>
                      </a:r>
                    </a:p>
                  </a:txBody>
                  <a:tcPr marL="101600" marR="101600" marT="38100" marB="38100" anchor="ctr">
                    <a:solidFill>
                      <a:srgbClr val="FFFFFF"/>
                    </a:solidFill>
                  </a:tcPr>
                </a:tc>
              </a:tr>
              <a:tr h="335280">
                <a:tc>
                  <a:txBody>
                    <a:bodyPr/>
                    <a:lstStyle/>
                    <a:p>
                      <a:r>
                        <a:rPr sz="1200" b="0" i="0">
                          <a:solidFill>
                            <a:srgbClr val="1A1440"/>
                          </a:solidFill>
                          <a:latin typeface="Calibri"/>
                        </a:rPr>
                        <a:t>Q2, 17 orders</a:t>
                      </a:r>
                    </a:p>
                  </a:txBody>
                  <a:tcPr marL="101600" marR="101600" marT="38100" marB="38100" anchor="ctr">
                    <a:solidFill>
                      <a:srgbClr val="F4F2FA"/>
                    </a:solidFill>
                  </a:tcPr>
                </a:tc>
                <a:tc>
                  <a:txBody>
                    <a:bodyPr/>
                    <a:lstStyle/>
                    <a:p>
                      <a:r>
                        <a:rPr sz="1200" b="0" i="0">
                          <a:solidFill>
                            <a:srgbClr val="1A1440"/>
                          </a:solidFill>
                          <a:latin typeface="Calibri"/>
                        </a:rPr>
                        <a:t>Rs 9,52,000</a:t>
                      </a:r>
                    </a:p>
                  </a:txBody>
                  <a:tcPr marL="101600" marR="101600" marT="38100" marB="38100" anchor="ctr">
                    <a:solidFill>
                      <a:srgbClr val="F4F2FA"/>
                    </a:solidFill>
                  </a:tcPr>
                </a:tc>
                <a:tc>
                  <a:txBody>
                    <a:bodyPr/>
                    <a:lstStyle/>
                    <a:p>
                      <a:r>
                        <a:rPr sz="1200" b="0" i="0">
                          <a:solidFill>
                            <a:srgbClr val="1A1440"/>
                          </a:solidFill>
                          <a:latin typeface="Calibri"/>
                        </a:rPr>
                        <a:t>Rs 9,08,000</a:t>
                      </a:r>
                    </a:p>
                  </a:txBody>
                  <a:tcPr marL="101600" marR="101600" marT="38100" marB="38100" anchor="ctr">
                    <a:solidFill>
                      <a:srgbClr val="F4F2FA"/>
                    </a:solidFill>
                  </a:tcPr>
                </a:tc>
                <a:tc>
                  <a:txBody>
                    <a:bodyPr/>
                    <a:lstStyle/>
                    <a:p>
                      <a:r>
                        <a:rPr sz="1200" b="0" i="0">
                          <a:solidFill>
                            <a:srgbClr val="1A1440"/>
                          </a:solidFill>
                          <a:latin typeface="Calibri"/>
                        </a:rPr>
                        <a:t>Rs 27,28,460</a:t>
                      </a:r>
                    </a:p>
                  </a:txBody>
                  <a:tcPr marL="101600" marR="101600" marT="38100" marB="38100" anchor="ctr">
                    <a:solidFill>
                      <a:srgbClr val="F4F2FA"/>
                    </a:solidFill>
                  </a:tcPr>
                </a:tc>
                <a:tc>
                  <a:txBody>
                    <a:bodyPr/>
                    <a:lstStyle/>
                    <a:p>
                      <a:r>
                        <a:rPr sz="1200" b="0" i="0">
                          <a:solidFill>
                            <a:srgbClr val="1A1440"/>
                          </a:solidFill>
                          <a:latin typeface="Calibri"/>
                        </a:rPr>
                        <a:t>Rs 10,90,674</a:t>
                      </a:r>
                    </a:p>
                  </a:txBody>
                  <a:tcPr marL="101600" marR="101600" marT="38100" marB="38100" anchor="ctr">
                    <a:solidFill>
                      <a:srgbClr val="F4F2FA"/>
                    </a:solidFill>
                  </a:tcPr>
                </a:tc>
              </a:tr>
              <a:tr h="335280">
                <a:tc>
                  <a:txBody>
                    <a:bodyPr/>
                    <a:lstStyle/>
                    <a:p>
                      <a:r>
                        <a:rPr sz="1200" b="0" i="0">
                          <a:solidFill>
                            <a:srgbClr val="1A1440"/>
                          </a:solidFill>
                          <a:latin typeface="Calibri"/>
                        </a:rPr>
                        <a:t>Change</a:t>
                      </a:r>
                    </a:p>
                  </a:txBody>
                  <a:tcPr marL="101600" marR="101600" marT="38100" marB="38100" anchor="ctr">
                    <a:solidFill>
                      <a:srgbClr val="FFFFFF"/>
                    </a:solidFill>
                  </a:tcPr>
                </a:tc>
                <a:tc>
                  <a:txBody>
                    <a:bodyPr/>
                    <a:lstStyle/>
                    <a:p>
                      <a:r>
                        <a:rPr sz="1200" b="0" i="0">
                          <a:solidFill>
                            <a:srgbClr val="1A1440"/>
                          </a:solidFill>
                          <a:latin typeface="Calibri"/>
                        </a:rPr>
                        <a:t>-3.2%</a:t>
                      </a:r>
                    </a:p>
                  </a:txBody>
                  <a:tcPr marL="101600" marR="101600" marT="38100" marB="38100" anchor="ctr">
                    <a:solidFill>
                      <a:srgbClr val="FFFFFF"/>
                    </a:solidFill>
                  </a:tcPr>
                </a:tc>
                <a:tc>
                  <a:txBody>
                    <a:bodyPr/>
                    <a:lstStyle/>
                    <a:p>
                      <a:r>
                        <a:rPr sz="1200" b="0" i="0">
                          <a:solidFill>
                            <a:srgbClr val="1A1440"/>
                          </a:solidFill>
                          <a:latin typeface="Calibri"/>
                        </a:rPr>
                        <a:t>+13.1%</a:t>
                      </a:r>
                    </a:p>
                  </a:txBody>
                  <a:tcPr marL="101600" marR="101600" marT="38100" marB="38100" anchor="ctr">
                    <a:solidFill>
                      <a:srgbClr val="FFFFFF"/>
                    </a:solidFill>
                  </a:tcPr>
                </a:tc>
                <a:tc>
                  <a:txBody>
                    <a:bodyPr/>
                    <a:lstStyle/>
                    <a:p>
                      <a:r>
                        <a:rPr sz="1200" b="0" i="0">
                          <a:solidFill>
                            <a:srgbClr val="1A1440"/>
                          </a:solidFill>
                          <a:latin typeface="Calibri"/>
                        </a:rPr>
                        <a:t>+72.6%</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The answer is b. One order of Rs 29,45,460 lifts Q2's mean by Rs 1,15,924 and moves the median by Rs 44,500; the Business story is fewer orders of the usual size, and one outsized order to name.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5" name="Oval 14"/>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17" name="Oval 16"/>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19" name="Oval 18"/>
          <p:cNvSpPr/>
          <p:nvPr/>
        </p:nvSpPr>
        <p:spPr>
          <a:xfrm>
            <a:off x="591331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23038"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Round 3, every kind of customer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37 / 41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answer: frequency fell only 6.0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Averaging the four segments' orders per customer gives a softer story and a different decision.</a:t>
            </a:r>
          </a:p>
        </p:txBody>
      </p:sp>
      <p:pic>
        <p:nvPicPr>
          <p:cNvPr id="9" name="mermaid diagram" descr="d36382270481ac5e.png"/>
          <p:cNvPicPr>
            <a:picLocks noChangeAspect="1"/>
          </p:cNvPicPr>
          <p:nvPr/>
        </p:nvPicPr>
        <p:blipFill>
          <a:blip r:embed="rId6"/>
          <a:stretch>
            <a:fillRect/>
          </a:stretch>
        </p:blipFill>
        <p:spPr>
          <a:xfrm>
            <a:off x="2892399" y="1664208"/>
            <a:ext cx="6406895"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Averaged, the four segments say 1.94 to 1.82, a fall of 6.0 percent: "frequency is not the branch, so Marketing may be right after all", and the Rs 12 crore goes back on the table.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7" name="Oval 16"/>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19" name="Oval 18"/>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21" name="Oval 20"/>
          <p:cNvSpPr/>
          <p:nvPr/>
        </p:nvSpPr>
        <p:spPr>
          <a:xfrm>
            <a:off x="591331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23038"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Round 3, every kind of customer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38 / 41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 ratio of totals, never a mean of ratios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segment's rate carries its own denominator, and the roll-up must carry it too.</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5028018"/>
                <a:gridCol w="1807398"/>
                <a:gridCol w="3381174"/>
                <a:gridCol w="914400"/>
              </a:tblGrid>
              <a:tr h="335280">
                <a:tc>
                  <a:txBody>
                    <a:bodyPr/>
                    <a:lstStyle/>
                    <a:p>
                      <a:r>
                        <a:rPr sz="1250" b="1" i="0">
                          <a:solidFill>
                            <a:srgbClr val="FFFFFF"/>
                          </a:solidFill>
                          <a:latin typeface="Calibri"/>
                        </a:rPr>
                        <a:t>Invented group</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r>
              <a:tr h="335280">
                <a:tc>
                  <a:txBody>
                    <a:bodyPr/>
                    <a:lstStyle/>
                    <a:p>
                      <a:r>
                        <a:rPr sz="1200" b="0" i="0">
                          <a:solidFill>
                            <a:srgbClr val="1A1440"/>
                          </a:solidFill>
                          <a:latin typeface="Calibri"/>
                        </a:rPr>
                        <a:t>Large</a:t>
                      </a:r>
                    </a:p>
                  </a:txBody>
                  <a:tcPr marL="101600" marR="101600" marT="38100" marB="38100" anchor="ctr">
                    <a:solidFill>
                      <a:srgbClr val="FFFFFF"/>
                    </a:solidFill>
                  </a:tcPr>
                </a:tc>
                <a:tc>
                  <a:txBody>
                    <a:bodyPr/>
                    <a:lstStyle/>
                    <a:p>
                      <a:r>
                        <a:rPr sz="1200" b="0" i="0">
                          <a:solidFill>
                            <a:srgbClr val="1A1440"/>
                          </a:solidFill>
                          <a:latin typeface="Calibri"/>
                        </a:rPr>
                        <a:t>30</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33</a:t>
                      </a:r>
                    </a:p>
                  </a:txBody>
                  <a:tcPr marL="101600" marR="101600" marT="38100" marB="38100" anchor="ctr">
                    <a:solidFill>
                      <a:srgbClr val="FFFFFF"/>
                    </a:solidFill>
                  </a:tcPr>
                </a:tc>
              </a:tr>
              <a:tr h="335280">
                <a:tc>
                  <a:txBody>
                    <a:bodyPr/>
                    <a:lstStyle/>
                    <a:p>
                      <a:r>
                        <a:rPr sz="1200" b="0" i="0">
                          <a:solidFill>
                            <a:srgbClr val="1A1440"/>
                          </a:solidFill>
                          <a:latin typeface="Calibri"/>
                        </a:rPr>
                        <a:t>Small</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3.5</a:t>
                      </a:r>
                    </a:p>
                  </a:txBody>
                  <a:tcPr marL="101600" marR="101600" marT="38100" marB="38100" anchor="ctr">
                    <a:solidFill>
                      <a:srgbClr val="F4F2FA"/>
                    </a:solidFill>
                  </a:tcPr>
                </a:tc>
                <a:tc>
                  <a:txBody>
                    <a:bodyPr/>
                    <a:lstStyle/>
                    <a:p>
                      <a:r>
                        <a:rPr sz="1200" b="0" i="0">
                          <a:solidFill>
                            <a:srgbClr val="1A1440"/>
                          </a:solidFill>
                          <a:latin typeface="Calibri"/>
                        </a:rPr>
                        <a:t>7</a:t>
                      </a:r>
                    </a:p>
                  </a:txBody>
                  <a:tcPr marL="101600" marR="101600" marT="38100" marB="38100" anchor="ctr">
                    <a:solidFill>
                      <a:srgbClr val="F4F2FA"/>
                    </a:solidFill>
                  </a:tcPr>
                </a:tc>
              </a:tr>
              <a:tr h="335280">
                <a:tc>
                  <a:txBody>
                    <a:bodyPr/>
                    <a:lstStyle/>
                    <a:p>
                      <a:r>
                        <a:rPr sz="1200" b="0" i="0">
                          <a:solidFill>
                            <a:srgbClr val="1A1440"/>
                          </a:solidFill>
                          <a:latin typeface="Calibri"/>
                        </a:rPr>
                        <a:t>Mean of the two rates</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2.30</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Total orders over total customers</a:t>
                      </a:r>
                    </a:p>
                  </a:txBody>
                  <a:tcPr marL="101600" marR="101600" marT="38100" marB="38100" anchor="ctr">
                    <a:solidFill>
                      <a:srgbClr val="F4F2FA"/>
                    </a:solidFill>
                  </a:tcPr>
                </a:tc>
                <a:tc>
                  <a:txBody>
                    <a:bodyPr/>
                    <a:lstStyle/>
                    <a:p>
                      <a:r>
                        <a:rPr sz="1200" b="0" i="0">
                          <a:solidFill>
                            <a:srgbClr val="1A1440"/>
                          </a:solidFill>
                          <a:latin typeface="Calibri"/>
                        </a:rPr>
                        <a:t>32</a:t>
                      </a:r>
                    </a:p>
                  </a:txBody>
                  <a:tcPr marL="101600" marR="101600" marT="38100" marB="38100" anchor="ctr">
                    <a:solidFill>
                      <a:srgbClr val="F4F2FA"/>
                    </a:solidFill>
                  </a:tcPr>
                </a:tc>
                <a:tc>
                  <a:txBody>
                    <a:bodyPr/>
                    <a:lstStyle/>
                    <a:p>
                      <a:r>
                        <a:rPr sz="1200" b="0" i="0">
                          <a:solidFill>
                            <a:srgbClr val="1A1440"/>
                          </a:solidFill>
                          <a:latin typeface="Calibri"/>
                        </a:rPr>
                        <a:t>1.25</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5101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46074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941832"/>
          </a:xfrm>
          <a:prstGeom prst="rect">
            <a:avLst/>
          </a:prstGeom>
          <a:noFill/>
        </p:spPr>
        <p:txBody>
          <a:bodyPr wrap="square" anchor="t" lIns="0" rIns="0" tIns="0" bIns="0">
            <a:spAutoFit/>
          </a:bodyPr>
          <a:lstStyle/>
          <a:p>
            <a:r>
              <a:rPr sz="1500" b="0" i="0">
                <a:solidFill>
                  <a:srgbClr val="1A1440"/>
                </a:solidFill>
                <a:latin typeface="Calibri"/>
              </a:rPr>
              <a:t>Roll a rate up as total numerator over total denominator: 114 over 69, then 86 over 69, a fall of 24.6 percent. A dashboard that averages an already averaged column makes the same mistake, silently, at every level of the hierarchy.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17" name="Oval 16"/>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19" name="Oval 18"/>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21" name="Oval 20"/>
          <p:cNvSpPr/>
          <p:nvPr/>
        </p:nvSpPr>
        <p:spPr>
          <a:xfrm>
            <a:off x="591331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23038"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Round 3, every kind of customer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39 / 41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run: all four segments, both quarters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tree_for and describe on every segment, and one sentence for the head of Retail-Plus.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Four segments in</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Group the orders by segment and quarter with a dictionary.</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Four rows out</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Call tree_for on each group, and count the rows that come back.</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Weighted roll-up</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Check that the segments reproduce 1.65 and 1.25.</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One sentence</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Name the segment whose orders per customer moved most, with its numbers.</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32" name="Oval 31"/>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34" name="Oval 33"/>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36" name="Oval 35"/>
          <p:cNvSpPr/>
          <p:nvPr/>
        </p:nvSpPr>
        <p:spPr>
          <a:xfrm>
            <a:off x="591331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023038"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Round 3, every kind of customer</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40 / 41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round 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rungs climbed, and the morning ends with a segment in your own notebook.</a:t>
            </a:r>
          </a:p>
        </p:txBody>
      </p:sp>
      <p:pic>
        <p:nvPicPr>
          <p:cNvPr id="9" name="mermaid diagram" descr="5dc9510c8f49f25f.png"/>
          <p:cNvPicPr>
            <a:picLocks noChangeAspect="1"/>
          </p:cNvPicPr>
          <p:nvPr/>
        </p:nvPicPr>
        <p:blipFill>
          <a:blip r:embed="rId7"/>
          <a:stretch>
            <a:fillRect/>
          </a:stretch>
        </p:blipFill>
        <p:spPr>
          <a:xfrm>
            <a:off x="1573853" y="1956816"/>
            <a:ext cx="9043987" cy="1128712"/>
          </a:xfrm>
          <a:prstGeom prst="rect">
            <a:avLst/>
          </a:prstGeom>
        </p:spPr>
      </p:pic>
      <p:sp>
        <p:nvSpPr>
          <p:cNvPr id="10" name="Rounded Rectangle 9"/>
          <p:cNvSpPr/>
          <p:nvPr/>
        </p:nvSpPr>
        <p:spPr>
          <a:xfrm>
            <a:off x="530352" y="32318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640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67379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597592"/>
            <a:ext cx="9987991" cy="682752"/>
          </a:xfrm>
          <a:prstGeom prst="rect">
            <a:avLst/>
          </a:prstGeom>
          <a:noFill/>
        </p:spPr>
        <p:txBody>
          <a:bodyPr wrap="square" anchor="t" lIns="0" rIns="0" tIns="0" bIns="0">
            <a:spAutoFit/>
          </a:bodyPr>
          <a:lstStyle/>
          <a:p>
            <a:r>
              <a:rPr sz="1500" b="0" i="0">
                <a:solidFill>
                  <a:srgbClr val="1A1440"/>
                </a:solidFill>
                <a:latin typeface="Calibri"/>
              </a:rPr>
              <a:t>"A function returns its answer; count the groups in and the groups out. Roll a rate up with its weights, and describe every group by its middle as well as its edges."</a:t>
            </a:r>
          </a:p>
        </p:txBody>
      </p:sp>
      <p:sp>
        <p:nvSpPr>
          <p:cNvPr id="15" name="Rounded Rectangle 14"/>
          <p:cNvSpPr/>
          <p:nvPr/>
        </p:nvSpPr>
        <p:spPr>
          <a:xfrm>
            <a:off x="530352" y="451808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47207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4830508"/>
            <a:ext cx="237744" cy="237744"/>
          </a:xfrm>
          <a:prstGeom prst="rect">
            <a:avLst/>
          </a:prstGeom>
        </p:spPr>
      </p:pic>
      <p:sp>
        <p:nvSpPr>
          <p:cNvPr id="18" name="TextBox 17"/>
          <p:cNvSpPr txBox="1"/>
          <p:nvPr/>
        </p:nvSpPr>
        <p:spPr>
          <a:xfrm>
            <a:off x="1399031" y="46643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4883848"/>
            <a:ext cx="9987991" cy="423672"/>
          </a:xfrm>
          <a:prstGeom prst="rect">
            <a:avLst/>
          </a:prstGeom>
          <a:noFill/>
        </p:spPr>
        <p:txBody>
          <a:bodyPr wrap="square" anchor="t" lIns="0" rIns="0" tIns="0" bIns="0">
            <a:spAutoFit/>
          </a:bodyPr>
          <a:lstStyle/>
          <a:p>
            <a:r>
              <a:rPr sz="1500" b="0" i="0">
                <a:solidFill>
                  <a:srgbClr val="1A1440"/>
                </a:solidFill>
                <a:latin typeface="Calibri"/>
              </a:rPr>
              <a:t>[F] Why does a function that prints instead of returning break a pipeline?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The ask, the system and the ladder</a:t>
            </a:r>
          </a:p>
        </p:txBody>
      </p:sp>
      <p:sp>
        <p:nvSpPr>
          <p:cNvPr id="22" name="Oval 21"/>
          <p:cNvSpPr/>
          <p:nvPr/>
        </p:nvSpPr>
        <p:spPr>
          <a:xfrm>
            <a:off x="25700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67976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Round 1, is the drop real</a:t>
            </a:r>
          </a:p>
        </p:txBody>
      </p:sp>
      <p:sp>
        <p:nvSpPr>
          <p:cNvPr id="24" name="Oval 23"/>
          <p:cNvSpPr/>
          <p:nvPr/>
        </p:nvSpPr>
        <p:spPr>
          <a:xfrm>
            <a:off x="41956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305395"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which branch moved</a:t>
            </a:r>
          </a:p>
        </p:txBody>
      </p:sp>
      <p:sp>
        <p:nvSpPr>
          <p:cNvPr id="26" name="Oval 25"/>
          <p:cNvSpPr/>
          <p:nvPr/>
        </p:nvSpPr>
        <p:spPr>
          <a:xfrm>
            <a:off x="591331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023038"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Round 3, every kind of customer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41 / 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