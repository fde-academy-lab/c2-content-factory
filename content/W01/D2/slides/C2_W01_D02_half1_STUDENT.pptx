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S1</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2300" b="1">
                <a:solidFill>
                  <a:srgbClr val="1C1C1A"/>
                </a:solidFill>
                <a:latin typeface="Calibri"/>
              </a:rPr>
              <a:t>Package the logic, survive bad data</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685800" y="3385312"/>
            <a:ext cx="10820095" cy="910336"/>
          </a:xfrm>
          <a:prstGeom prst="rect">
            <a:avLst/>
          </a:prstGeom>
          <a:noFill/>
        </p:spPr>
        <p:txBody>
          <a:bodyPr wrap="square" anchor="t" lIns="0" rIns="0" tIns="0" bIns="0">
            <a:spAutoFit/>
          </a:bodyPr>
          <a:lstStyle/>
          <a:p>
            <a:pPr>
              <a:spcAft>
                <a:spcPts val="900"/>
              </a:spcAft>
            </a:pPr>
            <a:r>
              <a:rPr sz="2000" b="0">
                <a:solidFill>
                  <a:srgbClr val="1C1C1A"/>
                </a:solidFill>
                <a:latin typeface="Calibri"/>
              </a:rPr>
              <a:t>The three questions this half answers: what do I call again tomorrow, what do I do when a value is wrong, and who finds out.</a:t>
            </a:r>
          </a:p>
        </p:txBody>
      </p:sp>
      <p:sp>
        <p:nvSpPr>
          <p:cNvPr id="7" name="Rectangle 6"/>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2. Half one: package the logic, survive bad data</a:t>
            </a:r>
          </a:p>
        </p:txBody>
      </p:sp>
      <p:sp>
        <p:nvSpPr>
          <p:cNvPr id="9" name="TextBox 8"/>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1 / 67</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S2</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3000" b="1">
                <a:solidFill>
                  <a:srgbClr val="1C1C1A"/>
                </a:solidFill>
                <a:latin typeface="Calibri"/>
              </a:rPr>
              <a:t>Where we are</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ounded Rectangle 5"/>
          <p:cNvSpPr/>
          <p:nvPr/>
        </p:nvSpPr>
        <p:spPr>
          <a:xfrm>
            <a:off x="685800" y="2646680"/>
            <a:ext cx="2076236" cy="475488"/>
          </a:xfrm>
          <a:prstGeom prst="roundRect">
            <a:avLst/>
          </a:prstGeom>
          <a:solidFill>
            <a:srgbClr val="FFFFFF"/>
          </a:solidFill>
          <a:ln w="9525">
            <a:solidFill>
              <a:srgbClr val="C9C9C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0">
                <a:solidFill>
                  <a:srgbClr val="5F6360"/>
                </a:solidFill>
                <a:latin typeface="Calibri"/>
              </a:rPr>
              <a:t>inline cell</a:t>
            </a:r>
          </a:p>
        </p:txBody>
      </p:sp>
      <p:sp>
        <p:nvSpPr>
          <p:cNvPr id="7" name="Rounded Rectangle 6"/>
          <p:cNvSpPr/>
          <p:nvPr/>
        </p:nvSpPr>
        <p:spPr>
          <a:xfrm>
            <a:off x="2871764" y="2646680"/>
            <a:ext cx="2076236" cy="475488"/>
          </a:xfrm>
          <a:prstGeom prst="roundRect">
            <a:avLst/>
          </a:prstGeom>
          <a:solidFill>
            <a:srgbClr val="FFFFFF"/>
          </a:solidFill>
          <a:ln w="9525">
            <a:solidFill>
              <a:srgbClr val="C9C9C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0">
                <a:solidFill>
                  <a:srgbClr val="5F6360"/>
                </a:solidFill>
                <a:latin typeface="Calibri"/>
              </a:rPr>
              <a:t>packaged decision</a:t>
            </a:r>
          </a:p>
        </p:txBody>
      </p:sp>
      <p:sp>
        <p:nvSpPr>
          <p:cNvPr id="8" name="Rounded Rectangle 7"/>
          <p:cNvSpPr/>
          <p:nvPr/>
        </p:nvSpPr>
        <p:spPr>
          <a:xfrm>
            <a:off x="5057729" y="2646680"/>
            <a:ext cx="2076236" cy="475488"/>
          </a:xfrm>
          <a:prstGeom prst="roundRect">
            <a:avLst/>
          </a:prstGeom>
          <a:solidFill>
            <a:srgbClr val="FFFFFF"/>
          </a:solidFill>
          <a:ln w="9525">
            <a:solidFill>
              <a:srgbClr val="C9C9C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0">
                <a:solidFill>
                  <a:srgbClr val="5F6360"/>
                </a:solidFill>
                <a:latin typeface="Calibri"/>
              </a:rPr>
              <a:t>read the failure</a:t>
            </a:r>
          </a:p>
        </p:txBody>
      </p:sp>
      <p:sp>
        <p:nvSpPr>
          <p:cNvPr id="9" name="Rounded Rectangle 8"/>
          <p:cNvSpPr/>
          <p:nvPr/>
        </p:nvSpPr>
        <p:spPr>
          <a:xfrm>
            <a:off x="7243693" y="2646680"/>
            <a:ext cx="2076236" cy="475488"/>
          </a:xfrm>
          <a:prstGeom prst="roundRect">
            <a:avLst/>
          </a:prstGeom>
          <a:solidFill>
            <a:srgbClr val="FFFFFF"/>
          </a:solidFill>
          <a:ln w="9525">
            <a:solidFill>
              <a:srgbClr val="C9C9C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0">
                <a:solidFill>
                  <a:srgbClr val="5F6360"/>
                </a:solidFill>
                <a:latin typeface="Calibri"/>
              </a:rPr>
              <a:t>log the rejection</a:t>
            </a:r>
          </a:p>
        </p:txBody>
      </p:sp>
      <p:sp>
        <p:nvSpPr>
          <p:cNvPr id="10" name="Rounded Rectangle 9"/>
          <p:cNvSpPr/>
          <p:nvPr/>
        </p:nvSpPr>
        <p:spPr>
          <a:xfrm>
            <a:off x="9429658" y="2646680"/>
            <a:ext cx="2076236" cy="475488"/>
          </a:xfrm>
          <a:prstGeom prst="roundRect">
            <a:avLst/>
          </a:prstGeom>
          <a:solidFill>
            <a:srgbClr val="FFFFFF"/>
          </a:solidFill>
          <a:ln w="9525">
            <a:solidFill>
              <a:srgbClr val="C9C9C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0">
                <a:solidFill>
                  <a:srgbClr val="5F6360"/>
                </a:solidFill>
                <a:latin typeface="Calibri"/>
              </a:rPr>
              <a:t>cross the boundary</a:t>
            </a:r>
          </a:p>
        </p:txBody>
      </p:sp>
      <p:sp>
        <p:nvSpPr>
          <p:cNvPr id="11" name="TextBox 10"/>
          <p:cNvSpPr txBox="1"/>
          <p:nvPr/>
        </p:nvSpPr>
        <p:spPr>
          <a:xfrm>
            <a:off x="685800" y="3323336"/>
            <a:ext cx="10820095" cy="1710944"/>
          </a:xfrm>
          <a:prstGeom prst="rect">
            <a:avLst/>
          </a:prstGeom>
          <a:noFill/>
        </p:spPr>
        <p:txBody>
          <a:bodyPr wrap="square" anchor="t" lIns="0" rIns="0" tIns="0" bIns="0">
            <a:spAutoFit/>
          </a:bodyPr>
          <a:lstStyle/>
          <a:p>
            <a:pPr>
              <a:spcAft>
                <a:spcPts val="900"/>
              </a:spcAft>
            </a:pPr>
            <a:r>
              <a:rPr sz="2000" b="0">
                <a:solidFill>
                  <a:srgbClr val="1C1C1A"/>
                </a:solidFill>
                <a:latin typeface="Calibri"/>
              </a:rPr>
              <a:t>Every order in this file is a Kalpa Retail order, and it will still be Kalpa Retail in Week 15.</a:t>
            </a:r>
          </a:p>
          <a:p>
            <a:pPr>
              <a:spcAft>
                <a:spcPts val="900"/>
              </a:spcAft>
            </a:pPr>
            <a:r>
              <a:rPr sz="2000" b="0">
                <a:solidFill>
                  <a:srgbClr val="1C1C1A"/>
                </a:solidFill>
                <a:latin typeface="Calibri"/>
              </a:rPr>
              <a:t>Yesterday you answered a question about the orders. Today that answer becomes something you can run again on records you have not seen.</a:t>
            </a:r>
          </a:p>
        </p:txBody>
      </p:sp>
      <p:sp>
        <p:nvSpPr>
          <p:cNvPr id="12" name="Rectangle 11"/>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2. Half one: package the logic, survive bad data</a:t>
            </a:r>
          </a:p>
        </p:txBody>
      </p:sp>
      <p:sp>
        <p:nvSpPr>
          <p:cNvPr id="14" name="TextBox 13"/>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2 / 67</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S2b</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3000" b="1">
                <a:solidFill>
                  <a:srgbClr val="1C1C1A"/>
                </a:solidFill>
                <a:latin typeface="Calibri"/>
              </a:rPr>
              <a:t>Where this is going</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685800" y="2340864"/>
            <a:ext cx="10820095" cy="564896"/>
          </a:xfrm>
          <a:prstGeom prst="rect">
            <a:avLst/>
          </a:prstGeom>
          <a:noFill/>
        </p:spPr>
        <p:txBody>
          <a:bodyPr wrap="square" anchor="t" lIns="0" rIns="0" tIns="0" bIns="0">
            <a:spAutoFit/>
          </a:bodyPr>
          <a:lstStyle/>
          <a:p>
            <a:pPr>
              <a:spcAft>
                <a:spcPts val="900"/>
              </a:spcAft>
            </a:pPr>
            <a:r>
              <a:rPr sz="2000" b="0">
                <a:solidFill>
                  <a:srgbClr val="1C1C1A"/>
                </a:solidFill>
                <a:latin typeface="Calibri"/>
              </a:rPr>
              <a:t>clean_record, on three records from today's file:</a:t>
            </a:r>
          </a:p>
        </p:txBody>
      </p:sp>
      <p:sp>
        <p:nvSpPr>
          <p:cNvPr id="7" name="Rectangle 6"/>
          <p:cNvSpPr/>
          <p:nvPr/>
        </p:nvSpPr>
        <p:spPr>
          <a:xfrm>
            <a:off x="685800" y="3033776"/>
            <a:ext cx="10820095" cy="1121664"/>
          </a:xfrm>
          <a:prstGeom prst="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ectangle 7"/>
          <p:cNvSpPr/>
          <p:nvPr/>
        </p:nvSpPr>
        <p:spPr>
          <a:xfrm>
            <a:off x="685800" y="3033776"/>
            <a:ext cx="50292" cy="112166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23544" y="3134360"/>
            <a:ext cx="10417759" cy="938784"/>
          </a:xfrm>
          <a:prstGeom prst="rect">
            <a:avLst/>
          </a:prstGeom>
          <a:noFill/>
        </p:spPr>
        <p:txBody>
          <a:bodyPr wrap="square" anchor="t" lIns="0" rIns="0" tIns="0" bIns="0">
            <a:spAutoFit/>
          </a:bodyPr>
          <a:lstStyle/>
          <a:p>
            <a:pPr>
              <a:spcAft>
                <a:spcPts val="200"/>
              </a:spcAft>
            </a:pPr>
            <a:r>
              <a:rPr sz="1600" b="0">
                <a:solidFill>
                  <a:srgbClr val="E4ECF7"/>
                </a:solidFill>
                <a:latin typeface="Consolas"/>
              </a:rPr>
              <a:t>rejected KR4210 because: invalid literal for int() with base 10: 'twelve'</a:t>
            </a:r>
          </a:p>
          <a:p>
            <a:pPr>
              <a:spcAft>
                <a:spcPts val="200"/>
              </a:spcAft>
            </a:pPr>
            <a:r>
              <a:rPr sz="1600" b="0">
                <a:solidFill>
                  <a:srgbClr val="E4ECF7"/>
                </a:solidFill>
                <a:latin typeface="Consolas"/>
              </a:rPr>
              <a:t>rejected KR4214 because: invalid literal for int() with base 10: ''</a:t>
            </a:r>
          </a:p>
          <a:p>
            <a:pPr>
              <a:spcAft>
                <a:spcPts val="200"/>
              </a:spcAft>
            </a:pPr>
            <a:r>
              <a:rPr sz="1600" b="0">
                <a:solidFill>
                  <a:srgbClr val="E4ECF7"/>
                </a:solidFill>
                <a:latin typeface="Consolas"/>
              </a:rPr>
              <a:t>kept     KR4200 4500</a:t>
            </a:r>
          </a:p>
        </p:txBody>
      </p:sp>
      <p:sp>
        <p:nvSpPr>
          <p:cNvPr id="10" name="TextBox 9"/>
          <p:cNvSpPr txBox="1"/>
          <p:nvPr/>
        </p:nvSpPr>
        <p:spPr>
          <a:xfrm>
            <a:off x="685800" y="4320032"/>
            <a:ext cx="10820095" cy="1020064"/>
          </a:xfrm>
          <a:prstGeom prst="rect">
            <a:avLst/>
          </a:prstGeom>
          <a:noFill/>
        </p:spPr>
        <p:txBody>
          <a:bodyPr wrap="square" anchor="t" lIns="0" rIns="0" tIns="0" bIns="0">
            <a:spAutoFit/>
          </a:bodyPr>
          <a:lstStyle/>
          <a:p>
            <a:pPr>
              <a:spcAft>
                <a:spcPts val="900"/>
              </a:spcAft>
            </a:pPr>
            <a:r>
              <a:rPr sz="2000" b="0">
                <a:solidFill>
                  <a:srgbClr val="1C1C1A"/>
                </a:solidFill>
                <a:latin typeface="Calibri"/>
              </a:rPr>
              <a:t>One function. Three records. Three outcomes, and the rejected ones say why.</a:t>
            </a:r>
          </a:p>
          <a:p>
            <a:pPr>
              <a:spcAft>
                <a:spcPts val="900"/>
              </a:spcAft>
            </a:pPr>
            <a:r>
              <a:rPr sz="2000" b="0">
                <a:solidFill>
                  <a:srgbClr val="1C1C1A"/>
                </a:solidFill>
                <a:latin typeface="Calibri"/>
              </a:rPr>
              <a:t>You will have written this within the hour.</a:t>
            </a:r>
          </a:p>
        </p:txBody>
      </p:sp>
      <p:sp>
        <p:nvSpPr>
          <p:cNvPr id="11" name="Rectangle 10"/>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2. Half one: package the logic, survive bad data</a:t>
            </a:r>
          </a:p>
        </p:txBody>
      </p:sp>
      <p:sp>
        <p:nvSpPr>
          <p:cNvPr id="13" name="TextBox 12"/>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3 / 67</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S2c</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2600" b="1">
                <a:solidFill>
                  <a:srgbClr val="1C1C1A"/>
                </a:solidFill>
                <a:latin typeface="Calibri"/>
              </a:rPr>
              <a:t>The whole day in one picture</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685800" y="2729797"/>
            <a:ext cx="10820095" cy="564896"/>
          </a:xfrm>
          <a:prstGeom prst="rect">
            <a:avLst/>
          </a:prstGeom>
          <a:noFill/>
        </p:spPr>
        <p:txBody>
          <a:bodyPr wrap="square" anchor="t" lIns="0" rIns="0" tIns="0" bIns="0">
            <a:spAutoFit/>
          </a:bodyPr>
          <a:lstStyle/>
          <a:p>
            <a:pPr>
              <a:spcAft>
                <a:spcPts val="900"/>
              </a:spcAft>
            </a:pPr>
            <a:r>
              <a:rPr sz="2000" b="0">
                <a:solidFill>
                  <a:srgbClr val="1C1C1A"/>
                </a:solidFill>
                <a:latin typeface="Calibri"/>
              </a:rPr>
              <a:t>Today has five stops and you will pass through all of them before the close.</a:t>
            </a:r>
          </a:p>
        </p:txBody>
      </p:sp>
      <p:pic>
        <p:nvPicPr>
          <p:cNvPr id="7" name="Picture 6" descr="c8c118df18842d6b.png"/>
          <p:cNvPicPr>
            <a:picLocks noChangeAspect="1"/>
          </p:cNvPicPr>
          <p:nvPr/>
        </p:nvPicPr>
        <p:blipFill>
          <a:blip r:embed="rId2"/>
          <a:stretch>
            <a:fillRect/>
          </a:stretch>
        </p:blipFill>
        <p:spPr>
          <a:xfrm>
            <a:off x="685800" y="3422709"/>
            <a:ext cx="10820095" cy="817253"/>
          </a:xfrm>
          <a:prstGeom prst="rect">
            <a:avLst/>
          </a:prstGeom>
        </p:spPr>
      </p:pic>
      <p:sp>
        <p:nvSpPr>
          <p:cNvPr id="8" name="TextBox 7"/>
          <p:cNvSpPr txBox="1"/>
          <p:nvPr/>
        </p:nvSpPr>
        <p:spPr>
          <a:xfrm>
            <a:off x="685800" y="4386266"/>
            <a:ext cx="10820095" cy="564896"/>
          </a:xfrm>
          <a:prstGeom prst="rect">
            <a:avLst/>
          </a:prstGeom>
          <a:noFill/>
        </p:spPr>
        <p:txBody>
          <a:bodyPr wrap="square" anchor="t" lIns="0" rIns="0" tIns="0" bIns="0">
            <a:spAutoFit/>
          </a:bodyPr>
          <a:lstStyle/>
          <a:p>
            <a:pPr>
              <a:spcAft>
                <a:spcPts val="900"/>
              </a:spcAft>
            </a:pPr>
            <a:r>
              <a:rPr sz="2000" b="0">
                <a:solidFill>
                  <a:srgbClr val="1C1C1A"/>
                </a:solidFill>
                <a:latin typeface="Calibri"/>
              </a:rPr>
              <a:t>Half one is the first four boxes. Half two is the last two.</a:t>
            </a:r>
          </a:p>
        </p:txBody>
      </p:sp>
      <p:sp>
        <p:nvSpPr>
          <p:cNvPr id="9" name="Rectangle 8"/>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2. Half one: package the logic, survive bad data</a:t>
            </a:r>
          </a:p>
        </p:txBody>
      </p:sp>
      <p:sp>
        <p:nvSpPr>
          <p:cNvPr id="11" name="TextBox 10"/>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4 / 67</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S3</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3000" b="1">
                <a:solidFill>
                  <a:srgbClr val="1C1C1A"/>
                </a:solidFill>
                <a:latin typeface="Calibri"/>
              </a:rPr>
              <a:t>The anchor</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685800" y="1627632"/>
            <a:ext cx="10820095" cy="478536"/>
          </a:xfrm>
          <a:prstGeom prst="rect">
            <a:avLst/>
          </a:prstGeom>
          <a:noFill/>
        </p:spPr>
        <p:txBody>
          <a:bodyPr wrap="square" anchor="t" lIns="0" rIns="0" tIns="0" bIns="0">
            <a:spAutoFit/>
          </a:bodyPr>
          <a:lstStyle/>
          <a:p>
            <a:pPr>
              <a:spcAft>
                <a:spcPts val="700"/>
              </a:spcAft>
            </a:pPr>
            <a:r>
              <a:rPr sz="1500" b="0">
                <a:solidFill>
                  <a:srgbClr val="1C1C1A"/>
                </a:solidFill>
                <a:latin typeface="Calibri"/>
              </a:rPr>
              <a:t>You have written this cell three times already.</a:t>
            </a:r>
          </a:p>
        </p:txBody>
      </p:sp>
      <p:sp>
        <p:nvSpPr>
          <p:cNvPr id="7" name="Rectangle 6"/>
          <p:cNvSpPr/>
          <p:nvPr/>
        </p:nvSpPr>
        <p:spPr>
          <a:xfrm>
            <a:off x="685800" y="2234184"/>
            <a:ext cx="10820095" cy="1121664"/>
          </a:xfrm>
          <a:prstGeom prst="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ectangle 7"/>
          <p:cNvSpPr/>
          <p:nvPr/>
        </p:nvSpPr>
        <p:spPr>
          <a:xfrm>
            <a:off x="685800" y="2234184"/>
            <a:ext cx="50292" cy="112166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23544" y="2334768"/>
            <a:ext cx="10417759" cy="938784"/>
          </a:xfrm>
          <a:prstGeom prst="rect">
            <a:avLst/>
          </a:prstGeom>
          <a:noFill/>
        </p:spPr>
        <p:txBody>
          <a:bodyPr wrap="square" anchor="t" lIns="0" rIns="0" tIns="0" bIns="0">
            <a:spAutoFit/>
          </a:bodyPr>
          <a:lstStyle/>
          <a:p>
            <a:pPr>
              <a:spcAft>
                <a:spcPts val="200"/>
              </a:spcAft>
            </a:pPr>
            <a:r>
              <a:rPr sz="1200" b="0">
                <a:solidFill>
                  <a:srgbClr val="E4ECF7"/>
                </a:solidFill>
                <a:latin typeface="Consolas"/>
              </a:rPr>
              <a:t>total = 0</a:t>
            </a:r>
          </a:p>
          <a:p>
            <a:pPr>
              <a:spcAft>
                <a:spcPts val="200"/>
              </a:spcAft>
            </a:pPr>
            <a:r>
              <a:rPr sz="1200" b="0">
                <a:solidFill>
                  <a:srgbClr val="E4ECF7"/>
                </a:solidFill>
                <a:latin typeface="Consolas"/>
              </a:rPr>
              <a:t>for r in records:</a:t>
            </a:r>
          </a:p>
          <a:p>
            <a:pPr>
              <a:spcAft>
                <a:spcPts val="200"/>
              </a:spcAft>
            </a:pPr>
            <a:r>
              <a:rPr sz="1200" b="0">
                <a:solidFill>
                  <a:srgbClr val="E4ECF7"/>
                </a:solidFill>
                <a:latin typeface="Consolas"/>
              </a:rPr>
              <a:t>    if r["status"] == "delivered":</a:t>
            </a:r>
          </a:p>
          <a:p>
            <a:pPr>
              <a:spcAft>
                <a:spcPts val="200"/>
              </a:spcAft>
            </a:pPr>
            <a:r>
              <a:rPr sz="1200" b="0">
                <a:solidFill>
                  <a:srgbClr val="E4ECF7"/>
                </a:solidFill>
                <a:latin typeface="Consolas"/>
              </a:rPr>
              <a:t>        total = total + int(r["amount"])</a:t>
            </a:r>
          </a:p>
        </p:txBody>
      </p:sp>
      <p:sp>
        <p:nvSpPr>
          <p:cNvPr id="10" name="TextBox 9"/>
          <p:cNvSpPr txBox="1"/>
          <p:nvPr/>
        </p:nvSpPr>
        <p:spPr>
          <a:xfrm>
            <a:off x="685800" y="3520440"/>
            <a:ext cx="10820095" cy="478536"/>
          </a:xfrm>
          <a:prstGeom prst="rect">
            <a:avLst/>
          </a:prstGeom>
          <a:noFill/>
        </p:spPr>
        <p:txBody>
          <a:bodyPr wrap="square" anchor="t" lIns="0" rIns="0" tIns="0" bIns="0">
            <a:spAutoFit/>
          </a:bodyPr>
          <a:lstStyle/>
          <a:p>
            <a:pPr>
              <a:spcAft>
                <a:spcPts val="700"/>
              </a:spcAft>
            </a:pPr>
            <a:r>
              <a:rPr sz="1500" b="0">
                <a:solidFill>
                  <a:srgbClr val="1C1C1A"/>
                </a:solidFill>
                <a:latin typeface="Calibri"/>
              </a:rPr>
              <a:t>Three copies. One of them has a typo. Which one?</a:t>
            </a:r>
          </a:p>
        </p:txBody>
      </p:sp>
      <p:pic>
        <p:nvPicPr>
          <p:cNvPr id="11" name="Picture 10" descr="26e9a147d9f8cec9.png"/>
          <p:cNvPicPr>
            <a:picLocks noChangeAspect="1"/>
          </p:cNvPicPr>
          <p:nvPr/>
        </p:nvPicPr>
        <p:blipFill>
          <a:blip r:embed="rId2"/>
          <a:stretch>
            <a:fillRect/>
          </a:stretch>
        </p:blipFill>
        <p:spPr>
          <a:xfrm>
            <a:off x="2459890" y="4133087"/>
            <a:ext cx="7271914" cy="1920240"/>
          </a:xfrm>
          <a:prstGeom prst="rect">
            <a:avLst/>
          </a:prstGeom>
        </p:spPr>
      </p:pic>
      <p:sp>
        <p:nvSpPr>
          <p:cNvPr id="12" name="Rectangle 11"/>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2. Half one: package the logic, survive bad data</a:t>
            </a:r>
          </a:p>
        </p:txBody>
      </p:sp>
      <p:sp>
        <p:nvSpPr>
          <p:cNvPr id="14" name="TextBox 13"/>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5 / 67</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S4</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2600" b="1">
                <a:solidFill>
                  <a:srgbClr val="1C1C1A"/>
                </a:solidFill>
                <a:latin typeface="Calibri"/>
              </a:rPr>
              <a:t>The problem with three copies</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685800" y="3157728"/>
            <a:ext cx="10820095" cy="1365504"/>
          </a:xfrm>
          <a:prstGeom prst="rect">
            <a:avLst/>
          </a:prstGeom>
          <a:noFill/>
        </p:spPr>
        <p:txBody>
          <a:bodyPr wrap="square" anchor="t" lIns="0" rIns="0" tIns="0" bIns="0">
            <a:spAutoFit/>
          </a:bodyPr>
          <a:lstStyle/>
          <a:p>
            <a:pPr>
              <a:spcAft>
                <a:spcPts val="900"/>
              </a:spcAft>
            </a:pPr>
            <a:r>
              <a:rPr sz="2000" b="0">
                <a:solidFill>
                  <a:srgbClr val="1C1C1A"/>
                </a:solidFill>
                <a:latin typeface="Calibri"/>
              </a:rPr>
              <a:t>A rule that lives in three cells is three rules.</a:t>
            </a:r>
          </a:p>
          <a:p>
            <a:pPr>
              <a:spcAft>
                <a:spcPts val="900"/>
              </a:spcAft>
            </a:pPr>
            <a:r>
              <a:rPr sz="2000" b="0">
                <a:solidFill>
                  <a:srgbClr val="1C1C1A"/>
                </a:solidFill>
                <a:latin typeface="Calibri"/>
              </a:rPr>
              <a:t>When the rule changes, you have to remember where all three are. The one you forget is the one that ships.</a:t>
            </a:r>
          </a:p>
        </p:txBody>
      </p:sp>
      <p:sp>
        <p:nvSpPr>
          <p:cNvPr id="7" name="Rectangle 6"/>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2. Half one: package the logic, survive bad data</a:t>
            </a:r>
          </a:p>
        </p:txBody>
      </p:sp>
      <p:sp>
        <p:nvSpPr>
          <p:cNvPr id="9" name="TextBox 8"/>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6 / 67</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D2</a:t>
            </a:r>
          </a:p>
        </p:txBody>
      </p:sp>
      <p:sp>
        <p:nvSpPr>
          <p:cNvPr id="4" name="Rounded Rectangle 3"/>
          <p:cNvSpPr/>
          <p:nvPr/>
        </p:nvSpPr>
        <p:spPr>
          <a:xfrm>
            <a:off x="10573207" y="603504"/>
            <a:ext cx="932688" cy="274320"/>
          </a:xfrm>
          <a:prstGeom prst="round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DEPTH</a:t>
            </a:r>
          </a:p>
        </p:txBody>
      </p:sp>
      <p:sp>
        <p:nvSpPr>
          <p:cNvPr id="5" name="TextBox 4"/>
          <p:cNvSpPr txBox="1"/>
          <p:nvPr/>
        </p:nvSpPr>
        <p:spPr>
          <a:xfrm>
            <a:off x="1618488" y="493776"/>
            <a:ext cx="8790127" cy="786384"/>
          </a:xfrm>
          <a:prstGeom prst="rect">
            <a:avLst/>
          </a:prstGeom>
          <a:noFill/>
        </p:spPr>
        <p:txBody>
          <a:bodyPr wrap="square" anchor="ctr" lIns="0" rIns="0" tIns="0" bIns="0">
            <a:spAutoFit/>
          </a:bodyPr>
          <a:lstStyle/>
          <a:p>
            <a:r>
              <a:rPr sz="2300" b="1">
                <a:solidFill>
                  <a:srgbClr val="1C1C1A"/>
                </a:solidFill>
                <a:latin typeface="Calibri"/>
              </a:rPr>
              <a:t>What three copies costs, counted</a:t>
            </a:r>
          </a:p>
        </p:txBody>
      </p:sp>
      <p:sp>
        <p:nvSpPr>
          <p:cNvPr id="6" name="Rectangle 5"/>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685800" y="2184400"/>
            <a:ext cx="10820095" cy="3312160"/>
          </a:xfrm>
          <a:prstGeom prst="rect">
            <a:avLst/>
          </a:prstGeom>
          <a:noFill/>
        </p:spPr>
        <p:txBody>
          <a:bodyPr wrap="square" anchor="t" lIns="0" rIns="0" tIns="0" bIns="0">
            <a:spAutoFit/>
          </a:bodyPr>
          <a:lstStyle/>
          <a:p>
            <a:pPr>
              <a:spcAft>
                <a:spcPts val="900"/>
              </a:spcAft>
            </a:pPr>
            <a:r>
              <a:rPr sz="2000" b="0">
                <a:solidFill>
                  <a:srgbClr val="1C1C1A"/>
                </a:solidFill>
                <a:latin typeface="Calibri"/>
              </a:rPr>
              <a:t>Suppose the rule changes four times over a project, and each change has to be applied by hand in three places.</a:t>
            </a:r>
          </a:p>
          <a:p>
            <a:pPr>
              <a:spcAft>
                <a:spcPts val="900"/>
              </a:spcAft>
            </a:pPr>
            <a:r>
              <a:rPr sz="2000" b="0">
                <a:solidFill>
                  <a:srgbClr val="1C1C1A"/>
                </a:solidFill>
                <a:latin typeface="Calibri"/>
              </a:rPr>
              <a:t>$$\text{edits} = \text{changes} \times \text{copies} = 4 \times 3 = 12$$</a:t>
            </a:r>
          </a:p>
          <a:p>
            <a:pPr>
              <a:spcAft>
                <a:spcPts val="900"/>
              </a:spcAft>
            </a:pPr>
            <a:r>
              <a:rPr sz="2000" b="0">
                <a:solidFill>
                  <a:srgbClr val="1C1C1A"/>
                </a:solidFill>
                <a:latin typeface="Calibri"/>
              </a:rPr>
              <a:t>$$\text{chances to forget one} = \text{changes} \times (\text{copies} - 1) = 4 \times 2 = 8$$</a:t>
            </a:r>
          </a:p>
          <a:p>
            <a:pPr>
              <a:spcAft>
                <a:spcPts val="900"/>
              </a:spcAft>
            </a:pPr>
            <a:r>
              <a:rPr sz="2000" b="0">
                <a:solidFill>
                  <a:srgbClr val="1C1C1A"/>
                </a:solidFill>
                <a:latin typeface="Calibri"/>
              </a:rPr>
              <a:t>With the rule in one function, the same four changes are four edits and there is nothing to forget. The arithmetic is small and it is the whole argument for the next twenty slides.</a:t>
            </a:r>
          </a:p>
        </p:txBody>
      </p:sp>
      <p:sp>
        <p:nvSpPr>
          <p:cNvPr id="8" name="Rectangle 7"/>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2. Half one: package the logic, survive bad data</a:t>
            </a:r>
          </a:p>
        </p:txBody>
      </p:sp>
      <p:sp>
        <p:nvSpPr>
          <p:cNvPr id="10" name="TextBox 9"/>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7 / 67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2377440"/>
            <a:ext cx="10820095" cy="1463040"/>
          </a:xfrm>
          <a:prstGeom prst="rect">
            <a:avLst/>
          </a:prstGeom>
          <a:noFill/>
        </p:spPr>
        <p:txBody>
          <a:bodyPr wrap="square" anchor="ctr" lIns="0" rIns="0" tIns="0" bIns="0">
            <a:spAutoFit/>
          </a:bodyPr>
          <a:lstStyle/>
          <a:p>
            <a:pPr algn="ctr"/>
            <a:r>
              <a:rPr sz="4000" b="1">
                <a:solidFill>
                  <a:srgbClr val="FFFFFF"/>
                </a:solidFill>
                <a:latin typeface="Calibri"/>
              </a:rPr>
              <a:t>SECTION 1: THE PACKAGED DECISION</a:t>
            </a:r>
          </a:p>
        </p:txBody>
      </p:sp>
      <p:sp>
        <p:nvSpPr>
          <p:cNvPr id="4" name="Rounded Rectangle 3"/>
          <p:cNvSpPr/>
          <p:nvPr/>
        </p:nvSpPr>
        <p:spPr>
          <a:xfrm>
            <a:off x="685800" y="4754880"/>
            <a:ext cx="2076236" cy="475488"/>
          </a:xfrm>
          <a:prstGeom prst="roundRect">
            <a:avLst/>
          </a:prstGeom>
          <a:no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0">
                <a:solidFill>
                  <a:srgbClr val="FFFFFF"/>
                </a:solidFill>
                <a:latin typeface="Calibri"/>
              </a:rPr>
              <a:t>inline cell</a:t>
            </a:r>
          </a:p>
        </p:txBody>
      </p:sp>
      <p:sp>
        <p:nvSpPr>
          <p:cNvPr id="5" name="Rounded Rectangle 4"/>
          <p:cNvSpPr/>
          <p:nvPr/>
        </p:nvSpPr>
        <p:spPr>
          <a:xfrm>
            <a:off x="2871764" y="4754880"/>
            <a:ext cx="2076236" cy="475488"/>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FFFFFF"/>
                </a:solidFill>
                <a:latin typeface="Calibri"/>
              </a:rPr>
              <a:t>packaged decision</a:t>
            </a:r>
          </a:p>
        </p:txBody>
      </p:sp>
      <p:sp>
        <p:nvSpPr>
          <p:cNvPr id="6" name="Rounded Rectangle 5"/>
          <p:cNvSpPr/>
          <p:nvPr/>
        </p:nvSpPr>
        <p:spPr>
          <a:xfrm>
            <a:off x="5057729" y="4754880"/>
            <a:ext cx="2076236" cy="475488"/>
          </a:xfrm>
          <a:prstGeom prst="roundRect">
            <a:avLst/>
          </a:prstGeom>
          <a:no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0">
                <a:solidFill>
                  <a:srgbClr val="FFFFFF"/>
                </a:solidFill>
                <a:latin typeface="Calibri"/>
              </a:rPr>
              <a:t>read the failure</a:t>
            </a:r>
          </a:p>
        </p:txBody>
      </p:sp>
      <p:sp>
        <p:nvSpPr>
          <p:cNvPr id="7" name="Rounded Rectangle 6"/>
          <p:cNvSpPr/>
          <p:nvPr/>
        </p:nvSpPr>
        <p:spPr>
          <a:xfrm>
            <a:off x="7243693" y="4754880"/>
            <a:ext cx="2076236" cy="475488"/>
          </a:xfrm>
          <a:prstGeom prst="roundRect">
            <a:avLst/>
          </a:prstGeom>
          <a:no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0">
                <a:solidFill>
                  <a:srgbClr val="FFFFFF"/>
                </a:solidFill>
                <a:latin typeface="Calibri"/>
              </a:rPr>
              <a:t>log the rejection</a:t>
            </a:r>
          </a:p>
        </p:txBody>
      </p:sp>
      <p:sp>
        <p:nvSpPr>
          <p:cNvPr id="8" name="Rounded Rectangle 7"/>
          <p:cNvSpPr/>
          <p:nvPr/>
        </p:nvSpPr>
        <p:spPr>
          <a:xfrm>
            <a:off x="9429658" y="4754880"/>
            <a:ext cx="2076236" cy="475488"/>
          </a:xfrm>
          <a:prstGeom prst="roundRect">
            <a:avLst/>
          </a:prstGeom>
          <a:no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0">
                <a:solidFill>
                  <a:srgbClr val="FFFFFF"/>
                </a:solidFill>
                <a:latin typeface="Calibri"/>
              </a:rPr>
              <a:t>cross the boundary</a:t>
            </a:r>
          </a:p>
        </p:txBody>
      </p:sp>
      <p:sp>
        <p:nvSpPr>
          <p:cNvPr id="9" name="Rectangle 8"/>
          <p:cNvSpPr/>
          <p:nvPr/>
        </p:nvSpPr>
        <p:spPr>
          <a:xfrm>
            <a:off x="685800" y="6327648"/>
            <a:ext cx="10820095" cy="12801"/>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685800" y="6391656"/>
            <a:ext cx="9722815" cy="292608"/>
          </a:xfrm>
          <a:prstGeom prst="rect">
            <a:avLst/>
          </a:prstGeom>
          <a:noFill/>
        </p:spPr>
        <p:txBody>
          <a:bodyPr wrap="square" anchor="t" lIns="0" rIns="0" tIns="0" bIns="0">
            <a:spAutoFit/>
          </a:bodyPr>
          <a:lstStyle/>
          <a:p>
            <a:r>
              <a:rPr sz="1000">
                <a:solidFill>
                  <a:srgbClr val="FFFFFF"/>
                </a:solidFill>
                <a:latin typeface="Calibri"/>
              </a:rPr>
              <a:t>Week 1, Day 2. Half one: package the logic, survive bad data</a:t>
            </a:r>
          </a:p>
        </p:txBody>
      </p:sp>
      <p:sp>
        <p:nvSpPr>
          <p:cNvPr id="11" name="TextBox 10"/>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FFFFFF"/>
                </a:solidFill>
                <a:latin typeface="Calibri"/>
              </a:rPr>
              <a:t>8 / 67</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S5</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3000" b="1">
                <a:solidFill>
                  <a:srgbClr val="1C1C1A"/>
                </a:solidFill>
                <a:latin typeface="Calibri"/>
              </a:rPr>
              <a:t>Same rule, one place</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685800" y="2482088"/>
            <a:ext cx="10820095" cy="1987295"/>
          </a:xfrm>
          <a:prstGeom prst="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685800" y="2482088"/>
            <a:ext cx="50292" cy="1987295"/>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923544" y="2582672"/>
            <a:ext cx="10417759" cy="1804415"/>
          </a:xfrm>
          <a:prstGeom prst="rect">
            <a:avLst/>
          </a:prstGeom>
          <a:noFill/>
        </p:spPr>
        <p:txBody>
          <a:bodyPr wrap="square" anchor="t" lIns="0" rIns="0" tIns="0" bIns="0">
            <a:spAutoFit/>
          </a:bodyPr>
          <a:lstStyle/>
          <a:p>
            <a:pPr>
              <a:spcAft>
                <a:spcPts val="200"/>
              </a:spcAft>
            </a:pPr>
            <a:r>
              <a:rPr sz="1600" b="0">
                <a:solidFill>
                  <a:srgbClr val="E4ECF7"/>
                </a:solidFill>
                <a:latin typeface="Consolas"/>
              </a:rPr>
              <a:t>def delivered_total(records):</a:t>
            </a:r>
          </a:p>
          <a:p>
            <a:pPr>
              <a:spcAft>
                <a:spcPts val="200"/>
              </a:spcAft>
            </a:pPr>
            <a:r>
              <a:rPr sz="1600" b="0">
                <a:solidFill>
                  <a:srgbClr val="E4ECF7"/>
                </a:solidFill>
                <a:latin typeface="Consolas"/>
              </a:rPr>
              <a:t>    total = 0</a:t>
            </a:r>
          </a:p>
          <a:p>
            <a:pPr>
              <a:spcAft>
                <a:spcPts val="200"/>
              </a:spcAft>
            </a:pPr>
            <a:r>
              <a:rPr sz="1600" b="0">
                <a:solidFill>
                  <a:srgbClr val="E4ECF7"/>
                </a:solidFill>
                <a:latin typeface="Consolas"/>
              </a:rPr>
              <a:t>    for r in records:</a:t>
            </a:r>
          </a:p>
          <a:p>
            <a:pPr>
              <a:spcAft>
                <a:spcPts val="200"/>
              </a:spcAft>
            </a:pPr>
            <a:r>
              <a:rPr sz="1600" b="0">
                <a:solidFill>
                  <a:srgbClr val="E4ECF7"/>
                </a:solidFill>
                <a:latin typeface="Consolas"/>
              </a:rPr>
              <a:t>        if r["status"] == "delivered":</a:t>
            </a:r>
          </a:p>
          <a:p>
            <a:pPr>
              <a:spcAft>
                <a:spcPts val="200"/>
              </a:spcAft>
            </a:pPr>
            <a:r>
              <a:rPr sz="1600" b="0">
                <a:solidFill>
                  <a:srgbClr val="E4ECF7"/>
                </a:solidFill>
                <a:latin typeface="Consolas"/>
              </a:rPr>
              <a:t>            total = total + int(r["amount"])</a:t>
            </a:r>
          </a:p>
          <a:p>
            <a:pPr>
              <a:spcAft>
                <a:spcPts val="200"/>
              </a:spcAft>
            </a:pPr>
            <a:r>
              <a:rPr sz="1600" b="0">
                <a:solidFill>
                  <a:srgbClr val="E4ECF7"/>
                </a:solidFill>
                <a:latin typeface="Consolas"/>
              </a:rPr>
              <a:t>    return total</a:t>
            </a:r>
          </a:p>
        </p:txBody>
      </p:sp>
      <p:sp>
        <p:nvSpPr>
          <p:cNvPr id="9" name="TextBox 8"/>
          <p:cNvSpPr txBox="1"/>
          <p:nvPr/>
        </p:nvSpPr>
        <p:spPr>
          <a:xfrm>
            <a:off x="685800" y="4633975"/>
            <a:ext cx="10820095" cy="564896"/>
          </a:xfrm>
          <a:prstGeom prst="rect">
            <a:avLst/>
          </a:prstGeom>
          <a:noFill/>
        </p:spPr>
        <p:txBody>
          <a:bodyPr wrap="square" anchor="t" lIns="0" rIns="0" tIns="0" bIns="0">
            <a:spAutoFit/>
          </a:bodyPr>
          <a:lstStyle/>
          <a:p>
            <a:pPr>
              <a:spcAft>
                <a:spcPts val="900"/>
              </a:spcAft>
            </a:pPr>
            <a:r>
              <a:rPr sz="2000" b="0">
                <a:solidFill>
                  <a:srgbClr val="1C1C1A"/>
                </a:solidFill>
                <a:latin typeface="Calibri"/>
              </a:rPr>
              <a:t>The rule now has a name and one home.</a:t>
            </a:r>
          </a:p>
        </p:txBody>
      </p:sp>
      <p:sp>
        <p:nvSpPr>
          <p:cNvPr id="10" name="Rectangle 9"/>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2. Half one: package the logic, survive bad data</a:t>
            </a:r>
          </a:p>
        </p:txBody>
      </p:sp>
      <p:sp>
        <p:nvSpPr>
          <p:cNvPr id="12" name="TextBox 11"/>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9 / 67</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S5b</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2600" b="1">
                <a:solidFill>
                  <a:srgbClr val="1C1C1A"/>
                </a:solidFill>
                <a:latin typeface="Calibri"/>
              </a:rPr>
              <a:t>The anatomy of a function</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685800" y="2484696"/>
            <a:ext cx="10820095" cy="564896"/>
          </a:xfrm>
          <a:prstGeom prst="rect">
            <a:avLst/>
          </a:prstGeom>
          <a:noFill/>
        </p:spPr>
        <p:txBody>
          <a:bodyPr wrap="square" anchor="t" lIns="0" rIns="0" tIns="0" bIns="0">
            <a:spAutoFit/>
          </a:bodyPr>
          <a:lstStyle/>
          <a:p>
            <a:pPr>
              <a:spcAft>
                <a:spcPts val="900"/>
              </a:spcAft>
            </a:pPr>
            <a:r>
              <a:rPr sz="2000" b="0">
                <a:solidFill>
                  <a:srgbClr val="1C1C1A"/>
                </a:solidFill>
                <a:latin typeface="Calibri"/>
              </a:rPr>
              <a:t>Four parts, and each one has a job you can name.</a:t>
            </a:r>
          </a:p>
        </p:txBody>
      </p:sp>
      <p:pic>
        <p:nvPicPr>
          <p:cNvPr id="7" name="Picture 6" descr="b7859c5b01bc056f.png"/>
          <p:cNvPicPr>
            <a:picLocks noChangeAspect="1"/>
          </p:cNvPicPr>
          <p:nvPr/>
        </p:nvPicPr>
        <p:blipFill>
          <a:blip r:embed="rId2"/>
          <a:stretch>
            <a:fillRect/>
          </a:stretch>
        </p:blipFill>
        <p:spPr>
          <a:xfrm>
            <a:off x="685800" y="3177608"/>
            <a:ext cx="10820095" cy="962016"/>
          </a:xfrm>
          <a:prstGeom prst="rect">
            <a:avLst/>
          </a:prstGeom>
        </p:spPr>
      </p:pic>
      <p:sp>
        <p:nvSpPr>
          <p:cNvPr id="8" name="TextBox 7"/>
          <p:cNvSpPr txBox="1"/>
          <p:nvPr/>
        </p:nvSpPr>
        <p:spPr>
          <a:xfrm>
            <a:off x="685800" y="4285928"/>
            <a:ext cx="10820095" cy="910336"/>
          </a:xfrm>
          <a:prstGeom prst="rect">
            <a:avLst/>
          </a:prstGeom>
          <a:noFill/>
        </p:spPr>
        <p:txBody>
          <a:bodyPr wrap="square" anchor="t" lIns="0" rIns="0" tIns="0" bIns="0">
            <a:spAutoFit/>
          </a:bodyPr>
          <a:lstStyle/>
          <a:p>
            <a:pPr>
              <a:spcAft>
                <a:spcPts val="900"/>
              </a:spcAft>
            </a:pPr>
            <a:r>
              <a:rPr sz="2000" b="0">
                <a:solidFill>
                  <a:srgbClr val="1C1C1A"/>
                </a:solidFill>
                <a:latin typeface="Calibri"/>
              </a:rPr>
              <a:t>The parameter is the only door in. The return is the only door out. Everything else is inside and is nobody else's business.</a:t>
            </a:r>
          </a:p>
        </p:txBody>
      </p:sp>
      <p:sp>
        <p:nvSpPr>
          <p:cNvPr id="9" name="Rectangle 8"/>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2. Half one: package the logic, survive bad data</a:t>
            </a:r>
          </a:p>
        </p:txBody>
      </p:sp>
      <p:sp>
        <p:nvSpPr>
          <p:cNvPr id="11" name="TextBox 10"/>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10 / 67</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S6</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3000" b="1">
                <a:solidFill>
                  <a:srgbClr val="1C1C1A"/>
                </a:solidFill>
                <a:latin typeface="Calibri"/>
              </a:rPr>
              <a:t>What the name buys you</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685800" y="3102864"/>
            <a:ext cx="10820095" cy="1475232"/>
          </a:xfrm>
          <a:prstGeom prst="rect">
            <a:avLst/>
          </a:prstGeom>
          <a:noFill/>
        </p:spPr>
        <p:txBody>
          <a:bodyPr wrap="square" anchor="t" lIns="0" rIns="0" tIns="0" bIns="0">
            <a:spAutoFit/>
          </a:bodyPr>
          <a:lstStyle/>
          <a:p>
            <a:pPr>
              <a:spcAft>
                <a:spcPts val="900"/>
              </a:spcAft>
            </a:pPr>
            <a:r>
              <a:rPr sz="2000" b="0">
                <a:solidFill>
                  <a:srgbClr val="1C1C1A"/>
                </a:solidFill>
                <a:latin typeface="Calibri"/>
              </a:rPr>
              <a:t>You can say the name out loud to a colleague.</a:t>
            </a:r>
          </a:p>
          <a:p>
            <a:pPr>
              <a:spcAft>
                <a:spcPts val="900"/>
              </a:spcAft>
            </a:pPr>
            <a:r>
              <a:rPr sz="2000" b="0">
                <a:solidFill>
                  <a:srgbClr val="1C1C1A"/>
                </a:solidFill>
                <a:latin typeface="Calibri"/>
              </a:rPr>
              <a:t>You can change the rule in one place.</a:t>
            </a:r>
          </a:p>
          <a:p>
            <a:pPr>
              <a:spcAft>
                <a:spcPts val="900"/>
              </a:spcAft>
            </a:pPr>
            <a:r>
              <a:rPr sz="2000" b="0">
                <a:solidFill>
                  <a:srgbClr val="1C1C1A"/>
                </a:solidFill>
                <a:latin typeface="Calibri"/>
              </a:rPr>
              <a:t>You can run it on a file that arrives next week.</a:t>
            </a:r>
          </a:p>
        </p:txBody>
      </p:sp>
      <p:sp>
        <p:nvSpPr>
          <p:cNvPr id="7" name="Rectangle 6"/>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2. Half one: package the logic, survive bad data</a:t>
            </a:r>
          </a:p>
        </p:txBody>
      </p:sp>
      <p:sp>
        <p:nvSpPr>
          <p:cNvPr id="9" name="TextBox 8"/>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11 / 67</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S7</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2600" b="1">
                <a:solidFill>
                  <a:srgbClr val="1C1C1A"/>
                </a:solidFill>
                <a:latin typeface="Calibri"/>
              </a:rPr>
              <a:t>The parameter is the promise</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685800" y="3157728"/>
            <a:ext cx="10820095" cy="1365504"/>
          </a:xfrm>
          <a:prstGeom prst="rect">
            <a:avLst/>
          </a:prstGeom>
          <a:noFill/>
        </p:spPr>
        <p:txBody>
          <a:bodyPr wrap="square" anchor="t" lIns="0" rIns="0" tIns="0" bIns="0">
            <a:spAutoFit/>
          </a:bodyPr>
          <a:lstStyle/>
          <a:p>
            <a:pPr>
              <a:spcAft>
                <a:spcPts val="900"/>
              </a:spcAft>
            </a:pPr>
            <a:r>
              <a:rPr sz="2000" b="0">
                <a:solidFill>
                  <a:srgbClr val="1C1C1A"/>
                </a:solidFill>
                <a:latin typeface="Calibri"/>
              </a:rPr>
              <a:t>def delivered_total(records) says: give me records, I give you a number.</a:t>
            </a:r>
          </a:p>
          <a:p>
            <a:pPr>
              <a:spcAft>
                <a:spcPts val="900"/>
              </a:spcAft>
            </a:pPr>
            <a:r>
              <a:rPr sz="2000" b="0">
                <a:solidFill>
                  <a:srgbClr val="1C1C1A"/>
                </a:solidFill>
                <a:latin typeface="Calibri"/>
              </a:rPr>
              <a:t>The function cannot see anything you did not hand it. That is the whole of scope for today.</a:t>
            </a:r>
          </a:p>
        </p:txBody>
      </p:sp>
      <p:sp>
        <p:nvSpPr>
          <p:cNvPr id="7" name="Rectangle 6"/>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2. Half one: package the logic, survive bad data</a:t>
            </a:r>
          </a:p>
        </p:txBody>
      </p:sp>
      <p:sp>
        <p:nvSpPr>
          <p:cNvPr id="9" name="TextBox 8"/>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12 / 67</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D4</a:t>
            </a:r>
          </a:p>
        </p:txBody>
      </p:sp>
      <p:sp>
        <p:nvSpPr>
          <p:cNvPr id="4" name="Rounded Rectangle 3"/>
          <p:cNvSpPr/>
          <p:nvPr/>
        </p:nvSpPr>
        <p:spPr>
          <a:xfrm>
            <a:off x="10573207" y="603504"/>
            <a:ext cx="932688" cy="274320"/>
          </a:xfrm>
          <a:prstGeom prst="round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DEPTH</a:t>
            </a:r>
          </a:p>
        </p:txBody>
      </p:sp>
      <p:sp>
        <p:nvSpPr>
          <p:cNvPr id="5" name="TextBox 4"/>
          <p:cNvSpPr txBox="1"/>
          <p:nvPr/>
        </p:nvSpPr>
        <p:spPr>
          <a:xfrm>
            <a:off x="1618488" y="493776"/>
            <a:ext cx="8790127" cy="786384"/>
          </a:xfrm>
          <a:prstGeom prst="rect">
            <a:avLst/>
          </a:prstGeom>
          <a:noFill/>
        </p:spPr>
        <p:txBody>
          <a:bodyPr wrap="square" anchor="ctr" lIns="0" rIns="0" tIns="0" bIns="0">
            <a:spAutoFit/>
          </a:bodyPr>
          <a:lstStyle/>
          <a:p>
            <a:r>
              <a:rPr sz="3000" b="1">
                <a:solidFill>
                  <a:srgbClr val="1C1C1A"/>
                </a:solidFill>
                <a:latin typeface="Calibri"/>
              </a:rPr>
              <a:t>Scope, drawn once</a:t>
            </a:r>
          </a:p>
        </p:txBody>
      </p:sp>
      <p:sp>
        <p:nvSpPr>
          <p:cNvPr id="6" name="Rectangle 5"/>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685800" y="1627632"/>
            <a:ext cx="10820095" cy="443992"/>
          </a:xfrm>
          <a:prstGeom prst="rect">
            <a:avLst/>
          </a:prstGeom>
          <a:noFill/>
        </p:spPr>
        <p:txBody>
          <a:bodyPr wrap="square" anchor="t" lIns="0" rIns="0" tIns="0" bIns="0">
            <a:spAutoFit/>
          </a:bodyPr>
          <a:lstStyle/>
          <a:p>
            <a:pPr>
              <a:spcAft>
                <a:spcPts val="600"/>
              </a:spcAft>
            </a:pPr>
            <a:r>
              <a:rPr sz="1300" b="0">
                <a:solidFill>
                  <a:srgbClr val="1C1C1A"/>
                </a:solidFill>
                <a:latin typeface="Calibri"/>
              </a:rPr>
              <a:t>The bench you worked on yesterday is the global bench. A call builds a small second bench, uses it, and throws it away.</a:t>
            </a:r>
          </a:p>
        </p:txBody>
      </p:sp>
      <p:pic>
        <p:nvPicPr>
          <p:cNvPr id="8" name="Picture 7" descr="6e6f16776caa8a6c.png"/>
          <p:cNvPicPr>
            <a:picLocks noChangeAspect="1"/>
          </p:cNvPicPr>
          <p:nvPr/>
        </p:nvPicPr>
        <p:blipFill>
          <a:blip r:embed="rId2"/>
          <a:stretch>
            <a:fillRect/>
          </a:stretch>
        </p:blipFill>
        <p:spPr>
          <a:xfrm>
            <a:off x="685800" y="2199640"/>
            <a:ext cx="10820095" cy="2686746"/>
          </a:xfrm>
          <a:prstGeom prst="rect">
            <a:avLst/>
          </a:prstGeom>
        </p:spPr>
      </p:pic>
      <p:sp>
        <p:nvSpPr>
          <p:cNvPr id="9" name="TextBox 8"/>
          <p:cNvSpPr txBox="1"/>
          <p:nvPr/>
        </p:nvSpPr>
        <p:spPr>
          <a:xfrm>
            <a:off x="685800" y="5032690"/>
            <a:ext cx="10820095" cy="668528"/>
          </a:xfrm>
          <a:prstGeom prst="rect">
            <a:avLst/>
          </a:prstGeom>
          <a:noFill/>
        </p:spPr>
        <p:txBody>
          <a:bodyPr wrap="square" anchor="t" lIns="0" rIns="0" tIns="0" bIns="0">
            <a:spAutoFit/>
          </a:bodyPr>
          <a:lstStyle/>
          <a:p>
            <a:pPr>
              <a:spcAft>
                <a:spcPts val="600"/>
              </a:spcAft>
            </a:pPr>
            <a:r>
              <a:rPr sz="1300" b="0">
                <a:solidFill>
                  <a:srgbClr val="1C1C1A"/>
                </a:solidFill>
                <a:latin typeface="Calibri"/>
              </a:rPr>
              <a:t>Two names spelled total can hold two different numbers at the same time. The one inside the call disappears when the call ends, and the one outside never noticed.</a:t>
            </a:r>
          </a:p>
        </p:txBody>
      </p:sp>
      <p:sp>
        <p:nvSpPr>
          <p:cNvPr id="10" name="Rectangle 9"/>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2. Half one: package the logic, survive bad data</a:t>
            </a:r>
          </a:p>
        </p:txBody>
      </p:sp>
      <p:sp>
        <p:nvSpPr>
          <p:cNvPr id="12" name="TextBox 11"/>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13 / 67</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D5</a:t>
            </a:r>
          </a:p>
        </p:txBody>
      </p:sp>
      <p:sp>
        <p:nvSpPr>
          <p:cNvPr id="4" name="Rounded Rectangle 3"/>
          <p:cNvSpPr/>
          <p:nvPr/>
        </p:nvSpPr>
        <p:spPr>
          <a:xfrm>
            <a:off x="10573207" y="603504"/>
            <a:ext cx="932688" cy="274320"/>
          </a:xfrm>
          <a:prstGeom prst="round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DEPTH</a:t>
            </a:r>
          </a:p>
        </p:txBody>
      </p:sp>
      <p:sp>
        <p:nvSpPr>
          <p:cNvPr id="5" name="TextBox 4"/>
          <p:cNvSpPr txBox="1"/>
          <p:nvPr/>
        </p:nvSpPr>
        <p:spPr>
          <a:xfrm>
            <a:off x="1618488" y="493776"/>
            <a:ext cx="8790127" cy="786384"/>
          </a:xfrm>
          <a:prstGeom prst="rect">
            <a:avLst/>
          </a:prstGeom>
          <a:noFill/>
        </p:spPr>
        <p:txBody>
          <a:bodyPr wrap="square" anchor="ctr" lIns="0" rIns="0" tIns="0" bIns="0">
            <a:spAutoFit/>
          </a:bodyPr>
          <a:lstStyle/>
          <a:p>
            <a:r>
              <a:rPr sz="2300" b="1">
                <a:solidFill>
                  <a:srgbClr val="1C1C1A"/>
                </a:solidFill>
                <a:latin typeface="Calibri"/>
              </a:rPr>
              <a:t>Prove it to yourself in four lines</a:t>
            </a:r>
          </a:p>
        </p:txBody>
      </p:sp>
      <p:sp>
        <p:nvSpPr>
          <p:cNvPr id="6" name="Rectangle 5"/>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685800" y="1627632"/>
            <a:ext cx="10820095" cy="2023363"/>
          </a:xfrm>
          <a:prstGeom prst="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ectangle 7"/>
          <p:cNvSpPr/>
          <p:nvPr/>
        </p:nvSpPr>
        <p:spPr>
          <a:xfrm>
            <a:off x="685800" y="1627632"/>
            <a:ext cx="50292" cy="2023363"/>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23544" y="1728216"/>
            <a:ext cx="10417759" cy="1840483"/>
          </a:xfrm>
          <a:prstGeom prst="rect">
            <a:avLst/>
          </a:prstGeom>
          <a:noFill/>
        </p:spPr>
        <p:txBody>
          <a:bodyPr wrap="square" anchor="t" lIns="0" rIns="0" tIns="0" bIns="0">
            <a:spAutoFit/>
          </a:bodyPr>
          <a:lstStyle/>
          <a:p>
            <a:pPr>
              <a:spcAft>
                <a:spcPts val="200"/>
              </a:spcAft>
            </a:pPr>
            <a:r>
              <a:rPr sz="1400" b="0">
                <a:solidFill>
                  <a:srgbClr val="E4ECF7"/>
                </a:solidFill>
                <a:latin typeface="Consolas"/>
              </a:rPr>
              <a:t>total = 99</a:t>
            </a:r>
          </a:p>
          <a:p>
            <a:pPr>
              <a:spcAft>
                <a:spcPts val="200"/>
              </a:spcAft>
            </a:pPr>
          </a:p>
          <a:p>
            <a:pPr>
              <a:spcAft>
                <a:spcPts val="200"/>
              </a:spcAft>
            </a:pPr>
            <a:r>
              <a:rPr sz="1400" b="0">
                <a:solidFill>
                  <a:srgbClr val="E4ECF7"/>
                </a:solidFill>
                <a:latin typeface="Consolas"/>
              </a:rPr>
              <a:t>def delivered_total(records):</a:t>
            </a:r>
          </a:p>
          <a:p>
            <a:pPr>
              <a:spcAft>
                <a:spcPts val="200"/>
              </a:spcAft>
            </a:pPr>
            <a:r>
              <a:rPr sz="1400" b="0">
                <a:solidFill>
                  <a:srgbClr val="E4ECF7"/>
                </a:solidFill>
                <a:latin typeface="Consolas"/>
              </a:rPr>
              <a:t>    total = 0</a:t>
            </a:r>
          </a:p>
          <a:p>
            <a:pPr>
              <a:spcAft>
                <a:spcPts val="200"/>
              </a:spcAft>
            </a:pPr>
            <a:r>
              <a:rPr sz="1400" b="0">
                <a:solidFill>
                  <a:srgbClr val="E4ECF7"/>
                </a:solidFill>
                <a:latin typeface="Consolas"/>
              </a:rPr>
              <a:t>    return total</a:t>
            </a:r>
          </a:p>
          <a:p>
            <a:pPr>
              <a:spcAft>
                <a:spcPts val="200"/>
              </a:spcAft>
            </a:pPr>
          </a:p>
          <a:p>
            <a:pPr>
              <a:spcAft>
                <a:spcPts val="200"/>
              </a:spcAft>
            </a:pPr>
            <a:r>
              <a:rPr sz="1400" b="0">
                <a:solidFill>
                  <a:srgbClr val="E4ECF7"/>
                </a:solidFill>
                <a:latin typeface="Consolas"/>
              </a:rPr>
              <a:t>print(delivered_total([]), total)</a:t>
            </a:r>
          </a:p>
        </p:txBody>
      </p:sp>
      <p:sp>
        <p:nvSpPr>
          <p:cNvPr id="10" name="Rectangle 9"/>
          <p:cNvSpPr/>
          <p:nvPr/>
        </p:nvSpPr>
        <p:spPr>
          <a:xfrm>
            <a:off x="685800" y="3815587"/>
            <a:ext cx="10820095" cy="508508"/>
          </a:xfrm>
          <a:prstGeom prst="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ectangle 10"/>
          <p:cNvSpPr/>
          <p:nvPr/>
        </p:nvSpPr>
        <p:spPr>
          <a:xfrm>
            <a:off x="685800" y="3815587"/>
            <a:ext cx="50292" cy="508508"/>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923544" y="3916172"/>
            <a:ext cx="10417759" cy="325628"/>
          </a:xfrm>
          <a:prstGeom prst="rect">
            <a:avLst/>
          </a:prstGeom>
          <a:noFill/>
        </p:spPr>
        <p:txBody>
          <a:bodyPr wrap="square" anchor="t" lIns="0" rIns="0" tIns="0" bIns="0">
            <a:spAutoFit/>
          </a:bodyPr>
          <a:lstStyle/>
          <a:p>
            <a:pPr>
              <a:spcAft>
                <a:spcPts val="200"/>
              </a:spcAft>
            </a:pPr>
            <a:r>
              <a:rPr sz="1400" b="0">
                <a:solidFill>
                  <a:srgbClr val="E4ECF7"/>
                </a:solidFill>
                <a:latin typeface="Consolas"/>
              </a:rPr>
              <a:t>0 99</a:t>
            </a:r>
          </a:p>
        </p:txBody>
      </p:sp>
      <p:sp>
        <p:nvSpPr>
          <p:cNvPr id="13" name="TextBox 12"/>
          <p:cNvSpPr txBox="1"/>
          <p:nvPr/>
        </p:nvSpPr>
        <p:spPr>
          <a:xfrm>
            <a:off x="685800" y="4488687"/>
            <a:ext cx="10820095" cy="1100328"/>
          </a:xfrm>
          <a:prstGeom prst="rect">
            <a:avLst/>
          </a:prstGeom>
          <a:noFill/>
        </p:spPr>
        <p:txBody>
          <a:bodyPr wrap="square" anchor="t" lIns="0" rIns="0" tIns="0" bIns="0">
            <a:spAutoFit/>
          </a:bodyPr>
          <a:lstStyle/>
          <a:p>
            <a:pPr>
              <a:spcAft>
                <a:spcPts val="800"/>
              </a:spcAft>
            </a:pPr>
            <a:r>
              <a:rPr sz="1700" b="0">
                <a:solidFill>
                  <a:srgbClr val="1C1C1A"/>
                </a:solidFill>
                <a:latin typeface="Calibri"/>
              </a:rPr>
              <a:t>The function set total to zero and the outer total is still 99. If you expected 0 0, that expectation is the single most common source of confusion in this room, and now you have watched it not happen.</a:t>
            </a:r>
          </a:p>
        </p:txBody>
      </p:sp>
      <p:sp>
        <p:nvSpPr>
          <p:cNvPr id="14" name="Rectangle 13"/>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2. Half one: package the logic, survive bad data</a:t>
            </a:r>
          </a:p>
        </p:txBody>
      </p:sp>
      <p:sp>
        <p:nvSpPr>
          <p:cNvPr id="16" name="TextBox 15"/>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14 / 67</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S8</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3000" b="1">
                <a:solidFill>
                  <a:srgbClr val="1C1C1A"/>
                </a:solidFill>
                <a:latin typeface="Calibri"/>
              </a:rPr>
              <a:t>Live demo</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685800" y="3157728"/>
            <a:ext cx="10820095" cy="1365504"/>
          </a:xfrm>
          <a:prstGeom prst="rect">
            <a:avLst/>
          </a:prstGeom>
          <a:noFill/>
        </p:spPr>
        <p:txBody>
          <a:bodyPr wrap="square" anchor="t" lIns="0" rIns="0" tIns="0" bIns="0">
            <a:spAutoFit/>
          </a:bodyPr>
          <a:lstStyle/>
          <a:p>
            <a:pPr>
              <a:spcAft>
                <a:spcPts val="900"/>
              </a:spcAft>
            </a:pPr>
            <a:r>
              <a:rPr sz="2000" b="0">
                <a:solidFill>
                  <a:srgbClr val="1C1C1A"/>
                </a:solidFill>
                <a:latin typeface="Calibri"/>
              </a:rPr>
              <a:t>Carve delivered_total out of the inline cell together.</a:t>
            </a:r>
          </a:p>
          <a:p>
            <a:pPr>
              <a:spcAft>
                <a:spcPts val="900"/>
              </a:spcAft>
            </a:pPr>
            <a:r>
              <a:rPr sz="2000" b="0">
                <a:solidFill>
                  <a:srgbClr val="1C1C1A"/>
                </a:solidFill>
                <a:latin typeface="Calibri"/>
              </a:rPr>
              <a:t>Then break it: rename the variable outside the function and watch the function keep working.</a:t>
            </a:r>
          </a:p>
        </p:txBody>
      </p:sp>
      <p:sp>
        <p:nvSpPr>
          <p:cNvPr id="7" name="Rectangle 6"/>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2. Half one: package the logic, survive bad data</a:t>
            </a:r>
          </a:p>
        </p:txBody>
      </p:sp>
      <p:sp>
        <p:nvSpPr>
          <p:cNvPr id="9" name="TextBox 8"/>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15 / 67</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S9</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3000" b="1">
                <a:solidFill>
                  <a:srgbClr val="1C1C1A"/>
                </a:solidFill>
                <a:latin typeface="Calibri"/>
              </a:rPr>
              <a:t>return against print</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685800" y="2770632"/>
            <a:ext cx="10820095" cy="1410208"/>
          </a:xfrm>
          <a:prstGeom prst="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685800" y="2770632"/>
            <a:ext cx="50292" cy="1410208"/>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923544" y="2871216"/>
            <a:ext cx="10417759" cy="1227328"/>
          </a:xfrm>
          <a:prstGeom prst="rect">
            <a:avLst/>
          </a:prstGeom>
          <a:noFill/>
        </p:spPr>
        <p:txBody>
          <a:bodyPr wrap="square" anchor="t" lIns="0" rIns="0" tIns="0" bIns="0">
            <a:spAutoFit/>
          </a:bodyPr>
          <a:lstStyle/>
          <a:p>
            <a:pPr>
              <a:spcAft>
                <a:spcPts val="200"/>
              </a:spcAft>
            </a:pPr>
            <a:r>
              <a:rPr sz="1600" b="0">
                <a:solidFill>
                  <a:srgbClr val="E4ECF7"/>
                </a:solidFill>
                <a:latin typeface="Consolas"/>
              </a:rPr>
              <a:t>def fix(record):</a:t>
            </a:r>
          </a:p>
          <a:p>
            <a:pPr>
              <a:spcAft>
                <a:spcPts val="200"/>
              </a:spcAft>
            </a:pPr>
            <a:r>
              <a:rPr sz="1600" b="0">
                <a:solidFill>
                  <a:srgbClr val="E4ECF7"/>
                </a:solidFill>
                <a:latin typeface="Consolas"/>
              </a:rPr>
              <a:t>    print(record["order_id"])</a:t>
            </a:r>
          </a:p>
          <a:p>
            <a:pPr>
              <a:spcAft>
                <a:spcPts val="200"/>
              </a:spcAft>
            </a:pPr>
          </a:p>
          <a:p>
            <a:pPr>
              <a:spcAft>
                <a:spcPts val="200"/>
              </a:spcAft>
            </a:pPr>
            <a:r>
              <a:rPr sz="1600" b="0">
                <a:solidFill>
                  <a:srgbClr val="E4ECF7"/>
                </a:solidFill>
                <a:latin typeface="Consolas"/>
              </a:rPr>
              <a:t>result = fix(rec)</a:t>
            </a:r>
          </a:p>
        </p:txBody>
      </p:sp>
      <p:sp>
        <p:nvSpPr>
          <p:cNvPr id="9" name="TextBox 8"/>
          <p:cNvSpPr txBox="1"/>
          <p:nvPr/>
        </p:nvSpPr>
        <p:spPr>
          <a:xfrm>
            <a:off x="685800" y="4345432"/>
            <a:ext cx="10820095" cy="564896"/>
          </a:xfrm>
          <a:prstGeom prst="rect">
            <a:avLst/>
          </a:prstGeom>
          <a:noFill/>
        </p:spPr>
        <p:txBody>
          <a:bodyPr wrap="square" anchor="t" lIns="0" rIns="0" tIns="0" bIns="0">
            <a:spAutoFit/>
          </a:bodyPr>
          <a:lstStyle/>
          <a:p>
            <a:pPr>
              <a:spcAft>
                <a:spcPts val="900"/>
              </a:spcAft>
            </a:pPr>
            <a:r>
              <a:rPr sz="2000" b="0">
                <a:solidFill>
                  <a:srgbClr val="1C1C1A"/>
                </a:solidFill>
                <a:latin typeface="Calibri"/>
              </a:rPr>
              <a:t>What is inside result now?</a:t>
            </a:r>
          </a:p>
        </p:txBody>
      </p:sp>
      <p:sp>
        <p:nvSpPr>
          <p:cNvPr id="10" name="Rectangle 9"/>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2. Half one: package the logic, survive bad data</a:t>
            </a:r>
          </a:p>
        </p:txBody>
      </p:sp>
      <p:sp>
        <p:nvSpPr>
          <p:cNvPr id="12" name="TextBox 11"/>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16 / 67</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S10</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3000" b="1">
                <a:solidFill>
                  <a:srgbClr val="1C1C1A"/>
                </a:solidFill>
                <a:latin typeface="Calibri"/>
              </a:rPr>
              <a:t>The break</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685800" y="3030728"/>
            <a:ext cx="10820095" cy="544576"/>
          </a:xfrm>
          <a:prstGeom prst="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685800" y="3030728"/>
            <a:ext cx="50292" cy="544576"/>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923544" y="3131312"/>
            <a:ext cx="10417759" cy="361696"/>
          </a:xfrm>
          <a:prstGeom prst="rect">
            <a:avLst/>
          </a:prstGeom>
          <a:noFill/>
        </p:spPr>
        <p:txBody>
          <a:bodyPr wrap="square" anchor="t" lIns="0" rIns="0" tIns="0" bIns="0">
            <a:spAutoFit/>
          </a:bodyPr>
          <a:lstStyle/>
          <a:p>
            <a:pPr>
              <a:spcAft>
                <a:spcPts val="200"/>
              </a:spcAft>
            </a:pPr>
            <a:r>
              <a:rPr sz="1600" b="0">
                <a:solidFill>
                  <a:srgbClr val="E4ECF7"/>
                </a:solidFill>
                <a:latin typeface="Consolas"/>
              </a:rPr>
              <a:t>TypeError: 'NoneType' object is not subscriptable</a:t>
            </a:r>
          </a:p>
        </p:txBody>
      </p:sp>
      <p:sp>
        <p:nvSpPr>
          <p:cNvPr id="9" name="TextBox 8"/>
          <p:cNvSpPr txBox="1"/>
          <p:nvPr/>
        </p:nvSpPr>
        <p:spPr>
          <a:xfrm>
            <a:off x="685800" y="3739896"/>
            <a:ext cx="10820095" cy="910336"/>
          </a:xfrm>
          <a:prstGeom prst="rect">
            <a:avLst/>
          </a:prstGeom>
          <a:noFill/>
        </p:spPr>
        <p:txBody>
          <a:bodyPr wrap="square" anchor="t" lIns="0" rIns="0" tIns="0" bIns="0">
            <a:spAutoFit/>
          </a:bodyPr>
          <a:lstStyle/>
          <a:p>
            <a:pPr>
              <a:spcAft>
                <a:spcPts val="900"/>
              </a:spcAft>
            </a:pPr>
            <a:r>
              <a:rPr sz="2000" b="0">
                <a:solidFill>
                  <a:srgbClr val="1C1C1A"/>
                </a:solidFill>
                <a:latin typeface="Calibri"/>
              </a:rPr>
              <a:t>print shows a human. return hands a value back to the code. A function that only prints returns None, and None cannot be indexed.</a:t>
            </a:r>
          </a:p>
        </p:txBody>
      </p:sp>
      <p:sp>
        <p:nvSpPr>
          <p:cNvPr id="10" name="Rectangle 9"/>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2. Half one: package the logic, survive bad data</a:t>
            </a:r>
          </a:p>
        </p:txBody>
      </p:sp>
      <p:sp>
        <p:nvSpPr>
          <p:cNvPr id="12" name="TextBox 11"/>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17 / 67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D6</a:t>
            </a:r>
          </a:p>
        </p:txBody>
      </p:sp>
      <p:sp>
        <p:nvSpPr>
          <p:cNvPr id="4" name="Rounded Rectangle 3"/>
          <p:cNvSpPr/>
          <p:nvPr/>
        </p:nvSpPr>
        <p:spPr>
          <a:xfrm>
            <a:off x="10573207" y="603504"/>
            <a:ext cx="932688" cy="274320"/>
          </a:xfrm>
          <a:prstGeom prst="round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DEPTH</a:t>
            </a:r>
          </a:p>
        </p:txBody>
      </p:sp>
      <p:sp>
        <p:nvSpPr>
          <p:cNvPr id="5" name="TextBox 4"/>
          <p:cNvSpPr txBox="1"/>
          <p:nvPr/>
        </p:nvSpPr>
        <p:spPr>
          <a:xfrm>
            <a:off x="1618488" y="493776"/>
            <a:ext cx="8790127" cy="786384"/>
          </a:xfrm>
          <a:prstGeom prst="rect">
            <a:avLst/>
          </a:prstGeom>
          <a:noFill/>
        </p:spPr>
        <p:txBody>
          <a:bodyPr wrap="square" anchor="ctr" lIns="0" rIns="0" tIns="0" bIns="0">
            <a:spAutoFit/>
          </a:bodyPr>
          <a:lstStyle/>
          <a:p>
            <a:r>
              <a:rPr sz="2300" b="1">
                <a:solidFill>
                  <a:srgbClr val="1C1C1A"/>
                </a:solidFill>
                <a:latin typeface="Calibri"/>
              </a:rPr>
              <a:t>The same function, both ways, side by side</a:t>
            </a:r>
          </a:p>
        </p:txBody>
      </p:sp>
      <p:sp>
        <p:nvSpPr>
          <p:cNvPr id="6" name="Rectangle 5"/>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685800" y="1627632"/>
            <a:ext cx="10820095" cy="2528315"/>
          </a:xfrm>
          <a:prstGeom prst="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ectangle 7"/>
          <p:cNvSpPr/>
          <p:nvPr/>
        </p:nvSpPr>
        <p:spPr>
          <a:xfrm>
            <a:off x="685800" y="1627632"/>
            <a:ext cx="50292" cy="2528315"/>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23544" y="1728216"/>
            <a:ext cx="10417759" cy="2345435"/>
          </a:xfrm>
          <a:prstGeom prst="rect">
            <a:avLst/>
          </a:prstGeom>
          <a:noFill/>
        </p:spPr>
        <p:txBody>
          <a:bodyPr wrap="square" anchor="t" lIns="0" rIns="0" tIns="0" bIns="0">
            <a:spAutoFit/>
          </a:bodyPr>
          <a:lstStyle/>
          <a:p>
            <a:pPr>
              <a:spcAft>
                <a:spcPts val="200"/>
              </a:spcAft>
            </a:pPr>
            <a:r>
              <a:rPr sz="1400" b="0">
                <a:solidFill>
                  <a:srgbClr val="E4ECF7"/>
                </a:solidFill>
                <a:latin typeface="Consolas"/>
              </a:rPr>
              <a:t>def with_print(record):</a:t>
            </a:r>
          </a:p>
          <a:p>
            <a:pPr>
              <a:spcAft>
                <a:spcPts val="200"/>
              </a:spcAft>
            </a:pPr>
            <a:r>
              <a:rPr sz="1400" b="0">
                <a:solidFill>
                  <a:srgbClr val="E4ECF7"/>
                </a:solidFill>
                <a:latin typeface="Consolas"/>
              </a:rPr>
              <a:t>    print(int(record["amount"]))</a:t>
            </a:r>
          </a:p>
          <a:p>
            <a:pPr>
              <a:spcAft>
                <a:spcPts val="200"/>
              </a:spcAft>
            </a:pPr>
          </a:p>
          <a:p>
            <a:pPr>
              <a:spcAft>
                <a:spcPts val="200"/>
              </a:spcAft>
            </a:pPr>
            <a:r>
              <a:rPr sz="1400" b="0">
                <a:solidFill>
                  <a:srgbClr val="E4ECF7"/>
                </a:solidFill>
                <a:latin typeface="Consolas"/>
              </a:rPr>
              <a:t>def with_return(record):</a:t>
            </a:r>
          </a:p>
          <a:p>
            <a:pPr>
              <a:spcAft>
                <a:spcPts val="200"/>
              </a:spcAft>
            </a:pPr>
            <a:r>
              <a:rPr sz="1400" b="0">
                <a:solidFill>
                  <a:srgbClr val="E4ECF7"/>
                </a:solidFill>
                <a:latin typeface="Consolas"/>
              </a:rPr>
              <a:t>    return int(record["amount"])</a:t>
            </a:r>
          </a:p>
          <a:p>
            <a:pPr>
              <a:spcAft>
                <a:spcPts val="200"/>
              </a:spcAft>
            </a:pPr>
          </a:p>
          <a:p>
            <a:pPr>
              <a:spcAft>
                <a:spcPts val="200"/>
              </a:spcAft>
            </a:pPr>
            <a:r>
              <a:rPr sz="1400" b="0">
                <a:solidFill>
                  <a:srgbClr val="E4ECF7"/>
                </a:solidFill>
                <a:latin typeface="Consolas"/>
              </a:rPr>
              <a:t>a = with_print(orders[0])</a:t>
            </a:r>
          </a:p>
          <a:p>
            <a:pPr>
              <a:spcAft>
                <a:spcPts val="200"/>
              </a:spcAft>
            </a:pPr>
            <a:r>
              <a:rPr sz="1400" b="0">
                <a:solidFill>
                  <a:srgbClr val="E4ECF7"/>
                </a:solidFill>
                <a:latin typeface="Consolas"/>
              </a:rPr>
              <a:t>b = with_return(orders[0])</a:t>
            </a:r>
          </a:p>
          <a:p>
            <a:pPr>
              <a:spcAft>
                <a:spcPts val="200"/>
              </a:spcAft>
            </a:pPr>
            <a:r>
              <a:rPr sz="1400" b="0">
                <a:solidFill>
                  <a:srgbClr val="E4ECF7"/>
                </a:solidFill>
                <a:latin typeface="Consolas"/>
              </a:rPr>
              <a:t>print("a is", a, "and b is", b)</a:t>
            </a:r>
          </a:p>
        </p:txBody>
      </p:sp>
      <p:sp>
        <p:nvSpPr>
          <p:cNvPr id="10" name="Rectangle 9"/>
          <p:cNvSpPr/>
          <p:nvPr/>
        </p:nvSpPr>
        <p:spPr>
          <a:xfrm>
            <a:off x="685800" y="4320540"/>
            <a:ext cx="10820095" cy="760984"/>
          </a:xfrm>
          <a:prstGeom prst="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ectangle 10"/>
          <p:cNvSpPr/>
          <p:nvPr/>
        </p:nvSpPr>
        <p:spPr>
          <a:xfrm>
            <a:off x="685800" y="4320540"/>
            <a:ext cx="50292" cy="76098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923544" y="4421124"/>
            <a:ext cx="10417759" cy="578104"/>
          </a:xfrm>
          <a:prstGeom prst="rect">
            <a:avLst/>
          </a:prstGeom>
          <a:noFill/>
        </p:spPr>
        <p:txBody>
          <a:bodyPr wrap="square" anchor="t" lIns="0" rIns="0" tIns="0" bIns="0">
            <a:spAutoFit/>
          </a:bodyPr>
          <a:lstStyle/>
          <a:p>
            <a:pPr>
              <a:spcAft>
                <a:spcPts val="200"/>
              </a:spcAft>
            </a:pPr>
            <a:r>
              <a:rPr sz="1400" b="0">
                <a:solidFill>
                  <a:srgbClr val="E4ECF7"/>
                </a:solidFill>
                <a:latin typeface="Consolas"/>
              </a:rPr>
              <a:t>4500</a:t>
            </a:r>
          </a:p>
          <a:p>
            <a:pPr>
              <a:spcAft>
                <a:spcPts val="200"/>
              </a:spcAft>
            </a:pPr>
            <a:r>
              <a:rPr sz="1400" b="0">
                <a:solidFill>
                  <a:srgbClr val="E4ECF7"/>
                </a:solidFill>
                <a:latin typeface="Consolas"/>
              </a:rPr>
              <a:t>a is None and b is 4500</a:t>
            </a:r>
          </a:p>
        </p:txBody>
      </p:sp>
      <p:sp>
        <p:nvSpPr>
          <p:cNvPr id="13" name="TextBox 12"/>
          <p:cNvSpPr txBox="1"/>
          <p:nvPr/>
        </p:nvSpPr>
        <p:spPr>
          <a:xfrm>
            <a:off x="685800" y="5246116"/>
            <a:ext cx="10820095" cy="513080"/>
          </a:xfrm>
          <a:prstGeom prst="rect">
            <a:avLst/>
          </a:prstGeom>
          <a:noFill/>
        </p:spPr>
        <p:txBody>
          <a:bodyPr wrap="square" anchor="t" lIns="0" rIns="0" tIns="0" bIns="0">
            <a:spAutoFit/>
          </a:bodyPr>
          <a:lstStyle/>
          <a:p>
            <a:pPr>
              <a:spcAft>
                <a:spcPts val="800"/>
              </a:spcAft>
            </a:pPr>
            <a:r>
              <a:rPr sz="1700" b="0">
                <a:solidFill>
                  <a:srgbClr val="1C1C1A"/>
                </a:solidFill>
                <a:latin typeface="Calibri"/>
              </a:rPr>
              <a:t>Both put 4500 in front of you. Only one of them put it anywhere your next line can reach.</a:t>
            </a:r>
          </a:p>
        </p:txBody>
      </p:sp>
      <p:sp>
        <p:nvSpPr>
          <p:cNvPr id="14" name="Rectangle 13"/>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2. Half one: package the logic, survive bad data</a:t>
            </a:r>
          </a:p>
        </p:txBody>
      </p:sp>
      <p:sp>
        <p:nvSpPr>
          <p:cNvPr id="16" name="TextBox 15"/>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18 / 67</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S11</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3000" b="1">
                <a:solidFill>
                  <a:srgbClr val="1C1C1A"/>
                </a:solidFill>
                <a:latin typeface="Calibri"/>
              </a:rPr>
              <a:t>The rule</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685800" y="3330448"/>
            <a:ext cx="10820095" cy="1020064"/>
          </a:xfrm>
          <a:prstGeom prst="rect">
            <a:avLst/>
          </a:prstGeom>
          <a:noFill/>
        </p:spPr>
        <p:txBody>
          <a:bodyPr wrap="square" anchor="t" lIns="0" rIns="0" tIns="0" bIns="0">
            <a:spAutoFit/>
          </a:bodyPr>
          <a:lstStyle/>
          <a:p>
            <a:pPr>
              <a:spcAft>
                <a:spcPts val="900"/>
              </a:spcAft>
            </a:pPr>
            <a:r>
              <a:rPr sz="2000" b="0">
                <a:solidFill>
                  <a:srgbClr val="1C1C1A"/>
                </a:solidFill>
                <a:latin typeface="Calibri"/>
              </a:rPr>
              <a:t>Print is for you. Return is for the next line of code.</a:t>
            </a:r>
          </a:p>
          <a:p>
            <a:pPr>
              <a:spcAft>
                <a:spcPts val="900"/>
              </a:spcAft>
            </a:pPr>
            <a:r>
              <a:rPr sz="2000" b="0">
                <a:solidFill>
                  <a:srgbClr val="1C1C1A"/>
                </a:solidFill>
                <a:latin typeface="Calibri"/>
              </a:rPr>
              <a:t>If the caller needs the answer, the function returns it.</a:t>
            </a:r>
          </a:p>
        </p:txBody>
      </p:sp>
      <p:sp>
        <p:nvSpPr>
          <p:cNvPr id="7" name="Rectangle 6"/>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2. Half one: package the logic, survive bad data</a:t>
            </a:r>
          </a:p>
        </p:txBody>
      </p:sp>
      <p:sp>
        <p:nvSpPr>
          <p:cNvPr id="9" name="TextBox 8"/>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19 / 67</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D7</a:t>
            </a:r>
          </a:p>
        </p:txBody>
      </p:sp>
      <p:sp>
        <p:nvSpPr>
          <p:cNvPr id="4" name="Rounded Rectangle 3"/>
          <p:cNvSpPr/>
          <p:nvPr/>
        </p:nvSpPr>
        <p:spPr>
          <a:xfrm>
            <a:off x="10573207" y="603504"/>
            <a:ext cx="932688" cy="274320"/>
          </a:xfrm>
          <a:prstGeom prst="round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DEPTH</a:t>
            </a:r>
          </a:p>
        </p:txBody>
      </p:sp>
      <p:sp>
        <p:nvSpPr>
          <p:cNvPr id="5" name="TextBox 4"/>
          <p:cNvSpPr txBox="1"/>
          <p:nvPr/>
        </p:nvSpPr>
        <p:spPr>
          <a:xfrm>
            <a:off x="1618488" y="493776"/>
            <a:ext cx="8790127" cy="786384"/>
          </a:xfrm>
          <a:prstGeom prst="rect">
            <a:avLst/>
          </a:prstGeom>
          <a:noFill/>
        </p:spPr>
        <p:txBody>
          <a:bodyPr wrap="square" anchor="ctr" lIns="0" rIns="0" tIns="0" bIns="0">
            <a:spAutoFit/>
          </a:bodyPr>
          <a:lstStyle/>
          <a:p>
            <a:r>
              <a:rPr sz="2300" b="1">
                <a:solidFill>
                  <a:srgbClr val="1C1C1A"/>
                </a:solidFill>
                <a:latin typeface="Calibri"/>
              </a:rPr>
              <a:t>The compact loop, once, as notation</a:t>
            </a:r>
          </a:p>
        </p:txBody>
      </p:sp>
      <p:sp>
        <p:nvSpPr>
          <p:cNvPr id="6" name="Rectangle 5"/>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685800" y="1627632"/>
            <a:ext cx="10820095" cy="910336"/>
          </a:xfrm>
          <a:prstGeom prst="rect">
            <a:avLst/>
          </a:prstGeom>
          <a:noFill/>
        </p:spPr>
        <p:txBody>
          <a:bodyPr wrap="square" anchor="t" lIns="0" rIns="0" tIns="0" bIns="0">
            <a:spAutoFit/>
          </a:bodyPr>
          <a:lstStyle/>
          <a:p>
            <a:pPr>
              <a:spcAft>
                <a:spcPts val="900"/>
              </a:spcAft>
            </a:pPr>
            <a:r>
              <a:rPr sz="2000" b="0">
                <a:solidFill>
                  <a:srgbClr val="1C1C1A"/>
                </a:solidFill>
                <a:latin typeface="Calibri"/>
              </a:rPr>
              <a:t>A list comprehension is the same loop written on one line. It is notation, not a new idea.</a:t>
            </a:r>
          </a:p>
        </p:txBody>
      </p:sp>
      <p:sp>
        <p:nvSpPr>
          <p:cNvPr id="8" name="Rectangle 7"/>
          <p:cNvSpPr/>
          <p:nvPr/>
        </p:nvSpPr>
        <p:spPr>
          <a:xfrm>
            <a:off x="685800" y="2665984"/>
            <a:ext cx="10820095" cy="1698752"/>
          </a:xfrm>
          <a:prstGeom prst="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685800" y="2665984"/>
            <a:ext cx="50292" cy="1698752"/>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923544" y="2766568"/>
            <a:ext cx="10417759" cy="1515872"/>
          </a:xfrm>
          <a:prstGeom prst="rect">
            <a:avLst/>
          </a:prstGeom>
          <a:noFill/>
        </p:spPr>
        <p:txBody>
          <a:bodyPr wrap="square" anchor="t" lIns="0" rIns="0" tIns="0" bIns="0">
            <a:spAutoFit/>
          </a:bodyPr>
          <a:lstStyle/>
          <a:p>
            <a:pPr>
              <a:spcAft>
                <a:spcPts val="200"/>
              </a:spcAft>
            </a:pPr>
            <a:r>
              <a:rPr sz="1600" b="0">
                <a:solidFill>
                  <a:srgbClr val="E4ECF7"/>
                </a:solidFill>
                <a:latin typeface="Consolas"/>
              </a:rPr>
              <a:t>amounts = []</a:t>
            </a:r>
          </a:p>
          <a:p>
            <a:pPr>
              <a:spcAft>
                <a:spcPts val="200"/>
              </a:spcAft>
            </a:pPr>
            <a:r>
              <a:rPr sz="1600" b="0">
                <a:solidFill>
                  <a:srgbClr val="E4ECF7"/>
                </a:solidFill>
                <a:latin typeface="Consolas"/>
              </a:rPr>
              <a:t>for r in orders:</a:t>
            </a:r>
          </a:p>
          <a:p>
            <a:pPr>
              <a:spcAft>
                <a:spcPts val="200"/>
              </a:spcAft>
            </a:pPr>
            <a:r>
              <a:rPr sz="1600" b="0">
                <a:solidFill>
                  <a:srgbClr val="E4ECF7"/>
                </a:solidFill>
                <a:latin typeface="Consolas"/>
              </a:rPr>
              <a:t>    amounts.append(r["amount"])</a:t>
            </a:r>
          </a:p>
          <a:p>
            <a:pPr>
              <a:spcAft>
                <a:spcPts val="200"/>
              </a:spcAft>
            </a:pPr>
          </a:p>
          <a:p>
            <a:pPr>
              <a:spcAft>
                <a:spcPts val="200"/>
              </a:spcAft>
            </a:pPr>
            <a:r>
              <a:rPr sz="1600" b="0">
                <a:solidFill>
                  <a:srgbClr val="E4ECF7"/>
                </a:solidFill>
                <a:latin typeface="Consolas"/>
              </a:rPr>
              <a:t>amounts = [r["amount"] for r in orders]</a:t>
            </a:r>
          </a:p>
        </p:txBody>
      </p:sp>
      <p:sp>
        <p:nvSpPr>
          <p:cNvPr id="11" name="TextBox 10"/>
          <p:cNvSpPr txBox="1"/>
          <p:nvPr/>
        </p:nvSpPr>
        <p:spPr>
          <a:xfrm>
            <a:off x="685800" y="4529328"/>
            <a:ext cx="10820095" cy="1365504"/>
          </a:xfrm>
          <a:prstGeom prst="rect">
            <a:avLst/>
          </a:prstGeom>
          <a:noFill/>
        </p:spPr>
        <p:txBody>
          <a:bodyPr wrap="square" anchor="t" lIns="0" rIns="0" tIns="0" bIns="0">
            <a:spAutoFit/>
          </a:bodyPr>
          <a:lstStyle/>
          <a:p>
            <a:pPr>
              <a:spcAft>
                <a:spcPts val="900"/>
              </a:spcAft>
            </a:pPr>
            <a:r>
              <a:rPr sz="2000" b="0">
                <a:solidFill>
                  <a:srgbClr val="1C1C1A"/>
                </a:solidFill>
                <a:latin typeface="Calibri"/>
              </a:rPr>
              <a:t>Both build the same list. Read the second one right to left: for every r in orders, take r["amount"].</a:t>
            </a:r>
          </a:p>
          <a:p>
            <a:pPr>
              <a:spcAft>
                <a:spcPts val="900"/>
              </a:spcAft>
            </a:pPr>
            <a:r>
              <a:rPr sz="2000" b="0">
                <a:solidFill>
                  <a:srgbClr val="1C1C1A"/>
                </a:solidFill>
                <a:latin typeface="Calibri"/>
              </a:rPr>
              <a:t>You will meet it in other people's code today. You are not required to write one.</a:t>
            </a:r>
          </a:p>
        </p:txBody>
      </p:sp>
      <p:sp>
        <p:nvSpPr>
          <p:cNvPr id="12" name="Rectangle 11"/>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2. Half one: package the logic, survive bad data</a:t>
            </a:r>
          </a:p>
        </p:txBody>
      </p:sp>
      <p:sp>
        <p:nvSpPr>
          <p:cNvPr id="14" name="TextBox 13"/>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20 / 67</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S12</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3000" b="1">
                <a:solidFill>
                  <a:srgbClr val="1C1C1A"/>
                </a:solidFill>
                <a:latin typeface="Calibri"/>
              </a:rPr>
              <a:t>Step card, section 1</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685800" y="2882392"/>
            <a:ext cx="457200" cy="437896"/>
          </a:xfrm>
          <a:prstGeom prst="rect">
            <a:avLst/>
          </a:prstGeom>
          <a:noFill/>
        </p:spPr>
        <p:txBody>
          <a:bodyPr wrap="square" anchor="t" lIns="0" rIns="0" tIns="0" bIns="0">
            <a:spAutoFit/>
          </a:bodyPr>
          <a:lstStyle/>
          <a:p>
            <a:r>
              <a:rPr sz="1900" b="1">
                <a:solidFill>
                  <a:srgbClr val="2B4A7D"/>
                </a:solidFill>
                <a:latin typeface="Calibri"/>
              </a:rPr>
              <a:t>1</a:t>
            </a:r>
          </a:p>
        </p:txBody>
      </p:sp>
      <p:sp>
        <p:nvSpPr>
          <p:cNvPr id="7" name="TextBox 6"/>
          <p:cNvSpPr txBox="1"/>
          <p:nvPr/>
        </p:nvSpPr>
        <p:spPr>
          <a:xfrm>
            <a:off x="1143000" y="2882392"/>
            <a:ext cx="10362895" cy="437896"/>
          </a:xfrm>
          <a:prstGeom prst="rect">
            <a:avLst/>
          </a:prstGeom>
          <a:noFill/>
        </p:spPr>
        <p:txBody>
          <a:bodyPr wrap="square" anchor="t" lIns="0" rIns="0" tIns="0" bIns="0">
            <a:spAutoFit/>
          </a:bodyPr>
          <a:lstStyle/>
          <a:p>
            <a:r>
              <a:rPr sz="1900" b="0">
                <a:solidFill>
                  <a:srgbClr val="1C1C1A"/>
                </a:solidFill>
                <a:latin typeface="Calibri"/>
              </a:rPr>
              <a:t>Name the rule with def.</a:t>
            </a:r>
          </a:p>
        </p:txBody>
      </p:sp>
      <p:sp>
        <p:nvSpPr>
          <p:cNvPr id="8" name="TextBox 7"/>
          <p:cNvSpPr txBox="1"/>
          <p:nvPr/>
        </p:nvSpPr>
        <p:spPr>
          <a:xfrm>
            <a:off x="685800" y="3375152"/>
            <a:ext cx="457200" cy="437896"/>
          </a:xfrm>
          <a:prstGeom prst="rect">
            <a:avLst/>
          </a:prstGeom>
          <a:noFill/>
        </p:spPr>
        <p:txBody>
          <a:bodyPr wrap="square" anchor="t" lIns="0" rIns="0" tIns="0" bIns="0">
            <a:spAutoFit/>
          </a:bodyPr>
          <a:lstStyle/>
          <a:p>
            <a:r>
              <a:rPr sz="1900" b="1">
                <a:solidFill>
                  <a:srgbClr val="2B4A7D"/>
                </a:solidFill>
                <a:latin typeface="Calibri"/>
              </a:rPr>
              <a:t>2</a:t>
            </a:r>
          </a:p>
        </p:txBody>
      </p:sp>
      <p:sp>
        <p:nvSpPr>
          <p:cNvPr id="9" name="TextBox 8"/>
          <p:cNvSpPr txBox="1"/>
          <p:nvPr/>
        </p:nvSpPr>
        <p:spPr>
          <a:xfrm>
            <a:off x="1143000" y="3375152"/>
            <a:ext cx="10362895" cy="437896"/>
          </a:xfrm>
          <a:prstGeom prst="rect">
            <a:avLst/>
          </a:prstGeom>
          <a:noFill/>
        </p:spPr>
        <p:txBody>
          <a:bodyPr wrap="square" anchor="t" lIns="0" rIns="0" tIns="0" bIns="0">
            <a:spAutoFit/>
          </a:bodyPr>
          <a:lstStyle/>
          <a:p>
            <a:r>
              <a:rPr sz="1900" b="0">
                <a:solidFill>
                  <a:srgbClr val="1C1C1A"/>
                </a:solidFill>
                <a:latin typeface="Calibri"/>
              </a:rPr>
              <a:t>Take what you need as parameters.</a:t>
            </a:r>
          </a:p>
        </p:txBody>
      </p:sp>
      <p:sp>
        <p:nvSpPr>
          <p:cNvPr id="10" name="TextBox 9"/>
          <p:cNvSpPr txBox="1"/>
          <p:nvPr/>
        </p:nvSpPr>
        <p:spPr>
          <a:xfrm>
            <a:off x="685800" y="3867912"/>
            <a:ext cx="457200" cy="437896"/>
          </a:xfrm>
          <a:prstGeom prst="rect">
            <a:avLst/>
          </a:prstGeom>
          <a:noFill/>
        </p:spPr>
        <p:txBody>
          <a:bodyPr wrap="square" anchor="t" lIns="0" rIns="0" tIns="0" bIns="0">
            <a:spAutoFit/>
          </a:bodyPr>
          <a:lstStyle/>
          <a:p>
            <a:r>
              <a:rPr sz="1900" b="1">
                <a:solidFill>
                  <a:srgbClr val="2B4A7D"/>
                </a:solidFill>
                <a:latin typeface="Calibri"/>
              </a:rPr>
              <a:t>3</a:t>
            </a:r>
          </a:p>
        </p:txBody>
      </p:sp>
      <p:sp>
        <p:nvSpPr>
          <p:cNvPr id="11" name="TextBox 10"/>
          <p:cNvSpPr txBox="1"/>
          <p:nvPr/>
        </p:nvSpPr>
        <p:spPr>
          <a:xfrm>
            <a:off x="1143000" y="3867912"/>
            <a:ext cx="10362895" cy="437896"/>
          </a:xfrm>
          <a:prstGeom prst="rect">
            <a:avLst/>
          </a:prstGeom>
          <a:noFill/>
        </p:spPr>
        <p:txBody>
          <a:bodyPr wrap="square" anchor="t" lIns="0" rIns="0" tIns="0" bIns="0">
            <a:spAutoFit/>
          </a:bodyPr>
          <a:lstStyle/>
          <a:p>
            <a:r>
              <a:rPr sz="1900" b="0">
                <a:solidFill>
                  <a:srgbClr val="1C1C1A"/>
                </a:solidFill>
                <a:latin typeface="Calibri"/>
              </a:rPr>
              <a:t>Hand the answer back with return.</a:t>
            </a:r>
          </a:p>
        </p:txBody>
      </p:sp>
      <p:sp>
        <p:nvSpPr>
          <p:cNvPr id="12" name="TextBox 11"/>
          <p:cNvSpPr txBox="1"/>
          <p:nvPr/>
        </p:nvSpPr>
        <p:spPr>
          <a:xfrm>
            <a:off x="685800" y="4360672"/>
            <a:ext cx="457200" cy="437896"/>
          </a:xfrm>
          <a:prstGeom prst="rect">
            <a:avLst/>
          </a:prstGeom>
          <a:noFill/>
        </p:spPr>
        <p:txBody>
          <a:bodyPr wrap="square" anchor="t" lIns="0" rIns="0" tIns="0" bIns="0">
            <a:spAutoFit/>
          </a:bodyPr>
          <a:lstStyle/>
          <a:p>
            <a:r>
              <a:rPr sz="1900" b="1">
                <a:solidFill>
                  <a:srgbClr val="2B4A7D"/>
                </a:solidFill>
                <a:latin typeface="Calibri"/>
              </a:rPr>
              <a:t>4</a:t>
            </a:r>
          </a:p>
        </p:txBody>
      </p:sp>
      <p:sp>
        <p:nvSpPr>
          <p:cNvPr id="13" name="TextBox 12"/>
          <p:cNvSpPr txBox="1"/>
          <p:nvPr/>
        </p:nvSpPr>
        <p:spPr>
          <a:xfrm>
            <a:off x="1143000" y="4360672"/>
            <a:ext cx="10362895" cy="437896"/>
          </a:xfrm>
          <a:prstGeom prst="rect">
            <a:avLst/>
          </a:prstGeom>
          <a:noFill/>
        </p:spPr>
        <p:txBody>
          <a:bodyPr wrap="square" anchor="t" lIns="0" rIns="0" tIns="0" bIns="0">
            <a:spAutoFit/>
          </a:bodyPr>
          <a:lstStyle/>
          <a:p>
            <a:r>
              <a:rPr sz="1900" b="0">
                <a:solidFill>
                  <a:srgbClr val="1C1C1A"/>
                </a:solidFill>
                <a:latin typeface="Calibri"/>
              </a:rPr>
              <a:t>Use print only to show a human.</a:t>
            </a:r>
          </a:p>
        </p:txBody>
      </p:sp>
      <p:sp>
        <p:nvSpPr>
          <p:cNvPr id="14" name="Rectangle 13"/>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2. Half one: package the logic, survive bad data</a:t>
            </a:r>
          </a:p>
        </p:txBody>
      </p:sp>
      <p:sp>
        <p:nvSpPr>
          <p:cNvPr id="16" name="TextBox 15"/>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21 / 67</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2377440"/>
            <a:ext cx="10820095" cy="1463040"/>
          </a:xfrm>
          <a:prstGeom prst="rect">
            <a:avLst/>
          </a:prstGeom>
          <a:noFill/>
        </p:spPr>
        <p:txBody>
          <a:bodyPr wrap="square" anchor="ctr" lIns="0" rIns="0" tIns="0" bIns="0">
            <a:spAutoFit/>
          </a:bodyPr>
          <a:lstStyle/>
          <a:p>
            <a:pPr algn="ctr"/>
            <a:r>
              <a:rPr sz="4000" b="1">
                <a:solidFill>
                  <a:srgbClr val="FFFFFF"/>
                </a:solidFill>
                <a:latin typeface="Calibri"/>
              </a:rPr>
              <a:t>SECTION 2: READ THE FAILURE</a:t>
            </a:r>
          </a:p>
        </p:txBody>
      </p:sp>
      <p:sp>
        <p:nvSpPr>
          <p:cNvPr id="4" name="Rounded Rectangle 3"/>
          <p:cNvSpPr/>
          <p:nvPr/>
        </p:nvSpPr>
        <p:spPr>
          <a:xfrm>
            <a:off x="685800" y="4754880"/>
            <a:ext cx="2076236" cy="475488"/>
          </a:xfrm>
          <a:prstGeom prst="roundRect">
            <a:avLst/>
          </a:prstGeom>
          <a:no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0">
                <a:solidFill>
                  <a:srgbClr val="FFFFFF"/>
                </a:solidFill>
                <a:latin typeface="Calibri"/>
              </a:rPr>
              <a:t>inline cell</a:t>
            </a:r>
          </a:p>
        </p:txBody>
      </p:sp>
      <p:sp>
        <p:nvSpPr>
          <p:cNvPr id="5" name="Rounded Rectangle 4"/>
          <p:cNvSpPr/>
          <p:nvPr/>
        </p:nvSpPr>
        <p:spPr>
          <a:xfrm>
            <a:off x="2871764" y="4754880"/>
            <a:ext cx="2076236" cy="475488"/>
          </a:xfrm>
          <a:prstGeom prst="roundRect">
            <a:avLst/>
          </a:prstGeom>
          <a:no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0">
                <a:solidFill>
                  <a:srgbClr val="FFFFFF"/>
                </a:solidFill>
                <a:latin typeface="Calibri"/>
              </a:rPr>
              <a:t>packaged decision</a:t>
            </a:r>
          </a:p>
        </p:txBody>
      </p:sp>
      <p:sp>
        <p:nvSpPr>
          <p:cNvPr id="6" name="Rounded Rectangle 5"/>
          <p:cNvSpPr/>
          <p:nvPr/>
        </p:nvSpPr>
        <p:spPr>
          <a:xfrm>
            <a:off x="5057729" y="4754880"/>
            <a:ext cx="2076236" cy="475488"/>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FFFFFF"/>
                </a:solidFill>
                <a:latin typeface="Calibri"/>
              </a:rPr>
              <a:t>read the failure</a:t>
            </a:r>
          </a:p>
        </p:txBody>
      </p:sp>
      <p:sp>
        <p:nvSpPr>
          <p:cNvPr id="7" name="Rounded Rectangle 6"/>
          <p:cNvSpPr/>
          <p:nvPr/>
        </p:nvSpPr>
        <p:spPr>
          <a:xfrm>
            <a:off x="7243693" y="4754880"/>
            <a:ext cx="2076236" cy="475488"/>
          </a:xfrm>
          <a:prstGeom prst="roundRect">
            <a:avLst/>
          </a:prstGeom>
          <a:no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0">
                <a:solidFill>
                  <a:srgbClr val="FFFFFF"/>
                </a:solidFill>
                <a:latin typeface="Calibri"/>
              </a:rPr>
              <a:t>log the rejection</a:t>
            </a:r>
          </a:p>
        </p:txBody>
      </p:sp>
      <p:sp>
        <p:nvSpPr>
          <p:cNvPr id="8" name="Rounded Rectangle 7"/>
          <p:cNvSpPr/>
          <p:nvPr/>
        </p:nvSpPr>
        <p:spPr>
          <a:xfrm>
            <a:off x="9429658" y="4754880"/>
            <a:ext cx="2076236" cy="475488"/>
          </a:xfrm>
          <a:prstGeom prst="roundRect">
            <a:avLst/>
          </a:prstGeom>
          <a:no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0">
                <a:solidFill>
                  <a:srgbClr val="FFFFFF"/>
                </a:solidFill>
                <a:latin typeface="Calibri"/>
              </a:rPr>
              <a:t>cross the boundary</a:t>
            </a:r>
          </a:p>
        </p:txBody>
      </p:sp>
      <p:sp>
        <p:nvSpPr>
          <p:cNvPr id="9" name="Rectangle 8"/>
          <p:cNvSpPr/>
          <p:nvPr/>
        </p:nvSpPr>
        <p:spPr>
          <a:xfrm>
            <a:off x="685800" y="6327648"/>
            <a:ext cx="10820095" cy="12801"/>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685800" y="6391656"/>
            <a:ext cx="9722815" cy="292608"/>
          </a:xfrm>
          <a:prstGeom prst="rect">
            <a:avLst/>
          </a:prstGeom>
          <a:noFill/>
        </p:spPr>
        <p:txBody>
          <a:bodyPr wrap="square" anchor="t" lIns="0" rIns="0" tIns="0" bIns="0">
            <a:spAutoFit/>
          </a:bodyPr>
          <a:lstStyle/>
          <a:p>
            <a:r>
              <a:rPr sz="1000">
                <a:solidFill>
                  <a:srgbClr val="FFFFFF"/>
                </a:solidFill>
                <a:latin typeface="Calibri"/>
              </a:rPr>
              <a:t>Week 1, Day 2. Half one: package the logic, survive bad data</a:t>
            </a:r>
          </a:p>
        </p:txBody>
      </p:sp>
      <p:sp>
        <p:nvSpPr>
          <p:cNvPr id="11" name="TextBox 10"/>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FFFFFF"/>
                </a:solidFill>
                <a:latin typeface="Calibri"/>
              </a:rPr>
              <a:t>22 / 67</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S13</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2300" b="1">
                <a:solidFill>
                  <a:srgbClr val="1C1C1A"/>
                </a:solidFill>
                <a:latin typeface="Calibri"/>
              </a:rPr>
              <a:t>Yesterday you saw three of these</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685800" y="3385312"/>
            <a:ext cx="10820095" cy="910336"/>
          </a:xfrm>
          <a:prstGeom prst="rect">
            <a:avLst/>
          </a:prstGeom>
          <a:noFill/>
        </p:spPr>
        <p:txBody>
          <a:bodyPr wrap="square" anchor="t" lIns="0" rIns="0" tIns="0" bIns="0">
            <a:spAutoFit/>
          </a:bodyPr>
          <a:lstStyle/>
          <a:p>
            <a:pPr>
              <a:spcAft>
                <a:spcPts val="900"/>
              </a:spcAft>
            </a:pPr>
            <a:r>
              <a:rPr sz="2000" b="0">
                <a:solidFill>
                  <a:srgbClr val="1C1C1A"/>
                </a:solidFill>
                <a:latin typeface="Calibri"/>
              </a:rPr>
              <a:t>A traceback is not the computer being angry. It is the computer telling you where it stopped and what it was holding.</a:t>
            </a:r>
          </a:p>
        </p:txBody>
      </p:sp>
      <p:sp>
        <p:nvSpPr>
          <p:cNvPr id="7" name="Rectangle 6"/>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2. Half one: package the logic, survive bad data</a:t>
            </a:r>
          </a:p>
        </p:txBody>
      </p:sp>
      <p:sp>
        <p:nvSpPr>
          <p:cNvPr id="9" name="TextBox 8"/>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23 / 67</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S14</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3000" b="1">
                <a:solidFill>
                  <a:srgbClr val="1C1C1A"/>
                </a:solidFill>
                <a:latin typeface="Calibri"/>
              </a:rPr>
              <a:t>Read it bottom-up</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685800" y="2453640"/>
            <a:ext cx="10820095" cy="1698752"/>
          </a:xfrm>
          <a:prstGeom prst="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685800" y="2453640"/>
            <a:ext cx="50292" cy="1698752"/>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923544" y="2554224"/>
            <a:ext cx="10417759" cy="1515872"/>
          </a:xfrm>
          <a:prstGeom prst="rect">
            <a:avLst/>
          </a:prstGeom>
          <a:noFill/>
        </p:spPr>
        <p:txBody>
          <a:bodyPr wrap="square" anchor="t" lIns="0" rIns="0" tIns="0" bIns="0">
            <a:spAutoFit/>
          </a:bodyPr>
          <a:lstStyle/>
          <a:p>
            <a:pPr>
              <a:spcAft>
                <a:spcPts val="200"/>
              </a:spcAft>
            </a:pPr>
            <a:r>
              <a:rPr sz="1600" b="0">
                <a:solidFill>
                  <a:srgbClr val="E4ECF7"/>
                </a:solidFill>
                <a:latin typeface="Consolas"/>
              </a:rPr>
              <a:t>Traceback (most recent call last):</a:t>
            </a:r>
          </a:p>
          <a:p>
            <a:pPr>
              <a:spcAft>
                <a:spcPts val="200"/>
              </a:spcAft>
            </a:pPr>
            <a:r>
              <a:rPr sz="1600" b="0">
                <a:solidFill>
                  <a:srgbClr val="E4ECF7"/>
                </a:solidFill>
                <a:latin typeface="Consolas"/>
              </a:rPr>
              <a:t>  File "clean.py", line 12, in &lt;module&gt;</a:t>
            </a:r>
          </a:p>
          <a:p>
            <a:pPr>
              <a:spcAft>
                <a:spcPts val="200"/>
              </a:spcAft>
            </a:pPr>
            <a:r>
              <a:rPr sz="1600" b="0">
                <a:solidFill>
                  <a:srgbClr val="E4ECF7"/>
                </a:solidFill>
                <a:latin typeface="Consolas"/>
              </a:rPr>
              <a:t>    total = total + int(record["amount"])</a:t>
            </a:r>
          </a:p>
          <a:p>
            <a:pPr>
              <a:spcAft>
                <a:spcPts val="200"/>
              </a:spcAft>
            </a:pPr>
            <a:r>
              <a:rPr sz="1600" b="0">
                <a:solidFill>
                  <a:srgbClr val="E4ECF7"/>
                </a:solidFill>
                <a:latin typeface="Consolas"/>
              </a:rPr>
              <a:t>                    ^^^^^^^^^^^^^^^^^^^^</a:t>
            </a:r>
          </a:p>
          <a:p>
            <a:pPr>
              <a:spcAft>
                <a:spcPts val="200"/>
              </a:spcAft>
            </a:pPr>
            <a:r>
              <a:rPr sz="1600" b="0">
                <a:solidFill>
                  <a:srgbClr val="E4ECF7"/>
                </a:solidFill>
                <a:latin typeface="Consolas"/>
              </a:rPr>
              <a:t>ValueError: invalid literal for int() with base 10: 'twelve'</a:t>
            </a:r>
          </a:p>
        </p:txBody>
      </p:sp>
      <p:sp>
        <p:nvSpPr>
          <p:cNvPr id="9" name="TextBox 8"/>
          <p:cNvSpPr txBox="1"/>
          <p:nvPr/>
        </p:nvSpPr>
        <p:spPr>
          <a:xfrm>
            <a:off x="685800" y="4316984"/>
            <a:ext cx="10820095" cy="910336"/>
          </a:xfrm>
          <a:prstGeom prst="rect">
            <a:avLst/>
          </a:prstGeom>
          <a:noFill/>
        </p:spPr>
        <p:txBody>
          <a:bodyPr wrap="square" anchor="t" lIns="0" rIns="0" tIns="0" bIns="0">
            <a:spAutoFit/>
          </a:bodyPr>
          <a:lstStyle/>
          <a:p>
            <a:pPr>
              <a:spcAft>
                <a:spcPts val="900"/>
              </a:spcAft>
            </a:pPr>
            <a:r>
              <a:rPr sz="2000" b="0">
                <a:solidFill>
                  <a:srgbClr val="1C1C1A"/>
                </a:solidFill>
                <a:latin typeface="Calibri"/>
              </a:rPr>
              <a:t>Last line: what went wrong. Line above it: where. Everything else: how you got there.</a:t>
            </a:r>
          </a:p>
        </p:txBody>
      </p:sp>
      <p:sp>
        <p:nvSpPr>
          <p:cNvPr id="10" name="Rectangle 9"/>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2. Half one: package the logic, survive bad data</a:t>
            </a:r>
          </a:p>
        </p:txBody>
      </p:sp>
      <p:sp>
        <p:nvSpPr>
          <p:cNvPr id="12" name="TextBox 11"/>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24 / 67</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D8</a:t>
            </a:r>
          </a:p>
        </p:txBody>
      </p:sp>
      <p:sp>
        <p:nvSpPr>
          <p:cNvPr id="4" name="Rounded Rectangle 3"/>
          <p:cNvSpPr/>
          <p:nvPr/>
        </p:nvSpPr>
        <p:spPr>
          <a:xfrm>
            <a:off x="10573207" y="603504"/>
            <a:ext cx="932688" cy="274320"/>
          </a:xfrm>
          <a:prstGeom prst="round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DEPTH</a:t>
            </a:r>
          </a:p>
        </p:txBody>
      </p:sp>
      <p:sp>
        <p:nvSpPr>
          <p:cNvPr id="5" name="TextBox 4"/>
          <p:cNvSpPr txBox="1"/>
          <p:nvPr/>
        </p:nvSpPr>
        <p:spPr>
          <a:xfrm>
            <a:off x="1618488" y="493776"/>
            <a:ext cx="8790127" cy="786384"/>
          </a:xfrm>
          <a:prstGeom prst="rect">
            <a:avLst/>
          </a:prstGeom>
          <a:noFill/>
        </p:spPr>
        <p:txBody>
          <a:bodyPr wrap="square" anchor="ctr" lIns="0" rIns="0" tIns="0" bIns="0">
            <a:spAutoFit/>
          </a:bodyPr>
          <a:lstStyle/>
          <a:p>
            <a:r>
              <a:rPr sz="2300" b="1">
                <a:solidFill>
                  <a:srgbClr val="1C1C1A"/>
                </a:solidFill>
                <a:latin typeface="Calibri"/>
              </a:rPr>
              <a:t>Every part of a traceback, labelled</a:t>
            </a:r>
          </a:p>
        </p:txBody>
      </p:sp>
      <p:sp>
        <p:nvSpPr>
          <p:cNvPr id="6" name="Rectangle 5"/>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7" name="Picture 6" descr="6139b7c63362572d.png"/>
          <p:cNvPicPr>
            <a:picLocks noChangeAspect="1"/>
          </p:cNvPicPr>
          <p:nvPr/>
        </p:nvPicPr>
        <p:blipFill>
          <a:blip r:embed="rId2"/>
          <a:stretch>
            <a:fillRect/>
          </a:stretch>
        </p:blipFill>
        <p:spPr>
          <a:xfrm>
            <a:off x="5245449" y="1627632"/>
            <a:ext cx="1700796" cy="3460496"/>
          </a:xfrm>
          <a:prstGeom prst="rect">
            <a:avLst/>
          </a:prstGeom>
        </p:spPr>
      </p:pic>
      <p:sp>
        <p:nvSpPr>
          <p:cNvPr id="8" name="TextBox 7"/>
          <p:cNvSpPr txBox="1"/>
          <p:nvPr/>
        </p:nvSpPr>
        <p:spPr>
          <a:xfrm>
            <a:off x="685800" y="5197856"/>
            <a:ext cx="10820095" cy="855471"/>
          </a:xfrm>
          <a:prstGeom prst="rect">
            <a:avLst/>
          </a:prstGeom>
          <a:noFill/>
        </p:spPr>
        <p:txBody>
          <a:bodyPr wrap="square" anchor="t" lIns="0" rIns="0" tIns="0" bIns="0">
            <a:spAutoFit/>
          </a:bodyPr>
          <a:lstStyle/>
          <a:p>
            <a:r>
              <a:rPr sz="2000" b="0">
                <a:solidFill>
                  <a:srgbClr val="1C1C1A"/>
                </a:solidFill>
                <a:latin typeface="Calibri"/>
              </a:rPr>
              <a:t>Read it from the bottom. The value at the end is the part people skip, and it is the part that names the record.</a:t>
            </a:r>
          </a:p>
        </p:txBody>
      </p:sp>
      <p:sp>
        <p:nvSpPr>
          <p:cNvPr id="9" name="Rectangle 8"/>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2. Half one: package the logic, survive bad data</a:t>
            </a:r>
          </a:p>
        </p:txBody>
      </p:sp>
      <p:sp>
        <p:nvSpPr>
          <p:cNvPr id="11" name="TextBox 10"/>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25 / 67</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S15</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3000" b="1">
                <a:solidFill>
                  <a:srgbClr val="1C1C1A"/>
                </a:solidFill>
                <a:latin typeface="Calibri"/>
              </a:rPr>
              <a:t>The three questions</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685800" y="1627632"/>
            <a:ext cx="457200" cy="386080"/>
          </a:xfrm>
          <a:prstGeom prst="rect">
            <a:avLst/>
          </a:prstGeom>
          <a:noFill/>
        </p:spPr>
        <p:txBody>
          <a:bodyPr wrap="square" anchor="t" lIns="0" rIns="0" tIns="0" bIns="0">
            <a:spAutoFit/>
          </a:bodyPr>
          <a:lstStyle/>
          <a:p>
            <a:r>
              <a:rPr sz="1600" b="1">
                <a:solidFill>
                  <a:srgbClr val="2B4A7D"/>
                </a:solidFill>
                <a:latin typeface="Calibri"/>
              </a:rPr>
              <a:t>1</a:t>
            </a:r>
          </a:p>
        </p:txBody>
      </p:sp>
      <p:sp>
        <p:nvSpPr>
          <p:cNvPr id="7" name="TextBox 6"/>
          <p:cNvSpPr txBox="1"/>
          <p:nvPr/>
        </p:nvSpPr>
        <p:spPr>
          <a:xfrm>
            <a:off x="1143000" y="1627632"/>
            <a:ext cx="10362895" cy="386080"/>
          </a:xfrm>
          <a:prstGeom prst="rect">
            <a:avLst/>
          </a:prstGeom>
          <a:noFill/>
        </p:spPr>
        <p:txBody>
          <a:bodyPr wrap="square" anchor="t" lIns="0" rIns="0" tIns="0" bIns="0">
            <a:spAutoFit/>
          </a:bodyPr>
          <a:lstStyle/>
          <a:p>
            <a:r>
              <a:rPr sz="1600" b="0">
                <a:solidFill>
                  <a:srgbClr val="1C1C1A"/>
                </a:solidFill>
                <a:latin typeface="Calibri"/>
              </a:rPr>
              <a:t>What is the exception type?</a:t>
            </a:r>
          </a:p>
        </p:txBody>
      </p:sp>
      <p:sp>
        <p:nvSpPr>
          <p:cNvPr id="8" name="TextBox 7"/>
          <p:cNvSpPr txBox="1"/>
          <p:nvPr/>
        </p:nvSpPr>
        <p:spPr>
          <a:xfrm>
            <a:off x="685800" y="2068576"/>
            <a:ext cx="457200" cy="386080"/>
          </a:xfrm>
          <a:prstGeom prst="rect">
            <a:avLst/>
          </a:prstGeom>
          <a:noFill/>
        </p:spPr>
        <p:txBody>
          <a:bodyPr wrap="square" anchor="t" lIns="0" rIns="0" tIns="0" bIns="0">
            <a:spAutoFit/>
          </a:bodyPr>
          <a:lstStyle/>
          <a:p>
            <a:r>
              <a:rPr sz="1600" b="1">
                <a:solidFill>
                  <a:srgbClr val="2B4A7D"/>
                </a:solidFill>
                <a:latin typeface="Calibri"/>
              </a:rPr>
              <a:t>2</a:t>
            </a:r>
          </a:p>
        </p:txBody>
      </p:sp>
      <p:sp>
        <p:nvSpPr>
          <p:cNvPr id="9" name="TextBox 8"/>
          <p:cNvSpPr txBox="1"/>
          <p:nvPr/>
        </p:nvSpPr>
        <p:spPr>
          <a:xfrm>
            <a:off x="1143000" y="2068576"/>
            <a:ext cx="10362895" cy="386080"/>
          </a:xfrm>
          <a:prstGeom prst="rect">
            <a:avLst/>
          </a:prstGeom>
          <a:noFill/>
        </p:spPr>
        <p:txBody>
          <a:bodyPr wrap="square" anchor="t" lIns="0" rIns="0" tIns="0" bIns="0">
            <a:spAutoFit/>
          </a:bodyPr>
          <a:lstStyle/>
          <a:p>
            <a:r>
              <a:rPr sz="1600" b="0">
                <a:solidFill>
                  <a:srgbClr val="1C1C1A"/>
                </a:solidFill>
                <a:latin typeface="Calibri"/>
              </a:rPr>
              <a:t>Which line is mine?</a:t>
            </a:r>
          </a:p>
        </p:txBody>
      </p:sp>
      <p:sp>
        <p:nvSpPr>
          <p:cNvPr id="10" name="TextBox 9"/>
          <p:cNvSpPr txBox="1"/>
          <p:nvPr/>
        </p:nvSpPr>
        <p:spPr>
          <a:xfrm>
            <a:off x="685800" y="2509520"/>
            <a:ext cx="457200" cy="386080"/>
          </a:xfrm>
          <a:prstGeom prst="rect">
            <a:avLst/>
          </a:prstGeom>
          <a:noFill/>
        </p:spPr>
        <p:txBody>
          <a:bodyPr wrap="square" anchor="t" lIns="0" rIns="0" tIns="0" bIns="0">
            <a:spAutoFit/>
          </a:bodyPr>
          <a:lstStyle/>
          <a:p>
            <a:r>
              <a:rPr sz="1600" b="1">
                <a:solidFill>
                  <a:srgbClr val="2B4A7D"/>
                </a:solidFill>
                <a:latin typeface="Calibri"/>
              </a:rPr>
              <a:t>3</a:t>
            </a:r>
          </a:p>
        </p:txBody>
      </p:sp>
      <p:sp>
        <p:nvSpPr>
          <p:cNvPr id="11" name="TextBox 10"/>
          <p:cNvSpPr txBox="1"/>
          <p:nvPr/>
        </p:nvSpPr>
        <p:spPr>
          <a:xfrm>
            <a:off x="1143000" y="2509520"/>
            <a:ext cx="10362895" cy="386080"/>
          </a:xfrm>
          <a:prstGeom prst="rect">
            <a:avLst/>
          </a:prstGeom>
          <a:noFill/>
        </p:spPr>
        <p:txBody>
          <a:bodyPr wrap="square" anchor="t" lIns="0" rIns="0" tIns="0" bIns="0">
            <a:spAutoFit/>
          </a:bodyPr>
          <a:lstStyle/>
          <a:p>
            <a:r>
              <a:rPr sz="1600" b="0">
                <a:solidFill>
                  <a:srgbClr val="1C1C1A"/>
                </a:solidFill>
                <a:latin typeface="Calibri"/>
              </a:rPr>
              <a:t>What value was it holding?</a:t>
            </a:r>
          </a:p>
        </p:txBody>
      </p:sp>
      <p:sp>
        <p:nvSpPr>
          <p:cNvPr id="12" name="TextBox 11"/>
          <p:cNvSpPr txBox="1"/>
          <p:nvPr/>
        </p:nvSpPr>
        <p:spPr>
          <a:xfrm>
            <a:off x="685800" y="3060192"/>
            <a:ext cx="10820095" cy="513080"/>
          </a:xfrm>
          <a:prstGeom prst="rect">
            <a:avLst/>
          </a:prstGeom>
          <a:noFill/>
        </p:spPr>
        <p:txBody>
          <a:bodyPr wrap="square" anchor="t" lIns="0" rIns="0" tIns="0" bIns="0">
            <a:spAutoFit/>
          </a:bodyPr>
          <a:lstStyle/>
          <a:p>
            <a:pPr>
              <a:spcAft>
                <a:spcPts val="800"/>
              </a:spcAft>
            </a:pPr>
            <a:r>
              <a:rPr sz="1700" b="0">
                <a:solidFill>
                  <a:srgbClr val="1C1C1A"/>
                </a:solidFill>
                <a:latin typeface="Calibri"/>
              </a:rPr>
              <a:t>The third question is the one people skip.</a:t>
            </a:r>
          </a:p>
        </p:txBody>
      </p:sp>
      <p:pic>
        <p:nvPicPr>
          <p:cNvPr id="13" name="Picture 12" descr="5a04c3bcce1864aa.png"/>
          <p:cNvPicPr>
            <a:picLocks noChangeAspect="1"/>
          </p:cNvPicPr>
          <p:nvPr/>
        </p:nvPicPr>
        <p:blipFill>
          <a:blip r:embed="rId2"/>
          <a:stretch>
            <a:fillRect/>
          </a:stretch>
        </p:blipFill>
        <p:spPr>
          <a:xfrm>
            <a:off x="5042624" y="3701287"/>
            <a:ext cx="2106445" cy="2352040"/>
          </a:xfrm>
          <a:prstGeom prst="rect">
            <a:avLst/>
          </a:prstGeom>
        </p:spPr>
      </p:pic>
      <p:sp>
        <p:nvSpPr>
          <p:cNvPr id="14" name="Rectangle 13"/>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2. Half one: package the logic, survive bad data</a:t>
            </a:r>
          </a:p>
        </p:txBody>
      </p:sp>
      <p:sp>
        <p:nvSpPr>
          <p:cNvPr id="16" name="TextBox 15"/>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26 / 67</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D9</a:t>
            </a:r>
          </a:p>
        </p:txBody>
      </p:sp>
      <p:sp>
        <p:nvSpPr>
          <p:cNvPr id="4" name="Rounded Rectangle 3"/>
          <p:cNvSpPr/>
          <p:nvPr/>
        </p:nvSpPr>
        <p:spPr>
          <a:xfrm>
            <a:off x="10573207" y="603504"/>
            <a:ext cx="932688" cy="274320"/>
          </a:xfrm>
          <a:prstGeom prst="round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DEPTH</a:t>
            </a:r>
          </a:p>
        </p:txBody>
      </p:sp>
      <p:sp>
        <p:nvSpPr>
          <p:cNvPr id="5" name="TextBox 4"/>
          <p:cNvSpPr txBox="1"/>
          <p:nvPr/>
        </p:nvSpPr>
        <p:spPr>
          <a:xfrm>
            <a:off x="1618488" y="493776"/>
            <a:ext cx="8790127" cy="786384"/>
          </a:xfrm>
          <a:prstGeom prst="rect">
            <a:avLst/>
          </a:prstGeom>
          <a:noFill/>
        </p:spPr>
        <p:txBody>
          <a:bodyPr wrap="square" anchor="ctr" lIns="0" rIns="0" tIns="0" bIns="0">
            <a:spAutoFit/>
          </a:bodyPr>
          <a:lstStyle/>
          <a:p>
            <a:r>
              <a:rPr sz="2300" b="1">
                <a:solidFill>
                  <a:srgbClr val="1C1C1A"/>
                </a:solidFill>
                <a:latin typeface="Calibri"/>
              </a:rPr>
              <a:t>Why the stack reads bottom-up</a:t>
            </a:r>
          </a:p>
        </p:txBody>
      </p:sp>
      <p:sp>
        <p:nvSpPr>
          <p:cNvPr id="6" name="Rectangle 5"/>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7" name="Picture 6" descr="b85393a6995c30bc.png"/>
          <p:cNvPicPr>
            <a:picLocks noChangeAspect="1"/>
          </p:cNvPicPr>
          <p:nvPr/>
        </p:nvPicPr>
        <p:blipFill>
          <a:blip r:embed="rId2"/>
          <a:stretch>
            <a:fillRect/>
          </a:stretch>
        </p:blipFill>
        <p:spPr>
          <a:xfrm>
            <a:off x="5111595" y="1627632"/>
            <a:ext cx="1968503" cy="2424175"/>
          </a:xfrm>
          <a:prstGeom prst="rect">
            <a:avLst/>
          </a:prstGeom>
        </p:spPr>
      </p:pic>
      <p:sp>
        <p:nvSpPr>
          <p:cNvPr id="8" name="TextBox 7"/>
          <p:cNvSpPr txBox="1"/>
          <p:nvPr/>
        </p:nvSpPr>
        <p:spPr>
          <a:xfrm>
            <a:off x="685800" y="4161536"/>
            <a:ext cx="10820095" cy="1891792"/>
          </a:xfrm>
          <a:prstGeom prst="rect">
            <a:avLst/>
          </a:prstGeom>
          <a:noFill/>
        </p:spPr>
        <p:txBody>
          <a:bodyPr wrap="square" anchor="t" lIns="0" rIns="0" tIns="0" bIns="0">
            <a:spAutoFit/>
          </a:bodyPr>
          <a:lstStyle/>
          <a:p>
            <a:r>
              <a:rPr sz="2000" b="0">
                <a:solidFill>
                  <a:srgbClr val="1C1C1A"/>
                </a:solidFill>
                <a:latin typeface="Calibri"/>
              </a:rPr>
              <a:t>When one function calls another, each call is pushed onto a stack. The traceback prints the stack from the outside in, so the last frame printed is the innermost call, which is where the failure actually happened. In a long traceback, the deepest frame is almost always library code you did not write. Scan upward until you reach the first line that lives in your own file, and start there.</a:t>
            </a:r>
          </a:p>
        </p:txBody>
      </p:sp>
      <p:sp>
        <p:nvSpPr>
          <p:cNvPr id="9" name="Rectangle 8"/>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2. Half one: package the logic, survive bad data</a:t>
            </a:r>
          </a:p>
        </p:txBody>
      </p:sp>
      <p:sp>
        <p:nvSpPr>
          <p:cNvPr id="11" name="TextBox 10"/>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27 / 67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S16</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3000" b="1">
                <a:solidFill>
                  <a:srgbClr val="1C1C1A"/>
                </a:solidFill>
                <a:latin typeface="Calibri"/>
              </a:rPr>
              <a:t>Catching it</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685800" y="2597912"/>
            <a:ext cx="10820095" cy="1410208"/>
          </a:xfrm>
          <a:prstGeom prst="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685800" y="2597912"/>
            <a:ext cx="50292" cy="1410208"/>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923544" y="2698496"/>
            <a:ext cx="10417759" cy="1227328"/>
          </a:xfrm>
          <a:prstGeom prst="rect">
            <a:avLst/>
          </a:prstGeom>
          <a:noFill/>
        </p:spPr>
        <p:txBody>
          <a:bodyPr wrap="square" anchor="t" lIns="0" rIns="0" tIns="0" bIns="0">
            <a:spAutoFit/>
          </a:bodyPr>
          <a:lstStyle/>
          <a:p>
            <a:pPr>
              <a:spcAft>
                <a:spcPts val="200"/>
              </a:spcAft>
            </a:pPr>
            <a:r>
              <a:rPr sz="1600" b="0">
                <a:solidFill>
                  <a:srgbClr val="E4ECF7"/>
                </a:solidFill>
                <a:latin typeface="Consolas"/>
              </a:rPr>
              <a:t>try:</a:t>
            </a:r>
          </a:p>
          <a:p>
            <a:pPr>
              <a:spcAft>
                <a:spcPts val="200"/>
              </a:spcAft>
            </a:pPr>
            <a:r>
              <a:rPr sz="1600" b="0">
                <a:solidFill>
                  <a:srgbClr val="E4ECF7"/>
                </a:solidFill>
                <a:latin typeface="Consolas"/>
              </a:rPr>
              <a:t>    value = int(record["amount"])</a:t>
            </a:r>
          </a:p>
          <a:p>
            <a:pPr>
              <a:spcAft>
                <a:spcPts val="200"/>
              </a:spcAft>
            </a:pPr>
            <a:r>
              <a:rPr sz="1600" b="0">
                <a:solidFill>
                  <a:srgbClr val="E4ECF7"/>
                </a:solidFill>
                <a:latin typeface="Consolas"/>
              </a:rPr>
              <a:t>except ValueError:</a:t>
            </a:r>
          </a:p>
          <a:p>
            <a:pPr>
              <a:spcAft>
                <a:spcPts val="200"/>
              </a:spcAft>
            </a:pPr>
            <a:r>
              <a:rPr sz="1600" b="0">
                <a:solidFill>
                  <a:srgbClr val="E4ECF7"/>
                </a:solidFill>
                <a:latin typeface="Consolas"/>
              </a:rPr>
              <a:t>    ...</a:t>
            </a:r>
          </a:p>
        </p:txBody>
      </p:sp>
      <p:sp>
        <p:nvSpPr>
          <p:cNvPr id="9" name="TextBox 8"/>
          <p:cNvSpPr txBox="1"/>
          <p:nvPr/>
        </p:nvSpPr>
        <p:spPr>
          <a:xfrm>
            <a:off x="685800" y="4172712"/>
            <a:ext cx="10820095" cy="910336"/>
          </a:xfrm>
          <a:prstGeom prst="rect">
            <a:avLst/>
          </a:prstGeom>
          <a:noFill/>
        </p:spPr>
        <p:txBody>
          <a:bodyPr wrap="square" anchor="t" lIns="0" rIns="0" tIns="0" bIns="0">
            <a:spAutoFit/>
          </a:bodyPr>
          <a:lstStyle/>
          <a:p>
            <a:pPr>
              <a:spcAft>
                <a:spcPts val="900"/>
              </a:spcAft>
            </a:pPr>
            <a:r>
              <a:rPr sz="2000" b="0">
                <a:solidFill>
                  <a:srgbClr val="1C1C1A"/>
                </a:solidFill>
                <a:latin typeface="Calibri"/>
              </a:rPr>
              <a:t>You name the exception you expected. Anything else still stops the program, which is what you want.</a:t>
            </a:r>
          </a:p>
        </p:txBody>
      </p:sp>
      <p:sp>
        <p:nvSpPr>
          <p:cNvPr id="10" name="Rectangle 9"/>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2. Half one: package the logic, survive bad data</a:t>
            </a:r>
          </a:p>
        </p:txBody>
      </p:sp>
      <p:sp>
        <p:nvSpPr>
          <p:cNvPr id="12" name="TextBox 11"/>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28 / 67</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S16b</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2300" b="1">
                <a:solidFill>
                  <a:srgbClr val="1C1C1A"/>
                </a:solidFill>
                <a:latin typeface="Calibri"/>
              </a:rPr>
              <a:t>What try and except actually do to the flow</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6" name="Picture 5" descr="4ca885a2fb70fe81.png"/>
          <p:cNvPicPr>
            <a:picLocks noChangeAspect="1"/>
          </p:cNvPicPr>
          <p:nvPr/>
        </p:nvPicPr>
        <p:blipFill>
          <a:blip r:embed="rId2"/>
          <a:stretch>
            <a:fillRect/>
          </a:stretch>
        </p:blipFill>
        <p:spPr>
          <a:xfrm>
            <a:off x="685800" y="1818845"/>
            <a:ext cx="4652640" cy="4043268"/>
          </a:xfrm>
          <a:prstGeom prst="rect">
            <a:avLst/>
          </a:prstGeom>
        </p:spPr>
      </p:pic>
      <p:sp>
        <p:nvSpPr>
          <p:cNvPr id="7" name="TextBox 6"/>
          <p:cNvSpPr txBox="1"/>
          <p:nvPr/>
        </p:nvSpPr>
        <p:spPr>
          <a:xfrm>
            <a:off x="5771244" y="3039872"/>
            <a:ext cx="5734650" cy="1601216"/>
          </a:xfrm>
          <a:prstGeom prst="rect">
            <a:avLst/>
          </a:prstGeom>
          <a:noFill/>
        </p:spPr>
        <p:txBody>
          <a:bodyPr wrap="square" anchor="t" lIns="0" rIns="0" tIns="0" bIns="0">
            <a:spAutoFit/>
          </a:bodyPr>
          <a:lstStyle/>
          <a:p>
            <a:pPr>
              <a:spcAft>
                <a:spcPts val="900"/>
              </a:spcAft>
            </a:pPr>
            <a:r>
              <a:rPr sz="2000" b="0">
                <a:solidFill>
                  <a:srgbClr val="1C1C1A"/>
                </a:solidFill>
                <a:latin typeface="Calibri"/>
              </a:rPr>
              <a:t>An exception you did not name is not ignored. It carries on upward, which is exactly the behaviour you want for a failure you did not anticipate.</a:t>
            </a:r>
          </a:p>
        </p:txBody>
      </p:sp>
      <p:sp>
        <p:nvSpPr>
          <p:cNvPr id="8" name="Rectangle 7"/>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2. Half one: package the logic, survive bad data</a:t>
            </a:r>
          </a:p>
        </p:txBody>
      </p:sp>
      <p:sp>
        <p:nvSpPr>
          <p:cNvPr id="10" name="TextBox 9"/>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29 / 67</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D11</a:t>
            </a:r>
          </a:p>
        </p:txBody>
      </p:sp>
      <p:sp>
        <p:nvSpPr>
          <p:cNvPr id="4" name="Rounded Rectangle 3"/>
          <p:cNvSpPr/>
          <p:nvPr/>
        </p:nvSpPr>
        <p:spPr>
          <a:xfrm>
            <a:off x="10573207" y="603504"/>
            <a:ext cx="932688" cy="274320"/>
          </a:xfrm>
          <a:prstGeom prst="round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DEPTH</a:t>
            </a:r>
          </a:p>
        </p:txBody>
      </p:sp>
      <p:sp>
        <p:nvSpPr>
          <p:cNvPr id="5" name="TextBox 4"/>
          <p:cNvSpPr txBox="1"/>
          <p:nvPr/>
        </p:nvSpPr>
        <p:spPr>
          <a:xfrm>
            <a:off x="1618488" y="493776"/>
            <a:ext cx="8790127" cy="786384"/>
          </a:xfrm>
          <a:prstGeom prst="rect">
            <a:avLst/>
          </a:prstGeom>
          <a:noFill/>
        </p:spPr>
        <p:txBody>
          <a:bodyPr wrap="square" anchor="ctr" lIns="0" rIns="0" tIns="0" bIns="0">
            <a:spAutoFit/>
          </a:bodyPr>
          <a:lstStyle/>
          <a:p>
            <a:r>
              <a:rPr sz="2300" b="1">
                <a:solidFill>
                  <a:srgbClr val="1C1C1A"/>
                </a:solidFill>
                <a:latin typeface="Calibri"/>
              </a:rPr>
              <a:t>The exception family, and why the name matters</a:t>
            </a:r>
          </a:p>
        </p:txBody>
      </p:sp>
      <p:sp>
        <p:nvSpPr>
          <p:cNvPr id="6" name="Rectangle 5"/>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7" name="Picture 6" descr="60f00ae84a3a6699.png"/>
          <p:cNvPicPr>
            <a:picLocks noChangeAspect="1"/>
          </p:cNvPicPr>
          <p:nvPr/>
        </p:nvPicPr>
        <p:blipFill>
          <a:blip r:embed="rId2"/>
          <a:stretch>
            <a:fillRect/>
          </a:stretch>
        </p:blipFill>
        <p:spPr>
          <a:xfrm>
            <a:off x="685800" y="1627632"/>
            <a:ext cx="10820095" cy="2519748"/>
          </a:xfrm>
          <a:prstGeom prst="rect">
            <a:avLst/>
          </a:prstGeom>
        </p:spPr>
      </p:pic>
      <p:sp>
        <p:nvSpPr>
          <p:cNvPr id="8" name="TextBox 7"/>
          <p:cNvSpPr txBox="1"/>
          <p:nvPr/>
        </p:nvSpPr>
        <p:spPr>
          <a:xfrm>
            <a:off x="685800" y="4293684"/>
            <a:ext cx="10820095" cy="1255776"/>
          </a:xfrm>
          <a:prstGeom prst="rect">
            <a:avLst/>
          </a:prstGeom>
          <a:noFill/>
        </p:spPr>
        <p:txBody>
          <a:bodyPr wrap="square" anchor="t" lIns="0" rIns="0" tIns="0" bIns="0">
            <a:spAutoFit/>
          </a:bodyPr>
          <a:lstStyle/>
          <a:p>
            <a:pPr>
              <a:spcAft>
                <a:spcPts val="900"/>
              </a:spcAft>
            </a:pPr>
            <a:r>
              <a:rPr sz="2000" b="0">
                <a:solidFill>
                  <a:srgbClr val="1C1C1A"/>
                </a:solidFill>
                <a:latin typeface="Calibri"/>
              </a:rPr>
              <a:t>Catching Exception catches every branch of this tree, including the ones you never thought about. Catching ValueError catches the branch you reasoned about and lets the rest travel.</a:t>
            </a:r>
          </a:p>
        </p:txBody>
      </p:sp>
      <p:sp>
        <p:nvSpPr>
          <p:cNvPr id="9" name="Rectangle 8"/>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2. Half one: package the logic, survive bad data</a:t>
            </a:r>
          </a:p>
        </p:txBody>
      </p:sp>
      <p:sp>
        <p:nvSpPr>
          <p:cNvPr id="11" name="TextBox 10"/>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30 / 67</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D12</a:t>
            </a:r>
          </a:p>
        </p:txBody>
      </p:sp>
      <p:sp>
        <p:nvSpPr>
          <p:cNvPr id="4" name="Rounded Rectangle 3"/>
          <p:cNvSpPr/>
          <p:nvPr/>
        </p:nvSpPr>
        <p:spPr>
          <a:xfrm>
            <a:off x="10573207" y="603504"/>
            <a:ext cx="932688" cy="274320"/>
          </a:xfrm>
          <a:prstGeom prst="round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DEPTH</a:t>
            </a:r>
          </a:p>
        </p:txBody>
      </p:sp>
      <p:sp>
        <p:nvSpPr>
          <p:cNvPr id="5" name="TextBox 4"/>
          <p:cNvSpPr txBox="1"/>
          <p:nvPr/>
        </p:nvSpPr>
        <p:spPr>
          <a:xfrm>
            <a:off x="1618488" y="493776"/>
            <a:ext cx="8790127" cy="786384"/>
          </a:xfrm>
          <a:prstGeom prst="rect">
            <a:avLst/>
          </a:prstGeom>
          <a:noFill/>
        </p:spPr>
        <p:txBody>
          <a:bodyPr wrap="square" anchor="ctr" lIns="0" rIns="0" tIns="0" bIns="0">
            <a:spAutoFit/>
          </a:bodyPr>
          <a:lstStyle/>
          <a:p>
            <a:r>
              <a:rPr sz="2300" b="1">
                <a:solidFill>
                  <a:srgbClr val="1C1C1A"/>
                </a:solidFill>
                <a:latin typeface="Calibri"/>
              </a:rPr>
              <a:t>Two defensive stances, and when each wins</a:t>
            </a:r>
          </a:p>
        </p:txBody>
      </p:sp>
      <p:sp>
        <p:nvSpPr>
          <p:cNvPr id="6" name="Rectangle 5"/>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graphicFrame>
        <p:nvGraphicFramePr>
          <p:cNvPr id="7" name="Table 6"/>
          <p:cNvGraphicFramePr>
            <a:graphicFrameLocks noGrp="1"/>
          </p:cNvGraphicFramePr>
          <p:nvPr/>
        </p:nvGraphicFramePr>
        <p:xfrm>
          <a:off x="685800" y="1985772"/>
          <a:ext cx="10820094" cy="2197608"/>
        </p:xfrm>
        <a:graphic>
          <a:graphicData uri="http://schemas.openxmlformats.org/drawingml/2006/table">
            <a:tbl>
              <a:tblPr firstRow="0" bandRow="0">
                <a:tableStyleId>{2D5ABB26-0587-4C30-8999-92F81FD0307C}</a:tableStyleId>
              </a:tblPr>
              <a:tblGrid>
                <a:gridCol w="2514378"/>
                <a:gridCol w="4152858"/>
                <a:gridCol w="4152858"/>
              </a:tblGrid>
              <a:tr h="387096">
                <a:tc>
                  <a:txBody>
                    <a:bodyPr/>
                    <a:lstStyle/>
                    <a:p>
                      <a:r>
                        <a:rPr sz="1600" b="1">
                          <a:solidFill>
                            <a:srgbClr val="FFFFFF"/>
                          </a:solidFill>
                          <a:latin typeface="Calibri"/>
                        </a:rPr>
                        <a:t>Stance</a:t>
                      </a:r>
                    </a:p>
                  </a:txBody>
                  <a:tcPr marL="101600" marR="101600" marT="38100" marB="38100" anchor="ctr">
                    <a:solidFill>
                      <a:srgbClr val="2B4A7D"/>
                    </a:solidFill>
                  </a:tcPr>
                </a:tc>
                <a:tc>
                  <a:txBody>
                    <a:bodyPr/>
                    <a:lstStyle/>
                    <a:p>
                      <a:r>
                        <a:rPr sz="1600" b="1">
                          <a:solidFill>
                            <a:srgbClr val="FFFFFF"/>
                          </a:solidFill>
                          <a:latin typeface="Calibri"/>
                        </a:rPr>
                        <a:t>What it looks like</a:t>
                      </a:r>
                    </a:p>
                  </a:txBody>
                  <a:tcPr marL="101600" marR="101600" marT="38100" marB="38100" anchor="ctr">
                    <a:solidFill>
                      <a:srgbClr val="2B4A7D"/>
                    </a:solidFill>
                  </a:tcPr>
                </a:tc>
                <a:tc>
                  <a:txBody>
                    <a:bodyPr/>
                    <a:lstStyle/>
                    <a:p>
                      <a:r>
                        <a:rPr sz="1600" b="1">
                          <a:solidFill>
                            <a:srgbClr val="FFFFFF"/>
                          </a:solidFill>
                          <a:latin typeface="Calibri"/>
                        </a:rPr>
                        <a:t>When it wins</a:t>
                      </a:r>
                    </a:p>
                  </a:txBody>
                  <a:tcPr marL="101600" marR="101600" marT="38100" marB="38100" anchor="ctr">
                    <a:solidFill>
                      <a:srgbClr val="2B4A7D"/>
                    </a:solidFill>
                  </a:tcPr>
                </a:tc>
              </a:tr>
              <a:tr h="905256">
                <a:tc>
                  <a:txBody>
                    <a:bodyPr/>
                    <a:lstStyle/>
                    <a:p>
                      <a:r>
                        <a:rPr sz="1500" b="0">
                          <a:solidFill>
                            <a:srgbClr val="1C1C1A"/>
                          </a:solidFill>
                          <a:latin typeface="Calibri"/>
                        </a:rPr>
                        <a:t>Look before you leap</a:t>
                      </a:r>
                    </a:p>
                  </a:txBody>
                  <a:tcPr marL="101600" marR="101600" marT="38100" marB="38100" anchor="ctr">
                    <a:solidFill>
                      <a:srgbClr val="FFFFFF"/>
                    </a:solidFill>
                  </a:tcPr>
                </a:tc>
                <a:tc>
                  <a:txBody>
                    <a:bodyPr/>
                    <a:lstStyle/>
                    <a:p>
                      <a:r>
                        <a:rPr sz="1500" b="0">
                          <a:solidFill>
                            <a:srgbClr val="1C1C1A"/>
                          </a:solidFill>
                          <a:latin typeface="Calibri"/>
                        </a:rPr>
                        <a:t>You test the value first with something like a digit check before converting it.</a:t>
                      </a:r>
                    </a:p>
                  </a:txBody>
                  <a:tcPr marL="101600" marR="101600" marT="38100" marB="38100" anchor="ctr">
                    <a:solidFill>
                      <a:srgbClr val="FFFFFF"/>
                    </a:solidFill>
                  </a:tcPr>
                </a:tc>
                <a:tc>
                  <a:txBody>
                    <a:bodyPr/>
                    <a:lstStyle/>
                    <a:p>
                      <a:r>
                        <a:rPr sz="1500" b="0">
                          <a:solidFill>
                            <a:srgbClr val="1C1C1A"/>
                          </a:solidFill>
                          <a:latin typeface="Calibri"/>
                        </a:rPr>
                        <a:t>The check is cheap and total, and there is one clear condition to test.</a:t>
                      </a:r>
                    </a:p>
                  </a:txBody>
                  <a:tcPr marL="101600" marR="101600" marT="38100" marB="38100" anchor="ctr">
                    <a:solidFill>
                      <a:srgbClr val="FFFFFF"/>
                    </a:solidFill>
                  </a:tcPr>
                </a:tc>
              </a:tr>
              <a:tr h="905256">
                <a:tc>
                  <a:txBody>
                    <a:bodyPr/>
                    <a:lstStyle/>
                    <a:p>
                      <a:r>
                        <a:rPr sz="1500" b="0">
                          <a:solidFill>
                            <a:srgbClr val="1C1C1A"/>
                          </a:solidFill>
                          <a:latin typeface="Calibri"/>
                        </a:rPr>
                        <a:t>Ask forgiveness, not permission</a:t>
                      </a:r>
                    </a:p>
                  </a:txBody>
                  <a:tcPr marL="101600" marR="101600" marT="38100" marB="38100" anchor="ctr">
                    <a:solidFill>
                      <a:srgbClr val="F7F7F5"/>
                    </a:solidFill>
                  </a:tcPr>
                </a:tc>
                <a:tc>
                  <a:txBody>
                    <a:bodyPr/>
                    <a:lstStyle/>
                    <a:p>
                      <a:r>
                        <a:rPr sz="1500" b="0">
                          <a:solidFill>
                            <a:srgbClr val="1C1C1A"/>
                          </a:solidFill>
                          <a:latin typeface="Calibri"/>
                        </a:rPr>
                        <a:t>You attempt the conversion inside a try and catch the failure it raises.</a:t>
                      </a:r>
                    </a:p>
                  </a:txBody>
                  <a:tcPr marL="101600" marR="101600" marT="38100" marB="38100" anchor="ctr">
                    <a:solidFill>
                      <a:srgbClr val="F7F7F5"/>
                    </a:solidFill>
                  </a:tcPr>
                </a:tc>
                <a:tc>
                  <a:txBody>
                    <a:bodyPr/>
                    <a:lstStyle/>
                    <a:p>
                      <a:r>
                        <a:rPr sz="1500" b="0">
                          <a:solidFill>
                            <a:srgbClr val="1C1C1A"/>
                          </a:solidFill>
                          <a:latin typeface="Calibri"/>
                        </a:rPr>
                        <a:t>The check would have to duplicate the conversion's own rules, which is exactly the case for int().</a:t>
                      </a:r>
                    </a:p>
                  </a:txBody>
                  <a:tcPr marL="101600" marR="101600" marT="38100" marB="38100" anchor="ctr">
                    <a:solidFill>
                      <a:srgbClr val="F7F7F5"/>
                    </a:solidFill>
                  </a:tcPr>
                </a:tc>
              </a:tr>
            </a:tbl>
          </a:graphicData>
        </a:graphic>
      </p:graphicFrame>
      <p:sp>
        <p:nvSpPr>
          <p:cNvPr id="8" name="TextBox 7"/>
          <p:cNvSpPr txBox="1"/>
          <p:nvPr/>
        </p:nvSpPr>
        <p:spPr>
          <a:xfrm>
            <a:off x="685800" y="4439412"/>
            <a:ext cx="10820095" cy="1255776"/>
          </a:xfrm>
          <a:prstGeom prst="rect">
            <a:avLst/>
          </a:prstGeom>
          <a:noFill/>
        </p:spPr>
        <p:txBody>
          <a:bodyPr wrap="square" anchor="t" lIns="0" rIns="0" tIns="0" bIns="0">
            <a:spAutoFit/>
          </a:bodyPr>
          <a:lstStyle/>
          <a:p>
            <a:pPr>
              <a:spcAft>
                <a:spcPts val="900"/>
              </a:spcAft>
            </a:pPr>
            <a:r>
              <a:rPr sz="2000" b="0">
                <a:solidFill>
                  <a:srgbClr val="1C1C1A"/>
                </a:solidFill>
                <a:latin typeface="Calibri"/>
              </a:rPr>
              <a:t>Python leans on the second stance, and int() is the reason why. Writing a test that predicts every string int() accepts means rewriting int(), including the leading sign, the surrounding whitespace and the underscores it allows.</a:t>
            </a:r>
          </a:p>
        </p:txBody>
      </p:sp>
      <p:sp>
        <p:nvSpPr>
          <p:cNvPr id="9" name="Rectangle 8"/>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2. Half one: package the logic, survive bad data</a:t>
            </a:r>
          </a:p>
        </p:txBody>
      </p:sp>
      <p:sp>
        <p:nvSpPr>
          <p:cNvPr id="11" name="TextBox 10"/>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31 / 67</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S17</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3000" b="1">
                <a:solidFill>
                  <a:srgbClr val="1C1C1A"/>
                </a:solidFill>
                <a:latin typeface="Calibri"/>
              </a:rPr>
              <a:t>The trap</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685800" y="2597912"/>
            <a:ext cx="10820095" cy="1410208"/>
          </a:xfrm>
          <a:prstGeom prst="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685800" y="2597912"/>
            <a:ext cx="50292" cy="1410208"/>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923544" y="2698496"/>
            <a:ext cx="10417759" cy="1227328"/>
          </a:xfrm>
          <a:prstGeom prst="rect">
            <a:avLst/>
          </a:prstGeom>
          <a:noFill/>
        </p:spPr>
        <p:txBody>
          <a:bodyPr wrap="square" anchor="t" lIns="0" rIns="0" tIns="0" bIns="0">
            <a:spAutoFit/>
          </a:bodyPr>
          <a:lstStyle/>
          <a:p>
            <a:pPr>
              <a:spcAft>
                <a:spcPts val="200"/>
              </a:spcAft>
            </a:pPr>
            <a:r>
              <a:rPr sz="1600" b="0">
                <a:solidFill>
                  <a:srgbClr val="E4ECF7"/>
                </a:solidFill>
                <a:latin typeface="Consolas"/>
              </a:rPr>
              <a:t>try:</a:t>
            </a:r>
          </a:p>
          <a:p>
            <a:pPr>
              <a:spcAft>
                <a:spcPts val="200"/>
              </a:spcAft>
            </a:pPr>
            <a:r>
              <a:rPr sz="1600" b="0">
                <a:solidFill>
                  <a:srgbClr val="E4ECF7"/>
                </a:solidFill>
                <a:latin typeface="Consolas"/>
              </a:rPr>
              <a:t>    value = int(record["amount"])</a:t>
            </a:r>
          </a:p>
          <a:p>
            <a:pPr>
              <a:spcAft>
                <a:spcPts val="200"/>
              </a:spcAft>
            </a:pPr>
            <a:r>
              <a:rPr sz="1600" b="0">
                <a:solidFill>
                  <a:srgbClr val="E4ECF7"/>
                </a:solidFill>
                <a:latin typeface="Consolas"/>
              </a:rPr>
              <a:t>except:</a:t>
            </a:r>
          </a:p>
          <a:p>
            <a:pPr>
              <a:spcAft>
                <a:spcPts val="200"/>
              </a:spcAft>
            </a:pPr>
            <a:r>
              <a:rPr sz="1600" b="0">
                <a:solidFill>
                  <a:srgbClr val="E4ECF7"/>
                </a:solidFill>
                <a:latin typeface="Consolas"/>
              </a:rPr>
              <a:t>    pass</a:t>
            </a:r>
          </a:p>
        </p:txBody>
      </p:sp>
      <p:sp>
        <p:nvSpPr>
          <p:cNvPr id="9" name="TextBox 8"/>
          <p:cNvSpPr txBox="1"/>
          <p:nvPr/>
        </p:nvSpPr>
        <p:spPr>
          <a:xfrm>
            <a:off x="685800" y="4172712"/>
            <a:ext cx="10820095" cy="910336"/>
          </a:xfrm>
          <a:prstGeom prst="rect">
            <a:avLst/>
          </a:prstGeom>
          <a:noFill/>
        </p:spPr>
        <p:txBody>
          <a:bodyPr wrap="square" anchor="t" lIns="0" rIns="0" tIns="0" bIns="0">
            <a:spAutoFit/>
          </a:bodyPr>
          <a:lstStyle/>
          <a:p>
            <a:pPr>
              <a:spcAft>
                <a:spcPts val="900"/>
              </a:spcAft>
            </a:pPr>
            <a:r>
              <a:rPr sz="2000" b="0">
                <a:solidFill>
                  <a:srgbClr val="1C1C1A"/>
                </a:solidFill>
                <a:latin typeface="Calibri"/>
              </a:rPr>
              <a:t>This runs. It produces a number. The number is wrong and nothing on screen says so.</a:t>
            </a:r>
          </a:p>
        </p:txBody>
      </p:sp>
      <p:sp>
        <p:nvSpPr>
          <p:cNvPr id="10" name="Rectangle 9"/>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2. Half one: package the logic, survive bad data</a:t>
            </a:r>
          </a:p>
        </p:txBody>
      </p:sp>
      <p:sp>
        <p:nvSpPr>
          <p:cNvPr id="12" name="TextBox 11"/>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32 / 67</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S18</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3000" b="1">
                <a:solidFill>
                  <a:srgbClr val="1C1C1A"/>
                </a:solidFill>
                <a:latin typeface="Calibri"/>
              </a:rPr>
              <a:t>Watch it happen</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685800" y="2155952"/>
            <a:ext cx="10820095" cy="564896"/>
          </a:xfrm>
          <a:prstGeom prst="rect">
            <a:avLst/>
          </a:prstGeom>
          <a:noFill/>
        </p:spPr>
        <p:txBody>
          <a:bodyPr wrap="square" anchor="t" lIns="0" rIns="0" tIns="0" bIns="0">
            <a:spAutoFit/>
          </a:bodyPr>
          <a:lstStyle/>
          <a:p>
            <a:pPr>
              <a:spcAft>
                <a:spcPts val="900"/>
              </a:spcAft>
            </a:pPr>
            <a:r>
              <a:rPr sz="2000" b="0">
                <a:solidFill>
                  <a:srgbClr val="1C1C1A"/>
                </a:solidFill>
                <a:latin typeface="Calibri"/>
              </a:rPr>
              <a:t>Bare except, on today's 30 records:</a:t>
            </a:r>
          </a:p>
        </p:txBody>
      </p:sp>
      <p:sp>
        <p:nvSpPr>
          <p:cNvPr id="7" name="Rectangle 6"/>
          <p:cNvSpPr/>
          <p:nvPr/>
        </p:nvSpPr>
        <p:spPr>
          <a:xfrm>
            <a:off x="685800" y="2848864"/>
            <a:ext cx="10820095" cy="544576"/>
          </a:xfrm>
          <a:prstGeom prst="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ectangle 7"/>
          <p:cNvSpPr/>
          <p:nvPr/>
        </p:nvSpPr>
        <p:spPr>
          <a:xfrm>
            <a:off x="685800" y="2848864"/>
            <a:ext cx="50292" cy="544576"/>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23544" y="2949448"/>
            <a:ext cx="10417759" cy="361696"/>
          </a:xfrm>
          <a:prstGeom prst="rect">
            <a:avLst/>
          </a:prstGeom>
          <a:noFill/>
        </p:spPr>
        <p:txBody>
          <a:bodyPr wrap="square" anchor="t" lIns="0" rIns="0" tIns="0" bIns="0">
            <a:spAutoFit/>
          </a:bodyPr>
          <a:lstStyle/>
          <a:p>
            <a:pPr>
              <a:spcAft>
                <a:spcPts val="200"/>
              </a:spcAft>
            </a:pPr>
            <a:r>
              <a:rPr sz="1600" b="0">
                <a:solidFill>
                  <a:srgbClr val="E4ECF7"/>
                </a:solidFill>
                <a:latin typeface="Consolas"/>
              </a:rPr>
              <a:t>Processed 30 records. Total: 53745</a:t>
            </a:r>
          </a:p>
        </p:txBody>
      </p:sp>
      <p:sp>
        <p:nvSpPr>
          <p:cNvPr id="10" name="TextBox 9"/>
          <p:cNvSpPr txBox="1"/>
          <p:nvPr/>
        </p:nvSpPr>
        <p:spPr>
          <a:xfrm>
            <a:off x="685800" y="3558032"/>
            <a:ext cx="10820095" cy="564896"/>
          </a:xfrm>
          <a:prstGeom prst="rect">
            <a:avLst/>
          </a:prstGeom>
          <a:noFill/>
        </p:spPr>
        <p:txBody>
          <a:bodyPr wrap="square" anchor="t" lIns="0" rIns="0" tIns="0" bIns="0">
            <a:spAutoFit/>
          </a:bodyPr>
          <a:lstStyle/>
          <a:p>
            <a:pPr>
              <a:spcAft>
                <a:spcPts val="900"/>
              </a:spcAft>
            </a:pPr>
            <a:r>
              <a:rPr sz="2000" b="0">
                <a:solidFill>
                  <a:srgbClr val="1C1C1A"/>
                </a:solidFill>
                <a:latin typeface="Calibri"/>
              </a:rPr>
              <a:t>Narrow except, same 30 records:</a:t>
            </a:r>
          </a:p>
        </p:txBody>
      </p:sp>
      <p:sp>
        <p:nvSpPr>
          <p:cNvPr id="11" name="Rectangle 10"/>
          <p:cNvSpPr/>
          <p:nvPr/>
        </p:nvSpPr>
        <p:spPr>
          <a:xfrm>
            <a:off x="685800" y="4250944"/>
            <a:ext cx="10820095" cy="544576"/>
          </a:xfrm>
          <a:prstGeom prst="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ectangle 11"/>
          <p:cNvSpPr/>
          <p:nvPr/>
        </p:nvSpPr>
        <p:spPr>
          <a:xfrm>
            <a:off x="685800" y="4250944"/>
            <a:ext cx="50292" cy="544576"/>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923544" y="4351528"/>
            <a:ext cx="10417759" cy="361696"/>
          </a:xfrm>
          <a:prstGeom prst="rect">
            <a:avLst/>
          </a:prstGeom>
          <a:noFill/>
        </p:spPr>
        <p:txBody>
          <a:bodyPr wrap="square" anchor="t" lIns="0" rIns="0" tIns="0" bIns="0">
            <a:spAutoFit/>
          </a:bodyPr>
          <a:lstStyle/>
          <a:p>
            <a:pPr>
              <a:spcAft>
                <a:spcPts val="200"/>
              </a:spcAft>
            </a:pPr>
            <a:r>
              <a:rPr sz="1600" b="0">
                <a:solidFill>
                  <a:srgbClr val="E4ECF7"/>
                </a:solidFill>
                <a:latin typeface="Consolas"/>
              </a:rPr>
              <a:t>Clean 28, rejected 2, total 53745</a:t>
            </a:r>
          </a:p>
        </p:txBody>
      </p:sp>
      <p:sp>
        <p:nvSpPr>
          <p:cNvPr id="14" name="TextBox 13"/>
          <p:cNvSpPr txBox="1"/>
          <p:nvPr/>
        </p:nvSpPr>
        <p:spPr>
          <a:xfrm>
            <a:off x="685800" y="4960112"/>
            <a:ext cx="10820095" cy="564896"/>
          </a:xfrm>
          <a:prstGeom prst="rect">
            <a:avLst/>
          </a:prstGeom>
          <a:noFill/>
        </p:spPr>
        <p:txBody>
          <a:bodyPr wrap="square" anchor="t" lIns="0" rIns="0" tIns="0" bIns="0">
            <a:spAutoFit/>
          </a:bodyPr>
          <a:lstStyle/>
          <a:p>
            <a:pPr>
              <a:spcAft>
                <a:spcPts val="900"/>
              </a:spcAft>
            </a:pPr>
            <a:r>
              <a:rPr sz="2000" b="0">
                <a:solidFill>
                  <a:srgbClr val="1C1C1A"/>
                </a:solidFill>
                <a:latin typeface="Calibri"/>
              </a:rPr>
              <a:t>Same number. One of these two lines is a lie.</a:t>
            </a:r>
          </a:p>
        </p:txBody>
      </p:sp>
      <p:sp>
        <p:nvSpPr>
          <p:cNvPr id="15" name="Rectangle 14"/>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2. Half one: package the logic, survive bad data</a:t>
            </a:r>
          </a:p>
        </p:txBody>
      </p:sp>
      <p:sp>
        <p:nvSpPr>
          <p:cNvPr id="17" name="TextBox 16"/>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33 / 67</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S19</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3000" b="1">
                <a:solidFill>
                  <a:srgbClr val="1C1C1A"/>
                </a:solidFill>
                <a:latin typeface="Calibri"/>
              </a:rPr>
              <a:t>Which one lied</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685800" y="3157728"/>
            <a:ext cx="10820095" cy="1365504"/>
          </a:xfrm>
          <a:prstGeom prst="rect">
            <a:avLst/>
          </a:prstGeom>
          <a:noFill/>
        </p:spPr>
        <p:txBody>
          <a:bodyPr wrap="square" anchor="t" lIns="0" rIns="0" tIns="0" bIns="0">
            <a:spAutoFit/>
          </a:bodyPr>
          <a:lstStyle/>
          <a:p>
            <a:pPr>
              <a:spcAft>
                <a:spcPts val="900"/>
              </a:spcAft>
            </a:pPr>
            <a:r>
              <a:rPr sz="2000" b="0">
                <a:solidFill>
                  <a:srgbClr val="1C1C1A"/>
                </a:solidFill>
                <a:latin typeface="Calibri"/>
              </a:rPr>
              <a:t>The first line claims 30 records went into that total. Two of them did not.</a:t>
            </a:r>
          </a:p>
          <a:p>
            <a:pPr>
              <a:spcAft>
                <a:spcPts val="900"/>
              </a:spcAft>
            </a:pPr>
            <a:r>
              <a:rPr sz="2000" b="0">
                <a:solidFill>
                  <a:srgbClr val="1C1C1A"/>
                </a:solidFill>
                <a:latin typeface="Calibri"/>
              </a:rPr>
              <a:t>A crash costs you an hour. A plausible wrong number costs you the quarter, because nobody goes looking for it.</a:t>
            </a:r>
          </a:p>
        </p:txBody>
      </p:sp>
      <p:sp>
        <p:nvSpPr>
          <p:cNvPr id="7" name="Rectangle 6"/>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2. Half one: package the logic, survive bad data</a:t>
            </a:r>
          </a:p>
        </p:txBody>
      </p:sp>
      <p:sp>
        <p:nvSpPr>
          <p:cNvPr id="9" name="TextBox 8"/>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34 / 67</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D13</a:t>
            </a:r>
          </a:p>
        </p:txBody>
      </p:sp>
      <p:sp>
        <p:nvSpPr>
          <p:cNvPr id="4" name="Rounded Rectangle 3"/>
          <p:cNvSpPr/>
          <p:nvPr/>
        </p:nvSpPr>
        <p:spPr>
          <a:xfrm>
            <a:off x="10573207" y="603504"/>
            <a:ext cx="932688" cy="274320"/>
          </a:xfrm>
          <a:prstGeom prst="round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DEPTH</a:t>
            </a:r>
          </a:p>
        </p:txBody>
      </p:sp>
      <p:sp>
        <p:nvSpPr>
          <p:cNvPr id="5" name="TextBox 4"/>
          <p:cNvSpPr txBox="1"/>
          <p:nvPr/>
        </p:nvSpPr>
        <p:spPr>
          <a:xfrm>
            <a:off x="1618488" y="493776"/>
            <a:ext cx="8790127" cy="786384"/>
          </a:xfrm>
          <a:prstGeom prst="rect">
            <a:avLst/>
          </a:prstGeom>
          <a:noFill/>
        </p:spPr>
        <p:txBody>
          <a:bodyPr wrap="square" anchor="ctr" lIns="0" rIns="0" tIns="0" bIns="0">
            <a:spAutoFit/>
          </a:bodyPr>
          <a:lstStyle/>
          <a:p>
            <a:r>
              <a:rPr sz="2300" b="1">
                <a:solidFill>
                  <a:srgbClr val="1C1C1A"/>
                </a:solidFill>
                <a:latin typeface="Calibri"/>
              </a:rPr>
              <a:t>The size of the lie, as a formula</a:t>
            </a:r>
          </a:p>
        </p:txBody>
      </p:sp>
      <p:sp>
        <p:nvSpPr>
          <p:cNvPr id="6" name="Rectangle 5"/>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685800" y="1956816"/>
            <a:ext cx="10820095" cy="3767328"/>
          </a:xfrm>
          <a:prstGeom prst="rect">
            <a:avLst/>
          </a:prstGeom>
          <a:noFill/>
        </p:spPr>
        <p:txBody>
          <a:bodyPr wrap="square" anchor="t" lIns="0" rIns="0" tIns="0" bIns="0">
            <a:spAutoFit/>
          </a:bodyPr>
          <a:lstStyle/>
          <a:p>
            <a:pPr>
              <a:spcAft>
                <a:spcPts val="900"/>
              </a:spcAft>
            </a:pPr>
            <a:r>
              <a:rPr sz="2000" b="0">
                <a:solidFill>
                  <a:srgbClr val="1C1C1A"/>
                </a:solidFill>
                <a:latin typeface="Calibri"/>
              </a:rPr>
              <a:t>Write $n$ for the records that arrived, $r$ for the records that failed to convert, and $\bar{x}$ for the average of the ones that did.</a:t>
            </a:r>
          </a:p>
          <a:p>
            <a:pPr>
              <a:spcAft>
                <a:spcPts val="900"/>
              </a:spcAft>
            </a:pPr>
            <a:r>
              <a:rPr sz="2000" b="0">
                <a:solidFill>
                  <a:srgbClr val="1C1C1A"/>
                </a:solidFill>
                <a:latin typeface="Calibri"/>
              </a:rPr>
              <a:t>The honest total comes from the ones that converted. The gap between that and the total somebody assumes covers all $n$ records is</a:t>
            </a:r>
          </a:p>
          <a:p>
            <a:pPr>
              <a:spcAft>
                <a:spcPts val="900"/>
              </a:spcAft>
            </a:pPr>
            <a:r>
              <a:rPr sz="2000" b="0">
                <a:solidFill>
                  <a:srgbClr val="1C1C1A"/>
                </a:solidFill>
                <a:latin typeface="Calibri"/>
              </a:rPr>
              <a:t>$$\text{understatement} \approx r \times \bar{x}$$</a:t>
            </a:r>
          </a:p>
          <a:p>
            <a:pPr>
              <a:spcAft>
                <a:spcPts val="900"/>
              </a:spcAft>
            </a:pPr>
            <a:r>
              <a:rPr sz="2000" b="0">
                <a:solidFill>
                  <a:srgbClr val="1C1C1A"/>
                </a:solidFill>
                <a:latin typeface="Calibri"/>
              </a:rPr>
              <a:t>Today $r = 2$ and $\bar{x} = 53745 / 28 \approx 1920$, so the silent gap is about Rs 3,840 on a reported Rs 53,745, which is roughly 7 percent.</a:t>
            </a:r>
          </a:p>
          <a:p>
            <a:pPr>
              <a:spcAft>
                <a:spcPts val="900"/>
              </a:spcAft>
            </a:pPr>
            <a:r>
              <a:rPr sz="2000" b="0">
                <a:solidFill>
                  <a:srgbClr val="1C1C1A"/>
                </a:solidFill>
                <a:latin typeface="Calibri"/>
              </a:rPr>
              <a:t>Nothing on the screen carries that 7 percent. The only way it reaches anybody is if you write $r$ down.</a:t>
            </a:r>
          </a:p>
        </p:txBody>
      </p:sp>
      <p:sp>
        <p:nvSpPr>
          <p:cNvPr id="8" name="Rectangle 7"/>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2. Half one: package the logic, survive bad data</a:t>
            </a:r>
          </a:p>
        </p:txBody>
      </p:sp>
      <p:sp>
        <p:nvSpPr>
          <p:cNvPr id="10" name="TextBox 9"/>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35 / 67</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S20</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3000" b="1">
                <a:solidFill>
                  <a:srgbClr val="1C1C1A"/>
                </a:solidFill>
                <a:latin typeface="Calibri"/>
              </a:rPr>
              <a:t>Step card, section 2</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685800" y="2882392"/>
            <a:ext cx="457200" cy="437896"/>
          </a:xfrm>
          <a:prstGeom prst="rect">
            <a:avLst/>
          </a:prstGeom>
          <a:noFill/>
        </p:spPr>
        <p:txBody>
          <a:bodyPr wrap="square" anchor="t" lIns="0" rIns="0" tIns="0" bIns="0">
            <a:spAutoFit/>
          </a:bodyPr>
          <a:lstStyle/>
          <a:p>
            <a:r>
              <a:rPr sz="1900" b="1">
                <a:solidFill>
                  <a:srgbClr val="2B4A7D"/>
                </a:solidFill>
                <a:latin typeface="Calibri"/>
              </a:rPr>
              <a:t>1</a:t>
            </a:r>
          </a:p>
        </p:txBody>
      </p:sp>
      <p:sp>
        <p:nvSpPr>
          <p:cNvPr id="7" name="TextBox 6"/>
          <p:cNvSpPr txBox="1"/>
          <p:nvPr/>
        </p:nvSpPr>
        <p:spPr>
          <a:xfrm>
            <a:off x="1143000" y="2882392"/>
            <a:ext cx="10362895" cy="437896"/>
          </a:xfrm>
          <a:prstGeom prst="rect">
            <a:avLst/>
          </a:prstGeom>
          <a:noFill/>
        </p:spPr>
        <p:txBody>
          <a:bodyPr wrap="square" anchor="t" lIns="0" rIns="0" tIns="0" bIns="0">
            <a:spAutoFit/>
          </a:bodyPr>
          <a:lstStyle/>
          <a:p>
            <a:r>
              <a:rPr sz="1900" b="0">
                <a:solidFill>
                  <a:srgbClr val="1C1C1A"/>
                </a:solidFill>
                <a:latin typeface="Calibri"/>
              </a:rPr>
              <a:t>Read the traceback from the bottom.</a:t>
            </a:r>
          </a:p>
        </p:txBody>
      </p:sp>
      <p:sp>
        <p:nvSpPr>
          <p:cNvPr id="8" name="TextBox 7"/>
          <p:cNvSpPr txBox="1"/>
          <p:nvPr/>
        </p:nvSpPr>
        <p:spPr>
          <a:xfrm>
            <a:off x="685800" y="3375152"/>
            <a:ext cx="457200" cy="437896"/>
          </a:xfrm>
          <a:prstGeom prst="rect">
            <a:avLst/>
          </a:prstGeom>
          <a:noFill/>
        </p:spPr>
        <p:txBody>
          <a:bodyPr wrap="square" anchor="t" lIns="0" rIns="0" tIns="0" bIns="0">
            <a:spAutoFit/>
          </a:bodyPr>
          <a:lstStyle/>
          <a:p>
            <a:r>
              <a:rPr sz="1900" b="1">
                <a:solidFill>
                  <a:srgbClr val="2B4A7D"/>
                </a:solidFill>
                <a:latin typeface="Calibri"/>
              </a:rPr>
              <a:t>2</a:t>
            </a:r>
          </a:p>
        </p:txBody>
      </p:sp>
      <p:sp>
        <p:nvSpPr>
          <p:cNvPr id="9" name="TextBox 8"/>
          <p:cNvSpPr txBox="1"/>
          <p:nvPr/>
        </p:nvSpPr>
        <p:spPr>
          <a:xfrm>
            <a:off x="1143000" y="3375152"/>
            <a:ext cx="10362895" cy="437896"/>
          </a:xfrm>
          <a:prstGeom prst="rect">
            <a:avLst/>
          </a:prstGeom>
          <a:noFill/>
        </p:spPr>
        <p:txBody>
          <a:bodyPr wrap="square" anchor="t" lIns="0" rIns="0" tIns="0" bIns="0">
            <a:spAutoFit/>
          </a:bodyPr>
          <a:lstStyle/>
          <a:p>
            <a:r>
              <a:rPr sz="1900" b="0">
                <a:solidFill>
                  <a:srgbClr val="1C1C1A"/>
                </a:solidFill>
                <a:latin typeface="Calibri"/>
              </a:rPr>
              <a:t>Name the exception you expected.</a:t>
            </a:r>
          </a:p>
        </p:txBody>
      </p:sp>
      <p:sp>
        <p:nvSpPr>
          <p:cNvPr id="10" name="TextBox 9"/>
          <p:cNvSpPr txBox="1"/>
          <p:nvPr/>
        </p:nvSpPr>
        <p:spPr>
          <a:xfrm>
            <a:off x="685800" y="3867912"/>
            <a:ext cx="457200" cy="437896"/>
          </a:xfrm>
          <a:prstGeom prst="rect">
            <a:avLst/>
          </a:prstGeom>
          <a:noFill/>
        </p:spPr>
        <p:txBody>
          <a:bodyPr wrap="square" anchor="t" lIns="0" rIns="0" tIns="0" bIns="0">
            <a:spAutoFit/>
          </a:bodyPr>
          <a:lstStyle/>
          <a:p>
            <a:r>
              <a:rPr sz="1900" b="1">
                <a:solidFill>
                  <a:srgbClr val="2B4A7D"/>
                </a:solidFill>
                <a:latin typeface="Calibri"/>
              </a:rPr>
              <a:t>3</a:t>
            </a:r>
          </a:p>
        </p:txBody>
      </p:sp>
      <p:sp>
        <p:nvSpPr>
          <p:cNvPr id="11" name="TextBox 10"/>
          <p:cNvSpPr txBox="1"/>
          <p:nvPr/>
        </p:nvSpPr>
        <p:spPr>
          <a:xfrm>
            <a:off x="1143000" y="3867912"/>
            <a:ext cx="10362895" cy="437896"/>
          </a:xfrm>
          <a:prstGeom prst="rect">
            <a:avLst/>
          </a:prstGeom>
          <a:noFill/>
        </p:spPr>
        <p:txBody>
          <a:bodyPr wrap="square" anchor="t" lIns="0" rIns="0" tIns="0" bIns="0">
            <a:spAutoFit/>
          </a:bodyPr>
          <a:lstStyle/>
          <a:p>
            <a:r>
              <a:rPr sz="1900" b="0">
                <a:solidFill>
                  <a:srgbClr val="1C1C1A"/>
                </a:solidFill>
                <a:latin typeface="Calibri"/>
              </a:rPr>
              <a:t>Never catch everything.</a:t>
            </a:r>
          </a:p>
        </p:txBody>
      </p:sp>
      <p:sp>
        <p:nvSpPr>
          <p:cNvPr id="12" name="TextBox 11"/>
          <p:cNvSpPr txBox="1"/>
          <p:nvPr/>
        </p:nvSpPr>
        <p:spPr>
          <a:xfrm>
            <a:off x="685800" y="4360672"/>
            <a:ext cx="457200" cy="437896"/>
          </a:xfrm>
          <a:prstGeom prst="rect">
            <a:avLst/>
          </a:prstGeom>
          <a:noFill/>
        </p:spPr>
        <p:txBody>
          <a:bodyPr wrap="square" anchor="t" lIns="0" rIns="0" tIns="0" bIns="0">
            <a:spAutoFit/>
          </a:bodyPr>
          <a:lstStyle/>
          <a:p>
            <a:r>
              <a:rPr sz="1900" b="1">
                <a:solidFill>
                  <a:srgbClr val="2B4A7D"/>
                </a:solidFill>
                <a:latin typeface="Calibri"/>
              </a:rPr>
              <a:t>4</a:t>
            </a:r>
          </a:p>
        </p:txBody>
      </p:sp>
      <p:sp>
        <p:nvSpPr>
          <p:cNvPr id="13" name="TextBox 12"/>
          <p:cNvSpPr txBox="1"/>
          <p:nvPr/>
        </p:nvSpPr>
        <p:spPr>
          <a:xfrm>
            <a:off x="1143000" y="4360672"/>
            <a:ext cx="10362895" cy="437896"/>
          </a:xfrm>
          <a:prstGeom prst="rect">
            <a:avLst/>
          </a:prstGeom>
          <a:noFill/>
        </p:spPr>
        <p:txBody>
          <a:bodyPr wrap="square" anchor="t" lIns="0" rIns="0" tIns="0" bIns="0">
            <a:spAutoFit/>
          </a:bodyPr>
          <a:lstStyle/>
          <a:p>
            <a:r>
              <a:rPr sz="1900" b="0">
                <a:solidFill>
                  <a:srgbClr val="1C1C1A"/>
                </a:solidFill>
                <a:latin typeface="Calibri"/>
              </a:rPr>
              <a:t>If the count and the claim disagree, the claim is wrong.</a:t>
            </a:r>
          </a:p>
        </p:txBody>
      </p:sp>
      <p:sp>
        <p:nvSpPr>
          <p:cNvPr id="14" name="Rectangle 13"/>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2. Half one: package the logic, survive bad data</a:t>
            </a:r>
          </a:p>
        </p:txBody>
      </p:sp>
      <p:sp>
        <p:nvSpPr>
          <p:cNvPr id="16" name="TextBox 15"/>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36 / 67</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2377440"/>
            <a:ext cx="10820095" cy="1463040"/>
          </a:xfrm>
          <a:prstGeom prst="rect">
            <a:avLst/>
          </a:prstGeom>
          <a:noFill/>
        </p:spPr>
        <p:txBody>
          <a:bodyPr wrap="square" anchor="ctr" lIns="0" rIns="0" tIns="0" bIns="0">
            <a:spAutoFit/>
          </a:bodyPr>
          <a:lstStyle/>
          <a:p>
            <a:pPr algn="ctr"/>
            <a:r>
              <a:rPr sz="4000" b="1">
                <a:solidFill>
                  <a:srgbClr val="FFFFFF"/>
                </a:solidFill>
                <a:latin typeface="Calibri"/>
              </a:rPr>
              <a:t>SECTION 3: LOG THE REJECTION</a:t>
            </a:r>
          </a:p>
        </p:txBody>
      </p:sp>
      <p:sp>
        <p:nvSpPr>
          <p:cNvPr id="4" name="Rounded Rectangle 3"/>
          <p:cNvSpPr/>
          <p:nvPr/>
        </p:nvSpPr>
        <p:spPr>
          <a:xfrm>
            <a:off x="685800" y="4754880"/>
            <a:ext cx="2076236" cy="475488"/>
          </a:xfrm>
          <a:prstGeom prst="roundRect">
            <a:avLst/>
          </a:prstGeom>
          <a:no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0">
                <a:solidFill>
                  <a:srgbClr val="FFFFFF"/>
                </a:solidFill>
                <a:latin typeface="Calibri"/>
              </a:rPr>
              <a:t>inline cell</a:t>
            </a:r>
          </a:p>
        </p:txBody>
      </p:sp>
      <p:sp>
        <p:nvSpPr>
          <p:cNvPr id="5" name="Rounded Rectangle 4"/>
          <p:cNvSpPr/>
          <p:nvPr/>
        </p:nvSpPr>
        <p:spPr>
          <a:xfrm>
            <a:off x="2871764" y="4754880"/>
            <a:ext cx="2076236" cy="475488"/>
          </a:xfrm>
          <a:prstGeom prst="roundRect">
            <a:avLst/>
          </a:prstGeom>
          <a:no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0">
                <a:solidFill>
                  <a:srgbClr val="FFFFFF"/>
                </a:solidFill>
                <a:latin typeface="Calibri"/>
              </a:rPr>
              <a:t>packaged decision</a:t>
            </a:r>
          </a:p>
        </p:txBody>
      </p:sp>
      <p:sp>
        <p:nvSpPr>
          <p:cNvPr id="6" name="Rounded Rectangle 5"/>
          <p:cNvSpPr/>
          <p:nvPr/>
        </p:nvSpPr>
        <p:spPr>
          <a:xfrm>
            <a:off x="5057729" y="4754880"/>
            <a:ext cx="2076236" cy="475488"/>
          </a:xfrm>
          <a:prstGeom prst="roundRect">
            <a:avLst/>
          </a:prstGeom>
          <a:no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0">
                <a:solidFill>
                  <a:srgbClr val="FFFFFF"/>
                </a:solidFill>
                <a:latin typeface="Calibri"/>
              </a:rPr>
              <a:t>read the failure</a:t>
            </a:r>
          </a:p>
        </p:txBody>
      </p:sp>
      <p:sp>
        <p:nvSpPr>
          <p:cNvPr id="7" name="Rounded Rectangle 6"/>
          <p:cNvSpPr/>
          <p:nvPr/>
        </p:nvSpPr>
        <p:spPr>
          <a:xfrm>
            <a:off x="7243693" y="4754880"/>
            <a:ext cx="2076236" cy="475488"/>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FFFFFF"/>
                </a:solidFill>
                <a:latin typeface="Calibri"/>
              </a:rPr>
              <a:t>log the rejection</a:t>
            </a:r>
          </a:p>
        </p:txBody>
      </p:sp>
      <p:sp>
        <p:nvSpPr>
          <p:cNvPr id="8" name="Rounded Rectangle 7"/>
          <p:cNvSpPr/>
          <p:nvPr/>
        </p:nvSpPr>
        <p:spPr>
          <a:xfrm>
            <a:off x="9429658" y="4754880"/>
            <a:ext cx="2076236" cy="475488"/>
          </a:xfrm>
          <a:prstGeom prst="roundRect">
            <a:avLst/>
          </a:prstGeom>
          <a:no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0">
                <a:solidFill>
                  <a:srgbClr val="FFFFFF"/>
                </a:solidFill>
                <a:latin typeface="Calibri"/>
              </a:rPr>
              <a:t>cross the boundary</a:t>
            </a:r>
          </a:p>
        </p:txBody>
      </p:sp>
      <p:sp>
        <p:nvSpPr>
          <p:cNvPr id="9" name="Rectangle 8"/>
          <p:cNvSpPr/>
          <p:nvPr/>
        </p:nvSpPr>
        <p:spPr>
          <a:xfrm>
            <a:off x="685800" y="6327648"/>
            <a:ext cx="10820095" cy="12801"/>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685800" y="6391656"/>
            <a:ext cx="9722815" cy="292608"/>
          </a:xfrm>
          <a:prstGeom prst="rect">
            <a:avLst/>
          </a:prstGeom>
          <a:noFill/>
        </p:spPr>
        <p:txBody>
          <a:bodyPr wrap="square" anchor="t" lIns="0" rIns="0" tIns="0" bIns="0">
            <a:spAutoFit/>
          </a:bodyPr>
          <a:lstStyle/>
          <a:p>
            <a:r>
              <a:rPr sz="1000">
                <a:solidFill>
                  <a:srgbClr val="FFFFFF"/>
                </a:solidFill>
                <a:latin typeface="Calibri"/>
              </a:rPr>
              <a:t>Week 1, Day 2. Half one: package the logic, survive bad data</a:t>
            </a:r>
          </a:p>
        </p:txBody>
      </p:sp>
      <p:sp>
        <p:nvSpPr>
          <p:cNvPr id="11" name="TextBox 10"/>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FFFFFF"/>
                </a:solidFill>
                <a:latin typeface="Calibri"/>
              </a:rPr>
              <a:t>37 / 67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S21</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2600" b="1">
                <a:solidFill>
                  <a:srgbClr val="1C1C1A"/>
                </a:solidFill>
                <a:latin typeface="Calibri"/>
              </a:rPr>
              <a:t>Where does the bad record go</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685800" y="3102864"/>
            <a:ext cx="10820095" cy="1475232"/>
          </a:xfrm>
          <a:prstGeom prst="rect">
            <a:avLst/>
          </a:prstGeom>
          <a:noFill/>
        </p:spPr>
        <p:txBody>
          <a:bodyPr wrap="square" anchor="t" lIns="0" rIns="0" tIns="0" bIns="0">
            <a:spAutoFit/>
          </a:bodyPr>
          <a:lstStyle/>
          <a:p>
            <a:pPr>
              <a:spcAft>
                <a:spcPts val="900"/>
              </a:spcAft>
            </a:pPr>
            <a:r>
              <a:rPr sz="2000" b="0">
                <a:solidFill>
                  <a:srgbClr val="1C1C1A"/>
                </a:solidFill>
                <a:latin typeface="Calibri"/>
              </a:rPr>
              <a:t>You have three choices when a record will not convert.</a:t>
            </a:r>
          </a:p>
          <a:p>
            <a:pPr>
              <a:spcAft>
                <a:spcPts val="900"/>
              </a:spcAft>
            </a:pPr>
            <a:r>
              <a:rPr sz="2000" b="0">
                <a:solidFill>
                  <a:srgbClr val="1C1C1A"/>
                </a:solidFill>
                <a:latin typeface="Calibri"/>
              </a:rPr>
              <a:t>Fix it silently. Drop it silently. Set it aside with a reason.</a:t>
            </a:r>
          </a:p>
          <a:p>
            <a:pPr>
              <a:spcAft>
                <a:spcPts val="900"/>
              </a:spcAft>
            </a:pPr>
            <a:r>
              <a:rPr sz="2000" b="0">
                <a:solidFill>
                  <a:srgbClr val="1C1C1A"/>
                </a:solidFill>
                <a:latin typeface="Calibri"/>
              </a:rPr>
              <a:t>Only the third one survives a question from your manager.</a:t>
            </a:r>
          </a:p>
        </p:txBody>
      </p:sp>
      <p:sp>
        <p:nvSpPr>
          <p:cNvPr id="7" name="Rectangle 6"/>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2. Half one: package the logic, survive bad data</a:t>
            </a:r>
          </a:p>
        </p:txBody>
      </p:sp>
      <p:sp>
        <p:nvSpPr>
          <p:cNvPr id="9" name="TextBox 8"/>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38 / 67</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S21b</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2300" b="1">
                <a:solidFill>
                  <a:srgbClr val="1C1C1A"/>
                </a:solidFill>
                <a:latin typeface="Calibri"/>
              </a:rPr>
              <a:t>The three choices, and what each one costs later</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6" name="Picture 5" descr="e42b98ffeec15886.png"/>
          <p:cNvPicPr>
            <a:picLocks noChangeAspect="1"/>
          </p:cNvPicPr>
          <p:nvPr/>
        </p:nvPicPr>
        <p:blipFill>
          <a:blip r:embed="rId2"/>
          <a:stretch>
            <a:fillRect/>
          </a:stretch>
        </p:blipFill>
        <p:spPr>
          <a:xfrm>
            <a:off x="1210441" y="1627632"/>
            <a:ext cx="9770812" cy="3460496"/>
          </a:xfrm>
          <a:prstGeom prst="rect">
            <a:avLst/>
          </a:prstGeom>
        </p:spPr>
      </p:pic>
      <p:sp>
        <p:nvSpPr>
          <p:cNvPr id="7" name="TextBox 6"/>
          <p:cNvSpPr txBox="1"/>
          <p:nvPr/>
        </p:nvSpPr>
        <p:spPr>
          <a:xfrm>
            <a:off x="685800" y="5197856"/>
            <a:ext cx="10820095" cy="855471"/>
          </a:xfrm>
          <a:prstGeom prst="rect">
            <a:avLst/>
          </a:prstGeom>
          <a:noFill/>
        </p:spPr>
        <p:txBody>
          <a:bodyPr wrap="square" anchor="t" lIns="0" rIns="0" tIns="0" bIns="0">
            <a:spAutoFit/>
          </a:bodyPr>
          <a:lstStyle/>
          <a:p>
            <a:r>
              <a:rPr sz="2000" b="0">
                <a:solidFill>
                  <a:srgbClr val="1C1C1A"/>
                </a:solidFill>
                <a:latin typeface="Calibri"/>
              </a:rPr>
              <a:t>The first two are faster today and cost you the conversation you cannot win in three weeks. The third is the job.</a:t>
            </a:r>
          </a:p>
        </p:txBody>
      </p:sp>
      <p:sp>
        <p:nvSpPr>
          <p:cNvPr id="8" name="Rectangle 7"/>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2. Half one: package the logic, survive bad data</a:t>
            </a:r>
          </a:p>
        </p:txBody>
      </p:sp>
      <p:sp>
        <p:nvSpPr>
          <p:cNvPr id="10" name="TextBox 9"/>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39 / 67</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S22</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3000" b="1">
                <a:solidFill>
                  <a:srgbClr val="1C1C1A"/>
                </a:solidFill>
                <a:latin typeface="Calibri"/>
              </a:rPr>
              <a:t>The rejects list</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685800" y="1938528"/>
            <a:ext cx="10820095" cy="1265936"/>
          </a:xfrm>
          <a:prstGeom prst="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685800" y="1938528"/>
            <a:ext cx="50292" cy="1265936"/>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923544" y="2039112"/>
            <a:ext cx="10417759" cy="1083056"/>
          </a:xfrm>
          <a:prstGeom prst="rect">
            <a:avLst/>
          </a:prstGeom>
          <a:noFill/>
        </p:spPr>
        <p:txBody>
          <a:bodyPr wrap="square" anchor="t" lIns="0" rIns="0" tIns="0" bIns="0">
            <a:spAutoFit/>
          </a:bodyPr>
          <a:lstStyle/>
          <a:p>
            <a:pPr>
              <a:spcAft>
                <a:spcPts val="200"/>
              </a:spcAft>
            </a:pPr>
            <a:r>
              <a:rPr sz="1400" b="0">
                <a:solidFill>
                  <a:srgbClr val="E4ECF7"/>
                </a:solidFill>
                <a:latin typeface="Consolas"/>
              </a:rPr>
              <a:t>def clean_record(record):</a:t>
            </a:r>
          </a:p>
          <a:p>
            <a:pPr>
              <a:spcAft>
                <a:spcPts val="200"/>
              </a:spcAft>
            </a:pPr>
            <a:r>
              <a:rPr sz="1400" b="0">
                <a:solidFill>
                  <a:srgbClr val="E4ECF7"/>
                </a:solidFill>
                <a:latin typeface="Consolas"/>
              </a:rPr>
              <a:t>    keeper = dict(record)</a:t>
            </a:r>
          </a:p>
          <a:p>
            <a:pPr>
              <a:spcAft>
                <a:spcPts val="200"/>
              </a:spcAft>
            </a:pPr>
            <a:r>
              <a:rPr sz="1400" b="0">
                <a:solidFill>
                  <a:srgbClr val="E4ECF7"/>
                </a:solidFill>
                <a:latin typeface="Consolas"/>
              </a:rPr>
              <a:t>    keeper["amount"] = normalise_amount(record["amount"])</a:t>
            </a:r>
          </a:p>
          <a:p>
            <a:pPr>
              <a:spcAft>
                <a:spcPts val="200"/>
              </a:spcAft>
            </a:pPr>
            <a:r>
              <a:rPr sz="1400" b="0">
                <a:solidFill>
                  <a:srgbClr val="E4ECF7"/>
                </a:solidFill>
                <a:latin typeface="Consolas"/>
              </a:rPr>
              <a:t>    return keeper</a:t>
            </a:r>
          </a:p>
        </p:txBody>
      </p:sp>
      <p:sp>
        <p:nvSpPr>
          <p:cNvPr id="9" name="TextBox 8"/>
          <p:cNvSpPr txBox="1"/>
          <p:nvPr/>
        </p:nvSpPr>
        <p:spPr>
          <a:xfrm>
            <a:off x="685800" y="3369056"/>
            <a:ext cx="10820095" cy="806704"/>
          </a:xfrm>
          <a:prstGeom prst="rect">
            <a:avLst/>
          </a:prstGeom>
          <a:noFill/>
        </p:spPr>
        <p:txBody>
          <a:bodyPr wrap="square" anchor="t" lIns="0" rIns="0" tIns="0" bIns="0">
            <a:spAutoFit/>
          </a:bodyPr>
          <a:lstStyle/>
          <a:p>
            <a:pPr>
              <a:spcAft>
                <a:spcPts val="800"/>
              </a:spcAft>
            </a:pPr>
            <a:r>
              <a:rPr sz="1700" b="0">
                <a:solidFill>
                  <a:srgbClr val="1C1C1A"/>
                </a:solidFill>
                <a:latin typeface="Calibri"/>
              </a:rPr>
              <a:t>clean_record handles one record and decides nothing about failure. clean_records handles the list and owns that decision.</a:t>
            </a:r>
          </a:p>
        </p:txBody>
      </p:sp>
      <p:sp>
        <p:nvSpPr>
          <p:cNvPr id="10" name="Rectangle 9"/>
          <p:cNvSpPr/>
          <p:nvPr/>
        </p:nvSpPr>
        <p:spPr>
          <a:xfrm>
            <a:off x="685800" y="4303775"/>
            <a:ext cx="10820095" cy="760984"/>
          </a:xfrm>
          <a:prstGeom prst="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ectangle 10"/>
          <p:cNvSpPr/>
          <p:nvPr/>
        </p:nvSpPr>
        <p:spPr>
          <a:xfrm>
            <a:off x="685800" y="4303775"/>
            <a:ext cx="50292" cy="76098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923544" y="4404360"/>
            <a:ext cx="10417759" cy="578104"/>
          </a:xfrm>
          <a:prstGeom prst="rect">
            <a:avLst/>
          </a:prstGeom>
          <a:noFill/>
        </p:spPr>
        <p:txBody>
          <a:bodyPr wrap="square" anchor="t" lIns="0" rIns="0" tIns="0" bIns="0">
            <a:spAutoFit/>
          </a:bodyPr>
          <a:lstStyle/>
          <a:p>
            <a:pPr>
              <a:spcAft>
                <a:spcPts val="200"/>
              </a:spcAft>
            </a:pPr>
            <a:r>
              <a:rPr sz="1400" b="0">
                <a:solidFill>
                  <a:srgbClr val="E4ECF7"/>
                </a:solidFill>
                <a:latin typeface="Consolas"/>
              </a:rPr>
              <a:t>except ValueError as e:</a:t>
            </a:r>
          </a:p>
          <a:p>
            <a:pPr>
              <a:spcAft>
                <a:spcPts val="200"/>
              </a:spcAft>
            </a:pPr>
            <a:r>
              <a:rPr sz="1400" b="0">
                <a:solidFill>
                  <a:srgbClr val="E4ECF7"/>
                </a:solidFill>
                <a:latin typeface="Consolas"/>
              </a:rPr>
              <a:t>    rejects.append({"order_id": record["order_id"], "reason": str(e)})</a:t>
            </a:r>
          </a:p>
        </p:txBody>
      </p:sp>
      <p:sp>
        <p:nvSpPr>
          <p:cNvPr id="13" name="TextBox 12"/>
          <p:cNvSpPr txBox="1"/>
          <p:nvPr/>
        </p:nvSpPr>
        <p:spPr>
          <a:xfrm>
            <a:off x="685800" y="5229351"/>
            <a:ext cx="10820095" cy="513080"/>
          </a:xfrm>
          <a:prstGeom prst="rect">
            <a:avLst/>
          </a:prstGeom>
          <a:noFill/>
        </p:spPr>
        <p:txBody>
          <a:bodyPr wrap="square" anchor="t" lIns="0" rIns="0" tIns="0" bIns="0">
            <a:spAutoFit/>
          </a:bodyPr>
          <a:lstStyle/>
          <a:p>
            <a:pPr>
              <a:spcAft>
                <a:spcPts val="800"/>
              </a:spcAft>
            </a:pPr>
            <a:r>
              <a:rPr sz="1700" b="0">
                <a:solidFill>
                  <a:srgbClr val="1C1C1A"/>
                </a:solidFill>
                <a:latin typeface="Calibri"/>
              </a:rPr>
              <a:t>str(e) carries the exact reason the interpreter gave you. You do not have to invent wording.</a:t>
            </a:r>
          </a:p>
        </p:txBody>
      </p:sp>
      <p:sp>
        <p:nvSpPr>
          <p:cNvPr id="14" name="Rectangle 13"/>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2. Half one: package the logic, survive bad data</a:t>
            </a:r>
          </a:p>
        </p:txBody>
      </p:sp>
      <p:sp>
        <p:nvSpPr>
          <p:cNvPr id="16" name="TextBox 15"/>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40 / 67</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D15</a:t>
            </a:r>
          </a:p>
        </p:txBody>
      </p:sp>
      <p:sp>
        <p:nvSpPr>
          <p:cNvPr id="4" name="Rounded Rectangle 3"/>
          <p:cNvSpPr/>
          <p:nvPr/>
        </p:nvSpPr>
        <p:spPr>
          <a:xfrm>
            <a:off x="10573207" y="603504"/>
            <a:ext cx="932688" cy="274320"/>
          </a:xfrm>
          <a:prstGeom prst="round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DEPTH</a:t>
            </a:r>
          </a:p>
        </p:txBody>
      </p:sp>
      <p:sp>
        <p:nvSpPr>
          <p:cNvPr id="5" name="TextBox 4"/>
          <p:cNvSpPr txBox="1"/>
          <p:nvPr/>
        </p:nvSpPr>
        <p:spPr>
          <a:xfrm>
            <a:off x="1618488" y="493776"/>
            <a:ext cx="8790127" cy="786384"/>
          </a:xfrm>
          <a:prstGeom prst="rect">
            <a:avLst/>
          </a:prstGeom>
          <a:noFill/>
        </p:spPr>
        <p:txBody>
          <a:bodyPr wrap="square" anchor="ctr" lIns="0" rIns="0" tIns="0" bIns="0">
            <a:spAutoFit/>
          </a:bodyPr>
          <a:lstStyle/>
          <a:p>
            <a:r>
              <a:rPr sz="2300" b="1">
                <a:solidFill>
                  <a:srgbClr val="1C1C1A"/>
                </a:solidFill>
                <a:latin typeface="Calibri"/>
              </a:rPr>
              <a:t>Who decides what, and why the split matters</a:t>
            </a:r>
          </a:p>
        </p:txBody>
      </p:sp>
      <p:sp>
        <p:nvSpPr>
          <p:cNvPr id="6" name="Rectangle 5"/>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7" name="Picture 6" descr="1d0c3af45dc5702f.png"/>
          <p:cNvPicPr>
            <a:picLocks noChangeAspect="1"/>
          </p:cNvPicPr>
          <p:nvPr/>
        </p:nvPicPr>
        <p:blipFill>
          <a:blip r:embed="rId2"/>
          <a:stretch>
            <a:fillRect/>
          </a:stretch>
        </p:blipFill>
        <p:spPr>
          <a:xfrm>
            <a:off x="685799" y="2161352"/>
            <a:ext cx="10820095" cy="1956175"/>
          </a:xfrm>
          <a:prstGeom prst="rect">
            <a:avLst/>
          </a:prstGeom>
        </p:spPr>
      </p:pic>
      <p:sp>
        <p:nvSpPr>
          <p:cNvPr id="8" name="TextBox 7"/>
          <p:cNvSpPr txBox="1"/>
          <p:nvPr/>
        </p:nvSpPr>
        <p:spPr>
          <a:xfrm>
            <a:off x="685800" y="4263831"/>
            <a:ext cx="10820095" cy="1255776"/>
          </a:xfrm>
          <a:prstGeom prst="rect">
            <a:avLst/>
          </a:prstGeom>
          <a:noFill/>
        </p:spPr>
        <p:txBody>
          <a:bodyPr wrap="square" anchor="t" lIns="0" rIns="0" tIns="0" bIns="0">
            <a:spAutoFit/>
          </a:bodyPr>
          <a:lstStyle/>
          <a:p>
            <a:pPr>
              <a:spcAft>
                <a:spcPts val="900"/>
              </a:spcAft>
            </a:pPr>
            <a:r>
              <a:rPr sz="2000" b="0">
                <a:solidFill>
                  <a:srgbClr val="1C1C1A"/>
                </a:solidFill>
                <a:latin typeface="Calibri"/>
              </a:rPr>
              <a:t>One function knows how to convert and nothing about policy. The other knows the policy and nothing about conversion. That split is why the same clean_record is called unchanged tomorrow on a dataset four times the size.</a:t>
            </a:r>
          </a:p>
        </p:txBody>
      </p:sp>
      <p:sp>
        <p:nvSpPr>
          <p:cNvPr id="9" name="Rectangle 8"/>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2. Half one: package the logic, survive bad data</a:t>
            </a:r>
          </a:p>
        </p:txBody>
      </p:sp>
      <p:sp>
        <p:nvSpPr>
          <p:cNvPr id="11" name="TextBox 10"/>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41 / 67</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S23</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2600" b="1">
                <a:solidFill>
                  <a:srgbClr val="1C1C1A"/>
                </a:solidFill>
                <a:latin typeface="Calibri"/>
              </a:rPr>
              <a:t>What a good reason looks like</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685800" y="3059176"/>
            <a:ext cx="10820095" cy="833120"/>
          </a:xfrm>
          <a:prstGeom prst="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685800" y="3059176"/>
            <a:ext cx="50292" cy="833120"/>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923544" y="3159760"/>
            <a:ext cx="10417759" cy="650239"/>
          </a:xfrm>
          <a:prstGeom prst="rect">
            <a:avLst/>
          </a:prstGeom>
          <a:noFill/>
        </p:spPr>
        <p:txBody>
          <a:bodyPr wrap="square" anchor="t" lIns="0" rIns="0" tIns="0" bIns="0">
            <a:spAutoFit/>
          </a:bodyPr>
          <a:lstStyle/>
          <a:p>
            <a:pPr>
              <a:spcAft>
                <a:spcPts val="200"/>
              </a:spcAft>
            </a:pPr>
            <a:r>
              <a:rPr sz="1600" b="0">
                <a:solidFill>
                  <a:srgbClr val="E4ECF7"/>
                </a:solidFill>
                <a:latin typeface="Consolas"/>
              </a:rPr>
              <a:t>{"id": "KR4210", "reason": "invalid literal for int() with base 10: 'twelve'"}</a:t>
            </a:r>
          </a:p>
          <a:p>
            <a:pPr>
              <a:spcAft>
                <a:spcPts val="200"/>
              </a:spcAft>
            </a:pPr>
            <a:r>
              <a:rPr sz="1600" b="0">
                <a:solidFill>
                  <a:srgbClr val="E4ECF7"/>
                </a:solidFill>
                <a:latin typeface="Consolas"/>
              </a:rPr>
              <a:t>{"id": "KR4214", "reason": "invalid literal for int() with base 10: ''"}</a:t>
            </a:r>
          </a:p>
        </p:txBody>
      </p:sp>
      <p:sp>
        <p:nvSpPr>
          <p:cNvPr id="9" name="TextBox 8"/>
          <p:cNvSpPr txBox="1"/>
          <p:nvPr/>
        </p:nvSpPr>
        <p:spPr>
          <a:xfrm>
            <a:off x="685800" y="4056888"/>
            <a:ext cx="10820095" cy="564896"/>
          </a:xfrm>
          <a:prstGeom prst="rect">
            <a:avLst/>
          </a:prstGeom>
          <a:noFill/>
        </p:spPr>
        <p:txBody>
          <a:bodyPr wrap="square" anchor="t" lIns="0" rIns="0" tIns="0" bIns="0">
            <a:spAutoFit/>
          </a:bodyPr>
          <a:lstStyle/>
          <a:p>
            <a:pPr>
              <a:spcAft>
                <a:spcPts val="900"/>
              </a:spcAft>
            </a:pPr>
            <a:r>
              <a:rPr sz="2000" b="0">
                <a:solidFill>
                  <a:srgbClr val="1C1C1A"/>
                </a:solidFill>
                <a:latin typeface="Calibri"/>
              </a:rPr>
              <a:t>Someone who was not in the room can act on both of these.</a:t>
            </a:r>
          </a:p>
        </p:txBody>
      </p:sp>
      <p:sp>
        <p:nvSpPr>
          <p:cNvPr id="10" name="Rectangle 9"/>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2. Half one: package the logic, survive bad data</a:t>
            </a:r>
          </a:p>
        </p:txBody>
      </p:sp>
      <p:sp>
        <p:nvSpPr>
          <p:cNvPr id="12" name="TextBox 11"/>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42 / 67</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D16</a:t>
            </a:r>
          </a:p>
        </p:txBody>
      </p:sp>
      <p:sp>
        <p:nvSpPr>
          <p:cNvPr id="4" name="Rounded Rectangle 3"/>
          <p:cNvSpPr/>
          <p:nvPr/>
        </p:nvSpPr>
        <p:spPr>
          <a:xfrm>
            <a:off x="10573207" y="603504"/>
            <a:ext cx="932688" cy="274320"/>
          </a:xfrm>
          <a:prstGeom prst="round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DEPTH</a:t>
            </a:r>
          </a:p>
        </p:txBody>
      </p:sp>
      <p:sp>
        <p:nvSpPr>
          <p:cNvPr id="5" name="TextBox 4"/>
          <p:cNvSpPr txBox="1"/>
          <p:nvPr/>
        </p:nvSpPr>
        <p:spPr>
          <a:xfrm>
            <a:off x="1618488" y="493776"/>
            <a:ext cx="8790127" cy="786384"/>
          </a:xfrm>
          <a:prstGeom prst="rect">
            <a:avLst/>
          </a:prstGeom>
          <a:noFill/>
        </p:spPr>
        <p:txBody>
          <a:bodyPr wrap="square" anchor="ctr" lIns="0" rIns="0" tIns="0" bIns="0">
            <a:spAutoFit/>
          </a:bodyPr>
          <a:lstStyle/>
          <a:p>
            <a:r>
              <a:rPr sz="2300" b="1">
                <a:solidFill>
                  <a:srgbClr val="1C1C1A"/>
                </a:solidFill>
                <a:latin typeface="Calibri"/>
              </a:rPr>
              <a:t>The fields a reject row needs, and why</a:t>
            </a:r>
          </a:p>
        </p:txBody>
      </p:sp>
      <p:sp>
        <p:nvSpPr>
          <p:cNvPr id="6" name="Rectangle 5"/>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graphicFrame>
        <p:nvGraphicFramePr>
          <p:cNvPr id="7" name="Table 6"/>
          <p:cNvGraphicFramePr>
            <a:graphicFrameLocks noGrp="1"/>
          </p:cNvGraphicFramePr>
          <p:nvPr/>
        </p:nvGraphicFramePr>
        <p:xfrm>
          <a:off x="685800" y="1627632"/>
          <a:ext cx="10820094" cy="2971800"/>
        </p:xfrm>
        <a:graphic>
          <a:graphicData uri="http://schemas.openxmlformats.org/drawingml/2006/table">
            <a:tbl>
              <a:tblPr firstRow="0" bandRow="0">
                <a:tableStyleId>{2D5ABB26-0587-4C30-8999-92F81FD0307C}</a:tableStyleId>
              </a:tblPr>
              <a:tblGrid>
                <a:gridCol w="4767506"/>
                <a:gridCol w="6052588"/>
              </a:tblGrid>
              <a:tr h="387096">
                <a:tc>
                  <a:txBody>
                    <a:bodyPr/>
                    <a:lstStyle/>
                    <a:p>
                      <a:r>
                        <a:rPr sz="1600" b="1">
                          <a:solidFill>
                            <a:srgbClr val="FFFFFF"/>
                          </a:solidFill>
                          <a:latin typeface="Calibri"/>
                        </a:rPr>
                        <a:t>Field</a:t>
                      </a:r>
                    </a:p>
                  </a:txBody>
                  <a:tcPr marL="101600" marR="101600" marT="38100" marB="38100" anchor="ctr">
                    <a:solidFill>
                      <a:srgbClr val="2B4A7D"/>
                    </a:solidFill>
                  </a:tcPr>
                </a:tc>
                <a:tc>
                  <a:txBody>
                    <a:bodyPr/>
                    <a:lstStyle/>
                    <a:p>
                      <a:r>
                        <a:rPr sz="1600" b="1">
                          <a:solidFill>
                            <a:srgbClr val="FFFFFF"/>
                          </a:solidFill>
                          <a:latin typeface="Calibri"/>
                        </a:rPr>
                        <a:t>Why it is there</a:t>
                      </a:r>
                    </a:p>
                  </a:txBody>
                  <a:tcPr marL="101600" marR="101600" marT="38100" marB="38100" anchor="ctr">
                    <a:solidFill>
                      <a:srgbClr val="2B4A7D"/>
                    </a:solidFill>
                  </a:tcPr>
                </a:tc>
              </a:tr>
              <a:tr h="646176">
                <a:tc>
                  <a:txBody>
                    <a:bodyPr/>
                    <a:lstStyle/>
                    <a:p>
                      <a:r>
                        <a:rPr sz="1500" b="0">
                          <a:solidFill>
                            <a:srgbClr val="1C1C1A"/>
                          </a:solidFill>
                          <a:latin typeface="Calibri"/>
                        </a:rPr>
                        <a:t>The identifier</a:t>
                      </a:r>
                    </a:p>
                  </a:txBody>
                  <a:tcPr marL="101600" marR="101600" marT="38100" marB="38100" anchor="ctr">
                    <a:solidFill>
                      <a:srgbClr val="FFFFFF"/>
                    </a:solidFill>
                  </a:tcPr>
                </a:tc>
                <a:tc>
                  <a:txBody>
                    <a:bodyPr/>
                    <a:lstStyle/>
                    <a:p>
                      <a:r>
                        <a:rPr sz="1500" b="0">
                          <a:solidFill>
                            <a:srgbClr val="1C1C1A"/>
                          </a:solidFill>
                          <a:latin typeface="Calibri"/>
                        </a:rPr>
                        <a:t>Without it nobody can find the record in the source system, so the row is a complaint rather than a task.</a:t>
                      </a:r>
                    </a:p>
                  </a:txBody>
                  <a:tcPr marL="101600" marR="101600" marT="38100" marB="38100" anchor="ctr">
                    <a:solidFill>
                      <a:srgbClr val="FFFFFF"/>
                    </a:solidFill>
                  </a:tcPr>
                </a:tc>
              </a:tr>
              <a:tr h="646176">
                <a:tc>
                  <a:txBody>
                    <a:bodyPr/>
                    <a:lstStyle/>
                    <a:p>
                      <a:r>
                        <a:rPr sz="1500" b="0">
                          <a:solidFill>
                            <a:srgbClr val="1C1C1A"/>
                          </a:solidFill>
                          <a:latin typeface="Calibri"/>
                        </a:rPr>
                        <a:t>The reason, verbatim from the interpreter</a:t>
                      </a:r>
                    </a:p>
                  </a:txBody>
                  <a:tcPr marL="101600" marR="101600" marT="38100" marB="38100" anchor="ctr">
                    <a:solidFill>
                      <a:srgbClr val="F7F7F5"/>
                    </a:solidFill>
                  </a:tcPr>
                </a:tc>
                <a:tc>
                  <a:txBody>
                    <a:bodyPr/>
                    <a:lstStyle/>
                    <a:p>
                      <a:r>
                        <a:rPr sz="1500" b="0">
                          <a:solidFill>
                            <a:srgbClr val="1C1C1A"/>
                          </a:solidFill>
                          <a:latin typeface="Calibri"/>
                        </a:rPr>
                        <a:t>It distinguishes a word where a number belongs from an empty cell, and those two go to different people.</a:t>
                      </a:r>
                    </a:p>
                  </a:txBody>
                  <a:tcPr marL="101600" marR="101600" marT="38100" marB="38100" anchor="ctr">
                    <a:solidFill>
                      <a:srgbClr val="F7F7F5"/>
                    </a:solidFill>
                  </a:tcPr>
                </a:tc>
              </a:tr>
              <a:tr h="646176">
                <a:tc>
                  <a:txBody>
                    <a:bodyPr/>
                    <a:lstStyle/>
                    <a:p>
                      <a:r>
                        <a:rPr sz="1500" b="0">
                          <a:solidFill>
                            <a:srgbClr val="1C1C1A"/>
                          </a:solidFill>
                          <a:latin typeface="Calibri"/>
                        </a:rPr>
                        <a:t>The field that failed</a:t>
                      </a:r>
                    </a:p>
                  </a:txBody>
                  <a:tcPr marL="101600" marR="101600" marT="38100" marB="38100" anchor="ctr">
                    <a:solidFill>
                      <a:srgbClr val="FFFFFF"/>
                    </a:solidFill>
                  </a:tcPr>
                </a:tc>
                <a:tc>
                  <a:txBody>
                    <a:bodyPr/>
                    <a:lstStyle/>
                    <a:p>
                      <a:r>
                        <a:rPr sz="1500" b="0">
                          <a:solidFill>
                            <a:srgbClr val="1C1C1A"/>
                          </a:solidFill>
                          <a:latin typeface="Calibri"/>
                        </a:rPr>
                        <a:t>A record can fail on the amount or on the date, and a fixer needs to know which without opening the file.</a:t>
                      </a:r>
                    </a:p>
                  </a:txBody>
                  <a:tcPr marL="101600" marR="101600" marT="38100" marB="38100" anchor="ctr">
                    <a:solidFill>
                      <a:srgbClr val="FFFFFF"/>
                    </a:solidFill>
                  </a:tcPr>
                </a:tc>
              </a:tr>
              <a:tr h="646176">
                <a:tc>
                  <a:txBody>
                    <a:bodyPr/>
                    <a:lstStyle/>
                    <a:p>
                      <a:r>
                        <a:rPr sz="1500" b="0">
                          <a:solidFill>
                            <a:srgbClr val="1C1C1A"/>
                          </a:solidFill>
                          <a:latin typeface="Calibri"/>
                        </a:rPr>
                        <a:t>The raw value</a:t>
                      </a:r>
                    </a:p>
                  </a:txBody>
                  <a:tcPr marL="101600" marR="101600" marT="38100" marB="38100" anchor="ctr">
                    <a:solidFill>
                      <a:srgbClr val="F7F7F5"/>
                    </a:solidFill>
                  </a:tcPr>
                </a:tc>
                <a:tc>
                  <a:txBody>
                    <a:bodyPr/>
                    <a:lstStyle/>
                    <a:p>
                      <a:r>
                        <a:rPr sz="1500" b="0">
                          <a:solidFill>
                            <a:srgbClr val="1C1C1A"/>
                          </a:solidFill>
                          <a:latin typeface="Calibri"/>
                        </a:rPr>
                        <a:t>The person who fixes it upstream needs to see exactly what arrived, including the spaces you cannot see.</a:t>
                      </a:r>
                    </a:p>
                  </a:txBody>
                  <a:tcPr marL="101600" marR="101600" marT="38100" marB="38100" anchor="ctr">
                    <a:solidFill>
                      <a:srgbClr val="F7F7F5"/>
                    </a:solidFill>
                  </a:tcPr>
                </a:tc>
              </a:tr>
            </a:tbl>
          </a:graphicData>
        </a:graphic>
      </p:graphicFrame>
      <p:sp>
        <p:nvSpPr>
          <p:cNvPr id="8" name="TextBox 7"/>
          <p:cNvSpPr txBox="1"/>
          <p:nvPr/>
        </p:nvSpPr>
        <p:spPr>
          <a:xfrm>
            <a:off x="685800" y="4855464"/>
            <a:ext cx="10820095" cy="910336"/>
          </a:xfrm>
          <a:prstGeom prst="rect">
            <a:avLst/>
          </a:prstGeom>
          <a:noFill/>
        </p:spPr>
        <p:txBody>
          <a:bodyPr wrap="square" anchor="t" lIns="0" rIns="0" tIns="0" bIns="0">
            <a:spAutoFit/>
          </a:bodyPr>
          <a:lstStyle/>
          <a:p>
            <a:pPr>
              <a:spcAft>
                <a:spcPts val="900"/>
              </a:spcAft>
            </a:pPr>
            <a:r>
              <a:rPr sz="2000" b="0">
                <a:solidFill>
                  <a:srgbClr val="1C1C1A"/>
                </a:solidFill>
                <a:latin typeface="Calibri"/>
              </a:rPr>
              <a:t>Today you ship the first two, which is the minimum that works. Tomorrow's profiler adds the rest.</a:t>
            </a:r>
          </a:p>
        </p:txBody>
      </p:sp>
      <p:sp>
        <p:nvSpPr>
          <p:cNvPr id="9" name="Rectangle 8"/>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2. Half one: package the logic, survive bad data</a:t>
            </a:r>
          </a:p>
        </p:txBody>
      </p:sp>
      <p:sp>
        <p:nvSpPr>
          <p:cNvPr id="11" name="TextBox 10"/>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43 / 67</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S24</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3000" b="1">
                <a:solidFill>
                  <a:srgbClr val="1C1C1A"/>
                </a:solidFill>
                <a:latin typeface="Calibri"/>
              </a:rPr>
              <a:t>The reconciliation</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685800" y="3157728"/>
            <a:ext cx="10820095" cy="1365504"/>
          </a:xfrm>
          <a:prstGeom prst="rect">
            <a:avLst/>
          </a:prstGeom>
          <a:noFill/>
        </p:spPr>
        <p:txBody>
          <a:bodyPr wrap="square" anchor="t" lIns="0" rIns="0" tIns="0" bIns="0">
            <a:spAutoFit/>
          </a:bodyPr>
          <a:lstStyle/>
          <a:p>
            <a:pPr>
              <a:spcAft>
                <a:spcPts val="900"/>
              </a:spcAft>
            </a:pPr>
            <a:r>
              <a:rPr sz="2000" b="0">
                <a:solidFill>
                  <a:srgbClr val="1C1C1A"/>
                </a:solidFill>
                <a:latin typeface="Calibri"/>
              </a:rPr>
              <a:t>30 records in. 28 clean. 2 rejected.</a:t>
            </a:r>
          </a:p>
          <a:p>
            <a:pPr>
              <a:spcAft>
                <a:spcPts val="900"/>
              </a:spcAft>
            </a:pPr>
            <a:r>
              <a:rPr sz="2000" b="0">
                <a:solidFill>
                  <a:srgbClr val="1C1C1A"/>
                </a:solidFill>
                <a:latin typeface="Calibri"/>
              </a:rPr>
              <a:t>Input equals clean plus rejected. When that sum does not hold, something disappeared and you do not yet know what.</a:t>
            </a:r>
          </a:p>
        </p:txBody>
      </p:sp>
      <p:sp>
        <p:nvSpPr>
          <p:cNvPr id="7" name="Rectangle 6"/>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2. Half one: package the logic, survive bad data</a:t>
            </a:r>
          </a:p>
        </p:txBody>
      </p:sp>
      <p:sp>
        <p:nvSpPr>
          <p:cNvPr id="9" name="TextBox 8"/>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44 / 67</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D17</a:t>
            </a:r>
          </a:p>
        </p:txBody>
      </p:sp>
      <p:sp>
        <p:nvSpPr>
          <p:cNvPr id="4" name="Rounded Rectangle 3"/>
          <p:cNvSpPr/>
          <p:nvPr/>
        </p:nvSpPr>
        <p:spPr>
          <a:xfrm>
            <a:off x="10573207" y="603504"/>
            <a:ext cx="932688" cy="274320"/>
          </a:xfrm>
          <a:prstGeom prst="round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DEPTH</a:t>
            </a:r>
          </a:p>
        </p:txBody>
      </p:sp>
      <p:sp>
        <p:nvSpPr>
          <p:cNvPr id="5" name="TextBox 4"/>
          <p:cNvSpPr txBox="1"/>
          <p:nvPr/>
        </p:nvSpPr>
        <p:spPr>
          <a:xfrm>
            <a:off x="1618488" y="493776"/>
            <a:ext cx="8790127" cy="786384"/>
          </a:xfrm>
          <a:prstGeom prst="rect">
            <a:avLst/>
          </a:prstGeom>
          <a:noFill/>
        </p:spPr>
        <p:txBody>
          <a:bodyPr wrap="square" anchor="ctr" lIns="0" rIns="0" tIns="0" bIns="0">
            <a:spAutoFit/>
          </a:bodyPr>
          <a:lstStyle/>
          <a:p>
            <a:r>
              <a:rPr sz="2300" b="1">
                <a:solidFill>
                  <a:srgbClr val="1C1C1A"/>
                </a:solidFill>
                <a:latin typeface="Calibri"/>
              </a:rPr>
              <a:t>The reconciliation, as an identity</a:t>
            </a:r>
          </a:p>
        </p:txBody>
      </p:sp>
      <p:sp>
        <p:nvSpPr>
          <p:cNvPr id="6" name="Rectangle 5"/>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685800" y="2056384"/>
            <a:ext cx="10820095" cy="1820672"/>
          </a:xfrm>
          <a:prstGeom prst="rect">
            <a:avLst/>
          </a:prstGeom>
          <a:noFill/>
        </p:spPr>
        <p:txBody>
          <a:bodyPr wrap="square" anchor="t" lIns="0" rIns="0" tIns="0" bIns="0">
            <a:spAutoFit/>
          </a:bodyPr>
          <a:lstStyle/>
          <a:p>
            <a:pPr>
              <a:spcAft>
                <a:spcPts val="900"/>
              </a:spcAft>
            </a:pPr>
            <a:r>
              <a:rPr sz="2000" b="0">
                <a:solidFill>
                  <a:srgbClr val="1C1C1A"/>
                </a:solidFill>
                <a:latin typeface="Calibri"/>
              </a:rPr>
              <a:t>$$n_{\text{in}} = n_{\text{clean}} + n_{\text{rejected}}$$</a:t>
            </a:r>
          </a:p>
          <a:p>
            <a:pPr>
              <a:spcAft>
                <a:spcPts val="900"/>
              </a:spcAft>
            </a:pPr>
            <a:r>
              <a:rPr sz="2000" b="0">
                <a:solidFill>
                  <a:srgbClr val="1C1C1A"/>
                </a:solidFill>
                <a:latin typeface="Calibri"/>
              </a:rPr>
              <a:t>Today that reads $30 = 28 + 2$, and it holds.</a:t>
            </a:r>
          </a:p>
          <a:p>
            <a:pPr>
              <a:spcAft>
                <a:spcPts val="900"/>
              </a:spcAft>
            </a:pPr>
            <a:r>
              <a:rPr sz="2000" b="0">
                <a:solidFill>
                  <a:srgbClr val="1C1C1A"/>
                </a:solidFill>
                <a:latin typeface="Calibri"/>
              </a:rPr>
              <a:t>The identity is worth writing as an assertion in your own code, because the day it fails is the day you learn something you did not know about the data:</a:t>
            </a:r>
          </a:p>
        </p:txBody>
      </p:sp>
      <p:sp>
        <p:nvSpPr>
          <p:cNvPr id="8" name="Rectangle 7"/>
          <p:cNvSpPr/>
          <p:nvPr/>
        </p:nvSpPr>
        <p:spPr>
          <a:xfrm>
            <a:off x="685800" y="4005072"/>
            <a:ext cx="10820095" cy="544576"/>
          </a:xfrm>
          <a:prstGeom prst="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685800" y="4005072"/>
            <a:ext cx="50292" cy="544576"/>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923544" y="4105656"/>
            <a:ext cx="10417759" cy="361696"/>
          </a:xfrm>
          <a:prstGeom prst="rect">
            <a:avLst/>
          </a:prstGeom>
          <a:noFill/>
        </p:spPr>
        <p:txBody>
          <a:bodyPr wrap="square" anchor="t" lIns="0" rIns="0" tIns="0" bIns="0">
            <a:spAutoFit/>
          </a:bodyPr>
          <a:lstStyle/>
          <a:p>
            <a:pPr>
              <a:spcAft>
                <a:spcPts val="200"/>
              </a:spcAft>
            </a:pPr>
            <a:r>
              <a:rPr sz="1600" b="0">
                <a:solidFill>
                  <a:srgbClr val="E4ECF7"/>
                </a:solidFill>
                <a:latin typeface="Consolas"/>
              </a:rPr>
              <a:t>assert len(rows) == len(kept) + len(rejects), "records went missing"</a:t>
            </a:r>
          </a:p>
        </p:txBody>
      </p:sp>
      <p:sp>
        <p:nvSpPr>
          <p:cNvPr id="11" name="TextBox 10"/>
          <p:cNvSpPr txBox="1"/>
          <p:nvPr/>
        </p:nvSpPr>
        <p:spPr>
          <a:xfrm>
            <a:off x="685800" y="4714240"/>
            <a:ext cx="10820095" cy="910336"/>
          </a:xfrm>
          <a:prstGeom prst="rect">
            <a:avLst/>
          </a:prstGeom>
          <a:noFill/>
        </p:spPr>
        <p:txBody>
          <a:bodyPr wrap="square" anchor="t" lIns="0" rIns="0" tIns="0" bIns="0">
            <a:spAutoFit/>
          </a:bodyPr>
          <a:lstStyle/>
          <a:p>
            <a:pPr>
              <a:spcAft>
                <a:spcPts val="900"/>
              </a:spcAft>
            </a:pPr>
            <a:r>
              <a:rPr sz="2000" b="0">
                <a:solidFill>
                  <a:srgbClr val="1C1C1A"/>
                </a:solidFill>
                <a:latin typeface="Calibri"/>
              </a:rPr>
              <a:t>A total with no reconciliation beside it is a number somebody has to take on trust. A total with one is a number they can check in two seconds.</a:t>
            </a:r>
          </a:p>
        </p:txBody>
      </p:sp>
      <p:sp>
        <p:nvSpPr>
          <p:cNvPr id="12" name="Rectangle 11"/>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2. Half one: package the logic, survive bad data</a:t>
            </a:r>
          </a:p>
        </p:txBody>
      </p:sp>
      <p:sp>
        <p:nvSpPr>
          <p:cNvPr id="14" name="TextBox 13"/>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45 / 67</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S25</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3000" b="1">
                <a:solidFill>
                  <a:srgbClr val="1C1C1A"/>
                </a:solidFill>
                <a:latin typeface="Calibri"/>
              </a:rPr>
              <a:t>From the field</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685800" y="2757424"/>
            <a:ext cx="10820095" cy="2166112"/>
          </a:xfrm>
          <a:prstGeom prst="rect">
            <a:avLst/>
          </a:prstGeom>
          <a:noFill/>
        </p:spPr>
        <p:txBody>
          <a:bodyPr wrap="square" anchor="t" lIns="0" rIns="0" tIns="0" bIns="0">
            <a:spAutoFit/>
          </a:bodyPr>
          <a:lstStyle/>
          <a:p>
            <a:pPr>
              <a:spcAft>
                <a:spcPts val="900"/>
              </a:spcAft>
            </a:pPr>
            <a:r>
              <a:rPr sz="2000" b="0">
                <a:solidFill>
                  <a:srgbClr val="1C1C1A"/>
                </a:solidFill>
                <a:latin typeface="Calibri"/>
              </a:rPr>
              <a:t>Knight Capital, 1 August 2012. About USD 440 million lost in 45 minutes.</a:t>
            </a:r>
          </a:p>
          <a:p>
            <a:pPr>
              <a:spcAft>
                <a:spcPts val="900"/>
              </a:spcAft>
            </a:pPr>
            <a:r>
              <a:rPr sz="2000" b="0">
                <a:solidFill>
                  <a:srgbClr val="1C1C1A"/>
                </a:solidFill>
                <a:latin typeface="Calibri"/>
              </a:rPr>
              <a:t>A deployment reused an old flag. The system did not fail loudly. It kept trading, at speed, on the wrong rule.</a:t>
            </a:r>
          </a:p>
          <a:p>
            <a:pPr>
              <a:spcAft>
                <a:spcPts val="900"/>
              </a:spcAft>
            </a:pPr>
            <a:r>
              <a:rPr sz="2000" b="0">
                <a:solidFill>
                  <a:srgbClr val="1C1C1A"/>
                </a:solidFill>
                <a:latin typeface="Calibri"/>
              </a:rPr>
              <a:t>The argument for validating early and failing loudly is not a style preference. It is that number.</a:t>
            </a:r>
          </a:p>
        </p:txBody>
      </p:sp>
      <p:sp>
        <p:nvSpPr>
          <p:cNvPr id="7" name="Rectangle 6"/>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2. Half one: package the logic, survive bad data</a:t>
            </a:r>
          </a:p>
        </p:txBody>
      </p:sp>
      <p:sp>
        <p:nvSpPr>
          <p:cNvPr id="9" name="TextBox 8"/>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46 / 67</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D18</a:t>
            </a:r>
          </a:p>
        </p:txBody>
      </p:sp>
      <p:sp>
        <p:nvSpPr>
          <p:cNvPr id="4" name="Rounded Rectangle 3"/>
          <p:cNvSpPr/>
          <p:nvPr/>
        </p:nvSpPr>
        <p:spPr>
          <a:xfrm>
            <a:off x="10573207" y="603504"/>
            <a:ext cx="932688" cy="274320"/>
          </a:xfrm>
          <a:prstGeom prst="round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DEPTH</a:t>
            </a:r>
          </a:p>
        </p:txBody>
      </p:sp>
      <p:sp>
        <p:nvSpPr>
          <p:cNvPr id="5" name="TextBox 4"/>
          <p:cNvSpPr txBox="1"/>
          <p:nvPr/>
        </p:nvSpPr>
        <p:spPr>
          <a:xfrm>
            <a:off x="1618488" y="493776"/>
            <a:ext cx="8790127" cy="786384"/>
          </a:xfrm>
          <a:prstGeom prst="rect">
            <a:avLst/>
          </a:prstGeom>
          <a:noFill/>
        </p:spPr>
        <p:txBody>
          <a:bodyPr wrap="square" anchor="ctr" lIns="0" rIns="0" tIns="0" bIns="0">
            <a:spAutoFit/>
          </a:bodyPr>
          <a:lstStyle/>
          <a:p>
            <a:r>
              <a:rPr sz="2300" b="1">
                <a:solidFill>
                  <a:srgbClr val="1C1C1A"/>
                </a:solidFill>
                <a:latin typeface="Calibri"/>
              </a:rPr>
              <a:t>Knight Capital, the mechanism</a:t>
            </a:r>
          </a:p>
        </p:txBody>
      </p:sp>
      <p:sp>
        <p:nvSpPr>
          <p:cNvPr id="6" name="Rectangle 5"/>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7" name="Picture 6" descr="47ad4e4067f39849.png"/>
          <p:cNvPicPr>
            <a:picLocks noChangeAspect="1"/>
          </p:cNvPicPr>
          <p:nvPr/>
        </p:nvPicPr>
        <p:blipFill>
          <a:blip r:embed="rId2"/>
          <a:stretch>
            <a:fillRect/>
          </a:stretch>
        </p:blipFill>
        <p:spPr>
          <a:xfrm>
            <a:off x="2055438" y="1627632"/>
            <a:ext cx="1913364" cy="4425696"/>
          </a:xfrm>
          <a:prstGeom prst="rect">
            <a:avLst/>
          </a:prstGeom>
        </p:spPr>
      </p:pic>
      <p:sp>
        <p:nvSpPr>
          <p:cNvPr id="8" name="TextBox 7"/>
          <p:cNvSpPr txBox="1"/>
          <p:nvPr/>
        </p:nvSpPr>
        <p:spPr>
          <a:xfrm>
            <a:off x="5771244" y="3212592"/>
            <a:ext cx="5734650" cy="1255776"/>
          </a:xfrm>
          <a:prstGeom prst="rect">
            <a:avLst/>
          </a:prstGeom>
          <a:noFill/>
        </p:spPr>
        <p:txBody>
          <a:bodyPr wrap="square" anchor="t" lIns="0" rIns="0" tIns="0" bIns="0">
            <a:spAutoFit/>
          </a:bodyPr>
          <a:lstStyle/>
          <a:p>
            <a:pPr>
              <a:spcAft>
                <a:spcPts val="900"/>
              </a:spcAft>
            </a:pPr>
            <a:r>
              <a:rPr sz="2000" b="0">
                <a:solidFill>
                  <a:srgbClr val="1C1C1A"/>
                </a:solidFill>
                <a:latin typeface="Calibri"/>
              </a:rPr>
              <a:t>The dead code was never deleted, only stopped being called. Reusing its flag called it again.</a:t>
            </a:r>
          </a:p>
        </p:txBody>
      </p:sp>
      <p:sp>
        <p:nvSpPr>
          <p:cNvPr id="9" name="Rectangle 8"/>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2. Half one: package the logic, survive bad data</a:t>
            </a:r>
          </a:p>
        </p:txBody>
      </p:sp>
      <p:sp>
        <p:nvSpPr>
          <p:cNvPr id="11" name="TextBox 10"/>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47 / 67</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D19</a:t>
            </a:r>
          </a:p>
        </p:txBody>
      </p:sp>
      <p:sp>
        <p:nvSpPr>
          <p:cNvPr id="4" name="Rounded Rectangle 3"/>
          <p:cNvSpPr/>
          <p:nvPr/>
        </p:nvSpPr>
        <p:spPr>
          <a:xfrm>
            <a:off x="10573207" y="603504"/>
            <a:ext cx="932688" cy="274320"/>
          </a:xfrm>
          <a:prstGeom prst="round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DEPTH</a:t>
            </a:r>
          </a:p>
        </p:txBody>
      </p:sp>
      <p:sp>
        <p:nvSpPr>
          <p:cNvPr id="5" name="TextBox 4"/>
          <p:cNvSpPr txBox="1"/>
          <p:nvPr/>
        </p:nvSpPr>
        <p:spPr>
          <a:xfrm>
            <a:off x="1618488" y="493776"/>
            <a:ext cx="8790127" cy="786384"/>
          </a:xfrm>
          <a:prstGeom prst="rect">
            <a:avLst/>
          </a:prstGeom>
          <a:noFill/>
        </p:spPr>
        <p:txBody>
          <a:bodyPr wrap="square" anchor="ctr" lIns="0" rIns="0" tIns="0" bIns="0">
            <a:spAutoFit/>
          </a:bodyPr>
          <a:lstStyle/>
          <a:p>
            <a:r>
              <a:rPr sz="2300" b="1">
                <a:solidFill>
                  <a:srgbClr val="1C1C1A"/>
                </a:solidFill>
                <a:latin typeface="Calibri"/>
              </a:rPr>
              <a:t>Knight Capital, what it cost</a:t>
            </a:r>
          </a:p>
        </p:txBody>
      </p:sp>
      <p:sp>
        <p:nvSpPr>
          <p:cNvPr id="6" name="Rectangle 5"/>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graphicFrame>
        <p:nvGraphicFramePr>
          <p:cNvPr id="7" name="Table 6"/>
          <p:cNvGraphicFramePr>
            <a:graphicFrameLocks noGrp="1"/>
          </p:cNvGraphicFramePr>
          <p:nvPr/>
        </p:nvGraphicFramePr>
        <p:xfrm>
          <a:off x="685800" y="1627632"/>
          <a:ext cx="10820094" cy="2968752"/>
        </p:xfrm>
        <a:graphic>
          <a:graphicData uri="http://schemas.openxmlformats.org/drawingml/2006/table">
            <a:tbl>
              <a:tblPr firstRow="0" bandRow="0">
                <a:tableStyleId>{2D5ABB26-0587-4C30-8999-92F81FD0307C}</a:tableStyleId>
              </a:tblPr>
              <a:tblGrid>
                <a:gridCol w="3217622"/>
                <a:gridCol w="7602472"/>
              </a:tblGrid>
              <a:tr h="387096">
                <a:tc>
                  <a:txBody>
                    <a:bodyPr/>
                    <a:lstStyle/>
                    <a:p>
                      <a:r>
                        <a:rPr sz="1600" b="1">
                          <a:solidFill>
                            <a:srgbClr val="FFFFFF"/>
                          </a:solidFill>
                          <a:latin typeface="Calibri"/>
                        </a:rPr>
                        <a:t>Fact</a:t>
                      </a:r>
                    </a:p>
                  </a:txBody>
                  <a:tcPr marL="101600" marR="101600" marT="38100" marB="38100" anchor="ctr">
                    <a:solidFill>
                      <a:srgbClr val="2B4A7D"/>
                    </a:solidFill>
                  </a:tcPr>
                </a:tc>
                <a:tc>
                  <a:txBody>
                    <a:bodyPr/>
                    <a:lstStyle/>
                    <a:p>
                      <a:r>
                        <a:rPr sz="1600" b="1">
                          <a:solidFill>
                            <a:srgbClr val="FFFFFF"/>
                          </a:solidFill>
                          <a:latin typeface="Calibri"/>
                        </a:rPr>
                        <a:t>Figure</a:t>
                      </a:r>
                    </a:p>
                  </a:txBody>
                  <a:tcPr marL="101600" marR="101600" marT="38100" marB="38100" anchor="ctr">
                    <a:solidFill>
                      <a:srgbClr val="2B4A7D"/>
                    </a:solidFill>
                  </a:tcPr>
                </a:tc>
              </a:tr>
              <a:tr h="387096">
                <a:tc>
                  <a:txBody>
                    <a:bodyPr/>
                    <a:lstStyle/>
                    <a:p>
                      <a:r>
                        <a:rPr sz="1500" b="0">
                          <a:solidFill>
                            <a:srgbClr val="1C1C1A"/>
                          </a:solidFill>
                          <a:latin typeface="Calibri"/>
                        </a:rPr>
                        <a:t>Date</a:t>
                      </a:r>
                    </a:p>
                  </a:txBody>
                  <a:tcPr marL="101600" marR="101600" marT="38100" marB="38100" anchor="ctr">
                    <a:solidFill>
                      <a:srgbClr val="FFFFFF"/>
                    </a:solidFill>
                  </a:tcPr>
                </a:tc>
                <a:tc>
                  <a:txBody>
                    <a:bodyPr/>
                    <a:lstStyle/>
                    <a:p>
                      <a:r>
                        <a:rPr sz="1500" b="0">
                          <a:solidFill>
                            <a:srgbClr val="1C1C1A"/>
                          </a:solidFill>
                          <a:latin typeface="Calibri"/>
                        </a:rPr>
                        <a:t>1 August 2012</a:t>
                      </a:r>
                    </a:p>
                  </a:txBody>
                  <a:tcPr marL="101600" marR="101600" marT="38100" marB="38100" anchor="ctr">
                    <a:solidFill>
                      <a:srgbClr val="FFFFFF"/>
                    </a:solidFill>
                  </a:tcPr>
                </a:tc>
              </a:tr>
              <a:tr h="387096">
                <a:tc>
                  <a:txBody>
                    <a:bodyPr/>
                    <a:lstStyle/>
                    <a:p>
                      <a:r>
                        <a:rPr sz="1500" b="0">
                          <a:solidFill>
                            <a:srgbClr val="1C1C1A"/>
                          </a:solidFill>
                          <a:latin typeface="Calibri"/>
                        </a:rPr>
                        <a:t>Time to the loss</a:t>
                      </a:r>
                    </a:p>
                  </a:txBody>
                  <a:tcPr marL="101600" marR="101600" marT="38100" marB="38100" anchor="ctr">
                    <a:solidFill>
                      <a:srgbClr val="F7F7F5"/>
                    </a:solidFill>
                  </a:tcPr>
                </a:tc>
                <a:tc>
                  <a:txBody>
                    <a:bodyPr/>
                    <a:lstStyle/>
                    <a:p>
                      <a:r>
                        <a:rPr sz="1500" b="0">
                          <a:solidFill>
                            <a:srgbClr val="1C1C1A"/>
                          </a:solidFill>
                          <a:latin typeface="Calibri"/>
                        </a:rPr>
                        <a:t>About 45 minutes</a:t>
                      </a:r>
                    </a:p>
                  </a:txBody>
                  <a:tcPr marL="101600" marR="101600" marT="38100" marB="38100" anchor="ctr">
                    <a:solidFill>
                      <a:srgbClr val="F7F7F5"/>
                    </a:solidFill>
                  </a:tcPr>
                </a:tc>
              </a:tr>
              <a:tr h="387096">
                <a:tc>
                  <a:txBody>
                    <a:bodyPr/>
                    <a:lstStyle/>
                    <a:p>
                      <a:r>
                        <a:rPr sz="1500" b="0">
                          <a:solidFill>
                            <a:srgbClr val="1C1C1A"/>
                          </a:solidFill>
                          <a:latin typeface="Calibri"/>
                        </a:rPr>
                        <a:t>Executions</a:t>
                      </a:r>
                    </a:p>
                  </a:txBody>
                  <a:tcPr marL="101600" marR="101600" marT="38100" marB="38100" anchor="ctr">
                    <a:solidFill>
                      <a:srgbClr val="FFFFFF"/>
                    </a:solidFill>
                  </a:tcPr>
                </a:tc>
                <a:tc>
                  <a:txBody>
                    <a:bodyPr/>
                    <a:lstStyle/>
                    <a:p>
                      <a:r>
                        <a:rPr sz="1500" b="0">
                          <a:solidFill>
                            <a:srgbClr val="1C1C1A"/>
                          </a:solidFill>
                          <a:latin typeface="Calibri"/>
                        </a:rPr>
                        <a:t>More than 4 million, in 154 stocks</a:t>
                      </a:r>
                    </a:p>
                  </a:txBody>
                  <a:tcPr marL="101600" marR="101600" marT="38100" marB="38100" anchor="ctr">
                    <a:solidFill>
                      <a:srgbClr val="FFFFFF"/>
                    </a:solidFill>
                  </a:tcPr>
                </a:tc>
              </a:tr>
              <a:tr h="387096">
                <a:tc>
                  <a:txBody>
                    <a:bodyPr/>
                    <a:lstStyle/>
                    <a:p>
                      <a:r>
                        <a:rPr sz="1500" b="0">
                          <a:solidFill>
                            <a:srgbClr val="1C1C1A"/>
                          </a:solidFill>
                          <a:latin typeface="Calibri"/>
                        </a:rPr>
                        <a:t>Shares</a:t>
                      </a:r>
                    </a:p>
                  </a:txBody>
                  <a:tcPr marL="101600" marR="101600" marT="38100" marB="38100" anchor="ctr">
                    <a:solidFill>
                      <a:srgbClr val="F7F7F5"/>
                    </a:solidFill>
                  </a:tcPr>
                </a:tc>
                <a:tc>
                  <a:txBody>
                    <a:bodyPr/>
                    <a:lstStyle/>
                    <a:p>
                      <a:r>
                        <a:rPr sz="1500" b="0">
                          <a:solidFill>
                            <a:srgbClr val="1C1C1A"/>
                          </a:solidFill>
                          <a:latin typeface="Calibri"/>
                        </a:rPr>
                        <a:t>More than 397 million</a:t>
                      </a:r>
                    </a:p>
                  </a:txBody>
                  <a:tcPr marL="101600" marR="101600" marT="38100" marB="38100" anchor="ctr">
                    <a:solidFill>
                      <a:srgbClr val="F7F7F5"/>
                    </a:solidFill>
                  </a:tcPr>
                </a:tc>
              </a:tr>
              <a:tr h="387096">
                <a:tc>
                  <a:txBody>
                    <a:bodyPr/>
                    <a:lstStyle/>
                    <a:p>
                      <a:r>
                        <a:rPr sz="1500" b="0">
                          <a:solidFill>
                            <a:srgbClr val="1C1C1A"/>
                          </a:solidFill>
                          <a:latin typeface="Calibri"/>
                        </a:rPr>
                        <a:t>Realised pre-tax loss</a:t>
                      </a:r>
                    </a:p>
                  </a:txBody>
                  <a:tcPr marL="101600" marR="101600" marT="38100" marB="38100" anchor="ctr">
                    <a:solidFill>
                      <a:srgbClr val="FFFFFF"/>
                    </a:solidFill>
                  </a:tcPr>
                </a:tc>
                <a:tc>
                  <a:txBody>
                    <a:bodyPr/>
                    <a:lstStyle/>
                    <a:p>
                      <a:r>
                        <a:rPr sz="1500" b="0">
                          <a:solidFill>
                            <a:srgbClr val="1C1C1A"/>
                          </a:solidFill>
                          <a:latin typeface="Calibri"/>
                        </a:rPr>
                        <a:t>About USD 440 million</a:t>
                      </a:r>
                    </a:p>
                  </a:txBody>
                  <a:tcPr marL="101600" marR="101600" marT="38100" marB="38100" anchor="ctr">
                    <a:solidFill>
                      <a:srgbClr val="FFFFFF"/>
                    </a:solidFill>
                  </a:tcPr>
                </a:tc>
              </a:tr>
              <a:tr h="646176">
                <a:tc>
                  <a:txBody>
                    <a:bodyPr/>
                    <a:lstStyle/>
                    <a:p>
                      <a:r>
                        <a:rPr sz="1500" b="0">
                          <a:solidFill>
                            <a:srgbClr val="1C1C1A"/>
                          </a:solidFill>
                          <a:latin typeface="Calibri"/>
                        </a:rPr>
                        <a:t>What followed</a:t>
                      </a:r>
                    </a:p>
                  </a:txBody>
                  <a:tcPr marL="101600" marR="101600" marT="38100" marB="38100" anchor="ctr">
                    <a:solidFill>
                      <a:srgbClr val="F7F7F5"/>
                    </a:solidFill>
                  </a:tcPr>
                </a:tc>
                <a:tc>
                  <a:txBody>
                    <a:bodyPr/>
                    <a:lstStyle/>
                    <a:p>
                      <a:r>
                        <a:rPr sz="1500" b="0">
                          <a:solidFill>
                            <a:srgbClr val="1C1C1A"/>
                          </a:solidFill>
                          <a:latin typeface="Calibri"/>
                        </a:rPr>
                        <a:t>The firm raised about USD 400 million within days to survive, and was acquired within months</a:t>
                      </a:r>
                    </a:p>
                  </a:txBody>
                  <a:tcPr marL="101600" marR="101600" marT="38100" marB="38100" anchor="ctr">
                    <a:solidFill>
                      <a:srgbClr val="F7F7F5"/>
                    </a:solidFill>
                  </a:tcPr>
                </a:tc>
              </a:tr>
            </a:tbl>
          </a:graphicData>
        </a:graphic>
      </p:graphicFrame>
      <p:sp>
        <p:nvSpPr>
          <p:cNvPr id="8" name="TextBox 7"/>
          <p:cNvSpPr txBox="1"/>
          <p:nvPr/>
        </p:nvSpPr>
        <p:spPr>
          <a:xfrm>
            <a:off x="685800" y="4852416"/>
            <a:ext cx="10820095" cy="910336"/>
          </a:xfrm>
          <a:prstGeom prst="rect">
            <a:avLst/>
          </a:prstGeom>
          <a:noFill/>
        </p:spPr>
        <p:txBody>
          <a:bodyPr wrap="square" anchor="t" lIns="0" rIns="0" tIns="0" bIns="0">
            <a:spAutoFit/>
          </a:bodyPr>
          <a:lstStyle/>
          <a:p>
            <a:pPr>
              <a:spcAft>
                <a:spcPts val="900"/>
              </a:spcAft>
            </a:pPr>
            <a:r>
              <a:rPr sz="2000" b="0">
                <a:solidFill>
                  <a:srgbClr val="1C1C1A"/>
                </a:solidFill>
                <a:latin typeface="Calibri"/>
              </a:rPr>
              <a:t>Source: Knight Capital Group, Wikipedia: https://en.wikipedia.org/wiki/Knight_Capital_Group (verified 09 September 2026)</a:t>
            </a:r>
          </a:p>
        </p:txBody>
      </p:sp>
      <p:sp>
        <p:nvSpPr>
          <p:cNvPr id="9" name="Rectangle 8"/>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2. Half one: package the logic, survive bad data</a:t>
            </a:r>
          </a:p>
        </p:txBody>
      </p:sp>
      <p:sp>
        <p:nvSpPr>
          <p:cNvPr id="11" name="TextBox 10"/>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48 / 67</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D20</a:t>
            </a:r>
          </a:p>
        </p:txBody>
      </p:sp>
      <p:sp>
        <p:nvSpPr>
          <p:cNvPr id="4" name="Rounded Rectangle 3"/>
          <p:cNvSpPr/>
          <p:nvPr/>
        </p:nvSpPr>
        <p:spPr>
          <a:xfrm>
            <a:off x="10573207" y="603504"/>
            <a:ext cx="932688" cy="274320"/>
          </a:xfrm>
          <a:prstGeom prst="round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DEPTH</a:t>
            </a:r>
          </a:p>
        </p:txBody>
      </p:sp>
      <p:sp>
        <p:nvSpPr>
          <p:cNvPr id="5" name="TextBox 4"/>
          <p:cNvSpPr txBox="1"/>
          <p:nvPr/>
        </p:nvSpPr>
        <p:spPr>
          <a:xfrm>
            <a:off x="1618488" y="493776"/>
            <a:ext cx="8790127" cy="786384"/>
          </a:xfrm>
          <a:prstGeom prst="rect">
            <a:avLst/>
          </a:prstGeom>
          <a:noFill/>
        </p:spPr>
        <p:txBody>
          <a:bodyPr wrap="square" anchor="ctr" lIns="0" rIns="0" tIns="0" bIns="0">
            <a:spAutoFit/>
          </a:bodyPr>
          <a:lstStyle/>
          <a:p>
            <a:r>
              <a:rPr sz="2300" b="1">
                <a:solidFill>
                  <a:srgbClr val="1C1C1A"/>
                </a:solidFill>
                <a:latin typeface="Calibri"/>
              </a:rPr>
              <a:t>The line from that to your cell today</a:t>
            </a:r>
          </a:p>
        </p:txBody>
      </p:sp>
      <p:sp>
        <p:nvSpPr>
          <p:cNvPr id="6" name="Rectangle 5"/>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685800" y="2239264"/>
            <a:ext cx="10820095" cy="3202432"/>
          </a:xfrm>
          <a:prstGeom prst="rect">
            <a:avLst/>
          </a:prstGeom>
          <a:noFill/>
        </p:spPr>
        <p:txBody>
          <a:bodyPr wrap="square" anchor="t" lIns="0" rIns="0" tIns="0" bIns="0">
            <a:spAutoFit/>
          </a:bodyPr>
          <a:lstStyle/>
          <a:p>
            <a:pPr>
              <a:spcAft>
                <a:spcPts val="900"/>
              </a:spcAft>
            </a:pPr>
            <a:r>
              <a:rPr sz="2000" b="0">
                <a:solidFill>
                  <a:srgbClr val="1C1C1A"/>
                </a:solidFill>
                <a:latin typeface="Calibri"/>
              </a:rPr>
              <a:t>Knight had no shortage of engineers. It had a deployment that half succeeded and nothing that said so.</a:t>
            </a:r>
          </a:p>
          <a:p>
            <a:pPr>
              <a:spcAft>
                <a:spcPts val="900"/>
              </a:spcAft>
            </a:pPr>
            <a:r>
              <a:rPr sz="2000" b="0">
                <a:solidFill>
                  <a:srgbClr val="1C1C1A"/>
                </a:solidFill>
                <a:latin typeface="Calibri"/>
              </a:rPr>
              <a:t>Your clean_records half succeeds every time you run it, because two records will not convert. The difference between you and that morning is one list and one printed count.</a:t>
            </a:r>
          </a:p>
          <a:p>
            <a:pPr>
              <a:spcAft>
                <a:spcPts val="900"/>
              </a:spcAft>
            </a:pPr>
            <a:r>
              <a:rPr sz="2000" b="0">
                <a:solidFill>
                  <a:srgbClr val="1C1C1A"/>
                </a:solidFill>
                <a:latin typeface="Calibri"/>
              </a:rPr>
              <a:t>The habit is small and it is the same habit at every scale. When part of the work fails, make the failure a value the program carries, rather than a thing that happens and is gone.</a:t>
            </a:r>
          </a:p>
        </p:txBody>
      </p:sp>
      <p:sp>
        <p:nvSpPr>
          <p:cNvPr id="8" name="Rectangle 7"/>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2. Half one: package the logic, survive bad data</a:t>
            </a:r>
          </a:p>
        </p:txBody>
      </p:sp>
      <p:sp>
        <p:nvSpPr>
          <p:cNvPr id="10" name="TextBox 9"/>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49 / 67</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D21</a:t>
            </a:r>
          </a:p>
        </p:txBody>
      </p:sp>
      <p:sp>
        <p:nvSpPr>
          <p:cNvPr id="4" name="Rounded Rectangle 3"/>
          <p:cNvSpPr/>
          <p:nvPr/>
        </p:nvSpPr>
        <p:spPr>
          <a:xfrm>
            <a:off x="10573207" y="603504"/>
            <a:ext cx="932688" cy="274320"/>
          </a:xfrm>
          <a:prstGeom prst="round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DEPTH</a:t>
            </a:r>
          </a:p>
        </p:txBody>
      </p:sp>
      <p:sp>
        <p:nvSpPr>
          <p:cNvPr id="5" name="TextBox 4"/>
          <p:cNvSpPr txBox="1"/>
          <p:nvPr/>
        </p:nvSpPr>
        <p:spPr>
          <a:xfrm>
            <a:off x="1618488" y="493776"/>
            <a:ext cx="8790127" cy="786384"/>
          </a:xfrm>
          <a:prstGeom prst="rect">
            <a:avLst/>
          </a:prstGeom>
          <a:noFill/>
        </p:spPr>
        <p:txBody>
          <a:bodyPr wrap="square" anchor="ctr" lIns="0" rIns="0" tIns="0" bIns="0">
            <a:spAutoFit/>
          </a:bodyPr>
          <a:lstStyle/>
          <a:p>
            <a:r>
              <a:rPr sz="2300" b="1">
                <a:solidFill>
                  <a:srgbClr val="1C1C1A"/>
                </a:solidFill>
                <a:latin typeface="Calibri"/>
              </a:rPr>
              <a:t>Where a rejects log lives in production</a:t>
            </a:r>
          </a:p>
        </p:txBody>
      </p:sp>
      <p:sp>
        <p:nvSpPr>
          <p:cNvPr id="6" name="Rectangle 5"/>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685800" y="1627632"/>
            <a:ext cx="10820095" cy="910336"/>
          </a:xfrm>
          <a:prstGeom prst="rect">
            <a:avLst/>
          </a:prstGeom>
          <a:noFill/>
        </p:spPr>
        <p:txBody>
          <a:bodyPr wrap="square" anchor="t" lIns="0" rIns="0" tIns="0" bIns="0">
            <a:spAutoFit/>
          </a:bodyPr>
          <a:lstStyle/>
          <a:p>
            <a:pPr>
              <a:spcAft>
                <a:spcPts val="900"/>
              </a:spcAft>
            </a:pPr>
            <a:r>
              <a:rPr sz="2000" b="0">
                <a:solidFill>
                  <a:srgbClr val="1C1C1A"/>
                </a:solidFill>
                <a:latin typeface="Calibri"/>
              </a:rPr>
              <a:t>A data pipeline at any size writes the same two outputs you are about to write. The rejects side gets a name and a rule attached to it.</a:t>
            </a:r>
          </a:p>
        </p:txBody>
      </p:sp>
      <p:graphicFrame>
        <p:nvGraphicFramePr>
          <p:cNvPr id="8" name="Table 7"/>
          <p:cNvGraphicFramePr>
            <a:graphicFrameLocks noGrp="1"/>
          </p:cNvGraphicFramePr>
          <p:nvPr/>
        </p:nvGraphicFramePr>
        <p:xfrm>
          <a:off x="685800" y="2665984"/>
          <a:ext cx="10820093" cy="2325624"/>
        </p:xfrm>
        <a:graphic>
          <a:graphicData uri="http://schemas.openxmlformats.org/drawingml/2006/table">
            <a:tbl>
              <a:tblPr firstRow="0" bandRow="0">
                <a:tableStyleId>{2D5ABB26-0587-4C30-8999-92F81FD0307C}</a:tableStyleId>
              </a:tblPr>
              <a:tblGrid>
                <a:gridCol w="3079061"/>
                <a:gridCol w="3320707"/>
                <a:gridCol w="4420325"/>
              </a:tblGrid>
              <a:tr h="387096">
                <a:tc>
                  <a:txBody>
                    <a:bodyPr/>
                    <a:lstStyle/>
                    <a:p>
                      <a:r>
                        <a:rPr sz="1600" b="1">
                          <a:solidFill>
                            <a:srgbClr val="FFFFFF"/>
                          </a:solidFill>
                          <a:latin typeface="Calibri"/>
                        </a:rPr>
                        <a:t>In production it is called</a:t>
                      </a:r>
                    </a:p>
                  </a:txBody>
                  <a:tcPr marL="101600" marR="101600" marT="38100" marB="38100" anchor="ctr">
                    <a:solidFill>
                      <a:srgbClr val="2B4A7D"/>
                    </a:solidFill>
                  </a:tcPr>
                </a:tc>
                <a:tc>
                  <a:txBody>
                    <a:bodyPr/>
                    <a:lstStyle/>
                    <a:p>
                      <a:r>
                        <a:rPr sz="1600" b="1">
                          <a:solidFill>
                            <a:srgbClr val="FFFFFF"/>
                          </a:solidFill>
                          <a:latin typeface="Calibri"/>
                        </a:rPr>
                        <a:t>What it holds</a:t>
                      </a:r>
                    </a:p>
                  </a:txBody>
                  <a:tcPr marL="101600" marR="101600" marT="38100" marB="38100" anchor="ctr">
                    <a:solidFill>
                      <a:srgbClr val="2B4A7D"/>
                    </a:solidFill>
                  </a:tcPr>
                </a:tc>
                <a:tc>
                  <a:txBody>
                    <a:bodyPr/>
                    <a:lstStyle/>
                    <a:p>
                      <a:r>
                        <a:rPr sz="1600" b="1">
                          <a:solidFill>
                            <a:srgbClr val="FFFFFF"/>
                          </a:solidFill>
                          <a:latin typeface="Calibri"/>
                        </a:rPr>
                        <a:t>The rule attached</a:t>
                      </a:r>
                    </a:p>
                  </a:txBody>
                  <a:tcPr marL="101600" marR="101600" marT="38100" marB="38100" anchor="ctr">
                    <a:solidFill>
                      <a:srgbClr val="2B4A7D"/>
                    </a:solidFill>
                  </a:tcPr>
                </a:tc>
              </a:tr>
              <a:tr h="646176">
                <a:tc>
                  <a:txBody>
                    <a:bodyPr/>
                    <a:lstStyle/>
                    <a:p>
                      <a:r>
                        <a:rPr sz="1500" b="0">
                          <a:solidFill>
                            <a:srgbClr val="1C1C1A"/>
                          </a:solidFill>
                          <a:latin typeface="Calibri"/>
                        </a:rPr>
                        <a:t>A dead letter queue</a:t>
                      </a:r>
                    </a:p>
                  </a:txBody>
                  <a:tcPr marL="101600" marR="101600" marT="38100" marB="38100" anchor="ctr">
                    <a:solidFill>
                      <a:srgbClr val="FFFFFF"/>
                    </a:solidFill>
                  </a:tcPr>
                </a:tc>
                <a:tc>
                  <a:txBody>
                    <a:bodyPr/>
                    <a:lstStyle/>
                    <a:p>
                      <a:r>
                        <a:rPr sz="1500" b="0">
                          <a:solidFill>
                            <a:srgbClr val="1C1C1A"/>
                          </a:solidFill>
                          <a:latin typeface="Calibri"/>
                        </a:rPr>
                        <a:t>Messages the consumer could not process</a:t>
                      </a:r>
                    </a:p>
                  </a:txBody>
                  <a:tcPr marL="101600" marR="101600" marT="38100" marB="38100" anchor="ctr">
                    <a:solidFill>
                      <a:srgbClr val="FFFFFF"/>
                    </a:solidFill>
                  </a:tcPr>
                </a:tc>
                <a:tc>
                  <a:txBody>
                    <a:bodyPr/>
                    <a:lstStyle/>
                    <a:p>
                      <a:r>
                        <a:rPr sz="1500" b="0">
                          <a:solidFill>
                            <a:srgbClr val="1C1C1A"/>
                          </a:solidFill>
                          <a:latin typeface="Calibri"/>
                        </a:rPr>
                        <a:t>Retry a fixed number of times, then park it for a human</a:t>
                      </a:r>
                    </a:p>
                  </a:txBody>
                  <a:tcPr marL="101600" marR="101600" marT="38100" marB="38100" anchor="ctr">
                    <a:solidFill>
                      <a:srgbClr val="FFFFFF"/>
                    </a:solidFill>
                  </a:tcPr>
                </a:tc>
              </a:tr>
              <a:tr h="646176">
                <a:tc>
                  <a:txBody>
                    <a:bodyPr/>
                    <a:lstStyle/>
                    <a:p>
                      <a:r>
                        <a:rPr sz="1500" b="0">
                          <a:solidFill>
                            <a:srgbClr val="1C1C1A"/>
                          </a:solidFill>
                          <a:latin typeface="Calibri"/>
                        </a:rPr>
                        <a:t>A quarantine table</a:t>
                      </a:r>
                    </a:p>
                  </a:txBody>
                  <a:tcPr marL="101600" marR="101600" marT="38100" marB="38100" anchor="ctr">
                    <a:solidFill>
                      <a:srgbClr val="F7F7F5"/>
                    </a:solidFill>
                  </a:tcPr>
                </a:tc>
                <a:tc>
                  <a:txBody>
                    <a:bodyPr/>
                    <a:lstStyle/>
                    <a:p>
                      <a:r>
                        <a:rPr sz="1500" b="0">
                          <a:solidFill>
                            <a:srgbClr val="1C1C1A"/>
                          </a:solidFill>
                          <a:latin typeface="Calibri"/>
                        </a:rPr>
                        <a:t>Rows that failed validation on load</a:t>
                      </a:r>
                    </a:p>
                  </a:txBody>
                  <a:tcPr marL="101600" marR="101600" marT="38100" marB="38100" anchor="ctr">
                    <a:solidFill>
                      <a:srgbClr val="F7F7F5"/>
                    </a:solidFill>
                  </a:tcPr>
                </a:tc>
                <a:tc>
                  <a:txBody>
                    <a:bodyPr/>
                    <a:lstStyle/>
                    <a:p>
                      <a:r>
                        <a:rPr sz="1500" b="0">
                          <a:solidFill>
                            <a:srgbClr val="1C1C1A"/>
                          </a:solidFill>
                          <a:latin typeface="Calibri"/>
                        </a:rPr>
                        <a:t>Nothing downstream reads it, and someone owns clearing it</a:t>
                      </a:r>
                    </a:p>
                  </a:txBody>
                  <a:tcPr marL="101600" marR="101600" marT="38100" marB="38100" anchor="ctr">
                    <a:solidFill>
                      <a:srgbClr val="F7F7F5"/>
                    </a:solidFill>
                  </a:tcPr>
                </a:tc>
              </a:tr>
              <a:tr h="646176">
                <a:tc>
                  <a:txBody>
                    <a:bodyPr/>
                    <a:lstStyle/>
                    <a:p>
                      <a:r>
                        <a:rPr sz="1500" b="0">
                          <a:solidFill>
                            <a:srgbClr val="1C1C1A"/>
                          </a:solidFill>
                          <a:latin typeface="Calibri"/>
                        </a:rPr>
                        <a:t>A rejects file beside the clean file</a:t>
                      </a:r>
                    </a:p>
                  </a:txBody>
                  <a:tcPr marL="101600" marR="101600" marT="38100" marB="38100" anchor="ctr">
                    <a:solidFill>
                      <a:srgbClr val="FFFFFF"/>
                    </a:solidFill>
                  </a:tcPr>
                </a:tc>
                <a:tc>
                  <a:txBody>
                    <a:bodyPr/>
                    <a:lstStyle/>
                    <a:p>
                      <a:r>
                        <a:rPr sz="1500" b="0">
                          <a:solidFill>
                            <a:srgbClr val="1C1C1A"/>
                          </a:solidFill>
                          <a:latin typeface="Calibri"/>
                        </a:rPr>
                        <a:t>Exactly what you are writing today</a:t>
                      </a:r>
                    </a:p>
                  </a:txBody>
                  <a:tcPr marL="101600" marR="101600" marT="38100" marB="38100" anchor="ctr">
                    <a:solidFill>
                      <a:srgbClr val="FFFFFF"/>
                    </a:solidFill>
                  </a:tcPr>
                </a:tc>
                <a:tc>
                  <a:txBody>
                    <a:bodyPr/>
                    <a:lstStyle/>
                    <a:p>
                      <a:r>
                        <a:rPr sz="1500" b="0">
                          <a:solidFill>
                            <a:srgbClr val="1C1C1A"/>
                          </a:solidFill>
                          <a:latin typeface="Calibri"/>
                        </a:rPr>
                        <a:t>The load is not finished until the counts reconcile</a:t>
                      </a:r>
                    </a:p>
                  </a:txBody>
                  <a:tcPr marL="101600" marR="101600" marT="38100" marB="38100" anchor="ctr">
                    <a:solidFill>
                      <a:srgbClr val="FFFFFF"/>
                    </a:solidFill>
                  </a:tcPr>
                </a:tc>
              </a:tr>
            </a:tbl>
          </a:graphicData>
        </a:graphic>
      </p:graphicFrame>
      <p:sp>
        <p:nvSpPr>
          <p:cNvPr id="9" name="TextBox 8"/>
          <p:cNvSpPr txBox="1"/>
          <p:nvPr/>
        </p:nvSpPr>
        <p:spPr>
          <a:xfrm>
            <a:off x="685800" y="5247640"/>
            <a:ext cx="10820095" cy="564896"/>
          </a:xfrm>
          <a:prstGeom prst="rect">
            <a:avLst/>
          </a:prstGeom>
          <a:noFill/>
        </p:spPr>
        <p:txBody>
          <a:bodyPr wrap="square" anchor="t" lIns="0" rIns="0" tIns="0" bIns="0">
            <a:spAutoFit/>
          </a:bodyPr>
          <a:lstStyle/>
          <a:p>
            <a:pPr>
              <a:spcAft>
                <a:spcPts val="900"/>
              </a:spcAft>
            </a:pPr>
            <a:r>
              <a:rPr sz="2000" b="0">
                <a:solidFill>
                  <a:srgbClr val="1C1C1A"/>
                </a:solidFill>
                <a:latin typeface="Calibri"/>
              </a:rPr>
              <a:t>The names change with the tool. The identity in D17 does not.</a:t>
            </a:r>
          </a:p>
        </p:txBody>
      </p:sp>
      <p:sp>
        <p:nvSpPr>
          <p:cNvPr id="10" name="Rectangle 9"/>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2. Half one: package the logic, survive bad data</a:t>
            </a:r>
          </a:p>
        </p:txBody>
      </p:sp>
      <p:sp>
        <p:nvSpPr>
          <p:cNvPr id="12" name="TextBox 11"/>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50 / 67</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S26</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3000" b="1">
                <a:solidFill>
                  <a:srgbClr val="1C1C1A"/>
                </a:solidFill>
                <a:latin typeface="Calibri"/>
              </a:rPr>
              <a:t>Interview question</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685800" y="2141727"/>
            <a:ext cx="10820095" cy="1020064"/>
          </a:xfrm>
          <a:prstGeom prst="rect">
            <a:avLst/>
          </a:prstGeom>
          <a:noFill/>
        </p:spPr>
        <p:txBody>
          <a:bodyPr wrap="square" anchor="t" lIns="0" rIns="0" tIns="0" bIns="0">
            <a:spAutoFit/>
          </a:bodyPr>
          <a:lstStyle/>
          <a:p>
            <a:pPr>
              <a:spcAft>
                <a:spcPts val="900"/>
              </a:spcAft>
            </a:pPr>
            <a:r>
              <a:rPr sz="2000" b="0">
                <a:solidFill>
                  <a:srgbClr val="1C1C1A"/>
                </a:solidFill>
                <a:latin typeface="Calibri"/>
              </a:rPr>
              <a:t>"Why is a bare except worse than letting the code crash?"</a:t>
            </a:r>
          </a:p>
          <a:p>
            <a:pPr>
              <a:spcAft>
                <a:spcPts val="900"/>
              </a:spcAft>
            </a:pPr>
            <a:r>
              <a:rPr sz="2000" b="0">
                <a:solidFill>
                  <a:srgbClr val="1C1C1A"/>
                </a:solidFill>
                <a:latin typeface="Calibri"/>
              </a:rPr>
              <a:t>You can answer this now, with today's two output lines as your evidence.</a:t>
            </a:r>
          </a:p>
        </p:txBody>
      </p:sp>
      <p:pic>
        <p:nvPicPr>
          <p:cNvPr id="7" name="Picture 6" descr="fed3029ccc90a417.png"/>
          <p:cNvPicPr>
            <a:picLocks noChangeAspect="1"/>
          </p:cNvPicPr>
          <p:nvPr/>
        </p:nvPicPr>
        <p:blipFill>
          <a:blip r:embed="rId2"/>
          <a:stretch>
            <a:fillRect/>
          </a:stretch>
        </p:blipFill>
        <p:spPr>
          <a:xfrm>
            <a:off x="1721357" y="3675887"/>
            <a:ext cx="8748979" cy="2377440"/>
          </a:xfrm>
          <a:prstGeom prst="rect">
            <a:avLst/>
          </a:prstGeom>
        </p:spPr>
      </p:pic>
      <p:sp>
        <p:nvSpPr>
          <p:cNvPr id="8" name="Rectangle 7"/>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2. Half one: package the logic, survive bad data</a:t>
            </a:r>
          </a:p>
        </p:txBody>
      </p:sp>
      <p:sp>
        <p:nvSpPr>
          <p:cNvPr id="10" name="TextBox 9"/>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51 / 67</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S27</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3000" b="1">
                <a:solidFill>
                  <a:srgbClr val="1C1C1A"/>
                </a:solidFill>
                <a:latin typeface="Calibri"/>
              </a:rPr>
              <a:t>Step card, section 3</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685800" y="2882392"/>
            <a:ext cx="457200" cy="437896"/>
          </a:xfrm>
          <a:prstGeom prst="rect">
            <a:avLst/>
          </a:prstGeom>
          <a:noFill/>
        </p:spPr>
        <p:txBody>
          <a:bodyPr wrap="square" anchor="t" lIns="0" rIns="0" tIns="0" bIns="0">
            <a:spAutoFit/>
          </a:bodyPr>
          <a:lstStyle/>
          <a:p>
            <a:r>
              <a:rPr sz="1900" b="1">
                <a:solidFill>
                  <a:srgbClr val="2B4A7D"/>
                </a:solidFill>
                <a:latin typeface="Calibri"/>
              </a:rPr>
              <a:t>1</a:t>
            </a:r>
          </a:p>
        </p:txBody>
      </p:sp>
      <p:sp>
        <p:nvSpPr>
          <p:cNvPr id="7" name="TextBox 6"/>
          <p:cNvSpPr txBox="1"/>
          <p:nvPr/>
        </p:nvSpPr>
        <p:spPr>
          <a:xfrm>
            <a:off x="1143000" y="2882392"/>
            <a:ext cx="10362895" cy="437896"/>
          </a:xfrm>
          <a:prstGeom prst="rect">
            <a:avLst/>
          </a:prstGeom>
          <a:noFill/>
        </p:spPr>
        <p:txBody>
          <a:bodyPr wrap="square" anchor="t" lIns="0" rIns="0" tIns="0" bIns="0">
            <a:spAutoFit/>
          </a:bodyPr>
          <a:lstStyle/>
          <a:p>
            <a:r>
              <a:rPr sz="1900" b="0">
                <a:solidFill>
                  <a:srgbClr val="1C1C1A"/>
                </a:solidFill>
                <a:latin typeface="Calibri"/>
              </a:rPr>
              <a:t>Set the bad record aside, never drop it.</a:t>
            </a:r>
          </a:p>
        </p:txBody>
      </p:sp>
      <p:sp>
        <p:nvSpPr>
          <p:cNvPr id="8" name="TextBox 7"/>
          <p:cNvSpPr txBox="1"/>
          <p:nvPr/>
        </p:nvSpPr>
        <p:spPr>
          <a:xfrm>
            <a:off x="685800" y="3375152"/>
            <a:ext cx="457200" cy="437896"/>
          </a:xfrm>
          <a:prstGeom prst="rect">
            <a:avLst/>
          </a:prstGeom>
          <a:noFill/>
        </p:spPr>
        <p:txBody>
          <a:bodyPr wrap="square" anchor="t" lIns="0" rIns="0" tIns="0" bIns="0">
            <a:spAutoFit/>
          </a:bodyPr>
          <a:lstStyle/>
          <a:p>
            <a:r>
              <a:rPr sz="1900" b="1">
                <a:solidFill>
                  <a:srgbClr val="2B4A7D"/>
                </a:solidFill>
                <a:latin typeface="Calibri"/>
              </a:rPr>
              <a:t>2</a:t>
            </a:r>
          </a:p>
        </p:txBody>
      </p:sp>
      <p:sp>
        <p:nvSpPr>
          <p:cNvPr id="9" name="TextBox 8"/>
          <p:cNvSpPr txBox="1"/>
          <p:nvPr/>
        </p:nvSpPr>
        <p:spPr>
          <a:xfrm>
            <a:off x="1143000" y="3375152"/>
            <a:ext cx="10362895" cy="437896"/>
          </a:xfrm>
          <a:prstGeom prst="rect">
            <a:avLst/>
          </a:prstGeom>
          <a:noFill/>
        </p:spPr>
        <p:txBody>
          <a:bodyPr wrap="square" anchor="t" lIns="0" rIns="0" tIns="0" bIns="0">
            <a:spAutoFit/>
          </a:bodyPr>
          <a:lstStyle/>
          <a:p>
            <a:r>
              <a:rPr sz="1900" b="0">
                <a:solidFill>
                  <a:srgbClr val="1C1C1A"/>
                </a:solidFill>
                <a:latin typeface="Calibri"/>
              </a:rPr>
              <a:t>Carry the interpreter's own reason.</a:t>
            </a:r>
          </a:p>
        </p:txBody>
      </p:sp>
      <p:sp>
        <p:nvSpPr>
          <p:cNvPr id="10" name="TextBox 9"/>
          <p:cNvSpPr txBox="1"/>
          <p:nvPr/>
        </p:nvSpPr>
        <p:spPr>
          <a:xfrm>
            <a:off x="685800" y="3867912"/>
            <a:ext cx="457200" cy="437896"/>
          </a:xfrm>
          <a:prstGeom prst="rect">
            <a:avLst/>
          </a:prstGeom>
          <a:noFill/>
        </p:spPr>
        <p:txBody>
          <a:bodyPr wrap="square" anchor="t" lIns="0" rIns="0" tIns="0" bIns="0">
            <a:spAutoFit/>
          </a:bodyPr>
          <a:lstStyle/>
          <a:p>
            <a:r>
              <a:rPr sz="1900" b="1">
                <a:solidFill>
                  <a:srgbClr val="2B4A7D"/>
                </a:solidFill>
                <a:latin typeface="Calibri"/>
              </a:rPr>
              <a:t>3</a:t>
            </a:r>
          </a:p>
        </p:txBody>
      </p:sp>
      <p:sp>
        <p:nvSpPr>
          <p:cNvPr id="11" name="TextBox 10"/>
          <p:cNvSpPr txBox="1"/>
          <p:nvPr/>
        </p:nvSpPr>
        <p:spPr>
          <a:xfrm>
            <a:off x="1143000" y="3867912"/>
            <a:ext cx="10362895" cy="437896"/>
          </a:xfrm>
          <a:prstGeom prst="rect">
            <a:avLst/>
          </a:prstGeom>
          <a:noFill/>
        </p:spPr>
        <p:txBody>
          <a:bodyPr wrap="square" anchor="t" lIns="0" rIns="0" tIns="0" bIns="0">
            <a:spAutoFit/>
          </a:bodyPr>
          <a:lstStyle/>
          <a:p>
            <a:r>
              <a:rPr sz="1900" b="0">
                <a:solidFill>
                  <a:srgbClr val="1C1C1A"/>
                </a:solidFill>
                <a:latin typeface="Calibri"/>
              </a:rPr>
              <a:t>Reconcile: input equals clean plus rejected.</a:t>
            </a:r>
          </a:p>
        </p:txBody>
      </p:sp>
      <p:sp>
        <p:nvSpPr>
          <p:cNvPr id="12" name="TextBox 11"/>
          <p:cNvSpPr txBox="1"/>
          <p:nvPr/>
        </p:nvSpPr>
        <p:spPr>
          <a:xfrm>
            <a:off x="685800" y="4360672"/>
            <a:ext cx="457200" cy="437896"/>
          </a:xfrm>
          <a:prstGeom prst="rect">
            <a:avLst/>
          </a:prstGeom>
          <a:noFill/>
        </p:spPr>
        <p:txBody>
          <a:bodyPr wrap="square" anchor="t" lIns="0" rIns="0" tIns="0" bIns="0">
            <a:spAutoFit/>
          </a:bodyPr>
          <a:lstStyle/>
          <a:p>
            <a:r>
              <a:rPr sz="1900" b="1">
                <a:solidFill>
                  <a:srgbClr val="2B4A7D"/>
                </a:solidFill>
                <a:latin typeface="Calibri"/>
              </a:rPr>
              <a:t>4</a:t>
            </a:r>
          </a:p>
        </p:txBody>
      </p:sp>
      <p:sp>
        <p:nvSpPr>
          <p:cNvPr id="13" name="TextBox 12"/>
          <p:cNvSpPr txBox="1"/>
          <p:nvPr/>
        </p:nvSpPr>
        <p:spPr>
          <a:xfrm>
            <a:off x="1143000" y="4360672"/>
            <a:ext cx="10362895" cy="437896"/>
          </a:xfrm>
          <a:prstGeom prst="rect">
            <a:avLst/>
          </a:prstGeom>
          <a:noFill/>
        </p:spPr>
        <p:txBody>
          <a:bodyPr wrap="square" anchor="t" lIns="0" rIns="0" tIns="0" bIns="0">
            <a:spAutoFit/>
          </a:bodyPr>
          <a:lstStyle/>
          <a:p>
            <a:r>
              <a:rPr sz="1900" b="0">
                <a:solidFill>
                  <a:srgbClr val="1C1C1A"/>
                </a:solidFill>
                <a:latin typeface="Calibri"/>
              </a:rPr>
              <a:t>Ship the rejects list as part of the job.</a:t>
            </a:r>
          </a:p>
        </p:txBody>
      </p:sp>
      <p:sp>
        <p:nvSpPr>
          <p:cNvPr id="14" name="Rectangle 13"/>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2. Half one: package the logic, survive bad data</a:t>
            </a:r>
          </a:p>
        </p:txBody>
      </p:sp>
      <p:sp>
        <p:nvSpPr>
          <p:cNvPr id="16" name="TextBox 15"/>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52 / 67</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2377440"/>
            <a:ext cx="10820095" cy="1463040"/>
          </a:xfrm>
          <a:prstGeom prst="rect">
            <a:avLst/>
          </a:prstGeom>
          <a:noFill/>
        </p:spPr>
        <p:txBody>
          <a:bodyPr wrap="square" anchor="ctr" lIns="0" rIns="0" tIns="0" bIns="0">
            <a:spAutoFit/>
          </a:bodyPr>
          <a:lstStyle/>
          <a:p>
            <a:pPr algn="ctr"/>
            <a:r>
              <a:rPr sz="4000" b="1">
                <a:solidFill>
                  <a:srgbClr val="FFFFFF"/>
                </a:solidFill>
                <a:latin typeface="Calibri"/>
              </a:rPr>
              <a:t>SECTION 4: THE INTERVIEW BLOCK</a:t>
            </a:r>
          </a:p>
        </p:txBody>
      </p:sp>
      <p:sp>
        <p:nvSpPr>
          <p:cNvPr id="4" name="Rounded Rectangle 3"/>
          <p:cNvSpPr/>
          <p:nvPr/>
        </p:nvSpPr>
        <p:spPr>
          <a:xfrm>
            <a:off x="685800" y="4754880"/>
            <a:ext cx="2076236" cy="475488"/>
          </a:xfrm>
          <a:prstGeom prst="roundRect">
            <a:avLst/>
          </a:prstGeom>
          <a:no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0">
                <a:solidFill>
                  <a:srgbClr val="FFFFFF"/>
                </a:solidFill>
                <a:latin typeface="Calibri"/>
              </a:rPr>
              <a:t>inline cell</a:t>
            </a:r>
          </a:p>
        </p:txBody>
      </p:sp>
      <p:sp>
        <p:nvSpPr>
          <p:cNvPr id="5" name="Rounded Rectangle 4"/>
          <p:cNvSpPr/>
          <p:nvPr/>
        </p:nvSpPr>
        <p:spPr>
          <a:xfrm>
            <a:off x="2871764" y="4754880"/>
            <a:ext cx="2076236" cy="475488"/>
          </a:xfrm>
          <a:prstGeom prst="roundRect">
            <a:avLst/>
          </a:prstGeom>
          <a:no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0">
                <a:solidFill>
                  <a:srgbClr val="FFFFFF"/>
                </a:solidFill>
                <a:latin typeface="Calibri"/>
              </a:rPr>
              <a:t>packaged decision</a:t>
            </a:r>
          </a:p>
        </p:txBody>
      </p:sp>
      <p:sp>
        <p:nvSpPr>
          <p:cNvPr id="6" name="Rounded Rectangle 5"/>
          <p:cNvSpPr/>
          <p:nvPr/>
        </p:nvSpPr>
        <p:spPr>
          <a:xfrm>
            <a:off x="5057729" y="4754880"/>
            <a:ext cx="2076236" cy="475488"/>
          </a:xfrm>
          <a:prstGeom prst="roundRect">
            <a:avLst/>
          </a:prstGeom>
          <a:no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0">
                <a:solidFill>
                  <a:srgbClr val="FFFFFF"/>
                </a:solidFill>
                <a:latin typeface="Calibri"/>
              </a:rPr>
              <a:t>read the failure</a:t>
            </a:r>
          </a:p>
        </p:txBody>
      </p:sp>
      <p:sp>
        <p:nvSpPr>
          <p:cNvPr id="7" name="Rounded Rectangle 6"/>
          <p:cNvSpPr/>
          <p:nvPr/>
        </p:nvSpPr>
        <p:spPr>
          <a:xfrm>
            <a:off x="7243693" y="4754880"/>
            <a:ext cx="2076236" cy="475488"/>
          </a:xfrm>
          <a:prstGeom prst="roundRect">
            <a:avLst/>
          </a:prstGeom>
          <a:no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0">
                <a:solidFill>
                  <a:srgbClr val="FFFFFF"/>
                </a:solidFill>
                <a:latin typeface="Calibri"/>
              </a:rPr>
              <a:t>log the rejection</a:t>
            </a:r>
          </a:p>
        </p:txBody>
      </p:sp>
      <p:sp>
        <p:nvSpPr>
          <p:cNvPr id="8" name="Rounded Rectangle 7"/>
          <p:cNvSpPr/>
          <p:nvPr/>
        </p:nvSpPr>
        <p:spPr>
          <a:xfrm>
            <a:off x="9429658" y="4754880"/>
            <a:ext cx="2076236" cy="475488"/>
          </a:xfrm>
          <a:prstGeom prst="roundRect">
            <a:avLst/>
          </a:prstGeom>
          <a:no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0">
                <a:solidFill>
                  <a:srgbClr val="FFFFFF"/>
                </a:solidFill>
                <a:latin typeface="Calibri"/>
              </a:rPr>
              <a:t>cross the boundary</a:t>
            </a:r>
          </a:p>
        </p:txBody>
      </p:sp>
      <p:sp>
        <p:nvSpPr>
          <p:cNvPr id="9" name="Rectangle 8"/>
          <p:cNvSpPr/>
          <p:nvPr/>
        </p:nvSpPr>
        <p:spPr>
          <a:xfrm>
            <a:off x="685800" y="6327648"/>
            <a:ext cx="10820095" cy="12801"/>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685800" y="6391656"/>
            <a:ext cx="9722815" cy="292608"/>
          </a:xfrm>
          <a:prstGeom prst="rect">
            <a:avLst/>
          </a:prstGeom>
          <a:noFill/>
        </p:spPr>
        <p:txBody>
          <a:bodyPr wrap="square" anchor="t" lIns="0" rIns="0" tIns="0" bIns="0">
            <a:spAutoFit/>
          </a:bodyPr>
          <a:lstStyle/>
          <a:p>
            <a:r>
              <a:rPr sz="1000">
                <a:solidFill>
                  <a:srgbClr val="FFFFFF"/>
                </a:solidFill>
                <a:latin typeface="Calibri"/>
              </a:rPr>
              <a:t>Week 1, Day 2. Half one: package the logic, survive bad data</a:t>
            </a:r>
          </a:p>
        </p:txBody>
      </p:sp>
      <p:sp>
        <p:nvSpPr>
          <p:cNvPr id="11" name="TextBox 10"/>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FFFFFF"/>
                </a:solidFill>
                <a:latin typeface="Calibri"/>
              </a:rPr>
              <a:t>53 / 67</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S28</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3000" b="1">
                <a:solidFill>
                  <a:srgbClr val="1C1C1A"/>
                </a:solidFill>
                <a:latin typeface="Calibri"/>
              </a:rPr>
              <a:t>What this section is</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685800" y="2812288"/>
            <a:ext cx="10820095" cy="2056384"/>
          </a:xfrm>
          <a:prstGeom prst="rect">
            <a:avLst/>
          </a:prstGeom>
          <a:noFill/>
        </p:spPr>
        <p:txBody>
          <a:bodyPr wrap="square" anchor="t" lIns="0" rIns="0" tIns="0" bIns="0">
            <a:spAutoFit/>
          </a:bodyPr>
          <a:lstStyle/>
          <a:p>
            <a:pPr>
              <a:spcAft>
                <a:spcPts val="900"/>
              </a:spcAft>
            </a:pPr>
            <a:r>
              <a:rPr sz="2000" b="0">
                <a:solidFill>
                  <a:srgbClr val="1C1C1A"/>
                </a:solidFill>
                <a:latin typeface="Calibri"/>
              </a:rPr>
              <a:t>Two of the questions below are on this week's own question set and will be on Saturday's paper. The rest are asked often enough at this level that this programme puts them in front of you now.</a:t>
            </a:r>
          </a:p>
          <a:p>
            <a:pPr>
              <a:spcAft>
                <a:spcPts val="900"/>
              </a:spcAft>
            </a:pPr>
            <a:r>
              <a:rPr sz="2000" b="0">
                <a:solidFill>
                  <a:srgbClr val="1C1C1A"/>
                </a:solidFill>
                <a:latin typeface="Calibri"/>
              </a:rPr>
              <a:t>Each one gets the same treatment: what the question is really testing, the answer, and the follow-up you should expect.</a:t>
            </a:r>
          </a:p>
        </p:txBody>
      </p:sp>
      <p:sp>
        <p:nvSpPr>
          <p:cNvPr id="7" name="Rectangle 6"/>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2. Half one: package the logic, survive bad data</a:t>
            </a:r>
          </a:p>
        </p:txBody>
      </p:sp>
      <p:sp>
        <p:nvSpPr>
          <p:cNvPr id="9" name="TextBox 8"/>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54 / 67</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S29</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2300" b="1">
                <a:solidFill>
                  <a:srgbClr val="1C1C1A"/>
                </a:solidFill>
                <a:latin typeface="Calibri"/>
              </a:rPr>
              <a:t>Question: what do you read first in a traceback?</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685800" y="2647696"/>
            <a:ext cx="10820095" cy="2385568"/>
          </a:xfrm>
          <a:prstGeom prst="rect">
            <a:avLst/>
          </a:prstGeom>
          <a:noFill/>
        </p:spPr>
        <p:txBody>
          <a:bodyPr wrap="square" anchor="t" lIns="0" rIns="0" tIns="0" bIns="0">
            <a:spAutoFit/>
          </a:bodyPr>
          <a:lstStyle/>
          <a:p>
            <a:pPr>
              <a:spcAft>
                <a:spcPts val="900"/>
              </a:spcAft>
            </a:pPr>
            <a:r>
              <a:rPr sz="2000" b="0">
                <a:solidFill>
                  <a:srgbClr val="1C1C1A"/>
                </a:solidFill>
                <a:latin typeface="Calibri"/>
              </a:rPr>
              <a:t>A four-line traceback is on the screen and you have ten seconds.</a:t>
            </a:r>
          </a:p>
          <a:p>
            <a:pPr>
              <a:spcAft>
                <a:spcPts val="900"/>
              </a:spcAft>
            </a:pPr>
            <a:r>
              <a:rPr sz="2000" b="0">
                <a:solidFill>
                  <a:srgbClr val="1C1C1A"/>
                </a:solidFill>
                <a:latin typeface="Calibri"/>
              </a:rPr>
              <a:t>a) The first line, since it says where the run began</a:t>
            </a:r>
          </a:p>
          <a:p>
            <a:pPr>
              <a:spcAft>
                <a:spcPts val="900"/>
              </a:spcAft>
            </a:pPr>
            <a:r>
              <a:rPr sz="2000" b="0">
                <a:solidFill>
                  <a:srgbClr val="1C1C1A"/>
                </a:solidFill>
                <a:latin typeface="Calibri"/>
              </a:rPr>
              <a:t>b) The frame naming your own file</a:t>
            </a:r>
          </a:p>
          <a:p>
            <a:pPr>
              <a:spcAft>
                <a:spcPts val="900"/>
              </a:spcAft>
            </a:pPr>
            <a:r>
              <a:rPr sz="2000" b="0">
                <a:solidFill>
                  <a:srgbClr val="1C1C1A"/>
                </a:solidFill>
                <a:latin typeface="Calibri"/>
              </a:rPr>
              <a:t>c) The last line</a:t>
            </a:r>
          </a:p>
          <a:p>
            <a:pPr>
              <a:spcAft>
                <a:spcPts val="900"/>
              </a:spcAft>
            </a:pPr>
            <a:r>
              <a:rPr sz="2000" b="0">
                <a:solidFill>
                  <a:srgbClr val="1C1C1A"/>
                </a:solidFill>
                <a:latin typeface="Calibri"/>
              </a:rPr>
              <a:t>d) Whichever line names a library you recognise</a:t>
            </a:r>
          </a:p>
        </p:txBody>
      </p:sp>
      <p:sp>
        <p:nvSpPr>
          <p:cNvPr id="7" name="Rectangle 6"/>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2. Half one: package the logic, survive bad data</a:t>
            </a:r>
          </a:p>
        </p:txBody>
      </p:sp>
      <p:sp>
        <p:nvSpPr>
          <p:cNvPr id="9" name="TextBox 8"/>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55 / 67</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S29a</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2300" b="1">
                <a:solidFill>
                  <a:srgbClr val="1C1C1A"/>
                </a:solidFill>
                <a:latin typeface="Calibri"/>
              </a:rPr>
              <a:t>Answer: the last line, and then two more questions</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685800" y="1627632"/>
            <a:ext cx="5135727" cy="1319784"/>
          </a:xfrm>
          <a:prstGeom prst="rect">
            <a:avLst/>
          </a:prstGeom>
          <a:solidFill>
            <a:srgbClr val="E4EC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685800" y="1627632"/>
            <a:ext cx="50292" cy="131978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941832" y="1719072"/>
            <a:ext cx="4678527" cy="1173480"/>
          </a:xfrm>
          <a:prstGeom prst="rect">
            <a:avLst/>
          </a:prstGeom>
          <a:noFill/>
        </p:spPr>
        <p:txBody>
          <a:bodyPr wrap="square" anchor="ctr" lIns="0" rIns="0" tIns="0" bIns="0">
            <a:spAutoFit/>
          </a:bodyPr>
          <a:lstStyle/>
          <a:p>
            <a:r>
              <a:rPr sz="1500" b="1">
                <a:solidFill>
                  <a:srgbClr val="2B4A7D"/>
                </a:solidFill>
                <a:latin typeface="Calibri"/>
              </a:rPr>
              <a:t>The claim. </a:t>
            </a:r>
            <a:r>
              <a:rPr sz="1500" b="0">
                <a:solidFill>
                  <a:srgbClr val="1C1C1A"/>
                </a:solidFill>
                <a:latin typeface="Calibri"/>
              </a:rPr>
              <a:t>The last line carries the exception type and the offending value, which is where the diagnosis starts. Then you scan up to the first frame in your own code.</a:t>
            </a:r>
          </a:p>
        </p:txBody>
      </p:sp>
      <p:graphicFrame>
        <p:nvGraphicFramePr>
          <p:cNvPr id="9" name="Table 8"/>
          <p:cNvGraphicFramePr>
            <a:graphicFrameLocks noGrp="1"/>
          </p:cNvGraphicFramePr>
          <p:nvPr/>
        </p:nvGraphicFramePr>
        <p:xfrm>
          <a:off x="685800" y="3112008"/>
          <a:ext cx="5135726" cy="1627632"/>
        </p:xfrm>
        <a:graphic>
          <a:graphicData uri="http://schemas.openxmlformats.org/drawingml/2006/table">
            <a:tbl>
              <a:tblPr firstRow="0" bandRow="0">
                <a:tableStyleId>{2D5ABB26-0587-4C30-8999-92F81FD0307C}</a:tableStyleId>
              </a:tblPr>
              <a:tblGrid>
                <a:gridCol w="1852170"/>
                <a:gridCol w="3283556"/>
              </a:tblGrid>
              <a:tr h="310896">
                <a:tc>
                  <a:txBody>
                    <a:bodyPr/>
                    <a:lstStyle/>
                    <a:p>
                      <a:r>
                        <a:rPr sz="1000" b="1">
                          <a:solidFill>
                            <a:srgbClr val="FFFFFF"/>
                          </a:solidFill>
                          <a:latin typeface="Calibri"/>
                        </a:rPr>
                        <a:t>Option</a:t>
                      </a:r>
                    </a:p>
                  </a:txBody>
                  <a:tcPr marL="101600" marR="101600" marT="38100" marB="38100" anchor="ctr">
                    <a:solidFill>
                      <a:srgbClr val="2B4A7D"/>
                    </a:solidFill>
                  </a:tcPr>
                </a:tc>
                <a:tc>
                  <a:txBody>
                    <a:bodyPr/>
                    <a:lstStyle/>
                    <a:p>
                      <a:r>
                        <a:rPr sz="1000" b="1">
                          <a:solidFill>
                            <a:srgbClr val="FFFFFF"/>
                          </a:solidFill>
                          <a:latin typeface="Calibri"/>
                        </a:rPr>
                        <a:t>Why it does not hold</a:t>
                      </a:r>
                    </a:p>
                  </a:txBody>
                  <a:tcPr marL="101600" marR="101600" marT="38100" marB="38100" anchor="ctr">
                    <a:solidFill>
                      <a:srgbClr val="2B4A7D"/>
                    </a:solidFill>
                  </a:tcPr>
                </a:tc>
              </a:tr>
              <a:tr h="438912">
                <a:tc>
                  <a:txBody>
                    <a:bodyPr/>
                    <a:lstStyle/>
                    <a:p>
                      <a:r>
                        <a:rPr sz="900" b="0">
                          <a:solidFill>
                            <a:srgbClr val="1C1C1A"/>
                          </a:solidFill>
                          <a:latin typeface="Calibri"/>
                        </a:rPr>
                        <a:t>a) The first line</a:t>
                      </a:r>
                    </a:p>
                  </a:txBody>
                  <a:tcPr marL="101600" marR="101600" marT="38100" marB="38100" anchor="ctr">
                    <a:solidFill>
                      <a:srgbClr val="FFFFFF"/>
                    </a:solidFill>
                  </a:tcPr>
                </a:tc>
                <a:tc>
                  <a:txBody>
                    <a:bodyPr/>
                    <a:lstStyle/>
                    <a:p>
                      <a:r>
                        <a:rPr sz="900" b="0">
                          <a:solidFill>
                            <a:srgbClr val="1C1C1A"/>
                          </a:solidFill>
                          <a:latin typeface="Calibri"/>
                        </a:rPr>
                        <a:t>It names where the run began, which is almost never where it broke.</a:t>
                      </a:r>
                    </a:p>
                  </a:txBody>
                  <a:tcPr marL="101600" marR="101600" marT="38100" marB="38100" anchor="ctr">
                    <a:solidFill>
                      <a:srgbClr val="FFFFFF"/>
                    </a:solidFill>
                  </a:tcPr>
                </a:tc>
              </a:tr>
              <a:tr h="438912">
                <a:tc>
                  <a:txBody>
                    <a:bodyPr/>
                    <a:lstStyle/>
                    <a:p>
                      <a:r>
                        <a:rPr sz="900" b="0">
                          <a:solidFill>
                            <a:srgbClr val="1C1C1A"/>
                          </a:solidFill>
                          <a:latin typeface="Calibri"/>
                        </a:rPr>
                        <a:t>b) Your own frame</a:t>
                      </a:r>
                    </a:p>
                  </a:txBody>
                  <a:tcPr marL="101600" marR="101600" marT="38100" marB="38100" anchor="ctr">
                    <a:solidFill>
                      <a:srgbClr val="F7F7F5"/>
                    </a:solidFill>
                  </a:tcPr>
                </a:tc>
                <a:tc>
                  <a:txBody>
                    <a:bodyPr/>
                    <a:lstStyle/>
                    <a:p>
                      <a:r>
                        <a:rPr sz="900" b="0">
                          <a:solidFill>
                            <a:srgbClr val="1C1C1A"/>
                          </a:solidFill>
                          <a:latin typeface="Calibri"/>
                        </a:rPr>
                        <a:t>That is the second thing you look at, and it tells you where rather than what.</a:t>
                      </a:r>
                    </a:p>
                  </a:txBody>
                  <a:tcPr marL="101600" marR="101600" marT="38100" marB="38100" anchor="ctr">
                    <a:solidFill>
                      <a:srgbClr val="F7F7F5"/>
                    </a:solidFill>
                  </a:tcPr>
                </a:tc>
              </a:tr>
              <a:tr h="438912">
                <a:tc>
                  <a:txBody>
                    <a:bodyPr/>
                    <a:lstStyle/>
                    <a:p>
                      <a:r>
                        <a:rPr sz="900" b="0">
                          <a:solidFill>
                            <a:srgbClr val="1C1C1A"/>
                          </a:solidFill>
                          <a:latin typeface="Calibri"/>
                        </a:rPr>
                        <a:t>d) A library name</a:t>
                      </a:r>
                    </a:p>
                  </a:txBody>
                  <a:tcPr marL="101600" marR="101600" marT="38100" marB="38100" anchor="ctr">
                    <a:solidFill>
                      <a:srgbClr val="FFFFFF"/>
                    </a:solidFill>
                  </a:tcPr>
                </a:tc>
                <a:tc>
                  <a:txBody>
                    <a:bodyPr/>
                    <a:lstStyle/>
                    <a:p>
                      <a:r>
                        <a:rPr sz="900" b="0">
                          <a:solidFill>
                            <a:srgbClr val="1C1C1A"/>
                          </a:solidFill>
                          <a:latin typeface="Calibri"/>
                        </a:rPr>
                        <a:t>The deepest frame is usually library code that did what you asked it to do.</a:t>
                      </a:r>
                    </a:p>
                  </a:txBody>
                  <a:tcPr marL="101600" marR="101600" marT="38100" marB="38100" anchor="ctr">
                    <a:solidFill>
                      <a:srgbClr val="FFFFFF"/>
                    </a:solidFill>
                  </a:tcPr>
                </a:tc>
              </a:tr>
            </a:tbl>
          </a:graphicData>
        </a:graphic>
      </p:graphicFrame>
      <p:sp>
        <p:nvSpPr>
          <p:cNvPr id="10" name="TextBox 9"/>
          <p:cNvSpPr txBox="1"/>
          <p:nvPr/>
        </p:nvSpPr>
        <p:spPr>
          <a:xfrm>
            <a:off x="6370167" y="1627632"/>
            <a:ext cx="5135727" cy="1255776"/>
          </a:xfrm>
          <a:prstGeom prst="rect">
            <a:avLst/>
          </a:prstGeom>
          <a:noFill/>
        </p:spPr>
        <p:txBody>
          <a:bodyPr wrap="square" anchor="t" lIns="0" rIns="0" tIns="0" bIns="0">
            <a:spAutoFit/>
          </a:bodyPr>
          <a:lstStyle/>
          <a:p>
            <a:pPr>
              <a:spcAft>
                <a:spcPts val="700"/>
              </a:spcAft>
            </a:pPr>
            <a:r>
              <a:rPr sz="1500" b="0">
                <a:solidFill>
                  <a:srgbClr val="1C1C1A"/>
                </a:solidFill>
                <a:latin typeface="Calibri"/>
              </a:rPr>
              <a:t>Three questions, every time: what is the exception type, which line is mine, and what value was it holding? The third is the one people skip and it is the one that names the record.</a:t>
            </a:r>
          </a:p>
        </p:txBody>
      </p:sp>
      <p:sp>
        <p:nvSpPr>
          <p:cNvPr id="11" name="Rectangle 10"/>
          <p:cNvSpPr/>
          <p:nvPr/>
        </p:nvSpPr>
        <p:spPr>
          <a:xfrm>
            <a:off x="6370167" y="3011424"/>
            <a:ext cx="5135727" cy="1049274"/>
          </a:xfrm>
          <a:prstGeom prst="rect">
            <a:avLst/>
          </a:prstGeom>
          <a:solidFill>
            <a:srgbClr val="E4EC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ectangle 11"/>
          <p:cNvSpPr/>
          <p:nvPr/>
        </p:nvSpPr>
        <p:spPr>
          <a:xfrm>
            <a:off x="6370167" y="3011424"/>
            <a:ext cx="50292" cy="104927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626199" y="3102864"/>
            <a:ext cx="4678527" cy="902969"/>
          </a:xfrm>
          <a:prstGeom prst="rect">
            <a:avLst/>
          </a:prstGeom>
          <a:noFill/>
        </p:spPr>
        <p:txBody>
          <a:bodyPr wrap="square" anchor="ctr" lIns="0" rIns="0" tIns="0" bIns="0">
            <a:spAutoFit/>
          </a:bodyPr>
          <a:lstStyle/>
          <a:p>
            <a:r>
              <a:rPr sz="1500" b="1">
                <a:solidFill>
                  <a:srgbClr val="2B4A7D"/>
                </a:solidFill>
                <a:latin typeface="Calibri"/>
              </a:rPr>
              <a:t>The mental model. </a:t>
            </a:r>
            <a:r>
              <a:rPr sz="1500" b="0">
                <a:solidFill>
                  <a:srgbClr val="1C1C1A"/>
                </a:solidFill>
                <a:latin typeface="Calibri"/>
              </a:rPr>
              <a:t>A traceback is a receipt printed from the bottom up. The last line is the total.</a:t>
            </a:r>
          </a:p>
        </p:txBody>
      </p:sp>
      <p:pic>
        <p:nvPicPr>
          <p:cNvPr id="14" name="Picture 13" descr="5a04c3bcce1864aa.png"/>
          <p:cNvPicPr>
            <a:picLocks noChangeAspect="1"/>
          </p:cNvPicPr>
          <p:nvPr/>
        </p:nvPicPr>
        <p:blipFill>
          <a:blip r:embed="rId2"/>
          <a:stretch>
            <a:fillRect/>
          </a:stretch>
        </p:blipFill>
        <p:spPr>
          <a:xfrm>
            <a:off x="8119452" y="4225290"/>
            <a:ext cx="1637158" cy="1828038"/>
          </a:xfrm>
          <a:prstGeom prst="rect">
            <a:avLst/>
          </a:prstGeom>
        </p:spPr>
      </p:pic>
      <p:sp>
        <p:nvSpPr>
          <p:cNvPr id="15" name="Rectangle 14"/>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2. Half one: package the logic, survive bad data</a:t>
            </a:r>
          </a:p>
        </p:txBody>
      </p:sp>
      <p:sp>
        <p:nvSpPr>
          <p:cNvPr id="17" name="TextBox 16"/>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56 / 67</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D22</a:t>
            </a:r>
          </a:p>
        </p:txBody>
      </p:sp>
      <p:sp>
        <p:nvSpPr>
          <p:cNvPr id="4" name="Rounded Rectangle 3"/>
          <p:cNvSpPr/>
          <p:nvPr/>
        </p:nvSpPr>
        <p:spPr>
          <a:xfrm>
            <a:off x="10573207" y="603504"/>
            <a:ext cx="932688" cy="274320"/>
          </a:xfrm>
          <a:prstGeom prst="round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DEPTH</a:t>
            </a:r>
          </a:p>
        </p:txBody>
      </p:sp>
      <p:sp>
        <p:nvSpPr>
          <p:cNvPr id="5" name="TextBox 4"/>
          <p:cNvSpPr txBox="1"/>
          <p:nvPr/>
        </p:nvSpPr>
        <p:spPr>
          <a:xfrm>
            <a:off x="1618488" y="493776"/>
            <a:ext cx="8790127" cy="786384"/>
          </a:xfrm>
          <a:prstGeom prst="rect">
            <a:avLst/>
          </a:prstGeom>
          <a:noFill/>
        </p:spPr>
        <p:txBody>
          <a:bodyPr wrap="square" anchor="ctr" lIns="0" rIns="0" tIns="0" bIns="0">
            <a:spAutoFit/>
          </a:bodyPr>
          <a:lstStyle/>
          <a:p>
            <a:r>
              <a:rPr sz="2300" b="1">
                <a:solidFill>
                  <a:srgbClr val="1C1C1A"/>
                </a:solidFill>
                <a:latin typeface="Calibri"/>
              </a:rPr>
              <a:t>The traceback, one level deeper</a:t>
            </a:r>
          </a:p>
        </p:txBody>
      </p:sp>
      <p:sp>
        <p:nvSpPr>
          <p:cNvPr id="6" name="Rectangle 5"/>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685800" y="2466848"/>
            <a:ext cx="10820095" cy="2747264"/>
          </a:xfrm>
          <a:prstGeom prst="rect">
            <a:avLst/>
          </a:prstGeom>
          <a:noFill/>
        </p:spPr>
        <p:txBody>
          <a:bodyPr wrap="square" anchor="t" lIns="0" rIns="0" tIns="0" bIns="0">
            <a:spAutoFit/>
          </a:bodyPr>
          <a:lstStyle/>
          <a:p>
            <a:pPr>
              <a:spcAft>
                <a:spcPts val="900"/>
              </a:spcAft>
            </a:pPr>
            <a:r>
              <a:rPr sz="2000" b="0">
                <a:solidFill>
                  <a:srgbClr val="1C1C1A"/>
                </a:solidFill>
                <a:latin typeface="Calibri"/>
              </a:rPr>
              <a:t>An interviewer who wants to separate you from the room asks what a re-raised exception means, or why a traceback sometimes shows two failures joined by the line "During handling of the above exception, another exception occurred".</a:t>
            </a:r>
          </a:p>
          <a:p>
            <a:pPr>
              <a:spcAft>
                <a:spcPts val="900"/>
              </a:spcAft>
            </a:pPr>
            <a:r>
              <a:rPr sz="2000" b="0">
                <a:solidFill>
                  <a:srgbClr val="1C1C1A"/>
                </a:solidFill>
                <a:latin typeface="Calibri"/>
              </a:rPr>
              <a:t>The honest answer at your stage: that second form means an error happened inside an except block, and Python shows both so the original cause is not lost. Say that, and say you have not used chained exceptions in anger yet. Naming the edge of what you know is worth more than guessing at it.</a:t>
            </a:r>
          </a:p>
        </p:txBody>
      </p:sp>
      <p:sp>
        <p:nvSpPr>
          <p:cNvPr id="8" name="Rectangle 7"/>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2. Half one: package the logic, survive bad data</a:t>
            </a:r>
          </a:p>
        </p:txBody>
      </p:sp>
      <p:sp>
        <p:nvSpPr>
          <p:cNvPr id="10" name="TextBox 9"/>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57 / 67</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S30</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2300" b="1">
                <a:solidFill>
                  <a:srgbClr val="1C1C1A"/>
                </a:solidFill>
                <a:latin typeface="Calibri"/>
              </a:rPr>
              <a:t>Question: why is a bare except worse than a crash?</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685800" y="2474976"/>
            <a:ext cx="10820095" cy="2731008"/>
          </a:xfrm>
          <a:prstGeom prst="rect">
            <a:avLst/>
          </a:prstGeom>
          <a:noFill/>
        </p:spPr>
        <p:txBody>
          <a:bodyPr wrap="square" anchor="t" lIns="0" rIns="0" tIns="0" bIns="0">
            <a:spAutoFit/>
          </a:bodyPr>
          <a:lstStyle/>
          <a:p>
            <a:pPr>
              <a:spcAft>
                <a:spcPts val="900"/>
              </a:spcAft>
            </a:pPr>
            <a:r>
              <a:rPr sz="2000" b="0">
                <a:solidFill>
                  <a:srgbClr val="1C1C1A"/>
                </a:solidFill>
                <a:latin typeface="Calibri"/>
              </a:rPr>
              <a:t>Both cells below ran to the end. Which of these is the strongest reason to prefer the crash?</a:t>
            </a:r>
          </a:p>
          <a:p>
            <a:pPr>
              <a:spcAft>
                <a:spcPts val="900"/>
              </a:spcAft>
            </a:pPr>
            <a:r>
              <a:rPr sz="2000" b="0">
                <a:solidFill>
                  <a:srgbClr val="1C1C1A"/>
                </a:solidFill>
                <a:latin typeface="Calibri"/>
              </a:rPr>
              <a:t>a) The crash is faster to write</a:t>
            </a:r>
          </a:p>
          <a:p>
            <a:pPr>
              <a:spcAft>
                <a:spcPts val="900"/>
              </a:spcAft>
            </a:pPr>
            <a:r>
              <a:rPr sz="2000" b="0">
                <a:solidFill>
                  <a:srgbClr val="1C1C1A"/>
                </a:solidFill>
                <a:latin typeface="Calibri"/>
              </a:rPr>
              <a:t>b) The crash stops a wrong number from travelling</a:t>
            </a:r>
          </a:p>
          <a:p>
            <a:pPr>
              <a:spcAft>
                <a:spcPts val="900"/>
              </a:spcAft>
            </a:pPr>
            <a:r>
              <a:rPr sz="2000" b="0">
                <a:solidFill>
                  <a:srgbClr val="1C1C1A"/>
                </a:solidFill>
                <a:latin typeface="Calibri"/>
              </a:rPr>
              <a:t>c) A bare except is against the style guide</a:t>
            </a:r>
          </a:p>
          <a:p>
            <a:pPr>
              <a:spcAft>
                <a:spcPts val="900"/>
              </a:spcAft>
            </a:pPr>
            <a:r>
              <a:rPr sz="2000" b="0">
                <a:solidFill>
                  <a:srgbClr val="1C1C1A"/>
                </a:solidFill>
                <a:latin typeface="Calibri"/>
              </a:rPr>
              <a:t>d) A bare except is slower on large files</a:t>
            </a:r>
          </a:p>
        </p:txBody>
      </p:sp>
      <p:sp>
        <p:nvSpPr>
          <p:cNvPr id="7" name="Rectangle 6"/>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2. Half one: package the logic, survive bad data</a:t>
            </a:r>
          </a:p>
        </p:txBody>
      </p:sp>
      <p:sp>
        <p:nvSpPr>
          <p:cNvPr id="9" name="TextBox 8"/>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58 / 67</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S30a</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2300" b="1">
                <a:solidFill>
                  <a:srgbClr val="1C1C1A"/>
                </a:solidFill>
                <a:latin typeface="Calibri"/>
              </a:rPr>
              <a:t>Answer: the crash stops a wrong number</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685800" y="1627632"/>
            <a:ext cx="10820095" cy="706628"/>
          </a:xfrm>
          <a:prstGeom prst="rect">
            <a:avLst/>
          </a:prstGeom>
          <a:solidFill>
            <a:srgbClr val="E4EC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685800" y="1627632"/>
            <a:ext cx="50292" cy="706628"/>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941832" y="1719072"/>
            <a:ext cx="10362895" cy="560324"/>
          </a:xfrm>
          <a:prstGeom prst="rect">
            <a:avLst/>
          </a:prstGeom>
          <a:noFill/>
        </p:spPr>
        <p:txBody>
          <a:bodyPr wrap="square" anchor="ctr" lIns="0" rIns="0" tIns="0" bIns="0">
            <a:spAutoFit/>
          </a:bodyPr>
          <a:lstStyle/>
          <a:p>
            <a:r>
              <a:rPr sz="1300" b="1">
                <a:solidFill>
                  <a:srgbClr val="2B4A7D"/>
                </a:solidFill>
                <a:latin typeface="Calibri"/>
              </a:rPr>
              <a:t>The claim. </a:t>
            </a:r>
            <a:r>
              <a:rPr sz="1300" b="0">
                <a:solidFill>
                  <a:srgbClr val="1C1C1A"/>
                </a:solidFill>
                <a:latin typeface="Calibri"/>
              </a:rPr>
              <a:t>A crash is loud and it stops the wrong number from travelling. A bare except catches errors nobody reasoned about and leaves the program producing a plausible number nobody questions.</a:t>
            </a:r>
          </a:p>
        </p:txBody>
      </p:sp>
      <p:sp>
        <p:nvSpPr>
          <p:cNvPr id="9" name="Rectangle 8"/>
          <p:cNvSpPr/>
          <p:nvPr/>
        </p:nvSpPr>
        <p:spPr>
          <a:xfrm>
            <a:off x="685800" y="2498852"/>
            <a:ext cx="10820095" cy="652780"/>
          </a:xfrm>
          <a:prstGeom prst="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ectangle 9"/>
          <p:cNvSpPr/>
          <p:nvPr/>
        </p:nvSpPr>
        <p:spPr>
          <a:xfrm>
            <a:off x="685800" y="2498852"/>
            <a:ext cx="50292" cy="652780"/>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923544" y="2599436"/>
            <a:ext cx="10417759" cy="469899"/>
          </a:xfrm>
          <a:prstGeom prst="rect">
            <a:avLst/>
          </a:prstGeom>
          <a:noFill/>
        </p:spPr>
        <p:txBody>
          <a:bodyPr wrap="square" anchor="t" lIns="0" rIns="0" tIns="0" bIns="0">
            <a:spAutoFit/>
          </a:bodyPr>
          <a:lstStyle/>
          <a:p>
            <a:pPr>
              <a:spcAft>
                <a:spcPts val="200"/>
              </a:spcAft>
            </a:pPr>
            <a:r>
              <a:rPr sz="1100" b="0">
                <a:solidFill>
                  <a:srgbClr val="E4ECF7"/>
                </a:solidFill>
                <a:latin typeface="Consolas"/>
              </a:rPr>
              <a:t>bare except:    Processed 30 records. Total: 53745</a:t>
            </a:r>
          </a:p>
          <a:p>
            <a:pPr>
              <a:spcAft>
                <a:spcPts val="200"/>
              </a:spcAft>
            </a:pPr>
            <a:r>
              <a:rPr sz="1100" b="0">
                <a:solidFill>
                  <a:srgbClr val="E4ECF7"/>
                </a:solidFill>
                <a:latin typeface="Consolas"/>
              </a:rPr>
              <a:t>named except:   Clean 28, rejected 2, total 53745</a:t>
            </a:r>
          </a:p>
        </p:txBody>
      </p:sp>
      <p:graphicFrame>
        <p:nvGraphicFramePr>
          <p:cNvPr id="12" name="Table 11"/>
          <p:cNvGraphicFramePr>
            <a:graphicFrameLocks noGrp="1"/>
          </p:cNvGraphicFramePr>
          <p:nvPr/>
        </p:nvGraphicFramePr>
        <p:xfrm>
          <a:off x="685800" y="3316224"/>
          <a:ext cx="10820094" cy="1243584"/>
        </p:xfrm>
        <a:graphic>
          <a:graphicData uri="http://schemas.openxmlformats.org/drawingml/2006/table">
            <a:tbl>
              <a:tblPr firstRow="0" bandRow="0">
                <a:tableStyleId>{2D5ABB26-0587-4C30-8999-92F81FD0307C}</a:tableStyleId>
              </a:tblPr>
              <a:tblGrid>
                <a:gridCol w="3226631"/>
                <a:gridCol w="7593463"/>
              </a:tblGrid>
              <a:tr h="310896">
                <a:tc>
                  <a:txBody>
                    <a:bodyPr/>
                    <a:lstStyle/>
                    <a:p>
                      <a:r>
                        <a:rPr sz="1000" b="1">
                          <a:solidFill>
                            <a:srgbClr val="FFFFFF"/>
                          </a:solidFill>
                          <a:latin typeface="Calibri"/>
                        </a:rPr>
                        <a:t>Option</a:t>
                      </a:r>
                    </a:p>
                  </a:txBody>
                  <a:tcPr marL="101600" marR="101600" marT="38100" marB="38100" anchor="ctr">
                    <a:solidFill>
                      <a:srgbClr val="2B4A7D"/>
                    </a:solidFill>
                  </a:tcPr>
                </a:tc>
                <a:tc>
                  <a:txBody>
                    <a:bodyPr/>
                    <a:lstStyle/>
                    <a:p>
                      <a:r>
                        <a:rPr sz="1000" b="1">
                          <a:solidFill>
                            <a:srgbClr val="FFFFFF"/>
                          </a:solidFill>
                          <a:latin typeface="Calibri"/>
                        </a:rPr>
                        <a:t>Why it does not hold</a:t>
                      </a:r>
                    </a:p>
                  </a:txBody>
                  <a:tcPr marL="101600" marR="101600" marT="38100" marB="38100" anchor="ctr">
                    <a:solidFill>
                      <a:srgbClr val="2B4A7D"/>
                    </a:solidFill>
                  </a:tcPr>
                </a:tc>
              </a:tr>
              <a:tr h="310896">
                <a:tc>
                  <a:txBody>
                    <a:bodyPr/>
                    <a:lstStyle/>
                    <a:p>
                      <a:r>
                        <a:rPr sz="900" b="0">
                          <a:solidFill>
                            <a:srgbClr val="1C1C1A"/>
                          </a:solidFill>
                          <a:latin typeface="Calibri"/>
                        </a:rPr>
                        <a:t>a) Faster to write</a:t>
                      </a:r>
                    </a:p>
                  </a:txBody>
                  <a:tcPr marL="101600" marR="101600" marT="38100" marB="38100" anchor="ctr">
                    <a:solidFill>
                      <a:srgbClr val="FFFFFF"/>
                    </a:solidFill>
                  </a:tcPr>
                </a:tc>
                <a:tc>
                  <a:txBody>
                    <a:bodyPr/>
                    <a:lstStyle/>
                    <a:p>
                      <a:r>
                        <a:rPr sz="900" b="0">
                          <a:solidFill>
                            <a:srgbClr val="1C1C1A"/>
                          </a:solidFill>
                          <a:latin typeface="Calibri"/>
                        </a:rPr>
                        <a:t>True and irrelevant. Both are one line.</a:t>
                      </a:r>
                    </a:p>
                  </a:txBody>
                  <a:tcPr marL="101600" marR="101600" marT="38100" marB="38100" anchor="ctr">
                    <a:solidFill>
                      <a:srgbClr val="FFFFFF"/>
                    </a:solidFill>
                  </a:tcPr>
                </a:tc>
              </a:tr>
              <a:tr h="310896">
                <a:tc>
                  <a:txBody>
                    <a:bodyPr/>
                    <a:lstStyle/>
                    <a:p>
                      <a:r>
                        <a:rPr sz="900" b="0">
                          <a:solidFill>
                            <a:srgbClr val="1C1C1A"/>
                          </a:solidFill>
                          <a:latin typeface="Calibri"/>
                        </a:rPr>
                        <a:t>c) The style guide</a:t>
                      </a:r>
                    </a:p>
                  </a:txBody>
                  <a:tcPr marL="101600" marR="101600" marT="38100" marB="38100" anchor="ctr">
                    <a:solidFill>
                      <a:srgbClr val="F7F7F5"/>
                    </a:solidFill>
                  </a:tcPr>
                </a:tc>
                <a:tc>
                  <a:txBody>
                    <a:bodyPr/>
                    <a:lstStyle/>
                    <a:p>
                      <a:r>
                        <a:rPr sz="900" b="0">
                          <a:solidFill>
                            <a:srgbClr val="1C1C1A"/>
                          </a:solidFill>
                          <a:latin typeface="Calibri"/>
                        </a:rPr>
                        <a:t>An appeal to authority, which loses the argument in a review.</a:t>
                      </a:r>
                    </a:p>
                  </a:txBody>
                  <a:tcPr marL="101600" marR="101600" marT="38100" marB="38100" anchor="ctr">
                    <a:solidFill>
                      <a:srgbClr val="F7F7F5"/>
                    </a:solidFill>
                  </a:tcPr>
                </a:tc>
              </a:tr>
              <a:tr h="310896">
                <a:tc>
                  <a:txBody>
                    <a:bodyPr/>
                    <a:lstStyle/>
                    <a:p>
                      <a:r>
                        <a:rPr sz="900" b="0">
                          <a:solidFill>
                            <a:srgbClr val="1C1C1A"/>
                          </a:solidFill>
                          <a:latin typeface="Calibri"/>
                        </a:rPr>
                        <a:t>d) Slower on large files</a:t>
                      </a:r>
                    </a:p>
                  </a:txBody>
                  <a:tcPr marL="101600" marR="101600" marT="38100" marB="38100" anchor="ctr">
                    <a:solidFill>
                      <a:srgbClr val="FFFFFF"/>
                    </a:solidFill>
                  </a:tcPr>
                </a:tc>
                <a:tc>
                  <a:txBody>
                    <a:bodyPr/>
                    <a:lstStyle/>
                    <a:p>
                      <a:r>
                        <a:rPr sz="900" b="0">
                          <a:solidFill>
                            <a:srgbClr val="1C1C1A"/>
                          </a:solidFill>
                          <a:latin typeface="Calibri"/>
                        </a:rPr>
                        <a:t>Invented, and it would not matter if it were true.</a:t>
                      </a:r>
                    </a:p>
                  </a:txBody>
                  <a:tcPr marL="101600" marR="101600" marT="38100" marB="38100" anchor="ctr">
                    <a:solidFill>
                      <a:srgbClr val="FFFFFF"/>
                    </a:solidFill>
                  </a:tcPr>
                </a:tc>
              </a:tr>
            </a:tbl>
          </a:graphicData>
        </a:graphic>
      </p:graphicFrame>
      <p:sp>
        <p:nvSpPr>
          <p:cNvPr id="13" name="Rectangle 12"/>
          <p:cNvSpPr/>
          <p:nvPr/>
        </p:nvSpPr>
        <p:spPr>
          <a:xfrm>
            <a:off x="685800" y="4815840"/>
            <a:ext cx="10820095" cy="706628"/>
          </a:xfrm>
          <a:prstGeom prst="rect">
            <a:avLst/>
          </a:prstGeom>
          <a:solidFill>
            <a:srgbClr val="E4EC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Rectangle 13"/>
          <p:cNvSpPr/>
          <p:nvPr/>
        </p:nvSpPr>
        <p:spPr>
          <a:xfrm>
            <a:off x="685800" y="4815840"/>
            <a:ext cx="50292" cy="706628"/>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941832" y="4907280"/>
            <a:ext cx="10362895" cy="560324"/>
          </a:xfrm>
          <a:prstGeom prst="rect">
            <a:avLst/>
          </a:prstGeom>
          <a:noFill/>
        </p:spPr>
        <p:txBody>
          <a:bodyPr wrap="square" anchor="ctr" lIns="0" rIns="0" tIns="0" bIns="0">
            <a:spAutoFit/>
          </a:bodyPr>
          <a:lstStyle/>
          <a:p>
            <a:r>
              <a:rPr sz="1300" b="1">
                <a:solidFill>
                  <a:srgbClr val="2B4A7D"/>
                </a:solidFill>
                <a:latin typeface="Calibri"/>
              </a:rPr>
              <a:t>The mental model. </a:t>
            </a:r>
            <a:r>
              <a:rPr sz="1300" b="0">
                <a:solidFill>
                  <a:srgbClr val="1C1C1A"/>
                </a:solidFill>
                <a:latin typeface="Calibri"/>
              </a:rPr>
              <a:t>Same total, and one of them is a lie about its own denominator. Say the two numbers, then say the identity: input equals clean plus rejected.</a:t>
            </a:r>
          </a:p>
        </p:txBody>
      </p:sp>
      <p:pic>
        <p:nvPicPr>
          <p:cNvPr id="16" name="Picture 15" descr="73069a82f8c45599.png"/>
          <p:cNvPicPr>
            <a:picLocks noChangeAspect="1"/>
          </p:cNvPicPr>
          <p:nvPr/>
        </p:nvPicPr>
        <p:blipFill>
          <a:blip r:embed="rId2"/>
          <a:stretch>
            <a:fillRect/>
          </a:stretch>
        </p:blipFill>
        <p:spPr>
          <a:xfrm>
            <a:off x="2736721" y="5687060"/>
            <a:ext cx="6718252" cy="1097280"/>
          </a:xfrm>
          <a:prstGeom prst="rect">
            <a:avLst/>
          </a:prstGeom>
        </p:spPr>
      </p:pic>
      <p:sp>
        <p:nvSpPr>
          <p:cNvPr id="17" name="Rectangle 16"/>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2. Half one: package the logic, survive bad data</a:t>
            </a:r>
          </a:p>
        </p:txBody>
      </p:sp>
      <p:sp>
        <p:nvSpPr>
          <p:cNvPr id="19" name="TextBox 18"/>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59 / 67</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D23</a:t>
            </a:r>
          </a:p>
        </p:txBody>
      </p:sp>
      <p:sp>
        <p:nvSpPr>
          <p:cNvPr id="4" name="Rounded Rectangle 3"/>
          <p:cNvSpPr/>
          <p:nvPr/>
        </p:nvSpPr>
        <p:spPr>
          <a:xfrm>
            <a:off x="10573207" y="603504"/>
            <a:ext cx="932688" cy="274320"/>
          </a:xfrm>
          <a:prstGeom prst="round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DEPTH</a:t>
            </a:r>
          </a:p>
        </p:txBody>
      </p:sp>
      <p:sp>
        <p:nvSpPr>
          <p:cNvPr id="5" name="TextBox 4"/>
          <p:cNvSpPr txBox="1"/>
          <p:nvPr/>
        </p:nvSpPr>
        <p:spPr>
          <a:xfrm>
            <a:off x="1618488" y="493776"/>
            <a:ext cx="8790127" cy="786384"/>
          </a:xfrm>
          <a:prstGeom prst="rect">
            <a:avLst/>
          </a:prstGeom>
          <a:noFill/>
        </p:spPr>
        <p:txBody>
          <a:bodyPr wrap="square" anchor="ctr" lIns="0" rIns="0" tIns="0" bIns="0">
            <a:spAutoFit/>
          </a:bodyPr>
          <a:lstStyle/>
          <a:p>
            <a:r>
              <a:rPr sz="2300" b="1">
                <a:solidFill>
                  <a:srgbClr val="1C1C1A"/>
                </a:solidFill>
                <a:latin typeface="Calibri"/>
              </a:rPr>
              <a:t>The numbers that make the bare except land</a:t>
            </a:r>
          </a:p>
        </p:txBody>
      </p:sp>
      <p:sp>
        <p:nvSpPr>
          <p:cNvPr id="6" name="Rectangle 5"/>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685800" y="2367280"/>
            <a:ext cx="10820095" cy="910336"/>
          </a:xfrm>
          <a:prstGeom prst="rect">
            <a:avLst/>
          </a:prstGeom>
          <a:noFill/>
        </p:spPr>
        <p:txBody>
          <a:bodyPr wrap="square" anchor="t" lIns="0" rIns="0" tIns="0" bIns="0">
            <a:spAutoFit/>
          </a:bodyPr>
          <a:lstStyle/>
          <a:p>
            <a:pPr>
              <a:spcAft>
                <a:spcPts val="900"/>
              </a:spcAft>
            </a:pPr>
            <a:r>
              <a:rPr sz="2000" b="0">
                <a:solidFill>
                  <a:srgbClr val="1C1C1A"/>
                </a:solidFill>
                <a:latin typeface="Calibri"/>
              </a:rPr>
              <a:t>Bring the arithmetic, not the adjective. The claim "it hides errors" is a slogan. The claim below is evidence.</a:t>
            </a:r>
          </a:p>
        </p:txBody>
      </p:sp>
      <p:sp>
        <p:nvSpPr>
          <p:cNvPr id="8" name="Rectangle 7"/>
          <p:cNvSpPr/>
          <p:nvPr/>
        </p:nvSpPr>
        <p:spPr>
          <a:xfrm>
            <a:off x="685800" y="3405632"/>
            <a:ext cx="10820095" cy="833120"/>
          </a:xfrm>
          <a:prstGeom prst="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685800" y="3405632"/>
            <a:ext cx="50292" cy="833120"/>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923544" y="3506216"/>
            <a:ext cx="10417759" cy="650239"/>
          </a:xfrm>
          <a:prstGeom prst="rect">
            <a:avLst/>
          </a:prstGeom>
          <a:noFill/>
        </p:spPr>
        <p:txBody>
          <a:bodyPr wrap="square" anchor="t" lIns="0" rIns="0" tIns="0" bIns="0">
            <a:spAutoFit/>
          </a:bodyPr>
          <a:lstStyle/>
          <a:p>
            <a:pPr>
              <a:spcAft>
                <a:spcPts val="200"/>
              </a:spcAft>
            </a:pPr>
            <a:r>
              <a:rPr sz="1600" b="0">
                <a:solidFill>
                  <a:srgbClr val="E4ECF7"/>
                </a:solidFill>
                <a:latin typeface="Consolas"/>
              </a:rPr>
              <a:t>bare except:    Processed 30 records. Total: 53745</a:t>
            </a:r>
          </a:p>
          <a:p>
            <a:pPr>
              <a:spcAft>
                <a:spcPts val="200"/>
              </a:spcAft>
            </a:pPr>
            <a:r>
              <a:rPr sz="1600" b="0">
                <a:solidFill>
                  <a:srgbClr val="E4ECF7"/>
                </a:solidFill>
                <a:latin typeface="Consolas"/>
              </a:rPr>
              <a:t>named except:   Clean 28, rejected 2, total 53745</a:t>
            </a:r>
          </a:p>
        </p:txBody>
      </p:sp>
      <p:sp>
        <p:nvSpPr>
          <p:cNvPr id="11" name="TextBox 10"/>
          <p:cNvSpPr txBox="1"/>
          <p:nvPr/>
        </p:nvSpPr>
        <p:spPr>
          <a:xfrm>
            <a:off x="685800" y="4403344"/>
            <a:ext cx="10820095" cy="910336"/>
          </a:xfrm>
          <a:prstGeom prst="rect">
            <a:avLst/>
          </a:prstGeom>
          <a:noFill/>
        </p:spPr>
        <p:txBody>
          <a:bodyPr wrap="square" anchor="t" lIns="0" rIns="0" tIns="0" bIns="0">
            <a:spAutoFit/>
          </a:bodyPr>
          <a:lstStyle/>
          <a:p>
            <a:pPr>
              <a:spcAft>
                <a:spcPts val="900"/>
              </a:spcAft>
            </a:pPr>
            <a:r>
              <a:rPr sz="2000" b="0">
                <a:solidFill>
                  <a:srgbClr val="1C1C1A"/>
                </a:solidFill>
                <a:latin typeface="Calibri"/>
              </a:rPr>
              <a:t>Same total, and one of them is a lie about its own denominator. Say the two numbers, then say the identity: input equals clean plus rejected.</a:t>
            </a:r>
          </a:p>
        </p:txBody>
      </p:sp>
      <p:sp>
        <p:nvSpPr>
          <p:cNvPr id="12" name="Rectangle 11"/>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2. Half one: package the logic, survive bad data</a:t>
            </a:r>
          </a:p>
        </p:txBody>
      </p:sp>
      <p:sp>
        <p:nvSpPr>
          <p:cNvPr id="14" name="TextBox 13"/>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60 / 67</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S31</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2300" b="1">
                <a:solidFill>
                  <a:srgbClr val="1C1C1A"/>
                </a:solidFill>
                <a:latin typeface="Calibri"/>
              </a:rPr>
              <a:t>Question: return against print, what differs?</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685800" y="2647696"/>
            <a:ext cx="10820095" cy="2385568"/>
          </a:xfrm>
          <a:prstGeom prst="rect">
            <a:avLst/>
          </a:prstGeom>
          <a:noFill/>
        </p:spPr>
        <p:txBody>
          <a:bodyPr wrap="square" anchor="t" lIns="0" rIns="0" tIns="0" bIns="0">
            <a:spAutoFit/>
          </a:bodyPr>
          <a:lstStyle/>
          <a:p>
            <a:pPr>
              <a:spcAft>
                <a:spcPts val="900"/>
              </a:spcAft>
            </a:pPr>
            <a:r>
              <a:rPr sz="2000" b="0">
                <a:solidFill>
                  <a:srgbClr val="1C1C1A"/>
                </a:solidFill>
                <a:latin typeface="Calibri"/>
              </a:rPr>
              <a:t>A function calls print and nothing else. What does its caller receive?</a:t>
            </a:r>
          </a:p>
          <a:p>
            <a:pPr>
              <a:spcAft>
                <a:spcPts val="900"/>
              </a:spcAft>
            </a:pPr>
            <a:r>
              <a:rPr sz="2000" b="0">
                <a:solidFill>
                  <a:srgbClr val="1C1C1A"/>
                </a:solidFill>
                <a:latin typeface="Calibri"/>
              </a:rPr>
              <a:t>a) The value that was printed</a:t>
            </a:r>
          </a:p>
          <a:p>
            <a:pPr>
              <a:spcAft>
                <a:spcPts val="900"/>
              </a:spcAft>
            </a:pPr>
            <a:r>
              <a:rPr sz="2000" b="0">
                <a:solidFill>
                  <a:srgbClr val="1C1C1A"/>
                </a:solidFill>
                <a:latin typeface="Calibri"/>
              </a:rPr>
              <a:t>b) The record it passed in</a:t>
            </a:r>
          </a:p>
          <a:p>
            <a:pPr>
              <a:spcAft>
                <a:spcPts val="900"/>
              </a:spcAft>
            </a:pPr>
            <a:r>
              <a:rPr sz="2000" b="0">
                <a:solidFill>
                  <a:srgbClr val="1C1C1A"/>
                </a:solidFill>
                <a:latin typeface="Calibri"/>
              </a:rPr>
              <a:t>c) None</a:t>
            </a:r>
          </a:p>
          <a:p>
            <a:pPr>
              <a:spcAft>
                <a:spcPts val="900"/>
              </a:spcAft>
            </a:pPr>
            <a:r>
              <a:rPr sz="2000" b="0">
                <a:solidFill>
                  <a:srgbClr val="1C1C1A"/>
                </a:solidFill>
                <a:latin typeface="Calibri"/>
              </a:rPr>
              <a:t>d) Nothing at all, and the next line is skipped</a:t>
            </a:r>
          </a:p>
        </p:txBody>
      </p:sp>
      <p:sp>
        <p:nvSpPr>
          <p:cNvPr id="7" name="Rectangle 6"/>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2. Half one: package the logic, survive bad data</a:t>
            </a:r>
          </a:p>
        </p:txBody>
      </p:sp>
      <p:sp>
        <p:nvSpPr>
          <p:cNvPr id="9" name="TextBox 8"/>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61 / 67</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S31a</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2300" b="1">
                <a:solidFill>
                  <a:srgbClr val="1C1C1A"/>
                </a:solidFill>
                <a:latin typeface="Calibri"/>
              </a:rPr>
              <a:t>Answer: None, which is why the next line raises</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685800" y="1627632"/>
            <a:ext cx="10820095" cy="850899"/>
          </a:xfrm>
          <a:prstGeom prst="rect">
            <a:avLst/>
          </a:prstGeom>
          <a:solidFill>
            <a:srgbClr val="E4EC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685800" y="1627632"/>
            <a:ext cx="50292" cy="850899"/>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941832" y="1719072"/>
            <a:ext cx="10362895" cy="704595"/>
          </a:xfrm>
          <a:prstGeom prst="rect">
            <a:avLst/>
          </a:prstGeom>
          <a:noFill/>
        </p:spPr>
        <p:txBody>
          <a:bodyPr wrap="square" anchor="ctr" lIns="0" rIns="0" tIns="0" bIns="0">
            <a:spAutoFit/>
          </a:bodyPr>
          <a:lstStyle/>
          <a:p>
            <a:r>
              <a:rPr sz="1700" b="1">
                <a:solidFill>
                  <a:srgbClr val="2B4A7D"/>
                </a:solidFill>
                <a:latin typeface="Calibri"/>
              </a:rPr>
              <a:t>The claim. </a:t>
            </a:r>
            <a:r>
              <a:rPr sz="1700" b="0">
                <a:solidFill>
                  <a:srgbClr val="1C1C1A"/>
                </a:solidFill>
                <a:latin typeface="Calibri"/>
              </a:rPr>
              <a:t>print writes to the screen for a person and hands nothing back. return gives a value to the line that called the function. A function that only prints hands back None.</a:t>
            </a:r>
          </a:p>
        </p:txBody>
      </p:sp>
      <p:graphicFrame>
        <p:nvGraphicFramePr>
          <p:cNvPr id="9" name="Table 8"/>
          <p:cNvGraphicFramePr>
            <a:graphicFrameLocks noGrp="1"/>
          </p:cNvGraphicFramePr>
          <p:nvPr/>
        </p:nvGraphicFramePr>
        <p:xfrm>
          <a:off x="685800" y="2643124"/>
          <a:ext cx="10820094" cy="1243584"/>
        </p:xfrm>
        <a:graphic>
          <a:graphicData uri="http://schemas.openxmlformats.org/drawingml/2006/table">
            <a:tbl>
              <a:tblPr firstRow="0" bandRow="0">
                <a:tableStyleId>{2D5ABB26-0587-4C30-8999-92F81FD0307C}</a:tableStyleId>
              </a:tblPr>
              <a:tblGrid>
                <a:gridCol w="3024659"/>
                <a:gridCol w="7795435"/>
              </a:tblGrid>
              <a:tr h="310896">
                <a:tc>
                  <a:txBody>
                    <a:bodyPr/>
                    <a:lstStyle/>
                    <a:p>
                      <a:r>
                        <a:rPr sz="1000" b="1">
                          <a:solidFill>
                            <a:srgbClr val="FFFFFF"/>
                          </a:solidFill>
                          <a:latin typeface="Calibri"/>
                        </a:rPr>
                        <a:t>Option</a:t>
                      </a:r>
                    </a:p>
                  </a:txBody>
                  <a:tcPr marL="101600" marR="101600" marT="38100" marB="38100" anchor="ctr">
                    <a:solidFill>
                      <a:srgbClr val="2B4A7D"/>
                    </a:solidFill>
                  </a:tcPr>
                </a:tc>
                <a:tc>
                  <a:txBody>
                    <a:bodyPr/>
                    <a:lstStyle/>
                    <a:p>
                      <a:r>
                        <a:rPr sz="1000" b="1">
                          <a:solidFill>
                            <a:srgbClr val="FFFFFF"/>
                          </a:solidFill>
                          <a:latin typeface="Calibri"/>
                        </a:rPr>
                        <a:t>Why it does not hold</a:t>
                      </a:r>
                    </a:p>
                  </a:txBody>
                  <a:tcPr marL="101600" marR="101600" marT="38100" marB="38100" anchor="ctr">
                    <a:solidFill>
                      <a:srgbClr val="2B4A7D"/>
                    </a:solidFill>
                  </a:tcPr>
                </a:tc>
              </a:tr>
              <a:tr h="310896">
                <a:tc>
                  <a:txBody>
                    <a:bodyPr/>
                    <a:lstStyle/>
                    <a:p>
                      <a:r>
                        <a:rPr sz="900" b="0">
                          <a:solidFill>
                            <a:srgbClr val="1C1C1A"/>
                          </a:solidFill>
                          <a:latin typeface="Calibri"/>
                        </a:rPr>
                        <a:t>a) The printed value</a:t>
                      </a:r>
                    </a:p>
                  </a:txBody>
                  <a:tcPr marL="101600" marR="101600" marT="38100" marB="38100" anchor="ctr">
                    <a:solidFill>
                      <a:srgbClr val="FFFFFF"/>
                    </a:solidFill>
                  </a:tcPr>
                </a:tc>
                <a:tc>
                  <a:txBody>
                    <a:bodyPr/>
                    <a:lstStyle/>
                    <a:p>
                      <a:r>
                        <a:rPr sz="900" b="0">
                          <a:solidFill>
                            <a:srgbClr val="1C1C1A"/>
                          </a:solidFill>
                          <a:latin typeface="Calibri"/>
                        </a:rPr>
                        <a:t>It went to the screen, which the caller cannot read.</a:t>
                      </a:r>
                    </a:p>
                  </a:txBody>
                  <a:tcPr marL="101600" marR="101600" marT="38100" marB="38100" anchor="ctr">
                    <a:solidFill>
                      <a:srgbClr val="FFFFFF"/>
                    </a:solidFill>
                  </a:tcPr>
                </a:tc>
              </a:tr>
              <a:tr h="310896">
                <a:tc>
                  <a:txBody>
                    <a:bodyPr/>
                    <a:lstStyle/>
                    <a:p>
                      <a:r>
                        <a:rPr sz="900" b="0">
                          <a:solidFill>
                            <a:srgbClr val="1C1C1A"/>
                          </a:solidFill>
                          <a:latin typeface="Calibri"/>
                        </a:rPr>
                        <a:t>b) The record</a:t>
                      </a:r>
                    </a:p>
                  </a:txBody>
                  <a:tcPr marL="101600" marR="101600" marT="38100" marB="38100" anchor="ctr">
                    <a:solidFill>
                      <a:srgbClr val="F7F7F5"/>
                    </a:solidFill>
                  </a:tcPr>
                </a:tc>
                <a:tc>
                  <a:txBody>
                    <a:bodyPr/>
                    <a:lstStyle/>
                    <a:p>
                      <a:r>
                        <a:rPr sz="900" b="0">
                          <a:solidFill>
                            <a:srgbClr val="1C1C1A"/>
                          </a:solidFill>
                          <a:latin typeface="Calibri"/>
                        </a:rPr>
                        <a:t>Confuses the argument with the return.</a:t>
                      </a:r>
                    </a:p>
                  </a:txBody>
                  <a:tcPr marL="101600" marR="101600" marT="38100" marB="38100" anchor="ctr">
                    <a:solidFill>
                      <a:srgbClr val="F7F7F5"/>
                    </a:solidFill>
                  </a:tcPr>
                </a:tc>
              </a:tr>
              <a:tr h="310896">
                <a:tc>
                  <a:txBody>
                    <a:bodyPr/>
                    <a:lstStyle/>
                    <a:p>
                      <a:r>
                        <a:rPr sz="900" b="0">
                          <a:solidFill>
                            <a:srgbClr val="1C1C1A"/>
                          </a:solidFill>
                          <a:latin typeface="Calibri"/>
                        </a:rPr>
                        <a:t>d) The line is skipped</a:t>
                      </a:r>
                    </a:p>
                  </a:txBody>
                  <a:tcPr marL="101600" marR="101600" marT="38100" marB="38100" anchor="ctr">
                    <a:solidFill>
                      <a:srgbClr val="FFFFFF"/>
                    </a:solidFill>
                  </a:tcPr>
                </a:tc>
                <a:tc>
                  <a:txBody>
                    <a:bodyPr/>
                    <a:lstStyle/>
                    <a:p>
                      <a:r>
                        <a:rPr sz="900" b="0">
                          <a:solidFill>
                            <a:srgbClr val="1C1C1A"/>
                          </a:solidFill>
                          <a:latin typeface="Calibri"/>
                        </a:rPr>
                        <a:t>Python runs the next line, which is why result["order_id"] raises TypeError: 'NoneType' object is not subscriptable.</a:t>
                      </a:r>
                    </a:p>
                  </a:txBody>
                  <a:tcPr marL="101600" marR="101600" marT="38100" marB="38100" anchor="ctr">
                    <a:solidFill>
                      <a:srgbClr val="FFFFFF"/>
                    </a:solidFill>
                  </a:tcPr>
                </a:tc>
              </a:tr>
            </a:tbl>
          </a:graphicData>
        </a:graphic>
      </p:graphicFrame>
      <p:sp>
        <p:nvSpPr>
          <p:cNvPr id="10" name="Rectangle 9"/>
          <p:cNvSpPr/>
          <p:nvPr/>
        </p:nvSpPr>
        <p:spPr>
          <a:xfrm>
            <a:off x="685800" y="4142740"/>
            <a:ext cx="10820095" cy="544322"/>
          </a:xfrm>
          <a:prstGeom prst="rect">
            <a:avLst/>
          </a:prstGeom>
          <a:solidFill>
            <a:srgbClr val="E4EC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ectangle 10"/>
          <p:cNvSpPr/>
          <p:nvPr/>
        </p:nvSpPr>
        <p:spPr>
          <a:xfrm>
            <a:off x="685800" y="4142740"/>
            <a:ext cx="50292" cy="544322"/>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941832" y="4234180"/>
            <a:ext cx="10362895" cy="398018"/>
          </a:xfrm>
          <a:prstGeom prst="rect">
            <a:avLst/>
          </a:prstGeom>
          <a:noFill/>
        </p:spPr>
        <p:txBody>
          <a:bodyPr wrap="square" anchor="ctr" lIns="0" rIns="0" tIns="0" bIns="0">
            <a:spAutoFit/>
          </a:bodyPr>
          <a:lstStyle/>
          <a:p>
            <a:r>
              <a:rPr sz="1700" b="1">
                <a:solidFill>
                  <a:srgbClr val="2B4A7D"/>
                </a:solidFill>
                <a:latin typeface="Calibri"/>
              </a:rPr>
              <a:t>The mental model. </a:t>
            </a:r>
            <a:r>
              <a:rPr sz="1700" b="0">
                <a:solidFill>
                  <a:srgbClr val="1C1C1A"/>
                </a:solidFill>
                <a:latin typeface="Calibri"/>
              </a:rPr>
              <a:t>Print shows you. Return hands over.</a:t>
            </a:r>
          </a:p>
        </p:txBody>
      </p:sp>
      <p:pic>
        <p:nvPicPr>
          <p:cNvPr id="13" name="Picture 12" descr="1910aa70296a0b2d.png"/>
          <p:cNvPicPr>
            <a:picLocks noChangeAspect="1"/>
          </p:cNvPicPr>
          <p:nvPr/>
        </p:nvPicPr>
        <p:blipFill>
          <a:blip r:embed="rId2"/>
          <a:stretch>
            <a:fillRect/>
          </a:stretch>
        </p:blipFill>
        <p:spPr>
          <a:xfrm>
            <a:off x="2881097" y="4864608"/>
            <a:ext cx="6429500" cy="1188719"/>
          </a:xfrm>
          <a:prstGeom prst="rect">
            <a:avLst/>
          </a:prstGeom>
        </p:spPr>
      </p:pic>
      <p:sp>
        <p:nvSpPr>
          <p:cNvPr id="14" name="Rectangle 13"/>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2. Half one: package the logic, survive bad data</a:t>
            </a:r>
          </a:p>
        </p:txBody>
      </p:sp>
      <p:sp>
        <p:nvSpPr>
          <p:cNvPr id="16" name="TextBox 15"/>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62 / 67</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S32</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2300" b="1">
                <a:solidFill>
                  <a:srgbClr val="1C1C1A"/>
                </a:solidFill>
                <a:latin typeface="Calibri"/>
              </a:rPr>
              <a:t>Question: what does a parameter list guarantee?</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685800" y="2647696"/>
            <a:ext cx="10820095" cy="2385568"/>
          </a:xfrm>
          <a:prstGeom prst="rect">
            <a:avLst/>
          </a:prstGeom>
          <a:noFill/>
        </p:spPr>
        <p:txBody>
          <a:bodyPr wrap="square" anchor="t" lIns="0" rIns="0" tIns="0" bIns="0">
            <a:spAutoFit/>
          </a:bodyPr>
          <a:lstStyle/>
          <a:p>
            <a:pPr>
              <a:spcAft>
                <a:spcPts val="900"/>
              </a:spcAft>
            </a:pPr>
            <a:r>
              <a:rPr sz="2000" b="0">
                <a:solidFill>
                  <a:srgbClr val="1C1C1A"/>
                </a:solidFill>
                <a:latin typeface="Calibri"/>
              </a:rPr>
              <a:t>You hand a function one record. What can it see?</a:t>
            </a:r>
          </a:p>
          <a:p>
            <a:pPr>
              <a:spcAft>
                <a:spcPts val="900"/>
              </a:spcAft>
            </a:pPr>
            <a:r>
              <a:rPr sz="2000" b="0">
                <a:solidFill>
                  <a:srgbClr val="1C1C1A"/>
                </a:solidFill>
                <a:latin typeface="Calibri"/>
              </a:rPr>
              <a:t>a) Every name in the notebook, since it is all one kernel</a:t>
            </a:r>
          </a:p>
          <a:p>
            <a:pPr>
              <a:spcAft>
                <a:spcPts val="900"/>
              </a:spcAft>
            </a:pPr>
            <a:r>
              <a:rPr sz="2000" b="0">
                <a:solidFill>
                  <a:srgbClr val="1C1C1A"/>
                </a:solidFill>
                <a:latin typeface="Calibri"/>
              </a:rPr>
              <a:t>b) Only what it was handed, plus what it makes itself</a:t>
            </a:r>
          </a:p>
          <a:p>
            <a:pPr>
              <a:spcAft>
                <a:spcPts val="900"/>
              </a:spcAft>
            </a:pPr>
            <a:r>
              <a:rPr sz="2000" b="0">
                <a:solidFill>
                  <a:srgbClr val="1C1C1A"/>
                </a:solidFill>
                <a:latin typeface="Calibri"/>
              </a:rPr>
              <a:t>c) Whatever the cell above it defined</a:t>
            </a:r>
          </a:p>
          <a:p>
            <a:pPr>
              <a:spcAft>
                <a:spcPts val="900"/>
              </a:spcAft>
            </a:pPr>
            <a:r>
              <a:rPr sz="2000" b="0">
                <a:solidFill>
                  <a:srgbClr val="1C1C1A"/>
                </a:solidFill>
                <a:latin typeface="Calibri"/>
              </a:rPr>
              <a:t>d) Nothing, until it returns</a:t>
            </a:r>
          </a:p>
        </p:txBody>
      </p:sp>
      <p:sp>
        <p:nvSpPr>
          <p:cNvPr id="7" name="Rectangle 6"/>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2. Half one: package the logic, survive bad data</a:t>
            </a:r>
          </a:p>
        </p:txBody>
      </p:sp>
      <p:sp>
        <p:nvSpPr>
          <p:cNvPr id="9" name="TextBox 8"/>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63 / 67</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S32a</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2300" b="1">
                <a:solidFill>
                  <a:srgbClr val="1C1C1A"/>
                </a:solidFill>
                <a:latin typeface="Calibri"/>
              </a:rPr>
              <a:t>Answer: only what it was handed</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685800" y="1627632"/>
            <a:ext cx="10820095" cy="850899"/>
          </a:xfrm>
          <a:prstGeom prst="rect">
            <a:avLst/>
          </a:prstGeom>
          <a:solidFill>
            <a:srgbClr val="E4EC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685800" y="1627632"/>
            <a:ext cx="50292" cy="850899"/>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941832" y="1719072"/>
            <a:ext cx="10362895" cy="704595"/>
          </a:xfrm>
          <a:prstGeom prst="rect">
            <a:avLst/>
          </a:prstGeom>
          <a:noFill/>
        </p:spPr>
        <p:txBody>
          <a:bodyPr wrap="square" anchor="ctr" lIns="0" rIns="0" tIns="0" bIns="0">
            <a:spAutoFit/>
          </a:bodyPr>
          <a:lstStyle/>
          <a:p>
            <a:r>
              <a:rPr sz="1700" b="1">
                <a:solidFill>
                  <a:srgbClr val="2B4A7D"/>
                </a:solidFill>
                <a:latin typeface="Calibri"/>
              </a:rPr>
              <a:t>The claim. </a:t>
            </a:r>
            <a:r>
              <a:rPr sz="1700" b="0">
                <a:solidFill>
                  <a:srgbClr val="1C1C1A"/>
                </a:solidFill>
                <a:latin typeface="Calibri"/>
              </a:rPr>
              <a:t>The parameter list is the only door in. A function cannot see a name you did not hand it, and a name it assigns inside its body does not touch the name outside.</a:t>
            </a:r>
          </a:p>
        </p:txBody>
      </p:sp>
      <p:graphicFrame>
        <p:nvGraphicFramePr>
          <p:cNvPr id="9" name="Table 8"/>
          <p:cNvGraphicFramePr>
            <a:graphicFrameLocks noGrp="1"/>
          </p:cNvGraphicFramePr>
          <p:nvPr/>
        </p:nvGraphicFramePr>
        <p:xfrm>
          <a:off x="685800" y="2643124"/>
          <a:ext cx="10820094" cy="1243584"/>
        </p:xfrm>
        <a:graphic>
          <a:graphicData uri="http://schemas.openxmlformats.org/drawingml/2006/table">
            <a:tbl>
              <a:tblPr firstRow="0" bandRow="0">
                <a:tableStyleId>{2D5ABB26-0587-4C30-8999-92F81FD0307C}</a:tableStyleId>
              </a:tblPr>
              <a:tblGrid>
                <a:gridCol w="3444269"/>
                <a:gridCol w="7375825"/>
              </a:tblGrid>
              <a:tr h="310896">
                <a:tc>
                  <a:txBody>
                    <a:bodyPr/>
                    <a:lstStyle/>
                    <a:p>
                      <a:r>
                        <a:rPr sz="1000" b="1">
                          <a:solidFill>
                            <a:srgbClr val="FFFFFF"/>
                          </a:solidFill>
                          <a:latin typeface="Calibri"/>
                        </a:rPr>
                        <a:t>Option</a:t>
                      </a:r>
                    </a:p>
                  </a:txBody>
                  <a:tcPr marL="101600" marR="101600" marT="38100" marB="38100" anchor="ctr">
                    <a:solidFill>
                      <a:srgbClr val="2B4A7D"/>
                    </a:solidFill>
                  </a:tcPr>
                </a:tc>
                <a:tc>
                  <a:txBody>
                    <a:bodyPr/>
                    <a:lstStyle/>
                    <a:p>
                      <a:r>
                        <a:rPr sz="1000" b="1">
                          <a:solidFill>
                            <a:srgbClr val="FFFFFF"/>
                          </a:solidFill>
                          <a:latin typeface="Calibri"/>
                        </a:rPr>
                        <a:t>Why it does not hold</a:t>
                      </a:r>
                    </a:p>
                  </a:txBody>
                  <a:tcPr marL="101600" marR="101600" marT="38100" marB="38100" anchor="ctr">
                    <a:solidFill>
                      <a:srgbClr val="2B4A7D"/>
                    </a:solidFill>
                  </a:tcPr>
                </a:tc>
              </a:tr>
              <a:tr h="310896">
                <a:tc>
                  <a:txBody>
                    <a:bodyPr/>
                    <a:lstStyle/>
                    <a:p>
                      <a:r>
                        <a:rPr sz="900" b="0">
                          <a:solidFill>
                            <a:srgbClr val="1C1C1A"/>
                          </a:solidFill>
                          <a:latin typeface="Calibri"/>
                        </a:rPr>
                        <a:t>a) Every name</a:t>
                      </a:r>
                    </a:p>
                  </a:txBody>
                  <a:tcPr marL="101600" marR="101600" marT="38100" marB="38100" anchor="ctr">
                    <a:solidFill>
                      <a:srgbClr val="FFFFFF"/>
                    </a:solidFill>
                  </a:tcPr>
                </a:tc>
                <a:tc>
                  <a:txBody>
                    <a:bodyPr/>
                    <a:lstStyle/>
                    <a:p>
                      <a:r>
                        <a:rPr sz="900" b="0">
                          <a:solidFill>
                            <a:srgbClr val="1C1C1A"/>
                          </a:solidFill>
                          <a:latin typeface="Calibri"/>
                        </a:rPr>
                        <a:t>That is what the kernel holds, not what the function sees. It is also what makes untested code work by accident.</a:t>
                      </a:r>
                    </a:p>
                  </a:txBody>
                  <a:tcPr marL="101600" marR="101600" marT="38100" marB="38100" anchor="ctr">
                    <a:solidFill>
                      <a:srgbClr val="FFFFFF"/>
                    </a:solidFill>
                  </a:tcPr>
                </a:tc>
              </a:tr>
              <a:tr h="310896">
                <a:tc>
                  <a:txBody>
                    <a:bodyPr/>
                    <a:lstStyle/>
                    <a:p>
                      <a:r>
                        <a:rPr sz="900" b="0">
                          <a:solidFill>
                            <a:srgbClr val="1C1C1A"/>
                          </a:solidFill>
                          <a:latin typeface="Calibri"/>
                        </a:rPr>
                        <a:t>c) The cell above</a:t>
                      </a:r>
                    </a:p>
                  </a:txBody>
                  <a:tcPr marL="101600" marR="101600" marT="38100" marB="38100" anchor="ctr">
                    <a:solidFill>
                      <a:srgbClr val="F7F7F5"/>
                    </a:solidFill>
                  </a:tcPr>
                </a:tc>
                <a:tc>
                  <a:txBody>
                    <a:bodyPr/>
                    <a:lstStyle/>
                    <a:p>
                      <a:r>
                        <a:rPr sz="900" b="0">
                          <a:solidFill>
                            <a:srgbClr val="1C1C1A"/>
                          </a:solidFill>
                          <a:latin typeface="Calibri"/>
                        </a:rPr>
                        <a:t>The same mistake, dressed as proximity.</a:t>
                      </a:r>
                    </a:p>
                  </a:txBody>
                  <a:tcPr marL="101600" marR="101600" marT="38100" marB="38100" anchor="ctr">
                    <a:solidFill>
                      <a:srgbClr val="F7F7F5"/>
                    </a:solidFill>
                  </a:tcPr>
                </a:tc>
              </a:tr>
              <a:tr h="310896">
                <a:tc>
                  <a:txBody>
                    <a:bodyPr/>
                    <a:lstStyle/>
                    <a:p>
                      <a:r>
                        <a:rPr sz="900" b="0">
                          <a:solidFill>
                            <a:srgbClr val="1C1C1A"/>
                          </a:solidFill>
                          <a:latin typeface="Calibri"/>
                        </a:rPr>
                        <a:t>d) Nothing until it returns</a:t>
                      </a:r>
                    </a:p>
                  </a:txBody>
                  <a:tcPr marL="101600" marR="101600" marT="38100" marB="38100" anchor="ctr">
                    <a:solidFill>
                      <a:srgbClr val="FFFFFF"/>
                    </a:solidFill>
                  </a:tcPr>
                </a:tc>
                <a:tc>
                  <a:txBody>
                    <a:bodyPr/>
                    <a:lstStyle/>
                    <a:p>
                      <a:r>
                        <a:rPr sz="900" b="0">
                          <a:solidFill>
                            <a:srgbClr val="1C1C1A"/>
                          </a:solidFill>
                          <a:latin typeface="Calibri"/>
                        </a:rPr>
                        <a:t>Confuses what goes in with what comes out.</a:t>
                      </a:r>
                    </a:p>
                  </a:txBody>
                  <a:tcPr marL="101600" marR="101600" marT="38100" marB="38100" anchor="ctr">
                    <a:solidFill>
                      <a:srgbClr val="FFFFFF"/>
                    </a:solidFill>
                  </a:tcPr>
                </a:tc>
              </a:tr>
            </a:tbl>
          </a:graphicData>
        </a:graphic>
      </p:graphicFrame>
      <p:sp>
        <p:nvSpPr>
          <p:cNvPr id="10" name="TextBox 9"/>
          <p:cNvSpPr txBox="1"/>
          <p:nvPr/>
        </p:nvSpPr>
        <p:spPr>
          <a:xfrm>
            <a:off x="685800" y="4142740"/>
            <a:ext cx="10820095" cy="513080"/>
          </a:xfrm>
          <a:prstGeom prst="rect">
            <a:avLst/>
          </a:prstGeom>
          <a:noFill/>
        </p:spPr>
        <p:txBody>
          <a:bodyPr wrap="square" anchor="t" lIns="0" rIns="0" tIns="0" bIns="0">
            <a:spAutoFit/>
          </a:bodyPr>
          <a:lstStyle/>
          <a:p>
            <a:pPr>
              <a:spcAft>
                <a:spcPts val="800"/>
              </a:spcAft>
            </a:pPr>
            <a:r>
              <a:rPr sz="1700" b="0">
                <a:solidFill>
                  <a:srgbClr val="1C1C1A"/>
                </a:solidFill>
                <a:latin typeface="Calibri"/>
              </a:rPr>
              <a:t>That is why the same function runs unchanged on today's thirty records and tomorrow's fifty.</a:t>
            </a:r>
          </a:p>
        </p:txBody>
      </p:sp>
      <p:sp>
        <p:nvSpPr>
          <p:cNvPr id="11" name="Rectangle 10"/>
          <p:cNvSpPr/>
          <p:nvPr/>
        </p:nvSpPr>
        <p:spPr>
          <a:xfrm>
            <a:off x="685800" y="4783836"/>
            <a:ext cx="10820095" cy="850899"/>
          </a:xfrm>
          <a:prstGeom prst="rect">
            <a:avLst/>
          </a:prstGeom>
          <a:solidFill>
            <a:srgbClr val="E4EC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ectangle 11"/>
          <p:cNvSpPr/>
          <p:nvPr/>
        </p:nvSpPr>
        <p:spPr>
          <a:xfrm>
            <a:off x="685800" y="4783836"/>
            <a:ext cx="50292" cy="850899"/>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941832" y="4875275"/>
            <a:ext cx="10362895" cy="704595"/>
          </a:xfrm>
          <a:prstGeom prst="rect">
            <a:avLst/>
          </a:prstGeom>
          <a:noFill/>
        </p:spPr>
        <p:txBody>
          <a:bodyPr wrap="square" anchor="ctr" lIns="0" rIns="0" tIns="0" bIns="0">
            <a:spAutoFit/>
          </a:bodyPr>
          <a:lstStyle/>
          <a:p>
            <a:r>
              <a:rPr sz="1700" b="1">
                <a:solidFill>
                  <a:srgbClr val="2B4A7D"/>
                </a:solidFill>
                <a:latin typeface="Calibri"/>
              </a:rPr>
              <a:t>The mental model. </a:t>
            </a:r>
            <a:r>
              <a:rPr sz="1700" b="0">
                <a:solidFill>
                  <a:srgbClr val="1C1C1A"/>
                </a:solidFill>
                <a:latin typeface="Calibri"/>
              </a:rPr>
              <a:t>A function is a room with one door and one window. The parameters are the door and the return is the window.</a:t>
            </a:r>
          </a:p>
        </p:txBody>
      </p:sp>
      <p:pic>
        <p:nvPicPr>
          <p:cNvPr id="14" name="Picture 13" descr="d4228989c2a688db.png"/>
          <p:cNvPicPr>
            <a:picLocks noChangeAspect="1"/>
          </p:cNvPicPr>
          <p:nvPr/>
        </p:nvPicPr>
        <p:blipFill>
          <a:blip r:embed="rId2"/>
          <a:stretch>
            <a:fillRect/>
          </a:stretch>
        </p:blipFill>
        <p:spPr>
          <a:xfrm>
            <a:off x="3338335" y="5799327"/>
            <a:ext cx="5515024" cy="1097280"/>
          </a:xfrm>
          <a:prstGeom prst="rect">
            <a:avLst/>
          </a:prstGeom>
        </p:spPr>
      </p:pic>
      <p:sp>
        <p:nvSpPr>
          <p:cNvPr id="15" name="Rectangle 14"/>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2. Half one: package the logic, survive bad data</a:t>
            </a:r>
          </a:p>
        </p:txBody>
      </p:sp>
      <p:sp>
        <p:nvSpPr>
          <p:cNvPr id="17" name="TextBox 16"/>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64 / 67</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S33</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2300" b="1">
                <a:solidFill>
                  <a:srgbClr val="1C1C1A"/>
                </a:solidFill>
                <a:latin typeface="Calibri"/>
              </a:rPr>
              <a:t>Question: zero rejects on a file you know is dirty?</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685800" y="2647696"/>
            <a:ext cx="10820095" cy="2385568"/>
          </a:xfrm>
          <a:prstGeom prst="rect">
            <a:avLst/>
          </a:prstGeom>
          <a:noFill/>
        </p:spPr>
        <p:txBody>
          <a:bodyPr wrap="square" anchor="t" lIns="0" rIns="0" tIns="0" bIns="0">
            <a:spAutoFit/>
          </a:bodyPr>
          <a:lstStyle/>
          <a:p>
            <a:pPr>
              <a:spcAft>
                <a:spcPts val="900"/>
              </a:spcAft>
            </a:pPr>
            <a:r>
              <a:rPr sz="2000" b="0">
                <a:solidFill>
                  <a:srgbClr val="1C1C1A"/>
                </a:solidFill>
                <a:latin typeface="Calibri"/>
              </a:rPr>
              <a:t>Your run reports zero rejections. What do you check first?</a:t>
            </a:r>
          </a:p>
          <a:p>
            <a:pPr>
              <a:spcAft>
                <a:spcPts val="900"/>
              </a:spcAft>
            </a:pPr>
            <a:r>
              <a:rPr sz="2000" b="0">
                <a:solidFill>
                  <a:srgbClr val="1C1C1A"/>
                </a:solidFill>
                <a:latin typeface="Calibri"/>
              </a:rPr>
              <a:t>a) Whether the file was the one you meant to open</a:t>
            </a:r>
          </a:p>
          <a:p>
            <a:pPr>
              <a:spcAft>
                <a:spcPts val="900"/>
              </a:spcAft>
            </a:pPr>
            <a:r>
              <a:rPr sz="2000" b="0">
                <a:solidFill>
                  <a:srgbClr val="1C1C1A"/>
                </a:solidFill>
                <a:latin typeface="Calibri"/>
              </a:rPr>
              <a:t>b) Whether anything was actually caught</a:t>
            </a:r>
          </a:p>
          <a:p>
            <a:pPr>
              <a:spcAft>
                <a:spcPts val="900"/>
              </a:spcAft>
            </a:pPr>
            <a:r>
              <a:rPr sz="2000" b="0">
                <a:solidFill>
                  <a:srgbClr val="1C1C1A"/>
                </a:solidFill>
                <a:latin typeface="Calibri"/>
              </a:rPr>
              <a:t>c) Whether the output folder exists</a:t>
            </a:r>
          </a:p>
          <a:p>
            <a:pPr>
              <a:spcAft>
                <a:spcPts val="900"/>
              </a:spcAft>
            </a:pPr>
            <a:r>
              <a:rPr sz="2000" b="0">
                <a:solidFill>
                  <a:srgbClr val="1C1C1A"/>
                </a:solidFill>
                <a:latin typeface="Calibri"/>
              </a:rPr>
              <a:t>d) Whether the input had any rows at all</a:t>
            </a:r>
          </a:p>
        </p:txBody>
      </p:sp>
      <p:sp>
        <p:nvSpPr>
          <p:cNvPr id="7" name="Rectangle 6"/>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2. Half one: package the logic, survive bad data</a:t>
            </a:r>
          </a:p>
        </p:txBody>
      </p:sp>
      <p:sp>
        <p:nvSpPr>
          <p:cNvPr id="9" name="TextBox 8"/>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65 / 67</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S33a</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2300" b="1">
                <a:solidFill>
                  <a:srgbClr val="1C1C1A"/>
                </a:solidFill>
                <a:latin typeface="Calibri"/>
              </a:rPr>
              <a:t>Answer: whether anything was caught, then reconcile</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685800" y="1627632"/>
            <a:ext cx="10820095" cy="850899"/>
          </a:xfrm>
          <a:prstGeom prst="rect">
            <a:avLst/>
          </a:prstGeom>
          <a:solidFill>
            <a:srgbClr val="E4EC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685800" y="1627632"/>
            <a:ext cx="50292" cy="850899"/>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941832" y="1719072"/>
            <a:ext cx="10362895" cy="704595"/>
          </a:xfrm>
          <a:prstGeom prst="rect">
            <a:avLst/>
          </a:prstGeom>
          <a:noFill/>
        </p:spPr>
        <p:txBody>
          <a:bodyPr wrap="square" anchor="ctr" lIns="0" rIns="0" tIns="0" bIns="0">
            <a:spAutoFit/>
          </a:bodyPr>
          <a:lstStyle/>
          <a:p>
            <a:r>
              <a:rPr sz="1700" b="1">
                <a:solidFill>
                  <a:srgbClr val="2B4A7D"/>
                </a:solidFill>
                <a:latin typeface="Calibri"/>
              </a:rPr>
              <a:t>The claim. </a:t>
            </a:r>
            <a:r>
              <a:rPr sz="1700" b="0">
                <a:solidFill>
                  <a:srgbClr val="1C1C1A"/>
                </a:solidFill>
                <a:latin typeface="Calibri"/>
              </a:rPr>
              <a:t>A bare except with a pass reports zero rejects by construction, so the first check is whether the handler ever appended anything.</a:t>
            </a:r>
          </a:p>
        </p:txBody>
      </p:sp>
      <p:graphicFrame>
        <p:nvGraphicFramePr>
          <p:cNvPr id="9" name="Table 8"/>
          <p:cNvGraphicFramePr>
            <a:graphicFrameLocks noGrp="1"/>
          </p:cNvGraphicFramePr>
          <p:nvPr/>
        </p:nvGraphicFramePr>
        <p:xfrm>
          <a:off x="685800" y="2643124"/>
          <a:ext cx="10820094" cy="1243584"/>
        </p:xfrm>
        <a:graphic>
          <a:graphicData uri="http://schemas.openxmlformats.org/drawingml/2006/table">
            <a:tbl>
              <a:tblPr firstRow="0" bandRow="0">
                <a:tableStyleId>{2D5ABB26-0587-4C30-8999-92F81FD0307C}</a:tableStyleId>
              </a:tblPr>
              <a:tblGrid>
                <a:gridCol w="2843135"/>
                <a:gridCol w="7976959"/>
              </a:tblGrid>
              <a:tr h="310896">
                <a:tc>
                  <a:txBody>
                    <a:bodyPr/>
                    <a:lstStyle/>
                    <a:p>
                      <a:r>
                        <a:rPr sz="1000" b="1">
                          <a:solidFill>
                            <a:srgbClr val="FFFFFF"/>
                          </a:solidFill>
                          <a:latin typeface="Calibri"/>
                        </a:rPr>
                        <a:t>Option</a:t>
                      </a:r>
                    </a:p>
                  </a:txBody>
                  <a:tcPr marL="101600" marR="101600" marT="38100" marB="38100" anchor="ctr">
                    <a:solidFill>
                      <a:srgbClr val="2B4A7D"/>
                    </a:solidFill>
                  </a:tcPr>
                </a:tc>
                <a:tc>
                  <a:txBody>
                    <a:bodyPr/>
                    <a:lstStyle/>
                    <a:p>
                      <a:r>
                        <a:rPr sz="1000" b="1">
                          <a:solidFill>
                            <a:srgbClr val="FFFFFF"/>
                          </a:solidFill>
                          <a:latin typeface="Calibri"/>
                        </a:rPr>
                        <a:t>Why it does not hold</a:t>
                      </a:r>
                    </a:p>
                  </a:txBody>
                  <a:tcPr marL="101600" marR="101600" marT="38100" marB="38100" anchor="ctr">
                    <a:solidFill>
                      <a:srgbClr val="2B4A7D"/>
                    </a:solidFill>
                  </a:tcPr>
                </a:tc>
              </a:tr>
              <a:tr h="310896">
                <a:tc>
                  <a:txBody>
                    <a:bodyPr/>
                    <a:lstStyle/>
                    <a:p>
                      <a:r>
                        <a:rPr sz="900" b="0">
                          <a:solidFill>
                            <a:srgbClr val="1C1C1A"/>
                          </a:solidFill>
                          <a:latin typeface="Calibri"/>
                        </a:rPr>
                        <a:t>a) The wrong file</a:t>
                      </a:r>
                    </a:p>
                  </a:txBody>
                  <a:tcPr marL="101600" marR="101600" marT="38100" marB="38100" anchor="ctr">
                    <a:solidFill>
                      <a:srgbClr val="FFFFFF"/>
                    </a:solidFill>
                  </a:tcPr>
                </a:tc>
                <a:tc>
                  <a:txBody>
                    <a:bodyPr/>
                    <a:lstStyle/>
                    <a:p>
                      <a:r>
                        <a:rPr sz="900" b="0">
                          <a:solidFill>
                            <a:srgbClr val="1C1C1A"/>
                          </a:solidFill>
                          <a:latin typeface="Calibri"/>
                        </a:rPr>
                        <a:t>Worth checking, and it produces a low row count rather than zero rejects.</a:t>
                      </a:r>
                    </a:p>
                  </a:txBody>
                  <a:tcPr marL="101600" marR="101600" marT="38100" marB="38100" anchor="ctr">
                    <a:solidFill>
                      <a:srgbClr val="FFFFFF"/>
                    </a:solidFill>
                  </a:tcPr>
                </a:tc>
              </a:tr>
              <a:tr h="310896">
                <a:tc>
                  <a:txBody>
                    <a:bodyPr/>
                    <a:lstStyle/>
                    <a:p>
                      <a:r>
                        <a:rPr sz="900" b="0">
                          <a:solidFill>
                            <a:srgbClr val="1C1C1A"/>
                          </a:solidFill>
                          <a:latin typeface="Calibri"/>
                        </a:rPr>
                        <a:t>c) The output folder</a:t>
                      </a:r>
                    </a:p>
                  </a:txBody>
                  <a:tcPr marL="101600" marR="101600" marT="38100" marB="38100" anchor="ctr">
                    <a:solidFill>
                      <a:srgbClr val="F7F7F5"/>
                    </a:solidFill>
                  </a:tcPr>
                </a:tc>
                <a:tc>
                  <a:txBody>
                    <a:bodyPr/>
                    <a:lstStyle/>
                    <a:p>
                      <a:r>
                        <a:rPr sz="900" b="0">
                          <a:solidFill>
                            <a:srgbClr val="1C1C1A"/>
                          </a:solidFill>
                          <a:latin typeface="Calibri"/>
                        </a:rPr>
                        <a:t>Missing folders raise on write rather than reporting zero.</a:t>
                      </a:r>
                    </a:p>
                  </a:txBody>
                  <a:tcPr marL="101600" marR="101600" marT="38100" marB="38100" anchor="ctr">
                    <a:solidFill>
                      <a:srgbClr val="F7F7F5"/>
                    </a:solidFill>
                  </a:tcPr>
                </a:tc>
              </a:tr>
              <a:tr h="310896">
                <a:tc>
                  <a:txBody>
                    <a:bodyPr/>
                    <a:lstStyle/>
                    <a:p>
                      <a:r>
                        <a:rPr sz="900" b="0">
                          <a:solidFill>
                            <a:srgbClr val="1C1C1A"/>
                          </a:solidFill>
                          <a:latin typeface="Calibri"/>
                        </a:rPr>
                        <a:t>d) An empty input</a:t>
                      </a:r>
                    </a:p>
                  </a:txBody>
                  <a:tcPr marL="101600" marR="101600" marT="38100" marB="38100" anchor="ctr">
                    <a:solidFill>
                      <a:srgbClr val="FFFFFF"/>
                    </a:solidFill>
                  </a:tcPr>
                </a:tc>
                <a:tc>
                  <a:txBody>
                    <a:bodyPr/>
                    <a:lstStyle/>
                    <a:p>
                      <a:r>
                        <a:rPr sz="900" b="0">
                          <a:solidFill>
                            <a:srgbClr val="1C1C1A"/>
                          </a:solidFill>
                          <a:latin typeface="Calibri"/>
                        </a:rPr>
                        <a:t>Also produces zero clean rows, which you would have noticed.</a:t>
                      </a:r>
                    </a:p>
                  </a:txBody>
                  <a:tcPr marL="101600" marR="101600" marT="38100" marB="38100" anchor="ctr">
                    <a:solidFill>
                      <a:srgbClr val="FFFFFF"/>
                    </a:solidFill>
                  </a:tcPr>
                </a:tc>
              </a:tr>
            </a:tbl>
          </a:graphicData>
        </a:graphic>
      </p:graphicFrame>
      <p:sp>
        <p:nvSpPr>
          <p:cNvPr id="10" name="TextBox 9"/>
          <p:cNvSpPr txBox="1"/>
          <p:nvPr/>
        </p:nvSpPr>
        <p:spPr>
          <a:xfrm>
            <a:off x="685800" y="4142740"/>
            <a:ext cx="10820095" cy="806704"/>
          </a:xfrm>
          <a:prstGeom prst="rect">
            <a:avLst/>
          </a:prstGeom>
          <a:noFill/>
        </p:spPr>
        <p:txBody>
          <a:bodyPr wrap="square" anchor="t" lIns="0" rIns="0" tIns="0" bIns="0">
            <a:spAutoFit/>
          </a:bodyPr>
          <a:lstStyle/>
          <a:p>
            <a:pPr>
              <a:spcAft>
                <a:spcPts val="800"/>
              </a:spcAft>
            </a:pPr>
            <a:r>
              <a:rPr sz="1700" b="0">
                <a:solidFill>
                  <a:srgbClr val="1C1C1A"/>
                </a:solidFill>
                <a:latin typeface="Calibri"/>
              </a:rPr>
              <a:t>Then reconcile: input equals clean plus rejected only tells you something when you compute all three. Then check the condition itself, because a condition nothing matches rejects nothing.</a:t>
            </a:r>
          </a:p>
        </p:txBody>
      </p:sp>
      <p:sp>
        <p:nvSpPr>
          <p:cNvPr id="11" name="Rectangle 10"/>
          <p:cNvSpPr/>
          <p:nvPr/>
        </p:nvSpPr>
        <p:spPr>
          <a:xfrm>
            <a:off x="685800" y="5077460"/>
            <a:ext cx="10820095" cy="544322"/>
          </a:xfrm>
          <a:prstGeom prst="rect">
            <a:avLst/>
          </a:prstGeom>
          <a:solidFill>
            <a:srgbClr val="E4EC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ectangle 11"/>
          <p:cNvSpPr/>
          <p:nvPr/>
        </p:nvSpPr>
        <p:spPr>
          <a:xfrm>
            <a:off x="685800" y="5077460"/>
            <a:ext cx="50292" cy="544322"/>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941832" y="5168900"/>
            <a:ext cx="10362895" cy="398018"/>
          </a:xfrm>
          <a:prstGeom prst="rect">
            <a:avLst/>
          </a:prstGeom>
          <a:noFill/>
        </p:spPr>
        <p:txBody>
          <a:bodyPr wrap="square" anchor="ctr" lIns="0" rIns="0" tIns="0" bIns="0">
            <a:spAutoFit/>
          </a:bodyPr>
          <a:lstStyle/>
          <a:p>
            <a:r>
              <a:rPr sz="1700" b="1">
                <a:solidFill>
                  <a:srgbClr val="2B4A7D"/>
                </a:solidFill>
                <a:latin typeface="Calibri"/>
              </a:rPr>
              <a:t>The mental model. </a:t>
            </a:r>
            <a:r>
              <a:rPr sz="1700" b="0">
                <a:solidFill>
                  <a:srgbClr val="1C1C1A"/>
                </a:solidFill>
                <a:latin typeface="Calibri"/>
              </a:rPr>
              <a:t>Zero is a number somebody has to earn.</a:t>
            </a:r>
          </a:p>
        </p:txBody>
      </p:sp>
      <p:pic>
        <p:nvPicPr>
          <p:cNvPr id="14" name="Picture 13" descr="fed3029ccc90a417.png"/>
          <p:cNvPicPr>
            <a:picLocks noChangeAspect="1"/>
          </p:cNvPicPr>
          <p:nvPr/>
        </p:nvPicPr>
        <p:blipFill>
          <a:blip r:embed="rId2"/>
          <a:stretch>
            <a:fillRect/>
          </a:stretch>
        </p:blipFill>
        <p:spPr>
          <a:xfrm>
            <a:off x="4076852" y="5786374"/>
            <a:ext cx="4037990" cy="1097280"/>
          </a:xfrm>
          <a:prstGeom prst="rect">
            <a:avLst/>
          </a:prstGeom>
        </p:spPr>
      </p:pic>
      <p:sp>
        <p:nvSpPr>
          <p:cNvPr id="15" name="Rectangle 14"/>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2. Half one: package the logic, survive bad data</a:t>
            </a:r>
          </a:p>
        </p:txBody>
      </p:sp>
      <p:sp>
        <p:nvSpPr>
          <p:cNvPr id="17" name="TextBox 16"/>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66 / 67</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S34</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3000" b="1">
                <a:solidFill>
                  <a:srgbClr val="1C1C1A"/>
                </a:solidFill>
                <a:latin typeface="Calibri"/>
              </a:rPr>
              <a:t>Crux, half one</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685800" y="2985008"/>
            <a:ext cx="10820095" cy="1710944"/>
          </a:xfrm>
          <a:prstGeom prst="rect">
            <a:avLst/>
          </a:prstGeom>
          <a:noFill/>
        </p:spPr>
        <p:txBody>
          <a:bodyPr wrap="square" anchor="t" lIns="0" rIns="0" tIns="0" bIns="0">
            <a:spAutoFit/>
          </a:bodyPr>
          <a:lstStyle/>
          <a:p>
            <a:pPr>
              <a:spcAft>
                <a:spcPts val="900"/>
              </a:spcAft>
            </a:pPr>
            <a:r>
              <a:rPr sz="2000" b="0">
                <a:solidFill>
                  <a:srgbClr val="1C1C1A"/>
                </a:solidFill>
                <a:latin typeface="Calibri"/>
              </a:rPr>
              <a:t>You have clean_record. That was the promise on the third slide.</a:t>
            </a:r>
          </a:p>
          <a:p>
            <a:pPr>
              <a:spcAft>
                <a:spcPts val="900"/>
              </a:spcAft>
            </a:pPr>
            <a:r>
              <a:rPr sz="2000" b="0">
                <a:solidFill>
                  <a:srgbClr val="1C1C1A"/>
                </a:solidFill>
                <a:latin typeface="Calibri"/>
              </a:rPr>
              <a:t>A function is a decision you can call again. A named exception is a failure you chose to survive. A rejects log is the difference between a number and a number you can defend.</a:t>
            </a:r>
          </a:p>
        </p:txBody>
      </p:sp>
      <p:sp>
        <p:nvSpPr>
          <p:cNvPr id="7" name="Rectangle 6"/>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2. Half one: package the logic, survive bad data</a:t>
            </a:r>
          </a:p>
        </p:txBody>
      </p:sp>
      <p:sp>
        <p:nvSpPr>
          <p:cNvPr id="9" name="TextBox 8"/>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67 / 67</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