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from Wednesday's close, when each group receives this deck with its headline claim</a:t>
            </a:r>
          </a:p>
          <a:p>
            <a:r>
              <a:t>pinned; LIVE for 30 seconds at the opening of each expert day. Read Dr Menon's words once. Kalpa</a:t>
            </a:r>
          </a:p>
          <a:p>
            <a:r>
              <a:t>Health and everyone in it are fictional, and every record in its ten files is synthetic. The deck is</a:t>
            </a:r>
          </a:p>
          <a:p>
            <a:r>
              <a:t>the skeleton each group builds its 25 to 30 minutes on, and every slide marked S is shown at the</a:t>
            </a:r>
          </a:p>
          <a:p>
            <a:r>
              <a:t>opening; the D slides are read alone, while the group builds.</a:t>
            </a:r>
          </a:p>
          <a:p>
            <a:r>
              <a:t>Transition: the six questions the deck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SELF-STUDY, 1 minute, on Wednesday night. Read the day's question,</a:t>
            </a:r>
          </a:p>
          <a:p>
            <a:r>
              <a:t>then the six in order. The dark box is the one slide Dr Menon carries into her board meeting, and</a:t>
            </a:r>
          </a:p>
          <a:p>
            <a:r>
              <a:t>every other part of the slot exists to earn it.</a:t>
            </a:r>
          </a:p>
          <a:p>
            <a:r>
              <a:t>Transition: question 1, what the panel will 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about 5 minutes over D2 to D6, with S4 and S5 shown at the opening. The section sets</a:t>
            </a:r>
          </a:p>
          <a:p>
            <a:r>
              <a:t>who the slot is for. A group that forgets its listener builds a tour of its notebook.</a:t>
            </a:r>
          </a:p>
          <a:p>
            <a:r>
              <a:t>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Four questions, each answered on its own slide before the next is asked.</a:t>
            </a:r>
          </a:p>
          <a:p>
            <a:r>
              <a:t>Transition: who sits on the panel.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two rooms run in parallel on Saturday. Where groups took the same</a:t>
            </a:r>
          </a:p>
          <a:p>
            <a:r>
              <a:t>question, they present one after the other in the same room, so the panel hears each honest answer</a:t>
            </a:r>
          </a:p>
          <a:p>
            <a:r>
              <a:t>to that question in sequence. Neither panel member has read your notebook, so nothing you leave out</a:t>
            </a:r>
          </a:p>
          <a:p>
            <a:r>
              <a:t>of the slot exists for them.</a:t>
            </a:r>
          </a:p>
          <a:p>
            <a:r>
              <a:t>Transition: the four questions Dr Menon 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SELF-STUDY on Wednesday night. Read her four questions aloud. The</a:t>
            </a:r>
          </a:p>
          <a:p>
            <a:r>
              <a:t>whole slot is these four questions in order, and a group that opens on its data cleaning has</a:t>
            </a:r>
          </a:p>
          <a:p>
            <a:r>
              <a:t>answered the second before the first.</a:t>
            </a:r>
          </a:p>
          <a:p>
            <a:r>
              <a:t>Transition: how the minutes split.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Seventeen minutes is a hard stop: the scribe shows a card at five</a:t>
            </a:r>
          </a:p>
          <a:p>
            <a:r>
              <a:t>minutes left and at one minute left, and stops the group at 17. The panel then has 8 to 10 minutes,</a:t>
            </a:r>
          </a:p>
          <a:p>
            <a:r>
              <a:t>and three minutes of changeover close a slot of 28 to 30. Groups overrun on part 3, because cleaning</a:t>
            </a:r>
          </a:p>
          <a:p>
            <a:r>
              <a:t>is where the week went; the clock takes the overrun out of the analysis, never out of the questions.</a:t>
            </a:r>
          </a:p>
          <a:p>
            <a:r>
              <a:t>Transition: what Dr Menon's team has already said.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Every figure here came from Dr Menon or her heads, in Monday's briefing note.</a:t>
            </a:r>
          </a:p>
          <a:p>
            <a:r>
              <a:t>A group that copies one onto its one-slide answer without saying what it counts has handed the client</a:t>
            </a:r>
          </a:p>
          <a:p>
            <a:r>
              <a:t>her own number back. The week's work is what each one becomes once the group has asked what it</a:t>
            </a:r>
          </a:p>
          <a:p>
            <a:r>
              <a:t>counts, on which files and over which window, which is Week 1 Tuesday's first rung: is the number</a:t>
            </a:r>
          </a:p>
          <a:p>
            <a:r>
              <a:t>real?</a:t>
            </a:r>
          </a:p>
          <a:p>
            <a:r>
              <a:t>Transition: section 2, the one slide she carries.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about 6 minutes over D7 to D14. The one-slide answer is Week 1 Thursday's note, moved onto</a:t>
            </a:r>
          </a:p>
          <a:p>
            <a:r>
              <a:t>a slide and said to a panel that will push on every part of it.</a:t>
            </a:r>
          </a:p>
          <a:p>
            <a:r>
              <a:t>Transition: who needs the one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Five questions, answered in order on the slides that follow.</a:t>
            </a:r>
          </a:p>
          <a:p>
            <a:r>
              <a:t>Transition: the four parts.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claim comes first because a COO reads two minutes and stops. The caveat is</a:t>
            </a:r>
          </a:p>
          <a:p>
            <a:r>
              <a:t>a statement about this claim, so "the data may have quality issues" is no caveat at all.</a:t>
            </a:r>
          </a:p>
          <a:p>
            <a:r>
              <a:t>Transition: what one sentence must carry.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skeleton is the rubric's claim criterion, word for word: one sentence</a:t>
            </a:r>
          </a:p>
          <a:p>
            <a:r>
              <a:t>carries its number, denominator, period and caveat, plus an action Dr Menon can take. Fill it in for</a:t>
            </a:r>
          </a:p>
          <a:p>
            <a:r>
              <a:t>your own claim before you build a single chart.</a:t>
            </a:r>
          </a:p>
          <a:p>
            <a:r>
              <a:t>Transition: how a real lab says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Quest Diagnostics is a US laboratory company with patient service centres and</a:t>
            </a:r>
          </a:p>
          <a:p>
            <a:r>
              <a:t>laboratories, the shape Kalpa Health copies; Monday's domain dossier has it in section 2. A requisition is</a:t>
            </a:r>
          </a:p>
          <a:p>
            <a:r>
              <a:t>a doctor's order for tests, the nearest thing to a Kalpa Health booking. The point for your slide: a</a:t>
            </a:r>
          </a:p>
          <a:p>
            <a:r>
              <a:t>growth number reaches a board with the count it rests on and the rate per unit beside it, so nobody</a:t>
            </a:r>
          </a:p>
          <a:p>
            <a:r>
              <a:t>reads a price change as more patients.</a:t>
            </a:r>
          </a:p>
          <a:p>
            <a:r>
              <a:t>Transition: which of four sentences Dr Menon can carry.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The figures are invented, and they sit on the lab director's question, which</a:t>
            </a:r>
          </a:p>
          <a:p>
            <a:r>
              <a:t>is none of the five your groups took. Choose before the next slide. Most readers split between b and</a:t>
            </a:r>
          </a:p>
          <a:p>
            <a:r>
              <a:t>d, because d sounds decisive.</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answer is b. Option d is the tempting one: the action is the fourth part,</a:t>
            </a:r>
          </a:p>
          <a:p>
            <a:r>
              <a:t>and it cannot stand without the three before it, least of all when the claim's own caveat (courier</a:t>
            </a:r>
          </a:p>
          <a:p>
            <a:r>
              <a:t>hours included) is what the action would remove.</a:t>
            </a:r>
          </a:p>
          <a:p>
            <a:r>
              <a:t>Transition: what makes a caveat.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A caveat is about this claim and names one fact; a disclaimer is about data in</a:t>
            </a:r>
          </a:p>
          <a:p>
            <a:r>
              <a:t>general and names nothing, so nobody can check it. Write your caveat so the panel could test it.</a:t>
            </a:r>
          </a:p>
          <a:p>
            <a:r>
              <a:t>Transition: what makes an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invented quarter again. An action names a person or a role, a move, a date</a:t>
            </a:r>
          </a:p>
          <a:p>
            <a:r>
              <a:t>and a cost, and "wait and measure" is an action when it carries all four. The one-slide answer is</a:t>
            </a:r>
          </a:p>
          <a:p>
            <a:r>
              <a:t>done when its action passes this test.</a:t>
            </a:r>
          </a:p>
          <a:p>
            <a:r>
              <a:t>Transition: section 3, how the claim is earned.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about 7 minutes over D15 to D21. Parts 2, 3, 4 and 6 of the slot. Each exists to support</a:t>
            </a:r>
          </a:p>
          <a:p>
            <a:r>
              <a:t>the claim already on screen, so a slide here that does not connect to the claim gets cut.</a:t>
            </a:r>
          </a:p>
          <a:p>
            <a:r>
              <a:t>Transition: who needs the body of the slot.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Twenty-eight of the mini project's 40 marks sit on what these ten minutes</a:t>
            </a:r>
          </a:p>
          <a:p>
            <a:r>
              <a:t>show, so each part is built to be scored, never to fill time.</a:t>
            </a:r>
          </a:p>
          <a:p>
            <a:r>
              <a:t>Transition: the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This is Monday's translation worksheet, made presentable. Name your move in</a:t>
            </a:r>
          </a:p>
          <a:p>
            <a:r>
              <a:t>your own words and say which shape her question has; a group that cannot fill the move column for its</a:t>
            </a:r>
          </a:p>
          <a:p>
            <a:r>
              <a:t>own question did not make the transfer, and the panel will ask about it.</a:t>
            </a:r>
          </a:p>
          <a:p>
            <a:r>
              <a:t>Transition: the words.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first three pairs are the ones Monday's worksheet seeded; your map carries</a:t>
            </a:r>
          </a:p>
          <a:p>
            <a:r>
              <a:t>every term your analysis uses, and the right-hand column is where a group slows down, since a word</a:t>
            </a:r>
          </a:p>
          <a:p>
            <a:r>
              <a:t>with no retail twin is where retail habits mislead. The dossier from Monday, section 6, defines each.</a:t>
            </a:r>
          </a:p>
          <a:p>
            <a:r>
              <a:t>Transition: the data made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log's shape is Week 1 Wednesday's: field, issue, rows, decision, reason.</a:t>
            </a:r>
          </a:p>
          <a:p>
            <a:r>
              <a:t>Show the three calls that moved the most rows or dollars, and one row you kept, since the row you</a:t>
            </a:r>
          </a:p>
          <a:p>
            <a:r>
              <a:t>kept is the one an auditor asks about. Say the reconciliation as counts: rows in, rows kept, rows set</a:t>
            </a:r>
          </a:p>
          <a:p>
            <a:r>
              <a:t>aside. The row here is invented to show the shape, and the real files' age bands have no blanks.</a:t>
            </a:r>
          </a:p>
          <a:p>
            <a:r>
              <a:t>Transition: a question on reasons.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Choose before the next slide. The test of a reason is whether it says what the</a:t>
            </a:r>
          </a:p>
          <a:p>
            <a:r>
              <a:t>row changes in the answer.</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answer is a. Option d is the tempting one, because small sounds safe; the</a:t>
            </a:r>
          </a:p>
          <a:p>
            <a:r>
              <a:t>auditor's question is which number the 14 rows sit in, and size alone never answers it.</a:t>
            </a:r>
          </a:p>
          <a:p>
            <a:r>
              <a:t>Transition: the charts.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Four minutes hold two or three charts; a fourth means the group is touring its</a:t>
            </a:r>
          </a:p>
          <a:p>
            <a:r>
              <a:t>notebook. On the invented quarter, a chart titled "Turnaround by quarter" makes the panel do the work,</a:t>
            </a:r>
          </a:p>
          <a:p>
            <a:r>
              <a:t>and "Median turnaround fell from 22 to 18 hours" does it for them.</a:t>
            </a:r>
          </a:p>
          <a:p>
            <a:r>
              <a:t>Transition: the last minute of the body.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change comes from your challenges log: the entry that cost the most time is</a:t>
            </a:r>
          </a:p>
          <a:p>
            <a:r>
              <a:t>usually the change worth naming. It names a behaviour, never a feeling, and the week close asks for</a:t>
            </a:r>
          </a:p>
          <a:p>
            <a:r>
              <a:t>the same sentence.</a:t>
            </a:r>
          </a:p>
          <a:p>
            <a:r>
              <a:t>Transition: section 4,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about 5 minutes over D23 to D29, with S24 and S26 shown at the opening. The demo is the</a:t>
            </a:r>
          </a:p>
          <a:p>
            <a:r>
              <a:t>evidence that the claim came from the data.</a:t>
            </a:r>
          </a:p>
          <a:p>
            <a:r>
              <a:t>Transition: who needs the demo.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Five questions, each with its own slide.</a:t>
            </a:r>
          </a:p>
          <a:p>
            <a:r>
              <a:t>Transition: the three rules.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The demo shows two things: the claim's main number arriving from the</a:t>
            </a:r>
          </a:p>
          <a:p>
            <a:r>
              <a:t>raw files, and your decisions log's largest call happening in code.</a:t>
            </a:r>
          </a:p>
          <a:p>
            <a:r>
              <a:t>Transition: what cold means.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After the freeze, slide wording may change and no number may; an error found</a:t>
            </a:r>
          </a:p>
          <a:p>
            <a:r>
              <a:t>after the freeze is stated on the day as a caveat, with the right number. Before each slot a TA checks</a:t>
            </a:r>
          </a:p>
          <a:p>
            <a:r>
              <a:t>that the Codespace is on your frozen commit, and a later commit that changes code or a number is shown</a:t>
            </a:r>
          </a:p>
          <a:p>
            <a:r>
              <a:t>to the panel, which decides.</a:t>
            </a:r>
          </a:p>
          <a:p>
            <a:r>
              <a:t>Transition: what happens if it fails.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The rule, word for word: a group's demo runs once, cold, on its raw</a:t>
            </a:r>
          </a:p>
          <a:p>
            <a:r>
              <a:t>files. If it fails, the group has two minutes to recover it live, as it would in front of a client.</a:t>
            </a:r>
          </a:p>
          <a:p>
            <a:r>
              <a:t>If it still fails, the group presents from its executed notebook, and the panel scores the live demo</a:t>
            </a:r>
          </a:p>
          <a:p>
            <a:r>
              <a:t>in presentation and defence as not run cold. The other 34 marks of the mini project are scored from</a:t>
            </a:r>
          </a:p>
          <a:p>
            <a:r>
              <a:t>the executed run.</a:t>
            </a:r>
          </a:p>
          <a:p>
            <a:r>
              <a:t>Transition: a question on plans.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Choose before the next slide. Most readers split between c and d; the two-minute</a:t>
            </a:r>
          </a:p>
          <a:p>
            <a:r>
              <a:t>limit is what separates them.</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answer is d. Option a is the comfortable one, and it scores like a failed</a:t>
            </a:r>
          </a:p>
          <a:p>
            <a:r>
              <a:t>demo without the two minutes in which a group can recover.</a:t>
            </a:r>
          </a:p>
          <a:p>
            <a:r>
              <a:t>Transition: what a failure costs.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How far below full marks is the panel's call, and the analysis keeps every mark</a:t>
            </a:r>
          </a:p>
          <a:p>
            <a:r>
              <a:t>it earned. A hardware or Codespace failure is the machine's, so the group gets its cold run later in</a:t>
            </a:r>
          </a:p>
          <a:p>
            <a:r>
              <a:t>the same room.</a:t>
            </a:r>
          </a:p>
          <a:p>
            <a:r>
              <a:t>Transition: section 5, whether the claim holds.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about 6 minutes over D30 to D37, with S31 shown at the opening. The panel's eight to ten</a:t>
            </a:r>
          </a:p>
          <a:p>
            <a:r>
              <a:t>minutes test whether the answer survives, and every member answers.</a:t>
            </a:r>
          </a:p>
          <a:p>
            <a:r>
              <a:t>Transition: who needs the answers.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Five questions, answered in order.</a:t>
            </a:r>
          </a:p>
          <a:p>
            <a:r>
              <a:t>Transition: the five kinds.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The quietest-member question goes to whoever has spoken least; every</a:t>
            </a:r>
          </a:p>
          <a:p>
            <a:r>
              <a:t>member should be able to explain the claim, one decision from the log and one chart. Groups on the</a:t>
            </a:r>
          </a:p>
          <a:p>
            <a:r>
              <a:t>same question present back to back, so the other-group question is real.</a:t>
            </a:r>
          </a:p>
          <a:p>
            <a:r>
              <a:t>Transition: how to hold a caveat.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These are the three moves of the Week 1 Friday rehearsal, said to a panel</a:t>
            </a:r>
          </a:p>
          <a:p>
            <a:r>
              <a:t>instead of a partner playing Marketing. Narrowing a claim under challenge is a strong answer, and</a:t>
            </a:r>
          </a:p>
          <a:p>
            <a:r>
              <a:t>defending an overreach is a weak one.</a:t>
            </a:r>
          </a:p>
          <a:p>
            <a:r>
              <a:t>Transition: the three moves on one invented challenge.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figures are invented, on the lab director's question, which none of your</a:t>
            </a:r>
          </a:p>
          <a:p>
            <a:r>
              <a:t>groups took. Say the answer aloud in under a minute: the claim with its count, what the data can and</a:t>
            </a:r>
          </a:p>
          <a:p>
            <a:r>
              <a:t>cannot say, and the check with its date.</a:t>
            </a:r>
          </a:p>
          <a:p>
            <a:r>
              <a:t>Transition: a question on replies.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Choose before the next slide. The strong reply narrows the claim and names the</a:t>
            </a:r>
          </a:p>
          <a:p>
            <a:r>
              <a:t>check that would settle it.</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answer is c. Under challenge, narrow and name the check; never defend</a:t>
            </a:r>
          </a:p>
          <a:p>
            <a:r>
              <a:t>blindly and never fold.</a:t>
            </a:r>
          </a:p>
          <a:p>
            <a:r>
              <a:t>Transition: when two answers are both honest.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invented turnaround quarter once more: the doctor waits 18 hours from the</a:t>
            </a:r>
          </a:p>
          <a:p>
            <a:r>
              <a:t>draw, and the lab's own clock says 14. Both are true, and a board needs to hear which one answers its</a:t>
            </a:r>
          </a:p>
          <a:p>
            <a:r>
              <a:t>question. The panel hears groups on the same question back to back, so expect to be asked about the</a:t>
            </a:r>
          </a:p>
          <a:p>
            <a:r>
              <a:t>group before you.</a:t>
            </a:r>
          </a:p>
          <a:p>
            <a:r>
              <a:t>Transition: what every member explains alone.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A member who cannot answer is questioned again alone, in the room's reserve,</a:t>
            </a:r>
          </a:p>
          <a:p>
            <a:r>
              <a:t>before that member's presentation and defence is scored; the group's 34 do not wait.</a:t>
            </a:r>
          </a:p>
          <a:p>
            <a:r>
              <a:t>Transition: section 6, how the slot is scored.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about 4 minutes over D38 to S42. Learners may see the rubrics, which the requester</a:t>
            </a:r>
          </a:p>
          <a:p>
            <a:r>
              <a:t>approved on 29 September 2026.</a:t>
            </a:r>
          </a:p>
          <a:p>
            <a:r>
              <a:t>Transition: who needs the scoring.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Four questions, in order.</a:t>
            </a:r>
          </a:p>
          <a:p>
            <a:r>
              <a:t>Transition: what every group ships.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two logs sit in Monday's briefs folder, beside the briefing note, your</a:t>
            </a:r>
          </a:p>
          <a:p>
            <a:r>
              <a:t>question's brief, the data dictionary and the translation worksheet.</a:t>
            </a:r>
          </a:p>
          <a:p>
            <a:r>
              <a:t>Transition: the rubric.</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Point at the last row: the live demo sits inside presentation and defence, so a</a:t>
            </a:r>
          </a:p>
          <a:p>
            <a:r>
              <a:t>demo that still fails after its two minutes costs those marks and leaves the other 34 to the executed</a:t>
            </a:r>
          </a:p>
          <a:p>
            <a:r>
              <a:t>run.</a:t>
            </a:r>
          </a:p>
          <a:p>
            <a:r>
              <a:t>Transition: the other two scores.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1 minute. The marks per event are locked, and the three rubrics are public. The GD rounds</a:t>
            </a:r>
          </a:p>
          <a:p>
            <a:r>
              <a:t>ran on Friday 23 October and close on the morning of Saturday 24 October; Mock R1 ran on Thursday 22</a:t>
            </a:r>
          </a:p>
          <a:p>
            <a:r>
              <a:t>October. No score is read aloud in the room.</a:t>
            </a:r>
          </a:p>
          <a:p>
            <a:r>
              <a:t>Transition: the last hour before your slot.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at the opening, as the last slide shown; SELF-STUDY on the night before. The answer</a:t>
            </a:r>
          </a:p>
          <a:p>
            <a:r>
              <a:t>to the day's question, which branch is short and whether the answer holds, is a claim with its</a:t>
            </a:r>
          </a:p>
          <a:p>
            <a:r>
              <a:t>denominator, a caveat each member can defend, and a number the panel watched arrive from the raw files.</a:t>
            </a:r>
          </a:p>
          <a:p>
            <a:r>
              <a:t>Close on the interview question and leave it on screen while the first group sets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 Id="rId5"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9.xml"/><Relationship Id="rId5"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2.xml"/><Relationship Id="rId5"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6.png"/><Relationship Id="rId6" Type="http://schemas.openxmlformats.org/officeDocument/2006/relationships/image" Target="../media/image30.png"/><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4140721"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3  ·  BUILD 1  ·  THE PRESENTATION</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Does your answer to Dr Menon hold in front of a panel?</a:t>
            </a:r>
          </a:p>
        </p:txBody>
      </p:sp>
      <p:sp>
        <p:nvSpPr>
          <p:cNvPr id="9" name="TextBox 8"/>
          <p:cNvSpPr txBox="1"/>
          <p:nvPr/>
        </p:nvSpPr>
        <p:spPr>
          <a:xfrm>
            <a:off x="621792" y="4263136"/>
            <a:ext cx="10033711" cy="977645"/>
          </a:xfrm>
          <a:prstGeom prst="rect">
            <a:avLst/>
          </a:prstGeom>
          <a:noFill/>
        </p:spPr>
        <p:txBody>
          <a:bodyPr wrap="square" anchor="t" lIns="0" rIns="0" tIns="0" bIns="0">
            <a:spAutoFit/>
          </a:bodyPr>
          <a:lstStyle/>
          <a:p>
            <a:pPr algn="l"/>
            <a:r>
              <a:rPr sz="1900" b="0" i="1">
                <a:solidFill>
                  <a:srgbClr val="D9A7FF"/>
                </a:solidFill>
                <a:latin typeface="Georgia"/>
              </a:rPr>
              <a:t>“My dashboard says test volumes grew 5 percent from Q2 to Q3. The plan the board approved asks for 18. Which branch of my business is short, and what do I do next?”</a:t>
            </a:r>
          </a:p>
        </p:txBody>
      </p:sp>
      <p:sp>
        <p:nvSpPr>
          <p:cNvPr id="10" name="TextBox 9"/>
          <p:cNvSpPr txBox="1"/>
          <p:nvPr/>
        </p:nvSpPr>
        <p:spPr>
          <a:xfrm>
            <a:off x="621792" y="5295646"/>
            <a:ext cx="10033711" cy="218186"/>
          </a:xfrm>
          <a:prstGeom prst="rect">
            <a:avLst/>
          </a:prstGeom>
          <a:noFill/>
        </p:spPr>
        <p:txBody>
          <a:bodyPr wrap="square" anchor="t" lIns="0" rIns="0" tIns="0" bIns="0">
            <a:spAutoFit/>
          </a:bodyPr>
          <a:lstStyle/>
          <a:p>
            <a:pPr algn="l"/>
            <a:r>
              <a:rPr sz="1100" b="0" i="0">
                <a:solidFill>
                  <a:srgbClr val="CFC9EE"/>
                </a:solidFill>
                <a:latin typeface="Calibri"/>
              </a:rPr>
              <a:t>Dr Priya Menon, COO, Kalpa Health, to the data and AI team at Kalpa's Global Capability Centre</a:t>
            </a:r>
          </a:p>
        </p:txBody>
      </p:sp>
      <p:sp>
        <p:nvSpPr>
          <p:cNvPr id="11" name="TextBox 10"/>
          <p:cNvSpPr txBox="1"/>
          <p:nvPr/>
        </p:nvSpPr>
        <p:spPr>
          <a:xfrm>
            <a:off x="621792"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870448"/>
            <a:ext cx="1602486" cy="185166"/>
          </a:xfrm>
          <a:prstGeom prst="rect">
            <a:avLst/>
          </a:prstGeom>
          <a:noFill/>
        </p:spPr>
        <p:txBody>
          <a:bodyPr wrap="square" anchor="t" lIns="0" rIns="0" tIns="0" bIns="0">
            <a:spAutoFit/>
          </a:bodyPr>
          <a:lstStyle/>
          <a:p>
            <a:pPr algn="l"/>
            <a:r>
              <a:rPr sz="900" b="0" i="0">
                <a:solidFill>
                  <a:srgbClr val="FFFFFF"/>
                </a:solidFill>
                <a:latin typeface="Calibri"/>
              </a:rPr>
              <a:t>What will the panel ask?</a:t>
            </a:r>
          </a:p>
        </p:txBody>
      </p:sp>
      <p:sp>
        <p:nvSpPr>
          <p:cNvPr id="13" name="TextBox 12"/>
          <p:cNvSpPr txBox="1"/>
          <p:nvPr/>
        </p:nvSpPr>
        <p:spPr>
          <a:xfrm>
            <a:off x="2791206"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175254" y="5870448"/>
            <a:ext cx="1543335" cy="185166"/>
          </a:xfrm>
          <a:prstGeom prst="rect">
            <a:avLst/>
          </a:prstGeom>
          <a:noFill/>
        </p:spPr>
        <p:txBody>
          <a:bodyPr wrap="square" anchor="t" lIns="0" rIns="0" tIns="0" bIns="0">
            <a:spAutoFit/>
          </a:bodyPr>
          <a:lstStyle/>
          <a:p>
            <a:pPr algn="l"/>
            <a:r>
              <a:rPr sz="900" b="0" i="0">
                <a:solidFill>
                  <a:srgbClr val="FFFFFF"/>
                </a:solidFill>
                <a:latin typeface="Calibri"/>
              </a:rPr>
              <a:t>What goes on one slide?</a:t>
            </a:r>
          </a:p>
        </p:txBody>
      </p:sp>
      <p:sp>
        <p:nvSpPr>
          <p:cNvPr id="15" name="TextBox 14"/>
          <p:cNvSpPr txBox="1"/>
          <p:nvPr/>
        </p:nvSpPr>
        <p:spPr>
          <a:xfrm>
            <a:off x="4901469"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285517" y="5870448"/>
            <a:ext cx="1602486" cy="185166"/>
          </a:xfrm>
          <a:prstGeom prst="rect">
            <a:avLst/>
          </a:prstGeom>
          <a:noFill/>
        </p:spPr>
        <p:txBody>
          <a:bodyPr wrap="square" anchor="t" lIns="0" rIns="0" tIns="0" bIns="0">
            <a:spAutoFit/>
          </a:bodyPr>
          <a:lstStyle/>
          <a:p>
            <a:pPr algn="l"/>
            <a:r>
              <a:rPr sz="900" b="0" i="0">
                <a:solidFill>
                  <a:srgbClr val="FFFFFF"/>
                </a:solidFill>
                <a:latin typeface="Calibri"/>
              </a:rPr>
              <a:t>How is the claim earned?</a:t>
            </a:r>
          </a:p>
        </p:txBody>
      </p:sp>
      <p:sp>
        <p:nvSpPr>
          <p:cNvPr id="17" name="TextBox 16"/>
          <p:cNvSpPr txBox="1"/>
          <p:nvPr/>
        </p:nvSpPr>
        <p:spPr>
          <a:xfrm>
            <a:off x="7070883"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454931" y="5870448"/>
            <a:ext cx="1543335" cy="185166"/>
          </a:xfrm>
          <a:prstGeom prst="rect">
            <a:avLst/>
          </a:prstGeom>
          <a:noFill/>
        </p:spPr>
        <p:txBody>
          <a:bodyPr wrap="square" anchor="t" lIns="0" rIns="0" tIns="0" bIns="0">
            <a:spAutoFit/>
          </a:bodyPr>
          <a:lstStyle/>
          <a:p>
            <a:pPr algn="l"/>
            <a:r>
              <a:rPr sz="900" b="0" i="0">
                <a:solidFill>
                  <a:srgbClr val="FFFFFF"/>
                </a:solidFill>
                <a:latin typeface="Calibri"/>
              </a:rPr>
              <a:t>What if the demo fails?</a:t>
            </a:r>
          </a:p>
        </p:txBody>
      </p:sp>
      <p:sp>
        <p:nvSpPr>
          <p:cNvPr id="19" name="TextBox 18"/>
          <p:cNvSpPr txBox="1"/>
          <p:nvPr/>
        </p:nvSpPr>
        <p:spPr>
          <a:xfrm>
            <a:off x="9181147"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9565195" y="5870448"/>
            <a:ext cx="1365885" cy="185166"/>
          </a:xfrm>
          <a:prstGeom prst="rect">
            <a:avLst/>
          </a:prstGeom>
          <a:noFill/>
        </p:spPr>
        <p:txBody>
          <a:bodyPr wrap="square" anchor="t" lIns="0" rIns="0" tIns="0" bIns="0">
            <a:spAutoFit/>
          </a:bodyPr>
          <a:lstStyle/>
          <a:p>
            <a:pPr algn="l"/>
            <a:r>
              <a:rPr sz="900" b="0" i="0">
                <a:solidFill>
                  <a:srgbClr val="FFFFFF"/>
                </a:solidFill>
                <a:latin typeface="Calibri"/>
              </a:rPr>
              <a:t>Does the claim hold?</a:t>
            </a:r>
          </a:p>
        </p:txBody>
      </p:sp>
      <p:sp>
        <p:nvSpPr>
          <p:cNvPr id="21" name="TextBox 20"/>
          <p:cNvSpPr txBox="1"/>
          <p:nvPr/>
        </p:nvSpPr>
        <p:spPr>
          <a:xfrm>
            <a:off x="621792" y="6254496"/>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22" name="TextBox 21"/>
          <p:cNvSpPr txBox="1"/>
          <p:nvPr/>
        </p:nvSpPr>
        <p:spPr>
          <a:xfrm>
            <a:off x="1005839" y="6291072"/>
            <a:ext cx="1188434" cy="185166"/>
          </a:xfrm>
          <a:prstGeom prst="rect">
            <a:avLst/>
          </a:prstGeom>
          <a:noFill/>
        </p:spPr>
        <p:txBody>
          <a:bodyPr wrap="square" anchor="t" lIns="0" rIns="0" tIns="0" bIns="0">
            <a:spAutoFit/>
          </a:bodyPr>
          <a:lstStyle/>
          <a:p>
            <a:pPr algn="l"/>
            <a:r>
              <a:rPr sz="900" b="0" i="0">
                <a:solidFill>
                  <a:srgbClr val="FFFFFF"/>
                </a:solidFill>
                <a:latin typeface="Calibri"/>
              </a:rPr>
              <a:t>How is it scored?</a:t>
            </a:r>
          </a:p>
        </p:txBody>
      </p:sp>
      <p:sp>
        <p:nvSpPr>
          <p:cNvPr id="23" name="TextBox 2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Does your answer to Dr Menon hold in front of a panel?</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questions turn her ask into your 30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branch of Kalpa Health is short, and does your answer hold when a panel tests it live on the raw files?</a:t>
            </a:r>
          </a:p>
        </p:txBody>
      </p:sp>
      <p:pic>
        <p:nvPicPr>
          <p:cNvPr id="9" name="mermaid diagram" descr="1bb0a9ae216543f4.png"/>
          <p:cNvPicPr>
            <a:picLocks noChangeAspect="1"/>
          </p:cNvPicPr>
          <p:nvPr/>
        </p:nvPicPr>
        <p:blipFill>
          <a:blip r:embed="rId5"/>
          <a:stretch>
            <a:fillRect/>
          </a:stretch>
        </p:blipFill>
        <p:spPr>
          <a:xfrm>
            <a:off x="2373953" y="1682496"/>
            <a:ext cx="7443787" cy="3414712"/>
          </a:xfrm>
          <a:prstGeom prst="rect">
            <a:avLst/>
          </a:prstGeom>
        </p:spPr>
      </p:pic>
      <p:sp>
        <p:nvSpPr>
          <p:cNvPr id="10" name="TextBox 9"/>
          <p:cNvSpPr txBox="1"/>
          <p:nvPr/>
        </p:nvSpPr>
        <p:spPr>
          <a:xfrm>
            <a:off x="530352" y="524351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Your group answers one of the five questions Dr Menon's heads asked on Monday, and your slot is where her answer is tested.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19" name="Oval 18"/>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1" name="Oval 20"/>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49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will the panel ask?</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does Dr Menon need from your 25 to 30 minutes, and in what order will the panel ask for it?</a:t>
            </a:r>
          </a:p>
        </p:txBody>
      </p:sp>
      <p:sp>
        <p:nvSpPr>
          <p:cNvPr id="10" name="Rounded Rectangle 9"/>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will the panel ask?</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slide?</a:t>
            </a:r>
          </a:p>
        </p:txBody>
      </p:sp>
      <p:sp>
        <p:nvSpPr>
          <p:cNvPr id="12" name="Rounded Rectangle 11"/>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the claim earned?</a:t>
            </a:r>
          </a:p>
        </p:txBody>
      </p:sp>
      <p:sp>
        <p:nvSpPr>
          <p:cNvPr id="13" name="Rounded Rectangle 12"/>
          <p:cNvSpPr/>
          <p:nvPr/>
        </p:nvSpPr>
        <p:spPr>
          <a:xfrm>
            <a:off x="636231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if the demo fails?</a:t>
            </a:r>
          </a:p>
        </p:txBody>
      </p:sp>
      <p:sp>
        <p:nvSpPr>
          <p:cNvPr id="14" name="Rounded Rectangle 13"/>
          <p:cNvSpPr/>
          <p:nvPr/>
        </p:nvSpPr>
        <p:spPr>
          <a:xfrm>
            <a:off x="819977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claim hold?</a:t>
            </a:r>
          </a:p>
        </p:txBody>
      </p:sp>
      <p:sp>
        <p:nvSpPr>
          <p:cNvPr id="15" name="Rounded Rectangle 14"/>
          <p:cNvSpPr/>
          <p:nvPr/>
        </p:nvSpPr>
        <p:spPr>
          <a:xfrm>
            <a:off x="9859580" y="5074920"/>
            <a:ext cx="137243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it scored?</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Saturday: does your answer hold in front of the panel?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panel stands in for Dr Menon's board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from your slot, and which questions come on the way?</a:t>
            </a:r>
          </a:p>
        </p:txBody>
      </p:sp>
      <p:sp>
        <p:nvSpPr>
          <p:cNvPr id="10" name="Rounded Rectangle 9"/>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Dr Priya Menon, COO of Kalpa Health, who carries one sentence per question into her board meeting; the panel asks what her board would ask, and a slot that tours a notebook leaves her nothing to carry.</a:t>
            </a:r>
          </a:p>
        </p:txBody>
      </p:sp>
      <p:sp>
        <p:nvSpPr>
          <p:cNvPr id="13" name="Rectangle 12"/>
          <p:cNvSpPr/>
          <p:nvPr/>
        </p:nvSpPr>
        <p:spPr>
          <a:xfrm>
            <a:off x="1853145" y="37627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75256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0827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42291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panel</a:t>
            </a:r>
          </a:p>
        </p:txBody>
      </p:sp>
      <p:sp>
        <p:nvSpPr>
          <p:cNvPr id="18" name="TextBox 17"/>
          <p:cNvSpPr txBox="1"/>
          <p:nvPr/>
        </p:nvSpPr>
        <p:spPr>
          <a:xfrm>
            <a:off x="694944" y="4516882"/>
            <a:ext cx="2316403" cy="366776"/>
          </a:xfrm>
          <a:prstGeom prst="rect">
            <a:avLst/>
          </a:prstGeom>
          <a:noFill/>
        </p:spPr>
        <p:txBody>
          <a:bodyPr wrap="square" anchor="t" lIns="0" rIns="0" tIns="0" bIns="0">
            <a:spAutoFit/>
          </a:bodyPr>
          <a:lstStyle/>
          <a:p>
            <a:pPr algn="l"/>
            <a:r>
              <a:rPr sz="1000" b="0" i="0">
                <a:solidFill>
                  <a:srgbClr val="6B6690"/>
                </a:solidFill>
                <a:latin typeface="Calibri"/>
              </a:rPr>
              <a:t>Who sits on the panel, and what has it seen before your slot?</a:t>
            </a:r>
          </a:p>
        </p:txBody>
      </p:sp>
      <p:sp>
        <p:nvSpPr>
          <p:cNvPr id="19" name="TextBox 18"/>
          <p:cNvSpPr txBox="1"/>
          <p:nvPr/>
        </p:nvSpPr>
        <p:spPr>
          <a:xfrm>
            <a:off x="3358819"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4581029"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0827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4229100"/>
            <a:ext cx="2316403" cy="251205"/>
          </a:xfrm>
          <a:prstGeom prst="rect">
            <a:avLst/>
          </a:prstGeom>
          <a:noFill/>
        </p:spPr>
        <p:txBody>
          <a:bodyPr wrap="square" anchor="t" lIns="0" rIns="0" tIns="0" bIns="0">
            <a:spAutoFit/>
          </a:bodyPr>
          <a:lstStyle/>
          <a:p>
            <a:pPr algn="l"/>
            <a:r>
              <a:rPr sz="1300" b="1" i="0">
                <a:solidFill>
                  <a:srgbClr val="1A0F5C"/>
                </a:solidFill>
                <a:latin typeface="Calibri"/>
              </a:rPr>
              <a:t>Her questions</a:t>
            </a:r>
          </a:p>
        </p:txBody>
      </p:sp>
      <p:sp>
        <p:nvSpPr>
          <p:cNvPr id="23" name="TextBox 22"/>
          <p:cNvSpPr txBox="1"/>
          <p:nvPr/>
        </p:nvSpPr>
        <p:spPr>
          <a:xfrm>
            <a:off x="3523411" y="4516882"/>
            <a:ext cx="2316403" cy="366776"/>
          </a:xfrm>
          <a:prstGeom prst="rect">
            <a:avLst/>
          </a:prstGeom>
          <a:noFill/>
        </p:spPr>
        <p:txBody>
          <a:bodyPr wrap="square" anchor="t" lIns="0" rIns="0" tIns="0" bIns="0">
            <a:spAutoFit/>
          </a:bodyPr>
          <a:lstStyle/>
          <a:p>
            <a:pPr algn="l"/>
            <a:r>
              <a:rPr sz="1000" b="0" i="0">
                <a:solidFill>
                  <a:srgbClr val="6B6690"/>
                </a:solidFill>
                <a:latin typeface="Calibri"/>
              </a:rPr>
              <a:t>Which four questions does Dr Menon ask every group?</a:t>
            </a:r>
          </a:p>
        </p:txBody>
      </p:sp>
      <p:sp>
        <p:nvSpPr>
          <p:cNvPr id="24" name="TextBox 23"/>
          <p:cNvSpPr txBox="1"/>
          <p:nvPr/>
        </p:nvSpPr>
        <p:spPr>
          <a:xfrm>
            <a:off x="6187287"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7409497"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0827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42291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minutes</a:t>
            </a:r>
          </a:p>
        </p:txBody>
      </p:sp>
      <p:sp>
        <p:nvSpPr>
          <p:cNvPr id="28" name="TextBox 27"/>
          <p:cNvSpPr txBox="1"/>
          <p:nvPr/>
        </p:nvSpPr>
        <p:spPr>
          <a:xfrm>
            <a:off x="6351879" y="4516882"/>
            <a:ext cx="2316403" cy="366776"/>
          </a:xfrm>
          <a:prstGeom prst="rect">
            <a:avLst/>
          </a:prstGeom>
          <a:noFill/>
        </p:spPr>
        <p:txBody>
          <a:bodyPr wrap="square" anchor="t" lIns="0" rIns="0" tIns="0" bIns="0">
            <a:spAutoFit/>
          </a:bodyPr>
          <a:lstStyle/>
          <a:p>
            <a:pPr algn="l"/>
            <a:r>
              <a:rPr sz="1000" b="0" i="0">
                <a:solidFill>
                  <a:srgbClr val="6B6690"/>
                </a:solidFill>
                <a:latin typeface="Calibri"/>
              </a:rPr>
              <a:t>How do the 25 to 30 minutes of a slot split?</a:t>
            </a:r>
          </a:p>
        </p:txBody>
      </p:sp>
      <p:sp>
        <p:nvSpPr>
          <p:cNvPr id="29" name="TextBox 28"/>
          <p:cNvSpPr txBox="1"/>
          <p:nvPr/>
        </p:nvSpPr>
        <p:spPr>
          <a:xfrm>
            <a:off x="9015755"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10237965"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082796"/>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4229100"/>
            <a:ext cx="2316403" cy="251205"/>
          </a:xfrm>
          <a:prstGeom prst="rect">
            <a:avLst/>
          </a:prstGeom>
          <a:noFill/>
        </p:spPr>
        <p:txBody>
          <a:bodyPr wrap="square" anchor="t" lIns="0" rIns="0" tIns="0" bIns="0">
            <a:spAutoFit/>
          </a:bodyPr>
          <a:lstStyle/>
          <a:p>
            <a:pPr algn="l"/>
            <a:r>
              <a:rPr sz="1300" b="1" i="0">
                <a:solidFill>
                  <a:srgbClr val="FFFFFF"/>
                </a:solidFill>
                <a:latin typeface="Calibri"/>
              </a:rPr>
              <a:t>Her heads' numbers</a:t>
            </a:r>
          </a:p>
        </p:txBody>
      </p:sp>
      <p:sp>
        <p:nvSpPr>
          <p:cNvPr id="33" name="TextBox 32"/>
          <p:cNvSpPr txBox="1"/>
          <p:nvPr/>
        </p:nvSpPr>
        <p:spPr>
          <a:xfrm>
            <a:off x="9180347" y="4516882"/>
            <a:ext cx="2316403" cy="366776"/>
          </a:xfrm>
          <a:prstGeom prst="rect">
            <a:avLst/>
          </a:prstGeom>
          <a:noFill/>
        </p:spPr>
        <p:txBody>
          <a:bodyPr wrap="square" anchor="t" lIns="0" rIns="0" tIns="0" bIns="0">
            <a:spAutoFit/>
          </a:bodyPr>
          <a:lstStyle/>
          <a:p>
            <a:pPr algn="l"/>
            <a:r>
              <a:rPr sz="1000" b="0" i="0">
                <a:solidFill>
                  <a:srgbClr val="CFC9EE"/>
                </a:solidFill>
                <a:latin typeface="Calibri"/>
              </a:rPr>
              <a:t>Which numbers has her team already given you?</a:t>
            </a:r>
          </a:p>
        </p:txBody>
      </p:sp>
      <p:sp>
        <p:nvSpPr>
          <p:cNvPr id="34" name="Oval 3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will the panel ask?</a:t>
            </a:r>
          </a:p>
        </p:txBody>
      </p:sp>
      <p:sp>
        <p:nvSpPr>
          <p:cNvPr id="36" name="Oval 3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38" name="Oval 3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0" name="Oval 3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2" name="Oval 41"/>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4" name="Oval 43"/>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  ·  4 /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Two panels hear you, and neither has seen your work</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sits on the panel, and what have they seen before your slot?</a:t>
            </a:r>
          </a:p>
        </p:txBody>
      </p:sp>
      <p:pic>
        <p:nvPicPr>
          <p:cNvPr id="10" name="mermaid diagram" descr="026e02160bcac3ed.png"/>
          <p:cNvPicPr>
            <a:picLocks noChangeAspect="1"/>
          </p:cNvPicPr>
          <p:nvPr/>
        </p:nvPicPr>
        <p:blipFill>
          <a:blip r:embed="rId5"/>
          <a:stretch>
            <a:fillRect/>
          </a:stretch>
        </p:blipFill>
        <p:spPr>
          <a:xfrm>
            <a:off x="845191" y="1956816"/>
            <a:ext cx="10501312" cy="1371600"/>
          </a:xfrm>
          <a:prstGeom prst="rect">
            <a:avLst/>
          </a:prstGeom>
        </p:spPr>
      </p:pic>
      <p:graphicFrame>
        <p:nvGraphicFramePr>
          <p:cNvPr id="11" name="Table 10"/>
          <p:cNvGraphicFramePr>
            <a:graphicFrameLocks noGrp="1"/>
          </p:cNvGraphicFramePr>
          <p:nvPr/>
        </p:nvGraphicFramePr>
        <p:xfrm>
          <a:off x="530352" y="3474720"/>
          <a:ext cx="11130990" cy="1109472"/>
        </p:xfrm>
        <a:graphic>
          <a:graphicData uri="http://schemas.openxmlformats.org/drawingml/2006/table">
            <a:tbl>
              <a:tblPr firstRow="0" bandRow="0">
                <a:tableStyleId>{2D5ABB26-0587-4C30-8999-92F81FD0307C}</a:tableStyleId>
              </a:tblPr>
              <a:tblGrid>
                <a:gridCol w="3218922"/>
                <a:gridCol w="2425109"/>
                <a:gridCol w="5486959"/>
              </a:tblGrid>
              <a:tr h="369824">
                <a:tc>
                  <a:txBody>
                    <a:bodyPr/>
                    <a:lstStyle/>
                    <a:p>
                      <a:r>
                        <a:rPr sz="1450" b="1" i="0">
                          <a:solidFill>
                            <a:srgbClr val="FFFFFF"/>
                          </a:solidFill>
                          <a:latin typeface="Calibri"/>
                        </a:rPr>
                        <a:t>Who</a:t>
                      </a:r>
                    </a:p>
                  </a:txBody>
                  <a:tcPr marL="101600" marR="101600" marT="38100" marB="38100" anchor="ctr">
                    <a:solidFill>
                      <a:srgbClr val="1A0F5C"/>
                    </a:solidFill>
                  </a:tcPr>
                </a:tc>
                <a:tc>
                  <a:txBody>
                    <a:bodyPr/>
                    <a:lstStyle/>
                    <a:p>
                      <a:r>
                        <a:rPr sz="1450" b="1" i="0">
                          <a:solidFill>
                            <a:srgbClr val="FFFFFF"/>
                          </a:solidFill>
                          <a:latin typeface="Calibri"/>
                        </a:rPr>
                        <a:t>When</a:t>
                      </a:r>
                    </a:p>
                  </a:txBody>
                  <a:tcPr marL="101600" marR="101600" marT="38100" marB="38100" anchor="ctr">
                    <a:solidFill>
                      <a:srgbClr val="1A0F5C"/>
                    </a:solidFill>
                  </a:tcPr>
                </a:tc>
                <a:tc>
                  <a:txBody>
                    <a:bodyPr/>
                    <a:lstStyle/>
                    <a:p>
                      <a:r>
                        <a:rPr sz="1450" b="1" i="0">
                          <a:solidFill>
                            <a:srgbClr val="FFFFFF"/>
                          </a:solidFill>
                          <a:latin typeface="Calibri"/>
                        </a:rPr>
                        <a:t>What they have seen</a:t>
                      </a:r>
                    </a:p>
                  </a:txBody>
                  <a:tcPr marL="101600" marR="101600" marT="38100" marB="38100" anchor="ctr">
                    <a:solidFill>
                      <a:srgbClr val="1A0F5C"/>
                    </a:solidFill>
                  </a:tcPr>
                </a:tc>
              </a:tr>
              <a:tr h="369824">
                <a:tc>
                  <a:txBody>
                    <a:bodyPr/>
                    <a:lstStyle/>
                    <a:p>
                      <a:r>
                        <a:rPr sz="1400" b="0" i="0">
                          <a:solidFill>
                            <a:srgbClr val="1A1440"/>
                          </a:solidFill>
                          <a:latin typeface="Calibri"/>
                        </a:rPr>
                        <a:t>The industry expert</a:t>
                      </a:r>
                    </a:p>
                  </a:txBody>
                  <a:tcPr marL="101600" marR="101600" marT="38100" marB="38100" anchor="ctr">
                    <a:solidFill>
                      <a:srgbClr val="FFFFFF"/>
                    </a:solidFill>
                  </a:tcPr>
                </a:tc>
                <a:tc>
                  <a:txBody>
                    <a:bodyPr/>
                    <a:lstStyle/>
                    <a:p>
                      <a:r>
                        <a:rPr sz="1400" b="0" i="0">
                          <a:solidFill>
                            <a:srgbClr val="1A1440"/>
                          </a:solidFill>
                          <a:latin typeface="Calibri"/>
                        </a:rPr>
                        <a:t>Friday and Saturday</a:t>
                      </a:r>
                    </a:p>
                  </a:txBody>
                  <a:tcPr marL="101600" marR="101600" marT="38100" marB="38100" anchor="ctr">
                    <a:solidFill>
                      <a:srgbClr val="FFFFFF"/>
                    </a:solidFill>
                  </a:tcPr>
                </a:tc>
                <a:tc>
                  <a:txBody>
                    <a:bodyPr/>
                    <a:lstStyle/>
                    <a:p>
                      <a:r>
                        <a:rPr sz="1400" b="0" i="0">
                          <a:solidFill>
                            <a:srgbClr val="1A1440"/>
                          </a:solidFill>
                          <a:latin typeface="Calibri"/>
                        </a:rPr>
                        <a:t>Dr Menon's questions, and nothing of your work</a:t>
                      </a:r>
                    </a:p>
                  </a:txBody>
                  <a:tcPr marL="101600" marR="101600" marT="38100" marB="38100" anchor="ctr">
                    <a:solidFill>
                      <a:srgbClr val="FFFFFF"/>
                    </a:solidFill>
                  </a:tcPr>
                </a:tc>
              </a:tr>
              <a:tr h="369824">
                <a:tc>
                  <a:txBody>
                    <a:bodyPr/>
                    <a:lstStyle/>
                    <a:p>
                      <a:r>
                        <a:rPr sz="1400" b="0" i="0">
                          <a:solidFill>
                            <a:srgbClr val="1A1440"/>
                          </a:solidFill>
                          <a:latin typeface="Calibri"/>
                        </a:rPr>
                        <a:t>The senior industry leader</a:t>
                      </a:r>
                    </a:p>
                  </a:txBody>
                  <a:tcPr marL="101600" marR="101600" marT="38100" marB="38100" anchor="ctr">
                    <a:solidFill>
                      <a:srgbClr val="F4F2FA"/>
                    </a:solidFill>
                  </a:tcPr>
                </a:tc>
                <a:tc>
                  <a:txBody>
                    <a:bodyPr/>
                    <a:lstStyle/>
                    <a:p>
                      <a:r>
                        <a:rPr sz="1400" b="0" i="0">
                          <a:solidFill>
                            <a:srgbClr val="1A1440"/>
                          </a:solidFill>
                          <a:latin typeface="Calibri"/>
                        </a:rPr>
                        <a:t>Saturday only</a:t>
                      </a:r>
                    </a:p>
                  </a:txBody>
                  <a:tcPr marL="101600" marR="101600" marT="38100" marB="38100" anchor="ctr">
                    <a:solidFill>
                      <a:srgbClr val="F4F2FA"/>
                    </a:solidFill>
                  </a:tcPr>
                </a:tc>
                <a:tc>
                  <a:txBody>
                    <a:bodyPr/>
                    <a:lstStyle/>
                    <a:p>
                      <a:r>
                        <a:rPr sz="1400" b="0" i="0">
                          <a:solidFill>
                            <a:srgbClr val="1A1440"/>
                          </a:solidFill>
                          <a:latin typeface="Calibri"/>
                        </a:rPr>
                        <a:t>The same, and they fly in for the day</a:t>
                      </a:r>
                    </a:p>
                  </a:txBody>
                  <a:tcPr marL="101600" marR="101600" marT="38100" marB="38100" anchor="ctr">
                    <a:solidFill>
                      <a:srgbClr val="F4F2FA"/>
                    </a:solidFill>
                  </a:tcPr>
                </a:tc>
              </a:tr>
            </a:tbl>
          </a:graphicData>
        </a:graphic>
      </p:graphicFrame>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  ·  5 / 49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Dr Menon asks four questions, always in one order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four questions does Dr Menon ask every group, and which part of your slot answers each?</a:t>
            </a:r>
          </a:p>
        </p:txBody>
      </p:sp>
      <p:sp>
        <p:nvSpPr>
          <p:cNvPr id="9" name="Rounded Rectangle 8"/>
          <p:cNvSpPr/>
          <p:nvPr/>
        </p:nvSpPr>
        <p:spPr>
          <a:xfrm>
            <a:off x="530352" y="195681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FFFFFF"/>
                </a:solidFill>
                <a:latin typeface="Calibri"/>
              </a:rPr>
              <a:t>"What did you find? How sure are you? What would change your mind? What do I do on Monday?"</a:t>
            </a:r>
          </a:p>
        </p:txBody>
      </p:sp>
      <p:graphicFrame>
        <p:nvGraphicFramePr>
          <p:cNvPr id="14" name="Table 13"/>
          <p:cNvGraphicFramePr>
            <a:graphicFrameLocks noGrp="1"/>
          </p:cNvGraphicFramePr>
          <p:nvPr/>
        </p:nvGraphicFramePr>
        <p:xfrm>
          <a:off x="530352" y="2983992"/>
          <a:ext cx="11130990" cy="1849120"/>
        </p:xfrm>
        <a:graphic>
          <a:graphicData uri="http://schemas.openxmlformats.org/drawingml/2006/table">
            <a:tbl>
              <a:tblPr firstRow="0" bandRow="0">
                <a:tableStyleId>{2D5ABB26-0587-4C30-8999-92F81FD0307C}</a:tableStyleId>
              </a:tblPr>
              <a:tblGrid>
                <a:gridCol w="3721894"/>
                <a:gridCol w="7409096"/>
              </a:tblGrid>
              <a:tr h="369824">
                <a:tc>
                  <a:txBody>
                    <a:bodyPr/>
                    <a:lstStyle/>
                    <a:p>
                      <a:r>
                        <a:rPr sz="1450" b="1" i="0">
                          <a:solidFill>
                            <a:srgbClr val="FFFFFF"/>
                          </a:solidFill>
                          <a:latin typeface="Calibri"/>
                        </a:rPr>
                        <a:t>Her question</a:t>
                      </a:r>
                    </a:p>
                  </a:txBody>
                  <a:tcPr marL="101600" marR="101600" marT="38100" marB="38100" anchor="ctr">
                    <a:solidFill>
                      <a:srgbClr val="1A0F5C"/>
                    </a:solidFill>
                  </a:tcPr>
                </a:tc>
                <a:tc>
                  <a:txBody>
                    <a:bodyPr/>
                    <a:lstStyle/>
                    <a:p>
                      <a:r>
                        <a:rPr sz="1450" b="1" i="0">
                          <a:solidFill>
                            <a:srgbClr val="FFFFFF"/>
                          </a:solidFill>
                          <a:latin typeface="Calibri"/>
                        </a:rPr>
                        <a:t>The part of your slot that answers it</a:t>
                      </a:r>
                    </a:p>
                  </a:txBody>
                  <a:tcPr marL="101600" marR="101600" marT="38100" marB="38100" anchor="ctr">
                    <a:solidFill>
                      <a:srgbClr val="1A0F5C"/>
                    </a:solidFill>
                  </a:tcPr>
                </a:tc>
              </a:tr>
              <a:tr h="369824">
                <a:tc>
                  <a:txBody>
                    <a:bodyPr/>
                    <a:lstStyle/>
                    <a:p>
                      <a:r>
                        <a:rPr sz="1400" b="0" i="0">
                          <a:solidFill>
                            <a:srgbClr val="1A1440"/>
                          </a:solidFill>
                          <a:latin typeface="Calibri"/>
                        </a:rPr>
                        <a:t>What did you find?</a:t>
                      </a:r>
                    </a:p>
                  </a:txBody>
                  <a:tcPr marL="101600" marR="101600" marT="38100" marB="38100" anchor="ctr">
                    <a:solidFill>
                      <a:srgbClr val="FFFFFF"/>
                    </a:solidFill>
                  </a:tcPr>
                </a:tc>
                <a:tc>
                  <a:txBody>
                    <a:bodyPr/>
                    <a:lstStyle/>
                    <a:p>
                      <a:r>
                        <a:rPr sz="1400" b="0" i="0">
                          <a:solidFill>
                            <a:srgbClr val="1A1440"/>
                          </a:solidFill>
                          <a:latin typeface="Calibri"/>
                        </a:rPr>
                        <a:t>The claim, on the one-slide answer, in your first two minutes</a:t>
                      </a:r>
                    </a:p>
                  </a:txBody>
                  <a:tcPr marL="101600" marR="101600" marT="38100" marB="38100" anchor="ctr">
                    <a:solidFill>
                      <a:srgbClr val="FFFFFF"/>
                    </a:solidFill>
                  </a:tcPr>
                </a:tc>
              </a:tr>
              <a:tr h="369824">
                <a:tc>
                  <a:txBody>
                    <a:bodyPr/>
                    <a:lstStyle/>
                    <a:p>
                      <a:r>
                        <a:rPr sz="1400" b="0" i="0">
                          <a:solidFill>
                            <a:srgbClr val="1A1440"/>
                          </a:solidFill>
                          <a:latin typeface="Calibri"/>
                        </a:rPr>
                        <a:t>How sure are you?</a:t>
                      </a:r>
                    </a:p>
                  </a:txBody>
                  <a:tcPr marL="101600" marR="101600" marT="38100" marB="38100" anchor="ctr">
                    <a:solidFill>
                      <a:srgbClr val="F4F2FA"/>
                    </a:solidFill>
                  </a:tcPr>
                </a:tc>
                <a:tc>
                  <a:txBody>
                    <a:bodyPr/>
                    <a:lstStyle/>
                    <a:p>
                      <a:r>
                        <a:rPr sz="1400" b="0" i="0">
                          <a:solidFill>
                            <a:srgbClr val="1A1440"/>
                          </a:solidFill>
                          <a:latin typeface="Calibri"/>
                        </a:rPr>
                        <a:t>The evidence: the data made trustworthy, the analysis and the live demo</a:t>
                      </a:r>
                    </a:p>
                  </a:txBody>
                  <a:tcPr marL="101600" marR="101600" marT="38100" marB="38100" anchor="ctr">
                    <a:solidFill>
                      <a:srgbClr val="F4F2FA"/>
                    </a:solidFill>
                  </a:tcPr>
                </a:tc>
              </a:tr>
              <a:tr h="369824">
                <a:tc>
                  <a:txBody>
                    <a:bodyPr/>
                    <a:lstStyle/>
                    <a:p>
                      <a:r>
                        <a:rPr sz="1400" b="0" i="0">
                          <a:solidFill>
                            <a:srgbClr val="1A1440"/>
                          </a:solidFill>
                          <a:latin typeface="Calibri"/>
                        </a:rPr>
                        <a:t>What would change your mind?</a:t>
                      </a:r>
                    </a:p>
                  </a:txBody>
                  <a:tcPr marL="101600" marR="101600" marT="38100" marB="38100" anchor="ctr">
                    <a:solidFill>
                      <a:srgbClr val="FFFFFF"/>
                    </a:solidFill>
                  </a:tcPr>
                </a:tc>
                <a:tc>
                  <a:txBody>
                    <a:bodyPr/>
                    <a:lstStyle/>
                    <a:p>
                      <a:r>
                        <a:rPr sz="1400" b="0" i="0">
                          <a:solidFill>
                            <a:srgbClr val="1A1440"/>
                          </a:solidFill>
                          <a:latin typeface="Calibri"/>
                        </a:rPr>
                        <a:t>The caveat, which the panel will challenge</a:t>
                      </a:r>
                    </a:p>
                  </a:txBody>
                  <a:tcPr marL="101600" marR="101600" marT="38100" marB="38100" anchor="ctr">
                    <a:solidFill>
                      <a:srgbClr val="FFFFFF"/>
                    </a:solidFill>
                  </a:tcPr>
                </a:tc>
              </a:tr>
              <a:tr h="369824">
                <a:tc>
                  <a:txBody>
                    <a:bodyPr/>
                    <a:lstStyle/>
                    <a:p>
                      <a:r>
                        <a:rPr sz="1400" b="0" i="0">
                          <a:solidFill>
                            <a:srgbClr val="1A1440"/>
                          </a:solidFill>
                          <a:latin typeface="Calibri"/>
                        </a:rPr>
                        <a:t>What do I do on Monday?</a:t>
                      </a:r>
                    </a:p>
                  </a:txBody>
                  <a:tcPr marL="101600" marR="101600" marT="38100" marB="38100" anchor="ctr">
                    <a:solidFill>
                      <a:srgbClr val="F4F2FA"/>
                    </a:solidFill>
                  </a:tcPr>
                </a:tc>
                <a:tc>
                  <a:txBody>
                    <a:bodyPr/>
                    <a:lstStyle/>
                    <a:p>
                      <a:r>
                        <a:rPr sz="1400" b="0" i="0">
                          <a:solidFill>
                            <a:srgbClr val="1A1440"/>
                          </a:solidFill>
                          <a:latin typeface="Calibri"/>
                        </a:rPr>
                        <a:t>The action: who does what, by when, and what it costs</a:t>
                      </a:r>
                    </a:p>
                  </a:txBody>
                  <a:tcPr marL="101600" marR="101600" marT="38100" marB="38100" anchor="ctr">
                    <a:solidFill>
                      <a:srgbClr val="F4F2FA"/>
                    </a:solidFill>
                  </a:tcPr>
                </a:tc>
              </a:tr>
            </a:tbl>
          </a:graphicData>
        </a:graphic>
      </p:graphicFrame>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will the panel ask?</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9" name="Oval 1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3" name="Oval 22"/>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5" name="Oval 24"/>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49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Seventeen minutes are yours, then the panel's eight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the 25 to 30 minutes of a slot split, part by part?</a:t>
            </a:r>
          </a:p>
        </p:txBody>
      </p:sp>
      <p:pic>
        <p:nvPicPr>
          <p:cNvPr id="9" name="mermaid diagram" descr="2edc9d5d695e53e1.png"/>
          <p:cNvPicPr>
            <a:picLocks noChangeAspect="1"/>
          </p:cNvPicPr>
          <p:nvPr/>
        </p:nvPicPr>
        <p:blipFill>
          <a:blip r:embed="rId5"/>
          <a:stretch>
            <a:fillRect/>
          </a:stretch>
        </p:blipFill>
        <p:spPr>
          <a:xfrm>
            <a:off x="530352" y="1956816"/>
            <a:ext cx="11130991" cy="867207"/>
          </a:xfrm>
          <a:prstGeom prst="rect">
            <a:avLst/>
          </a:prstGeom>
        </p:spPr>
      </p:pic>
      <p:graphicFrame>
        <p:nvGraphicFramePr>
          <p:cNvPr id="10" name="Table 9"/>
          <p:cNvGraphicFramePr>
            <a:graphicFrameLocks noGrp="1"/>
          </p:cNvGraphicFramePr>
          <p:nvPr/>
        </p:nvGraphicFramePr>
        <p:xfrm>
          <a:off x="530352" y="2970327"/>
          <a:ext cx="11130990" cy="2588768"/>
        </p:xfrm>
        <a:graphic>
          <a:graphicData uri="http://schemas.openxmlformats.org/drawingml/2006/table">
            <a:tbl>
              <a:tblPr firstRow="0" bandRow="0">
                <a:tableStyleId>{2D5ABB26-0587-4C30-8999-92F81FD0307C}</a:tableStyleId>
              </a:tblPr>
              <a:tblGrid>
                <a:gridCol w="3645308"/>
                <a:gridCol w="1084005"/>
                <a:gridCol w="6401677"/>
              </a:tblGrid>
              <a:tr h="369824">
                <a:tc>
                  <a:txBody>
                    <a:bodyPr/>
                    <a:lstStyle/>
                    <a:p>
                      <a:r>
                        <a:rPr sz="1450" b="1" i="0">
                          <a:solidFill>
                            <a:srgbClr val="FFFFFF"/>
                          </a:solidFill>
                          <a:latin typeface="Calibri"/>
                        </a:rPr>
                        <a:t>Part</a:t>
                      </a:r>
                    </a:p>
                  </a:txBody>
                  <a:tcPr marL="101600" marR="101600" marT="38100" marB="38100" anchor="ctr">
                    <a:solidFill>
                      <a:srgbClr val="1A0F5C"/>
                    </a:solidFill>
                  </a:tcPr>
                </a:tc>
                <a:tc>
                  <a:txBody>
                    <a:bodyPr/>
                    <a:lstStyle/>
                    <a:p>
                      <a:r>
                        <a:rPr sz="1450" b="1" i="0">
                          <a:solidFill>
                            <a:srgbClr val="FFFFFF"/>
                          </a:solidFill>
                          <a:latin typeface="Calibri"/>
                        </a:rPr>
                        <a:t>Minutes</a:t>
                      </a:r>
                    </a:p>
                  </a:txBody>
                  <a:tcPr marL="101600" marR="101600" marT="38100" marB="38100" anchor="ctr">
                    <a:solidFill>
                      <a:srgbClr val="1A0F5C"/>
                    </a:solidFill>
                  </a:tcPr>
                </a:tc>
                <a:tc>
                  <a:txBody>
                    <a:bodyPr/>
                    <a:lstStyle/>
                    <a:p>
                      <a:r>
                        <a:rPr sz="1450" b="1" i="0">
                          <a:solidFill>
                            <a:srgbClr val="FFFFFF"/>
                          </a:solidFill>
                          <a:latin typeface="Calibri"/>
                        </a:rPr>
                        <a:t>What it carries</a:t>
                      </a:r>
                    </a:p>
                  </a:txBody>
                  <a:tcPr marL="101600" marR="101600" marT="38100" marB="38100" anchor="ctr">
                    <a:solidFill>
                      <a:srgbClr val="1A0F5C"/>
                    </a:solidFill>
                  </a:tcPr>
                </a:tc>
              </a:tr>
              <a:tr h="369824">
                <a:tc>
                  <a:txBody>
                    <a:bodyPr/>
                    <a:lstStyle/>
                    <a:p>
                      <a:r>
                        <a:rPr sz="1400" b="0" i="0">
                          <a:solidFill>
                            <a:srgbClr val="1A1440"/>
                          </a:solidFill>
                          <a:latin typeface="Calibri"/>
                        </a:rPr>
                        <a:t>1. The one-slide answer</a:t>
                      </a:r>
                    </a:p>
                  </a:txBody>
                  <a:tcPr marL="101600" marR="101600" marT="38100" marB="38100" anchor="ctr">
                    <a:solidFill>
                      <a:srgbClr val="FFFFFF"/>
                    </a:solidFill>
                  </a:tcPr>
                </a:tc>
                <a:tc>
                  <a:txBody>
                    <a:bodyPr/>
                    <a:lstStyle/>
                    <a:p>
                      <a:r>
                        <a:rPr sz="1400" b="0" i="0">
                          <a:solidFill>
                            <a:srgbClr val="1A1440"/>
                          </a:solidFill>
                          <a:latin typeface="Calibri"/>
                        </a:rPr>
                        <a:t>2</a:t>
                      </a:r>
                    </a:p>
                  </a:txBody>
                  <a:tcPr marL="101600" marR="101600" marT="38100" marB="38100" anchor="ctr">
                    <a:solidFill>
                      <a:srgbClr val="FFFFFF"/>
                    </a:solidFill>
                  </a:tcPr>
                </a:tc>
                <a:tc>
                  <a:txBody>
                    <a:bodyPr/>
                    <a:lstStyle/>
                    <a:p>
                      <a:r>
                        <a:rPr sz="1400" b="0" i="0">
                          <a:solidFill>
                            <a:srgbClr val="1A1440"/>
                          </a:solidFill>
                          <a:latin typeface="Calibri"/>
                        </a:rPr>
                        <a:t>Claim, evidence, caveat and action, said first</a:t>
                      </a:r>
                    </a:p>
                  </a:txBody>
                  <a:tcPr marL="101600" marR="101600" marT="38100" marB="38100" anchor="ctr">
                    <a:solidFill>
                      <a:srgbClr val="FFFFFF"/>
                    </a:solidFill>
                  </a:tcPr>
                </a:tc>
              </a:tr>
              <a:tr h="369824">
                <a:tc>
                  <a:txBody>
                    <a:bodyPr/>
                    <a:lstStyle/>
                    <a:p>
                      <a:r>
                        <a:rPr sz="1400" b="0" i="0">
                          <a:solidFill>
                            <a:srgbClr val="1A1440"/>
                          </a:solidFill>
                          <a:latin typeface="Calibri"/>
                        </a:rPr>
                        <a:t>2. The translation</a:t>
                      </a:r>
                    </a:p>
                  </a:txBody>
                  <a:tcPr marL="101600" marR="101600" marT="38100" marB="38100" anchor="ctr">
                    <a:solidFill>
                      <a:srgbClr val="F4F2FA"/>
                    </a:solidFill>
                  </a:tcPr>
                </a:tc>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Dr Menon's words mapped onto a move from Weeks 1 and 2</a:t>
                      </a:r>
                    </a:p>
                  </a:txBody>
                  <a:tcPr marL="101600" marR="101600" marT="38100" marB="38100" anchor="ctr">
                    <a:solidFill>
                      <a:srgbClr val="F4F2FA"/>
                    </a:solidFill>
                  </a:tcPr>
                </a:tc>
              </a:tr>
              <a:tr h="369824">
                <a:tc>
                  <a:txBody>
                    <a:bodyPr/>
                    <a:lstStyle/>
                    <a:p>
                      <a:r>
                        <a:rPr sz="1400" b="0" i="0">
                          <a:solidFill>
                            <a:srgbClr val="1A1440"/>
                          </a:solidFill>
                          <a:latin typeface="Calibri"/>
                        </a:rPr>
                        <a:t>3. The data made trustworthy</a:t>
                      </a:r>
                    </a:p>
                  </a:txBody>
                  <a:tcPr marL="101600" marR="101600" marT="38100" marB="38100" anchor="ctr">
                    <a:solidFill>
                      <a:srgbClr val="FFFFFF"/>
                    </a:solidFill>
                  </a:tcPr>
                </a:tc>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The decisions log's largest calls, and the rows reconciled</a:t>
                      </a:r>
                    </a:p>
                  </a:txBody>
                  <a:tcPr marL="101600" marR="101600" marT="38100" marB="38100" anchor="ctr">
                    <a:solidFill>
                      <a:srgbClr val="FFFFFF"/>
                    </a:solidFill>
                  </a:tcPr>
                </a:tc>
              </a:tr>
              <a:tr h="369824">
                <a:tc>
                  <a:txBody>
                    <a:bodyPr/>
                    <a:lstStyle/>
                    <a:p>
                      <a:r>
                        <a:rPr sz="1400" b="0" i="0">
                          <a:solidFill>
                            <a:srgbClr val="1A1440"/>
                          </a:solidFill>
                          <a:latin typeface="Calibri"/>
                        </a:rPr>
                        <a:t>4. The analysis</a:t>
                      </a:r>
                    </a:p>
                  </a:txBody>
                  <a:tcPr marL="101600" marR="101600" marT="38100" marB="38100" anchor="ctr">
                    <a:solidFill>
                      <a:srgbClr val="F4F2FA"/>
                    </a:solidFill>
                  </a:tcPr>
                </a:tc>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Two or three charts, each with its denominator</a:t>
                      </a:r>
                    </a:p>
                  </a:txBody>
                  <a:tcPr marL="101600" marR="101600" marT="38100" marB="38100" anchor="ctr">
                    <a:solidFill>
                      <a:srgbClr val="F4F2FA"/>
                    </a:solidFill>
                  </a:tcPr>
                </a:tc>
              </a:tr>
              <a:tr h="369824">
                <a:tc>
                  <a:txBody>
                    <a:bodyPr/>
                    <a:lstStyle/>
                    <a:p>
                      <a:r>
                        <a:rPr sz="1400" b="0" i="0">
                          <a:solidFill>
                            <a:srgbClr val="1A1440"/>
                          </a:solidFill>
                          <a:latin typeface="Calibri"/>
                        </a:rPr>
                        <a:t>5. The live demo</a:t>
                      </a:r>
                    </a:p>
                  </a:txBody>
                  <a:tcPr marL="101600" marR="101600" marT="38100" marB="38100" anchor="ctr">
                    <a:solidFill>
                      <a:srgbClr val="FFFFFF"/>
                    </a:solidFill>
                  </a:tcPr>
                </a:tc>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Your main number, reproduced cold from the raw files</a:t>
                      </a:r>
                    </a:p>
                  </a:txBody>
                  <a:tcPr marL="101600" marR="101600" marT="38100" marB="38100" anchor="ctr">
                    <a:solidFill>
                      <a:srgbClr val="FFFFFF"/>
                    </a:solidFill>
                  </a:tcPr>
                </a:tc>
              </a:tr>
              <a:tr h="369824">
                <a:tc>
                  <a:txBody>
                    <a:bodyPr/>
                    <a:lstStyle/>
                    <a:p>
                      <a:r>
                        <a:rPr sz="1400" b="0" i="0">
                          <a:solidFill>
                            <a:srgbClr val="1A1440"/>
                          </a:solidFill>
                          <a:latin typeface="Calibri"/>
                        </a:rPr>
                        <a:t>6. What you would do differently</a:t>
                      </a:r>
                    </a:p>
                  </a:txBody>
                  <a:tcPr marL="101600" marR="101600" marT="38100" marB="38100" anchor="ctr">
                    <a:solidFill>
                      <a:srgbClr val="F4F2FA"/>
                    </a:solidFill>
                  </a:tcPr>
                </a:tc>
                <a:tc>
                  <a:txBody>
                    <a:bodyPr/>
                    <a:lstStyle/>
                    <a:p>
                      <a:r>
                        <a:rPr sz="1400" b="0" i="0">
                          <a:solidFill>
                            <a:srgbClr val="1A1440"/>
                          </a:solidFill>
                          <a:latin typeface="Calibri"/>
                        </a:rPr>
                        <a:t>1</a:t>
                      </a:r>
                    </a:p>
                  </a:txBody>
                  <a:tcPr marL="101600" marR="101600" marT="38100" marB="38100" anchor="ctr">
                    <a:solidFill>
                      <a:srgbClr val="F4F2FA"/>
                    </a:solidFill>
                  </a:tcPr>
                </a:tc>
                <a:tc>
                  <a:txBody>
                    <a:bodyPr/>
                    <a:lstStyle/>
                    <a:p>
                      <a:r>
                        <a:rPr sz="1400" b="0" i="0">
                          <a:solidFill>
                            <a:srgbClr val="1A1440"/>
                          </a:solidFill>
                          <a:latin typeface="Calibri"/>
                        </a:rPr>
                        <a:t>One change, specific enough for Build 2 to act on</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will the panel ask?</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19" name="Oval 18"/>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1" name="Oval 20"/>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49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Her heads' numbers are where every answer starts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numbers has Dr Menon's team already given you, and what do they leave open?</a:t>
            </a:r>
          </a:p>
        </p:txBody>
      </p:sp>
      <p:sp>
        <p:nvSpPr>
          <p:cNvPr id="10" name="TextBox 9"/>
          <p:cNvSpPr txBox="1"/>
          <p:nvPr/>
        </p:nvSpPr>
        <p:spPr>
          <a:xfrm>
            <a:off x="530352"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5%</a:t>
            </a:r>
          </a:p>
        </p:txBody>
      </p:sp>
      <p:sp>
        <p:nvSpPr>
          <p:cNvPr id="11" name="TextBox 10"/>
          <p:cNvSpPr txBox="1"/>
          <p:nvPr/>
        </p:nvSpPr>
        <p:spPr>
          <a:xfrm>
            <a:off x="530352"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TEST VOLUMES, Q2 TO Q3</a:t>
            </a:r>
          </a:p>
        </p:txBody>
      </p:sp>
      <p:sp>
        <p:nvSpPr>
          <p:cNvPr id="12" name="TextBox 11"/>
          <p:cNvSpPr txBox="1"/>
          <p:nvPr/>
        </p:nvSpPr>
        <p:spPr>
          <a:xfrm>
            <a:off x="530352"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her dashboard, against a plan of 18</a:t>
            </a:r>
          </a:p>
        </p:txBody>
      </p:sp>
      <p:sp>
        <p:nvSpPr>
          <p:cNvPr id="13" name="Rectangle 12"/>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381679"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2 metros</a:t>
            </a:r>
          </a:p>
        </p:txBody>
      </p:sp>
      <p:sp>
        <p:nvSpPr>
          <p:cNvPr id="15" name="TextBox 14"/>
          <p:cNvSpPr txBox="1"/>
          <p:nvPr/>
        </p:nvSpPr>
        <p:spPr>
          <a:xfrm>
            <a:off x="3381679"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WHERE BOOKINGS FELL IN Q3</a:t>
            </a:r>
          </a:p>
        </p:txBody>
      </p:sp>
      <p:sp>
        <p:nvSpPr>
          <p:cNvPr id="16" name="TextBox 15"/>
          <p:cNvSpPr txBox="1"/>
          <p:nvPr/>
        </p:nvSpPr>
        <p:spPr>
          <a:xfrm>
            <a:off x="3381679"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the centres' operations head</a:t>
            </a:r>
          </a:p>
        </p:txBody>
      </p:sp>
      <p:sp>
        <p:nvSpPr>
          <p:cNvPr id="17" name="Rectangle 16"/>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33007"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9%</a:t>
            </a:r>
          </a:p>
        </p:txBody>
      </p:sp>
      <p:sp>
        <p:nvSpPr>
          <p:cNvPr id="19" name="TextBox 18"/>
          <p:cNvSpPr txBox="1"/>
          <p:nvPr/>
        </p:nvSpPr>
        <p:spPr>
          <a:xfrm>
            <a:off x="6233007"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THE FREE AT-HOME OFFER'S LIFT</a:t>
            </a:r>
          </a:p>
        </p:txBody>
      </p:sp>
      <p:sp>
        <p:nvSpPr>
          <p:cNvPr id="20" name="TextBox 19"/>
          <p:cNvSpPr txBox="1"/>
          <p:nvPr/>
        </p:nvSpPr>
        <p:spPr>
          <a:xfrm>
            <a:off x="6233007"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the marketing head</a:t>
            </a:r>
          </a:p>
        </p:txBody>
      </p:sp>
      <p:sp>
        <p:nvSpPr>
          <p:cNvPr id="21" name="Rectangle 20"/>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084335" y="1956816"/>
            <a:ext cx="2577007" cy="539750"/>
          </a:xfrm>
          <a:prstGeom prst="rect">
            <a:avLst/>
          </a:prstGeom>
          <a:noFill/>
        </p:spPr>
        <p:txBody>
          <a:bodyPr wrap="square" anchor="t" lIns="0" rIns="0" tIns="0" bIns="0">
            <a:spAutoFit/>
          </a:bodyPr>
          <a:lstStyle/>
          <a:p>
            <a:pPr algn="l"/>
            <a:r>
              <a:rPr sz="3400" b="0" i="0">
                <a:solidFill>
                  <a:srgbClr val="5B3FD6"/>
                </a:solidFill>
                <a:latin typeface="Georgia"/>
              </a:rPr>
              <a:t>KH-ATL-03</a:t>
            </a:r>
          </a:p>
        </p:txBody>
      </p:sp>
      <p:sp>
        <p:nvSpPr>
          <p:cNvPr id="23" name="TextBox 22"/>
          <p:cNvSpPr txBox="1"/>
          <p:nvPr/>
        </p:nvSpPr>
        <p:spPr>
          <a:xfrm>
            <a:off x="9084335" y="25331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THE WORST NO-SHOW RATE</a:t>
            </a:r>
          </a:p>
        </p:txBody>
      </p:sp>
      <p:sp>
        <p:nvSpPr>
          <p:cNvPr id="24" name="TextBox 23"/>
          <p:cNvSpPr txBox="1"/>
          <p:nvPr/>
        </p:nvSpPr>
        <p:spPr>
          <a:xfrm>
            <a:off x="9084335" y="2734310"/>
            <a:ext cx="2577007" cy="193421"/>
          </a:xfrm>
          <a:prstGeom prst="rect">
            <a:avLst/>
          </a:prstGeom>
          <a:noFill/>
        </p:spPr>
        <p:txBody>
          <a:bodyPr wrap="square" anchor="t" lIns="0" rIns="0" tIns="0" bIns="0">
            <a:spAutoFit/>
          </a:bodyPr>
          <a:lstStyle/>
          <a:p>
            <a:pPr algn="l"/>
            <a:r>
              <a:rPr sz="950" b="0" i="0">
                <a:solidFill>
                  <a:srgbClr val="6B6690"/>
                </a:solidFill>
                <a:latin typeface="Calibri"/>
              </a:rPr>
              <a:t>the operations head's Q3 report</a:t>
            </a:r>
          </a:p>
        </p:txBody>
      </p:sp>
      <p:sp>
        <p:nvSpPr>
          <p:cNvPr id="25" name="Rectangle 24"/>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number is a claim from someone's report, and the finance head adds that the claims billed and the posting system disagree; your answer says what your number counts before it agrees or disagrees with theirs.</a:t>
            </a:r>
          </a:p>
        </p:txBody>
      </p:sp>
      <p:sp>
        <p:nvSpPr>
          <p:cNvPr id="27" name="Oval 2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will the panel ask?</a:t>
            </a:r>
          </a:p>
        </p:txBody>
      </p:sp>
      <p:sp>
        <p:nvSpPr>
          <p:cNvPr id="29" name="Oval 2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31" name="Oval 30"/>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33" name="Oval 32"/>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35" name="Oval 34"/>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37" name="Oval 36"/>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D6  ·  8 / 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goes on one slide?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does the one slide Dr Menon carries into her board meeting say, and why does it come first?</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 panel ask?</a:t>
            </a:r>
          </a:p>
        </p:txBody>
      </p:sp>
      <p:sp>
        <p:nvSpPr>
          <p:cNvPr id="11" name="Rounded Rectangle 10"/>
          <p:cNvSpPr/>
          <p:nvPr/>
        </p:nvSpPr>
        <p:spPr>
          <a:xfrm>
            <a:off x="2628191"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goes on one slide?</a:t>
            </a:r>
          </a:p>
        </p:txBody>
      </p:sp>
      <p:sp>
        <p:nvSpPr>
          <p:cNvPr id="12" name="Rounded Rectangle 11"/>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the claim earned?</a:t>
            </a:r>
          </a:p>
        </p:txBody>
      </p:sp>
      <p:sp>
        <p:nvSpPr>
          <p:cNvPr id="13" name="Rounded Rectangle 12"/>
          <p:cNvSpPr/>
          <p:nvPr/>
        </p:nvSpPr>
        <p:spPr>
          <a:xfrm>
            <a:off x="636231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if the demo fails?</a:t>
            </a:r>
          </a:p>
        </p:txBody>
      </p:sp>
      <p:sp>
        <p:nvSpPr>
          <p:cNvPr id="14" name="Rounded Rectangle 13"/>
          <p:cNvSpPr/>
          <p:nvPr/>
        </p:nvSpPr>
        <p:spPr>
          <a:xfrm>
            <a:off x="819977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claim hold?</a:t>
            </a:r>
          </a:p>
        </p:txBody>
      </p:sp>
      <p:sp>
        <p:nvSpPr>
          <p:cNvPr id="15" name="Rounded Rectangle 14"/>
          <p:cNvSpPr/>
          <p:nvPr/>
        </p:nvSpPr>
        <p:spPr>
          <a:xfrm>
            <a:off x="9859580" y="5074920"/>
            <a:ext cx="137243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it scored?</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Saturday: does your answer hold in front of the panel?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9 / 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One slide carries her answer into the boardroom</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one-slide answer, and which questions come on the way?</a:t>
            </a:r>
          </a:p>
        </p:txBody>
      </p:sp>
      <p:sp>
        <p:nvSpPr>
          <p:cNvPr id="10" name="Rounded Rectangle 9"/>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Dr Menon, who reads for two minutes and stops; the slide she carries is the only part of your work her board sees, so a missing part costs her a question she cannot answer in the room.</a:t>
            </a:r>
          </a:p>
        </p:txBody>
      </p:sp>
      <p:sp>
        <p:nvSpPr>
          <p:cNvPr id="13" name="Rectangle 12"/>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Four parts</a:t>
            </a:r>
          </a:p>
        </p:txBody>
      </p:sp>
      <p:sp>
        <p:nvSpPr>
          <p:cNvPr id="18" name="TextBox 17"/>
          <p:cNvSpPr txBox="1"/>
          <p:nvPr/>
        </p:nvSpPr>
        <p:spPr>
          <a:xfrm>
            <a:off x="694944"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Which four parts make the one-slide answer, in which order?</a:t>
            </a:r>
          </a:p>
        </p:txBody>
      </p:sp>
      <p:sp>
        <p:nvSpPr>
          <p:cNvPr id="19" name="TextBox 18"/>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793126"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957718"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claim</a:t>
            </a:r>
          </a:p>
        </p:txBody>
      </p:sp>
      <p:sp>
        <p:nvSpPr>
          <p:cNvPr id="23" name="TextBox 22"/>
          <p:cNvSpPr txBox="1"/>
          <p:nvPr/>
        </p:nvSpPr>
        <p:spPr>
          <a:xfrm>
            <a:off x="2957718"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What must one sentence carry before a board can repeat it?</a:t>
            </a:r>
          </a:p>
        </p:txBody>
      </p:sp>
      <p:sp>
        <p:nvSpPr>
          <p:cNvPr id="24" name="TextBox 23"/>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055900"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A real lab</a:t>
            </a:r>
          </a:p>
        </p:txBody>
      </p:sp>
      <p:sp>
        <p:nvSpPr>
          <p:cNvPr id="28" name="TextBox 27"/>
          <p:cNvSpPr txBox="1"/>
          <p:nvPr/>
        </p:nvSpPr>
        <p:spPr>
          <a:xfrm>
            <a:off x="5220492"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How does a listed US lab state a quarter's growth?</a:t>
            </a:r>
          </a:p>
        </p:txBody>
      </p:sp>
      <p:sp>
        <p:nvSpPr>
          <p:cNvPr id="29" name="TextBox 28"/>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318674"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Which sentence</a:t>
            </a:r>
          </a:p>
        </p:txBody>
      </p:sp>
      <p:sp>
        <p:nvSpPr>
          <p:cNvPr id="33" name="TextBox 32"/>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of four sentences can Dr Menon carry?</a:t>
            </a:r>
          </a:p>
        </p:txBody>
      </p:sp>
      <p:sp>
        <p:nvSpPr>
          <p:cNvPr id="34" name="TextBox 33"/>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5" name="Oval 34"/>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581448" y="3816096"/>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Caveat and action</a:t>
            </a:r>
          </a:p>
        </p:txBody>
      </p:sp>
      <p:sp>
        <p:nvSpPr>
          <p:cNvPr id="38" name="TextBox 37"/>
          <p:cNvSpPr txBox="1"/>
          <p:nvPr/>
        </p:nvSpPr>
        <p:spPr>
          <a:xfrm>
            <a:off x="9746040" y="4250182"/>
            <a:ext cx="1750710" cy="366776"/>
          </a:xfrm>
          <a:prstGeom prst="rect">
            <a:avLst/>
          </a:prstGeom>
          <a:noFill/>
        </p:spPr>
        <p:txBody>
          <a:bodyPr wrap="square" anchor="t" lIns="0" rIns="0" tIns="0" bIns="0">
            <a:spAutoFit/>
          </a:bodyPr>
          <a:lstStyle/>
          <a:p>
            <a:pPr algn="l"/>
            <a:r>
              <a:rPr sz="1000" b="0" i="0">
                <a:solidFill>
                  <a:srgbClr val="CFC9EE"/>
                </a:solidFill>
                <a:latin typeface="Calibri"/>
              </a:rPr>
              <a:t>What makes a caveat, and what makes an action?</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41" name="Oval 40"/>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43" name="Oval 42"/>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5" name="Oval 44"/>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7" name="Oval 46"/>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9" name="Oval 48"/>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D7  ·  10 / 49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Claim, evidence, caveat, action, in that order</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four parts make the one-slide answer, in the order Week 1 Thursday's note set them?</a:t>
            </a:r>
          </a:p>
        </p:txBody>
      </p:sp>
      <p:pic>
        <p:nvPicPr>
          <p:cNvPr id="10" name="mermaid diagram" descr="e54068ba88d30eec.png"/>
          <p:cNvPicPr>
            <a:picLocks noChangeAspect="1"/>
          </p:cNvPicPr>
          <p:nvPr/>
        </p:nvPicPr>
        <p:blipFill>
          <a:blip r:embed="rId9"/>
          <a:stretch>
            <a:fillRect/>
          </a:stretch>
        </p:blipFill>
        <p:spPr>
          <a:xfrm>
            <a:off x="595160" y="1956816"/>
            <a:ext cx="11001375" cy="1128712"/>
          </a:xfrm>
          <a:prstGeom prst="rect">
            <a:avLst/>
          </a:prstGeom>
        </p:spPr>
      </p:pic>
      <p:sp>
        <p:nvSpPr>
          <p:cNvPr id="11" name="Rounded Rectangle 10"/>
          <p:cNvSpPr/>
          <p:nvPr/>
        </p:nvSpPr>
        <p:spPr>
          <a:xfrm>
            <a:off x="530352" y="3231832"/>
            <a:ext cx="2645587"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31519" y="343300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quote_e12f9e1e3c67.png"/>
          <p:cNvPicPr>
            <a:picLocks noChangeAspect="1"/>
          </p:cNvPicPr>
          <p:nvPr/>
        </p:nvPicPr>
        <p:blipFill>
          <a:blip r:embed="rId5"/>
          <a:stretch>
            <a:fillRect/>
          </a:stretch>
        </p:blipFill>
        <p:spPr>
          <a:xfrm>
            <a:off x="841247" y="3542728"/>
            <a:ext cx="237744" cy="237744"/>
          </a:xfrm>
          <a:prstGeom prst="rect">
            <a:avLst/>
          </a:prstGeom>
        </p:spPr>
      </p:pic>
      <p:sp>
        <p:nvSpPr>
          <p:cNvPr id="14" name="TextBox 13"/>
          <p:cNvSpPr txBox="1"/>
          <p:nvPr/>
        </p:nvSpPr>
        <p:spPr>
          <a:xfrm>
            <a:off x="731519" y="3999928"/>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CLAIM</a:t>
            </a:r>
          </a:p>
        </p:txBody>
      </p:sp>
      <p:sp>
        <p:nvSpPr>
          <p:cNvPr id="15" name="TextBox 14"/>
          <p:cNvSpPr txBox="1"/>
          <p:nvPr/>
        </p:nvSpPr>
        <p:spPr>
          <a:xfrm>
            <a:off x="731519" y="4237672"/>
            <a:ext cx="2243251" cy="267716"/>
          </a:xfrm>
          <a:prstGeom prst="rect">
            <a:avLst/>
          </a:prstGeom>
          <a:noFill/>
        </p:spPr>
        <p:txBody>
          <a:bodyPr wrap="square" anchor="t" lIns="0" rIns="0" tIns="0" bIns="0">
            <a:spAutoFit/>
          </a:bodyPr>
          <a:lstStyle/>
          <a:p>
            <a:pPr algn="l"/>
            <a:r>
              <a:rPr sz="1400" b="1" i="0">
                <a:solidFill>
                  <a:srgbClr val="1A0F5C"/>
                </a:solidFill>
                <a:latin typeface="Calibri"/>
              </a:rPr>
              <a:t>One sentence</a:t>
            </a:r>
          </a:p>
        </p:txBody>
      </p:sp>
      <p:sp>
        <p:nvSpPr>
          <p:cNvPr id="16" name="TextBox 15"/>
          <p:cNvSpPr txBox="1"/>
          <p:nvPr/>
        </p:nvSpPr>
        <p:spPr>
          <a:xfrm>
            <a:off x="731519" y="4578540"/>
            <a:ext cx="2243251" cy="763016"/>
          </a:xfrm>
          <a:prstGeom prst="rect">
            <a:avLst/>
          </a:prstGeom>
          <a:noFill/>
        </p:spPr>
        <p:txBody>
          <a:bodyPr wrap="square" anchor="t" lIns="0" rIns="0" tIns="0" bIns="0">
            <a:spAutoFit/>
          </a:bodyPr>
          <a:lstStyle/>
          <a:p>
            <a:pPr algn="l"/>
            <a:r>
              <a:rPr sz="1100" b="0" i="0">
                <a:solidFill>
                  <a:srgbClr val="6B6690"/>
                </a:solidFill>
                <a:latin typeface="Calibri"/>
              </a:rPr>
              <a:t>A COO can repeat it to a board. It names what was counted, out of what, and over which window.</a:t>
            </a:r>
          </a:p>
        </p:txBody>
      </p:sp>
      <p:sp>
        <p:nvSpPr>
          <p:cNvPr id="17" name="Rounded Rectangle 16"/>
          <p:cNvSpPr/>
          <p:nvPr/>
        </p:nvSpPr>
        <p:spPr>
          <a:xfrm>
            <a:off x="3358819" y="3231832"/>
            <a:ext cx="2645587"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3559987" y="343300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chart-column_a266b7a04479.png"/>
          <p:cNvPicPr>
            <a:picLocks noChangeAspect="1"/>
          </p:cNvPicPr>
          <p:nvPr/>
        </p:nvPicPr>
        <p:blipFill>
          <a:blip r:embed="rId6"/>
          <a:stretch>
            <a:fillRect/>
          </a:stretch>
        </p:blipFill>
        <p:spPr>
          <a:xfrm>
            <a:off x="3669715" y="3542728"/>
            <a:ext cx="237744" cy="237744"/>
          </a:xfrm>
          <a:prstGeom prst="rect">
            <a:avLst/>
          </a:prstGeom>
        </p:spPr>
      </p:pic>
      <p:sp>
        <p:nvSpPr>
          <p:cNvPr id="20" name="TextBox 19"/>
          <p:cNvSpPr txBox="1"/>
          <p:nvPr/>
        </p:nvSpPr>
        <p:spPr>
          <a:xfrm>
            <a:off x="3559987" y="3999928"/>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EVIDENCE</a:t>
            </a:r>
          </a:p>
        </p:txBody>
      </p:sp>
      <p:sp>
        <p:nvSpPr>
          <p:cNvPr id="21" name="TextBox 20"/>
          <p:cNvSpPr txBox="1"/>
          <p:nvPr/>
        </p:nvSpPr>
        <p:spPr>
          <a:xfrm>
            <a:off x="3559987" y="4237672"/>
            <a:ext cx="2243251" cy="267716"/>
          </a:xfrm>
          <a:prstGeom prst="rect">
            <a:avLst/>
          </a:prstGeom>
          <a:noFill/>
        </p:spPr>
        <p:txBody>
          <a:bodyPr wrap="square" anchor="t" lIns="0" rIns="0" tIns="0" bIns="0">
            <a:spAutoFit/>
          </a:bodyPr>
          <a:lstStyle/>
          <a:p>
            <a:pPr algn="l"/>
            <a:r>
              <a:rPr sz="1400" b="1" i="0">
                <a:solidFill>
                  <a:srgbClr val="1A0F5C"/>
                </a:solidFill>
                <a:latin typeface="Calibri"/>
              </a:rPr>
              <a:t>Two numbers at most</a:t>
            </a:r>
          </a:p>
        </p:txBody>
      </p:sp>
      <p:sp>
        <p:nvSpPr>
          <p:cNvPr id="22" name="TextBox 21"/>
          <p:cNvSpPr txBox="1"/>
          <p:nvPr/>
        </p:nvSpPr>
        <p:spPr>
          <a:xfrm>
            <a:off x="3559987" y="4578540"/>
            <a:ext cx="2243251" cy="581406"/>
          </a:xfrm>
          <a:prstGeom prst="rect">
            <a:avLst/>
          </a:prstGeom>
          <a:noFill/>
        </p:spPr>
        <p:txBody>
          <a:bodyPr wrap="square" anchor="t" lIns="0" rIns="0" tIns="0" bIns="0">
            <a:spAutoFit/>
          </a:bodyPr>
          <a:lstStyle/>
          <a:p>
            <a:pPr algn="l"/>
            <a:r>
              <a:rPr sz="1100" b="0" i="0">
                <a:solidFill>
                  <a:srgbClr val="6B6690"/>
                </a:solidFill>
                <a:latin typeface="Calibri"/>
              </a:rPr>
              <a:t>The number and the one it is compared with, each with its count.</a:t>
            </a:r>
          </a:p>
        </p:txBody>
      </p:sp>
      <p:sp>
        <p:nvSpPr>
          <p:cNvPr id="23" name="Rounded Rectangle 22"/>
          <p:cNvSpPr/>
          <p:nvPr/>
        </p:nvSpPr>
        <p:spPr>
          <a:xfrm>
            <a:off x="6187287" y="3231832"/>
            <a:ext cx="2645587"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388455" y="3433000"/>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triangle-alert_5ac49fc6abbb.png"/>
          <p:cNvPicPr>
            <a:picLocks noChangeAspect="1"/>
          </p:cNvPicPr>
          <p:nvPr/>
        </p:nvPicPr>
        <p:blipFill>
          <a:blip r:embed="rId7"/>
          <a:stretch>
            <a:fillRect/>
          </a:stretch>
        </p:blipFill>
        <p:spPr>
          <a:xfrm>
            <a:off x="6498183" y="3542728"/>
            <a:ext cx="237744" cy="237744"/>
          </a:xfrm>
          <a:prstGeom prst="rect">
            <a:avLst/>
          </a:prstGeom>
        </p:spPr>
      </p:pic>
      <p:sp>
        <p:nvSpPr>
          <p:cNvPr id="26" name="TextBox 25"/>
          <p:cNvSpPr txBox="1"/>
          <p:nvPr/>
        </p:nvSpPr>
        <p:spPr>
          <a:xfrm>
            <a:off x="6388455" y="3999928"/>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CAVEAT</a:t>
            </a:r>
          </a:p>
        </p:txBody>
      </p:sp>
      <p:sp>
        <p:nvSpPr>
          <p:cNvPr id="27" name="TextBox 26"/>
          <p:cNvSpPr txBox="1"/>
          <p:nvPr/>
        </p:nvSpPr>
        <p:spPr>
          <a:xfrm>
            <a:off x="6388455" y="4237672"/>
            <a:ext cx="2243251" cy="267716"/>
          </a:xfrm>
          <a:prstGeom prst="rect">
            <a:avLst/>
          </a:prstGeom>
          <a:noFill/>
        </p:spPr>
        <p:txBody>
          <a:bodyPr wrap="square" anchor="t" lIns="0" rIns="0" tIns="0" bIns="0">
            <a:spAutoFit/>
          </a:bodyPr>
          <a:lstStyle/>
          <a:p>
            <a:pPr algn="l"/>
            <a:r>
              <a:rPr sz="1400" b="1" i="0">
                <a:solidFill>
                  <a:srgbClr val="1A0F5C"/>
                </a:solidFill>
                <a:latin typeface="Calibri"/>
              </a:rPr>
              <a:t>What would change it</a:t>
            </a:r>
          </a:p>
        </p:txBody>
      </p:sp>
      <p:sp>
        <p:nvSpPr>
          <p:cNvPr id="28" name="TextBox 27"/>
          <p:cNvSpPr txBox="1"/>
          <p:nvPr/>
        </p:nvSpPr>
        <p:spPr>
          <a:xfrm>
            <a:off x="6388455" y="4578540"/>
            <a:ext cx="2243251" cy="581406"/>
          </a:xfrm>
          <a:prstGeom prst="rect">
            <a:avLst/>
          </a:prstGeom>
          <a:noFill/>
        </p:spPr>
        <p:txBody>
          <a:bodyPr wrap="square" anchor="t" lIns="0" rIns="0" tIns="0" bIns="0">
            <a:spAutoFit/>
          </a:bodyPr>
          <a:lstStyle/>
          <a:p>
            <a:pPr algn="l"/>
            <a:r>
              <a:rPr sz="1100" b="0" i="0">
                <a:solidFill>
                  <a:srgbClr val="6B6690"/>
                </a:solidFill>
                <a:latin typeface="Calibri"/>
              </a:rPr>
              <a:t>The one fact that, if it turned out otherwise, would change the claim.</a:t>
            </a:r>
          </a:p>
        </p:txBody>
      </p:sp>
      <p:sp>
        <p:nvSpPr>
          <p:cNvPr id="29" name="Rounded Rectangle 28"/>
          <p:cNvSpPr/>
          <p:nvPr/>
        </p:nvSpPr>
        <p:spPr>
          <a:xfrm>
            <a:off x="9015755" y="3231832"/>
            <a:ext cx="2645587" cy="23444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216923" y="34330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arrow-right_5cc4b632d741.png"/>
          <p:cNvPicPr>
            <a:picLocks noChangeAspect="1"/>
          </p:cNvPicPr>
          <p:nvPr/>
        </p:nvPicPr>
        <p:blipFill>
          <a:blip r:embed="rId8"/>
          <a:stretch>
            <a:fillRect/>
          </a:stretch>
        </p:blipFill>
        <p:spPr>
          <a:xfrm>
            <a:off x="9326651" y="3542728"/>
            <a:ext cx="237744" cy="237744"/>
          </a:xfrm>
          <a:prstGeom prst="rect">
            <a:avLst/>
          </a:prstGeom>
        </p:spPr>
      </p:pic>
      <p:sp>
        <p:nvSpPr>
          <p:cNvPr id="32" name="TextBox 31"/>
          <p:cNvSpPr txBox="1"/>
          <p:nvPr/>
        </p:nvSpPr>
        <p:spPr>
          <a:xfrm>
            <a:off x="9216923" y="3999928"/>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ACTION</a:t>
            </a:r>
          </a:p>
        </p:txBody>
      </p:sp>
      <p:sp>
        <p:nvSpPr>
          <p:cNvPr id="33" name="TextBox 32"/>
          <p:cNvSpPr txBox="1"/>
          <p:nvPr/>
        </p:nvSpPr>
        <p:spPr>
          <a:xfrm>
            <a:off x="9216923" y="4237672"/>
            <a:ext cx="2243251" cy="267716"/>
          </a:xfrm>
          <a:prstGeom prst="rect">
            <a:avLst/>
          </a:prstGeom>
          <a:noFill/>
        </p:spPr>
        <p:txBody>
          <a:bodyPr wrap="square" anchor="t" lIns="0" rIns="0" tIns="0" bIns="0">
            <a:spAutoFit/>
          </a:bodyPr>
          <a:lstStyle/>
          <a:p>
            <a:pPr algn="l"/>
            <a:r>
              <a:rPr sz="1400" b="1" i="0">
                <a:solidFill>
                  <a:srgbClr val="FFFFFF"/>
                </a:solidFill>
                <a:latin typeface="Calibri"/>
              </a:rPr>
              <a:t>Monday's move</a:t>
            </a:r>
          </a:p>
        </p:txBody>
      </p:sp>
      <p:sp>
        <p:nvSpPr>
          <p:cNvPr id="34" name="TextBox 33"/>
          <p:cNvSpPr txBox="1"/>
          <p:nvPr/>
        </p:nvSpPr>
        <p:spPr>
          <a:xfrm>
            <a:off x="9216923" y="4578540"/>
            <a:ext cx="2243251" cy="399796"/>
          </a:xfrm>
          <a:prstGeom prst="rect">
            <a:avLst/>
          </a:prstGeom>
          <a:noFill/>
        </p:spPr>
        <p:txBody>
          <a:bodyPr wrap="square" anchor="t" lIns="0" rIns="0" tIns="0" bIns="0">
            <a:spAutoFit/>
          </a:bodyPr>
          <a:lstStyle/>
          <a:p>
            <a:pPr algn="l"/>
            <a:r>
              <a:rPr sz="1100" b="0" i="0">
                <a:solidFill>
                  <a:srgbClr val="CFC9EE"/>
                </a:solidFill>
                <a:latin typeface="Calibri"/>
              </a:rPr>
              <a:t>Who does what, by when, and what doing it or waiting costs.</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37" name="Oval 3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39" name="Oval 3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1" name="Oval 4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3" name="Oval 42"/>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5" name="Oval 44"/>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D8  ·  11 / 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claim carries a number, a denominator and a period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one sentence carry before a board can repeat it?</a:t>
            </a:r>
          </a:p>
        </p:txBody>
      </p:sp>
      <p:sp>
        <p:nvSpPr>
          <p:cNvPr id="10" name="Rounded Rectangle 9"/>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[What you counted] [rose or fell] [by how much],</a:t>
            </a:r>
          </a:p>
          <a:p>
            <a:pPr>
              <a:spcAft>
                <a:spcPts val="200"/>
              </a:spcAft>
            </a:pPr>
            <a:r>
              <a:rPr sz="1400" b="0" i="0">
                <a:solidFill>
                  <a:srgbClr val="E4E1F1"/>
                </a:solidFill>
                <a:latin typeface="Consolas"/>
              </a:rPr>
              <a:t>  from [period] to [period], out of [its denominator];</a:t>
            </a:r>
          </a:p>
          <a:p>
            <a:pPr>
              <a:spcAft>
                <a:spcPts val="200"/>
              </a:spcAft>
            </a:pPr>
            <a:r>
              <a:rPr sz="1400" b="0" i="0">
                <a:solidFill>
                  <a:srgbClr val="E4E1F1"/>
                </a:solidFill>
                <a:latin typeface="Consolas"/>
              </a:rPr>
              <a:t>  [the fact that would change it];</a:t>
            </a:r>
          </a:p>
          <a:p>
            <a:pPr>
              <a:spcAft>
                <a:spcPts val="200"/>
              </a:spcAft>
            </a:pPr>
            <a:r>
              <a:rPr sz="1400" b="0" i="0">
                <a:solidFill>
                  <a:srgbClr val="E4E1F1"/>
                </a:solidFill>
                <a:latin typeface="Consolas"/>
              </a:rPr>
              <a:t>  so [who] [does what] [by when].</a:t>
            </a:r>
          </a:p>
        </p:txBody>
      </p:sp>
      <p:graphicFrame>
        <p:nvGraphicFramePr>
          <p:cNvPr id="15" name="Table 14"/>
          <p:cNvGraphicFramePr>
            <a:graphicFrameLocks noGrp="1"/>
          </p:cNvGraphicFramePr>
          <p:nvPr/>
        </p:nvGraphicFramePr>
        <p:xfrm>
          <a:off x="530352" y="3588512"/>
          <a:ext cx="11130989" cy="2218944"/>
        </p:xfrm>
        <a:graphic>
          <a:graphicData uri="http://schemas.openxmlformats.org/drawingml/2006/table">
            <a:tbl>
              <a:tblPr firstRow="0" bandRow="0">
                <a:tableStyleId>{2D5ABB26-0587-4C30-8999-92F81FD0307C}</a:tableStyleId>
              </a:tblPr>
              <a:tblGrid>
                <a:gridCol w="3561192"/>
                <a:gridCol w="3146920"/>
                <a:gridCol w="4422877"/>
              </a:tblGrid>
              <a:tr h="369824">
                <a:tc>
                  <a:txBody>
                    <a:bodyPr/>
                    <a:lstStyle/>
                    <a:p>
                      <a:r>
                        <a:rPr sz="1450" b="1" i="0">
                          <a:solidFill>
                            <a:srgbClr val="FFFFFF"/>
                          </a:solidFill>
                          <a:latin typeface="Calibri"/>
                        </a:rPr>
                        <a:t>Slot in the sentence</a:t>
                      </a:r>
                    </a:p>
                  </a:txBody>
                  <a:tcPr marL="101600" marR="101600" marT="38100" marB="38100" anchor="ctr">
                    <a:solidFill>
                      <a:srgbClr val="1A0F5C"/>
                    </a:solidFill>
                  </a:tcPr>
                </a:tc>
                <a:tc>
                  <a:txBody>
                    <a:bodyPr/>
                    <a:lstStyle/>
                    <a:p>
                      <a:r>
                        <a:rPr sz="1450" b="1" i="0">
                          <a:solidFill>
                            <a:srgbClr val="FFFFFF"/>
                          </a:solidFill>
                          <a:latin typeface="Calibri"/>
                        </a:rPr>
                        <a:t>The rubric's words for it</a:t>
                      </a:r>
                    </a:p>
                  </a:txBody>
                  <a:tcPr marL="101600" marR="101600" marT="38100" marB="38100" anchor="ctr">
                    <a:solidFill>
                      <a:srgbClr val="1A0F5C"/>
                    </a:solidFill>
                  </a:tcPr>
                </a:tc>
                <a:tc>
                  <a:txBody>
                    <a:bodyPr/>
                    <a:lstStyle/>
                    <a:p>
                      <a:r>
                        <a:rPr sz="1450" b="1" i="0">
                          <a:solidFill>
                            <a:srgbClr val="FFFFFF"/>
                          </a:solidFill>
                          <a:latin typeface="Calibri"/>
                        </a:rPr>
                        <a:t>What a panel asks when it is missing</a:t>
                      </a:r>
                    </a:p>
                  </a:txBody>
                  <a:tcPr marL="101600" marR="101600" marT="38100" marB="38100" anchor="ctr">
                    <a:solidFill>
                      <a:srgbClr val="1A0F5C"/>
                    </a:solidFill>
                  </a:tcPr>
                </a:tc>
              </a:tr>
              <a:tr h="369824">
                <a:tc>
                  <a:txBody>
                    <a:bodyPr/>
                    <a:lstStyle/>
                    <a:p>
                      <a:r>
                        <a:rPr sz="1400" b="0" i="0">
                          <a:solidFill>
                            <a:srgbClr val="1A1440"/>
                          </a:solidFill>
                          <a:latin typeface="Calibri"/>
                        </a:rPr>
                        <a:t>The number, and what was counted</a:t>
                      </a:r>
                    </a:p>
                  </a:txBody>
                  <a:tcPr marL="101600" marR="101600" marT="38100" marB="38100" anchor="ctr">
                    <a:solidFill>
                      <a:srgbClr val="FFFFFF"/>
                    </a:solidFill>
                  </a:tcPr>
                </a:tc>
                <a:tc>
                  <a:txBody>
                    <a:bodyPr/>
                    <a:lstStyle/>
                    <a:p>
                      <a:r>
                        <a:rPr sz="1400" b="0" i="0">
                          <a:solidFill>
                            <a:srgbClr val="1A1440"/>
                          </a:solidFill>
                          <a:latin typeface="Calibri"/>
                        </a:rPr>
                        <a:t>Its number</a:t>
                      </a:r>
                    </a:p>
                  </a:txBody>
                  <a:tcPr marL="101600" marR="101600" marT="38100" marB="38100" anchor="ctr">
                    <a:solidFill>
                      <a:srgbClr val="FFFFFF"/>
                    </a:solidFill>
                  </a:tcPr>
                </a:tc>
                <a:tc>
                  <a:txBody>
                    <a:bodyPr/>
                    <a:lstStyle/>
                    <a:p>
                      <a:r>
                        <a:rPr sz="1400" b="0" i="0">
                          <a:solidFill>
                            <a:srgbClr val="1A1440"/>
                          </a:solidFill>
                          <a:latin typeface="Calibri"/>
                        </a:rPr>
                        <a:t>"Counted how?"</a:t>
                      </a:r>
                    </a:p>
                  </a:txBody>
                  <a:tcPr marL="101600" marR="101600" marT="38100" marB="38100" anchor="ctr">
                    <a:solidFill>
                      <a:srgbClr val="FFFFFF"/>
                    </a:solidFill>
                  </a:tcPr>
                </a:tc>
              </a:tr>
              <a:tr h="369824">
                <a:tc>
                  <a:txBody>
                    <a:bodyPr/>
                    <a:lstStyle/>
                    <a:p>
                      <a:r>
                        <a:rPr sz="1400" b="0" i="0">
                          <a:solidFill>
                            <a:srgbClr val="1A1440"/>
                          </a:solidFill>
                          <a:latin typeface="Calibri"/>
                        </a:rPr>
                        <a:t>Out of what</a:t>
                      </a:r>
                    </a:p>
                  </a:txBody>
                  <a:tcPr marL="101600" marR="101600" marT="38100" marB="38100" anchor="ctr">
                    <a:solidFill>
                      <a:srgbClr val="F4F2FA"/>
                    </a:solidFill>
                  </a:tcPr>
                </a:tc>
                <a:tc>
                  <a:txBody>
                    <a:bodyPr/>
                    <a:lstStyle/>
                    <a:p>
                      <a:r>
                        <a:rPr sz="1400" b="0" i="0">
                          <a:solidFill>
                            <a:srgbClr val="1A1440"/>
                          </a:solidFill>
                          <a:latin typeface="Calibri"/>
                        </a:rPr>
                        <a:t>Its denominator</a:t>
                      </a:r>
                    </a:p>
                  </a:txBody>
                  <a:tcPr marL="101600" marR="101600" marT="38100" marB="38100" anchor="ctr">
                    <a:solidFill>
                      <a:srgbClr val="F4F2FA"/>
                    </a:solidFill>
                  </a:tcPr>
                </a:tc>
                <a:tc>
                  <a:txBody>
                    <a:bodyPr/>
                    <a:lstStyle/>
                    <a:p>
                      <a:r>
                        <a:rPr sz="1400" b="0" i="0">
                          <a:solidFill>
                            <a:srgbClr val="1A1440"/>
                          </a:solidFill>
                          <a:latin typeface="Calibri"/>
                        </a:rPr>
                        <a:t>"Per what?"</a:t>
                      </a:r>
                    </a:p>
                  </a:txBody>
                  <a:tcPr marL="101600" marR="101600" marT="38100" marB="38100" anchor="ctr">
                    <a:solidFill>
                      <a:srgbClr val="F4F2FA"/>
                    </a:solidFill>
                  </a:tcPr>
                </a:tc>
              </a:tr>
              <a:tr h="369824">
                <a:tc>
                  <a:txBody>
                    <a:bodyPr/>
                    <a:lstStyle/>
                    <a:p>
                      <a:r>
                        <a:rPr sz="1400" b="0" i="0">
                          <a:solidFill>
                            <a:srgbClr val="1A1440"/>
                          </a:solidFill>
                          <a:latin typeface="Calibri"/>
                        </a:rPr>
                        <a:t>From when to when</a:t>
                      </a:r>
                    </a:p>
                  </a:txBody>
                  <a:tcPr marL="101600" marR="101600" marT="38100" marB="38100" anchor="ctr">
                    <a:solidFill>
                      <a:srgbClr val="FFFFFF"/>
                    </a:solidFill>
                  </a:tcPr>
                </a:tc>
                <a:tc>
                  <a:txBody>
                    <a:bodyPr/>
                    <a:lstStyle/>
                    <a:p>
                      <a:r>
                        <a:rPr sz="1400" b="0" i="0">
                          <a:solidFill>
                            <a:srgbClr val="1A1440"/>
                          </a:solidFill>
                          <a:latin typeface="Calibri"/>
                        </a:rPr>
                        <a:t>Its period</a:t>
                      </a:r>
                    </a:p>
                  </a:txBody>
                  <a:tcPr marL="101600" marR="101600" marT="38100" marB="38100" anchor="ctr">
                    <a:solidFill>
                      <a:srgbClr val="FFFFFF"/>
                    </a:solidFill>
                  </a:tcPr>
                </a:tc>
                <a:tc>
                  <a:txBody>
                    <a:bodyPr/>
                    <a:lstStyle/>
                    <a:p>
                      <a:r>
                        <a:rPr sz="1400" b="0" i="0">
                          <a:solidFill>
                            <a:srgbClr val="1A1440"/>
                          </a:solidFill>
                          <a:latin typeface="Calibri"/>
                        </a:rPr>
                        <a:t>"Over which window?"</a:t>
                      </a:r>
                    </a:p>
                  </a:txBody>
                  <a:tcPr marL="101600" marR="101600" marT="38100" marB="38100" anchor="ctr">
                    <a:solidFill>
                      <a:srgbClr val="FFFFFF"/>
                    </a:solidFill>
                  </a:tcPr>
                </a:tc>
              </a:tr>
              <a:tr h="369824">
                <a:tc>
                  <a:txBody>
                    <a:bodyPr/>
                    <a:lstStyle/>
                    <a:p>
                      <a:r>
                        <a:rPr sz="1400" b="0" i="0">
                          <a:solidFill>
                            <a:srgbClr val="1A1440"/>
                          </a:solidFill>
                          <a:latin typeface="Calibri"/>
                        </a:rPr>
                        <a:t>What would change it</a:t>
                      </a:r>
                    </a:p>
                  </a:txBody>
                  <a:tcPr marL="101600" marR="101600" marT="38100" marB="38100" anchor="ctr">
                    <a:solidFill>
                      <a:srgbClr val="F4F2FA"/>
                    </a:solidFill>
                  </a:tcPr>
                </a:tc>
                <a:tc>
                  <a:txBody>
                    <a:bodyPr/>
                    <a:lstStyle/>
                    <a:p>
                      <a:r>
                        <a:rPr sz="1400" b="0" i="0">
                          <a:solidFill>
                            <a:srgbClr val="1A1440"/>
                          </a:solidFill>
                          <a:latin typeface="Calibri"/>
                        </a:rPr>
                        <a:t>Its caveat</a:t>
                      </a:r>
                    </a:p>
                  </a:txBody>
                  <a:tcPr marL="101600" marR="101600" marT="38100" marB="38100" anchor="ctr">
                    <a:solidFill>
                      <a:srgbClr val="F4F2FA"/>
                    </a:solidFill>
                  </a:tcPr>
                </a:tc>
                <a:tc>
                  <a:txBody>
                    <a:bodyPr/>
                    <a:lstStyle/>
                    <a:p>
                      <a:r>
                        <a:rPr sz="1400" b="0" i="0">
                          <a:solidFill>
                            <a:srgbClr val="1A1440"/>
                          </a:solidFill>
                          <a:latin typeface="Calibri"/>
                        </a:rPr>
                        <a:t>"And if that is wrong?"</a:t>
                      </a:r>
                    </a:p>
                  </a:txBody>
                  <a:tcPr marL="101600" marR="101600" marT="38100" marB="38100" anchor="ctr">
                    <a:solidFill>
                      <a:srgbClr val="F4F2FA"/>
                    </a:solidFill>
                  </a:tcPr>
                </a:tc>
              </a:tr>
              <a:tr h="369824">
                <a:tc>
                  <a:txBody>
                    <a:bodyPr/>
                    <a:lstStyle/>
                    <a:p>
                      <a:r>
                        <a:rPr sz="1400" b="0" i="0">
                          <a:solidFill>
                            <a:srgbClr val="1A1440"/>
                          </a:solidFill>
                          <a:latin typeface="Calibri"/>
                        </a:rPr>
                        <a:t>Who does what next</a:t>
                      </a:r>
                    </a:p>
                  </a:txBody>
                  <a:tcPr marL="101600" marR="101600" marT="38100" marB="38100" anchor="ctr">
                    <a:solidFill>
                      <a:srgbClr val="FFFFFF"/>
                    </a:solidFill>
                  </a:tcPr>
                </a:tc>
                <a:tc>
                  <a:txBody>
                    <a:bodyPr/>
                    <a:lstStyle/>
                    <a:p>
                      <a:r>
                        <a:rPr sz="1400" b="0" i="0">
                          <a:solidFill>
                            <a:srgbClr val="1A1440"/>
                          </a:solidFill>
                          <a:latin typeface="Calibri"/>
                        </a:rPr>
                        <a:t>An action Dr Menon can take</a:t>
                      </a:r>
                    </a:p>
                  </a:txBody>
                  <a:tcPr marL="101600" marR="101600" marT="38100" marB="38100" anchor="ctr">
                    <a:solidFill>
                      <a:srgbClr val="FFFFFF"/>
                    </a:solidFill>
                  </a:tcPr>
                </a:tc>
                <a:tc>
                  <a:txBody>
                    <a:bodyPr/>
                    <a:lstStyle/>
                    <a:p>
                      <a:r>
                        <a:rPr sz="1400" b="0" i="0">
                          <a:solidFill>
                            <a:srgbClr val="1A1440"/>
                          </a:solidFill>
                          <a:latin typeface="Calibri"/>
                        </a:rPr>
                        <a:t>"So what do I do?"</a:t>
                      </a:r>
                    </a:p>
                  </a:txBody>
                  <a:tcPr marL="101600" marR="101600" marT="38100" marB="38100" anchor="ctr">
                    <a:solidFill>
                      <a:srgbClr val="FFFFFF"/>
                    </a:solidFill>
                  </a:tcPr>
                </a:tc>
              </a:tr>
            </a:tbl>
          </a:graphicData>
        </a:graphic>
      </p:graphicFrame>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8" name="Oval 17"/>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4" name="Oval 23"/>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6" name="Oval 25"/>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D9  ·  12 / 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Quest states its growth as a count and a rate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a listed US laboratory state a quarter's growth, with its denominator?</a:t>
            </a:r>
          </a:p>
        </p:txBody>
      </p:sp>
      <p:sp>
        <p:nvSpPr>
          <p:cNvPr id="10" name="TextBox 9"/>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10.2%</a:t>
            </a:r>
          </a:p>
        </p:txBody>
      </p:sp>
      <p:sp>
        <p:nvSpPr>
          <p:cNvPr id="11" name="TextBox 10"/>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REVENUES, Q2 2026 ON 2025</a:t>
            </a:r>
          </a:p>
        </p:txBody>
      </p:sp>
      <p:sp>
        <p:nvSpPr>
          <p:cNvPr id="12" name="TextBox 11"/>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$3.04 billion in the quarter</a:t>
            </a:r>
          </a:p>
        </p:txBody>
      </p:sp>
      <p:sp>
        <p:nvSpPr>
          <p:cNvPr id="13" name="Rectangle 12"/>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13.1%</a:t>
            </a:r>
          </a:p>
        </p:txBody>
      </p:sp>
      <p:sp>
        <p:nvSpPr>
          <p:cNvPr id="15" name="TextBox 14"/>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MORE REQUISITIONS</a:t>
            </a:r>
          </a:p>
        </p:txBody>
      </p:sp>
      <p:sp>
        <p:nvSpPr>
          <p:cNvPr id="16" name="TextBox 15"/>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count: doctors' orders for tests</a:t>
            </a:r>
          </a:p>
        </p:txBody>
      </p:sp>
      <p:sp>
        <p:nvSpPr>
          <p:cNvPr id="17" name="Rectangle 16"/>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2.8%</a:t>
            </a:r>
          </a:p>
        </p:txBody>
      </p:sp>
      <p:sp>
        <p:nvSpPr>
          <p:cNvPr id="19" name="TextBox 18"/>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LESS REVENUE PER REQUISITION</a:t>
            </a:r>
          </a:p>
        </p:txBody>
      </p:sp>
      <p:sp>
        <p:nvSpPr>
          <p:cNvPr id="20" name="TextBox 19"/>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rate: dollars per order</a:t>
            </a:r>
          </a:p>
        </p:txBody>
      </p:sp>
      <p:sp>
        <p:nvSpPr>
          <p:cNvPr id="21" name="Rectangle 20"/>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Quest Diagnostics told its second quarter of 2026 as a count and a rate, so a reader sees that volume grew faster than revenue because each order brought in less (Quest's second-quarter 2026 results, 23 July 2026).</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25" name="Oval 2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27" name="Oval 2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9" name="Oval 2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31" name="Oval 30"/>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33" name="Oval 32"/>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D10  ·  13 / 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Question: which sentence can Dr Menon carry?</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four sentences, on one invented quarter at a Kalpa Health laboratory, can a board repeat?</a:t>
            </a:r>
          </a:p>
        </p:txBody>
      </p:sp>
      <p:sp>
        <p:nvSpPr>
          <p:cNvPr id="10" name="Rounded Rectangle 9"/>
          <p:cNvSpPr/>
          <p:nvPr/>
        </p:nvSpPr>
        <p:spPr>
          <a:xfrm>
            <a:off x="530352" y="194183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6984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60702"/>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The lab director's invented quarter: median turnaround, from draw to released result, 22 hours in Q2 and 18 in Q3 on 9,400 tests, and 14 in Q3 when timed from the sample's arrival at the lab. Which sentence can Dr Menon carry? Answer as a letter.</a:t>
            </a:r>
          </a:p>
        </p:txBody>
      </p:sp>
      <p:sp>
        <p:nvSpPr>
          <p:cNvPr id="13" name="TextBox 12"/>
          <p:cNvSpPr txBox="1"/>
          <p:nvPr/>
        </p:nvSpPr>
        <p:spPr>
          <a:xfrm>
            <a:off x="530352" y="3180842"/>
            <a:ext cx="11130991" cy="275945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Turnaround improved sharply across the laboratory in Q3, and the lab director's team deserves the credit for it.</a:t>
            </a:r>
          </a:p>
          <a:p>
            <a:pPr>
              <a:spcAft>
                <a:spcPts val="800"/>
              </a:spcAft>
            </a:pPr>
            <a:r>
              <a:rPr sz="1600" b="0" i="0">
                <a:solidFill>
                  <a:srgbClr val="1A1440"/>
                </a:solidFill>
                <a:latin typeface="Calibri"/>
              </a:rPr>
              <a:t>b) Median draw-to-result time fell from 22 to 18 hours, Q2 to Q3, on 9,400 tests, courier included; keep the evening run.</a:t>
            </a:r>
          </a:p>
          <a:p>
            <a:pPr>
              <a:spcAft>
                <a:spcPts val="800"/>
              </a:spcAft>
            </a:pPr>
            <a:r>
              <a:rPr sz="1600" b="0" i="0">
                <a:solidFill>
                  <a:srgbClr val="1A1440"/>
                </a:solidFill>
                <a:latin typeface="Calibri"/>
              </a:rPr>
              <a:t>c) Our turnaround analysis shows promising signs which may possibly point to faster results for doctors in coming quarters.</a:t>
            </a:r>
          </a:p>
          <a:p>
            <a:pPr>
              <a:spcAft>
                <a:spcPts val="800"/>
              </a:spcAft>
            </a:pPr>
            <a:r>
              <a:rPr sz="1600" b="0" i="0">
                <a:solidFill>
                  <a:srgbClr val="1A1440"/>
                </a:solidFill>
                <a:latin typeface="Calibri"/>
              </a:rPr>
              <a:t>d) Turnaround is down to 18 hours in Q3, so the evening courier run can stop from Q4 and its whole cost can be saved.</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6" name="Oval 15"/>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0" name="Oval 1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2" name="Oval 21"/>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4" name="Oval 23"/>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D11  ·  14 / 49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Answer: b, the one sentence with all five parts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sentence can Dr Menon carry, and why does each other one fail?</a:t>
            </a:r>
          </a:p>
        </p:txBody>
      </p:sp>
      <p:graphicFrame>
        <p:nvGraphicFramePr>
          <p:cNvPr id="10" name="Table 9"/>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Why it holds or fails</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A verdict with no number, no denominator and no window; a board member's first question breaks it</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Holds: the measure, the window, the count, what the number includes, and an action</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Hedges every word, so nobody can act on it and nobody can disagree with it</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An action with no evidence and no caveat, and it cuts the courier run whose hours sit inside the 18</a:t>
                      </a:r>
                    </a:p>
                  </a:txBody>
                  <a:tcPr marL="101600" marR="101600" marT="38100" marB="38100" anchor="ctr">
                    <a:solidFill>
                      <a:srgbClr val="F4F2FA"/>
                    </a:solidFill>
                  </a:tcPr>
                </a:tc>
              </a:tr>
            </a:tbl>
          </a:graphicData>
        </a:graphic>
      </p:graphicFrame>
      <p:sp>
        <p:nvSpPr>
          <p:cNvPr id="11" name="Rounded Rectangle 10"/>
          <p:cNvSpPr/>
          <p:nvPr/>
        </p:nvSpPr>
        <p:spPr>
          <a:xfrm>
            <a:off x="530352" y="4061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394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search-check_6571e64a041f.png"/>
          <p:cNvPicPr>
            <a:picLocks noChangeAspect="1"/>
          </p:cNvPicPr>
          <p:nvPr/>
        </p:nvPicPr>
        <p:blipFill>
          <a:blip r:embed="rId4"/>
          <a:stretch>
            <a:fillRect/>
          </a:stretch>
        </p:blipFill>
        <p:spPr>
          <a:xfrm>
            <a:off x="868680" y="4503928"/>
            <a:ext cx="237744" cy="237744"/>
          </a:xfrm>
          <a:prstGeom prst="rect">
            <a:avLst/>
          </a:prstGeom>
        </p:spPr>
      </p:pic>
      <p:sp>
        <p:nvSpPr>
          <p:cNvPr id="14" name="TextBox 13"/>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5" name="TextBox 14"/>
          <p:cNvSpPr txBox="1"/>
          <p:nvPr/>
        </p:nvSpPr>
        <p:spPr>
          <a:xfrm>
            <a:off x="1399031" y="4427728"/>
            <a:ext cx="9987991" cy="682752"/>
          </a:xfrm>
          <a:prstGeom prst="rect">
            <a:avLst/>
          </a:prstGeom>
          <a:noFill/>
        </p:spPr>
        <p:txBody>
          <a:bodyPr wrap="square" anchor="t" lIns="0" rIns="0" tIns="0" bIns="0">
            <a:spAutoFit/>
          </a:bodyPr>
          <a:lstStyle/>
          <a:p>
            <a:r>
              <a:rPr sz="1500" b="0" i="0">
                <a:solidFill>
                  <a:srgbClr val="1A1440"/>
                </a:solidFill>
                <a:latin typeface="Calibri"/>
              </a:rPr>
              <a:t>Read your claim aloud and ask what you counted, out of what, over which window, and what would change it; if any is missing, the panel will ask for it.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8" name="Oval 17"/>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4" name="Oval 23"/>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6" name="Oval 25"/>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D12  ·  15 / 49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caveat names the fact that would change the claim</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separates a caveat from a disclaimer that protects nobody?</a:t>
            </a:r>
          </a:p>
        </p:txBody>
      </p:sp>
      <p:graphicFrame>
        <p:nvGraphicFramePr>
          <p:cNvPr id="10" name="Table 9"/>
          <p:cNvGraphicFramePr>
            <a:graphicFrameLocks noGrp="1"/>
          </p:cNvGraphicFramePr>
          <p:nvPr/>
        </p:nvGraphicFramePr>
        <p:xfrm>
          <a:off x="530352" y="1956816"/>
          <a:ext cx="11130990" cy="1243584"/>
        </p:xfrm>
        <a:graphic>
          <a:graphicData uri="http://schemas.openxmlformats.org/drawingml/2006/table">
            <a:tbl>
              <a:tblPr firstRow="0" bandRow="0">
                <a:tableStyleId>{2D5ABB26-0587-4C30-8999-92F81FD0307C}</a:tableStyleId>
              </a:tblPr>
              <a:tblGrid>
                <a:gridCol w="4251807"/>
                <a:gridCol w="6879183"/>
              </a:tblGrid>
              <a:tr h="310896">
                <a:tc>
                  <a:txBody>
                    <a:bodyPr/>
                    <a:lstStyle/>
                    <a:p>
                      <a:r>
                        <a:rPr sz="1050" b="1" i="0">
                          <a:solidFill>
                            <a:srgbClr val="FFFFFF"/>
                          </a:solidFill>
                          <a:latin typeface="Calibri"/>
                        </a:rPr>
                        <a:t>A disclaimer</a:t>
                      </a:r>
                    </a:p>
                  </a:txBody>
                  <a:tcPr marL="101600" marR="101600" marT="38100" marB="38100" anchor="ctr">
                    <a:solidFill>
                      <a:srgbClr val="1A0F5C"/>
                    </a:solidFill>
                  </a:tcPr>
                </a:tc>
                <a:tc>
                  <a:txBody>
                    <a:bodyPr/>
                    <a:lstStyle/>
                    <a:p>
                      <a:r>
                        <a:rPr sz="1050" b="1" i="0">
                          <a:solidFill>
                            <a:srgbClr val="FFFFFF"/>
                          </a:solidFill>
                          <a:latin typeface="Calibri"/>
                        </a:rPr>
                        <a:t>A caveat, on the invented turnaround quarter</a:t>
                      </a:r>
                    </a:p>
                  </a:txBody>
                  <a:tcPr marL="101600" marR="101600" marT="38100" marB="38100" anchor="ctr">
                    <a:solidFill>
                      <a:srgbClr val="1A0F5C"/>
                    </a:solidFill>
                  </a:tcPr>
                </a:tc>
              </a:tr>
              <a:tr h="310896">
                <a:tc>
                  <a:txBody>
                    <a:bodyPr/>
                    <a:lstStyle/>
                    <a:p>
                      <a:r>
                        <a:rPr sz="1000" b="0" i="0">
                          <a:solidFill>
                            <a:srgbClr val="1A1440"/>
                          </a:solidFill>
                          <a:latin typeface="Calibri"/>
                        </a:rPr>
                        <a:t>"The data may have quality issues."</a:t>
                      </a:r>
                    </a:p>
                  </a:txBody>
                  <a:tcPr marL="101600" marR="101600" marT="38100" marB="38100" anchor="ctr">
                    <a:solidFill>
                      <a:srgbClr val="FFFFFF"/>
                    </a:solidFill>
                  </a:tcPr>
                </a:tc>
                <a:tc>
                  <a:txBody>
                    <a:bodyPr/>
                    <a:lstStyle/>
                    <a:p>
                      <a:r>
                        <a:rPr sz="1000" b="0" i="0">
                          <a:solidFill>
                            <a:srgbClr val="1A1440"/>
                          </a:solidFill>
                          <a:latin typeface="Calibri"/>
                        </a:rPr>
                        <a:t>"If the lab's clock and the draw site's clock disagree by an hour, the fall is 3 hours, not 4."</a:t>
                      </a:r>
                    </a:p>
                  </a:txBody>
                  <a:tcPr marL="101600" marR="101600" marT="38100" marB="38100" anchor="ctr">
                    <a:solidFill>
                      <a:srgbClr val="FFFFFF"/>
                    </a:solidFill>
                  </a:tcPr>
                </a:tc>
              </a:tr>
              <a:tr h="310896">
                <a:tc>
                  <a:txBody>
                    <a:bodyPr/>
                    <a:lstStyle/>
                    <a:p>
                      <a:r>
                        <a:rPr sz="1000" b="0" i="0">
                          <a:solidFill>
                            <a:srgbClr val="1A1440"/>
                          </a:solidFill>
                          <a:latin typeface="Calibri"/>
                        </a:rPr>
                        <a:t>"Results may vary."</a:t>
                      </a:r>
                    </a:p>
                  </a:txBody>
                  <a:tcPr marL="101600" marR="101600" marT="38100" marB="38100" anchor="ctr">
                    <a:solidFill>
                      <a:srgbClr val="F4F2FA"/>
                    </a:solidFill>
                  </a:tcPr>
                </a:tc>
                <a:tc>
                  <a:txBody>
                    <a:bodyPr/>
                    <a:lstStyle/>
                    <a:p>
                      <a:r>
                        <a:rPr sz="1000" b="0" i="0">
                          <a:solidFill>
                            <a:srgbClr val="1A1440"/>
                          </a:solidFill>
                          <a:latin typeface="Calibri"/>
                        </a:rPr>
                        <a:t>"Timed from arrival at the lab, Q3 reads 14 hours, so most of the gain could be the courier's."</a:t>
                      </a:r>
                    </a:p>
                  </a:txBody>
                  <a:tcPr marL="101600" marR="101600" marT="38100" marB="38100" anchor="ctr">
                    <a:solidFill>
                      <a:srgbClr val="F4F2FA"/>
                    </a:solidFill>
                  </a:tcPr>
                </a:tc>
              </a:tr>
              <a:tr h="310896">
                <a:tc>
                  <a:txBody>
                    <a:bodyPr/>
                    <a:lstStyle/>
                    <a:p>
                      <a:r>
                        <a:rPr sz="1000" b="0" i="0">
                          <a:solidFill>
                            <a:srgbClr val="1A1440"/>
                          </a:solidFill>
                          <a:latin typeface="Calibri"/>
                        </a:rPr>
                        <a:t>"Further analysis is needed."</a:t>
                      </a:r>
                    </a:p>
                  </a:txBody>
                  <a:tcPr marL="101600" marR="101600" marT="38100" marB="38100" anchor="ctr">
                    <a:solidFill>
                      <a:srgbClr val="FFFFFF"/>
                    </a:solidFill>
                  </a:tcPr>
                </a:tc>
                <a:tc>
                  <a:txBody>
                    <a:bodyPr/>
                    <a:lstStyle/>
                    <a:p>
                      <a:r>
                        <a:rPr sz="1000" b="0" i="0">
                          <a:solidFill>
                            <a:srgbClr val="1A1440"/>
                          </a:solidFill>
                          <a:latin typeface="Calibri"/>
                        </a:rPr>
                        <a:t>"One quarter of 9,400 tests; a second quarter at 18 or below would settle it."</a:t>
                      </a:r>
                    </a:p>
                  </a:txBody>
                  <a:tcPr marL="101600" marR="101600" marT="38100" marB="38100" anchor="ctr">
                    <a:solidFill>
                      <a:srgbClr val="FFFFFF"/>
                    </a:solidFill>
                  </a:tcPr>
                </a:tc>
              </a:tr>
            </a:tbl>
          </a:graphicData>
        </a:graphic>
      </p:graphicFrame>
      <p:pic>
        <p:nvPicPr>
          <p:cNvPr id="11" name="mermaid diagram" descr="c167dd73de337000.png"/>
          <p:cNvPicPr>
            <a:picLocks noChangeAspect="1"/>
          </p:cNvPicPr>
          <p:nvPr/>
        </p:nvPicPr>
        <p:blipFill>
          <a:blip r:embed="rId5"/>
          <a:stretch>
            <a:fillRect/>
          </a:stretch>
        </p:blipFill>
        <p:spPr>
          <a:xfrm>
            <a:off x="2195360" y="3456432"/>
            <a:ext cx="7800975" cy="1128712"/>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D13  ·  16 / 49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 action names who does what, by when, at what cost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makes an action one Dr Menon can take on Monday?</a:t>
            </a:r>
          </a:p>
        </p:txBody>
      </p:sp>
      <p:graphicFrame>
        <p:nvGraphicFramePr>
          <p:cNvPr id="10" name="Table 9"/>
          <p:cNvGraphicFramePr>
            <a:graphicFrameLocks noGrp="1"/>
          </p:cNvGraphicFramePr>
          <p:nvPr/>
        </p:nvGraphicFramePr>
        <p:xfrm>
          <a:off x="530352" y="1956816"/>
          <a:ext cx="11130990" cy="1462024"/>
        </p:xfrm>
        <a:graphic>
          <a:graphicData uri="http://schemas.openxmlformats.org/drawingml/2006/table">
            <a:tbl>
              <a:tblPr firstRow="0" bandRow="0">
                <a:tableStyleId>{2D5ABB26-0587-4C30-8999-92F81FD0307C}</a:tableStyleId>
              </a:tblPr>
              <a:tblGrid>
                <a:gridCol w="3802540"/>
                <a:gridCol w="7328450"/>
              </a:tblGrid>
              <a:tr h="318008">
                <a:tc>
                  <a:txBody>
                    <a:bodyPr/>
                    <a:lstStyle/>
                    <a:p>
                      <a:r>
                        <a:rPr sz="1150" b="1" i="0">
                          <a:solidFill>
                            <a:srgbClr val="FFFFFF"/>
                          </a:solidFill>
                          <a:latin typeface="Calibri"/>
                        </a:rPr>
                        <a:t>An action nobody can take</a:t>
                      </a:r>
                    </a:p>
                  </a:txBody>
                  <a:tcPr marL="101600" marR="101600" marT="38100" marB="38100" anchor="ctr">
                    <a:solidFill>
                      <a:srgbClr val="1A0F5C"/>
                    </a:solidFill>
                  </a:tcPr>
                </a:tc>
                <a:tc>
                  <a:txBody>
                    <a:bodyPr/>
                    <a:lstStyle/>
                    <a:p>
                      <a:r>
                        <a:rPr sz="1150" b="1" i="0">
                          <a:solidFill>
                            <a:srgbClr val="FFFFFF"/>
                          </a:solidFill>
                          <a:latin typeface="Calibri"/>
                        </a:rPr>
                        <a:t>An action Dr Menon can take</a:t>
                      </a:r>
                    </a:p>
                  </a:txBody>
                  <a:tcPr marL="101600" marR="101600" marT="38100" marB="38100" anchor="ctr">
                    <a:solidFill>
                      <a:srgbClr val="1A0F5C"/>
                    </a:solidFill>
                  </a:tcPr>
                </a:tc>
              </a:tr>
              <a:tr h="508000">
                <a:tc>
                  <a:txBody>
                    <a:bodyPr/>
                    <a:lstStyle/>
                    <a:p>
                      <a:r>
                        <a:rPr sz="1100" b="0" i="0">
                          <a:solidFill>
                            <a:srgbClr val="1A1440"/>
                          </a:solidFill>
                          <a:latin typeface="Calibri"/>
                        </a:rPr>
                        <a:t>"Improve turnaround further."</a:t>
                      </a:r>
                    </a:p>
                  </a:txBody>
                  <a:tcPr marL="101600" marR="101600" marT="38100" marB="38100" anchor="ctr">
                    <a:solidFill>
                      <a:srgbClr val="FFFFFF"/>
                    </a:solidFill>
                  </a:tcPr>
                </a:tc>
                <a:tc>
                  <a:txBody>
                    <a:bodyPr/>
                    <a:lstStyle/>
                    <a:p>
                      <a:r>
                        <a:rPr sz="1100" b="0" i="0">
                          <a:solidFill>
                            <a:srgbClr val="1A1440"/>
                          </a:solidFill>
                          <a:latin typeface="Calibri"/>
                        </a:rPr>
                        <a:t>"The lab director keeps the evening courier run through Q4 and reports turnaround from draw again in January."</a:t>
                      </a:r>
                    </a:p>
                  </a:txBody>
                  <a:tcPr marL="101600" marR="101600" marT="38100" marB="38100" anchor="ctr">
                    <a:solidFill>
                      <a:srgbClr val="FFFFFF"/>
                    </a:solidFill>
                  </a:tcPr>
                </a:tc>
              </a:tr>
              <a:tr h="318008">
                <a:tc>
                  <a:txBody>
                    <a:bodyPr/>
                    <a:lstStyle/>
                    <a:p>
                      <a:r>
                        <a:rPr sz="1100" b="0" i="0">
                          <a:solidFill>
                            <a:srgbClr val="1A1440"/>
                          </a:solidFill>
                          <a:latin typeface="Calibri"/>
                        </a:rPr>
                        <a:t>"Investigate the courier."</a:t>
                      </a:r>
                    </a:p>
                  </a:txBody>
                  <a:tcPr marL="101600" marR="101600" marT="38100" marB="38100" anchor="ctr">
                    <a:solidFill>
                      <a:srgbClr val="F4F2FA"/>
                    </a:solidFill>
                  </a:tcPr>
                </a:tc>
                <a:tc>
                  <a:txBody>
                    <a:bodyPr/>
                    <a:lstStyle/>
                    <a:p>
                      <a:r>
                        <a:rPr sz="1100" b="0" i="0">
                          <a:solidFill>
                            <a:srgbClr val="1A1440"/>
                          </a:solidFill>
                          <a:latin typeface="Calibri"/>
                        </a:rPr>
                        <a:t>"Time 200 samples by hand at the draw site and at the lab next week, at two staff days."</a:t>
                      </a:r>
                    </a:p>
                  </a:txBody>
                  <a:tcPr marL="101600" marR="101600" marT="38100" marB="38100" anchor="ctr">
                    <a:solidFill>
                      <a:srgbClr val="F4F2FA"/>
                    </a:solidFill>
                  </a:tcPr>
                </a:tc>
              </a:tr>
              <a:tr h="318008">
                <a:tc>
                  <a:txBody>
                    <a:bodyPr/>
                    <a:lstStyle/>
                    <a:p>
                      <a:r>
                        <a:rPr sz="1100" b="0" i="0">
                          <a:solidFill>
                            <a:srgbClr val="1A1440"/>
                          </a:solidFill>
                          <a:latin typeface="Calibri"/>
                        </a:rPr>
                        <a:t>"Monitor the situation."</a:t>
                      </a:r>
                    </a:p>
                  </a:txBody>
                  <a:tcPr marL="101600" marR="101600" marT="38100" marB="38100" anchor="ctr">
                    <a:solidFill>
                      <a:srgbClr val="FFFFFF"/>
                    </a:solidFill>
                  </a:tcPr>
                </a:tc>
                <a:tc>
                  <a:txBody>
                    <a:bodyPr/>
                    <a:lstStyle/>
                    <a:p>
                      <a:r>
                        <a:rPr sz="1100" b="0" i="0">
                          <a:solidFill>
                            <a:srgbClr val="1A1440"/>
                          </a:solidFill>
                          <a:latin typeface="Calibri"/>
                        </a:rPr>
                        <a:t>"Hold the courier contract renewal until Q4's figure is in, which costs one month's delay."</a:t>
                      </a:r>
                    </a:p>
                  </a:txBody>
                  <a:tcPr marL="101600" marR="101600" marT="38100" marB="38100" anchor="ctr">
                    <a:solidFill>
                      <a:srgbClr val="FFFFFF"/>
                    </a:solidFill>
                  </a:tcPr>
                </a:tc>
              </a:tr>
            </a:tbl>
          </a:graphicData>
        </a:graphic>
      </p:graphicFrame>
      <p:pic>
        <p:nvPicPr>
          <p:cNvPr id="11" name="mermaid diagram" descr="7c0d935dd6f35403.png"/>
          <p:cNvPicPr>
            <a:picLocks noChangeAspect="1"/>
          </p:cNvPicPr>
          <p:nvPr/>
        </p:nvPicPr>
        <p:blipFill>
          <a:blip r:embed="rId5"/>
          <a:stretch>
            <a:fillRect/>
          </a:stretch>
        </p:blipFill>
        <p:spPr>
          <a:xfrm>
            <a:off x="2859728" y="3674872"/>
            <a:ext cx="6472237" cy="614362"/>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goes on one slide?</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D14  ·  17 / 49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is the claim earned?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 the translation, the data made trustworthy and the analysis earn your claim in ten minutes?</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 panel ask?</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slide?</a:t>
            </a:r>
          </a:p>
        </p:txBody>
      </p:sp>
      <p:sp>
        <p:nvSpPr>
          <p:cNvPr id="12" name="Rounded Rectangle 11"/>
          <p:cNvSpPr/>
          <p:nvPr/>
        </p:nvSpPr>
        <p:spPr>
          <a:xfrm>
            <a:off x="4465646"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is the claim earned?</a:t>
            </a:r>
          </a:p>
        </p:txBody>
      </p:sp>
      <p:sp>
        <p:nvSpPr>
          <p:cNvPr id="13" name="Rounded Rectangle 12"/>
          <p:cNvSpPr/>
          <p:nvPr/>
        </p:nvSpPr>
        <p:spPr>
          <a:xfrm>
            <a:off x="636231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if the demo fails?</a:t>
            </a:r>
          </a:p>
        </p:txBody>
      </p:sp>
      <p:sp>
        <p:nvSpPr>
          <p:cNvPr id="14" name="Rounded Rectangle 13"/>
          <p:cNvSpPr/>
          <p:nvPr/>
        </p:nvSpPr>
        <p:spPr>
          <a:xfrm>
            <a:off x="819977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claim hold?</a:t>
            </a:r>
          </a:p>
        </p:txBody>
      </p:sp>
      <p:sp>
        <p:nvSpPr>
          <p:cNvPr id="15" name="Rounded Rectangle 14"/>
          <p:cNvSpPr/>
          <p:nvPr/>
        </p:nvSpPr>
        <p:spPr>
          <a:xfrm>
            <a:off x="9859580" y="5074920"/>
            <a:ext cx="137243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it scored?</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Saturday: does your answer hold in front of the panel?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18 / 49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Ten minutes earn the claim your first two stated</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body of your slot, and which questions come on the way?</a:t>
            </a:r>
          </a:p>
        </p:txBody>
      </p:sp>
      <p:sp>
        <p:nvSpPr>
          <p:cNvPr id="10" name="Rounded Rectangle 9"/>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panel, which scores the translation (8 marks), the data made trustworthy (10) and the analysis (10) from these ten minutes, and Dr Menon, whose board will ask how sure the team is.</a:t>
            </a:r>
          </a:p>
        </p:txBody>
      </p:sp>
      <p:sp>
        <p:nvSpPr>
          <p:cNvPr id="13" name="Rectangle 12"/>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translation</a:t>
            </a:r>
          </a:p>
        </p:txBody>
      </p:sp>
      <p:sp>
        <p:nvSpPr>
          <p:cNvPr id="18" name="TextBox 17"/>
          <p:cNvSpPr txBox="1"/>
          <p:nvPr/>
        </p:nvSpPr>
        <p:spPr>
          <a:xfrm>
            <a:off x="694944"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How do you show her question is one you have answered before?</a:t>
            </a:r>
          </a:p>
        </p:txBody>
      </p:sp>
      <p:sp>
        <p:nvSpPr>
          <p:cNvPr id="19" name="TextBox 18"/>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793126"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957718"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words</a:t>
            </a:r>
          </a:p>
        </p:txBody>
      </p:sp>
      <p:sp>
        <p:nvSpPr>
          <p:cNvPr id="23" name="TextBox 22"/>
          <p:cNvSpPr txBox="1"/>
          <p:nvPr/>
        </p:nvSpPr>
        <p:spPr>
          <a:xfrm>
            <a:off x="2957718"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Which Kalpa Health words play the part of words you know?</a:t>
            </a:r>
          </a:p>
        </p:txBody>
      </p:sp>
      <p:sp>
        <p:nvSpPr>
          <p:cNvPr id="24" name="TextBox 23"/>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055900"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data</a:t>
            </a:r>
          </a:p>
        </p:txBody>
      </p:sp>
      <p:sp>
        <p:nvSpPr>
          <p:cNvPr id="28" name="TextBox 27"/>
          <p:cNvSpPr txBox="1"/>
          <p:nvPr/>
        </p:nvSpPr>
        <p:spPr>
          <a:xfrm>
            <a:off x="5220492"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log rows show the data can be trusted?</a:t>
            </a:r>
          </a:p>
        </p:txBody>
      </p:sp>
      <p:sp>
        <p:nvSpPr>
          <p:cNvPr id="29" name="TextBox 28"/>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318674"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charts</a:t>
            </a:r>
          </a:p>
        </p:txBody>
      </p:sp>
      <p:sp>
        <p:nvSpPr>
          <p:cNvPr id="33" name="TextBox 32"/>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rules let a chart carry one message?</a:t>
            </a:r>
          </a:p>
        </p:txBody>
      </p:sp>
      <p:sp>
        <p:nvSpPr>
          <p:cNvPr id="34" name="TextBox 33"/>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5" name="Oval 34"/>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581448" y="3816096"/>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Differently</a:t>
            </a:r>
          </a:p>
        </p:txBody>
      </p:sp>
      <p:sp>
        <p:nvSpPr>
          <p:cNvPr id="38" name="TextBox 37"/>
          <p:cNvSpPr txBox="1"/>
          <p:nvPr/>
        </p:nvSpPr>
        <p:spPr>
          <a:xfrm>
            <a:off x="9746040" y="4250182"/>
            <a:ext cx="1750710" cy="366776"/>
          </a:xfrm>
          <a:prstGeom prst="rect">
            <a:avLst/>
          </a:prstGeom>
          <a:noFill/>
        </p:spPr>
        <p:txBody>
          <a:bodyPr wrap="square" anchor="t" lIns="0" rIns="0" tIns="0" bIns="0">
            <a:spAutoFit/>
          </a:bodyPr>
          <a:lstStyle/>
          <a:p>
            <a:pPr algn="l"/>
            <a:r>
              <a:rPr sz="1000" b="0" i="0">
                <a:solidFill>
                  <a:srgbClr val="CFC9EE"/>
                </a:solidFill>
                <a:latin typeface="Calibri"/>
              </a:rPr>
              <a:t>What one change does your group take into Build 2?</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41" name="Oval 4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43" name="Oval 42"/>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45" name="Oval 44"/>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7" name="Oval 46"/>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9" name="Oval 48"/>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D15  ·  19 / 49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translation maps her words onto a move you own</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you show that her question is one you have answered before?</a:t>
            </a:r>
          </a:p>
        </p:txBody>
      </p:sp>
      <p:pic>
        <p:nvPicPr>
          <p:cNvPr id="10" name="mermaid diagram" descr="115b3e3f7382f104.png"/>
          <p:cNvPicPr>
            <a:picLocks noChangeAspect="1"/>
          </p:cNvPicPr>
          <p:nvPr/>
        </p:nvPicPr>
        <p:blipFill>
          <a:blip r:embed="rId5"/>
          <a:stretch>
            <a:fillRect/>
          </a:stretch>
        </p:blipFill>
        <p:spPr>
          <a:xfrm>
            <a:off x="1016641" y="1895380"/>
            <a:ext cx="10158412" cy="1128712"/>
          </a:xfrm>
          <a:prstGeom prst="rect">
            <a:avLst/>
          </a:prstGeom>
        </p:spPr>
      </p:pic>
      <p:graphicFrame>
        <p:nvGraphicFramePr>
          <p:cNvPr id="11" name="Table 10"/>
          <p:cNvGraphicFramePr>
            <a:graphicFrameLocks noGrp="1"/>
          </p:cNvGraphicFramePr>
          <p:nvPr/>
        </p:nvGraphicFramePr>
        <p:xfrm>
          <a:off x="530352" y="3170396"/>
          <a:ext cx="11130989" cy="2816352"/>
        </p:xfrm>
        <a:graphic>
          <a:graphicData uri="http://schemas.openxmlformats.org/drawingml/2006/table">
            <a:tbl>
              <a:tblPr firstRow="0" bandRow="0">
                <a:tableStyleId>{2D5ABB26-0587-4C30-8999-92F81FD0307C}</a:tableStyleId>
              </a:tblPr>
              <a:tblGrid>
                <a:gridCol w="3940934"/>
                <a:gridCol w="4227626"/>
                <a:gridCol w="2962429"/>
              </a:tblGrid>
              <a:tr h="369824">
                <a:tc>
                  <a:txBody>
                    <a:bodyPr/>
                    <a:lstStyle/>
                    <a:p>
                      <a:r>
                        <a:rPr sz="1450" b="1" i="0">
                          <a:solidFill>
                            <a:srgbClr val="FFFFFF"/>
                          </a:solidFill>
                          <a:latin typeface="Calibri"/>
                        </a:rPr>
                        <a:t>The question's shape</a:t>
                      </a:r>
                    </a:p>
                  </a:txBody>
                  <a:tcPr marL="101600" marR="101600" marT="38100" marB="38100" anchor="ctr">
                    <a:solidFill>
                      <a:srgbClr val="1A0F5C"/>
                    </a:solidFill>
                  </a:tcPr>
                </a:tc>
                <a:tc>
                  <a:txBody>
                    <a:bodyPr/>
                    <a:lstStyle/>
                    <a:p>
                      <a:r>
                        <a:rPr sz="1450" b="1" i="0">
                          <a:solidFill>
                            <a:srgbClr val="FFFFFF"/>
                          </a:solidFill>
                          <a:latin typeface="Calibri"/>
                        </a:rPr>
                        <a:t>The move you own</a:t>
                      </a:r>
                    </a:p>
                  </a:txBody>
                  <a:tcPr marL="101600" marR="101600" marT="38100" marB="38100" anchor="ctr">
                    <a:solidFill>
                      <a:srgbClr val="1A0F5C"/>
                    </a:solidFill>
                  </a:tcPr>
                </a:tc>
                <a:tc>
                  <a:txBody>
                    <a:bodyPr/>
                    <a:lstStyle/>
                    <a:p>
                      <a:r>
                        <a:rPr sz="1450" b="1" i="0">
                          <a:solidFill>
                            <a:srgbClr val="FFFFFF"/>
                          </a:solidFill>
                          <a:latin typeface="Calibri"/>
                        </a:rPr>
                        <a:t>Where you learned it</a:t>
                      </a:r>
                    </a:p>
                  </a:txBody>
                  <a:tcPr marL="101600" marR="101600" marT="38100" marB="38100" anchor="ctr">
                    <a:solidFill>
                      <a:srgbClr val="1A0F5C"/>
                    </a:solidFill>
                  </a:tcPr>
                </a:tc>
              </a:tr>
              <a:tr h="611632">
                <a:tc>
                  <a:txBody>
                    <a:bodyPr/>
                    <a:lstStyle/>
                    <a:p>
                      <a:r>
                        <a:rPr sz="1400" b="0" i="0">
                          <a:solidFill>
                            <a:srgbClr val="1A1440"/>
                          </a:solidFill>
                          <a:latin typeface="Calibri"/>
                        </a:rPr>
                        <a:t>Where does a total come from, and which part is short?</a:t>
                      </a:r>
                    </a:p>
                  </a:txBody>
                  <a:tcPr marL="101600" marR="101600" marT="38100" marB="38100" anchor="ctr">
                    <a:solidFill>
                      <a:srgbClr val="FFFFFF"/>
                    </a:solidFill>
                  </a:tcPr>
                </a:tc>
                <a:tc>
                  <a:txBody>
                    <a:bodyPr/>
                    <a:lstStyle/>
                    <a:p>
                      <a:r>
                        <a:rPr sz="1400" b="0" i="0">
                          <a:solidFill>
                            <a:srgbClr val="1A1440"/>
                          </a:solidFill>
                          <a:latin typeface="Calibri"/>
                        </a:rPr>
                        <a:t>The revenue tree, every branch a count over a denominator</a:t>
                      </a:r>
                    </a:p>
                  </a:txBody>
                  <a:tcPr marL="101600" marR="101600" marT="38100" marB="38100" anchor="ctr">
                    <a:solidFill>
                      <a:srgbClr val="FFFFFF"/>
                    </a:solidFill>
                  </a:tcPr>
                </a:tc>
                <a:tc>
                  <a:txBody>
                    <a:bodyPr/>
                    <a:lstStyle/>
                    <a:p>
                      <a:r>
                        <a:rPr sz="1400" b="0" i="0">
                          <a:solidFill>
                            <a:srgbClr val="1A1440"/>
                          </a:solidFill>
                          <a:latin typeface="Calibri"/>
                        </a:rPr>
                        <a:t>Week 1 Monday; Week 2 Monday, as queries</a:t>
                      </a:r>
                    </a:p>
                  </a:txBody>
                  <a:tcPr marL="101600" marR="101600" marT="38100" marB="38100" anchor="ctr">
                    <a:solidFill>
                      <a:srgbClr val="FFFFFF"/>
                    </a:solidFill>
                  </a:tcPr>
                </a:tc>
              </a:tr>
              <a:tr h="611632">
                <a:tc>
                  <a:txBody>
                    <a:bodyPr/>
                    <a:lstStyle/>
                    <a:p>
                      <a:r>
                        <a:rPr sz="1400" b="0" i="0">
                          <a:solidFill>
                            <a:srgbClr val="1A1440"/>
                          </a:solidFill>
                          <a:latin typeface="Calibri"/>
                        </a:rPr>
                        <a:t>Did it really fall, and why?</a:t>
                      </a:r>
                    </a:p>
                  </a:txBody>
                  <a:tcPr marL="101600" marR="101600" marT="38100" marB="38100" anchor="ctr">
                    <a:solidFill>
                      <a:srgbClr val="F4F2FA"/>
                    </a:solidFill>
                  </a:tcPr>
                </a:tc>
                <a:tc>
                  <a:txBody>
                    <a:bodyPr/>
                    <a:lstStyle/>
                    <a:p>
                      <a:r>
                        <a:rPr sz="1400" b="0" i="0">
                          <a:solidFill>
                            <a:srgbClr val="1A1440"/>
                          </a:solidFill>
                          <a:latin typeface="Calibri"/>
                        </a:rPr>
                        <a:t>The investigation ladder, rung 1 first: is the drop real?</a:t>
                      </a:r>
                    </a:p>
                  </a:txBody>
                  <a:tcPr marL="101600" marR="101600" marT="38100" marB="38100" anchor="ctr">
                    <a:solidFill>
                      <a:srgbClr val="F4F2FA"/>
                    </a:solidFill>
                  </a:tcPr>
                </a:tc>
                <a:tc>
                  <a:txBody>
                    <a:bodyPr/>
                    <a:lstStyle/>
                    <a:p>
                      <a:r>
                        <a:rPr sz="1400" b="0" i="0">
                          <a:solidFill>
                            <a:srgbClr val="1A1440"/>
                          </a:solidFill>
                          <a:latin typeface="Calibri"/>
                        </a:rPr>
                        <a:t>Week 1 Tuesday</a:t>
                      </a:r>
                    </a:p>
                  </a:txBody>
                  <a:tcPr marL="101600" marR="101600" marT="38100" marB="38100" anchor="ctr">
                    <a:solidFill>
                      <a:srgbClr val="F4F2FA"/>
                    </a:solidFill>
                  </a:tcPr>
                </a:tc>
              </a:tr>
              <a:tr h="611632">
                <a:tc>
                  <a:txBody>
                    <a:bodyPr/>
                    <a:lstStyle/>
                    <a:p>
                      <a:r>
                        <a:rPr sz="1400" b="0" i="0">
                          <a:solidFill>
                            <a:srgbClr val="1A1440"/>
                          </a:solidFill>
                          <a:latin typeface="Calibri"/>
                        </a:rPr>
                        <a:t>Do two files that should agree, agree?</a:t>
                      </a:r>
                    </a:p>
                  </a:txBody>
                  <a:tcPr marL="101600" marR="101600" marT="38100" marB="38100" anchor="ctr">
                    <a:solidFill>
                      <a:srgbClr val="FFFFFF"/>
                    </a:solidFill>
                  </a:tcPr>
                </a:tc>
                <a:tc>
                  <a:txBody>
                    <a:bodyPr/>
                    <a:lstStyle/>
                    <a:p>
                      <a:r>
                        <a:rPr sz="1400" b="0" i="0">
                          <a:solidFill>
                            <a:srgbClr val="1A1440"/>
                          </a:solidFill>
                          <a:latin typeface="Calibri"/>
                        </a:rPr>
                        <a:t>Profile, reconcile, the bridge; a join counted before anything is summed</a:t>
                      </a:r>
                    </a:p>
                  </a:txBody>
                  <a:tcPr marL="101600" marR="101600" marT="38100" marB="38100" anchor="ctr">
                    <a:solidFill>
                      <a:srgbClr val="FFFFFF"/>
                    </a:solidFill>
                  </a:tcPr>
                </a:tc>
                <a:tc>
                  <a:txBody>
                    <a:bodyPr/>
                    <a:lstStyle/>
                    <a:p>
                      <a:r>
                        <a:rPr sz="1400" b="0" i="0">
                          <a:solidFill>
                            <a:srgbClr val="1A1440"/>
                          </a:solidFill>
                          <a:latin typeface="Calibri"/>
                        </a:rPr>
                        <a:t>Week 1 Wednesday; Week 2 Tuesday</a:t>
                      </a:r>
                    </a:p>
                  </a:txBody>
                  <a:tcPr marL="101600" marR="101600" marT="38100" marB="38100" anchor="ctr">
                    <a:solidFill>
                      <a:srgbClr val="FFFFFF"/>
                    </a:solidFill>
                  </a:tcPr>
                </a:tc>
              </a:tr>
              <a:tr h="611632">
                <a:tc>
                  <a:txBody>
                    <a:bodyPr/>
                    <a:lstStyle/>
                    <a:p>
                      <a:r>
                        <a:rPr sz="1400" b="0" i="0">
                          <a:solidFill>
                            <a:srgbClr val="1A1440"/>
                          </a:solidFill>
                          <a:latin typeface="Calibri"/>
                        </a:rPr>
                        <a:t>Is a gap real, and is the comparison fair?</a:t>
                      </a:r>
                    </a:p>
                  </a:txBody>
                  <a:tcPr marL="101600" marR="101600" marT="38100" marB="38100" anchor="ctr">
                    <a:solidFill>
                      <a:srgbClr val="F4F2FA"/>
                    </a:solidFill>
                  </a:tcPr>
                </a:tc>
                <a:tc>
                  <a:txBody>
                    <a:bodyPr/>
                    <a:lstStyle/>
                    <a:p>
                      <a:r>
                        <a:rPr sz="1400" b="0" i="0">
                          <a:solidFill>
                            <a:srgbClr val="1A1440"/>
                          </a:solidFill>
                          <a:latin typeface="Calibri"/>
                        </a:rPr>
                        <a:t>Real or the wobble; did the discount work?</a:t>
                      </a:r>
                    </a:p>
                  </a:txBody>
                  <a:tcPr marL="101600" marR="101600" marT="38100" marB="38100" anchor="ctr">
                    <a:solidFill>
                      <a:srgbClr val="F4F2FA"/>
                    </a:solidFill>
                  </a:tcPr>
                </a:tc>
                <a:tc>
                  <a:txBody>
                    <a:bodyPr/>
                    <a:lstStyle/>
                    <a:p>
                      <a:r>
                        <a:rPr sz="1400" b="0" i="0">
                          <a:solidFill>
                            <a:srgbClr val="1A1440"/>
                          </a:solidFill>
                          <a:latin typeface="Calibri"/>
                        </a:rPr>
                        <a:t>Week 1 Thursday</a:t>
                      </a:r>
                    </a:p>
                  </a:txBody>
                  <a:tcPr marL="101600" marR="101600" marT="38100" marB="38100" anchor="ctr">
                    <a:solidFill>
                      <a:srgbClr val="F4F2FA"/>
                    </a:solidFill>
                  </a:tcPr>
                </a:tc>
              </a:tr>
            </a:tbl>
          </a:graphicData>
        </a:graphic>
      </p:graphicFrame>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D16  ·  20 / 49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vocabulary map pairs each new word with an old one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Kalpa Health words play the part of words you learned in Kalpa Retail?</a:t>
            </a:r>
          </a:p>
        </p:txBody>
      </p:sp>
      <p:graphicFrame>
        <p:nvGraphicFramePr>
          <p:cNvPr id="10" name="Table 9"/>
          <p:cNvGraphicFramePr>
            <a:graphicFrameLocks noGrp="1"/>
          </p:cNvGraphicFramePr>
          <p:nvPr/>
        </p:nvGraphicFramePr>
        <p:xfrm>
          <a:off x="530352" y="1956816"/>
          <a:ext cx="11130990" cy="3072384"/>
        </p:xfrm>
        <a:graphic>
          <a:graphicData uri="http://schemas.openxmlformats.org/drawingml/2006/table">
            <a:tbl>
              <a:tblPr firstRow="0" bandRow="0">
                <a:tableStyleId>{2D5ABB26-0587-4C30-8999-92F81FD0307C}</a:tableStyleId>
              </a:tblPr>
              <a:tblGrid>
                <a:gridCol w="1821656"/>
                <a:gridCol w="2346566"/>
                <a:gridCol w="6962768"/>
              </a:tblGrid>
              <a:tr h="369824">
                <a:tc>
                  <a:txBody>
                    <a:bodyPr/>
                    <a:lstStyle/>
                    <a:p>
                      <a:r>
                        <a:rPr sz="1450" b="1" i="0">
                          <a:solidFill>
                            <a:srgbClr val="FFFFFF"/>
                          </a:solidFill>
                          <a:latin typeface="Calibri"/>
                        </a:rPr>
                        <a:t>Kalpa Health</a:t>
                      </a:r>
                    </a:p>
                  </a:txBody>
                  <a:tcPr marL="101600" marR="101600" marT="38100" marB="38100" anchor="ctr">
                    <a:solidFill>
                      <a:srgbClr val="1A0F5C"/>
                    </a:solidFill>
                  </a:tcPr>
                </a:tc>
                <a:tc>
                  <a:txBody>
                    <a:bodyPr/>
                    <a:lstStyle/>
                    <a:p>
                      <a:r>
                        <a:rPr sz="1450" b="1" i="0">
                          <a:solidFill>
                            <a:srgbClr val="FFFFFF"/>
                          </a:solidFill>
                          <a:latin typeface="Calibri"/>
                        </a:rPr>
                        <a:t>Kalpa Retail</a:t>
                      </a:r>
                    </a:p>
                  </a:txBody>
                  <a:tcPr marL="101600" marR="101600" marT="38100" marB="38100" anchor="ctr">
                    <a:solidFill>
                      <a:srgbClr val="1A0F5C"/>
                    </a:solidFill>
                  </a:tcPr>
                </a:tc>
                <a:tc>
                  <a:txBody>
                    <a:bodyPr/>
                    <a:lstStyle/>
                    <a:p>
                      <a:r>
                        <a:rPr sz="1450" b="1" i="0">
                          <a:solidFill>
                            <a:srgbClr val="FFFFFF"/>
                          </a:solidFill>
                          <a:latin typeface="Calibri"/>
                        </a:rPr>
                        <a:t>Where the pair stops fitting</a:t>
                      </a:r>
                    </a:p>
                  </a:txBody>
                  <a:tcPr marL="101600" marR="101600" marT="38100" marB="38100" anchor="ctr">
                    <a:solidFill>
                      <a:srgbClr val="1A0F5C"/>
                    </a:solidFill>
                  </a:tcPr>
                </a:tc>
              </a:tr>
              <a:tr h="369824">
                <a:tc>
                  <a:txBody>
                    <a:bodyPr/>
                    <a:lstStyle/>
                    <a:p>
                      <a:r>
                        <a:rPr sz="1400" b="0" i="0">
                          <a:solidFill>
                            <a:srgbClr val="1A1440"/>
                          </a:solidFill>
                          <a:latin typeface="Calibri"/>
                        </a:rPr>
                        <a:t>A booking</a:t>
                      </a:r>
                    </a:p>
                  </a:txBody>
                  <a:tcPr marL="101600" marR="101600" marT="38100" marB="38100" anchor="ctr">
                    <a:solidFill>
                      <a:srgbClr val="FFFFFF"/>
                    </a:solidFill>
                  </a:tcPr>
                </a:tc>
                <a:tc>
                  <a:txBody>
                    <a:bodyPr/>
                    <a:lstStyle/>
                    <a:p>
                      <a:r>
                        <a:rPr sz="1400" b="0" i="0">
                          <a:solidFill>
                            <a:srgbClr val="1A1440"/>
                          </a:solidFill>
                          <a:latin typeface="Calibri"/>
                        </a:rPr>
                        <a:t>An order</a:t>
                      </a:r>
                    </a:p>
                  </a:txBody>
                  <a:tcPr marL="101600" marR="101600" marT="38100" marB="38100" anchor="ctr">
                    <a:solidFill>
                      <a:srgbClr val="FFFFFF"/>
                    </a:solidFill>
                  </a:tcPr>
                </a:tc>
                <a:tc>
                  <a:txBody>
                    <a:bodyPr/>
                    <a:lstStyle/>
                    <a:p>
                      <a:r>
                        <a:rPr sz="1400" b="0" i="0">
                          <a:solidFill>
                            <a:srgbClr val="1A1440"/>
                          </a:solidFill>
                          <a:latin typeface="Calibri"/>
                        </a:rPr>
                        <a:t>A booking can be a phlebotomist's visit to a patient's home</a:t>
                      </a:r>
                    </a:p>
                  </a:txBody>
                  <a:tcPr marL="101600" marR="101600" marT="38100" marB="38100" anchor="ctr">
                    <a:solidFill>
                      <a:srgbClr val="FFFFFF"/>
                    </a:solidFill>
                  </a:tcPr>
                </a:tc>
              </a:tr>
              <a:tr h="369824">
                <a:tc>
                  <a:txBody>
                    <a:bodyPr/>
                    <a:lstStyle/>
                    <a:p>
                      <a:r>
                        <a:rPr sz="1400" b="0" i="0">
                          <a:solidFill>
                            <a:srgbClr val="1A1440"/>
                          </a:solidFill>
                          <a:latin typeface="Calibri"/>
                        </a:rPr>
                        <a:t>A test</a:t>
                      </a:r>
                    </a:p>
                  </a:txBody>
                  <a:tcPr marL="101600" marR="101600" marT="38100" marB="38100" anchor="ctr">
                    <a:solidFill>
                      <a:srgbClr val="F4F2FA"/>
                    </a:solidFill>
                  </a:tcPr>
                </a:tc>
                <a:tc>
                  <a:txBody>
                    <a:bodyPr/>
                    <a:lstStyle/>
                    <a:p>
                      <a:r>
                        <a:rPr sz="1400" b="0" i="0">
                          <a:solidFill>
                            <a:srgbClr val="1A1440"/>
                          </a:solidFill>
                          <a:latin typeface="Calibri"/>
                        </a:rPr>
                        <a:t>An item</a:t>
                      </a:r>
                    </a:p>
                  </a:txBody>
                  <a:tcPr marL="101600" marR="101600" marT="38100" marB="38100" anchor="ctr">
                    <a:solidFill>
                      <a:srgbClr val="F4F2FA"/>
                    </a:solidFill>
                  </a:tcPr>
                </a:tc>
                <a:tc>
                  <a:txBody>
                    <a:bodyPr/>
                    <a:lstStyle/>
                    <a:p>
                      <a:r>
                        <a:rPr sz="1400" b="0" i="0">
                          <a:solidFill>
                            <a:srgbClr val="1A1440"/>
                          </a:solidFill>
                          <a:latin typeface="Calibri"/>
                        </a:rPr>
                        <a:t>It runs in a laboratory, often far from where the patient was seen</a:t>
                      </a:r>
                    </a:p>
                  </a:txBody>
                  <a:tcPr marL="101600" marR="101600" marT="38100" marB="38100" anchor="ctr">
                    <a:solidFill>
                      <a:srgbClr val="F4F2FA"/>
                    </a:solidFill>
                  </a:tcPr>
                </a:tc>
              </a:tr>
              <a:tr h="611632">
                <a:tc>
                  <a:txBody>
                    <a:bodyPr/>
                    <a:lstStyle/>
                    <a:p>
                      <a:r>
                        <a:rPr sz="1400" b="0" i="0">
                          <a:solidFill>
                            <a:srgbClr val="1A1440"/>
                          </a:solidFill>
                          <a:latin typeface="Calibri"/>
                        </a:rPr>
                        <a:t>A no-show</a:t>
                      </a:r>
                    </a:p>
                  </a:txBody>
                  <a:tcPr marL="101600" marR="101600" marT="38100" marB="38100" anchor="ctr">
                    <a:solidFill>
                      <a:srgbClr val="FFFFFF"/>
                    </a:solidFill>
                  </a:tcPr>
                </a:tc>
                <a:tc>
                  <a:txBody>
                    <a:bodyPr/>
                    <a:lstStyle/>
                    <a:p>
                      <a:r>
                        <a:rPr sz="1400" b="0" i="0">
                          <a:solidFill>
                            <a:srgbClr val="1A1440"/>
                          </a:solidFill>
                          <a:latin typeface="Calibri"/>
                        </a:rPr>
                        <a:t>A cancellation</a:t>
                      </a:r>
                    </a:p>
                  </a:txBody>
                  <a:tcPr marL="101600" marR="101600" marT="38100" marB="38100" anchor="ctr">
                    <a:solidFill>
                      <a:srgbClr val="FFFFFF"/>
                    </a:solidFill>
                  </a:tcPr>
                </a:tc>
                <a:tc>
                  <a:txBody>
                    <a:bodyPr/>
                    <a:lstStyle/>
                    <a:p>
                      <a:r>
                        <a:rPr sz="1400" b="0" i="0">
                          <a:solidFill>
                            <a:srgbClr val="1A1440"/>
                          </a:solidFill>
                          <a:latin typeface="Calibri"/>
                        </a:rPr>
                        <a:t>The patient says nothing in advance; the centre learns it when nobody arrives</a:t>
                      </a:r>
                    </a:p>
                  </a:txBody>
                  <a:tcPr marL="101600" marR="101600" marT="38100" marB="38100" anchor="ctr">
                    <a:solidFill>
                      <a:srgbClr val="FFFFFF"/>
                    </a:solidFill>
                  </a:tcPr>
                </a:tc>
              </a:tr>
              <a:tr h="369824">
                <a:tc>
                  <a:txBody>
                    <a:bodyPr/>
                    <a:lstStyle/>
                    <a:p>
                      <a:r>
                        <a:rPr sz="1400" b="0" i="0">
                          <a:solidFill>
                            <a:srgbClr val="1A1440"/>
                          </a:solidFill>
                          <a:latin typeface="Calibri"/>
                        </a:rPr>
                        <a:t>A claim</a:t>
                      </a:r>
                    </a:p>
                  </a:txBody>
                  <a:tcPr marL="101600" marR="101600" marT="38100" marB="38100" anchor="ctr">
                    <a:solidFill>
                      <a:srgbClr val="F4F2FA"/>
                    </a:solidFill>
                  </a:tcPr>
                </a:tc>
                <a:tc>
                  <a:txBody>
                    <a:bodyPr/>
                    <a:lstStyle/>
                    <a:p>
                      <a:r>
                        <a:rPr sz="1400" b="0" i="0">
                          <a:solidFill>
                            <a:srgbClr val="1A1440"/>
                          </a:solidFill>
                          <a:latin typeface="Calibri"/>
                        </a:rPr>
                        <a:t>An order's invoice</a:t>
                      </a:r>
                    </a:p>
                  </a:txBody>
                  <a:tcPr marL="101600" marR="101600" marT="38100" marB="38100" anchor="ctr">
                    <a:solidFill>
                      <a:srgbClr val="F4F2FA"/>
                    </a:solidFill>
                  </a:tcPr>
                </a:tc>
                <a:tc>
                  <a:txBody>
                    <a:bodyPr/>
                    <a:lstStyle/>
                    <a:p>
                      <a:r>
                        <a:rPr sz="1400" b="0" i="0">
                          <a:solidFill>
                            <a:srgbClr val="1A1440"/>
                          </a:solidFill>
                          <a:latin typeface="Calibri"/>
                        </a:rPr>
                        <a:t>It goes to a payer, who pays weeks later what its contract allows</a:t>
                      </a:r>
                    </a:p>
                  </a:txBody>
                  <a:tcPr marL="101600" marR="101600" marT="38100" marB="38100" anchor="ctr">
                    <a:solidFill>
                      <a:srgbClr val="F4F2FA"/>
                    </a:solidFill>
                  </a:tcPr>
                </a:tc>
              </a:tr>
              <a:tr h="611632">
                <a:tc>
                  <a:txBody>
                    <a:bodyPr/>
                    <a:lstStyle/>
                    <a:p>
                      <a:r>
                        <a:rPr sz="1400" b="0" i="0">
                          <a:solidFill>
                            <a:srgbClr val="1A1440"/>
                          </a:solidFill>
                          <a:latin typeface="Calibri"/>
                        </a:rPr>
                        <a:t>A posting</a:t>
                      </a:r>
                    </a:p>
                  </a:txBody>
                  <a:tcPr marL="101600" marR="101600" marT="38100" marB="38100" anchor="ctr">
                    <a:solidFill>
                      <a:srgbClr val="FFFFFF"/>
                    </a:solidFill>
                  </a:tcPr>
                </a:tc>
                <a:tc>
                  <a:txBody>
                    <a:bodyPr/>
                    <a:lstStyle/>
                    <a:p>
                      <a:r>
                        <a:rPr sz="1400" b="0" i="0">
                          <a:solidFill>
                            <a:srgbClr val="1A1440"/>
                          </a:solidFill>
                          <a:latin typeface="Calibri"/>
                        </a:rPr>
                        <a:t>A payment</a:t>
                      </a:r>
                    </a:p>
                  </a:txBody>
                  <a:tcPr marL="101600" marR="101600" marT="38100" marB="38100" anchor="ctr">
                    <a:solidFill>
                      <a:srgbClr val="FFFFFF"/>
                    </a:solidFill>
                  </a:tcPr>
                </a:tc>
                <a:tc>
                  <a:txBody>
                    <a:bodyPr/>
                    <a:lstStyle/>
                    <a:p>
                      <a:r>
                        <a:rPr sz="1400" b="0" i="0">
                          <a:solidFill>
                            <a:srgbClr val="1A1440"/>
                          </a:solidFill>
                          <a:latin typeface="Calibri"/>
                        </a:rPr>
                        <a:t>It arrives from the payer weeks after the claim, through the posting system</a:t>
                      </a:r>
                    </a:p>
                  </a:txBody>
                  <a:tcPr marL="101600" marR="101600" marT="38100" marB="38100" anchor="ctr">
                    <a:solidFill>
                      <a:srgbClr val="FFFFFF"/>
                    </a:solidFill>
                  </a:tcPr>
                </a:tc>
              </a:tr>
              <a:tr h="369824">
                <a:tc>
                  <a:txBody>
                    <a:bodyPr/>
                    <a:lstStyle/>
                    <a:p>
                      <a:r>
                        <a:rPr sz="1400" b="0" i="0">
                          <a:solidFill>
                            <a:srgbClr val="1A1440"/>
                          </a:solidFill>
                          <a:latin typeface="Calibri"/>
                        </a:rPr>
                        <a:t>A payer</a:t>
                      </a:r>
                    </a:p>
                  </a:txBody>
                  <a:tcPr marL="101600" marR="101600" marT="38100" marB="38100" anchor="ctr">
                    <a:solidFill>
                      <a:srgbClr val="F4F2FA"/>
                    </a:solidFill>
                  </a:tcPr>
                </a:tc>
                <a:tc>
                  <a:txBody>
                    <a:bodyPr/>
                    <a:lstStyle/>
                    <a:p>
                      <a:r>
                        <a:rPr sz="1400" b="0" i="0">
                          <a:solidFill>
                            <a:srgbClr val="1A1440"/>
                          </a:solidFill>
                          <a:latin typeface="Calibri"/>
                        </a:rPr>
                        <a:t>No twin</a:t>
                      </a:r>
                    </a:p>
                  </a:txBody>
                  <a:tcPr marL="101600" marR="101600" marT="38100" marB="38100" anchor="ctr">
                    <a:solidFill>
                      <a:srgbClr val="F4F2FA"/>
                    </a:solidFill>
                  </a:tcPr>
                </a:tc>
                <a:tc>
                  <a:txBody>
                    <a:bodyPr/>
                    <a:lstStyle/>
                    <a:p>
                      <a:r>
                        <a:rPr sz="1400" b="0" i="0">
                          <a:solidFill>
                            <a:srgbClr val="1A1440"/>
                          </a:solidFill>
                          <a:latin typeface="Calibri"/>
                        </a:rPr>
                        <a:t>The patient is often not the one who pays</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5" name="Oval 1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19" name="Oval 18"/>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1" name="Oval 20"/>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D17  ·  21 / 49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Three log rows carry the data's three minutes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rows of your decisions log show the panel that the data can be trusted?</a:t>
            </a:r>
          </a:p>
        </p:txBody>
      </p:sp>
      <p:pic>
        <p:nvPicPr>
          <p:cNvPr id="10" name="mermaid diagram" descr="914802d16c909d9c.png"/>
          <p:cNvPicPr>
            <a:picLocks noChangeAspect="1"/>
          </p:cNvPicPr>
          <p:nvPr/>
        </p:nvPicPr>
        <p:blipFill>
          <a:blip r:embed="rId5"/>
          <a:stretch>
            <a:fillRect/>
          </a:stretch>
        </p:blipFill>
        <p:spPr>
          <a:xfrm>
            <a:off x="2145353" y="1956816"/>
            <a:ext cx="7900987" cy="1543050"/>
          </a:xfrm>
          <a:prstGeom prst="rect">
            <a:avLst/>
          </a:prstGeom>
        </p:spPr>
      </p:pic>
      <p:graphicFrame>
        <p:nvGraphicFramePr>
          <p:cNvPr id="11" name="Table 10"/>
          <p:cNvGraphicFramePr>
            <a:graphicFrameLocks noGrp="1"/>
          </p:cNvGraphicFramePr>
          <p:nvPr/>
        </p:nvGraphicFramePr>
        <p:xfrm>
          <a:off x="530352" y="3646170"/>
          <a:ext cx="11130990" cy="877824"/>
        </p:xfrm>
        <a:graphic>
          <a:graphicData uri="http://schemas.openxmlformats.org/drawingml/2006/table">
            <a:tbl>
              <a:tblPr firstRow="0" bandRow="0">
                <a:tableStyleId>{2D5ABB26-0587-4C30-8999-92F81FD0307C}</a:tableStyleId>
              </a:tblPr>
              <a:tblGrid>
                <a:gridCol w="2043275"/>
                <a:gridCol w="1160734"/>
                <a:gridCol w="914400"/>
                <a:gridCol w="1822640"/>
                <a:gridCol w="5189941"/>
              </a:tblGrid>
              <a:tr h="335280">
                <a:tc>
                  <a:txBody>
                    <a:bodyPr/>
                    <a:lstStyle/>
                    <a:p>
                      <a:r>
                        <a:rPr sz="1250" b="1" i="0">
                          <a:solidFill>
                            <a:srgbClr val="FFFFFF"/>
                          </a:solidFill>
                          <a:latin typeface="Calibri"/>
                        </a:rPr>
                        <a:t>Field</a:t>
                      </a:r>
                    </a:p>
                  </a:txBody>
                  <a:tcPr marL="101600" marR="101600" marT="38100" marB="38100" anchor="ctr">
                    <a:solidFill>
                      <a:srgbClr val="1A0F5C"/>
                    </a:solidFill>
                  </a:tcPr>
                </a:tc>
                <a:tc>
                  <a:txBody>
                    <a:bodyPr/>
                    <a:lstStyle/>
                    <a:p>
                      <a:r>
                        <a:rPr sz="1250" b="1" i="0">
                          <a:solidFill>
                            <a:srgbClr val="FFFFFF"/>
                          </a:solidFill>
                          <a:latin typeface="Calibri"/>
                        </a:rPr>
                        <a:t>Issue</a:t>
                      </a:r>
                    </a:p>
                  </a:txBody>
                  <a:tcPr marL="101600" marR="101600" marT="38100" marB="38100" anchor="ctr">
                    <a:solidFill>
                      <a:srgbClr val="1A0F5C"/>
                    </a:solidFill>
                  </a:tcPr>
                </a:tc>
                <a:tc>
                  <a:txBody>
                    <a:bodyPr/>
                    <a:lstStyle/>
                    <a:p>
                      <a:r>
                        <a:rPr sz="1250" b="1" i="0">
                          <a:solidFill>
                            <a:srgbClr val="FFFFFF"/>
                          </a:solidFill>
                          <a:latin typeface="Calibri"/>
                        </a:rPr>
                        <a:t>Rows</a:t>
                      </a:r>
                    </a:p>
                  </a:txBody>
                  <a:tcPr marL="101600" marR="101600" marT="38100" marB="38100" anchor="ctr">
                    <a:solidFill>
                      <a:srgbClr val="1A0F5C"/>
                    </a:solidFill>
                  </a:tcPr>
                </a:tc>
                <a:tc>
                  <a:txBody>
                    <a:bodyPr/>
                    <a:lstStyle/>
                    <a:p>
                      <a:r>
                        <a:rPr sz="1250" b="1" i="0">
                          <a:solidFill>
                            <a:srgbClr val="FFFFFF"/>
                          </a:solidFill>
                          <a:latin typeface="Calibri"/>
                        </a:rPr>
                        <a:t>Decision</a:t>
                      </a:r>
                    </a:p>
                  </a:txBody>
                  <a:tcPr marL="101600" marR="101600" marT="38100" marB="38100" anchor="ctr">
                    <a:solidFill>
                      <a:srgbClr val="1A0F5C"/>
                    </a:solidFill>
                  </a:tcPr>
                </a:tc>
                <a:tc>
                  <a:txBody>
                    <a:bodyPr/>
                    <a:lstStyle/>
                    <a:p>
                      <a:r>
                        <a:rPr sz="1250" b="1" i="0">
                          <a:solidFill>
                            <a:srgbClr val="FFFFFF"/>
                          </a:solidFill>
                          <a:latin typeface="Calibri"/>
                        </a:rPr>
                        <a:t>Reason</a:t>
                      </a:r>
                    </a:p>
                  </a:txBody>
                  <a:tcPr marL="101600" marR="101600" marT="38100" marB="38100" anchor="ctr">
                    <a:solidFill>
                      <a:srgbClr val="1A0F5C"/>
                    </a:solidFill>
                  </a:tcPr>
                </a:tc>
              </a:tr>
              <a:tr h="542544">
                <a:tc>
                  <a:txBody>
                    <a:bodyPr/>
                    <a:lstStyle/>
                    <a:p>
                      <a:r>
                        <a:rPr sz="1200" b="0" i="0">
                          <a:solidFill>
                            <a:srgbClr val="1A1440"/>
                          </a:solidFill>
                          <a:latin typeface="Calibri"/>
                        </a:rPr>
                        <a:t>age_band, an invented row</a:t>
                      </a:r>
                    </a:p>
                  </a:txBody>
                  <a:tcPr marL="101600" marR="101600" marT="38100" marB="38100" anchor="ctr">
                    <a:solidFill>
                      <a:srgbClr val="FFFFFF"/>
                    </a:solidFill>
                  </a:tcPr>
                </a:tc>
                <a:tc>
                  <a:txBody>
                    <a:bodyPr/>
                    <a:lstStyle/>
                    <a:p>
                      <a:r>
                        <a:rPr sz="1200" b="0" i="0">
                          <a:solidFill>
                            <a:srgbClr val="1A1440"/>
                          </a:solidFill>
                          <a:latin typeface="Calibri"/>
                        </a:rPr>
                        <a:t>14 rows blank</a:t>
                      </a:r>
                    </a:p>
                  </a:txBody>
                  <a:tcPr marL="101600" marR="101600" marT="38100" marB="38100" anchor="ctr">
                    <a:solidFill>
                      <a:srgbClr val="FFFFFF"/>
                    </a:solidFill>
                  </a:tcPr>
                </a:tc>
                <a:tc>
                  <a:txBody>
                    <a:bodyPr/>
                    <a:lstStyle/>
                    <a:p>
                      <a:r>
                        <a:rPr sz="1200" b="0" i="0">
                          <a:solidFill>
                            <a:srgbClr val="1A1440"/>
                          </a:solidFill>
                          <a:latin typeface="Calibri"/>
                        </a:rPr>
                        <a:t>14</a:t>
                      </a:r>
                    </a:p>
                  </a:txBody>
                  <a:tcPr marL="101600" marR="101600" marT="38100" marB="38100" anchor="ctr">
                    <a:solidFill>
                      <a:srgbClr val="FFFFFF"/>
                    </a:solidFill>
                  </a:tcPr>
                </a:tc>
                <a:tc>
                  <a:txBody>
                    <a:bodyPr/>
                    <a:lstStyle/>
                    <a:p>
                      <a:r>
                        <a:rPr sz="1200" b="0" i="0">
                          <a:solidFill>
                            <a:srgbClr val="1A1440"/>
                          </a:solidFill>
                          <a:latin typeface="Calibri"/>
                        </a:rPr>
                        <a:t>Kept, labelled unknown</a:t>
                      </a:r>
                    </a:p>
                  </a:txBody>
                  <a:tcPr marL="101600" marR="101600" marT="38100" marB="38100" anchor="ctr">
                    <a:solidFill>
                      <a:srgbClr val="FFFFFF"/>
                    </a:solidFill>
                  </a:tcPr>
                </a:tc>
                <a:tc>
                  <a:txBody>
                    <a:bodyPr/>
                    <a:lstStyle/>
                    <a:p>
                      <a:r>
                        <a:rPr sz="1200" b="0" i="0">
                          <a:solidFill>
                            <a:srgbClr val="1A1440"/>
                          </a:solidFill>
                          <a:latin typeface="Calibri"/>
                        </a:rPr>
                        <a:t>Dropping them would take 14 patients' bookings out of every count, and no claim splits by age</a:t>
                      </a:r>
                    </a:p>
                  </a:txBody>
                  <a:tcPr marL="101600" marR="101600" marT="38100" marB="38100" anchor="ctr">
                    <a:solidFill>
                      <a:srgbClr val="FFFFFF"/>
                    </a:solidFill>
                  </a:tcPr>
                </a:tc>
              </a:tr>
            </a:tbl>
          </a:graphicData>
        </a:graphic>
      </p:graphicFrame>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D18  ·  22 / 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Question: which reason would an auditor accept?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four reasons for the same invented call would an auditor accept?</a:t>
            </a:r>
          </a:p>
        </p:txBody>
      </p:sp>
      <p:sp>
        <p:nvSpPr>
          <p:cNvPr id="10" name="Rounded Rectangle 9"/>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The invented call: 14 blank age bands, kept and labelled unknown. Which reason would an auditor accept? Answer as a letter.</a:t>
            </a:r>
          </a:p>
        </p:txBody>
      </p:sp>
      <p:sp>
        <p:nvSpPr>
          <p:cNvPr id="13" name="TextBox 12"/>
          <p:cNvSpPr txBox="1"/>
          <p:nvPr/>
        </p:nvSpPr>
        <p:spPr>
          <a:xfrm>
            <a:off x="530352" y="2929128"/>
            <a:ext cx="11130991" cy="220675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Dropping them would remove 14 patients' bookings from every count, and no claim we make splits by age.</a:t>
            </a:r>
          </a:p>
          <a:p>
            <a:pPr>
              <a:spcAft>
                <a:spcPts val="800"/>
              </a:spcAft>
            </a:pPr>
            <a:r>
              <a:rPr sz="1600" b="0" i="0">
                <a:solidFill>
                  <a:srgbClr val="1A1440"/>
                </a:solidFill>
                <a:latin typeface="Calibri"/>
              </a:rPr>
              <a:t>b) The 14 age bands were blank, so they were inconsistent with the rest and needed cleaning before use.</a:t>
            </a:r>
          </a:p>
          <a:p>
            <a:pPr>
              <a:spcAft>
                <a:spcPts val="800"/>
              </a:spcAft>
            </a:pPr>
            <a:r>
              <a:rPr sz="1600" b="0" i="0">
                <a:solidFill>
                  <a:srgbClr val="1A1440"/>
                </a:solidFill>
                <a:latin typeface="Calibri"/>
              </a:rPr>
              <a:t>c) Keeping blank rows and labelling them unknown follows the usual data-cleaning best practice for a column.</a:t>
            </a:r>
          </a:p>
          <a:p>
            <a:pPr>
              <a:spcAft>
                <a:spcPts val="800"/>
              </a:spcAft>
            </a:pPr>
            <a:r>
              <a:rPr sz="1600" b="0" i="0">
                <a:solidFill>
                  <a:srgbClr val="1A1440"/>
                </a:solidFill>
                <a:latin typeface="Calibri"/>
              </a:rPr>
              <a:t>d) Fourteen rows out of 6,700 patients is too few to change any number we report, so the call does not matter.</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8" name="Oval 17"/>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20" name="Oval 1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2" name="Oval 21"/>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4" name="Oval 23"/>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D19  ·  23 / 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Answer: a, the reason says what the call changes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reason would an auditor accept, and why does each other one fail?</a:t>
            </a:r>
          </a:p>
        </p:txBody>
      </p:sp>
      <p:graphicFrame>
        <p:nvGraphicFramePr>
          <p:cNvPr id="10" name="Table 9"/>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Why it holds or fails</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Holds: it names what dropping would do to the counts, and why keeping cannot touch the claim</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Restates the issue as its own reason, which an auditor reads as no reason at all</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Appeals to a habit, and says nothing about these rows or this answer</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Asserts the size is harmless without showing which numbers it would move</a:t>
                      </a:r>
                    </a:p>
                  </a:txBody>
                  <a:tcPr marL="101600" marR="101600" marT="38100" marB="38100" anchor="ctr">
                    <a:solidFill>
                      <a:srgbClr val="F4F2FA"/>
                    </a:solidFill>
                  </a:tcPr>
                </a:tc>
              </a:tr>
            </a:tbl>
          </a:graphicData>
        </a:graphic>
      </p:graphicFrame>
      <p:sp>
        <p:nvSpPr>
          <p:cNvPr id="11" name="Rounded Rectangle 10"/>
          <p:cNvSpPr/>
          <p:nvPr/>
        </p:nvSpPr>
        <p:spPr>
          <a:xfrm>
            <a:off x="530352" y="4061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394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search-check_6571e64a041f.png"/>
          <p:cNvPicPr>
            <a:picLocks noChangeAspect="1"/>
          </p:cNvPicPr>
          <p:nvPr/>
        </p:nvPicPr>
        <p:blipFill>
          <a:blip r:embed="rId4"/>
          <a:stretch>
            <a:fillRect/>
          </a:stretch>
        </p:blipFill>
        <p:spPr>
          <a:xfrm>
            <a:off x="868680" y="4503928"/>
            <a:ext cx="237744" cy="237744"/>
          </a:xfrm>
          <a:prstGeom prst="rect">
            <a:avLst/>
          </a:prstGeom>
        </p:spPr>
      </p:pic>
      <p:sp>
        <p:nvSpPr>
          <p:cNvPr id="14" name="TextBox 13"/>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5" name="TextBox 14"/>
          <p:cNvSpPr txBox="1"/>
          <p:nvPr/>
        </p:nvSpPr>
        <p:spPr>
          <a:xfrm>
            <a:off x="1399031" y="4427728"/>
            <a:ext cx="9987991" cy="682752"/>
          </a:xfrm>
          <a:prstGeom prst="rect">
            <a:avLst/>
          </a:prstGeom>
          <a:noFill/>
        </p:spPr>
        <p:txBody>
          <a:bodyPr wrap="square" anchor="t" lIns="0" rIns="0" tIns="0" bIns="0">
            <a:spAutoFit/>
          </a:bodyPr>
          <a:lstStyle/>
          <a:p>
            <a:r>
              <a:rPr sz="1500" b="0" i="0">
                <a:solidFill>
                  <a:srgbClr val="1A1440"/>
                </a:solidFill>
                <a:latin typeface="Calibri"/>
              </a:rPr>
              <a:t>A reason that restates the issue is no reason; say what the call changes in the counts or the dollars, and what it cannot change.</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20" name="Oval 19"/>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4" name="Oval 23"/>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6" name="Oval 25"/>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D20  ·  24 / 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Each chart states its finding and its denominator</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let a chart carry one message the panel can read without you?</a:t>
            </a:r>
          </a:p>
        </p:txBody>
      </p:sp>
      <p:pic>
        <p:nvPicPr>
          <p:cNvPr id="10" name="mermaid diagram" descr="e1db93a377af8c44.png"/>
          <p:cNvPicPr>
            <a:picLocks noChangeAspect="1"/>
          </p:cNvPicPr>
          <p:nvPr/>
        </p:nvPicPr>
        <p:blipFill>
          <a:blip r:embed="rId5"/>
          <a:stretch>
            <a:fillRect/>
          </a:stretch>
        </p:blipFill>
        <p:spPr>
          <a:xfrm>
            <a:off x="680885" y="1956816"/>
            <a:ext cx="10829925" cy="1128712"/>
          </a:xfrm>
          <a:prstGeom prst="rect">
            <a:avLst/>
          </a:prstGeom>
        </p:spPr>
      </p:pic>
      <p:graphicFrame>
        <p:nvGraphicFramePr>
          <p:cNvPr id="11" name="Table 10"/>
          <p:cNvGraphicFramePr>
            <a:graphicFrameLocks noGrp="1"/>
          </p:cNvGraphicFramePr>
          <p:nvPr/>
        </p:nvGraphicFramePr>
        <p:xfrm>
          <a:off x="530352" y="3231832"/>
          <a:ext cx="11130990" cy="1849120"/>
        </p:xfrm>
        <a:graphic>
          <a:graphicData uri="http://schemas.openxmlformats.org/drawingml/2006/table">
            <a:tbl>
              <a:tblPr firstRow="0" bandRow="0">
                <a:tableStyleId>{2D5ABB26-0587-4C30-8999-92F81FD0307C}</a:tableStyleId>
              </a:tblPr>
              <a:tblGrid>
                <a:gridCol w="5510808"/>
                <a:gridCol w="5620182"/>
              </a:tblGrid>
              <a:tr h="369824">
                <a:tc>
                  <a:txBody>
                    <a:bodyPr/>
                    <a:lstStyle/>
                    <a:p>
                      <a:r>
                        <a:rPr sz="1450" b="1" i="0">
                          <a:solidFill>
                            <a:srgbClr val="FFFFFF"/>
                          </a:solidFill>
                          <a:latin typeface="Calibri"/>
                        </a:rPr>
                        <a:t>Rule</a:t>
                      </a:r>
                    </a:p>
                  </a:txBody>
                  <a:tcPr marL="101600" marR="101600" marT="38100" marB="38100" anchor="ctr">
                    <a:solidFill>
                      <a:srgbClr val="1A0F5C"/>
                    </a:solidFill>
                  </a:tcPr>
                </a:tc>
                <a:tc>
                  <a:txBody>
                    <a:bodyPr/>
                    <a:lstStyle/>
                    <a:p>
                      <a:r>
                        <a:rPr sz="1450" b="1" i="0">
                          <a:solidFill>
                            <a:srgbClr val="FFFFFF"/>
                          </a:solidFill>
                          <a:latin typeface="Calibri"/>
                        </a:rPr>
                        <a:t>What it prevents</a:t>
                      </a:r>
                    </a:p>
                  </a:txBody>
                  <a:tcPr marL="101600" marR="101600" marT="38100" marB="38100" anchor="ctr">
                    <a:solidFill>
                      <a:srgbClr val="1A0F5C"/>
                    </a:solidFill>
                  </a:tcPr>
                </a:tc>
              </a:tr>
              <a:tr h="369824">
                <a:tc>
                  <a:txBody>
                    <a:bodyPr/>
                    <a:lstStyle/>
                    <a:p>
                      <a:r>
                        <a:rPr sz="1400" b="0" i="0">
                          <a:solidFill>
                            <a:srgbClr val="1A1440"/>
                          </a:solidFill>
                          <a:latin typeface="Calibri"/>
                        </a:rPr>
                        <a:t>The chart's title states the finding</a:t>
                      </a:r>
                    </a:p>
                  </a:txBody>
                  <a:tcPr marL="101600" marR="101600" marT="38100" marB="38100" anchor="ctr">
                    <a:solidFill>
                      <a:srgbClr val="FFFFFF"/>
                    </a:solidFill>
                  </a:tcPr>
                </a:tc>
                <a:tc>
                  <a:txBody>
                    <a:bodyPr/>
                    <a:lstStyle/>
                    <a:p>
                      <a:r>
                        <a:rPr sz="1400" b="0" i="0">
                          <a:solidFill>
                            <a:srgbClr val="1A1440"/>
                          </a:solidFill>
                          <a:latin typeface="Calibri"/>
                        </a:rPr>
                        <a:t>A chart the panel has to interpret for you</a:t>
                      </a:r>
                    </a:p>
                  </a:txBody>
                  <a:tcPr marL="101600" marR="101600" marT="38100" marB="38100" anchor="ctr">
                    <a:solidFill>
                      <a:srgbClr val="FFFFFF"/>
                    </a:solidFill>
                  </a:tcPr>
                </a:tc>
              </a:tr>
              <a:tr h="369824">
                <a:tc>
                  <a:txBody>
                    <a:bodyPr/>
                    <a:lstStyle/>
                    <a:p>
                      <a:r>
                        <a:rPr sz="1400" b="0" i="0">
                          <a:solidFill>
                            <a:srgbClr val="1A1440"/>
                          </a:solidFill>
                          <a:latin typeface="Calibri"/>
                        </a:rPr>
                        <a:t>The denominator sits on the axis or in the title</a:t>
                      </a:r>
                    </a:p>
                  </a:txBody>
                  <a:tcPr marL="101600" marR="101600" marT="38100" marB="38100" anchor="ctr">
                    <a:solidFill>
                      <a:srgbClr val="F4F2FA"/>
                    </a:solidFill>
                  </a:tcPr>
                </a:tc>
                <a:tc>
                  <a:txBody>
                    <a:bodyPr/>
                    <a:lstStyle/>
                    <a:p>
                      <a:r>
                        <a:rPr sz="1400" b="0" i="0">
                          <a:solidFill>
                            <a:srgbClr val="1A1440"/>
                          </a:solidFill>
                          <a:latin typeface="Calibri"/>
                        </a:rPr>
                        <a:t>A count read as a rate, or a rate read as a count</a:t>
                      </a:r>
                    </a:p>
                  </a:txBody>
                  <a:tcPr marL="101600" marR="101600" marT="38100" marB="38100" anchor="ctr">
                    <a:solidFill>
                      <a:srgbClr val="F4F2FA"/>
                    </a:solidFill>
                  </a:tcPr>
                </a:tc>
              </a:tr>
              <a:tr h="369824">
                <a:tc>
                  <a:txBody>
                    <a:bodyPr/>
                    <a:lstStyle/>
                    <a:p>
                      <a:r>
                        <a:rPr sz="1400" b="0" i="0">
                          <a:solidFill>
                            <a:srgbClr val="1A1440"/>
                          </a:solidFill>
                          <a:latin typeface="Calibri"/>
                        </a:rPr>
                        <a:t>Both sides of a comparison cover the same window</a:t>
                      </a:r>
                    </a:p>
                  </a:txBody>
                  <a:tcPr marL="101600" marR="101600" marT="38100" marB="38100" anchor="ctr">
                    <a:solidFill>
                      <a:srgbClr val="FFFFFF"/>
                    </a:solidFill>
                  </a:tcPr>
                </a:tc>
                <a:tc>
                  <a:txBody>
                    <a:bodyPr/>
                    <a:lstStyle/>
                    <a:p>
                      <a:r>
                        <a:rPr sz="1400" b="0" i="0">
                          <a:solidFill>
                            <a:srgbClr val="1A1440"/>
                          </a:solidFill>
                          <a:latin typeface="Calibri"/>
                        </a:rPr>
                        <a:t>A change that is really a difference in days</a:t>
                      </a:r>
                    </a:p>
                  </a:txBody>
                  <a:tcPr marL="101600" marR="101600" marT="38100" marB="38100" anchor="ctr">
                    <a:solidFill>
                      <a:srgbClr val="FFFFFF"/>
                    </a:solidFill>
                  </a:tcPr>
                </a:tc>
              </a:tr>
              <a:tr h="369824">
                <a:tc>
                  <a:txBody>
                    <a:bodyPr/>
                    <a:lstStyle/>
                    <a:p>
                      <a:r>
                        <a:rPr sz="1400" b="0" i="0">
                          <a:solidFill>
                            <a:srgbClr val="1A1440"/>
                          </a:solidFill>
                          <a:latin typeface="Calibri"/>
                        </a:rPr>
                        <a:t>Every number shown is reproduced in the demo</a:t>
                      </a:r>
                    </a:p>
                  </a:txBody>
                  <a:tcPr marL="101600" marR="101600" marT="38100" marB="38100" anchor="ctr">
                    <a:solidFill>
                      <a:srgbClr val="F4F2FA"/>
                    </a:solidFill>
                  </a:tcPr>
                </a:tc>
                <a:tc>
                  <a:txBody>
                    <a:bodyPr/>
                    <a:lstStyle/>
                    <a:p>
                      <a:r>
                        <a:rPr sz="1400" b="0" i="0">
                          <a:solidFill>
                            <a:srgbClr val="1A1440"/>
                          </a:solidFill>
                          <a:latin typeface="Calibri"/>
                        </a:rPr>
                        <a:t>A chart from a cell nobody can rerun</a:t>
                      </a:r>
                    </a:p>
                  </a:txBody>
                  <a:tcPr marL="101600" marR="101600" marT="38100" marB="38100" anchor="ctr">
                    <a:solidFill>
                      <a:srgbClr val="F4F2FA"/>
                    </a:solidFill>
                  </a:tcPr>
                </a:tc>
              </a:tr>
            </a:tbl>
          </a:graphicData>
        </a:graphic>
      </p:graphicFrame>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D21  ·  25 / 49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One change for Build 2, specific enough to act on</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last minute of your slot say, and what makes it usable?</a:t>
            </a:r>
          </a:p>
        </p:txBody>
      </p:sp>
      <p:graphicFrame>
        <p:nvGraphicFramePr>
          <p:cNvPr id="10" name="Table 9"/>
          <p:cNvGraphicFramePr>
            <a:graphicFrameLocks noGrp="1"/>
          </p:cNvGraphicFramePr>
          <p:nvPr/>
        </p:nvGraphicFramePr>
        <p:xfrm>
          <a:off x="530352" y="1956816"/>
          <a:ext cx="11130990" cy="1341120"/>
        </p:xfrm>
        <a:graphic>
          <a:graphicData uri="http://schemas.openxmlformats.org/drawingml/2006/table">
            <a:tbl>
              <a:tblPr firstRow="0" bandRow="0">
                <a:tableStyleId>{2D5ABB26-0587-4C30-8999-92F81FD0307C}</a:tableStyleId>
              </a:tblPr>
              <a:tblGrid>
                <a:gridCol w="3958677"/>
                <a:gridCol w="7172313"/>
              </a:tblGrid>
              <a:tr h="335280">
                <a:tc>
                  <a:txBody>
                    <a:bodyPr/>
                    <a:lstStyle/>
                    <a:p>
                      <a:r>
                        <a:rPr sz="1250" b="1" i="0">
                          <a:solidFill>
                            <a:srgbClr val="FFFFFF"/>
                          </a:solidFill>
                          <a:latin typeface="Calibri"/>
                        </a:rPr>
                        <a:t>A change nobody can act on</a:t>
                      </a:r>
                    </a:p>
                  </a:txBody>
                  <a:tcPr marL="101600" marR="101600" marT="38100" marB="38100" anchor="ctr">
                    <a:solidFill>
                      <a:srgbClr val="1A0F5C"/>
                    </a:solidFill>
                  </a:tcPr>
                </a:tc>
                <a:tc>
                  <a:txBody>
                    <a:bodyPr/>
                    <a:lstStyle/>
                    <a:p>
                      <a:r>
                        <a:rPr sz="1250" b="1" i="0">
                          <a:solidFill>
                            <a:srgbClr val="FFFFFF"/>
                          </a:solidFill>
                          <a:latin typeface="Calibri"/>
                        </a:rPr>
                        <a:t>A change Build 2 can act on</a:t>
                      </a:r>
                    </a:p>
                  </a:txBody>
                  <a:tcPr marL="101600" marR="101600" marT="38100" marB="38100" anchor="ctr">
                    <a:solidFill>
                      <a:srgbClr val="1A0F5C"/>
                    </a:solidFill>
                  </a:tcPr>
                </a:tc>
              </a:tr>
              <a:tr h="335280">
                <a:tc>
                  <a:txBody>
                    <a:bodyPr/>
                    <a:lstStyle/>
                    <a:p>
                      <a:r>
                        <a:rPr sz="1200" b="0" i="0">
                          <a:solidFill>
                            <a:srgbClr val="1A1440"/>
                          </a:solidFill>
                          <a:latin typeface="Calibri"/>
                        </a:rPr>
                        <a:t>We would manage our time better</a:t>
                      </a:r>
                    </a:p>
                  </a:txBody>
                  <a:tcPr marL="101600" marR="101600" marT="38100" marB="38100" anchor="ctr">
                    <a:solidFill>
                      <a:srgbClr val="FFFFFF"/>
                    </a:solidFill>
                  </a:tcPr>
                </a:tc>
                <a:tc>
                  <a:txBody>
                    <a:bodyPr/>
                    <a:lstStyle/>
                    <a:p>
                      <a:r>
                        <a:rPr sz="1200" b="0" i="0">
                          <a:solidFill>
                            <a:srgbClr val="1A1440"/>
                          </a:solidFill>
                          <a:latin typeface="Calibri"/>
                        </a:rPr>
                        <a:t>We would profile every file on day one, before choosing what to count</a:t>
                      </a:r>
                    </a:p>
                  </a:txBody>
                  <a:tcPr marL="101600" marR="101600" marT="38100" marB="38100" anchor="ctr">
                    <a:solidFill>
                      <a:srgbClr val="FFFFFF"/>
                    </a:solidFill>
                  </a:tcPr>
                </a:tc>
              </a:tr>
              <a:tr h="335280">
                <a:tc>
                  <a:txBody>
                    <a:bodyPr/>
                    <a:lstStyle/>
                    <a:p>
                      <a:r>
                        <a:rPr sz="1200" b="0" i="0">
                          <a:solidFill>
                            <a:srgbClr val="1A1440"/>
                          </a:solidFill>
                          <a:latin typeface="Calibri"/>
                        </a:rPr>
                        <a:t>We would clean the data more</a:t>
                      </a:r>
                    </a:p>
                  </a:txBody>
                  <a:tcPr marL="101600" marR="101600" marT="38100" marB="38100" anchor="ctr">
                    <a:solidFill>
                      <a:srgbClr val="F4F2FA"/>
                    </a:solidFill>
                  </a:tcPr>
                </a:tc>
                <a:tc>
                  <a:txBody>
                    <a:bodyPr/>
                    <a:lstStyle/>
                    <a:p>
                      <a:r>
                        <a:rPr sz="1200" b="0" i="0">
                          <a:solidFill>
                            <a:srgbClr val="1A1440"/>
                          </a:solidFill>
                          <a:latin typeface="Calibri"/>
                        </a:rPr>
                        <a:t>We would reconcile rows in against rows kept after every cleaning step, and log each one</a:t>
                      </a:r>
                    </a:p>
                  </a:txBody>
                  <a:tcPr marL="101600" marR="101600" marT="38100" marB="38100" anchor="ctr">
                    <a:solidFill>
                      <a:srgbClr val="F4F2FA"/>
                    </a:solidFill>
                  </a:tcPr>
                </a:tc>
              </a:tr>
              <a:tr h="335280">
                <a:tc>
                  <a:txBody>
                    <a:bodyPr/>
                    <a:lstStyle/>
                    <a:p>
                      <a:r>
                        <a:rPr sz="1200" b="0" i="0">
                          <a:solidFill>
                            <a:srgbClr val="1A1440"/>
                          </a:solidFill>
                          <a:latin typeface="Calibri"/>
                        </a:rPr>
                        <a:t>We would communicate better</a:t>
                      </a:r>
                    </a:p>
                  </a:txBody>
                  <a:tcPr marL="101600" marR="101600" marT="38100" marB="38100" anchor="ctr">
                    <a:solidFill>
                      <a:srgbClr val="FFFFFF"/>
                    </a:solidFill>
                  </a:tcPr>
                </a:tc>
                <a:tc>
                  <a:txBody>
                    <a:bodyPr/>
                    <a:lstStyle/>
                    <a:p>
                      <a:r>
                        <a:rPr sz="1200" b="0" i="0">
                          <a:solidFill>
                            <a:srgbClr val="1A1440"/>
                          </a:solidFill>
                          <a:latin typeface="Calibri"/>
                        </a:rPr>
                        <a:t>We would ask the team that owns each export what one row stands for before trusting it</a:t>
                      </a:r>
                    </a:p>
                  </a:txBody>
                  <a:tcPr marL="101600" marR="101600" marT="38100" marB="38100" anchor="ctr">
                    <a:solidFill>
                      <a:srgbClr val="FFFFFF"/>
                    </a:solidFill>
                  </a:tcPr>
                </a:tc>
              </a:tr>
            </a:tbl>
          </a:graphicData>
        </a:graphic>
      </p:graphicFrame>
      <p:pic>
        <p:nvPicPr>
          <p:cNvPr id="11" name="mermaid diagram" descr="21446b29ce921d38.png"/>
          <p:cNvPicPr>
            <a:picLocks noChangeAspect="1"/>
          </p:cNvPicPr>
          <p:nvPr/>
        </p:nvPicPr>
        <p:blipFill>
          <a:blip r:embed="rId5"/>
          <a:stretch>
            <a:fillRect/>
          </a:stretch>
        </p:blipFill>
        <p:spPr>
          <a:xfrm>
            <a:off x="2595410" y="3553968"/>
            <a:ext cx="7000875" cy="1128712"/>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D22  ·  26 / 49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if the demo fails?</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does the live demo prove your number from the raw files, and what happens if it fails in front of the panel?</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 panel ask?</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slide?</a:t>
            </a:r>
          </a:p>
        </p:txBody>
      </p:sp>
      <p:sp>
        <p:nvSpPr>
          <p:cNvPr id="12" name="Rounded Rectangle 11"/>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the claim earned?</a:t>
            </a:r>
          </a:p>
        </p:txBody>
      </p:sp>
      <p:sp>
        <p:nvSpPr>
          <p:cNvPr id="13" name="Rounded Rectangle 12"/>
          <p:cNvSpPr/>
          <p:nvPr/>
        </p:nvSpPr>
        <p:spPr>
          <a:xfrm>
            <a:off x="6362318"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if the demo fails?</a:t>
            </a:r>
          </a:p>
        </p:txBody>
      </p:sp>
      <p:sp>
        <p:nvSpPr>
          <p:cNvPr id="14" name="Rounded Rectangle 13"/>
          <p:cNvSpPr/>
          <p:nvPr/>
        </p:nvSpPr>
        <p:spPr>
          <a:xfrm>
            <a:off x="819977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claim hold?</a:t>
            </a:r>
          </a:p>
        </p:txBody>
      </p:sp>
      <p:sp>
        <p:nvSpPr>
          <p:cNvPr id="15" name="Rounded Rectangle 14"/>
          <p:cNvSpPr/>
          <p:nvPr/>
        </p:nvSpPr>
        <p:spPr>
          <a:xfrm>
            <a:off x="9859580" y="5074920"/>
            <a:ext cx="137243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it scored?</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Saturday: does your answer hold in front of the panel?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27 / 49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demo is the claim's evidence, shown live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live demo, and which questions come on the way?</a:t>
            </a:r>
          </a:p>
        </p:txBody>
      </p:sp>
      <p:sp>
        <p:nvSpPr>
          <p:cNvPr id="10" name="Rounded Rectangle 9"/>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panel, which trusts a number it watched arrive from the raw files more than one pasted on a slide, and every member, whose presentation and defence score begins with the demo.</a:t>
            </a:r>
          </a:p>
        </p:txBody>
      </p:sp>
      <p:sp>
        <p:nvSpPr>
          <p:cNvPr id="13" name="Rectangle 12"/>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The rules</a:t>
            </a:r>
          </a:p>
        </p:txBody>
      </p:sp>
      <p:sp>
        <p:nvSpPr>
          <p:cNvPr id="18" name="TextBox 17"/>
          <p:cNvSpPr txBox="1"/>
          <p:nvPr/>
        </p:nvSpPr>
        <p:spPr>
          <a:xfrm>
            <a:off x="694944"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What makes a live demo prove your number?</a:t>
            </a:r>
          </a:p>
        </p:txBody>
      </p:sp>
      <p:sp>
        <p:nvSpPr>
          <p:cNvPr id="19" name="TextBox 18"/>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793126"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957718"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Cold</a:t>
            </a:r>
          </a:p>
        </p:txBody>
      </p:sp>
      <p:sp>
        <p:nvSpPr>
          <p:cNvPr id="23" name="TextBox 22"/>
          <p:cNvSpPr txBox="1"/>
          <p:nvPr/>
        </p:nvSpPr>
        <p:spPr>
          <a:xfrm>
            <a:off x="2957718"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What does a cold run mean on the day?</a:t>
            </a:r>
          </a:p>
        </p:txBody>
      </p:sp>
      <p:sp>
        <p:nvSpPr>
          <p:cNvPr id="24" name="TextBox 23"/>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055900"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A failure</a:t>
            </a:r>
          </a:p>
        </p:txBody>
      </p:sp>
      <p:sp>
        <p:nvSpPr>
          <p:cNvPr id="28" name="TextBox 27"/>
          <p:cNvSpPr txBox="1"/>
          <p:nvPr/>
        </p:nvSpPr>
        <p:spPr>
          <a:xfrm>
            <a:off x="5220492"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What happens if the demo fails in front of the panel?</a:t>
            </a:r>
          </a:p>
        </p:txBody>
      </p:sp>
      <p:sp>
        <p:nvSpPr>
          <p:cNvPr id="29" name="TextBox 28"/>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318674"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Your plan</a:t>
            </a:r>
          </a:p>
        </p:txBody>
      </p:sp>
      <p:sp>
        <p:nvSpPr>
          <p:cNvPr id="33" name="TextBox 32"/>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plan for a failure meets the rule?</a:t>
            </a:r>
          </a:p>
        </p:txBody>
      </p:sp>
      <p:sp>
        <p:nvSpPr>
          <p:cNvPr id="34" name="TextBox 33"/>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5" name="Oval 34"/>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581448" y="3816096"/>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The cost</a:t>
            </a:r>
          </a:p>
        </p:txBody>
      </p:sp>
      <p:sp>
        <p:nvSpPr>
          <p:cNvPr id="38" name="TextBox 37"/>
          <p:cNvSpPr txBox="1"/>
          <p:nvPr/>
        </p:nvSpPr>
        <p:spPr>
          <a:xfrm>
            <a:off x="9746040" y="4250182"/>
            <a:ext cx="1750710" cy="531876"/>
          </a:xfrm>
          <a:prstGeom prst="rect">
            <a:avLst/>
          </a:prstGeom>
          <a:noFill/>
        </p:spPr>
        <p:txBody>
          <a:bodyPr wrap="square" anchor="t" lIns="0" rIns="0" tIns="0" bIns="0">
            <a:spAutoFit/>
          </a:bodyPr>
          <a:lstStyle/>
          <a:p>
            <a:pPr algn="l"/>
            <a:r>
              <a:rPr sz="1000" b="0" i="0">
                <a:solidFill>
                  <a:srgbClr val="CFC9EE"/>
                </a:solidFill>
                <a:latin typeface="Calibri"/>
              </a:rPr>
              <a:t>What does a failed demo cost, and what does it leave?</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41" name="Oval 4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43" name="Oval 42"/>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5" name="Oval 44"/>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47" name="Oval 46"/>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9" name="Oval 48"/>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D23  ·  28 / 49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rules make the demo prove your number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makes a live demo prove the number on your one-slide answer?</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nowflake_b9dadda434bf.png"/>
          <p:cNvPicPr>
            <a:picLocks noChangeAspect="1"/>
          </p:cNvPicPr>
          <p:nvPr/>
        </p:nvPicPr>
        <p:blipFill>
          <a:blip r:embed="rId5"/>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RULE 1</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Cold</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A fresh Codespace or a restarted kernel, run all, with no output kept from an earlier run.</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file-text_5c86fecc2881.png"/>
          <p:cNvPicPr>
            <a:picLocks noChangeAspect="1"/>
          </p:cNvPicPr>
          <p:nvPr/>
        </p:nvPicPr>
        <p:blipFill>
          <a:blip r:embed="rId6"/>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RULE 2</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Raw files</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files exactly as Dr Menon's team sent them, read from the data folder, never a tidied copy.</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play_9326b926cbe1.png"/>
          <p:cNvPicPr>
            <a:picLocks noChangeAspect="1"/>
          </p:cNvPicPr>
          <p:nvPr/>
        </p:nvPicPr>
        <p:blipFill>
          <a:blip r:embed="rId7"/>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RULE 3</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One run</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One press, top to bottom, with two minutes to recover if it fails, as in front of a client.</a:t>
            </a:r>
          </a:p>
        </p:txBody>
      </p:sp>
      <p:pic>
        <p:nvPicPr>
          <p:cNvPr id="27" name="mermaid diagram" descr="e00c56d0f616d810.png"/>
          <p:cNvPicPr>
            <a:picLocks noChangeAspect="1"/>
          </p:cNvPicPr>
          <p:nvPr/>
        </p:nvPicPr>
        <p:blipFill>
          <a:blip r:embed="rId8"/>
          <a:stretch>
            <a:fillRect/>
          </a:stretch>
        </p:blipFill>
        <p:spPr>
          <a:xfrm>
            <a:off x="2895447" y="4294124"/>
            <a:ext cx="6400800" cy="1128712"/>
          </a:xfrm>
          <a:prstGeom prst="rect">
            <a:avLst/>
          </a:prstGeom>
        </p:spPr>
      </p:pic>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30" name="Oval 2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32" name="Oval 3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34" name="Oval 33"/>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36" name="Oval 35"/>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38" name="Oval 37"/>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29 / 49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Cold means a fresh start on Friday's frozen commit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cold run mean on the day of your slot?</a:t>
            </a:r>
          </a:p>
        </p:txBody>
      </p:sp>
      <p:sp>
        <p:nvSpPr>
          <p:cNvPr id="10" name="Rectangle 9"/>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2" name="Oval 11"/>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30352"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frozen commit</a:t>
            </a:r>
          </a:p>
        </p:txBody>
      </p:sp>
      <p:sp>
        <p:nvSpPr>
          <p:cNvPr id="15" name="TextBox 14"/>
          <p:cNvSpPr txBox="1"/>
          <p:nvPr/>
        </p:nvSpPr>
        <p:spPr>
          <a:xfrm>
            <a:off x="694944" y="3277870"/>
            <a:ext cx="1750710" cy="696976"/>
          </a:xfrm>
          <a:prstGeom prst="rect">
            <a:avLst/>
          </a:prstGeom>
          <a:noFill/>
        </p:spPr>
        <p:txBody>
          <a:bodyPr wrap="square" anchor="t" lIns="0" rIns="0" tIns="0" bIns="0">
            <a:spAutoFit/>
          </a:bodyPr>
          <a:lstStyle/>
          <a:p>
            <a:pPr algn="l"/>
            <a:r>
              <a:rPr sz="1000" b="0" i="0">
                <a:solidFill>
                  <a:srgbClr val="6B6690"/>
                </a:solidFill>
                <a:latin typeface="Calibri"/>
              </a:rPr>
              <a:t>The last commit you pushed before Friday's open build time closed is the one you demo.</a:t>
            </a:r>
          </a:p>
        </p:txBody>
      </p:sp>
      <p:sp>
        <p:nvSpPr>
          <p:cNvPr id="16" name="TextBox 15"/>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7" name="Oval 16"/>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2793126"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A fresh start</a:t>
            </a:r>
          </a:p>
        </p:txBody>
      </p:sp>
      <p:sp>
        <p:nvSpPr>
          <p:cNvPr id="20" name="TextBox 19"/>
          <p:cNvSpPr txBox="1"/>
          <p:nvPr/>
        </p:nvSpPr>
        <p:spPr>
          <a:xfrm>
            <a:off x="2957718"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A new Codespace, or a restarted kernel, with no output kept.</a:t>
            </a:r>
          </a:p>
        </p:txBody>
      </p:sp>
      <p:sp>
        <p:nvSpPr>
          <p:cNvPr id="21" name="TextBox 20"/>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2" name="Oval 21"/>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055900"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raw files</a:t>
            </a:r>
          </a:p>
        </p:txBody>
      </p:sp>
      <p:sp>
        <p:nvSpPr>
          <p:cNvPr id="25" name="TextBox 24"/>
          <p:cNvSpPr txBox="1"/>
          <p:nvPr/>
        </p:nvSpPr>
        <p:spPr>
          <a:xfrm>
            <a:off x="5220492"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ten files as Dr Menon's team sent them, in the data folder.</a:t>
            </a:r>
          </a:p>
        </p:txBody>
      </p:sp>
      <p:sp>
        <p:nvSpPr>
          <p:cNvPr id="26" name="TextBox 25"/>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7" name="Oval 26"/>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7318674"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Run all</a:t>
            </a:r>
          </a:p>
        </p:txBody>
      </p:sp>
      <p:sp>
        <p:nvSpPr>
          <p:cNvPr id="30" name="TextBox 29"/>
          <p:cNvSpPr txBox="1"/>
          <p:nvPr/>
        </p:nvSpPr>
        <p:spPr>
          <a:xfrm>
            <a:off x="7483266"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Top to bottom, one press, in front of the panel.</a:t>
            </a:r>
          </a:p>
        </p:txBody>
      </p:sp>
      <p:sp>
        <p:nvSpPr>
          <p:cNvPr id="31" name="TextBox 30"/>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2" name="Oval 31"/>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581448" y="2843784"/>
            <a:ext cx="2079894"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FFFFFF"/>
                </a:solidFill>
                <a:latin typeface="Calibri"/>
              </a:rPr>
              <a:t>The check</a:t>
            </a:r>
          </a:p>
        </p:txBody>
      </p:sp>
      <p:sp>
        <p:nvSpPr>
          <p:cNvPr id="35" name="TextBox 34"/>
          <p:cNvSpPr txBox="1"/>
          <p:nvPr/>
        </p:nvSpPr>
        <p:spPr>
          <a:xfrm>
            <a:off x="9746040" y="3277870"/>
            <a:ext cx="1750710" cy="366776"/>
          </a:xfrm>
          <a:prstGeom prst="rect">
            <a:avLst/>
          </a:prstGeom>
          <a:noFill/>
        </p:spPr>
        <p:txBody>
          <a:bodyPr wrap="square" anchor="t" lIns="0" rIns="0" tIns="0" bIns="0">
            <a:spAutoFit/>
          </a:bodyPr>
          <a:lstStyle/>
          <a:p>
            <a:pPr algn="l"/>
            <a:r>
              <a:rPr sz="1000" b="0" i="0">
                <a:solidFill>
                  <a:srgbClr val="CFC9EE"/>
                </a:solidFill>
                <a:latin typeface="Calibri"/>
              </a:rPr>
              <a:t>The number on your slide appears in the output.</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38" name="Oval 3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40" name="Oval 3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2" name="Oval 41"/>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44" name="Oval 43"/>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6" name="Oval 45"/>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48" name="TextBox 4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D25  ·  30 / 49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Two minutes to recover, then the executed notebook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if the live demo fails in front of the panel?</a:t>
            </a:r>
          </a:p>
        </p:txBody>
      </p:sp>
      <p:pic>
        <p:nvPicPr>
          <p:cNvPr id="9" name="mermaid diagram" descr="1b42abdde2ce6935.png"/>
          <p:cNvPicPr>
            <a:picLocks noChangeAspect="1"/>
          </p:cNvPicPr>
          <p:nvPr/>
        </p:nvPicPr>
        <p:blipFill>
          <a:blip r:embed="rId5"/>
          <a:stretch>
            <a:fillRect/>
          </a:stretch>
        </p:blipFill>
        <p:spPr>
          <a:xfrm>
            <a:off x="1545278" y="1903063"/>
            <a:ext cx="9101137" cy="3157537"/>
          </a:xfrm>
          <a:prstGeom prst="rect">
            <a:avLst/>
          </a:prstGeom>
        </p:spPr>
      </p:pic>
      <p:sp>
        <p:nvSpPr>
          <p:cNvPr id="10" name="TextBox 9"/>
          <p:cNvSpPr txBox="1"/>
          <p:nvPr/>
        </p:nvSpPr>
        <p:spPr>
          <a:xfrm>
            <a:off x="530352" y="520690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other 34 marks of the mini project are scored from the executed run, so a failed demo costs its own marks and never the analysis.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7" name="Oval 16"/>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19" name="Oval 18"/>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1" name="Oval 20"/>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31 / 49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Question: which plan meets the demo rule?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Four groups say what they will do if a cell fails on the cold run; which plan meets the rule?</a:t>
            </a:r>
          </a:p>
        </p:txBody>
      </p:sp>
      <p:sp>
        <p:nvSpPr>
          <p:cNvPr id="10" name="Rounded Rectangle 9"/>
          <p:cNvSpPr/>
          <p:nvPr/>
        </p:nvSpPr>
        <p:spPr>
          <a:xfrm>
            <a:off x="530352" y="195681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plan meets the demo rule? Answer as a letter.</a:t>
            </a:r>
          </a:p>
        </p:txBody>
      </p:sp>
      <p:sp>
        <p:nvSpPr>
          <p:cNvPr id="13" name="TextBox 12"/>
          <p:cNvSpPr txBox="1"/>
          <p:nvPr/>
        </p:nvSpPr>
        <p:spPr>
          <a:xfrm>
            <a:off x="530352" y="2662428"/>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Skip the live run and open Friday's saved notebook, scrolling through the charts it holds.</a:t>
            </a:r>
          </a:p>
          <a:p>
            <a:pPr>
              <a:spcAft>
                <a:spcPts val="800"/>
              </a:spcAft>
            </a:pPr>
            <a:r>
              <a:rPr sz="1600" b="0" i="0">
                <a:solidFill>
                  <a:srgbClr val="1A1440"/>
                </a:solidFill>
                <a:latin typeface="Calibri"/>
              </a:rPr>
              <a:t>b) Switch to a cleaned extract saved on Thursday night, since the raw files are what broke the run.</a:t>
            </a:r>
          </a:p>
          <a:p>
            <a:pPr>
              <a:spcAft>
                <a:spcPts val="800"/>
              </a:spcAft>
            </a:pPr>
            <a:r>
              <a:rPr sz="1600" b="0" i="0">
                <a:solidFill>
                  <a:srgbClr val="1A1440"/>
                </a:solidFill>
                <a:latin typeface="Calibri"/>
              </a:rPr>
              <a:t>c) Keep debugging live for as long as it takes, so the panel sees every output in the end.</a:t>
            </a:r>
          </a:p>
          <a:p>
            <a:pPr>
              <a:spcAft>
                <a:spcPts val="800"/>
              </a:spcAft>
            </a:pPr>
            <a:r>
              <a:rPr sz="1600" b="0" i="0">
                <a:solidFill>
                  <a:srgbClr val="1A1440"/>
                </a:solidFill>
                <a:latin typeface="Calibri"/>
              </a:rPr>
              <a:t>d) Fix the cell live inside two minutes; if it still fails, present from the executed notebook.</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0" name="Oval 19"/>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22" name="Oval 21"/>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4" name="Oval 23"/>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D27  ·  32 / 49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Answer: d, two minutes, then the executed notebook</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plan meets the demo rule, and which rule does each other plan break?</a:t>
            </a:r>
          </a:p>
        </p:txBody>
      </p:sp>
      <p:graphicFrame>
        <p:nvGraphicFramePr>
          <p:cNvPr id="10" name="Table 9"/>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Which rule it breaks, or why it holds</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Gives up the live run a client would watch, and shows outputs nothing ran in front of the panel</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Breaks the raw files rule: the extract hides every cleaning call the panel wants to see made</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Breaks the two-minute limit: open-ended debugging eats the slot and the panel's questions</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Holds: two minutes to recover live, then the executed notebook, and the analysis keeps its 34</a:t>
                      </a:r>
                    </a:p>
                  </a:txBody>
                  <a:tcPr marL="101600" marR="101600" marT="38100" marB="38100" anchor="ctr">
                    <a:solidFill>
                      <a:srgbClr val="F4F2FA"/>
                    </a:solidFill>
                  </a:tcPr>
                </a:tc>
              </a:tr>
            </a:tbl>
          </a:graphicData>
        </a:graphic>
      </p:graphicFrame>
      <p:sp>
        <p:nvSpPr>
          <p:cNvPr id="11" name="Rounded Rectangle 10"/>
          <p:cNvSpPr/>
          <p:nvPr/>
        </p:nvSpPr>
        <p:spPr>
          <a:xfrm>
            <a:off x="530352" y="4061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394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search-check_6571e64a041f.png"/>
          <p:cNvPicPr>
            <a:picLocks noChangeAspect="1"/>
          </p:cNvPicPr>
          <p:nvPr/>
        </p:nvPicPr>
        <p:blipFill>
          <a:blip r:embed="rId4"/>
          <a:stretch>
            <a:fillRect/>
          </a:stretch>
        </p:blipFill>
        <p:spPr>
          <a:xfrm>
            <a:off x="868680" y="4503928"/>
            <a:ext cx="237744" cy="237744"/>
          </a:xfrm>
          <a:prstGeom prst="rect">
            <a:avLst/>
          </a:prstGeom>
        </p:spPr>
      </p:pic>
      <p:sp>
        <p:nvSpPr>
          <p:cNvPr id="14" name="TextBox 13"/>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5" name="TextBox 14"/>
          <p:cNvSpPr txBox="1"/>
          <p:nvPr/>
        </p:nvSpPr>
        <p:spPr>
          <a:xfrm>
            <a:off x="1399031" y="4427728"/>
            <a:ext cx="9987991" cy="682752"/>
          </a:xfrm>
          <a:prstGeom prst="rect">
            <a:avLst/>
          </a:prstGeom>
          <a:noFill/>
        </p:spPr>
        <p:txBody>
          <a:bodyPr wrap="square" anchor="t" lIns="0" rIns="0" tIns="0" bIns="0">
            <a:spAutoFit/>
          </a:bodyPr>
          <a:lstStyle/>
          <a:p>
            <a:r>
              <a:rPr sz="1500" b="0" i="0">
                <a:solidFill>
                  <a:srgbClr val="1A1440"/>
                </a:solidFill>
                <a:latin typeface="Calibri"/>
              </a:rPr>
              <a:t>Rehearse the failure as well as the run: know which cell breaks most often and what you type in the two minutes.</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2" name="Oval 21"/>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24" name="Oval 23"/>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6" name="Oval 25"/>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D28  ·  33 / 49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 failed demo costs its own marks, never the 34</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demo that still fails cost, and what does it leave standing?</a:t>
            </a:r>
          </a:p>
        </p:txBody>
      </p:sp>
      <p:sp>
        <p:nvSpPr>
          <p:cNvPr id="10" name="TextBox 9"/>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34</a:t>
            </a:r>
          </a:p>
        </p:txBody>
      </p:sp>
      <p:sp>
        <p:nvSpPr>
          <p:cNvPr id="11" name="TextBox 10"/>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GROUP'S MARKS</a:t>
            </a:r>
          </a:p>
        </p:txBody>
      </p:sp>
      <p:sp>
        <p:nvSpPr>
          <p:cNvPr id="12" name="TextBox 11"/>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scored from the executed run, whatever the demo did</a:t>
            </a:r>
          </a:p>
        </p:txBody>
      </p:sp>
      <p:sp>
        <p:nvSpPr>
          <p:cNvPr id="13" name="Rectangle 12"/>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15" name="TextBox 14"/>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EACH LEARNER'S OWN</a:t>
            </a:r>
          </a:p>
        </p:txBody>
      </p:sp>
      <p:sp>
        <p:nvSpPr>
          <p:cNvPr id="16" name="TextBox 15"/>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presentation and defence, where the live demo sits</a:t>
            </a:r>
          </a:p>
        </p:txBody>
      </p:sp>
      <p:sp>
        <p:nvSpPr>
          <p:cNvPr id="17" name="Rectangle 16"/>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 min</a:t>
            </a:r>
          </a:p>
        </p:txBody>
      </p:sp>
      <p:sp>
        <p:nvSpPr>
          <p:cNvPr id="19" name="TextBox 18"/>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TO RECOVER LIVE</a:t>
            </a:r>
          </a:p>
        </p:txBody>
      </p:sp>
      <p:sp>
        <p:nvSpPr>
          <p:cNvPr id="20" name="TextBox 19"/>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then the executed notebook</a:t>
            </a:r>
          </a:p>
        </p:txBody>
      </p:sp>
      <p:sp>
        <p:nvSpPr>
          <p:cNvPr id="21" name="Rectangle 20"/>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Full marks on presentation and defence begin with "the live demo runs cold", so a demo that still fails keeps a learner below them; a machine that fails before the demo starts is swapped, and the demo then runs cold in the room's reserve, before the same panel.</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25" name="Oval 2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27" name="Oval 2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9" name="Oval 2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32952"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if the demo fails?</a:t>
            </a:r>
          </a:p>
        </p:txBody>
      </p:sp>
      <p:sp>
        <p:nvSpPr>
          <p:cNvPr id="31" name="Oval 30"/>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33" name="Oval 32"/>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D29  ·  34 / 49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Does the claim hold?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do you hold your claim when the panel challenges its caveat, and when are two groups' different answers both honest?</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 panel ask?</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slide?</a:t>
            </a:r>
          </a:p>
        </p:txBody>
      </p:sp>
      <p:sp>
        <p:nvSpPr>
          <p:cNvPr id="12" name="Rounded Rectangle 11"/>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the claim earned?</a:t>
            </a:r>
          </a:p>
        </p:txBody>
      </p:sp>
      <p:sp>
        <p:nvSpPr>
          <p:cNvPr id="13" name="Rounded Rectangle 12"/>
          <p:cNvSpPr/>
          <p:nvPr/>
        </p:nvSpPr>
        <p:spPr>
          <a:xfrm>
            <a:off x="636231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if the demo fails?</a:t>
            </a:r>
          </a:p>
        </p:txBody>
      </p:sp>
      <p:sp>
        <p:nvSpPr>
          <p:cNvPr id="14" name="Rounded Rectangle 13"/>
          <p:cNvSpPr/>
          <p:nvPr/>
        </p:nvSpPr>
        <p:spPr>
          <a:xfrm>
            <a:off x="8199773"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Does the claim hold?</a:t>
            </a:r>
          </a:p>
        </p:txBody>
      </p:sp>
      <p:sp>
        <p:nvSpPr>
          <p:cNvPr id="15" name="Rounded Rectangle 14"/>
          <p:cNvSpPr/>
          <p:nvPr/>
        </p:nvSpPr>
        <p:spPr>
          <a:xfrm>
            <a:off x="9859580" y="5074920"/>
            <a:ext cx="137243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it scored?</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Saturday: does your answer hold in front of the panel?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35 / 49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panel's questions test the edge of your evidence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your answers to the panel, and which questions come on the way?</a:t>
            </a:r>
          </a:p>
        </p:txBody>
      </p:sp>
      <p:sp>
        <p:nvSpPr>
          <p:cNvPr id="10" name="Rounded Rectangle 9"/>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member: presentation and defence is scored for each learner on 6 marks, and the panel chooses who answers, so a member who knows one slice of the work answers for all of it.</a:t>
            </a:r>
          </a:p>
        </p:txBody>
      </p:sp>
      <p:sp>
        <p:nvSpPr>
          <p:cNvPr id="13" name="Rectangle 12"/>
          <p:cNvSpPr/>
          <p:nvPr/>
        </p:nvSpPr>
        <p:spPr>
          <a:xfrm>
            <a:off x="1570299" y="34960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46971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Five kinds</a:t>
            </a:r>
          </a:p>
        </p:txBody>
      </p:sp>
      <p:sp>
        <p:nvSpPr>
          <p:cNvPr id="18" name="TextBox 17"/>
          <p:cNvSpPr txBox="1"/>
          <p:nvPr/>
        </p:nvSpPr>
        <p:spPr>
          <a:xfrm>
            <a:off x="694944"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kinds of question does the panel ask?</a:t>
            </a:r>
          </a:p>
        </p:txBody>
      </p:sp>
      <p:sp>
        <p:nvSpPr>
          <p:cNvPr id="19" name="TextBox 18"/>
          <p:cNvSpPr txBox="1"/>
          <p:nvPr/>
        </p:nvSpPr>
        <p:spPr>
          <a:xfrm>
            <a:off x="2793126"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373248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2793126"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957718"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Three moves</a:t>
            </a:r>
          </a:p>
        </p:txBody>
      </p:sp>
      <p:sp>
        <p:nvSpPr>
          <p:cNvPr id="23" name="TextBox 22"/>
          <p:cNvSpPr txBox="1"/>
          <p:nvPr/>
        </p:nvSpPr>
        <p:spPr>
          <a:xfrm>
            <a:off x="2957718" y="4250182"/>
            <a:ext cx="1750710" cy="531876"/>
          </a:xfrm>
          <a:prstGeom prst="rect">
            <a:avLst/>
          </a:prstGeom>
          <a:noFill/>
        </p:spPr>
        <p:txBody>
          <a:bodyPr wrap="square" anchor="t" lIns="0" rIns="0" tIns="0" bIns="0">
            <a:spAutoFit/>
          </a:bodyPr>
          <a:lstStyle/>
          <a:p>
            <a:pPr algn="l"/>
            <a:r>
              <a:rPr sz="1000" b="0" i="0">
                <a:solidFill>
                  <a:srgbClr val="6B6690"/>
                </a:solidFill>
                <a:latin typeface="Calibri"/>
              </a:rPr>
              <a:t>How do you hold a caveat without folding or overclaiming?</a:t>
            </a:r>
          </a:p>
        </p:txBody>
      </p:sp>
      <p:sp>
        <p:nvSpPr>
          <p:cNvPr id="24" name="TextBox 23"/>
          <p:cNvSpPr txBox="1"/>
          <p:nvPr/>
        </p:nvSpPr>
        <p:spPr>
          <a:xfrm>
            <a:off x="5055900"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5995263"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055900"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220492"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Which reply</a:t>
            </a:r>
          </a:p>
        </p:txBody>
      </p:sp>
      <p:sp>
        <p:nvSpPr>
          <p:cNvPr id="28" name="TextBox 27"/>
          <p:cNvSpPr txBox="1"/>
          <p:nvPr/>
        </p:nvSpPr>
        <p:spPr>
          <a:xfrm>
            <a:off x="5220492"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Which reply holds when the caveat is attacked?</a:t>
            </a:r>
          </a:p>
        </p:txBody>
      </p:sp>
      <p:sp>
        <p:nvSpPr>
          <p:cNvPr id="29" name="TextBox 28"/>
          <p:cNvSpPr txBox="1"/>
          <p:nvPr/>
        </p:nvSpPr>
        <p:spPr>
          <a:xfrm>
            <a:off x="7318674"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825803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318674" y="3816096"/>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83266" y="3962400"/>
            <a:ext cx="1750710" cy="251205"/>
          </a:xfrm>
          <a:prstGeom prst="rect">
            <a:avLst/>
          </a:prstGeom>
          <a:noFill/>
        </p:spPr>
        <p:txBody>
          <a:bodyPr wrap="square" anchor="t" lIns="0" rIns="0" tIns="0" bIns="0">
            <a:spAutoFit/>
          </a:bodyPr>
          <a:lstStyle/>
          <a:p>
            <a:pPr algn="l"/>
            <a:r>
              <a:rPr sz="1300" b="1" i="0">
                <a:solidFill>
                  <a:srgbClr val="1A0F5C"/>
                </a:solidFill>
                <a:latin typeface="Calibri"/>
              </a:rPr>
              <a:t>Two answers</a:t>
            </a:r>
          </a:p>
        </p:txBody>
      </p:sp>
      <p:sp>
        <p:nvSpPr>
          <p:cNvPr id="33" name="TextBox 32"/>
          <p:cNvSpPr txBox="1"/>
          <p:nvPr/>
        </p:nvSpPr>
        <p:spPr>
          <a:xfrm>
            <a:off x="7483266" y="4250182"/>
            <a:ext cx="1750710" cy="366776"/>
          </a:xfrm>
          <a:prstGeom prst="rect">
            <a:avLst/>
          </a:prstGeom>
          <a:noFill/>
        </p:spPr>
        <p:txBody>
          <a:bodyPr wrap="square" anchor="t" lIns="0" rIns="0" tIns="0" bIns="0">
            <a:spAutoFit/>
          </a:bodyPr>
          <a:lstStyle/>
          <a:p>
            <a:pPr algn="l"/>
            <a:r>
              <a:rPr sz="1000" b="0" i="0">
                <a:solidFill>
                  <a:srgbClr val="6B6690"/>
                </a:solidFill>
                <a:latin typeface="Calibri"/>
              </a:rPr>
              <a:t>When are two groups' different numbers both honest?</a:t>
            </a:r>
          </a:p>
        </p:txBody>
      </p:sp>
      <p:sp>
        <p:nvSpPr>
          <p:cNvPr id="34" name="TextBox 33"/>
          <p:cNvSpPr txBox="1"/>
          <p:nvPr/>
        </p:nvSpPr>
        <p:spPr>
          <a:xfrm>
            <a:off x="9581448" y="29291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5" name="Oval 34"/>
          <p:cNvSpPr/>
          <p:nvPr/>
        </p:nvSpPr>
        <p:spPr>
          <a:xfrm>
            <a:off x="10520812" y="34046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581448" y="3816096"/>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746040" y="3962400"/>
            <a:ext cx="1750710" cy="251205"/>
          </a:xfrm>
          <a:prstGeom prst="rect">
            <a:avLst/>
          </a:prstGeom>
          <a:noFill/>
        </p:spPr>
        <p:txBody>
          <a:bodyPr wrap="square" anchor="t" lIns="0" rIns="0" tIns="0" bIns="0">
            <a:spAutoFit/>
          </a:bodyPr>
          <a:lstStyle/>
          <a:p>
            <a:pPr algn="l"/>
            <a:r>
              <a:rPr sz="1300" b="1" i="0">
                <a:solidFill>
                  <a:srgbClr val="FFFFFF"/>
                </a:solidFill>
                <a:latin typeface="Calibri"/>
              </a:rPr>
              <a:t>Every member</a:t>
            </a:r>
          </a:p>
        </p:txBody>
      </p:sp>
      <p:sp>
        <p:nvSpPr>
          <p:cNvPr id="38" name="TextBox 37"/>
          <p:cNvSpPr txBox="1"/>
          <p:nvPr/>
        </p:nvSpPr>
        <p:spPr>
          <a:xfrm>
            <a:off x="9746040" y="4250182"/>
            <a:ext cx="1750710" cy="366776"/>
          </a:xfrm>
          <a:prstGeom prst="rect">
            <a:avLst/>
          </a:prstGeom>
          <a:noFill/>
        </p:spPr>
        <p:txBody>
          <a:bodyPr wrap="square" anchor="t" lIns="0" rIns="0" tIns="0" bIns="0">
            <a:spAutoFit/>
          </a:bodyPr>
          <a:lstStyle/>
          <a:p>
            <a:pPr algn="l"/>
            <a:r>
              <a:rPr sz="1000" b="0" i="0">
                <a:solidFill>
                  <a:srgbClr val="CFC9EE"/>
                </a:solidFill>
                <a:latin typeface="Calibri"/>
              </a:rPr>
              <a:t>What must each member explain alone?</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41" name="Oval 4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43" name="Oval 42"/>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5" name="Oval 44"/>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7" name="Oval 46"/>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49" name="Oval 48"/>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D30  ·  36 / 49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panel asks five kinds of question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kinds of question should every group expect in its eight to ten minutes?</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3006662"/>
                <a:gridCol w="8124328"/>
              </a:tblGrid>
              <a:tr h="369824">
                <a:tc>
                  <a:txBody>
                    <a:bodyPr/>
                    <a:lstStyle/>
                    <a:p>
                      <a:r>
                        <a:rPr sz="1450" b="1" i="0">
                          <a:solidFill>
                            <a:srgbClr val="FFFFFF"/>
                          </a:solidFill>
                          <a:latin typeface="Calibri"/>
                        </a:rPr>
                        <a:t>Kind</a:t>
                      </a:r>
                    </a:p>
                  </a:txBody>
                  <a:tcPr marL="101600" marR="101600" marT="38100" marB="38100" anchor="ctr">
                    <a:solidFill>
                      <a:srgbClr val="1A0F5C"/>
                    </a:solidFill>
                  </a:tcPr>
                </a:tc>
                <a:tc>
                  <a:txBody>
                    <a:bodyPr/>
                    <a:lstStyle/>
                    <a:p>
                      <a:r>
                        <a:rPr sz="1450" b="1" i="0">
                          <a:solidFill>
                            <a:srgbClr val="FFFFFF"/>
                          </a:solidFill>
                          <a:latin typeface="Calibri"/>
                        </a:rPr>
                        <a:t>What it sounds like</a:t>
                      </a:r>
                    </a:p>
                  </a:txBody>
                  <a:tcPr marL="101600" marR="101600" marT="38100" marB="38100" anchor="ctr">
                    <a:solidFill>
                      <a:srgbClr val="1A0F5C"/>
                    </a:solidFill>
                  </a:tcPr>
                </a:tc>
              </a:tr>
              <a:tr h="369824">
                <a:tc>
                  <a:txBody>
                    <a:bodyPr/>
                    <a:lstStyle/>
                    <a:p>
                      <a:r>
                        <a:rPr sz="1400" b="0" i="0">
                          <a:solidFill>
                            <a:srgbClr val="1A1440"/>
                          </a:solidFill>
                          <a:latin typeface="Calibri"/>
                        </a:rPr>
                        <a:t>The evidence</a:t>
                      </a:r>
                    </a:p>
                  </a:txBody>
                  <a:tcPr marL="101600" marR="101600" marT="38100" marB="38100" anchor="ctr">
                    <a:solidFill>
                      <a:srgbClr val="FFFFFF"/>
                    </a:solidFill>
                  </a:tcPr>
                </a:tc>
                <a:tc>
                  <a:txBody>
                    <a:bodyPr/>
                    <a:lstStyle/>
                    <a:p>
                      <a:r>
                        <a:rPr sz="1400" b="0" i="0">
                          <a:solidFill>
                            <a:srgbClr val="1A1440"/>
                          </a:solidFill>
                          <a:latin typeface="Calibri"/>
                        </a:rPr>
                        <a:t>"What is the denominator of that number, and over which window?"</a:t>
                      </a:r>
                    </a:p>
                  </a:txBody>
                  <a:tcPr marL="101600" marR="101600" marT="38100" marB="38100" anchor="ctr">
                    <a:solidFill>
                      <a:srgbClr val="FFFFFF"/>
                    </a:solidFill>
                  </a:tcPr>
                </a:tc>
              </a:tr>
              <a:tr h="369824">
                <a:tc>
                  <a:txBody>
                    <a:bodyPr/>
                    <a:lstStyle/>
                    <a:p>
                      <a:r>
                        <a:rPr sz="1400" b="0" i="0">
                          <a:solidFill>
                            <a:srgbClr val="1A1440"/>
                          </a:solidFill>
                          <a:latin typeface="Calibri"/>
                        </a:rPr>
                        <a:t>The caveat challenge</a:t>
                      </a:r>
                    </a:p>
                  </a:txBody>
                  <a:tcPr marL="101600" marR="101600" marT="38100" marB="38100" anchor="ctr">
                    <a:solidFill>
                      <a:srgbClr val="F4F2FA"/>
                    </a:solidFill>
                  </a:tcPr>
                </a:tc>
                <a:tc>
                  <a:txBody>
                    <a:bodyPr/>
                    <a:lstStyle/>
                    <a:p>
                      <a:r>
                        <a:rPr sz="1400" b="0" i="0">
                          <a:solidFill>
                            <a:srgbClr val="1A1440"/>
                          </a:solidFill>
                          <a:latin typeface="Calibri"/>
                        </a:rPr>
                        <a:t>"Your caveat says this might not hold. Suppose it does not. What then?"</a:t>
                      </a:r>
                    </a:p>
                  </a:txBody>
                  <a:tcPr marL="101600" marR="101600" marT="38100" marB="38100" anchor="ctr">
                    <a:solidFill>
                      <a:srgbClr val="F4F2FA"/>
                    </a:solidFill>
                  </a:tcPr>
                </a:tc>
              </a:tr>
              <a:tr h="369824">
                <a:tc>
                  <a:txBody>
                    <a:bodyPr/>
                    <a:lstStyle/>
                    <a:p>
                      <a:r>
                        <a:rPr sz="1400" b="0" i="0">
                          <a:solidFill>
                            <a:srgbClr val="1A1440"/>
                          </a:solidFill>
                          <a:latin typeface="Calibri"/>
                        </a:rPr>
                        <a:t>The quietest member</a:t>
                      </a:r>
                    </a:p>
                  </a:txBody>
                  <a:tcPr marL="101600" marR="101600" marT="38100" marB="38100" anchor="ctr">
                    <a:solidFill>
                      <a:srgbClr val="FFFFFF"/>
                    </a:solidFill>
                  </a:tcPr>
                </a:tc>
                <a:tc>
                  <a:txBody>
                    <a:bodyPr/>
                    <a:lstStyle/>
                    <a:p>
                      <a:r>
                        <a:rPr sz="1400" b="0" i="0">
                          <a:solidFill>
                            <a:srgbClr val="1A1440"/>
                          </a:solidFill>
                          <a:latin typeface="Calibri"/>
                        </a:rPr>
                        <a:t>A question to one named person, who answers without help from the group</a:t>
                      </a:r>
                    </a:p>
                  </a:txBody>
                  <a:tcPr marL="101600" marR="101600" marT="38100" marB="38100" anchor="ctr">
                    <a:solidFill>
                      <a:srgbClr val="FFFFFF"/>
                    </a:solidFill>
                  </a:tcPr>
                </a:tc>
              </a:tr>
              <a:tr h="369824">
                <a:tc>
                  <a:txBody>
                    <a:bodyPr/>
                    <a:lstStyle/>
                    <a:p>
                      <a:r>
                        <a:rPr sz="1400" b="0" i="0">
                          <a:solidFill>
                            <a:srgbClr val="1A1440"/>
                          </a:solidFill>
                          <a:latin typeface="Calibri"/>
                        </a:rPr>
                        <a:t>The other group</a:t>
                      </a:r>
                    </a:p>
                  </a:txBody>
                  <a:tcPr marL="101600" marR="101600" marT="38100" marB="38100" anchor="ctr">
                    <a:solidFill>
                      <a:srgbClr val="F4F2FA"/>
                    </a:solidFill>
                  </a:tcPr>
                </a:tc>
                <a:tc>
                  <a:txBody>
                    <a:bodyPr/>
                    <a:lstStyle/>
                    <a:p>
                      <a:r>
                        <a:rPr sz="1400" b="0" i="0">
                          <a:solidFill>
                            <a:srgbClr val="1A1440"/>
                          </a:solidFill>
                          <a:latin typeface="Calibri"/>
                        </a:rPr>
                        <a:t>"Another group on your question reached a different claim. Can both be honest?"</a:t>
                      </a:r>
                    </a:p>
                  </a:txBody>
                  <a:tcPr marL="101600" marR="101600" marT="38100" marB="38100" anchor="ctr">
                    <a:solidFill>
                      <a:srgbClr val="F4F2FA"/>
                    </a:solidFill>
                  </a:tcPr>
                </a:tc>
              </a:tr>
              <a:tr h="369824">
                <a:tc>
                  <a:txBody>
                    <a:bodyPr/>
                    <a:lstStyle/>
                    <a:p>
                      <a:r>
                        <a:rPr sz="1400" b="0" i="0">
                          <a:solidFill>
                            <a:srgbClr val="1A1440"/>
                          </a:solidFill>
                          <a:latin typeface="Calibri"/>
                        </a:rPr>
                        <a:t>Differently</a:t>
                      </a:r>
                    </a:p>
                  </a:txBody>
                  <a:tcPr marL="101600" marR="101600" marT="38100" marB="38100" anchor="ctr">
                    <a:solidFill>
                      <a:srgbClr val="FFFFFF"/>
                    </a:solidFill>
                  </a:tcPr>
                </a:tc>
                <a:tc>
                  <a:txBody>
                    <a:bodyPr/>
                    <a:lstStyle/>
                    <a:p>
                      <a:r>
                        <a:rPr sz="1400" b="0" i="0">
                          <a:solidFill>
                            <a:srgbClr val="1A1440"/>
                          </a:solidFill>
                          <a:latin typeface="Calibri"/>
                        </a:rPr>
                        <a:t>"If you started again on Monday, what would you do first?"</a:t>
                      </a:r>
                    </a:p>
                  </a:txBody>
                  <a:tcPr marL="101600" marR="101600" marT="38100" marB="38100" anchor="ctr">
                    <a:solidFill>
                      <a:srgbClr val="FFFFFF"/>
                    </a:solidFill>
                  </a:tcPr>
                </a:tc>
              </a:tr>
            </a:tbl>
          </a:graphicData>
        </a:graphic>
      </p:graphicFrame>
      <p:sp>
        <p:nvSpPr>
          <p:cNvPr id="10" name="Rounded Rectangle 9"/>
          <p:cNvSpPr/>
          <p:nvPr/>
        </p:nvSpPr>
        <p:spPr>
          <a:xfrm>
            <a:off x="530352" y="4431792"/>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6344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mic_caee7398c80d.png"/>
          <p:cNvPicPr>
            <a:picLocks noChangeAspect="1"/>
          </p:cNvPicPr>
          <p:nvPr/>
        </p:nvPicPr>
        <p:blipFill>
          <a:blip r:embed="rId4"/>
          <a:stretch>
            <a:fillRect/>
          </a:stretch>
        </p:blipFill>
        <p:spPr>
          <a:xfrm>
            <a:off x="868680" y="4744212"/>
            <a:ext cx="237744" cy="237744"/>
          </a:xfrm>
          <a:prstGeom prst="rect">
            <a:avLst/>
          </a:prstGeom>
        </p:spPr>
      </p:pic>
      <p:sp>
        <p:nvSpPr>
          <p:cNvPr id="13" name="TextBox 12"/>
          <p:cNvSpPr txBox="1"/>
          <p:nvPr/>
        </p:nvSpPr>
        <p:spPr>
          <a:xfrm>
            <a:off x="1399031" y="457809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4" name="TextBox 13"/>
          <p:cNvSpPr txBox="1"/>
          <p:nvPr/>
        </p:nvSpPr>
        <p:spPr>
          <a:xfrm>
            <a:off x="1399031" y="4797552"/>
            <a:ext cx="9987991" cy="423672"/>
          </a:xfrm>
          <a:prstGeom prst="rect">
            <a:avLst/>
          </a:prstGeom>
          <a:noFill/>
        </p:spPr>
        <p:txBody>
          <a:bodyPr wrap="square" anchor="t" lIns="0" rIns="0" tIns="0" bIns="0">
            <a:spAutoFit/>
          </a:bodyPr>
          <a:lstStyle/>
          <a:p>
            <a:r>
              <a:rPr sz="1500" b="0" i="0">
                <a:solidFill>
                  <a:srgbClr val="1A1440"/>
                </a:solidFill>
                <a:latin typeface="Calibri"/>
              </a:rPr>
              <a:t>[S] Present a finding to a panel and take a challenge on your caveat.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7" name="Oval 1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9" name="Oval 1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3" name="Oval 22"/>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25" name="Oval 24"/>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37 / 49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Restate, bound, offer the test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you hold a caveat without folding or overclaiming, as Week 1 Friday rehearsed it?</a:t>
            </a:r>
          </a:p>
        </p:txBody>
      </p:sp>
      <p:pic>
        <p:nvPicPr>
          <p:cNvPr id="10" name="mermaid diagram" descr="3e24f6f88292b9d6.png"/>
          <p:cNvPicPr>
            <a:picLocks noChangeAspect="1"/>
          </p:cNvPicPr>
          <p:nvPr/>
        </p:nvPicPr>
        <p:blipFill>
          <a:blip r:embed="rId5"/>
          <a:stretch>
            <a:fillRect/>
          </a:stretch>
        </p:blipFill>
        <p:spPr>
          <a:xfrm>
            <a:off x="4626487" y="1664208"/>
            <a:ext cx="2938719" cy="3808984"/>
          </a:xfrm>
          <a:prstGeom prst="rect">
            <a:avLst/>
          </a:prstGeom>
        </p:spPr>
      </p:pic>
      <p:sp>
        <p:nvSpPr>
          <p:cNvPr id="11" name="TextBox 10"/>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Folding drops the caveat and the claim with it, and overclaiming calls an uncertain number certain; the three moves sit between the two.</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D32  ·  38 / 49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three moves, said to one invented challenge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the three moves sound when a panel pushes on the invented turnaround claim?</a:t>
            </a:r>
          </a:p>
        </p:txBody>
      </p:sp>
      <p:pic>
        <p:nvPicPr>
          <p:cNvPr id="10" name="mermaid diagram" descr="ed30e7d357fce3d0.png"/>
          <p:cNvPicPr>
            <a:picLocks noChangeAspect="1"/>
          </p:cNvPicPr>
          <p:nvPr/>
        </p:nvPicPr>
        <p:blipFill>
          <a:blip r:embed="rId5"/>
          <a:stretch>
            <a:fillRect/>
          </a:stretch>
        </p:blipFill>
        <p:spPr>
          <a:xfrm>
            <a:off x="1195235" y="1956816"/>
            <a:ext cx="9801225" cy="1371600"/>
          </a:xfrm>
          <a:prstGeom prst="rect">
            <a:avLst/>
          </a:prstGeom>
        </p:spPr>
      </p:pic>
      <p:sp>
        <p:nvSpPr>
          <p:cNvPr id="11" name="TextBox 10"/>
          <p:cNvSpPr txBox="1"/>
          <p:nvPr/>
        </p:nvSpPr>
        <p:spPr>
          <a:xfrm>
            <a:off x="530352" y="34747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On the invented figures the claim stands as stated, draw to result, and the test settles how much of the 4 hours is the courier's.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D33  ·  39 / 49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Question: the panel says your caveat undoes your claim</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panel says "your caveat is so large your claim means nothing"; which reply holds?</a:t>
            </a:r>
          </a:p>
        </p:txBody>
      </p:sp>
      <p:sp>
        <p:nvSpPr>
          <p:cNvPr id="10" name="Rounded Rectangle 9"/>
          <p:cNvSpPr/>
          <p:nvPr/>
        </p:nvSpPr>
        <p:spPr>
          <a:xfrm>
            <a:off x="530352" y="195681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reply is the strongest? Answer as a letter.</a:t>
            </a:r>
          </a:p>
        </p:txBody>
      </p:sp>
      <p:sp>
        <p:nvSpPr>
          <p:cNvPr id="13" name="TextBox 12"/>
          <p:cNvSpPr txBox="1"/>
          <p:nvPr/>
        </p:nvSpPr>
        <p:spPr>
          <a:xfrm>
            <a:off x="530352" y="2662428"/>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We checked the data very carefully over three days, so we stand by the claim exactly as we stated it.</a:t>
            </a:r>
          </a:p>
          <a:p>
            <a:pPr>
              <a:spcAft>
                <a:spcPts val="800"/>
              </a:spcAft>
            </a:pPr>
            <a:r>
              <a:rPr sz="1600" b="0" i="0">
                <a:solidFill>
                  <a:srgbClr val="1A1440"/>
                </a:solidFill>
                <a:latin typeface="Calibri"/>
              </a:rPr>
              <a:t>b) That is fair, and it is a limitation of the data the client gave us, which we noted in our own log.</a:t>
            </a:r>
          </a:p>
          <a:p>
            <a:pPr>
              <a:spcAft>
                <a:spcPts val="800"/>
              </a:spcAft>
            </a:pPr>
            <a:r>
              <a:rPr sz="1600" b="0" i="0">
                <a:solidFill>
                  <a:srgbClr val="1A1440"/>
                </a:solidFill>
                <a:latin typeface="Calibri"/>
              </a:rPr>
              <a:t>c) It holds for the part we measured; here is that number, and here is the test that settles the rest.</a:t>
            </a:r>
          </a:p>
          <a:p>
            <a:pPr>
              <a:spcAft>
                <a:spcPts val="800"/>
              </a:spcAft>
            </a:pPr>
            <a:r>
              <a:rPr sz="1600" b="0" i="0">
                <a:solidFill>
                  <a:srgbClr val="1A1440"/>
                </a:solidFill>
                <a:latin typeface="Calibri"/>
              </a:rPr>
              <a:t>d) Every analysis carries caveats, so ours is no weaker than any other group's claim on this question.</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0" name="Oval 1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2" name="Oval 21"/>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24" name="Oval 23"/>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D34  ·  40 / 49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Answer: c narrows the claim and names the test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reply holds under the challenge, and why does each other one fail?</a:t>
            </a:r>
          </a:p>
        </p:txBody>
      </p:sp>
      <p:graphicFrame>
        <p:nvGraphicFramePr>
          <p:cNvPr id="10" name="Table 9"/>
          <p:cNvGraphicFramePr>
            <a:graphicFrameLocks noGrp="1"/>
          </p:cNvGraphicFramePr>
          <p:nvPr/>
        </p:nvGraphicFramePr>
        <p:xfrm>
          <a:off x="530352" y="1956816"/>
          <a:ext cx="11130991" cy="1849120"/>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Why it holds or fails</a:t>
                      </a:r>
                    </a:p>
                  </a:txBody>
                  <a:tcPr marL="101600" marR="101600" marT="38100" marB="38100" anchor="ctr">
                    <a:solidFill>
                      <a:srgbClr val="1A0F5C"/>
                    </a:solidFill>
                  </a:tcPr>
                </a:tc>
              </a:tr>
              <a:tr h="369824">
                <a:tc>
                  <a:txBody>
                    <a:bodyPr/>
                    <a:lstStyle/>
                    <a:p>
                      <a:r>
                        <a:rPr sz="1400" b="0" i="0">
                          <a:solidFill>
                            <a:srgbClr val="1A1440"/>
                          </a:solidFill>
                          <a:latin typeface="Calibri"/>
                        </a:rPr>
                        <a:t>a</a:t>
                      </a:r>
                    </a:p>
                  </a:txBody>
                  <a:tcPr marL="101600" marR="101600" marT="38100" marB="38100" anchor="ctr">
                    <a:solidFill>
                      <a:srgbClr val="FFFFFF"/>
                    </a:solidFill>
                  </a:tcPr>
                </a:tc>
                <a:tc>
                  <a:txBody>
                    <a:bodyPr/>
                    <a:lstStyle/>
                    <a:p>
                      <a:r>
                        <a:rPr sz="1400" b="0" i="0">
                          <a:solidFill>
                            <a:srgbClr val="1A1440"/>
                          </a:solidFill>
                          <a:latin typeface="Calibri"/>
                        </a:rPr>
                        <a:t>Defends with effort instead of evidence, and ignores what the challenge asked</a:t>
                      </a:r>
                    </a:p>
                  </a:txBody>
                  <a:tcPr marL="101600" marR="101600" marT="38100" marB="38100" anchor="ctr">
                    <a:solidFill>
                      <a:srgbClr val="FFFFFF"/>
                    </a:solidFill>
                  </a:tcPr>
                </a:tc>
              </a:tr>
              <a:tr h="369824">
                <a:tc>
                  <a:txBody>
                    <a:bodyPr/>
                    <a:lstStyle/>
                    <a:p>
                      <a:r>
                        <a:rPr sz="1400" b="0" i="0">
                          <a:solidFill>
                            <a:srgbClr val="1A1440"/>
                          </a:solidFill>
                          <a:latin typeface="Calibri"/>
                        </a:rPr>
                        <a:t>b</a:t>
                      </a:r>
                    </a:p>
                  </a:txBody>
                  <a:tcPr marL="101600" marR="101600" marT="38100" marB="38100" anchor="ctr">
                    <a:solidFill>
                      <a:srgbClr val="F4F2FA"/>
                    </a:solidFill>
                  </a:tcPr>
                </a:tc>
                <a:tc>
                  <a:txBody>
                    <a:bodyPr/>
                    <a:lstStyle/>
                    <a:p>
                      <a:r>
                        <a:rPr sz="1400" b="0" i="0">
                          <a:solidFill>
                            <a:srgbClr val="1A1440"/>
                          </a:solidFill>
                          <a:latin typeface="Calibri"/>
                        </a:rPr>
                        <a:t>Agrees and stops, which hands the claim away with nothing in its place</a:t>
                      </a:r>
                    </a:p>
                  </a:txBody>
                  <a:tcPr marL="101600" marR="101600" marT="38100" marB="38100" anchor="ctr">
                    <a:solidFill>
                      <a:srgbClr val="F4F2FA"/>
                    </a:solidFill>
                  </a:tcPr>
                </a:tc>
              </a:tr>
              <a:tr h="369824">
                <a:tc>
                  <a:txBody>
                    <a:bodyPr/>
                    <a:lstStyle/>
                    <a:p>
                      <a:r>
                        <a:rPr sz="1400" b="0" i="0">
                          <a:solidFill>
                            <a:srgbClr val="1A1440"/>
                          </a:solidFill>
                          <a:latin typeface="Calibri"/>
                        </a:rPr>
                        <a:t>c</a:t>
                      </a:r>
                    </a:p>
                  </a:txBody>
                  <a:tcPr marL="101600" marR="101600" marT="38100" marB="38100" anchor="ctr">
                    <a:solidFill>
                      <a:srgbClr val="FFFFFF"/>
                    </a:solidFill>
                  </a:tcPr>
                </a:tc>
                <a:tc>
                  <a:txBody>
                    <a:bodyPr/>
                    <a:lstStyle/>
                    <a:p>
                      <a:r>
                        <a:rPr sz="1400" b="0" i="0">
                          <a:solidFill>
                            <a:srgbClr val="1A1440"/>
                          </a:solidFill>
                          <a:latin typeface="Calibri"/>
                        </a:rPr>
                        <a:t>Holds: keeps what the evidence supports, gives the number, names the settling test</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Deflects to other groups and says nothing about this claim</a:t>
                      </a:r>
                    </a:p>
                  </a:txBody>
                  <a:tcPr marL="101600" marR="101600" marT="38100" marB="38100" anchor="ctr">
                    <a:solidFill>
                      <a:srgbClr val="F4F2FA"/>
                    </a:solidFill>
                  </a:tcPr>
                </a:tc>
              </a:tr>
            </a:tbl>
          </a:graphicData>
        </a:graphic>
      </p:graphicFrame>
      <p:sp>
        <p:nvSpPr>
          <p:cNvPr id="11" name="Rounded Rectangle 10"/>
          <p:cNvSpPr/>
          <p:nvPr/>
        </p:nvSpPr>
        <p:spPr>
          <a:xfrm>
            <a:off x="530352" y="406196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39420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mic_caee7398c80d.png"/>
          <p:cNvPicPr>
            <a:picLocks noChangeAspect="1"/>
          </p:cNvPicPr>
          <p:nvPr/>
        </p:nvPicPr>
        <p:blipFill>
          <a:blip r:embed="rId4"/>
          <a:stretch>
            <a:fillRect/>
          </a:stretch>
        </p:blipFill>
        <p:spPr>
          <a:xfrm>
            <a:off x="868680" y="4503928"/>
            <a:ext cx="237744" cy="237744"/>
          </a:xfrm>
          <a:prstGeom prst="rect">
            <a:avLst/>
          </a:prstGeom>
        </p:spPr>
      </p:pic>
      <p:sp>
        <p:nvSpPr>
          <p:cNvPr id="14" name="TextBox 13"/>
          <p:cNvSpPr txBox="1"/>
          <p:nvPr/>
        </p:nvSpPr>
        <p:spPr>
          <a:xfrm>
            <a:off x="1399031" y="420827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5" name="TextBox 14"/>
          <p:cNvSpPr txBox="1"/>
          <p:nvPr/>
        </p:nvSpPr>
        <p:spPr>
          <a:xfrm>
            <a:off x="1399031" y="4427728"/>
            <a:ext cx="9987991" cy="682752"/>
          </a:xfrm>
          <a:prstGeom prst="rect">
            <a:avLst/>
          </a:prstGeom>
          <a:noFill/>
        </p:spPr>
        <p:txBody>
          <a:bodyPr wrap="square" anchor="t" lIns="0" rIns="0" tIns="0" bIns="0">
            <a:spAutoFit/>
          </a:bodyPr>
          <a:lstStyle/>
          <a:p>
            <a:r>
              <a:rPr sz="1500" b="0" i="0">
                <a:solidFill>
                  <a:srgbClr val="1A1440"/>
                </a:solidFill>
                <a:latin typeface="Calibri"/>
              </a:rPr>
              <a:t>[S] Present a finding to a panel and take a challenge on your caveat: restate, bound, and offer the test.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4" name="Oval 23"/>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26" name="Oval 25"/>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D35  ·  41 / 49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Two groups can reach two honest claims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When can two groups' different numbers from the same files both be honest?</a:t>
            </a:r>
          </a:p>
        </p:txBody>
      </p:sp>
      <p:pic>
        <p:nvPicPr>
          <p:cNvPr id="10" name="mermaid diagram" descr="fb6a0096e4d4528c.png"/>
          <p:cNvPicPr>
            <a:picLocks noChangeAspect="1"/>
          </p:cNvPicPr>
          <p:nvPr/>
        </p:nvPicPr>
        <p:blipFill>
          <a:blip r:embed="rId5"/>
          <a:stretch>
            <a:fillRect/>
          </a:stretch>
        </p:blipFill>
        <p:spPr>
          <a:xfrm>
            <a:off x="2109635" y="1956816"/>
            <a:ext cx="7972425" cy="2300287"/>
          </a:xfrm>
          <a:prstGeom prst="rect">
            <a:avLst/>
          </a:prstGeom>
        </p:spPr>
      </p:pic>
      <p:sp>
        <p:nvSpPr>
          <p:cNvPr id="11" name="TextBox 10"/>
          <p:cNvSpPr txBox="1"/>
          <p:nvPr/>
        </p:nvSpPr>
        <p:spPr>
          <a:xfrm>
            <a:off x="530352" y="4403407"/>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Two numbers from the same files are both honest when each says what it counted; the panel asks the second group whether both can stand, and the strong answer names the definition that separates them.</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0" name="Oval 19"/>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22" name="Oval 21"/>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D36  ·  42 / 49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Every member explains three things alone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each member be able to explain without a teammate?</a:t>
            </a:r>
          </a:p>
        </p:txBody>
      </p:sp>
      <p:sp>
        <p:nvSpPr>
          <p:cNvPr id="10" name="Rounded Rectangle 9"/>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quote_e12f9e1e3c67.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ONE</a:t>
            </a:r>
          </a:p>
        </p:txBody>
      </p:sp>
      <p:sp>
        <p:nvSpPr>
          <p:cNvPr id="14" name="TextBox 13"/>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claim</a:t>
            </a:r>
          </a:p>
        </p:txBody>
      </p:sp>
      <p:sp>
        <p:nvSpPr>
          <p:cNvPr id="15" name="TextBox 14"/>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With its number, denominator, window and caveat, in the member's own words.</a:t>
            </a:r>
          </a:p>
        </p:txBody>
      </p:sp>
      <p:sp>
        <p:nvSpPr>
          <p:cNvPr id="16" name="Rounded Rectangle 15"/>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list-checks_8726d21bc746.png"/>
          <p:cNvPicPr>
            <a:picLocks noChangeAspect="1"/>
          </p:cNvPicPr>
          <p:nvPr/>
        </p:nvPicPr>
        <p:blipFill>
          <a:blip r:embed="rId5"/>
          <a:stretch>
            <a:fillRect/>
          </a:stretch>
        </p:blipFill>
        <p:spPr>
          <a:xfrm>
            <a:off x="4612538" y="2267712"/>
            <a:ext cx="237744" cy="237744"/>
          </a:xfrm>
          <a:prstGeom prst="rect">
            <a:avLst/>
          </a:prstGeom>
        </p:spPr>
      </p:pic>
      <p:sp>
        <p:nvSpPr>
          <p:cNvPr id="19" name="TextBox 18"/>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TWO</a:t>
            </a:r>
          </a:p>
        </p:txBody>
      </p:sp>
      <p:sp>
        <p:nvSpPr>
          <p:cNvPr id="20" name="TextBox 19"/>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One logged decision</a:t>
            </a:r>
          </a:p>
        </p:txBody>
      </p:sp>
      <p:sp>
        <p:nvSpPr>
          <p:cNvPr id="21" name="TextBox 20"/>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One row of the decisions log, the rows it touched, and why.</a:t>
            </a:r>
          </a:p>
        </p:txBody>
      </p:sp>
      <p:sp>
        <p:nvSpPr>
          <p:cNvPr id="22" name="Rounded Rectangle 21"/>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chart-column_398db591d143.png"/>
          <p:cNvPicPr>
            <a:picLocks noChangeAspect="1"/>
          </p:cNvPicPr>
          <p:nvPr/>
        </p:nvPicPr>
        <p:blipFill>
          <a:blip r:embed="rId6"/>
          <a:stretch>
            <a:fillRect/>
          </a:stretch>
        </p:blipFill>
        <p:spPr>
          <a:xfrm>
            <a:off x="8383828" y="2267712"/>
            <a:ext cx="237744" cy="237744"/>
          </a:xfrm>
          <a:prstGeom prst="rect">
            <a:avLst/>
          </a:prstGeom>
        </p:spPr>
      </p:pic>
      <p:sp>
        <p:nvSpPr>
          <p:cNvPr id="25" name="TextBox 24"/>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THREE</a:t>
            </a:r>
          </a:p>
        </p:txBody>
      </p:sp>
      <p:sp>
        <p:nvSpPr>
          <p:cNvPr id="26" name="TextBox 25"/>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One chart</a:t>
            </a:r>
          </a:p>
        </p:txBody>
      </p:sp>
      <p:sp>
        <p:nvSpPr>
          <p:cNvPr id="27" name="TextBox 26"/>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What it shows, out of what, and which number in the demo prints it.</a:t>
            </a:r>
          </a:p>
        </p:txBody>
      </p:sp>
      <p:sp>
        <p:nvSpPr>
          <p:cNvPr id="28" name="TextBox 27"/>
          <p:cNvSpPr txBox="1"/>
          <p:nvPr/>
        </p:nvSpPr>
        <p:spPr>
          <a:xfrm>
            <a:off x="530352" y="410413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panel puts its question to whoever has spoken least, and the rest of the group stays silent while that member answers.</a:t>
            </a:r>
          </a:p>
        </p:txBody>
      </p:sp>
      <p:sp>
        <p:nvSpPr>
          <p:cNvPr id="29" name="Oval 2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31" name="Oval 3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33" name="Oval 32"/>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35" name="Oval 34"/>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37" name="Oval 36"/>
          <p:cNvSpPr/>
          <p:nvPr/>
        </p:nvSpPr>
        <p:spPr>
          <a:xfrm>
            <a:off x="675684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866572"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Does the claim hold?</a:t>
            </a:r>
          </a:p>
        </p:txBody>
      </p:sp>
      <p:sp>
        <p:nvSpPr>
          <p:cNvPr id="39" name="Oval 38"/>
          <p:cNvSpPr/>
          <p:nvPr/>
        </p:nvSpPr>
        <p:spPr>
          <a:xfrm>
            <a:off x="815244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262175" y="6437376"/>
            <a:ext cx="1056417" cy="152146"/>
          </a:xfrm>
          <a:prstGeom prst="rect">
            <a:avLst/>
          </a:prstGeom>
          <a:noFill/>
        </p:spPr>
        <p:txBody>
          <a:bodyPr wrap="square" anchor="t" lIns="0" rIns="0" tIns="0" bIns="0">
            <a:spAutoFit/>
          </a:bodyPr>
          <a:lstStyle/>
          <a:p>
            <a:pPr algn="l"/>
            <a:r>
              <a:rPr sz="700" b="0" i="0">
                <a:solidFill>
                  <a:srgbClr val="6B6690"/>
                </a:solidFill>
                <a:latin typeface="Calibri"/>
              </a:rPr>
              <a:t>How is it scored?</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D37  ·  43 / 49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is it scored?</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is the mini project scored, what closes with it today, and what does every group ship before its slot?</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will the panel ask?</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slide?</a:t>
            </a:r>
          </a:p>
        </p:txBody>
      </p:sp>
      <p:sp>
        <p:nvSpPr>
          <p:cNvPr id="12" name="Rounded Rectangle 11"/>
          <p:cNvSpPr/>
          <p:nvPr/>
        </p:nvSpPr>
        <p:spPr>
          <a:xfrm>
            <a:off x="4465646"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is the claim earned?</a:t>
            </a:r>
          </a:p>
        </p:txBody>
      </p:sp>
      <p:sp>
        <p:nvSpPr>
          <p:cNvPr id="13" name="Rounded Rectangle 12"/>
          <p:cNvSpPr/>
          <p:nvPr/>
        </p:nvSpPr>
        <p:spPr>
          <a:xfrm>
            <a:off x="6362318"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if the demo fails?</a:t>
            </a:r>
          </a:p>
        </p:txBody>
      </p:sp>
      <p:sp>
        <p:nvSpPr>
          <p:cNvPr id="14" name="Rounded Rectangle 13"/>
          <p:cNvSpPr/>
          <p:nvPr/>
        </p:nvSpPr>
        <p:spPr>
          <a:xfrm>
            <a:off x="8199773"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the claim hold?</a:t>
            </a:r>
          </a:p>
        </p:txBody>
      </p:sp>
      <p:sp>
        <p:nvSpPr>
          <p:cNvPr id="15" name="Rounded Rectangle 14"/>
          <p:cNvSpPr/>
          <p:nvPr/>
        </p:nvSpPr>
        <p:spPr>
          <a:xfrm>
            <a:off x="9859580" y="5074920"/>
            <a:ext cx="137243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is it scored?</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3 Saturday: does your answer hold in front of the panel?</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44 / 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rubric is public, so aim the slot at it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scoring, and which questions come on the way?</a:t>
            </a:r>
          </a:p>
        </p:txBody>
      </p:sp>
      <p:sp>
        <p:nvSpPr>
          <p:cNvPr id="10" name="Rounded Rectangle 9"/>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Every learner: 34 of the mini project's 40 marks are the group's, which every member receives, and 6 are each learner's own, so the group builds the slot to the rubric and every member answers for it.</a:t>
            </a:r>
          </a:p>
        </p:txBody>
      </p:sp>
      <p:sp>
        <p:nvSpPr>
          <p:cNvPr id="13" name="Rectangle 12"/>
          <p:cNvSpPr/>
          <p:nvPr/>
        </p:nvSpPr>
        <p:spPr>
          <a:xfrm>
            <a:off x="1853145" y="37627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5" name="Oval 14"/>
          <p:cNvSpPr/>
          <p:nvPr/>
        </p:nvSpPr>
        <p:spPr>
          <a:xfrm>
            <a:off x="175256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30352" y="40827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94944" y="4229100"/>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ships</a:t>
            </a:r>
          </a:p>
        </p:txBody>
      </p:sp>
      <p:sp>
        <p:nvSpPr>
          <p:cNvPr id="18" name="TextBox 17"/>
          <p:cNvSpPr txBox="1"/>
          <p:nvPr/>
        </p:nvSpPr>
        <p:spPr>
          <a:xfrm>
            <a:off x="694944" y="4516882"/>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does every group ship before its slot?</a:t>
            </a:r>
          </a:p>
        </p:txBody>
      </p:sp>
      <p:sp>
        <p:nvSpPr>
          <p:cNvPr id="19" name="TextBox 18"/>
          <p:cNvSpPr txBox="1"/>
          <p:nvPr/>
        </p:nvSpPr>
        <p:spPr>
          <a:xfrm>
            <a:off x="3358819"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20" name="Oval 19"/>
          <p:cNvSpPr/>
          <p:nvPr/>
        </p:nvSpPr>
        <p:spPr>
          <a:xfrm>
            <a:off x="4581029"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3358819" y="40827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411" y="42291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rubric</a:t>
            </a:r>
          </a:p>
        </p:txBody>
      </p:sp>
      <p:sp>
        <p:nvSpPr>
          <p:cNvPr id="23" name="TextBox 22"/>
          <p:cNvSpPr txBox="1"/>
          <p:nvPr/>
        </p:nvSpPr>
        <p:spPr>
          <a:xfrm>
            <a:off x="3523411" y="4516882"/>
            <a:ext cx="2316403" cy="201676"/>
          </a:xfrm>
          <a:prstGeom prst="rect">
            <a:avLst/>
          </a:prstGeom>
          <a:noFill/>
        </p:spPr>
        <p:txBody>
          <a:bodyPr wrap="square" anchor="t" lIns="0" rIns="0" tIns="0" bIns="0">
            <a:spAutoFit/>
          </a:bodyPr>
          <a:lstStyle/>
          <a:p>
            <a:pPr algn="l"/>
            <a:r>
              <a:rPr sz="1000" b="0" i="0">
                <a:solidFill>
                  <a:srgbClr val="6B6690"/>
                </a:solidFill>
                <a:latin typeface="Calibri"/>
              </a:rPr>
              <a:t>How is the mini project scored?</a:t>
            </a:r>
          </a:p>
        </p:txBody>
      </p:sp>
      <p:sp>
        <p:nvSpPr>
          <p:cNvPr id="24" name="TextBox 23"/>
          <p:cNvSpPr txBox="1"/>
          <p:nvPr/>
        </p:nvSpPr>
        <p:spPr>
          <a:xfrm>
            <a:off x="6187287"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5" name="Oval 24"/>
          <p:cNvSpPr/>
          <p:nvPr/>
        </p:nvSpPr>
        <p:spPr>
          <a:xfrm>
            <a:off x="7409497"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87287" y="40827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4229100"/>
            <a:ext cx="2316403" cy="251205"/>
          </a:xfrm>
          <a:prstGeom prst="rect">
            <a:avLst/>
          </a:prstGeom>
          <a:noFill/>
        </p:spPr>
        <p:txBody>
          <a:bodyPr wrap="square" anchor="t" lIns="0" rIns="0" tIns="0" bIns="0">
            <a:spAutoFit/>
          </a:bodyPr>
          <a:lstStyle/>
          <a:p>
            <a:pPr algn="l"/>
            <a:r>
              <a:rPr sz="1300" b="1" i="0">
                <a:solidFill>
                  <a:srgbClr val="1A0F5C"/>
                </a:solidFill>
                <a:latin typeface="Calibri"/>
              </a:rPr>
              <a:t>The other two</a:t>
            </a:r>
          </a:p>
        </p:txBody>
      </p:sp>
      <p:sp>
        <p:nvSpPr>
          <p:cNvPr id="28" name="TextBox 27"/>
          <p:cNvSpPr txBox="1"/>
          <p:nvPr/>
        </p:nvSpPr>
        <p:spPr>
          <a:xfrm>
            <a:off x="6351879" y="4516882"/>
            <a:ext cx="2316403" cy="366776"/>
          </a:xfrm>
          <a:prstGeom prst="rect">
            <a:avLst/>
          </a:prstGeom>
          <a:noFill/>
        </p:spPr>
        <p:txBody>
          <a:bodyPr wrap="square" anchor="t" lIns="0" rIns="0" tIns="0" bIns="0">
            <a:spAutoFit/>
          </a:bodyPr>
          <a:lstStyle/>
          <a:p>
            <a:pPr algn="l"/>
            <a:r>
              <a:rPr sz="1000" b="0" i="0">
                <a:solidFill>
                  <a:srgbClr val="6B6690"/>
                </a:solidFill>
                <a:latin typeface="Calibri"/>
              </a:rPr>
              <a:t>Which other Build 1 scores close today?</a:t>
            </a:r>
          </a:p>
        </p:txBody>
      </p:sp>
      <p:sp>
        <p:nvSpPr>
          <p:cNvPr id="29" name="TextBox 28"/>
          <p:cNvSpPr txBox="1"/>
          <p:nvPr/>
        </p:nvSpPr>
        <p:spPr>
          <a:xfrm>
            <a:off x="9015755" y="31958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30" name="Oval 29"/>
          <p:cNvSpPr/>
          <p:nvPr/>
        </p:nvSpPr>
        <p:spPr>
          <a:xfrm>
            <a:off x="10237965"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015755" y="4082796"/>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180347" y="4229100"/>
            <a:ext cx="2316403" cy="251205"/>
          </a:xfrm>
          <a:prstGeom prst="rect">
            <a:avLst/>
          </a:prstGeom>
          <a:noFill/>
        </p:spPr>
        <p:txBody>
          <a:bodyPr wrap="square" anchor="t" lIns="0" rIns="0" tIns="0" bIns="0">
            <a:spAutoFit/>
          </a:bodyPr>
          <a:lstStyle/>
          <a:p>
            <a:pPr algn="l"/>
            <a:r>
              <a:rPr sz="1300" b="1" i="0">
                <a:solidFill>
                  <a:srgbClr val="FFFFFF"/>
                </a:solidFill>
                <a:latin typeface="Calibri"/>
              </a:rPr>
              <a:t>The last hour</a:t>
            </a:r>
          </a:p>
        </p:txBody>
      </p:sp>
      <p:sp>
        <p:nvSpPr>
          <p:cNvPr id="33" name="TextBox 32"/>
          <p:cNvSpPr txBox="1"/>
          <p:nvPr/>
        </p:nvSpPr>
        <p:spPr>
          <a:xfrm>
            <a:off x="9180347" y="4516882"/>
            <a:ext cx="2316403" cy="366776"/>
          </a:xfrm>
          <a:prstGeom prst="rect">
            <a:avLst/>
          </a:prstGeom>
          <a:noFill/>
        </p:spPr>
        <p:txBody>
          <a:bodyPr wrap="square" anchor="t" lIns="0" rIns="0" tIns="0" bIns="0">
            <a:spAutoFit/>
          </a:bodyPr>
          <a:lstStyle/>
          <a:p>
            <a:pPr algn="l"/>
            <a:r>
              <a:rPr sz="1000" b="0" i="0">
                <a:solidFill>
                  <a:srgbClr val="CFC9EE"/>
                </a:solidFill>
                <a:latin typeface="Calibri"/>
              </a:rPr>
              <a:t>What do you check before you walk in?</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36" name="Oval 3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38" name="Oval 3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0" name="Oval 3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2" name="Oval 41"/>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4" name="Oval 43"/>
          <p:cNvSpPr/>
          <p:nvPr/>
        </p:nvSpPr>
        <p:spPr>
          <a:xfrm>
            <a:off x="815244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262175"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is it scored?</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D38  ·  45 / 49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Every group ships five things before its slot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every group bring to its slot, and where does each piece live?</a:t>
            </a:r>
          </a:p>
        </p:txBody>
      </p:sp>
      <p:graphicFrame>
        <p:nvGraphicFramePr>
          <p:cNvPr id="10" name="Table 9"/>
          <p:cNvGraphicFramePr>
            <a:graphicFrameLocks noGrp="1"/>
          </p:cNvGraphicFramePr>
          <p:nvPr/>
        </p:nvGraphicFramePr>
        <p:xfrm>
          <a:off x="530352" y="1682496"/>
          <a:ext cx="11130990" cy="3013456"/>
        </p:xfrm>
        <a:graphic>
          <a:graphicData uri="http://schemas.openxmlformats.org/drawingml/2006/table">
            <a:tbl>
              <a:tblPr firstRow="0" bandRow="0">
                <a:tableStyleId>{2D5ABB26-0587-4C30-8999-92F81FD0307C}</a:tableStyleId>
              </a:tblPr>
              <a:tblGrid>
                <a:gridCol w="5565495"/>
                <a:gridCol w="5565495"/>
              </a:tblGrid>
              <a:tr h="352552">
                <a:tc>
                  <a:txBody>
                    <a:bodyPr/>
                    <a:lstStyle/>
                    <a:p>
                      <a:r>
                        <a:rPr sz="1350" b="1" i="0">
                          <a:solidFill>
                            <a:srgbClr val="FFFFFF"/>
                          </a:solidFill>
                          <a:latin typeface="Calibri"/>
                        </a:rPr>
                        <a:t>What</a:t>
                      </a:r>
                    </a:p>
                  </a:txBody>
                  <a:tcPr marL="101600" marR="101600" marT="38100" marB="38100" anchor="ctr">
                    <a:solidFill>
                      <a:srgbClr val="1A0F5C"/>
                    </a:solidFill>
                  </a:tcPr>
                </a:tc>
                <a:tc>
                  <a:txBody>
                    <a:bodyPr/>
                    <a:lstStyle/>
                    <a:p>
                      <a:r>
                        <a:rPr sz="1350" b="1" i="0">
                          <a:solidFill>
                            <a:srgbClr val="FFFFFF"/>
                          </a:solidFill>
                          <a:latin typeface="Calibri"/>
                        </a:rPr>
                        <a:t>Where it lives</a:t>
                      </a:r>
                    </a:p>
                  </a:txBody>
                  <a:tcPr marL="101600" marR="101600" marT="38100" marB="38100" anchor="ctr">
                    <a:solidFill>
                      <a:srgbClr val="1A0F5C"/>
                    </a:solidFill>
                  </a:tcPr>
                </a:tc>
              </a:tr>
              <a:tr h="577088">
                <a:tc>
                  <a:txBody>
                    <a:bodyPr/>
                    <a:lstStyle/>
                    <a:p>
                      <a:r>
                        <a:rPr sz="1300" b="0" i="0">
                          <a:solidFill>
                            <a:srgbClr val="1A1440"/>
                          </a:solidFill>
                          <a:latin typeface="Calibri"/>
                        </a:rPr>
                        <a:t>The presentation, 25 to 30 minutes with the panel, the live demo inside it</a:t>
                      </a:r>
                    </a:p>
                  </a:txBody>
                  <a:tcPr marL="101600" marR="101600" marT="38100" marB="38100" anchor="ctr">
                    <a:solidFill>
                      <a:srgbClr val="FFFFFF"/>
                    </a:solidFill>
                  </a:tcPr>
                </a:tc>
                <a:tc>
                  <a:txBody>
                    <a:bodyPr/>
                    <a:lstStyle/>
                    <a:p>
                      <a:r>
                        <a:rPr sz="1300" b="0" i="0">
                          <a:solidFill>
                            <a:srgbClr val="1A1440"/>
                          </a:solidFill>
                          <a:latin typeface="Calibri"/>
                        </a:rPr>
                        <a:t>Built on this skeleton, one-slide answer first</a:t>
                      </a:r>
                    </a:p>
                  </a:txBody>
                  <a:tcPr marL="101600" marR="101600" marT="38100" marB="38100" anchor="ctr">
                    <a:solidFill>
                      <a:srgbClr val="FFFFFF"/>
                    </a:solidFill>
                  </a:tcPr>
                </a:tc>
              </a:tr>
              <a:tr h="352552">
                <a:tc>
                  <a:txBody>
                    <a:bodyPr/>
                    <a:lstStyle/>
                    <a:p>
                      <a:r>
                        <a:rPr sz="1300" b="0" i="0">
                          <a:solidFill>
                            <a:srgbClr val="1A1440"/>
                          </a:solidFill>
                          <a:latin typeface="Calibri"/>
                        </a:rPr>
                        <a:t>The one-slide answer Dr Menon carries into her board meeting</a:t>
                      </a:r>
                    </a:p>
                  </a:txBody>
                  <a:tcPr marL="101600" marR="101600" marT="38100" marB="38100" anchor="ctr">
                    <a:solidFill>
                      <a:srgbClr val="F4F2FA"/>
                    </a:solidFill>
                  </a:tcPr>
                </a:tc>
                <a:tc>
                  <a:txBody>
                    <a:bodyPr/>
                    <a:lstStyle/>
                    <a:p>
                      <a:r>
                        <a:rPr sz="1300" b="0" i="0">
                          <a:solidFill>
                            <a:srgbClr val="1A1440"/>
                          </a:solidFill>
                          <a:latin typeface="Calibri"/>
                        </a:rPr>
                        <a:t>Claim, evidence, caveat and action, on one slide</a:t>
                      </a:r>
                    </a:p>
                  </a:txBody>
                  <a:tcPr marL="101600" marR="101600" marT="38100" marB="38100" anchor="ctr">
                    <a:solidFill>
                      <a:srgbClr val="F4F2FA"/>
                    </a:solidFill>
                  </a:tcPr>
                </a:tc>
              </a:tr>
              <a:tr h="577088">
                <a:tc>
                  <a:txBody>
                    <a:bodyPr/>
                    <a:lstStyle/>
                    <a:p>
                      <a:r>
                        <a:rPr sz="1300" b="0" i="0">
                          <a:solidFill>
                            <a:srgbClr val="1A1440"/>
                          </a:solidFill>
                          <a:latin typeface="Calibri"/>
                        </a:rPr>
                        <a:t>The notebook or SQL that reproduces every number from the raw files</a:t>
                      </a:r>
                    </a:p>
                  </a:txBody>
                  <a:tcPr marL="101600" marR="101600" marT="38100" marB="38100" anchor="ctr">
                    <a:solidFill>
                      <a:srgbClr val="FFFFFF"/>
                    </a:solidFill>
                  </a:tcPr>
                </a:tc>
                <a:tc>
                  <a:txBody>
                    <a:bodyPr/>
                    <a:lstStyle/>
                    <a:p>
                      <a:r>
                        <a:rPr sz="1300" b="0" i="0">
                          <a:solidFill>
                            <a:srgbClr val="1A1440"/>
                          </a:solidFill>
                          <a:latin typeface="Calibri"/>
                        </a:rPr>
                        <a:t>Runs cold, top to bottom, on the files in the data folder</a:t>
                      </a:r>
                    </a:p>
                  </a:txBody>
                  <a:tcPr marL="101600" marR="101600" marT="38100" marB="38100" anchor="ctr">
                    <a:solidFill>
                      <a:srgbClr val="FFFFFF"/>
                    </a:solidFill>
                  </a:tcPr>
                </a:tc>
              </a:tr>
              <a:tr h="577088">
                <a:tc>
                  <a:txBody>
                    <a:bodyPr/>
                    <a:lstStyle/>
                    <a:p>
                      <a:r>
                        <a:rPr sz="1300" b="0" i="0">
                          <a:solidFill>
                            <a:srgbClr val="1A1440"/>
                          </a:solidFill>
                          <a:latin typeface="Calibri"/>
                        </a:rPr>
                        <a:t>The decisions log</a:t>
                      </a:r>
                    </a:p>
                  </a:txBody>
                  <a:tcPr marL="101600" marR="101600" marT="38100" marB="38100" anchor="ctr">
                    <a:solidFill>
                      <a:srgbClr val="F4F2FA"/>
                    </a:solidFill>
                  </a:tcPr>
                </a:tc>
                <a:tc>
                  <a:txBody>
                    <a:bodyPr/>
                    <a:lstStyle/>
                    <a:p>
                      <a:r>
                        <a:rPr sz="1300" b="0" i="0">
                          <a:solidFill>
                            <a:srgbClr val="1A1440"/>
                          </a:solidFill>
                          <a:latin typeface="Calibri"/>
                        </a:rPr>
                        <a:t>briefs/C2_W03_D01_decisions_log_STUDENT.xlsx, in the Week 1 Wednesday shape</a:t>
                      </a:r>
                    </a:p>
                  </a:txBody>
                  <a:tcPr marL="101600" marR="101600" marT="38100" marB="38100" anchor="ctr">
                    <a:solidFill>
                      <a:srgbClr val="F4F2FA"/>
                    </a:solidFill>
                  </a:tcPr>
                </a:tc>
              </a:tr>
              <a:tr h="577088">
                <a:tc>
                  <a:txBody>
                    <a:bodyPr/>
                    <a:lstStyle/>
                    <a:p>
                      <a:r>
                        <a:rPr sz="1300" b="0" i="0">
                          <a:solidFill>
                            <a:srgbClr val="1A1440"/>
                          </a:solidFill>
                          <a:latin typeface="Calibri"/>
                        </a:rPr>
                        <a:t>The challenges log</a:t>
                      </a:r>
                    </a:p>
                  </a:txBody>
                  <a:tcPr marL="101600" marR="101600" marT="38100" marB="38100" anchor="ctr">
                    <a:solidFill>
                      <a:srgbClr val="FFFFFF"/>
                    </a:solidFill>
                  </a:tcPr>
                </a:tc>
                <a:tc>
                  <a:txBody>
                    <a:bodyPr/>
                    <a:lstStyle/>
                    <a:p>
                      <a:r>
                        <a:rPr sz="1300" b="0" i="0">
                          <a:solidFill>
                            <a:srgbClr val="1A1440"/>
                          </a:solidFill>
                          <a:latin typeface="Calibri"/>
                        </a:rPr>
                        <a:t>briefs/C2_W03_D01_challenges_log_STUDENT.xlsx, kept since Monday</a:t>
                      </a:r>
                    </a:p>
                  </a:txBody>
                  <a:tcPr marL="101600" marR="101600" marT="38100" marB="38100" anchor="ctr">
                    <a:solidFill>
                      <a:srgbClr val="FFFFFF"/>
                    </a:solidFill>
                  </a:tcPr>
                </a:tc>
              </a:tr>
            </a:tbl>
          </a:graphicData>
        </a:graphic>
      </p:graphicFrame>
      <p:sp>
        <p:nvSpPr>
          <p:cNvPr id="11" name="Rounded Rectangle 10"/>
          <p:cNvSpPr/>
          <p:nvPr/>
        </p:nvSpPr>
        <p:spPr>
          <a:xfrm>
            <a:off x="530352" y="4951984"/>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5284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search-check_6571e64a041f.png"/>
          <p:cNvPicPr>
            <a:picLocks noChangeAspect="1"/>
          </p:cNvPicPr>
          <p:nvPr/>
        </p:nvPicPr>
        <p:blipFill>
          <a:blip r:embed="rId4"/>
          <a:stretch>
            <a:fillRect/>
          </a:stretch>
        </p:blipFill>
        <p:spPr>
          <a:xfrm>
            <a:off x="868680" y="5393944"/>
            <a:ext cx="237744" cy="237744"/>
          </a:xfrm>
          <a:prstGeom prst="rect">
            <a:avLst/>
          </a:prstGeom>
        </p:spPr>
      </p:pic>
      <p:sp>
        <p:nvSpPr>
          <p:cNvPr id="14" name="TextBox 13"/>
          <p:cNvSpPr txBox="1"/>
          <p:nvPr/>
        </p:nvSpPr>
        <p:spPr>
          <a:xfrm>
            <a:off x="1399031" y="50982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5" name="TextBox 14"/>
          <p:cNvSpPr txBox="1"/>
          <p:nvPr/>
        </p:nvSpPr>
        <p:spPr>
          <a:xfrm>
            <a:off x="1399031" y="5317744"/>
            <a:ext cx="9987991" cy="682752"/>
          </a:xfrm>
          <a:prstGeom prst="rect">
            <a:avLst/>
          </a:prstGeom>
          <a:noFill/>
        </p:spPr>
        <p:txBody>
          <a:bodyPr wrap="square" anchor="t" lIns="0" rIns="0" tIns="0" bIns="0">
            <a:spAutoFit/>
          </a:bodyPr>
          <a:lstStyle/>
          <a:p>
            <a:r>
              <a:rPr sz="1500" b="0" i="0">
                <a:solidFill>
                  <a:srgbClr val="1A1440"/>
                </a:solidFill>
                <a:latin typeface="Calibri"/>
              </a:rPr>
              <a:t>Run the notebook cold once more before you walk in, and check that every number on your slides appears in its output.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4" name="Oval 23"/>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6" name="Oval 25"/>
          <p:cNvSpPr/>
          <p:nvPr/>
        </p:nvSpPr>
        <p:spPr>
          <a:xfrm>
            <a:off x="815244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62175"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is it scored?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D39  ·  46 / 49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mini project is 40 marks, and 6 are yours alone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mini project scored?</a:t>
            </a:r>
          </a:p>
        </p:txBody>
      </p:sp>
      <p:sp>
        <p:nvSpPr>
          <p:cNvPr id="10" name="Rounded Rectangle 9"/>
          <p:cNvSpPr/>
          <p:nvPr/>
        </p:nvSpPr>
        <p:spPr>
          <a:xfrm>
            <a:off x="530352" y="1956816"/>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553720"/>
          </a:xfrm>
          <a:prstGeom prst="rect">
            <a:avLst/>
          </a:prstGeom>
          <a:noFill/>
        </p:spPr>
        <p:txBody>
          <a:bodyPr wrap="square" anchor="ctr" lIns="0" rIns="0" tIns="0" bIns="0">
            <a:spAutoFit/>
          </a:bodyPr>
          <a:lstStyle/>
          <a:p>
            <a:r>
              <a:rPr sz="1300" b="1">
                <a:solidFill>
                  <a:srgbClr val="5B3FD6"/>
                </a:solidFill>
                <a:latin typeface="Calibri"/>
              </a:rPr>
              <a:t>Mini project, 40 marks. </a:t>
            </a:r>
            <a:r>
              <a:rPr sz="1300" b="0" i="0">
                <a:solidFill>
                  <a:srgbClr val="1A1440"/>
                </a:solidFill>
                <a:latin typeface="Calibri"/>
              </a:rPr>
              <a:t>The first four criteria are scored once for the group, and every member receives those 34 marks; presentation and defence is scored for each learner on 6 marks, so a silent teammate cannot ride the group's score.</a:t>
            </a:r>
          </a:p>
        </p:txBody>
      </p:sp>
      <p:graphicFrame>
        <p:nvGraphicFramePr>
          <p:cNvPr id="13" name="Table 12"/>
          <p:cNvGraphicFramePr>
            <a:graphicFrameLocks noGrp="1"/>
          </p:cNvGraphicFramePr>
          <p:nvPr/>
        </p:nvGraphicFramePr>
        <p:xfrm>
          <a:off x="530352" y="2858008"/>
          <a:ext cx="11130990" cy="2840736"/>
        </p:xfrm>
        <a:graphic>
          <a:graphicData uri="http://schemas.openxmlformats.org/drawingml/2006/table">
            <a:tbl>
              <a:tblPr firstRow="0" bandRow="0">
                <a:tableStyleId>{2D5ABB26-0587-4C30-8999-92F81FD0307C}</a:tableStyleId>
              </a:tblPr>
              <a:tblGrid>
                <a:gridCol w="2886034"/>
                <a:gridCol w="914400"/>
                <a:gridCol w="7330556"/>
              </a:tblGrid>
              <a:tr h="335280">
                <a:tc>
                  <a:txBody>
                    <a:bodyPr/>
                    <a:lstStyle/>
                    <a:p>
                      <a:r>
                        <a:rPr sz="1250" b="1" i="0">
                          <a:solidFill>
                            <a:srgbClr val="FFFFFF"/>
                          </a:solidFill>
                          <a:latin typeface="Calibri"/>
                        </a:rPr>
                        <a:t>Criterion</a:t>
                      </a:r>
                    </a:p>
                  </a:txBody>
                  <a:tcPr marL="101600" marR="101600" marT="38100" marB="38100" anchor="ctr">
                    <a:solidFill>
                      <a:srgbClr val="1A0F5C"/>
                    </a:solidFill>
                  </a:tcPr>
                </a:tc>
                <a:tc>
                  <a:txBody>
                    <a:bodyPr/>
                    <a:lstStyle/>
                    <a:p>
                      <a:r>
                        <a:rPr sz="1250" b="1" i="0">
                          <a:solidFill>
                            <a:srgbClr val="FFFFFF"/>
                          </a:solidFill>
                          <a:latin typeface="Calibri"/>
                        </a:rPr>
                        <a:t>Marks</a:t>
                      </a:r>
                    </a:p>
                  </a:txBody>
                  <a:tcPr marL="101600" marR="101600" marT="38100" marB="38100" anchor="ctr">
                    <a:solidFill>
                      <a:srgbClr val="1A0F5C"/>
                    </a:solidFill>
                  </a:tcPr>
                </a:tc>
                <a:tc>
                  <a:txBody>
                    <a:bodyPr/>
                    <a:lstStyle/>
                    <a:p>
                      <a:r>
                        <a:rPr sz="1250" b="1" i="0">
                          <a:solidFill>
                            <a:srgbClr val="FFFFFF"/>
                          </a:solidFill>
                          <a:latin typeface="Calibri"/>
                        </a:rPr>
                        <a:t>What full marks look like</a:t>
                      </a:r>
                    </a:p>
                  </a:txBody>
                  <a:tcPr marL="101600" marR="101600" marT="38100" marB="38100" anchor="ctr">
                    <a:solidFill>
                      <a:srgbClr val="1A0F5C"/>
                    </a:solidFill>
                  </a:tcPr>
                </a:tc>
              </a:tr>
              <a:tr h="542544">
                <a:tc>
                  <a:txBody>
                    <a:bodyPr/>
                    <a:lstStyle/>
                    <a:p>
                      <a:r>
                        <a:rPr sz="1200" b="0" i="0">
                          <a:solidFill>
                            <a:srgbClr val="1A1440"/>
                          </a:solidFill>
                          <a:latin typeface="Calibri"/>
                        </a:rPr>
                        <a:t>The question translated</a:t>
                      </a:r>
                    </a:p>
                  </a:txBody>
                  <a:tcPr marL="101600" marR="101600" marT="38100" marB="38100" anchor="ctr">
                    <a:solidFill>
                      <a:srgbClr val="FFFFFF"/>
                    </a:solidFill>
                  </a:tcPr>
                </a:tc>
                <a:tc>
                  <a:txBody>
                    <a:bodyPr/>
                    <a:lstStyle/>
                    <a:p>
                      <a:r>
                        <a:rPr sz="1200" b="0" i="0">
                          <a:solidFill>
                            <a:srgbClr val="1A1440"/>
                          </a:solidFill>
                          <a:latin typeface="Calibri"/>
                        </a:rPr>
                        <a:t>8</a:t>
                      </a:r>
                    </a:p>
                  </a:txBody>
                  <a:tcPr marL="101600" marR="101600" marT="38100" marB="38100" anchor="ctr">
                    <a:solidFill>
                      <a:srgbClr val="FFFFFF"/>
                    </a:solidFill>
                  </a:tcPr>
                </a:tc>
                <a:tc>
                  <a:txBody>
                    <a:bodyPr/>
                    <a:lstStyle/>
                    <a:p>
                      <a:r>
                        <a:rPr sz="1200" b="0" i="0">
                          <a:solidFill>
                            <a:srgbClr val="1A1440"/>
                          </a:solidFill>
                          <a:latin typeface="Calibri"/>
                        </a:rPr>
                        <a:t>Dr Menon's words are mapped to the right Weeks 1 and 2 method, with the metric defined and the decision it feeds named.</a:t>
                      </a:r>
                    </a:p>
                  </a:txBody>
                  <a:tcPr marL="101600" marR="101600" marT="38100" marB="38100" anchor="ctr">
                    <a:solidFill>
                      <a:srgbClr val="FFFFFF"/>
                    </a:solidFill>
                  </a:tcPr>
                </a:tc>
              </a:tr>
              <a:tr h="542544">
                <a:tc>
                  <a:txBody>
                    <a:bodyPr/>
                    <a:lstStyle/>
                    <a:p>
                      <a:r>
                        <a:rPr sz="1200" b="0" i="0">
                          <a:solidFill>
                            <a:srgbClr val="1A1440"/>
                          </a:solidFill>
                          <a:latin typeface="Calibri"/>
                        </a:rPr>
                        <a:t>The data made trustworthy</a:t>
                      </a:r>
                    </a:p>
                  </a:txBody>
                  <a:tcPr marL="101600" marR="101600" marT="38100" marB="38100" anchor="ctr">
                    <a:solidFill>
                      <a:srgbClr val="F4F2FA"/>
                    </a:solidFill>
                  </a:tcPr>
                </a:tc>
                <a:tc>
                  <a:txBody>
                    <a:bodyPr/>
                    <a:lstStyle/>
                    <a:p>
                      <a:r>
                        <a:rPr sz="1200" b="0" i="0">
                          <a:solidFill>
                            <a:srgbClr val="1A1440"/>
                          </a:solidFill>
                          <a:latin typeface="Calibri"/>
                        </a:rPr>
                        <a:t>10</a:t>
                      </a:r>
                    </a:p>
                  </a:txBody>
                  <a:tcPr marL="101600" marR="101600" marT="38100" marB="38100" anchor="ctr">
                    <a:solidFill>
                      <a:srgbClr val="F4F2FA"/>
                    </a:solidFill>
                  </a:tcPr>
                </a:tc>
                <a:tc>
                  <a:txBody>
                    <a:bodyPr/>
                    <a:lstStyle/>
                    <a:p>
                      <a:r>
                        <a:rPr sz="1200" b="0" i="0">
                          <a:solidFill>
                            <a:srgbClr val="1A1440"/>
                          </a:solidFill>
                          <a:latin typeface="Calibri"/>
                        </a:rPr>
                        <a:t>The data is profiled before it is touched, every cleaning call is in the decisions log with its reason, and counts and dollars reconcile across files.</a:t>
                      </a:r>
                    </a:p>
                  </a:txBody>
                  <a:tcPr marL="101600" marR="101600" marT="38100" marB="38100" anchor="ctr">
                    <a:solidFill>
                      <a:srgbClr val="F4F2FA"/>
                    </a:solidFill>
                  </a:tcPr>
                </a:tc>
              </a:tr>
              <a:tr h="542544">
                <a:tc>
                  <a:txBody>
                    <a:bodyPr/>
                    <a:lstStyle/>
                    <a:p>
                      <a:r>
                        <a:rPr sz="1200" b="0" i="0">
                          <a:solidFill>
                            <a:srgbClr val="1A1440"/>
                          </a:solidFill>
                          <a:latin typeface="Calibri"/>
                        </a:rPr>
                        <a:t>The analysis</a:t>
                      </a:r>
                    </a:p>
                  </a:txBody>
                  <a:tcPr marL="101600" marR="101600" marT="38100" marB="38100" anchor="ctr">
                    <a:solidFill>
                      <a:srgbClr val="FFFFFF"/>
                    </a:solidFill>
                  </a:tcPr>
                </a:tc>
                <a:tc>
                  <a:txBody>
                    <a:bodyPr/>
                    <a:lstStyle/>
                    <a:p>
                      <a:r>
                        <a:rPr sz="1200" b="0" i="0">
                          <a:solidFill>
                            <a:srgbClr val="1A1440"/>
                          </a:solidFill>
                          <a:latin typeface="Calibri"/>
                        </a:rPr>
                        <a:t>10</a:t>
                      </a:r>
                    </a:p>
                  </a:txBody>
                  <a:tcPr marL="101600" marR="101600" marT="38100" marB="38100" anchor="ctr">
                    <a:solidFill>
                      <a:srgbClr val="FFFFFF"/>
                    </a:solidFill>
                  </a:tcPr>
                </a:tc>
                <a:tc>
                  <a:txBody>
                    <a:bodyPr/>
                    <a:lstStyle/>
                    <a:p>
                      <a:r>
                        <a:rPr sz="1200" b="0" i="0">
                          <a:solidFill>
                            <a:srgbClr val="1A1440"/>
                          </a:solidFill>
                          <a:latin typeface="Calibri"/>
                        </a:rPr>
                        <a:t>The tree, ladder or fair comparison reaches the branch that explains the symptom, on the right denominator, with a chance test where one is needed.</a:t>
                      </a:r>
                    </a:p>
                  </a:txBody>
                  <a:tcPr marL="101600" marR="101600" marT="38100" marB="38100" anchor="ctr">
                    <a:solidFill>
                      <a:srgbClr val="FFFFFF"/>
                    </a:solidFill>
                  </a:tcPr>
                </a:tc>
              </a:tr>
              <a:tr h="542544">
                <a:tc>
                  <a:txBody>
                    <a:bodyPr/>
                    <a:lstStyle/>
                    <a:p>
                      <a:r>
                        <a:rPr sz="1200" b="0" i="0">
                          <a:solidFill>
                            <a:srgbClr val="1A1440"/>
                          </a:solidFill>
                          <a:latin typeface="Calibri"/>
                        </a:rPr>
                        <a:t>The claim</a:t>
                      </a:r>
                    </a:p>
                  </a:txBody>
                  <a:tcPr marL="101600" marR="101600" marT="38100" marB="38100" anchor="ctr">
                    <a:solidFill>
                      <a:srgbClr val="F4F2FA"/>
                    </a:solidFill>
                  </a:tcPr>
                </a:tc>
                <a:tc>
                  <a:txBody>
                    <a:bodyPr/>
                    <a:lstStyle/>
                    <a:p>
                      <a:r>
                        <a:rPr sz="1200" b="0" i="0">
                          <a:solidFill>
                            <a:srgbClr val="1A1440"/>
                          </a:solidFill>
                          <a:latin typeface="Calibri"/>
                        </a:rPr>
                        <a:t>6</a:t>
                      </a:r>
                    </a:p>
                  </a:txBody>
                  <a:tcPr marL="101600" marR="101600" marT="38100" marB="38100" anchor="ctr">
                    <a:solidFill>
                      <a:srgbClr val="F4F2FA"/>
                    </a:solidFill>
                  </a:tcPr>
                </a:tc>
                <a:tc>
                  <a:txBody>
                    <a:bodyPr/>
                    <a:lstStyle/>
                    <a:p>
                      <a:r>
                        <a:rPr sz="1200" b="0" i="0">
                          <a:solidFill>
                            <a:srgbClr val="1A1440"/>
                          </a:solidFill>
                          <a:latin typeface="Calibri"/>
                        </a:rPr>
                        <a:t>One sentence carries its number, denominator, period and caveat, plus an action Dr Menon can take.</a:t>
                      </a:r>
                    </a:p>
                  </a:txBody>
                  <a:tcPr marL="101600" marR="101600" marT="38100" marB="38100" anchor="ctr">
                    <a:solidFill>
                      <a:srgbClr val="F4F2FA"/>
                    </a:solidFill>
                  </a:tcPr>
                </a:tc>
              </a:tr>
              <a:tr h="335280">
                <a:tc>
                  <a:txBody>
                    <a:bodyPr/>
                    <a:lstStyle/>
                    <a:p>
                      <a:r>
                        <a:rPr sz="1200" b="0" i="0">
                          <a:solidFill>
                            <a:srgbClr val="1A1440"/>
                          </a:solidFill>
                          <a:latin typeface="Calibri"/>
                        </a:rPr>
                        <a:t>Presentation and defence</a:t>
                      </a:r>
                    </a:p>
                  </a:txBody>
                  <a:tcPr marL="101600" marR="101600" marT="38100" marB="38100" anchor="ctr">
                    <a:solidFill>
                      <a:srgbClr val="FFFFFF"/>
                    </a:solidFill>
                  </a:tcPr>
                </a:tc>
                <a:tc>
                  <a:txBody>
                    <a:bodyPr/>
                    <a:lstStyle/>
                    <a:p>
                      <a:r>
                        <a:rPr sz="1200" b="0" i="0">
                          <a:solidFill>
                            <a:srgbClr val="1A1440"/>
                          </a:solidFill>
                          <a:latin typeface="Calibri"/>
                        </a:rPr>
                        <a:t>6</a:t>
                      </a:r>
                    </a:p>
                  </a:txBody>
                  <a:tcPr marL="101600" marR="101600" marT="38100" marB="38100" anchor="ctr">
                    <a:solidFill>
                      <a:srgbClr val="FFFFFF"/>
                    </a:solidFill>
                  </a:tcPr>
                </a:tc>
                <a:tc>
                  <a:txBody>
                    <a:bodyPr/>
                    <a:lstStyle/>
                    <a:p>
                      <a:r>
                        <a:rPr sz="1200" b="0" i="0">
                          <a:solidFill>
                            <a:srgbClr val="1A1440"/>
                          </a:solidFill>
                          <a:latin typeface="Calibri"/>
                        </a:rPr>
                        <a:t>The live demo runs cold, and every member answers a challenge on the caveat.</a:t>
                      </a:r>
                    </a:p>
                  </a:txBody>
                  <a:tcPr marL="101600" marR="101600" marT="38100" marB="38100" anchor="ctr">
                    <a:solidFill>
                      <a:srgbClr val="FFFFFF"/>
                    </a:solidFill>
                  </a:tcPr>
                </a:tc>
              </a:tr>
            </a:tbl>
          </a:graphicData>
        </a:graphic>
      </p:graphicFrame>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0" name="Oval 1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22" name="Oval 21"/>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24" name="Oval 23"/>
          <p:cNvSpPr/>
          <p:nvPr/>
        </p:nvSpPr>
        <p:spPr>
          <a:xfrm>
            <a:off x="815244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62175"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is it scored?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D40  ·  47 / 49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Three Build 1 scores close for every learner today</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Build 1 scores close on Saturday, and out of how many marks?</a:t>
            </a:r>
          </a:p>
        </p:txBody>
      </p:sp>
      <p:sp>
        <p:nvSpPr>
          <p:cNvPr id="10" name="TextBox 9"/>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40</a:t>
            </a:r>
          </a:p>
        </p:txBody>
      </p:sp>
      <p:sp>
        <p:nvSpPr>
          <p:cNvPr id="11" name="TextBox 10"/>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MINI PROJECT</a:t>
            </a:r>
          </a:p>
        </p:txBody>
      </p:sp>
      <p:sp>
        <p:nvSpPr>
          <p:cNvPr id="12" name="TextBox 11"/>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group's 34 and your own 6</a:t>
            </a:r>
          </a:p>
        </p:txBody>
      </p:sp>
      <p:sp>
        <p:nvSpPr>
          <p:cNvPr id="13" name="Rectangle 12"/>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30</a:t>
            </a:r>
          </a:p>
        </p:txBody>
      </p:sp>
      <p:sp>
        <p:nvSpPr>
          <p:cNvPr id="15" name="TextBox 14"/>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GROUP DISCUSSION</a:t>
            </a:r>
          </a:p>
        </p:txBody>
      </p:sp>
      <p:sp>
        <p:nvSpPr>
          <p:cNvPr id="16" name="TextBox 15"/>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rounds on Friday and Saturday morning</a:t>
            </a:r>
          </a:p>
        </p:txBody>
      </p:sp>
      <p:sp>
        <p:nvSpPr>
          <p:cNvPr id="17" name="Rectangle 16"/>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30</a:t>
            </a:r>
          </a:p>
        </p:txBody>
      </p:sp>
      <p:sp>
        <p:nvSpPr>
          <p:cNvPr id="19" name="TextBox 18"/>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MOCK R1</a:t>
            </a:r>
          </a:p>
        </p:txBody>
      </p:sp>
      <p:sp>
        <p:nvSpPr>
          <p:cNvPr id="20" name="TextBox 19"/>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Thursday 22 October, each learner alone</a:t>
            </a:r>
          </a:p>
        </p:txBody>
      </p:sp>
      <p:sp>
        <p:nvSpPr>
          <p:cNvPr id="21" name="Rectangle 20"/>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Every Build 1 grade closes on Saturday 24 October; how and when you see your scores is the Programme Head's to tell you.</a:t>
            </a:r>
          </a:p>
        </p:txBody>
      </p:sp>
      <p:sp>
        <p:nvSpPr>
          <p:cNvPr id="23" name="Oval 2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25" name="Oval 2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27" name="Oval 2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29" name="Oval 2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31" name="Oval 30"/>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33" name="Oval 32"/>
          <p:cNvSpPr/>
          <p:nvPr/>
        </p:nvSpPr>
        <p:spPr>
          <a:xfrm>
            <a:off x="815244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62175"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is it scored?</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D41  ·  48 / 49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PG DIPLOMA IN AI-ML AND AGENTIC AI ENGINEERING  ·  COHORT 2</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Before you walk in: one cold run, one claim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your group check in the last hour before its slot?</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One cold run</a:t>
            </a:r>
          </a:p>
        </p:txBody>
      </p:sp>
      <p:sp>
        <p:nvSpPr>
          <p:cNvPr id="14" name="TextBox 13"/>
          <p:cNvSpPr txBox="1"/>
          <p:nvPr/>
        </p:nvSpPr>
        <p:spPr>
          <a:xfrm>
            <a:off x="694944"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Restart and run all on the raw files; every number on your slides appears in the output.</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One sentence</a:t>
            </a:r>
          </a:p>
        </p:txBody>
      </p:sp>
      <p:sp>
        <p:nvSpPr>
          <p:cNvPr id="19" name="TextBox 18"/>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Each member says the claim, with its denominator and window, alone.</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One caveat</a:t>
            </a:r>
          </a:p>
        </p:txBody>
      </p:sp>
      <p:sp>
        <p:nvSpPr>
          <p:cNvPr id="24" name="TextBox 23"/>
          <p:cNvSpPr txBox="1"/>
          <p:nvPr/>
        </p:nvSpPr>
        <p:spPr>
          <a:xfrm>
            <a:off x="6351879"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Each member says the fact that would change the claim, and the test that would settle it.</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6" name="Oval 25"/>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One slide first</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CFC9EE"/>
                </a:solidFill>
                <a:latin typeface="Calibri"/>
              </a:rPr>
              <a:t>Open on the one-slide answer, never on the cleaning.</a:t>
            </a:r>
          </a:p>
        </p:txBody>
      </p:sp>
      <p:sp>
        <p:nvSpPr>
          <p:cNvPr id="30" name="Rounded Rectangle 29"/>
          <p:cNvSpPr/>
          <p:nvPr/>
        </p:nvSpPr>
        <p:spPr>
          <a:xfrm>
            <a:off x="530352" y="427634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58952" y="447903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mic_caee7398c80d.png"/>
          <p:cNvPicPr>
            <a:picLocks noChangeAspect="1"/>
          </p:cNvPicPr>
          <p:nvPr/>
        </p:nvPicPr>
        <p:blipFill>
          <a:blip r:embed="rId4"/>
          <a:stretch>
            <a:fillRect/>
          </a:stretch>
        </p:blipFill>
        <p:spPr>
          <a:xfrm>
            <a:off x="868680" y="4588764"/>
            <a:ext cx="237744" cy="237744"/>
          </a:xfrm>
          <a:prstGeom prst="rect">
            <a:avLst/>
          </a:prstGeom>
        </p:spPr>
      </p:pic>
      <p:sp>
        <p:nvSpPr>
          <p:cNvPr id="33" name="TextBox 32"/>
          <p:cNvSpPr txBox="1"/>
          <p:nvPr/>
        </p:nvSpPr>
        <p:spPr>
          <a:xfrm>
            <a:off x="1399031" y="442264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34" name="TextBox 33"/>
          <p:cNvSpPr txBox="1"/>
          <p:nvPr/>
        </p:nvSpPr>
        <p:spPr>
          <a:xfrm>
            <a:off x="1399031" y="4642104"/>
            <a:ext cx="9987991" cy="423672"/>
          </a:xfrm>
          <a:prstGeom prst="rect">
            <a:avLst/>
          </a:prstGeom>
          <a:noFill/>
        </p:spPr>
        <p:txBody>
          <a:bodyPr wrap="square" anchor="t" lIns="0" rIns="0" tIns="0" bIns="0">
            <a:spAutoFit/>
          </a:bodyPr>
          <a:lstStyle/>
          <a:p>
            <a:r>
              <a:rPr sz="1500" b="0" i="0">
                <a:solidFill>
                  <a:srgbClr val="1A1440"/>
                </a:solidFill>
                <a:latin typeface="Calibri"/>
              </a:rPr>
              <a:t>[S] Present a finding to a panel and take a challenge on your caveat.</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will the panel ask?</a:t>
            </a:r>
          </a:p>
        </p:txBody>
      </p:sp>
      <p:sp>
        <p:nvSpPr>
          <p:cNvPr id="37" name="Oval 3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goes on one slide?</a:t>
            </a:r>
          </a:p>
        </p:txBody>
      </p:sp>
      <p:sp>
        <p:nvSpPr>
          <p:cNvPr id="39" name="Oval 38"/>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53326"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How is the claim earned?</a:t>
            </a:r>
          </a:p>
        </p:txBody>
      </p:sp>
      <p:sp>
        <p:nvSpPr>
          <p:cNvPr id="41" name="Oval 4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332952"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if the demo fails?</a:t>
            </a:r>
          </a:p>
        </p:txBody>
      </p:sp>
      <p:sp>
        <p:nvSpPr>
          <p:cNvPr id="43" name="Oval 42"/>
          <p:cNvSpPr/>
          <p:nvPr/>
        </p:nvSpPr>
        <p:spPr>
          <a:xfrm>
            <a:off x="675684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866572"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Does the claim hold?</a:t>
            </a:r>
          </a:p>
        </p:txBody>
      </p:sp>
      <p:sp>
        <p:nvSpPr>
          <p:cNvPr id="45" name="Oval 44"/>
          <p:cNvSpPr/>
          <p:nvPr/>
        </p:nvSpPr>
        <p:spPr>
          <a:xfrm>
            <a:off x="815244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62175" y="6437376"/>
            <a:ext cx="1056417" cy="152146"/>
          </a:xfrm>
          <a:prstGeom prst="rect">
            <a:avLst/>
          </a:prstGeom>
          <a:noFill/>
        </p:spPr>
        <p:txBody>
          <a:bodyPr wrap="square" anchor="t" lIns="0" rIns="0" tIns="0" bIns="0">
            <a:spAutoFit/>
          </a:bodyPr>
          <a:lstStyle/>
          <a:p>
            <a:pPr algn="l"/>
            <a:r>
              <a:rPr sz="700" b="1" i="0">
                <a:solidFill>
                  <a:srgbClr val="5B3FD6"/>
                </a:solidFill>
                <a:latin typeface="Calibri"/>
              </a:rPr>
              <a:t>How is it scored?</a:t>
            </a:r>
          </a:p>
        </p:txBody>
      </p:sp>
      <p:sp>
        <p:nvSpPr>
          <p:cNvPr id="47" name="TextBox 4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49 / 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