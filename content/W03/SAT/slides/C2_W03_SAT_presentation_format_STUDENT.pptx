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from Wednesday's close, when each group receives this deck with its headline claim</a:t>
            </a:r>
          </a:p>
          <a:p>
            <a:r>
              <a:t>pinned; LIVE for 30 seconds at the opening of each expert day. Read Dr Menon's words once. Kalpa</a:t>
            </a:r>
          </a:p>
          <a:p>
            <a:r>
              <a:t>Health and everyone in it are fictional, and every record in its ten files is synthetic. The deck is</a:t>
            </a:r>
          </a:p>
          <a:p>
            <a:r>
              <a:t>the skeleton each group builds its slot on, and every slide marked S is shown at the opening; the D</a:t>
            </a:r>
          </a:p>
          <a:p>
            <a:r>
              <a:t>slides are read alone, while the group builds. Her dashboard says test volumes grew 5 percent from Q2</a:t>
            </a:r>
          </a:p>
          <a:p>
            <a:r>
              <a:t>to Q3 against a plan of 18, and D6 carries the numbers.</a:t>
            </a:r>
          </a:p>
          <a:p>
            <a:r>
              <a:t>Transition: the six questions the deck answers.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Wednesday night. Read the day's question,</a:t>
            </a:r>
          </a:p>
          <a:p>
            <a:r>
              <a:t>then the six in order. The dark box is the one slide Dr Menon carries into her board meeting, and</a:t>
            </a:r>
          </a:p>
          <a:p>
            <a:r>
              <a:t>every other part of the slot exists to earn it.</a:t>
            </a:r>
          </a:p>
          <a:p>
            <a:r>
              <a:t>Transition: question 1, what Dr Menon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a:t>
            </a:r>
          </a:p>
          <a:p>
            <a:r>
              <a:t>The section sets who the slot is for. A group that forgets its listener builds a tour of its notebook.</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each answered on its own slide before the next is asked.</a:t>
            </a:r>
          </a:p>
          <a:p>
            <a:r>
              <a:t>Watch for a group that plans its slot in its notebook's order; the slot runs in Dr Menon's order.</a:t>
            </a:r>
          </a:p>
          <a:p>
            <a:r>
              <a:t>Transition: who sits on the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rooms run in parallel on Saturday. Where groups took the same</a:t>
            </a:r>
          </a:p>
          <a:p>
            <a:r>
              <a:t>question, they present one after the other in the same room, so the panel hears each honest answer</a:t>
            </a:r>
          </a:p>
          <a:p>
            <a:r>
              <a:t>to that question in sequence. Neither panel member has read your notebook, so nothing you leave out</a:t>
            </a:r>
          </a:p>
          <a:p>
            <a:r>
              <a:t>of the slot exists for them.</a:t>
            </a:r>
          </a:p>
          <a:p>
            <a:r>
              <a:t>Transition: the four questions Dr Menon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on Wednesday night. Read her four questions aloud. The</a:t>
            </a:r>
          </a:p>
          <a:p>
            <a:r>
              <a:t>whole slot is these four questions in order, and a group that opens on its data cleaning has</a:t>
            </a:r>
          </a:p>
          <a:p>
            <a:r>
              <a:t>answered the second before the first.</a:t>
            </a:r>
          </a:p>
          <a:p>
            <a:r>
              <a:t>Transition: how the minutes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Seventeen minutes is a hard stop: the scribe, a trainer or TA who</a:t>
            </a:r>
          </a:p>
          <a:p>
            <a:r>
              <a:t>keeps the room's clock, shows a card at five minutes left and at one minute left, and stops the group</a:t>
            </a:r>
          </a:p>
          <a:p>
            <a:r>
              <a:t>at 17. The panel then has 8 to 10 minutes, so a slot is 25 to 27 minutes in the room, and 28 to 30</a:t>
            </a:r>
          </a:p>
          <a:p>
            <a:r>
              <a:t>with the three-minute changeover that follows it. Groups overrun on part 3, because cleaning</a:t>
            </a:r>
          </a:p>
          <a:p>
            <a:r>
              <a:t>is where the week went; the clock takes the overrun out of the analysis, and the panel's questions keep</a:t>
            </a:r>
          </a:p>
          <a:p>
            <a:r>
              <a:t>their full time.</a:t>
            </a:r>
          </a:p>
          <a:p>
            <a:r>
              <a:t>Transition: what Dr Menon's team has already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Every figure here came from Dr Menon or her heads, in Monday's briefing note.</a:t>
            </a:r>
          </a:p>
          <a:p>
            <a:r>
              <a:t>A group that copies one onto its one-slide answer without saying what it counts has handed the client</a:t>
            </a:r>
          </a:p>
          <a:p>
            <a:r>
              <a:t>her own number back. The week's work is what each one becomes once the group has asked what it</a:t>
            </a:r>
          </a:p>
          <a:p>
            <a:r>
              <a:t>counts, on which files and over which window, which is Week 1 Tuesday's first rung: is the number</a:t>
            </a:r>
          </a:p>
          <a:p>
            <a:r>
              <a:t>real?</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four answers on one slide, the one a group photographs.</a:t>
            </a:r>
          </a:p>
          <a:p>
            <a:r>
              <a:t>Watch for a slot whose first slide is the data; the first slide is the claim.</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The one-slide answer is Week 1 Thursday's note, moved onto</a:t>
            </a:r>
          </a:p>
          <a:p>
            <a:r>
              <a:t>a slide and said to a panel that will push on every part of it.</a:t>
            </a:r>
          </a:p>
          <a:p>
            <a:r>
              <a:t>Transition: who needs the one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on the slides that follow. Watch for a</a:t>
            </a:r>
          </a:p>
          <a:p>
            <a:r>
              <a:t>draft slide whose first line is about cleaning; the claim goes first.</a:t>
            </a:r>
          </a:p>
          <a:p>
            <a:r>
              <a:t>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claim comes first because a COO reads two minutes and stops. A caveat</a:t>
            </a:r>
          </a:p>
          <a:p>
            <a:r>
              <a:t>names one fact about this claim that a reader could check; "the data may have quality issues" names</a:t>
            </a:r>
          </a:p>
          <a:p>
            <a:r>
              <a:t>no fact, so nobody can check it.</a:t>
            </a:r>
          </a:p>
          <a:p>
            <a:r>
              <a:t>Transition: what one sentence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skeleton is the rubric's claim criterion, word for word: one sentence</a:t>
            </a:r>
          </a:p>
          <a:p>
            <a:r>
              <a:t>carries its number, denominator, period and caveat, plus an action Dr Menon can take. That sentence</a:t>
            </a:r>
          </a:p>
          <a:p>
            <a:r>
              <a:t>leads the slide, and the four parts on the slide before expand it: the evidence shows how the number was computed,</a:t>
            </a:r>
          </a:p>
          <a:p>
            <a:r>
              <a:t>the caveat line names the fact, and the action line names who acts. Fill the skeleton in for your</a:t>
            </a:r>
          </a:p>
          <a:p>
            <a:r>
              <a:t>own claim before you build a single chart.</a:t>
            </a:r>
          </a:p>
          <a:p>
            <a:r>
              <a:t>Transition: how a real lab says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Quest Diagnostics is a US laboratory company with patient service centres and</a:t>
            </a:r>
          </a:p>
          <a:p>
            <a:r>
              <a:t>laboratories, the shape Kalpa Health copies; Monday's domain dossier has it in section 2. A requisition is</a:t>
            </a:r>
          </a:p>
          <a:p>
            <a:r>
              <a:t>a doctor's order for tests, the nearest thing to a Kalpa Health booking. The three figures do not</a:t>
            </a:r>
          </a:p>
          <a:p>
            <a:r>
              <a:t>multiply exactly (1.131 times 0.972 is 1.099), and the release does not show how they combine, so read</a:t>
            </a:r>
          </a:p>
          <a:p>
            <a:r>
              <a:t>them as three views of one quarter. The point for your slide: a growth number reaches a board with the</a:t>
            </a:r>
          </a:p>
          <a:p>
            <a:r>
              <a:t>count it rests on and the rate per unit beside it, so nobody reads a price change as more patients.</a:t>
            </a:r>
          </a:p>
          <a:p>
            <a:r>
              <a:t>Transition: which of four sentences Dr Menon can carry.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figures are invented, and they sit on the lab director's question, which</a:t>
            </a:r>
          </a:p>
          <a:p>
            <a:r>
              <a:t>is none of the five your groups took. Choose before the next slide.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b. Most readers split between b and d, because d sounds</a:t>
            </a:r>
          </a:p>
          <a:p>
            <a:r>
              <a:t>decisive: the action is the last slot, and it cannot stand without the others, least of all when the</a:t>
            </a:r>
          </a:p>
          <a:p>
            <a:r>
              <a:t>claim's own caveat, the courier's share, is what the action would remove.</a:t>
            </a:r>
          </a:p>
          <a:p>
            <a:r>
              <a:t>Transition: what makes a caveat.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caveat is about this claim and names one fact; a disclaimer is about data in</a:t>
            </a:r>
          </a:p>
          <a:p>
            <a:r>
              <a:t>general and names nothing, so nobody can check it. Write your caveat so the panel could test it.</a:t>
            </a:r>
          </a:p>
          <a:p>
            <a:r>
              <a:t>Transition: what makes an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quarter again. An action names a person or a role, a move, a date</a:t>
            </a:r>
          </a:p>
          <a:p>
            <a:r>
              <a:t>and a cost, and "wait and measure" is an action when it carries all four. Option b's action passes:</a:t>
            </a:r>
          </a:p>
          <a:p>
            <a:r>
              <a:t>the lab director, the evening run kept, through Q4, at its present cost. The one-slide answer is done</a:t>
            </a:r>
          </a:p>
          <a:p>
            <a:r>
              <a:t>when its action passes this test.</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claim sentence with the</a:t>
            </a:r>
          </a:p>
          <a:p>
            <a:r>
              <a:t>action missing; a group that cannot name who acts on Monday has stopped at the finding.</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8 minutes over the section's slides. Parts 2, 3, 4 and 6 of the slot. Each exists to support</a:t>
            </a:r>
          </a:p>
          <a:p>
            <a:r>
              <a:t>the claim already on screen, so a slide here that does not connect to the claim gets cut.</a:t>
            </a:r>
          </a:p>
          <a:p>
            <a:r>
              <a:t>Transition: who needs the body of the slot.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Twenty-eight of the mini project's 40 marks sit on what these ten minutes</a:t>
            </a:r>
          </a:p>
          <a:p>
            <a:r>
              <a:t>show, so build each part to earn its marks. Watch for a translation slide that names a tool where it</a:t>
            </a:r>
          </a:p>
          <a:p>
            <a:r>
              <a:t>should name a move.</a:t>
            </a:r>
          </a:p>
          <a:p>
            <a:r>
              <a:t>Transition: the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is Monday's translation worksheet, made presentable. Name your move in</a:t>
            </a:r>
          </a:p>
          <a:p>
            <a:r>
              <a:t>your own words and say which shape her question has; a group that cannot fill the move column for its</a:t>
            </a:r>
          </a:p>
          <a:p>
            <a:r>
              <a:t>own question did not make the transfer, and the panel will ask about it.</a:t>
            </a:r>
          </a:p>
          <a:p>
            <a:r>
              <a:t>Transition: the words.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first three pairs are the ones Monday's worksheet seeded; your map carries</a:t>
            </a:r>
          </a:p>
          <a:p>
            <a:r>
              <a:t>every term your analysis uses, and the right-hand column is where a group slows down, since a word</a:t>
            </a:r>
          </a:p>
          <a:p>
            <a:r>
              <a:t>with no retail twin is where retail habits mislead. The dossier from Monday, section 6, defines each.</a:t>
            </a:r>
          </a:p>
          <a:p>
            <a:r>
              <a:t>Transition: the data made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log's shape is Week 1 Wednesday's: field, issue, rows, decision, reason.</a:t>
            </a:r>
          </a:p>
          <a:p>
            <a:r>
              <a:t>Show the calls that moved the most rows or dollars, three at most, and one row you kept, since the row</a:t>
            </a:r>
          </a:p>
          <a:p>
            <a:r>
              <a:t>you kept is the one an auditor asks about. Say the reconciliation as counts: rows in, rows kept, rows</a:t>
            </a:r>
          </a:p>
          <a:p>
            <a:r>
              <a:t>set aside.</a:t>
            </a:r>
          </a:p>
          <a:p>
            <a:r>
              <a:t>Transition: a question on a row an auditor would send back.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row is invented, and the real files' age</a:t>
            </a:r>
          </a:p>
          <a:p>
            <a:r>
              <a:t>bands have no blanks.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a. Read each cell as an auditor would, asking what it lets a</a:t>
            </a:r>
          </a:p>
          <a:p>
            <a:r>
              <a:t>stranger check: the reason is the only cell that says what the call changes. Option b is the</a:t>
            </a:r>
          </a:p>
          <a:p>
            <a:r>
              <a:t>tempting one, because small sounds safe; the auditor's question is which number the 14 rows sit in,</a:t>
            </a:r>
          </a:p>
          <a:p>
            <a:r>
              <a:t>and only the reason can answer it.</a:t>
            </a:r>
          </a:p>
          <a:p>
            <a:r>
              <a:t>Transition: the charts.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minutes hold two or three charts; a fourth means the group is touring its</a:t>
            </a:r>
          </a:p>
          <a:p>
            <a:r>
              <a:t>notebook. On the invented quarter, a chart titled "Turnaround by quarter" makes the panel do the work,</a:t>
            </a:r>
          </a:p>
          <a:p>
            <a:r>
              <a:t>and "Median turnaround fell from 22 to 18 hours" does it for them.</a:t>
            </a:r>
          </a:p>
          <a:p>
            <a:r>
              <a:t>Transition: the last minute of the body.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change comes from your challenges log: the entry that cost the most time is</a:t>
            </a:r>
          </a:p>
          <a:p>
            <a:r>
              <a:t>usually the change worth naming. The challenges log is your group's dated record of every time it was</a:t>
            </a:r>
          </a:p>
          <a:p>
            <a:r>
              <a:t>stuck, what it tried and what it decided. The change names something the group will do on day one of</a:t>
            </a:r>
          </a:p>
          <a:p>
            <a:r>
              <a:t>Build 2, and the week close asks for the same sentence.</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body that runs longer than</a:t>
            </a:r>
          </a:p>
          <a:p>
            <a:r>
              <a:t>ten minutes; the overrun comes out of the analysis.</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 The demo is the</a:t>
            </a:r>
          </a:p>
          <a:p>
            <a:r>
              <a:t>evidence that the claim came from the data.</a:t>
            </a:r>
          </a:p>
          <a:p>
            <a:r>
              <a:t>Transition: who needs the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each with its own slide. Watch for a group that has only ever</a:t>
            </a:r>
          </a:p>
          <a:p>
            <a:r>
              <a:t>run its notebook warm; Friday's two cold runs are where it finds out.</a:t>
            </a:r>
          </a:p>
          <a:p>
            <a:r>
              <a:t>Transition: the three rules.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demo shows two things: the claim's main number arriving from the</a:t>
            </a:r>
          </a:p>
          <a:p>
            <a:r>
              <a:t>raw files, and your decisions log's largest call happening in code.</a:t>
            </a:r>
          </a:p>
          <a:p>
            <a:r>
              <a:t>Transition: what cold means.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After the freeze, slide wording may change and no number may; an error found</a:t>
            </a:r>
          </a:p>
          <a:p>
            <a:r>
              <a:t>after the freeze is stated on the day as a caveat, with the right number. Before each slot a TA checks</a:t>
            </a:r>
          </a:p>
          <a:p>
            <a:r>
              <a:t>that the Codespace is on your frozen commit, and a later commit that changes code or a number is shown</a:t>
            </a:r>
          </a:p>
          <a:p>
            <a:r>
              <a:t>to the panel, which decides.</a:t>
            </a:r>
          </a:p>
          <a:p>
            <a:r>
              <a:t>Transition: what happens if it fails.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rule, word for word: a group's demo runs once, cold, on its raw</a:t>
            </a:r>
          </a:p>
          <a:p>
            <a:r>
              <a:t>files. If it fails, the group has two minutes to recover it live, as it would in front of a client.</a:t>
            </a:r>
          </a:p>
          <a:p>
            <a:r>
              <a:t>If it still fails, the group presents from its executed notebook, and the panel scores the live demo</a:t>
            </a:r>
          </a:p>
          <a:p>
            <a:r>
              <a:t>in presentation and defence as not run cold. The other 34 marks of the mini project are scored from</a:t>
            </a:r>
          </a:p>
          <a:p>
            <a:r>
              <a:t>the executed run. The mini project is Build 1's group grade, 40 marks.</a:t>
            </a:r>
          </a:p>
          <a:p>
            <a:r>
              <a:t>Transition: a question on the order of the 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write the order down before you look.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d. Two steps decide it: the restart comes before the run, and the</a:t>
            </a:r>
          </a:p>
          <a:p>
            <a:r>
              <a:t>fallback comes only after the two minutes. Option b is the one a hurried group takes, and its "cold"</a:t>
            </a:r>
          </a:p>
          <a:p>
            <a:r>
              <a:t>run can print a number an earlier, warm run left behind.</a:t>
            </a:r>
          </a:p>
          <a:p>
            <a:r>
              <a:t>Transition: what a failure costs.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How far below full marks is the panel's call, and the analysis keeps every mark</a:t>
            </a:r>
          </a:p>
          <a:p>
            <a:r>
              <a:t>it earned. A hardware or Codespace failure is the machine's, so the group gets its cold run on a</a:t>
            </a:r>
          </a:p>
          <a:p>
            <a:r>
              <a:t>spare in the slot, or later in the same room if no spare works.</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group that has never</a:t>
            </a:r>
          </a:p>
          <a:p>
            <a:r>
              <a:t>rehearsed the two minutes; the recovery is a skill, and it is practised.</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with its S slide shown at the opening. The panel's eight to ten</a:t>
            </a:r>
          </a:p>
          <a:p>
            <a:r>
              <a:t>minutes test whether the answer survives, and every member answers.</a:t>
            </a:r>
          </a:p>
          <a:p>
            <a:r>
              <a:t>Transition: who needs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Watch for a group that has rehearsed only</a:t>
            </a:r>
          </a:p>
          <a:p>
            <a:r>
              <a:t>its talk; the panel's questions are half the slot.</a:t>
            </a:r>
          </a:p>
          <a:p>
            <a:r>
              <a:t>Transition: the five kinds.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quietest-member question goes to whoever has spoken least; every</a:t>
            </a:r>
          </a:p>
          <a:p>
            <a:r>
              <a:t>member should be able to explain the claim, one decision from the log and one chart. Groups on the</a:t>
            </a:r>
          </a:p>
          <a:p>
            <a:r>
              <a:t>same question present back to back, so the other-group question is real.</a:t>
            </a:r>
          </a:p>
          <a:p>
            <a:r>
              <a:t>Transition: how to hold a caveat.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These are the three moves of the Week 1 Friday rehearsal, said to a panel</a:t>
            </a:r>
          </a:p>
          <a:p>
            <a:r>
              <a:t>instead of a partner playing Marketing. Narrowing a claim under challenge is a strong answer, and</a:t>
            </a:r>
          </a:p>
          <a:p>
            <a:r>
              <a:t>defending an overreach is a weak one.</a:t>
            </a:r>
          </a:p>
          <a:p>
            <a:r>
              <a:t>Transition: the three moves on one invented challenge.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figures are invented, on the lab director's question, which none of your</a:t>
            </a:r>
          </a:p>
          <a:p>
            <a:r>
              <a:t>groups took. Say the answer aloud in under a minute: the claim with its count, what the data can and</a:t>
            </a:r>
          </a:p>
          <a:p>
            <a:r>
              <a:t>cannot say, and the check with its date.</a:t>
            </a:r>
          </a:p>
          <a:p>
            <a:r>
              <a:t>Transition: a question on replies.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judge the reason as well as the verdict.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c. Two options say false, and only c gives a reason the rubric</a:t>
            </a:r>
          </a:p>
          <a:p>
            <a:r>
              <a:t>supports. Under challenge, narrow the claim and name the check, the move between defending blindly</a:t>
            </a:r>
          </a:p>
          <a:p>
            <a:r>
              <a:t>and folding.</a:t>
            </a:r>
          </a:p>
          <a:p>
            <a:r>
              <a:t>Transition: when two answers are both honest.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turnaround quarter once more: the doctor waits 18 hours from the</a:t>
            </a:r>
          </a:p>
          <a:p>
            <a:r>
              <a:t>draw, and the lab's own clock says 14. Both are true, and a board needs to hear which one answers its</a:t>
            </a:r>
          </a:p>
          <a:p>
            <a:r>
              <a:t>question. The panel hears groups on the same question back to back, so expect to be asked about the</a:t>
            </a:r>
          </a:p>
          <a:p>
            <a:r>
              <a:t>group before you.</a:t>
            </a:r>
          </a:p>
          <a:p>
            <a:r>
              <a:t>Transition: what every member explains alone.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member who cannot answer is questioned again alone, in the room's reserve,</a:t>
            </a:r>
          </a:p>
          <a:p>
            <a:r>
              <a:t>the spare minutes the room keeps after its slots, before that member's presentation and defence is</a:t>
            </a:r>
          </a:p>
          <a:p>
            <a:r>
              <a:t>scored; the group's 34 do not wait.</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member who can say the</a:t>
            </a:r>
          </a:p>
          <a:p>
            <a:r>
              <a:t>claim and not the caveat; the caveat is what the panel tests.</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4 minutes over the section's slides. Learners may see the rubrics, which were</a:t>
            </a:r>
          </a:p>
          <a:p>
            <a:r>
              <a:t>approved on 29 September 2026.</a:t>
            </a:r>
          </a:p>
          <a:p>
            <a:r>
              <a:t>Transition: who needs the scoring.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in order. Watch for a member who has not read the last row of</a:t>
            </a:r>
          </a:p>
          <a:p>
            <a:r>
              <a:t>the rubric; it is the one scored for each learner alone.</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logs sit in Monday's briefs folder, beside the briefing note, your</a:t>
            </a:r>
          </a:p>
          <a:p>
            <a:r>
              <a:t>question's brief, the data dictionary and the translation worksheet.</a:t>
            </a:r>
          </a:p>
          <a:p>
            <a:r>
              <a:t>Transition: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Point at the last row: the live demo sits inside presentation and defence, so a</a:t>
            </a:r>
          </a:p>
          <a:p>
            <a:r>
              <a:t>demo that still fails after its two minutes costs those marks and leaves the other 34 to the executed</a:t>
            </a:r>
          </a:p>
          <a:p>
            <a:r>
              <a:t>run.</a:t>
            </a:r>
          </a:p>
          <a:p>
            <a:r>
              <a:t>Transition: the other two scores.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marks per event are locked, and the three rubrics are public. The GD rounds</a:t>
            </a:r>
          </a:p>
          <a:p>
            <a:r>
              <a:t>run on Friday 23 October and close on the morning of Saturday 24 October; Mock R1 runs on Thursday 22</a:t>
            </a:r>
          </a:p>
          <a:p>
            <a:r>
              <a:t>October. No score is read aloud in the room.</a:t>
            </a:r>
          </a:p>
          <a:p>
            <a:r>
              <a:t>Transition: the last hour before your slot.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the night before. Read the four checks. A</a:t>
            </a:r>
          </a:p>
          <a:p>
            <a:r>
              <a:t>group that cannot run cold in the last hour still has its two minutes and its executed notebook, and</a:t>
            </a:r>
          </a:p>
          <a:p>
            <a:r>
              <a:t>it knows the rule.</a:t>
            </a:r>
          </a:p>
          <a:p>
            <a:r>
              <a:t>Transition: the answers that close the deck.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as the last slide shown; SELF-STUDY on the night before. The answer</a:t>
            </a:r>
          </a:p>
          <a:p>
            <a:r>
              <a:t>to the day's question, which branch is short and whether the answer holds, is a claim with its</a:t>
            </a:r>
          </a:p>
          <a:p>
            <a:r>
              <a:t>denominator, a caveat each member can defend, and a number the panel watched arrive from the raw files.</a:t>
            </a:r>
          </a:p>
          <a:p>
            <a:r>
              <a:t>Close on the interview question and leave it on screen while the first group sets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PRESENTATION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answer to Dr Menon hold in front of a panel?</a:t>
            </a:r>
          </a:p>
        </p:txBody>
      </p:sp>
      <p:sp>
        <p:nvSpPr>
          <p:cNvPr id="9" name="TextBox 8"/>
          <p:cNvSpPr txBox="1"/>
          <p:nvPr/>
        </p:nvSpPr>
        <p:spPr>
          <a:xfrm>
            <a:off x="621792" y="4263136"/>
            <a:ext cx="10033711" cy="350266"/>
          </a:xfrm>
          <a:prstGeom prst="rect">
            <a:avLst/>
          </a:prstGeom>
          <a:noFill/>
        </p:spPr>
        <p:txBody>
          <a:bodyPr wrap="square" anchor="t" lIns="0" rIns="0" tIns="0" bIns="0">
            <a:spAutoFit/>
          </a:bodyPr>
          <a:lstStyle/>
          <a:p>
            <a:pPr algn="l"/>
            <a:r>
              <a:rPr sz="1900" b="0" i="1">
                <a:solidFill>
                  <a:srgbClr val="D9A7FF"/>
                </a:solidFill>
                <a:latin typeface="Georgia"/>
              </a:rPr>
              <a:t>“Which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Dr Menon need?</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goes on one slide?</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How is the claim earned?</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if the demo fails?</a:t>
            </a:r>
          </a:p>
        </p:txBody>
      </p:sp>
      <p:sp>
        <p:nvSpPr>
          <p:cNvPr id="19" name="TextBox 18"/>
          <p:cNvSpPr txBox="1"/>
          <p:nvPr/>
        </p:nvSpPr>
        <p:spPr>
          <a:xfrm>
            <a:off x="918114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6519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Does the claim hold?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188434" cy="185166"/>
          </a:xfrm>
          <a:prstGeom prst="rect">
            <a:avLst/>
          </a:prstGeom>
          <a:noFill/>
        </p:spPr>
        <p:txBody>
          <a:bodyPr wrap="square" anchor="t" lIns="0" rIns="0" tIns="0" bIns="0">
            <a:spAutoFit/>
          </a:bodyPr>
          <a:lstStyle/>
          <a:p>
            <a:pPr algn="l"/>
            <a:r>
              <a:rPr sz="900" b="0" i="0">
                <a:solidFill>
                  <a:srgbClr val="FFFFFF"/>
                </a:solidFill>
                <a:latin typeface="Calibri"/>
              </a:rPr>
              <a:t>How is it scored?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Does your answer to Dr Menon hold in front of a panel?</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turn her ask into your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of Kalpa Health is short, and does your answer hold when a panel tests it live on the raw files?</a:t>
            </a:r>
          </a:p>
        </p:txBody>
      </p:sp>
      <p:pic>
        <p:nvPicPr>
          <p:cNvPr id="9" name="mermaid diagram" descr="8bea283eb7227797.png"/>
          <p:cNvPicPr>
            <a:picLocks noChangeAspect="1"/>
          </p:cNvPicPr>
          <p:nvPr/>
        </p:nvPicPr>
        <p:blipFill>
          <a:blip r:embed="rId5"/>
          <a:stretch>
            <a:fillRect/>
          </a:stretch>
        </p:blipFill>
        <p:spPr>
          <a:xfrm>
            <a:off x="2181072" y="1723167"/>
            <a:ext cx="7829550"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runs a laboratory and two patient service centres, where blood is drawn, in each of six US metro areas, and bills whoever pays for each patient's tests (a health plan, Medicare, Medicaid or the patient) in dollars; your group answers one of the five questions its COO's heads asked on Monday.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Dr Menon need?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Dr Menon need from your slot, who will hear you, and how do the minutes split?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stands in for Dr Menon's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from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who carries one sentence per question into her board meeting; the panel asks what her board would ask, and a slot that tours a notebook leaves her nothing to carry.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panel</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Who sits on the panel, and what has it seen before your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questions</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four questions does Dr Menon ask every group?</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minutes</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 your 17 minutes and the panel's 8 to 10 split?</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Her heads' numbers</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numbers has her team already given you?</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of two panels hears you; neither has seen the work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sits on the panel, and what have they seen before your slot?</a:t>
            </a:r>
          </a:p>
        </p:txBody>
      </p:sp>
      <p:pic>
        <p:nvPicPr>
          <p:cNvPr id="10" name="mermaid diagram" descr="026e02160bcac3ed.png"/>
          <p:cNvPicPr>
            <a:picLocks noChangeAspect="1"/>
          </p:cNvPicPr>
          <p:nvPr/>
        </p:nvPicPr>
        <p:blipFill>
          <a:blip r:embed="rId5"/>
          <a:stretch>
            <a:fillRect/>
          </a:stretch>
        </p:blipFill>
        <p:spPr>
          <a:xfrm>
            <a:off x="845191" y="1956816"/>
            <a:ext cx="10501312" cy="1371600"/>
          </a:xfrm>
          <a:prstGeom prst="rect">
            <a:avLst/>
          </a:prstGeom>
        </p:spPr>
      </p:pic>
      <p:graphicFrame>
        <p:nvGraphicFramePr>
          <p:cNvPr id="11" name="Table 10"/>
          <p:cNvGraphicFramePr>
            <a:graphicFrameLocks noGrp="1"/>
          </p:cNvGraphicFramePr>
          <p:nvPr/>
        </p:nvGraphicFramePr>
        <p:xfrm>
          <a:off x="530352" y="3474720"/>
          <a:ext cx="11130990" cy="1109472"/>
        </p:xfrm>
        <a:graphic>
          <a:graphicData uri="http://schemas.openxmlformats.org/drawingml/2006/table">
            <a:tbl>
              <a:tblPr firstRow="0" bandRow="0">
                <a:tableStyleId>{2D5ABB26-0587-4C30-8999-92F81FD0307C}</a:tableStyleId>
              </a:tblPr>
              <a:tblGrid>
                <a:gridCol w="3218922"/>
                <a:gridCol w="2425109"/>
                <a:gridCol w="5486959"/>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they have seen</a:t>
                      </a:r>
                    </a:p>
                  </a:txBody>
                  <a:tcPr marL="101600" marR="101600" marT="38100" marB="38100" anchor="ctr">
                    <a:solidFill>
                      <a:srgbClr val="1A0F5C"/>
                    </a:solidFill>
                  </a:tcPr>
                </a:tc>
              </a:tr>
              <a:tr h="369824">
                <a:tc>
                  <a:txBody>
                    <a:bodyPr/>
                    <a:lstStyle/>
                    <a:p>
                      <a:r>
                        <a:rPr sz="1400" b="0" i="0">
                          <a:solidFill>
                            <a:srgbClr val="1A1440"/>
                          </a:solidFill>
                          <a:latin typeface="Calibri"/>
                        </a:rPr>
                        <a:t>The industry expert</a:t>
                      </a:r>
                    </a:p>
                  </a:txBody>
                  <a:tcPr marL="101600" marR="101600" marT="38100" marB="38100" anchor="ctr">
                    <a:solidFill>
                      <a:srgbClr val="FFFFFF"/>
                    </a:solidFill>
                  </a:tcPr>
                </a:tc>
                <a:tc>
                  <a:txBody>
                    <a:bodyPr/>
                    <a:lstStyle/>
                    <a:p>
                      <a:r>
                        <a:rPr sz="1400" b="0" i="0">
                          <a:solidFill>
                            <a:srgbClr val="1A1440"/>
                          </a:solidFill>
                          <a:latin typeface="Calibri"/>
                        </a:rPr>
                        <a:t>Friday and Saturday</a:t>
                      </a:r>
                    </a:p>
                  </a:txBody>
                  <a:tcPr marL="101600" marR="101600" marT="38100" marB="38100" anchor="ctr">
                    <a:solidFill>
                      <a:srgbClr val="FFFFFF"/>
                    </a:solidFill>
                  </a:tcPr>
                </a:tc>
                <a:tc>
                  <a:txBody>
                    <a:bodyPr/>
                    <a:lstStyle/>
                    <a:p>
                      <a:r>
                        <a:rPr sz="1400" b="0" i="0">
                          <a:solidFill>
                            <a:srgbClr val="1A1440"/>
                          </a:solidFill>
                          <a:latin typeface="Calibri"/>
                        </a:rPr>
                        <a:t>Dr Menon's questions, and nothing of your work</a:t>
                      </a:r>
                    </a:p>
                  </a:txBody>
                  <a:tcPr marL="101600" marR="101600" marT="38100" marB="38100" anchor="ctr">
                    <a:solidFill>
                      <a:srgbClr val="FFFFFF"/>
                    </a:solidFill>
                  </a:tcPr>
                </a:tc>
              </a:tr>
              <a:tr h="369824">
                <a:tc>
                  <a:txBody>
                    <a:bodyPr/>
                    <a:lstStyle/>
                    <a:p>
                      <a:r>
                        <a:rPr sz="1400" b="0" i="0">
                          <a:solidFill>
                            <a:srgbClr val="1A1440"/>
                          </a:solidFill>
                          <a:latin typeface="Calibri"/>
                        </a:rPr>
                        <a:t>The senior industry leader</a:t>
                      </a:r>
                    </a:p>
                  </a:txBody>
                  <a:tcPr marL="101600" marR="101600" marT="38100" marB="38100" anchor="ctr">
                    <a:solidFill>
                      <a:srgbClr val="F4F2FA"/>
                    </a:solidFill>
                  </a:tcPr>
                </a:tc>
                <a:tc>
                  <a:txBody>
                    <a:bodyPr/>
                    <a:lstStyle/>
                    <a:p>
                      <a:r>
                        <a:rPr sz="1400" b="0" i="0">
                          <a:solidFill>
                            <a:srgbClr val="1A1440"/>
                          </a:solidFill>
                          <a:latin typeface="Calibri"/>
                        </a:rPr>
                        <a:t>Saturday only</a:t>
                      </a:r>
                    </a:p>
                  </a:txBody>
                  <a:tcPr marL="101600" marR="101600" marT="38100" marB="38100" anchor="ctr">
                    <a:solidFill>
                      <a:srgbClr val="F4F2FA"/>
                    </a:solidFill>
                  </a:tcPr>
                </a:tc>
                <a:tc>
                  <a:txBody>
                    <a:bodyPr/>
                    <a:lstStyle/>
                    <a:p>
                      <a:r>
                        <a:rPr sz="1400" b="0" i="0">
                          <a:solidFill>
                            <a:srgbClr val="1A1440"/>
                          </a:solidFill>
                          <a:latin typeface="Calibri"/>
                        </a:rPr>
                        <a:t>The same, and they fly in for the 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asks four questions,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questions does Dr Menon ask every group, and which part of your slot answers each?</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did you find? How sure are you? What would change your mind? What do I do on Monday?"</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3721894"/>
                <a:gridCol w="7409096"/>
              </a:tblGrid>
              <a:tr h="369824">
                <a:tc>
                  <a:txBody>
                    <a:bodyPr/>
                    <a:lstStyle/>
                    <a:p>
                      <a:r>
                        <a:rPr sz="1450" b="1" i="0">
                          <a:solidFill>
                            <a:srgbClr val="FFFFFF"/>
                          </a:solidFill>
                          <a:latin typeface="Calibri"/>
                        </a:rPr>
                        <a:t>Her question</a:t>
                      </a:r>
                    </a:p>
                  </a:txBody>
                  <a:tcPr marL="101600" marR="101600" marT="38100" marB="38100" anchor="ctr">
                    <a:solidFill>
                      <a:srgbClr val="1A0F5C"/>
                    </a:solidFill>
                  </a:tcPr>
                </a:tc>
                <a:tc>
                  <a:txBody>
                    <a:bodyPr/>
                    <a:lstStyle/>
                    <a:p>
                      <a:r>
                        <a:rPr sz="1450" b="1" i="0">
                          <a:solidFill>
                            <a:srgbClr val="FFFFFF"/>
                          </a:solidFill>
                          <a:latin typeface="Calibri"/>
                        </a:rPr>
                        <a:t>The part of your slot that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What did you find?</a:t>
                      </a:r>
                    </a:p>
                  </a:txBody>
                  <a:tcPr marL="101600" marR="101600" marT="38100" marB="38100" anchor="ctr">
                    <a:solidFill>
                      <a:srgbClr val="FFFFFF"/>
                    </a:solidFill>
                  </a:tcPr>
                </a:tc>
                <a:tc>
                  <a:txBody>
                    <a:bodyPr/>
                    <a:lstStyle/>
                    <a:p>
                      <a:r>
                        <a:rPr sz="1400" b="0" i="0">
                          <a:solidFill>
                            <a:srgbClr val="1A1440"/>
                          </a:solidFill>
                          <a:latin typeface="Calibri"/>
                        </a:rPr>
                        <a:t>The claim, on the one-slide answer, in your first two minutes</a:t>
                      </a:r>
                    </a:p>
                  </a:txBody>
                  <a:tcPr marL="101600" marR="101600" marT="38100" marB="38100" anchor="ctr">
                    <a:solidFill>
                      <a:srgbClr val="FFFFFF"/>
                    </a:solidFill>
                  </a:tcPr>
                </a:tc>
              </a:tr>
              <a:tr h="369824">
                <a:tc>
                  <a:txBody>
                    <a:bodyPr/>
                    <a:lstStyle/>
                    <a:p>
                      <a:r>
                        <a:rPr sz="1400" b="0" i="0">
                          <a:solidFill>
                            <a:srgbClr val="1A1440"/>
                          </a:solidFill>
                          <a:latin typeface="Calibri"/>
                        </a:rPr>
                        <a:t>How sure are you?</a:t>
                      </a:r>
                    </a:p>
                  </a:txBody>
                  <a:tcPr marL="101600" marR="101600" marT="38100" marB="38100" anchor="ctr">
                    <a:solidFill>
                      <a:srgbClr val="F4F2FA"/>
                    </a:solidFill>
                  </a:tcPr>
                </a:tc>
                <a:tc>
                  <a:txBody>
                    <a:bodyPr/>
                    <a:lstStyle/>
                    <a:p>
                      <a:r>
                        <a:rPr sz="1400" b="0" i="0">
                          <a:solidFill>
                            <a:srgbClr val="1A1440"/>
                          </a:solidFill>
                          <a:latin typeface="Calibri"/>
                        </a:rPr>
                        <a:t>The evidence: the data made trustworthy, the analysis and the live demo</a:t>
                      </a:r>
                    </a:p>
                  </a:txBody>
                  <a:tcPr marL="101600" marR="101600" marT="38100" marB="38100" anchor="ctr">
                    <a:solidFill>
                      <a:srgbClr val="F4F2FA"/>
                    </a:solidFill>
                  </a:tcPr>
                </a:tc>
              </a:tr>
              <a:tr h="369824">
                <a:tc>
                  <a:txBody>
                    <a:bodyPr/>
                    <a:lstStyle/>
                    <a:p>
                      <a:r>
                        <a:rPr sz="1400" b="0" i="0">
                          <a:solidFill>
                            <a:srgbClr val="1A1440"/>
                          </a:solidFill>
                          <a:latin typeface="Calibri"/>
                        </a:rPr>
                        <a:t>What would change your mind?</a:t>
                      </a:r>
                    </a:p>
                  </a:txBody>
                  <a:tcPr marL="101600" marR="101600" marT="38100" marB="38100" anchor="ctr">
                    <a:solidFill>
                      <a:srgbClr val="FFFFFF"/>
                    </a:solidFill>
                  </a:tcPr>
                </a:tc>
                <a:tc>
                  <a:txBody>
                    <a:bodyPr/>
                    <a:lstStyle/>
                    <a:p>
                      <a:r>
                        <a:rPr sz="1400" b="0" i="0">
                          <a:solidFill>
                            <a:srgbClr val="1A1440"/>
                          </a:solidFill>
                          <a:latin typeface="Calibri"/>
                        </a:rPr>
                        <a:t>The caveat, which the panel will challenge</a:t>
                      </a:r>
                    </a:p>
                  </a:txBody>
                  <a:tcPr marL="101600" marR="101600" marT="38100" marB="38100" anchor="ctr">
                    <a:solidFill>
                      <a:srgbClr val="FFFFFF"/>
                    </a:solidFill>
                  </a:tcPr>
                </a:tc>
              </a:tr>
              <a:tr h="369824">
                <a:tc>
                  <a:txBody>
                    <a:bodyPr/>
                    <a:lstStyle/>
                    <a:p>
                      <a:r>
                        <a:rPr sz="1400" b="0" i="0">
                          <a:solidFill>
                            <a:srgbClr val="1A1440"/>
                          </a:solidFill>
                          <a:latin typeface="Calibri"/>
                        </a:rPr>
                        <a:t>What do I do on Monday?</a:t>
                      </a:r>
                    </a:p>
                  </a:txBody>
                  <a:tcPr marL="101600" marR="101600" marT="38100" marB="38100" anchor="ctr">
                    <a:solidFill>
                      <a:srgbClr val="F4F2FA"/>
                    </a:solidFill>
                  </a:tcPr>
                </a:tc>
                <a:tc>
                  <a:txBody>
                    <a:bodyPr/>
                    <a:lstStyle/>
                    <a:p>
                      <a:r>
                        <a:rPr sz="1400" b="0" i="0">
                          <a:solidFill>
                            <a:srgbClr val="1A1440"/>
                          </a:solidFill>
                          <a:latin typeface="Calibri"/>
                        </a:rPr>
                        <a:t>The action: who does what, by when, and what it costs</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17 minutes, then the panel's 8 to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group's 17 minutes and the panel's 8 to 10 split, part by part?</a:t>
            </a:r>
          </a:p>
        </p:txBody>
      </p:sp>
      <p:pic>
        <p:nvPicPr>
          <p:cNvPr id="9" name="mermaid diagram" descr="2edc9d5d695e53e1.png"/>
          <p:cNvPicPr>
            <a:picLocks noChangeAspect="1"/>
          </p:cNvPicPr>
          <p:nvPr/>
        </p:nvPicPr>
        <p:blipFill>
          <a:blip r:embed="rId5"/>
          <a:stretch>
            <a:fillRect/>
          </a:stretch>
        </p:blipFill>
        <p:spPr>
          <a:xfrm>
            <a:off x="530352" y="1956816"/>
            <a:ext cx="11130991" cy="867207"/>
          </a:xfrm>
          <a:prstGeom prst="rect">
            <a:avLst/>
          </a:prstGeom>
        </p:spPr>
      </p:pic>
      <p:graphicFrame>
        <p:nvGraphicFramePr>
          <p:cNvPr id="10" name="Table 9"/>
          <p:cNvGraphicFramePr>
            <a:graphicFrameLocks noGrp="1"/>
          </p:cNvGraphicFramePr>
          <p:nvPr/>
        </p:nvGraphicFramePr>
        <p:xfrm>
          <a:off x="530352" y="2970327"/>
          <a:ext cx="11130990" cy="2588768"/>
        </p:xfrm>
        <a:graphic>
          <a:graphicData uri="http://schemas.openxmlformats.org/drawingml/2006/table">
            <a:tbl>
              <a:tblPr firstRow="0" bandRow="0">
                <a:tableStyleId>{2D5ABB26-0587-4C30-8999-92F81FD0307C}</a:tableStyleId>
              </a:tblPr>
              <a:tblGrid>
                <a:gridCol w="3645308"/>
                <a:gridCol w="1084005"/>
                <a:gridCol w="640167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carries</a:t>
                      </a:r>
                    </a:p>
                  </a:txBody>
                  <a:tcPr marL="101600" marR="101600" marT="38100" marB="38100" anchor="ctr">
                    <a:solidFill>
                      <a:srgbClr val="1A0F5C"/>
                    </a:solidFill>
                  </a:tcPr>
                </a:tc>
              </a:tr>
              <a:tr h="369824">
                <a:tc>
                  <a:txBody>
                    <a:bodyPr/>
                    <a:lstStyle/>
                    <a:p>
                      <a:r>
                        <a:rPr sz="1400" b="0" i="0">
                          <a:solidFill>
                            <a:srgbClr val="1A1440"/>
                          </a:solidFill>
                          <a:latin typeface="Calibri"/>
                        </a:rPr>
                        <a:t>1. The one-slide answer</a:t>
                      </a:r>
                    </a:p>
                  </a:txBody>
                  <a:tcPr marL="101600" marR="101600" marT="38100" marB="38100" anchor="ctr">
                    <a:solidFill>
                      <a:srgbClr val="FFFFFF"/>
                    </a:solidFill>
                  </a:tcPr>
                </a:tc>
                <a:tc>
                  <a:txBody>
                    <a:bodyPr/>
                    <a:lstStyle/>
                    <a:p>
                      <a:r>
                        <a:rPr sz="1400" b="0" i="0">
                          <a:solidFill>
                            <a:srgbClr val="1A1440"/>
                          </a:solidFill>
                          <a:latin typeface="Calibri"/>
                        </a:rPr>
                        <a:t>2</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said first</a:t>
                      </a:r>
                    </a:p>
                  </a:txBody>
                  <a:tcPr marL="101600" marR="101600" marT="38100" marB="38100" anchor="ctr">
                    <a:solidFill>
                      <a:srgbClr val="FFFFFF"/>
                    </a:solidFill>
                  </a:tcPr>
                </a:tc>
              </a:tr>
              <a:tr h="369824">
                <a:tc>
                  <a:txBody>
                    <a:bodyPr/>
                    <a:lstStyle/>
                    <a:p>
                      <a:r>
                        <a:rPr sz="1400" b="0" i="0">
                          <a:solidFill>
                            <a:srgbClr val="1A1440"/>
                          </a:solidFill>
                          <a:latin typeface="Calibri"/>
                        </a:rPr>
                        <a:t>2. The translation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Dr Menon's words mapped onto a move from Weeks 1 and 2</a:t>
                      </a:r>
                    </a:p>
                  </a:txBody>
                  <a:tcPr marL="101600" marR="101600" marT="38100" marB="38100" anchor="ctr">
                    <a:solidFill>
                      <a:srgbClr val="F4F2FA"/>
                    </a:solidFill>
                  </a:tcPr>
                </a:tc>
              </a:tr>
              <a:tr h="369824">
                <a:tc>
                  <a:txBody>
                    <a:bodyPr/>
                    <a:lstStyle/>
                    <a:p>
                      <a:r>
                        <a:rPr sz="1400" b="0" i="0">
                          <a:solidFill>
                            <a:srgbClr val="1A1440"/>
                          </a:solidFill>
                          <a:latin typeface="Calibri"/>
                        </a:rPr>
                        <a:t>3. The data made trustworthy</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decisions log's largest calls, and the rows reconciled</a:t>
                      </a:r>
                    </a:p>
                  </a:txBody>
                  <a:tcPr marL="101600" marR="101600" marT="38100" marB="38100" anchor="ctr">
                    <a:solidFill>
                      <a:srgbClr val="FFFFFF"/>
                    </a:solidFill>
                  </a:tcPr>
                </a:tc>
              </a:tr>
              <a:tr h="369824">
                <a:tc>
                  <a:txBody>
                    <a:bodyPr/>
                    <a:lstStyle/>
                    <a:p>
                      <a:r>
                        <a:rPr sz="1400" b="0" i="0">
                          <a:solidFill>
                            <a:srgbClr val="1A1440"/>
                          </a:solidFill>
                          <a:latin typeface="Calibri"/>
                        </a:rPr>
                        <a:t>4. The analysis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or three charts, each with its denominator</a:t>
                      </a:r>
                    </a:p>
                  </a:txBody>
                  <a:tcPr marL="101600" marR="101600" marT="38100" marB="38100" anchor="ctr">
                    <a:solidFill>
                      <a:srgbClr val="F4F2FA"/>
                    </a:solidFill>
                  </a:tcPr>
                </a:tc>
              </a:tr>
              <a:tr h="369824">
                <a:tc>
                  <a:txBody>
                    <a:bodyPr/>
                    <a:lstStyle/>
                    <a:p>
                      <a:r>
                        <a:rPr sz="1400" b="0" i="0">
                          <a:solidFill>
                            <a:srgbClr val="1A1440"/>
                          </a:solidFill>
                          <a:latin typeface="Calibri"/>
                        </a:rPr>
                        <a:t>5. The live demo</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Your main number, reproduced cold from the raw files</a:t>
                      </a:r>
                    </a:p>
                  </a:txBody>
                  <a:tcPr marL="101600" marR="101600" marT="38100" marB="38100" anchor="ctr">
                    <a:solidFill>
                      <a:srgbClr val="FFFFFF"/>
                    </a:solidFill>
                  </a:tcPr>
                </a:tc>
              </a:tr>
              <a:tr h="369824">
                <a:tc>
                  <a:txBody>
                    <a:bodyPr/>
                    <a:lstStyle/>
                    <a:p>
                      <a:r>
                        <a:rPr sz="1400" b="0" i="0">
                          <a:solidFill>
                            <a:srgbClr val="1A1440"/>
                          </a:solidFill>
                          <a:latin typeface="Calibri"/>
                        </a:rPr>
                        <a:t>6. What you would do differently</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One change, specific enough for Build 2 to act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Her heads' numbers are where every answer starts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has Dr Menon's team already given you, and what do they leave open?</a:t>
            </a:r>
          </a:p>
        </p:txBody>
      </p:sp>
      <p:sp>
        <p:nvSpPr>
          <p:cNvPr id="10" name="TextBox 9"/>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1" name="TextBox 10"/>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2" name="TextBox 11"/>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her dashboard, against a plan of 18</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2 metros</a:t>
            </a:r>
          </a:p>
        </p:txBody>
      </p:sp>
      <p:sp>
        <p:nvSpPr>
          <p:cNvPr id="15" name="TextBox 14"/>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WHERE BOOKINGS FELL IN Q3</a:t>
            </a:r>
          </a:p>
        </p:txBody>
      </p:sp>
      <p:sp>
        <p:nvSpPr>
          <p:cNvPr id="16" name="TextBox 15"/>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centres' operations head</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9%</a:t>
            </a:r>
          </a:p>
        </p:txBody>
      </p:sp>
      <p:sp>
        <p:nvSpPr>
          <p:cNvPr id="19" name="TextBox 18"/>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FREE AT-HOME OFFER'S LIFT</a:t>
            </a:r>
          </a:p>
        </p:txBody>
      </p:sp>
      <p:sp>
        <p:nvSpPr>
          <p:cNvPr id="20" name="TextBox 19"/>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marketing head</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KH-ATL-03</a:t>
            </a:r>
          </a:p>
        </p:txBody>
      </p:sp>
      <p:sp>
        <p:nvSpPr>
          <p:cNvPr id="23" name="TextBox 22"/>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WORST NO-SHOW RATE</a:t>
            </a:r>
          </a:p>
        </p:txBody>
      </p:sp>
      <p:sp>
        <p:nvSpPr>
          <p:cNvPr id="24" name="TextBox 23"/>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operations head's Q3 report</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is a claim from someone's report, and the finance head adds that the claims billed and the posting system disagree; your answer says what your number counts before it agrees or disagrees with theirs.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5" name="Oval 34"/>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7" name="Oval 36"/>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  ·  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her four answers inside 17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in one line each?</a:t>
            </a:r>
          </a:p>
        </p:txBody>
      </p:sp>
      <p:graphicFrame>
        <p:nvGraphicFramePr>
          <p:cNvPr id="10" name="Table 9"/>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3802540"/>
                <a:gridCol w="732845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Who hears you?</a:t>
                      </a:r>
                    </a:p>
                  </a:txBody>
                  <a:tcPr marL="101600" marR="101600" marT="38100" marB="38100" anchor="ctr">
                    <a:solidFill>
                      <a:srgbClr val="FFFFFF"/>
                    </a:solidFill>
                  </a:tcPr>
                </a:tc>
                <a:tc>
                  <a:txBody>
                    <a:bodyPr/>
                    <a:lstStyle/>
                    <a:p>
                      <a:r>
                        <a:rPr sz="1400" b="0" i="0">
                          <a:solidFill>
                            <a:srgbClr val="1A1440"/>
                          </a:solidFill>
                          <a:latin typeface="Calibri"/>
                        </a:rPr>
                        <a:t>One of two panels, the industry expert or the senior industry leader, neither of whom has seen your work</a:t>
                      </a:r>
                    </a:p>
                  </a:txBody>
                  <a:tcPr marL="101600" marR="101600" marT="38100" marB="38100" anchor="ctr">
                    <a:solidFill>
                      <a:srgbClr val="FFFFFF"/>
                    </a:solidFill>
                  </a:tcPr>
                </a:tc>
              </a:tr>
              <a:tr h="611632">
                <a:tc>
                  <a:txBody>
                    <a:bodyPr/>
                    <a:lstStyle/>
                    <a:p>
                      <a:r>
                        <a:rPr sz="1400" b="0" i="0">
                          <a:solidFill>
                            <a:srgbClr val="1A1440"/>
                          </a:solidFill>
                          <a:latin typeface="Calibri"/>
                        </a:rPr>
                        <a:t>What does Dr Menon ask?</a:t>
                      </a:r>
                    </a:p>
                  </a:txBody>
                  <a:tcPr marL="101600" marR="101600" marT="38100" marB="38100" anchor="ctr">
                    <a:solidFill>
                      <a:srgbClr val="F4F2FA"/>
                    </a:solidFill>
                  </a:tcPr>
                </a:tc>
                <a:tc>
                  <a:txBody>
                    <a:bodyPr/>
                    <a:lstStyle/>
                    <a:p>
                      <a:r>
                        <a:rPr sz="1400" b="0" i="0">
                          <a:solidFill>
                            <a:srgbClr val="1A1440"/>
                          </a:solidFill>
                          <a:latin typeface="Calibri"/>
                        </a:rPr>
                        <a:t>What did you find, how sure are you, what would change your mind, and what do I do on Monday, in that order</a:t>
                      </a:r>
                    </a:p>
                  </a:txBody>
                  <a:tcPr marL="101600" marR="101600" marT="38100" marB="38100" anchor="ctr">
                    <a:solidFill>
                      <a:srgbClr val="F4F2FA"/>
                    </a:solidFill>
                  </a:tcPr>
                </a:tc>
              </a:tr>
              <a:tr h="611632">
                <a:tc>
                  <a:txBody>
                    <a:bodyPr/>
                    <a:lstStyle/>
                    <a:p>
                      <a:r>
                        <a:rPr sz="1400" b="0" i="0">
                          <a:solidFill>
                            <a:srgbClr val="1A1440"/>
                          </a:solidFill>
                          <a:latin typeface="Calibri"/>
                        </a:rPr>
                        <a:t>How do the minutes split?</a:t>
                      </a:r>
                    </a:p>
                  </a:txBody>
                  <a:tcPr marL="101600" marR="101600" marT="38100" marB="38100" anchor="ctr">
                    <a:solidFill>
                      <a:srgbClr val="FFFFFF"/>
                    </a:solidFill>
                  </a:tcPr>
                </a:tc>
                <a:tc>
                  <a:txBody>
                    <a:bodyPr/>
                    <a:lstStyle/>
                    <a:p>
                      <a:r>
                        <a:rPr sz="1400" b="0" i="0">
                          <a:solidFill>
                            <a:srgbClr val="1A1440"/>
                          </a:solidFill>
                          <a:latin typeface="Calibri"/>
                        </a:rPr>
                        <a:t>Seventeen are yours, the one-slide answer first and the demo inside them, and the panel takes 8 to 10</a:t>
                      </a:r>
                    </a:p>
                  </a:txBody>
                  <a:tcPr marL="101600" marR="101600" marT="38100" marB="38100" anchor="ctr">
                    <a:solidFill>
                      <a:srgbClr val="FFFFFF"/>
                    </a:solidFill>
                  </a:tcPr>
                </a:tc>
              </a:tr>
              <a:tr h="611632">
                <a:tc>
                  <a:txBody>
                    <a:bodyPr/>
                    <a:lstStyle/>
                    <a:p>
                      <a:r>
                        <a:rPr sz="1400" b="0" i="0">
                          <a:solidFill>
                            <a:srgbClr val="1A1440"/>
                          </a:solidFill>
                          <a:latin typeface="Calibri"/>
                        </a:rPr>
                        <a:t>Where does your answer start?</a:t>
                      </a:r>
                    </a:p>
                  </a:txBody>
                  <a:tcPr marL="101600" marR="101600" marT="38100" marB="38100" anchor="ctr">
                    <a:solidFill>
                      <a:srgbClr val="F4F2FA"/>
                    </a:solidFill>
                  </a:tcPr>
                </a:tc>
                <a:tc>
                  <a:txBody>
                    <a:bodyPr/>
                    <a:lstStyle/>
                    <a:p>
                      <a:r>
                        <a:rPr sz="1400" b="0" i="0">
                          <a:solidFill>
                            <a:srgbClr val="1A1440"/>
                          </a:solidFill>
                          <a:latin typeface="Calibri"/>
                        </a:rPr>
                        <a:t>From her heads' own numbers, with what each one counts said before you agree or disagree</a:t>
                      </a:r>
                    </a:p>
                  </a:txBody>
                  <a:tcPr marL="101600" marR="101600" marT="38100" marB="38100" anchor="ctr">
                    <a:solidFill>
                      <a:srgbClr val="F4F2FA"/>
                    </a:solidFill>
                  </a:tcPr>
                </a:tc>
              </a:tr>
            </a:tbl>
          </a:graphicData>
        </a:graphic>
      </p:graphicFrame>
      <p:sp>
        <p:nvSpPr>
          <p:cNvPr id="11" name="Rounded Rectangle 10"/>
          <p:cNvSpPr/>
          <p:nvPr/>
        </p:nvSpPr>
        <p:spPr>
          <a:xfrm>
            <a:off x="530352" y="502920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318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41620"/>
            <a:ext cx="237744" cy="237744"/>
          </a:xfrm>
          <a:prstGeom prst="rect">
            <a:avLst/>
          </a:prstGeom>
        </p:spPr>
      </p:pic>
      <p:sp>
        <p:nvSpPr>
          <p:cNvPr id="14" name="TextBox 13"/>
          <p:cNvSpPr txBox="1"/>
          <p:nvPr/>
        </p:nvSpPr>
        <p:spPr>
          <a:xfrm>
            <a:off x="1399031" y="51755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94960"/>
            <a:ext cx="9987991" cy="423672"/>
          </a:xfrm>
          <a:prstGeom prst="rect">
            <a:avLst/>
          </a:prstGeom>
          <a:noFill/>
        </p:spPr>
        <p:txBody>
          <a:bodyPr wrap="square" anchor="t" lIns="0" rIns="0" tIns="0" bIns="0">
            <a:spAutoFit/>
          </a:bodyPr>
          <a:lstStyle/>
          <a:p>
            <a:r>
              <a:rPr sz="1500" b="0" i="0">
                <a:solidFill>
                  <a:srgbClr val="1A1440"/>
                </a:solidFill>
                <a:latin typeface="Calibri"/>
              </a:rPr>
              <a:t>Plan the slot in her order, and cut any slide that answers a question she has not asked yet.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one slide Dr Menon carries into her board meeting say, and why does it come first?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slide she can carry to her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one-slide answer,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Menon, who reads for two minutes and stops; the slide she carries is the only part of your work her board sees, so a missing part costs her a question she cannot answer in the room.</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four parts make the one-slide answer, in which order?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must one sentence carry before a board can repeat it?</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real lab</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a listed US lab state a quarter's growth?</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sentence</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of four sentences can Dr Menon carry?</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Caveat and action</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makes a caveat, and what makes an action?</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Claim, evidence, caveat, action, in that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parts make the one-slide answer, in the order Week 1 Thursday's note set them?</a:t>
            </a:r>
          </a:p>
        </p:txBody>
      </p:sp>
      <p:pic>
        <p:nvPicPr>
          <p:cNvPr id="10" name="mermaid diagram" descr="e54068ba88d30eec.png"/>
          <p:cNvPicPr>
            <a:picLocks noChangeAspect="1"/>
          </p:cNvPicPr>
          <p:nvPr/>
        </p:nvPicPr>
        <p:blipFill>
          <a:blip r:embed="rId9"/>
          <a:stretch>
            <a:fillRect/>
          </a:stretch>
        </p:blipFill>
        <p:spPr>
          <a:xfrm>
            <a:off x="595160" y="1956816"/>
            <a:ext cx="11001375" cy="1128712"/>
          </a:xfrm>
          <a:prstGeom prst="rect">
            <a:avLst/>
          </a:prstGeom>
        </p:spPr>
      </p:pic>
      <p:sp>
        <p:nvSpPr>
          <p:cNvPr id="11" name="Rounded Rectangle 10"/>
          <p:cNvSpPr/>
          <p:nvPr/>
        </p:nvSpPr>
        <p:spPr>
          <a:xfrm>
            <a:off x="530352"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quote_e12f9e1e3c67.png"/>
          <p:cNvPicPr>
            <a:picLocks noChangeAspect="1"/>
          </p:cNvPicPr>
          <p:nvPr/>
        </p:nvPicPr>
        <p:blipFill>
          <a:blip r:embed="rId5"/>
          <a:stretch>
            <a:fillRect/>
          </a:stretch>
        </p:blipFill>
        <p:spPr>
          <a:xfrm>
            <a:off x="841247" y="3542728"/>
            <a:ext cx="237744" cy="237744"/>
          </a:xfrm>
          <a:prstGeom prst="rect">
            <a:avLst/>
          </a:prstGeom>
        </p:spPr>
      </p:pic>
      <p:sp>
        <p:nvSpPr>
          <p:cNvPr id="14" name="TextBox 13"/>
          <p:cNvSpPr txBox="1"/>
          <p:nvPr/>
        </p:nvSpPr>
        <p:spPr>
          <a:xfrm>
            <a:off x="731519"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CLAIM</a:t>
            </a:r>
          </a:p>
        </p:txBody>
      </p:sp>
      <p:sp>
        <p:nvSpPr>
          <p:cNvPr id="15" name="TextBox 14"/>
          <p:cNvSpPr txBox="1"/>
          <p:nvPr/>
        </p:nvSpPr>
        <p:spPr>
          <a:xfrm>
            <a:off x="731519"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One sentence</a:t>
            </a:r>
          </a:p>
        </p:txBody>
      </p:sp>
      <p:sp>
        <p:nvSpPr>
          <p:cNvPr id="16" name="TextBox 15"/>
          <p:cNvSpPr txBox="1"/>
          <p:nvPr/>
        </p:nvSpPr>
        <p:spPr>
          <a:xfrm>
            <a:off x="731519" y="4578540"/>
            <a:ext cx="2243251" cy="763016"/>
          </a:xfrm>
          <a:prstGeom prst="rect">
            <a:avLst/>
          </a:prstGeom>
          <a:noFill/>
        </p:spPr>
        <p:txBody>
          <a:bodyPr wrap="square" anchor="t" lIns="0" rIns="0" tIns="0" bIns="0">
            <a:spAutoFit/>
          </a:bodyPr>
          <a:lstStyle/>
          <a:p>
            <a:pPr algn="l"/>
            <a:r>
              <a:rPr sz="1100" b="0" i="0">
                <a:solidFill>
                  <a:srgbClr val="6B6690"/>
                </a:solidFill>
                <a:latin typeface="Calibri"/>
              </a:rPr>
              <a:t>A COO can repeat it to a board. It names what was counted, out of what, and over which window.</a:t>
            </a:r>
          </a:p>
        </p:txBody>
      </p:sp>
      <p:sp>
        <p:nvSpPr>
          <p:cNvPr id="17" name="Rounded Rectangle 16"/>
          <p:cNvSpPr/>
          <p:nvPr/>
        </p:nvSpPr>
        <p:spPr>
          <a:xfrm>
            <a:off x="3358819"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559987"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chart-column_a266b7a04479.png"/>
          <p:cNvPicPr>
            <a:picLocks noChangeAspect="1"/>
          </p:cNvPicPr>
          <p:nvPr/>
        </p:nvPicPr>
        <p:blipFill>
          <a:blip r:embed="rId6"/>
          <a:stretch>
            <a:fillRect/>
          </a:stretch>
        </p:blipFill>
        <p:spPr>
          <a:xfrm>
            <a:off x="3669715" y="3542728"/>
            <a:ext cx="237744" cy="237744"/>
          </a:xfrm>
          <a:prstGeom prst="rect">
            <a:avLst/>
          </a:prstGeom>
        </p:spPr>
      </p:pic>
      <p:sp>
        <p:nvSpPr>
          <p:cNvPr id="20" name="TextBox 19"/>
          <p:cNvSpPr txBox="1"/>
          <p:nvPr/>
        </p:nvSpPr>
        <p:spPr>
          <a:xfrm>
            <a:off x="3559987"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EVIDENCE</a:t>
            </a:r>
          </a:p>
        </p:txBody>
      </p:sp>
      <p:sp>
        <p:nvSpPr>
          <p:cNvPr id="21" name="TextBox 20"/>
          <p:cNvSpPr txBox="1"/>
          <p:nvPr/>
        </p:nvSpPr>
        <p:spPr>
          <a:xfrm>
            <a:off x="3559987"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Two numbers at most</a:t>
            </a:r>
          </a:p>
        </p:txBody>
      </p:sp>
      <p:sp>
        <p:nvSpPr>
          <p:cNvPr id="22" name="TextBox 21"/>
          <p:cNvSpPr txBox="1"/>
          <p:nvPr/>
        </p:nvSpPr>
        <p:spPr>
          <a:xfrm>
            <a:off x="3559987"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number and the one it is compared with, each with its count.</a:t>
            </a:r>
          </a:p>
        </p:txBody>
      </p:sp>
      <p:sp>
        <p:nvSpPr>
          <p:cNvPr id="23" name="Rounded Rectangle 22"/>
          <p:cNvSpPr/>
          <p:nvPr/>
        </p:nvSpPr>
        <p:spPr>
          <a:xfrm>
            <a:off x="6187287"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388455"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triangle-alert_5ac49fc6abbb.png"/>
          <p:cNvPicPr>
            <a:picLocks noChangeAspect="1"/>
          </p:cNvPicPr>
          <p:nvPr/>
        </p:nvPicPr>
        <p:blipFill>
          <a:blip r:embed="rId7"/>
          <a:stretch>
            <a:fillRect/>
          </a:stretch>
        </p:blipFill>
        <p:spPr>
          <a:xfrm>
            <a:off x="6498183" y="3542728"/>
            <a:ext cx="237744" cy="237744"/>
          </a:xfrm>
          <a:prstGeom prst="rect">
            <a:avLst/>
          </a:prstGeom>
        </p:spPr>
      </p:pic>
      <p:sp>
        <p:nvSpPr>
          <p:cNvPr id="26" name="TextBox 25"/>
          <p:cNvSpPr txBox="1"/>
          <p:nvPr/>
        </p:nvSpPr>
        <p:spPr>
          <a:xfrm>
            <a:off x="6388455"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CAVEAT</a:t>
            </a:r>
          </a:p>
        </p:txBody>
      </p:sp>
      <p:sp>
        <p:nvSpPr>
          <p:cNvPr id="27" name="TextBox 26"/>
          <p:cNvSpPr txBox="1"/>
          <p:nvPr/>
        </p:nvSpPr>
        <p:spPr>
          <a:xfrm>
            <a:off x="6388455"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What would change it</a:t>
            </a:r>
          </a:p>
        </p:txBody>
      </p:sp>
      <p:sp>
        <p:nvSpPr>
          <p:cNvPr id="28" name="TextBox 27"/>
          <p:cNvSpPr txBox="1"/>
          <p:nvPr/>
        </p:nvSpPr>
        <p:spPr>
          <a:xfrm>
            <a:off x="6388455"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one fact that, if it turned out otherwise, would change the claim.</a:t>
            </a:r>
          </a:p>
        </p:txBody>
      </p:sp>
      <p:sp>
        <p:nvSpPr>
          <p:cNvPr id="29" name="Rounded Rectangle 28"/>
          <p:cNvSpPr/>
          <p:nvPr/>
        </p:nvSpPr>
        <p:spPr>
          <a:xfrm>
            <a:off x="9015755" y="3231832"/>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9216923" y="34330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rrow-right_5cc4b632d741.png"/>
          <p:cNvPicPr>
            <a:picLocks noChangeAspect="1"/>
          </p:cNvPicPr>
          <p:nvPr/>
        </p:nvPicPr>
        <p:blipFill>
          <a:blip r:embed="rId8"/>
          <a:stretch>
            <a:fillRect/>
          </a:stretch>
        </p:blipFill>
        <p:spPr>
          <a:xfrm>
            <a:off x="9326651" y="3542728"/>
            <a:ext cx="237744" cy="237744"/>
          </a:xfrm>
          <a:prstGeom prst="rect">
            <a:avLst/>
          </a:prstGeom>
        </p:spPr>
      </p:pic>
      <p:sp>
        <p:nvSpPr>
          <p:cNvPr id="32" name="TextBox 31"/>
          <p:cNvSpPr txBox="1"/>
          <p:nvPr/>
        </p:nvSpPr>
        <p:spPr>
          <a:xfrm>
            <a:off x="9216923" y="3999928"/>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ACTION</a:t>
            </a:r>
          </a:p>
        </p:txBody>
      </p:sp>
      <p:sp>
        <p:nvSpPr>
          <p:cNvPr id="33" name="TextBox 32"/>
          <p:cNvSpPr txBox="1"/>
          <p:nvPr/>
        </p:nvSpPr>
        <p:spPr>
          <a:xfrm>
            <a:off x="9216923" y="4237672"/>
            <a:ext cx="2243251" cy="267716"/>
          </a:xfrm>
          <a:prstGeom prst="rect">
            <a:avLst/>
          </a:prstGeom>
          <a:noFill/>
        </p:spPr>
        <p:txBody>
          <a:bodyPr wrap="square" anchor="t" lIns="0" rIns="0" tIns="0" bIns="0">
            <a:spAutoFit/>
          </a:bodyPr>
          <a:lstStyle/>
          <a:p>
            <a:pPr algn="l"/>
            <a:r>
              <a:rPr sz="1400" b="1" i="0">
                <a:solidFill>
                  <a:srgbClr val="FFFFFF"/>
                </a:solidFill>
                <a:latin typeface="Calibri"/>
              </a:rPr>
              <a:t>Monday's move</a:t>
            </a:r>
          </a:p>
        </p:txBody>
      </p:sp>
      <p:sp>
        <p:nvSpPr>
          <p:cNvPr id="34" name="TextBox 33"/>
          <p:cNvSpPr txBox="1"/>
          <p:nvPr/>
        </p:nvSpPr>
        <p:spPr>
          <a:xfrm>
            <a:off x="9216923" y="4578540"/>
            <a:ext cx="2243251" cy="399796"/>
          </a:xfrm>
          <a:prstGeom prst="rect">
            <a:avLst/>
          </a:prstGeom>
          <a:noFill/>
        </p:spPr>
        <p:txBody>
          <a:bodyPr wrap="square" anchor="t" lIns="0" rIns="0" tIns="0" bIns="0">
            <a:spAutoFit/>
          </a:bodyPr>
          <a:lstStyle/>
          <a:p>
            <a:pPr algn="l"/>
            <a:r>
              <a:rPr sz="1100" b="0" i="0">
                <a:solidFill>
                  <a:srgbClr val="CFC9EE"/>
                </a:solidFill>
                <a:latin typeface="Calibri"/>
              </a:rPr>
              <a:t>Who does what, by when, and what doing it or waiting costs.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claim sentence carries five slots, caveat included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one sentence carry before a board can repeat it?</a:t>
            </a:r>
          </a:p>
        </p:txBody>
      </p:sp>
      <p:sp>
        <p:nvSpPr>
          <p:cNvPr id="10" name="Rounded Rectangle 9"/>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[What you counted] [rose or fell] [by how much],</a:t>
            </a:r>
          </a:p>
          <a:p>
            <a:pPr>
              <a:spcAft>
                <a:spcPts val="200"/>
              </a:spcAft>
            </a:pPr>
            <a:r>
              <a:rPr sz="1400" b="0" i="0">
                <a:solidFill>
                  <a:srgbClr val="E4E1F1"/>
                </a:solidFill>
                <a:latin typeface="Consolas"/>
              </a:rPr>
              <a:t>  from [period] to [period], out of [its denominator];</a:t>
            </a:r>
          </a:p>
          <a:p>
            <a:pPr>
              <a:spcAft>
                <a:spcPts val="200"/>
              </a:spcAft>
            </a:pPr>
            <a:r>
              <a:rPr sz="1400" b="0" i="0">
                <a:solidFill>
                  <a:srgbClr val="E4E1F1"/>
                </a:solidFill>
                <a:latin typeface="Consolas"/>
              </a:rPr>
              <a:t>  [the fact that would change it];</a:t>
            </a:r>
          </a:p>
          <a:p>
            <a:pPr>
              <a:spcAft>
                <a:spcPts val="200"/>
              </a:spcAft>
            </a:pPr>
            <a:r>
              <a:rPr sz="1400" b="0" i="0">
                <a:solidFill>
                  <a:srgbClr val="E4E1F1"/>
                </a:solidFill>
                <a:latin typeface="Consolas"/>
              </a:rPr>
              <a:t>  so [who] [does what] [by when].</a:t>
            </a:r>
          </a:p>
        </p:txBody>
      </p:sp>
      <p:graphicFrame>
        <p:nvGraphicFramePr>
          <p:cNvPr id="15" name="Table 14"/>
          <p:cNvGraphicFramePr>
            <a:graphicFrameLocks noGrp="1"/>
          </p:cNvGraphicFramePr>
          <p:nvPr/>
        </p:nvGraphicFramePr>
        <p:xfrm>
          <a:off x="530352" y="3588512"/>
          <a:ext cx="11130989" cy="2218944"/>
        </p:xfrm>
        <a:graphic>
          <a:graphicData uri="http://schemas.openxmlformats.org/drawingml/2006/table">
            <a:tbl>
              <a:tblPr firstRow="0" bandRow="0">
                <a:tableStyleId>{2D5ABB26-0587-4C30-8999-92F81FD0307C}</a:tableStyleId>
              </a:tblPr>
              <a:tblGrid>
                <a:gridCol w="3561192"/>
                <a:gridCol w="3146920"/>
                <a:gridCol w="4422877"/>
              </a:tblGrid>
              <a:tr h="369824">
                <a:tc>
                  <a:txBody>
                    <a:bodyPr/>
                    <a:lstStyle/>
                    <a:p>
                      <a:r>
                        <a:rPr sz="1450" b="1" i="0">
                          <a:solidFill>
                            <a:srgbClr val="FFFFFF"/>
                          </a:solidFill>
                          <a:latin typeface="Calibri"/>
                        </a:rPr>
                        <a:t>Slot in the sentence</a:t>
                      </a:r>
                    </a:p>
                  </a:txBody>
                  <a:tcPr marL="101600" marR="101600" marT="38100" marB="38100" anchor="ctr">
                    <a:solidFill>
                      <a:srgbClr val="1A0F5C"/>
                    </a:solidFill>
                  </a:tcPr>
                </a:tc>
                <a:tc>
                  <a:txBody>
                    <a:bodyPr/>
                    <a:lstStyle/>
                    <a:p>
                      <a:r>
                        <a:rPr sz="1450" b="1" i="0">
                          <a:solidFill>
                            <a:srgbClr val="FFFFFF"/>
                          </a:solidFill>
                          <a:latin typeface="Calibri"/>
                        </a:rPr>
                        <a:t>The rubric's words for it</a:t>
                      </a:r>
                    </a:p>
                  </a:txBody>
                  <a:tcPr marL="101600" marR="101600" marT="38100" marB="38100" anchor="ctr">
                    <a:solidFill>
                      <a:srgbClr val="1A0F5C"/>
                    </a:solidFill>
                  </a:tcPr>
                </a:tc>
                <a:tc>
                  <a:txBody>
                    <a:bodyPr/>
                    <a:lstStyle/>
                    <a:p>
                      <a:r>
                        <a:rPr sz="1450" b="1" i="0">
                          <a:solidFill>
                            <a:srgbClr val="FFFFFF"/>
                          </a:solidFill>
                          <a:latin typeface="Calibri"/>
                        </a:rPr>
                        <a:t>What a panel asks when it is missing</a:t>
                      </a:r>
                    </a:p>
                  </a:txBody>
                  <a:tcPr marL="101600" marR="101600" marT="38100" marB="38100" anchor="ctr">
                    <a:solidFill>
                      <a:srgbClr val="1A0F5C"/>
                    </a:solidFill>
                  </a:tcPr>
                </a:tc>
              </a:tr>
              <a:tr h="369824">
                <a:tc>
                  <a:txBody>
                    <a:bodyPr/>
                    <a:lstStyle/>
                    <a:p>
                      <a:r>
                        <a:rPr sz="1400" b="0" i="0">
                          <a:solidFill>
                            <a:srgbClr val="1A1440"/>
                          </a:solidFill>
                          <a:latin typeface="Calibri"/>
                        </a:rPr>
                        <a:t>The number, and what was counted</a:t>
                      </a:r>
                    </a:p>
                  </a:txBody>
                  <a:tcPr marL="101600" marR="101600" marT="38100" marB="38100" anchor="ctr">
                    <a:solidFill>
                      <a:srgbClr val="FFFFFF"/>
                    </a:solidFill>
                  </a:tcPr>
                </a:tc>
                <a:tc>
                  <a:txBody>
                    <a:bodyPr/>
                    <a:lstStyle/>
                    <a:p>
                      <a:r>
                        <a:rPr sz="1400" b="0" i="0">
                          <a:solidFill>
                            <a:srgbClr val="1A1440"/>
                          </a:solidFill>
                          <a:latin typeface="Calibri"/>
                        </a:rPr>
                        <a:t>Its number</a:t>
                      </a:r>
                    </a:p>
                  </a:txBody>
                  <a:tcPr marL="101600" marR="101600" marT="38100" marB="38100" anchor="ctr">
                    <a:solidFill>
                      <a:srgbClr val="FFFFFF"/>
                    </a:solidFill>
                  </a:tcPr>
                </a:tc>
                <a:tc>
                  <a:txBody>
                    <a:bodyPr/>
                    <a:lstStyle/>
                    <a:p>
                      <a:r>
                        <a:rPr sz="1400" b="0" i="0">
                          <a:solidFill>
                            <a:srgbClr val="1A1440"/>
                          </a:solidFill>
                          <a:latin typeface="Calibri"/>
                        </a:rPr>
                        <a:t>"Counted how?"</a:t>
                      </a:r>
                    </a:p>
                  </a:txBody>
                  <a:tcPr marL="101600" marR="101600" marT="38100" marB="38100" anchor="ctr">
                    <a:solidFill>
                      <a:srgbClr val="FFFFFF"/>
                    </a:solidFill>
                  </a:tcPr>
                </a:tc>
              </a:tr>
              <a:tr h="369824">
                <a:tc>
                  <a:txBody>
                    <a:bodyPr/>
                    <a:lstStyle/>
                    <a:p>
                      <a:r>
                        <a:rPr sz="1400" b="0" i="0">
                          <a:solidFill>
                            <a:srgbClr val="1A1440"/>
                          </a:solidFill>
                          <a:latin typeface="Calibri"/>
                        </a:rPr>
                        <a:t>Out of what</a:t>
                      </a:r>
                    </a:p>
                  </a:txBody>
                  <a:tcPr marL="101600" marR="101600" marT="38100" marB="38100" anchor="ctr">
                    <a:solidFill>
                      <a:srgbClr val="F4F2FA"/>
                    </a:solidFill>
                  </a:tcPr>
                </a:tc>
                <a:tc>
                  <a:txBody>
                    <a:bodyPr/>
                    <a:lstStyle/>
                    <a:p>
                      <a:r>
                        <a:rPr sz="1400" b="0" i="0">
                          <a:solidFill>
                            <a:srgbClr val="1A1440"/>
                          </a:solidFill>
                          <a:latin typeface="Calibri"/>
                        </a:rPr>
                        <a:t>Its denominator</a:t>
                      </a:r>
                    </a:p>
                  </a:txBody>
                  <a:tcPr marL="101600" marR="101600" marT="38100" marB="38100" anchor="ctr">
                    <a:solidFill>
                      <a:srgbClr val="F4F2FA"/>
                    </a:solidFill>
                  </a:tcPr>
                </a:tc>
                <a:tc>
                  <a:txBody>
                    <a:bodyPr/>
                    <a:lstStyle/>
                    <a:p>
                      <a:r>
                        <a:rPr sz="1400" b="0" i="0">
                          <a:solidFill>
                            <a:srgbClr val="1A1440"/>
                          </a:solidFill>
                          <a:latin typeface="Calibri"/>
                        </a:rPr>
                        <a:t>"Per what?"</a:t>
                      </a:r>
                    </a:p>
                  </a:txBody>
                  <a:tcPr marL="101600" marR="101600" marT="38100" marB="38100" anchor="ctr">
                    <a:solidFill>
                      <a:srgbClr val="F4F2FA"/>
                    </a:solidFill>
                  </a:tcPr>
                </a:tc>
              </a:tr>
              <a:tr h="369824">
                <a:tc>
                  <a:txBody>
                    <a:bodyPr/>
                    <a:lstStyle/>
                    <a:p>
                      <a:r>
                        <a:rPr sz="1400" b="0" i="0">
                          <a:solidFill>
                            <a:srgbClr val="1A1440"/>
                          </a:solidFill>
                          <a:latin typeface="Calibri"/>
                        </a:rPr>
                        <a:t>From when to when</a:t>
                      </a:r>
                    </a:p>
                  </a:txBody>
                  <a:tcPr marL="101600" marR="101600" marT="38100" marB="38100" anchor="ctr">
                    <a:solidFill>
                      <a:srgbClr val="FFFFFF"/>
                    </a:solidFill>
                  </a:tcPr>
                </a:tc>
                <a:tc>
                  <a:txBody>
                    <a:bodyPr/>
                    <a:lstStyle/>
                    <a:p>
                      <a:r>
                        <a:rPr sz="1400" b="0" i="0">
                          <a:solidFill>
                            <a:srgbClr val="1A1440"/>
                          </a:solidFill>
                          <a:latin typeface="Calibri"/>
                        </a:rPr>
                        <a:t>Its period</a:t>
                      </a:r>
                    </a:p>
                  </a:txBody>
                  <a:tcPr marL="101600" marR="101600" marT="38100" marB="38100" anchor="ctr">
                    <a:solidFill>
                      <a:srgbClr val="FFFFFF"/>
                    </a:solidFill>
                  </a:tcPr>
                </a:tc>
                <a:tc>
                  <a:txBody>
                    <a:bodyPr/>
                    <a:lstStyle/>
                    <a:p>
                      <a:r>
                        <a:rPr sz="1400" b="0" i="0">
                          <a:solidFill>
                            <a:srgbClr val="1A1440"/>
                          </a:solidFill>
                          <a:latin typeface="Calibri"/>
                        </a:rPr>
                        <a:t>"Over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What would change it</a:t>
                      </a:r>
                    </a:p>
                  </a:txBody>
                  <a:tcPr marL="101600" marR="101600" marT="38100" marB="38100" anchor="ctr">
                    <a:solidFill>
                      <a:srgbClr val="F4F2FA"/>
                    </a:solidFill>
                  </a:tcPr>
                </a:tc>
                <a:tc>
                  <a:txBody>
                    <a:bodyPr/>
                    <a:lstStyle/>
                    <a:p>
                      <a:r>
                        <a:rPr sz="1400" b="0" i="0">
                          <a:solidFill>
                            <a:srgbClr val="1A1440"/>
                          </a:solidFill>
                          <a:latin typeface="Calibri"/>
                        </a:rPr>
                        <a:t>Its caveat</a:t>
                      </a:r>
                    </a:p>
                  </a:txBody>
                  <a:tcPr marL="101600" marR="101600" marT="38100" marB="38100" anchor="ctr">
                    <a:solidFill>
                      <a:srgbClr val="F4F2FA"/>
                    </a:solidFill>
                  </a:tcPr>
                </a:tc>
                <a:tc>
                  <a:txBody>
                    <a:bodyPr/>
                    <a:lstStyle/>
                    <a:p>
                      <a:r>
                        <a:rPr sz="1400" b="0" i="0">
                          <a:solidFill>
                            <a:srgbClr val="1A1440"/>
                          </a:solidFill>
                          <a:latin typeface="Calibri"/>
                        </a:rPr>
                        <a:t>"And if that is wrong?"</a:t>
                      </a:r>
                    </a:p>
                  </a:txBody>
                  <a:tcPr marL="101600" marR="101600" marT="38100" marB="38100" anchor="ctr">
                    <a:solidFill>
                      <a:srgbClr val="F4F2FA"/>
                    </a:solidFill>
                  </a:tcPr>
                </a:tc>
              </a:tr>
              <a:tr h="369824">
                <a:tc>
                  <a:txBody>
                    <a:bodyPr/>
                    <a:lstStyle/>
                    <a:p>
                      <a:r>
                        <a:rPr sz="1400" b="0" i="0">
                          <a:solidFill>
                            <a:srgbClr val="1A1440"/>
                          </a:solidFill>
                          <a:latin typeface="Calibri"/>
                        </a:rPr>
                        <a:t>Who does what next</a:t>
                      </a:r>
                    </a:p>
                  </a:txBody>
                  <a:tcPr marL="101600" marR="101600" marT="38100" marB="38100" anchor="ctr">
                    <a:solidFill>
                      <a:srgbClr val="FFFFFF"/>
                    </a:solidFill>
                  </a:tcPr>
                </a:tc>
                <a:tc>
                  <a:txBody>
                    <a:bodyPr/>
                    <a:lstStyle/>
                    <a:p>
                      <a:r>
                        <a:rPr sz="1400" b="0" i="0">
                          <a:solidFill>
                            <a:srgbClr val="1A1440"/>
                          </a:solidFill>
                          <a:latin typeface="Calibri"/>
                        </a:rPr>
                        <a:t>An action Dr Menon can take</a:t>
                      </a:r>
                    </a:p>
                  </a:txBody>
                  <a:tcPr marL="101600" marR="101600" marT="38100" marB="38100" anchor="ctr">
                    <a:solidFill>
                      <a:srgbClr val="FFFFFF"/>
                    </a:solidFill>
                  </a:tcPr>
                </a:tc>
                <a:tc>
                  <a:txBody>
                    <a:bodyPr/>
                    <a:lstStyle/>
                    <a:p>
                      <a:r>
                        <a:rPr sz="1400" b="0" i="0">
                          <a:solidFill>
                            <a:srgbClr val="1A1440"/>
                          </a:solidFill>
                          <a:latin typeface="Calibri"/>
                        </a:rPr>
                        <a:t>"So what do I do?"</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states its growth as a count and a rate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listed US laboratory state a quarter's growth, with its denominator?</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10.3%</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LABORATORY REVENUES, Q2 2026 ON 2025</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$2,978 million, diagnostic information services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13.1%</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REQUISITIONS</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doctors' orders for tests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LESS REVENUE PER REQUISITION</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rate: dollars per order</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Quest Diagnostics printed its laboratory business's second quarter of 2026 as a total beside a count and a rate, so a reader sees that volume grew faster than revenue as each order brought in less (Quest's second-quarter 2026 results, 23 July 2026).</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sentence can Dr Menon carry?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sentences, on one invented quarter at a Kalpa Health laboratory, can a board repeat?</a:t>
            </a:r>
          </a:p>
        </p:txBody>
      </p:sp>
      <p:sp>
        <p:nvSpPr>
          <p:cNvPr id="10" name="Rounded Rectangle 9"/>
          <p:cNvSpPr/>
          <p:nvPr/>
        </p:nvSpPr>
        <p:spPr>
          <a:xfrm>
            <a:off x="530352" y="194183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6984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6070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lab director's invented quarter: median turnaround, from draw to released result, 22 hours in Q2 and 18 in Q3 on 9,400 tests, and 14 in Q3 when timed from the sample's arrival at the lab. Which sentence can Dr Menon carry? Answer as a letter.</a:t>
            </a:r>
          </a:p>
        </p:txBody>
      </p:sp>
      <p:sp>
        <p:nvSpPr>
          <p:cNvPr id="13" name="TextBox 12"/>
          <p:cNvSpPr txBox="1"/>
          <p:nvPr/>
        </p:nvSpPr>
        <p:spPr>
          <a:xfrm>
            <a:off x="530352" y="3180842"/>
            <a:ext cx="11130991" cy="275945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Turnaround fell from 22 hours to 18 across the whole laboratory in Q3, the sharpest gain of the year, and the lab director's team has earned the credit for every hour of it.</a:t>
            </a:r>
          </a:p>
          <a:p>
            <a:pPr>
              <a:spcAft>
                <a:spcPts val="800"/>
              </a:spcAft>
            </a:pPr>
            <a:r>
              <a:rPr sz="1600" b="0" i="0">
                <a:solidFill>
                  <a:srgbClr val="1A1440"/>
                </a:solidFill>
                <a:latin typeface="Calibri"/>
              </a:rPr>
              <a:t>b) Median draw-to-result fell from 22 to 18 hours, Q2 to Q3, on 9,400 tests, part of it maybe the courier's; the lab director keeps the evening run, at its present cost, through Q4.</a:t>
            </a:r>
          </a:p>
          <a:p>
            <a:pPr>
              <a:spcAft>
                <a:spcPts val="800"/>
              </a:spcAft>
            </a:pPr>
            <a:r>
              <a:rPr sz="1600" b="0" i="0">
                <a:solidFill>
                  <a:srgbClr val="1A1440"/>
                </a:solidFill>
                <a:latin typeface="Calibri"/>
              </a:rPr>
              <a:t>c) Our analysis of 9,400 tests in Q3 shows promising signs which may possibly point towards faster results for doctors, and for their patients, over the coming quarters.</a:t>
            </a:r>
          </a:p>
          <a:p>
            <a:pPr>
              <a:spcAft>
                <a:spcPts val="800"/>
              </a:spcAft>
            </a:pPr>
            <a:r>
              <a:rPr sz="1600" b="0" i="0">
                <a:solidFill>
                  <a:srgbClr val="1A1440"/>
                </a:solidFill>
                <a:latin typeface="Calibri"/>
              </a:rPr>
              <a:t>d) Turnaround is down to 18 hours in Q3 on 9,400 tests, so the evening courier run can stop from the start of Q4 and its whole cost can come straight out of the laboratory's running budget.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b, the one sentence that fills all five slots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can Dr Menon carry, and why does each other one fail?</a:t>
            </a:r>
          </a:p>
        </p:txBody>
      </p:sp>
      <p:graphicFrame>
        <p:nvGraphicFramePr>
          <p:cNvPr id="10" name="Table 9"/>
          <p:cNvGraphicFramePr>
            <a:graphicFrameLocks noGrp="1"/>
          </p:cNvGraphicFramePr>
          <p:nvPr/>
        </p:nvGraphicFramePr>
        <p:xfrm>
          <a:off x="530352" y="1844040"/>
          <a:ext cx="11130991" cy="281635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Numbers with no count, no caveat and no action, and credit nobody tested; a board member's first question breaks it</a:t>
                      </a:r>
                    </a:p>
                  </a:txBody>
                  <a:tcPr marL="101600" marR="101600" marT="38100" marB="38100" anchor="ctr">
                    <a:solidFill>
                      <a:srgbClr val="FFFFFF"/>
                    </a:solidFill>
                  </a:tcPr>
                </a:tc>
              </a:tr>
              <a:tr h="611632">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Holds: number, 22 to 18 hours; denominator, 9,400 tests; period, Q2 to Q3; caveat, part may be the courier's; action, who, what, until when and at what cost</a:t>
                      </a:r>
                    </a:p>
                  </a:txBody>
                  <a:tcPr marL="101600" marR="101600" marT="38100" marB="38100" anchor="ctr">
                    <a:solidFill>
                      <a:srgbClr val="F4F2FA"/>
                    </a:solidFill>
                  </a:tcPr>
                </a:tc>
              </a:tr>
              <a:tr h="611632">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A count with no number, nothing to compare it with and no action, and every word hedged, so nobody can act on it or disagree with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number and an action with no Q2 to compare and no caveat, and the action cuts the courier run whose hours sit inside the 18</a:t>
                      </a:r>
                    </a:p>
                  </a:txBody>
                  <a:tcPr marL="101600" marR="101600" marT="38100" marB="38100" anchor="ctr">
                    <a:solidFill>
                      <a:srgbClr val="F4F2FA"/>
                    </a:solidFill>
                  </a:tcPr>
                </a:tc>
              </a:tr>
            </a:tbl>
          </a:graphicData>
        </a:graphic>
      </p:graphicFrame>
      <p:sp>
        <p:nvSpPr>
          <p:cNvPr id="11" name="Rounded Rectangle 10"/>
          <p:cNvSpPr/>
          <p:nvPr/>
        </p:nvSpPr>
        <p:spPr>
          <a:xfrm>
            <a:off x="530352" y="49164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86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58384"/>
            <a:ext cx="237744" cy="237744"/>
          </a:xfrm>
          <a:prstGeom prst="rect">
            <a:avLst/>
          </a:prstGeom>
        </p:spPr>
      </p:pic>
      <p:sp>
        <p:nvSpPr>
          <p:cNvPr id="14" name="TextBox 13"/>
          <p:cNvSpPr txBox="1"/>
          <p:nvPr/>
        </p:nvSpPr>
        <p:spPr>
          <a:xfrm>
            <a:off x="1399031" y="5062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82184"/>
            <a:ext cx="9987991" cy="682752"/>
          </a:xfrm>
          <a:prstGeom prst="rect">
            <a:avLst/>
          </a:prstGeom>
          <a:noFill/>
        </p:spPr>
        <p:txBody>
          <a:bodyPr wrap="square" anchor="t" lIns="0" rIns="0" tIns="0" bIns="0">
            <a:spAutoFit/>
          </a:bodyPr>
          <a:lstStyle/>
          <a:p>
            <a:r>
              <a:rPr sz="1500" b="0" i="0">
                <a:solidFill>
                  <a:srgbClr val="1A1440"/>
                </a:solidFill>
                <a:latin typeface="Calibri"/>
              </a:rPr>
              <a:t>Read your claim aloud and ask what you counted, out of what, over which window, and what would change it; if any is missing, the panel will ask for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caveat names the fact that would change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caveat from a disclaimer that protects nobody?</a:t>
            </a:r>
          </a:p>
        </p:txBody>
      </p:sp>
      <p:graphicFrame>
        <p:nvGraphicFramePr>
          <p:cNvPr id="10" name="Table 9"/>
          <p:cNvGraphicFramePr>
            <a:graphicFrameLocks noGrp="1"/>
          </p:cNvGraphicFramePr>
          <p:nvPr/>
        </p:nvGraphicFramePr>
        <p:xfrm>
          <a:off x="530352" y="1956816"/>
          <a:ext cx="11130990" cy="1406144"/>
        </p:xfrm>
        <a:graphic>
          <a:graphicData uri="http://schemas.openxmlformats.org/drawingml/2006/table">
            <a:tbl>
              <a:tblPr firstRow="0" bandRow="0">
                <a:tableStyleId>{2D5ABB26-0587-4C30-8999-92F81FD0307C}</a:tableStyleId>
              </a:tblPr>
              <a:tblGrid>
                <a:gridCol w="4251807"/>
                <a:gridCol w="6879183"/>
              </a:tblGrid>
              <a:tr h="310896">
                <a:tc>
                  <a:txBody>
                    <a:bodyPr/>
                    <a:lstStyle/>
                    <a:p>
                      <a:r>
                        <a:rPr sz="1050" b="1" i="0">
                          <a:solidFill>
                            <a:srgbClr val="FFFFFF"/>
                          </a:solidFill>
                          <a:latin typeface="Calibri"/>
                        </a:rPr>
                        <a:t>A disclaimer</a:t>
                      </a:r>
                    </a:p>
                  </a:txBody>
                  <a:tcPr marL="101600" marR="101600" marT="38100" marB="38100" anchor="ctr">
                    <a:solidFill>
                      <a:srgbClr val="1A0F5C"/>
                    </a:solidFill>
                  </a:tcPr>
                </a:tc>
                <a:tc>
                  <a:txBody>
                    <a:bodyPr/>
                    <a:lstStyle/>
                    <a:p>
                      <a:r>
                        <a:rPr sz="1050" b="1" i="0">
                          <a:solidFill>
                            <a:srgbClr val="FFFFFF"/>
                          </a:solidFill>
                          <a:latin typeface="Calibri"/>
                        </a:rPr>
                        <a:t>A caveat, on the invented turnaround quarter</a:t>
                      </a:r>
                    </a:p>
                  </a:txBody>
                  <a:tcPr marL="101600" marR="101600" marT="38100" marB="38100" anchor="ctr">
                    <a:solidFill>
                      <a:srgbClr val="1A0F5C"/>
                    </a:solidFill>
                  </a:tcPr>
                </a:tc>
              </a:tr>
              <a:tr h="473456">
                <a:tc>
                  <a:txBody>
                    <a:bodyPr/>
                    <a:lstStyle/>
                    <a:p>
                      <a:r>
                        <a:rPr sz="1000" b="0" i="0">
                          <a:solidFill>
                            <a:srgbClr val="1A1440"/>
                          </a:solidFill>
                          <a:latin typeface="Calibri"/>
                        </a:rPr>
                        <a:t>"The data may have quality issues."</a:t>
                      </a:r>
                    </a:p>
                  </a:txBody>
                  <a:tcPr marL="101600" marR="101600" marT="38100" marB="38100" anchor="ctr">
                    <a:solidFill>
                      <a:srgbClr val="FFFFFF"/>
                    </a:solidFill>
                  </a:tcPr>
                </a:tc>
                <a:tc>
                  <a:txBody>
                    <a:bodyPr/>
                    <a:lstStyle/>
                    <a:p>
                      <a:r>
                        <a:rPr sz="1000" b="0" i="0">
                          <a:solidFill>
                            <a:srgbClr val="1A1440"/>
                          </a:solidFill>
                          <a:latin typeface="Calibri"/>
                        </a:rPr>
                        <a:t>"If the draw sites' clocks moved by an hour in July, between the quarters, the fall could be 3 hours, not 4."</a:t>
                      </a:r>
                    </a:p>
                  </a:txBody>
                  <a:tcPr marL="101600" marR="101600" marT="38100" marB="38100" anchor="ctr">
                    <a:solidFill>
                      <a:srgbClr val="FFFFFF"/>
                    </a:solidFill>
                  </a:tcPr>
                </a:tc>
              </a:tr>
              <a:tr h="310896">
                <a:tc>
                  <a:txBody>
                    <a:bodyPr/>
                    <a:lstStyle/>
                    <a:p>
                      <a:r>
                        <a:rPr sz="1000" b="0" i="0">
                          <a:solidFill>
                            <a:srgbClr val="1A1440"/>
                          </a:solidFill>
                          <a:latin typeface="Calibri"/>
                        </a:rPr>
                        <a:t>"Results may vary."</a:t>
                      </a:r>
                    </a:p>
                  </a:txBody>
                  <a:tcPr marL="101600" marR="101600" marT="38100" marB="38100" anchor="ctr">
                    <a:solidFill>
                      <a:srgbClr val="F4F2FA"/>
                    </a:solidFill>
                  </a:tcPr>
                </a:tc>
                <a:tc>
                  <a:txBody>
                    <a:bodyPr/>
                    <a:lstStyle/>
                    <a:p>
                      <a:r>
                        <a:rPr sz="1000" b="0" i="0">
                          <a:solidFill>
                            <a:srgbClr val="1A1440"/>
                          </a:solidFill>
                          <a:latin typeface="Calibri"/>
                        </a:rPr>
                        <a:t>"Timed from arrival at the lab, Q3 reads 14 hours, so part of the gain could be the courier's."</a:t>
                      </a:r>
                    </a:p>
                  </a:txBody>
                  <a:tcPr marL="101600" marR="101600" marT="38100" marB="38100" anchor="ctr">
                    <a:solidFill>
                      <a:srgbClr val="F4F2FA"/>
                    </a:solidFill>
                  </a:tcPr>
                </a:tc>
              </a:tr>
              <a:tr h="310896">
                <a:tc>
                  <a:txBody>
                    <a:bodyPr/>
                    <a:lstStyle/>
                    <a:p>
                      <a:r>
                        <a:rPr sz="1000" b="0" i="0">
                          <a:solidFill>
                            <a:srgbClr val="1A1440"/>
                          </a:solidFill>
                          <a:latin typeface="Calibri"/>
                        </a:rPr>
                        <a:t>"Further analysis is needed."</a:t>
                      </a:r>
                    </a:p>
                  </a:txBody>
                  <a:tcPr marL="101600" marR="101600" marT="38100" marB="38100" anchor="ctr">
                    <a:solidFill>
                      <a:srgbClr val="FFFFFF"/>
                    </a:solidFill>
                  </a:tcPr>
                </a:tc>
                <a:tc>
                  <a:txBody>
                    <a:bodyPr/>
                    <a:lstStyle/>
                    <a:p>
                      <a:r>
                        <a:rPr sz="1000" b="0" i="0">
                          <a:solidFill>
                            <a:srgbClr val="1A1440"/>
                          </a:solidFill>
                          <a:latin typeface="Calibri"/>
                        </a:rPr>
                        <a:t>"One quarter of 9,400 tests; a second quarter at 18 or below would settle it."</a:t>
                      </a:r>
                    </a:p>
                  </a:txBody>
                  <a:tcPr marL="101600" marR="101600" marT="38100" marB="38100" anchor="ctr">
                    <a:solidFill>
                      <a:srgbClr val="FFFFFF"/>
                    </a:solidFill>
                  </a:tcPr>
                </a:tc>
              </a:tr>
            </a:tbl>
          </a:graphicData>
        </a:graphic>
      </p:graphicFrame>
      <p:pic>
        <p:nvPicPr>
          <p:cNvPr id="11" name="mermaid diagram" descr="c167dd73de337000.png"/>
          <p:cNvPicPr>
            <a:picLocks noChangeAspect="1"/>
          </p:cNvPicPr>
          <p:nvPr/>
        </p:nvPicPr>
        <p:blipFill>
          <a:blip r:embed="rId5"/>
          <a:stretch>
            <a:fillRect/>
          </a:stretch>
        </p:blipFill>
        <p:spPr>
          <a:xfrm>
            <a:off x="2195360" y="3618992"/>
            <a:ext cx="78009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action names who does what, by when, at what cost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an action one Dr Menon can take on Monday?</a:t>
            </a:r>
          </a:p>
        </p:txBody>
      </p:sp>
      <p:graphicFrame>
        <p:nvGraphicFramePr>
          <p:cNvPr id="10" name="Table 9"/>
          <p:cNvGraphicFramePr>
            <a:graphicFrameLocks noGrp="1"/>
          </p:cNvGraphicFramePr>
          <p:nvPr/>
        </p:nvGraphicFramePr>
        <p:xfrm>
          <a:off x="530352" y="1956816"/>
          <a:ext cx="11130990" cy="1462024"/>
        </p:xfrm>
        <a:graphic>
          <a:graphicData uri="http://schemas.openxmlformats.org/drawingml/2006/table">
            <a:tbl>
              <a:tblPr firstRow="0" bandRow="0">
                <a:tableStyleId>{2D5ABB26-0587-4C30-8999-92F81FD0307C}</a:tableStyleId>
              </a:tblPr>
              <a:tblGrid>
                <a:gridCol w="3802540"/>
                <a:gridCol w="7328450"/>
              </a:tblGrid>
              <a:tr h="318008">
                <a:tc>
                  <a:txBody>
                    <a:bodyPr/>
                    <a:lstStyle/>
                    <a:p>
                      <a:r>
                        <a:rPr sz="1150" b="1" i="0">
                          <a:solidFill>
                            <a:srgbClr val="FFFFFF"/>
                          </a:solidFill>
                          <a:latin typeface="Calibri"/>
                        </a:rPr>
                        <a:t>An action nobody can take</a:t>
                      </a:r>
                    </a:p>
                  </a:txBody>
                  <a:tcPr marL="101600" marR="101600" marT="38100" marB="38100" anchor="ctr">
                    <a:solidFill>
                      <a:srgbClr val="1A0F5C"/>
                    </a:solidFill>
                  </a:tcPr>
                </a:tc>
                <a:tc>
                  <a:txBody>
                    <a:bodyPr/>
                    <a:lstStyle/>
                    <a:p>
                      <a:r>
                        <a:rPr sz="1150" b="1" i="0">
                          <a:solidFill>
                            <a:srgbClr val="FFFFFF"/>
                          </a:solidFill>
                          <a:latin typeface="Calibri"/>
                        </a:rPr>
                        <a:t>An action Dr Menon can take</a:t>
                      </a:r>
                    </a:p>
                  </a:txBody>
                  <a:tcPr marL="101600" marR="101600" marT="38100" marB="38100" anchor="ctr">
                    <a:solidFill>
                      <a:srgbClr val="1A0F5C"/>
                    </a:solidFill>
                  </a:tcPr>
                </a:tc>
              </a:tr>
              <a:tr h="508000">
                <a:tc>
                  <a:txBody>
                    <a:bodyPr/>
                    <a:lstStyle/>
                    <a:p>
                      <a:r>
                        <a:rPr sz="1100" b="0" i="0">
                          <a:solidFill>
                            <a:srgbClr val="1A1440"/>
                          </a:solidFill>
                          <a:latin typeface="Calibri"/>
                        </a:rPr>
                        <a:t>"Improve turnaround further."</a:t>
                      </a:r>
                    </a:p>
                  </a:txBody>
                  <a:tcPr marL="101600" marR="101600" marT="38100" marB="38100" anchor="ctr">
                    <a:solidFill>
                      <a:srgbClr val="FFFFFF"/>
                    </a:solidFill>
                  </a:tcPr>
                </a:tc>
                <a:tc>
                  <a:txBody>
                    <a:bodyPr/>
                    <a:lstStyle/>
                    <a:p>
                      <a:r>
                        <a:rPr sz="1100" b="0" i="0">
                          <a:solidFill>
                            <a:srgbClr val="1A1440"/>
                          </a:solidFill>
                          <a:latin typeface="Calibri"/>
                        </a:rPr>
                        <a:t>"The lab director keeps the evening courier run through Q4 and reports turnaround from draw again in January."</a:t>
                      </a:r>
                    </a:p>
                  </a:txBody>
                  <a:tcPr marL="101600" marR="101600" marT="38100" marB="38100" anchor="ctr">
                    <a:solidFill>
                      <a:srgbClr val="FFFFFF"/>
                    </a:solidFill>
                  </a:tcPr>
                </a:tc>
              </a:tr>
              <a:tr h="318008">
                <a:tc>
                  <a:txBody>
                    <a:bodyPr/>
                    <a:lstStyle/>
                    <a:p>
                      <a:r>
                        <a:rPr sz="1100" b="0" i="0">
                          <a:solidFill>
                            <a:srgbClr val="1A1440"/>
                          </a:solidFill>
                          <a:latin typeface="Calibri"/>
                        </a:rPr>
                        <a:t>"Investigate the courier."</a:t>
                      </a:r>
                    </a:p>
                  </a:txBody>
                  <a:tcPr marL="101600" marR="101600" marT="38100" marB="38100" anchor="ctr">
                    <a:solidFill>
                      <a:srgbClr val="F4F2FA"/>
                    </a:solidFill>
                  </a:tcPr>
                </a:tc>
                <a:tc>
                  <a:txBody>
                    <a:bodyPr/>
                    <a:lstStyle/>
                    <a:p>
                      <a:r>
                        <a:rPr sz="1100" b="0" i="0">
                          <a:solidFill>
                            <a:srgbClr val="1A1440"/>
                          </a:solidFill>
                          <a:latin typeface="Calibri"/>
                        </a:rPr>
                        <a:t>"Time 200 samples by hand at the draw site and at the lab next week, at two staff days."</a:t>
                      </a:r>
                    </a:p>
                  </a:txBody>
                  <a:tcPr marL="101600" marR="101600" marT="38100" marB="38100" anchor="ctr">
                    <a:solidFill>
                      <a:srgbClr val="F4F2FA"/>
                    </a:solidFill>
                  </a:tcPr>
                </a:tc>
              </a:tr>
              <a:tr h="318008">
                <a:tc>
                  <a:txBody>
                    <a:bodyPr/>
                    <a:lstStyle/>
                    <a:p>
                      <a:r>
                        <a:rPr sz="1100" b="0" i="0">
                          <a:solidFill>
                            <a:srgbClr val="1A1440"/>
                          </a:solidFill>
                          <a:latin typeface="Calibri"/>
                        </a:rPr>
                        <a:t>"Monitor the situation."</a:t>
                      </a:r>
                    </a:p>
                  </a:txBody>
                  <a:tcPr marL="101600" marR="101600" marT="38100" marB="38100" anchor="ctr">
                    <a:solidFill>
                      <a:srgbClr val="FFFFFF"/>
                    </a:solidFill>
                  </a:tcPr>
                </a:tc>
                <a:tc>
                  <a:txBody>
                    <a:bodyPr/>
                    <a:lstStyle/>
                    <a:p>
                      <a:r>
                        <a:rPr sz="1100" b="0" i="0">
                          <a:solidFill>
                            <a:srgbClr val="1A1440"/>
                          </a:solidFill>
                          <a:latin typeface="Calibri"/>
                        </a:rPr>
                        <a:t>"Hold the courier contract renewal until Q4's figure is in, which costs one month's delay."</a:t>
                      </a:r>
                    </a:p>
                  </a:txBody>
                  <a:tcPr marL="101600" marR="101600" marT="38100" marB="38100" anchor="ctr">
                    <a:solidFill>
                      <a:srgbClr val="FFFFFF"/>
                    </a:solidFill>
                  </a:tcPr>
                </a:tc>
              </a:tr>
            </a:tbl>
          </a:graphicData>
        </a:graphic>
      </p:graphicFrame>
      <p:pic>
        <p:nvPicPr>
          <p:cNvPr id="11" name="mermaid diagram" descr="7c0d935dd6f35403.png"/>
          <p:cNvPicPr>
            <a:picLocks noChangeAspect="1"/>
          </p:cNvPicPr>
          <p:nvPr/>
        </p:nvPicPr>
        <p:blipFill>
          <a:blip r:embed="rId5"/>
          <a:stretch>
            <a:fillRect/>
          </a:stretch>
        </p:blipFill>
        <p:spPr>
          <a:xfrm>
            <a:off x="2859728" y="3674872"/>
            <a:ext cx="6472237"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sentence leads, and four parts back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2944368"/>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four parts make the slide?</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in the order Week 1 Thursday's note set them</a:t>
                      </a:r>
                    </a:p>
                  </a:txBody>
                  <a:tcPr marL="101600" marR="101600" marT="38100" marB="38100" anchor="ctr">
                    <a:solidFill>
                      <a:srgbClr val="FFFFFF"/>
                    </a:solidFill>
                  </a:tcPr>
                </a:tc>
              </a:tr>
              <a:tr h="369824">
                <a:tc>
                  <a:txBody>
                    <a:bodyPr/>
                    <a:lstStyle/>
                    <a:p>
                      <a:r>
                        <a:rPr sz="1400" b="0" i="0">
                          <a:solidFill>
                            <a:srgbClr val="1A1440"/>
                          </a:solidFill>
                          <a:latin typeface="Calibri"/>
                        </a:rPr>
                        <a:t>What must the claim sentence carry?</a:t>
                      </a:r>
                    </a:p>
                  </a:txBody>
                  <a:tcPr marL="101600" marR="101600" marT="38100" marB="38100" anchor="ctr">
                    <a:solidFill>
                      <a:srgbClr val="F4F2FA"/>
                    </a:solidFill>
                  </a:tcPr>
                </a:tc>
                <a:tc>
                  <a:txBody>
                    <a:bodyPr/>
                    <a:lstStyle/>
                    <a:p>
                      <a:r>
                        <a:rPr sz="1400" b="0" i="0">
                          <a:solidFill>
                            <a:srgbClr val="1A1440"/>
                          </a:solidFill>
                          <a:latin typeface="Calibri"/>
                        </a:rPr>
                        <a:t>Its number, denominator, period and caveat, plus an action</a:t>
                      </a:r>
                    </a:p>
                  </a:txBody>
                  <a:tcPr marL="101600" marR="101600" marT="38100" marB="38100" anchor="ctr">
                    <a:solidFill>
                      <a:srgbClr val="F4F2FA"/>
                    </a:solidFill>
                  </a:tcPr>
                </a:tc>
              </a:tr>
              <a:tr h="611632">
                <a:tc>
                  <a:txBody>
                    <a:bodyPr/>
                    <a:lstStyle/>
                    <a:p>
                      <a:r>
                        <a:rPr sz="1400" b="0" i="0">
                          <a:solidFill>
                            <a:srgbClr val="1A1440"/>
                          </a:solidFill>
                          <a:latin typeface="Calibri"/>
                        </a:rPr>
                        <a:t>How does a listed lab say it?</a:t>
                      </a:r>
                    </a:p>
                  </a:txBody>
                  <a:tcPr marL="101600" marR="101600" marT="38100" marB="38100" anchor="ctr">
                    <a:solidFill>
                      <a:srgbClr val="FFFFFF"/>
                    </a:solidFill>
                  </a:tcPr>
                </a:tc>
                <a:tc>
                  <a:txBody>
                    <a:bodyPr/>
                    <a:lstStyle/>
                    <a:p>
                      <a:r>
                        <a:rPr sz="1400" b="0" i="0">
                          <a:solidFill>
                            <a:srgbClr val="1A1440"/>
                          </a:solidFill>
                          <a:latin typeface="Calibri"/>
                        </a:rPr>
                        <a:t>As a total beside a count and a rate per unit, as Quest did for its second quarter of 2026</a:t>
                      </a:r>
                    </a:p>
                  </a:txBody>
                  <a:tcPr marL="101600" marR="101600" marT="38100" marB="38100" anchor="ctr">
                    <a:solidFill>
                      <a:srgbClr val="FFFFFF"/>
                    </a:solidFill>
                  </a:tcPr>
                </a:tc>
              </a:tr>
              <a:tr h="369824">
                <a:tc>
                  <a:txBody>
                    <a:bodyPr/>
                    <a:lstStyle/>
                    <a:p>
                      <a:r>
                        <a:rPr sz="1400" b="0" i="0">
                          <a:solidFill>
                            <a:srgbClr val="1A1440"/>
                          </a:solidFill>
                          <a:latin typeface="Calibri"/>
                        </a:rPr>
                        <a:t>Which sentence can she carry?</a:t>
                      </a:r>
                    </a:p>
                  </a:txBody>
                  <a:tcPr marL="101600" marR="101600" marT="38100" marB="38100" anchor="ctr">
                    <a:solidFill>
                      <a:srgbClr val="F4F2FA"/>
                    </a:solidFill>
                  </a:tcPr>
                </a:tc>
                <a:tc>
                  <a:txBody>
                    <a:bodyPr/>
                    <a:lstStyle/>
                    <a:p>
                      <a:r>
                        <a:rPr sz="1400" b="0" i="0">
                          <a:solidFill>
                            <a:srgbClr val="1A1440"/>
                          </a:solidFill>
                          <a:latin typeface="Calibri"/>
                        </a:rPr>
                        <a:t>The one that fills all five slots, b on the invented quarter</a:t>
                      </a:r>
                    </a:p>
                  </a:txBody>
                  <a:tcPr marL="101600" marR="101600" marT="38100" marB="38100" anchor="ctr">
                    <a:solidFill>
                      <a:srgbClr val="F4F2FA"/>
                    </a:solidFill>
                  </a:tcPr>
                </a:tc>
              </a:tr>
              <a:tr h="611632">
                <a:tc>
                  <a:txBody>
                    <a:bodyPr/>
                    <a:lstStyle/>
                    <a:p>
                      <a:r>
                        <a:rPr sz="1400" b="0" i="0">
                          <a:solidFill>
                            <a:srgbClr val="1A1440"/>
                          </a:solidFill>
                          <a:latin typeface="Calibri"/>
                        </a:rPr>
                        <a:t>What makes a caveat, and an action?</a:t>
                      </a:r>
                    </a:p>
                  </a:txBody>
                  <a:tcPr marL="101600" marR="101600" marT="38100" marB="38100" anchor="ctr">
                    <a:solidFill>
                      <a:srgbClr val="FFFFFF"/>
                    </a:solidFill>
                  </a:tcPr>
                </a:tc>
                <a:tc>
                  <a:txBody>
                    <a:bodyPr/>
                    <a:lstStyle/>
                    <a:p>
                      <a:r>
                        <a:rPr sz="1400" b="0" i="0">
                          <a:solidFill>
                            <a:srgbClr val="1A1440"/>
                          </a:solidFill>
                          <a:latin typeface="Calibri"/>
                        </a:rPr>
                        <a:t>A caveat names one checkable fact that would move the claim; an action names who, what, by when and at what cost</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Read the slide aloud in two minutes; if a board member could still ask "per what?" or "so what do I do?", the slide is not done.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the claim earned?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translation, the data made trustworthy, the analysis and one change for Build 2 earn your claim in ten minutes?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scores 28 of 40 marks from these ten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body of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scores the translation (8 marks), the data made trustworthy (10) and the analysis (10) from these ten minutes, and Dr Menon, whose board will ask how sure the team is; a part the group skips is marks the panel cannot give.</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translation</a:t>
            </a:r>
          </a:p>
        </p:txBody>
      </p:sp>
      <p:sp>
        <p:nvSpPr>
          <p:cNvPr id="18" name="TextBox 17"/>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show her question is one you have answered before?</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Kalpa Health words play the part of words you know?</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data</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log rows show the data can be trusted?</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charts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rules let a chart carry one message?</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Differently</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one change does your group take into Build 2, the second build week?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translation maps her words onto a move you own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show that her question is one you have answered before?</a:t>
            </a:r>
          </a:p>
        </p:txBody>
      </p:sp>
      <p:pic>
        <p:nvPicPr>
          <p:cNvPr id="10" name="mermaid diagram" descr="115b3e3f7382f104.png"/>
          <p:cNvPicPr>
            <a:picLocks noChangeAspect="1"/>
          </p:cNvPicPr>
          <p:nvPr/>
        </p:nvPicPr>
        <p:blipFill>
          <a:blip r:embed="rId5"/>
          <a:stretch>
            <a:fillRect/>
          </a:stretch>
        </p:blipFill>
        <p:spPr>
          <a:xfrm>
            <a:off x="1016641" y="1895380"/>
            <a:ext cx="10158412" cy="1128712"/>
          </a:xfrm>
          <a:prstGeom prst="rect">
            <a:avLst/>
          </a:prstGeom>
        </p:spPr>
      </p:pic>
      <p:graphicFrame>
        <p:nvGraphicFramePr>
          <p:cNvPr id="11" name="Table 10"/>
          <p:cNvGraphicFramePr>
            <a:graphicFrameLocks noGrp="1"/>
          </p:cNvGraphicFramePr>
          <p:nvPr/>
        </p:nvGraphicFramePr>
        <p:xfrm>
          <a:off x="530352" y="3170396"/>
          <a:ext cx="11130989" cy="2816352"/>
        </p:xfrm>
        <a:graphic>
          <a:graphicData uri="http://schemas.openxmlformats.org/drawingml/2006/table">
            <a:tbl>
              <a:tblPr firstRow="0" bandRow="0">
                <a:tableStyleId>{2D5ABB26-0587-4C30-8999-92F81FD0307C}</a:tableStyleId>
              </a:tblPr>
              <a:tblGrid>
                <a:gridCol w="3940934"/>
                <a:gridCol w="4227626"/>
                <a:gridCol w="2962429"/>
              </a:tblGrid>
              <a:tr h="369824">
                <a:tc>
                  <a:txBody>
                    <a:bodyPr/>
                    <a:lstStyle/>
                    <a:p>
                      <a:r>
                        <a:rPr sz="1450" b="1" i="0">
                          <a:solidFill>
                            <a:srgbClr val="FFFFFF"/>
                          </a:solidFill>
                          <a:latin typeface="Calibri"/>
                        </a:rPr>
                        <a:t>The question's shape</a:t>
                      </a:r>
                    </a:p>
                  </a:txBody>
                  <a:tcPr marL="101600" marR="101600" marT="38100" marB="38100" anchor="ctr">
                    <a:solidFill>
                      <a:srgbClr val="1A0F5C"/>
                    </a:solidFill>
                  </a:tcPr>
                </a:tc>
                <a:tc>
                  <a:txBody>
                    <a:bodyPr/>
                    <a:lstStyle/>
                    <a:p>
                      <a:r>
                        <a:rPr sz="1450" b="1" i="0">
                          <a:solidFill>
                            <a:srgbClr val="FFFFFF"/>
                          </a:solidFill>
                          <a:latin typeface="Calibri"/>
                        </a:rPr>
                        <a:t>The move you own</a:t>
                      </a:r>
                    </a:p>
                  </a:txBody>
                  <a:tcPr marL="101600" marR="101600" marT="38100" marB="38100" anchor="ctr">
                    <a:solidFill>
                      <a:srgbClr val="1A0F5C"/>
                    </a:solidFill>
                  </a:tcPr>
                </a:tc>
                <a:tc>
                  <a:txBody>
                    <a:bodyPr/>
                    <a:lstStyle/>
                    <a:p>
                      <a:r>
                        <a:rPr sz="1450" b="1" i="0">
                          <a:solidFill>
                            <a:srgbClr val="FFFFFF"/>
                          </a:solidFill>
                          <a:latin typeface="Calibri"/>
                        </a:rPr>
                        <a:t>Where you learned it</a:t>
                      </a:r>
                    </a:p>
                  </a:txBody>
                  <a:tcPr marL="101600" marR="101600" marT="38100" marB="38100" anchor="ctr">
                    <a:solidFill>
                      <a:srgbClr val="1A0F5C"/>
                    </a:solidFill>
                  </a:tcPr>
                </a:tc>
              </a:tr>
              <a:tr h="611632">
                <a:tc>
                  <a:txBody>
                    <a:bodyPr/>
                    <a:lstStyle/>
                    <a:p>
                      <a:r>
                        <a:rPr sz="1400" b="0" i="0">
                          <a:solidFill>
                            <a:srgbClr val="1A1440"/>
                          </a:solidFill>
                          <a:latin typeface="Calibri"/>
                        </a:rPr>
                        <a:t>Where does a total come from, and which part is short?</a:t>
                      </a:r>
                    </a:p>
                  </a:txBody>
                  <a:tcPr marL="101600" marR="101600" marT="38100" marB="38100" anchor="ctr">
                    <a:solidFill>
                      <a:srgbClr val="FFFFFF"/>
                    </a:solidFill>
                  </a:tcPr>
                </a:tc>
                <a:tc>
                  <a:txBody>
                    <a:bodyPr/>
                    <a:lstStyle/>
                    <a:p>
                      <a:r>
                        <a:rPr sz="1400" b="0" i="0">
                          <a:solidFill>
                            <a:srgbClr val="1A1440"/>
                          </a:solidFill>
                          <a:latin typeface="Calibri"/>
                        </a:rPr>
                        <a:t>The revenue tree, every branch a count over a denominator</a:t>
                      </a:r>
                    </a:p>
                  </a:txBody>
                  <a:tcPr marL="101600" marR="101600" marT="38100" marB="38100" anchor="ctr">
                    <a:solidFill>
                      <a:srgbClr val="FFFFFF"/>
                    </a:solidFill>
                  </a:tcPr>
                </a:tc>
                <a:tc>
                  <a:txBody>
                    <a:bodyPr/>
                    <a:lstStyle/>
                    <a:p>
                      <a:r>
                        <a:rPr sz="1400" b="0" i="0">
                          <a:solidFill>
                            <a:srgbClr val="1A1440"/>
                          </a:solidFill>
                          <a:latin typeface="Calibri"/>
                        </a:rPr>
                        <a:t>Week 1 Monday; Week 2 Monday, as queries</a:t>
                      </a:r>
                    </a:p>
                  </a:txBody>
                  <a:tcPr marL="101600" marR="101600" marT="38100" marB="38100" anchor="ctr">
                    <a:solidFill>
                      <a:srgbClr val="FFFFFF"/>
                    </a:solidFill>
                  </a:tcPr>
                </a:tc>
              </a:tr>
              <a:tr h="611632">
                <a:tc>
                  <a:txBody>
                    <a:bodyPr/>
                    <a:lstStyle/>
                    <a:p>
                      <a:r>
                        <a:rPr sz="1400" b="0" i="0">
                          <a:solidFill>
                            <a:srgbClr val="1A1440"/>
                          </a:solidFill>
                          <a:latin typeface="Calibri"/>
                        </a:rPr>
                        <a:t>Did it really fall, and why?</a:t>
                      </a:r>
                    </a:p>
                  </a:txBody>
                  <a:tcPr marL="101600" marR="101600" marT="38100" marB="38100" anchor="ctr">
                    <a:solidFill>
                      <a:srgbClr val="F4F2FA"/>
                    </a:solidFill>
                  </a:tcPr>
                </a:tc>
                <a:tc>
                  <a:txBody>
                    <a:bodyPr/>
                    <a:lstStyle/>
                    <a:p>
                      <a:r>
                        <a:rPr sz="1400" b="0" i="0">
                          <a:solidFill>
                            <a:srgbClr val="1A1440"/>
                          </a:solidFill>
                          <a:latin typeface="Calibri"/>
                        </a:rPr>
                        <a:t>The investigation ladder, rung 1 first: is the drop real?</a:t>
                      </a:r>
                    </a:p>
                  </a:txBody>
                  <a:tcPr marL="101600" marR="101600" marT="38100" marB="38100" anchor="ctr">
                    <a:solidFill>
                      <a:srgbClr val="F4F2FA"/>
                    </a:solidFill>
                  </a:tcPr>
                </a:tc>
                <a:tc>
                  <a:txBody>
                    <a:bodyPr/>
                    <a:lstStyle/>
                    <a:p>
                      <a:r>
                        <a:rPr sz="1400" b="0" i="0">
                          <a:solidFill>
                            <a:srgbClr val="1A1440"/>
                          </a:solidFill>
                          <a:latin typeface="Calibri"/>
                        </a:rPr>
                        <a:t>Week 1 Tuesday</a:t>
                      </a:r>
                    </a:p>
                  </a:txBody>
                  <a:tcPr marL="101600" marR="101600" marT="38100" marB="38100" anchor="ctr">
                    <a:solidFill>
                      <a:srgbClr val="F4F2FA"/>
                    </a:solidFill>
                  </a:tcPr>
                </a:tc>
              </a:tr>
              <a:tr h="611632">
                <a:tc>
                  <a:txBody>
                    <a:bodyPr/>
                    <a:lstStyle/>
                    <a:p>
                      <a:r>
                        <a:rPr sz="1400" b="0" i="0">
                          <a:solidFill>
                            <a:srgbClr val="1A1440"/>
                          </a:solidFill>
                          <a:latin typeface="Calibri"/>
                        </a:rPr>
                        <a:t>Do two files that should agree, agree?</a:t>
                      </a:r>
                    </a:p>
                  </a:txBody>
                  <a:tcPr marL="101600" marR="101600" marT="38100" marB="38100" anchor="ctr">
                    <a:solidFill>
                      <a:srgbClr val="FFFFFF"/>
                    </a:solidFill>
                  </a:tcPr>
                </a:tc>
                <a:tc>
                  <a:txBody>
                    <a:bodyPr/>
                    <a:lstStyle/>
                    <a:p>
                      <a:r>
                        <a:rPr sz="1400" b="0" i="0">
                          <a:solidFill>
                            <a:srgbClr val="1A1440"/>
                          </a:solidFill>
                          <a:latin typeface="Calibri"/>
                        </a:rPr>
                        <a:t>Profile, reconcile, the bridge; a join counted before anything is summed</a:t>
                      </a:r>
                    </a:p>
                  </a:txBody>
                  <a:tcPr marL="101600" marR="101600" marT="38100" marB="38100" anchor="ctr">
                    <a:solidFill>
                      <a:srgbClr val="FFFFFF"/>
                    </a:solidFill>
                  </a:tcPr>
                </a:tc>
                <a:tc>
                  <a:txBody>
                    <a:bodyPr/>
                    <a:lstStyle/>
                    <a:p>
                      <a:r>
                        <a:rPr sz="1400" b="0" i="0">
                          <a:solidFill>
                            <a:srgbClr val="1A1440"/>
                          </a:solidFill>
                          <a:latin typeface="Calibri"/>
                        </a:rPr>
                        <a:t>Week 1 Wednesday; Week 2 Tuesday</a:t>
                      </a:r>
                    </a:p>
                  </a:txBody>
                  <a:tcPr marL="101600" marR="101600" marT="38100" marB="38100" anchor="ctr">
                    <a:solidFill>
                      <a:srgbClr val="FFFFFF"/>
                    </a:solidFill>
                  </a:tcPr>
                </a:tc>
              </a:tr>
              <a:tr h="611632">
                <a:tc>
                  <a:txBody>
                    <a:bodyPr/>
                    <a:lstStyle/>
                    <a:p>
                      <a:r>
                        <a:rPr sz="1400" b="0" i="0">
                          <a:solidFill>
                            <a:srgbClr val="1A1440"/>
                          </a:solidFill>
                          <a:latin typeface="Calibri"/>
                        </a:rPr>
                        <a:t>Is a gap real, and is the comparison fair?</a:t>
                      </a:r>
                    </a:p>
                  </a:txBody>
                  <a:tcPr marL="101600" marR="101600" marT="38100" marB="38100" anchor="ctr">
                    <a:solidFill>
                      <a:srgbClr val="F4F2FA"/>
                    </a:solidFill>
                  </a:tcPr>
                </a:tc>
                <a:tc>
                  <a:txBody>
                    <a:bodyPr/>
                    <a:lstStyle/>
                    <a:p>
                      <a:r>
                        <a:rPr sz="1400" b="0" i="0">
                          <a:solidFill>
                            <a:srgbClr val="1A1440"/>
                          </a:solidFill>
                          <a:latin typeface="Calibri"/>
                        </a:rPr>
                        <a:t>Real or the wobble; did the discount work?</a:t>
                      </a:r>
                    </a:p>
                  </a:txBody>
                  <a:tcPr marL="101600" marR="101600" marT="38100" marB="38100" anchor="ctr">
                    <a:solidFill>
                      <a:srgbClr val="F4F2FA"/>
                    </a:solidFill>
                  </a:tcPr>
                </a:tc>
                <a:tc>
                  <a:txBody>
                    <a:bodyPr/>
                    <a:lstStyle/>
                    <a:p>
                      <a:r>
                        <a:rPr sz="1400" b="0" i="0">
                          <a:solidFill>
                            <a:srgbClr val="1A1440"/>
                          </a:solidFill>
                          <a:latin typeface="Calibri"/>
                        </a:rPr>
                        <a:t>Week 1 Thursday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vocabulary map pairs each new word with an old 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Health words play the part of words you learned in Kalpa Retail, the business of Weeks 1 and 2?</a:t>
            </a:r>
          </a:p>
        </p:txBody>
      </p:sp>
      <p:graphicFrame>
        <p:nvGraphicFramePr>
          <p:cNvPr id="10" name="Table 9"/>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1821656"/>
                <a:gridCol w="2346566"/>
                <a:gridCol w="6962768"/>
              </a:tblGrid>
              <a:tr h="369824">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Where the pair stops fitting</a:t>
                      </a:r>
                    </a:p>
                  </a:txBody>
                  <a:tcPr marL="101600" marR="101600" marT="38100" marB="38100" anchor="ctr">
                    <a:solidFill>
                      <a:srgbClr val="1A0F5C"/>
                    </a:solidFill>
                  </a:tcPr>
                </a:tc>
              </a:tr>
              <a:tr h="611632">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 can be a home collection, when a phlebotomist, who draws blood, visits the patient</a:t>
                      </a:r>
                    </a:p>
                  </a:txBody>
                  <a:tcPr marL="101600" marR="101600" marT="38100" marB="38100" anchor="ctr">
                    <a:solidFill>
                      <a:srgbClr val="FFFFFF"/>
                    </a:solidFill>
                  </a:tcPr>
                </a:tc>
              </a:tr>
              <a:tr h="369824">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It runs in a laboratory, often far from where the patient was seen</a:t>
                      </a:r>
                    </a:p>
                  </a:txBody>
                  <a:tcPr marL="101600" marR="101600" marT="38100" marB="38100" anchor="ctr">
                    <a:solidFill>
                      <a:srgbClr val="F4F2FA"/>
                    </a:solidFill>
                  </a:tcPr>
                </a:tc>
              </a:tr>
              <a:tr h="611632">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The patient says nothing in advance; the centre learns it when nobody arrives</a:t>
                      </a:r>
                    </a:p>
                  </a:txBody>
                  <a:tcPr marL="101600" marR="101600" marT="38100" marB="38100" anchor="ctr">
                    <a:solidFill>
                      <a:srgbClr val="FFFFFF"/>
                    </a:solidFill>
                  </a:tcPr>
                </a:tc>
              </a:tr>
              <a:tr h="369824">
                <a:tc>
                  <a:txBody>
                    <a:bodyPr/>
                    <a:lstStyle/>
                    <a:p>
                      <a:r>
                        <a:rPr sz="1400" b="0" i="0">
                          <a:solidFill>
                            <a:srgbClr val="1A1440"/>
                          </a:solidFill>
                          <a:latin typeface="Calibri"/>
                        </a:rPr>
                        <a:t>A claim</a:t>
                      </a:r>
                    </a:p>
                  </a:txBody>
                  <a:tcPr marL="101600" marR="101600" marT="38100" marB="38100" anchor="ctr">
                    <a:solidFill>
                      <a:srgbClr val="F4F2FA"/>
                    </a:solidFill>
                  </a:tcPr>
                </a:tc>
                <a:tc>
                  <a:txBody>
                    <a:bodyPr/>
                    <a:lstStyle/>
                    <a:p>
                      <a:r>
                        <a:rPr sz="1400" b="0" i="0">
                          <a:solidFill>
                            <a:srgbClr val="1A1440"/>
                          </a:solidFill>
                          <a:latin typeface="Calibri"/>
                        </a:rPr>
                        <a:t>An order's invoice</a:t>
                      </a:r>
                    </a:p>
                  </a:txBody>
                  <a:tcPr marL="101600" marR="101600" marT="38100" marB="38100" anchor="ctr">
                    <a:solidFill>
                      <a:srgbClr val="F4F2FA"/>
                    </a:solidFill>
                  </a:tcPr>
                </a:tc>
                <a:tc>
                  <a:txBody>
                    <a:bodyPr/>
                    <a:lstStyle/>
                    <a:p>
                      <a:r>
                        <a:rPr sz="1400" b="0" i="0">
                          <a:solidFill>
                            <a:srgbClr val="1A1440"/>
                          </a:solidFill>
                          <a:latin typeface="Calibri"/>
                        </a:rPr>
                        <a:t>It goes to a payer, who pays weeks later what its contract allows</a:t>
                      </a:r>
                    </a:p>
                  </a:txBody>
                  <a:tcPr marL="101600" marR="101600" marT="38100" marB="38100" anchor="ctr">
                    <a:solidFill>
                      <a:srgbClr val="F4F2FA"/>
                    </a:solidFill>
                  </a:tcPr>
                </a:tc>
              </a:tr>
              <a:tr h="611632">
                <a:tc>
                  <a:txBody>
                    <a:bodyPr/>
                    <a:lstStyle/>
                    <a:p>
                      <a:r>
                        <a:rPr sz="1400" b="0" i="0">
                          <a:solidFill>
                            <a:srgbClr val="1A1440"/>
                          </a:solidFill>
                          <a:latin typeface="Calibri"/>
                        </a:rPr>
                        <a:t>A posting</a:t>
                      </a:r>
                    </a:p>
                  </a:txBody>
                  <a:tcPr marL="101600" marR="101600" marT="38100" marB="38100" anchor="ctr">
                    <a:solidFill>
                      <a:srgbClr val="FFFFFF"/>
                    </a:solidFill>
                  </a:tcPr>
                </a:tc>
                <a:tc>
                  <a:txBody>
                    <a:bodyPr/>
                    <a:lstStyle/>
                    <a:p>
                      <a:r>
                        <a:rPr sz="1400" b="0" i="0">
                          <a:solidFill>
                            <a:srgbClr val="1A1440"/>
                          </a:solidFill>
                          <a:latin typeface="Calibri"/>
                        </a:rPr>
                        <a:t>A payment</a:t>
                      </a:r>
                    </a:p>
                  </a:txBody>
                  <a:tcPr marL="101600" marR="101600" marT="38100" marB="38100" anchor="ctr">
                    <a:solidFill>
                      <a:srgbClr val="FFFFFF"/>
                    </a:solidFill>
                  </a:tcPr>
                </a:tc>
                <a:tc>
                  <a:txBody>
                    <a:bodyPr/>
                    <a:lstStyle/>
                    <a:p>
                      <a:r>
                        <a:rPr sz="1400" b="0" i="0">
                          <a:solidFill>
                            <a:srgbClr val="1A1440"/>
                          </a:solidFill>
                          <a:latin typeface="Calibri"/>
                        </a:rPr>
                        <a:t>It arrives from the payer weeks after the claim, through the posting system</a:t>
                      </a:r>
                    </a:p>
                  </a:txBody>
                  <a:tcPr marL="101600" marR="101600" marT="38100" marB="38100" anchor="ctr">
                    <a:solidFill>
                      <a:srgbClr val="FFFFFF"/>
                    </a:solidFill>
                  </a:tcPr>
                </a:tc>
              </a:tr>
              <a:tr h="611632">
                <a:tc>
                  <a:txBody>
                    <a:bodyPr/>
                    <a:lstStyle/>
                    <a:p>
                      <a:r>
                        <a:rPr sz="1400" b="0" i="0">
                          <a:solidFill>
                            <a:srgbClr val="1A1440"/>
                          </a:solidFill>
                          <a:latin typeface="Calibri"/>
                        </a:rPr>
                        <a:t>A payer</a:t>
                      </a:r>
                    </a:p>
                  </a:txBody>
                  <a:tcPr marL="101600" marR="101600" marT="38100" marB="38100" anchor="ctr">
                    <a:solidFill>
                      <a:srgbClr val="F4F2FA"/>
                    </a:solidFill>
                  </a:tcPr>
                </a:tc>
                <a:tc>
                  <a:txBody>
                    <a:bodyPr/>
                    <a:lstStyle/>
                    <a:p>
                      <a:r>
                        <a:rPr sz="1400" b="0" i="0">
                          <a:solidFill>
                            <a:srgbClr val="1A1440"/>
                          </a:solidFill>
                          <a:latin typeface="Calibri"/>
                        </a:rPr>
                        <a:t>No twin</a:t>
                      </a:r>
                    </a:p>
                  </a:txBody>
                  <a:tcPr marL="101600" marR="101600" marT="38100" marB="38100" anchor="ctr">
                    <a:solidFill>
                      <a:srgbClr val="F4F2FA"/>
                    </a:solidFill>
                  </a:tcPr>
                </a:tc>
                <a:tc>
                  <a:txBody>
                    <a:bodyPr/>
                    <a:lstStyle/>
                    <a:p>
                      <a:r>
                        <a:rPr sz="1400" b="0" i="0">
                          <a:solidFill>
                            <a:srgbClr val="1A1440"/>
                          </a:solidFill>
                          <a:latin typeface="Calibri"/>
                        </a:rPr>
                        <a:t>Whoever pays the claim: a health plan, Medicare, Medicaid, or the patient when self-paying</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Show the calls that moved most, and one row kept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of your decisions log show the panel that the data can be trusted?</a:t>
            </a:r>
          </a:p>
        </p:txBody>
      </p:sp>
      <p:pic>
        <p:nvPicPr>
          <p:cNvPr id="10" name="mermaid diagram" descr="914802d16c909d9c.png"/>
          <p:cNvPicPr>
            <a:picLocks noChangeAspect="1"/>
          </p:cNvPicPr>
          <p:nvPr/>
        </p:nvPicPr>
        <p:blipFill>
          <a:blip r:embed="rId5"/>
          <a:stretch>
            <a:fillRect/>
          </a:stretch>
        </p:blipFill>
        <p:spPr>
          <a:xfrm>
            <a:off x="2145353" y="1956816"/>
            <a:ext cx="7900987" cy="1543050"/>
          </a:xfrm>
          <a:prstGeom prst="rect">
            <a:avLst/>
          </a:prstGeom>
        </p:spPr>
      </p:pic>
      <p:graphicFrame>
        <p:nvGraphicFramePr>
          <p:cNvPr id="11" name="Table 10"/>
          <p:cNvGraphicFramePr>
            <a:graphicFrameLocks noGrp="1"/>
          </p:cNvGraphicFramePr>
          <p:nvPr/>
        </p:nvGraphicFramePr>
        <p:xfrm>
          <a:off x="530352" y="3646170"/>
          <a:ext cx="11130987" cy="877824"/>
        </p:xfrm>
        <a:graphic>
          <a:graphicData uri="http://schemas.openxmlformats.org/drawingml/2006/table">
            <a:tbl>
              <a:tblPr firstRow="0" bandRow="0">
                <a:tableStyleId>{2D5ABB26-0587-4C30-8999-92F81FD0307C}</a:tableStyleId>
              </a:tblPr>
              <a:tblGrid>
                <a:gridCol w="1978373"/>
                <a:gridCol w="1750860"/>
                <a:gridCol w="1864617"/>
                <a:gridCol w="1523347"/>
                <a:gridCol w="4013790"/>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Issue</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Decision</a:t>
                      </a:r>
                    </a:p>
                  </a:txBody>
                  <a:tcPr marL="101600" marR="101600" marT="38100" marB="38100" anchor="ctr">
                    <a:solidFill>
                      <a:srgbClr val="1A0F5C"/>
                    </a:solidFill>
                  </a:tcPr>
                </a:tc>
                <a:tc>
                  <a:txBody>
                    <a:bodyPr/>
                    <a:lstStyle/>
                    <a:p>
                      <a:r>
                        <a:rPr sz="1250" b="1" i="0">
                          <a:solidFill>
                            <a:srgbClr val="FFFFFF"/>
                          </a:solidFill>
                          <a:latin typeface="Calibri"/>
                        </a:rPr>
                        <a:t>Reason</a:t>
                      </a:r>
                    </a:p>
                  </a:txBody>
                  <a:tcPr marL="101600" marR="101600" marT="38100" marB="38100" anchor="ctr">
                    <a:solidFill>
                      <a:srgbClr val="1A0F5C"/>
                    </a:solidFill>
                  </a:tcPr>
                </a:tc>
              </a:tr>
              <a:tr h="542544">
                <a:tc>
                  <a:txBody>
                    <a:bodyPr/>
                    <a:lstStyle/>
                    <a:p>
                      <a:r>
                        <a:rPr sz="1200" b="0" i="0">
                          <a:solidFill>
                            <a:srgbClr val="1A1440"/>
                          </a:solidFill>
                          <a:latin typeface="Calibri"/>
                        </a:rPr>
                        <a:t>The column, as the file names it</a:t>
                      </a:r>
                    </a:p>
                  </a:txBody>
                  <a:tcPr marL="101600" marR="101600" marT="38100" marB="38100" anchor="ctr">
                    <a:solidFill>
                      <a:srgbClr val="FFFFFF"/>
                    </a:solidFill>
                  </a:tcPr>
                </a:tc>
                <a:tc>
                  <a:txBody>
                    <a:bodyPr/>
                    <a:lstStyle/>
                    <a:p>
                      <a:r>
                        <a:rPr sz="1200" b="0" i="0">
                          <a:solidFill>
                            <a:srgbClr val="1A1440"/>
                          </a:solidFill>
                          <a:latin typeface="Calibri"/>
                        </a:rPr>
                        <a:t>What you saw, with its count</a:t>
                      </a:r>
                    </a:p>
                  </a:txBody>
                  <a:tcPr marL="101600" marR="101600" marT="38100" marB="38100" anchor="ctr">
                    <a:solidFill>
                      <a:srgbClr val="FFFFFF"/>
                    </a:solidFill>
                  </a:tcPr>
                </a:tc>
                <a:tc>
                  <a:txBody>
                    <a:bodyPr/>
                    <a:lstStyle/>
                    <a:p>
                      <a:r>
                        <a:rPr sz="1200" b="0" i="0">
                          <a:solidFill>
                            <a:srgbClr val="1A1440"/>
                          </a:solidFill>
                          <a:latin typeface="Calibri"/>
                        </a:rPr>
                        <a:t>How many rows the call touches</a:t>
                      </a:r>
                    </a:p>
                  </a:txBody>
                  <a:tcPr marL="101600" marR="101600" marT="38100" marB="38100" anchor="ctr">
                    <a:solidFill>
                      <a:srgbClr val="FFFFFF"/>
                    </a:solidFill>
                  </a:tcPr>
                </a:tc>
                <a:tc>
                  <a:txBody>
                    <a:bodyPr/>
                    <a:lstStyle/>
                    <a:p>
                      <a:r>
                        <a:rPr sz="1200" b="0" i="0">
                          <a:solidFill>
                            <a:srgbClr val="1A1440"/>
                          </a:solidFill>
                          <a:latin typeface="Calibri"/>
                        </a:rPr>
                        <a:t>Drop, fill, flag or keep</a:t>
                      </a:r>
                    </a:p>
                  </a:txBody>
                  <a:tcPr marL="101600" marR="101600" marT="38100" marB="38100" anchor="ctr">
                    <a:solidFill>
                      <a:srgbClr val="FFFFFF"/>
                    </a:solidFill>
                  </a:tcPr>
                </a:tc>
                <a:tc>
                  <a:txBody>
                    <a:bodyPr/>
                    <a:lstStyle/>
                    <a:p>
                      <a:r>
                        <a:rPr sz="1200" b="0" i="0">
                          <a:solidFill>
                            <a:srgbClr val="1A1440"/>
                          </a:solidFill>
                          <a:latin typeface="Calibri"/>
                        </a:rPr>
                        <a:t>What the call changes in the counts or dollars, and what it cannot change</a:t>
                      </a:r>
                    </a:p>
                  </a:txBody>
                  <a:tcPr marL="101600" marR="101600" marT="38100" marB="38100" anchor="ctr">
                    <a:solidFill>
                      <a:srgbClr val="FFFFFF"/>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cell would an auditor send back?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of one invented decisions-log row fails an auditor's reading?</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invented row reads: field age_band; issue, 14 rows blank; rows, 14; decision, kept and labelled unknown; reason, "the 14 rows were blank, so they needed cleaning before use". Which cell would an auditor send back? Answer as a letter.</a:t>
            </a:r>
          </a:p>
        </p:txBody>
      </p:sp>
      <p:sp>
        <p:nvSpPr>
          <p:cNvPr id="13" name="TextBox 12"/>
          <p:cNvSpPr txBox="1"/>
          <p:nvPr/>
        </p:nvSpPr>
        <p:spPr>
          <a:xfrm>
            <a:off x="530352" y="31958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reason, which restates the issue and never says what keeping the rows changes.</a:t>
            </a:r>
          </a:p>
          <a:p>
            <a:pPr>
              <a:spcAft>
                <a:spcPts val="800"/>
              </a:spcAft>
            </a:pPr>
            <a:r>
              <a:rPr sz="1600" b="0" i="0">
                <a:solidFill>
                  <a:srgbClr val="1A1440"/>
                </a:solidFill>
                <a:latin typeface="Calibri"/>
              </a:rPr>
              <a:t>b) The rows, since a call that touches 14 of 6,700 patients is too small to log at all.</a:t>
            </a:r>
          </a:p>
          <a:p>
            <a:pPr>
              <a:spcAft>
                <a:spcPts val="800"/>
              </a:spcAft>
            </a:pPr>
            <a:r>
              <a:rPr sz="1600" b="0" i="0">
                <a:solidFill>
                  <a:srgbClr val="1A1440"/>
                </a:solidFill>
                <a:latin typeface="Calibri"/>
              </a:rPr>
              <a:t>c) The decision, since blank values must be dropped before anything at all is counted.</a:t>
            </a:r>
          </a:p>
          <a:p>
            <a:pPr>
              <a:spcAft>
                <a:spcPts val="800"/>
              </a:spcAft>
            </a:pPr>
            <a:r>
              <a:rPr sz="1600" b="0" i="0">
                <a:solidFill>
                  <a:srgbClr val="1A1440"/>
                </a:solidFill>
                <a:latin typeface="Calibri"/>
              </a:rPr>
              <a:t>d) The field, since a column with blanks has to be renamed before a call is logged on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a, the reason must say what the call changes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would an auditor send back, and why does each other criticism fail?</a:t>
            </a:r>
          </a:p>
        </p:txBody>
      </p:sp>
      <p:graphicFrame>
        <p:nvGraphicFramePr>
          <p:cNvPr id="10" name="Table 9"/>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cell to send back: a reason says what the call changes, here that 14 patients' bookings stay in every count</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Fails: every call goes in the log whatever its size, since an auditor cannot check a call nobody wrote down</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Fails: drop, fill or flag is a choice made with its reason, as Week 1 Wednesday set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Fails: the field's name is the column as the file writes it, and renaming it would break every query that reads it</a:t>
                      </a:r>
                    </a:p>
                  </a:txBody>
                  <a:tcPr marL="101600" marR="101600" marT="38100" marB="38100" anchor="ctr">
                    <a:solidFill>
                      <a:srgbClr val="F4F2FA"/>
                    </a:solidFill>
                  </a:tcPr>
                </a:tc>
              </a:tr>
            </a:tbl>
          </a:graphicData>
        </a:graphic>
      </p:graphicFrame>
      <p:sp>
        <p:nvSpPr>
          <p:cNvPr id="11" name="Rounded Rectangle 10"/>
          <p:cNvSpPr/>
          <p:nvPr/>
        </p:nvSpPr>
        <p:spPr>
          <a:xfrm>
            <a:off x="530352" y="45455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482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858004"/>
            <a:ext cx="237744" cy="237744"/>
          </a:xfrm>
          <a:prstGeom prst="rect">
            <a:avLst/>
          </a:prstGeom>
        </p:spPr>
      </p:pic>
      <p:sp>
        <p:nvSpPr>
          <p:cNvPr id="14" name="TextBox 13"/>
          <p:cNvSpPr txBox="1"/>
          <p:nvPr/>
        </p:nvSpPr>
        <p:spPr>
          <a:xfrm>
            <a:off x="1399031" y="4691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911344"/>
            <a:ext cx="9987991" cy="423672"/>
          </a:xfrm>
          <a:prstGeom prst="rect">
            <a:avLst/>
          </a:prstGeom>
          <a:noFill/>
        </p:spPr>
        <p:txBody>
          <a:bodyPr wrap="square" anchor="t" lIns="0" rIns="0" tIns="0" bIns="0">
            <a:spAutoFit/>
          </a:bodyPr>
          <a:lstStyle/>
          <a:p>
            <a:r>
              <a:rPr sz="1500" b="0" i="0">
                <a:solidFill>
                  <a:srgbClr val="1A1440"/>
                </a:solidFill>
                <a:latin typeface="Calibri"/>
              </a:rPr>
              <a:t>A reason says what the call changes in the counts or the dollars, and what it cannot change.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chart states its finding and its denominator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let a chart carry one message the panel can read without you?</a:t>
            </a:r>
          </a:p>
        </p:txBody>
      </p:sp>
      <p:pic>
        <p:nvPicPr>
          <p:cNvPr id="10" name="mermaid diagram" descr="e1db93a377af8c44.png"/>
          <p:cNvPicPr>
            <a:picLocks noChangeAspect="1"/>
          </p:cNvPicPr>
          <p:nvPr/>
        </p:nvPicPr>
        <p:blipFill>
          <a:blip r:embed="rId5"/>
          <a:stretch>
            <a:fillRect/>
          </a:stretch>
        </p:blipFill>
        <p:spPr>
          <a:xfrm>
            <a:off x="680885" y="1956816"/>
            <a:ext cx="10829925" cy="1128712"/>
          </a:xfrm>
          <a:prstGeom prst="rect">
            <a:avLst/>
          </a:prstGeom>
        </p:spPr>
      </p:pic>
      <p:graphicFrame>
        <p:nvGraphicFramePr>
          <p:cNvPr id="11" name="Table 10"/>
          <p:cNvGraphicFramePr>
            <a:graphicFrameLocks noGrp="1"/>
          </p:cNvGraphicFramePr>
          <p:nvPr/>
        </p:nvGraphicFramePr>
        <p:xfrm>
          <a:off x="530352" y="3231832"/>
          <a:ext cx="11130990" cy="1849120"/>
        </p:xfrm>
        <a:graphic>
          <a:graphicData uri="http://schemas.openxmlformats.org/drawingml/2006/table">
            <a:tbl>
              <a:tblPr firstRow="0" bandRow="0">
                <a:tableStyleId>{2D5ABB26-0587-4C30-8999-92F81FD0307C}</a:tableStyleId>
              </a:tblPr>
              <a:tblGrid>
                <a:gridCol w="5510808"/>
                <a:gridCol w="5620182"/>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prevents</a:t>
                      </a:r>
                    </a:p>
                  </a:txBody>
                  <a:tcPr marL="101600" marR="101600" marT="38100" marB="38100" anchor="ctr">
                    <a:solidFill>
                      <a:srgbClr val="1A0F5C"/>
                    </a:solidFill>
                  </a:tcPr>
                </a:tc>
              </a:tr>
              <a:tr h="369824">
                <a:tc>
                  <a:txBody>
                    <a:bodyPr/>
                    <a:lstStyle/>
                    <a:p>
                      <a:r>
                        <a:rPr sz="1400" b="0" i="0">
                          <a:solidFill>
                            <a:srgbClr val="1A1440"/>
                          </a:solidFill>
                          <a:latin typeface="Calibri"/>
                        </a:rPr>
                        <a:t>The chart's title states the finding</a:t>
                      </a:r>
                    </a:p>
                  </a:txBody>
                  <a:tcPr marL="101600" marR="101600" marT="38100" marB="38100" anchor="ctr">
                    <a:solidFill>
                      <a:srgbClr val="FFFFFF"/>
                    </a:solidFill>
                  </a:tcPr>
                </a:tc>
                <a:tc>
                  <a:txBody>
                    <a:bodyPr/>
                    <a:lstStyle/>
                    <a:p>
                      <a:r>
                        <a:rPr sz="1400" b="0" i="0">
                          <a:solidFill>
                            <a:srgbClr val="1A1440"/>
                          </a:solidFill>
                          <a:latin typeface="Calibri"/>
                        </a:rPr>
                        <a:t>A chart the panel has to interpret for you</a:t>
                      </a:r>
                    </a:p>
                  </a:txBody>
                  <a:tcPr marL="101600" marR="101600" marT="38100" marB="38100" anchor="ctr">
                    <a:solidFill>
                      <a:srgbClr val="FFFFFF"/>
                    </a:solidFill>
                  </a:tcPr>
                </a:tc>
              </a:tr>
              <a:tr h="369824">
                <a:tc>
                  <a:txBody>
                    <a:bodyPr/>
                    <a:lstStyle/>
                    <a:p>
                      <a:r>
                        <a:rPr sz="1400" b="0" i="0">
                          <a:solidFill>
                            <a:srgbClr val="1A1440"/>
                          </a:solidFill>
                          <a:latin typeface="Calibri"/>
                        </a:rPr>
                        <a:t>The denominator sits on the axis or in the title</a:t>
                      </a:r>
                    </a:p>
                  </a:txBody>
                  <a:tcPr marL="101600" marR="101600" marT="38100" marB="38100" anchor="ctr">
                    <a:solidFill>
                      <a:srgbClr val="F4F2FA"/>
                    </a:solidFill>
                  </a:tcPr>
                </a:tc>
                <a:tc>
                  <a:txBody>
                    <a:bodyPr/>
                    <a:lstStyle/>
                    <a:p>
                      <a:r>
                        <a:rPr sz="1400" b="0" i="0">
                          <a:solidFill>
                            <a:srgbClr val="1A1440"/>
                          </a:solidFill>
                          <a:latin typeface="Calibri"/>
                        </a:rPr>
                        <a:t>A count read as a rate, or a rate read as a count</a:t>
                      </a:r>
                    </a:p>
                  </a:txBody>
                  <a:tcPr marL="101600" marR="101600" marT="38100" marB="38100" anchor="ctr">
                    <a:solidFill>
                      <a:srgbClr val="F4F2FA"/>
                    </a:solidFill>
                  </a:tcPr>
                </a:tc>
              </a:tr>
              <a:tr h="369824">
                <a:tc>
                  <a:txBody>
                    <a:bodyPr/>
                    <a:lstStyle/>
                    <a:p>
                      <a:r>
                        <a:rPr sz="1400" b="0" i="0">
                          <a:solidFill>
                            <a:srgbClr val="1A1440"/>
                          </a:solidFill>
                          <a:latin typeface="Calibri"/>
                        </a:rPr>
                        <a:t>Both sides of a comparison cover the same window</a:t>
                      </a:r>
                    </a:p>
                  </a:txBody>
                  <a:tcPr marL="101600" marR="101600" marT="38100" marB="38100" anchor="ctr">
                    <a:solidFill>
                      <a:srgbClr val="FFFFFF"/>
                    </a:solidFill>
                  </a:tcPr>
                </a:tc>
                <a:tc>
                  <a:txBody>
                    <a:bodyPr/>
                    <a:lstStyle/>
                    <a:p>
                      <a:r>
                        <a:rPr sz="1400" b="0" i="0">
                          <a:solidFill>
                            <a:srgbClr val="1A1440"/>
                          </a:solidFill>
                          <a:latin typeface="Calibri"/>
                        </a:rPr>
                        <a:t>A change that is really a difference in days</a:t>
                      </a:r>
                    </a:p>
                  </a:txBody>
                  <a:tcPr marL="101600" marR="101600" marT="38100" marB="38100" anchor="ctr">
                    <a:solidFill>
                      <a:srgbClr val="FFFFFF"/>
                    </a:solidFill>
                  </a:tcPr>
                </a:tc>
              </a:tr>
              <a:tr h="369824">
                <a:tc>
                  <a:txBody>
                    <a:bodyPr/>
                    <a:lstStyle/>
                    <a:p>
                      <a:r>
                        <a:rPr sz="1400" b="0" i="0">
                          <a:solidFill>
                            <a:srgbClr val="1A1440"/>
                          </a:solidFill>
                          <a:latin typeface="Calibri"/>
                        </a:rPr>
                        <a:t>Every number shown is reproduced in the demo</a:t>
                      </a:r>
                    </a:p>
                  </a:txBody>
                  <a:tcPr marL="101600" marR="101600" marT="38100" marB="38100" anchor="ctr">
                    <a:solidFill>
                      <a:srgbClr val="F4F2FA"/>
                    </a:solidFill>
                  </a:tcPr>
                </a:tc>
                <a:tc>
                  <a:txBody>
                    <a:bodyPr/>
                    <a:lstStyle/>
                    <a:p>
                      <a:r>
                        <a:rPr sz="1400" b="0" i="0">
                          <a:solidFill>
                            <a:srgbClr val="1A1440"/>
                          </a:solidFill>
                          <a:latin typeface="Calibri"/>
                        </a:rPr>
                        <a:t>A chart from a cell nobody can rerun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change for Build 2, specific enough to act 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last minute of your slot say, and what makes it usable?</a:t>
            </a:r>
          </a:p>
        </p:txBody>
      </p:sp>
      <p:graphicFrame>
        <p:nvGraphicFramePr>
          <p:cNvPr id="10" name="Table 9"/>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58677"/>
                <a:gridCol w="7172313"/>
              </a:tblGrid>
              <a:tr h="335280">
                <a:tc>
                  <a:txBody>
                    <a:bodyPr/>
                    <a:lstStyle/>
                    <a:p>
                      <a:r>
                        <a:rPr sz="1250" b="1" i="0">
                          <a:solidFill>
                            <a:srgbClr val="FFFFFF"/>
                          </a:solidFill>
                          <a:latin typeface="Calibri"/>
                        </a:rPr>
                        <a:t>A change nobody can act on</a:t>
                      </a:r>
                    </a:p>
                  </a:txBody>
                  <a:tcPr marL="101600" marR="101600" marT="38100" marB="38100" anchor="ctr">
                    <a:solidFill>
                      <a:srgbClr val="1A0F5C"/>
                    </a:solidFill>
                  </a:tcPr>
                </a:tc>
                <a:tc>
                  <a:txBody>
                    <a:bodyPr/>
                    <a:lstStyle/>
                    <a:p>
                      <a:r>
                        <a:rPr sz="1250" b="1" i="0">
                          <a:solidFill>
                            <a:srgbClr val="FFFFFF"/>
                          </a:solidFill>
                          <a:latin typeface="Calibri"/>
                        </a:rPr>
                        <a:t>A change Build 2 can act on</a:t>
                      </a:r>
                    </a:p>
                  </a:txBody>
                  <a:tcPr marL="101600" marR="101600" marT="38100" marB="38100" anchor="ctr">
                    <a:solidFill>
                      <a:srgbClr val="1A0F5C"/>
                    </a:solidFill>
                  </a:tcPr>
                </a:tc>
              </a:tr>
              <a:tr h="335280">
                <a:tc>
                  <a:txBody>
                    <a:bodyPr/>
                    <a:lstStyle/>
                    <a:p>
                      <a:r>
                        <a:rPr sz="1200" b="0" i="0">
                          <a:solidFill>
                            <a:srgbClr val="1A1440"/>
                          </a:solidFill>
                          <a:latin typeface="Calibri"/>
                        </a:rPr>
                        <a:t>We would manage our time better</a:t>
                      </a:r>
                    </a:p>
                  </a:txBody>
                  <a:tcPr marL="101600" marR="101600" marT="38100" marB="38100" anchor="ctr">
                    <a:solidFill>
                      <a:srgbClr val="FFFFFF"/>
                    </a:solidFill>
                  </a:tcPr>
                </a:tc>
                <a:tc>
                  <a:txBody>
                    <a:bodyPr/>
                    <a:lstStyle/>
                    <a:p>
                      <a:r>
                        <a:rPr sz="1200" b="0" i="0">
                          <a:solidFill>
                            <a:srgbClr val="1A1440"/>
                          </a:solidFill>
                          <a:latin typeface="Calibri"/>
                        </a:rPr>
                        <a:t>We would profile every file on day one, before choosing what to count</a:t>
                      </a:r>
                    </a:p>
                  </a:txBody>
                  <a:tcPr marL="101600" marR="101600" marT="38100" marB="38100" anchor="ctr">
                    <a:solidFill>
                      <a:srgbClr val="FFFFFF"/>
                    </a:solidFill>
                  </a:tcPr>
                </a:tc>
              </a:tr>
              <a:tr h="335280">
                <a:tc>
                  <a:txBody>
                    <a:bodyPr/>
                    <a:lstStyle/>
                    <a:p>
                      <a:r>
                        <a:rPr sz="1200" b="0" i="0">
                          <a:solidFill>
                            <a:srgbClr val="1A1440"/>
                          </a:solidFill>
                          <a:latin typeface="Calibri"/>
                        </a:rPr>
                        <a:t>We would clean the data more</a:t>
                      </a:r>
                    </a:p>
                  </a:txBody>
                  <a:tcPr marL="101600" marR="101600" marT="38100" marB="38100" anchor="ctr">
                    <a:solidFill>
                      <a:srgbClr val="F4F2FA"/>
                    </a:solidFill>
                  </a:tcPr>
                </a:tc>
                <a:tc>
                  <a:txBody>
                    <a:bodyPr/>
                    <a:lstStyle/>
                    <a:p>
                      <a:r>
                        <a:rPr sz="1200" b="0" i="0">
                          <a:solidFill>
                            <a:srgbClr val="1A1440"/>
                          </a:solidFill>
                          <a:latin typeface="Calibri"/>
                        </a:rPr>
                        <a:t>We would reconcile rows in against rows kept after every cleaning step, and log each one</a:t>
                      </a:r>
                    </a:p>
                  </a:txBody>
                  <a:tcPr marL="101600" marR="101600" marT="38100" marB="38100" anchor="ctr">
                    <a:solidFill>
                      <a:srgbClr val="F4F2FA"/>
                    </a:solidFill>
                  </a:tcPr>
                </a:tc>
              </a:tr>
              <a:tr h="335280">
                <a:tc>
                  <a:txBody>
                    <a:bodyPr/>
                    <a:lstStyle/>
                    <a:p>
                      <a:r>
                        <a:rPr sz="1200" b="0" i="0">
                          <a:solidFill>
                            <a:srgbClr val="1A1440"/>
                          </a:solidFill>
                          <a:latin typeface="Calibri"/>
                        </a:rPr>
                        <a:t>We would communicate better</a:t>
                      </a:r>
                    </a:p>
                  </a:txBody>
                  <a:tcPr marL="101600" marR="101600" marT="38100" marB="38100" anchor="ctr">
                    <a:solidFill>
                      <a:srgbClr val="FFFFFF"/>
                    </a:solidFill>
                  </a:tcPr>
                </a:tc>
                <a:tc>
                  <a:txBody>
                    <a:bodyPr/>
                    <a:lstStyle/>
                    <a:p>
                      <a:r>
                        <a:rPr sz="1200" b="0" i="0">
                          <a:solidFill>
                            <a:srgbClr val="1A1440"/>
                          </a:solidFill>
                          <a:latin typeface="Calibri"/>
                        </a:rPr>
                        <a:t>We would ask the team that owns each export what one row stands for before trusting it</a:t>
                      </a:r>
                    </a:p>
                  </a:txBody>
                  <a:tcPr marL="101600" marR="101600" marT="38100" marB="38100" anchor="ctr">
                    <a:solidFill>
                      <a:srgbClr val="FFFFFF"/>
                    </a:solidFill>
                  </a:tcPr>
                </a:tc>
              </a:tr>
            </a:tbl>
          </a:graphicData>
        </a:graphic>
      </p:graphicFrame>
      <p:pic>
        <p:nvPicPr>
          <p:cNvPr id="11" name="mermaid diagram" descr="21446b29ce921d38.png"/>
          <p:cNvPicPr>
            <a:picLocks noChangeAspect="1"/>
          </p:cNvPicPr>
          <p:nvPr/>
        </p:nvPicPr>
        <p:blipFill>
          <a:blip r:embed="rId5"/>
          <a:stretch>
            <a:fillRect/>
          </a:stretch>
        </p:blipFill>
        <p:spPr>
          <a:xfrm>
            <a:off x="2595410" y="3553968"/>
            <a:ext cx="70008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mapped move and logged rows earn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How do you show the transfer?</a:t>
                      </a:r>
                    </a:p>
                  </a:txBody>
                  <a:tcPr marL="101600" marR="101600" marT="38100" marB="38100" anchor="ctr">
                    <a:solidFill>
                      <a:srgbClr val="FFFFFF"/>
                    </a:solidFill>
                  </a:tcPr>
                </a:tc>
                <a:tc>
                  <a:txBody>
                    <a:bodyPr/>
                    <a:lstStyle/>
                    <a:p>
                      <a:r>
                        <a:rPr sz="1400" b="0" i="0">
                          <a:solidFill>
                            <a:srgbClr val="1A1440"/>
                          </a:solidFill>
                          <a:latin typeface="Calibri"/>
                        </a:rPr>
                        <a:t>Name her question's shape and the Weeks 1 and 2 move that answers it, in your own words</a:t>
                      </a:r>
                    </a:p>
                  </a:txBody>
                  <a:tcPr marL="101600" marR="101600" marT="38100" marB="38100" anchor="ctr">
                    <a:solidFill>
                      <a:srgbClr val="FFFFFF"/>
                    </a:solidFill>
                  </a:tcPr>
                </a:tc>
              </a:tr>
              <a:tr h="611632">
                <a:tc>
                  <a:txBody>
                    <a:bodyPr/>
                    <a:lstStyle/>
                    <a:p>
                      <a:r>
                        <a:rPr sz="1400" b="0" i="0">
                          <a:solidFill>
                            <a:srgbClr val="1A1440"/>
                          </a:solidFill>
                          <a:latin typeface="Calibri"/>
                        </a:rPr>
                        <a:t>Which words map to which?</a:t>
                      </a:r>
                    </a:p>
                  </a:txBody>
                  <a:tcPr marL="101600" marR="101600" marT="38100" marB="38100" anchor="ctr">
                    <a:solidFill>
                      <a:srgbClr val="F4F2FA"/>
                    </a:solidFill>
                  </a:tcPr>
                </a:tc>
                <a:tc>
                  <a:txBody>
                    <a:bodyPr/>
                    <a:lstStyle/>
                    <a:p>
                      <a:r>
                        <a:rPr sz="1400" b="0" i="0">
                          <a:solidFill>
                            <a:srgbClr val="1A1440"/>
                          </a:solidFill>
                          <a:latin typeface="Calibri"/>
                        </a:rPr>
                        <a:t>Each Kalpa Health term beside the Kalpa Retail term it plays, and where the pair stops fitting</a:t>
                      </a:r>
                    </a:p>
                  </a:txBody>
                  <a:tcPr marL="101600" marR="101600" marT="38100" marB="38100" anchor="ctr">
                    <a:solidFill>
                      <a:srgbClr val="F4F2FA"/>
                    </a:solidFill>
                  </a:tcPr>
                </a:tc>
              </a:tr>
              <a:tr h="611632">
                <a:tc>
                  <a:txBody>
                    <a:bodyPr/>
                    <a:lstStyle/>
                    <a:p>
                      <a:r>
                        <a:rPr sz="1400" b="0" i="0">
                          <a:solidFill>
                            <a:srgbClr val="1A1440"/>
                          </a:solidFill>
                          <a:latin typeface="Calibri"/>
                        </a:rPr>
                        <a:t>Which log rows earn trust?</a:t>
                      </a:r>
                    </a:p>
                  </a:txBody>
                  <a:tcPr marL="101600" marR="101600" marT="38100" marB="38100" anchor="ctr">
                    <a:solidFill>
                      <a:srgbClr val="FFFFFF"/>
                    </a:solidFill>
                  </a:tcPr>
                </a:tc>
                <a:tc>
                  <a:txBody>
                    <a:bodyPr/>
                    <a:lstStyle/>
                    <a:p>
                      <a:r>
                        <a:rPr sz="1400" b="0" i="0">
                          <a:solidFill>
                            <a:srgbClr val="1A1440"/>
                          </a:solidFill>
                          <a:latin typeface="Calibri"/>
                        </a:rPr>
                        <a:t>The calls that moved the most rows or dollars, one row you kept, and rows in against kept and set aside</a:t>
                      </a:r>
                    </a:p>
                  </a:txBody>
                  <a:tcPr marL="101600" marR="101600" marT="38100" marB="38100" anchor="ctr">
                    <a:solidFill>
                      <a:srgbClr val="FFFFFF"/>
                    </a:solidFill>
                  </a:tcPr>
                </a:tc>
              </a:tr>
              <a:tr h="611632">
                <a:tc>
                  <a:txBody>
                    <a:bodyPr/>
                    <a:lstStyle/>
                    <a:p>
                      <a:r>
                        <a:rPr sz="1400" b="0" i="0">
                          <a:solidFill>
                            <a:srgbClr val="1A1440"/>
                          </a:solidFill>
                          <a:latin typeface="Calibri"/>
                        </a:rPr>
                        <a:t>Which rules make a chart carry?</a:t>
                      </a:r>
                    </a:p>
                  </a:txBody>
                  <a:tcPr marL="101600" marR="101600" marT="38100" marB="38100" anchor="ctr">
                    <a:solidFill>
                      <a:srgbClr val="F4F2FA"/>
                    </a:solidFill>
                  </a:tcPr>
                </a:tc>
                <a:tc>
                  <a:txBody>
                    <a:bodyPr/>
                    <a:lstStyle/>
                    <a:p>
                      <a:r>
                        <a:rPr sz="1400" b="0" i="0">
                          <a:solidFill>
                            <a:srgbClr val="1A1440"/>
                          </a:solidFill>
                          <a:latin typeface="Calibri"/>
                        </a:rPr>
                        <a:t>A title that states the finding, the denominator in view, matching windows, and a number the demo prints</a:t>
                      </a:r>
                    </a:p>
                  </a:txBody>
                  <a:tcPr marL="101600" marR="101600" marT="38100" marB="38100" anchor="ctr">
                    <a:solidFill>
                      <a:srgbClr val="F4F2FA"/>
                    </a:solidFill>
                  </a:tcPr>
                </a:tc>
              </a:tr>
              <a:tr h="369824">
                <a:tc>
                  <a:txBody>
                    <a:bodyPr/>
                    <a:lstStyle/>
                    <a:p>
                      <a:r>
                        <a:rPr sz="1400" b="0" i="0">
                          <a:solidFill>
                            <a:srgbClr val="1A1440"/>
                          </a:solidFill>
                          <a:latin typeface="Calibri"/>
                        </a:rPr>
                        <a:t>What goes into Build 2?</a:t>
                      </a:r>
                    </a:p>
                  </a:txBody>
                  <a:tcPr marL="101600" marR="101600" marT="38100" marB="38100" anchor="ctr">
                    <a:solidFill>
                      <a:srgbClr val="FFFFFF"/>
                    </a:solidFill>
                  </a:tcPr>
                </a:tc>
                <a:tc>
                  <a:txBody>
                    <a:bodyPr/>
                    <a:lstStyle/>
                    <a:p>
                      <a:r>
                        <a:rPr sz="1400" b="0" i="0">
                          <a:solidFill>
                            <a:srgbClr val="1A1440"/>
                          </a:solidFill>
                          <a:latin typeface="Calibri"/>
                        </a:rPr>
                        <a:t>One behaviour from your challenges log, specific enough to do on day one</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If a slide in these ten minutes connects to no word of the claim, cut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if the demo fails?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the live demo prove your number from the raw files, and what happens if it fails in front of the panel?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trusts a number it watched arrive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live demo,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trusts a number it watched arrive from the raw files more than one pasted on a slide, and every member, whose presentation and defence score begins with the demo; a demo that still fails after its two minutes costs each member that share of the marks.</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rules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a live demo prove your number?</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Cold</a:t>
            </a:r>
          </a:p>
        </p:txBody>
      </p:sp>
      <p:sp>
        <p:nvSpPr>
          <p:cNvPr id="23" name="TextBox 22"/>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a cold run mean on the day?</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A failure</a:t>
            </a:r>
          </a:p>
        </p:txBody>
      </p:sp>
      <p:sp>
        <p:nvSpPr>
          <p:cNvPr id="28" name="TextBox 27"/>
          <p:cNvSpPr txBox="1"/>
          <p:nvPr/>
        </p:nvSpPr>
        <p:spPr>
          <a:xfrm>
            <a:off x="5220492"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if the demo fails in front of the panel?</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order</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In which order does the demo run on the day?</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cost</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does a failed demo cost, and what does it leave?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D26  ·  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make the demo prove your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live demo prove the number on your one-slide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nowflake_b9dadda434bf.png"/>
          <p:cNvPicPr>
            <a:picLocks noChangeAspect="1"/>
          </p:cNvPicPr>
          <p:nvPr/>
        </p:nvPicPr>
        <p:blipFill>
          <a:blip r:embed="rId5"/>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fresh Codespace or a restarted kernel, run all, with no output kept from an earlier run.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6"/>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Raw files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files exactly as Dr Menon's team sent them, read straight from the data folder with no hand edits.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lay_9326b926cbe1.png"/>
          <p:cNvPicPr>
            <a:picLocks noChangeAspect="1"/>
          </p:cNvPicPr>
          <p:nvPr/>
        </p:nvPicPr>
        <p:blipFill>
          <a:blip r:embed="rId7"/>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RULE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press, top to bottom, with two minutes to recover if it fails, as in front of a client.</a:t>
            </a:r>
          </a:p>
        </p:txBody>
      </p:sp>
      <p:pic>
        <p:nvPicPr>
          <p:cNvPr id="27" name="mermaid diagram" descr="e00c56d0f616d810.png"/>
          <p:cNvPicPr>
            <a:picLocks noChangeAspect="1"/>
          </p:cNvPicPr>
          <p:nvPr/>
        </p:nvPicPr>
        <p:blipFill>
          <a:blip r:embed="rId8"/>
          <a:stretch>
            <a:fillRect/>
          </a:stretch>
        </p:blipFill>
        <p:spPr>
          <a:xfrm>
            <a:off x="2895447" y="4294124"/>
            <a:ext cx="6400800" cy="1128712"/>
          </a:xfrm>
          <a:prstGeom prst="rect">
            <a:avLst/>
          </a:prstGeom>
        </p:spPr>
      </p:pic>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4" name="Oval 3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6" name="Oval 35"/>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8" name="Oval 37"/>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Cold means a fresh start on Friday's frozen commit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cold run mean on the day of your slot?</a:t>
            </a:r>
          </a:p>
        </p:txBody>
      </p:sp>
      <p:sp>
        <p:nvSpPr>
          <p:cNvPr id="10" name="Rectangle 9"/>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2" name="Oval 11"/>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frozen commit</a:t>
            </a:r>
          </a:p>
        </p:txBody>
      </p:sp>
      <p:sp>
        <p:nvSpPr>
          <p:cNvPr id="15" name="TextBox 14"/>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The last commit you pushed before Friday's open build time closed is the one you demo.</a:t>
            </a:r>
          </a:p>
        </p:txBody>
      </p:sp>
      <p:sp>
        <p:nvSpPr>
          <p:cNvPr id="16" name="TextBox 15"/>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7" name="Oval 16"/>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 fresh start</a:t>
            </a:r>
          </a:p>
        </p:txBody>
      </p:sp>
      <p:sp>
        <p:nvSpPr>
          <p:cNvPr id="20" name="TextBox 19"/>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 new Codespace, or a restarted kernel, with no output kept.</a:t>
            </a:r>
          </a:p>
        </p:txBody>
      </p:sp>
      <p:sp>
        <p:nvSpPr>
          <p:cNvPr id="21" name="TextBox 20"/>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2" name="Oval 21"/>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raw files</a:t>
            </a:r>
          </a:p>
        </p:txBody>
      </p:sp>
      <p:sp>
        <p:nvSpPr>
          <p:cNvPr id="25" name="TextBox 24"/>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ten files as Dr Menon's team sent them, in the data folder.</a:t>
            </a:r>
          </a:p>
        </p:txBody>
      </p:sp>
      <p:sp>
        <p:nvSpPr>
          <p:cNvPr id="26" name="TextBox 25"/>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7" name="Oval 26"/>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Run all</a:t>
            </a:r>
          </a:p>
        </p:txBody>
      </p:sp>
      <p:sp>
        <p:nvSpPr>
          <p:cNvPr id="30" name="TextBox 29"/>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Top to bottom, one press, in front of the panel.</a:t>
            </a:r>
          </a:p>
        </p:txBody>
      </p:sp>
      <p:sp>
        <p:nvSpPr>
          <p:cNvPr id="31" name="TextBox 30"/>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2" name="Oval 31"/>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35" name="TextBox 34"/>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number on your slide appears in the output.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4" name="Oval 4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6" name="Oval 4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minutes to recover, then the executed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b42abdde2ce6935.png"/>
          <p:cNvPicPr>
            <a:picLocks noChangeAspect="1"/>
          </p:cNvPicPr>
          <p:nvPr/>
        </p:nvPicPr>
        <p:blipFill>
          <a:blip r:embed="rId5"/>
          <a:stretch>
            <a:fillRect/>
          </a:stretch>
        </p:blipFill>
        <p:spPr>
          <a:xfrm>
            <a:off x="1545278" y="1903063"/>
            <a:ext cx="9101137" cy="3157537"/>
          </a:xfrm>
          <a:prstGeom prst="rect">
            <a:avLst/>
          </a:prstGeom>
        </p:spPr>
      </p:pic>
      <p:sp>
        <p:nvSpPr>
          <p:cNvPr id="10" name="TextBox 9"/>
          <p:cNvSpPr txBox="1"/>
          <p:nvPr/>
        </p:nvSpPr>
        <p:spPr>
          <a:xfrm>
            <a:off x="530352" y="520690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of the mini project are scored from the executed run, so a failed demo costs its own marks and never the analysis.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in which order does the demo run?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 five steps of a demo run, from Friday's commit to the fallback?</a:t>
            </a:r>
          </a:p>
        </p:txBody>
      </p:sp>
      <p:sp>
        <p:nvSpPr>
          <p:cNvPr id="10" name="Rounded Rectangle 9"/>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Five steps, shuffled: (1) present from the executed notebook; (2) check that the Codespace is on Friday's frozen commit; (3) run all on the raw files, in front of the panel; (4) recover live, for up to two minutes; (5) restart the kernel, so no output is kept. In which order does a group take them on the day? Answer as a letter.</a:t>
            </a:r>
          </a:p>
        </p:txBody>
      </p:sp>
      <p:sp>
        <p:nvSpPr>
          <p:cNvPr id="13" name="TextBox 12"/>
          <p:cNvSpPr txBox="1"/>
          <p:nvPr/>
        </p:nvSpPr>
        <p:spPr>
          <a:xfrm>
            <a:off x="530352" y="34625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5, 2, 3, 1, 4</a:t>
            </a:r>
          </a:p>
          <a:p>
            <a:pPr>
              <a:spcAft>
                <a:spcPts val="800"/>
              </a:spcAft>
            </a:pPr>
            <a:r>
              <a:rPr sz="1600" b="0" i="0">
                <a:solidFill>
                  <a:srgbClr val="1A1440"/>
                </a:solidFill>
                <a:latin typeface="Calibri"/>
              </a:rPr>
              <a:t>b) 2, 3, 5, 4, 1</a:t>
            </a:r>
          </a:p>
          <a:p>
            <a:pPr>
              <a:spcAft>
                <a:spcPts val="800"/>
              </a:spcAft>
            </a:pPr>
            <a:r>
              <a:rPr sz="1600" b="0" i="0">
                <a:solidFill>
                  <a:srgbClr val="1A1440"/>
                </a:solidFill>
                <a:latin typeface="Calibri"/>
              </a:rPr>
              <a:t>c) 3, 2, 5, 4, 1</a:t>
            </a:r>
          </a:p>
          <a:p>
            <a:pPr>
              <a:spcAft>
                <a:spcPts val="800"/>
              </a:spcAft>
            </a:pPr>
            <a:r>
              <a:rPr sz="1600" b="0" i="0">
                <a:solidFill>
                  <a:srgbClr val="1A1440"/>
                </a:solidFill>
                <a:latin typeface="Calibri"/>
              </a:rPr>
              <a:t>d) 2, 5, 3, 4, 1</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d, commit, restart, run, then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does the demo run, and what goes wrong in each other order?</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goes wrong, or why it holds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Restarts before checking the commit, and falls back to the notebook before the two minutes to recover</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Runs before the restart, so output kept from an earlier run can pass for a cold result</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Runs before the commit is checked, so the panel may watch code that Friday's freeze never held</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Holds: the frozen commit checked, a clean restart, the run, two minutes to recover, then the executed notebook</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Rehearse the failure as well as the run: know which cell breaks most often and what you type in the two minutes.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the 34 stand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demo that still fails cost, and what does it leave standing?</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34</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GROUP'S MARKS</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scored from the executed run, whatever the demo did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EACH LEARNER'S OWN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presentation and defence, where the live demo sits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RECOVER LIVE</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executed notebook</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Full marks on presentation and defence begin with "the live demo runs cold", so a demo that still fails keeps a learner below them; a machine that fails before the demo starts is swapped for a spare and the demo runs in the slot, and only if no spare works does it run cold in the room's reserve, the spare minutes each room keeps after its slots, before the same panel.</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Run once, cold, and fall back after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What makes the demo prove the number?</a:t>
                      </a:r>
                    </a:p>
                  </a:txBody>
                  <a:tcPr marL="101600" marR="101600" marT="38100" marB="38100" anchor="ctr">
                    <a:solidFill>
                      <a:srgbClr val="FFFFFF"/>
                    </a:solidFill>
                  </a:tcPr>
                </a:tc>
                <a:tc>
                  <a:txBody>
                    <a:bodyPr/>
                    <a:lstStyle/>
                    <a:p>
                      <a:r>
                        <a:rPr sz="1400" b="0" i="0">
                          <a:solidFill>
                            <a:srgbClr val="1A1440"/>
                          </a:solidFill>
                          <a:latin typeface="Calibri"/>
                        </a:rPr>
                        <a:t>One cold run on the raw files, with the number on your slide in its output</a:t>
                      </a:r>
                    </a:p>
                  </a:txBody>
                  <a:tcPr marL="101600" marR="101600" marT="38100" marB="38100" anchor="ctr">
                    <a:solidFill>
                      <a:srgbClr val="FFFFFF"/>
                    </a:solidFill>
                  </a:tcPr>
                </a:tc>
              </a:tr>
              <a:tr h="611632">
                <a:tc>
                  <a:txBody>
                    <a:bodyPr/>
                    <a:lstStyle/>
                    <a:p>
                      <a:r>
                        <a:rPr sz="1400" b="0" i="0">
                          <a:solidFill>
                            <a:srgbClr val="1A1440"/>
                          </a:solidFill>
                          <a:latin typeface="Calibri"/>
                        </a:rPr>
                        <a:t>What does cold mean on the day?</a:t>
                      </a:r>
                    </a:p>
                  </a:txBody>
                  <a:tcPr marL="101600" marR="101600" marT="38100" marB="38100" anchor="ctr">
                    <a:solidFill>
                      <a:srgbClr val="F4F2FA"/>
                    </a:solidFill>
                  </a:tcPr>
                </a:tc>
                <a:tc>
                  <a:txBody>
                    <a:bodyPr/>
                    <a:lstStyle/>
                    <a:p>
                      <a:r>
                        <a:rPr sz="1400" b="0" i="0">
                          <a:solidFill>
                            <a:srgbClr val="1A1440"/>
                          </a:solidFill>
                          <a:latin typeface="Calibri"/>
                        </a:rPr>
                        <a:t>Friday's frozen commit, a fresh start with nothing kept, the raw files, and run all</a:t>
                      </a:r>
                    </a:p>
                  </a:txBody>
                  <a:tcPr marL="101600" marR="101600" marT="38100" marB="38100" anchor="ctr">
                    <a:solidFill>
                      <a:srgbClr val="F4F2FA"/>
                    </a:solidFill>
                  </a:tcPr>
                </a:tc>
              </a:tr>
              <a:tr h="369824">
                <a:tc>
                  <a:txBody>
                    <a:bodyPr/>
                    <a:lstStyle/>
                    <a:p>
                      <a:r>
                        <a:rPr sz="1400" b="0" i="0">
                          <a:solidFill>
                            <a:srgbClr val="1A1440"/>
                          </a:solidFill>
                          <a:latin typeface="Calibri"/>
                        </a:rPr>
                        <a:t>What if it fails?</a:t>
                      </a:r>
                    </a:p>
                  </a:txBody>
                  <a:tcPr marL="101600" marR="101600" marT="38100" marB="38100" anchor="ctr">
                    <a:solidFill>
                      <a:srgbClr val="FFFFFF"/>
                    </a:solidFill>
                  </a:tcPr>
                </a:tc>
                <a:tc>
                  <a:txBody>
                    <a:bodyPr/>
                    <a:lstStyle/>
                    <a:p>
                      <a:r>
                        <a:rPr sz="1400" b="0" i="0">
                          <a:solidFill>
                            <a:srgbClr val="1A1440"/>
                          </a:solidFill>
                          <a:latin typeface="Calibri"/>
                        </a:rPr>
                        <a:t>Two minutes to recover live, then the executed notebook</a:t>
                      </a:r>
                    </a:p>
                  </a:txBody>
                  <a:tcPr marL="101600" marR="101600" marT="38100" marB="38100" anchor="ctr">
                    <a:solidFill>
                      <a:srgbClr val="FFFFFF"/>
                    </a:solidFill>
                  </a:tcPr>
                </a:tc>
              </a:tr>
              <a:tr h="611632">
                <a:tc>
                  <a:txBody>
                    <a:bodyPr/>
                    <a:lstStyle/>
                    <a:p>
                      <a:r>
                        <a:rPr sz="1400" b="0" i="0">
                          <a:solidFill>
                            <a:srgbClr val="1A1440"/>
                          </a:solidFill>
                          <a:latin typeface="Calibri"/>
                        </a:rPr>
                        <a:t>In which order does the day run?</a:t>
                      </a:r>
                    </a:p>
                  </a:txBody>
                  <a:tcPr marL="101600" marR="101600" marT="38100" marB="38100" anchor="ctr">
                    <a:solidFill>
                      <a:srgbClr val="F4F2FA"/>
                    </a:solidFill>
                  </a:tcPr>
                </a:tc>
                <a:tc>
                  <a:txBody>
                    <a:bodyPr/>
                    <a:lstStyle/>
                    <a:p>
                      <a:r>
                        <a:rPr sz="1400" b="0" i="0">
                          <a:solidFill>
                            <a:srgbClr val="1A1440"/>
                          </a:solidFill>
                          <a:latin typeface="Calibri"/>
                        </a:rPr>
                        <a:t>Check the commit, restart, run all, recover for up to two minutes, then fall back</a:t>
                      </a:r>
                    </a:p>
                  </a:txBody>
                  <a:tcPr marL="101600" marR="101600" marT="38100" marB="38100" anchor="ctr">
                    <a:solidFill>
                      <a:srgbClr val="F4F2FA"/>
                    </a:solidFill>
                  </a:tcPr>
                </a:tc>
              </a:tr>
              <a:tr h="611632">
                <a:tc>
                  <a:txBody>
                    <a:bodyPr/>
                    <a:lstStyle/>
                    <a:p>
                      <a:r>
                        <a:rPr sz="1400" b="0" i="0">
                          <a:solidFill>
                            <a:srgbClr val="1A1440"/>
                          </a:solidFill>
                          <a:latin typeface="Calibri"/>
                        </a:rPr>
                        <a:t>What does a failure cost?</a:t>
                      </a:r>
                    </a:p>
                  </a:txBody>
                  <a:tcPr marL="101600" marR="101600" marT="38100" marB="38100" anchor="ctr">
                    <a:solidFill>
                      <a:srgbClr val="FFFFFF"/>
                    </a:solidFill>
                  </a:tcPr>
                </a:tc>
                <a:tc>
                  <a:txBody>
                    <a:bodyPr/>
                    <a:lstStyle/>
                    <a:p>
                      <a:r>
                        <a:rPr sz="1400" b="0" i="0">
                          <a:solidFill>
                            <a:srgbClr val="1A1440"/>
                          </a:solidFill>
                          <a:latin typeface="Calibri"/>
                        </a:rPr>
                        <a:t>The live demo's share of each member's presentation and defence; the group's 34 stand on the executed run</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Run the demo cold twice before your slot, and once more in the last hour.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claim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you hold your claim when the panel challenges its caveat, and when are two groups' different answers both honest?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answers the panel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your answers to the panel,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member: presentation and defence is scored for each learner on 6 marks, and the panel chooses who answers, so a member who knows one slice of the work answers for all of it, and loses their own marks if they cannot.</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Five kinds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kinds of question does the panel ask?</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hold a caveat without folding or overclaiming?</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Narrowing</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Does narrowing a claim under challenge cost marks?</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Two answers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are two groups' different numbers both honest?</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Every member</a:t>
            </a:r>
          </a:p>
        </p:txBody>
      </p:sp>
      <p:sp>
        <p:nvSpPr>
          <p:cNvPr id="38" name="TextBox 37"/>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must each member explain alone?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D34  ·  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panel asks five kinds of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kinds of question should every group expect in its eight to ten minutes?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Kind</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r>
              <a:tr h="369824">
                <a:tc>
                  <a:txBody>
                    <a:bodyPr/>
                    <a:lstStyle/>
                    <a:p>
                      <a:r>
                        <a:rPr sz="1400" b="0" i="0">
                          <a:solidFill>
                            <a:srgbClr val="1A1440"/>
                          </a:solidFill>
                          <a:latin typeface="Calibri"/>
                        </a:rPr>
                        <a:t>The evidence</a:t>
                      </a:r>
                    </a:p>
                  </a:txBody>
                  <a:tcPr marL="101600" marR="101600" marT="38100" marB="38100" anchor="ctr">
                    <a:solidFill>
                      <a:srgbClr val="FFFFFF"/>
                    </a:solidFill>
                  </a:tcPr>
                </a:tc>
                <a:tc>
                  <a:txBody>
                    <a:bodyPr/>
                    <a:lstStyle/>
                    <a:p>
                      <a:r>
                        <a:rPr sz="1400" b="0" i="0">
                          <a:solidFill>
                            <a:srgbClr val="1A1440"/>
                          </a:solidFill>
                          <a:latin typeface="Calibri"/>
                        </a:rPr>
                        <a:t>"What is the denominator of that number, and 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The caveat challenge</a:t>
                      </a:r>
                    </a:p>
                  </a:txBody>
                  <a:tcPr marL="101600" marR="101600" marT="38100" marB="38100" anchor="ctr">
                    <a:solidFill>
                      <a:srgbClr val="F4F2FA"/>
                    </a:solidFill>
                  </a:tcPr>
                </a:tc>
                <a:tc>
                  <a:txBody>
                    <a:bodyPr/>
                    <a:lstStyle/>
                    <a:p>
                      <a:r>
                        <a:rPr sz="1400" b="0" i="0">
                          <a:solidFill>
                            <a:srgbClr val="1A1440"/>
                          </a:solidFill>
                          <a:latin typeface="Calibri"/>
                        </a:rPr>
                        <a:t>"Your caveat says this might not hold. Suppose it does not. What then?"</a:t>
                      </a:r>
                    </a:p>
                  </a:txBody>
                  <a:tcPr marL="101600" marR="101600" marT="38100" marB="38100" anchor="ctr">
                    <a:solidFill>
                      <a:srgbClr val="F4F2FA"/>
                    </a:solidFill>
                  </a:tcPr>
                </a:tc>
              </a:tr>
              <a:tr h="369824">
                <a:tc>
                  <a:txBody>
                    <a:bodyPr/>
                    <a:lstStyle/>
                    <a:p>
                      <a:r>
                        <a:rPr sz="1400" b="0" i="0">
                          <a:solidFill>
                            <a:srgbClr val="1A1440"/>
                          </a:solidFill>
                          <a:latin typeface="Calibri"/>
                        </a:rPr>
                        <a:t>The quietest member</a:t>
                      </a:r>
                    </a:p>
                  </a:txBody>
                  <a:tcPr marL="101600" marR="101600" marT="38100" marB="38100" anchor="ctr">
                    <a:solidFill>
                      <a:srgbClr val="FFFFFF"/>
                    </a:solidFill>
                  </a:tcPr>
                </a:tc>
                <a:tc>
                  <a:txBody>
                    <a:bodyPr/>
                    <a:lstStyle/>
                    <a:p>
                      <a:r>
                        <a:rPr sz="1400" b="0" i="0">
                          <a:solidFill>
                            <a:srgbClr val="1A1440"/>
                          </a:solidFill>
                          <a:latin typeface="Calibri"/>
                        </a:rPr>
                        <a:t>A question to one named person, who answers without help from the group</a:t>
                      </a:r>
                    </a:p>
                  </a:txBody>
                  <a:tcPr marL="101600" marR="101600" marT="38100" marB="38100" anchor="ctr">
                    <a:solidFill>
                      <a:srgbClr val="FFFFFF"/>
                    </a:solidFill>
                  </a:tcPr>
                </a:tc>
              </a:tr>
              <a:tr h="369824">
                <a:tc>
                  <a:txBody>
                    <a:bodyPr/>
                    <a:lstStyle/>
                    <a:p>
                      <a:r>
                        <a:rPr sz="1400" b="0" i="0">
                          <a:solidFill>
                            <a:srgbClr val="1A1440"/>
                          </a:solidFill>
                          <a:latin typeface="Calibri"/>
                        </a:rPr>
                        <a:t>The other group</a:t>
                      </a:r>
                    </a:p>
                  </a:txBody>
                  <a:tcPr marL="101600" marR="101600" marT="38100" marB="38100" anchor="ctr">
                    <a:solidFill>
                      <a:srgbClr val="F4F2FA"/>
                    </a:solidFill>
                  </a:tcPr>
                </a:tc>
                <a:tc>
                  <a:txBody>
                    <a:bodyPr/>
                    <a:lstStyle/>
                    <a:p>
                      <a:r>
                        <a:rPr sz="1400" b="0" i="0">
                          <a:solidFill>
                            <a:srgbClr val="1A1440"/>
                          </a:solidFill>
                          <a:latin typeface="Calibri"/>
                        </a:rPr>
                        <a:t>"Another group on your question reached a different claim. Can both be honest?"</a:t>
                      </a:r>
                    </a:p>
                  </a:txBody>
                  <a:tcPr marL="101600" marR="101600" marT="38100" marB="38100" anchor="ctr">
                    <a:solidFill>
                      <a:srgbClr val="F4F2FA"/>
                    </a:solidFill>
                  </a:tcPr>
                </a:tc>
              </a:tr>
              <a:tr h="369824">
                <a:tc>
                  <a:txBody>
                    <a:bodyPr/>
                    <a:lstStyle/>
                    <a:p>
                      <a:r>
                        <a:rPr sz="1400" b="0" i="0">
                          <a:solidFill>
                            <a:srgbClr val="1A1440"/>
                          </a:solidFill>
                          <a:latin typeface="Calibri"/>
                        </a:rPr>
                        <a:t>Differently</a:t>
                      </a:r>
                    </a:p>
                  </a:txBody>
                  <a:tcPr marL="101600" marR="101600" marT="38100" marB="38100" anchor="ctr">
                    <a:solidFill>
                      <a:srgbClr val="FFFFFF"/>
                    </a:solidFill>
                  </a:tcPr>
                </a:tc>
                <a:tc>
                  <a:txBody>
                    <a:bodyPr/>
                    <a:lstStyle/>
                    <a:p>
                      <a:r>
                        <a:rPr sz="1400" b="0" i="0">
                          <a:solidFill>
                            <a:srgbClr val="1A1440"/>
                          </a:solidFill>
                          <a:latin typeface="Calibri"/>
                        </a:rPr>
                        <a:t>"If you started again on Monday, what would you do first?"</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([S] marks a staple question, asked in screens everywhere.)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 as Week 1 Friday rehearsed it?</a:t>
            </a:r>
          </a:p>
        </p:txBody>
      </p:sp>
      <p:pic>
        <p:nvPicPr>
          <p:cNvPr id="10" name="mermaid diagram" descr="3e24f6f88292b9d6.png"/>
          <p:cNvPicPr>
            <a:picLocks noChangeAspect="1"/>
          </p:cNvPicPr>
          <p:nvPr/>
        </p:nvPicPr>
        <p:blipFill>
          <a:blip r:embed="rId5"/>
          <a:stretch>
            <a:fillRect/>
          </a:stretch>
        </p:blipFill>
        <p:spPr>
          <a:xfrm>
            <a:off x="4626487" y="1664208"/>
            <a:ext cx="2938719"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Folding drops the caveat and the claim with it, and overclaiming calls an uncertain number certain; the three moves sit between the two.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D36  ·  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claim holds once the courier's share is bounded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moves sound when a panel pushes on the invented turnaround claim?</a:t>
            </a:r>
          </a:p>
        </p:txBody>
      </p:sp>
      <p:pic>
        <p:nvPicPr>
          <p:cNvPr id="10" name="mermaid diagram" descr="ed30e7d357fce3d0.png"/>
          <p:cNvPicPr>
            <a:picLocks noChangeAspect="1"/>
          </p:cNvPicPr>
          <p:nvPr/>
        </p:nvPicPr>
        <p:blipFill>
          <a:blip r:embed="rId5"/>
          <a:stretch>
            <a:fillRect/>
          </a:stretch>
        </p:blipFill>
        <p:spPr>
          <a:xfrm>
            <a:off x="1195235" y="1956816"/>
            <a:ext cx="9801225" cy="1371600"/>
          </a:xfrm>
          <a:prstGeom prst="rect">
            <a:avLst/>
          </a:prstGeom>
        </p:spPr>
      </p:pic>
      <p:sp>
        <p:nvSpPr>
          <p:cNvPr id="11" name="TextBox 10"/>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figures the claim holds as stated, draw to result, and the test settles how much of the 4 hours is the courier's.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D37  ·  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does narrowing your claim cost marks?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or false, with its reason: does narrowing a claim under challenge cost presentation and defence marks?</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panel says your caveat undoes your claim, and you narrow the claim to the part you measured, with its number and the test that would settle the rest. True or false, with its reason: the narrowing costs you marks on presentation and defence. Answer as a letter.</a:t>
            </a:r>
          </a:p>
        </p:txBody>
      </p:sp>
      <p:sp>
        <p:nvSpPr>
          <p:cNvPr id="13" name="TextBox 12"/>
          <p:cNvSpPr txBox="1"/>
          <p:nvPr/>
        </p:nvSpPr>
        <p:spPr>
          <a:xfrm>
            <a:off x="530352" y="3195828"/>
            <a:ext cx="11130991" cy="220675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True, because the rubric rewards the claim a group stated, and narrowing it concedes the panel was right.</a:t>
            </a:r>
          </a:p>
          <a:p>
            <a:pPr>
              <a:spcAft>
                <a:spcPts val="800"/>
              </a:spcAft>
            </a:pPr>
            <a:r>
              <a:rPr sz="1600" b="0" i="0">
                <a:solidFill>
                  <a:srgbClr val="1A1440"/>
                </a:solidFill>
                <a:latin typeface="Calibri"/>
              </a:rPr>
              <a:t>b) True, because a narrowing shows a caveat the group should have stated before its slot began.</a:t>
            </a:r>
          </a:p>
          <a:p>
            <a:pPr>
              <a:spcAft>
                <a:spcPts val="800"/>
              </a:spcAft>
            </a:pPr>
            <a:r>
              <a:rPr sz="1600" b="0" i="0">
                <a:solidFill>
                  <a:srgbClr val="1A1440"/>
                </a:solidFill>
                <a:latin typeface="Calibri"/>
              </a:rPr>
              <a:t>c) False, because full marks ask each member to answer a challenge on the caveat, and narrowing answers it.</a:t>
            </a:r>
          </a:p>
          <a:p>
            <a:pPr>
              <a:spcAft>
                <a:spcPts val="800"/>
              </a:spcAft>
            </a:pPr>
            <a:r>
              <a:rPr sz="1600" b="0" i="0">
                <a:solidFill>
                  <a:srgbClr val="1A1440"/>
                </a:solidFill>
                <a:latin typeface="Calibri"/>
              </a:rPr>
              <a:t>d) False, because the panel scores only the group's 34 marks, and never one member's defence alone.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D38  ·  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narrowing is the answer the rubric asks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narrowing a loss of marks, and why does each other reason fail?</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rubric scores the answer to a challenge on the caveat; a claim kept unchanged earns nothing for being unchanged</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 caveat named in the room and answered with a number is the defence the criterion describes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Holds: the narrowed claim, its number and the settling test answer the challenge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right verdict on a wrong reason: presentation and defence is scored for each learner, on 6 marks</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bound, and offer the test.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Both stand when each says what it timed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can two groups' different numbers from the same files both be honest?</a:t>
            </a:r>
          </a:p>
        </p:txBody>
      </p:sp>
      <p:pic>
        <p:nvPicPr>
          <p:cNvPr id="10" name="mermaid diagram" descr="fb6a0096e4d4528c.png"/>
          <p:cNvPicPr>
            <a:picLocks noChangeAspect="1"/>
          </p:cNvPicPr>
          <p:nvPr/>
        </p:nvPicPr>
        <p:blipFill>
          <a:blip r:embed="rId5"/>
          <a:stretch>
            <a:fillRect/>
          </a:stretch>
        </p:blipFill>
        <p:spPr>
          <a:xfrm>
            <a:off x="2109635" y="1956816"/>
            <a:ext cx="7972425" cy="2300287"/>
          </a:xfrm>
          <a:prstGeom prst="rect">
            <a:avLst/>
          </a:prstGeom>
        </p:spPr>
      </p:pic>
      <p:sp>
        <p:nvSpPr>
          <p:cNvPr id="11" name="TextBox 10"/>
          <p:cNvSpPr txBox="1"/>
          <p:nvPr/>
        </p:nvSpPr>
        <p:spPr>
          <a:xfrm>
            <a:off x="530352" y="44034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numbers from the same files are both honest when each says what it counted; the panel asks the second group whether both can stand, and the strong answer names the definition that separates them.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explains three things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each member be able to explain without a teammate?</a:t>
            </a:r>
          </a:p>
        </p:txBody>
      </p:sp>
      <p:sp>
        <p:nvSpPr>
          <p:cNvPr id="10" name="Rounded Rectangle 9"/>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quote_e12f9e1e3c67.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 its number, denominator, window and caveat, in the member's own words.</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logged decision</a:t>
            </a:r>
          </a:p>
        </p:txBody>
      </p:sp>
      <p:sp>
        <p:nvSpPr>
          <p:cNvPr id="21" name="TextBox 20"/>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row of the decisions log, the rows it touched, and why.</a:t>
            </a:r>
          </a:p>
        </p:txBody>
      </p:sp>
      <p:sp>
        <p:nvSpPr>
          <p:cNvPr id="22" name="Rounded Rectangle 21"/>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hart-column_398db591d143.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THREE</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chart</a:t>
            </a:r>
          </a:p>
        </p:txBody>
      </p:sp>
      <p:sp>
        <p:nvSpPr>
          <p:cNvPr id="27" name="TextBox 26"/>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it shows, out of what, and which number in the demo prints it.</a:t>
            </a:r>
          </a:p>
        </p:txBody>
      </p:sp>
      <p:sp>
        <p:nvSpPr>
          <p:cNvPr id="28" name="TextBox 27"/>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panel puts its question to whoever has spoken least, and the rest of the group stays silent while that member answers.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3" name="Oval 3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5" name="Oval 3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7" name="Oval 3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39" name="Oval 3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D41  ·  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Narrow, give the number, and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1" cy="2944368"/>
        </p:xfrm>
        <a:graphic>
          <a:graphicData uri="http://schemas.openxmlformats.org/drawingml/2006/table">
            <a:tbl>
              <a:tblPr firstRow="0" bandRow="0">
                <a:tableStyleId>{2D5ABB26-0587-4C30-8999-92F81FD0307C}</a:tableStyleId>
              </a:tblPr>
              <a:tblGrid>
                <a:gridCol w="4108300"/>
                <a:gridCol w="7022691"/>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kinds of question come?</a:t>
                      </a:r>
                    </a:p>
                  </a:txBody>
                  <a:tcPr marL="101600" marR="101600" marT="38100" marB="38100" anchor="ctr">
                    <a:solidFill>
                      <a:srgbClr val="FFFFFF"/>
                    </a:solidFill>
                  </a:tcPr>
                </a:tc>
                <a:tc>
                  <a:txBody>
                    <a:bodyPr/>
                    <a:lstStyle/>
                    <a:p>
                      <a:r>
                        <a:rPr sz="1400" b="0" i="0">
                          <a:solidFill>
                            <a:srgbClr val="1A1440"/>
                          </a:solidFill>
                          <a:latin typeface="Calibri"/>
                        </a:rPr>
                        <a:t>The evidence, the caveat challenge, the quietest member, the other group, and what you would do differently</a:t>
                      </a:r>
                    </a:p>
                  </a:txBody>
                  <a:tcPr marL="101600" marR="101600" marT="38100" marB="38100" anchor="ctr">
                    <a:solidFill>
                      <a:srgbClr val="FFFFFF"/>
                    </a:solidFill>
                  </a:tcPr>
                </a:tc>
              </a:tr>
              <a:tr h="611632">
                <a:tc>
                  <a:txBody>
                    <a:bodyPr/>
                    <a:lstStyle/>
                    <a:p>
                      <a:r>
                        <a:rPr sz="1400" b="0" i="0">
                          <a:solidFill>
                            <a:srgbClr val="1A1440"/>
                          </a:solidFill>
                          <a:latin typeface="Calibri"/>
                        </a:rPr>
                        <a:t>How do you hold a caveat?</a:t>
                      </a:r>
                    </a:p>
                  </a:txBody>
                  <a:tcPr marL="101600" marR="101600" marT="38100" marB="38100" anchor="ctr">
                    <a:solidFill>
                      <a:srgbClr val="F4F2FA"/>
                    </a:solidFill>
                  </a:tcPr>
                </a:tc>
                <a:tc>
                  <a:txBody>
                    <a:bodyPr/>
                    <a:lstStyle/>
                    <a:p>
                      <a:r>
                        <a:rPr sz="1400" b="0" i="0">
                          <a:solidFill>
                            <a:srgbClr val="1A1440"/>
                          </a:solidFill>
                          <a:latin typeface="Calibri"/>
                        </a:rPr>
                        <a:t>Restate the claim with its denominator, bound it, and offer the test that would change your mind</a:t>
                      </a:r>
                    </a:p>
                  </a:txBody>
                  <a:tcPr marL="101600" marR="101600" marT="38100" marB="38100" anchor="ctr">
                    <a:solidFill>
                      <a:srgbClr val="F4F2FA"/>
                    </a:solidFill>
                  </a:tcPr>
                </a:tc>
              </a:tr>
              <a:tr h="611632">
                <a:tc>
                  <a:txBody>
                    <a:bodyPr/>
                    <a:lstStyle/>
                    <a:p>
                      <a:r>
                        <a:rPr sz="1400" b="0" i="0">
                          <a:solidFill>
                            <a:srgbClr val="1A1440"/>
                          </a:solidFill>
                          <a:latin typeface="Calibri"/>
                        </a:rPr>
                        <a:t>Does narrowing cost marks?</a:t>
                      </a:r>
                    </a:p>
                  </a:txBody>
                  <a:tcPr marL="101600" marR="101600" marT="38100" marB="38100" anchor="ctr">
                    <a:solidFill>
                      <a:srgbClr val="FFFFFF"/>
                    </a:solidFill>
                  </a:tcPr>
                </a:tc>
                <a:tc>
                  <a:txBody>
                    <a:bodyPr/>
                    <a:lstStyle/>
                    <a:p>
                      <a:r>
                        <a:rPr sz="1400" b="0" i="0">
                          <a:solidFill>
                            <a:srgbClr val="1A1440"/>
                          </a:solidFill>
                          <a:latin typeface="Calibri"/>
                        </a:rPr>
                        <a:t>No: a narrowed claim with its number and its test is the answer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When are two answers both honest?</a:t>
                      </a:r>
                    </a:p>
                  </a:txBody>
                  <a:tcPr marL="101600" marR="101600" marT="38100" marB="38100" anchor="ctr">
                    <a:solidFill>
                      <a:srgbClr val="F4F2FA"/>
                    </a:solidFill>
                  </a:tcPr>
                </a:tc>
                <a:tc>
                  <a:txBody>
                    <a:bodyPr/>
                    <a:lstStyle/>
                    <a:p>
                      <a:r>
                        <a:rPr sz="1400" b="0" i="0">
                          <a:solidFill>
                            <a:srgbClr val="1A1440"/>
                          </a:solidFill>
                          <a:latin typeface="Calibri"/>
                        </a:rPr>
                        <a:t>When each says what it counted, so one sentence can carry both numbers</a:t>
                      </a:r>
                    </a:p>
                  </a:txBody>
                  <a:tcPr marL="101600" marR="101600" marT="38100" marB="38100" anchor="ctr">
                    <a:solidFill>
                      <a:srgbClr val="F4F2FA"/>
                    </a:solidFill>
                  </a:tcPr>
                </a:tc>
              </a:tr>
              <a:tr h="369824">
                <a:tc>
                  <a:txBody>
                    <a:bodyPr/>
                    <a:lstStyle/>
                    <a:p>
                      <a:r>
                        <a:rPr sz="1400" b="0" i="0">
                          <a:solidFill>
                            <a:srgbClr val="1A1440"/>
                          </a:solidFill>
                          <a:latin typeface="Calibri"/>
                        </a:rPr>
                        <a:t>What must each member explain?</a:t>
                      </a:r>
                    </a:p>
                  </a:txBody>
                  <a:tcPr marL="101600" marR="101600" marT="38100" marB="38100" anchor="ctr">
                    <a:solidFill>
                      <a:srgbClr val="FFFFFF"/>
                    </a:solidFill>
                  </a:tcPr>
                </a:tc>
                <a:tc>
                  <a:txBody>
                    <a:bodyPr/>
                    <a:lstStyle/>
                    <a:p>
                      <a:r>
                        <a:rPr sz="1400" b="0" i="0">
                          <a:solidFill>
                            <a:srgbClr val="1A1440"/>
                          </a:solidFill>
                          <a:latin typeface="Calibri"/>
                        </a:rPr>
                        <a:t>The claim, one logged decision and one chart, alone</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Say the caveat before the panel finds it, and its challenge becomes a question you have already answered.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it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is the mini project scored, what closes with it on Saturday, and what does every group ship before its slot?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 needs the rubric: 34 shared, 6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scoring,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34 of the mini project's 40 marks are the group's, which every member receives, and 6 are each learner's own, so a member who leaves the rubric to the others can lose their own 6.</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before its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rubric</a:t>
            </a:r>
          </a:p>
        </p:txBody>
      </p:sp>
      <p:sp>
        <p:nvSpPr>
          <p:cNvPr id="23" name="TextBox 22"/>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other two</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other Build 1 scores close on Saturday?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last hour</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do you check before you walk in?</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group ships five things before its slot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bring to its slot, and where does each piece live?</a:t>
            </a:r>
          </a:p>
        </p:txBody>
      </p:sp>
      <p:graphicFrame>
        <p:nvGraphicFramePr>
          <p:cNvPr id="10" name="Table 9"/>
          <p:cNvGraphicFramePr>
            <a:graphicFrameLocks noGrp="1"/>
          </p:cNvGraphicFramePr>
          <p:nvPr/>
        </p:nvGraphicFramePr>
        <p:xfrm>
          <a:off x="530352" y="1682496"/>
          <a:ext cx="11130990" cy="3013456"/>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Where it lives</a:t>
                      </a:r>
                    </a:p>
                  </a:txBody>
                  <a:tcPr marL="101600" marR="101600" marT="38100" marB="38100" anchor="ctr">
                    <a:solidFill>
                      <a:srgbClr val="1A0F5C"/>
                    </a:solidFill>
                  </a:tcPr>
                </a:tc>
              </a:tr>
              <a:tr h="577088">
                <a:tc>
                  <a:txBody>
                    <a:bodyPr/>
                    <a:lstStyle/>
                    <a:p>
                      <a:r>
                        <a:rPr sz="1300" b="0" i="0">
                          <a:solidFill>
                            <a:srgbClr val="1A1440"/>
                          </a:solidFill>
                          <a:latin typeface="Calibri"/>
                        </a:rPr>
                        <a:t>The presentation, 17 minutes before the panel's 8 to 10, the live demo inside it</a:t>
                      </a:r>
                    </a:p>
                  </a:txBody>
                  <a:tcPr marL="101600" marR="101600" marT="38100" marB="38100" anchor="ctr">
                    <a:solidFill>
                      <a:srgbClr val="FFFFFF"/>
                    </a:solidFill>
                  </a:tcPr>
                </a:tc>
                <a:tc>
                  <a:txBody>
                    <a:bodyPr/>
                    <a:lstStyle/>
                    <a:p>
                      <a:r>
                        <a:rPr sz="1300" b="0" i="0">
                          <a:solidFill>
                            <a:srgbClr val="1A1440"/>
                          </a:solidFill>
                          <a:latin typeface="Calibri"/>
                        </a:rPr>
                        <a:t>Built on this skeleton, one-slide answer first</a:t>
                      </a:r>
                    </a:p>
                  </a:txBody>
                  <a:tcPr marL="101600" marR="101600" marT="38100" marB="38100" anchor="ctr">
                    <a:solidFill>
                      <a:srgbClr val="FFFFFF"/>
                    </a:solidFill>
                  </a:tcPr>
                </a:tc>
              </a:tr>
              <a:tr h="352552">
                <a:tc>
                  <a:txBody>
                    <a:bodyPr/>
                    <a:lstStyle/>
                    <a:p>
                      <a:r>
                        <a:rPr sz="1300" b="0" i="0">
                          <a:solidFill>
                            <a:srgbClr val="1A1440"/>
                          </a:solidFill>
                          <a:latin typeface="Calibri"/>
                        </a:rPr>
                        <a:t>The one-slide answer Dr Menon carries into her board meeting</a:t>
                      </a:r>
                    </a:p>
                  </a:txBody>
                  <a:tcPr marL="101600" marR="101600" marT="38100" marB="38100" anchor="ctr">
                    <a:solidFill>
                      <a:srgbClr val="F4F2FA"/>
                    </a:solidFill>
                  </a:tcPr>
                </a:tc>
                <a:tc>
                  <a:txBody>
                    <a:bodyPr/>
                    <a:lstStyle/>
                    <a:p>
                      <a:r>
                        <a:rPr sz="1300" b="0" i="0">
                          <a:solidFill>
                            <a:srgbClr val="1A1440"/>
                          </a:solidFill>
                          <a:latin typeface="Calibri"/>
                        </a:rPr>
                        <a:t>Claim, evidence, caveat and action, on one slide</a:t>
                      </a:r>
                    </a:p>
                  </a:txBody>
                  <a:tcPr marL="101600" marR="101600" marT="38100" marB="38100" anchor="ctr">
                    <a:solidFill>
                      <a:srgbClr val="F4F2FA"/>
                    </a:solidFill>
                  </a:tcPr>
                </a:tc>
              </a:tr>
              <a:tr h="577088">
                <a:tc>
                  <a:txBody>
                    <a:bodyPr/>
                    <a:lstStyle/>
                    <a:p>
                      <a:r>
                        <a:rPr sz="1300" b="0" i="0">
                          <a:solidFill>
                            <a:srgbClr val="1A1440"/>
                          </a:solidFill>
                          <a:latin typeface="Calibri"/>
                        </a:rPr>
                        <a:t>The notebook or SQL that reproduces every number from the raw files</a:t>
                      </a:r>
                    </a:p>
                  </a:txBody>
                  <a:tcPr marL="101600" marR="101600" marT="38100" marB="38100" anchor="ctr">
                    <a:solidFill>
                      <a:srgbClr val="FFFFFF"/>
                    </a:solidFill>
                  </a:tcPr>
                </a:tc>
                <a:tc>
                  <a:txBody>
                    <a:bodyPr/>
                    <a:lstStyle/>
                    <a:p>
                      <a:r>
                        <a:rPr sz="1300" b="0" i="0">
                          <a:solidFill>
                            <a:srgbClr val="1A1440"/>
                          </a:solidFill>
                          <a:latin typeface="Calibri"/>
                        </a:rPr>
                        <a:t>Runs cold, top to bottom, on the files in the data folder</a:t>
                      </a:r>
                    </a:p>
                  </a:txBody>
                  <a:tcPr marL="101600" marR="101600" marT="38100" marB="38100" anchor="ctr">
                    <a:solidFill>
                      <a:srgbClr val="FFFFFF"/>
                    </a:solidFill>
                  </a:tcPr>
                </a:tc>
              </a:tr>
              <a:tr h="577088">
                <a:tc>
                  <a:txBody>
                    <a:bodyPr/>
                    <a:lstStyle/>
                    <a:p>
                      <a:r>
                        <a:rPr sz="1300" b="0" i="0">
                          <a:solidFill>
                            <a:srgbClr val="1A1440"/>
                          </a:solidFill>
                          <a:latin typeface="Calibri"/>
                        </a:rPr>
                        <a:t>The decisions log</a:t>
                      </a:r>
                    </a:p>
                  </a:txBody>
                  <a:tcPr marL="101600" marR="101600" marT="38100" marB="38100" anchor="ctr">
                    <a:solidFill>
                      <a:srgbClr val="F4F2FA"/>
                    </a:solidFill>
                  </a:tcPr>
                </a:tc>
                <a:tc>
                  <a:txBody>
                    <a:bodyPr/>
                    <a:lstStyle/>
                    <a:p>
                      <a:r>
                        <a:rPr sz="1300" b="0" i="0">
                          <a:solidFill>
                            <a:srgbClr val="1A1440"/>
                          </a:solidFill>
                          <a:latin typeface="Calibri"/>
                        </a:rPr>
                        <a:t>briefs/C2_W03_D01_decisions_log_STUDENT.xlsx, in the Week 1 Wednesday shape</a:t>
                      </a:r>
                    </a:p>
                  </a:txBody>
                  <a:tcPr marL="101600" marR="101600" marT="38100" marB="38100" anchor="ctr">
                    <a:solidFill>
                      <a:srgbClr val="F4F2FA"/>
                    </a:solidFill>
                  </a:tcPr>
                </a:tc>
              </a:tr>
              <a:tr h="577088">
                <a:tc>
                  <a:txBody>
                    <a:bodyPr/>
                    <a:lstStyle/>
                    <a:p>
                      <a:r>
                        <a:rPr sz="1300" b="0" i="0">
                          <a:solidFill>
                            <a:srgbClr val="1A1440"/>
                          </a:solidFill>
                          <a:latin typeface="Calibri"/>
                        </a:rPr>
                        <a:t>The challenges log</a:t>
                      </a:r>
                    </a:p>
                  </a:txBody>
                  <a:tcPr marL="101600" marR="101600" marT="38100" marB="38100" anchor="ctr">
                    <a:solidFill>
                      <a:srgbClr val="FFFFFF"/>
                    </a:solidFill>
                  </a:tcPr>
                </a:tc>
                <a:tc>
                  <a:txBody>
                    <a:bodyPr/>
                    <a:lstStyle/>
                    <a:p>
                      <a:r>
                        <a:rPr sz="1300" b="0" i="0">
                          <a:solidFill>
                            <a:srgbClr val="1A1440"/>
                          </a:solidFill>
                          <a:latin typeface="Calibri"/>
                        </a:rPr>
                        <a:t>briefs/C2_W03_D01_challenges_log_STUDENT.xlsx, kept since Monday</a:t>
                      </a:r>
                    </a:p>
                  </a:txBody>
                  <a:tcPr marL="101600" marR="101600" marT="38100" marB="38100" anchor="ctr">
                    <a:solidFill>
                      <a:srgbClr val="FFFFFF"/>
                    </a:solidFill>
                  </a:tcPr>
                </a:tc>
              </a:tr>
            </a:tbl>
          </a:graphicData>
        </a:graphic>
      </p:graphicFrame>
      <p:sp>
        <p:nvSpPr>
          <p:cNvPr id="11" name="Rounded Rectangle 10"/>
          <p:cNvSpPr/>
          <p:nvPr/>
        </p:nvSpPr>
        <p:spPr>
          <a:xfrm>
            <a:off x="530352" y="49519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84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93944"/>
            <a:ext cx="237744" cy="237744"/>
          </a:xfrm>
          <a:prstGeom prst="rect">
            <a:avLst/>
          </a:prstGeom>
        </p:spPr>
      </p:pic>
      <p:sp>
        <p:nvSpPr>
          <p:cNvPr id="14" name="TextBox 13"/>
          <p:cNvSpPr txBox="1"/>
          <p:nvPr/>
        </p:nvSpPr>
        <p:spPr>
          <a:xfrm>
            <a:off x="1399031" y="5098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17744"/>
            <a:ext cx="9987991" cy="682752"/>
          </a:xfrm>
          <a:prstGeom prst="rect">
            <a:avLst/>
          </a:prstGeom>
          <a:noFill/>
        </p:spPr>
        <p:txBody>
          <a:bodyPr wrap="square" anchor="t" lIns="0" rIns="0" tIns="0" bIns="0">
            <a:spAutoFit/>
          </a:bodyPr>
          <a:lstStyle/>
          <a:p>
            <a:r>
              <a:rPr sz="1500" b="0" i="0">
                <a:solidFill>
                  <a:srgbClr val="1A1440"/>
                </a:solidFill>
                <a:latin typeface="Calibri"/>
              </a:rPr>
              <a:t>Run the notebook cold once more before you walk in, and check that every number on your slides appears in its output.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D44  ·  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10" name="Rounded Rectangle 9"/>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3" name="Table 12"/>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learner's three Build 1 scores close on Saturday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Build 1 scores close on Saturday, and out of how many marks?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MINI PROJECT</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group's 34 and your own 6</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 DISCUSSION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on Friday and Saturday morning</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FIRST MOCK INTERVIEW</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Mock R1, Thursday 22 October, each learner alone</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Build 1 grade closes on Saturday 24 October; how and when you see your scores is the Programme Head's to tell you.</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Before you walk in: one cold run,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your group check in the last hour before its slot?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cold run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Restart and run all on the raw files; every number on your slides appears in the output.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sentence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member says the claim, with its denominator and window, alone.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caveat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Each member says the fact that would change the claim, and the test that would settle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slide first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Open on the one-slide answer; the cleaning comes in part 3.</a:t>
            </a:r>
          </a:p>
        </p:txBody>
      </p:sp>
      <p:sp>
        <p:nvSpPr>
          <p:cNvPr id="30" name="Rounded Rectangle 29"/>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58876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Every number on your slides appears in the cold run's output, or it comes off the slide.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slot is ready when every answer here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and to the day's?</a:t>
            </a:r>
          </a:p>
        </p:txBody>
      </p:sp>
      <p:graphicFrame>
        <p:nvGraphicFramePr>
          <p:cNvPr id="9" name="Table 8"/>
          <p:cNvGraphicFramePr>
            <a:graphicFrameLocks noGrp="1"/>
          </p:cNvGraphicFramePr>
          <p:nvPr/>
        </p:nvGraphicFramePr>
        <p:xfrm>
          <a:off x="530352" y="1682496"/>
          <a:ext cx="11130990" cy="3237992"/>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The question</a:t>
                      </a:r>
                    </a:p>
                  </a:txBody>
                  <a:tcPr marL="101600" marR="101600" marT="38100" marB="38100" anchor="ctr">
                    <a:solidFill>
                      <a:srgbClr val="1A0F5C"/>
                    </a:solidFill>
                  </a:tcPr>
                </a:tc>
                <a:tc>
                  <a:txBody>
                    <a:bodyPr/>
                    <a:lstStyle/>
                    <a:p>
                      <a:r>
                        <a:rPr sz="1350" b="1" i="0">
                          <a:solidFill>
                            <a:srgbClr val="FFFFFF"/>
                          </a:solidFill>
                          <a:latin typeface="Calibri"/>
                        </a:rPr>
                        <a:t>The answer in one line</a:t>
                      </a:r>
                    </a:p>
                  </a:txBody>
                  <a:tcPr marL="101600" marR="101600" marT="38100" marB="38100" anchor="ctr">
                    <a:solidFill>
                      <a:srgbClr val="1A0F5C"/>
                    </a:solidFill>
                  </a:tcPr>
                </a:tc>
              </a:tr>
              <a:tr h="577088">
                <a:tc>
                  <a:txBody>
                    <a:bodyPr/>
                    <a:lstStyle/>
                    <a:p>
                      <a:r>
                        <a:rPr sz="1300" b="0" i="0">
                          <a:solidFill>
                            <a:srgbClr val="1A1440"/>
                          </a:solidFill>
                          <a:latin typeface="Calibri"/>
                        </a:rPr>
                        <a:t>What does every group ship?</a:t>
                      </a:r>
                    </a:p>
                  </a:txBody>
                  <a:tcPr marL="101600" marR="101600" marT="38100" marB="38100" anchor="ctr">
                    <a:solidFill>
                      <a:srgbClr val="FFFFFF"/>
                    </a:solidFill>
                  </a:tcPr>
                </a:tc>
                <a:tc>
                  <a:txBody>
                    <a:bodyPr/>
                    <a:lstStyle/>
                    <a:p>
                      <a:r>
                        <a:rPr sz="1300" b="0" i="0">
                          <a:solidFill>
                            <a:srgbClr val="1A1440"/>
                          </a:solidFill>
                          <a:latin typeface="Calibri"/>
                        </a:rPr>
                        <a:t>The presentation, the one-slide answer, the notebook or SQL, and both logs</a:t>
                      </a:r>
                    </a:p>
                  </a:txBody>
                  <a:tcPr marL="101600" marR="101600" marT="38100" marB="38100" anchor="ctr">
                    <a:solidFill>
                      <a:srgbClr val="FFFFFF"/>
                    </a:solidFill>
                  </a:tcPr>
                </a:tc>
              </a:tr>
              <a:tr h="577088">
                <a:tc>
                  <a:txBody>
                    <a:bodyPr/>
                    <a:lstStyle/>
                    <a:p>
                      <a:r>
                        <a:rPr sz="1300" b="0" i="0">
                          <a:solidFill>
                            <a:srgbClr val="1A1440"/>
                          </a:solidFill>
                          <a:latin typeface="Calibri"/>
                        </a:rPr>
                        <a:t>How is the mini project scored?</a:t>
                      </a:r>
                    </a:p>
                  </a:txBody>
                  <a:tcPr marL="101600" marR="101600" marT="38100" marB="38100" anchor="ctr">
                    <a:solidFill>
                      <a:srgbClr val="F4F2FA"/>
                    </a:solidFill>
                  </a:tcPr>
                </a:tc>
                <a:tc>
                  <a:txBody>
                    <a:bodyPr/>
                    <a:lstStyle/>
                    <a:p>
                      <a:r>
                        <a:rPr sz="1300" b="0" i="0">
                          <a:solidFill>
                            <a:srgbClr val="1A1440"/>
                          </a:solidFill>
                          <a:latin typeface="Calibri"/>
                        </a:rPr>
                        <a:t>34 marks once for the group and 6 for each learner, the live demo inside the 6</a:t>
                      </a:r>
                    </a:p>
                  </a:txBody>
                  <a:tcPr marL="101600" marR="101600" marT="38100" marB="38100" anchor="ctr">
                    <a:solidFill>
                      <a:srgbClr val="F4F2FA"/>
                    </a:solidFill>
                  </a:tcPr>
                </a:tc>
              </a:tr>
              <a:tr h="352552">
                <a:tc>
                  <a:txBody>
                    <a:bodyPr/>
                    <a:lstStyle/>
                    <a:p>
                      <a:r>
                        <a:rPr sz="1300" b="0" i="0">
                          <a:solidFill>
                            <a:srgbClr val="1A1440"/>
                          </a:solidFill>
                          <a:latin typeface="Calibri"/>
                        </a:rPr>
                        <a:t>Which other scores close on Saturday?</a:t>
                      </a:r>
                    </a:p>
                  </a:txBody>
                  <a:tcPr marL="101600" marR="101600" marT="38100" marB="38100" anchor="ctr">
                    <a:solidFill>
                      <a:srgbClr val="FFFFFF"/>
                    </a:solidFill>
                  </a:tcPr>
                </a:tc>
                <a:tc>
                  <a:txBody>
                    <a:bodyPr/>
                    <a:lstStyle/>
                    <a:p>
                      <a:r>
                        <a:rPr sz="1300" b="0" i="0">
                          <a:solidFill>
                            <a:srgbClr val="1A1440"/>
                          </a:solidFill>
                          <a:latin typeface="Calibri"/>
                        </a:rPr>
                        <a:t>The group discussion and Mock R1, 30 marks each</a:t>
                      </a:r>
                    </a:p>
                  </a:txBody>
                  <a:tcPr marL="101600" marR="101600" marT="38100" marB="38100" anchor="ctr">
                    <a:solidFill>
                      <a:srgbClr val="FFFFFF"/>
                    </a:solidFill>
                  </a:tcPr>
                </a:tc>
              </a:tr>
              <a:tr h="577088">
                <a:tc>
                  <a:txBody>
                    <a:bodyPr/>
                    <a:lstStyle/>
                    <a:p>
                      <a:r>
                        <a:rPr sz="1300" b="0" i="0">
                          <a:solidFill>
                            <a:srgbClr val="1A1440"/>
                          </a:solidFill>
                          <a:latin typeface="Calibri"/>
                        </a:rPr>
                        <a:t>What do you check in the last hour?</a:t>
                      </a:r>
                    </a:p>
                  </a:txBody>
                  <a:tcPr marL="101600" marR="101600" marT="38100" marB="38100" anchor="ctr">
                    <a:solidFill>
                      <a:srgbClr val="F4F2FA"/>
                    </a:solidFill>
                  </a:tcPr>
                </a:tc>
                <a:tc>
                  <a:txBody>
                    <a:bodyPr/>
                    <a:lstStyle/>
                    <a:p>
                      <a:r>
                        <a:rPr sz="1300" b="0" i="0">
                          <a:solidFill>
                            <a:srgbClr val="1A1440"/>
                          </a:solidFill>
                          <a:latin typeface="Calibri"/>
                        </a:rPr>
                        <a:t>One cold run, the claim and the caveat said alone by each member, and the one-slide answer first</a:t>
                      </a:r>
                    </a:p>
                  </a:txBody>
                  <a:tcPr marL="101600" marR="101600" marT="38100" marB="38100" anchor="ctr">
                    <a:solidFill>
                      <a:srgbClr val="F4F2FA"/>
                    </a:solidFill>
                  </a:tcPr>
                </a:tc>
              </a:tr>
              <a:tr h="801624">
                <a:tc>
                  <a:txBody>
                    <a:bodyPr/>
                    <a:lstStyle/>
                    <a:p>
                      <a:r>
                        <a:rPr sz="1300" b="0" i="0">
                          <a:solidFill>
                            <a:srgbClr val="1A1440"/>
                          </a:solidFill>
                          <a:latin typeface="Calibri"/>
                        </a:rPr>
                        <a:t>The day's question: is your branch short, and does the answer hold?</a:t>
                      </a:r>
                    </a:p>
                  </a:txBody>
                  <a:tcPr marL="101600" marR="101600" marT="38100" marB="38100" anchor="ctr">
                    <a:solidFill>
                      <a:srgbClr val="FFFFFF"/>
                    </a:solidFill>
                  </a:tcPr>
                </a:tc>
                <a:tc>
                  <a:txBody>
                    <a:bodyPr/>
                    <a:lstStyle/>
                    <a:p>
                      <a:r>
                        <a:rPr sz="1300" b="0" i="0">
                          <a:solidFill>
                            <a:srgbClr val="1A1440"/>
                          </a:solidFill>
                          <a:latin typeface="Calibri"/>
                        </a:rPr>
                        <a:t>It holds when the claim carries its denominator, every member can defend its caveat, and its number arrives live from the raw files</a:t>
                      </a:r>
                    </a:p>
                  </a:txBody>
                  <a:tcPr marL="101600" marR="101600" marT="38100" marB="38100" anchor="ctr">
                    <a:solidFill>
                      <a:srgbClr val="FFFFFF"/>
                    </a:solidFill>
                  </a:tcPr>
                </a:tc>
              </a:tr>
            </a:tbl>
          </a:graphicData>
        </a:graphic>
      </p:graphicFrame>
      <p:sp>
        <p:nvSpPr>
          <p:cNvPr id="10" name="Rounded Rectangle 9"/>
          <p:cNvSpPr/>
          <p:nvPr/>
        </p:nvSpPr>
        <p:spPr>
          <a:xfrm>
            <a:off x="530352" y="517652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92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5488940"/>
            <a:ext cx="237744" cy="237744"/>
          </a:xfrm>
          <a:prstGeom prst="rect">
            <a:avLst/>
          </a:prstGeom>
        </p:spPr>
      </p:pic>
      <p:sp>
        <p:nvSpPr>
          <p:cNvPr id="13" name="TextBox 12"/>
          <p:cNvSpPr txBox="1"/>
          <p:nvPr/>
        </p:nvSpPr>
        <p:spPr>
          <a:xfrm>
            <a:off x="1399031" y="53228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42280"/>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