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skeleton every group builds its presentation on. It is handed out at Wednesday's close,</a:t>
            </a:r>
          </a:p>
          <a:p>
            <a:r>
              <a:t>once each group has pinned its headline claim, so a group reads it alone and builds from it. When a</a:t>
            </a:r>
          </a:p>
          <a:p>
            <a:r>
              <a:t>trainer walks it, the walk takes about ten minutes: S1, S3, S4, S11 and S14 carry the load, and the</a:t>
            </a:r>
          </a:p>
          <a:p>
            <a:r>
              <a:t>rest is there for the group to read while it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 sets what the slot is for. A group that forgets who the audience is builds a tour of</a:t>
            </a:r>
          </a:p>
          <a:p>
            <a:r>
              <a:t>its notebook. The audience is a COO with a board meeting, and a panel that will test whether the</a:t>
            </a:r>
          </a:p>
          <a:p>
            <a:r>
              <a:t>sentence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her four questions aloud. Point out that the whole slot is those four questions in order, and</a:t>
            </a:r>
          </a:p>
          <a:p>
            <a:r>
              <a:t>that a group which opens with its data cleaning has answered question two before question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on this slide came from Dr Menon or her team. A group that repeats one of them on its</a:t>
            </a:r>
          </a:p>
          <a:p>
            <a:r>
              <a:t>one-slide answer without checking it has repeated the client's number back to the client. The</a:t>
            </a:r>
          </a:p>
          <a:p>
            <a:r>
              <a:t>point of the week is what each number turns into once the group has asked what it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Seventeen minutes is a hard stop. Groups overrun on part 3, because cleaning is where the work</a:t>
            </a:r>
          </a:p>
          <a:p>
            <a:r>
              <a:t>went. The panel's clock stops the group at seventeen and moves to questions, so a group that</a:t>
            </a:r>
          </a:p>
          <a:p>
            <a:r>
              <a:t>spends eight minutes on cleaning loses its analysis, not its question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one-slide answer is the Week 1 Thursday note, moved onto a slide. Groups know the four parts;</a:t>
            </a:r>
          </a:p>
          <a:p>
            <a:r>
              <a:t>what is new is saying it to a panel that will push on every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first because a COO reads two minutes and stops. The caveat is a statement about the claim,</a:t>
            </a:r>
          </a:p>
          <a:p>
            <a:r>
              <a:t>never a disclaimer about data in general; "the data may have quality issues" is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 in pairs, then letters. Most rooms split between b and d. The example is deliberately</a:t>
            </a:r>
          </a:p>
          <a:p>
            <a:r>
              <a:t>from Week 1, so no group's Kalpa Health answer is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b. d is the tempting one because it sounds decisive; point out that the action is</a:t>
            </a:r>
          </a:p>
          <a:p>
            <a:r>
              <a:t>the fourth part of the answer, and it cannot stand without the three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Parts 2, 3, 4 and 6 of the slot. Each one exists to support the claim already on screen; a slide</a:t>
            </a:r>
          </a:p>
          <a:p>
            <a:r>
              <a:t>here that does not connect to the claim gets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translation worksheet from Monday, made presentable. A group that cannot fill the</a:t>
            </a:r>
          </a:p>
          <a:p>
            <a:r>
              <a:t>method row in its own words did not do the transfer; the panel will ask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 shape is the Week 1 Wednesday one: field, issue, rows, decision, reason. Three calls fit in</a:t>
            </a:r>
          </a:p>
          <a:p>
            <a:r>
              <a:t>three minutes. A reason that restates the issue is not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minutes holds two or three charts. More than that and the group is touring its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 close asks each group for one improvement for Build 2; this slide is where the group</a:t>
            </a:r>
          </a:p>
          <a:p>
            <a:r>
              <a:t>names it first. It should be a behaviour,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is the evidence that the claim came from the data. Groups rehearse it cold twice on</a:t>
            </a:r>
          </a:p>
          <a:p>
            <a:r>
              <a:t>Friday; the rules here are the ones the panel holds them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 that fails and is explained honestly in one sentence is better evidence of understanding</a:t>
            </a:r>
          </a:p>
          <a:p>
            <a:r>
              <a:t>than a demo that is rerun until it works. There is no second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Most rooms get c; d is the one worth discussing.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c. On d: a group whose demo breaks names the cause and moves on; the panel can ask</a:t>
            </a:r>
          </a:p>
          <a:p>
            <a:r>
              <a:t>about the fix in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is the industry expert or the senior industry leader. Neither has seen the group's</a:t>
            </a:r>
          </a:p>
          <a:p>
            <a:r>
              <a:t>work before the slot. Their questions come in five kinds, and every group should expect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teammate question goes to whoever has spoken least; every member should be able to explain</a:t>
            </a:r>
          </a:p>
          <a:p>
            <a:r>
              <a:t>the claim, one decision from the log and one chart. Groups on the same sub-problem present back</a:t>
            </a:r>
          </a:p>
          <a:p>
            <a:r>
              <a:t>to back where there are more than one, so the other-group question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move the room practises is the narrowing: "you are right that it depends on that, so the</a:t>
            </a:r>
          </a:p>
          <a:p>
            <a:r>
              <a:t>claim holds for this part and I would not state it for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The strong reply narrows the claim and names the check that would settle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c. This is the interview move of the week: under challenge, narrow and name the</a:t>
            </a:r>
          </a:p>
          <a:p>
            <a:r>
              <a:t>check, never defend and never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Monday's pack: the briefing note, their sub-problem brief, the data dictionary and</a:t>
            </a:r>
          </a:p>
          <a:p>
            <a:r>
              <a:t>the translation worksheet sit in the briefs folder of Monday's day. The five items here are the</a:t>
            </a:r>
          </a:p>
          <a:p>
            <a:r>
              <a:t>same for every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Relationship Id="rId8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4140721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BUILD 1  ·  THE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Your answer, in front of the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“Test volumes grew 5 percent against a plan of 18. Which branch of my business is short, and what do I tell my board?”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5978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live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069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47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 on the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Dr Menon wants one sentence she can carry into her board meeting, and the reasons it holds.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asks every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questions, in the order a COO asks them, and each has its place in your slot.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did you find? How sure are you? What would change your mind? What do I do on Monday?"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39454"/>
                <a:gridCol w="74915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part of your slot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did you find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claim, on the one-slide answer, in the first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sure are you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evidence, the data you made trustworthy, and the live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your mind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caveat, which the panel will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 I do on Monday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action, with who does it and what it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her team has already told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These are her team's own words and numbers; everything past them, your group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dashboard, against a plan of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2 cities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BOOKINGS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Q2, per the booking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CAMPAIGN'S LIFT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free home collection, per marketing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 clinic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WORSE NO-SHOW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per the clinics' operations head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Her data team adds two things it knows: two cities changed booking systems in Q2, and the payment feed keys invoices in its own format. Invoices and collections disagree, says the finance head.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30" name="Oval 2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4" name="Oval 3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36" name="Oval 35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slot, part by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Seventeen minutes are yours, then the panel takes eight to ten, inside a slot of 25 to 30.</a:t>
            </a:r>
          </a:p>
        </p:txBody>
      </p:sp>
      <p:pic>
        <p:nvPicPr>
          <p:cNvPr id="9" name="mermaid diagram" descr="3d371e6dc20be8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1120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91432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73327"/>
                <a:gridCol w="1094428"/>
                <a:gridCol w="646323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 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slide, said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 The translation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mapped onto the Weeks 1 and 2 method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 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log's largest calls, and the reconciliation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4. The analysis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charts that carry the claim, each with its denominator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5.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claim's main number, reproduced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6. What we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thing, specific enough to act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one-slide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slide Dr Menon takes into her board meeting, and the reason it comes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Claim, evidence, caveat,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four parts as the Week 1 Thursday note, in the same order, on one slide.</a:t>
            </a:r>
          </a:p>
        </p:txBody>
      </p:sp>
      <p:pic>
        <p:nvPicPr>
          <p:cNvPr id="9" name="mermaid diagram" descr="7fed46ddb74270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2328" y="1956816"/>
            <a:ext cx="1058703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quote_e12f9e1e3c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427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COO can repeat it to a board. It names what was counted and over which window.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hart-column_a266b7a0447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9715" y="3542728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numbers at most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number and the one it is compared against, each with its count.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triangle-alert_5ac49fc6abb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8183" y="3542728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What would change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one thing that, if it turned out otherwise, would change the claim.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3231832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34330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arrow-right_5cc4b632d7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651" y="3542728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Monday's move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4578540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Who does what, and the cost of doing it or of waiting.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6" name="Oval 35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38" name="Oval 3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40" name="Oval 3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42" name="Oval 41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sentence can Meera carry?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versions of one Week 1 finding about Kalpa Retail's paid tier.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Raghavan wants one sentence on Retail-Plus for her board. Which one does she carry?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929128"/>
          <a:ext cx="11130991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sentence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is collapsing, and it needs a rescue plan this quarter before the members leave.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orders per member fell about a third against Retail-Core's 2.7 percent, on 22 members, and chance made a gap that large in none of 5,000 shuffles.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Several indicators in the Retail-Plus data could suggest there may possibly be a movement in member ordering that the team might want to keep watching over the coming quarters.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fell, so cut the membership price by ten percent next quarter.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 carries its denominator and its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sentence a board can repeat is precise about what was counted and how sure the team is.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verdict with no number, no count and no comparison; a board member's first question breaks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the measure, the comparison, the count and the chance test, in one sentence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Hedges every word, so nobody can act on it and nobody can disagree with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action with no evidence and no caveat; the price was never tested as the cause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your claim aloud and ask: what did I count, over which window, against what, and on how many? If any of the four is missing, the panel will ask for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body of the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translation, the data made trustworthy, the analysis and what you would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translation, in your own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that Dr Menon's question is a question you have answered before, in new vocabulary.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your slide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Her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sentence from her briefing that your sub-problem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 it maps to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Weeks 1 and 2 move you used, named in your own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 map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Kalpa Health term beside the Kalpa Retail term it plays the part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first three moves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 first, second and third, and why in that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vocabulary map is the translation: a booking plays the part of an order, a test plays the part of an item, and a no-show plays the part of a cancellation. Your map carries every term your analysis uses.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data made trustworthy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the three calls from your decisions log that moved the most rows or the most money.</a:t>
            </a:r>
          </a:p>
        </p:txBody>
      </p:sp>
      <p:pic>
        <p:nvPicPr>
          <p:cNvPr id="9" name="mermaid diagram" descr="17cc600c4d1c39f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4035" y="1956816"/>
            <a:ext cx="6143625" cy="128587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388995"/>
          <a:ext cx="11130988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51335"/>
                <a:gridCol w="2030768"/>
                <a:gridCol w="2617057"/>
                <a:gridCol w="1444479"/>
                <a:gridCol w="38873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saw in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it touched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Why, in a sentence an auditor accepts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431558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64781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57547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44618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468134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one row you kept as well as rows you changed, because the row you kept is the one an auditor asks about. Say the reconciliation as counts: rows in, rows kept, rows set aside.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8" name="Oval 1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4" name="Oval 23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analysis, with its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chart carries one message, and the message is part of the claim.</a:t>
            </a:r>
          </a:p>
        </p:txBody>
      </p:sp>
      <p:pic>
        <p:nvPicPr>
          <p:cNvPr id="9" name="mermaid diagram" descr="6cbc07735588a0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0527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33647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0808"/>
                <a:gridCol w="562018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prevents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chart's title states the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the panel has to interpret for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is on the axis or in the title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count read as a rate, or a rate read as a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sides of a comparison cover the same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that is really a difference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number shown can be reproduced in the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from a cell nobody can rerun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would do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minute, one change, specific enough that Build 2 can act on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weak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usable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manage time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profile every file on day one before choosing a sub-question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clean the data more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reconcile row counts after every cleaning step, and log each 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communicate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ask Dr Menon's team what each export counts before trusting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change comes from your challenges log: the entry that cost the most time is usually the change worth naming.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Cold, from the raw files, in one run: the number on your one-slide answer, reproduced in front of the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demo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demo that only works warm, or on a tidied copy, proves nothing about the claim.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nowflake_b9dadda434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199339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029204"/>
            <a:ext cx="1239469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fresh kernel or a fresh Codespace. Restart and run all, with no output kept from an earlier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55037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56205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file-text_5c86fecc28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3" y="199339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56205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205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Raw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6205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files exactly as Dr Menon's team sent them, read from the data folder. No hand-edited copy, no pre-cleaned extract.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79722" y="1682496"/>
            <a:ext cx="1641805" cy="291439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0890" y="1883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lay_9326b926cb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0618" y="199339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0890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RULE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0890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0890" y="3029204"/>
            <a:ext cx="1239469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press, top to bottom. If it breaks, say in one sentence what broke and why, then go to questions.</a:t>
            </a:r>
          </a:p>
        </p:txBody>
      </p:sp>
      <p:pic>
        <p:nvPicPr>
          <p:cNvPr id="27" name="mermaid diagram" descr="c63136565dc4db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0167" y="1682496"/>
            <a:ext cx="5291175" cy="93304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70167" y="2761842"/>
            <a:ext cx="5291175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6471" y="2889858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7639" y="2880714"/>
            <a:ext cx="4724247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demo shows two things: the claim's main number arriving from raw files, and your decisions log's largest call happening in code.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3" name="Oval 3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5" name="Oval 3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7" name="Oval 3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39" name="Oval 3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demo meets the rules?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groups describe their demo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plan meets all three rules?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plan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Open the notebook as it was saved on Friday night, scroll through the outputs and explain each chart.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Run a cleaned extract the group saved on Thursday, because the raw files take a minute to load.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Restart the kernel, run every cell once on the files in the data folder, and read the claim's number off the last cell.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Run it cold, and if one cell fails, fix that cell live and run the whole notebook again from the top so the panel sees every output.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and only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of the other three breaks one rule.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 it breaks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Cold: saved outputs are from an earlier run, so nothing ran in front of the panel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Raw files: the extract hides every cleaning decision the panel wants to see made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Meets all three: cold, raw and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run: a live fix and a second run turn the demo into debugging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18" name="Oval 17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panel's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to ten minutes in which the panel tests whether the answer survives.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Build 1: the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five kinds of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Expect every kind; the panel chooses who answers.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sounds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denominator of that number, and over which window?"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 challenge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"Your caveat says this might not hold. Suppose it does not. What then?"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teammate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question to one named person, who answers without help from the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"Another group on your sub-problem reached a different claim. Can both be honest?"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Differently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you started again on Monday, what would you do first?"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Taking a challenge on your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show the number, say what would change it, then say whether the claim stands.</a:t>
            </a:r>
          </a:p>
        </p:txBody>
      </p:sp>
      <p:pic>
        <p:nvPicPr>
          <p:cNvPr id="9" name="mermaid diagram" descr="60c46a3435eae6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7157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81883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5107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6079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96514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18459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Narrowing a claim under challenge is a strong answer; defending an overreach is a weak one. Two groups can reach different honest claims from the same files when each states its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your caveat undoes your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says: "Your caveat is so large that your claim means nothing." Four replies.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reply is the strongest?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reply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checked the data very carefully over three days, so we are confident the claim is right exactly as we stated it."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"That is fair, and it is a limitation of the data we were given by the client."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"It holds for the part we could measure; here is that number, and here is what would settle the rest."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"Every analysis has caveats, so ours is no different from any other group's claim on this."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 narrows the claim and names the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is testing whether you know the edge of your own evidence.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Defends with effort instead of evidence, and ignores the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Agrees and stops, which hands the claim away with nothing in its place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keeps what the evidence supports, gives the number, names the settling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Deflects to other groups, and says nothing about this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Before your slot: 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 checks these five before the work leaves the team.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7756"/>
          <a:ext cx="11130990" cy="2788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presentation, 25 to 30 minutes with the panel, including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Built on this skeleton, one-slide answer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 Dr Menon carries into her board meeting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 that reproduces every number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Runs cold, top to bottom, on the files in the data folder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C2_W03_D01_decisions_log_STUDENT.xlsx, in the Week 1 Wednesday shape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C2_W03_D01_challenges_log_STUDENT.xlsx, kept since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90270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349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446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490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6846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Run the notebook cold once more before you walk in, and check that every number on your slides appears in its output.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