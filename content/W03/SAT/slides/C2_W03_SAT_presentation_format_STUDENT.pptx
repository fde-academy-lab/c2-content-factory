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skeleton every group builds its presentation on. It is handed out at Wednesday's close,</a:t>
            </a:r>
          </a:p>
          <a:p>
            <a:r>
              <a:t>once each group has pinned its headline claim, so a group reads it alone and builds from it. When a</a:t>
            </a:r>
          </a:p>
          <a:p>
            <a:r>
              <a:t>trainer walks it, the walk takes about ten minutes: S1, S3, S4, S11 and S14 carry the load, and the</a:t>
            </a:r>
          </a:p>
          <a:p>
            <a:r>
              <a:t>rest is there for the group to read while it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 sets what the slot is for. A group that forgets who the audience is builds a tour of</a:t>
            </a:r>
          </a:p>
          <a:p>
            <a:r>
              <a:t>its notebook. The audience is a COO with a board meeting, and a panel that will test whether the</a:t>
            </a:r>
          </a:p>
          <a:p>
            <a:r>
              <a:t>sentence survives.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her four questions aloud. Point out that the whole slot is those four questions in order, and</a:t>
            </a:r>
          </a:p>
          <a:p>
            <a:r>
              <a:t>that a group which opens with its data cleaning has answered question two before question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on this slide came from Dr Menon or her team. A group that repeats one of them on its</a:t>
            </a:r>
          </a:p>
          <a:p>
            <a:r>
              <a:t>one-slide answer without checking it has repeated the client's number back to the client. The</a:t>
            </a:r>
          </a:p>
          <a:p>
            <a:r>
              <a:t>point of the week is what each number turns into once the group has asked what it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Seventeen minutes is a hard stop. Groups overrun on part 3, because cleaning is where the work</a:t>
            </a:r>
          </a:p>
          <a:p>
            <a:r>
              <a:t>went. The panel's clock stops the group at seventeen and moves to questions, so a group that</a:t>
            </a:r>
          </a:p>
          <a:p>
            <a:r>
              <a:t>spends eight minutes on cleaning loses its analysis, not its question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one-slide answer is the Week 1 Thursday note, moved onto a slide. Groups know the four parts;</a:t>
            </a:r>
          </a:p>
          <a:p>
            <a:r>
              <a:t>what is new is saying it to a panel that will push on every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Claim first because a COO reads two minutes and stops. The caveat is a statement about the claim,</a:t>
            </a:r>
          </a:p>
          <a:p>
            <a:r>
              <a:t>never a disclaimer about data in general; "the data may have quality issues" is not a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minute in pairs, then letters. Most rooms split between b and d. The example is deliberately</a:t>
            </a:r>
          </a:p>
          <a:p>
            <a:r>
              <a:t>from Week 1, so no group's Kalpa Health answer is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b. d is the tempting one because it sounds decisive; point out that the action is</a:t>
            </a:r>
          </a:p>
          <a:p>
            <a:r>
              <a:t>the fourth part of the answer, and it cannot stand without the three before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Parts 2, 3, 4 and 6 of the slot. Each one exists to support the claim already on screen; a slide</a:t>
            </a:r>
          </a:p>
          <a:p>
            <a:r>
              <a:t>here that does not connect to the claim gets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translation worksheet from Monday, made presentable. A group that cannot fill the</a:t>
            </a:r>
          </a:p>
          <a:p>
            <a:r>
              <a:t>method row in its own words did not do the transfer; the panel will ask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log shape is the Week 1 Wednesday one: field, issue, rows, decision, reason. Three calls fit in</a:t>
            </a:r>
          </a:p>
          <a:p>
            <a:r>
              <a:t>three minutes. A reason that restates the issue is not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minutes holds two or three charts. More than that and the group is touring its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week close asks each group for one improvement for Build 2; this slide is where the group</a:t>
            </a:r>
          </a:p>
          <a:p>
            <a:r>
              <a:t>names it first. It should be a behaviour, never a feeling.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demo is the evidence that the claim came from the data. Groups rehearse it cold twice on</a:t>
            </a:r>
          </a:p>
          <a:p>
            <a:r>
              <a:t>Friday; the rules here are the ones the panel holds them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rule, word for word: a group's demo runs once, cold, on its raw files. If it fails, the group</a:t>
            </a:r>
          </a:p>
          <a:p>
            <a:r>
              <a:t>has two minutes to recover it live, as it would in front of a client. If it still fails, the group</a:t>
            </a:r>
          </a:p>
          <a:p>
            <a:r>
              <a:t>presents from its executed notebook, and the panel scores the live demo in presentation and defence</a:t>
            </a:r>
          </a:p>
          <a:p>
            <a:r>
              <a:t>as not run cold. The other 34 marks of the mini project are scored from the executed run, so a</a:t>
            </a:r>
          </a:p>
          <a:p>
            <a:r>
              <a:t>failed demo costs its own marks and never the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seconds. Most rooms split between c and d; the two-minute limit is what separates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d. If the demo still fails after two minutes, the group presents from its executed</a:t>
            </a:r>
          </a:p>
          <a:p>
            <a:r>
              <a:t>notebook and the panel scores the live demo in presentation and defence as not run cold; the other</a:t>
            </a:r>
          </a:p>
          <a:p>
            <a:r>
              <a:t>34 marks are scored from the executed run, so a failed demo costs its own marks and never the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panel is the industry expert or the senior industry leader. Neither has seen the group's</a:t>
            </a:r>
          </a:p>
          <a:p>
            <a:r>
              <a:t>work before the slot. Their questions come in five kinds, and every group should expect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teammate question goes to whoever has spoken least; every member should be able to explain</a:t>
            </a:r>
          </a:p>
          <a:p>
            <a:r>
              <a:t>the claim, one decision from the log and one chart. Groups on the same sub-problem present back</a:t>
            </a:r>
          </a:p>
          <a:p>
            <a:r>
              <a:t>to back where there are more than one, so the other-group question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move the room practises is the narrowing: "you are right that it depends on that, so the</a:t>
            </a:r>
          </a:p>
          <a:p>
            <a:r>
              <a:t>claim holds for this part and I would not state it for the rest."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seconds. The strong reply narrows the claim and names the check that would settle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c. This is the interview move of the week: under challenge, narrow and name the</a:t>
            </a:r>
          </a:p>
          <a:p>
            <a:r>
              <a:t>check, never defend and never 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groups to Monday's pack: the briefing note, their sub-problem brief, the data dictionary and</a:t>
            </a:r>
          </a:p>
          <a:p>
            <a:r>
              <a:t>the translation worksheet sit in the briefs folder of Monday's day. The five items here are the</a:t>
            </a:r>
          </a:p>
          <a:p>
            <a:r>
              <a:t>same for every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groups to the last row: the live demo sits inside presentation and defence, so a demo that</a:t>
            </a:r>
          </a:p>
          <a:p>
            <a:r>
              <a:t>fails after its two minutes costs those marks and leaves the other 34 to the executed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6.xml"/><Relationship Id="rId8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5.png"/><Relationship Id="rId6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4140721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3  ·  BUILD 1  ·  THE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Your answer, in front of the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“Test volumes grew 5 percent against a plan of 18. Which branch of my business is short, and what do I tell my board?”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Dr Priya Menon, COO, Kalpa Health,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 on the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30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0352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one-slide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3165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body of the slot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193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5978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live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2069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4739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panel's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 on the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Dr Menon wants one sentence she can carry into her board meeting, and the reasons it holds.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Dr Menon asks every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questions, in the order a COO asks them, and each has its place in your slot.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did you find? How sure are you? What would change your mind? What do I do on Monday?"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39454"/>
                <a:gridCol w="749153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Her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part of your slot that answers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did you find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claim, on the one-slide answer, in the first two minutes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sure are you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evidence, the data you made trustworthy, and the live demo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would change your mind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caveat, which the panel will challenge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 I do on Monday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action, with who does it and what it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her team has already told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These are her team's own words and numbers; everything past them, your group found.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 VOLUME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dashboard, against a plan of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2 metros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BOOKINGS 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Q3, per the booking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CAMPAIGN'S LIFT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free at-home collection, per marketing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1 centre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 WORSE NO-SHOW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per the centres' operations head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Her data team adds two things it knows: two metros changed booking systems in Q3, and the posting system keys claims in its own format. Claims and collections disagree, says the finance head.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on the day</a:t>
            </a:r>
          </a:p>
        </p:txBody>
      </p:sp>
      <p:sp>
        <p:nvSpPr>
          <p:cNvPr id="30" name="Oval 29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32" name="Oval 3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34" name="Oval 3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36" name="Oval 35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slot, part by 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Seventeen minutes are yours, then the panel takes eight to ten, inside a slot of 25 to 30.</a:t>
            </a:r>
          </a:p>
        </p:txBody>
      </p:sp>
      <p:pic>
        <p:nvPicPr>
          <p:cNvPr id="9" name="mermaid diagram" descr="61638b4d14f8196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811206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2914326"/>
          <a:ext cx="11130990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73327"/>
                <a:gridCol w="1094428"/>
                <a:gridCol w="646323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carries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 The one-slide answer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Claim, evidence, caveat, action, on one slide, said first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2. The translation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 Menon's words mapped onto the Weeks 1 and 2 method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3. The data made trustworthy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decisions log's largest calls, and the reconciliation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4. The analysis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charts that carry the claim, each with its denominator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5. The live demo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claim's main number, reproduced from the raw files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6. What we would do differently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thing, specific enough to act 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on the day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19" name="Oval 18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one-slide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slide Dr Menon takes into her board meeting, and the reason it comes first.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Claim, evidence, caveat,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four parts as the Week 1 Thursday note, in the same order, on one slide.</a:t>
            </a:r>
          </a:p>
        </p:txBody>
      </p:sp>
      <p:pic>
        <p:nvPicPr>
          <p:cNvPr id="9" name="mermaid diagram" descr="12b381e01980df0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2328" y="1956816"/>
            <a:ext cx="10587037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343300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quote_e12f9e1e3c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7" y="35427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One sentence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4578540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COO can repeat it to a board. It names what was counted and over which window.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8819" y="3231832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9987" y="343300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chart-column_a266b7a0447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9715" y="3542728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59987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Two numbers at most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9987" y="4578540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number and the one it is compared against, each with its count.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231832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88455" y="343300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triangle-alert_5ac49fc6abb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8183" y="3542728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88455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CAVEAT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What would change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4578540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one thing that, if it turned out otherwise, would change the claim.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755" y="3231832"/>
            <a:ext cx="2645587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16923" y="34330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arrow-right_5cc4b632d74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651" y="3542728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16923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Monday's move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6923" y="4578540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Who does what, and the cost of doing it or of waiting.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36" name="Oval 35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one-slide answer</a:t>
            </a:r>
          </a:p>
        </p:txBody>
      </p:sp>
      <p:sp>
        <p:nvSpPr>
          <p:cNvPr id="38" name="Oval 37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40" name="Oval 39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42" name="Oval 41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sentence can Meera carry?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versions of one Week 1 finding about Kalpa Retail's paid tier.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Meera Raghavan wants one sentence on Retail-Plus for her board. Which one does she carry? Answer as a letter.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929128"/>
          <a:ext cx="11130991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sentence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 is collapsing, and it needs a rescue plan this quarter before the members leave.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 revenue per member fell from Rs 3,279 to Rs 2,169 on 22 members, against Retail-Core's Rs 110, and 135 of 5,000 shuffles made a fall that large.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Several indicators in the Retail-Plus data could suggest there may possibly be a movement in member ordering that the team might want to keep watching over the coming quarters.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 fell, so cut the membership price by ten percent next quarter.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 carries its denominator and its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sentence a board can repeat is precise about what was counted and how sure the team is.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 it fails or holds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verdict with no number, no count and no comparison; a board member's first question breaks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Holds: the measure, the comparison, the count and the chance test (0.027), in one sentence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Hedges every word, so nobody can act on it and nobody can disagree with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action with no evidence and no caveat; the price was never tested as the cause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Read your claim aloud and ask: what did I count, over which window, against what, and on how many? If any of the four is missing, the panel will ask for it.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body of the 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translation, the data made trustworthy, the analysis and what you would change.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translation, in your own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Show that Dr Menon's question is a question you have answered before, in new vocabulary.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3528"/>
                <a:gridCol w="80274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your slide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Her words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sentence from her briefing that your sub-problem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method it maps to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Weeks 1 and 2 move you used, named in your own words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vocabulary map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Kalpa Health term beside the Kalpa Retail term it plays the part of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first three moves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you did first, second and third, and why in that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vocabulary map is the translation: a booking plays the part of an order, a test plays the part of an item, and a no-show plays the part of a cancellation. Your map carries every term your analysis uses.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data made trustworthy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Show the three calls from your decisions log that moved the most rows or the most money.</a:t>
            </a:r>
          </a:p>
        </p:txBody>
      </p:sp>
      <p:pic>
        <p:nvPicPr>
          <p:cNvPr id="9" name="mermaid diagram" descr="9cc27da138356b7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24035" y="1956816"/>
            <a:ext cx="6143625" cy="1285875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388995"/>
          <a:ext cx="11130988" cy="670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51335"/>
                <a:gridCol w="2030768"/>
                <a:gridCol w="2617057"/>
                <a:gridCol w="1444479"/>
                <a:gridCol w="388734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field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you saw in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How many rows it touched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you did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Why, in a sentence an auditor accepts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0352" y="431558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464781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57547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99031" y="446189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1" y="468134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Show one row you kept as well as rows you changed, because the row you kept is the one an auditor asks about. Say the reconciliation as counts: rows in, rows kept, rows set aside.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8" name="Oval 17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20" name="Oval 1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22" name="Oval 21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4" name="Oval 23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analysis, with its charts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chart carries one message, and the message is part of the claim.</a:t>
            </a:r>
          </a:p>
        </p:txBody>
      </p:sp>
      <p:pic>
        <p:nvPicPr>
          <p:cNvPr id="9" name="mermaid diagram" descr="4ced1e7efd73d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30527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033647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10808"/>
                <a:gridCol w="562018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prevents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chart's title states the finding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chart the panel has to interpret for you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denominator is on the axis or in the title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count read as a rate, or a rate read as a count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Both sides of a comparison cover the same window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change that is really a difference in days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number shown can be reproduced in the demo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chart from a cell nobody can rerun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19" name="Oval 18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would do differently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minute, one change, specific enough that Build 2 can act on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21894"/>
                <a:gridCol w="74090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weak version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usable version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manage time better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profile every file on day one before choosing a sub-question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clean the data more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reconcile row counts after every cleaning step, and log each 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communicate better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ask Dr Menon's team what each export counts before trusting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9214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2016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1101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change comes from your challenges log: the entry that cost the most time is usually the change worth naming.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live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Cold, from the raw files, in one run with two minutes to recover: the number on your one-slide answer, reproduced in front of the panel.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three demo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demo that only works warm, or on a tidied copy, proves nothing about the claim.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682496"/>
            <a:ext cx="1641805" cy="29143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188366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nowflake_b9dadda434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199339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450592"/>
            <a:ext cx="123946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688336"/>
            <a:ext cx="123946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029204"/>
            <a:ext cx="1239469" cy="1126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fresh kernel or a fresh Codespace. Restart and run all, with no output kept from an earlier run.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55037" y="1682496"/>
            <a:ext cx="1641805" cy="29143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56205" y="188366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file-text_5c86fecc28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933" y="199339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56205" y="2450592"/>
            <a:ext cx="123946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RULE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6205" y="2688336"/>
            <a:ext cx="123946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Raw 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56205" y="3029204"/>
            <a:ext cx="1239469" cy="13078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files exactly as Dr Menon's team sent them, read from the data folder. No hand-edited copy, no pre-cleaned extract.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79722" y="1682496"/>
            <a:ext cx="1641805" cy="291439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380890" y="18836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play_9326b926cb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0618" y="199339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80890" y="2450592"/>
            <a:ext cx="123946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RULE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0890" y="2688336"/>
            <a:ext cx="123946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One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0890" y="3029204"/>
            <a:ext cx="1239469" cy="13078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One press, top to bottom. If it fails, you have two minutes to recover it live, as you would with a client.</a:t>
            </a:r>
          </a:p>
        </p:txBody>
      </p:sp>
      <p:pic>
        <p:nvPicPr>
          <p:cNvPr id="27" name="mermaid diagram" descr="9250a54a9cf9007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0167" y="1682496"/>
            <a:ext cx="5291175" cy="933042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370167" y="2761842"/>
            <a:ext cx="5291175" cy="13411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16471" y="2889858"/>
            <a:ext cx="45720" cy="10850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7639" y="2880714"/>
            <a:ext cx="4724247" cy="1158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demo shows two things: the claim's main number arriving from raw files, and your decisions log's largest call happening in code.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33" name="Oval 3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35" name="Oval 3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37" name="Oval 3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live demo</a:t>
            </a:r>
          </a:p>
        </p:txBody>
      </p:sp>
      <p:sp>
        <p:nvSpPr>
          <p:cNvPr id="39" name="Oval 38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demo meets the rules?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groups say what they will do if a cell fails on the cold 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plan meets the demo rules? Answer as a letter.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662428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plan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Skip the recovery and open the notebook as saved on Friday night, scrolling through its charts.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Switch to a cleaned extract the group saved on Thursday, since the raw files are what broke.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 debugging live for as long as it takes, so the panel sees every output in the end.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Fix the cell live inside two minutes; if it still fails, present from the executed notebook.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d, a live fix inside two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client gives you two minutes to recover, and never an open-ended debugging session.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 it breaks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Gives up the two minutes a client would allow, and shows outputs nothing ran in front of the panel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Breaks the raw files rule: the extract hides every cleaning decision the panel wants to see made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Breaks the two-minute limit: open-ended debugging eats the slot and the panel's questions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Holds: two minutes to recover live, then the executed notebook, and the analysis keeps its marks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2" name="Oval 11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live demo</a:t>
            </a:r>
          </a:p>
        </p:txBody>
      </p:sp>
      <p:sp>
        <p:nvSpPr>
          <p:cNvPr id="18" name="Oval 17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panel's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Eight to ten minutes in which the panel tests whether the answer survives.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five kinds of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Expect every kind; the panel chooses who answers.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06662"/>
                <a:gridCol w="812432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sounds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evidence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"What is the denominator of that number, and over which window?"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caveat challenge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"Your caveat says this might not hold. Suppose it does not. What then?"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teammate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question to one named person, who answers without help from the group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other group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"Another group on your sub-problem reached a different claim. Can both be honest?"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Differently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"If you started again on Monday, what would you do first?"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43179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6344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442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780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9755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Present a finding to a panel and take a challenge on your caveat.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Taking a challenge on your caveat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Restate, show the number, say what would change it, then say whether the claim stands.</a:t>
            </a:r>
          </a:p>
        </p:txBody>
      </p:sp>
      <p:pic>
        <p:nvPicPr>
          <p:cNvPr id="9" name="mermaid diagram" descr="70d0637ba123512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1956816"/>
            <a:ext cx="11130991" cy="171571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81883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15107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6079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96514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18459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Narrowing a claim under challenge is a strong answer; defending an overreach is a weak one. Two groups can reach different honest claims from the same files when each states its caveat.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your caveat undoes your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panel says: "Your caveat is so large that your claim means nothing." Four replies.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reply is the strongest? Answer as a letter.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662428"/>
          <a:ext cx="11130991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reply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"We checked the data very carefully over three days, so we are confident the claim is right exactly as we stated it."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"That is fair, and it is a limitation of the data we were given by the client."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"It holds for the part we could measure; here is that number, and here is what would settle the rest."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"Every analysis has caveats, so ours is no different from any other group's claim on this."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 narrows the claim and names the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panel is testing whether you know the edge of your own evidence.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 it fails or holds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Defends with effort instead of evidence, and ignores the challenge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Agrees and stops, which hands the claim away with nothing in its place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Holds: keeps what the evidence supports, gives the number, names the settling check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Deflects to other groups, and says nothing about this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64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74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Present a finding to a panel and take a challenge on your caveat.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Before your slot: what every group ships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Kavya checks these five before the work leaves the team.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57756"/>
          <a:ext cx="11130990" cy="27889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52552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Where it lives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presentation, 25 to 30 minutes with the panel, including the live demo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Built on this skeleton, one-slide answer first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one-slide answer Dr Menon carries into her board meeting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Claim, evidence, caveat, action, on one slide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 or SQL that reproduces every number from the raw files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Runs cold, top to bottom, on the files in the data folder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decisions log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C2_W03_D01_decisions_log_STUDENT.xlsx, in the Week 1 Wednesday shape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challenges log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C2_W03_D01_challenges_log_STUDENT.xlsx, kept since Monday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90270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349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4466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4901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6846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Run the notebook cold once more before you walk in, and check that every number on your slides appears in its output.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mini project is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approved rubric: 34 marks for the group's work and 6 for each learner's presentation and defence.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3660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48056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553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5B3FD6"/>
                </a:solidFill>
                <a:latin typeface="Calibri"/>
              </a:rPr>
              <a:t>Mini project, 40 marks. </a:t>
            </a:r>
            <a:r>
              <a:rPr sz="1300" b="0" i="0">
                <a:solidFill>
                  <a:srgbClr val="1A1440"/>
                </a:solidFill>
                <a:latin typeface="Calibri"/>
              </a:rPr>
              <a:t>The first four criteria are scored once for the group, and every member receives those 34 marks; presentation and defence is scored for each learner on 6 marks, so a silent teammate cannot ride the group's score.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858008"/>
          <a:ext cx="11130990" cy="2840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86034"/>
                <a:gridCol w="914400"/>
                <a:gridCol w="733055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full marks look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question translated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 Menon's words are mapped to the right Weeks 1 and 2 method, with the metric defined and the decision it feeds named.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data made trustworthy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data is profiled before it is touched, every cleaning call is in the decisions log with its reason, and counts and dollars reconcile across files.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analysis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tree, ladder or fair comparison reaches the branch that explains the symptom, on the right denominator, with a chance test where one is needed.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sentence carries its number, denominator, period and caveat, plus an action Dr Menon can take.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Presentation and defence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live demo runs cold, and every member answers a challenge on the caveat.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