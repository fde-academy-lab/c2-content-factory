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from Wednesday's close, when each group receives this deck with its headline claim</a:t>
            </a:r>
          </a:p>
          <a:p>
            <a:r>
              <a:t>pinned; LIVE for 30 seconds at the opening of each expert day. Read Dr Menon's words once. Kalpa</a:t>
            </a:r>
          </a:p>
          <a:p>
            <a:r>
              <a:t>Health and everyone in it are fictional, and every record in its ten files is synthetic. The deck is</a:t>
            </a:r>
          </a:p>
          <a:p>
            <a:r>
              <a:t>the skeleton each group builds its 25 to 30 minutes on, and every slide marked S is shown at the</a:t>
            </a:r>
          </a:p>
          <a:p>
            <a:r>
              <a:t>opening; the D slides are read alone, while the group builds.</a:t>
            </a:r>
          </a:p>
          <a:p>
            <a:r>
              <a:t>Transition: the six questions the deck answers.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Wednesday night. Read the day's question,</a:t>
            </a:r>
          </a:p>
          <a:p>
            <a:r>
              <a:t>then the six in order. The dark box is the one slide Dr Menon carries into her board meeting, and</a:t>
            </a:r>
          </a:p>
          <a:p>
            <a:r>
              <a:t>every other part of the slot exists to earn it.</a:t>
            </a:r>
          </a:p>
          <a:p>
            <a:r>
              <a:t>Transition: question 1, what the panel will ask.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5 minutes over D2 to D6, with S4 and S5 shown at the opening. The section sets</a:t>
            </a:r>
          </a:p>
          <a:p>
            <a:r>
              <a:t>who the slot is for. A group that forgets its listener builds a tour of its notebook.</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each answered on its own slide before the next is asked.</a:t>
            </a:r>
          </a:p>
          <a:p>
            <a:r>
              <a:t>Transition: who sits on the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rooms run in parallel on Saturday. Where groups took the same</a:t>
            </a:r>
          </a:p>
          <a:p>
            <a:r>
              <a:t>question, they present one after the other in the same room, so the panel hears each honest answer</a:t>
            </a:r>
          </a:p>
          <a:p>
            <a:r>
              <a:t>to that question in sequence. Neither panel member has read your notebook, so nothing you leave out</a:t>
            </a:r>
          </a:p>
          <a:p>
            <a:r>
              <a:t>of the slot exists for them.</a:t>
            </a:r>
          </a:p>
          <a:p>
            <a:r>
              <a:t>Transition: the four questions Dr Menon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on Wednesday night. Read her four questions aloud. The</a:t>
            </a:r>
          </a:p>
          <a:p>
            <a:r>
              <a:t>whole slot is these four questions in order, and a group that opens on its data cleaning has</a:t>
            </a:r>
          </a:p>
          <a:p>
            <a:r>
              <a:t>answered the second before the first.</a:t>
            </a:r>
          </a:p>
          <a:p>
            <a:r>
              <a:t>Transition: how the minutes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Seventeen minutes is a hard stop: the scribe shows a card at five</a:t>
            </a:r>
          </a:p>
          <a:p>
            <a:r>
              <a:t>minutes left and at one minute left, and stops the group at 17. The panel then has 8 to 10 minutes,</a:t>
            </a:r>
          </a:p>
          <a:p>
            <a:r>
              <a:t>and three minutes of changeover close a slot of 28 to 30. Groups overrun on part 3, because cleaning</a:t>
            </a:r>
          </a:p>
          <a:p>
            <a:r>
              <a:t>is where the week went; the clock takes the overrun out of the analysis, and the panel's questions keep</a:t>
            </a:r>
          </a:p>
          <a:p>
            <a:r>
              <a:t>their full time.</a:t>
            </a:r>
          </a:p>
          <a:p>
            <a:r>
              <a:t>Transition: what Dr Menon's team has already said.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Every figure here came from Dr Menon or her heads, in Monday's briefing note.</a:t>
            </a:r>
          </a:p>
          <a:p>
            <a:r>
              <a:t>A group that copies one onto its one-slide answer without saying what it counts has handed the client</a:t>
            </a:r>
          </a:p>
          <a:p>
            <a:r>
              <a:t>her own number back. The week's work is what each one becomes once the group has asked what it</a:t>
            </a:r>
          </a:p>
          <a:p>
            <a:r>
              <a:t>counts, on which files and over which window, which is Week 1 Tuesday's first rung: is the number</a:t>
            </a:r>
          </a:p>
          <a:p>
            <a:r>
              <a:t>real?</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D7 to D14. The one-slide answer is Week 1 Thursday's note, moved onto</a:t>
            </a:r>
          </a:p>
          <a:p>
            <a:r>
              <a:t>a slide and said to a panel that will push on every part of it.</a:t>
            </a:r>
          </a:p>
          <a:p>
            <a:r>
              <a:t>Transition: who needs the one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on the slides that follow.</a:t>
            </a:r>
          </a:p>
          <a:p>
            <a:r>
              <a:t>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claim comes first because a COO reads two minutes and stops. The caveat is</a:t>
            </a:r>
          </a:p>
          <a:p>
            <a:r>
              <a:t>a statement about this claim, so "the data may have quality issues" is no caveat at all.</a:t>
            </a:r>
          </a:p>
          <a:p>
            <a:r>
              <a:t>Transition: what one sentence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skeleton is the rubric's claim criterion, word for word: one sentence</a:t>
            </a:r>
          </a:p>
          <a:p>
            <a:r>
              <a:t>carries its number, denominator, period and caveat, plus an action Dr Menon can take. Fill it in for</a:t>
            </a:r>
          </a:p>
          <a:p>
            <a:r>
              <a:t>your own claim before you build a single chart.</a:t>
            </a:r>
          </a:p>
          <a:p>
            <a:r>
              <a:t>Transition: how a real lab says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Quest Diagnostics is a US laboratory company with patient service centres and</a:t>
            </a:r>
          </a:p>
          <a:p>
            <a:r>
              <a:t>laboratories, the shape Kalpa Health copies; Monday's domain dossier has it in section 2. A requisition is</a:t>
            </a:r>
          </a:p>
          <a:p>
            <a:r>
              <a:t>a doctor's order for tests, the nearest thing to a Kalpa Health booking. The point for your slide: a</a:t>
            </a:r>
          </a:p>
          <a:p>
            <a:r>
              <a:t>growth number reaches a board with the count it rests on and the rate per unit beside it, so nobody</a:t>
            </a:r>
          </a:p>
          <a:p>
            <a:r>
              <a:t>reads a price change as more patients.</a:t>
            </a:r>
          </a:p>
          <a:p>
            <a:r>
              <a:t>Transition: which of four sentences Dr Menon can carry.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figures are invented, and they sit on the lab director's question, which</a:t>
            </a:r>
          </a:p>
          <a:p>
            <a:r>
              <a:t>is none of the five your groups took. Choose before the next slide. Most readers split between b and</a:t>
            </a:r>
          </a:p>
          <a:p>
            <a:r>
              <a:t>d, because d sounds decisive.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b. Option d is the tempting one: the action is the fourth part,</a:t>
            </a:r>
          </a:p>
          <a:p>
            <a:r>
              <a:t>and it cannot stand without the three before it, least of all when the claim's own caveat (courier</a:t>
            </a:r>
          </a:p>
          <a:p>
            <a:r>
              <a:t>hours included) is what the action would remove.</a:t>
            </a:r>
          </a:p>
          <a:p>
            <a:r>
              <a:t>Transition: what makes a caveat.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caveat is about this claim and names one fact; a disclaimer is about data in</a:t>
            </a:r>
          </a:p>
          <a:p>
            <a:r>
              <a:t>general and names nothing, so nobody can check it. Write your caveat so the panel could test it.</a:t>
            </a:r>
          </a:p>
          <a:p>
            <a:r>
              <a:t>Transition: what makes an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quarter again. An action names a person or a role, a move, a date</a:t>
            </a:r>
          </a:p>
          <a:p>
            <a:r>
              <a:t>and a cost, and "wait and measure" is an action when it carries all four. The one-slide answer is</a:t>
            </a:r>
          </a:p>
          <a:p>
            <a:r>
              <a:t>done when its action passes this test.</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D15 to D21. Parts 2, 3, 4 and 6 of the slot. Each exists to support</a:t>
            </a:r>
          </a:p>
          <a:p>
            <a:r>
              <a:t>the claim already on screen, so a slide here that does not connect to the claim gets cut.</a:t>
            </a:r>
          </a:p>
          <a:p>
            <a:r>
              <a:t>Transition: who needs the body of the slot.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Twenty-eight of the mini project's 40 marks sit on what these ten minutes</a:t>
            </a:r>
          </a:p>
          <a:p>
            <a:r>
              <a:t>show, so build each part to earn its marks.</a:t>
            </a:r>
          </a:p>
          <a:p>
            <a:r>
              <a:t>Transition: the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is Monday's translation worksheet, made presentable. Name your move in</a:t>
            </a:r>
          </a:p>
          <a:p>
            <a:r>
              <a:t>your own words and say which shape her question has; a group that cannot fill the move column for its</a:t>
            </a:r>
          </a:p>
          <a:p>
            <a:r>
              <a:t>own question did not make the transfer, and the panel will ask about it.</a:t>
            </a:r>
          </a:p>
          <a:p>
            <a:r>
              <a:t>Transition: the words.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first three pairs are the ones Monday's worksheet seeded; your map carries</a:t>
            </a:r>
          </a:p>
          <a:p>
            <a:r>
              <a:t>every term your analysis uses, and the right-hand column is where a group slows down, since a word</a:t>
            </a:r>
          </a:p>
          <a:p>
            <a:r>
              <a:t>with no retail twin is where retail habits mislead. The dossier from Monday, section 6, defines each.</a:t>
            </a:r>
          </a:p>
          <a:p>
            <a:r>
              <a:t>Transition: the data made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log's shape is Week 1 Wednesday's: field, issue, rows, decision, reason.</a:t>
            </a:r>
          </a:p>
          <a:p>
            <a:r>
              <a:t>Show the three calls that moved the most rows or dollars, and one row you kept, since the row you</a:t>
            </a:r>
          </a:p>
          <a:p>
            <a:r>
              <a:t>kept is the one an auditor asks about. Say the reconciliation as counts: rows in, rows kept, rows set</a:t>
            </a:r>
          </a:p>
          <a:p>
            <a:r>
              <a:t>aside. The row here is invented to show the shape, and the real files' age bands have no blanks.</a:t>
            </a:r>
          </a:p>
          <a:p>
            <a:r>
              <a:t>Transition: a question on reasons.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The test of a reason is whether it says what the</a:t>
            </a:r>
          </a:p>
          <a:p>
            <a:r>
              <a:t>row changes in the answer.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a. Option d is the tempting one, because small sounds safe; the</a:t>
            </a:r>
          </a:p>
          <a:p>
            <a:r>
              <a:t>auditor's question is which number the 14 rows sit in, and size alone never answers it.</a:t>
            </a:r>
          </a:p>
          <a:p>
            <a:r>
              <a:t>Transition: the charts.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minutes hold two or three charts; a fourth means the group is touring its</a:t>
            </a:r>
          </a:p>
          <a:p>
            <a:r>
              <a:t>notebook. On the invented quarter, a chart titled "Turnaround by quarter" makes the panel do the work,</a:t>
            </a:r>
          </a:p>
          <a:p>
            <a:r>
              <a:t>and "Median turnaround fell from 22 to 18 hours" does it for them.</a:t>
            </a:r>
          </a:p>
          <a:p>
            <a:r>
              <a:t>Transition: the last minute of the body.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change comes from your challenges log: the entry that cost the most time is</a:t>
            </a:r>
          </a:p>
          <a:p>
            <a:r>
              <a:t>usually the change worth naming. It names something the group will do on day one, and the week close</a:t>
            </a:r>
          </a:p>
          <a:p>
            <a:r>
              <a:t>asks for the same sentence.</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5 minutes over D23 to D29, with S24 and S26 shown at the opening. The demo is the</a:t>
            </a:r>
          </a:p>
          <a:p>
            <a:r>
              <a:t>evidence that the claim came from the data.</a:t>
            </a:r>
          </a:p>
          <a:p>
            <a:r>
              <a:t>Transition: who needs the demo.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each with its own slide.</a:t>
            </a:r>
          </a:p>
          <a:p>
            <a:r>
              <a:t>Transition: the three rules.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demo shows two things: the claim's main number arriving from the</a:t>
            </a:r>
          </a:p>
          <a:p>
            <a:r>
              <a:t>raw files, and your decisions log's largest call happening in code.</a:t>
            </a:r>
          </a:p>
          <a:p>
            <a:r>
              <a:t>Transition: what cold means.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After the freeze, slide wording may change and no number may; an error found</a:t>
            </a:r>
          </a:p>
          <a:p>
            <a:r>
              <a:t>after the freeze is stated on the day as a caveat, with the right number. Before each slot a TA checks</a:t>
            </a:r>
          </a:p>
          <a:p>
            <a:r>
              <a:t>that the Codespace is on your frozen commit, and a later commit that changes code or a number is shown</a:t>
            </a:r>
          </a:p>
          <a:p>
            <a:r>
              <a:t>to the panel, which decides.</a:t>
            </a:r>
          </a:p>
          <a:p>
            <a:r>
              <a:t>Transition: what happens if it fails.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rule, word for word: a group's demo runs once, cold, on its raw</a:t>
            </a:r>
          </a:p>
          <a:p>
            <a:r>
              <a:t>files. If it fails, the group has two minutes to recover it live, as it would in front of a client.</a:t>
            </a:r>
          </a:p>
          <a:p>
            <a:r>
              <a:t>If it still fails, the group presents from its executed notebook, and the panel scores the live demo</a:t>
            </a:r>
          </a:p>
          <a:p>
            <a:r>
              <a:t>in presentation and defence as not run cold. The other 34 marks of the mini project are scored from</a:t>
            </a:r>
          </a:p>
          <a:p>
            <a:r>
              <a:t>the executed run.</a:t>
            </a:r>
          </a:p>
          <a:p>
            <a:r>
              <a:t>Transition: a question on plans.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Most readers split between c and d; the two-minute</a:t>
            </a:r>
          </a:p>
          <a:p>
            <a:r>
              <a:t>limit is what separates them.</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d. Option a is the comfortable one, and it scores like a failed</a:t>
            </a:r>
          </a:p>
          <a:p>
            <a:r>
              <a:t>demo without the two minutes in which a group can recover.</a:t>
            </a:r>
          </a:p>
          <a:p>
            <a:r>
              <a:t>Transition: what a failure costs.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How far below full marks is the panel's call, and the analysis keeps every mark</a:t>
            </a:r>
          </a:p>
          <a:p>
            <a:r>
              <a:t>it earned. A hardware or Codespace failure is the machine's, so the group gets its cold run later in</a:t>
            </a:r>
          </a:p>
          <a:p>
            <a:r>
              <a:t>the same room.</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D30 to D37, with S31 shown at the opening. The panel's eight to ten</a:t>
            </a:r>
          </a:p>
          <a:p>
            <a:r>
              <a:t>minutes test whether the answer survives, and every member answers.</a:t>
            </a:r>
          </a:p>
          <a:p>
            <a:r>
              <a:t>Transition: who needs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a:t>
            </a:r>
          </a:p>
          <a:p>
            <a:r>
              <a:t>Transition: the five kinds.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quietest-member question goes to whoever has spoken least; every</a:t>
            </a:r>
          </a:p>
          <a:p>
            <a:r>
              <a:t>member should be able to explain the claim, one decision from the log and one chart. Groups on the</a:t>
            </a:r>
          </a:p>
          <a:p>
            <a:r>
              <a:t>same question present back to back, so the other-group question is real.</a:t>
            </a:r>
          </a:p>
          <a:p>
            <a:r>
              <a:t>Transition: how to hold a caveat.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These are the three moves of the Week 1 Friday rehearsal, said to a panel</a:t>
            </a:r>
          </a:p>
          <a:p>
            <a:r>
              <a:t>instead of a partner playing Marketing. Narrowing a claim under challenge is a strong answer, and</a:t>
            </a:r>
          </a:p>
          <a:p>
            <a:r>
              <a:t>defending an overreach is a weak one.</a:t>
            </a:r>
          </a:p>
          <a:p>
            <a:r>
              <a:t>Transition: the three moves on one invented challenge.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figures are invented, on the lab director's question, which none of your</a:t>
            </a:r>
          </a:p>
          <a:p>
            <a:r>
              <a:t>groups took. Say the answer aloud in under a minute: the claim with its count, what the data can and</a:t>
            </a:r>
          </a:p>
          <a:p>
            <a:r>
              <a:t>cannot say, and the check with its date.</a:t>
            </a:r>
          </a:p>
          <a:p>
            <a:r>
              <a:t>Transition: a question on replies.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The strong reply narrows the claim and names the</a:t>
            </a:r>
          </a:p>
          <a:p>
            <a:r>
              <a:t>check that would settle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c. Under challenge, narrow the claim and name the check, the move</a:t>
            </a:r>
          </a:p>
          <a:p>
            <a:r>
              <a:t>between defending blindly and folding.</a:t>
            </a:r>
          </a:p>
          <a:p>
            <a:r>
              <a:t>Transition: when two answers are both honest.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turnaround quarter once more: the doctor waits 18 hours from the</a:t>
            </a:r>
          </a:p>
          <a:p>
            <a:r>
              <a:t>draw, and the lab's own clock says 14. Both are true, and a board needs to hear which one answers its</a:t>
            </a:r>
          </a:p>
          <a:p>
            <a:r>
              <a:t>question. The panel hears groups on the same question back to back, so expect to be asked about the</a:t>
            </a:r>
          </a:p>
          <a:p>
            <a:r>
              <a:t>group before you.</a:t>
            </a:r>
          </a:p>
          <a:p>
            <a:r>
              <a:t>Transition: what every member explains alone.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member who cannot answer is questioned again alone, in the room's reserve,</a:t>
            </a:r>
          </a:p>
          <a:p>
            <a:r>
              <a:t>before that member's presentation and defence is scored; the group's 34 do not wait.</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4 minutes over D38 to S42. Learners may see the rubrics, which the requester</a:t>
            </a:r>
          </a:p>
          <a:p>
            <a:r>
              <a:t>approved on 29 September 2026.</a:t>
            </a:r>
          </a:p>
          <a:p>
            <a:r>
              <a:t>Transition: who needs the scoring.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in order.</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logs sit in Monday's briefs folder, beside the briefing note, your</a:t>
            </a:r>
          </a:p>
          <a:p>
            <a:r>
              <a:t>question's brief, the data dictionary and the translation worksheet.</a:t>
            </a:r>
          </a:p>
          <a:p>
            <a:r>
              <a:t>Transition: the rubric.</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Point at the last row: the live demo sits inside presentation and defence, so a</a:t>
            </a:r>
          </a:p>
          <a:p>
            <a:r>
              <a:t>demo that still fails after its two minutes costs those marks and leaves the other 34 to the executed</a:t>
            </a:r>
          </a:p>
          <a:p>
            <a:r>
              <a:t>run.</a:t>
            </a:r>
          </a:p>
          <a:p>
            <a:r>
              <a:t>Transition: the other two scores.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marks per event are locked, and the three rubrics are public. The GD rounds</a:t>
            </a:r>
          </a:p>
          <a:p>
            <a:r>
              <a:t>ran on Friday 23 October and close on the morning of Saturday 24 October; Mock R1 ran on Thursday 22</a:t>
            </a:r>
          </a:p>
          <a:p>
            <a:r>
              <a:t>October. No score is read aloud in the room.</a:t>
            </a:r>
          </a:p>
          <a:p>
            <a:r>
              <a:t>Transition: the last hour before your slot.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as the last slide shown; SELF-STUDY on the night before. The answer</a:t>
            </a:r>
          </a:p>
          <a:p>
            <a:r>
              <a:t>to the day's question, which branch is short and whether the answer holds, is a claim with its</a:t>
            </a:r>
          </a:p>
          <a:p>
            <a:r>
              <a:t>denominator, a caveat each member can defend, and a number the panel watched arrive from the raw files.</a:t>
            </a:r>
          </a:p>
          <a:p>
            <a:r>
              <a:t>Close on the interview question and leave it on screen while the first group sets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26.png"/><Relationship Id="rId6" Type="http://schemas.openxmlformats.org/officeDocument/2006/relationships/image" Target="../media/image30.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BUILD 1  ·  THE PRESENTATION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answer to Dr Menon hold in front of a panel?</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“My dashboard says test volumes grew 5 percent from Q2 to Q3. The plan the board approved asks for 18. Which branch of my business is short, and what do I do next?”</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What will the panel ask?</a:t>
            </a:r>
          </a:p>
        </p:txBody>
      </p:sp>
      <p:sp>
        <p:nvSpPr>
          <p:cNvPr id="13" name="TextBox 12"/>
          <p:cNvSpPr txBox="1"/>
          <p:nvPr/>
        </p:nvSpPr>
        <p:spPr>
          <a:xfrm>
            <a:off x="279120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What goes on one slide?</a:t>
            </a:r>
          </a:p>
        </p:txBody>
      </p:sp>
      <p:sp>
        <p:nvSpPr>
          <p:cNvPr id="15" name="TextBox 14"/>
          <p:cNvSpPr txBox="1"/>
          <p:nvPr/>
        </p:nvSpPr>
        <p:spPr>
          <a:xfrm>
            <a:off x="49014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How is the claim earned?</a:t>
            </a:r>
          </a:p>
        </p:txBody>
      </p:sp>
      <p:sp>
        <p:nvSpPr>
          <p:cNvPr id="17" name="TextBox 16"/>
          <p:cNvSpPr txBox="1"/>
          <p:nvPr/>
        </p:nvSpPr>
        <p:spPr>
          <a:xfrm>
            <a:off x="7070883"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if the demo fails?</a:t>
            </a:r>
          </a:p>
        </p:txBody>
      </p:sp>
      <p:sp>
        <p:nvSpPr>
          <p:cNvPr id="19" name="TextBox 18"/>
          <p:cNvSpPr txBox="1"/>
          <p:nvPr/>
        </p:nvSpPr>
        <p:spPr>
          <a:xfrm>
            <a:off x="918114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65195"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Does the claim hold?</a:t>
            </a:r>
          </a:p>
        </p:txBody>
      </p:sp>
      <p:sp>
        <p:nvSpPr>
          <p:cNvPr id="21" name="TextBox 20"/>
          <p:cNvSpPr txBox="1"/>
          <p:nvPr/>
        </p:nvSpPr>
        <p:spPr>
          <a:xfrm>
            <a:off x="621792" y="6254496"/>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6291072"/>
            <a:ext cx="1188434" cy="185166"/>
          </a:xfrm>
          <a:prstGeom prst="rect">
            <a:avLst/>
          </a:prstGeom>
          <a:noFill/>
        </p:spPr>
        <p:txBody>
          <a:bodyPr wrap="square" anchor="t" lIns="0" rIns="0" tIns="0" bIns="0">
            <a:spAutoFit/>
          </a:bodyPr>
          <a:lstStyle/>
          <a:p>
            <a:pPr algn="l"/>
            <a:r>
              <a:rPr sz="900" b="0" i="0">
                <a:solidFill>
                  <a:srgbClr val="FFFFFF"/>
                </a:solidFill>
                <a:latin typeface="Calibri"/>
              </a:rPr>
              <a:t>How is it scored?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Does your answer to Dr Menon hold in front of a panel?</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turn her ask into your 30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of Kalpa Health is short, and does your answer hold when a panel tests it live on the raw files?</a:t>
            </a:r>
          </a:p>
        </p:txBody>
      </p:sp>
      <p:pic>
        <p:nvPicPr>
          <p:cNvPr id="9" name="mermaid diagram" descr="1bb0a9ae216543f4.png"/>
          <p:cNvPicPr>
            <a:picLocks noChangeAspect="1"/>
          </p:cNvPicPr>
          <p:nvPr/>
        </p:nvPicPr>
        <p:blipFill>
          <a:blip r:embed="rId5"/>
          <a:stretch>
            <a:fillRect/>
          </a:stretch>
        </p:blipFill>
        <p:spPr>
          <a:xfrm>
            <a:off x="2373953" y="1723167"/>
            <a:ext cx="7443787"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Kalpa Health runs a laboratory and two patient service centres, where blood is drawn, in each of six US metro areas and bills its patients' payers in dollars; your group answers one of the five questions its COO's heads asked on Monday.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49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the panel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Dr Menon need from your 25 to 30 minutes, and in what order will the panel ask for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stands in for Dr Menon's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from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who carries one sentence per question into her board meeting; the panel asks what her board would ask, and a slot that tours a notebook leaves her nothing to carry.</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panel</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Who sits on the panel, and what has it seen before your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questions</a:t>
            </a:r>
          </a:p>
        </p:txBody>
      </p:sp>
      <p:sp>
        <p:nvSpPr>
          <p:cNvPr id="23" name="TextBox 22"/>
          <p:cNvSpPr txBox="1"/>
          <p:nvPr/>
        </p:nvSpPr>
        <p:spPr>
          <a:xfrm>
            <a:off x="3523411"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four questions does Dr Menon ask every group?</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minutes</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How do the 25 to 30 minutes of a slot split?</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Her heads' numbers</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Which numbers has her team already given you?</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panels hear you, and neither has seen your work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sits on the panel, and what have they seen before your slot?</a:t>
            </a:r>
          </a:p>
        </p:txBody>
      </p:sp>
      <p:pic>
        <p:nvPicPr>
          <p:cNvPr id="10" name="mermaid diagram" descr="026e02160bcac3ed.png"/>
          <p:cNvPicPr>
            <a:picLocks noChangeAspect="1"/>
          </p:cNvPicPr>
          <p:nvPr/>
        </p:nvPicPr>
        <p:blipFill>
          <a:blip r:embed="rId5"/>
          <a:stretch>
            <a:fillRect/>
          </a:stretch>
        </p:blipFill>
        <p:spPr>
          <a:xfrm>
            <a:off x="845191" y="1956816"/>
            <a:ext cx="10501312" cy="1371600"/>
          </a:xfrm>
          <a:prstGeom prst="rect">
            <a:avLst/>
          </a:prstGeom>
        </p:spPr>
      </p:pic>
      <p:graphicFrame>
        <p:nvGraphicFramePr>
          <p:cNvPr id="11" name="Table 10"/>
          <p:cNvGraphicFramePr>
            <a:graphicFrameLocks noGrp="1"/>
          </p:cNvGraphicFramePr>
          <p:nvPr/>
        </p:nvGraphicFramePr>
        <p:xfrm>
          <a:off x="530352" y="3474720"/>
          <a:ext cx="11130990" cy="1109472"/>
        </p:xfrm>
        <a:graphic>
          <a:graphicData uri="http://schemas.openxmlformats.org/drawingml/2006/table">
            <a:tbl>
              <a:tblPr firstRow="0" bandRow="0">
                <a:tableStyleId>{2D5ABB26-0587-4C30-8999-92F81FD0307C}</a:tableStyleId>
              </a:tblPr>
              <a:tblGrid>
                <a:gridCol w="3218922"/>
                <a:gridCol w="2425109"/>
                <a:gridCol w="5486959"/>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they have seen</a:t>
                      </a:r>
                    </a:p>
                  </a:txBody>
                  <a:tcPr marL="101600" marR="101600" marT="38100" marB="38100" anchor="ctr">
                    <a:solidFill>
                      <a:srgbClr val="1A0F5C"/>
                    </a:solidFill>
                  </a:tcPr>
                </a:tc>
              </a:tr>
              <a:tr h="369824">
                <a:tc>
                  <a:txBody>
                    <a:bodyPr/>
                    <a:lstStyle/>
                    <a:p>
                      <a:r>
                        <a:rPr sz="1400" b="0" i="0">
                          <a:solidFill>
                            <a:srgbClr val="1A1440"/>
                          </a:solidFill>
                          <a:latin typeface="Calibri"/>
                        </a:rPr>
                        <a:t>The industry expert</a:t>
                      </a:r>
                    </a:p>
                  </a:txBody>
                  <a:tcPr marL="101600" marR="101600" marT="38100" marB="38100" anchor="ctr">
                    <a:solidFill>
                      <a:srgbClr val="FFFFFF"/>
                    </a:solidFill>
                  </a:tcPr>
                </a:tc>
                <a:tc>
                  <a:txBody>
                    <a:bodyPr/>
                    <a:lstStyle/>
                    <a:p>
                      <a:r>
                        <a:rPr sz="1400" b="0" i="0">
                          <a:solidFill>
                            <a:srgbClr val="1A1440"/>
                          </a:solidFill>
                          <a:latin typeface="Calibri"/>
                        </a:rPr>
                        <a:t>Friday and Saturday</a:t>
                      </a:r>
                    </a:p>
                  </a:txBody>
                  <a:tcPr marL="101600" marR="101600" marT="38100" marB="38100" anchor="ctr">
                    <a:solidFill>
                      <a:srgbClr val="FFFFFF"/>
                    </a:solidFill>
                  </a:tcPr>
                </a:tc>
                <a:tc>
                  <a:txBody>
                    <a:bodyPr/>
                    <a:lstStyle/>
                    <a:p>
                      <a:r>
                        <a:rPr sz="1400" b="0" i="0">
                          <a:solidFill>
                            <a:srgbClr val="1A1440"/>
                          </a:solidFill>
                          <a:latin typeface="Calibri"/>
                        </a:rPr>
                        <a:t>Dr Menon's questions, and nothing of your work</a:t>
                      </a:r>
                    </a:p>
                  </a:txBody>
                  <a:tcPr marL="101600" marR="101600" marT="38100" marB="38100" anchor="ctr">
                    <a:solidFill>
                      <a:srgbClr val="FFFFFF"/>
                    </a:solidFill>
                  </a:tcPr>
                </a:tc>
              </a:tr>
              <a:tr h="369824">
                <a:tc>
                  <a:txBody>
                    <a:bodyPr/>
                    <a:lstStyle/>
                    <a:p>
                      <a:r>
                        <a:rPr sz="1400" b="0" i="0">
                          <a:solidFill>
                            <a:srgbClr val="1A1440"/>
                          </a:solidFill>
                          <a:latin typeface="Calibri"/>
                        </a:rPr>
                        <a:t>The senior industry leader</a:t>
                      </a:r>
                    </a:p>
                  </a:txBody>
                  <a:tcPr marL="101600" marR="101600" marT="38100" marB="38100" anchor="ctr">
                    <a:solidFill>
                      <a:srgbClr val="F4F2FA"/>
                    </a:solidFill>
                  </a:tcPr>
                </a:tc>
                <a:tc>
                  <a:txBody>
                    <a:bodyPr/>
                    <a:lstStyle/>
                    <a:p>
                      <a:r>
                        <a:rPr sz="1400" b="0" i="0">
                          <a:solidFill>
                            <a:srgbClr val="1A1440"/>
                          </a:solidFill>
                          <a:latin typeface="Calibri"/>
                        </a:rPr>
                        <a:t>Saturday only</a:t>
                      </a:r>
                    </a:p>
                  </a:txBody>
                  <a:tcPr marL="101600" marR="101600" marT="38100" marB="38100" anchor="ctr">
                    <a:solidFill>
                      <a:srgbClr val="F4F2FA"/>
                    </a:solidFill>
                  </a:tcPr>
                </a:tc>
                <a:tc>
                  <a:txBody>
                    <a:bodyPr/>
                    <a:lstStyle/>
                    <a:p>
                      <a:r>
                        <a:rPr sz="1400" b="0" i="0">
                          <a:solidFill>
                            <a:srgbClr val="1A1440"/>
                          </a:solidFill>
                          <a:latin typeface="Calibri"/>
                        </a:rPr>
                        <a:t>The same, and they fly in for the 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5 / 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asks four questions,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questions does Dr Menon ask every group, and which part of your slot answers each?</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did you find? How sure are you? What would change your mind? What do I do on Monday?"</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3721894"/>
                <a:gridCol w="7409096"/>
              </a:tblGrid>
              <a:tr h="369824">
                <a:tc>
                  <a:txBody>
                    <a:bodyPr/>
                    <a:lstStyle/>
                    <a:p>
                      <a:r>
                        <a:rPr sz="1450" b="1" i="0">
                          <a:solidFill>
                            <a:srgbClr val="FFFFFF"/>
                          </a:solidFill>
                          <a:latin typeface="Calibri"/>
                        </a:rPr>
                        <a:t>Her question</a:t>
                      </a:r>
                    </a:p>
                  </a:txBody>
                  <a:tcPr marL="101600" marR="101600" marT="38100" marB="38100" anchor="ctr">
                    <a:solidFill>
                      <a:srgbClr val="1A0F5C"/>
                    </a:solidFill>
                  </a:tcPr>
                </a:tc>
                <a:tc>
                  <a:txBody>
                    <a:bodyPr/>
                    <a:lstStyle/>
                    <a:p>
                      <a:r>
                        <a:rPr sz="1450" b="1" i="0">
                          <a:solidFill>
                            <a:srgbClr val="FFFFFF"/>
                          </a:solidFill>
                          <a:latin typeface="Calibri"/>
                        </a:rPr>
                        <a:t>The part of your slot that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What did you find?</a:t>
                      </a:r>
                    </a:p>
                  </a:txBody>
                  <a:tcPr marL="101600" marR="101600" marT="38100" marB="38100" anchor="ctr">
                    <a:solidFill>
                      <a:srgbClr val="FFFFFF"/>
                    </a:solidFill>
                  </a:tcPr>
                </a:tc>
                <a:tc>
                  <a:txBody>
                    <a:bodyPr/>
                    <a:lstStyle/>
                    <a:p>
                      <a:r>
                        <a:rPr sz="1400" b="0" i="0">
                          <a:solidFill>
                            <a:srgbClr val="1A1440"/>
                          </a:solidFill>
                          <a:latin typeface="Calibri"/>
                        </a:rPr>
                        <a:t>The claim, on the one-slide answer, in your first two minutes</a:t>
                      </a:r>
                    </a:p>
                  </a:txBody>
                  <a:tcPr marL="101600" marR="101600" marT="38100" marB="38100" anchor="ctr">
                    <a:solidFill>
                      <a:srgbClr val="FFFFFF"/>
                    </a:solidFill>
                  </a:tcPr>
                </a:tc>
              </a:tr>
              <a:tr h="369824">
                <a:tc>
                  <a:txBody>
                    <a:bodyPr/>
                    <a:lstStyle/>
                    <a:p>
                      <a:r>
                        <a:rPr sz="1400" b="0" i="0">
                          <a:solidFill>
                            <a:srgbClr val="1A1440"/>
                          </a:solidFill>
                          <a:latin typeface="Calibri"/>
                        </a:rPr>
                        <a:t>How sure are you?</a:t>
                      </a:r>
                    </a:p>
                  </a:txBody>
                  <a:tcPr marL="101600" marR="101600" marT="38100" marB="38100" anchor="ctr">
                    <a:solidFill>
                      <a:srgbClr val="F4F2FA"/>
                    </a:solidFill>
                  </a:tcPr>
                </a:tc>
                <a:tc>
                  <a:txBody>
                    <a:bodyPr/>
                    <a:lstStyle/>
                    <a:p>
                      <a:r>
                        <a:rPr sz="1400" b="0" i="0">
                          <a:solidFill>
                            <a:srgbClr val="1A1440"/>
                          </a:solidFill>
                          <a:latin typeface="Calibri"/>
                        </a:rPr>
                        <a:t>The evidence: the data made trustworthy, the analysis and the live demo</a:t>
                      </a:r>
                    </a:p>
                  </a:txBody>
                  <a:tcPr marL="101600" marR="101600" marT="38100" marB="38100" anchor="ctr">
                    <a:solidFill>
                      <a:srgbClr val="F4F2FA"/>
                    </a:solidFill>
                  </a:tcPr>
                </a:tc>
              </a:tr>
              <a:tr h="369824">
                <a:tc>
                  <a:txBody>
                    <a:bodyPr/>
                    <a:lstStyle/>
                    <a:p>
                      <a:r>
                        <a:rPr sz="1400" b="0" i="0">
                          <a:solidFill>
                            <a:srgbClr val="1A1440"/>
                          </a:solidFill>
                          <a:latin typeface="Calibri"/>
                        </a:rPr>
                        <a:t>What would change your mind?</a:t>
                      </a:r>
                    </a:p>
                  </a:txBody>
                  <a:tcPr marL="101600" marR="101600" marT="38100" marB="38100" anchor="ctr">
                    <a:solidFill>
                      <a:srgbClr val="FFFFFF"/>
                    </a:solidFill>
                  </a:tcPr>
                </a:tc>
                <a:tc>
                  <a:txBody>
                    <a:bodyPr/>
                    <a:lstStyle/>
                    <a:p>
                      <a:r>
                        <a:rPr sz="1400" b="0" i="0">
                          <a:solidFill>
                            <a:srgbClr val="1A1440"/>
                          </a:solidFill>
                          <a:latin typeface="Calibri"/>
                        </a:rPr>
                        <a:t>The caveat, which the panel will challenge</a:t>
                      </a:r>
                    </a:p>
                  </a:txBody>
                  <a:tcPr marL="101600" marR="101600" marT="38100" marB="38100" anchor="ctr">
                    <a:solidFill>
                      <a:srgbClr val="FFFFFF"/>
                    </a:solidFill>
                  </a:tcPr>
                </a:tc>
              </a:tr>
              <a:tr h="369824">
                <a:tc>
                  <a:txBody>
                    <a:bodyPr/>
                    <a:lstStyle/>
                    <a:p>
                      <a:r>
                        <a:rPr sz="1400" b="0" i="0">
                          <a:solidFill>
                            <a:srgbClr val="1A1440"/>
                          </a:solidFill>
                          <a:latin typeface="Calibri"/>
                        </a:rPr>
                        <a:t>What do I do on Monday?</a:t>
                      </a:r>
                    </a:p>
                  </a:txBody>
                  <a:tcPr marL="101600" marR="101600" marT="38100" marB="38100" anchor="ctr">
                    <a:solidFill>
                      <a:srgbClr val="F4F2FA"/>
                    </a:solidFill>
                  </a:tcPr>
                </a:tc>
                <a:tc>
                  <a:txBody>
                    <a:bodyPr/>
                    <a:lstStyle/>
                    <a:p>
                      <a:r>
                        <a:rPr sz="1400" b="0" i="0">
                          <a:solidFill>
                            <a:srgbClr val="1A1440"/>
                          </a:solidFill>
                          <a:latin typeface="Calibri"/>
                        </a:rPr>
                        <a:t>The action: who does what, by when, and what it costs</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Seventeen minutes are yours, then the panel's eight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25 to 30 minutes of a slot split, part by part?</a:t>
            </a:r>
          </a:p>
        </p:txBody>
      </p:sp>
      <p:pic>
        <p:nvPicPr>
          <p:cNvPr id="9" name="mermaid diagram" descr="2edc9d5d695e53e1.png"/>
          <p:cNvPicPr>
            <a:picLocks noChangeAspect="1"/>
          </p:cNvPicPr>
          <p:nvPr/>
        </p:nvPicPr>
        <p:blipFill>
          <a:blip r:embed="rId5"/>
          <a:stretch>
            <a:fillRect/>
          </a:stretch>
        </p:blipFill>
        <p:spPr>
          <a:xfrm>
            <a:off x="530352" y="1956816"/>
            <a:ext cx="11130991" cy="867207"/>
          </a:xfrm>
          <a:prstGeom prst="rect">
            <a:avLst/>
          </a:prstGeom>
        </p:spPr>
      </p:pic>
      <p:graphicFrame>
        <p:nvGraphicFramePr>
          <p:cNvPr id="10" name="Table 9"/>
          <p:cNvGraphicFramePr>
            <a:graphicFrameLocks noGrp="1"/>
          </p:cNvGraphicFramePr>
          <p:nvPr/>
        </p:nvGraphicFramePr>
        <p:xfrm>
          <a:off x="530352" y="2970327"/>
          <a:ext cx="11130990" cy="2588768"/>
        </p:xfrm>
        <a:graphic>
          <a:graphicData uri="http://schemas.openxmlformats.org/drawingml/2006/table">
            <a:tbl>
              <a:tblPr firstRow="0" bandRow="0">
                <a:tableStyleId>{2D5ABB26-0587-4C30-8999-92F81FD0307C}</a:tableStyleId>
              </a:tblPr>
              <a:tblGrid>
                <a:gridCol w="3645308"/>
                <a:gridCol w="1084005"/>
                <a:gridCol w="640167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What it carries</a:t>
                      </a:r>
                    </a:p>
                  </a:txBody>
                  <a:tcPr marL="101600" marR="101600" marT="38100" marB="38100" anchor="ctr">
                    <a:solidFill>
                      <a:srgbClr val="1A0F5C"/>
                    </a:solidFill>
                  </a:tcPr>
                </a:tc>
              </a:tr>
              <a:tr h="369824">
                <a:tc>
                  <a:txBody>
                    <a:bodyPr/>
                    <a:lstStyle/>
                    <a:p>
                      <a:r>
                        <a:rPr sz="1400" b="0" i="0">
                          <a:solidFill>
                            <a:srgbClr val="1A1440"/>
                          </a:solidFill>
                          <a:latin typeface="Calibri"/>
                        </a:rPr>
                        <a:t>1. The one-slide answer</a:t>
                      </a:r>
                    </a:p>
                  </a:txBody>
                  <a:tcPr marL="101600" marR="101600" marT="38100" marB="38100" anchor="ctr">
                    <a:solidFill>
                      <a:srgbClr val="FFFFFF"/>
                    </a:solidFill>
                  </a:tcPr>
                </a:tc>
                <a:tc>
                  <a:txBody>
                    <a:bodyPr/>
                    <a:lstStyle/>
                    <a:p>
                      <a:r>
                        <a:rPr sz="1400" b="0" i="0">
                          <a:solidFill>
                            <a:srgbClr val="1A1440"/>
                          </a:solidFill>
                          <a:latin typeface="Calibri"/>
                        </a:rPr>
                        <a:t>2</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said first</a:t>
                      </a:r>
                    </a:p>
                  </a:txBody>
                  <a:tcPr marL="101600" marR="101600" marT="38100" marB="38100" anchor="ctr">
                    <a:solidFill>
                      <a:srgbClr val="FFFFFF"/>
                    </a:solidFill>
                  </a:tcPr>
                </a:tc>
              </a:tr>
              <a:tr h="369824">
                <a:tc>
                  <a:txBody>
                    <a:bodyPr/>
                    <a:lstStyle/>
                    <a:p>
                      <a:r>
                        <a:rPr sz="1400" b="0" i="0">
                          <a:solidFill>
                            <a:srgbClr val="1A1440"/>
                          </a:solidFill>
                          <a:latin typeface="Calibri"/>
                        </a:rPr>
                        <a:t>2. The translation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Dr Menon's words mapped onto a move from Weeks 1 and 2</a:t>
                      </a:r>
                    </a:p>
                  </a:txBody>
                  <a:tcPr marL="101600" marR="101600" marT="38100" marB="38100" anchor="ctr">
                    <a:solidFill>
                      <a:srgbClr val="F4F2FA"/>
                    </a:solidFill>
                  </a:tcPr>
                </a:tc>
              </a:tr>
              <a:tr h="369824">
                <a:tc>
                  <a:txBody>
                    <a:bodyPr/>
                    <a:lstStyle/>
                    <a:p>
                      <a:r>
                        <a:rPr sz="1400" b="0" i="0">
                          <a:solidFill>
                            <a:srgbClr val="1A1440"/>
                          </a:solidFill>
                          <a:latin typeface="Calibri"/>
                        </a:rPr>
                        <a:t>3. The data made trustworthy</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decisions log's largest calls, and the rows reconciled</a:t>
                      </a:r>
                    </a:p>
                  </a:txBody>
                  <a:tcPr marL="101600" marR="101600" marT="38100" marB="38100" anchor="ctr">
                    <a:solidFill>
                      <a:srgbClr val="FFFFFF"/>
                    </a:solidFill>
                  </a:tcPr>
                </a:tc>
              </a:tr>
              <a:tr h="369824">
                <a:tc>
                  <a:txBody>
                    <a:bodyPr/>
                    <a:lstStyle/>
                    <a:p>
                      <a:r>
                        <a:rPr sz="1400" b="0" i="0">
                          <a:solidFill>
                            <a:srgbClr val="1A1440"/>
                          </a:solidFill>
                          <a:latin typeface="Calibri"/>
                        </a:rPr>
                        <a:t>4. The analysis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or three charts, each with its denominator</a:t>
                      </a:r>
                    </a:p>
                  </a:txBody>
                  <a:tcPr marL="101600" marR="101600" marT="38100" marB="38100" anchor="ctr">
                    <a:solidFill>
                      <a:srgbClr val="F4F2FA"/>
                    </a:solidFill>
                  </a:tcPr>
                </a:tc>
              </a:tr>
              <a:tr h="369824">
                <a:tc>
                  <a:txBody>
                    <a:bodyPr/>
                    <a:lstStyle/>
                    <a:p>
                      <a:r>
                        <a:rPr sz="1400" b="0" i="0">
                          <a:solidFill>
                            <a:srgbClr val="1A1440"/>
                          </a:solidFill>
                          <a:latin typeface="Calibri"/>
                        </a:rPr>
                        <a:t>5. The live demo</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Your main number, reproduced cold from the raw files</a:t>
                      </a:r>
                    </a:p>
                  </a:txBody>
                  <a:tcPr marL="101600" marR="101600" marT="38100" marB="38100" anchor="ctr">
                    <a:solidFill>
                      <a:srgbClr val="FFFFFF"/>
                    </a:solidFill>
                  </a:tcPr>
                </a:tc>
              </a:tr>
              <a:tr h="369824">
                <a:tc>
                  <a:txBody>
                    <a:bodyPr/>
                    <a:lstStyle/>
                    <a:p>
                      <a:r>
                        <a:rPr sz="1400" b="0" i="0">
                          <a:solidFill>
                            <a:srgbClr val="1A1440"/>
                          </a:solidFill>
                          <a:latin typeface="Calibri"/>
                        </a:rPr>
                        <a:t>6. What you would do differently</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One change, specific enough for Build 2 to act 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Her heads' numbers are where every answer starts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has Dr Menon's team already given you, and what do they leave open?</a:t>
            </a:r>
          </a:p>
        </p:txBody>
      </p:sp>
      <p:sp>
        <p:nvSpPr>
          <p:cNvPr id="10" name="TextBox 9"/>
          <p:cNvSpPr txBox="1"/>
          <p:nvPr/>
        </p:nvSpPr>
        <p:spPr>
          <a:xfrm>
            <a:off x="530352"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5%</a:t>
            </a:r>
          </a:p>
        </p:txBody>
      </p:sp>
      <p:sp>
        <p:nvSpPr>
          <p:cNvPr id="11" name="TextBox 10"/>
          <p:cNvSpPr txBox="1"/>
          <p:nvPr/>
        </p:nvSpPr>
        <p:spPr>
          <a:xfrm>
            <a:off x="530352"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2" name="TextBox 11"/>
          <p:cNvSpPr txBox="1"/>
          <p:nvPr/>
        </p:nvSpPr>
        <p:spPr>
          <a:xfrm>
            <a:off x="530352"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her dashboard, against a plan of 18</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2 metros</a:t>
            </a:r>
          </a:p>
        </p:txBody>
      </p:sp>
      <p:sp>
        <p:nvSpPr>
          <p:cNvPr id="15" name="TextBox 14"/>
          <p:cNvSpPr txBox="1"/>
          <p:nvPr/>
        </p:nvSpPr>
        <p:spPr>
          <a:xfrm>
            <a:off x="3381679"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WHERE BOOKINGS FELL IN Q3</a:t>
            </a:r>
          </a:p>
        </p:txBody>
      </p:sp>
      <p:sp>
        <p:nvSpPr>
          <p:cNvPr id="16" name="TextBox 15"/>
          <p:cNvSpPr txBox="1"/>
          <p:nvPr/>
        </p:nvSpPr>
        <p:spPr>
          <a:xfrm>
            <a:off x="3381679"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centres' operations head</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9%</a:t>
            </a:r>
          </a:p>
        </p:txBody>
      </p:sp>
      <p:sp>
        <p:nvSpPr>
          <p:cNvPr id="19" name="TextBox 18"/>
          <p:cNvSpPr txBox="1"/>
          <p:nvPr/>
        </p:nvSpPr>
        <p:spPr>
          <a:xfrm>
            <a:off x="6233007"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FREE AT-HOME OFFER'S LIFT</a:t>
            </a:r>
          </a:p>
        </p:txBody>
      </p:sp>
      <p:sp>
        <p:nvSpPr>
          <p:cNvPr id="20" name="TextBox 19"/>
          <p:cNvSpPr txBox="1"/>
          <p:nvPr/>
        </p:nvSpPr>
        <p:spPr>
          <a:xfrm>
            <a:off x="6233007"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marketing head</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KH-ATL-03</a:t>
            </a:r>
          </a:p>
        </p:txBody>
      </p:sp>
      <p:sp>
        <p:nvSpPr>
          <p:cNvPr id="23" name="TextBox 22"/>
          <p:cNvSpPr txBox="1"/>
          <p:nvPr/>
        </p:nvSpPr>
        <p:spPr>
          <a:xfrm>
            <a:off x="9084335"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WORST NO-SHOW RATE</a:t>
            </a:r>
          </a:p>
        </p:txBody>
      </p:sp>
      <p:sp>
        <p:nvSpPr>
          <p:cNvPr id="24" name="TextBox 23"/>
          <p:cNvSpPr txBox="1"/>
          <p:nvPr/>
        </p:nvSpPr>
        <p:spPr>
          <a:xfrm>
            <a:off x="9084335"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operations head's Q3 report</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is a claim from someone's report, and the finance head adds that the claims billed and the posting system disagree; your answer says what your number counts before it agrees or disagrees with theirs.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will the panel ask?</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5" name="Oval 34"/>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7" name="Oval 36"/>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  ·  8 / 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one slide Dr Menon carries into her board meeting say, and why does it come first?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slide carries her answer into the boardroom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one-slide answer,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Menon, who reads for two minutes and stops; the slide she carries is the only part of your work her board sees, so a missing part costs her a question she cannot answer in the room.</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18" name="TextBox 17"/>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four parts make the one-slide answer, in which order?</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must one sentence carry before a board can repeat it?</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A real lab</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a listed US lab state a quarter's growth?</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sentence</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of four sentences can Dr Menon carry?</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Caveat and action</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makes a caveat, and what makes an action?</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D7  ·  10 / 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Claim, evidence, caveat, action, in that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parts make the one-slide answer, in the order Week 1 Thursday's note set them?</a:t>
            </a:r>
          </a:p>
        </p:txBody>
      </p:sp>
      <p:pic>
        <p:nvPicPr>
          <p:cNvPr id="10" name="mermaid diagram" descr="e54068ba88d30eec.png"/>
          <p:cNvPicPr>
            <a:picLocks noChangeAspect="1"/>
          </p:cNvPicPr>
          <p:nvPr/>
        </p:nvPicPr>
        <p:blipFill>
          <a:blip r:embed="rId9"/>
          <a:stretch>
            <a:fillRect/>
          </a:stretch>
        </p:blipFill>
        <p:spPr>
          <a:xfrm>
            <a:off x="595160" y="1956816"/>
            <a:ext cx="11001375" cy="1128712"/>
          </a:xfrm>
          <a:prstGeom prst="rect">
            <a:avLst/>
          </a:prstGeom>
        </p:spPr>
      </p:pic>
      <p:sp>
        <p:nvSpPr>
          <p:cNvPr id="11" name="Rounded Rectangle 10"/>
          <p:cNvSpPr/>
          <p:nvPr/>
        </p:nvSpPr>
        <p:spPr>
          <a:xfrm>
            <a:off x="530352"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quote_e12f9e1e3c67.png"/>
          <p:cNvPicPr>
            <a:picLocks noChangeAspect="1"/>
          </p:cNvPicPr>
          <p:nvPr/>
        </p:nvPicPr>
        <p:blipFill>
          <a:blip r:embed="rId5"/>
          <a:stretch>
            <a:fillRect/>
          </a:stretch>
        </p:blipFill>
        <p:spPr>
          <a:xfrm>
            <a:off x="841247" y="3542728"/>
            <a:ext cx="237744" cy="237744"/>
          </a:xfrm>
          <a:prstGeom prst="rect">
            <a:avLst/>
          </a:prstGeom>
        </p:spPr>
      </p:pic>
      <p:sp>
        <p:nvSpPr>
          <p:cNvPr id="14" name="TextBox 13"/>
          <p:cNvSpPr txBox="1"/>
          <p:nvPr/>
        </p:nvSpPr>
        <p:spPr>
          <a:xfrm>
            <a:off x="731519"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CLAIM</a:t>
            </a:r>
          </a:p>
        </p:txBody>
      </p:sp>
      <p:sp>
        <p:nvSpPr>
          <p:cNvPr id="15" name="TextBox 14"/>
          <p:cNvSpPr txBox="1"/>
          <p:nvPr/>
        </p:nvSpPr>
        <p:spPr>
          <a:xfrm>
            <a:off x="731519"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One sentence</a:t>
            </a:r>
          </a:p>
        </p:txBody>
      </p:sp>
      <p:sp>
        <p:nvSpPr>
          <p:cNvPr id="16" name="TextBox 15"/>
          <p:cNvSpPr txBox="1"/>
          <p:nvPr/>
        </p:nvSpPr>
        <p:spPr>
          <a:xfrm>
            <a:off x="731519" y="4578540"/>
            <a:ext cx="2243251" cy="763016"/>
          </a:xfrm>
          <a:prstGeom prst="rect">
            <a:avLst/>
          </a:prstGeom>
          <a:noFill/>
        </p:spPr>
        <p:txBody>
          <a:bodyPr wrap="square" anchor="t" lIns="0" rIns="0" tIns="0" bIns="0">
            <a:spAutoFit/>
          </a:bodyPr>
          <a:lstStyle/>
          <a:p>
            <a:pPr algn="l"/>
            <a:r>
              <a:rPr sz="1100" b="0" i="0">
                <a:solidFill>
                  <a:srgbClr val="6B6690"/>
                </a:solidFill>
                <a:latin typeface="Calibri"/>
              </a:rPr>
              <a:t>A COO can repeat it to a board. It names what was counted, out of what, and over which window.</a:t>
            </a:r>
          </a:p>
        </p:txBody>
      </p:sp>
      <p:sp>
        <p:nvSpPr>
          <p:cNvPr id="17" name="Rounded Rectangle 16"/>
          <p:cNvSpPr/>
          <p:nvPr/>
        </p:nvSpPr>
        <p:spPr>
          <a:xfrm>
            <a:off x="3358819"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3559987"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chart-column_a266b7a04479.png"/>
          <p:cNvPicPr>
            <a:picLocks noChangeAspect="1"/>
          </p:cNvPicPr>
          <p:nvPr/>
        </p:nvPicPr>
        <p:blipFill>
          <a:blip r:embed="rId6"/>
          <a:stretch>
            <a:fillRect/>
          </a:stretch>
        </p:blipFill>
        <p:spPr>
          <a:xfrm>
            <a:off x="3669715" y="3542728"/>
            <a:ext cx="237744" cy="237744"/>
          </a:xfrm>
          <a:prstGeom prst="rect">
            <a:avLst/>
          </a:prstGeom>
        </p:spPr>
      </p:pic>
      <p:sp>
        <p:nvSpPr>
          <p:cNvPr id="20" name="TextBox 19"/>
          <p:cNvSpPr txBox="1"/>
          <p:nvPr/>
        </p:nvSpPr>
        <p:spPr>
          <a:xfrm>
            <a:off x="3559987"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EVIDENCE</a:t>
            </a:r>
          </a:p>
        </p:txBody>
      </p:sp>
      <p:sp>
        <p:nvSpPr>
          <p:cNvPr id="21" name="TextBox 20"/>
          <p:cNvSpPr txBox="1"/>
          <p:nvPr/>
        </p:nvSpPr>
        <p:spPr>
          <a:xfrm>
            <a:off x="3559987"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Two numbers at most</a:t>
            </a:r>
          </a:p>
        </p:txBody>
      </p:sp>
      <p:sp>
        <p:nvSpPr>
          <p:cNvPr id="22" name="TextBox 21"/>
          <p:cNvSpPr txBox="1"/>
          <p:nvPr/>
        </p:nvSpPr>
        <p:spPr>
          <a:xfrm>
            <a:off x="3559987"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number and the one it is compared with, each with its count.</a:t>
            </a:r>
          </a:p>
        </p:txBody>
      </p:sp>
      <p:sp>
        <p:nvSpPr>
          <p:cNvPr id="23" name="Rounded Rectangle 22"/>
          <p:cNvSpPr/>
          <p:nvPr/>
        </p:nvSpPr>
        <p:spPr>
          <a:xfrm>
            <a:off x="6187287"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388455"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triangle-alert_5ac49fc6abbb.png"/>
          <p:cNvPicPr>
            <a:picLocks noChangeAspect="1"/>
          </p:cNvPicPr>
          <p:nvPr/>
        </p:nvPicPr>
        <p:blipFill>
          <a:blip r:embed="rId7"/>
          <a:stretch>
            <a:fillRect/>
          </a:stretch>
        </p:blipFill>
        <p:spPr>
          <a:xfrm>
            <a:off x="6498183" y="3542728"/>
            <a:ext cx="237744" cy="237744"/>
          </a:xfrm>
          <a:prstGeom prst="rect">
            <a:avLst/>
          </a:prstGeom>
        </p:spPr>
      </p:pic>
      <p:sp>
        <p:nvSpPr>
          <p:cNvPr id="26" name="TextBox 25"/>
          <p:cNvSpPr txBox="1"/>
          <p:nvPr/>
        </p:nvSpPr>
        <p:spPr>
          <a:xfrm>
            <a:off x="6388455"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CAVEAT</a:t>
            </a:r>
          </a:p>
        </p:txBody>
      </p:sp>
      <p:sp>
        <p:nvSpPr>
          <p:cNvPr id="27" name="TextBox 26"/>
          <p:cNvSpPr txBox="1"/>
          <p:nvPr/>
        </p:nvSpPr>
        <p:spPr>
          <a:xfrm>
            <a:off x="6388455"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What would change it</a:t>
            </a:r>
          </a:p>
        </p:txBody>
      </p:sp>
      <p:sp>
        <p:nvSpPr>
          <p:cNvPr id="28" name="TextBox 27"/>
          <p:cNvSpPr txBox="1"/>
          <p:nvPr/>
        </p:nvSpPr>
        <p:spPr>
          <a:xfrm>
            <a:off x="6388455"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one fact that, if it turned out otherwise, would change the claim.</a:t>
            </a:r>
          </a:p>
        </p:txBody>
      </p:sp>
      <p:sp>
        <p:nvSpPr>
          <p:cNvPr id="29" name="Rounded Rectangle 28"/>
          <p:cNvSpPr/>
          <p:nvPr/>
        </p:nvSpPr>
        <p:spPr>
          <a:xfrm>
            <a:off x="9015755" y="3231832"/>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9216923" y="34330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arrow-right_5cc4b632d741.png"/>
          <p:cNvPicPr>
            <a:picLocks noChangeAspect="1"/>
          </p:cNvPicPr>
          <p:nvPr/>
        </p:nvPicPr>
        <p:blipFill>
          <a:blip r:embed="rId8"/>
          <a:stretch>
            <a:fillRect/>
          </a:stretch>
        </p:blipFill>
        <p:spPr>
          <a:xfrm>
            <a:off x="9326651" y="3542728"/>
            <a:ext cx="237744" cy="237744"/>
          </a:xfrm>
          <a:prstGeom prst="rect">
            <a:avLst/>
          </a:prstGeom>
        </p:spPr>
      </p:pic>
      <p:sp>
        <p:nvSpPr>
          <p:cNvPr id="32" name="TextBox 31"/>
          <p:cNvSpPr txBox="1"/>
          <p:nvPr/>
        </p:nvSpPr>
        <p:spPr>
          <a:xfrm>
            <a:off x="9216923" y="3999928"/>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ACTION</a:t>
            </a:r>
          </a:p>
        </p:txBody>
      </p:sp>
      <p:sp>
        <p:nvSpPr>
          <p:cNvPr id="33" name="TextBox 32"/>
          <p:cNvSpPr txBox="1"/>
          <p:nvPr/>
        </p:nvSpPr>
        <p:spPr>
          <a:xfrm>
            <a:off x="9216923" y="4237672"/>
            <a:ext cx="2243251" cy="267716"/>
          </a:xfrm>
          <a:prstGeom prst="rect">
            <a:avLst/>
          </a:prstGeom>
          <a:noFill/>
        </p:spPr>
        <p:txBody>
          <a:bodyPr wrap="square" anchor="t" lIns="0" rIns="0" tIns="0" bIns="0">
            <a:spAutoFit/>
          </a:bodyPr>
          <a:lstStyle/>
          <a:p>
            <a:pPr algn="l"/>
            <a:r>
              <a:rPr sz="1400" b="1" i="0">
                <a:solidFill>
                  <a:srgbClr val="FFFFFF"/>
                </a:solidFill>
                <a:latin typeface="Calibri"/>
              </a:rPr>
              <a:t>Monday's move</a:t>
            </a:r>
          </a:p>
        </p:txBody>
      </p:sp>
      <p:sp>
        <p:nvSpPr>
          <p:cNvPr id="34" name="TextBox 33"/>
          <p:cNvSpPr txBox="1"/>
          <p:nvPr/>
        </p:nvSpPr>
        <p:spPr>
          <a:xfrm>
            <a:off x="9216923" y="4578540"/>
            <a:ext cx="2243251" cy="399796"/>
          </a:xfrm>
          <a:prstGeom prst="rect">
            <a:avLst/>
          </a:prstGeom>
          <a:noFill/>
        </p:spPr>
        <p:txBody>
          <a:bodyPr wrap="square" anchor="t" lIns="0" rIns="0" tIns="0" bIns="0">
            <a:spAutoFit/>
          </a:bodyPr>
          <a:lstStyle/>
          <a:p>
            <a:pPr algn="l"/>
            <a:r>
              <a:rPr sz="1100" b="0" i="0">
                <a:solidFill>
                  <a:srgbClr val="CFC9EE"/>
                </a:solidFill>
                <a:latin typeface="Calibri"/>
              </a:rPr>
              <a:t>Who does what, by when, and what doing it or waiting costs.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11 / 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claim carries a number, a denominator and a period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one sentence carry before a board can repeat it?</a:t>
            </a:r>
          </a:p>
        </p:txBody>
      </p:sp>
      <p:sp>
        <p:nvSpPr>
          <p:cNvPr id="10" name="Rounded Rectangle 9"/>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[What you counted] [rose or fell] [by how much],</a:t>
            </a:r>
          </a:p>
          <a:p>
            <a:pPr>
              <a:spcAft>
                <a:spcPts val="200"/>
              </a:spcAft>
            </a:pPr>
            <a:r>
              <a:rPr sz="1400" b="0" i="0">
                <a:solidFill>
                  <a:srgbClr val="E4E1F1"/>
                </a:solidFill>
                <a:latin typeface="Consolas"/>
              </a:rPr>
              <a:t>  from [period] to [period], out of [its denominator];</a:t>
            </a:r>
          </a:p>
          <a:p>
            <a:pPr>
              <a:spcAft>
                <a:spcPts val="200"/>
              </a:spcAft>
            </a:pPr>
            <a:r>
              <a:rPr sz="1400" b="0" i="0">
                <a:solidFill>
                  <a:srgbClr val="E4E1F1"/>
                </a:solidFill>
                <a:latin typeface="Consolas"/>
              </a:rPr>
              <a:t>  [the fact that would change it];</a:t>
            </a:r>
          </a:p>
          <a:p>
            <a:pPr>
              <a:spcAft>
                <a:spcPts val="200"/>
              </a:spcAft>
            </a:pPr>
            <a:r>
              <a:rPr sz="1400" b="0" i="0">
                <a:solidFill>
                  <a:srgbClr val="E4E1F1"/>
                </a:solidFill>
                <a:latin typeface="Consolas"/>
              </a:rPr>
              <a:t>  so [who] [does what] [by when].</a:t>
            </a:r>
          </a:p>
        </p:txBody>
      </p:sp>
      <p:graphicFrame>
        <p:nvGraphicFramePr>
          <p:cNvPr id="15" name="Table 14"/>
          <p:cNvGraphicFramePr>
            <a:graphicFrameLocks noGrp="1"/>
          </p:cNvGraphicFramePr>
          <p:nvPr/>
        </p:nvGraphicFramePr>
        <p:xfrm>
          <a:off x="530352" y="3588512"/>
          <a:ext cx="11130989" cy="2218944"/>
        </p:xfrm>
        <a:graphic>
          <a:graphicData uri="http://schemas.openxmlformats.org/drawingml/2006/table">
            <a:tbl>
              <a:tblPr firstRow="0" bandRow="0">
                <a:tableStyleId>{2D5ABB26-0587-4C30-8999-92F81FD0307C}</a:tableStyleId>
              </a:tblPr>
              <a:tblGrid>
                <a:gridCol w="3561192"/>
                <a:gridCol w="3146920"/>
                <a:gridCol w="4422877"/>
              </a:tblGrid>
              <a:tr h="369824">
                <a:tc>
                  <a:txBody>
                    <a:bodyPr/>
                    <a:lstStyle/>
                    <a:p>
                      <a:r>
                        <a:rPr sz="1450" b="1" i="0">
                          <a:solidFill>
                            <a:srgbClr val="FFFFFF"/>
                          </a:solidFill>
                          <a:latin typeface="Calibri"/>
                        </a:rPr>
                        <a:t>Slot in the sentence</a:t>
                      </a:r>
                    </a:p>
                  </a:txBody>
                  <a:tcPr marL="101600" marR="101600" marT="38100" marB="38100" anchor="ctr">
                    <a:solidFill>
                      <a:srgbClr val="1A0F5C"/>
                    </a:solidFill>
                  </a:tcPr>
                </a:tc>
                <a:tc>
                  <a:txBody>
                    <a:bodyPr/>
                    <a:lstStyle/>
                    <a:p>
                      <a:r>
                        <a:rPr sz="1450" b="1" i="0">
                          <a:solidFill>
                            <a:srgbClr val="FFFFFF"/>
                          </a:solidFill>
                          <a:latin typeface="Calibri"/>
                        </a:rPr>
                        <a:t>The rubric's words for it</a:t>
                      </a:r>
                    </a:p>
                  </a:txBody>
                  <a:tcPr marL="101600" marR="101600" marT="38100" marB="38100" anchor="ctr">
                    <a:solidFill>
                      <a:srgbClr val="1A0F5C"/>
                    </a:solidFill>
                  </a:tcPr>
                </a:tc>
                <a:tc>
                  <a:txBody>
                    <a:bodyPr/>
                    <a:lstStyle/>
                    <a:p>
                      <a:r>
                        <a:rPr sz="1450" b="1" i="0">
                          <a:solidFill>
                            <a:srgbClr val="FFFFFF"/>
                          </a:solidFill>
                          <a:latin typeface="Calibri"/>
                        </a:rPr>
                        <a:t>What a panel asks when it is missing</a:t>
                      </a:r>
                    </a:p>
                  </a:txBody>
                  <a:tcPr marL="101600" marR="101600" marT="38100" marB="38100" anchor="ctr">
                    <a:solidFill>
                      <a:srgbClr val="1A0F5C"/>
                    </a:solidFill>
                  </a:tcPr>
                </a:tc>
              </a:tr>
              <a:tr h="369824">
                <a:tc>
                  <a:txBody>
                    <a:bodyPr/>
                    <a:lstStyle/>
                    <a:p>
                      <a:r>
                        <a:rPr sz="1400" b="0" i="0">
                          <a:solidFill>
                            <a:srgbClr val="1A1440"/>
                          </a:solidFill>
                          <a:latin typeface="Calibri"/>
                        </a:rPr>
                        <a:t>The number, and what was counted</a:t>
                      </a:r>
                    </a:p>
                  </a:txBody>
                  <a:tcPr marL="101600" marR="101600" marT="38100" marB="38100" anchor="ctr">
                    <a:solidFill>
                      <a:srgbClr val="FFFFFF"/>
                    </a:solidFill>
                  </a:tcPr>
                </a:tc>
                <a:tc>
                  <a:txBody>
                    <a:bodyPr/>
                    <a:lstStyle/>
                    <a:p>
                      <a:r>
                        <a:rPr sz="1400" b="0" i="0">
                          <a:solidFill>
                            <a:srgbClr val="1A1440"/>
                          </a:solidFill>
                          <a:latin typeface="Calibri"/>
                        </a:rPr>
                        <a:t>Its number</a:t>
                      </a:r>
                    </a:p>
                  </a:txBody>
                  <a:tcPr marL="101600" marR="101600" marT="38100" marB="38100" anchor="ctr">
                    <a:solidFill>
                      <a:srgbClr val="FFFFFF"/>
                    </a:solidFill>
                  </a:tcPr>
                </a:tc>
                <a:tc>
                  <a:txBody>
                    <a:bodyPr/>
                    <a:lstStyle/>
                    <a:p>
                      <a:r>
                        <a:rPr sz="1400" b="0" i="0">
                          <a:solidFill>
                            <a:srgbClr val="1A1440"/>
                          </a:solidFill>
                          <a:latin typeface="Calibri"/>
                        </a:rPr>
                        <a:t>"Counted how?"</a:t>
                      </a:r>
                    </a:p>
                  </a:txBody>
                  <a:tcPr marL="101600" marR="101600" marT="38100" marB="38100" anchor="ctr">
                    <a:solidFill>
                      <a:srgbClr val="FFFFFF"/>
                    </a:solidFill>
                  </a:tcPr>
                </a:tc>
              </a:tr>
              <a:tr h="369824">
                <a:tc>
                  <a:txBody>
                    <a:bodyPr/>
                    <a:lstStyle/>
                    <a:p>
                      <a:r>
                        <a:rPr sz="1400" b="0" i="0">
                          <a:solidFill>
                            <a:srgbClr val="1A1440"/>
                          </a:solidFill>
                          <a:latin typeface="Calibri"/>
                        </a:rPr>
                        <a:t>Out of what</a:t>
                      </a:r>
                    </a:p>
                  </a:txBody>
                  <a:tcPr marL="101600" marR="101600" marT="38100" marB="38100" anchor="ctr">
                    <a:solidFill>
                      <a:srgbClr val="F4F2FA"/>
                    </a:solidFill>
                  </a:tcPr>
                </a:tc>
                <a:tc>
                  <a:txBody>
                    <a:bodyPr/>
                    <a:lstStyle/>
                    <a:p>
                      <a:r>
                        <a:rPr sz="1400" b="0" i="0">
                          <a:solidFill>
                            <a:srgbClr val="1A1440"/>
                          </a:solidFill>
                          <a:latin typeface="Calibri"/>
                        </a:rPr>
                        <a:t>Its denominator</a:t>
                      </a:r>
                    </a:p>
                  </a:txBody>
                  <a:tcPr marL="101600" marR="101600" marT="38100" marB="38100" anchor="ctr">
                    <a:solidFill>
                      <a:srgbClr val="F4F2FA"/>
                    </a:solidFill>
                  </a:tcPr>
                </a:tc>
                <a:tc>
                  <a:txBody>
                    <a:bodyPr/>
                    <a:lstStyle/>
                    <a:p>
                      <a:r>
                        <a:rPr sz="1400" b="0" i="0">
                          <a:solidFill>
                            <a:srgbClr val="1A1440"/>
                          </a:solidFill>
                          <a:latin typeface="Calibri"/>
                        </a:rPr>
                        <a:t>"Per what?"</a:t>
                      </a:r>
                    </a:p>
                  </a:txBody>
                  <a:tcPr marL="101600" marR="101600" marT="38100" marB="38100" anchor="ctr">
                    <a:solidFill>
                      <a:srgbClr val="F4F2FA"/>
                    </a:solidFill>
                  </a:tcPr>
                </a:tc>
              </a:tr>
              <a:tr h="369824">
                <a:tc>
                  <a:txBody>
                    <a:bodyPr/>
                    <a:lstStyle/>
                    <a:p>
                      <a:r>
                        <a:rPr sz="1400" b="0" i="0">
                          <a:solidFill>
                            <a:srgbClr val="1A1440"/>
                          </a:solidFill>
                          <a:latin typeface="Calibri"/>
                        </a:rPr>
                        <a:t>From when to when</a:t>
                      </a:r>
                    </a:p>
                  </a:txBody>
                  <a:tcPr marL="101600" marR="101600" marT="38100" marB="38100" anchor="ctr">
                    <a:solidFill>
                      <a:srgbClr val="FFFFFF"/>
                    </a:solidFill>
                  </a:tcPr>
                </a:tc>
                <a:tc>
                  <a:txBody>
                    <a:bodyPr/>
                    <a:lstStyle/>
                    <a:p>
                      <a:r>
                        <a:rPr sz="1400" b="0" i="0">
                          <a:solidFill>
                            <a:srgbClr val="1A1440"/>
                          </a:solidFill>
                          <a:latin typeface="Calibri"/>
                        </a:rPr>
                        <a:t>Its period</a:t>
                      </a:r>
                    </a:p>
                  </a:txBody>
                  <a:tcPr marL="101600" marR="101600" marT="38100" marB="38100" anchor="ctr">
                    <a:solidFill>
                      <a:srgbClr val="FFFFFF"/>
                    </a:solidFill>
                  </a:tcPr>
                </a:tc>
                <a:tc>
                  <a:txBody>
                    <a:bodyPr/>
                    <a:lstStyle/>
                    <a:p>
                      <a:r>
                        <a:rPr sz="1400" b="0" i="0">
                          <a:solidFill>
                            <a:srgbClr val="1A1440"/>
                          </a:solidFill>
                          <a:latin typeface="Calibri"/>
                        </a:rPr>
                        <a:t>"Over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What would change it</a:t>
                      </a:r>
                    </a:p>
                  </a:txBody>
                  <a:tcPr marL="101600" marR="101600" marT="38100" marB="38100" anchor="ctr">
                    <a:solidFill>
                      <a:srgbClr val="F4F2FA"/>
                    </a:solidFill>
                  </a:tcPr>
                </a:tc>
                <a:tc>
                  <a:txBody>
                    <a:bodyPr/>
                    <a:lstStyle/>
                    <a:p>
                      <a:r>
                        <a:rPr sz="1400" b="0" i="0">
                          <a:solidFill>
                            <a:srgbClr val="1A1440"/>
                          </a:solidFill>
                          <a:latin typeface="Calibri"/>
                        </a:rPr>
                        <a:t>Its caveat</a:t>
                      </a:r>
                    </a:p>
                  </a:txBody>
                  <a:tcPr marL="101600" marR="101600" marT="38100" marB="38100" anchor="ctr">
                    <a:solidFill>
                      <a:srgbClr val="F4F2FA"/>
                    </a:solidFill>
                  </a:tcPr>
                </a:tc>
                <a:tc>
                  <a:txBody>
                    <a:bodyPr/>
                    <a:lstStyle/>
                    <a:p>
                      <a:r>
                        <a:rPr sz="1400" b="0" i="0">
                          <a:solidFill>
                            <a:srgbClr val="1A1440"/>
                          </a:solidFill>
                          <a:latin typeface="Calibri"/>
                        </a:rPr>
                        <a:t>"And if that is wrong?"</a:t>
                      </a:r>
                    </a:p>
                  </a:txBody>
                  <a:tcPr marL="101600" marR="101600" marT="38100" marB="38100" anchor="ctr">
                    <a:solidFill>
                      <a:srgbClr val="F4F2FA"/>
                    </a:solidFill>
                  </a:tcPr>
                </a:tc>
              </a:tr>
              <a:tr h="369824">
                <a:tc>
                  <a:txBody>
                    <a:bodyPr/>
                    <a:lstStyle/>
                    <a:p>
                      <a:r>
                        <a:rPr sz="1400" b="0" i="0">
                          <a:solidFill>
                            <a:srgbClr val="1A1440"/>
                          </a:solidFill>
                          <a:latin typeface="Calibri"/>
                        </a:rPr>
                        <a:t>Who does what next</a:t>
                      </a:r>
                    </a:p>
                  </a:txBody>
                  <a:tcPr marL="101600" marR="101600" marT="38100" marB="38100" anchor="ctr">
                    <a:solidFill>
                      <a:srgbClr val="FFFFFF"/>
                    </a:solidFill>
                  </a:tcPr>
                </a:tc>
                <a:tc>
                  <a:txBody>
                    <a:bodyPr/>
                    <a:lstStyle/>
                    <a:p>
                      <a:r>
                        <a:rPr sz="1400" b="0" i="0">
                          <a:solidFill>
                            <a:srgbClr val="1A1440"/>
                          </a:solidFill>
                          <a:latin typeface="Calibri"/>
                        </a:rPr>
                        <a:t>An action Dr Menon can take</a:t>
                      </a:r>
                    </a:p>
                  </a:txBody>
                  <a:tcPr marL="101600" marR="101600" marT="38100" marB="38100" anchor="ctr">
                    <a:solidFill>
                      <a:srgbClr val="FFFFFF"/>
                    </a:solidFill>
                  </a:tcPr>
                </a:tc>
                <a:tc>
                  <a:txBody>
                    <a:bodyPr/>
                    <a:lstStyle/>
                    <a:p>
                      <a:r>
                        <a:rPr sz="1400" b="0" i="0">
                          <a:solidFill>
                            <a:srgbClr val="1A1440"/>
                          </a:solidFill>
                          <a:latin typeface="Calibri"/>
                        </a:rPr>
                        <a:t>"So what do I do?"</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12 / 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states its growth as a count and a rate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listed US laboratory state a quarter's growth, with its denominator?</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10.2%</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REVENUES, Q2 2026 ON 2025</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$3.04 billion in the quarter</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13.1%</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REQUISITIONS</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doctors' orders for tests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LESS REVENUE PER REQUISITION</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rate: dollars per order</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Quest Diagnostics told its second quarter of 2026 as a count and a rate, so a reader sees that volume grew faster than revenue because each order brought in less (Quest's second-quarter 2026 results, 23 July 2026).</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sentence can Dr Menon carry?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sentences, on one invented quarter at a Kalpa Health laboratory, can a board repeat?</a:t>
            </a:r>
          </a:p>
        </p:txBody>
      </p:sp>
      <p:sp>
        <p:nvSpPr>
          <p:cNvPr id="10" name="Rounded Rectangle 9"/>
          <p:cNvSpPr/>
          <p:nvPr/>
        </p:nvSpPr>
        <p:spPr>
          <a:xfrm>
            <a:off x="530352" y="194183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6984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6070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lab director's invented quarter: median turnaround, from draw to released result, 22 hours in Q2 and 18 in Q3 on 9,400 tests, and 14 in Q3 when timed from the sample's arrival at the lab. Which sentence can Dr Menon carry? Answer as a letter.</a:t>
            </a:r>
          </a:p>
        </p:txBody>
      </p:sp>
      <p:sp>
        <p:nvSpPr>
          <p:cNvPr id="13" name="TextBox 12"/>
          <p:cNvSpPr txBox="1"/>
          <p:nvPr/>
        </p:nvSpPr>
        <p:spPr>
          <a:xfrm>
            <a:off x="530352" y="3180842"/>
            <a:ext cx="11130991" cy="275945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Turnaround improved sharply across the laboratory in Q3, and the lab director's team deserves the credit for it.</a:t>
            </a:r>
          </a:p>
          <a:p>
            <a:pPr>
              <a:spcAft>
                <a:spcPts val="800"/>
              </a:spcAft>
            </a:pPr>
            <a:r>
              <a:rPr sz="1600" b="0" i="0">
                <a:solidFill>
                  <a:srgbClr val="1A1440"/>
                </a:solidFill>
                <a:latin typeface="Calibri"/>
              </a:rPr>
              <a:t>b) Median draw-to-result time fell from 22 to 18 hours, Q2 to Q3, on 9,400 tests, courier included; keep the evening run.</a:t>
            </a:r>
          </a:p>
          <a:p>
            <a:pPr>
              <a:spcAft>
                <a:spcPts val="800"/>
              </a:spcAft>
            </a:pPr>
            <a:r>
              <a:rPr sz="1600" b="0" i="0">
                <a:solidFill>
                  <a:srgbClr val="1A1440"/>
                </a:solidFill>
                <a:latin typeface="Calibri"/>
              </a:rPr>
              <a:t>c) Our turnaround analysis shows promising signs which may possibly point to faster results for doctors in coming quarters.</a:t>
            </a:r>
          </a:p>
          <a:p>
            <a:pPr>
              <a:spcAft>
                <a:spcPts val="800"/>
              </a:spcAft>
            </a:pPr>
            <a:r>
              <a:rPr sz="1600" b="0" i="0">
                <a:solidFill>
                  <a:srgbClr val="1A1440"/>
                </a:solidFill>
                <a:latin typeface="Calibri"/>
              </a:rPr>
              <a:t>d) Turnaround is down to 18 hours in Q3, so the evening courier run can stop from Q4 and its whole cost can be saved.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b, the one sentence with all five parts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can Dr Menon carry, and why does each other one fail?</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 verdict with no number, no denominator and no window; a board member's first question breaks it</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Holds: the measure, the window, the count, what the number includes, and an action</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Hedges every word, so nobody can act on it and nobody can disagree with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An action with no evidence and no caveat, and it cuts the courier run whose hours sit inside the 18</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Read your claim aloud and ask what you counted, out of what, over which window, and what would change it; if any is missing, the panel will ask for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caveat names the fact that would change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caveat from a disclaimer that protects nobody?</a:t>
            </a:r>
          </a:p>
        </p:txBody>
      </p:sp>
      <p:graphicFrame>
        <p:nvGraphicFramePr>
          <p:cNvPr id="10" name="Table 9"/>
          <p:cNvGraphicFramePr>
            <a:graphicFrameLocks noGrp="1"/>
          </p:cNvGraphicFramePr>
          <p:nvPr/>
        </p:nvGraphicFramePr>
        <p:xfrm>
          <a:off x="530352" y="1956816"/>
          <a:ext cx="11130990" cy="1243584"/>
        </p:xfrm>
        <a:graphic>
          <a:graphicData uri="http://schemas.openxmlformats.org/drawingml/2006/table">
            <a:tbl>
              <a:tblPr firstRow="0" bandRow="0">
                <a:tableStyleId>{2D5ABB26-0587-4C30-8999-92F81FD0307C}</a:tableStyleId>
              </a:tblPr>
              <a:tblGrid>
                <a:gridCol w="4251807"/>
                <a:gridCol w="6879183"/>
              </a:tblGrid>
              <a:tr h="310896">
                <a:tc>
                  <a:txBody>
                    <a:bodyPr/>
                    <a:lstStyle/>
                    <a:p>
                      <a:r>
                        <a:rPr sz="1050" b="1" i="0">
                          <a:solidFill>
                            <a:srgbClr val="FFFFFF"/>
                          </a:solidFill>
                          <a:latin typeface="Calibri"/>
                        </a:rPr>
                        <a:t>A disclaimer</a:t>
                      </a:r>
                    </a:p>
                  </a:txBody>
                  <a:tcPr marL="101600" marR="101600" marT="38100" marB="38100" anchor="ctr">
                    <a:solidFill>
                      <a:srgbClr val="1A0F5C"/>
                    </a:solidFill>
                  </a:tcPr>
                </a:tc>
                <a:tc>
                  <a:txBody>
                    <a:bodyPr/>
                    <a:lstStyle/>
                    <a:p>
                      <a:r>
                        <a:rPr sz="1050" b="1" i="0">
                          <a:solidFill>
                            <a:srgbClr val="FFFFFF"/>
                          </a:solidFill>
                          <a:latin typeface="Calibri"/>
                        </a:rPr>
                        <a:t>A caveat, on the invented turnaround quarter</a:t>
                      </a:r>
                    </a:p>
                  </a:txBody>
                  <a:tcPr marL="101600" marR="101600" marT="38100" marB="38100" anchor="ctr">
                    <a:solidFill>
                      <a:srgbClr val="1A0F5C"/>
                    </a:solidFill>
                  </a:tcPr>
                </a:tc>
              </a:tr>
              <a:tr h="310896">
                <a:tc>
                  <a:txBody>
                    <a:bodyPr/>
                    <a:lstStyle/>
                    <a:p>
                      <a:r>
                        <a:rPr sz="1000" b="0" i="0">
                          <a:solidFill>
                            <a:srgbClr val="1A1440"/>
                          </a:solidFill>
                          <a:latin typeface="Calibri"/>
                        </a:rPr>
                        <a:t>"The data may have quality issues."</a:t>
                      </a:r>
                    </a:p>
                  </a:txBody>
                  <a:tcPr marL="101600" marR="101600" marT="38100" marB="38100" anchor="ctr">
                    <a:solidFill>
                      <a:srgbClr val="FFFFFF"/>
                    </a:solidFill>
                  </a:tcPr>
                </a:tc>
                <a:tc>
                  <a:txBody>
                    <a:bodyPr/>
                    <a:lstStyle/>
                    <a:p>
                      <a:r>
                        <a:rPr sz="1000" b="0" i="0">
                          <a:solidFill>
                            <a:srgbClr val="1A1440"/>
                          </a:solidFill>
                          <a:latin typeface="Calibri"/>
                        </a:rPr>
                        <a:t>"If the lab's clock and the draw site's clock disagree by an hour, the fall is 3 hours, not 4."</a:t>
                      </a:r>
                    </a:p>
                  </a:txBody>
                  <a:tcPr marL="101600" marR="101600" marT="38100" marB="38100" anchor="ctr">
                    <a:solidFill>
                      <a:srgbClr val="FFFFFF"/>
                    </a:solidFill>
                  </a:tcPr>
                </a:tc>
              </a:tr>
              <a:tr h="310896">
                <a:tc>
                  <a:txBody>
                    <a:bodyPr/>
                    <a:lstStyle/>
                    <a:p>
                      <a:r>
                        <a:rPr sz="1000" b="0" i="0">
                          <a:solidFill>
                            <a:srgbClr val="1A1440"/>
                          </a:solidFill>
                          <a:latin typeface="Calibri"/>
                        </a:rPr>
                        <a:t>"Results may vary."</a:t>
                      </a:r>
                    </a:p>
                  </a:txBody>
                  <a:tcPr marL="101600" marR="101600" marT="38100" marB="38100" anchor="ctr">
                    <a:solidFill>
                      <a:srgbClr val="F4F2FA"/>
                    </a:solidFill>
                  </a:tcPr>
                </a:tc>
                <a:tc>
                  <a:txBody>
                    <a:bodyPr/>
                    <a:lstStyle/>
                    <a:p>
                      <a:r>
                        <a:rPr sz="1000" b="0" i="0">
                          <a:solidFill>
                            <a:srgbClr val="1A1440"/>
                          </a:solidFill>
                          <a:latin typeface="Calibri"/>
                        </a:rPr>
                        <a:t>"Timed from arrival at the lab, Q3 reads 14 hours, so most of the gain could be the courier's."</a:t>
                      </a:r>
                    </a:p>
                  </a:txBody>
                  <a:tcPr marL="101600" marR="101600" marT="38100" marB="38100" anchor="ctr">
                    <a:solidFill>
                      <a:srgbClr val="F4F2FA"/>
                    </a:solidFill>
                  </a:tcPr>
                </a:tc>
              </a:tr>
              <a:tr h="310896">
                <a:tc>
                  <a:txBody>
                    <a:bodyPr/>
                    <a:lstStyle/>
                    <a:p>
                      <a:r>
                        <a:rPr sz="1000" b="0" i="0">
                          <a:solidFill>
                            <a:srgbClr val="1A1440"/>
                          </a:solidFill>
                          <a:latin typeface="Calibri"/>
                        </a:rPr>
                        <a:t>"Further analysis is needed."</a:t>
                      </a:r>
                    </a:p>
                  </a:txBody>
                  <a:tcPr marL="101600" marR="101600" marT="38100" marB="38100" anchor="ctr">
                    <a:solidFill>
                      <a:srgbClr val="FFFFFF"/>
                    </a:solidFill>
                  </a:tcPr>
                </a:tc>
                <a:tc>
                  <a:txBody>
                    <a:bodyPr/>
                    <a:lstStyle/>
                    <a:p>
                      <a:r>
                        <a:rPr sz="1000" b="0" i="0">
                          <a:solidFill>
                            <a:srgbClr val="1A1440"/>
                          </a:solidFill>
                          <a:latin typeface="Calibri"/>
                        </a:rPr>
                        <a:t>"One quarter of 9,400 tests; a second quarter at 18 or below would settle it."</a:t>
                      </a:r>
                    </a:p>
                  </a:txBody>
                  <a:tcPr marL="101600" marR="101600" marT="38100" marB="38100" anchor="ctr">
                    <a:solidFill>
                      <a:srgbClr val="FFFFFF"/>
                    </a:solidFill>
                  </a:tcPr>
                </a:tc>
              </a:tr>
            </a:tbl>
          </a:graphicData>
        </a:graphic>
      </p:graphicFrame>
      <p:pic>
        <p:nvPicPr>
          <p:cNvPr id="11" name="mermaid diagram" descr="c167dd73de337000.png"/>
          <p:cNvPicPr>
            <a:picLocks noChangeAspect="1"/>
          </p:cNvPicPr>
          <p:nvPr/>
        </p:nvPicPr>
        <p:blipFill>
          <a:blip r:embed="rId5"/>
          <a:stretch>
            <a:fillRect/>
          </a:stretch>
        </p:blipFill>
        <p:spPr>
          <a:xfrm>
            <a:off x="2195360" y="3456432"/>
            <a:ext cx="78009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action names who does what, by when, at what cost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an action one Dr Menon can take on Monday?</a:t>
            </a:r>
          </a:p>
        </p:txBody>
      </p:sp>
      <p:graphicFrame>
        <p:nvGraphicFramePr>
          <p:cNvPr id="10" name="Table 9"/>
          <p:cNvGraphicFramePr>
            <a:graphicFrameLocks noGrp="1"/>
          </p:cNvGraphicFramePr>
          <p:nvPr/>
        </p:nvGraphicFramePr>
        <p:xfrm>
          <a:off x="530352" y="1956816"/>
          <a:ext cx="11130990" cy="1462024"/>
        </p:xfrm>
        <a:graphic>
          <a:graphicData uri="http://schemas.openxmlformats.org/drawingml/2006/table">
            <a:tbl>
              <a:tblPr firstRow="0" bandRow="0">
                <a:tableStyleId>{2D5ABB26-0587-4C30-8999-92F81FD0307C}</a:tableStyleId>
              </a:tblPr>
              <a:tblGrid>
                <a:gridCol w="3802540"/>
                <a:gridCol w="7328450"/>
              </a:tblGrid>
              <a:tr h="318008">
                <a:tc>
                  <a:txBody>
                    <a:bodyPr/>
                    <a:lstStyle/>
                    <a:p>
                      <a:r>
                        <a:rPr sz="1150" b="1" i="0">
                          <a:solidFill>
                            <a:srgbClr val="FFFFFF"/>
                          </a:solidFill>
                          <a:latin typeface="Calibri"/>
                        </a:rPr>
                        <a:t>An action nobody can take</a:t>
                      </a:r>
                    </a:p>
                  </a:txBody>
                  <a:tcPr marL="101600" marR="101600" marT="38100" marB="38100" anchor="ctr">
                    <a:solidFill>
                      <a:srgbClr val="1A0F5C"/>
                    </a:solidFill>
                  </a:tcPr>
                </a:tc>
                <a:tc>
                  <a:txBody>
                    <a:bodyPr/>
                    <a:lstStyle/>
                    <a:p>
                      <a:r>
                        <a:rPr sz="1150" b="1" i="0">
                          <a:solidFill>
                            <a:srgbClr val="FFFFFF"/>
                          </a:solidFill>
                          <a:latin typeface="Calibri"/>
                        </a:rPr>
                        <a:t>An action Dr Menon can take</a:t>
                      </a:r>
                    </a:p>
                  </a:txBody>
                  <a:tcPr marL="101600" marR="101600" marT="38100" marB="38100" anchor="ctr">
                    <a:solidFill>
                      <a:srgbClr val="1A0F5C"/>
                    </a:solidFill>
                  </a:tcPr>
                </a:tc>
              </a:tr>
              <a:tr h="508000">
                <a:tc>
                  <a:txBody>
                    <a:bodyPr/>
                    <a:lstStyle/>
                    <a:p>
                      <a:r>
                        <a:rPr sz="1100" b="0" i="0">
                          <a:solidFill>
                            <a:srgbClr val="1A1440"/>
                          </a:solidFill>
                          <a:latin typeface="Calibri"/>
                        </a:rPr>
                        <a:t>"Improve turnaround further."</a:t>
                      </a:r>
                    </a:p>
                  </a:txBody>
                  <a:tcPr marL="101600" marR="101600" marT="38100" marB="38100" anchor="ctr">
                    <a:solidFill>
                      <a:srgbClr val="FFFFFF"/>
                    </a:solidFill>
                  </a:tcPr>
                </a:tc>
                <a:tc>
                  <a:txBody>
                    <a:bodyPr/>
                    <a:lstStyle/>
                    <a:p>
                      <a:r>
                        <a:rPr sz="1100" b="0" i="0">
                          <a:solidFill>
                            <a:srgbClr val="1A1440"/>
                          </a:solidFill>
                          <a:latin typeface="Calibri"/>
                        </a:rPr>
                        <a:t>"The lab director keeps the evening courier run through Q4 and reports turnaround from draw again in January."</a:t>
                      </a:r>
                    </a:p>
                  </a:txBody>
                  <a:tcPr marL="101600" marR="101600" marT="38100" marB="38100" anchor="ctr">
                    <a:solidFill>
                      <a:srgbClr val="FFFFFF"/>
                    </a:solidFill>
                  </a:tcPr>
                </a:tc>
              </a:tr>
              <a:tr h="318008">
                <a:tc>
                  <a:txBody>
                    <a:bodyPr/>
                    <a:lstStyle/>
                    <a:p>
                      <a:r>
                        <a:rPr sz="1100" b="0" i="0">
                          <a:solidFill>
                            <a:srgbClr val="1A1440"/>
                          </a:solidFill>
                          <a:latin typeface="Calibri"/>
                        </a:rPr>
                        <a:t>"Investigate the courier."</a:t>
                      </a:r>
                    </a:p>
                  </a:txBody>
                  <a:tcPr marL="101600" marR="101600" marT="38100" marB="38100" anchor="ctr">
                    <a:solidFill>
                      <a:srgbClr val="F4F2FA"/>
                    </a:solidFill>
                  </a:tcPr>
                </a:tc>
                <a:tc>
                  <a:txBody>
                    <a:bodyPr/>
                    <a:lstStyle/>
                    <a:p>
                      <a:r>
                        <a:rPr sz="1100" b="0" i="0">
                          <a:solidFill>
                            <a:srgbClr val="1A1440"/>
                          </a:solidFill>
                          <a:latin typeface="Calibri"/>
                        </a:rPr>
                        <a:t>"Time 200 samples by hand at the draw site and at the lab next week, at two staff days."</a:t>
                      </a:r>
                    </a:p>
                  </a:txBody>
                  <a:tcPr marL="101600" marR="101600" marT="38100" marB="38100" anchor="ctr">
                    <a:solidFill>
                      <a:srgbClr val="F4F2FA"/>
                    </a:solidFill>
                  </a:tcPr>
                </a:tc>
              </a:tr>
              <a:tr h="318008">
                <a:tc>
                  <a:txBody>
                    <a:bodyPr/>
                    <a:lstStyle/>
                    <a:p>
                      <a:r>
                        <a:rPr sz="1100" b="0" i="0">
                          <a:solidFill>
                            <a:srgbClr val="1A1440"/>
                          </a:solidFill>
                          <a:latin typeface="Calibri"/>
                        </a:rPr>
                        <a:t>"Monitor the situation."</a:t>
                      </a:r>
                    </a:p>
                  </a:txBody>
                  <a:tcPr marL="101600" marR="101600" marT="38100" marB="38100" anchor="ctr">
                    <a:solidFill>
                      <a:srgbClr val="FFFFFF"/>
                    </a:solidFill>
                  </a:tcPr>
                </a:tc>
                <a:tc>
                  <a:txBody>
                    <a:bodyPr/>
                    <a:lstStyle/>
                    <a:p>
                      <a:r>
                        <a:rPr sz="1100" b="0" i="0">
                          <a:solidFill>
                            <a:srgbClr val="1A1440"/>
                          </a:solidFill>
                          <a:latin typeface="Calibri"/>
                        </a:rPr>
                        <a:t>"Hold the courier contract renewal until Q4's figure is in, which costs one month's delay."</a:t>
                      </a:r>
                    </a:p>
                  </a:txBody>
                  <a:tcPr marL="101600" marR="101600" marT="38100" marB="38100" anchor="ctr">
                    <a:solidFill>
                      <a:srgbClr val="FFFFFF"/>
                    </a:solidFill>
                  </a:tcPr>
                </a:tc>
              </a:tr>
            </a:tbl>
          </a:graphicData>
        </a:graphic>
      </p:graphicFrame>
      <p:pic>
        <p:nvPicPr>
          <p:cNvPr id="11" name="mermaid diagram" descr="7c0d935dd6f35403.png"/>
          <p:cNvPicPr>
            <a:picLocks noChangeAspect="1"/>
          </p:cNvPicPr>
          <p:nvPr/>
        </p:nvPicPr>
        <p:blipFill>
          <a:blip r:embed="rId5"/>
          <a:stretch>
            <a:fillRect/>
          </a:stretch>
        </p:blipFill>
        <p:spPr>
          <a:xfrm>
            <a:off x="2859728" y="3674872"/>
            <a:ext cx="6472237"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17 / 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the claim earned?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the translation, the data made trustworthy and the analysis earn your claim in ten minutes?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Ten minutes earn the claim your first two stated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body of your slot,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scores the translation (8 marks), the data made trustworthy (10) and the analysis (10) from these ten minutes, and Dr Menon, whose board will ask how sure the team is.</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translation</a:t>
            </a:r>
          </a:p>
        </p:txBody>
      </p:sp>
      <p:sp>
        <p:nvSpPr>
          <p:cNvPr id="18" name="TextBox 17"/>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show her question is one you have answered before?</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Kalpa Health words play the part of words you know?</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data</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log rows show the data can be trusted?</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charts</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rules let a chart carry one message?</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Differently</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one change does your group take into Build 2?</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19 / 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translation maps her words onto a move you own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show that her question is one you have answered before?</a:t>
            </a:r>
          </a:p>
        </p:txBody>
      </p:sp>
      <p:pic>
        <p:nvPicPr>
          <p:cNvPr id="10" name="mermaid diagram" descr="115b3e3f7382f104.png"/>
          <p:cNvPicPr>
            <a:picLocks noChangeAspect="1"/>
          </p:cNvPicPr>
          <p:nvPr/>
        </p:nvPicPr>
        <p:blipFill>
          <a:blip r:embed="rId5"/>
          <a:stretch>
            <a:fillRect/>
          </a:stretch>
        </p:blipFill>
        <p:spPr>
          <a:xfrm>
            <a:off x="1016641" y="1895380"/>
            <a:ext cx="10158412" cy="1128712"/>
          </a:xfrm>
          <a:prstGeom prst="rect">
            <a:avLst/>
          </a:prstGeom>
        </p:spPr>
      </p:pic>
      <p:graphicFrame>
        <p:nvGraphicFramePr>
          <p:cNvPr id="11" name="Table 10"/>
          <p:cNvGraphicFramePr>
            <a:graphicFrameLocks noGrp="1"/>
          </p:cNvGraphicFramePr>
          <p:nvPr/>
        </p:nvGraphicFramePr>
        <p:xfrm>
          <a:off x="530352" y="3170396"/>
          <a:ext cx="11130989" cy="2816352"/>
        </p:xfrm>
        <a:graphic>
          <a:graphicData uri="http://schemas.openxmlformats.org/drawingml/2006/table">
            <a:tbl>
              <a:tblPr firstRow="0" bandRow="0">
                <a:tableStyleId>{2D5ABB26-0587-4C30-8999-92F81FD0307C}</a:tableStyleId>
              </a:tblPr>
              <a:tblGrid>
                <a:gridCol w="3940934"/>
                <a:gridCol w="4227626"/>
                <a:gridCol w="2962429"/>
              </a:tblGrid>
              <a:tr h="369824">
                <a:tc>
                  <a:txBody>
                    <a:bodyPr/>
                    <a:lstStyle/>
                    <a:p>
                      <a:r>
                        <a:rPr sz="1450" b="1" i="0">
                          <a:solidFill>
                            <a:srgbClr val="FFFFFF"/>
                          </a:solidFill>
                          <a:latin typeface="Calibri"/>
                        </a:rPr>
                        <a:t>The question's shape</a:t>
                      </a:r>
                    </a:p>
                  </a:txBody>
                  <a:tcPr marL="101600" marR="101600" marT="38100" marB="38100" anchor="ctr">
                    <a:solidFill>
                      <a:srgbClr val="1A0F5C"/>
                    </a:solidFill>
                  </a:tcPr>
                </a:tc>
                <a:tc>
                  <a:txBody>
                    <a:bodyPr/>
                    <a:lstStyle/>
                    <a:p>
                      <a:r>
                        <a:rPr sz="1450" b="1" i="0">
                          <a:solidFill>
                            <a:srgbClr val="FFFFFF"/>
                          </a:solidFill>
                          <a:latin typeface="Calibri"/>
                        </a:rPr>
                        <a:t>The move you own</a:t>
                      </a:r>
                    </a:p>
                  </a:txBody>
                  <a:tcPr marL="101600" marR="101600" marT="38100" marB="38100" anchor="ctr">
                    <a:solidFill>
                      <a:srgbClr val="1A0F5C"/>
                    </a:solidFill>
                  </a:tcPr>
                </a:tc>
                <a:tc>
                  <a:txBody>
                    <a:bodyPr/>
                    <a:lstStyle/>
                    <a:p>
                      <a:r>
                        <a:rPr sz="1450" b="1" i="0">
                          <a:solidFill>
                            <a:srgbClr val="FFFFFF"/>
                          </a:solidFill>
                          <a:latin typeface="Calibri"/>
                        </a:rPr>
                        <a:t>Where you learned it</a:t>
                      </a:r>
                    </a:p>
                  </a:txBody>
                  <a:tcPr marL="101600" marR="101600" marT="38100" marB="38100" anchor="ctr">
                    <a:solidFill>
                      <a:srgbClr val="1A0F5C"/>
                    </a:solidFill>
                  </a:tcPr>
                </a:tc>
              </a:tr>
              <a:tr h="611632">
                <a:tc>
                  <a:txBody>
                    <a:bodyPr/>
                    <a:lstStyle/>
                    <a:p>
                      <a:r>
                        <a:rPr sz="1400" b="0" i="0">
                          <a:solidFill>
                            <a:srgbClr val="1A1440"/>
                          </a:solidFill>
                          <a:latin typeface="Calibri"/>
                        </a:rPr>
                        <a:t>Where does a total come from, and which part is short?</a:t>
                      </a:r>
                    </a:p>
                  </a:txBody>
                  <a:tcPr marL="101600" marR="101600" marT="38100" marB="38100" anchor="ctr">
                    <a:solidFill>
                      <a:srgbClr val="FFFFFF"/>
                    </a:solidFill>
                  </a:tcPr>
                </a:tc>
                <a:tc>
                  <a:txBody>
                    <a:bodyPr/>
                    <a:lstStyle/>
                    <a:p>
                      <a:r>
                        <a:rPr sz="1400" b="0" i="0">
                          <a:solidFill>
                            <a:srgbClr val="1A1440"/>
                          </a:solidFill>
                          <a:latin typeface="Calibri"/>
                        </a:rPr>
                        <a:t>The revenue tree, every branch a count over a denominator</a:t>
                      </a:r>
                    </a:p>
                  </a:txBody>
                  <a:tcPr marL="101600" marR="101600" marT="38100" marB="38100" anchor="ctr">
                    <a:solidFill>
                      <a:srgbClr val="FFFFFF"/>
                    </a:solidFill>
                  </a:tcPr>
                </a:tc>
                <a:tc>
                  <a:txBody>
                    <a:bodyPr/>
                    <a:lstStyle/>
                    <a:p>
                      <a:r>
                        <a:rPr sz="1400" b="0" i="0">
                          <a:solidFill>
                            <a:srgbClr val="1A1440"/>
                          </a:solidFill>
                          <a:latin typeface="Calibri"/>
                        </a:rPr>
                        <a:t>Week 1 Monday; Week 2 Monday, as queries</a:t>
                      </a:r>
                    </a:p>
                  </a:txBody>
                  <a:tcPr marL="101600" marR="101600" marT="38100" marB="38100" anchor="ctr">
                    <a:solidFill>
                      <a:srgbClr val="FFFFFF"/>
                    </a:solidFill>
                  </a:tcPr>
                </a:tc>
              </a:tr>
              <a:tr h="611632">
                <a:tc>
                  <a:txBody>
                    <a:bodyPr/>
                    <a:lstStyle/>
                    <a:p>
                      <a:r>
                        <a:rPr sz="1400" b="0" i="0">
                          <a:solidFill>
                            <a:srgbClr val="1A1440"/>
                          </a:solidFill>
                          <a:latin typeface="Calibri"/>
                        </a:rPr>
                        <a:t>Did it really fall, and why?</a:t>
                      </a:r>
                    </a:p>
                  </a:txBody>
                  <a:tcPr marL="101600" marR="101600" marT="38100" marB="38100" anchor="ctr">
                    <a:solidFill>
                      <a:srgbClr val="F4F2FA"/>
                    </a:solidFill>
                  </a:tcPr>
                </a:tc>
                <a:tc>
                  <a:txBody>
                    <a:bodyPr/>
                    <a:lstStyle/>
                    <a:p>
                      <a:r>
                        <a:rPr sz="1400" b="0" i="0">
                          <a:solidFill>
                            <a:srgbClr val="1A1440"/>
                          </a:solidFill>
                          <a:latin typeface="Calibri"/>
                        </a:rPr>
                        <a:t>The investigation ladder, rung 1 first: is the drop real?</a:t>
                      </a:r>
                    </a:p>
                  </a:txBody>
                  <a:tcPr marL="101600" marR="101600" marT="38100" marB="38100" anchor="ctr">
                    <a:solidFill>
                      <a:srgbClr val="F4F2FA"/>
                    </a:solidFill>
                  </a:tcPr>
                </a:tc>
                <a:tc>
                  <a:txBody>
                    <a:bodyPr/>
                    <a:lstStyle/>
                    <a:p>
                      <a:r>
                        <a:rPr sz="1400" b="0" i="0">
                          <a:solidFill>
                            <a:srgbClr val="1A1440"/>
                          </a:solidFill>
                          <a:latin typeface="Calibri"/>
                        </a:rPr>
                        <a:t>Week 1 Tuesday</a:t>
                      </a:r>
                    </a:p>
                  </a:txBody>
                  <a:tcPr marL="101600" marR="101600" marT="38100" marB="38100" anchor="ctr">
                    <a:solidFill>
                      <a:srgbClr val="F4F2FA"/>
                    </a:solidFill>
                  </a:tcPr>
                </a:tc>
              </a:tr>
              <a:tr h="611632">
                <a:tc>
                  <a:txBody>
                    <a:bodyPr/>
                    <a:lstStyle/>
                    <a:p>
                      <a:r>
                        <a:rPr sz="1400" b="0" i="0">
                          <a:solidFill>
                            <a:srgbClr val="1A1440"/>
                          </a:solidFill>
                          <a:latin typeface="Calibri"/>
                        </a:rPr>
                        <a:t>Do two files that should agree, agree?</a:t>
                      </a:r>
                    </a:p>
                  </a:txBody>
                  <a:tcPr marL="101600" marR="101600" marT="38100" marB="38100" anchor="ctr">
                    <a:solidFill>
                      <a:srgbClr val="FFFFFF"/>
                    </a:solidFill>
                  </a:tcPr>
                </a:tc>
                <a:tc>
                  <a:txBody>
                    <a:bodyPr/>
                    <a:lstStyle/>
                    <a:p>
                      <a:r>
                        <a:rPr sz="1400" b="0" i="0">
                          <a:solidFill>
                            <a:srgbClr val="1A1440"/>
                          </a:solidFill>
                          <a:latin typeface="Calibri"/>
                        </a:rPr>
                        <a:t>Profile, reconcile, the bridge; a join counted before anything is summed</a:t>
                      </a:r>
                    </a:p>
                  </a:txBody>
                  <a:tcPr marL="101600" marR="101600" marT="38100" marB="38100" anchor="ctr">
                    <a:solidFill>
                      <a:srgbClr val="FFFFFF"/>
                    </a:solidFill>
                  </a:tcPr>
                </a:tc>
                <a:tc>
                  <a:txBody>
                    <a:bodyPr/>
                    <a:lstStyle/>
                    <a:p>
                      <a:r>
                        <a:rPr sz="1400" b="0" i="0">
                          <a:solidFill>
                            <a:srgbClr val="1A1440"/>
                          </a:solidFill>
                          <a:latin typeface="Calibri"/>
                        </a:rPr>
                        <a:t>Week 1 Wednesday; Week 2 Tuesday</a:t>
                      </a:r>
                    </a:p>
                  </a:txBody>
                  <a:tcPr marL="101600" marR="101600" marT="38100" marB="38100" anchor="ctr">
                    <a:solidFill>
                      <a:srgbClr val="FFFFFF"/>
                    </a:solidFill>
                  </a:tcPr>
                </a:tc>
              </a:tr>
              <a:tr h="611632">
                <a:tc>
                  <a:txBody>
                    <a:bodyPr/>
                    <a:lstStyle/>
                    <a:p>
                      <a:r>
                        <a:rPr sz="1400" b="0" i="0">
                          <a:solidFill>
                            <a:srgbClr val="1A1440"/>
                          </a:solidFill>
                          <a:latin typeface="Calibri"/>
                        </a:rPr>
                        <a:t>Is a gap real, and is the comparison fair?</a:t>
                      </a:r>
                    </a:p>
                  </a:txBody>
                  <a:tcPr marL="101600" marR="101600" marT="38100" marB="38100" anchor="ctr">
                    <a:solidFill>
                      <a:srgbClr val="F4F2FA"/>
                    </a:solidFill>
                  </a:tcPr>
                </a:tc>
                <a:tc>
                  <a:txBody>
                    <a:bodyPr/>
                    <a:lstStyle/>
                    <a:p>
                      <a:r>
                        <a:rPr sz="1400" b="0" i="0">
                          <a:solidFill>
                            <a:srgbClr val="1A1440"/>
                          </a:solidFill>
                          <a:latin typeface="Calibri"/>
                        </a:rPr>
                        <a:t>Real or the wobble; did the discount work?</a:t>
                      </a:r>
                    </a:p>
                  </a:txBody>
                  <a:tcPr marL="101600" marR="101600" marT="38100" marB="38100" anchor="ctr">
                    <a:solidFill>
                      <a:srgbClr val="F4F2FA"/>
                    </a:solidFill>
                  </a:tcPr>
                </a:tc>
                <a:tc>
                  <a:txBody>
                    <a:bodyPr/>
                    <a:lstStyle/>
                    <a:p>
                      <a:r>
                        <a:rPr sz="1400" b="0" i="0">
                          <a:solidFill>
                            <a:srgbClr val="1A1440"/>
                          </a:solidFill>
                          <a:latin typeface="Calibri"/>
                        </a:rPr>
                        <a:t>Week 1 Thursday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20 / 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vocabulary map pairs each new word with an old 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Health words play the part of words you learned in Kalpa Retail?</a:t>
            </a:r>
          </a:p>
        </p:txBody>
      </p:sp>
      <p:graphicFrame>
        <p:nvGraphicFramePr>
          <p:cNvPr id="10" name="Table 9"/>
          <p:cNvGraphicFramePr>
            <a:graphicFrameLocks noGrp="1"/>
          </p:cNvGraphicFramePr>
          <p:nvPr/>
        </p:nvGraphicFramePr>
        <p:xfrm>
          <a:off x="530352" y="1956816"/>
          <a:ext cx="11130990" cy="3556000"/>
        </p:xfrm>
        <a:graphic>
          <a:graphicData uri="http://schemas.openxmlformats.org/drawingml/2006/table">
            <a:tbl>
              <a:tblPr firstRow="0" bandRow="0">
                <a:tableStyleId>{2D5ABB26-0587-4C30-8999-92F81FD0307C}</a:tableStyleId>
              </a:tblPr>
              <a:tblGrid>
                <a:gridCol w="1821656"/>
                <a:gridCol w="2346566"/>
                <a:gridCol w="6962768"/>
              </a:tblGrid>
              <a:tr h="369824">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Where the pair stops fitting</a:t>
                      </a:r>
                    </a:p>
                  </a:txBody>
                  <a:tcPr marL="101600" marR="101600" marT="38100" marB="38100" anchor="ctr">
                    <a:solidFill>
                      <a:srgbClr val="1A0F5C"/>
                    </a:solidFill>
                  </a:tcPr>
                </a:tc>
              </a:tr>
              <a:tr h="611632">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 can be a home collection, when a phlebotomist, who draws blood, visits the patient</a:t>
                      </a:r>
                    </a:p>
                  </a:txBody>
                  <a:tcPr marL="101600" marR="101600" marT="38100" marB="38100" anchor="ctr">
                    <a:solidFill>
                      <a:srgbClr val="FFFFFF"/>
                    </a:solidFill>
                  </a:tcPr>
                </a:tc>
              </a:tr>
              <a:tr h="369824">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It runs in a laboratory, often far from where the patient was seen</a:t>
                      </a:r>
                    </a:p>
                  </a:txBody>
                  <a:tcPr marL="101600" marR="101600" marT="38100" marB="38100" anchor="ctr">
                    <a:solidFill>
                      <a:srgbClr val="F4F2FA"/>
                    </a:solidFill>
                  </a:tcPr>
                </a:tc>
              </a:tr>
              <a:tr h="611632">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The patient says nothing in advance; the centre learns it when nobody arrives</a:t>
                      </a:r>
                    </a:p>
                  </a:txBody>
                  <a:tcPr marL="101600" marR="101600" marT="38100" marB="38100" anchor="ctr">
                    <a:solidFill>
                      <a:srgbClr val="FFFFFF"/>
                    </a:solidFill>
                  </a:tcPr>
                </a:tc>
              </a:tr>
              <a:tr h="369824">
                <a:tc>
                  <a:txBody>
                    <a:bodyPr/>
                    <a:lstStyle/>
                    <a:p>
                      <a:r>
                        <a:rPr sz="1400" b="0" i="0">
                          <a:solidFill>
                            <a:srgbClr val="1A1440"/>
                          </a:solidFill>
                          <a:latin typeface="Calibri"/>
                        </a:rPr>
                        <a:t>A claim</a:t>
                      </a:r>
                    </a:p>
                  </a:txBody>
                  <a:tcPr marL="101600" marR="101600" marT="38100" marB="38100" anchor="ctr">
                    <a:solidFill>
                      <a:srgbClr val="F4F2FA"/>
                    </a:solidFill>
                  </a:tcPr>
                </a:tc>
                <a:tc>
                  <a:txBody>
                    <a:bodyPr/>
                    <a:lstStyle/>
                    <a:p>
                      <a:r>
                        <a:rPr sz="1400" b="0" i="0">
                          <a:solidFill>
                            <a:srgbClr val="1A1440"/>
                          </a:solidFill>
                          <a:latin typeface="Calibri"/>
                        </a:rPr>
                        <a:t>An order's invoice</a:t>
                      </a:r>
                    </a:p>
                  </a:txBody>
                  <a:tcPr marL="101600" marR="101600" marT="38100" marB="38100" anchor="ctr">
                    <a:solidFill>
                      <a:srgbClr val="F4F2FA"/>
                    </a:solidFill>
                  </a:tcPr>
                </a:tc>
                <a:tc>
                  <a:txBody>
                    <a:bodyPr/>
                    <a:lstStyle/>
                    <a:p>
                      <a:r>
                        <a:rPr sz="1400" b="0" i="0">
                          <a:solidFill>
                            <a:srgbClr val="1A1440"/>
                          </a:solidFill>
                          <a:latin typeface="Calibri"/>
                        </a:rPr>
                        <a:t>It goes to a payer, who pays weeks later what its contract allows</a:t>
                      </a:r>
                    </a:p>
                  </a:txBody>
                  <a:tcPr marL="101600" marR="101600" marT="38100" marB="38100" anchor="ctr">
                    <a:solidFill>
                      <a:srgbClr val="F4F2FA"/>
                    </a:solidFill>
                  </a:tcPr>
                </a:tc>
              </a:tr>
              <a:tr h="611632">
                <a:tc>
                  <a:txBody>
                    <a:bodyPr/>
                    <a:lstStyle/>
                    <a:p>
                      <a:r>
                        <a:rPr sz="1400" b="0" i="0">
                          <a:solidFill>
                            <a:srgbClr val="1A1440"/>
                          </a:solidFill>
                          <a:latin typeface="Calibri"/>
                        </a:rPr>
                        <a:t>A posting</a:t>
                      </a:r>
                    </a:p>
                  </a:txBody>
                  <a:tcPr marL="101600" marR="101600" marT="38100" marB="38100" anchor="ctr">
                    <a:solidFill>
                      <a:srgbClr val="FFFFFF"/>
                    </a:solidFill>
                  </a:tcPr>
                </a:tc>
                <a:tc>
                  <a:txBody>
                    <a:bodyPr/>
                    <a:lstStyle/>
                    <a:p>
                      <a:r>
                        <a:rPr sz="1400" b="0" i="0">
                          <a:solidFill>
                            <a:srgbClr val="1A1440"/>
                          </a:solidFill>
                          <a:latin typeface="Calibri"/>
                        </a:rPr>
                        <a:t>A payment</a:t>
                      </a:r>
                    </a:p>
                  </a:txBody>
                  <a:tcPr marL="101600" marR="101600" marT="38100" marB="38100" anchor="ctr">
                    <a:solidFill>
                      <a:srgbClr val="FFFFFF"/>
                    </a:solidFill>
                  </a:tcPr>
                </a:tc>
                <a:tc>
                  <a:txBody>
                    <a:bodyPr/>
                    <a:lstStyle/>
                    <a:p>
                      <a:r>
                        <a:rPr sz="1400" b="0" i="0">
                          <a:solidFill>
                            <a:srgbClr val="1A1440"/>
                          </a:solidFill>
                          <a:latin typeface="Calibri"/>
                        </a:rPr>
                        <a:t>It arrives from the payer weeks after the claim, through the posting system</a:t>
                      </a:r>
                    </a:p>
                  </a:txBody>
                  <a:tcPr marL="101600" marR="101600" marT="38100" marB="38100" anchor="ctr">
                    <a:solidFill>
                      <a:srgbClr val="FFFFFF"/>
                    </a:solidFill>
                  </a:tcPr>
                </a:tc>
              </a:tr>
              <a:tr h="611632">
                <a:tc>
                  <a:txBody>
                    <a:bodyPr/>
                    <a:lstStyle/>
                    <a:p>
                      <a:r>
                        <a:rPr sz="1400" b="0" i="0">
                          <a:solidFill>
                            <a:srgbClr val="1A1440"/>
                          </a:solidFill>
                          <a:latin typeface="Calibri"/>
                        </a:rPr>
                        <a:t>A payer</a:t>
                      </a:r>
                    </a:p>
                  </a:txBody>
                  <a:tcPr marL="101600" marR="101600" marT="38100" marB="38100" anchor="ctr">
                    <a:solidFill>
                      <a:srgbClr val="F4F2FA"/>
                    </a:solidFill>
                  </a:tcPr>
                </a:tc>
                <a:tc>
                  <a:txBody>
                    <a:bodyPr/>
                    <a:lstStyle/>
                    <a:p>
                      <a:r>
                        <a:rPr sz="1400" b="0" i="0">
                          <a:solidFill>
                            <a:srgbClr val="1A1440"/>
                          </a:solidFill>
                          <a:latin typeface="Calibri"/>
                        </a:rPr>
                        <a:t>No twin</a:t>
                      </a:r>
                    </a:p>
                  </a:txBody>
                  <a:tcPr marL="101600" marR="101600" marT="38100" marB="38100" anchor="ctr">
                    <a:solidFill>
                      <a:srgbClr val="F4F2FA"/>
                    </a:solidFill>
                  </a:tcPr>
                </a:tc>
                <a:tc>
                  <a:txBody>
                    <a:bodyPr/>
                    <a:lstStyle/>
                    <a:p>
                      <a:r>
                        <a:rPr sz="1400" b="0" i="0">
                          <a:solidFill>
                            <a:srgbClr val="1A1440"/>
                          </a:solidFill>
                          <a:latin typeface="Calibri"/>
                        </a:rPr>
                        <a:t>Whoever pays the claim: a health plan, Medicare, Medicaid, or the patient when self-paying</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21 /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log rows carry the data's three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of your decisions log show the panel that the data can be trusted?</a:t>
            </a:r>
          </a:p>
        </p:txBody>
      </p:sp>
      <p:pic>
        <p:nvPicPr>
          <p:cNvPr id="10" name="mermaid diagram" descr="914802d16c909d9c.png"/>
          <p:cNvPicPr>
            <a:picLocks noChangeAspect="1"/>
          </p:cNvPicPr>
          <p:nvPr/>
        </p:nvPicPr>
        <p:blipFill>
          <a:blip r:embed="rId5"/>
          <a:stretch>
            <a:fillRect/>
          </a:stretch>
        </p:blipFill>
        <p:spPr>
          <a:xfrm>
            <a:off x="2145353" y="1956816"/>
            <a:ext cx="7900987" cy="1543050"/>
          </a:xfrm>
          <a:prstGeom prst="rect">
            <a:avLst/>
          </a:prstGeom>
        </p:spPr>
      </p:pic>
      <p:graphicFrame>
        <p:nvGraphicFramePr>
          <p:cNvPr id="11" name="Table 10"/>
          <p:cNvGraphicFramePr>
            <a:graphicFrameLocks noGrp="1"/>
          </p:cNvGraphicFramePr>
          <p:nvPr/>
        </p:nvGraphicFramePr>
        <p:xfrm>
          <a:off x="530352" y="3646170"/>
          <a:ext cx="11130990" cy="877824"/>
        </p:xfrm>
        <a:graphic>
          <a:graphicData uri="http://schemas.openxmlformats.org/drawingml/2006/table">
            <a:tbl>
              <a:tblPr firstRow="0" bandRow="0">
                <a:tableStyleId>{2D5ABB26-0587-4C30-8999-92F81FD0307C}</a:tableStyleId>
              </a:tblPr>
              <a:tblGrid>
                <a:gridCol w="2043275"/>
                <a:gridCol w="1160734"/>
                <a:gridCol w="914400"/>
                <a:gridCol w="1822640"/>
                <a:gridCol w="5189941"/>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Issue</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Decision</a:t>
                      </a:r>
                    </a:p>
                  </a:txBody>
                  <a:tcPr marL="101600" marR="101600" marT="38100" marB="38100" anchor="ctr">
                    <a:solidFill>
                      <a:srgbClr val="1A0F5C"/>
                    </a:solidFill>
                  </a:tcPr>
                </a:tc>
                <a:tc>
                  <a:txBody>
                    <a:bodyPr/>
                    <a:lstStyle/>
                    <a:p>
                      <a:r>
                        <a:rPr sz="1250" b="1" i="0">
                          <a:solidFill>
                            <a:srgbClr val="FFFFFF"/>
                          </a:solidFill>
                          <a:latin typeface="Calibri"/>
                        </a:rPr>
                        <a:t>Reason</a:t>
                      </a:r>
                    </a:p>
                  </a:txBody>
                  <a:tcPr marL="101600" marR="101600" marT="38100" marB="38100" anchor="ctr">
                    <a:solidFill>
                      <a:srgbClr val="1A0F5C"/>
                    </a:solidFill>
                  </a:tcPr>
                </a:tc>
              </a:tr>
              <a:tr h="542544">
                <a:tc>
                  <a:txBody>
                    <a:bodyPr/>
                    <a:lstStyle/>
                    <a:p>
                      <a:r>
                        <a:rPr sz="1200" b="0" i="0">
                          <a:solidFill>
                            <a:srgbClr val="1A1440"/>
                          </a:solidFill>
                          <a:latin typeface="Calibri"/>
                        </a:rPr>
                        <a:t>age_band, an invented row</a:t>
                      </a:r>
                    </a:p>
                  </a:txBody>
                  <a:tcPr marL="101600" marR="101600" marT="38100" marB="38100" anchor="ctr">
                    <a:solidFill>
                      <a:srgbClr val="FFFFFF"/>
                    </a:solidFill>
                  </a:tcPr>
                </a:tc>
                <a:tc>
                  <a:txBody>
                    <a:bodyPr/>
                    <a:lstStyle/>
                    <a:p>
                      <a:r>
                        <a:rPr sz="1200" b="0" i="0">
                          <a:solidFill>
                            <a:srgbClr val="1A1440"/>
                          </a:solidFill>
                          <a:latin typeface="Calibri"/>
                        </a:rPr>
                        <a:t>14 rows blank</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Kept, labelled unknown</a:t>
                      </a:r>
                    </a:p>
                  </a:txBody>
                  <a:tcPr marL="101600" marR="101600" marT="38100" marB="38100" anchor="ctr">
                    <a:solidFill>
                      <a:srgbClr val="FFFFFF"/>
                    </a:solidFill>
                  </a:tcPr>
                </a:tc>
                <a:tc>
                  <a:txBody>
                    <a:bodyPr/>
                    <a:lstStyle/>
                    <a:p>
                      <a:r>
                        <a:rPr sz="1200" b="0" i="0">
                          <a:solidFill>
                            <a:srgbClr val="1A1440"/>
                          </a:solidFill>
                          <a:latin typeface="Calibri"/>
                        </a:rPr>
                        <a:t>Dropping them would take 14 patients' bookings out of every count, and no claim splits by age</a:t>
                      </a:r>
                    </a:p>
                  </a:txBody>
                  <a:tcPr marL="101600" marR="101600" marT="38100" marB="38100" anchor="ctr">
                    <a:solidFill>
                      <a:srgbClr val="FFFFFF"/>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22 / 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reason would an auditor accept?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reasons for the same invented call would an auditor accept?</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invented call: 14 blank age bands, kept and labelled unknown. Which reason would an auditor accept? Answer as a letter.</a:t>
            </a:r>
          </a:p>
        </p:txBody>
      </p:sp>
      <p:sp>
        <p:nvSpPr>
          <p:cNvPr id="13" name="TextBox 12"/>
          <p:cNvSpPr txBox="1"/>
          <p:nvPr/>
        </p:nvSpPr>
        <p:spPr>
          <a:xfrm>
            <a:off x="530352" y="2929128"/>
            <a:ext cx="11130991" cy="220675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Dropping them would remove 14 patients' bookings from every count, and no claim we make splits by age.</a:t>
            </a:r>
          </a:p>
          <a:p>
            <a:pPr>
              <a:spcAft>
                <a:spcPts val="800"/>
              </a:spcAft>
            </a:pPr>
            <a:r>
              <a:rPr sz="1600" b="0" i="0">
                <a:solidFill>
                  <a:srgbClr val="1A1440"/>
                </a:solidFill>
                <a:latin typeface="Calibri"/>
              </a:rPr>
              <a:t>b) The 14 age bands were blank, so they were inconsistent with the rest and needed cleaning before use.</a:t>
            </a:r>
          </a:p>
          <a:p>
            <a:pPr>
              <a:spcAft>
                <a:spcPts val="800"/>
              </a:spcAft>
            </a:pPr>
            <a:r>
              <a:rPr sz="1600" b="0" i="0">
                <a:solidFill>
                  <a:srgbClr val="1A1440"/>
                </a:solidFill>
                <a:latin typeface="Calibri"/>
              </a:rPr>
              <a:t>c) Keeping blank rows and labelling them unknown follows the usual data-cleaning best practice for a column.</a:t>
            </a:r>
          </a:p>
          <a:p>
            <a:pPr>
              <a:spcAft>
                <a:spcPts val="800"/>
              </a:spcAft>
            </a:pPr>
            <a:r>
              <a:rPr sz="1600" b="0" i="0">
                <a:solidFill>
                  <a:srgbClr val="1A1440"/>
                </a:solidFill>
                <a:latin typeface="Calibri"/>
              </a:rPr>
              <a:t>d) Fourteen rows out of 6,700 patients is too few to change any number we report, so the call does not matter.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a, the reason says what the call changes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reason would an auditor accept, and why does each other one fail?</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Holds: it names what dropping would do to the counts, and why keeping cannot touch the claim</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Restates the issue as its own reason, which an auditor reads as no reason at all</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Appeals to a habit, and says nothing about these rows or this answer</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Asserts the size is harmless without showing which numbers it would move</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A reason that restates the issue is no reason; say what the call changes in the counts or the dollars, and what it cannot change.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chart states its finding and its denominator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let a chart carry one message the panel can read without you?</a:t>
            </a:r>
          </a:p>
        </p:txBody>
      </p:sp>
      <p:pic>
        <p:nvPicPr>
          <p:cNvPr id="10" name="mermaid diagram" descr="e1db93a377af8c44.png"/>
          <p:cNvPicPr>
            <a:picLocks noChangeAspect="1"/>
          </p:cNvPicPr>
          <p:nvPr/>
        </p:nvPicPr>
        <p:blipFill>
          <a:blip r:embed="rId5"/>
          <a:stretch>
            <a:fillRect/>
          </a:stretch>
        </p:blipFill>
        <p:spPr>
          <a:xfrm>
            <a:off x="680885" y="1956816"/>
            <a:ext cx="10829925" cy="1128712"/>
          </a:xfrm>
          <a:prstGeom prst="rect">
            <a:avLst/>
          </a:prstGeom>
        </p:spPr>
      </p:pic>
      <p:graphicFrame>
        <p:nvGraphicFramePr>
          <p:cNvPr id="11" name="Table 10"/>
          <p:cNvGraphicFramePr>
            <a:graphicFrameLocks noGrp="1"/>
          </p:cNvGraphicFramePr>
          <p:nvPr/>
        </p:nvGraphicFramePr>
        <p:xfrm>
          <a:off x="530352" y="3231832"/>
          <a:ext cx="11130990" cy="1849120"/>
        </p:xfrm>
        <a:graphic>
          <a:graphicData uri="http://schemas.openxmlformats.org/drawingml/2006/table">
            <a:tbl>
              <a:tblPr firstRow="0" bandRow="0">
                <a:tableStyleId>{2D5ABB26-0587-4C30-8999-92F81FD0307C}</a:tableStyleId>
              </a:tblPr>
              <a:tblGrid>
                <a:gridCol w="5510808"/>
                <a:gridCol w="5620182"/>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prevents</a:t>
                      </a:r>
                    </a:p>
                  </a:txBody>
                  <a:tcPr marL="101600" marR="101600" marT="38100" marB="38100" anchor="ctr">
                    <a:solidFill>
                      <a:srgbClr val="1A0F5C"/>
                    </a:solidFill>
                  </a:tcPr>
                </a:tc>
              </a:tr>
              <a:tr h="369824">
                <a:tc>
                  <a:txBody>
                    <a:bodyPr/>
                    <a:lstStyle/>
                    <a:p>
                      <a:r>
                        <a:rPr sz="1400" b="0" i="0">
                          <a:solidFill>
                            <a:srgbClr val="1A1440"/>
                          </a:solidFill>
                          <a:latin typeface="Calibri"/>
                        </a:rPr>
                        <a:t>The chart's title states the finding</a:t>
                      </a:r>
                    </a:p>
                  </a:txBody>
                  <a:tcPr marL="101600" marR="101600" marT="38100" marB="38100" anchor="ctr">
                    <a:solidFill>
                      <a:srgbClr val="FFFFFF"/>
                    </a:solidFill>
                  </a:tcPr>
                </a:tc>
                <a:tc>
                  <a:txBody>
                    <a:bodyPr/>
                    <a:lstStyle/>
                    <a:p>
                      <a:r>
                        <a:rPr sz="1400" b="0" i="0">
                          <a:solidFill>
                            <a:srgbClr val="1A1440"/>
                          </a:solidFill>
                          <a:latin typeface="Calibri"/>
                        </a:rPr>
                        <a:t>A chart the panel has to interpret for you</a:t>
                      </a:r>
                    </a:p>
                  </a:txBody>
                  <a:tcPr marL="101600" marR="101600" marT="38100" marB="38100" anchor="ctr">
                    <a:solidFill>
                      <a:srgbClr val="FFFFFF"/>
                    </a:solidFill>
                  </a:tcPr>
                </a:tc>
              </a:tr>
              <a:tr h="369824">
                <a:tc>
                  <a:txBody>
                    <a:bodyPr/>
                    <a:lstStyle/>
                    <a:p>
                      <a:r>
                        <a:rPr sz="1400" b="0" i="0">
                          <a:solidFill>
                            <a:srgbClr val="1A1440"/>
                          </a:solidFill>
                          <a:latin typeface="Calibri"/>
                        </a:rPr>
                        <a:t>The denominator sits on the axis or in the title</a:t>
                      </a:r>
                    </a:p>
                  </a:txBody>
                  <a:tcPr marL="101600" marR="101600" marT="38100" marB="38100" anchor="ctr">
                    <a:solidFill>
                      <a:srgbClr val="F4F2FA"/>
                    </a:solidFill>
                  </a:tcPr>
                </a:tc>
                <a:tc>
                  <a:txBody>
                    <a:bodyPr/>
                    <a:lstStyle/>
                    <a:p>
                      <a:r>
                        <a:rPr sz="1400" b="0" i="0">
                          <a:solidFill>
                            <a:srgbClr val="1A1440"/>
                          </a:solidFill>
                          <a:latin typeface="Calibri"/>
                        </a:rPr>
                        <a:t>A count read as a rate, or a rate read as a count</a:t>
                      </a:r>
                    </a:p>
                  </a:txBody>
                  <a:tcPr marL="101600" marR="101600" marT="38100" marB="38100" anchor="ctr">
                    <a:solidFill>
                      <a:srgbClr val="F4F2FA"/>
                    </a:solidFill>
                  </a:tcPr>
                </a:tc>
              </a:tr>
              <a:tr h="369824">
                <a:tc>
                  <a:txBody>
                    <a:bodyPr/>
                    <a:lstStyle/>
                    <a:p>
                      <a:r>
                        <a:rPr sz="1400" b="0" i="0">
                          <a:solidFill>
                            <a:srgbClr val="1A1440"/>
                          </a:solidFill>
                          <a:latin typeface="Calibri"/>
                        </a:rPr>
                        <a:t>Both sides of a comparison cover the same window</a:t>
                      </a:r>
                    </a:p>
                  </a:txBody>
                  <a:tcPr marL="101600" marR="101600" marT="38100" marB="38100" anchor="ctr">
                    <a:solidFill>
                      <a:srgbClr val="FFFFFF"/>
                    </a:solidFill>
                  </a:tcPr>
                </a:tc>
                <a:tc>
                  <a:txBody>
                    <a:bodyPr/>
                    <a:lstStyle/>
                    <a:p>
                      <a:r>
                        <a:rPr sz="1400" b="0" i="0">
                          <a:solidFill>
                            <a:srgbClr val="1A1440"/>
                          </a:solidFill>
                          <a:latin typeface="Calibri"/>
                        </a:rPr>
                        <a:t>A change that is really a difference in days</a:t>
                      </a:r>
                    </a:p>
                  </a:txBody>
                  <a:tcPr marL="101600" marR="101600" marT="38100" marB="38100" anchor="ctr">
                    <a:solidFill>
                      <a:srgbClr val="FFFFFF"/>
                    </a:solidFill>
                  </a:tcPr>
                </a:tc>
              </a:tr>
              <a:tr h="369824">
                <a:tc>
                  <a:txBody>
                    <a:bodyPr/>
                    <a:lstStyle/>
                    <a:p>
                      <a:r>
                        <a:rPr sz="1400" b="0" i="0">
                          <a:solidFill>
                            <a:srgbClr val="1A1440"/>
                          </a:solidFill>
                          <a:latin typeface="Calibri"/>
                        </a:rPr>
                        <a:t>Every number shown is reproduced in the demo</a:t>
                      </a:r>
                    </a:p>
                  </a:txBody>
                  <a:tcPr marL="101600" marR="101600" marT="38100" marB="38100" anchor="ctr">
                    <a:solidFill>
                      <a:srgbClr val="F4F2FA"/>
                    </a:solidFill>
                  </a:tcPr>
                </a:tc>
                <a:tc>
                  <a:txBody>
                    <a:bodyPr/>
                    <a:lstStyle/>
                    <a:p>
                      <a:r>
                        <a:rPr sz="1400" b="0" i="0">
                          <a:solidFill>
                            <a:srgbClr val="1A1440"/>
                          </a:solidFill>
                          <a:latin typeface="Calibri"/>
                        </a:rPr>
                        <a:t>A chart from a cell nobody can rerun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change for Build 2, specific enough to act 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last minute of your slot say, and what makes it usable?</a:t>
            </a:r>
          </a:p>
        </p:txBody>
      </p:sp>
      <p:graphicFrame>
        <p:nvGraphicFramePr>
          <p:cNvPr id="10" name="Table 9"/>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58677"/>
                <a:gridCol w="7172313"/>
              </a:tblGrid>
              <a:tr h="335280">
                <a:tc>
                  <a:txBody>
                    <a:bodyPr/>
                    <a:lstStyle/>
                    <a:p>
                      <a:r>
                        <a:rPr sz="1250" b="1" i="0">
                          <a:solidFill>
                            <a:srgbClr val="FFFFFF"/>
                          </a:solidFill>
                          <a:latin typeface="Calibri"/>
                        </a:rPr>
                        <a:t>A change nobody can act on</a:t>
                      </a:r>
                    </a:p>
                  </a:txBody>
                  <a:tcPr marL="101600" marR="101600" marT="38100" marB="38100" anchor="ctr">
                    <a:solidFill>
                      <a:srgbClr val="1A0F5C"/>
                    </a:solidFill>
                  </a:tcPr>
                </a:tc>
                <a:tc>
                  <a:txBody>
                    <a:bodyPr/>
                    <a:lstStyle/>
                    <a:p>
                      <a:r>
                        <a:rPr sz="1250" b="1" i="0">
                          <a:solidFill>
                            <a:srgbClr val="FFFFFF"/>
                          </a:solidFill>
                          <a:latin typeface="Calibri"/>
                        </a:rPr>
                        <a:t>A change Build 2 can act on</a:t>
                      </a:r>
                    </a:p>
                  </a:txBody>
                  <a:tcPr marL="101600" marR="101600" marT="38100" marB="38100" anchor="ctr">
                    <a:solidFill>
                      <a:srgbClr val="1A0F5C"/>
                    </a:solidFill>
                  </a:tcPr>
                </a:tc>
              </a:tr>
              <a:tr h="335280">
                <a:tc>
                  <a:txBody>
                    <a:bodyPr/>
                    <a:lstStyle/>
                    <a:p>
                      <a:r>
                        <a:rPr sz="1200" b="0" i="0">
                          <a:solidFill>
                            <a:srgbClr val="1A1440"/>
                          </a:solidFill>
                          <a:latin typeface="Calibri"/>
                        </a:rPr>
                        <a:t>We would manage our time better</a:t>
                      </a:r>
                    </a:p>
                  </a:txBody>
                  <a:tcPr marL="101600" marR="101600" marT="38100" marB="38100" anchor="ctr">
                    <a:solidFill>
                      <a:srgbClr val="FFFFFF"/>
                    </a:solidFill>
                  </a:tcPr>
                </a:tc>
                <a:tc>
                  <a:txBody>
                    <a:bodyPr/>
                    <a:lstStyle/>
                    <a:p>
                      <a:r>
                        <a:rPr sz="1200" b="0" i="0">
                          <a:solidFill>
                            <a:srgbClr val="1A1440"/>
                          </a:solidFill>
                          <a:latin typeface="Calibri"/>
                        </a:rPr>
                        <a:t>We would profile every file on day one, before choosing what to count</a:t>
                      </a:r>
                    </a:p>
                  </a:txBody>
                  <a:tcPr marL="101600" marR="101600" marT="38100" marB="38100" anchor="ctr">
                    <a:solidFill>
                      <a:srgbClr val="FFFFFF"/>
                    </a:solidFill>
                  </a:tcPr>
                </a:tc>
              </a:tr>
              <a:tr h="335280">
                <a:tc>
                  <a:txBody>
                    <a:bodyPr/>
                    <a:lstStyle/>
                    <a:p>
                      <a:r>
                        <a:rPr sz="1200" b="0" i="0">
                          <a:solidFill>
                            <a:srgbClr val="1A1440"/>
                          </a:solidFill>
                          <a:latin typeface="Calibri"/>
                        </a:rPr>
                        <a:t>We would clean the data more</a:t>
                      </a:r>
                    </a:p>
                  </a:txBody>
                  <a:tcPr marL="101600" marR="101600" marT="38100" marB="38100" anchor="ctr">
                    <a:solidFill>
                      <a:srgbClr val="F4F2FA"/>
                    </a:solidFill>
                  </a:tcPr>
                </a:tc>
                <a:tc>
                  <a:txBody>
                    <a:bodyPr/>
                    <a:lstStyle/>
                    <a:p>
                      <a:r>
                        <a:rPr sz="1200" b="0" i="0">
                          <a:solidFill>
                            <a:srgbClr val="1A1440"/>
                          </a:solidFill>
                          <a:latin typeface="Calibri"/>
                        </a:rPr>
                        <a:t>We would reconcile rows in against rows kept after every cleaning step, and log each one</a:t>
                      </a:r>
                    </a:p>
                  </a:txBody>
                  <a:tcPr marL="101600" marR="101600" marT="38100" marB="38100" anchor="ctr">
                    <a:solidFill>
                      <a:srgbClr val="F4F2FA"/>
                    </a:solidFill>
                  </a:tcPr>
                </a:tc>
              </a:tr>
              <a:tr h="335280">
                <a:tc>
                  <a:txBody>
                    <a:bodyPr/>
                    <a:lstStyle/>
                    <a:p>
                      <a:r>
                        <a:rPr sz="1200" b="0" i="0">
                          <a:solidFill>
                            <a:srgbClr val="1A1440"/>
                          </a:solidFill>
                          <a:latin typeface="Calibri"/>
                        </a:rPr>
                        <a:t>We would communicate better</a:t>
                      </a:r>
                    </a:p>
                  </a:txBody>
                  <a:tcPr marL="101600" marR="101600" marT="38100" marB="38100" anchor="ctr">
                    <a:solidFill>
                      <a:srgbClr val="FFFFFF"/>
                    </a:solidFill>
                  </a:tcPr>
                </a:tc>
                <a:tc>
                  <a:txBody>
                    <a:bodyPr/>
                    <a:lstStyle/>
                    <a:p>
                      <a:r>
                        <a:rPr sz="1200" b="0" i="0">
                          <a:solidFill>
                            <a:srgbClr val="1A1440"/>
                          </a:solidFill>
                          <a:latin typeface="Calibri"/>
                        </a:rPr>
                        <a:t>We would ask the team that owns each export what one row stands for before trusting it</a:t>
                      </a:r>
                    </a:p>
                  </a:txBody>
                  <a:tcPr marL="101600" marR="101600" marT="38100" marB="38100" anchor="ctr">
                    <a:solidFill>
                      <a:srgbClr val="FFFFFF"/>
                    </a:solidFill>
                  </a:tcPr>
                </a:tc>
              </a:tr>
            </a:tbl>
          </a:graphicData>
        </a:graphic>
      </p:graphicFrame>
      <p:pic>
        <p:nvPicPr>
          <p:cNvPr id="11" name="mermaid diagram" descr="21446b29ce921d38.png"/>
          <p:cNvPicPr>
            <a:picLocks noChangeAspect="1"/>
          </p:cNvPicPr>
          <p:nvPr/>
        </p:nvPicPr>
        <p:blipFill>
          <a:blip r:embed="rId5"/>
          <a:stretch>
            <a:fillRect/>
          </a:stretch>
        </p:blipFill>
        <p:spPr>
          <a:xfrm>
            <a:off x="2595410" y="3553968"/>
            <a:ext cx="70008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if the demo fails?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the live demo prove your number from the raw files, and what happens if it fails in front of the panel?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demo is the claim's evidence, shown live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live demo,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trusts a number it watched arrive from the raw files more than one pasted on a slide, and every member, whose presentation and defence score begins with the demo.</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rules</a:t>
            </a:r>
          </a:p>
        </p:txBody>
      </p:sp>
      <p:sp>
        <p:nvSpPr>
          <p:cNvPr id="18" name="TextBox 17"/>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makes a live demo prove your number?</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Cold</a:t>
            </a:r>
          </a:p>
        </p:txBody>
      </p:sp>
      <p:sp>
        <p:nvSpPr>
          <p:cNvPr id="23" name="TextBox 22"/>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a cold run mean on the day?</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A failure</a:t>
            </a:r>
          </a:p>
        </p:txBody>
      </p:sp>
      <p:sp>
        <p:nvSpPr>
          <p:cNvPr id="28" name="TextBox 27"/>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if the demo fails in front of the panel?</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Your plan</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plan for a failure meets the rule?</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cost</a:t>
            </a:r>
          </a:p>
        </p:txBody>
      </p:sp>
      <p:sp>
        <p:nvSpPr>
          <p:cNvPr id="38" name="TextBox 37"/>
          <p:cNvSpPr txBox="1"/>
          <p:nvPr/>
        </p:nvSpPr>
        <p:spPr>
          <a:xfrm>
            <a:off x="9746040" y="42501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does a failed demo cost, and what does it leave?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28 /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make the demo prove your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live demo prove the number on your one-slide answer?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nowflake_b9dadda434bf.png"/>
          <p:cNvPicPr>
            <a:picLocks noChangeAspect="1"/>
          </p:cNvPicPr>
          <p:nvPr/>
        </p:nvPicPr>
        <p:blipFill>
          <a:blip r:embed="rId5"/>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fresh Codespace or a restarted kernel, run all, with no output kept from an earlier run.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6"/>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Raw files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files exactly as Dr Menon's team sent them, read straight from the data folder with no hand edits.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lay_9326b926cbe1.png"/>
          <p:cNvPicPr>
            <a:picLocks noChangeAspect="1"/>
          </p:cNvPicPr>
          <p:nvPr/>
        </p:nvPicPr>
        <p:blipFill>
          <a:blip r:embed="rId7"/>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RULE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One press, top to bottom, with two minutes to recover if it fails, as in front of a client.</a:t>
            </a:r>
          </a:p>
        </p:txBody>
      </p:sp>
      <p:pic>
        <p:nvPicPr>
          <p:cNvPr id="27" name="mermaid diagram" descr="e00c56d0f616d810.png"/>
          <p:cNvPicPr>
            <a:picLocks noChangeAspect="1"/>
          </p:cNvPicPr>
          <p:nvPr/>
        </p:nvPicPr>
        <p:blipFill>
          <a:blip r:embed="rId8"/>
          <a:stretch>
            <a:fillRect/>
          </a:stretch>
        </p:blipFill>
        <p:spPr>
          <a:xfrm>
            <a:off x="2895447" y="4294124"/>
            <a:ext cx="6400800" cy="1128712"/>
          </a:xfrm>
          <a:prstGeom prst="rect">
            <a:avLst/>
          </a:prstGeom>
        </p:spPr>
      </p:pic>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4" name="Oval 3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6" name="Oval 35"/>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8" name="Oval 37"/>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Cold means a fresh start on Friday's frozen commit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cold run mean on the day of your slot?</a:t>
            </a:r>
          </a:p>
        </p:txBody>
      </p:sp>
      <p:sp>
        <p:nvSpPr>
          <p:cNvPr id="10" name="Rectangle 9"/>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2" name="Oval 11"/>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frozen commit</a:t>
            </a:r>
          </a:p>
        </p:txBody>
      </p:sp>
      <p:sp>
        <p:nvSpPr>
          <p:cNvPr id="15" name="TextBox 14"/>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The last commit you pushed before Friday's open build time closed is the one you demo.</a:t>
            </a:r>
          </a:p>
        </p:txBody>
      </p:sp>
      <p:sp>
        <p:nvSpPr>
          <p:cNvPr id="16" name="TextBox 15"/>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7" name="Oval 16"/>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 fresh start</a:t>
            </a:r>
          </a:p>
        </p:txBody>
      </p:sp>
      <p:sp>
        <p:nvSpPr>
          <p:cNvPr id="20" name="TextBox 19"/>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 new Codespace, or a restarted kernel, with no output kept.</a:t>
            </a:r>
          </a:p>
        </p:txBody>
      </p:sp>
      <p:sp>
        <p:nvSpPr>
          <p:cNvPr id="21" name="TextBox 20"/>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2" name="Oval 21"/>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raw files</a:t>
            </a:r>
          </a:p>
        </p:txBody>
      </p:sp>
      <p:sp>
        <p:nvSpPr>
          <p:cNvPr id="25" name="TextBox 24"/>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ten files as Dr Menon's team sent them, in the data folder.</a:t>
            </a:r>
          </a:p>
        </p:txBody>
      </p:sp>
      <p:sp>
        <p:nvSpPr>
          <p:cNvPr id="26" name="TextBox 25"/>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7" name="Oval 26"/>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Run all</a:t>
            </a:r>
          </a:p>
        </p:txBody>
      </p:sp>
      <p:sp>
        <p:nvSpPr>
          <p:cNvPr id="30" name="TextBox 29"/>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Top to bottom, one press, in front of the panel.</a:t>
            </a:r>
          </a:p>
        </p:txBody>
      </p:sp>
      <p:sp>
        <p:nvSpPr>
          <p:cNvPr id="31" name="TextBox 30"/>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2" name="Oval 31"/>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35" name="TextBox 34"/>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number on your slide appears in the output.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4" name="Oval 4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6" name="Oval 4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30 / 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minutes to recover, then the executed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1b42abdde2ce6935.png"/>
          <p:cNvPicPr>
            <a:picLocks noChangeAspect="1"/>
          </p:cNvPicPr>
          <p:nvPr/>
        </p:nvPicPr>
        <p:blipFill>
          <a:blip r:embed="rId5"/>
          <a:stretch>
            <a:fillRect/>
          </a:stretch>
        </p:blipFill>
        <p:spPr>
          <a:xfrm>
            <a:off x="1545278" y="1903063"/>
            <a:ext cx="9101137" cy="3157537"/>
          </a:xfrm>
          <a:prstGeom prst="rect">
            <a:avLst/>
          </a:prstGeom>
        </p:spPr>
      </p:pic>
      <p:sp>
        <p:nvSpPr>
          <p:cNvPr id="10" name="TextBox 9"/>
          <p:cNvSpPr txBox="1"/>
          <p:nvPr/>
        </p:nvSpPr>
        <p:spPr>
          <a:xfrm>
            <a:off x="530352" y="520690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of the mini project are scored from the executed run, so a failed demo costs its own marks and never the analysis.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plan meets the demo rule?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groups say what they will do if a cell fails on the cold run; which plan meets the rule?</a:t>
            </a:r>
          </a:p>
        </p:txBody>
      </p:sp>
      <p:sp>
        <p:nvSpPr>
          <p:cNvPr id="10" name="Rounded Rectangle 9"/>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plan meets the demo rule? Answer as a letter.</a:t>
            </a:r>
          </a:p>
        </p:txBody>
      </p:sp>
      <p:sp>
        <p:nvSpPr>
          <p:cNvPr id="13" name="TextBox 12"/>
          <p:cNvSpPr txBox="1"/>
          <p:nvPr/>
        </p:nvSpPr>
        <p:spPr>
          <a:xfrm>
            <a:off x="530352" y="26624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Skip the live run and open Friday's saved notebook, scrolling through the charts it holds.</a:t>
            </a:r>
          </a:p>
          <a:p>
            <a:pPr>
              <a:spcAft>
                <a:spcPts val="800"/>
              </a:spcAft>
            </a:pPr>
            <a:r>
              <a:rPr sz="1600" b="0" i="0">
                <a:solidFill>
                  <a:srgbClr val="1A1440"/>
                </a:solidFill>
                <a:latin typeface="Calibri"/>
              </a:rPr>
              <a:t>b) Switch to a cleaned extract saved on Thursday night, since the raw files are what broke the run.</a:t>
            </a:r>
          </a:p>
          <a:p>
            <a:pPr>
              <a:spcAft>
                <a:spcPts val="800"/>
              </a:spcAft>
            </a:pPr>
            <a:r>
              <a:rPr sz="1600" b="0" i="0">
                <a:solidFill>
                  <a:srgbClr val="1A1440"/>
                </a:solidFill>
                <a:latin typeface="Calibri"/>
              </a:rPr>
              <a:t>c) Keep debugging live for as long as it takes, so the panel sees every output in the end.</a:t>
            </a:r>
          </a:p>
          <a:p>
            <a:pPr>
              <a:spcAft>
                <a:spcPts val="800"/>
              </a:spcAft>
            </a:pPr>
            <a:r>
              <a:rPr sz="1600" b="0" i="0">
                <a:solidFill>
                  <a:srgbClr val="1A1440"/>
                </a:solidFill>
                <a:latin typeface="Calibri"/>
              </a:rPr>
              <a:t>d) Fix the cell live inside two minutes; if it still fails, present from the executed notebook.</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D27  ·  32 / 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d, two minutes, then the executed notebook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plan meets the demo rule, and which rule does each other plan break?</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Which rule it breaks, or why it holds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Gives up the live run a client would watch, and shows outputs nothing ran in front of the panel</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Breaks the raw files rule: the extract hides every cleaning call the panel wants to see made</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Breaks the two-minute limit: open-ended debugging eats the slot and the panel's questions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Holds: two minutes to recover live, then the executed notebook, and the analysis keeps its 34</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Rehearse the failure as well as the run: know which cell breaks most often and what you type in the two minutes.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33 / 49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and leaves the 34</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demo that still fails cost, and what does it leave standing?</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34</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GROUP'S MARKS</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scored from the executed run, whatever the demo did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EACH LEARNER'S OWN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presentation and defence, where the live demo sits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RECOVER LIVE</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executed notebook</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Full marks on presentation and defence begin with "the live demo runs cold", so a demo that still fails keeps a learner below them; a machine that fails before the demo starts is swapped, and the demo then runs cold in the room's reserve, before the same panel.</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34 / 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claim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you hold your claim when the panel challenges its caveat, and when are two groups' different answers both honest?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35 / 49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panel's questions test the edge of your evidence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your answers to the panel,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member: presentation and defence is scored for each learner on 6 marks, and the panel chooses who answers, so a member who knows one slice of the work answers for all of it.</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Five kinds</a:t>
            </a:r>
          </a:p>
        </p:txBody>
      </p:sp>
      <p:sp>
        <p:nvSpPr>
          <p:cNvPr id="18" name="TextBox 17"/>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kinds of question does the panel ask?</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hold a caveat without folding or overclaiming?</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reply</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reply holds when the caveat is attacked?</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Two answers</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are two groups' different numbers both honest?</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Every member</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must each member explain alone?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36 / 49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panel asks five kinds of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kinds of question should every group expect in its eight to ten minutes?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006662"/>
                <a:gridCol w="8124328"/>
              </a:tblGrid>
              <a:tr h="369824">
                <a:tc>
                  <a:txBody>
                    <a:bodyPr/>
                    <a:lstStyle/>
                    <a:p>
                      <a:r>
                        <a:rPr sz="1450" b="1" i="0">
                          <a:solidFill>
                            <a:srgbClr val="FFFFFF"/>
                          </a:solidFill>
                          <a:latin typeface="Calibri"/>
                        </a:rPr>
                        <a:t>Kind</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r>
              <a:tr h="369824">
                <a:tc>
                  <a:txBody>
                    <a:bodyPr/>
                    <a:lstStyle/>
                    <a:p>
                      <a:r>
                        <a:rPr sz="1400" b="0" i="0">
                          <a:solidFill>
                            <a:srgbClr val="1A1440"/>
                          </a:solidFill>
                          <a:latin typeface="Calibri"/>
                        </a:rPr>
                        <a:t>The evidence</a:t>
                      </a:r>
                    </a:p>
                  </a:txBody>
                  <a:tcPr marL="101600" marR="101600" marT="38100" marB="38100" anchor="ctr">
                    <a:solidFill>
                      <a:srgbClr val="FFFFFF"/>
                    </a:solidFill>
                  </a:tcPr>
                </a:tc>
                <a:tc>
                  <a:txBody>
                    <a:bodyPr/>
                    <a:lstStyle/>
                    <a:p>
                      <a:r>
                        <a:rPr sz="1400" b="0" i="0">
                          <a:solidFill>
                            <a:srgbClr val="1A1440"/>
                          </a:solidFill>
                          <a:latin typeface="Calibri"/>
                        </a:rPr>
                        <a:t>"What is the denominator of that number, and 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The caveat challenge</a:t>
                      </a:r>
                    </a:p>
                  </a:txBody>
                  <a:tcPr marL="101600" marR="101600" marT="38100" marB="38100" anchor="ctr">
                    <a:solidFill>
                      <a:srgbClr val="F4F2FA"/>
                    </a:solidFill>
                  </a:tcPr>
                </a:tc>
                <a:tc>
                  <a:txBody>
                    <a:bodyPr/>
                    <a:lstStyle/>
                    <a:p>
                      <a:r>
                        <a:rPr sz="1400" b="0" i="0">
                          <a:solidFill>
                            <a:srgbClr val="1A1440"/>
                          </a:solidFill>
                          <a:latin typeface="Calibri"/>
                        </a:rPr>
                        <a:t>"Your caveat says this might not hold. Suppose it does not. What then?"</a:t>
                      </a:r>
                    </a:p>
                  </a:txBody>
                  <a:tcPr marL="101600" marR="101600" marT="38100" marB="38100" anchor="ctr">
                    <a:solidFill>
                      <a:srgbClr val="F4F2FA"/>
                    </a:solidFill>
                  </a:tcPr>
                </a:tc>
              </a:tr>
              <a:tr h="369824">
                <a:tc>
                  <a:txBody>
                    <a:bodyPr/>
                    <a:lstStyle/>
                    <a:p>
                      <a:r>
                        <a:rPr sz="1400" b="0" i="0">
                          <a:solidFill>
                            <a:srgbClr val="1A1440"/>
                          </a:solidFill>
                          <a:latin typeface="Calibri"/>
                        </a:rPr>
                        <a:t>The quietest member</a:t>
                      </a:r>
                    </a:p>
                  </a:txBody>
                  <a:tcPr marL="101600" marR="101600" marT="38100" marB="38100" anchor="ctr">
                    <a:solidFill>
                      <a:srgbClr val="FFFFFF"/>
                    </a:solidFill>
                  </a:tcPr>
                </a:tc>
                <a:tc>
                  <a:txBody>
                    <a:bodyPr/>
                    <a:lstStyle/>
                    <a:p>
                      <a:r>
                        <a:rPr sz="1400" b="0" i="0">
                          <a:solidFill>
                            <a:srgbClr val="1A1440"/>
                          </a:solidFill>
                          <a:latin typeface="Calibri"/>
                        </a:rPr>
                        <a:t>A question to one named person, who answers without help from the group</a:t>
                      </a:r>
                    </a:p>
                  </a:txBody>
                  <a:tcPr marL="101600" marR="101600" marT="38100" marB="38100" anchor="ctr">
                    <a:solidFill>
                      <a:srgbClr val="FFFFFF"/>
                    </a:solidFill>
                  </a:tcPr>
                </a:tc>
              </a:tr>
              <a:tr h="369824">
                <a:tc>
                  <a:txBody>
                    <a:bodyPr/>
                    <a:lstStyle/>
                    <a:p>
                      <a:r>
                        <a:rPr sz="1400" b="0" i="0">
                          <a:solidFill>
                            <a:srgbClr val="1A1440"/>
                          </a:solidFill>
                          <a:latin typeface="Calibri"/>
                        </a:rPr>
                        <a:t>The other group</a:t>
                      </a:r>
                    </a:p>
                  </a:txBody>
                  <a:tcPr marL="101600" marR="101600" marT="38100" marB="38100" anchor="ctr">
                    <a:solidFill>
                      <a:srgbClr val="F4F2FA"/>
                    </a:solidFill>
                  </a:tcPr>
                </a:tc>
                <a:tc>
                  <a:txBody>
                    <a:bodyPr/>
                    <a:lstStyle/>
                    <a:p>
                      <a:r>
                        <a:rPr sz="1400" b="0" i="0">
                          <a:solidFill>
                            <a:srgbClr val="1A1440"/>
                          </a:solidFill>
                          <a:latin typeface="Calibri"/>
                        </a:rPr>
                        <a:t>"Another group on your question reached a different claim. Can both be honest?"</a:t>
                      </a:r>
                    </a:p>
                  </a:txBody>
                  <a:tcPr marL="101600" marR="101600" marT="38100" marB="38100" anchor="ctr">
                    <a:solidFill>
                      <a:srgbClr val="F4F2FA"/>
                    </a:solidFill>
                  </a:tcPr>
                </a:tc>
              </a:tr>
              <a:tr h="369824">
                <a:tc>
                  <a:txBody>
                    <a:bodyPr/>
                    <a:lstStyle/>
                    <a:p>
                      <a:r>
                        <a:rPr sz="1400" b="0" i="0">
                          <a:solidFill>
                            <a:srgbClr val="1A1440"/>
                          </a:solidFill>
                          <a:latin typeface="Calibri"/>
                        </a:rPr>
                        <a:t>Differently</a:t>
                      </a:r>
                    </a:p>
                  </a:txBody>
                  <a:tcPr marL="101600" marR="101600" marT="38100" marB="38100" anchor="ctr">
                    <a:solidFill>
                      <a:srgbClr val="FFFFFF"/>
                    </a:solidFill>
                  </a:tcPr>
                </a:tc>
                <a:tc>
                  <a:txBody>
                    <a:bodyPr/>
                    <a:lstStyle/>
                    <a:p>
                      <a:r>
                        <a:rPr sz="1400" b="0" i="0">
                          <a:solidFill>
                            <a:srgbClr val="1A1440"/>
                          </a:solidFill>
                          <a:latin typeface="Calibri"/>
                        </a:rPr>
                        <a:t>"If you started again on Monday, what would you do first?"</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44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74421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797552"/>
            <a:ext cx="9987991" cy="42367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 as Week 1 Friday rehearsed it?</a:t>
            </a:r>
          </a:p>
        </p:txBody>
      </p:sp>
      <p:pic>
        <p:nvPicPr>
          <p:cNvPr id="10" name="mermaid diagram" descr="3e24f6f88292b9d6.png"/>
          <p:cNvPicPr>
            <a:picLocks noChangeAspect="1"/>
          </p:cNvPicPr>
          <p:nvPr/>
        </p:nvPicPr>
        <p:blipFill>
          <a:blip r:embed="rId5"/>
          <a:stretch>
            <a:fillRect/>
          </a:stretch>
        </p:blipFill>
        <p:spPr>
          <a:xfrm>
            <a:off x="4626487" y="1664208"/>
            <a:ext cx="2938719"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Folding drops the caveat and the claim with it, and overclaiming calls an uncertain number certain; the three moves sit between the two.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38 / 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three moves, said to one invented challenge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moves sound when a panel pushes on the invented turnaround claim?</a:t>
            </a:r>
          </a:p>
        </p:txBody>
      </p:sp>
      <p:pic>
        <p:nvPicPr>
          <p:cNvPr id="10" name="mermaid diagram" descr="ed30e7d357fce3d0.png"/>
          <p:cNvPicPr>
            <a:picLocks noChangeAspect="1"/>
          </p:cNvPicPr>
          <p:nvPr/>
        </p:nvPicPr>
        <p:blipFill>
          <a:blip r:embed="rId5"/>
          <a:stretch>
            <a:fillRect/>
          </a:stretch>
        </p:blipFill>
        <p:spPr>
          <a:xfrm>
            <a:off x="1195235" y="1956816"/>
            <a:ext cx="9801225" cy="1371600"/>
          </a:xfrm>
          <a:prstGeom prst="rect">
            <a:avLst/>
          </a:prstGeom>
        </p:spPr>
      </p:pic>
      <p:sp>
        <p:nvSpPr>
          <p:cNvPr id="11" name="TextBox 10"/>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figures the claim holds as stated, draw to result, and the test settles how much of the 4 hours is the courier's.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39 / 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the panel says your caveat undoes your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panel says "your caveat is so large your claim means nothing"; which reply holds?</a:t>
            </a:r>
          </a:p>
        </p:txBody>
      </p:sp>
      <p:sp>
        <p:nvSpPr>
          <p:cNvPr id="10" name="Rounded Rectangle 9"/>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reply is the strongest? Answer as a letter.</a:t>
            </a:r>
          </a:p>
        </p:txBody>
      </p:sp>
      <p:sp>
        <p:nvSpPr>
          <p:cNvPr id="13" name="TextBox 12"/>
          <p:cNvSpPr txBox="1"/>
          <p:nvPr/>
        </p:nvSpPr>
        <p:spPr>
          <a:xfrm>
            <a:off x="530352" y="26624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We checked the data very carefully over three days, so we stand by the claim exactly as we stated it.</a:t>
            </a:r>
          </a:p>
          <a:p>
            <a:pPr>
              <a:spcAft>
                <a:spcPts val="800"/>
              </a:spcAft>
            </a:pPr>
            <a:r>
              <a:rPr sz="1600" b="0" i="0">
                <a:solidFill>
                  <a:srgbClr val="1A1440"/>
                </a:solidFill>
                <a:latin typeface="Calibri"/>
              </a:rPr>
              <a:t>b) That is fair, and it is a limitation of the data the client gave us, which we noted in our own log.</a:t>
            </a:r>
          </a:p>
          <a:p>
            <a:pPr>
              <a:spcAft>
                <a:spcPts val="800"/>
              </a:spcAft>
            </a:pPr>
            <a:r>
              <a:rPr sz="1600" b="0" i="0">
                <a:solidFill>
                  <a:srgbClr val="1A1440"/>
                </a:solidFill>
                <a:latin typeface="Calibri"/>
              </a:rPr>
              <a:t>c) It holds for the part we measured; here is that number, and here is the test that settles the rest.</a:t>
            </a:r>
          </a:p>
          <a:p>
            <a:pPr>
              <a:spcAft>
                <a:spcPts val="800"/>
              </a:spcAft>
            </a:pPr>
            <a:r>
              <a:rPr sz="1600" b="0" i="0">
                <a:solidFill>
                  <a:srgbClr val="1A1440"/>
                </a:solidFill>
                <a:latin typeface="Calibri"/>
              </a:rPr>
              <a:t>d) Every analysis carries caveats, so ours is no weaker than any other group's claim on this question.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D34  ·  40 / 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narrows the claim and names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reply holds under the challenge, and why does each other one fail?</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Defends with effort instead of evidence, and ignores what the challenge asked</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Agrees and stops, which hands the claim away with nothing in its place</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Holds: keeps what the evidence supports, gives the number, names the settling test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Deflects to other groups and says nothing about this claim</a:t>
                      </a:r>
                    </a:p>
                  </a:txBody>
                  <a:tcPr marL="101600" marR="101600" marT="38100" marB="38100" anchor="ctr">
                    <a:solidFill>
                      <a:srgbClr val="F4F2FA"/>
                    </a:solidFill>
                  </a:tcPr>
                </a:tc>
              </a:tr>
            </a:tbl>
          </a:graphicData>
        </a:graphic>
      </p:graphicFrame>
      <p:sp>
        <p:nvSpPr>
          <p:cNvPr id="11" name="Rounded Rectangle 10"/>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503928"/>
            <a:ext cx="237744" cy="237744"/>
          </a:xfrm>
          <a:prstGeom prst="rect">
            <a:avLst/>
          </a:prstGeom>
        </p:spPr>
      </p:pic>
      <p:sp>
        <p:nvSpPr>
          <p:cNvPr id="14" name="TextBox 13"/>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restate, bound, and offer the test.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D35  ·  41 / 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groups can reach two honest claims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can two groups' different numbers from the same files both be honest?</a:t>
            </a:r>
          </a:p>
        </p:txBody>
      </p:sp>
      <p:pic>
        <p:nvPicPr>
          <p:cNvPr id="10" name="mermaid diagram" descr="fb6a0096e4d4528c.png"/>
          <p:cNvPicPr>
            <a:picLocks noChangeAspect="1"/>
          </p:cNvPicPr>
          <p:nvPr/>
        </p:nvPicPr>
        <p:blipFill>
          <a:blip r:embed="rId5"/>
          <a:stretch>
            <a:fillRect/>
          </a:stretch>
        </p:blipFill>
        <p:spPr>
          <a:xfrm>
            <a:off x="2109635" y="1956816"/>
            <a:ext cx="7972425" cy="2300287"/>
          </a:xfrm>
          <a:prstGeom prst="rect">
            <a:avLst/>
          </a:prstGeom>
        </p:spPr>
      </p:pic>
      <p:sp>
        <p:nvSpPr>
          <p:cNvPr id="11" name="TextBox 10"/>
          <p:cNvSpPr txBox="1"/>
          <p:nvPr/>
        </p:nvSpPr>
        <p:spPr>
          <a:xfrm>
            <a:off x="530352" y="44034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Two numbers from the same files are both honest when each says what it counted; the panel asks the second group whether both can stand, and the strong answer names the definition that separates them.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D36  ·  42 / 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explains three things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each member be able to explain without a teammate?</a:t>
            </a:r>
          </a:p>
        </p:txBody>
      </p:sp>
      <p:sp>
        <p:nvSpPr>
          <p:cNvPr id="10" name="Rounded Rectangle 9"/>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quote_e12f9e1e3c67.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 its number, denominator, window and caveat, in the member's own words.</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9" name="TextBox 18"/>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a:t>
            </a:r>
          </a:p>
        </p:txBody>
      </p:sp>
      <p:sp>
        <p:nvSpPr>
          <p:cNvPr id="20" name="TextBox 19"/>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logged decision</a:t>
            </a:r>
          </a:p>
        </p:txBody>
      </p:sp>
      <p:sp>
        <p:nvSpPr>
          <p:cNvPr id="21" name="TextBox 20"/>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row of the decisions log, the rows it touched, and why.</a:t>
            </a:r>
          </a:p>
        </p:txBody>
      </p:sp>
      <p:sp>
        <p:nvSpPr>
          <p:cNvPr id="22" name="Rounded Rectangle 21"/>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hart-column_398db591d143.png"/>
          <p:cNvPicPr>
            <a:picLocks noChangeAspect="1"/>
          </p:cNvPicPr>
          <p:nvPr/>
        </p:nvPicPr>
        <p:blipFill>
          <a:blip r:embed="rId6"/>
          <a:stretch>
            <a:fillRect/>
          </a:stretch>
        </p:blipFill>
        <p:spPr>
          <a:xfrm>
            <a:off x="8383828" y="2267712"/>
            <a:ext cx="237744" cy="237744"/>
          </a:xfrm>
          <a:prstGeom prst="rect">
            <a:avLst/>
          </a:prstGeom>
        </p:spPr>
      </p:pic>
      <p:sp>
        <p:nvSpPr>
          <p:cNvPr id="25" name="TextBox 24"/>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THREE</a:t>
            </a:r>
          </a:p>
        </p:txBody>
      </p:sp>
      <p:sp>
        <p:nvSpPr>
          <p:cNvPr id="26" name="TextBox 25"/>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chart</a:t>
            </a:r>
          </a:p>
        </p:txBody>
      </p:sp>
      <p:sp>
        <p:nvSpPr>
          <p:cNvPr id="27" name="TextBox 26"/>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it shows, out of what, and which number in the demo prints it.</a:t>
            </a:r>
          </a:p>
        </p:txBody>
      </p:sp>
      <p:sp>
        <p:nvSpPr>
          <p:cNvPr id="28" name="TextBox 27"/>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panel puts its question to whoever has spoken least, and the rest of the group stays silent while that member answers.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3" name="Oval 3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5" name="Oval 3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7" name="Oval 3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39" name="Oval 3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D37  ·  43 / 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it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is the mini project scored, what closes with it today, and what does every group ship before its slot?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 panel ask?</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44 / 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rubric is public, so aim the slot at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scoring,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34 of the mini project's 40 marks are the group's, which every member receives, and 6 are each learner's own, so the group builds the slot to the rubric and every member answers for it.</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before its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rubric</a:t>
            </a:r>
          </a:p>
        </p:txBody>
      </p:sp>
      <p:sp>
        <p:nvSpPr>
          <p:cNvPr id="23" name="TextBox 22"/>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other two</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other Build 1 scores close today?</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last hour</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do you check before you walk in?</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D38  ·  45 / 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group ships five things before its slot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bring to its slot, and where does each piece live?</a:t>
            </a:r>
          </a:p>
        </p:txBody>
      </p:sp>
      <p:graphicFrame>
        <p:nvGraphicFramePr>
          <p:cNvPr id="10" name="Table 9"/>
          <p:cNvGraphicFramePr>
            <a:graphicFrameLocks noGrp="1"/>
          </p:cNvGraphicFramePr>
          <p:nvPr/>
        </p:nvGraphicFramePr>
        <p:xfrm>
          <a:off x="530352" y="1682496"/>
          <a:ext cx="11130990" cy="3013456"/>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Where it lives</a:t>
                      </a:r>
                    </a:p>
                  </a:txBody>
                  <a:tcPr marL="101600" marR="101600" marT="38100" marB="38100" anchor="ctr">
                    <a:solidFill>
                      <a:srgbClr val="1A0F5C"/>
                    </a:solidFill>
                  </a:tcPr>
                </a:tc>
              </a:tr>
              <a:tr h="577088">
                <a:tc>
                  <a:txBody>
                    <a:bodyPr/>
                    <a:lstStyle/>
                    <a:p>
                      <a:r>
                        <a:rPr sz="1300" b="0" i="0">
                          <a:solidFill>
                            <a:srgbClr val="1A1440"/>
                          </a:solidFill>
                          <a:latin typeface="Calibri"/>
                        </a:rPr>
                        <a:t>The presentation, 25 to 30 minutes with the panel, the live demo inside it</a:t>
                      </a:r>
                    </a:p>
                  </a:txBody>
                  <a:tcPr marL="101600" marR="101600" marT="38100" marB="38100" anchor="ctr">
                    <a:solidFill>
                      <a:srgbClr val="FFFFFF"/>
                    </a:solidFill>
                  </a:tcPr>
                </a:tc>
                <a:tc>
                  <a:txBody>
                    <a:bodyPr/>
                    <a:lstStyle/>
                    <a:p>
                      <a:r>
                        <a:rPr sz="1300" b="0" i="0">
                          <a:solidFill>
                            <a:srgbClr val="1A1440"/>
                          </a:solidFill>
                          <a:latin typeface="Calibri"/>
                        </a:rPr>
                        <a:t>Built on this skeleton, one-slide answer first</a:t>
                      </a:r>
                    </a:p>
                  </a:txBody>
                  <a:tcPr marL="101600" marR="101600" marT="38100" marB="38100" anchor="ctr">
                    <a:solidFill>
                      <a:srgbClr val="FFFFFF"/>
                    </a:solidFill>
                  </a:tcPr>
                </a:tc>
              </a:tr>
              <a:tr h="352552">
                <a:tc>
                  <a:txBody>
                    <a:bodyPr/>
                    <a:lstStyle/>
                    <a:p>
                      <a:r>
                        <a:rPr sz="1300" b="0" i="0">
                          <a:solidFill>
                            <a:srgbClr val="1A1440"/>
                          </a:solidFill>
                          <a:latin typeface="Calibri"/>
                        </a:rPr>
                        <a:t>The one-slide answer Dr Menon carries into her board meeting</a:t>
                      </a:r>
                    </a:p>
                  </a:txBody>
                  <a:tcPr marL="101600" marR="101600" marT="38100" marB="38100" anchor="ctr">
                    <a:solidFill>
                      <a:srgbClr val="F4F2FA"/>
                    </a:solidFill>
                  </a:tcPr>
                </a:tc>
                <a:tc>
                  <a:txBody>
                    <a:bodyPr/>
                    <a:lstStyle/>
                    <a:p>
                      <a:r>
                        <a:rPr sz="1300" b="0" i="0">
                          <a:solidFill>
                            <a:srgbClr val="1A1440"/>
                          </a:solidFill>
                          <a:latin typeface="Calibri"/>
                        </a:rPr>
                        <a:t>Claim, evidence, caveat and action, on one slide</a:t>
                      </a:r>
                    </a:p>
                  </a:txBody>
                  <a:tcPr marL="101600" marR="101600" marT="38100" marB="38100" anchor="ctr">
                    <a:solidFill>
                      <a:srgbClr val="F4F2FA"/>
                    </a:solidFill>
                  </a:tcPr>
                </a:tc>
              </a:tr>
              <a:tr h="577088">
                <a:tc>
                  <a:txBody>
                    <a:bodyPr/>
                    <a:lstStyle/>
                    <a:p>
                      <a:r>
                        <a:rPr sz="1300" b="0" i="0">
                          <a:solidFill>
                            <a:srgbClr val="1A1440"/>
                          </a:solidFill>
                          <a:latin typeface="Calibri"/>
                        </a:rPr>
                        <a:t>The notebook or SQL that reproduces every number from the raw files</a:t>
                      </a:r>
                    </a:p>
                  </a:txBody>
                  <a:tcPr marL="101600" marR="101600" marT="38100" marB="38100" anchor="ctr">
                    <a:solidFill>
                      <a:srgbClr val="FFFFFF"/>
                    </a:solidFill>
                  </a:tcPr>
                </a:tc>
                <a:tc>
                  <a:txBody>
                    <a:bodyPr/>
                    <a:lstStyle/>
                    <a:p>
                      <a:r>
                        <a:rPr sz="1300" b="0" i="0">
                          <a:solidFill>
                            <a:srgbClr val="1A1440"/>
                          </a:solidFill>
                          <a:latin typeface="Calibri"/>
                        </a:rPr>
                        <a:t>Runs cold, top to bottom, on the files in the data folder</a:t>
                      </a:r>
                    </a:p>
                  </a:txBody>
                  <a:tcPr marL="101600" marR="101600" marT="38100" marB="38100" anchor="ctr">
                    <a:solidFill>
                      <a:srgbClr val="FFFFFF"/>
                    </a:solidFill>
                  </a:tcPr>
                </a:tc>
              </a:tr>
              <a:tr h="577088">
                <a:tc>
                  <a:txBody>
                    <a:bodyPr/>
                    <a:lstStyle/>
                    <a:p>
                      <a:r>
                        <a:rPr sz="1300" b="0" i="0">
                          <a:solidFill>
                            <a:srgbClr val="1A1440"/>
                          </a:solidFill>
                          <a:latin typeface="Calibri"/>
                        </a:rPr>
                        <a:t>The decisions log</a:t>
                      </a:r>
                    </a:p>
                  </a:txBody>
                  <a:tcPr marL="101600" marR="101600" marT="38100" marB="38100" anchor="ctr">
                    <a:solidFill>
                      <a:srgbClr val="F4F2FA"/>
                    </a:solidFill>
                  </a:tcPr>
                </a:tc>
                <a:tc>
                  <a:txBody>
                    <a:bodyPr/>
                    <a:lstStyle/>
                    <a:p>
                      <a:r>
                        <a:rPr sz="1300" b="0" i="0">
                          <a:solidFill>
                            <a:srgbClr val="1A1440"/>
                          </a:solidFill>
                          <a:latin typeface="Calibri"/>
                        </a:rPr>
                        <a:t>briefs/C2_W03_D01_decisions_log_STUDENT.xlsx, in the Week 1 Wednesday shape</a:t>
                      </a:r>
                    </a:p>
                  </a:txBody>
                  <a:tcPr marL="101600" marR="101600" marT="38100" marB="38100" anchor="ctr">
                    <a:solidFill>
                      <a:srgbClr val="F4F2FA"/>
                    </a:solidFill>
                  </a:tcPr>
                </a:tc>
              </a:tr>
              <a:tr h="577088">
                <a:tc>
                  <a:txBody>
                    <a:bodyPr/>
                    <a:lstStyle/>
                    <a:p>
                      <a:r>
                        <a:rPr sz="1300" b="0" i="0">
                          <a:solidFill>
                            <a:srgbClr val="1A1440"/>
                          </a:solidFill>
                          <a:latin typeface="Calibri"/>
                        </a:rPr>
                        <a:t>The challenges log</a:t>
                      </a:r>
                    </a:p>
                  </a:txBody>
                  <a:tcPr marL="101600" marR="101600" marT="38100" marB="38100" anchor="ctr">
                    <a:solidFill>
                      <a:srgbClr val="FFFFFF"/>
                    </a:solidFill>
                  </a:tcPr>
                </a:tc>
                <a:tc>
                  <a:txBody>
                    <a:bodyPr/>
                    <a:lstStyle/>
                    <a:p>
                      <a:r>
                        <a:rPr sz="1300" b="0" i="0">
                          <a:solidFill>
                            <a:srgbClr val="1A1440"/>
                          </a:solidFill>
                          <a:latin typeface="Calibri"/>
                        </a:rPr>
                        <a:t>briefs/C2_W03_D01_challenges_log_STUDENT.xlsx, kept since Monday</a:t>
                      </a:r>
                    </a:p>
                  </a:txBody>
                  <a:tcPr marL="101600" marR="101600" marT="38100" marB="38100" anchor="ctr">
                    <a:solidFill>
                      <a:srgbClr val="FFFFFF"/>
                    </a:solidFill>
                  </a:tcPr>
                </a:tc>
              </a:tr>
            </a:tbl>
          </a:graphicData>
        </a:graphic>
      </p:graphicFrame>
      <p:sp>
        <p:nvSpPr>
          <p:cNvPr id="11" name="Rounded Rectangle 10"/>
          <p:cNvSpPr/>
          <p:nvPr/>
        </p:nvSpPr>
        <p:spPr>
          <a:xfrm>
            <a:off x="530352" y="49519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84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93944"/>
            <a:ext cx="237744" cy="237744"/>
          </a:xfrm>
          <a:prstGeom prst="rect">
            <a:avLst/>
          </a:prstGeom>
        </p:spPr>
      </p:pic>
      <p:sp>
        <p:nvSpPr>
          <p:cNvPr id="14" name="TextBox 13"/>
          <p:cNvSpPr txBox="1"/>
          <p:nvPr/>
        </p:nvSpPr>
        <p:spPr>
          <a:xfrm>
            <a:off x="1399031" y="50982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17744"/>
            <a:ext cx="9987991" cy="682752"/>
          </a:xfrm>
          <a:prstGeom prst="rect">
            <a:avLst/>
          </a:prstGeom>
          <a:noFill/>
        </p:spPr>
        <p:txBody>
          <a:bodyPr wrap="square" anchor="t" lIns="0" rIns="0" tIns="0" bIns="0">
            <a:spAutoFit/>
          </a:bodyPr>
          <a:lstStyle/>
          <a:p>
            <a:r>
              <a:rPr sz="1500" b="0" i="0">
                <a:solidFill>
                  <a:srgbClr val="1A1440"/>
                </a:solidFill>
                <a:latin typeface="Calibri"/>
              </a:rPr>
              <a:t>Run the notebook cold once more before you walk in, and check that every number on your slides appears in its output.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10" name="Rounded Rectangle 9"/>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3" name="Table 12"/>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47 / 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Build 1 scores close for every learner today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Build 1 scores close on Saturday, and out of how many marks?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MINI PROJECT</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group's 34 and your own 6</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 DISCUSSION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on Friday and Saturday morning</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MOCK R1</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Thursday 22 October, each learner alone</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Build 1 grade closes on Saturday 24 October; how and when you see your scores is the Programme Head's to tell you.</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D41  ·  48 / 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Before you walk in: one cold run, one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your group check in the last hour before its slot?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cold run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Restart and run all on the raw files; every number on your slides appears in the output.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sentence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member says the claim, with its denominator and window, alone.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caveat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Each member says the fact that would change the claim, and the test that would settle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slide first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Open on the one-slide answer; the cleaning comes in part 3.</a:t>
            </a:r>
          </a:p>
        </p:txBody>
      </p:sp>
      <p:sp>
        <p:nvSpPr>
          <p:cNvPr id="30" name="Rounded Rectangle 29"/>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58876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will the panel ask?</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