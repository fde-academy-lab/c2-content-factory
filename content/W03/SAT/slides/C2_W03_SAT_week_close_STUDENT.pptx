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seconds, after grade closure; the last 15 minutes of the week. Four minutes on what the week</a:t>
            </a:r>
          </a:p>
          <a:p>
            <a:r>
              <a:t>trained, eight on the nine improvements, three on Monday. Dr Menon asked which branch of her business</a:t>
            </a:r>
          </a:p>
          <a:p>
            <a:r>
              <a:t>is short and what to tell her board, and every group gave her an answer today, before a panel that had</a:t>
            </a:r>
          </a:p>
          <a:p>
            <a:r>
              <a:t>never seen its work. Kalpa Health and everyone in it are fictional, and every record in its files is</a:t>
            </a:r>
          </a:p>
          <a:p>
            <a:r>
              <a:t>synthetic.</a:t>
            </a:r>
          </a:p>
          <a:p>
            <a:r>
              <a:t>Transition: the three questions that close the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30 seconds. Read the three questions. The middle one is the room's work and takes eight of the</a:t>
            </a:r>
          </a:p>
          <a:p>
            <a:r>
              <a:t>fifteen minutes.</a:t>
            </a:r>
          </a:p>
          <a:p>
            <a:r>
              <a:t>Transition: question 1, what the week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 over S3, S4 and S6; D2 and D5 are read alone. Nothing new was taught this week,</a:t>
            </a:r>
          </a:p>
          <a:p>
            <a:r>
              <a:t>and that is the point to land: the method transferred, the vocabulary changed, and the cost of an</a:t>
            </a:r>
          </a:p>
          <a:p>
            <a:r>
              <a:t>error rose.</a:t>
            </a:r>
          </a:p>
          <a:p>
            <a:r>
              <a:t>Transition: who needs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SELF-STUDY, 1 minute. Four questions, answered in order.</a:t>
            </a:r>
          </a:p>
          <a:p>
            <a:r>
              <a:t>Transition: the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90 seconds. Read the diagram once, left to right. Then hand each move to the groups that used</a:t>
            </a:r>
          </a:p>
          <a:p>
            <a:r>
              <a:t>it, from the chairs' findings list in the trainer's notes: ask one group which row did the most work</a:t>
            </a:r>
          </a:p>
          <a:p>
            <a:r>
              <a:t>for it, and take one sentence. Do not let this become a recap of every group's finding, and name no</a:t>
            </a:r>
          </a:p>
          <a:p>
            <a:r>
              <a:t>finding a group did not reach.</a:t>
            </a:r>
          </a:p>
          <a:p>
            <a:r>
              <a:t>Transition: what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"The words changed and the cost of being wrong rose; the moves stayed, and that is the</a:t>
            </a:r>
          </a:p>
          <a:p>
            <a:r>
              <a:t>week." These are Monday's two interview questions, asked again now that the room can answer them from</a:t>
            </a:r>
          </a:p>
          <a:p>
            <a:r>
              <a:t>its own work. Take one answer to the [F] question and ask what the group checked twice because of it.</a:t>
            </a:r>
          </a:p>
          <a:p>
            <a:r>
              <a:t>Transition: who does this work for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SELF-STUDY, 1 minute. Optum India calls itself UnitedHealth Group's largest Global Capability</a:t>
            </a:r>
          </a:p>
          <a:p>
            <a:r>
              <a:t>Center, providing healthcare operations, technology, analytics and support services; AGS Health is a</a:t>
            </a:r>
          </a:p>
          <a:p>
            <a:r>
              <a:t>revenue-cycle management firm working for US providers. Kalpa's GCC is the first kind: one company's</a:t>
            </a:r>
          </a:p>
          <a:p>
            <a:r>
              <a:t>own centre. Monday's domain dossier, section 2, has both.</a:t>
            </a:r>
          </a:p>
          <a:p>
            <a:r>
              <a:t>Transition: the questions the week equips you to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Tags: [S] staple asked everywhere, [F] frequent in GCC and product screens, [D] a</a:t>
            </a:r>
          </a:p>
          <a:p>
            <a:r>
              <a:t>differentiator, as the curriculum calibrates them for 0 to 3 year candidates in the Indian market.</a:t>
            </a:r>
          </a:p>
          <a:p>
            <a:r>
              <a:t>Tell the room to write their own one-breath answer to each tonight, from their own group's work,</a:t>
            </a:r>
          </a:p>
          <a:p>
            <a:r>
              <a:t>because each answer is now a true story with a number in it.</a:t>
            </a:r>
          </a:p>
          <a:p>
            <a:r>
              <a:t>Transition: section 2, the one change per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8 minutes over S8 and S9, with D7 read alone. Two minutes in groups to agree the sentence, then</a:t>
            </a:r>
          </a:p>
          <a:p>
            <a:r>
              <a:t>each group reads it aloud and the trainer writes all nine where the room can see them.</a:t>
            </a:r>
          </a:p>
          <a:p>
            <a:r>
              <a:t>Transition: who needs the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SELF-STUDY, 1 minute. Build 2 opens on Tuesday 10 November, after the Monday holiday for Diwali.</a:t>
            </a:r>
          </a:p>
          <a:p>
            <a:r>
              <a:t>Transition: the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 in groups, then the reading. Push back on any sentence that names a feeling or a</a:t>
            </a:r>
          </a:p>
          <a:p>
            <a:r>
              <a:t>virtue with one question: "What would I see you doing differently on day one of Build 2?" Take the</a:t>
            </a:r>
          </a:p>
          <a:p>
            <a:r>
              <a:t>rewrite, never an argument.</a:t>
            </a:r>
          </a:p>
          <a:p>
            <a:r>
              <a:t>Transition: the nine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minutes: nine groups at about 40 seconds each. Write each sentence up exactly as said. A</a:t>
            </a:r>
          </a:p>
          <a:p>
            <a:r>
              <a:t>sentence that blames a teammate is rewritten as the group's behaviour before it goes up.</a:t>
            </a:r>
          </a:p>
          <a:p>
            <a:r>
              <a:t>Transition: section 3,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 over S11 and S12, with D10 read alone. The bridge is the same question moving up a</a:t>
            </a:r>
          </a:p>
          <a:p>
            <a:r>
              <a:t>level: this week asked which branch is short, and Monday asks which one number the whole company should</a:t>
            </a:r>
          </a:p>
          <a:p>
            <a:r>
              <a:t>chase.</a:t>
            </a:r>
          </a:p>
          <a:p>
            <a:r>
              <a:t>Transition: who needs Monday's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SELF-STUDY, 1 minute. Three questions, answered on the last two slides.</a:t>
            </a:r>
          </a:p>
          <a:p>
            <a:r>
              <a:t>Transition: Meera's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Read Meera's words from the slide. Say the three proposals without judging them:</a:t>
            </a:r>
          </a:p>
          <a:p>
            <a:r>
              <a:t>marketing wants orders per month, operations wants app sessions, and the head of Retail-Plus wants</a:t>
            </a:r>
          </a:p>
          <a:p>
            <a:r>
              <a:t>reorders per member. Stop there; Monday opens on it.</a:t>
            </a:r>
          </a:p>
          <a:p>
            <a:r>
              <a:t>Transition: the week in three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three lines, then Kavya's review, which is Monday's first move. Leave Meera's</a:t>
            </a:r>
          </a:p>
          <a:p>
            <a:r>
              <a:t>question open on the slide before this one in the room's mind. After class: rest. Week 4 opens on</a:t>
            </a:r>
          </a:p>
          <a:p>
            <a:r>
              <a:t>Monday 26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5.xml"/><Relationship Id="rId6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66928"/>
            <a:ext cx="1051560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01952" y="804672"/>
            <a:ext cx="6858000" cy="3007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1952" y="1133856"/>
            <a:ext cx="777240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 spc="300">
                <a:solidFill>
                  <a:srgbClr val="D9A7FF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938528"/>
            <a:ext cx="10948111" cy="10972"/>
          </a:xfrm>
          <a:prstGeom prst="rect">
            <a:avLst/>
          </a:prstGeom>
          <a:solidFill>
            <a:srgbClr val="A9A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3951822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00" b="1" spc="250">
                <a:solidFill>
                  <a:srgbClr val="FFFFFF"/>
                </a:solidFill>
                <a:latin typeface="Calibri"/>
              </a:rPr>
              <a:t>WEEK 3  ·  BUILD 1  ·  THE WEEK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07208"/>
            <a:ext cx="10582351" cy="1291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What did Build 1 prove, and what changes first in Build 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263136"/>
            <a:ext cx="10033711" cy="3502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D9A7FF"/>
                </a:solidFill>
                <a:latin typeface="Georgia"/>
              </a:rPr>
              <a:t>“Which branch of my business is short, and what do I do next?”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68266"/>
            <a:ext cx="10033711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Dr Priya Menon, COO, Kalpa Health, to the data and AI team at Kalpa's Global Capability Centre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5248656"/>
            <a:ext cx="1602486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1206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5254" y="5248656"/>
            <a:ext cx="1957387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5521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9569" y="5248656"/>
            <a:ext cx="14250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comes on Monday?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What did Build 1 prove, and what changes first in Build 2?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questions close Build 1 in fifteen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Build 1 prove, and what does each group change first in Build 2?</a:t>
            </a:r>
          </a:p>
        </p:txBody>
      </p:sp>
      <p:pic>
        <p:nvPicPr>
          <p:cNvPr id="9" name="mermaid diagram" descr="03b7bb0ea0e5c3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4041" y="1956816"/>
            <a:ext cx="6043612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3474720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Each group's answer to Dr Menon is its own one-slide answer, said to the panel today; these fifteen minutes are about the method that produced it.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3" name="Oval 12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5" name="Oval 14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did the week train?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Which moves from Weeks 1 and 2 did the week carry into a business you had never seen, and what changed on the way?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1786943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8191" y="5074920"/>
            <a:ext cx="214223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0158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comes on Monday?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3 Saturday: what did Build 1 prove, and what changes first in Build 2?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003371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same moves answered a business nobody had seen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1223" y="82296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A0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needs to know what the week trained, and which questions come on the way?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Every learner, who will be asked in an interview how they handled data from a business they did not know, and whose honest answer is now a story from this week with a number in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53145" y="3496056"/>
            <a:ext cx="8485403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75256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3816096"/>
            <a:ext cx="2645587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The 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Which moves from Weeks 1 and 2 did the week use?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8819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4581029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58819" y="3816096"/>
            <a:ext cx="2645587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3411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changed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3411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What changed between Kalpa Retail and Kalpa Health?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7409497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3816096"/>
            <a:ext cx="2645587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79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Who does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Which teams in India do this work for US health care?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755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10237965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15755" y="3816096"/>
            <a:ext cx="2645587" cy="10769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347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347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Which interview questions can you now answer from your own work?</a:t>
            </a:r>
          </a:p>
        </p:txBody>
      </p:sp>
      <p:sp>
        <p:nvSpPr>
          <p:cNvPr id="34" name="Oval 3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week train?</a:t>
            </a:r>
          </a:p>
        </p:txBody>
      </p:sp>
      <p:sp>
        <p:nvSpPr>
          <p:cNvPr id="36" name="Oval 35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38" name="Oval 37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D2  ·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moves carried from Kalpa Retail into Kalpa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moves from Weeks 1 and 2 did the week use, and what did each one do?</a:t>
            </a:r>
          </a:p>
        </p:txBody>
      </p:sp>
      <p:pic>
        <p:nvPicPr>
          <p:cNvPr id="9" name="mermaid diagram" descr="f7a6dfa4edfdfa5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801774"/>
            <a:ext cx="11130991" cy="1084276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0352" y="3032354"/>
          <a:ext cx="11130990" cy="3048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78685"/>
                <a:gridCol w="2262358"/>
                <a:gridCol w="4589947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move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Where you first met it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What it did this week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Translate her words into a tree, a ladder or a comparison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Week 1 Monday and Tuesday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Turned a COO's worry into a question the files could answer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Profile before you touch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Week 1 Wednesday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Showed what each export held before any number was trusted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Reconcile, and count a join before you sum 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Week 1 Wednesday; Week 2 Tuesday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Accounted for every row and dollar before any number was reported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Ask what the denominator holds, and compare like with like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Week 1 Monday and Thursday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Decided which rates and changes could be compared at 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Claim, evidence, caveat, action; restate, bound, offer the test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Week 1 Thursday and Friday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Put the answer in the order a board reads it, and held it under challenge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3" name="Oval 12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5" name="Oval 14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new domain changed the words and the cost of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changed between Kalpa Retail and Kalpa Health, and what stayed?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16360"/>
                <a:gridCol w="2618621"/>
                <a:gridCol w="5596009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In Kalpa Retail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In Kalpa Health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thing ordered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An order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booking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unit inside it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An item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test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one that did not happen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cancellation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no-show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Who pays, and when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shopper, at the till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plan, Medicare, Medicaid or the patient, weeks later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cost of an error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missed sale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missed diagnosis, or a claim never paid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431792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476402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mic_caee7398c8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8737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4578096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4797552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[S] You have joined a healthcare company; how would you apply what you did in retail to our data? [F] What changes when the cost of an error is a missed diagnosis rather than a missed sale?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7" name="Oval 16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9" name="Oval 18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003371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Teams in India already do this work for US health care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1223" y="82296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A0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Where is this week's kind of work done for real, and by whom?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building-2_fd73f96751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A HEALTH COMPANY'S OWN CENTRE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Optum India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3303524"/>
            <a:ext cx="3186074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UnitedHealth Group's largest Global Capability Centre, with hubs in Gurugram, Noida, Bengaluru, Hyderabad, Pune and Chennai.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1642" y="1956816"/>
            <a:ext cx="3588410" cy="21544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receipt_e40a408ddf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A REVENUE-CYCLE FIRM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AGS Health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2810" y="3303524"/>
            <a:ext cx="3186074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More than 15,000 revenue-cycle professionals worldwide, with centres in Chennai, Hyderabad, Bengaluru and other Indian cities.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2932" y="1956816"/>
            <a:ext cx="3588410" cy="215442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landmark_74597fd10b4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FICTIONAL, LIKE KALPA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Kalpa's GCC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4100" y="3303524"/>
            <a:ext cx="3186074" cy="581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One company's own centre in Bengaluru, serving Kalpa Health among Kalpa Group's five business units.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294124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Claims, postings and denials read from Bengaluru for a US laboratory are the daily work of both kinds of team (UnitedHealth Group careers, India; agshealth.com; both read on 1 October 2026).</a:t>
            </a:r>
          </a:p>
        </p:txBody>
      </p:sp>
      <p:sp>
        <p:nvSpPr>
          <p:cNvPr id="29" name="Oval 28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week train?</a:t>
            </a:r>
          </a:p>
        </p:txBody>
      </p:sp>
      <p:sp>
        <p:nvSpPr>
          <p:cNvPr id="31" name="Oval 30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33" name="Oval 32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D5  ·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Seven questions this week equips you to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interview questions can you now answer from your own group's work?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682496"/>
          <a:ext cx="11130991" cy="29585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You have joined a healthcare company; how would you apply what you did in retail to our data?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changes when the cost of an error is a missed diagnosis rather than a missed sale?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Two systems export the same entity with different id formats; how do you reconcile them?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[D]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State your finding in one sentence a COO can carry into a board meeting.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Walk me through the analysis you did on unfamiliar data and one decision you would defend.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Take a position in a group discussion and defend it with one number.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Present a finding to a panel and take a challenge on your caveat.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4897120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5229352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" descr="mic_caee7398c8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39080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9031" y="5043424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IN THE INTERVIEW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1" y="5262880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[S] Present a finding to a panel and take a challenge on your caveat: restate the claim with its denominator, bound it, and offer the test.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7" name="Oval 16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9" name="Oval 18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changes first in Build 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What one change does each group make on day one of Build 2, and which entry in its challenges log earns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178694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8191" y="5074920"/>
            <a:ext cx="214223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0158" y="5074920"/>
            <a:ext cx="1609295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comes on Monday?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3 Saturday: what did Build 1 prove, and what changes first in Build 2?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003371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Nine sentences become Build 2's first-day sheet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1223" y="82296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A0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needs each group's change, and which questions come on the way?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Each group, on Tuesday 10 November, when Build 2 opens in Kalpa Financial Services; a change named as a feeling gives that first day nothing to do differently.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53145" y="3496056"/>
            <a:ext cx="8485403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752561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3816096"/>
            <a:ext cx="2645587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The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Which challenges-log entry cost your group the most time?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8819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4581029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58819" y="3816096"/>
            <a:ext cx="2645587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3411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The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3411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What would your group have done that would have prevented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7409497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7287" y="3816096"/>
            <a:ext cx="2645587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1879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The sentence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1879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How does the change read as one sentence: who, when and why?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755" y="2929128"/>
            <a:ext cx="2645587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10237965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15755" y="3816096"/>
            <a:ext cx="2645587" cy="10769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0347" y="3962400"/>
            <a:ext cx="2316403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347" y="4250182"/>
            <a:ext cx="2316403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Where do the nine sentences go after today?</a:t>
            </a:r>
          </a:p>
        </p:txBody>
      </p:sp>
      <p:sp>
        <p:nvSpPr>
          <p:cNvPr id="34" name="Oval 33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week train?</a:t>
            </a:r>
          </a:p>
        </p:txBody>
      </p:sp>
      <p:sp>
        <p:nvSpPr>
          <p:cNvPr id="36" name="Oval 35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38" name="Oval 37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D7  ·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improvement, one sentence, two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does a group turn its costliest challenge into one change for Build 2?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962152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559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In Build 2 we will [a behaviour] on [which day],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because this week [what it cost us, from the challenges log].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30352" y="3083560"/>
          <a:ext cx="11130990" cy="22047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321384"/>
                <a:gridCol w="680960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sentence nobody can act 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sentence Build 2 can act 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will manage our time better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will profile every file on day one before choosing what to count, because this week we chose before we had opened two of the files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will communicate better as a team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will have each member run the notebook cold once before the freeze, because this week only one of us could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will check our numbers more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 will write rows in, kept and set aside after every cleaning step, because this week a count moved and we found it on the last day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7" name="Oval 16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9" name="Oval 18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Nine sentences go on the board, one per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How does each group's change reach Build 2?</a:t>
            </a:r>
          </a:p>
        </p:txBody>
      </p:sp>
      <p:pic>
        <p:nvPicPr>
          <p:cNvPr id="9" name="mermaid diagram" descr="c6898750d68a25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3828" y="1956816"/>
            <a:ext cx="9444037" cy="11287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3231832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Each group reads its sentence aloud once, exactly as written, and the sentence goes into Build 2's first-day sheet unchanged.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3" name="Oval 12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5" name="Oval 14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comes on Monday?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CFC9EE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CFC9EE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60604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comes on Monday?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20440"/>
            <a:ext cx="9509760" cy="28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Where does Week 4 open, and which question does Meera Raghavan bring back?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19" y="5074920"/>
            <a:ext cx="1786943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8191" y="5074920"/>
            <a:ext cx="214223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0158" y="5074920"/>
            <a:ext cx="1609295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comes on Monday?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3 Saturday: what did Build 1 prove, and what changes first in Build 2?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003371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Meera's growth plan needs the number it chases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01223" y="82296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A0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Calibri"/>
              </a:rPr>
              <a:t>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Who needs Monday's answer, and which questions come on the way?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56816"/>
            <a:ext cx="11130991" cy="807720"/>
          </a:xfrm>
          <a:prstGeom prst="roundRect">
            <a:avLst>
              <a:gd name="adj" fmla="val 8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" y="2084832"/>
            <a:ext cx="45720" cy="551688"/>
          </a:xfrm>
          <a:prstGeom prst="roundRect">
            <a:avLst>
              <a:gd name="adj" fmla="val 50000"/>
            </a:avLst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075688"/>
            <a:ext cx="10564063" cy="624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5B3FD6"/>
                </a:solidFill>
                <a:latin typeface="Calibri"/>
              </a:rPr>
              <a:t>Who needs the answer. </a:t>
            </a:r>
            <a:r>
              <a:rPr sz="1500" b="0" i="0">
                <a:solidFill>
                  <a:srgbClr val="1A1440"/>
                </a:solidFill>
                <a:latin typeface="Calibri"/>
              </a:rPr>
              <a:t>Meera Raghavan, CEO of Kalpa Retail, who is building a growth plan on frequency and wants one number the whole company chases, with the numbers that stop anyone gaming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4557" y="3496056"/>
            <a:ext cx="7542580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29128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2223973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3816096"/>
            <a:ext cx="3588410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3962400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Her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250182"/>
            <a:ext cx="3259226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What does Meera ask on Monday, in her words?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1642" y="2929128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5995263" y="3404616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1642" y="3816096"/>
            <a:ext cx="3588410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6234" y="3962400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What carries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6234" y="4250182"/>
            <a:ext cx="3259226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Which move from this week carries straight into Monday?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2932" y="2929128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5" name="Oval 24"/>
          <p:cNvSpPr/>
          <p:nvPr/>
        </p:nvSpPr>
        <p:spPr>
          <a:xfrm>
            <a:off x="9766554" y="3404616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72932" y="3816096"/>
            <a:ext cx="3588410" cy="10769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7524" y="3962400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The week in three 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7524" y="4250182"/>
            <a:ext cx="3259226" cy="2016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What does the week leave you with?</a:t>
            </a:r>
          </a:p>
        </p:txBody>
      </p:sp>
      <p:sp>
        <p:nvSpPr>
          <p:cNvPr id="29" name="Oval 28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week train?</a:t>
            </a:r>
          </a:p>
        </p:txBody>
      </p:sp>
      <p:sp>
        <p:nvSpPr>
          <p:cNvPr id="31" name="Oval 30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33" name="Oval 32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comes on Monday?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D10  ·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Monday opens back in Kalpa Retail, on Meera's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Meera ask on Monday, and which move from this week carries into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121664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228904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message-square_028dbd132a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398776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9031" y="210312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CLIENT 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9031" y="2322576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FFFFFF"/>
                </a:solidFill>
                <a:latin typeface="Calibri"/>
              </a:rPr>
              <a:t>"One number the whole company chases, and the numbers that stop us gaming it. If the target moves and the business does not, I want to know before the board does." Meera Raghavan, CEO, Kalpa Retail</a:t>
            </a:r>
          </a:p>
        </p:txBody>
      </p:sp>
      <p:pic>
        <p:nvPicPr>
          <p:cNvPr id="14" name="mermaid diagram" descr="148ee990d1011c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091" y="3243072"/>
            <a:ext cx="7529512" cy="13716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week train?</a:t>
            </a:r>
          </a:p>
        </p:txBody>
      </p:sp>
      <p:sp>
        <p:nvSpPr>
          <p:cNvPr id="17" name="Oval 16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19" name="Oval 18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comes on Monday?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itg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0116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2416" y="228600"/>
            <a:ext cx="5120640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A0F5C"/>
                </a:solidFill>
                <a:latin typeface="Calibri"/>
              </a:rPr>
              <a:t>Indian Institute of Technology Gandhinagar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" y="420623"/>
            <a:ext cx="585216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 i="0" spc="300">
                <a:solidFill>
                  <a:srgbClr val="6B6690"/>
                </a:solidFill>
                <a:latin typeface="Calibri"/>
              </a:rPr>
              <a:t>ADMINISTERED THROUGH THE COMPETENCY ADVANCEMENT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PG DIPLOMA IN AI-ML AND AGENTIC AI ENGINEERING  ·  COHORT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week in three lines, and Monday left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does Build 1 leave you with, in lines you can say aloud?</a:t>
            </a:r>
          </a:p>
        </p:txBody>
      </p:sp>
      <p:sp>
        <p:nvSpPr>
          <p:cNvPr id="9" name="Rectangle 8"/>
          <p:cNvSpPr/>
          <p:nvPr/>
        </p:nvSpPr>
        <p:spPr>
          <a:xfrm>
            <a:off x="2324557" y="2523744"/>
            <a:ext cx="7542580" cy="18288"/>
          </a:xfrm>
          <a:prstGeom prst="rect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223973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0352" y="2843784"/>
            <a:ext cx="3588410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990088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Count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3277870"/>
            <a:ext cx="3259226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Before you explain a number, say what it counts and in which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1642" y="1956816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5995263" y="2432304"/>
            <a:ext cx="201168" cy="20116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01642" y="2843784"/>
            <a:ext cx="3588410" cy="1076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6234" y="2990088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0F5C"/>
                </a:solidFill>
                <a:latin typeface="Calibri"/>
              </a:rPr>
              <a:t>Out of 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6234" y="3277870"/>
            <a:ext cx="3259226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690"/>
                </a:solidFill>
                <a:latin typeface="Calibri"/>
              </a:rPr>
              <a:t>Every rate is out of something; say what before you compare.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2932" y="1956816"/>
            <a:ext cx="3588410" cy="16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 spc="250">
                <a:solidFill>
                  <a:srgbClr val="5B3FD6"/>
                </a:solidFill>
                <a:latin typeface="Calibri"/>
              </a:rPr>
              <a:t>3</a:t>
            </a:r>
          </a:p>
        </p:txBody>
      </p:sp>
      <p:sp>
        <p:nvSpPr>
          <p:cNvPr id="21" name="Oval 20"/>
          <p:cNvSpPr/>
          <p:nvPr/>
        </p:nvSpPr>
        <p:spPr>
          <a:xfrm>
            <a:off x="9766554" y="2432304"/>
            <a:ext cx="201168" cy="201168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72932" y="2843784"/>
            <a:ext cx="3588410" cy="107696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7524" y="2990088"/>
            <a:ext cx="3259226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Hold the caveat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7524" y="3277870"/>
            <a:ext cx="3259226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FC9EE"/>
                </a:solidFill>
                <a:latin typeface="Calibri"/>
              </a:rPr>
              <a:t>Under challenge, restate the claim, bound it, and offer the test.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103624"/>
            <a:ext cx="11130991" cy="86258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952" y="4306316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search-check_6571e64a04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16044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399031" y="4249928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KAVYA'S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1" y="4469384"/>
            <a:ext cx="9987991" cy="423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On Monday, before anyone argues for a target, ask what its numerator and its denominator hold.</a:t>
            </a:r>
          </a:p>
        </p:txBody>
      </p:sp>
      <p:sp>
        <p:nvSpPr>
          <p:cNvPr id="30" name="Oval 2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1378457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did the week train?</a:t>
            </a:r>
          </a:p>
        </p:txBody>
      </p:sp>
      <p:sp>
        <p:nvSpPr>
          <p:cNvPr id="32" name="Oval 31"/>
          <p:cNvSpPr/>
          <p:nvPr/>
        </p:nvSpPr>
        <p:spPr>
          <a:xfrm>
            <a:off x="210997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19706" y="6437376"/>
            <a:ext cx="165449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changes first in Build 2?</a:t>
            </a:r>
          </a:p>
        </p:txBody>
      </p:sp>
      <p:sp>
        <p:nvSpPr>
          <p:cNvPr id="34" name="Oval 33"/>
          <p:cNvSpPr/>
          <p:nvPr/>
        </p:nvSpPr>
        <p:spPr>
          <a:xfrm>
            <a:off x="3965638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75366" y="6437376"/>
            <a:ext cx="1240440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comes on Monday?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