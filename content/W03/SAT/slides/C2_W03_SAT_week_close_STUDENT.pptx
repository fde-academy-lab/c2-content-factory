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with S1, after grade closure; the last 15 minutes of the week. Four minutes on what</a:t>
            </a:r>
          </a:p>
          <a:p>
            <a:r>
              <a:t>the week trained, the cover and S1 included, eight on the nine improvements, three on Monday. Dr Menon asked which branch of her business</a:t>
            </a:r>
          </a:p>
          <a:p>
            <a:r>
              <a:t>is short and what to tell her board, and every group gave her an answer today, before a panel that had</a:t>
            </a:r>
          </a:p>
          <a:p>
            <a:r>
              <a:t>never seen its work. Kalpa Health and everyone in it are fictional, and every record in its files is</a:t>
            </a:r>
          </a:p>
          <a:p>
            <a:r>
              <a:t>synthetic.</a:t>
            </a:r>
          </a:p>
          <a:p>
            <a:r>
              <a:t>Transition: the three questions that close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cover's 30 seconds. Read the three questions. The middle one is the room's work and</a:t>
            </a:r>
          </a:p>
          <a:p>
            <a:r>
              <a:t>takes eight of the fifteen minutes.</a:t>
            </a:r>
          </a:p>
          <a:p>
            <a:r>
              <a:t>Transition: question 1, what the week trained.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over S3, S4 and S6, after the cover's 30 seconds; D2 and D5 are read</a:t>
            </a:r>
          </a:p>
          <a:p>
            <a:r>
              <a:t>alone. Nothing new was taught this week; the room used the moves of Weeks 1 and 2 on a business with</a:t>
            </a:r>
          </a:p>
          <a:p>
            <a:r>
              <a:t>new words and costlier errors.</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answered in order. Watch for a learner who answers with the</a:t>
            </a:r>
          </a:p>
          <a:p>
            <a:r>
              <a:t>tool they used; the interviewer is asking for the move and the number.</a:t>
            </a:r>
          </a:p>
          <a:p>
            <a:r>
              <a:t>Transition: the moves.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90 seconds. Read the diagram once, left to right. Then hand each move to the groups that used</a:t>
            </a:r>
          </a:p>
          <a:p>
            <a:r>
              <a:t>it, from the chairs' findings list in the trainer's notes: ask one group which row did the most work</a:t>
            </a:r>
          </a:p>
          <a:p>
            <a:r>
              <a:t>for it, and take one sentence. Do not let this become a recap of every group's finding, and name no</a:t>
            </a:r>
          </a:p>
          <a:p>
            <a:r>
              <a:t>finding a group did not reach.</a:t>
            </a:r>
          </a:p>
          <a:p>
            <a:r>
              <a:t>Transition: what 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words changed and the cost of being wrong rose, while the moves stayed the</a:t>
            </a:r>
          </a:p>
          <a:p>
            <a:r>
              <a:t>same." These are Monday's two interview questions, asked again now that the room can answer them from</a:t>
            </a:r>
          </a:p>
          <a:p>
            <a:r>
              <a:t>its own work. Take one answer to the [F] question and ask what the group checked twice because of it.</a:t>
            </a:r>
          </a:p>
          <a:p>
            <a:r>
              <a:t>Transition: who does this work for real.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Optum India calls itself UnitedHealth Group's largest Global Capability</a:t>
            </a:r>
          </a:p>
          <a:p>
            <a:r>
              <a:t>Center, providing healthcare operations, technology, analytics and support services; AGS Health is a</a:t>
            </a:r>
          </a:p>
          <a:p>
            <a:r>
              <a:t>revenue-cycle management firm whose clients include large US hospitals and health systems. Kalpa's GCC is the first kind: one company's</a:t>
            </a:r>
          </a:p>
          <a:p>
            <a:r>
              <a:t>own centre. Monday's domain dossier, section 2, has both.</a:t>
            </a:r>
          </a:p>
          <a:p>
            <a:r>
              <a:t>Transition: the questions the week equips you to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Tags: [S] staple asked everywhere, [F] frequent in GCC and product screens, [D] a</a:t>
            </a:r>
          </a:p>
          <a:p>
            <a:r>
              <a:t>differentiator, as the curriculum calibrates them for 0 to 3 year candidates in the Indian market.</a:t>
            </a:r>
          </a:p>
          <a:p>
            <a:r>
              <a:t>Tell the room to write their own one-breath answer to each tonight, from their own group's work,</a:t>
            </a:r>
          </a:p>
          <a:p>
            <a:r>
              <a:t>since each answer is now a true story with a number in it.</a:t>
            </a:r>
          </a:p>
          <a:p>
            <a:r>
              <a:t>Transition: section 2, the one change per group.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over S8 and S9, with D7 read alone. Two minutes in groups to agree the sentence, then</a:t>
            </a:r>
          </a:p>
          <a:p>
            <a:r>
              <a:t>each group reads it aloud and the trainer writes all nine where the room can see them.</a:t>
            </a:r>
          </a:p>
          <a:p>
            <a:r>
              <a:t>Transition: who needs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Build 2 opens on Tuesday 10 November, after the Monday holiday for Diwali.</a:t>
            </a:r>
          </a:p>
          <a:p>
            <a:r>
              <a:t>Watch for a sentence with no day in it; a change with no day is not planned.</a:t>
            </a:r>
          </a:p>
          <a:p>
            <a:r>
              <a:t>Transition: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groups, then the reading. Push back on any sentence that names a feeling or a</a:t>
            </a:r>
          </a:p>
          <a:p>
            <a:r>
              <a:t>virtue with one question: "What would I see you doing differently on day one of Build 2?" Take the</a:t>
            </a:r>
          </a:p>
          <a:p>
            <a:r>
              <a:t>rewrite and move on.</a:t>
            </a:r>
          </a:p>
          <a:p>
            <a:r>
              <a:t>Transition: the nine sentences.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nine groups at about 40 seconds each. Write each sentence up exactly as said. A</a:t>
            </a:r>
          </a:p>
          <a:p>
            <a:r>
              <a:t>sentence that blames a teammate is rewritten as the group's behaviour before it goes up.</a:t>
            </a:r>
          </a:p>
          <a:p>
            <a:r>
              <a:t>Transition: section 3, Monday.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over S11 and S12, with D10 read alone. The bridge is the same question moving up a</a:t>
            </a:r>
          </a:p>
          <a:p>
            <a:r>
              <a:t>level: this week asked which branch is short, and Monday asks which one number the whole company should</a:t>
            </a:r>
          </a:p>
          <a:p>
            <a:r>
              <a:t>chase.</a:t>
            </a:r>
          </a:p>
          <a:p>
            <a:r>
              <a:t>Transition: who needs Monday's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Three questions, answered on the last two slides. Watch for a learner who</a:t>
            </a:r>
          </a:p>
          <a:p>
            <a:r>
              <a:t>hears Monday as new material; it opens on the move this week used most.</a:t>
            </a:r>
          </a:p>
          <a:p>
            <a:r>
              <a:t>Transition: Meera's ask.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words from the slide. Say the three proposals without judging them:</a:t>
            </a:r>
          </a:p>
          <a:p>
            <a:r>
              <a:t>marketing wants orders per month, operations wants app sessions, and the head of Retail-Plus, Kalpa</a:t>
            </a:r>
          </a:p>
          <a:p>
            <a:r>
              <a:t>Retail's paid membership tier, wants reorders per member. Stop there; Monday opens on it.</a:t>
            </a:r>
          </a:p>
          <a:p>
            <a:r>
              <a:t>Transition: the week in three lines.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lines, then Kavya's review, which is Monday's first move. Leave Meera's</a:t>
            </a:r>
          </a:p>
          <a:p>
            <a:r>
              <a:t>question open on the slide before this one in the room's mind. After class: rest. Week 4 opens on</a:t>
            </a:r>
          </a:p>
          <a:p>
            <a:r>
              <a:t>Monday 26 October.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5.xml"/><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BUILD 1  ·  THE WEEK CLOSE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did Build 1 train, and what changes first in Build 2?</a:t>
            </a:r>
          </a:p>
        </p:txBody>
      </p:sp>
      <p:sp>
        <p:nvSpPr>
          <p:cNvPr id="9" name="TextBox 8"/>
          <p:cNvSpPr txBox="1"/>
          <p:nvPr/>
        </p:nvSpPr>
        <p:spPr>
          <a:xfrm>
            <a:off x="621792" y="4263136"/>
            <a:ext cx="10033711" cy="350266"/>
          </a:xfrm>
          <a:prstGeom prst="rect">
            <a:avLst/>
          </a:prstGeom>
          <a:noFill/>
        </p:spPr>
        <p:txBody>
          <a:bodyPr wrap="square" anchor="t" lIns="0" rIns="0" tIns="0" bIns="0">
            <a:spAutoFit/>
          </a:bodyPr>
          <a:lstStyle/>
          <a:p>
            <a:pPr algn="l"/>
            <a:r>
              <a:rPr sz="1900" b="0" i="1">
                <a:solidFill>
                  <a:srgbClr val="D9A7FF"/>
                </a:solidFill>
                <a:latin typeface="Georgia"/>
              </a:rPr>
              <a:t>“Which branch of my business is short, and what do I do next?”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did the week train?</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What changes first in Build 2?</a:t>
            </a:r>
          </a:p>
        </p:txBody>
      </p:sp>
      <p:sp>
        <p:nvSpPr>
          <p:cNvPr id="15" name="TextBox 14"/>
          <p:cNvSpPr txBox="1"/>
          <p:nvPr/>
        </p:nvSpPr>
        <p:spPr>
          <a:xfrm>
            <a:off x="531552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69956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comes on Monday?</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What did Build 1 train, and what changes first in Build 2?</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close Build 1 in fifteen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Build 1 train, and what does each group change first in Build 2?</a:t>
            </a:r>
          </a:p>
        </p:txBody>
      </p:sp>
      <p:pic>
        <p:nvPicPr>
          <p:cNvPr id="9" name="mermaid diagram" descr="03b7bb0ea0e5c375.png"/>
          <p:cNvPicPr>
            <a:picLocks noChangeAspect="1"/>
          </p:cNvPicPr>
          <p:nvPr/>
        </p:nvPicPr>
        <p:blipFill>
          <a:blip r:embed="rId5"/>
          <a:stretch>
            <a:fillRect/>
          </a:stretch>
        </p:blipFill>
        <p:spPr>
          <a:xfrm>
            <a:off x="3074041" y="1956816"/>
            <a:ext cx="6043612" cy="1371600"/>
          </a:xfrm>
          <a:prstGeom prst="rect">
            <a:avLst/>
          </a:prstGeom>
        </p:spPr>
      </p:pic>
      <p:sp>
        <p:nvSpPr>
          <p:cNvPr id="10" name="TextBox 9"/>
          <p:cNvSpPr txBox="1"/>
          <p:nvPr/>
        </p:nvSpPr>
        <p:spPr>
          <a:xfrm>
            <a:off x="530352" y="34747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Health is the US diagnostics business the week was built on; each group's answer to its COO, Dr Menon, is its one-slide answer (claim, evidence, caveat and action), said today to a panel of an industry expert or a senior industry leader, and these fifteen minutes are about the method behind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did the week train?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15" name="Oval 14"/>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did the week train?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moves from Weeks 1 and 2 did the week carry into a business you had never seen, and what changed on the way?</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did the week train?</a:t>
            </a:r>
          </a:p>
        </p:txBody>
      </p:sp>
      <p:sp>
        <p:nvSpPr>
          <p:cNvPr id="11" name="Rounded Rectangle 10"/>
          <p:cNvSpPr/>
          <p:nvPr/>
        </p:nvSpPr>
        <p:spPr>
          <a:xfrm>
            <a:off x="2628191"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first in Build 2?</a:t>
            </a:r>
          </a:p>
        </p:txBody>
      </p:sp>
      <p:sp>
        <p:nvSpPr>
          <p:cNvPr id="12" name="Rounded Rectangle 11"/>
          <p:cNvSpPr/>
          <p:nvPr/>
        </p:nvSpPr>
        <p:spPr>
          <a:xfrm>
            <a:off x="488015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comes on Monday?</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what did Build 1 train, and what changes first in Build 2?</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learner will be asked how they handled new data</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what the week trained,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who will be asked in an interview how they handled data from a business they did not know; an answer with no number and no decision in it sounds like a guess.</a:t>
            </a:r>
          </a:p>
        </p:txBody>
      </p:sp>
      <p:sp>
        <p:nvSpPr>
          <p:cNvPr id="13" name="Rectangle 12"/>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moves</a:t>
            </a:r>
          </a:p>
        </p:txBody>
      </p:sp>
      <p:sp>
        <p:nvSpPr>
          <p:cNvPr id="18" name="TextBox 17"/>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moves from Weeks 1 and 2 did the week use?</a:t>
            </a:r>
          </a:p>
        </p:txBody>
      </p:sp>
      <p:sp>
        <p:nvSpPr>
          <p:cNvPr id="19" name="TextBox 18"/>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changed</a:t>
            </a:r>
          </a:p>
        </p:txBody>
      </p:sp>
      <p:sp>
        <p:nvSpPr>
          <p:cNvPr id="23" name="TextBox 22"/>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changed between Kalpa Retail and Kalpa Health?</a:t>
            </a:r>
          </a:p>
        </p:txBody>
      </p:sp>
      <p:sp>
        <p:nvSpPr>
          <p:cNvPr id="24" name="TextBox 23"/>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Who does it</a:t>
            </a:r>
          </a:p>
        </p:txBody>
      </p:sp>
      <p:sp>
        <p:nvSpPr>
          <p:cNvPr id="28" name="TextBox 27"/>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teams in India do this work for US health care?</a:t>
            </a:r>
          </a:p>
        </p:txBody>
      </p:sp>
      <p:sp>
        <p:nvSpPr>
          <p:cNvPr id="29" name="TextBox 28"/>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The questions</a:t>
            </a:r>
          </a:p>
        </p:txBody>
      </p:sp>
      <p:sp>
        <p:nvSpPr>
          <p:cNvPr id="33" name="TextBox 32"/>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Which interview questions can you now answer from your own work?</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did the week train?</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38" name="Oval 37"/>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moves carried from Kalpa Retail into Kalpa Health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from Weeks 1 and 2 did the week use, and what did each one do?</a:t>
            </a:r>
          </a:p>
        </p:txBody>
      </p:sp>
      <p:pic>
        <p:nvPicPr>
          <p:cNvPr id="9" name="mermaid diagram" descr="f7a6dfa4edfdfa5c.png"/>
          <p:cNvPicPr>
            <a:picLocks noChangeAspect="1"/>
          </p:cNvPicPr>
          <p:nvPr/>
        </p:nvPicPr>
        <p:blipFill>
          <a:blip r:embed="rId5"/>
          <a:stretch>
            <a:fillRect/>
          </a:stretch>
        </p:blipFill>
        <p:spPr>
          <a:xfrm>
            <a:off x="530352" y="1801774"/>
            <a:ext cx="11130991" cy="1084276"/>
          </a:xfrm>
          <a:prstGeom prst="rect">
            <a:avLst/>
          </a:prstGeom>
        </p:spPr>
      </p:pic>
      <p:graphicFrame>
        <p:nvGraphicFramePr>
          <p:cNvPr id="10" name="Table 9"/>
          <p:cNvGraphicFramePr>
            <a:graphicFrameLocks noGrp="1"/>
          </p:cNvGraphicFramePr>
          <p:nvPr/>
        </p:nvGraphicFramePr>
        <p:xfrm>
          <a:off x="530352" y="3032354"/>
          <a:ext cx="11130990" cy="3048000"/>
        </p:xfrm>
        <a:graphic>
          <a:graphicData uri="http://schemas.openxmlformats.org/drawingml/2006/table">
            <a:tbl>
              <a:tblPr firstRow="0" bandRow="0">
                <a:tableStyleId>{2D5ABB26-0587-4C30-8999-92F81FD0307C}</a:tableStyleId>
              </a:tblPr>
              <a:tblGrid>
                <a:gridCol w="4278685"/>
                <a:gridCol w="2262358"/>
                <a:gridCol w="4589947"/>
              </a:tblGrid>
              <a:tr h="335280">
                <a:tc>
                  <a:txBody>
                    <a:bodyPr/>
                    <a:lstStyle/>
                    <a:p>
                      <a:r>
                        <a:rPr sz="1250" b="1" i="0">
                          <a:solidFill>
                            <a:srgbClr val="FFFFFF"/>
                          </a:solidFill>
                          <a:latin typeface="Calibri"/>
                        </a:rPr>
                        <a:t>The move</a:t>
                      </a:r>
                    </a:p>
                  </a:txBody>
                  <a:tcPr marL="101600" marR="101600" marT="38100" marB="38100" anchor="ctr">
                    <a:solidFill>
                      <a:srgbClr val="1A0F5C"/>
                    </a:solidFill>
                  </a:tcPr>
                </a:tc>
                <a:tc>
                  <a:txBody>
                    <a:bodyPr/>
                    <a:lstStyle/>
                    <a:p>
                      <a:r>
                        <a:rPr sz="1250" b="1" i="0">
                          <a:solidFill>
                            <a:srgbClr val="FFFFFF"/>
                          </a:solidFill>
                          <a:latin typeface="Calibri"/>
                        </a:rPr>
                        <a:t>Where you first met it</a:t>
                      </a:r>
                    </a:p>
                  </a:txBody>
                  <a:tcPr marL="101600" marR="101600" marT="38100" marB="38100" anchor="ctr">
                    <a:solidFill>
                      <a:srgbClr val="1A0F5C"/>
                    </a:solidFill>
                  </a:tcPr>
                </a:tc>
                <a:tc>
                  <a:txBody>
                    <a:bodyPr/>
                    <a:lstStyle/>
                    <a:p>
                      <a:r>
                        <a:rPr sz="1250" b="1" i="0">
                          <a:solidFill>
                            <a:srgbClr val="FFFFFF"/>
                          </a:solidFill>
                          <a:latin typeface="Calibri"/>
                        </a:rPr>
                        <a:t>What it did this week</a:t>
                      </a:r>
                    </a:p>
                  </a:txBody>
                  <a:tcPr marL="101600" marR="101600" marT="38100" marB="38100" anchor="ctr">
                    <a:solidFill>
                      <a:srgbClr val="1A0F5C"/>
                    </a:solidFill>
                  </a:tcPr>
                </a:tc>
              </a:tr>
              <a:tr h="542544">
                <a:tc>
                  <a:txBody>
                    <a:bodyPr/>
                    <a:lstStyle/>
                    <a:p>
                      <a:r>
                        <a:rPr sz="1200" b="0" i="0">
                          <a:solidFill>
                            <a:srgbClr val="1A1440"/>
                          </a:solidFill>
                          <a:latin typeface="Calibri"/>
                        </a:rPr>
                        <a:t>Translate her words into a tree, a ladder or a comparison</a:t>
                      </a:r>
                    </a:p>
                  </a:txBody>
                  <a:tcPr marL="101600" marR="101600" marT="38100" marB="38100" anchor="ctr">
                    <a:solidFill>
                      <a:srgbClr val="FFFFFF"/>
                    </a:solidFill>
                  </a:tcPr>
                </a:tc>
                <a:tc>
                  <a:txBody>
                    <a:bodyPr/>
                    <a:lstStyle/>
                    <a:p>
                      <a:r>
                        <a:rPr sz="1200" b="0" i="0">
                          <a:solidFill>
                            <a:srgbClr val="1A1440"/>
                          </a:solidFill>
                          <a:latin typeface="Calibri"/>
                        </a:rPr>
                        <a:t>Week 1 Monday and Tuesday</a:t>
                      </a:r>
                    </a:p>
                  </a:txBody>
                  <a:tcPr marL="101600" marR="101600" marT="38100" marB="38100" anchor="ctr">
                    <a:solidFill>
                      <a:srgbClr val="FFFFFF"/>
                    </a:solidFill>
                  </a:tcPr>
                </a:tc>
                <a:tc>
                  <a:txBody>
                    <a:bodyPr/>
                    <a:lstStyle/>
                    <a:p>
                      <a:r>
                        <a:rPr sz="1200" b="0" i="0">
                          <a:solidFill>
                            <a:srgbClr val="1A1440"/>
                          </a:solidFill>
                          <a:latin typeface="Calibri"/>
                        </a:rPr>
                        <a:t>Turned a COO's worry into a question the files could answer</a:t>
                      </a:r>
                    </a:p>
                  </a:txBody>
                  <a:tcPr marL="101600" marR="101600" marT="38100" marB="38100" anchor="ctr">
                    <a:solidFill>
                      <a:srgbClr val="FFFFFF"/>
                    </a:solidFill>
                  </a:tcPr>
                </a:tc>
              </a:tr>
              <a:tr h="542544">
                <a:tc>
                  <a:txBody>
                    <a:bodyPr/>
                    <a:lstStyle/>
                    <a:p>
                      <a:r>
                        <a:rPr sz="1200" b="0" i="0">
                          <a:solidFill>
                            <a:srgbClr val="1A1440"/>
                          </a:solidFill>
                          <a:latin typeface="Calibri"/>
                        </a:rPr>
                        <a:t>Profile before you touch</a:t>
                      </a:r>
                    </a:p>
                  </a:txBody>
                  <a:tcPr marL="101600" marR="101600" marT="38100" marB="38100" anchor="ctr">
                    <a:solidFill>
                      <a:srgbClr val="F4F2FA"/>
                    </a:solidFill>
                  </a:tcPr>
                </a:tc>
                <a:tc>
                  <a:txBody>
                    <a:bodyPr/>
                    <a:lstStyle/>
                    <a:p>
                      <a:r>
                        <a:rPr sz="1200" b="0" i="0">
                          <a:solidFill>
                            <a:srgbClr val="1A1440"/>
                          </a:solidFill>
                          <a:latin typeface="Calibri"/>
                        </a:rPr>
                        <a:t>Week 1 Wednesday</a:t>
                      </a:r>
                    </a:p>
                  </a:txBody>
                  <a:tcPr marL="101600" marR="101600" marT="38100" marB="38100" anchor="ctr">
                    <a:solidFill>
                      <a:srgbClr val="F4F2FA"/>
                    </a:solidFill>
                  </a:tcPr>
                </a:tc>
                <a:tc>
                  <a:txBody>
                    <a:bodyPr/>
                    <a:lstStyle/>
                    <a:p>
                      <a:r>
                        <a:rPr sz="1200" b="0" i="0">
                          <a:solidFill>
                            <a:srgbClr val="1A1440"/>
                          </a:solidFill>
                          <a:latin typeface="Calibri"/>
                        </a:rPr>
                        <a:t>Showed what each export held before any number was trusted</a:t>
                      </a:r>
                    </a:p>
                  </a:txBody>
                  <a:tcPr marL="101600" marR="101600" marT="38100" marB="38100" anchor="ctr">
                    <a:solidFill>
                      <a:srgbClr val="F4F2FA"/>
                    </a:solidFill>
                  </a:tcPr>
                </a:tc>
              </a:tr>
              <a:tr h="542544">
                <a:tc>
                  <a:txBody>
                    <a:bodyPr/>
                    <a:lstStyle/>
                    <a:p>
                      <a:r>
                        <a:rPr sz="1200" b="0" i="0">
                          <a:solidFill>
                            <a:srgbClr val="1A1440"/>
                          </a:solidFill>
                          <a:latin typeface="Calibri"/>
                        </a:rPr>
                        <a:t>Reconcile, and count a join before you sum it</a:t>
                      </a:r>
                    </a:p>
                  </a:txBody>
                  <a:tcPr marL="101600" marR="101600" marT="38100" marB="38100" anchor="ctr">
                    <a:solidFill>
                      <a:srgbClr val="FFFFFF"/>
                    </a:solidFill>
                  </a:tcPr>
                </a:tc>
                <a:tc>
                  <a:txBody>
                    <a:bodyPr/>
                    <a:lstStyle/>
                    <a:p>
                      <a:r>
                        <a:rPr sz="1200" b="0" i="0">
                          <a:solidFill>
                            <a:srgbClr val="1A1440"/>
                          </a:solidFill>
                          <a:latin typeface="Calibri"/>
                        </a:rPr>
                        <a:t>Week 1 Wednesday; Week 2 Tuesday</a:t>
                      </a:r>
                    </a:p>
                  </a:txBody>
                  <a:tcPr marL="101600" marR="101600" marT="38100" marB="38100" anchor="ctr">
                    <a:solidFill>
                      <a:srgbClr val="FFFFFF"/>
                    </a:solidFill>
                  </a:tcPr>
                </a:tc>
                <a:tc>
                  <a:txBody>
                    <a:bodyPr/>
                    <a:lstStyle/>
                    <a:p>
                      <a:r>
                        <a:rPr sz="1200" b="0" i="0">
                          <a:solidFill>
                            <a:srgbClr val="1A1440"/>
                          </a:solidFill>
                          <a:latin typeface="Calibri"/>
                        </a:rPr>
                        <a:t>Accounted for every row and dollar before any number was reported</a:t>
                      </a:r>
                    </a:p>
                  </a:txBody>
                  <a:tcPr marL="101600" marR="101600" marT="38100" marB="38100" anchor="ctr">
                    <a:solidFill>
                      <a:srgbClr val="FFFFFF"/>
                    </a:solidFill>
                  </a:tcPr>
                </a:tc>
              </a:tr>
              <a:tr h="542544">
                <a:tc>
                  <a:txBody>
                    <a:bodyPr/>
                    <a:lstStyle/>
                    <a:p>
                      <a:r>
                        <a:rPr sz="1200" b="0" i="0">
                          <a:solidFill>
                            <a:srgbClr val="1A1440"/>
                          </a:solidFill>
                          <a:latin typeface="Calibri"/>
                        </a:rPr>
                        <a:t>Ask what the denominator holds, and compare like with like</a:t>
                      </a:r>
                    </a:p>
                  </a:txBody>
                  <a:tcPr marL="101600" marR="101600" marT="38100" marB="38100" anchor="ctr">
                    <a:solidFill>
                      <a:srgbClr val="F4F2FA"/>
                    </a:solidFill>
                  </a:tcPr>
                </a:tc>
                <a:tc>
                  <a:txBody>
                    <a:bodyPr/>
                    <a:lstStyle/>
                    <a:p>
                      <a:r>
                        <a:rPr sz="1200" b="0" i="0">
                          <a:solidFill>
                            <a:srgbClr val="1A1440"/>
                          </a:solidFill>
                          <a:latin typeface="Calibri"/>
                        </a:rPr>
                        <a:t>Week 1 Monday and Thursday</a:t>
                      </a:r>
                    </a:p>
                  </a:txBody>
                  <a:tcPr marL="101600" marR="101600" marT="38100" marB="38100" anchor="ctr">
                    <a:solidFill>
                      <a:srgbClr val="F4F2FA"/>
                    </a:solidFill>
                  </a:tcPr>
                </a:tc>
                <a:tc>
                  <a:txBody>
                    <a:bodyPr/>
                    <a:lstStyle/>
                    <a:p>
                      <a:r>
                        <a:rPr sz="1200" b="0" i="0">
                          <a:solidFill>
                            <a:srgbClr val="1A1440"/>
                          </a:solidFill>
                          <a:latin typeface="Calibri"/>
                        </a:rPr>
                        <a:t>Decided which rates and changes could be compared at all</a:t>
                      </a:r>
                    </a:p>
                  </a:txBody>
                  <a:tcPr marL="101600" marR="101600" marT="38100" marB="38100" anchor="ctr">
                    <a:solidFill>
                      <a:srgbClr val="F4F2FA"/>
                    </a:solidFill>
                  </a:tcPr>
                </a:tc>
              </a:tr>
              <a:tr h="542544">
                <a:tc>
                  <a:txBody>
                    <a:bodyPr/>
                    <a:lstStyle/>
                    <a:p>
                      <a:r>
                        <a:rPr sz="1200" b="0" i="0">
                          <a:solidFill>
                            <a:srgbClr val="1A1440"/>
                          </a:solidFill>
                          <a:latin typeface="Calibri"/>
                        </a:rPr>
                        <a:t>Claim, evidence, caveat, action; restate, bound, offer the test</a:t>
                      </a:r>
                    </a:p>
                  </a:txBody>
                  <a:tcPr marL="101600" marR="101600" marT="38100" marB="38100" anchor="ctr">
                    <a:solidFill>
                      <a:srgbClr val="FFFFFF"/>
                    </a:solidFill>
                  </a:tcPr>
                </a:tc>
                <a:tc>
                  <a:txBody>
                    <a:bodyPr/>
                    <a:lstStyle/>
                    <a:p>
                      <a:r>
                        <a:rPr sz="1200" b="0" i="0">
                          <a:solidFill>
                            <a:srgbClr val="1A1440"/>
                          </a:solidFill>
                          <a:latin typeface="Calibri"/>
                        </a:rPr>
                        <a:t>Week 1 Thursday and Friday</a:t>
                      </a:r>
                    </a:p>
                  </a:txBody>
                  <a:tcPr marL="101600" marR="101600" marT="38100" marB="38100" anchor="ctr">
                    <a:solidFill>
                      <a:srgbClr val="FFFFFF"/>
                    </a:solidFill>
                  </a:tcPr>
                </a:tc>
                <a:tc>
                  <a:txBody>
                    <a:bodyPr/>
                    <a:lstStyle/>
                    <a:p>
                      <a:r>
                        <a:rPr sz="1200" b="0" i="0">
                          <a:solidFill>
                            <a:srgbClr val="1A1440"/>
                          </a:solidFill>
                          <a:latin typeface="Calibri"/>
                        </a:rPr>
                        <a:t>Put the answer in the order a board reads it, and held it under challenge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did the week train?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15" name="Oval 14"/>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New words and costlier errors, with the same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changed between Kalpa Retail and Kalpa Health, and what stayed?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916360"/>
                <a:gridCol w="2618621"/>
                <a:gridCol w="5596009"/>
              </a:tblGrid>
              <a:tr h="369824">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In Kalpa Retail</a:t>
                      </a:r>
                    </a:p>
                  </a:txBody>
                  <a:tcPr marL="101600" marR="101600" marT="38100" marB="38100" anchor="ctr">
                    <a:solidFill>
                      <a:srgbClr val="1A0F5C"/>
                    </a:solidFill>
                  </a:tcPr>
                </a:tc>
                <a:tc>
                  <a:txBody>
                    <a:bodyPr/>
                    <a:lstStyle/>
                    <a:p>
                      <a:r>
                        <a:rPr sz="1450" b="1" i="0">
                          <a:solidFill>
                            <a:srgbClr val="FFFFFF"/>
                          </a:solidFill>
                          <a:latin typeface="Calibri"/>
                        </a:rPr>
                        <a:t>In Kalpa Health</a:t>
                      </a:r>
                    </a:p>
                  </a:txBody>
                  <a:tcPr marL="101600" marR="101600" marT="38100" marB="38100" anchor="ctr">
                    <a:solidFill>
                      <a:srgbClr val="1A0F5C"/>
                    </a:solidFill>
                  </a:tcPr>
                </a:tc>
              </a:tr>
              <a:tr h="369824">
                <a:tc>
                  <a:txBody>
                    <a:bodyPr/>
                    <a:lstStyle/>
                    <a:p>
                      <a:r>
                        <a:rPr sz="1400" b="0" i="0">
                          <a:solidFill>
                            <a:srgbClr val="1A1440"/>
                          </a:solidFill>
                          <a:latin typeface="Calibri"/>
                        </a:rPr>
                        <a:t>The thing ordered</a:t>
                      </a:r>
                    </a:p>
                  </a:txBody>
                  <a:tcPr marL="101600" marR="101600" marT="38100" marB="38100" anchor="ctr">
                    <a:solidFill>
                      <a:srgbClr val="FFFFFF"/>
                    </a:solidFill>
                  </a:tcPr>
                </a:tc>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a:t>
                      </a:r>
                    </a:p>
                  </a:txBody>
                  <a:tcPr marL="101600" marR="101600" marT="38100" marB="38100" anchor="ctr">
                    <a:solidFill>
                      <a:srgbClr val="FFFFFF"/>
                    </a:solidFill>
                  </a:tcPr>
                </a:tc>
              </a:tr>
              <a:tr h="369824">
                <a:tc>
                  <a:txBody>
                    <a:bodyPr/>
                    <a:lstStyle/>
                    <a:p>
                      <a:r>
                        <a:rPr sz="1400" b="0" i="0">
                          <a:solidFill>
                            <a:srgbClr val="1A1440"/>
                          </a:solidFill>
                          <a:latin typeface="Calibri"/>
                        </a:rPr>
                        <a:t>The unit inside it</a:t>
                      </a:r>
                    </a:p>
                  </a:txBody>
                  <a:tcPr marL="101600" marR="101600" marT="38100" marB="38100" anchor="ctr">
                    <a:solidFill>
                      <a:srgbClr val="F4F2FA"/>
                    </a:solidFill>
                  </a:tcPr>
                </a:tc>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A test</a:t>
                      </a:r>
                    </a:p>
                  </a:txBody>
                  <a:tcPr marL="101600" marR="101600" marT="38100" marB="38100" anchor="ctr">
                    <a:solidFill>
                      <a:srgbClr val="F4F2FA"/>
                    </a:solidFill>
                  </a:tcPr>
                </a:tc>
              </a:tr>
              <a:tr h="369824">
                <a:tc>
                  <a:txBody>
                    <a:bodyPr/>
                    <a:lstStyle/>
                    <a:p>
                      <a:r>
                        <a:rPr sz="1400" b="0" i="0">
                          <a:solidFill>
                            <a:srgbClr val="1A1440"/>
                          </a:solidFill>
                          <a:latin typeface="Calibri"/>
                        </a:rPr>
                        <a:t>The one that did not happen</a:t>
                      </a:r>
                    </a:p>
                  </a:txBody>
                  <a:tcPr marL="101600" marR="101600" marT="38100" marB="38100" anchor="ctr">
                    <a:solidFill>
                      <a:srgbClr val="FFFFFF"/>
                    </a:solidFill>
                  </a:tcPr>
                </a:tc>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A no-show</a:t>
                      </a:r>
                    </a:p>
                  </a:txBody>
                  <a:tcPr marL="101600" marR="101600" marT="38100" marB="38100" anchor="ctr">
                    <a:solidFill>
                      <a:srgbClr val="FFFFFF"/>
                    </a:solidFill>
                  </a:tcPr>
                </a:tc>
              </a:tr>
              <a:tr h="369824">
                <a:tc>
                  <a:txBody>
                    <a:bodyPr/>
                    <a:lstStyle/>
                    <a:p>
                      <a:r>
                        <a:rPr sz="1400" b="0" i="0">
                          <a:solidFill>
                            <a:srgbClr val="1A1440"/>
                          </a:solidFill>
                          <a:latin typeface="Calibri"/>
                        </a:rPr>
                        <a:t>Who pays, and when</a:t>
                      </a:r>
                    </a:p>
                  </a:txBody>
                  <a:tcPr marL="101600" marR="101600" marT="38100" marB="38100" anchor="ctr">
                    <a:solidFill>
                      <a:srgbClr val="F4F2FA"/>
                    </a:solidFill>
                  </a:tcPr>
                </a:tc>
                <a:tc>
                  <a:txBody>
                    <a:bodyPr/>
                    <a:lstStyle/>
                    <a:p>
                      <a:r>
                        <a:rPr sz="1400" b="0" i="0">
                          <a:solidFill>
                            <a:srgbClr val="1A1440"/>
                          </a:solidFill>
                          <a:latin typeface="Calibri"/>
                        </a:rPr>
                        <a:t>The shopper, at the till</a:t>
                      </a:r>
                    </a:p>
                  </a:txBody>
                  <a:tcPr marL="101600" marR="101600" marT="38100" marB="38100" anchor="ctr">
                    <a:solidFill>
                      <a:srgbClr val="F4F2FA"/>
                    </a:solidFill>
                  </a:tcPr>
                </a:tc>
                <a:tc>
                  <a:txBody>
                    <a:bodyPr/>
                    <a:lstStyle/>
                    <a:p>
                      <a:r>
                        <a:rPr sz="1400" b="0" i="0">
                          <a:solidFill>
                            <a:srgbClr val="1A1440"/>
                          </a:solidFill>
                          <a:latin typeface="Calibri"/>
                        </a:rPr>
                        <a:t>A plan, Medicare, Medicaid or the patient, weeks later</a:t>
                      </a:r>
                    </a:p>
                  </a:txBody>
                  <a:tcPr marL="101600" marR="101600" marT="38100" marB="38100" anchor="ctr">
                    <a:solidFill>
                      <a:srgbClr val="F4F2FA"/>
                    </a:solidFill>
                  </a:tcPr>
                </a:tc>
              </a:tr>
              <a:tr h="369824">
                <a:tc>
                  <a:txBody>
                    <a:bodyPr/>
                    <a:lstStyle/>
                    <a:p>
                      <a:r>
                        <a:rPr sz="1400" b="0" i="0">
                          <a:solidFill>
                            <a:srgbClr val="1A1440"/>
                          </a:solidFill>
                          <a:latin typeface="Calibri"/>
                        </a:rPr>
                        <a:t>The cost of an error</a:t>
                      </a:r>
                    </a:p>
                  </a:txBody>
                  <a:tcPr marL="101600" marR="101600" marT="38100" marB="38100" anchor="ctr">
                    <a:solidFill>
                      <a:srgbClr val="FFFFFF"/>
                    </a:solidFill>
                  </a:tcPr>
                </a:tc>
                <a:tc>
                  <a:txBody>
                    <a:bodyPr/>
                    <a:lstStyle/>
                    <a:p>
                      <a:r>
                        <a:rPr sz="1400" b="0" i="0">
                          <a:solidFill>
                            <a:srgbClr val="1A1440"/>
                          </a:solidFill>
                          <a:latin typeface="Calibri"/>
                        </a:rPr>
                        <a:t>A missed sale</a:t>
                      </a:r>
                    </a:p>
                  </a:txBody>
                  <a:tcPr marL="101600" marR="101600" marT="38100" marB="38100" anchor="ctr">
                    <a:solidFill>
                      <a:srgbClr val="FFFFFF"/>
                    </a:solidFill>
                  </a:tcPr>
                </a:tc>
                <a:tc>
                  <a:txBody>
                    <a:bodyPr/>
                    <a:lstStyle/>
                    <a:p>
                      <a:r>
                        <a:rPr sz="1400" b="0" i="0">
                          <a:solidFill>
                            <a:srgbClr val="1A1440"/>
                          </a:solidFill>
                          <a:latin typeface="Calibri"/>
                        </a:rPr>
                        <a:t>A missed diagnosis, or a claim never paid</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35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500329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797552"/>
            <a:ext cx="9987991" cy="941832"/>
          </a:xfrm>
          <a:prstGeom prst="rect">
            <a:avLst/>
          </a:prstGeom>
          <a:noFill/>
        </p:spPr>
        <p:txBody>
          <a:bodyPr wrap="square" anchor="t" lIns="0" rIns="0" tIns="0" bIns="0">
            <a:spAutoFit/>
          </a:bodyPr>
          <a:lstStyle/>
          <a:p>
            <a:r>
              <a:rPr sz="1500" b="0" i="0">
                <a:solidFill>
                  <a:srgbClr val="1A1440"/>
                </a:solidFill>
                <a:latin typeface="Calibri"/>
              </a:rPr>
              <a:t>[S] You have joined a healthcare company; how would you apply what you did in retail to our data? [F] What changes when the cost of an error is a missed diagnosis rather than a missed sale? ([S] marks a staple asked everywhere, [F] a question frequent in GCC and product screens.)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did the week train?</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19" name="Oval 18"/>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Teams in India already do this work for US health care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is this week's kind of work done for real, and by whom?</a:t>
            </a:r>
          </a:p>
        </p:txBody>
      </p:sp>
      <p:sp>
        <p:nvSpPr>
          <p:cNvPr id="10" name="Rounded Rectangle 9"/>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ilding-2_fd73f9675153.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HEALTH COMPANY'S OWN CENTRE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Optum India</a:t>
            </a:r>
          </a:p>
        </p:txBody>
      </p:sp>
      <p:sp>
        <p:nvSpPr>
          <p:cNvPr id="15" name="TextBox 14"/>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UnitedHealth Group's largest Global Capability Centre, with hubs in Gurugram, Noida, Bengaluru, Hyderabad, Pune and Chennai.</a:t>
            </a:r>
          </a:p>
        </p:txBody>
      </p:sp>
      <p:sp>
        <p:nvSpPr>
          <p:cNvPr id="16" name="Rounded Rectangle 15"/>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9" name="TextBox 18"/>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REVENUE-CYCLE FIRM</a:t>
            </a:r>
          </a:p>
        </p:txBody>
      </p:sp>
      <p:sp>
        <p:nvSpPr>
          <p:cNvPr id="20" name="TextBox 19"/>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AGS Health</a:t>
            </a:r>
          </a:p>
        </p:txBody>
      </p:sp>
      <p:sp>
        <p:nvSpPr>
          <p:cNvPr id="21" name="TextBox 20"/>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More than 15,000 revenue-cycle professionals worldwide, with centres in Chennai, Hyderabad, Bengaluru and other Indian cities.</a:t>
            </a:r>
          </a:p>
        </p:txBody>
      </p:sp>
      <p:sp>
        <p:nvSpPr>
          <p:cNvPr id="22" name="Rounded Rectangle 21"/>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andmark_74597fd10b4b.png"/>
          <p:cNvPicPr>
            <a:picLocks noChangeAspect="1"/>
          </p:cNvPicPr>
          <p:nvPr/>
        </p:nvPicPr>
        <p:blipFill>
          <a:blip r:embed="rId6"/>
          <a:stretch>
            <a:fillRect/>
          </a:stretch>
        </p:blipFill>
        <p:spPr>
          <a:xfrm>
            <a:off x="8383828" y="2267712"/>
            <a:ext cx="237744" cy="237744"/>
          </a:xfrm>
          <a:prstGeom prst="rect">
            <a:avLst/>
          </a:prstGeom>
        </p:spPr>
      </p:pic>
      <p:sp>
        <p:nvSpPr>
          <p:cNvPr id="25" name="TextBox 24"/>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FICTIONAL, LIKE KALPA</a:t>
            </a:r>
          </a:p>
        </p:txBody>
      </p:sp>
      <p:sp>
        <p:nvSpPr>
          <p:cNvPr id="26" name="TextBox 25"/>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Kalpa's GCC</a:t>
            </a:r>
          </a:p>
        </p:txBody>
      </p:sp>
      <p:sp>
        <p:nvSpPr>
          <p:cNvPr id="27" name="TextBox 26"/>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One company's own centre in Bengaluru, serving Kalpa Health among Kalpa Group's five business units.</a:t>
            </a:r>
          </a:p>
        </p:txBody>
      </p:sp>
      <p:sp>
        <p:nvSpPr>
          <p:cNvPr id="28" name="TextBox 27"/>
          <p:cNvSpPr txBox="1"/>
          <p:nvPr/>
        </p:nvSpPr>
        <p:spPr>
          <a:xfrm>
            <a:off x="530352" y="429412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Optum India runs healthcare operations, technology and analytics for UnitedHealth Group, and AGS Health does billing and coding for large US hospitals and health systems, both from Indian cities (UnitedHealth Group careers, India; agshealth.com; both read on 1 October 2026).</a:t>
            </a:r>
          </a:p>
        </p:txBody>
      </p:sp>
      <p:sp>
        <p:nvSpPr>
          <p:cNvPr id="29" name="Oval 2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did the week train?</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33" name="Oval 32"/>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D5  ·  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questions this week equips you to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can you now answer from your own group's work?</a:t>
            </a:r>
          </a:p>
        </p:txBody>
      </p:sp>
      <p:graphicFrame>
        <p:nvGraphicFramePr>
          <p:cNvPr id="9" name="Table 8"/>
          <p:cNvGraphicFramePr>
            <a:graphicFrameLocks noGrp="1"/>
          </p:cNvGraphicFramePr>
          <p:nvPr/>
        </p:nvGraphicFramePr>
        <p:xfrm>
          <a:off x="530352" y="168249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You have joined a healthcare company; how would you apply what you did in retail to our data?</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changes when the cost of an error is a missed diagnosis rather than a missed sale?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Two systems export the same entity with different id formats; how do you reconcile them?</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State your finding in one sentence a COO can carry into a board meeting.</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Walk me through the analysis you did on unfamiliar data and one decision you would defend.</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Take a position in a group discussion and defend it with one number.</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Present a finding to a panel and take a challenge on your caveat.</a:t>
                      </a:r>
                    </a:p>
                  </a:txBody>
                  <a:tcPr marL="101600" marR="101600" marT="38100" marB="38100" anchor="ctr">
                    <a:solidFill>
                      <a:srgbClr val="FFFFFF"/>
                    </a:solidFill>
                  </a:tcPr>
                </a:tc>
              </a:tr>
            </a:tbl>
          </a:graphicData>
        </a:graphic>
      </p:graphicFrame>
      <p:sp>
        <p:nvSpPr>
          <p:cNvPr id="10" name="Rounded Rectangle 9"/>
          <p:cNvSpPr/>
          <p:nvPr/>
        </p:nvSpPr>
        <p:spPr>
          <a:xfrm>
            <a:off x="530352" y="48971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293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5339080"/>
            <a:ext cx="237744" cy="237744"/>
          </a:xfrm>
          <a:prstGeom prst="rect">
            <a:avLst/>
          </a:prstGeom>
        </p:spPr>
      </p:pic>
      <p:sp>
        <p:nvSpPr>
          <p:cNvPr id="13" name="TextBox 12"/>
          <p:cNvSpPr txBox="1"/>
          <p:nvPr/>
        </p:nvSpPr>
        <p:spPr>
          <a:xfrm>
            <a:off x="1399031" y="50434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262880"/>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restate the claim with its denominator, bound it, and offer the test.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did the week train?</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19" name="Oval 18"/>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changes first in Build 2?</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one change does each group make on day one of Build 2, and which entry in its challenges log, the dated record of where it got stuck, earns it?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week train?</a:t>
            </a:r>
          </a:p>
        </p:txBody>
      </p:sp>
      <p:sp>
        <p:nvSpPr>
          <p:cNvPr id="11" name="Rounded Rectangle 10"/>
          <p:cNvSpPr/>
          <p:nvPr/>
        </p:nvSpPr>
        <p:spPr>
          <a:xfrm>
            <a:off x="2628191"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changes first in Build 2?</a:t>
            </a:r>
          </a:p>
        </p:txBody>
      </p:sp>
      <p:sp>
        <p:nvSpPr>
          <p:cNvPr id="12" name="Rounded Rectangle 11"/>
          <p:cNvSpPr/>
          <p:nvPr/>
        </p:nvSpPr>
        <p:spPr>
          <a:xfrm>
            <a:off x="488015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comes on Monday?</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what did Build 1 train, and what changes first in Build 2?</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Build 2's first day needs one change per group</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group's change,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Each group, on Tuesday 10 November, when Build 2 opens in Kalpa Financial Services, the Kalpa business whose lending question arrives in Week 5; a change named as a feeling gives that first day nothing to do differently.</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entry</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challenges-log entry cost your group the most time?</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behaviour</a:t>
            </a:r>
          </a:p>
        </p:txBody>
      </p:sp>
      <p:sp>
        <p:nvSpPr>
          <p:cNvPr id="23" name="TextBox 22"/>
          <p:cNvSpPr txBox="1"/>
          <p:nvPr/>
        </p:nvSpPr>
        <p:spPr>
          <a:xfrm>
            <a:off x="3523411"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your group have done that would have prevented it?</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sentence</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How does the change read as one sentence: who, when and why?</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The board</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do the nine sentences go after today?</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did the week train?</a:t>
            </a:r>
          </a:p>
        </p:txBody>
      </p:sp>
      <p:sp>
        <p:nvSpPr>
          <p:cNvPr id="36" name="Oval 3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What changes first in Build 2?</a:t>
            </a:r>
          </a:p>
        </p:txBody>
      </p:sp>
      <p:sp>
        <p:nvSpPr>
          <p:cNvPr id="38" name="Oval 37"/>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D7  ·  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group turns its costliest entry into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group turn its costliest challenge into one change for Build 2?</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In Build 2 we will [a behaviour] on [which day],</a:t>
            </a:r>
          </a:p>
          <a:p>
            <a:pPr>
              <a:spcAft>
                <a:spcPts val="200"/>
              </a:spcAft>
            </a:pPr>
            <a:r>
              <a:rPr sz="1400" b="0" i="0">
                <a:solidFill>
                  <a:srgbClr val="E4E1F1"/>
                </a:solidFill>
                <a:latin typeface="Consolas"/>
              </a:rPr>
              <a:t>because this week [what it cost us, from the challenges log].</a:t>
            </a:r>
          </a:p>
        </p:txBody>
      </p:sp>
      <p:graphicFrame>
        <p:nvGraphicFramePr>
          <p:cNvPr id="14" name="Table 13"/>
          <p:cNvGraphicFramePr>
            <a:graphicFrameLocks noGrp="1"/>
          </p:cNvGraphicFramePr>
          <p:nvPr/>
        </p:nvGraphicFramePr>
        <p:xfrm>
          <a:off x="530352" y="3083560"/>
          <a:ext cx="11130990" cy="2204720"/>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A sentence nobody can act on</a:t>
                      </a:r>
                    </a:p>
                  </a:txBody>
                  <a:tcPr marL="101600" marR="101600" marT="38100" marB="38100" anchor="ctr">
                    <a:solidFill>
                      <a:srgbClr val="1A0F5C"/>
                    </a:solidFill>
                  </a:tcPr>
                </a:tc>
                <a:tc>
                  <a:txBody>
                    <a:bodyPr/>
                    <a:lstStyle/>
                    <a:p>
                      <a:r>
                        <a:rPr sz="1450" b="1" i="0">
                          <a:solidFill>
                            <a:srgbClr val="FFFFFF"/>
                          </a:solidFill>
                          <a:latin typeface="Calibri"/>
                        </a:rPr>
                        <a:t>A sentence Build 2 can act on</a:t>
                      </a:r>
                    </a:p>
                  </a:txBody>
                  <a:tcPr marL="101600" marR="101600" marT="38100" marB="38100" anchor="ctr">
                    <a:solidFill>
                      <a:srgbClr val="1A0F5C"/>
                    </a:solidFill>
                  </a:tcPr>
                </a:tc>
              </a:tr>
              <a:tr h="611632">
                <a:tc>
                  <a:txBody>
                    <a:bodyPr/>
                    <a:lstStyle/>
                    <a:p>
                      <a:r>
                        <a:rPr sz="1400" b="0" i="0">
                          <a:solidFill>
                            <a:srgbClr val="1A1440"/>
                          </a:solidFill>
                          <a:latin typeface="Calibri"/>
                        </a:rPr>
                        <a:t>We will manage our time better</a:t>
                      </a:r>
                    </a:p>
                  </a:txBody>
                  <a:tcPr marL="101600" marR="101600" marT="38100" marB="38100" anchor="ctr">
                    <a:solidFill>
                      <a:srgbClr val="FFFFFF"/>
                    </a:solidFill>
                  </a:tcPr>
                </a:tc>
                <a:tc>
                  <a:txBody>
                    <a:bodyPr/>
                    <a:lstStyle/>
                    <a:p>
                      <a:r>
                        <a:rPr sz="1400" b="0" i="0">
                          <a:solidFill>
                            <a:srgbClr val="1A1440"/>
                          </a:solidFill>
                          <a:latin typeface="Calibri"/>
                        </a:rPr>
                        <a:t>We will profile every file on day one before choosing what to count, because this week we chose before we had opened two of the files</a:t>
                      </a:r>
                    </a:p>
                  </a:txBody>
                  <a:tcPr marL="101600" marR="101600" marT="38100" marB="38100" anchor="ctr">
                    <a:solidFill>
                      <a:srgbClr val="FFFFFF"/>
                    </a:solidFill>
                  </a:tcPr>
                </a:tc>
              </a:tr>
              <a:tr h="611632">
                <a:tc>
                  <a:txBody>
                    <a:bodyPr/>
                    <a:lstStyle/>
                    <a:p>
                      <a:r>
                        <a:rPr sz="1400" b="0" i="0">
                          <a:solidFill>
                            <a:srgbClr val="1A1440"/>
                          </a:solidFill>
                          <a:latin typeface="Calibri"/>
                        </a:rPr>
                        <a:t>We will communicate better as a team</a:t>
                      </a:r>
                    </a:p>
                  </a:txBody>
                  <a:tcPr marL="101600" marR="101600" marT="38100" marB="38100" anchor="ctr">
                    <a:solidFill>
                      <a:srgbClr val="F4F2FA"/>
                    </a:solidFill>
                  </a:tcPr>
                </a:tc>
                <a:tc>
                  <a:txBody>
                    <a:bodyPr/>
                    <a:lstStyle/>
                    <a:p>
                      <a:r>
                        <a:rPr sz="1400" b="0" i="0">
                          <a:solidFill>
                            <a:srgbClr val="1A1440"/>
                          </a:solidFill>
                          <a:latin typeface="Calibri"/>
                        </a:rPr>
                        <a:t>We will have each member run the notebook cold once before the freeze, because this week only one of us could</a:t>
                      </a:r>
                    </a:p>
                  </a:txBody>
                  <a:tcPr marL="101600" marR="101600" marT="38100" marB="38100" anchor="ctr">
                    <a:solidFill>
                      <a:srgbClr val="F4F2FA"/>
                    </a:solidFill>
                  </a:tcPr>
                </a:tc>
              </a:tr>
              <a:tr h="611632">
                <a:tc>
                  <a:txBody>
                    <a:bodyPr/>
                    <a:lstStyle/>
                    <a:p>
                      <a:r>
                        <a:rPr sz="1400" b="0" i="0">
                          <a:solidFill>
                            <a:srgbClr val="1A1440"/>
                          </a:solidFill>
                          <a:latin typeface="Calibri"/>
                        </a:rPr>
                        <a:t>We will check our numbers more</a:t>
                      </a:r>
                    </a:p>
                  </a:txBody>
                  <a:tcPr marL="101600" marR="101600" marT="38100" marB="38100" anchor="ctr">
                    <a:solidFill>
                      <a:srgbClr val="FFFFFF"/>
                    </a:solidFill>
                  </a:tcPr>
                </a:tc>
                <a:tc>
                  <a:txBody>
                    <a:bodyPr/>
                    <a:lstStyle/>
                    <a:p>
                      <a:r>
                        <a:rPr sz="1400" b="0" i="0">
                          <a:solidFill>
                            <a:srgbClr val="1A1440"/>
                          </a:solidFill>
                          <a:latin typeface="Calibri"/>
                        </a:rPr>
                        <a:t>We will write rows in, kept and set aside after every cleaning step, because this week a count moved and we found it on the last day</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did the week train?</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What changes first in Build 2?</a:t>
            </a:r>
          </a:p>
        </p:txBody>
      </p:sp>
      <p:sp>
        <p:nvSpPr>
          <p:cNvPr id="19" name="Oval 18"/>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sentences go on the board, one per group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group's change reach Build 2?</a:t>
            </a:r>
          </a:p>
        </p:txBody>
      </p:sp>
      <p:pic>
        <p:nvPicPr>
          <p:cNvPr id="9" name="mermaid diagram" descr="c6898750d68a2531.png"/>
          <p:cNvPicPr>
            <a:picLocks noChangeAspect="1"/>
          </p:cNvPicPr>
          <p:nvPr/>
        </p:nvPicPr>
        <p:blipFill>
          <a:blip r:embed="rId5"/>
          <a:stretch>
            <a:fillRect/>
          </a:stretch>
        </p:blipFill>
        <p:spPr>
          <a:xfrm>
            <a:off x="1373828" y="1956816"/>
            <a:ext cx="9444037"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group reads its sentence aloud once, exactly as written, and the sentence goes into Build 2's first-day sheet unchanged.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did the week train?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What changes first in Build 2?</a:t>
            </a:r>
          </a:p>
        </p:txBody>
      </p:sp>
      <p:sp>
        <p:nvSpPr>
          <p:cNvPr id="15" name="Oval 14"/>
          <p:cNvSpPr/>
          <p:nvPr/>
        </p:nvSpPr>
        <p:spPr>
          <a:xfrm>
            <a:off x="39656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7536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comes on Monday?</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comes on Monday?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Week 4 open, and which question does Meera Raghavan bring back?</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week train?</a:t>
            </a:r>
          </a:p>
        </p:txBody>
      </p:sp>
      <p:sp>
        <p:nvSpPr>
          <p:cNvPr id="11" name="Rounded Rectangle 10"/>
          <p:cNvSpPr/>
          <p:nvPr/>
        </p:nvSpPr>
        <p:spPr>
          <a:xfrm>
            <a:off x="2628191"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first in Build 2?</a:t>
            </a:r>
          </a:p>
        </p:txBody>
      </p:sp>
      <p:sp>
        <p:nvSpPr>
          <p:cNvPr id="12" name="Rounded Rectangle 11"/>
          <p:cNvSpPr/>
          <p:nvPr/>
        </p:nvSpPr>
        <p:spPr>
          <a:xfrm>
            <a:off x="4880158"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comes on Monday?</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what did Build 1 train, and what changes first in Build 2?</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Meera's growth plan needs the number it chases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Monday's answer,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CEO of Kalpa Retail, who is building a growth plan on frequency and wants one number the whole company chases, with the numbers that stop anyone gaming it; a target chosen badly moves while the business stands still.</a:t>
            </a:r>
          </a:p>
        </p:txBody>
      </p:sp>
      <p:sp>
        <p:nvSpPr>
          <p:cNvPr id="13" name="Rectangle 12"/>
          <p:cNvSpPr/>
          <p:nvPr/>
        </p:nvSpPr>
        <p:spPr>
          <a:xfrm>
            <a:off x="2324557" y="37627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222397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Her ask</a:t>
            </a:r>
          </a:p>
        </p:txBody>
      </p:sp>
      <p:sp>
        <p:nvSpPr>
          <p:cNvPr id="18" name="TextBox 17"/>
          <p:cNvSpPr txBox="1"/>
          <p:nvPr/>
        </p:nvSpPr>
        <p:spPr>
          <a:xfrm>
            <a:off x="69494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What does Meera ask on Monday, in her words?</a:t>
            </a:r>
          </a:p>
        </p:txBody>
      </p:sp>
      <p:sp>
        <p:nvSpPr>
          <p:cNvPr id="19" name="TextBox 18"/>
          <p:cNvSpPr txBox="1"/>
          <p:nvPr/>
        </p:nvSpPr>
        <p:spPr>
          <a:xfrm>
            <a:off x="430164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4301642" y="408279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6623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carries</a:t>
            </a:r>
          </a:p>
        </p:txBody>
      </p:sp>
      <p:sp>
        <p:nvSpPr>
          <p:cNvPr id="23" name="TextBox 22"/>
          <p:cNvSpPr txBox="1"/>
          <p:nvPr/>
        </p:nvSpPr>
        <p:spPr>
          <a:xfrm>
            <a:off x="4466234" y="4516882"/>
            <a:ext cx="3259226" cy="366776"/>
          </a:xfrm>
          <a:prstGeom prst="rect">
            <a:avLst/>
          </a:prstGeom>
          <a:noFill/>
        </p:spPr>
        <p:txBody>
          <a:bodyPr wrap="square" anchor="t" lIns="0" rIns="0" tIns="0" bIns="0">
            <a:spAutoFit/>
          </a:bodyPr>
          <a:lstStyle/>
          <a:p>
            <a:pPr algn="l"/>
            <a:r>
              <a:rPr sz="1000" b="0" i="0">
                <a:solidFill>
                  <a:srgbClr val="6B6690"/>
                </a:solidFill>
                <a:latin typeface="Calibri"/>
              </a:rPr>
              <a:t>Which move from this week carries straight into Monday?</a:t>
            </a:r>
          </a:p>
        </p:txBody>
      </p:sp>
      <p:sp>
        <p:nvSpPr>
          <p:cNvPr id="24" name="TextBox 23"/>
          <p:cNvSpPr txBox="1"/>
          <p:nvPr/>
        </p:nvSpPr>
        <p:spPr>
          <a:xfrm>
            <a:off x="807293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9766554"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8072932" y="408279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37524" y="4229100"/>
            <a:ext cx="3259226" cy="251205"/>
          </a:xfrm>
          <a:prstGeom prst="rect">
            <a:avLst/>
          </a:prstGeom>
          <a:noFill/>
        </p:spPr>
        <p:txBody>
          <a:bodyPr wrap="square" anchor="t" lIns="0" rIns="0" tIns="0" bIns="0">
            <a:spAutoFit/>
          </a:bodyPr>
          <a:lstStyle/>
          <a:p>
            <a:pPr algn="l"/>
            <a:r>
              <a:rPr sz="1300" b="1" i="0">
                <a:solidFill>
                  <a:srgbClr val="FFFFFF"/>
                </a:solidFill>
                <a:latin typeface="Calibri"/>
              </a:rPr>
              <a:t>The week in three lines</a:t>
            </a:r>
          </a:p>
        </p:txBody>
      </p:sp>
      <p:sp>
        <p:nvSpPr>
          <p:cNvPr id="28" name="TextBox 27"/>
          <p:cNvSpPr txBox="1"/>
          <p:nvPr/>
        </p:nvSpPr>
        <p:spPr>
          <a:xfrm>
            <a:off x="8237524" y="4516882"/>
            <a:ext cx="3259226" cy="201676"/>
          </a:xfrm>
          <a:prstGeom prst="rect">
            <a:avLst/>
          </a:prstGeom>
          <a:noFill/>
        </p:spPr>
        <p:txBody>
          <a:bodyPr wrap="square" anchor="t" lIns="0" rIns="0" tIns="0" bIns="0">
            <a:spAutoFit/>
          </a:bodyPr>
          <a:lstStyle/>
          <a:p>
            <a:pPr algn="l"/>
            <a:r>
              <a:rPr sz="1000" b="0" i="0">
                <a:solidFill>
                  <a:srgbClr val="CFC9EE"/>
                </a:solidFill>
                <a:latin typeface="Calibri"/>
              </a:rPr>
              <a:t>What does the week leave you with?</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did the week train?</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33" name="Oval 32"/>
          <p:cNvSpPr/>
          <p:nvPr/>
        </p:nvSpPr>
        <p:spPr>
          <a:xfrm>
            <a:off x="39656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07536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comes on Monday?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for one number; ask first what it counts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 Monday, and which move from this week carries into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number the whole company chases, and the numbers that stop us gaming it. If the target moves and the business does not, I want to know before the board does." Meera Raghavan, CEO, Kalpa Retail</a:t>
            </a:r>
          </a:p>
        </p:txBody>
      </p:sp>
      <p:pic>
        <p:nvPicPr>
          <p:cNvPr id="14" name="mermaid diagram" descr="148ee990d1011c6b.png"/>
          <p:cNvPicPr>
            <a:picLocks noChangeAspect="1"/>
          </p:cNvPicPr>
          <p:nvPr/>
        </p:nvPicPr>
        <p:blipFill>
          <a:blip r:embed="rId6"/>
          <a:stretch>
            <a:fillRect/>
          </a:stretch>
        </p:blipFill>
        <p:spPr>
          <a:xfrm>
            <a:off x="2331091" y="3243072"/>
            <a:ext cx="7529512" cy="13716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did the week train?</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19" name="Oval 18"/>
          <p:cNvSpPr/>
          <p:nvPr/>
        </p:nvSpPr>
        <p:spPr>
          <a:xfrm>
            <a:off x="39656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7536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comes on Monday?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 first, name the denominator, hold the caveat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Build 1 leave you with, in lines you can say aloud?</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Count first</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Before you explain a number, say what it counts and in which file.</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Out of what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rate is out of something; say what before you compare.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Hold the caveat</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Under challenge, restate the claim, bound it, and offer the test.</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On Monday, before anyone argues for a target, ask what its numerator and its denominator hold.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did the week train?</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What changes first in Build 2?</a:t>
            </a:r>
          </a:p>
        </p:txBody>
      </p:sp>
      <p:sp>
        <p:nvSpPr>
          <p:cNvPr id="34" name="Oval 33"/>
          <p:cNvSpPr/>
          <p:nvPr/>
        </p:nvSpPr>
        <p:spPr>
          <a:xfrm>
            <a:off x="39656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07536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comes on Monday?</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