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online, one minute. Read Dr Menon's words aloud and leave them on screen.</a:t>
            </a:r>
          </a:p>
          <a:p>
            <a:r>
              <a:t>Then say the one sentence the week rests on: this is the question Meera asked in Week 1, from a</a:t>
            </a:r>
          </a:p>
          <a:p>
            <a:r>
              <a:t>business none of you has seen, and you already own the method that answers it. Nothing new is taught</a:t>
            </a:r>
          </a:p>
          <a:p>
            <a:r>
              <a:t>this week.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one runs about 15 minutes. Its job is to put Dr Menon's situation in front of the room</a:t>
            </a:r>
          </a:p>
          <a:p>
            <a:r>
              <a:t>in her words before anyone hears the word "sub-problem". No tools, no method names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Kalpa Health is fictional, like every Kalpa unit; say it once.</a:t>
            </a:r>
          </a:p>
          <a:p>
            <a:r>
              <a:t>Q2 is April to June and Q3 is July to September, the calendar quarters Kalpa Health reports in. Ask the room which of</a:t>
            </a:r>
          </a:p>
          <a:p>
            <a:r>
              <a:t>the four numbers they would want to check first, hear two answers, and move on without ruling on</a:t>
            </a:r>
          </a:p>
          <a:p>
            <a:r>
              <a:t>either.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4 minutes. Read Dr Menon's line, then each row. These are her heads'</a:t>
            </a:r>
          </a:p>
          <a:p>
            <a:r>
              <a:t>words, and each group will own one row by the end of the allocation. The full wording is in the</a:t>
            </a:r>
          </a:p>
          <a:p>
            <a:r>
              <a:t>briefing note, C2_W03_D01_briefing_note_STUDENT.md, which every learner has.</a:t>
            </a:r>
          </a:p>
          <a:p>
            <a:r>
              <a:t>Watch for learners who start explaining a row ("it must be a new competitor"). Say: hold that, write</a:t>
            </a:r>
          </a:p>
          <a:p>
            <a:r>
              <a:t>it in your challenges log as a hypothesis, and test it once the build starts. A hypothesis said</a:t>
            </a:r>
          </a:p>
          <a:p>
            <a:r>
              <a:t>aloud today is a guess the whole room hears.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One minute in pairs, then letters in the chat. Expect a and d</a:t>
            </a:r>
          </a:p>
          <a:p>
            <a:r>
              <a:t>from learners who feel the domain is unfamiliar. Do not resolve it here; the answer slide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The answer is b. Option c is the dangerous one: the data does</a:t>
            </a:r>
          </a:p>
          <a:p>
            <a:r>
              <a:t>not look the same, and some of its words have no retail twin, which is exactly where a group must</a:t>
            </a:r>
          </a:p>
          <a:p>
            <a:r>
              <a:t>slow down. Option a is the reason this week exists: in an interview, a candidate who says "I would</a:t>
            </a:r>
          </a:p>
          <a:p>
            <a:r>
              <a:t>need to learn the domain's techniques" has not seen that the method travels.</a:t>
            </a:r>
          </a:p>
          <a:p>
            <a:r>
              <a:t>Say the interview question aloud. It is the question this whole week equips them to answer, and it</a:t>
            </a:r>
          </a:p>
          <a:p>
            <a:r>
              <a:t>is asked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two runs about 20 minutes: what each group takes, how the days run, what every group</a:t>
            </a:r>
          </a:p>
          <a:p>
            <a:r>
              <a:t>ships. The allocation itself runs after the deck, in its own 30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Name the five by number and name, and use those numbers all</a:t>
            </a:r>
          </a:p>
          <a:p>
            <a:r>
              <a:t>week: 1 revenue, 2 bookings, 3 billing, 4 no-shows, 5 campaign. Each has its own brief in the briefs</a:t>
            </a:r>
          </a:p>
          <a:p>
            <a:r>
              <a:t>folder, C2_W03_D01_brief_{n}_{name}_STUDENT.md.</a:t>
            </a:r>
          </a:p>
          <a:p>
            <a:r>
              <a:t>Do not say which method each maps to. If someone asks, the reply is: that is today's work, and it is</a:t>
            </a:r>
          </a:p>
          <a:p>
            <a:r>
              <a:t>yours.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Say that the allocation is decided in the next 30 minutes and</a:t>
            </a:r>
          </a:p>
          <a:p>
            <a:r>
              <a:t>not before, and that every group holds all ten files whatever it takes.</a:t>
            </a:r>
          </a:p>
          <a:p>
            <a:r>
              <a:t>The group of three carries the same brief as a group of four; say so plainly so nobody asks for a</a:t>
            </a:r>
          </a:p>
          <a:p>
            <a:r>
              <a:t>lighter one.</a:t>
            </a:r>
          </a:p>
          <a:p>
            <a:r>
              <a:t>Do not announce the allocation method here; the Programme Head chooses it on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4 minutes. Walk the days left to right. Three things to land:</a:t>
            </a:r>
          </a:p>
          <a:p>
            <a:r>
              <a:t>the headline claim is stated on Wednesday so that Thursday tests it rather than finishes it; the</a:t>
            </a:r>
          </a:p>
          <a:p>
            <a:r>
              <a:t>mock's viva half runs on your own group's work, so the challenges log is revision material; the</a:t>
            </a:r>
          </a:p>
          <a:p>
            <a:r>
              <a:t>GDs run on Kalpa Health's problem space and are a thread separate from the project.</a:t>
            </a:r>
          </a:p>
          <a:p>
            <a:r>
              <a:t>Tuesday 20 October is Dussehra, a holiday with no session. The time after the second block each</a:t>
            </a:r>
          </a:p>
          <a:p>
            <a:r>
              <a:t>day is open build time with the 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The rule protects the week: a build week that teaches turns</a:t>
            </a:r>
          </a:p>
          <a:p>
            <a:r>
              <a:t>into a teaching week with a project bolted on. A trainer or TA will answer a domain question (what</a:t>
            </a:r>
          </a:p>
          <a:p>
            <a:r>
              <a:t>a phlebotomist does, what a panel is) and will not answer a method question with the method.</a:t>
            </a:r>
          </a:p>
          <a:p>
            <a:r>
              <a:t>The TAs' reply to "which method do we use?" is a question back: which one did Meera's question need?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The marks per event are locked: mini project 40 including the</a:t>
            </a:r>
          </a:p>
          <a:p>
            <a:r>
              <a:t>presentation, mock 30, GD 30. The next three slides carry the three rubrics, and every brief</a:t>
            </a:r>
          </a:p>
          <a:p>
            <a:r>
              <a:t>carries the mini project's.</a:t>
            </a:r>
          </a:p>
          <a:p>
            <a:r>
              <a:t>The live demo runs cold: a fresh start, the raw files, top to bottom. A demo that only works warm</a:t>
            </a:r>
          </a:p>
          <a:p>
            <a:r>
              <a:t>fails in front of the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Read the five criteria top to bottom and stop on the last</a:t>
            </a:r>
          </a:p>
          <a:p>
            <a:r>
              <a:t>one: every member answers a challenge on the caveat, so a group that splits the work and not the</a:t>
            </a:r>
          </a:p>
          <a:p>
            <a:r>
              <a:t>understanding loses marks one learner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The technical half is Weeks 1 and 2; the viva half is the</a:t>
            </a:r>
          </a:p>
          <a:p>
            <a:r>
              <a:t>group's own work, which is why the challenges log is revision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The GD is a thread separate from the project. Point at</a:t>
            </a:r>
          </a:p>
          <a:p>
            <a:r>
              <a:t>"Engages": bringing a quiet member in earns marks, and talking over one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three runs about 15 minutes. Every picture is shown exactly as the room drew it in</a:t>
            </a:r>
          </a:p>
          <a:p>
            <a:r>
              <a:t>Kalpa Retail. None is redrawn for Kalpa Health on screen: drawing that version is each group's work</a:t>
            </a:r>
          </a:p>
          <a:p>
            <a:r>
              <a:t>today, in the translation worksheet.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This is Week 1 Monday's tree, word for word. Ask the room to</a:t>
            </a:r>
          </a:p>
          <a:p>
            <a:r>
              <a:t>name one box's Kalpa Health word in the chat, and stop at one. Every group draws its own version in</a:t>
            </a:r>
          </a:p>
          <a:p>
            <a:r>
              <a:t>the worksheet, and sub-problem 1 draws it in full.</a:t>
            </a:r>
          </a:p>
          <a:p>
            <a:r>
              <a:t>Watch for a learner who draws the Kalpa Health tree in the chat. Thank them and ask them to take it</a:t>
            </a:r>
          </a:p>
          <a:p>
            <a:r>
              <a:t>to their group; the room does not get a shared answer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Week 1 Tuesday's ladder, unchanged. Remind the room that</a:t>
            </a:r>
          </a:p>
          <a:p>
            <a:r>
              <a:t>Meera's "we are losing customers" was disproved on rung 1 in Kalpa Retail. Leave the Your-turn</a:t>
            </a:r>
          </a:p>
          <a:p>
            <a:r>
              <a:t>question open; each group answers it for its own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This is Anand's bridge from Week 1 Wednesday and two rows of</a:t>
            </a:r>
          </a:p>
          <a:p>
            <a:r>
              <a:t>that day's decisions log. The duplicates were the only move; the order with no status stayed in</a:t>
            </a:r>
          </a:p>
          <a:p>
            <a:r>
              <a:t>Q2, and the unreadable amount was one copy of a pair whose twin stayed. The decisions log this week has the same five columns, in</a:t>
            </a:r>
          </a:p>
          <a:p>
            <a:r>
              <a:t>C2_W03_D01_decisions_log_STUDENT.xlsx, and its Reconcile sheet checks input against clean plus</a:t>
            </a:r>
          </a:p>
          <a:p>
            <a:r>
              <a:t>removed for every file.</a:t>
            </a:r>
          </a:p>
          <a:p>
            <a:r>
              <a:t>"Profile before you touch" is the whole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Week 1 Thursday's picture of the monsoon discount. The</a:t>
            </a:r>
          </a:p>
          <a:p>
            <a:r>
              <a:t>permutation test asked whether chance could produce a gap; the fair comparison asked what else</a:t>
            </a:r>
          </a:p>
          <a:p>
            <a:r>
              <a:t>differed between the groups. Both are in the room's notes.</a:t>
            </a:r>
          </a:p>
          <a:p>
            <a:r>
              <a:t>Do not answer the Your-turn question on screen. More than one sub-problem compares two groups, and</a:t>
            </a:r>
          </a:p>
          <a:p>
            <a:r>
              <a:t>each group decides for itself what a fair comparison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Week 2 Tuesday's rule for joins, the one Anand's booked-against-</a:t>
            </a:r>
          </a:p>
          <a:p>
            <a:r>
              <a:t>collected report rested on. Leave the Your-turn question open; each group answers it in its own</a:t>
            </a:r>
          </a:p>
          <a:p>
            <a:r>
              <a:t>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3 minutes. The worksheet is C2_W03_D01_translation_worksheet_STUDENT.md in</a:t>
            </a:r>
          </a:p>
          <a:p>
            <a:r>
              <a:t>the briefs folder; each group copies it into its own repository. The three pairs start the map, and</a:t>
            </a:r>
          </a:p>
          <a:p>
            <a:r>
              <a:t>each group adds at least five of its own. The pairs that behave differently are the valuable ones.</a:t>
            </a:r>
          </a:p>
          <a:p>
            <a:r>
              <a:t>The worksheet also asks the cost-of-error question and ends with a one-sentence scope the group pins</a:t>
            </a:r>
          </a:p>
          <a:p>
            <a:r>
              <a:t>at the close. Entry one of the challenges log is due before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The mock's viva reads this log. Prepared answers break where</a:t>
            </a:r>
          </a:p>
          <a:p>
            <a:r>
              <a:t>the log is thin, so an entry written today is worth more than three written the night before Mock R1</a:t>
            </a:r>
          </a:p>
          <a:p>
            <a:r>
              <a:t>on Thursday 22 October.</a:t>
            </a:r>
          </a:p>
          <a:p>
            <a:r>
              <a:t>A challenge that needed a cleaning or matching decision also goes in the decisions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Programme Head, 2 minutes. The checkpoint questions are not shared today; a group that</a:t>
            </a:r>
          </a:p>
          <a:p>
            <a:r>
              <a:t>cannot answer them at the checkpoint is stuck and should say so then, because Mock R1 runs on</a:t>
            </a:r>
          </a:p>
          <a:p>
            <a:r>
              <a:t>Thursday 22 October.</a:t>
            </a:r>
          </a:p>
          <a:p>
            <a:r>
              <a:t>Take questions for the remaining ten minutes of the hour, then close on the [F] question and leave</a:t>
            </a:r>
          </a:p>
          <a:p>
            <a:r>
              <a:t>it on screen as the room breaks for the allocation. Each group</a:t>
            </a:r>
          </a:p>
          <a:p>
            <a:r>
              <a:t>answers it for its own sub-problem in Part 5 of the worksheet; nobody answers it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Relationship Id="rId5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Relationship Id="rId5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Relationship Id="rId5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Relationship Id="rId5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19622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3  ·  MONDAY  ·  BUILD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Build 1: Kalpa 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“My dashboard says 5 percent. The plan says 18. Which branch of my business is short?”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Dr Priya Menon, COO, Kalpa Health,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596931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565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9699" y="5248656"/>
            <a:ext cx="65608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66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2709" y="5248656"/>
            <a:ext cx="172078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3, Day 1. Build 1: Kalpa 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second Kalpa COO has Meera's problem, in a business with its own words.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83948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week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0735" y="5074920"/>
            <a:ext cx="190537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3, Day 1. Build 1: Kalpa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new client for the GCC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Kalpa Health runs laboratories and patient service centres in six US metros.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uilding-2_fd73f96751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UNIT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Kalpa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Diagnostic laboratories and patient service centres in Dallas, Phoenix, New York, Chicago, Atlanta and Philadelphia: one laboratory and two centres in each metro.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user-round_13fbc0c997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CLIENT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Dr Priya Menon, COO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Runs the business day to day and presents to the board shortly. She asks the questions this week answers.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3444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users_113eb2dd32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GCC data and AI team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same trainee engineers who answered Meera Raghavan. Dr Menon is your internal client for the week.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4841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52191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TEST VOLUMES, Q2 TO Q3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54203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 Dr Menon's dashboard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" y="56728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1679" y="44841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1679" y="52191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PLAN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1679" y="54203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the board approved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1679" y="56728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3007" y="44841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52191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METROS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3007" y="54203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6 laboratories, 12 centres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33007" y="56728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84335" y="44841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84335" y="52191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FILES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84335" y="54203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exported by her data team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84335" y="56728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45" name="Oval 4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47" name="Oval 4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Dr Menon wrote, and what her heads asked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questions from four people, each put as it was put to her.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5292"/>
            <a:ext cx="11130991" cy="86258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157983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10159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32105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"I do not need a dashboard. I need to know where the 13 points went, and what to do next."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2982468"/>
          <a:ext cx="11130990" cy="29443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831123"/>
                <a:gridCol w="629986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Who is asking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they asked Dr Menon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finance head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does our lab revenue come from, and which branch of it is short?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patient service centres' operations head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Bookings fell in two metros in Q3: how far, and why?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finance head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Claims and collections disagree: which are unpaid, and can I trust the figure?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patient service centres' operations head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KH-ATL-03 has the worst no-show rate: is the centre really worse?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marketing head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Our free at-home collection offer lifted bookings 9 percent: did it work?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9" name="Oval 18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Same question as Meera's: what changed?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Meera asked it about Kalpa Retail in Week 1; Dr Menon asks it about a lab.</a:t>
            </a:r>
          </a:p>
        </p:txBody>
      </p:sp>
      <p:pic>
        <p:nvPicPr>
          <p:cNvPr id="9" name="mermaid diagram" descr="47dd6adb2bd772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2453" y="1956816"/>
            <a:ext cx="8586787" cy="18002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903345"/>
            <a:ext cx="11130991" cy="13411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031360"/>
            <a:ext cx="45720" cy="10850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22217"/>
            <a:ext cx="10564063" cy="1158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Between Meera's question and Dr Menon's, what changed? Answer as a letter: a) the method, since a laboratory business needs analytical techniques of its own; b) the vocabulary and the cost of an error, while the method holds; c) nothing at all, since bookings and claims look like orders and payments; d) the tools, since a lab's data needs a new stack and a new language.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7" name="Oval 1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words and the stakes change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method holds; the vocabulary and the cost of a wrong number do not.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4102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23204"/>
                <a:gridCol w="3830839"/>
                <a:gridCol w="5276947"/>
              </a:tblGrid>
              <a:tr h="352552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In Kalpa Retail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In Kalpa Health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method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Tree, ladder, reconcile, fair comparison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same four, unchanged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vocabulary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Orders, items, cancellations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Bookings, tests, no-shows, and words with no retail twin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cost of an error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A missed sale or a wasted budget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A patient's test, a centre, a diagnosis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36230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9552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6501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7693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9888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group that maps Kalpa Health onto the Week 1 method in its own words has done the transfer. A group that waits to be told the mapping has not.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490931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8952" y="511200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22173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99031" y="505561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1" y="527507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[S] You have joined a healthcare company; how would you apply what you did in retail to our data?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24" name="Oval 23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week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Five sub-problems, groups of four, and a week that ends in front of a panel on Saturday 24 October.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83948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week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0735" y="5074920"/>
            <a:ext cx="190537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3, Day 1. Build 1: Kalpa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sub-problems, one per group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one is the Weeks 1 and 2 method in a domain you have never seen.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dollar-sign_246857d1b1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SUB-PROBLEM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1677558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Where lab revenue comes from, and which branch is short.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3126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4294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alendar-x_d5f63e5742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4022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94294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SUB-PROBLEM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4294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Bookings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4294" y="3303524"/>
            <a:ext cx="1677558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Bookings fell in two metros in Q3: how far, and why.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55900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57068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receipt_e40a408ddf4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6796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57068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SUB-PROBLEM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068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Billing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068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Claims and remittances disagree: which are unpaid, and what is the true figure.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8674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19842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user-x_6c1c2f811bb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9570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519842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SUB-PROBLEM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9842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No-shows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9842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centre's no-show rate looks worse: real or noise, and what a fair comparison needs.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81448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82616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truck_aa20ad004fa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2344" y="2267712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782616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SUB-PROBLEM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2616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Campaign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2616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Free at-home collection "lifted bookings 9 percent": cause or coincidence.</a:t>
            </a:r>
          </a:p>
        </p:txBody>
      </p:sp>
      <p:sp>
        <p:nvSpPr>
          <p:cNvPr id="39" name="Oval 3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41" name="Oval 40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43" name="Oval 42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Groups of four, and the allocation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Nine groups this cohort; the Programme Head allocates them in the next half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LEARNERS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this cohort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1679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1679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GROUPS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1679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of four, one of them three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SUB-PROBLEMS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each with its own brief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4335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4335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ALLOCATION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4335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straight after this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same data supports more than one honest answer. Where two or more groups take the same sub-problem, the panel hears them one after another, and each group defends its own caveats.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8" name="Oval 27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30" name="Oval 29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week, day by 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Tuesday 20 October is Dussehra, so Wednesday carries two build days.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0299" y="2523744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MONDAY 19 OCTOBER</a:t>
            </a:r>
          </a:p>
        </p:txBody>
      </p:sp>
      <p:sp>
        <p:nvSpPr>
          <p:cNvPr id="11" name="Oval 10"/>
          <p:cNvSpPr/>
          <p:nvPr/>
        </p:nvSpPr>
        <p:spPr>
          <a:xfrm>
            <a:off x="146971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079894" cy="194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Translate and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1750710" cy="11922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This introduction (60 min), the allocation (30 min), your sub-problem in the Weeks 1 and 2 method, the challenges log opened, scopes pinned at the close (15 min).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3126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WEDNESDAY 21 OCTOBER</a:t>
            </a:r>
          </a:p>
        </p:txBody>
      </p:sp>
      <p:sp>
        <p:nvSpPr>
          <p:cNvPr id="16" name="Oval 15"/>
          <p:cNvSpPr/>
          <p:nvPr/>
        </p:nvSpPr>
        <p:spPr>
          <a:xfrm>
            <a:off x="373248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93126" y="2843784"/>
            <a:ext cx="2079894" cy="194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57718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Profile, clean, reconcile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7718" y="3492500"/>
            <a:ext cx="1750710" cy="11922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checkpoint (30 min), the trainer's parallel build in the open (60 min), build time, and each group's headline claim with its denominators and caveat (20 min).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900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THURSDAY 22 OCTOBER</a:t>
            </a:r>
          </a:p>
        </p:txBody>
      </p:sp>
      <p:sp>
        <p:nvSpPr>
          <p:cNvPr id="21" name="Oval 20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55900" y="2843784"/>
            <a:ext cx="2079894" cy="194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0492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Mock R1, build complete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0492" y="3492500"/>
            <a:ext cx="1750710" cy="86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Every learner sits Mock R1, about 20 minutes: half technical on Weeks 1 and 2, half a viva on your group's work.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8674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FRIDAY 23 OCTOBER</a:t>
            </a:r>
          </a:p>
        </p:txBody>
      </p:sp>
      <p:sp>
        <p:nvSpPr>
          <p:cNvPr id="26" name="Oval 25"/>
          <p:cNvSpPr/>
          <p:nvPr/>
        </p:nvSpPr>
        <p:spPr>
          <a:xfrm>
            <a:off x="825803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8674" y="2843784"/>
            <a:ext cx="2079894" cy="194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3266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GDs and the build freeze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3266" y="3492500"/>
            <a:ext cx="1750710" cy="1027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industry expert runs the GD rounds, about 30 minutes per group; builds freeze; two cold demo runs; the first presentations where the roster allows.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1448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SATURDAY 24 OCTOBER</a:t>
            </a:r>
          </a:p>
        </p:txBody>
      </p:sp>
      <p:sp>
        <p:nvSpPr>
          <p:cNvPr id="31" name="Oval 30"/>
          <p:cNvSpPr/>
          <p:nvPr/>
        </p:nvSpPr>
        <p:spPr>
          <a:xfrm>
            <a:off x="10520812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1448" y="2843784"/>
            <a:ext cx="2079894" cy="19405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46040" y="2990088"/>
            <a:ext cx="1750710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Presentations and closure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6040" y="3492500"/>
            <a:ext cx="1750710" cy="11922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The GD rounds close in the morning, then presentations with live demos, 25 to 30 minutes per group, before the expert and a senior industry leader. Every Build 1 grade closes today.</a:t>
            </a:r>
          </a:p>
        </p:txBody>
      </p:sp>
      <p:sp>
        <p:nvSpPr>
          <p:cNvPr id="35" name="Oval 3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7" name="Oval 3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39" name="Oval 38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Nothing new is taught this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Everything you need is in your Weeks 1 and 2 notes, and that is the test.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ook-open_a730d50693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YOU HAVE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Weeks 1 and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tree, the ladder, profile and reconcile, the fair comparison, the four-part note, SQL, pandas and Excel.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map_e80934a1e3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IS NEW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domain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Its words, its systems and what an error costs. Nobody teaches it to you; you translate into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life-buoy_91db8ee909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WHEN STUCK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Log it, then 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Write the challenge in the log, say what you tried, then ask a TA. A domain question is always fair to ask.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9" name="Oval 2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31" name="Oval 30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every group ships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things, described the same way in every brief.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4607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06662"/>
                <a:gridCol w="812432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holds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presentation slot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25 to 30 minutes: your answer, a live demo run cold on your own Kalpa Health files, the panel's questions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one-slide answer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Dr Menon carries into her board meeting: claim, evidence, caveat, action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notebook or SQL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Reproduces every number from the raw files, top to bottom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decisions log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Week 1 Wednesday shape, every file reconciled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challenges log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Every time you were stuck, dated, from entry one today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673600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540867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MINI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560984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marks, the presentation included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586232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2122" y="4673600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540867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MOCK INTERVIEW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2122" y="560984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marks, Mock R1 on Thursday 22 October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586232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3892" y="4673600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540867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GROUP DISCUSSION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3892" y="560984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marks, Friday 23 and Saturday 24 October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3892" y="586232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4" name="Oval 2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26" name="Oval 25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mini project is scored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criteria scored once for the group, and the defence scored for each of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682496"/>
            <a:ext cx="11130991" cy="409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1A1440"/>
                </a:solidFill>
                <a:latin typeface="Calibri"/>
              </a:rPr>
              <a:t>&lt;!-- sync:rubric:W03/mini-project --&gt;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2219960"/>
            <a:ext cx="11130991" cy="6299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2347976"/>
            <a:ext cx="45720" cy="3738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38832"/>
            <a:ext cx="10564063" cy="447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000" b="1">
                <a:solidFill>
                  <a:srgbClr val="5B3FD6"/>
                </a:solidFill>
                <a:latin typeface="Calibri"/>
              </a:rPr>
              <a:t>Mini project, 40 marks. </a:t>
            </a:r>
            <a:r>
              <a:rPr sz="1000" b="0" i="0">
                <a:solidFill>
                  <a:srgbClr val="1A1440"/>
                </a:solidFill>
                <a:latin typeface="Calibri"/>
              </a:rPr>
              <a:t>The first four criteria are scored once for the group, and every member receives those 34 marks; presentation and defence is scored for each learner on 6 marks, so a silent teammate cannot ride the group's score.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0352" y="3014472"/>
          <a:ext cx="11130991" cy="21214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88579"/>
                <a:gridCol w="914400"/>
                <a:gridCol w="7828012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Marks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What full marks look like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question translated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Dr Menon's words are mapped to the right Weeks 1 and 2 method, with the metric defined and the decision it feeds named.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data made trustworthy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data is profiled before it is touched, every cleaning call is in the decisions log with its reason, and counts and dollars reconcile across files.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analysis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tree, ladder or fair comparison reaches the branch that explains the symptom, on the right denominator, with a chance test where one is needed.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claim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One sentence carries its number, denominator, period and caveat, plus an action Dr Menon can take.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Presentation and defence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The live demo runs cold, and every member answers a challenge on the caveat.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30352" y="5391912"/>
            <a:ext cx="11130991" cy="709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1A1440"/>
                </a:solidFill>
                <a:latin typeface="Calibri"/>
              </a:rPr>
              <a:t>&lt;!-- /sync:rubric:W03/mini-project --&gt;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440"/>
                </a:solidFill>
                <a:latin typeface="Calibri"/>
              </a:rPr>
              <a:t>The presentations run on Friday 23 October where the roster allows and on Saturday 24 October, when every Build 1 grade closes.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19" name="Oval 18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S9a  ·  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Mock R1 is scored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Scored for each of you alone: a technical half and a viva on your group's 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682496"/>
            <a:ext cx="5291175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&lt;!-- sync:rubric:W03/mock --&gt;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2306320"/>
            <a:ext cx="5291175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2434336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425192"/>
            <a:ext cx="4724247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Mock interview R1, 30 marks.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Each learner is scored alone, 15 marks on the technical half and 15 on the project viva.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70167" y="1682496"/>
          <a:ext cx="5291175" cy="29169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59513"/>
                <a:gridCol w="2917262"/>
                <a:gridCol w="914400"/>
              </a:tblGrid>
              <a:tr h="352552"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Half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Marks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Technical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Correctness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Technical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Reasoning aloud with numbers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Technical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Handling a follow-up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770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Project viva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The translation, with one decision defended by evidence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77088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Project viva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Defending a caveat under challenge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Project viva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What they would do differently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370167" y="4855464"/>
            <a:ext cx="5291175" cy="1158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&lt;!-- /sync:rubric:W03/mock --&gt;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Mock R1 runs for every learner on Thursday 22 October.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19" name="Oval 18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S9b  ·  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group discussion is scored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Scored for each of you alone, on Kalpa Health's problem 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38782"/>
            <a:ext cx="11130991" cy="461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400" b="0" i="0">
                <a:solidFill>
                  <a:srgbClr val="1A1440"/>
                </a:solidFill>
                <a:latin typeface="Calibri"/>
              </a:rPr>
              <a:t>&lt;!-- sync:rubric:W03/gd --&gt;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2528062"/>
            <a:ext cx="11130991" cy="50546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2656078"/>
            <a:ext cx="45720" cy="24942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646934"/>
            <a:ext cx="10564063" cy="3225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5B3FD6"/>
                </a:solidFill>
                <a:latin typeface="Calibri"/>
              </a:rPr>
              <a:t>Group discussion, 30 marks. </a:t>
            </a:r>
            <a:r>
              <a:rPr sz="1300" b="0" i="0">
                <a:solidFill>
                  <a:srgbClr val="1A1440"/>
                </a:solidFill>
                <a:latin typeface="Calibri"/>
              </a:rPr>
              <a:t>Each learner is scored alone.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0352" y="3198114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655394"/>
                <a:gridCol w="914400"/>
                <a:gridCol w="7561196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Marks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full marks look like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Structures the problem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learner frames the decision and the metric before arguing.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Uses evidence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learner takes a position and defends it with a number from the exhibit.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Engages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learner builds on or challenges another member's point and brings a quiet member in.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Lands a conclusion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discussion ends on a recommendation and its main risk.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30352" y="5130546"/>
            <a:ext cx="11130991" cy="8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400" b="0" i="0">
                <a:solidFill>
                  <a:srgbClr val="1A1440"/>
                </a:solidFill>
                <a:latin typeface="Calibri"/>
              </a:rPr>
              <a:t>&lt;!-- /sync:rubric:W03/gd --&gt;</a:t>
            </a:r>
          </a:p>
          <a:p>
            <a:pPr>
              <a:spcAft>
                <a:spcPts val="700"/>
              </a:spcAft>
            </a:pPr>
            <a:r>
              <a:rPr sz="1400" b="0" i="0">
                <a:solidFill>
                  <a:srgbClr val="1A1440"/>
                </a:solidFill>
                <a:latin typeface="Calibri"/>
              </a:rPr>
              <a:t>The GD rounds run on Friday 23 October and close on the morning of Saturday 24 October.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week</a:t>
            </a:r>
          </a:p>
        </p:txBody>
      </p:sp>
      <p:sp>
        <p:nvSpPr>
          <p:cNvPr id="19" name="Oval 18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S9c  ·  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method you already 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pictures you drew for Meera and Anand, and the Kalpa Health versions you draw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83948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week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0735" y="5074920"/>
            <a:ext cx="190537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3, Day 1. Build 1: Kalpa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revenue tree, as you drew it for Meera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branch a numerator over a denominator; the question is which branch is short.</a:t>
            </a:r>
          </a:p>
        </p:txBody>
      </p:sp>
      <p:pic>
        <p:nvPicPr>
          <p:cNvPr id="9" name="mermaid diagram" descr="938d9ac51fbe16c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1010" y="1956816"/>
            <a:ext cx="8829675" cy="31861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289232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5417248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5408104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Your turn.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What is each box called in Kalpa Health, and which box has no clean twin?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7" name="Oval 1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investigation ladder, from Week 1 Tuesday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Confirm the drop before explaining it, then compare like with like.</a:t>
            </a:r>
          </a:p>
        </p:txBody>
      </p:sp>
      <p:pic>
        <p:nvPicPr>
          <p:cNvPr id="9" name="mermaid diagram" descr="4ec865978fea8e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0623" y="1682496"/>
            <a:ext cx="2785784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08221" y="208483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9389" y="2075688"/>
            <a:ext cx="5332497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Your turn.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rung does a Kalpa Health question skip most easily, and what would that cost?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7" name="Oval 1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Profile, clean, reconcile: Week 1 Wednesday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Rows in equal rows kept plus set aside, and every decision is written down.</a:t>
            </a:r>
          </a:p>
        </p:txBody>
      </p:sp>
      <p:pic>
        <p:nvPicPr>
          <p:cNvPr id="9" name="mermaid diagram" descr="084659eebfc1e0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0953" y="1956816"/>
            <a:ext cx="9729787" cy="1128712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" y="3231832"/>
          <a:ext cx="11130990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914400"/>
                <a:gridCol w="914400"/>
                <a:gridCol w="5334909"/>
                <a:gridCol w="3052881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Issue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order_id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Repeated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Keep one row per order, preferring the copy that validates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201 rows, 186 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Empty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Keep and flag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happened; its fate is unknown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0352" y="4493704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6656" y="4621720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612576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Your turn.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Ten Kalpa Health files, from different systems: which do you profile first, and why?</a:t>
            </a:r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6" name="Oval 15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8" name="Oval 17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fair comparison: Week 1 Thursday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Could chance do it, and do the two groups differ only in the thing tested?</a:t>
            </a:r>
          </a:p>
        </p:txBody>
      </p:sp>
      <p:pic>
        <p:nvPicPr>
          <p:cNvPr id="9" name="mermaid diagram" descr="ed93e4ffd46972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8266" y="1956816"/>
            <a:ext cx="7015162" cy="271462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817745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945761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936617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Your turn.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Which Kalpa Health question compares two groups, and what would make that comparison unfair?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7" name="Oval 1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Booked against collected: Week 2 Tuesday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Attach, count, explain the difference, and only then sum.</a:t>
            </a:r>
          </a:p>
        </p:txBody>
      </p:sp>
      <p:pic>
        <p:nvPicPr>
          <p:cNvPr id="9" name="mermaid diagram" descr="b4c3b2fd6152d8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2553" y="1956816"/>
            <a:ext cx="6986587" cy="61436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271748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284549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83635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Your turn.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Before you join any two files, what do you profile on every key column, and what count tells you the join worked?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7" name="Oval 1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Today's work: translate, then 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parts on one worksheet, and entry one in the challenges log before the close.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1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Your stakeholder's question, word for word, taken apart: the number, the comparison, the decision.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2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Weeks 1 and 2 picture it calls for, redrawn with Kalpa Health's words.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3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vocabulary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map from Kalpa Retail's words to Kalpa Health's, with what differs.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PART 4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First three moves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What you do first, which file, what you count, what would change the plan.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530352" y="4276344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662256"/>
                <a:gridCol w="546873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Kalpa Retail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Kalpa Health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booking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item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test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cancellation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no-show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Oval 3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3" name="Oval 3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35" name="Oval 34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challenges log starts with entry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stop, dated as it happens: what stopped you, what you tried, what you decided.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ircle-alert_2885187cc1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STOPPED 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sentence, and where it showed: a file, a column or a step.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wrench_4c2a87037e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WE TRIED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attempt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What the group did, including what did not work.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heck-check_78b4884d20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WHAT WE DECIDED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decision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What you chose and why, or that it is still open.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1041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log is C2_W03_D01_challenges_log_STUDENT.xlsx. Its Example sheet shows one entry, and its Summary sheet counts what is still open.</a:t>
            </a:r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0" name="Oval 29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32" name="Oval 31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3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close, and Wednesday's checkpoint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Scopes pinned today; three checkpoint questions per group on Wednesday 21 October.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332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89567"/>
                <a:gridCol w="674142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each group does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close today, 15 min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Pins its one-sentence scope, with the one thing it will not do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After today's blocks, open build time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Starts the build against its own scope, and logs challenges as they happen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 21 October, 30 min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Answers the day's three checkpoint questions in two minutes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 21 October, 20 min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States its headline claim in one sentence, with its denominators and caveat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545584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74827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858004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69188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911344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What changes when the cost of an error is a missed diagnosis rather than a missed sale?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week</a:t>
            </a:r>
          </a:p>
        </p:txBody>
      </p:sp>
      <p:sp>
        <p:nvSpPr>
          <p:cNvPr id="19" name="Oval 18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1142" y="6437376"/>
            <a:ext cx="147046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method you already 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