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online, one minute. Read Dr Menon's words aloud and leave them on screen.</a:t>
            </a:r>
          </a:p>
          <a:p>
            <a:r>
              <a:t>Then say the one sentence the week rests on: this is the question Meera asked in Week 1, from a</a:t>
            </a:r>
          </a:p>
          <a:p>
            <a:r>
              <a:t>business none of you has seen, and you already own the method that answers it. Nothing new is taught</a:t>
            </a:r>
          </a:p>
          <a:p>
            <a:r>
              <a:t>this week.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Chapter one runs about 15 minutes. Its job is to put Dr Menon's situation in front of the room</a:t>
            </a:r>
          </a:p>
          <a:p>
            <a:r>
              <a:t>in her words before anyone hears the word "sub-problem". No tools, no method names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3 minutes. Kalpa Health is fictional, like every Kalpa unit; say it once.</a:t>
            </a:r>
          </a:p>
          <a:p>
            <a:r>
              <a:t>Q1 is April to June and Q2 is July to September, Kalpa Health's financial year. Ask the room which of</a:t>
            </a:r>
          </a:p>
          <a:p>
            <a:r>
              <a:t>the four numbers they would want to check first. Any answer is fine; the point is that the 5 percent</a:t>
            </a:r>
          </a:p>
          <a:p>
            <a:r>
              <a:t>is a number from a dashboard, and every number from a dashboard has a definition behind it.</a:t>
            </a:r>
          </a:p>
          <a:p>
            <a:r>
              <a:t>Do not say anything about how the 5 percent was counted. That is for the groups to find.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4 minutes. Read Dr Menon's line, then each row. These are her heads'</a:t>
            </a:r>
          </a:p>
          <a:p>
            <a:r>
              <a:t>words, and each group will own one row by the end of the allocation. The full wording is in the</a:t>
            </a:r>
          </a:p>
          <a:p>
            <a:r>
              <a:t>briefing note, C2_W03_D01_briefing_note_STUDENT.md, which every learner has.</a:t>
            </a:r>
          </a:p>
          <a:p>
            <a:r>
              <a:t>Watch for learners who start explaining a row ("it must be the new system"). Say: hold that, write</a:t>
            </a:r>
          </a:p>
          <a:p>
            <a:r>
              <a:t>it in your challenges log as a hypothesis, and test it on Wednesday. A hypothesis said aloud on</a:t>
            </a:r>
          </a:p>
          <a:p>
            <a:r>
              <a:t>Monday is a guess the whole room hears.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3 minutes. One minute in pairs, then letters in the chat. Expect a and d</a:t>
            </a:r>
          </a:p>
          <a:p>
            <a:r>
              <a:t>from learners who feel the domain is unfamiliar. Do not resolve it here; the answer slide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3 minutes. The answer is b. Option c is the dangerous one: the data does</a:t>
            </a:r>
          </a:p>
          <a:p>
            <a:r>
              <a:t>not look the same, and some of its words have no retail twin, which is exactly where a group must</a:t>
            </a:r>
          </a:p>
          <a:p>
            <a:r>
              <a:t>slow down. Option a is the reason this week exists: in an interview, a candidate who says "I would</a:t>
            </a:r>
          </a:p>
          <a:p>
            <a:r>
              <a:t>need to learn the domain's techniques" has not seen that the method travels.</a:t>
            </a:r>
          </a:p>
          <a:p>
            <a:r>
              <a:t>Say the interview question aloud. It is the question this whole week equips them to answer, and it</a:t>
            </a:r>
          </a:p>
          <a:p>
            <a:r>
              <a:t>is asked everywhere.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Chapter two runs about 20 minutes: what each group takes, how the days run, what every group</a:t>
            </a:r>
          </a:p>
          <a:p>
            <a:r>
              <a:t>ships. The allocation itself runs after the deck, in its own 30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3 minutes. Name the five by number and name, and use those numbers all</a:t>
            </a:r>
          </a:p>
          <a:p>
            <a:r>
              <a:t>week: 1 revenue, 2 bookings, 3 billing, 4 no-shows, 5 campaign. Each has its own brief in the briefs</a:t>
            </a:r>
          </a:p>
          <a:p>
            <a:r>
              <a:t>folder, C2_W03_D01_brief_{n}_{name}_STUDENT.md.</a:t>
            </a:r>
          </a:p>
          <a:p>
            <a:r>
              <a:t>Do not say which method each maps to. If someone asks, the reply is: that is today's work, and it is</a:t>
            </a:r>
          </a:p>
          <a:p>
            <a:r>
              <a:t>yours.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2 minutes. Say that the allocation is decided in the next 30 minutes and</a:t>
            </a:r>
          </a:p>
          <a:p>
            <a:r>
              <a:t>not before, and that every group holds all ten files whatever it takes.</a:t>
            </a:r>
          </a:p>
          <a:p>
            <a:r>
              <a:t>The group of three carries the same brief as a group of four; say so plainly so nobody asks for a</a:t>
            </a:r>
          </a:p>
          <a:p>
            <a:r>
              <a:t>lighter one.</a:t>
            </a:r>
          </a:p>
          <a:p>
            <a:r>
              <a:t>Do not announce the allocation method here; the Programme Head chooses it on the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4 minutes. Walk the days left to right. Three things to land:</a:t>
            </a:r>
          </a:p>
          <a:p>
            <a:r>
              <a:t>the headline claim is stated on Wednesday so that Thursday tests it rather than finishes it; the</a:t>
            </a:r>
          </a:p>
          <a:p>
            <a:r>
              <a:t>mock's viva half runs on your own group's work, so the challenges log is revision material; the</a:t>
            </a:r>
          </a:p>
          <a:p>
            <a:r>
              <a:t>group discussions run on Kalpa Health's problem space and are a thread separate from the project.</a:t>
            </a:r>
          </a:p>
          <a:p>
            <a:r>
              <a:t>Tuesday 20 October is a gazetted holiday. The time after the second block each day is open build</a:t>
            </a:r>
          </a:p>
          <a:p>
            <a:r>
              <a:t>time with the 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2 minutes. The rule protects the week: a build week that teaches turns</a:t>
            </a:r>
          </a:p>
          <a:p>
            <a:r>
              <a:t>into a teaching week with a project bolted on. A trainer or TA will answer a domain question (what</a:t>
            </a:r>
          </a:p>
          <a:p>
            <a:r>
              <a:t>a phlebotomist does, what a package is) and will not answer a method question with the method.</a:t>
            </a:r>
          </a:p>
          <a:p>
            <a:r>
              <a:t>The TAs' reply to "which method do we use?" is a question back: which one did Meera's question need?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3 minutes. The marks per event are locked: mini project 40 including the</a:t>
            </a:r>
          </a:p>
          <a:p>
            <a:r>
              <a:t>presentation, mock 30, GD 30. Say nothing about criteria: the rubrics are not published yet, and a</a:t>
            </a:r>
          </a:p>
          <a:p>
            <a:r>
              <a:t>learner who asks is told they arrive when they are approved.</a:t>
            </a:r>
          </a:p>
          <a:p>
            <a:r>
              <a:t>The live demo runs cold: a fresh start, the raw files, top to bottom. A demo that only works warm</a:t>
            </a:r>
          </a:p>
          <a:p>
            <a:r>
              <a:t>fails in front of the panel.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Chapter three runs about 15 minutes. Every picture is shown exactly as the room drew it in</a:t>
            </a:r>
          </a:p>
          <a:p>
            <a:r>
              <a:t>Kalpa Retail. None is redrawn for Kalpa Health on screen: drawing that version is each group's work</a:t>
            </a:r>
          </a:p>
          <a:p>
            <a:r>
              <a:t>today, in the translation worksheet.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3 minutes. This is Week 1 Monday's tree, word for word. Ask the room to</a:t>
            </a:r>
          </a:p>
          <a:p>
            <a:r>
              <a:t>name one box's Kalpa Health word in the chat, and stop at one. Every group draws its own version in</a:t>
            </a:r>
          </a:p>
          <a:p>
            <a:r>
              <a:t>the worksheet, and sub-problem 1 draws it in full.</a:t>
            </a:r>
          </a:p>
          <a:p>
            <a:r>
              <a:t>Watch for a learner who draws the Kalpa Health tree in the chat. Thank them and ask them to take it</a:t>
            </a:r>
          </a:p>
          <a:p>
            <a:r>
              <a:t>to their group; the room does not get a shared answer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2 minutes. Week 1 Tuesday's ladder, unchanged. Remind the room that</a:t>
            </a:r>
          </a:p>
          <a:p>
            <a:r>
              <a:t>Meera's "we are losing customers" was disproved on rung 1 in Kalpa Retail. Do not name any Kalpa</a:t>
            </a:r>
          </a:p>
          <a:p>
            <a:r>
              <a:t>Health symptom that might fail rung 1; that is for the groups to find.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2 minutes. This is Anand's bridge from Week 1 Wednesday and one row of</a:t>
            </a:r>
          </a:p>
          <a:p>
            <a:r>
              <a:t>that day's decisions log. The decisions log this week has the same five columns, in</a:t>
            </a:r>
          </a:p>
          <a:p>
            <a:r>
              <a:t>C2_W03_D01_decisions_log_STUDENT.xlsx, and its Reconcile sheet checks input against clean plus</a:t>
            </a:r>
          </a:p>
          <a:p>
            <a:r>
              <a:t>removed for every file.</a:t>
            </a:r>
          </a:p>
          <a:p>
            <a:r>
              <a:t>Do not describe any Kalpa Health file's condition. "Profile before you touch" is the whole message.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2 minutes. Week 1 Thursday's picture of the monsoon discount. The</a:t>
            </a:r>
          </a:p>
          <a:p>
            <a:r>
              <a:t>permutation test asked whether chance could produce a gap; the fair comparison asked what else</a:t>
            </a:r>
          </a:p>
          <a:p>
            <a:r>
              <a:t>differed between the groups. Both are in the room's notes.</a:t>
            </a:r>
          </a:p>
          <a:p>
            <a:r>
              <a:t>Do not answer the Your-turn question on screen. More than one sub-problem compares two groups, and</a:t>
            </a:r>
          </a:p>
          <a:p>
            <a:r>
              <a:t>each group decides for itself what a fair comparison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2 minutes. Week 2 Tuesday's rule for joins, the one Anand's booked-against-</a:t>
            </a:r>
          </a:p>
          <a:p>
            <a:r>
              <a:t>collected report rested on. The Your-turn question is Wednesday's interview question, asked early on</a:t>
            </a:r>
          </a:p>
          <a:p>
            <a:r>
              <a:t>purpose; leave it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3 minutes. The worksheet is C2_W03_D01_translation_worksheet_STUDENT.md in</a:t>
            </a:r>
          </a:p>
          <a:p>
            <a:r>
              <a:t>the briefs folder; each group copies it into its own repository. The three pairs start the map, and</a:t>
            </a:r>
          </a:p>
          <a:p>
            <a:r>
              <a:t>each group adds at least five of its own. The pairs that behave differently are the valuable ones.</a:t>
            </a:r>
          </a:p>
          <a:p>
            <a:r>
              <a:t>The worksheet also asks the cost-of-error question and ends with a one-sentence scope the group pins</a:t>
            </a:r>
          </a:p>
          <a:p>
            <a:r>
              <a:t>at the close. Entry one of the challenges log is due before the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2 minutes. Thursday's viva reads this log. Prepared answers break where</a:t>
            </a:r>
          </a:p>
          <a:p>
            <a:r>
              <a:t>the log is thin, so an entry written on Monday is worth more than three written on Thursday night.</a:t>
            </a:r>
          </a:p>
          <a:p>
            <a:r>
              <a:t>A challenge that needed a cleaning or matching decision also goes in the decisions 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2 minutes. The checkpoint questions are not shared today; a group that</a:t>
            </a:r>
          </a:p>
          <a:p>
            <a:r>
              <a:t>cannot answer them on Wednesday is stuck and should say so, because Thursday opens the mocks.</a:t>
            </a:r>
          </a:p>
          <a:p>
            <a:r>
              <a:t>Take questions for the remaining ten minutes of the hour, then close on the [F] question and leave</a:t>
            </a:r>
          </a:p>
          <a:p>
            <a:r>
              <a:t>it on screen as the room breaks for the allocation. Each group</a:t>
            </a:r>
          </a:p>
          <a:p>
            <a:r>
              <a:t>answers it for its own sub-problem in Part 5 of the worksheet; nobody answers it for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Relationship Id="rId5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10.pn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Relationship Id="rId5" Type="http://schemas.openxmlformats.org/officeDocument/2006/relationships/image" Target="../media/image2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Relationship Id="rId5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6.xml"/><Relationship Id="rId5" Type="http://schemas.openxmlformats.org/officeDocument/2006/relationships/image" Target="../media/image2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7.xml"/><Relationship Id="rId5" Type="http://schemas.openxmlformats.org/officeDocument/2006/relationships/image" Target="../media/image2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Relationship Id="rId5" Type="http://schemas.openxmlformats.org/officeDocument/2006/relationships/image" Target="../media/image2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9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3196228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3  ·  MONDAY  ·  BUILD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Build 1: Kalpa Health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635756"/>
            <a:ext cx="1003371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“My dashboard says 5 percent. The plan says 18. Which branch of my business is short?”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35457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Dr Priya Menon, COO, Kalpa Health, to the data and AI team at Kalpa's Global Capability Centre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248656"/>
            <a:ext cx="596931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ask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5651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9699" y="5248656"/>
            <a:ext cx="656082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week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08661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92709" y="5248656"/>
            <a:ext cx="1720786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3, Day 1. Build 1: Kalpa Health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ask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A second Kalpa COO has Meera's problem, in a business with its own words.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78027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ask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1519" y="5074920"/>
            <a:ext cx="83948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week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70735" y="5074920"/>
            <a:ext cx="190537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3 Day 1: Build 1 opens in Kalpa Health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 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new client for the GCC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Kalpa Health runs laboratories and walk-in clinics in six cities.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building-2_fd73f967515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UNIT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Kalpa Health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Diagnostic laboratories and walk-in clinics in Bengaluru, Mumbai, Delhi, Chennai, Hyderabad and Pune: one laboratory and two clinics in each city.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user-round_13fbc0c9977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CLIENT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Dr Priya Menon, COO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Runs the business day to day and presents to the board shortly. She asks the questions this week answers.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234442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users_113eb2dd326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YOUR TEAM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The GCC data and AI team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The same trainee engineers who answered Meera Raghavan. Dr Menon is your internal client for the week.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44841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" y="52191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TEST VOLUMES, Q1 TO Q2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52" y="54203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 Dr Menon's dashboard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0352" y="56728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81679" y="44841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18%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1679" y="52191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PLAN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81679" y="54203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what the board approved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1679" y="56728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33007" y="44841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3007" y="52191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CITIES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33007" y="54203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6 laboratories, 12 clinics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33007" y="56728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84335" y="44841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84335" y="52191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FILES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84335" y="54203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exported by her data team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084335" y="56728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</a:t>
            </a:r>
          </a:p>
        </p:txBody>
      </p:sp>
      <p:sp>
        <p:nvSpPr>
          <p:cNvPr id="45" name="Oval 4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week</a:t>
            </a:r>
          </a:p>
        </p:txBody>
      </p:sp>
      <p:sp>
        <p:nvSpPr>
          <p:cNvPr id="47" name="Oval 46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3 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Dr Menon wrote, and what her heads asked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Five questions from four people, each put as it was put to her.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159507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26923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"I do not need a dashboard. I need to know where the 13 points went, and what to do on Monday."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30352" y="2983992"/>
          <a:ext cx="11130990" cy="246075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721894"/>
                <a:gridCol w="740909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Who is asking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they asked Dr Menon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finance head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Where does our lab revenue come from, and which branch of it is short?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clinics' operations head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Bookings fell in two cities in Q2: how far, and why?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finance head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Invoices and collections disagree: which are unpaid, and can I trust the figure?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clinics' operations head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KH-HYD-03 has the worst no-show rate: is the clinic really worse?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marketing head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Our free home-collection offer lifted bookings 9 percent: did it work?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</a:t>
            </a:r>
          </a:p>
        </p:txBody>
      </p:sp>
      <p:sp>
        <p:nvSpPr>
          <p:cNvPr id="17" name="Oval 1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week</a:t>
            </a:r>
          </a:p>
        </p:txBody>
      </p:sp>
      <p:sp>
        <p:nvSpPr>
          <p:cNvPr id="19" name="Oval 18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4 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Same question as Meera's: what changed?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Meera asked it about Kalpa Retail in Week 1; Dr Menon asks it about a lab.</a:t>
            </a:r>
          </a:p>
        </p:txBody>
      </p:sp>
      <p:pic>
        <p:nvPicPr>
          <p:cNvPr id="9" name="mermaid diagram" descr="fee05a805e6f9e7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02453" y="1956816"/>
            <a:ext cx="8586787" cy="180022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903345"/>
            <a:ext cx="11130991" cy="13411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031360"/>
            <a:ext cx="45720" cy="10850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022217"/>
            <a:ext cx="10564063" cy="1158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Between Meera's question and Dr Menon's, what changed? Answer as a letter: a) the method, since a laboratory business needs analytical techniques of its own; b) the vocabulary and the cost of an error, while the method holds; c) nothing at all, since bookings and invoices look like orders and payments; d) the tools, since a lab's data needs a new stack and a new language.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week</a:t>
            </a:r>
          </a:p>
        </p:txBody>
      </p:sp>
      <p:sp>
        <p:nvSpPr>
          <p:cNvPr id="17" name="Oval 16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5 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the words and the stakes change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method holds; the vocabulary and the cost of a wrong number do not.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41020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23204"/>
                <a:gridCol w="3830839"/>
                <a:gridCol w="5276947"/>
              </a:tblGrid>
              <a:tr h="352552"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What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In Kalpa Retail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In Kalpa Health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The method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Tree, ladder, reconcile, fair comparison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The same four, unchanged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The vocabulary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Orders, items, cancellations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Bookings, tests, no-shows, and words with no retail twin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The cost of an error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A missed sale or a wasted budget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A patient's test, a clinic, a diagnosis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6230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39552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06501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37693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39888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group that maps Kalpa Health onto the Week 1 method in its own words has done the transfer. A group that waits to be told the mapping has not.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4909312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8952" y="511200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22173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99031" y="505561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1" y="5275072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[S] You have joined a healthcare company; how would you apply what you did in retail to our data?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</a:t>
            </a:r>
          </a:p>
        </p:txBody>
      </p:sp>
      <p:sp>
        <p:nvSpPr>
          <p:cNvPr id="22" name="Oval 21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week</a:t>
            </a:r>
          </a:p>
        </p:txBody>
      </p:sp>
      <p:sp>
        <p:nvSpPr>
          <p:cNvPr id="24" name="Oval 23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6 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week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Five sub-problems, groups of four, and six days that end in front of a panel.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780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ask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1519" y="5074920"/>
            <a:ext cx="839487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week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70735" y="5074920"/>
            <a:ext cx="190537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3 Day 1: Build 1 opens in Kalpa Health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7 /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sub-problems, one per group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one is the Weeks 1 and 2 method in a domain you have never seen.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079894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indian-rupee_bfbdea5c565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SUB-PROBLEM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Revenue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1677558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Where lab revenue comes from, and which branch is short.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93126" y="1956816"/>
            <a:ext cx="2079894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94294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calendar-x_d5f63e57421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4022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994294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SUB-PROBLEM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94294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Bookings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4294" y="3303524"/>
            <a:ext cx="1677558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Bookings fell in two cities in Q2: how far, and why.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55900" y="1956816"/>
            <a:ext cx="2079894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257068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receipt_e40a408ddf4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6796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257068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SUB-PROBLEM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068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Billing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7068" y="3303524"/>
            <a:ext cx="1677558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Invoices and collections disagree: which are unpaid, and what is the true figure.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8674" y="1956816"/>
            <a:ext cx="2079894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519842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user-x_6c1c2f811bb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9570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519842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SUB-PROBLEM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19842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No-shows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19842" y="3303524"/>
            <a:ext cx="1677558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One clinic's no-show rate looks worse: real or noise, and what a fair comparison needs.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581448" y="1956816"/>
            <a:ext cx="2079894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782616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truck_aa20ad004fa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92344" y="2267712"/>
            <a:ext cx="237744" cy="23774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9782616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SUB-PROBLEM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82616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Campaign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82616" y="3303524"/>
            <a:ext cx="1677558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Free home collection "lifted bookings 9 percent": cause or coincidence.</a:t>
            </a:r>
          </a:p>
        </p:txBody>
      </p:sp>
      <p:sp>
        <p:nvSpPr>
          <p:cNvPr id="39" name="Oval 3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41" name="Oval 40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week</a:t>
            </a:r>
          </a:p>
        </p:txBody>
      </p:sp>
      <p:sp>
        <p:nvSpPr>
          <p:cNvPr id="43" name="Oval 42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8 /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Groups of four, and the allocation 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Nine groups this cohort; the Programme Head allocates them in the next half hour.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LEARNERS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this cohort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1679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1679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GROUPS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1679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of four, one of them three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1679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3007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3007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SUB-PROBLEMS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3007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each with its own brief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84335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84335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ALLOCATION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84335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straight after this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84335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same data supports more than one honest answer. Where two or more groups take the same sub-problem, the panel hears them one after another, and each group defends its own caveats.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8" name="Oval 27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week</a:t>
            </a:r>
          </a:p>
        </p:txBody>
      </p:sp>
      <p:sp>
        <p:nvSpPr>
          <p:cNvPr id="30" name="Oval 29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9 /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week, day by 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Tuesday is Dussehra, so Wednesday carries two build days.</a:t>
            </a:r>
          </a:p>
        </p:txBody>
      </p:sp>
      <p:sp>
        <p:nvSpPr>
          <p:cNvPr id="9" name="Rectangle 8"/>
          <p:cNvSpPr/>
          <p:nvPr/>
        </p:nvSpPr>
        <p:spPr>
          <a:xfrm>
            <a:off x="1570299" y="2523744"/>
            <a:ext cx="905109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MONDAY</a:t>
            </a:r>
          </a:p>
        </p:txBody>
      </p:sp>
      <p:sp>
        <p:nvSpPr>
          <p:cNvPr id="11" name="Oval 10"/>
          <p:cNvSpPr/>
          <p:nvPr/>
        </p:nvSpPr>
        <p:spPr>
          <a:xfrm>
            <a:off x="146971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079894" cy="194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Translate and 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1750710" cy="11922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This introduction (60 min), the allocation (30 min), your sub-problem in the Weeks 1 and 2 method, the challenges log opened, scopes pinned at the close (15 min).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93126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WEDNESDAY</a:t>
            </a:r>
          </a:p>
        </p:txBody>
      </p:sp>
      <p:sp>
        <p:nvSpPr>
          <p:cNvPr id="16" name="Oval 15"/>
          <p:cNvSpPr/>
          <p:nvPr/>
        </p:nvSpPr>
        <p:spPr>
          <a:xfrm>
            <a:off x="373248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793126" y="2843784"/>
            <a:ext cx="2079894" cy="194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57718" y="2990088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Profile, clean, reconcile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57718" y="3492500"/>
            <a:ext cx="1750710" cy="11922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checkpoint (30 min), the trainer's parallel build in the open (60 min), build time, and each group's headline claim with its denominators and caveat (20 min).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55900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THURSDAY</a:t>
            </a:r>
          </a:p>
        </p:txBody>
      </p:sp>
      <p:sp>
        <p:nvSpPr>
          <p:cNvPr id="21" name="Oval 20"/>
          <p:cNvSpPr/>
          <p:nvPr/>
        </p:nvSpPr>
        <p:spPr>
          <a:xfrm>
            <a:off x="599526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055900" y="2843784"/>
            <a:ext cx="2079894" cy="194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20492" y="2990088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Mock round 1, build complete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20492" y="3492500"/>
            <a:ext cx="1750710" cy="862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Every learner mocked once, about 20 minutes: half technical on Weeks 1 and 2, half a viva on your group's work.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8674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FRIDAY</a:t>
            </a:r>
          </a:p>
        </p:txBody>
      </p:sp>
      <p:sp>
        <p:nvSpPr>
          <p:cNvPr id="26" name="Oval 25"/>
          <p:cNvSpPr/>
          <p:nvPr/>
        </p:nvSpPr>
        <p:spPr>
          <a:xfrm>
            <a:off x="825803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18674" y="2843784"/>
            <a:ext cx="2079894" cy="194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83266" y="2990088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GDs and the build freeze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83266" y="3492500"/>
            <a:ext cx="1750710" cy="1027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industry expert runs group discussions, about 30 minutes per group; builds freeze; two cold demo runs; the first presentations.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81448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SATURDAY</a:t>
            </a:r>
          </a:p>
        </p:txBody>
      </p:sp>
      <p:sp>
        <p:nvSpPr>
          <p:cNvPr id="31" name="Oval 30"/>
          <p:cNvSpPr/>
          <p:nvPr/>
        </p:nvSpPr>
        <p:spPr>
          <a:xfrm>
            <a:off x="10520812" y="2432304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581448" y="2843784"/>
            <a:ext cx="2079894" cy="19405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46040" y="2990088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Presentations and closure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46040" y="3492500"/>
            <a:ext cx="1750710" cy="862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The remaining GDs, then presentations with live demos, 25 to 30 minutes per group, before the expert and a senior industry leader.</a:t>
            </a:r>
          </a:p>
        </p:txBody>
      </p:sp>
      <p:sp>
        <p:nvSpPr>
          <p:cNvPr id="35" name="Oval 3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37" name="Oval 3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week</a:t>
            </a:r>
          </a:p>
        </p:txBody>
      </p:sp>
      <p:sp>
        <p:nvSpPr>
          <p:cNvPr id="39" name="Oval 38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10 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Nothing new is taught this week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Everything you need is in your Weeks 1 and 2 notes, and that is the test.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book-open_a730d506939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YOU HAVE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Weeks 1 and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tree, the ladder, profile and reconcile, the fair comparison, the four-part note, SQL, pandas and Excel.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ap_e80934a1e34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IS NEW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domain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Its words, its systems and what an error costs. Nobody teaches it to you; you translate into 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life-buoy_91db8ee909b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WHEN STUCK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Log it, then ask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Write the challenge in the log, say what you tried, then ask a TA. A domain question is always fair to ask.</a:t>
            </a:r>
          </a:p>
        </p:txBody>
      </p:sp>
      <p:sp>
        <p:nvSpPr>
          <p:cNvPr id="27" name="Oval 2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9" name="Oval 28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week</a:t>
            </a:r>
          </a:p>
        </p:txBody>
      </p:sp>
      <p:sp>
        <p:nvSpPr>
          <p:cNvPr id="31" name="Oval 30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11 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every group ships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Five things, described the same way in every brief.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46075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006662"/>
                <a:gridCol w="8124328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holds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presentation slot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25 to 30 minutes: your answer, a live demo run cold on your own Kalpa Health files, the panel's questions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one-slide answer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Dr Menon carries into her board meeting: claim, evidence, caveat, action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notebook or SQL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Reproduces every number from the raw files, top to bottom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decisions log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Week 1 Wednesday shape, every file reconciled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challenges log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Every time you were stuck, dated, from entry one today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4673600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5408676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MINI PROJECT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5609844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marks, the presentation included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5862320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2122" y="4673600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5408676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MOCK INTERVIEW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32122" y="5609844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marks, round 1 this week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5862320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3892" y="4673600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5408676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GROUP DISCUSSION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3892" y="5609844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marks, this week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33892" y="5862320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4" name="Oval 23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week</a:t>
            </a:r>
          </a:p>
        </p:txBody>
      </p:sp>
      <p:sp>
        <p:nvSpPr>
          <p:cNvPr id="26" name="Oval 25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12 /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method you already 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pictures you drew for Meera and Anand, and the Kalpa Health versions you draw today.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780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ask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1519" y="5074920"/>
            <a:ext cx="83948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week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70735" y="5074920"/>
            <a:ext cx="1905375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3 Day 1: Build 1 opens in Kalpa Health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13 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revenue tree, as you drew it for Meera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branch a numerator over a denominator; the question is which branch is short.</a:t>
            </a:r>
          </a:p>
        </p:txBody>
      </p:sp>
      <p:pic>
        <p:nvPicPr>
          <p:cNvPr id="9" name="mermaid diagram" descr="36716596709eae9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205155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154673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282689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273545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Your turn.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What is each box called in Kalpa Health, and which box has no clean twin?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week</a:t>
            </a:r>
          </a:p>
        </p:txBody>
      </p:sp>
      <p:sp>
        <p:nvSpPr>
          <p:cNvPr id="17" name="Oval 16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14 /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investigation ladder, from Week 1 Tuesday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Confirm the drop before explaining it, then compare like with like.</a:t>
            </a:r>
          </a:p>
        </p:txBody>
      </p:sp>
      <p:pic>
        <p:nvPicPr>
          <p:cNvPr id="9" name="mermaid diagram" descr="cc65b150ac99033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8995" y="1664208"/>
            <a:ext cx="2333705" cy="378409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5494020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5622036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5612892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Your turn.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Which rung does a Kalpa Health question skip most easily, and what would that cost?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week</a:t>
            </a:r>
          </a:p>
        </p:txBody>
      </p:sp>
      <p:sp>
        <p:nvSpPr>
          <p:cNvPr id="17" name="Oval 16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15 /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Profile, clean, reconcile: Week 1 Wednesday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Input equals clean plus rejected, and every decision is written down.</a:t>
            </a:r>
          </a:p>
        </p:txBody>
      </p:sp>
      <p:pic>
        <p:nvPicPr>
          <p:cNvPr id="9" name="mermaid diagram" descr="954e50bb0e6bb9b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864956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0352" y="2968076"/>
          <a:ext cx="11130990" cy="6705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914400"/>
                <a:gridCol w="914400"/>
                <a:gridCol w="3741033"/>
                <a:gridCol w="4646757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Field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Issue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Rows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Reason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order_id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Repeated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Drop later occurrences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migration re-ran a batch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0352" y="3894668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76656" y="4022684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4013540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Your turn.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Ten Kalpa Health files, from different systems: which do you profile first, and why?</a:t>
            </a:r>
          </a:p>
        </p:txBody>
      </p:sp>
      <p:sp>
        <p:nvSpPr>
          <p:cNvPr id="14" name="Oval 1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6" name="Oval 15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week</a:t>
            </a:r>
          </a:p>
        </p:txBody>
      </p:sp>
      <p:sp>
        <p:nvSpPr>
          <p:cNvPr id="18" name="Oval 17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16 /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fair comparison: Week 1 Thursday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Could chance do it, and do the two groups differ only in the thing tested?</a:t>
            </a:r>
          </a:p>
        </p:txBody>
      </p:sp>
      <p:pic>
        <p:nvPicPr>
          <p:cNvPr id="9" name="mermaid diagram" descr="a74912ed8320beb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88266" y="1956816"/>
            <a:ext cx="7015162" cy="271462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817745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945761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936617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Your turn.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Which Kalpa Health question compares two groups, and what would make that comparison unfair?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week</a:t>
            </a:r>
          </a:p>
        </p:txBody>
      </p:sp>
      <p:sp>
        <p:nvSpPr>
          <p:cNvPr id="17" name="Oval 16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17 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Booked against collected: Week 2 Tuesday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Attach, count, explain the difference, and only then sum.</a:t>
            </a:r>
          </a:p>
        </p:txBody>
      </p:sp>
      <p:pic>
        <p:nvPicPr>
          <p:cNvPr id="9" name="mermaid diagram" descr="2da022ac15378f6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02553" y="1956816"/>
            <a:ext cx="6986587" cy="61436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2717482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2845498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836354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Your turn.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Two systems export the same entity with different ids. What do you do before you join them?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week</a:t>
            </a:r>
          </a:p>
        </p:txBody>
      </p:sp>
      <p:sp>
        <p:nvSpPr>
          <p:cNvPr id="17" name="Oval 16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18 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Today's work: translate, then 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parts on one worksheet, and entry one in the challenges log before the close.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53145" y="2523744"/>
            <a:ext cx="8485403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PART 1</a:t>
            </a:r>
          </a:p>
        </p:txBody>
      </p:sp>
      <p:sp>
        <p:nvSpPr>
          <p:cNvPr id="11" name="Oval 10"/>
          <p:cNvSpPr/>
          <p:nvPr/>
        </p:nvSpPr>
        <p:spPr>
          <a:xfrm>
            <a:off x="175256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words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2316403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Your stakeholder's question, word for word, taken apart: the number, the comparison, the decision.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8819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PART 2</a:t>
            </a:r>
          </a:p>
        </p:txBody>
      </p:sp>
      <p:sp>
        <p:nvSpPr>
          <p:cNvPr id="16" name="Oval 15"/>
          <p:cNvSpPr/>
          <p:nvPr/>
        </p:nvSpPr>
        <p:spPr>
          <a:xfrm>
            <a:off x="458102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8819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3411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method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3411" y="3277870"/>
            <a:ext cx="2316403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Which Weeks 1 and 2 picture it calls for, redrawn with Kalpa Health's words.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7287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PART 3</a:t>
            </a:r>
          </a:p>
        </p:txBody>
      </p:sp>
      <p:sp>
        <p:nvSpPr>
          <p:cNvPr id="21" name="Oval 20"/>
          <p:cNvSpPr/>
          <p:nvPr/>
        </p:nvSpPr>
        <p:spPr>
          <a:xfrm>
            <a:off x="740949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87287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vocabulary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3277870"/>
            <a:ext cx="2316403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map from Kalpa Retail's words to Kalpa Health's, with what differs.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5755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PART 4</a:t>
            </a:r>
          </a:p>
        </p:txBody>
      </p:sp>
      <p:sp>
        <p:nvSpPr>
          <p:cNvPr id="26" name="Oval 25"/>
          <p:cNvSpPr/>
          <p:nvPr/>
        </p:nvSpPr>
        <p:spPr>
          <a:xfrm>
            <a:off x="10237965" y="2432304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15755" y="2843784"/>
            <a:ext cx="2645587" cy="124968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0347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First three moves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347" y="3277870"/>
            <a:ext cx="2316403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What you do first, which file, what you count, what would change the plan.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530352" y="4276344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662256"/>
                <a:gridCol w="5468734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Kalpa Retail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Kalpa Health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An order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booking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An item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test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cancellation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no-show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Oval 3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33" name="Oval 3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week</a:t>
            </a:r>
          </a:p>
        </p:txBody>
      </p:sp>
      <p:sp>
        <p:nvSpPr>
          <p:cNvPr id="35" name="Oval 34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19 /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challenges log starts with entry 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stop, dated as it happens: what stopped you, what you tried, what you decided.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circle-alert_2885187cc1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STOPPED 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challenge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One sentence, and where it showed: a file, a column or a step.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wrench_4c2a87037e0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WE TRIED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attempt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What the group did, including what did not work.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1964436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check-check_78b4884d208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WHAT WE DECIDED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The decision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What you chose and why, or that it is still open.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4104132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log is C2_W03_D01_challenges_log_STUDENT.xlsx. Its Example sheet shows one entry, and its Summary sheet counts what is still open.</a:t>
            </a:r>
          </a:p>
        </p:txBody>
      </p:sp>
      <p:sp>
        <p:nvSpPr>
          <p:cNvPr id="28" name="Oval 2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30" name="Oval 29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week</a:t>
            </a:r>
          </a:p>
        </p:txBody>
      </p:sp>
      <p:sp>
        <p:nvSpPr>
          <p:cNvPr id="32" name="Oval 31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20 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close, and Wednesday's checkpoint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Scopes pinned today; three checkpoint questions per group on Wednesday.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380744"/>
                <a:gridCol w="775024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each group does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close today, 15 min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Pins its one-sentence scope, with the one thing it will not do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Tonight, open build time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Starts the build against its own scope, and logs challenges as they happen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Wednesday, 30 min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Answers the day's three checkpoint questions in two minutes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Wednesday, 20 min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States its headline claim in one sentence, with its denominators and caveat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061968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26466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37438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20827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427728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[F] What changes when the cost of an error is a missed diagnosis rather than a missed sale?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7" name="Oval 1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week</a:t>
            </a:r>
          </a:p>
        </p:txBody>
      </p:sp>
      <p:sp>
        <p:nvSpPr>
          <p:cNvPr id="19" name="Oval 18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S17  ·  21 /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