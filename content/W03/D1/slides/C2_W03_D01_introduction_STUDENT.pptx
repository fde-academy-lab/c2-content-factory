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online, one minute. Read Dr Menon's words aloud and leave them on screen.</a:t>
            </a:r>
          </a:p>
          <a:p>
            <a:r>
              <a:t>Then say the one sentence the week rests on: this is the question Meera asked in Week 1, from a</a:t>
            </a:r>
          </a:p>
          <a:p>
            <a:r>
              <a:t>business none of you has seen, and you already own the method that answers it. Nothing new is taught</a:t>
            </a:r>
          </a:p>
          <a:p>
            <a:r>
              <a:t>this week.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about 15 minutes. Its job is to put Dr Menon's situation in front of the room</a:t>
            </a:r>
          </a:p>
          <a:p>
            <a:r>
              <a:t>in her words before anyone hears the word "sub-problem". No tools, no method names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Kalpa Health is fictional, like every Kalpa unit; say it once.</a:t>
            </a:r>
          </a:p>
          <a:p>
            <a:r>
              <a:t>Q1 is April to June and Q2 is July to September, Kalpa Health's financial year. Ask the room which of</a:t>
            </a:r>
          </a:p>
          <a:p>
            <a:r>
              <a:t>the four numbers they would want to check first. Any answer is fine; the point is that the 5 percent</a:t>
            </a:r>
          </a:p>
          <a:p>
            <a:r>
              <a:t>is a number from a dashboard, and every number from a dashboard has a definition behind it.</a:t>
            </a:r>
          </a:p>
          <a:p>
            <a:r>
              <a:t>Do not say anything about how the 5 percent was counted. That is for the groups to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Read Dr Menon's line, then each row. These are her heads'</a:t>
            </a:r>
          </a:p>
          <a:p>
            <a:r>
              <a:t>words, and each group will own one row by the end of the allocation. The full wording is in the</a:t>
            </a:r>
          </a:p>
          <a:p>
            <a:r>
              <a:t>briefing note, C2_W03_D01_briefing_note_STUDENT.md, which every learner has.</a:t>
            </a:r>
          </a:p>
          <a:p>
            <a:r>
              <a:t>Watch for learners who start explaining a row ("it must be the new system"). Say: hold that, write</a:t>
            </a:r>
          </a:p>
          <a:p>
            <a:r>
              <a:t>it in your challenges log as a hypothesis, and test it once the build starts. A hypothesis said</a:t>
            </a:r>
          </a:p>
          <a:p>
            <a:r>
              <a:t>aloud today is a guess the whole room hears.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One minute in pairs, then letters in the chat. Expect a and d</a:t>
            </a:r>
          </a:p>
          <a:p>
            <a:r>
              <a:t>from learners who feel the domain is unfamiliar. Do not resolve it here; the answer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answer is b. Option c is the dangerous one: the data does</a:t>
            </a:r>
          </a:p>
          <a:p>
            <a:r>
              <a:t>not look the same, and some of its words have no retail twin, which is exactly where a group must</a:t>
            </a:r>
          </a:p>
          <a:p>
            <a:r>
              <a:t>slow down. Option a is the reason this week exists: in an interview, a candidate who says "I would</a:t>
            </a:r>
          </a:p>
          <a:p>
            <a:r>
              <a:t>need to learn the domain's techniques" has not seen that the method travels.</a:t>
            </a:r>
          </a:p>
          <a:p>
            <a:r>
              <a:t>Say the interview question aloud. It is the question this whole week equips them to answer, and it</a:t>
            </a:r>
          </a:p>
          <a:p>
            <a:r>
              <a:t>is asked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two runs about 20 minutes: what each group takes, how the days run, what every group</a:t>
            </a:r>
          </a:p>
          <a:p>
            <a:r>
              <a:t>ships. The allocation itself runs after the deck, in its own 30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Name the five by number and name, and use those numbers all</a:t>
            </a:r>
          </a:p>
          <a:p>
            <a:r>
              <a:t>week: 1 revenue, 2 bookings, 3 billing, 4 no-shows, 5 campaign. Each has its own brief in the briefs</a:t>
            </a:r>
          </a:p>
          <a:p>
            <a:r>
              <a:t>folder, C2_W03_D01_brief_{n}_{name}_STUDENT.md.</a:t>
            </a:r>
          </a:p>
          <a:p>
            <a:r>
              <a:t>Do not say which method each maps to. If someone asks, the reply is: that is today's work, and it is</a:t>
            </a:r>
          </a:p>
          <a:p>
            <a:r>
              <a:t>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Say that the allocation is decided in the next 30 minutes and</a:t>
            </a:r>
          </a:p>
          <a:p>
            <a:r>
              <a:t>not before, and that every group holds all ten files whatever it takes.</a:t>
            </a:r>
          </a:p>
          <a:p>
            <a:r>
              <a:t>The group of three carries the same brief as a group of four; say so plainly so nobody asks for a</a:t>
            </a:r>
          </a:p>
          <a:p>
            <a:r>
              <a:t>lighter one.</a:t>
            </a:r>
          </a:p>
          <a:p>
            <a:r>
              <a:t>Do not announce the allocation method here; the Programme Head chooses it on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Walk the stages left to right. Three things to land:</a:t>
            </a:r>
          </a:p>
          <a:p>
            <a:r>
              <a:t>the headline claim is stated in stage 2 so that stage 3 tests it rather than finishes it; the</a:t>
            </a:r>
          </a:p>
          <a:p>
            <a:r>
              <a:t>mock's viva half runs on your own group's work, so the challenges log is revision material; the</a:t>
            </a:r>
          </a:p>
          <a:p>
            <a:r>
              <a:t>group discussions run on Kalpa Health's problem space and are a thread separate from the project.</a:t>
            </a:r>
          </a:p>
          <a:p>
            <a:r>
              <a:t>One day this week is a gazetted holiday. The time after the second block each day is open build</a:t>
            </a:r>
          </a:p>
          <a:p>
            <a:r>
              <a:t>time with the 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rule protects the week: a build week that teaches turns</a:t>
            </a:r>
          </a:p>
          <a:p>
            <a:r>
              <a:t>into a teaching week with a project bolted on. A trainer or TA will answer a domain question (what</a:t>
            </a:r>
          </a:p>
          <a:p>
            <a:r>
              <a:t>a phlebotomist does, what a package is) and will not answer a method question with the method.</a:t>
            </a:r>
          </a:p>
          <a:p>
            <a:r>
              <a:t>The TAs' reply to "which method do we use?" is a question back: which one did Meera's question need?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marks per event are locked: mini project 40 including the</a:t>
            </a:r>
          </a:p>
          <a:p>
            <a:r>
              <a:t>presentation, mock 30, GD 30. Say nothing about criteria: the rubrics are not published yet, and a</a:t>
            </a:r>
          </a:p>
          <a:p>
            <a:r>
              <a:t>learner who asks is told they arrive when they are approved.</a:t>
            </a:r>
          </a:p>
          <a:p>
            <a:r>
              <a:t>The live demo runs cold: a fresh start, the raw files, top to bottom. A demo that only works warm</a:t>
            </a:r>
          </a:p>
          <a:p>
            <a:r>
              <a:t>fails in front of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three runs about 15 minutes. Every picture is shown exactly as the room drew it in</a:t>
            </a:r>
          </a:p>
          <a:p>
            <a:r>
              <a:t>Kalpa Retail. None is redrawn for Kalpa Health on screen: drawing that version is each group's work</a:t>
            </a:r>
          </a:p>
          <a:p>
            <a:r>
              <a:t>today, in the translation worksheet.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This is Week 1 Monday's tree, word for word. Ask the room to</a:t>
            </a:r>
          </a:p>
          <a:p>
            <a:r>
              <a:t>name one box's Kalpa Health word in the chat, and stop at one. Every group draws its own version in</a:t>
            </a:r>
          </a:p>
          <a:p>
            <a:r>
              <a:t>the worksheet, and sub-problem 1 draws it in full.</a:t>
            </a:r>
          </a:p>
          <a:p>
            <a:r>
              <a:t>Watch for a learner who draws the Kalpa Health tree in the chat. Thank them and ask them to take it</a:t>
            </a:r>
          </a:p>
          <a:p>
            <a:r>
              <a:t>to their group; the room does not get a shared answer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Tuesday's ladder, unchanged. Remind the room that</a:t>
            </a:r>
          </a:p>
          <a:p>
            <a:r>
              <a:t>Meera's "we are losing customers" was disproved on rung 1 in Kalpa Retail. Do not name any Kalpa</a:t>
            </a:r>
          </a:p>
          <a:p>
            <a:r>
              <a:t>Health symptom that might fail rung 1; that is for the groups to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This is Anand's bridge from Week 1 Wednesday and one row of</a:t>
            </a:r>
          </a:p>
          <a:p>
            <a:r>
              <a:t>that day's decisions log. The decisions log this week has the same five columns, in</a:t>
            </a:r>
          </a:p>
          <a:p>
            <a:r>
              <a:t>C2_W03_D01_decisions_log_STUDENT.xlsx, and its Reconcile sheet checks input against clean plus</a:t>
            </a:r>
          </a:p>
          <a:p>
            <a:r>
              <a:t>removed for every file.</a:t>
            </a:r>
          </a:p>
          <a:p>
            <a:r>
              <a:t>Do not describe any Kalpa Health file's condition. "Profile before you touch" is the whole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Thursday's picture of the monsoon discount. The</a:t>
            </a:r>
          </a:p>
          <a:p>
            <a:r>
              <a:t>permutation test asked whether chance could produce a gap; the fair comparison asked what else</a:t>
            </a:r>
          </a:p>
          <a:p>
            <a:r>
              <a:t>differed between the groups. Both are in the room's notes.</a:t>
            </a:r>
          </a:p>
          <a:p>
            <a:r>
              <a:t>Do not answer the Your-turn question on screen. More than one sub-problem compares two groups, and</a:t>
            </a:r>
          </a:p>
          <a:p>
            <a:r>
              <a:t>each group decides for itself what a fair comparison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2 Tuesday's rule for joins, the one Anand's booked-against-</a:t>
            </a:r>
          </a:p>
          <a:p>
            <a:r>
              <a:t>collected report rested on. The Your-turn question is a later build day's interview question, asked early on</a:t>
            </a:r>
          </a:p>
          <a:p>
            <a:r>
              <a:t>purpose; leave it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worksheet is C2_W03_D01_translation_worksheet_STUDENT.md in</a:t>
            </a:r>
          </a:p>
          <a:p>
            <a:r>
              <a:t>the briefs folder; each group copies it into its own repository. The three pairs start the map, and</a:t>
            </a:r>
          </a:p>
          <a:p>
            <a:r>
              <a:t>each group adds at least five of its own. The pairs that behave differently are the valuable ones.</a:t>
            </a:r>
          </a:p>
          <a:p>
            <a:r>
              <a:t>The worksheet also asks the cost-of-error question and ends with a one-sentence scope the group pins</a:t>
            </a:r>
          </a:p>
          <a:p>
            <a:r>
              <a:t>at the close. Entry one of the challenges log is due before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mock's viva reads this log. Prepared answers break where</a:t>
            </a:r>
          </a:p>
          <a:p>
            <a:r>
              <a:t>the log is thin, so an entry written today is worth more than three written the night before the viva.</a:t>
            </a:r>
          </a:p>
          <a:p>
            <a:r>
              <a:t>A challenge that needed a cleaning or matching decision also goes in the decisions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checkpoint questions are not shared today; a group that</a:t>
            </a:r>
          </a:p>
          <a:p>
            <a:r>
              <a:t>cannot answer them at the checkpoint is stuck and should say so then, because the mocks follow.</a:t>
            </a:r>
          </a:p>
          <a:p>
            <a:r>
              <a:t>Take questions for the remaining ten minutes of the hour, then close on the [F] question and leave</a:t>
            </a:r>
          </a:p>
          <a:p>
            <a:r>
              <a:t>it on screen as the room breaks for the allocation. Each group</a:t>
            </a:r>
          </a:p>
          <a:p>
            <a:r>
              <a:t>answers it for its own sub-problem in Part 5 of the worksheet; nobody answers it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MONDAY  ·  BUILD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Build 1: Kalpa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“My dashboard says 5 percent. The plan says 18. Which branch of my business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65608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66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709" y="5248656"/>
            <a:ext cx="17207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second Kalpa COO has Meera's problem, in a business with its own 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new client for the GCC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 Health runs laboratories and walk-in clinics in six cities.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ilding-2_fd73f96751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Diagnostic laboratories and walk-in clinics in Bengaluru, Mumbai, Delhi, Chennai, Hyderabad and Pune: one laboratory and two clinics in each city.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-round_13fbc0c997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Dr Priya Menon, COO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Runs the business day to day and presents to the board shortly. She asks the questions this week answers.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GCC data and AI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same trainee engineers who answered Meera Raghavan. Dr Menon is your internal client for the week.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VOLUMES, Q1 TO Q2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Dr Menon's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approved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6 laboratories, 12 clinics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FILES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exported by her data 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47" name="Oval 4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wrote, and what her heads 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questions from four people, each put as it was put to 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 do not need a dashboard. I need to know where the 13 points went, and what to do next."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0" cy="246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21894"/>
                <a:gridCol w="74090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Who is asking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 Dr Menon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our lab revenue come from, and which branch of it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clinics'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Bookings fell in two cities in Q2: how far,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Invoices and collections disagree: which are unpaid, and can I trust the figure?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clinics'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KH-HYD-03 has the worst no-show rate: is the clinic really worse?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Our free home-collection offer lifted bookings 9 percent: did it work?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question as Meera's: what changed?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asked it about Kalpa Retail in Week 1; Dr Menon asks it about a lab.</a:t>
            </a:r>
          </a:p>
        </p:txBody>
      </p:sp>
      <p:pic>
        <p:nvPicPr>
          <p:cNvPr id="9" name="mermaid diagram" descr="fee05a805e6f9e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453" y="1956816"/>
            <a:ext cx="8586787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31360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22217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Between Meera's question and Dr Menon's, what changed? Answer as a letter: a) the method, since a laboratory business needs analytical techniques of its own; b) the vocabulary and the cost of an error, while the method holds; c) nothing at all, since bookings and invoices look like orders and payments; d) the tools, since a lab's data needs a new stack and a new language.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words and the stakes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method holds; the vocabulary and the cost of a wrong number do not.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23204"/>
                <a:gridCol w="3830839"/>
                <a:gridCol w="5276947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Tree, ladder, reconcile,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same four, unchanged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Orders, items, cancellations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Bookings, tests, no-shows, and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an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 or a wasted budget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patient's test, a clinic, a diagnosis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230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9552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650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693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888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group that maps Kalpa Health onto the Week 1 method in its own words has done the transfer. A group that waits to be told the mapping has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90931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112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21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0556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27507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24" name="Oval 2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Five sub-problems, groups of four, and six days that end in front of a panel.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sub-problems, one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one is the Weeks 1 and 2 method in a domain you have never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indian-rupee_bfbdea5c56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Where lab revenue comes from, and which branch is short.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-x_d5f63e5742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Bookings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Bookings fell in two cities in Q2: how far, and why.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eceipt_e40a408ddf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Invoices and collections disagree: which are unpaid, and what is the true figure.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user-x_6c1c2f811bb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No-shows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clinic's no-show rate looks worse: real or noise, and what a fair comparison needs.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truck_aa20ad004fa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Campaign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Free home collection "lifted bookings 9 percent": cause or coincidence.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1" name="Oval 4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43" name="Oval 42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Groups of four, and the allocation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Nine groups this cohort; the Programme Head allocates them in the next half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LEARNERS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this cohort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four, one of them three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SUB-PROBLEMS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brief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straight after this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same data supports more than one honest answer. Where two or more groups take the same sub-problem, the panel hears them one after another, and each group defends its own caveats.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0" name="Oval 29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week, in five stages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holiday falls inside the week, so one day carries two build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STAGE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Translate and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This introduction (60 min), the allocation (30 min), your sub-problem in the Weeks 1 and 2 method, the challenges log opened, scopes pinned at the close (15 min).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STAGE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Profile, clean, 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checkpoint (30 min), the trainer's parallel build in the open (60 min), build time, and each group's headline claim with its denominators and caveat (20 min).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STAGE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Mock round 1, build 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mocked once, about 20 minutes: half technical on Weeks 1 and 2, half a viva on your group's 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STAGE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GDs and the build freeze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492500"/>
            <a:ext cx="1750710" cy="1027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industry expert runs group discussions, about 30 minutes per group; builds freeze; two cold demo runs; the first presentations.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STAGE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940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Presentations and closure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remaining GDs, then presentations with live demos, 25 to 30 minutes per group, before the expert and a senior industry leader.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9" name="Oval 3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Nothing new is taught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you need is in your Weeks 1 and 2 notes, and that is the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YOU HAVE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Weeks 1 and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tree, the ladder, profile and reconcile, the fair comparison, the four-part note, SQL, pandas and Excel.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ap_e80934a1e3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IS 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Its words, its systems and what an error costs. Nobody teaches it to you; you translate into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fe-buoy_91db8ee909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WHEN STUCK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Log it, then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Write the challenge in the log, say what you tried, then ask a TA. A domain question is always fair to ask.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1" name="Oval 30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things, described the same way in every brief.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46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presentation slot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to 30 minutes: your answer, a live demo run cold on your own Kalpa Health files,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Dr Menon carries into her board meeting: claim, evidence, caveat, 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Reproduces every number from the raw files, top to bottom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Week 1 Wednesday shape, every file reconciled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time you were stuck, dated, from entry one 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MINI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the presentation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MOCK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round 1 this 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GROUP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this week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26" name="Oval 25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method you already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pictures you drew for Meera and Anand, and the Kalpa Health versions you draw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revenue tree, as you drew it for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a numerator over a denominator; the question is which branch is short.</a:t>
            </a:r>
          </a:p>
        </p:txBody>
      </p:sp>
      <p:pic>
        <p:nvPicPr>
          <p:cNvPr id="9" name="mermaid diagram" descr="36716596709eae9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05155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154673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282689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73545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is each box called in Kalpa Health, and which box has no clean twin?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investigation ladder, from Week 1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Confirm the drop before explaining it, then compare like with like.</a:t>
            </a:r>
          </a:p>
        </p:txBody>
      </p:sp>
      <p:pic>
        <p:nvPicPr>
          <p:cNvPr id="9" name="mermaid diagram" descr="cc65b150ac9903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995" y="1664208"/>
            <a:ext cx="2333705" cy="37840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49402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62203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61289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rung does a Kalpa Health question skip most easily, and what would that cost?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Profile, clean, reconcile: Week 1 Wednesday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clean plus rejected, and every decision is written down.</a:t>
            </a:r>
          </a:p>
        </p:txBody>
      </p:sp>
      <p:pic>
        <p:nvPicPr>
          <p:cNvPr id="9" name="mermaid diagram" descr="954e50bb0e6bb9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6495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968076"/>
          <a:ext cx="11130990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14400"/>
                <a:gridCol w="3741033"/>
                <a:gridCol w="46467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Repeated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Drop later occurrences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migration re-ran a batch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389466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4022684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013540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Kalpa Health files, from different systems: which do you profile first, and why?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8" name="Oval 1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fair comparison: Week 1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Could chance do it, and do the two groups differ only in the thing tested?</a:t>
            </a:r>
          </a:p>
        </p:txBody>
      </p:sp>
      <p:pic>
        <p:nvPicPr>
          <p:cNvPr id="9" name="mermaid diagram" descr="a74912ed8320be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266" y="1956816"/>
            <a:ext cx="701516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Kalpa Health question compares two groups, and what would make that comparison unfair?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Booked against collected: Week 2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Attach, count, explain the difference, and only then sum.</a:t>
            </a:r>
          </a:p>
        </p:txBody>
      </p:sp>
      <p:pic>
        <p:nvPicPr>
          <p:cNvPr id="9" name="mermaid diagram" descr="2da022ac15378f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553" y="1956816"/>
            <a:ext cx="6986587" cy="6143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71748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84549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83635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Two systems export the same entity with different ids. What do you do before you join them?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work: translate, then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parts on one worksheet, and entry one in the challenges log before the close.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Your stakeholder's question, word for word, taken apart: the number, the comparison, the decision.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Weeks 1 and 2 picture it calls for, redrawn with Kalpa Health's words.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vocabulary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map from Kalpa Retail's words to Kalpa Health's, with what differs.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First three 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you do first, which file, what you count, what would change the plan.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30352" y="4276344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62256"/>
                <a:gridCol w="54687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5" name="Oval 3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challenges log starts with entry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stop, dated as it happens: what stopped you, what you tried, what you decided.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STOPPED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sentence, and where it showed: a file, a column or a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rench_4c2a87037e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WE TRIED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attempt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group did, including what did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WE DECIDED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What you chose and why, or that it is still open.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log is C2_W03_D01_challenges_log_STUDENT.xlsx. Its Example sheet shows one entry, and its Summary sheet counts what is still open.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0" name="Oval 2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2" name="Oval 31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close, and the next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Scopes pinned today; three checkpoint questions per group next build day.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89567"/>
                <a:gridCol w="674142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each group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close today, 15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Pins its one-sentence scope, with the one thing it will not do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today's blocks, open build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Starts the build against its own scope, and logs challenges as they happen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Next build day, 30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Answers the day's three checkpoint questions in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Next build day, 20 min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States its headline claim in one sentence, with its denominators and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54558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4827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800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6918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91134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