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online, 1 minute. On screen as the link opens. The trainer in the room</a:t>
            </a:r>
          </a:p>
          <a:p>
            <a:r>
              <a:t>runs the link and reads the chat aloud. Read Dr Menon's words once and leave them up. Say once that</a:t>
            </a:r>
          </a:p>
          <a:p>
            <a:r>
              <a:t>Kalpa Health, like every Kalpa company, is fictional, and that every record in the files is</a:t>
            </a:r>
          </a:p>
          <a:p>
            <a:r>
              <a:t>synthetic, so no real patient's information is anywhere in the programme. Then say: this is the question Meera Raghavan asked in Week 1, from a business none of you has</a:t>
            </a:r>
          </a:p>
          <a:p>
            <a:r>
              <a:t>worked in, and you already own the method that answers it.</a:t>
            </a:r>
          </a:p>
          <a:p>
            <a:r>
              <a:t>Transition: the five topics the day carries, then the seven questions that turn her ask into each</a:t>
            </a:r>
          </a:p>
          <a:p>
            <a:r>
              <a:t>group's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inside the introduction's 60. Read the five topics as the</a:t>
            </a:r>
          </a:p>
          <a:p>
            <a:r>
              <a:t>curriculum names them, then the map from left to right: the introduction leads to the five</a:t>
            </a:r>
          </a:p>
          <a:p>
            <a:r>
              <a:t>sub-problems, the translation puts each one into Kalpa Health's words with the moves the room</a:t>
            </a:r>
          </a:p>
          <a:p>
            <a:r>
              <a:t>already owns, and entry one in the challenges log closes the day's work. Say once that today teaches</a:t>
            </a:r>
          </a:p>
          <a:p>
            <a:r>
              <a:t>no new method.</a:t>
            </a:r>
          </a:p>
          <a:p>
            <a:r>
              <a:t>Transition: Dr Menon's question, and the seven questions that turn it into a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Read the day's question, then the seven short questions in</a:t>
            </a:r>
          </a:p>
          <a:p>
            <a:r>
              <a:t>order. Say how the day runs around them: this hour answers all seven, the trainer then tells the</a:t>
            </a:r>
          </a:p>
          <a:p>
            <a:r>
              <a:t>story of the US lab business in full for 45 minutes, the allocation follows the story so that groups</a:t>
            </a:r>
          </a:p>
          <a:p>
            <a:r>
              <a:t>choose knowing the domain, and the rest of the day is each group's translation, ending on a pinned</a:t>
            </a:r>
          </a:p>
          <a:p>
            <a:r>
              <a:t>scope at the close.</a:t>
            </a:r>
          </a:p>
          <a:p>
            <a:r>
              <a:t>Ask: which of the seven would you most want answered before you choose a question? Hear two answers</a:t>
            </a:r>
          </a:p>
          <a:p>
            <a:r>
              <a:t>in the chat and leave them open.</a:t>
            </a:r>
          </a:p>
          <a:p>
            <a:r>
              <a:t>Watch for anyone who starts answering Dr Menon in the chat ("it must be a competitor"). Say: write</a:t>
            </a:r>
          </a:p>
          <a:p>
            <a:r>
              <a:t>it down as a guess; nobody has opened a file yet.</a:t>
            </a:r>
          </a:p>
          <a:p>
            <a:r>
              <a:t>Transition: question 1, what Dr Menon has asked.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Section 1 runs about 10 minutes over its five slides. Its job is to put Dr</a:t>
            </a:r>
          </a:p>
          <a:p>
            <a:r>
              <a:t>Menon's situation in front of the room in her words before anyone hears the word sub-problem. No</a:t>
            </a:r>
          </a:p>
          <a:p>
            <a:r>
              <a:t>tools and no method names yet.</a:t>
            </a:r>
          </a:p>
          <a:p>
            <a:r>
              <a:t>Transition: who needs the answer, and the four questions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who needs the answer, then the four questions. Each gets</a:t>
            </a:r>
          </a:p>
          <a:p>
            <a:r>
              <a:t>one slide and an answer before the next is asked.</a:t>
            </a:r>
          </a:p>
          <a:p>
            <a:r>
              <a:t>Transition: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Kalpa Health runs one laboratory and two patient service</a:t>
            </a:r>
          </a:p>
          <a:p>
            <a:r>
              <a:t>centres, where blood is drawn, in each of six US metro areas: Dallas, Phoenix, New York, Chicago,</a:t>
            </a:r>
          </a:p>
          <a:p>
            <a:r>
              <a:t>Atlanta and Philadelphia. It reports in calendar quarters: Q2 is April to June 2026, Q3 is July to</a:t>
            </a:r>
          </a:p>
          <a:p>
            <a:r>
              <a:t>September 2026. The ten files the groups hold are the export taken on Friday 16 October 2026.</a:t>
            </a:r>
          </a:p>
          <a:p>
            <a:r>
              <a:t>Ask: which of the four numbers would you want to check first, and why? Hear two answers and rule on</a:t>
            </a:r>
          </a:p>
          <a:p>
            <a:r>
              <a:t>neither.</a:t>
            </a:r>
          </a:p>
          <a:p>
            <a:r>
              <a:t>Watch for someone who treats the 5 percent as a fact. Do not correct it; say that every number on a</a:t>
            </a:r>
          </a:p>
          <a:p>
            <a:r>
              <a:t>dashboard counts something, and that the groups will decide what this one counts.</a:t>
            </a:r>
          </a:p>
          <a:p>
            <a:r>
              <a:t>Transition: her heads each have a question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3 minutes. Read each row. The full words of each head are in the briefing</a:t>
            </a:r>
          </a:p>
          <a:p>
            <a:r>
              <a:t>note, briefs/C2_W03_D01_briefing_note_STUDENT.md, which every learner has. Each group will own one</a:t>
            </a:r>
          </a:p>
          <a:p>
            <a:r>
              <a:t>row by the end of the allocation, and section 3 gives each row its own slide.</a:t>
            </a:r>
          </a:p>
          <a:p>
            <a:r>
              <a:t>Watch for learners who start explaining a row ("it must be the season"). Say: hold that and write it</a:t>
            </a:r>
          </a:p>
          <a:p>
            <a:r>
              <a:t>down as a hypothesis to test once the build starts, since a guess said aloud now steers every group</a:t>
            </a:r>
          </a:p>
          <a:p>
            <a:r>
              <a:t>that hears it.</a:t>
            </a:r>
          </a:p>
          <a:p>
            <a:r>
              <a:t>Transition: why this is a question you have answered before.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One minute in pairs, then letters in the chat; the trainer</a:t>
            </a:r>
          </a:p>
          <a:p>
            <a:r>
              <a:t>reads the count aloud. Expect a and d from learners who feel the domain is unfamiliar. Do not resolve</a:t>
            </a:r>
          </a:p>
          <a:p>
            <a:r>
              <a:t>it here; the next slide does.</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The answer is b. Option c is the dangerous one: the data does</a:t>
            </a:r>
          </a:p>
          <a:p>
            <a:r>
              <a:t>not look the same, and some of its words have no retail twin, which is where a group must slow down.</a:t>
            </a:r>
          </a:p>
          <a:p>
            <a:r>
              <a:t>Option a is why this week exists: a candidate who says "I would need to learn the domain's</a:t>
            </a:r>
          </a:p>
          <a:p>
            <a:r>
              <a:t>techniques" has not seen that the method travels.</a:t>
            </a:r>
          </a:p>
          <a:p>
            <a:r>
              <a:t>Say the interview question aloud and leave it unanswered.</a:t>
            </a:r>
          </a:p>
          <a:p>
            <a:r>
              <a:t>Transition: section 2, the business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about 5 minutes over S7 to S9. The trainer tells the domain's story in</a:t>
            </a:r>
          </a:p>
          <a:p>
            <a:r>
              <a:t>full straight after this hour, 45 minutes with no laptop open, so these three slides preview it and</a:t>
            </a:r>
          </a:p>
          <a:p>
            <a:r>
              <a:t>D10 to D14, with D13a, carry its depth for anyone reading alone. The domain dossier,</a:t>
            </a:r>
          </a:p>
          <a:p>
            <a:r>
              <a:t>study-notes/C2_W03_D01_domain_us_healthcare_STUDENT.md, tells it at length.</a:t>
            </a:r>
          </a:p>
          <a:p>
            <a:r>
              <a:t>Transition: who needs the domain before the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the five questions. Say that the next two slides answer</a:t>
            </a:r>
          </a:p>
          <a:p>
            <a:r>
              <a:t>the first two, and that the trainer's story after this hour answers all five with drawings on the</a:t>
            </a:r>
          </a:p>
          <a:p>
            <a:r>
              <a:t>board.</a:t>
            </a:r>
          </a:p>
          <a:p>
            <a:r>
              <a:t>Transition: one blood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The requisition is the doctor's order; the accession number is</a:t>
            </a:r>
          </a:p>
          <a:p>
            <a:r>
              <a:t>the barcode that ties a tube to its order. The claim goes as an electronic file, an 837, and the</a:t>
            </a:r>
          </a:p>
          <a:p>
            <a:r>
              <a:t>plan answers with another, an 835, the remittance. James and his numbers come from the domain</a:t>
            </a:r>
          </a:p>
          <a:p>
            <a:r>
              <a:t>dossier; his $60 and $75 tests are prices in Kalpa Health's own test catalogue.</a:t>
            </a:r>
          </a:p>
          <a:p>
            <a:r>
              <a:t>Ask: the last time you had a blood test in India, who paid, and when did you know the price? Most</a:t>
            </a:r>
          </a:p>
          <a:p>
            <a:r>
              <a:t>paid at booking and knew the price; in the US a payer stands between the lab and its money.</a:t>
            </a:r>
          </a:p>
          <a:p>
            <a:r>
              <a:t>Then, before the next slide: of James's $135, how much reached the lab from his plan? Letters in</a:t>
            </a:r>
          </a:p>
          <a:p>
            <a:r>
              <a:t>the chat: a) nothing, b) under $50, c) $50 to $100, d) more than $100.</a:t>
            </a:r>
          </a:p>
          <a:p>
            <a:r>
              <a:t>Transition: how much of the $135 arrives.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The list price starts the claim; the contract decides what</a:t>
            </a:r>
          </a:p>
          <a:p>
            <a:r>
              <a:t>the test earns. The $64.80 is a contractual adjustment, written off under the contract and never</a:t>
            </a:r>
          </a:p>
          <a:p>
            <a:r>
              <a:t>owed, so it is not a loss. James owes 20 percent coinsurance on the $70.20.</a:t>
            </a:r>
          </a:p>
          <a:p>
            <a:r>
              <a:t>The answer to the question asked on S8 is c, $56.16.</a:t>
            </a:r>
          </a:p>
          <a:p>
            <a:r>
              <a:t>Transition: the trainer's story takes the rest of the domain after this hour; next, the five</a:t>
            </a:r>
          </a:p>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The sources, one per line:</a:t>
            </a:r>
          </a:p>
          <a:p>
            <a:r>
              <a:t>Quest Diagnostics, Form 10-K for 2025, https://www.sec.gov/Archives/edgar/data/1022079/000102207926000015/dgx-20251231.htm (checked 1 October 2026)</a:t>
            </a:r>
          </a:p>
          <a:p>
            <a:r>
              <a:t>Labcorp Holdings, Form 10-K for 2025, https://www.sec.gov/Archives/edgar/data/920148/000092014826000111/lh-20251231.htm (checked 1 October 2026)</a:t>
            </a:r>
          </a:p>
          <a:p>
            <a:r>
              <a:t>UnitedHealth Group careers, India, https://www.unitedhealthgroup.com/careers/in/work.html (checked 1 October 2026)</a:t>
            </a:r>
          </a:p>
          <a:p>
            <a:r>
              <a:t>AGS Health, company page, https://www.agshealth.com/company/ (checked 1 October 2026) Kalpa's GCC is the first kind of twin, one company's own centre with Kalpa Health</a:t>
            </a:r>
          </a:p>
          <a:p>
            <a:r>
              <a:t>as one of its clients.</a:t>
            </a:r>
          </a:p>
          <a:p>
            <a:r>
              <a:t>Transition: where $100 of charges goes.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Net revenue is what the lab expects to collect, and it is the line a lab</a:t>
            </a:r>
          </a:p>
          <a:p>
            <a:r>
              <a:t>reports. Quest reported operating income of 14.1 percent of net revenues in 2025 (10-K for 2025, as</a:t>
            </a:r>
          </a:p>
          <a:p>
            <a:r>
              <a:t>the dossier records it); the illustration's $6 of $42 is 14.3 percent.</a:t>
            </a:r>
          </a:p>
          <a:p>
            <a:r>
              <a:t>Transition: who at Kalpa Health asks the data team for which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The revenue cycle is the run of steps from the order to the cash, and the</a:t>
            </a:r>
          </a:p>
          <a:p>
            <a:r>
              <a:t>revenue-cycle team works the claims along it. Kalpa Health's heads other than Dr Menon go by their</a:t>
            </a:r>
          </a:p>
          <a:p>
            <a:r>
              <a:t>roles. Payer contracting,</a:t>
            </a:r>
          </a:p>
          <a:p>
            <a:r>
              <a:t>the lab director and compliance ask too, and the dossier's section 4 lists all of them. Kavya Nair,</a:t>
            </a:r>
          </a:p>
          <a:p>
            <a:r>
              <a:t>the senior analyst on the team, checks every answer before it leaves.</a:t>
            </a:r>
          </a:p>
          <a:p>
            <a:r>
              <a:t>Transition: the tree every revenue-cycle number hangs off.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Two measures set the pace: the clean claim rate, the share of claims that</a:t>
            </a:r>
          </a:p>
          <a:p>
            <a:r>
              <a:t>pass every check before they leave, and days in accounts receivable, what the lab is owed divided by</a:t>
            </a:r>
          </a:p>
          <a:p>
            <a:r>
              <a:t>a day's net revenue. The price-list example is the dossier's and the story's, and it is</a:t>
            </a:r>
          </a:p>
          <a:p>
            <a:r>
              <a:t>illustrative, never Kalpa Health's.</a:t>
            </a:r>
          </a:p>
          <a:p>
            <a:r>
              <a:t>Transition: when a claim is denied, and when it is only rejected.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A rejection never reaches the payer's decision: the clearinghouse, the</a:t>
            </a:r>
          </a:p>
          <a:p>
            <a:r>
              <a:t>company that checks a claim's format and routes it, sends it back, and the lab fixes and resends it.</a:t>
            </a:r>
          </a:p>
          <a:p>
            <a:r>
              <a:t>A denial is the payer's decision, after processing, not to pay; the lab then corrects and resends</a:t>
            </a:r>
          </a:p>
          <a:p>
            <a:r>
              <a:t>the claim, appeals with evidence, or writes it off. The data dictionary gives each category's</a:t>
            </a:r>
          </a:p>
          <a:p>
            <a:r>
              <a:t>meaning, and the dossier's section 6 gives a typical reason code for each.</a:t>
            </a:r>
          </a:p>
          <a:p>
            <a:r>
              <a:t>Transition: the rules that bind the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The dossier's section 7 carries each rule with its source, among them Texas's</a:t>
            </a:r>
          </a:p>
          <a:p>
            <a:r>
              <a:t>Medicaid managed-care contract, which requires the work under it to be done inside the US unless the</a:t>
            </a:r>
          </a:p>
          <a:p>
            <a:r>
              <a:t>state approves in writing. Kalpa Health bills Medicaid in Texas, so what the team in Bengaluru may</a:t>
            </a:r>
          </a:p>
          <a:p>
            <a:r>
              <a:t>touch is written in its contracts.</a:t>
            </a:r>
          </a:p>
          <a:p>
            <a:r>
              <a:t>Transition: section 3, the five questions in full.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about 9 minutes over S15 to S24: a minute and a half on each question,</a:t>
            </a:r>
          </a:p>
          <a:p>
            <a:r>
              <a:t>read in the asker's words with the decision it feeds. The odd-numbered D slides show each question's</a:t>
            </a:r>
          </a:p>
          <a:p>
            <a:r>
              <a:t>files and are self-study. Each question has its own brief in briefs/, C2_W03_D01_brief_{n}_{name}_STUDENT.md,</a:t>
            </a:r>
          </a:p>
          <a:p>
            <a:r>
              <a:t>with its terms, files, the ways a group could answer it sized, and what a finished answer looks like.</a:t>
            </a:r>
          </a:p>
          <a:p>
            <a:r>
              <a:t>Use the numbers all week: 1 revenue, 2 bookings, 3 billing, 4 no-shows, 5 campaign.</a:t>
            </a:r>
          </a:p>
          <a:p>
            <a:r>
              <a:t>Transition: who needs the five questions in 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the five short questions. Every group holds all ten files,</a:t>
            </a:r>
          </a:p>
          <a:p>
            <a:r>
              <a:t>whatever it takes, and every brief has the same shape.</a:t>
            </a:r>
          </a:p>
          <a:p>
            <a:r>
              <a:t>Transition: question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Read the finance head's words. Billed revenue is the dollars</a:t>
            </a:r>
          </a:p>
          <a:p>
            <a:r>
              <a:t>on the claims, at list prices plus any collection fee for a home draw, which differs from the money collected, so the group says which one it</a:t>
            </a:r>
          </a:p>
          <a:p>
            <a:r>
              <a:t>means. Do not say which method fits; that is the group's work today.</a:t>
            </a:r>
          </a:p>
          <a:p>
            <a:r>
              <a:t>Transition: the files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row counts exclude each file's header line. The brief is</a:t>
            </a:r>
          </a:p>
          <a:p>
            <a:r>
              <a:t>briefs/C2_W03_D01_brief_1_revenue_STUDENT.md.</a:t>
            </a:r>
          </a:p>
          <a:p>
            <a:r>
              <a:t>Transition: question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Read the operations head's words. Which two metros fell is</a:t>
            </a:r>
          </a:p>
          <a:p>
            <a:r>
              <a:t>the first thing the group finds in the files, and neither the slide nor the brief names them.</a:t>
            </a:r>
          </a:p>
          <a:p>
            <a:r>
              <a:t>Transition: the files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brief is briefs/C2_W03_D01_brief_2_bookings_STUDENT.md.</a:t>
            </a:r>
          </a:p>
          <a:p>
            <a:r>
              <a:t>Transition: question 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Read the finance head's words. A claim the contract never</a:t>
            </a:r>
          </a:p>
          <a:p>
            <a:r>
              <a:t>meant to pay in full is not unpaid, so the group defines paid, part paid, denied and unpaid before</a:t>
            </a:r>
          </a:p>
          <a:p>
            <a:r>
              <a:t>it counts.</a:t>
            </a:r>
          </a:p>
          <a:p>
            <a:r>
              <a:t>Transition: the files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postings run up to the export on Friday 16 October 2026. The brief is</a:t>
            </a:r>
          </a:p>
          <a:p>
            <a:r>
              <a:t>briefs/C2_W03_D01_brief_3_billing_STUDENT.md.</a:t>
            </a:r>
          </a:p>
          <a:p>
            <a:r>
              <a:t>Transition: question 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Read the operations head's words. A missed draw can be a missed</a:t>
            </a:r>
          </a:p>
          <a:p>
            <a:r>
              <a:t>diagnosis, which is why this question carries more than a staffing cost.</a:t>
            </a:r>
          </a:p>
          <a:p>
            <a:r>
              <a:t>Transition: the files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Laboratories keep no visit register, so the file covers the twelve patient</a:t>
            </a:r>
          </a:p>
          <a:p>
            <a:r>
              <a:t>service centres only. The brief is briefs/C2_W03_D01_brief_4_noshows_STUDENT.md.</a:t>
            </a:r>
          </a:p>
          <a:p>
            <a:r>
              <a:t>Transition: question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Read the marketing head's words. A collection at home means a</a:t>
            </a:r>
          </a:p>
          <a:p>
            <a:r>
              <a:t>phlebotomist visits the patient; the offer waived its fee from 15 July, and the report counts the</a:t>
            </a:r>
          </a:p>
          <a:p>
            <a:r>
              <a:t>weeks to 14 September.</a:t>
            </a:r>
          </a:p>
          <a:p>
            <a:r>
              <a:t>Transition: the files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brief is briefs/C2_W03_D01_brief_5_campaign_STUDENT.md.</a:t>
            </a:r>
          </a:p>
          <a:p>
            <a:r>
              <a:t>Transition: section 4, the method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about 7 minutes over S26, S27, S33 and S34. D28 to D32 show each Week 1</a:t>
            </a:r>
          </a:p>
          <a:p>
            <a:r>
              <a:t>and 2 picture as the room drew it, for self-study. Nothing on these slides maps a question to a move;</a:t>
            </a:r>
          </a:p>
          <a:p>
            <a:r>
              <a:t>that mapping is each group's work today.</a:t>
            </a:r>
          </a:p>
          <a:p>
            <a:r>
              <a:t>Transition: who needs the method map.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the four questions.</a:t>
            </a:r>
          </a:p>
          <a:p>
            <a:r>
              <a:t>Transition: the moves, on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Walk Week 1 left to right, then Week 2. Each box is a day the</a:t>
            </a:r>
          </a:p>
          <a:p>
            <a:r>
              <a:t>room has done: Meera's tree, the drop investigated rung by rung, Anand's reconciliation with its</a:t>
            </a:r>
          </a:p>
          <a:p>
            <a:r>
              <a:t>decisions log, the chance check and the fair comparison, the one-page note; then the same thinking</a:t>
            </a:r>
          </a:p>
          <a:p>
            <a:r>
              <a:t>as SQL, joins proved before any sum, window functions, one row per customer in pandas, and the</a:t>
            </a:r>
          </a:p>
          <a:p>
            <a:r>
              <a:t>workbook a director cannot break.</a:t>
            </a:r>
          </a:p>
          <a:p>
            <a:r>
              <a:t>Ask: which of these did you find hardest? Hear two answers. Do not ask which fits which question.</a:t>
            </a:r>
          </a:p>
          <a:p>
            <a:r>
              <a:t>Transition: the pictures, for anyone reading alone, then why nothing new is taught.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Week 1 Monday, Kalpa Retail: revenue as customers times orders per customer</a:t>
            </a:r>
          </a:p>
          <a:p>
            <a:r>
              <a:t>times average order value, with the order's items and prices beneath. Redrawing it in Kalpa Health's</a:t>
            </a:r>
          </a:p>
          <a:p>
            <a:r>
              <a:t>words is a group's work in Part 2 of the worksheet, and nobody draws it for the room.</a:t>
            </a:r>
          </a:p>
          <a:p>
            <a:r>
              <a:t>Transition: the investigation ladder.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Week 1 Tuesday asked whether revenue really fell from Q1 to Q2 once both</a:t>
            </a:r>
          </a:p>
          <a:p>
            <a:r>
              <a:t>quarters covered the same weeks, before any branch was blamed.</a:t>
            </a:r>
          </a:p>
          <a:p>
            <a:r>
              <a:t>Transition: profile, clean, reconcile.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This week's decisions log, briefs/C2_W03_D01_decisions_log_STUDENT.xlsx,</a:t>
            </a:r>
          </a:p>
          <a:p>
            <a:r>
              <a:t>has the same five columns, and its Reconcile sheet checks rows in against clean plus removed for</a:t>
            </a:r>
          </a:p>
          <a:p>
            <a:r>
              <a:t>every file.</a:t>
            </a:r>
          </a:p>
          <a:p>
            <a:r>
              <a:t>Transition: real or noise, cause or coincidence.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Week 1 Thursday ran both checks on Meera's numbers and wrote the answer as a</a:t>
            </a:r>
          </a:p>
          <a:p>
            <a:r>
              <a:t>one-page note: the claim, the evidence, the caveat and the action.</a:t>
            </a:r>
          </a:p>
          <a:p>
            <a:r>
              <a:t>Transition: joins.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Week 2 Tuesday: booked against collected, Anand's report, where the join was</a:t>
            </a:r>
          </a:p>
          <a:p>
            <a:r>
              <a:t>proved before the number.</a:t>
            </a:r>
          </a:p>
          <a:p>
            <a:r>
              <a:t>Transition: why nothing new is taught.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A build week that teaches leaves no time for the build, so</a:t>
            </a:r>
          </a:p>
          <a:p>
            <a:r>
              <a:t>trainers and TAs answer domain questions only. The TAs' reply to "which method do we use?" is a</a:t>
            </a:r>
          </a:p>
          <a:p>
            <a:r>
              <a:t>question back: which one did Meera's question need?</a:t>
            </a:r>
          </a:p>
          <a:p>
            <a:r>
              <a:t>Transition: who decides which move fits which question.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Say it plainly: nobody in this room will tell a group which</a:t>
            </a:r>
          </a:p>
          <a:p>
            <a:r>
              <a:t>move fits its question. Each brief lists the ways a group could answer it, with what each costs, and</a:t>
            </a:r>
          </a:p>
          <a:p>
            <a:r>
              <a:t>choosing among them, and saying why, is the translation.</a:t>
            </a:r>
          </a:p>
          <a:p>
            <a:r>
              <a:t>Transition: section 5, who takes which question.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about 5 minutes over S35 to S38. The allocation itself runs after the</a:t>
            </a:r>
          </a:p>
          <a:p>
            <a:r>
              <a:t>domain's story, in its own 30 minutes; these slides say how it will run.</a:t>
            </a:r>
          </a:p>
          <a:p>
            <a:r>
              <a:t>Transition: who needs the allocation settled.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the three questions. The allocation runs after the story so</a:t>
            </a:r>
          </a:p>
          <a:p>
            <a:r>
              <a:t>that every group chooses knowing what a claim, a payer and a denial are.</a:t>
            </a:r>
          </a:p>
          <a:p>
            <a:r>
              <a:t>Transition: the groups.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Every group holds all ten files whatever it takes. The group of</a:t>
            </a:r>
          </a:p>
          <a:p>
            <a:r>
              <a:t>three asks for no lighter brief; its "we will not" says what it leaves out.</a:t>
            </a:r>
          </a:p>
          <a:p>
            <a:r>
              <a:t>Transition: how the allocation runs.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Say how the allocation will run today, and say nothing that</a:t>
            </a:r>
          </a:p>
          <a:p>
            <a:r>
              <a:t>promises a group a question before it runs. The trainer sheet holds the ways to allocate; the</a:t>
            </a:r>
          </a:p>
          <a:p>
            <a:r>
              <a:t>Programme Head chooses one.</a:t>
            </a:r>
          </a:p>
          <a:p>
            <a:r>
              <a:t>Transition: what happens where groups share a question.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The panel wants different viewpoints on the same question,</a:t>
            </a:r>
          </a:p>
          <a:p>
            <a:r>
              <a:t>which is why the mapping stays inside each group until the panel.</a:t>
            </a:r>
          </a:p>
          <a:p>
            <a:r>
              <a:t>Transition: section 6, today's work.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about 9 minutes over S39 to S45.</a:t>
            </a:r>
          </a:p>
          <a:p>
            <a:r>
              <a:t>Transition: who needs a plan by tonight.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the six questions.</a:t>
            </a:r>
          </a:p>
          <a:p>
            <a:r>
              <a:t>Transition: the day in two blocks.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Walk block one, then block two. The translation runs 35</a:t>
            </a:r>
          </a:p>
          <a:p>
            <a:r>
              <a:t>minutes before lunch and 75 after it, then the cost of an error with a peer check between two groups</a:t>
            </a:r>
          </a:p>
          <a:p>
            <a:r>
              <a:t>on different questions, entry one in the challenges log, the scope rounds, and the close.</a:t>
            </a:r>
          </a:p>
          <a:p>
            <a:r>
              <a:t>Transition: the worksheet's six parts.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The worksheet is briefs/C2_W03_D01_translation_worksheet_STUDENT.md;</a:t>
            </a:r>
          </a:p>
          <a:p>
            <a:r>
              <a:t>each group copies it into its repository as translation.md and fills it with nothing else open,</a:t>
            </a:r>
          </a:p>
          <a:p>
            <a:r>
              <a:t>since all five questions and the Weeks 1 and 2 moves are on it.</a:t>
            </a:r>
          </a:p>
          <a:p>
            <a:r>
              <a:t>Transition: the vocabulary map.</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The three pairs come from the curriculum. Each group adds at</a:t>
            </a:r>
          </a:p>
          <a:p>
            <a:r>
              <a:t>least five of its own, and the pairs that behave differently are the ones to write down with care. Do not add</a:t>
            </a:r>
          </a:p>
          <a:p>
            <a:r>
              <a:t>pairs for the room.</a:t>
            </a:r>
          </a:p>
          <a:p>
            <a:r>
              <a:t>Transition: the challenges log.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The log is briefs/C2_W03_D01_challenges_log_STUDENT.xlsx; its</a:t>
            </a:r>
          </a:p>
          <a:p>
            <a:r>
              <a:t>Example sheet shows one entry and its Summary sheet counts what is still open. A challenge that</a:t>
            </a:r>
          </a:p>
          <a:p>
            <a:r>
              <a:t>needed a cleaning or matching call also goes in the decisions log.</a:t>
            </a:r>
          </a:p>
          <a:p>
            <a:r>
              <a:t>Transition: Kavya's four checks.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These are the four things Kavya Nair checks before any work</a:t>
            </a:r>
          </a:p>
          <a:p>
            <a:r>
              <a:t>leaves the team, the same four the room met in Weeks 1 and 2.</a:t>
            </a:r>
          </a:p>
          <a:p>
            <a:r>
              <a:t>Transition: the scope sentence.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The example is from Kalpa Retail on purpose; each group writes</a:t>
            </a:r>
          </a:p>
          <a:p>
            <a:r>
              <a:t>its own for Kalpa Health. The "we will not" is what keeps a group of four from spending Thursday on</a:t>
            </a:r>
          </a:p>
          <a:p>
            <a:r>
              <a:t>something nobody asked.</a:t>
            </a:r>
          </a:p>
          <a:p>
            <a:r>
              <a:t>Transition: section 7, when the week is scored.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about 12 minutes over S46 to S53, with a minute spare for questions.</a:t>
            </a:r>
          </a:p>
          <a:p>
            <a:r>
              <a:t>Transition: who needs the week's scoring.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Read the five questions.</a:t>
            </a:r>
          </a:p>
          <a:p>
            <a:r>
              <a:t>Transition: the week, day by 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Tuesday 20 October is Dussehra, a holiday with no session, so</a:t>
            </a:r>
          </a:p>
          <a:p>
            <a:r>
              <a:t>Wednesday does the work of two build days. Three things to land: the headline claim is stated on Wednesday</a:t>
            </a:r>
          </a:p>
          <a:p>
            <a:r>
              <a:t>so that Thursday tests it; the mock's viva runs on the group's own work, so the challenges log is</a:t>
            </a:r>
          </a:p>
          <a:p>
            <a:r>
              <a:t>revision; the group discussions run on prompts separate from the project. The time after the</a:t>
            </a:r>
          </a:p>
          <a:p>
            <a:r>
              <a:t>second block each day is open build time with the TAs.</a:t>
            </a:r>
          </a:p>
          <a:p>
            <a:r>
              <a:t>Transition: what every group ships.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90 seconds. The marks per event are locked: mini project 40 with the</a:t>
            </a:r>
          </a:p>
          <a:p>
            <a:r>
              <a:t>presentation inside it, mock 30, group discussion 30, and the next four slides carry them. The live demo runs cold: a fresh start, the raw</a:t>
            </a:r>
          </a:p>
          <a:p>
            <a:r>
              <a:t>files, top to bottom.</a:t>
            </a:r>
          </a:p>
          <a:p>
            <a:r>
              <a:t>Transition: how the mini project is scored.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Read the five criteria and stop on the first and the last. The</a:t>
            </a:r>
          </a:p>
          <a:p>
            <a:r>
              <a:t>first, the question translated, is scored on exactly the work the groups do today. The last means</a:t>
            </a:r>
          </a:p>
          <a:p>
            <a:r>
              <a:t>every member answers a challenge on the caveat, so each member answers for the whole of the group's</a:t>
            </a:r>
          </a:p>
          <a:p>
            <a:r>
              <a:t>work.</a:t>
            </a:r>
          </a:p>
          <a:p>
            <a:r>
              <a:t>Transition: what happens if the live demo fails.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The rule runs on both expert days, as it would in front of a</a:t>
            </a:r>
          </a:p>
          <a:p>
            <a:r>
              <a:t>client: one cold run, two minutes to recover, then the executed notebook.</a:t>
            </a:r>
          </a:p>
          <a:p>
            <a:r>
              <a:t>Transition: Mock R1.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The technical half is Weeks 1 and 2; the viva half is the</a:t>
            </a:r>
          </a:p>
          <a:p>
            <a:r>
              <a:t>group's own work, which is why the challenges log is revision.</a:t>
            </a:r>
          </a:p>
          <a:p>
            <a:r>
              <a:t>Transition: the group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1 minute. The group discussion is a thread separate from the project.</a:t>
            </a:r>
          </a:p>
          <a:p>
            <a:r>
              <a:t>Point at "Engages": bringing a quiet member in earns marks, and talking over one does not.</a:t>
            </a:r>
          </a:p>
          <a:p>
            <a:r>
              <a:t>Transition: how Monday closes.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Programme Head, 2 minutes, then the spare minute for questions. The checkpoint questions</a:t>
            </a:r>
          </a:p>
          <a:p>
            <a:r>
              <a:t>are not shared today; a group that cannot answer them on Wednesday is stuck, and Wednesday is the</a:t>
            </a:r>
          </a:p>
          <a:p>
            <a:r>
              <a:t>day to say so, because Thursday opens the mocks.</a:t>
            </a:r>
          </a:p>
          <a:p>
            <a:r>
              <a:t>Close on the [F] question and leave it on screen as the room breaks for the domain's story. Each</a:t>
            </a:r>
          </a:p>
          <a:p>
            <a:r>
              <a:t>group answers it for its own question in Part 5 of the worksheet; nobody answers it for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4.pn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 Id="rId5"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 Id="rId5"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7.xml"/><Relationship Id="rId5"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 Id="rId5"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36.pn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 Id="rId5" Type="http://schemas.openxmlformats.org/officeDocument/2006/relationships/image" Target="../media/image7.png"/><Relationship Id="rId6"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6.xml"/><Relationship Id="rId5"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 Id="rId5"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7.png"/><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0.xml"/><Relationship Id="rId5" Type="http://schemas.openxmlformats.org/officeDocument/2006/relationships/image" Target="../media/image4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196228"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3  ·  MONDAY  ·  BUILD 1</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Which branch of Kalpa Health is short?</a:t>
            </a:r>
          </a:p>
        </p:txBody>
      </p:sp>
      <p:sp>
        <p:nvSpPr>
          <p:cNvPr id="9" name="TextBox 8"/>
          <p:cNvSpPr txBox="1"/>
          <p:nvPr/>
        </p:nvSpPr>
        <p:spPr>
          <a:xfrm>
            <a:off x="621792" y="3635756"/>
            <a:ext cx="10033711" cy="977645"/>
          </a:xfrm>
          <a:prstGeom prst="rect">
            <a:avLst/>
          </a:prstGeom>
          <a:noFill/>
        </p:spPr>
        <p:txBody>
          <a:bodyPr wrap="square" anchor="t" lIns="0" rIns="0" tIns="0" bIns="0">
            <a:spAutoFit/>
          </a:bodyPr>
          <a:lstStyle/>
          <a:p>
            <a:pPr algn="l"/>
            <a:r>
              <a:rPr sz="1900" b="0" i="1">
                <a:solidFill>
                  <a:srgbClr val="D9A7FF"/>
                </a:solidFill>
                <a:latin typeface="Georgia"/>
              </a:rPr>
              <a:t>“My dashboard says test volumes grew 5 percent from Q2 to Q3. The plan the board approved asks for 18. Which branch of my business is short, and what do I do next?”</a:t>
            </a:r>
          </a:p>
        </p:txBody>
      </p:sp>
      <p:sp>
        <p:nvSpPr>
          <p:cNvPr id="10" name="TextBox 9"/>
          <p:cNvSpPr txBox="1"/>
          <p:nvPr/>
        </p:nvSpPr>
        <p:spPr>
          <a:xfrm>
            <a:off x="621792" y="4668266"/>
            <a:ext cx="10033711" cy="218186"/>
          </a:xfrm>
          <a:prstGeom prst="rect">
            <a:avLst/>
          </a:prstGeom>
          <a:noFill/>
        </p:spPr>
        <p:txBody>
          <a:bodyPr wrap="square" anchor="t" lIns="0" rIns="0" tIns="0" bIns="0">
            <a:spAutoFit/>
          </a:bodyPr>
          <a:lstStyle/>
          <a:p>
            <a:pPr algn="l"/>
            <a:r>
              <a:rPr sz="1100" b="0" i="0">
                <a:solidFill>
                  <a:srgbClr val="CFC9EE"/>
                </a:solidFill>
                <a:latin typeface="Calibri"/>
              </a:rPr>
              <a:t>Dr Priya Menon, COO, Kalpa Health, to the data and AI team at Kalpa's Global Capability Centre</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602486" cy="185166"/>
          </a:xfrm>
          <a:prstGeom prst="rect">
            <a:avLst/>
          </a:prstGeom>
          <a:noFill/>
        </p:spPr>
        <p:txBody>
          <a:bodyPr wrap="square" anchor="t" lIns="0" rIns="0" tIns="0" bIns="0">
            <a:spAutoFit/>
          </a:bodyPr>
          <a:lstStyle/>
          <a:p>
            <a:pPr algn="l"/>
            <a:r>
              <a:rPr sz="900" b="0" i="0">
                <a:solidFill>
                  <a:srgbClr val="FFFFFF"/>
                </a:solidFill>
                <a:latin typeface="Calibri"/>
              </a:rPr>
              <a:t>What is Dr Menon asking?</a:t>
            </a:r>
          </a:p>
        </p:txBody>
      </p:sp>
      <p:sp>
        <p:nvSpPr>
          <p:cNvPr id="13" name="TextBox 12"/>
          <p:cNvSpPr txBox="1"/>
          <p:nvPr/>
        </p:nvSpPr>
        <p:spPr>
          <a:xfrm>
            <a:off x="279120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175254" y="5248656"/>
            <a:ext cx="1543335" cy="185166"/>
          </a:xfrm>
          <a:prstGeom prst="rect">
            <a:avLst/>
          </a:prstGeom>
          <a:noFill/>
        </p:spPr>
        <p:txBody>
          <a:bodyPr wrap="square" anchor="t" lIns="0" rIns="0" tIns="0" bIns="0">
            <a:spAutoFit/>
          </a:bodyPr>
          <a:lstStyle/>
          <a:p>
            <a:pPr algn="l"/>
            <a:r>
              <a:rPr sz="900" b="0" i="0">
                <a:solidFill>
                  <a:srgbClr val="FFFFFF"/>
                </a:solidFill>
                <a:latin typeface="Calibri"/>
              </a:rPr>
              <a:t>How does a US lab earn?</a:t>
            </a:r>
          </a:p>
        </p:txBody>
      </p:sp>
      <p:sp>
        <p:nvSpPr>
          <p:cNvPr id="15" name="TextBox 14"/>
          <p:cNvSpPr txBox="1"/>
          <p:nvPr/>
        </p:nvSpPr>
        <p:spPr>
          <a:xfrm>
            <a:off x="4901469"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285517" y="5248656"/>
            <a:ext cx="1425035" cy="185166"/>
          </a:xfrm>
          <a:prstGeom prst="rect">
            <a:avLst/>
          </a:prstGeom>
          <a:noFill/>
        </p:spPr>
        <p:txBody>
          <a:bodyPr wrap="square" anchor="t" lIns="0" rIns="0" tIns="0" bIns="0">
            <a:spAutoFit/>
          </a:bodyPr>
          <a:lstStyle/>
          <a:p>
            <a:pPr algn="l"/>
            <a:r>
              <a:rPr sz="900" b="0" i="0">
                <a:solidFill>
                  <a:srgbClr val="FFFFFF"/>
                </a:solidFill>
                <a:latin typeface="Calibri"/>
              </a:rPr>
              <a:t>Which five questions?</a:t>
            </a:r>
          </a:p>
        </p:txBody>
      </p:sp>
      <p:sp>
        <p:nvSpPr>
          <p:cNvPr id="17" name="TextBox 16"/>
          <p:cNvSpPr txBox="1"/>
          <p:nvPr/>
        </p:nvSpPr>
        <p:spPr>
          <a:xfrm>
            <a:off x="6893433"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277481" y="5248656"/>
            <a:ext cx="1543335" cy="185166"/>
          </a:xfrm>
          <a:prstGeom prst="rect">
            <a:avLst/>
          </a:prstGeom>
          <a:noFill/>
        </p:spPr>
        <p:txBody>
          <a:bodyPr wrap="square" anchor="t" lIns="0" rIns="0" tIns="0" bIns="0">
            <a:spAutoFit/>
          </a:bodyPr>
          <a:lstStyle/>
          <a:p>
            <a:pPr algn="l"/>
            <a:r>
              <a:rPr sz="900" b="0" i="0">
                <a:solidFill>
                  <a:srgbClr val="FFFFFF"/>
                </a:solidFill>
                <a:latin typeface="Calibri"/>
              </a:rPr>
              <a:t>Which moves do you own?</a:t>
            </a:r>
          </a:p>
        </p:txBody>
      </p:sp>
      <p:sp>
        <p:nvSpPr>
          <p:cNvPr id="19" name="TextBox 18"/>
          <p:cNvSpPr txBox="1"/>
          <p:nvPr/>
        </p:nvSpPr>
        <p:spPr>
          <a:xfrm>
            <a:off x="900369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9387744"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Who takes which question?</a:t>
            </a:r>
          </a:p>
        </p:txBody>
      </p:sp>
      <p:sp>
        <p:nvSpPr>
          <p:cNvPr id="21" name="TextBox 20"/>
          <p:cNvSpPr txBox="1"/>
          <p:nvPr/>
        </p:nvSpPr>
        <p:spPr>
          <a:xfrm>
            <a:off x="621792" y="5632704"/>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22" name="TextBox 21"/>
          <p:cNvSpPr txBox="1"/>
          <p:nvPr/>
        </p:nvSpPr>
        <p:spPr>
          <a:xfrm>
            <a:off x="1005839" y="5669280"/>
            <a:ext cx="1425035" cy="185166"/>
          </a:xfrm>
          <a:prstGeom prst="rect">
            <a:avLst/>
          </a:prstGeom>
          <a:noFill/>
        </p:spPr>
        <p:txBody>
          <a:bodyPr wrap="square" anchor="t" lIns="0" rIns="0" tIns="0" bIns="0">
            <a:spAutoFit/>
          </a:bodyPr>
          <a:lstStyle/>
          <a:p>
            <a:pPr algn="l"/>
            <a:r>
              <a:rPr sz="900" b="0" i="0">
                <a:solidFill>
                  <a:srgbClr val="FFFFFF"/>
                </a:solidFill>
                <a:latin typeface="Calibri"/>
              </a:rPr>
              <a:t>What is today's work?</a:t>
            </a:r>
          </a:p>
        </p:txBody>
      </p:sp>
      <p:sp>
        <p:nvSpPr>
          <p:cNvPr id="23" name="TextBox 22"/>
          <p:cNvSpPr txBox="1"/>
          <p:nvPr/>
        </p:nvSpPr>
        <p:spPr>
          <a:xfrm>
            <a:off x="2613755" y="5632704"/>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24" name="TextBox 23"/>
          <p:cNvSpPr txBox="1"/>
          <p:nvPr/>
        </p:nvSpPr>
        <p:spPr>
          <a:xfrm>
            <a:off x="2997803" y="5669280"/>
            <a:ext cx="1602486" cy="185166"/>
          </a:xfrm>
          <a:prstGeom prst="rect">
            <a:avLst/>
          </a:prstGeom>
          <a:noFill/>
        </p:spPr>
        <p:txBody>
          <a:bodyPr wrap="square" anchor="t" lIns="0" rIns="0" tIns="0" bIns="0">
            <a:spAutoFit/>
          </a:bodyPr>
          <a:lstStyle/>
          <a:p>
            <a:pPr algn="l"/>
            <a:r>
              <a:rPr sz="900" b="0" i="0">
                <a:solidFill>
                  <a:srgbClr val="FFFFFF"/>
                </a:solidFill>
                <a:latin typeface="Calibri"/>
              </a:rPr>
              <a:t>When is the week scored?</a:t>
            </a:r>
          </a:p>
        </p:txBody>
      </p:sp>
      <p:sp>
        <p:nvSpPr>
          <p:cNvPr id="25" name="TextBox 2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63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today cover? Five topics across the 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curriculum topic does each part of the day carry, and in how many minutes?</a:t>
            </a:r>
          </a:p>
        </p:txBody>
      </p:sp>
      <p:graphicFrame>
        <p:nvGraphicFramePr>
          <p:cNvPr id="9" name="Table 8"/>
          <p:cNvGraphicFramePr>
            <a:graphicFrameLocks noGrp="1"/>
          </p:cNvGraphicFramePr>
          <p:nvPr/>
        </p:nvGraphicFramePr>
        <p:xfrm>
          <a:off x="530352" y="1682496"/>
          <a:ext cx="11130990" cy="1993392"/>
        </p:xfrm>
        <a:graphic>
          <a:graphicData uri="http://schemas.openxmlformats.org/drawingml/2006/table">
            <a:tbl>
              <a:tblPr firstRow="0" bandRow="0">
                <a:tableStyleId>{2D5ABB26-0587-4C30-8999-92F81FD0307C}</a:tableStyleId>
              </a:tblPr>
              <a:tblGrid>
                <a:gridCol w="4369259"/>
                <a:gridCol w="4616926"/>
                <a:gridCol w="2144805"/>
              </a:tblGrid>
              <a:tr h="310896">
                <a:tc>
                  <a:txBody>
                    <a:bodyPr/>
                    <a:lstStyle/>
                    <a:p>
                      <a:r>
                        <a:rPr sz="950" b="1" i="0">
                          <a:solidFill>
                            <a:srgbClr val="FFFFFF"/>
                          </a:solidFill>
                          <a:latin typeface="Calibri"/>
                        </a:rPr>
                        <a:t>The curriculum's topic</a:t>
                      </a:r>
                    </a:p>
                  </a:txBody>
                  <a:tcPr marL="101600" marR="101600" marT="38100" marB="38100" anchor="ctr">
                    <a:solidFill>
                      <a:srgbClr val="1A0F5C"/>
                    </a:solidFill>
                  </a:tcPr>
                </a:tc>
                <a:tc>
                  <a:txBody>
                    <a:bodyPr/>
                    <a:lstStyle/>
                    <a:p>
                      <a:r>
                        <a:rPr sz="950" b="1" i="0">
                          <a:solidFill>
                            <a:srgbClr val="FFFFFF"/>
                          </a:solidFill>
                          <a:latin typeface="Calibri"/>
                        </a:rPr>
                        <a:t>Where the day carries it</a:t>
                      </a:r>
                    </a:p>
                  </a:txBody>
                  <a:tcPr marL="101600" marR="101600" marT="38100" marB="38100" anchor="ctr">
                    <a:solidFill>
                      <a:srgbClr val="1A0F5C"/>
                    </a:solidFill>
                  </a:tcPr>
                </a:tc>
                <a:tc>
                  <a:txBody>
                    <a:bodyPr/>
                    <a:lstStyle/>
                    <a:p>
                      <a:r>
                        <a:rPr sz="950" b="1" i="0">
                          <a:solidFill>
                            <a:srgbClr val="FFFFFF"/>
                          </a:solidFill>
                          <a:latin typeface="Calibri"/>
                        </a:rPr>
                        <a:t>About how many minutes</a:t>
                      </a:r>
                    </a:p>
                  </a:txBody>
                  <a:tcPr marL="101600" marR="101600" marT="38100" marB="38100" anchor="ctr">
                    <a:solidFill>
                      <a:srgbClr val="1A0F5C"/>
                    </a:solidFill>
                  </a:tcPr>
                </a:tc>
              </a:tr>
              <a:tr h="310896">
                <a:tc>
                  <a:txBody>
                    <a:bodyPr/>
                    <a:lstStyle/>
                    <a:p>
                      <a:r>
                        <a:rPr sz="900" b="0" i="0">
                          <a:solidFill>
                            <a:srgbClr val="1A1440"/>
                          </a:solidFill>
                          <a:latin typeface="Calibri"/>
                        </a:rPr>
                        <a:t>Online project introduction by the Programme Head</a:t>
                      </a:r>
                    </a:p>
                  </a:txBody>
                  <a:tcPr marL="101600" marR="101600" marT="38100" marB="38100" anchor="ctr">
                    <a:solidFill>
                      <a:srgbClr val="FFFFFF"/>
                    </a:solidFill>
                  </a:tcPr>
                </a:tc>
                <a:tc>
                  <a:txBody>
                    <a:bodyPr/>
                    <a:lstStyle/>
                    <a:p>
                      <a:r>
                        <a:rPr sz="900" b="0" i="0">
                          <a:solidFill>
                            <a:srgbClr val="1A1440"/>
                          </a:solidFill>
                          <a:latin typeface="Calibri"/>
                        </a:rPr>
                        <a:t>Sections 1 to 7, online</a:t>
                      </a:r>
                    </a:p>
                  </a:txBody>
                  <a:tcPr marL="101600" marR="101600" marT="38100" marB="38100" anchor="ctr">
                    <a:solidFill>
                      <a:srgbClr val="FFFFFF"/>
                    </a:solidFill>
                  </a:tcPr>
                </a:tc>
                <a:tc>
                  <a:txBody>
                    <a:bodyPr/>
                    <a:lstStyle/>
                    <a:p>
                      <a:r>
                        <a:rPr sz="900" b="0" i="0">
                          <a:solidFill>
                            <a:srgbClr val="1A1440"/>
                          </a:solidFill>
                          <a:latin typeface="Calibri"/>
                        </a:rPr>
                        <a:t>60</a:t>
                      </a:r>
                    </a:p>
                  </a:txBody>
                  <a:tcPr marL="101600" marR="101600" marT="38100" marB="38100" anchor="ctr">
                    <a:solidFill>
                      <a:srgbClr val="FFFFFF"/>
                    </a:solidFill>
                  </a:tcPr>
                </a:tc>
              </a:tr>
              <a:tr h="310896">
                <a:tc>
                  <a:txBody>
                    <a:bodyPr/>
                    <a:lstStyle/>
                    <a:p>
                      <a:r>
                        <a:rPr sz="900" b="0" i="0">
                          <a:solidFill>
                            <a:srgbClr val="1A1440"/>
                          </a:solidFill>
                          <a:latin typeface="Calibri"/>
                        </a:rPr>
                        <a:t>Five Kalpa Health sub-problems, three groups each</a:t>
                      </a:r>
                    </a:p>
                  </a:txBody>
                  <a:tcPr marL="101600" marR="101600" marT="38100" marB="38100" anchor="ctr">
                    <a:solidFill>
                      <a:srgbClr val="F4F2FA"/>
                    </a:solidFill>
                  </a:tcPr>
                </a:tc>
                <a:tc>
                  <a:txBody>
                    <a:bodyPr/>
                    <a:lstStyle/>
                    <a:p>
                      <a:r>
                        <a:rPr sz="900" b="0" i="0">
                          <a:solidFill>
                            <a:srgbClr val="1A1440"/>
                          </a:solidFill>
                          <a:latin typeface="Calibri"/>
                        </a:rPr>
                        <a:t>Sections 3 and 5, then the allocation after the story</a:t>
                      </a:r>
                    </a:p>
                  </a:txBody>
                  <a:tcPr marL="101600" marR="101600" marT="38100" marB="38100" anchor="ctr">
                    <a:solidFill>
                      <a:srgbClr val="F4F2FA"/>
                    </a:solidFill>
                  </a:tcPr>
                </a:tc>
                <a:tc>
                  <a:txBody>
                    <a:bodyPr/>
                    <a:lstStyle/>
                    <a:p>
                      <a:r>
                        <a:rPr sz="900" b="0" i="0">
                          <a:solidFill>
                            <a:srgbClr val="1A1440"/>
                          </a:solidFill>
                          <a:latin typeface="Calibri"/>
                        </a:rPr>
                        <a:t>9 and 5, then 30</a:t>
                      </a:r>
                    </a:p>
                  </a:txBody>
                  <a:tcPr marL="101600" marR="101600" marT="38100" marB="38100" anchor="ctr">
                    <a:solidFill>
                      <a:srgbClr val="F4F2FA"/>
                    </a:solidFill>
                  </a:tcPr>
                </a:tc>
              </a:tr>
              <a:tr h="438912">
                <a:tc>
                  <a:txBody>
                    <a:bodyPr/>
                    <a:lstStyle/>
                    <a:p>
                      <a:r>
                        <a:rPr sz="900" b="0" i="0">
                          <a:solidFill>
                            <a:srgbClr val="1A1440"/>
                          </a:solidFill>
                          <a:latin typeface="Calibri"/>
                        </a:rPr>
                        <a:t>Domain translation: the Week 1 method in Kalpa Health vocabulary</a:t>
                      </a:r>
                    </a:p>
                  </a:txBody>
                  <a:tcPr marL="101600" marR="101600" marT="38100" marB="38100" anchor="ctr">
                    <a:solidFill>
                      <a:srgbClr val="FFFFFF"/>
                    </a:solidFill>
                  </a:tcPr>
                </a:tc>
                <a:tc>
                  <a:txBody>
                    <a:bodyPr/>
                    <a:lstStyle/>
                    <a:p>
                      <a:r>
                        <a:rPr sz="900" b="0" i="0">
                          <a:solidFill>
                            <a:srgbClr val="1A1440"/>
                          </a:solidFill>
                          <a:latin typeface="Calibri"/>
                        </a:rPr>
                        <a:t>Section 2 and the domain's story, section 4, then the translation worksheet in both blocks</a:t>
                      </a:r>
                    </a:p>
                  </a:txBody>
                  <a:tcPr marL="101600" marR="101600" marT="38100" marB="38100" anchor="ctr">
                    <a:solidFill>
                      <a:srgbClr val="FFFFFF"/>
                    </a:solidFill>
                  </a:tcPr>
                </a:tc>
                <a:tc>
                  <a:txBody>
                    <a:bodyPr/>
                    <a:lstStyle/>
                    <a:p>
                      <a:r>
                        <a:rPr sz="900" b="0" i="0">
                          <a:solidFill>
                            <a:srgbClr val="1A1440"/>
                          </a:solidFill>
                          <a:latin typeface="Calibri"/>
                        </a:rPr>
                        <a:t>5 and 45, 7, then 35 and 75</a:t>
                      </a:r>
                    </a:p>
                  </a:txBody>
                  <a:tcPr marL="101600" marR="101600" marT="38100" marB="38100" anchor="ctr">
                    <a:solidFill>
                      <a:srgbClr val="FFFFFF"/>
                    </a:solidFill>
                  </a:tcPr>
                </a:tc>
              </a:tr>
              <a:tr h="310896">
                <a:tc>
                  <a:txBody>
                    <a:bodyPr/>
                    <a:lstStyle/>
                    <a:p>
                      <a:r>
                        <a:rPr sz="900" b="0" i="0">
                          <a:solidFill>
                            <a:srgbClr val="1A1440"/>
                          </a:solidFill>
                          <a:latin typeface="Calibri"/>
                        </a:rPr>
                        <a:t>The challenges log opened</a:t>
                      </a:r>
                    </a:p>
                  </a:txBody>
                  <a:tcPr marL="101600" marR="101600" marT="38100" marB="38100" anchor="ctr">
                    <a:solidFill>
                      <a:srgbClr val="F4F2FA"/>
                    </a:solidFill>
                  </a:tcPr>
                </a:tc>
                <a:tc>
                  <a:txBody>
                    <a:bodyPr/>
                    <a:lstStyle/>
                    <a:p>
                      <a:r>
                        <a:rPr sz="900" b="0" i="0">
                          <a:solidFill>
                            <a:srgbClr val="1A1440"/>
                          </a:solidFill>
                          <a:latin typeface="Calibri"/>
                        </a:rPr>
                        <a:t>Section 6, then entry one in block two</a:t>
                      </a:r>
                    </a:p>
                  </a:txBody>
                  <a:tcPr marL="101600" marR="101600" marT="38100" marB="38100" anchor="ctr">
                    <a:solidFill>
                      <a:srgbClr val="F4F2FA"/>
                    </a:solidFill>
                  </a:tcPr>
                </a:tc>
                <a:tc>
                  <a:txBody>
                    <a:bodyPr/>
                    <a:lstStyle/>
                    <a:p>
                      <a:r>
                        <a:rPr sz="900" b="0" i="0">
                          <a:solidFill>
                            <a:srgbClr val="1A1440"/>
                          </a:solidFill>
                          <a:latin typeface="Calibri"/>
                        </a:rPr>
                        <a:t>Part of section 6's 9, then 30</a:t>
                      </a:r>
                    </a:p>
                  </a:txBody>
                  <a:tcPr marL="101600" marR="101600" marT="38100" marB="38100" anchor="ctr">
                    <a:solidFill>
                      <a:srgbClr val="F4F2FA"/>
                    </a:solidFill>
                  </a:tcPr>
                </a:tc>
              </a:tr>
              <a:tr h="310896">
                <a:tc>
                  <a:txBody>
                    <a:bodyPr/>
                    <a:lstStyle/>
                    <a:p>
                      <a:r>
                        <a:rPr sz="900" b="0" i="0">
                          <a:solidFill>
                            <a:srgbClr val="1A1440"/>
                          </a:solidFill>
                          <a:latin typeface="Calibri"/>
                        </a:rPr>
                        <a:t>No new teaching content</a:t>
                      </a:r>
                    </a:p>
                  </a:txBody>
                  <a:tcPr marL="101600" marR="101600" marT="38100" marB="38100" anchor="ctr">
                    <a:solidFill>
                      <a:srgbClr val="FFFFFF"/>
                    </a:solidFill>
                  </a:tcPr>
                </a:tc>
                <a:tc>
                  <a:txBody>
                    <a:bodyPr/>
                    <a:lstStyle/>
                    <a:p>
                      <a:r>
                        <a:rPr sz="900" b="0" i="0">
                          <a:solidFill>
                            <a:srgbClr val="1A1440"/>
                          </a:solidFill>
                          <a:latin typeface="Calibri"/>
                        </a:rPr>
                        <a:t>Section 4, where every move is one you learnt in Weeks 1 and 2</a:t>
                      </a:r>
                    </a:p>
                  </a:txBody>
                  <a:tcPr marL="101600" marR="101600" marT="38100" marB="38100" anchor="ctr">
                    <a:solidFill>
                      <a:srgbClr val="FFFFFF"/>
                    </a:solidFill>
                  </a:tcPr>
                </a:tc>
                <a:tc>
                  <a:txBody>
                    <a:bodyPr/>
                    <a:lstStyle/>
                    <a:p>
                      <a:r>
                        <a:rPr sz="900" b="0" i="0">
                          <a:solidFill>
                            <a:srgbClr val="1A1440"/>
                          </a:solidFill>
                          <a:latin typeface="Calibri"/>
                        </a:rPr>
                        <a:t>7</a:t>
                      </a:r>
                    </a:p>
                  </a:txBody>
                  <a:tcPr marL="101600" marR="101600" marT="38100" marB="38100" anchor="ctr">
                    <a:solidFill>
                      <a:srgbClr val="FFFFFF"/>
                    </a:solidFill>
                  </a:tcPr>
                </a:tc>
              </a:tr>
            </a:tbl>
          </a:graphicData>
        </a:graphic>
      </p:graphicFrame>
      <p:pic>
        <p:nvPicPr>
          <p:cNvPr id="10" name="mermaid diagram" descr="3c4d6c51972b9263.png"/>
          <p:cNvPicPr>
            <a:picLocks noChangeAspect="1"/>
          </p:cNvPicPr>
          <p:nvPr/>
        </p:nvPicPr>
        <p:blipFill>
          <a:blip r:embed="rId5"/>
          <a:stretch>
            <a:fillRect/>
          </a:stretch>
        </p:blipFill>
        <p:spPr>
          <a:xfrm>
            <a:off x="1481546" y="3931920"/>
            <a:ext cx="9228601" cy="2267711"/>
          </a:xfrm>
          <a:prstGeom prst="rect">
            <a:avLst/>
          </a:prstGeom>
        </p:spPr>
      </p:pic>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S0  ·  2 /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questions turn Dr Menon's ask into a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 of Dr Menon's question will each group answer, and which move from Weeks 1 and 2 will it answer with?</a:t>
            </a:r>
          </a:p>
        </p:txBody>
      </p:sp>
      <p:pic>
        <p:nvPicPr>
          <p:cNvPr id="9" name="mermaid diagram" descr="8ca84c6874a03c81.png"/>
          <p:cNvPicPr>
            <a:picLocks noChangeAspect="1"/>
          </p:cNvPicPr>
          <p:nvPr/>
        </p:nvPicPr>
        <p:blipFill>
          <a:blip r:embed="rId5"/>
          <a:stretch>
            <a:fillRect/>
          </a:stretch>
        </p:blipFill>
        <p:spPr>
          <a:xfrm>
            <a:off x="1976830" y="1664208"/>
            <a:ext cx="8238035"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day ends when every group has written its question in its own words, mapped it onto a move from Weeks 1 and 2, and pinned a one-sentence scope.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63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Dr Menon asking?</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has Kalpa Health's COO seen on her dashboard, what are her heads asking, and why is it Meera's question again?</a:t>
            </a:r>
          </a:p>
        </p:txBody>
      </p:sp>
      <p:sp>
        <p:nvSpPr>
          <p:cNvPr id="10" name="Rounded Rectangle 9"/>
          <p:cNvSpPr/>
          <p:nvPr/>
        </p:nvSpPr>
        <p:spPr>
          <a:xfrm>
            <a:off x="731519" y="5074920"/>
            <a:ext cx="1506834"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 / 63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Dr Menon needs one answer before her board meets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to Dr Menon's question, and which questions come on the way?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Dr Priya Menon, COO of Kalpa Health: she moves the second half's staff and money onto the branch the team names, so a wrong branch leaves the short one falling for another quarter.</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dashboard</a:t>
            </a:r>
          </a:p>
        </p:txBody>
      </p:sp>
      <p:sp>
        <p:nvSpPr>
          <p:cNvPr id="17" name="TextBox 16"/>
          <p:cNvSpPr txBox="1"/>
          <p:nvPr/>
        </p:nvSpPr>
        <p:spPr>
          <a:xfrm>
            <a:off x="694944"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does Dr Menon's dashboard show, and against what plan?</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Her heads</a:t>
            </a:r>
          </a:p>
        </p:txBody>
      </p:sp>
      <p:sp>
        <p:nvSpPr>
          <p:cNvPr id="22" name="TextBox 21"/>
          <p:cNvSpPr txBox="1"/>
          <p:nvPr/>
        </p:nvSpPr>
        <p:spPr>
          <a:xfrm>
            <a:off x="3523411"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Which five questions do her heads ask, and what does each decide?</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Meera's question</a:t>
            </a:r>
          </a:p>
        </p:txBody>
      </p:sp>
      <p:sp>
        <p:nvSpPr>
          <p:cNvPr id="27" name="TextBox 26"/>
          <p:cNvSpPr txBox="1"/>
          <p:nvPr/>
        </p:nvSpPr>
        <p:spPr>
          <a:xfrm>
            <a:off x="6351879"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changes between Meera's question and Dr Menon's?</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10237965"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travels</a:t>
            </a:r>
          </a:p>
        </p:txBody>
      </p:sp>
      <p:sp>
        <p:nvSpPr>
          <p:cNvPr id="32" name="TextBox 31"/>
          <p:cNvSpPr txBox="1"/>
          <p:nvPr/>
        </p:nvSpPr>
        <p:spPr>
          <a:xfrm>
            <a:off x="9180347" y="4250182"/>
            <a:ext cx="2316403" cy="366776"/>
          </a:xfrm>
          <a:prstGeom prst="rect">
            <a:avLst/>
          </a:prstGeom>
          <a:noFill/>
        </p:spPr>
        <p:txBody>
          <a:bodyPr wrap="square" anchor="t" lIns="0" rIns="0" tIns="0" bIns="0">
            <a:spAutoFit/>
          </a:bodyPr>
          <a:lstStyle/>
          <a:p>
            <a:pPr algn="l"/>
            <a:r>
              <a:rPr sz="1000" b="0" i="0">
                <a:solidFill>
                  <a:srgbClr val="CFC9EE"/>
                </a:solidFill>
                <a:latin typeface="Calibri"/>
              </a:rPr>
              <a:t>What carries over from Kalpa Retail, and what does not?</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Dr Menon asking?</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7" name="Oval 3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9" name="Oval 3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1" name="Oval 4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3" name="Oval 4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5" name="Oval 44"/>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5 / 63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Her dashboard reads 5 percent against a plan of 18</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Dr Menon's dashboard show, and against what plan?</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TEST VOLUMES, Q2 TO Q3</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on Dr Menon's dashboard</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18%</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THE PLAN</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what the board approved</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13</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POINTS SHORT</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what she must explain</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US METRO AREAS</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a laboratory and two centres in each</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branch is one of the parts the business splits into, such as a payer, a metro or a kind of test, and never a single site.</a:t>
            </a:r>
          </a:p>
        </p:txBody>
      </p:sp>
      <p:sp>
        <p:nvSpPr>
          <p:cNvPr id="26" name="Rounded Rectangle 25"/>
          <p:cNvSpPr/>
          <p:nvPr/>
        </p:nvSpPr>
        <p:spPr>
          <a:xfrm>
            <a:off x="530352" y="4320031"/>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58952" y="452272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message-square_028dbd132a0a.png"/>
          <p:cNvPicPr>
            <a:picLocks noChangeAspect="1"/>
          </p:cNvPicPr>
          <p:nvPr/>
        </p:nvPicPr>
        <p:blipFill>
          <a:blip r:embed="rId4"/>
          <a:stretch>
            <a:fillRect/>
          </a:stretch>
        </p:blipFill>
        <p:spPr>
          <a:xfrm>
            <a:off x="868680" y="4632452"/>
            <a:ext cx="237744" cy="237744"/>
          </a:xfrm>
          <a:prstGeom prst="rect">
            <a:avLst/>
          </a:prstGeom>
        </p:spPr>
      </p:pic>
      <p:sp>
        <p:nvSpPr>
          <p:cNvPr id="29" name="TextBox 28"/>
          <p:cNvSpPr txBox="1"/>
          <p:nvPr/>
        </p:nvSpPr>
        <p:spPr>
          <a:xfrm>
            <a:off x="1399031" y="446633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0" name="TextBox 29"/>
          <p:cNvSpPr txBox="1"/>
          <p:nvPr/>
        </p:nvSpPr>
        <p:spPr>
          <a:xfrm>
            <a:off x="1399031" y="4685792"/>
            <a:ext cx="9987991" cy="423672"/>
          </a:xfrm>
          <a:prstGeom prst="rect">
            <a:avLst/>
          </a:prstGeom>
          <a:noFill/>
        </p:spPr>
        <p:txBody>
          <a:bodyPr wrap="square" anchor="t" lIns="0" rIns="0" tIns="0" bIns="0">
            <a:spAutoFit/>
          </a:bodyPr>
          <a:lstStyle/>
          <a:p>
            <a:r>
              <a:rPr sz="1500" b="0" i="0">
                <a:solidFill>
                  <a:srgbClr val="FFFFFF"/>
                </a:solidFill>
                <a:latin typeface="Calibri"/>
              </a:rPr>
              <a:t>"Which branch of my business is short, and what do I do next?"</a:t>
            </a:r>
          </a:p>
        </p:txBody>
      </p:sp>
      <p:sp>
        <p:nvSpPr>
          <p:cNvPr id="31" name="Oval 3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Dr Menon asking?</a:t>
            </a:r>
          </a:p>
        </p:txBody>
      </p:sp>
      <p:sp>
        <p:nvSpPr>
          <p:cNvPr id="33" name="Oval 3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5" name="Oval 3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7" name="Oval 3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9" name="Oval 3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1" name="Oval 4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3" name="Oval 4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6 / 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heads ask five questions, each with a decision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five questions do Dr Menon's heads ask, and what does each answer decide?</a:t>
            </a:r>
          </a:p>
        </p:txBody>
      </p:sp>
      <p:graphicFrame>
        <p:nvGraphicFramePr>
          <p:cNvPr id="9" name="Table 8"/>
          <p:cNvGraphicFramePr>
            <a:graphicFrameLocks noGrp="1"/>
          </p:cNvGraphicFramePr>
          <p:nvPr/>
        </p:nvGraphicFramePr>
        <p:xfrm>
          <a:off x="530352" y="1956816"/>
          <a:ext cx="11130989" cy="2011680"/>
        </p:xfrm>
        <a:graphic>
          <a:graphicData uri="http://schemas.openxmlformats.org/drawingml/2006/table">
            <a:tbl>
              <a:tblPr firstRow="0" bandRow="0">
                <a:tableStyleId>{2D5ABB26-0587-4C30-8999-92F81FD0307C}</a:tableStyleId>
              </a:tblPr>
              <a:tblGrid>
                <a:gridCol w="914400"/>
                <a:gridCol w="2200496"/>
                <a:gridCol w="4747499"/>
                <a:gridCol w="3268594"/>
              </a:tblGrid>
              <a:tr h="335280">
                <a:tc>
                  <a:txBody>
                    <a:bodyPr/>
                    <a:lstStyle/>
                    <a:p>
                      <a:r>
                        <a:rPr sz="1250" b="1" i="0">
                          <a:solidFill>
                            <a:srgbClr val="FFFFFF"/>
                          </a:solidFill>
                          <a:latin typeface="Calibri"/>
                        </a:rPr>
                        <a:t>#</a:t>
                      </a:r>
                    </a:p>
                  </a:txBody>
                  <a:tcPr marL="101600" marR="101600" marT="38100" marB="38100" anchor="ctr">
                    <a:solidFill>
                      <a:srgbClr val="1A0F5C"/>
                    </a:solidFill>
                  </a:tcPr>
                </a:tc>
                <a:tc>
                  <a:txBody>
                    <a:bodyPr/>
                    <a:lstStyle/>
                    <a:p>
                      <a:r>
                        <a:rPr sz="1250" b="1" i="0">
                          <a:solidFill>
                            <a:srgbClr val="FFFFFF"/>
                          </a:solidFill>
                          <a:latin typeface="Calibri"/>
                        </a:rPr>
                        <a:t>Who asks</a:t>
                      </a:r>
                    </a:p>
                  </a:txBody>
                  <a:tcPr marL="101600" marR="101600" marT="38100" marB="38100" anchor="ctr">
                    <a:solidFill>
                      <a:srgbClr val="1A0F5C"/>
                    </a:solidFill>
                  </a:tcPr>
                </a:tc>
                <a:tc>
                  <a:txBody>
                    <a:bodyPr/>
                    <a:lstStyle/>
                    <a:p>
                      <a:r>
                        <a:rPr sz="1250" b="1" i="0">
                          <a:solidFill>
                            <a:srgbClr val="FFFFFF"/>
                          </a:solidFill>
                          <a:latin typeface="Calibri"/>
                        </a:rPr>
                        <a:t>What they ask</a:t>
                      </a:r>
                    </a:p>
                  </a:txBody>
                  <a:tcPr marL="101600" marR="101600" marT="38100" marB="38100" anchor="ctr">
                    <a:solidFill>
                      <a:srgbClr val="1A0F5C"/>
                    </a:solidFill>
                  </a:tcPr>
                </a:tc>
                <a:tc>
                  <a:txBody>
                    <a:bodyPr/>
                    <a:lstStyle/>
                    <a:p>
                      <a:r>
                        <a:rPr sz="1250" b="1" i="0">
                          <a:solidFill>
                            <a:srgbClr val="FFFFFF"/>
                          </a:solidFill>
                          <a:latin typeface="Calibri"/>
                        </a:rPr>
                        <a:t>What the answer decides</a:t>
                      </a:r>
                    </a:p>
                  </a:txBody>
                  <a:tcPr marL="101600" marR="101600" marT="38100" marB="38100" anchor="ctr">
                    <a:solidFill>
                      <a:srgbClr val="1A0F5C"/>
                    </a:solidFill>
                  </a:tcPr>
                </a:tc>
              </a:tr>
              <a:tr h="335280">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Finance head</a:t>
                      </a:r>
                    </a:p>
                  </a:txBody>
                  <a:tcPr marL="101600" marR="101600" marT="38100" marB="38100" anchor="ctr">
                    <a:solidFill>
                      <a:srgbClr val="FFFFFF"/>
                    </a:solidFill>
                  </a:tcPr>
                </a:tc>
                <a:tc>
                  <a:txBody>
                    <a:bodyPr/>
                    <a:lstStyle/>
                    <a:p>
                      <a:r>
                        <a:rPr sz="1200" b="0" i="0">
                          <a:solidFill>
                            <a:srgbClr val="1A1440"/>
                          </a:solidFill>
                          <a:latin typeface="Calibri"/>
                        </a:rPr>
                        <a:t>Which branch of lab revenue is short?</a:t>
                      </a:r>
                    </a:p>
                  </a:txBody>
                  <a:tcPr marL="101600" marR="101600" marT="38100" marB="38100" anchor="ctr">
                    <a:solidFill>
                      <a:srgbClr val="FFFFFF"/>
                    </a:solidFill>
                  </a:tcPr>
                </a:tc>
                <a:tc>
                  <a:txBody>
                    <a:bodyPr/>
                    <a:lstStyle/>
                    <a:p>
                      <a:r>
                        <a:rPr sz="1200" b="0" i="0">
                          <a:solidFill>
                            <a:srgbClr val="1A1440"/>
                          </a:solidFill>
                          <a:latin typeface="Calibri"/>
                        </a:rPr>
                        <a:t>Where the recovery effort goes</a:t>
                      </a:r>
                    </a:p>
                  </a:txBody>
                  <a:tcPr marL="101600" marR="101600" marT="38100" marB="38100" anchor="ctr">
                    <a:solidFill>
                      <a:srgbClr val="FFFFFF"/>
                    </a:solidFill>
                  </a:tcPr>
                </a:tc>
              </a:tr>
              <a:tr h="335280">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Centres' operations head</a:t>
                      </a:r>
                    </a:p>
                  </a:txBody>
                  <a:tcPr marL="101600" marR="101600" marT="38100" marB="38100" anchor="ctr">
                    <a:solidFill>
                      <a:srgbClr val="F4F2FA"/>
                    </a:solidFill>
                  </a:tcPr>
                </a:tc>
                <a:tc>
                  <a:txBody>
                    <a:bodyPr/>
                    <a:lstStyle/>
                    <a:p>
                      <a:r>
                        <a:rPr sz="1200" b="0" i="0">
                          <a:solidFill>
                            <a:srgbClr val="1A1440"/>
                          </a:solidFill>
                          <a:latin typeface="Calibri"/>
                        </a:rPr>
                        <a:t>How far did bookings fall in two metros, and why?</a:t>
                      </a:r>
                    </a:p>
                  </a:txBody>
                  <a:tcPr marL="101600" marR="101600" marT="38100" marB="38100" anchor="ctr">
                    <a:solidFill>
                      <a:srgbClr val="F4F2FA"/>
                    </a:solidFill>
                  </a:tcPr>
                </a:tc>
                <a:tc>
                  <a:txBody>
                    <a:bodyPr/>
                    <a:lstStyle/>
                    <a:p>
                      <a:r>
                        <a:rPr sz="1200" b="0" i="0">
                          <a:solidFill>
                            <a:srgbClr val="1A1440"/>
                          </a:solidFill>
                          <a:latin typeface="Calibri"/>
                        </a:rPr>
                        <a:t>A field team, a staff cut, or neither</a:t>
                      </a:r>
                    </a:p>
                  </a:txBody>
                  <a:tcPr marL="101600" marR="101600" marT="38100" marB="38100" anchor="ctr">
                    <a:solidFill>
                      <a:srgbClr val="F4F2FA"/>
                    </a:solidFill>
                  </a:tcPr>
                </a:tc>
              </a:tr>
              <a:tr h="335280">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Finance head</a:t>
                      </a:r>
                    </a:p>
                  </a:txBody>
                  <a:tcPr marL="101600" marR="101600" marT="38100" marB="38100" anchor="ctr">
                    <a:solidFill>
                      <a:srgbClr val="FFFFFF"/>
                    </a:solidFill>
                  </a:tcPr>
                </a:tc>
                <a:tc>
                  <a:txBody>
                    <a:bodyPr/>
                    <a:lstStyle/>
                    <a:p>
                      <a:r>
                        <a:rPr sz="1200" b="0" i="0">
                          <a:solidFill>
                            <a:srgbClr val="1A1440"/>
                          </a:solidFill>
                          <a:latin typeface="Calibri"/>
                        </a:rPr>
                        <a:t>Which claims are unpaid, and can the figure be trusted?</a:t>
                      </a:r>
                    </a:p>
                  </a:txBody>
                  <a:tcPr marL="101600" marR="101600" marT="38100" marB="38100" anchor="ctr">
                    <a:solidFill>
                      <a:srgbClr val="FFFFFF"/>
                    </a:solidFill>
                  </a:tcPr>
                </a:tc>
                <a:tc>
                  <a:txBody>
                    <a:bodyPr/>
                    <a:lstStyle/>
                    <a:p>
                      <a:r>
                        <a:rPr sz="1200" b="0" i="0">
                          <a:solidFill>
                            <a:srgbClr val="1A1440"/>
                          </a:solidFill>
                          <a:latin typeface="Calibri"/>
                        </a:rPr>
                        <a:t>The figure at the close</a:t>
                      </a:r>
                    </a:p>
                  </a:txBody>
                  <a:tcPr marL="101600" marR="101600" marT="38100" marB="38100" anchor="ctr">
                    <a:solidFill>
                      <a:srgbClr val="FFFFFF"/>
                    </a:solidFill>
                  </a:tcPr>
                </a:tc>
              </a:tr>
              <a:tr h="335280">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Centres' operations head</a:t>
                      </a:r>
                    </a:p>
                  </a:txBody>
                  <a:tcPr marL="101600" marR="101600" marT="38100" marB="38100" anchor="ctr">
                    <a:solidFill>
                      <a:srgbClr val="F4F2FA"/>
                    </a:solidFill>
                  </a:tcPr>
                </a:tc>
                <a:tc>
                  <a:txBody>
                    <a:bodyPr/>
                    <a:lstStyle/>
                    <a:p>
                      <a:r>
                        <a:rPr sz="1200" b="0" i="0">
                          <a:solidFill>
                            <a:srgbClr val="1A1440"/>
                          </a:solidFill>
                          <a:latin typeface="Calibri"/>
                        </a:rPr>
                        <a:t>Is KH-ATL-03 really worse at no-shows?</a:t>
                      </a:r>
                    </a:p>
                  </a:txBody>
                  <a:tcPr marL="101600" marR="101600" marT="38100" marB="38100" anchor="ctr">
                    <a:solidFill>
                      <a:srgbClr val="F4F2FA"/>
                    </a:solidFill>
                  </a:tcPr>
                </a:tc>
                <a:tc>
                  <a:txBody>
                    <a:bodyPr/>
                    <a:lstStyle/>
                    <a:p>
                      <a:r>
                        <a:rPr sz="1200" b="0" i="0">
                          <a:solidFill>
                            <a:srgbClr val="1A1440"/>
                          </a:solidFill>
                          <a:latin typeface="Calibri"/>
                        </a:rPr>
                        <a:t>A receptionist, reminders or closure</a:t>
                      </a:r>
                    </a:p>
                  </a:txBody>
                  <a:tcPr marL="101600" marR="101600" marT="38100" marB="38100" anchor="ctr">
                    <a:solidFill>
                      <a:srgbClr val="F4F2FA"/>
                    </a:solidFill>
                  </a:tcPr>
                </a:tc>
              </a:tr>
              <a:tr h="335280">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Marketing head</a:t>
                      </a:r>
                    </a:p>
                  </a:txBody>
                  <a:tcPr marL="101600" marR="101600" marT="38100" marB="38100" anchor="ctr">
                    <a:solidFill>
                      <a:srgbClr val="FFFFFF"/>
                    </a:solidFill>
                  </a:tcPr>
                </a:tc>
                <a:tc>
                  <a:txBody>
                    <a:bodyPr/>
                    <a:lstStyle/>
                    <a:p>
                      <a:r>
                        <a:rPr sz="1200" b="0" i="0">
                          <a:solidFill>
                            <a:srgbClr val="1A1440"/>
                          </a:solidFill>
                          <a:latin typeface="Calibri"/>
                        </a:rPr>
                        <a:t>Did the free at-home offer lift bookings 9 percent?</a:t>
                      </a:r>
                    </a:p>
                  </a:txBody>
                  <a:tcPr marL="101600" marR="101600" marT="38100" marB="38100" anchor="ctr">
                    <a:solidFill>
                      <a:srgbClr val="FFFFFF"/>
                    </a:solidFill>
                  </a:tcPr>
                </a:tc>
                <a:tc>
                  <a:txBody>
                    <a:bodyPr/>
                    <a:lstStyle/>
                    <a:p>
                      <a:r>
                        <a:rPr sz="1200" b="0" i="0">
                          <a:solidFill>
                            <a:srgbClr val="1A1440"/>
                          </a:solidFill>
                          <a:latin typeface="Calibri"/>
                        </a:rPr>
                        <a:t>Extend the offer, keep it or stop it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Dr Menon asking?</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8" name="Oval 1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0" name="Oval 1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2" name="Oval 21"/>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7 / 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changes from Meera's question to Dr Menon's?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 asked it of Kalpa Retail in Week 1 and Dr Menon asks it of a US lab, so which part changes?</a:t>
            </a:r>
          </a:p>
        </p:txBody>
      </p:sp>
      <p:pic>
        <p:nvPicPr>
          <p:cNvPr id="9" name="mermaid diagram" descr="4c9b6f6bed29383d.png"/>
          <p:cNvPicPr>
            <a:picLocks noChangeAspect="1"/>
          </p:cNvPicPr>
          <p:nvPr/>
        </p:nvPicPr>
        <p:blipFill>
          <a:blip r:embed="rId5"/>
          <a:stretch>
            <a:fillRect/>
          </a:stretch>
        </p:blipFill>
        <p:spPr>
          <a:xfrm>
            <a:off x="2152497" y="1809083"/>
            <a:ext cx="7886700" cy="3043237"/>
          </a:xfrm>
          <a:prstGeom prst="rect">
            <a:avLst/>
          </a:prstGeom>
        </p:spPr>
      </p:pic>
      <p:sp>
        <p:nvSpPr>
          <p:cNvPr id="10" name="Rounded Rectangle 9"/>
          <p:cNvSpPr/>
          <p:nvPr/>
        </p:nvSpPr>
        <p:spPr>
          <a:xfrm>
            <a:off x="530352" y="499862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12664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117496"/>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Answer as a letter: a) the method, since a laboratory business needs techniques of its own; b) the vocabulary and the cost of an error, while the method holds; c) nothing at all, since bookings and claims behave like orders and payments; d) the tools, since a lab's data needs a new stack.</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Dr Menon asking?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9" name="Oval 1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5" name="Oval 24"/>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8 / 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the words and the stakes change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carries over from Kalpa Retail to Kalpa Health, and what does not?</a:t>
            </a:r>
          </a:p>
        </p:txBody>
      </p:sp>
      <p:graphicFrame>
        <p:nvGraphicFramePr>
          <p:cNvPr id="9" name="Table 8"/>
          <p:cNvGraphicFramePr>
            <a:graphicFrameLocks noGrp="1"/>
          </p:cNvGraphicFramePr>
          <p:nvPr/>
        </p:nvGraphicFramePr>
        <p:xfrm>
          <a:off x="530352" y="1857248"/>
          <a:ext cx="11130990" cy="1762760"/>
        </p:xfrm>
        <a:graphic>
          <a:graphicData uri="http://schemas.openxmlformats.org/drawingml/2006/table">
            <a:tbl>
              <a:tblPr firstRow="0" bandRow="0">
                <a:tableStyleId>{2D5ABB26-0587-4C30-8999-92F81FD0307C}</a:tableStyleId>
              </a:tblPr>
              <a:tblGrid>
                <a:gridCol w="1948645"/>
                <a:gridCol w="3862199"/>
                <a:gridCol w="5320146"/>
              </a:tblGrid>
              <a:tr h="352552">
                <a:tc>
                  <a:txBody>
                    <a:bodyPr/>
                    <a:lstStyle/>
                    <a:p>
                      <a:r>
                        <a:rPr sz="1350" b="1" i="0">
                          <a:solidFill>
                            <a:srgbClr val="FFFFFF"/>
                          </a:solidFill>
                          <a:latin typeface="Calibri"/>
                        </a:rPr>
                        <a:t>What</a:t>
                      </a:r>
                    </a:p>
                  </a:txBody>
                  <a:tcPr marL="101600" marR="101600" marT="38100" marB="38100" anchor="ctr">
                    <a:solidFill>
                      <a:srgbClr val="1A0F5C"/>
                    </a:solidFill>
                  </a:tcPr>
                </a:tc>
                <a:tc>
                  <a:txBody>
                    <a:bodyPr/>
                    <a:lstStyle/>
                    <a:p>
                      <a:r>
                        <a:rPr sz="1350" b="1" i="0">
                          <a:solidFill>
                            <a:srgbClr val="FFFFFF"/>
                          </a:solidFill>
                          <a:latin typeface="Calibri"/>
                        </a:rPr>
                        <a:t>In Kalpa Retail</a:t>
                      </a:r>
                    </a:p>
                  </a:txBody>
                  <a:tcPr marL="101600" marR="101600" marT="38100" marB="38100" anchor="ctr">
                    <a:solidFill>
                      <a:srgbClr val="1A0F5C"/>
                    </a:solidFill>
                  </a:tcPr>
                </a:tc>
                <a:tc>
                  <a:txBody>
                    <a:bodyPr/>
                    <a:lstStyle/>
                    <a:p>
                      <a:r>
                        <a:rPr sz="1350" b="1" i="0">
                          <a:solidFill>
                            <a:srgbClr val="FFFFFF"/>
                          </a:solidFill>
                          <a:latin typeface="Calibri"/>
                        </a:rPr>
                        <a:t>In Kalpa Health</a:t>
                      </a:r>
                    </a:p>
                  </a:txBody>
                  <a:tcPr marL="101600" marR="101600" marT="38100" marB="38100" anchor="ctr">
                    <a:solidFill>
                      <a:srgbClr val="1A0F5C"/>
                    </a:solidFill>
                  </a:tcPr>
                </a:tc>
              </a:tr>
              <a:tr h="352552">
                <a:tc>
                  <a:txBody>
                    <a:bodyPr/>
                    <a:lstStyle/>
                    <a:p>
                      <a:r>
                        <a:rPr sz="1300" b="0" i="0">
                          <a:solidFill>
                            <a:srgbClr val="1A1440"/>
                          </a:solidFill>
                          <a:latin typeface="Calibri"/>
                        </a:rPr>
                        <a:t>The method</a:t>
                      </a:r>
                    </a:p>
                  </a:txBody>
                  <a:tcPr marL="101600" marR="101600" marT="38100" marB="38100" anchor="ctr">
                    <a:solidFill>
                      <a:srgbClr val="FFFFFF"/>
                    </a:solidFill>
                  </a:tcPr>
                </a:tc>
                <a:tc>
                  <a:txBody>
                    <a:bodyPr/>
                    <a:lstStyle/>
                    <a:p>
                      <a:r>
                        <a:rPr sz="1300" b="0" i="0">
                          <a:solidFill>
                            <a:srgbClr val="1A1440"/>
                          </a:solidFill>
                          <a:latin typeface="Calibri"/>
                        </a:rPr>
                        <a:t>Tree, ladder, reconcile, fair comparison</a:t>
                      </a:r>
                    </a:p>
                  </a:txBody>
                  <a:tcPr marL="101600" marR="101600" marT="38100" marB="38100" anchor="ctr">
                    <a:solidFill>
                      <a:srgbClr val="FFFFFF"/>
                    </a:solidFill>
                  </a:tcPr>
                </a:tc>
                <a:tc>
                  <a:txBody>
                    <a:bodyPr/>
                    <a:lstStyle/>
                    <a:p>
                      <a:r>
                        <a:rPr sz="1300" b="0" i="0">
                          <a:solidFill>
                            <a:srgbClr val="1A1440"/>
                          </a:solidFill>
                          <a:latin typeface="Calibri"/>
                        </a:rPr>
                        <a:t>The same moves, unchanged</a:t>
                      </a:r>
                    </a:p>
                  </a:txBody>
                  <a:tcPr marL="101600" marR="101600" marT="38100" marB="38100" anchor="ctr">
                    <a:solidFill>
                      <a:srgbClr val="FFFFFF"/>
                    </a:solidFill>
                  </a:tcPr>
                </a:tc>
              </a:tr>
              <a:tr h="352552">
                <a:tc>
                  <a:txBody>
                    <a:bodyPr/>
                    <a:lstStyle/>
                    <a:p>
                      <a:r>
                        <a:rPr sz="1300" b="0" i="0">
                          <a:solidFill>
                            <a:srgbClr val="1A1440"/>
                          </a:solidFill>
                          <a:latin typeface="Calibri"/>
                        </a:rPr>
                        <a:t>The vocabulary</a:t>
                      </a:r>
                    </a:p>
                  </a:txBody>
                  <a:tcPr marL="101600" marR="101600" marT="38100" marB="38100" anchor="ctr">
                    <a:solidFill>
                      <a:srgbClr val="F4F2FA"/>
                    </a:solidFill>
                  </a:tcPr>
                </a:tc>
                <a:tc>
                  <a:txBody>
                    <a:bodyPr/>
                    <a:lstStyle/>
                    <a:p>
                      <a:r>
                        <a:rPr sz="1300" b="0" i="0">
                          <a:solidFill>
                            <a:srgbClr val="1A1440"/>
                          </a:solidFill>
                          <a:latin typeface="Calibri"/>
                        </a:rPr>
                        <a:t>Orders, items, cancellations</a:t>
                      </a:r>
                    </a:p>
                  </a:txBody>
                  <a:tcPr marL="101600" marR="101600" marT="38100" marB="38100" anchor="ctr">
                    <a:solidFill>
                      <a:srgbClr val="F4F2FA"/>
                    </a:solidFill>
                  </a:tcPr>
                </a:tc>
                <a:tc>
                  <a:txBody>
                    <a:bodyPr/>
                    <a:lstStyle/>
                    <a:p>
                      <a:r>
                        <a:rPr sz="1300" b="0" i="0">
                          <a:solidFill>
                            <a:srgbClr val="1A1440"/>
                          </a:solidFill>
                          <a:latin typeface="Calibri"/>
                        </a:rPr>
                        <a:t>Bookings, tests, no-shows, and words with no retail twin</a:t>
                      </a:r>
                    </a:p>
                  </a:txBody>
                  <a:tcPr marL="101600" marR="101600" marT="38100" marB="38100" anchor="ctr">
                    <a:solidFill>
                      <a:srgbClr val="F4F2FA"/>
                    </a:solidFill>
                  </a:tcPr>
                </a:tc>
              </a:tr>
              <a:tr h="352552">
                <a:tc>
                  <a:txBody>
                    <a:bodyPr/>
                    <a:lstStyle/>
                    <a:p>
                      <a:r>
                        <a:rPr sz="1300" b="0" i="0">
                          <a:solidFill>
                            <a:srgbClr val="1A1440"/>
                          </a:solidFill>
                          <a:latin typeface="Calibri"/>
                        </a:rPr>
                        <a:t>Who pays</a:t>
                      </a:r>
                    </a:p>
                  </a:txBody>
                  <a:tcPr marL="101600" marR="101600" marT="38100" marB="38100" anchor="ctr">
                    <a:solidFill>
                      <a:srgbClr val="FFFFFF"/>
                    </a:solidFill>
                  </a:tcPr>
                </a:tc>
                <a:tc>
                  <a:txBody>
                    <a:bodyPr/>
                    <a:lstStyle/>
                    <a:p>
                      <a:r>
                        <a:rPr sz="1300" b="0" i="0">
                          <a:solidFill>
                            <a:srgbClr val="1A1440"/>
                          </a:solidFill>
                          <a:latin typeface="Calibri"/>
                        </a:rPr>
                        <a:t>The shopper, at the till or on the app</a:t>
                      </a:r>
                    </a:p>
                  </a:txBody>
                  <a:tcPr marL="101600" marR="101600" marT="38100" marB="38100" anchor="ctr">
                    <a:solidFill>
                      <a:srgbClr val="FFFFFF"/>
                    </a:solidFill>
                  </a:tcPr>
                </a:tc>
                <a:tc>
                  <a:txBody>
                    <a:bodyPr/>
                    <a:lstStyle/>
                    <a:p>
                      <a:r>
                        <a:rPr sz="1300" b="0" i="0">
                          <a:solidFill>
                            <a:srgbClr val="1A1440"/>
                          </a:solidFill>
                          <a:latin typeface="Calibri"/>
                        </a:rPr>
                        <a:t>A plan, Medicare, Medicaid or the patient, weeks later</a:t>
                      </a:r>
                    </a:p>
                  </a:txBody>
                  <a:tcPr marL="101600" marR="101600" marT="38100" marB="38100" anchor="ctr">
                    <a:solidFill>
                      <a:srgbClr val="FFFFFF"/>
                    </a:solidFill>
                  </a:tcPr>
                </a:tc>
              </a:tr>
              <a:tr h="352552">
                <a:tc>
                  <a:txBody>
                    <a:bodyPr/>
                    <a:lstStyle/>
                    <a:p>
                      <a:r>
                        <a:rPr sz="1300" b="0" i="0">
                          <a:solidFill>
                            <a:srgbClr val="1A1440"/>
                          </a:solidFill>
                          <a:latin typeface="Calibri"/>
                        </a:rPr>
                        <a:t>What an error costs</a:t>
                      </a:r>
                    </a:p>
                  </a:txBody>
                  <a:tcPr marL="101600" marR="101600" marT="38100" marB="38100" anchor="ctr">
                    <a:solidFill>
                      <a:srgbClr val="F4F2FA"/>
                    </a:solidFill>
                  </a:tcPr>
                </a:tc>
                <a:tc>
                  <a:txBody>
                    <a:bodyPr/>
                    <a:lstStyle/>
                    <a:p>
                      <a:r>
                        <a:rPr sz="1300" b="0" i="0">
                          <a:solidFill>
                            <a:srgbClr val="1A1440"/>
                          </a:solidFill>
                          <a:latin typeface="Calibri"/>
                        </a:rPr>
                        <a:t>A missed sale or a wasted budget</a:t>
                      </a:r>
                    </a:p>
                  </a:txBody>
                  <a:tcPr marL="101600" marR="101600" marT="38100" marB="38100" anchor="ctr">
                    <a:solidFill>
                      <a:srgbClr val="F4F2FA"/>
                    </a:solidFill>
                  </a:tcPr>
                </a:tc>
                <a:tc>
                  <a:txBody>
                    <a:bodyPr/>
                    <a:lstStyle/>
                    <a:p>
                      <a:r>
                        <a:rPr sz="1300" b="0" i="0">
                          <a:solidFill>
                            <a:srgbClr val="1A1440"/>
                          </a:solidFill>
                          <a:latin typeface="Calibri"/>
                        </a:rPr>
                        <a:t>A patient's missed draw, or a missed diagnosis</a:t>
                      </a:r>
                    </a:p>
                  </a:txBody>
                  <a:tcPr marL="101600" marR="101600" marT="38100" marB="38100" anchor="ctr">
                    <a:solidFill>
                      <a:srgbClr val="F4F2FA"/>
                    </a:solidFill>
                  </a:tcPr>
                </a:tc>
              </a:tr>
            </a:tbl>
          </a:graphicData>
        </a:graphic>
      </p:graphicFrame>
      <p:sp>
        <p:nvSpPr>
          <p:cNvPr id="10" name="Rounded Rectangle 9"/>
          <p:cNvSpPr/>
          <p:nvPr/>
        </p:nvSpPr>
        <p:spPr>
          <a:xfrm>
            <a:off x="530352" y="3876040"/>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082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318000"/>
            <a:ext cx="237744" cy="237744"/>
          </a:xfrm>
          <a:prstGeom prst="rect">
            <a:avLst/>
          </a:prstGeom>
        </p:spPr>
      </p:pic>
      <p:sp>
        <p:nvSpPr>
          <p:cNvPr id="13" name="TextBox 12"/>
          <p:cNvSpPr txBox="1"/>
          <p:nvPr/>
        </p:nvSpPr>
        <p:spPr>
          <a:xfrm>
            <a:off x="1399031" y="402234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241800"/>
            <a:ext cx="9987991" cy="682752"/>
          </a:xfrm>
          <a:prstGeom prst="rect">
            <a:avLst/>
          </a:prstGeom>
          <a:noFill/>
        </p:spPr>
        <p:txBody>
          <a:bodyPr wrap="square" anchor="t" lIns="0" rIns="0" tIns="0" bIns="0">
            <a:spAutoFit/>
          </a:bodyPr>
          <a:lstStyle/>
          <a:p>
            <a:r>
              <a:rPr sz="1500" b="0" i="0">
                <a:solidFill>
                  <a:srgbClr val="1A1440"/>
                </a:solidFill>
                <a:latin typeface="Calibri"/>
              </a:rPr>
              <a:t>A group that maps Kalpa Health onto the Week 1 method in its own words has done the transfer; a group that waits to be told the mapping has not.</a:t>
            </a:r>
          </a:p>
        </p:txBody>
      </p:sp>
      <p:sp>
        <p:nvSpPr>
          <p:cNvPr id="15" name="Rounded Rectangle 14"/>
          <p:cNvSpPr/>
          <p:nvPr/>
        </p:nvSpPr>
        <p:spPr>
          <a:xfrm>
            <a:off x="530352" y="516229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3649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474716"/>
            <a:ext cx="237744" cy="237744"/>
          </a:xfrm>
          <a:prstGeom prst="rect">
            <a:avLst/>
          </a:prstGeom>
        </p:spPr>
      </p:pic>
      <p:sp>
        <p:nvSpPr>
          <p:cNvPr id="18" name="TextBox 17"/>
          <p:cNvSpPr txBox="1"/>
          <p:nvPr/>
        </p:nvSpPr>
        <p:spPr>
          <a:xfrm>
            <a:off x="1399031" y="530860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28056"/>
            <a:ext cx="9987991" cy="423672"/>
          </a:xfrm>
          <a:prstGeom prst="rect">
            <a:avLst/>
          </a:prstGeom>
          <a:noFill/>
        </p:spPr>
        <p:txBody>
          <a:bodyPr wrap="square" anchor="t" lIns="0" rIns="0" tIns="0" bIns="0">
            <a:spAutoFit/>
          </a:bodyPr>
          <a:lstStyle/>
          <a:p>
            <a:r>
              <a:rPr sz="1500" b="0" i="0">
                <a:solidFill>
                  <a:srgbClr val="1A1440"/>
                </a:solidFill>
                <a:latin typeface="Calibri"/>
              </a:rPr>
              <a:t>[S] You have joined a healthcare company; how would you apply what you did in retail to our data?</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is Dr Menon asking?</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24" name="Oval 2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26" name="Oval 2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8" name="Oval 2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0" name="Oval 2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32" name="Oval 31"/>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9 / 63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does a US lab earn?</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does a US laboratory make its money, who pays it, and what may its data team in Bengaluru touch?</a:t>
            </a:r>
          </a:p>
        </p:txBody>
      </p:sp>
      <p:sp>
        <p:nvSpPr>
          <p:cNvPr id="10" name="Rounded Rectangle 9"/>
          <p:cNvSpPr/>
          <p:nvPr/>
        </p:nvSpPr>
        <p:spPr>
          <a:xfrm>
            <a:off x="731519"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10 / 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domain comes before the data, in five questions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business before the files, and which questions come on the way?</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group: most of the room has never worked in a business role and nobody in it has worked in US healthcare, so a group that opens the files before it knows the business counts the wrong things with confidence.</a:t>
            </a:r>
          </a:p>
        </p:txBody>
      </p:sp>
      <p:sp>
        <p:nvSpPr>
          <p:cNvPr id="12" name="Rectangle 11"/>
          <p:cNvSpPr/>
          <p:nvPr/>
        </p:nvSpPr>
        <p:spPr>
          <a:xfrm>
            <a:off x="1570299" y="37627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46971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750710" cy="251205"/>
          </a:xfrm>
          <a:prstGeom prst="rect">
            <a:avLst/>
          </a:prstGeom>
          <a:noFill/>
        </p:spPr>
        <p:txBody>
          <a:bodyPr wrap="square" anchor="t" lIns="0" rIns="0" tIns="0" bIns="0">
            <a:spAutoFit/>
          </a:bodyPr>
          <a:lstStyle/>
          <a:p>
            <a:pPr algn="l"/>
            <a:r>
              <a:rPr sz="1300" b="1" i="0">
                <a:solidFill>
                  <a:srgbClr val="1A0F5C"/>
                </a:solidFill>
                <a:latin typeface="Calibri"/>
              </a:rPr>
              <a:t>One test</a:t>
            </a:r>
          </a:p>
        </p:txBody>
      </p:sp>
      <p:sp>
        <p:nvSpPr>
          <p:cNvPr id="17" name="TextBox 16"/>
          <p:cNvSpPr txBox="1"/>
          <p:nvPr/>
        </p:nvSpPr>
        <p:spPr>
          <a:xfrm>
            <a:off x="694944" y="4516882"/>
            <a:ext cx="1750710" cy="531876"/>
          </a:xfrm>
          <a:prstGeom prst="rect">
            <a:avLst/>
          </a:prstGeom>
          <a:noFill/>
        </p:spPr>
        <p:txBody>
          <a:bodyPr wrap="square" anchor="t" lIns="0" rIns="0" tIns="0" bIns="0">
            <a:spAutoFit/>
          </a:bodyPr>
          <a:lstStyle/>
          <a:p>
            <a:pPr algn="l"/>
            <a:r>
              <a:rPr sz="1000" b="0" i="0">
                <a:solidFill>
                  <a:srgbClr val="6B6690"/>
                </a:solidFill>
                <a:latin typeface="Calibri"/>
              </a:rPr>
              <a:t>What happens to one blood test between the draw and the claim?</a:t>
            </a:r>
          </a:p>
        </p:txBody>
      </p:sp>
      <p:sp>
        <p:nvSpPr>
          <p:cNvPr id="18" name="TextBox 17"/>
          <p:cNvSpPr txBox="1"/>
          <p:nvPr/>
        </p:nvSpPr>
        <p:spPr>
          <a:xfrm>
            <a:off x="2793126"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732489"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4082796"/>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4229100"/>
            <a:ext cx="1750710" cy="251205"/>
          </a:xfrm>
          <a:prstGeom prst="rect">
            <a:avLst/>
          </a:prstGeom>
          <a:noFill/>
        </p:spPr>
        <p:txBody>
          <a:bodyPr wrap="square" anchor="t" lIns="0" rIns="0" tIns="0" bIns="0">
            <a:spAutoFit/>
          </a:bodyPr>
          <a:lstStyle/>
          <a:p>
            <a:pPr algn="l"/>
            <a:r>
              <a:rPr sz="1300" b="1" i="0">
                <a:solidFill>
                  <a:srgbClr val="1A0F5C"/>
                </a:solidFill>
                <a:latin typeface="Calibri"/>
              </a:rPr>
              <a:t>Who pays</a:t>
            </a:r>
          </a:p>
        </p:txBody>
      </p:sp>
      <p:sp>
        <p:nvSpPr>
          <p:cNvPr id="22" name="TextBox 21"/>
          <p:cNvSpPr txBox="1"/>
          <p:nvPr/>
        </p:nvSpPr>
        <p:spPr>
          <a:xfrm>
            <a:off x="2957718" y="4516882"/>
            <a:ext cx="1750710" cy="531876"/>
          </a:xfrm>
          <a:prstGeom prst="rect">
            <a:avLst/>
          </a:prstGeom>
          <a:noFill/>
        </p:spPr>
        <p:txBody>
          <a:bodyPr wrap="square" anchor="t" lIns="0" rIns="0" tIns="0" bIns="0">
            <a:spAutoFit/>
          </a:bodyPr>
          <a:lstStyle/>
          <a:p>
            <a:pPr algn="l"/>
            <a:r>
              <a:rPr sz="1000" b="0" i="0">
                <a:solidFill>
                  <a:srgbClr val="6B6690"/>
                </a:solidFill>
                <a:latin typeface="Calibri"/>
              </a:rPr>
              <a:t>Who pays a US lab, and how much of the list price arrives?</a:t>
            </a:r>
          </a:p>
        </p:txBody>
      </p:sp>
      <p:sp>
        <p:nvSpPr>
          <p:cNvPr id="23" name="TextBox 22"/>
          <p:cNvSpPr txBox="1"/>
          <p:nvPr/>
        </p:nvSpPr>
        <p:spPr>
          <a:xfrm>
            <a:off x="5055900"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995263"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4082796"/>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4229100"/>
            <a:ext cx="1750710" cy="251205"/>
          </a:xfrm>
          <a:prstGeom prst="rect">
            <a:avLst/>
          </a:prstGeom>
          <a:noFill/>
        </p:spPr>
        <p:txBody>
          <a:bodyPr wrap="square" anchor="t" lIns="0" rIns="0" tIns="0" bIns="0">
            <a:spAutoFit/>
          </a:bodyPr>
          <a:lstStyle/>
          <a:p>
            <a:pPr algn="l"/>
            <a:r>
              <a:rPr sz="1300" b="1" i="0">
                <a:solidFill>
                  <a:srgbClr val="1A0F5C"/>
                </a:solidFill>
                <a:latin typeface="Calibri"/>
              </a:rPr>
              <a:t>Real companies</a:t>
            </a:r>
          </a:p>
        </p:txBody>
      </p:sp>
      <p:sp>
        <p:nvSpPr>
          <p:cNvPr id="27" name="TextBox 26"/>
          <p:cNvSpPr txBox="1"/>
          <p:nvPr/>
        </p:nvSpPr>
        <p:spPr>
          <a:xfrm>
            <a:off x="5220492" y="45168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real companies look like Kalpa Health?</a:t>
            </a:r>
          </a:p>
        </p:txBody>
      </p:sp>
      <p:sp>
        <p:nvSpPr>
          <p:cNvPr id="28" name="TextBox 27"/>
          <p:cNvSpPr txBox="1"/>
          <p:nvPr/>
        </p:nvSpPr>
        <p:spPr>
          <a:xfrm>
            <a:off x="7318674"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8258037"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4082796"/>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4229100"/>
            <a:ext cx="1750710" cy="251205"/>
          </a:xfrm>
          <a:prstGeom prst="rect">
            <a:avLst/>
          </a:prstGeom>
          <a:noFill/>
        </p:spPr>
        <p:txBody>
          <a:bodyPr wrap="square" anchor="t" lIns="0" rIns="0" tIns="0" bIns="0">
            <a:spAutoFit/>
          </a:bodyPr>
          <a:lstStyle/>
          <a:p>
            <a:pPr algn="l"/>
            <a:r>
              <a:rPr sz="1300" b="1" i="0">
                <a:solidFill>
                  <a:srgbClr val="1A0F5C"/>
                </a:solidFill>
                <a:latin typeface="Calibri"/>
              </a:rPr>
              <a:t>Where $100 goes</a:t>
            </a:r>
          </a:p>
        </p:txBody>
      </p:sp>
      <p:sp>
        <p:nvSpPr>
          <p:cNvPr id="32" name="TextBox 31"/>
          <p:cNvSpPr txBox="1"/>
          <p:nvPr/>
        </p:nvSpPr>
        <p:spPr>
          <a:xfrm>
            <a:off x="7483266" y="4516882"/>
            <a:ext cx="1750710" cy="696976"/>
          </a:xfrm>
          <a:prstGeom prst="rect">
            <a:avLst/>
          </a:prstGeom>
          <a:noFill/>
        </p:spPr>
        <p:txBody>
          <a:bodyPr wrap="square" anchor="t" lIns="0" rIns="0" tIns="0" bIns="0">
            <a:spAutoFit/>
          </a:bodyPr>
          <a:lstStyle/>
          <a:p>
            <a:pPr algn="l"/>
            <a:r>
              <a:rPr sz="1000" b="0" i="0">
                <a:solidFill>
                  <a:srgbClr val="6B6690"/>
                </a:solidFill>
                <a:latin typeface="Calibri"/>
              </a:rPr>
              <a:t>Where does $100 of a lab's charges go, who asks for which number, and when is a claim denied?</a:t>
            </a:r>
          </a:p>
        </p:txBody>
      </p:sp>
      <p:sp>
        <p:nvSpPr>
          <p:cNvPr id="33" name="TextBox 32"/>
          <p:cNvSpPr txBox="1"/>
          <p:nvPr/>
        </p:nvSpPr>
        <p:spPr>
          <a:xfrm>
            <a:off x="9581448"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10520812"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4082796"/>
            <a:ext cx="2079894"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4229100"/>
            <a:ext cx="1750710" cy="251205"/>
          </a:xfrm>
          <a:prstGeom prst="rect">
            <a:avLst/>
          </a:prstGeom>
          <a:noFill/>
        </p:spPr>
        <p:txBody>
          <a:bodyPr wrap="square" anchor="t" lIns="0" rIns="0" tIns="0" bIns="0">
            <a:spAutoFit/>
          </a:bodyPr>
          <a:lstStyle/>
          <a:p>
            <a:pPr algn="l"/>
            <a:r>
              <a:rPr sz="1300" b="1" i="0">
                <a:solidFill>
                  <a:srgbClr val="FFFFFF"/>
                </a:solidFill>
                <a:latin typeface="Calibri"/>
              </a:rPr>
              <a:t>The rules</a:t>
            </a:r>
          </a:p>
        </p:txBody>
      </p:sp>
      <p:sp>
        <p:nvSpPr>
          <p:cNvPr id="37" name="TextBox 36"/>
          <p:cNvSpPr txBox="1"/>
          <p:nvPr/>
        </p:nvSpPr>
        <p:spPr>
          <a:xfrm>
            <a:off x="9746040" y="4516882"/>
            <a:ext cx="1750710" cy="531876"/>
          </a:xfrm>
          <a:prstGeom prst="rect">
            <a:avLst/>
          </a:prstGeom>
          <a:noFill/>
        </p:spPr>
        <p:txBody>
          <a:bodyPr wrap="square" anchor="t" lIns="0" rIns="0" tIns="0" bIns="0">
            <a:spAutoFit/>
          </a:bodyPr>
          <a:lstStyle/>
          <a:p>
            <a:pPr algn="l"/>
            <a:r>
              <a:rPr sz="1000" b="0" i="0">
                <a:solidFill>
                  <a:srgbClr val="CFC9EE"/>
                </a:solidFill>
                <a:latin typeface="Calibri"/>
              </a:rPr>
              <a:t>Which rules bind the data, and how far may a model or an agent go?</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40" name="Oval 39"/>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42" name="Oval 4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4" name="Oval 43"/>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6" name="Oval 4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8" name="Oval 47"/>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50" name="Oval 49"/>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52" name="TextBox 5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11 / 63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test becomes a claim, and the payer decides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to one blood test between the draw and the claim?</a:t>
            </a:r>
          </a:p>
        </p:txBody>
      </p:sp>
      <p:pic>
        <p:nvPicPr>
          <p:cNvPr id="9" name="mermaid diagram" descr="29ae0f1196fe2c55.png"/>
          <p:cNvPicPr>
            <a:picLocks noChangeAspect="1"/>
          </p:cNvPicPr>
          <p:nvPr/>
        </p:nvPicPr>
        <p:blipFill>
          <a:blip r:embed="rId5"/>
          <a:stretch>
            <a:fillRect/>
          </a:stretch>
        </p:blipFill>
        <p:spPr>
          <a:xfrm>
            <a:off x="530352" y="1956816"/>
            <a:ext cx="11130991" cy="937450"/>
          </a:xfrm>
          <a:prstGeom prst="rect">
            <a:avLst/>
          </a:prstGeom>
        </p:spPr>
      </p:pic>
      <p:sp>
        <p:nvSpPr>
          <p:cNvPr id="10" name="TextBox 9"/>
          <p:cNvSpPr txBox="1"/>
          <p:nvPr/>
        </p:nvSpPr>
        <p:spPr>
          <a:xfrm>
            <a:off x="530352" y="304057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doctor orders two tests for James Carter, a synthetic Dallas patient; a phlebotomist draws his blood, the lab runs the tests, and the claim bills his plan $135 at list price. Weeks later the plan's remittance says what it pays.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12 / 63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Of James's $135 claim, his plan paid $56.16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pays a US lab, and how much of the list price arrives?</a:t>
            </a:r>
          </a:p>
        </p:txBody>
      </p:sp>
      <p:pic>
        <p:nvPicPr>
          <p:cNvPr id="9" name="mermaid diagram" descr="b24a22ca344a8578.png"/>
          <p:cNvPicPr>
            <a:picLocks noChangeAspect="1"/>
          </p:cNvPicPr>
          <p:nvPr/>
        </p:nvPicPr>
        <p:blipFill>
          <a:blip r:embed="rId5"/>
          <a:stretch>
            <a:fillRect/>
          </a:stretch>
        </p:blipFill>
        <p:spPr>
          <a:xfrm>
            <a:off x="2742365" y="1664208"/>
            <a:ext cx="6706964" cy="3256280"/>
          </a:xfrm>
          <a:prstGeom prst="rect">
            <a:avLst/>
          </a:prstGeom>
        </p:spPr>
      </p:pic>
      <p:sp>
        <p:nvSpPr>
          <p:cNvPr id="10" name="TextBox 9"/>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plan pays 80 percent of the allowed $70.20 and James owes the other 20 percent. Four kinds of payer stand behind Kalpa Health's claims: commercial plans, Medicare for people aged 65 and over, Medicaid run by each state for people on low incomes, and self-pay patients. Each payer's contract or fee schedule sets the allowed amount.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13 / 63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Quest and Labcorp have Kalpa Health's shape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companies look like Kalpa Health, and which teams in India do its kind of work?</a:t>
            </a:r>
          </a:p>
        </p:txBody>
      </p:sp>
      <p:sp>
        <p:nvSpPr>
          <p:cNvPr id="10" name="Rounded Rectangle 9"/>
          <p:cNvSpPr/>
          <p:nvPr/>
        </p:nvSpPr>
        <p:spPr>
          <a:xfrm>
            <a:off x="530352"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flask-conical_7f5aa1048f78.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US LAB</a:t>
            </a:r>
          </a:p>
        </p:txBody>
      </p:sp>
      <p:sp>
        <p:nvSpPr>
          <p:cNvPr id="14" name="TextBox 13"/>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Quest Diagnostics</a:t>
            </a:r>
          </a:p>
        </p:txBody>
      </p:sp>
      <p:sp>
        <p:nvSpPr>
          <p:cNvPr id="15" name="TextBox 14"/>
          <p:cNvSpPr txBox="1"/>
          <p:nvPr/>
        </p:nvSpPr>
        <p:spPr>
          <a:xfrm>
            <a:off x="731519" y="3303524"/>
            <a:ext cx="2243251" cy="944626"/>
          </a:xfrm>
          <a:prstGeom prst="rect">
            <a:avLst/>
          </a:prstGeom>
          <a:noFill/>
        </p:spPr>
        <p:txBody>
          <a:bodyPr wrap="square" anchor="t" lIns="0" rIns="0" tIns="0" bIns="0">
            <a:spAutoFit/>
          </a:bodyPr>
          <a:lstStyle/>
          <a:p>
            <a:pPr algn="l"/>
            <a:r>
              <a:rPr sz="1100" b="0" i="0">
                <a:solidFill>
                  <a:srgbClr val="6B6690"/>
                </a:solidFill>
                <a:latin typeface="Calibri"/>
              </a:rPr>
              <a:t>$11,035 million of net revenues in 2025 and about 2,400 patient service centres, many in large retail stores; it offers in-home draws for a fee.</a:t>
            </a:r>
          </a:p>
        </p:txBody>
      </p:sp>
      <p:sp>
        <p:nvSpPr>
          <p:cNvPr id="16" name="Rounded Rectangle 15"/>
          <p:cNvSpPr/>
          <p:nvPr/>
        </p:nvSpPr>
        <p:spPr>
          <a:xfrm>
            <a:off x="3358819"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flask-conical_7f5aa1048f78.png"/>
          <p:cNvPicPr>
            <a:picLocks noChangeAspect="1"/>
          </p:cNvPicPr>
          <p:nvPr/>
        </p:nvPicPr>
        <p:blipFill>
          <a:blip r:embed="rId4"/>
          <a:stretch>
            <a:fillRect/>
          </a:stretch>
        </p:blipFill>
        <p:spPr>
          <a:xfrm>
            <a:off x="3669715" y="2267712"/>
            <a:ext cx="237744" cy="237744"/>
          </a:xfrm>
          <a:prstGeom prst="rect">
            <a:avLst/>
          </a:prstGeom>
        </p:spPr>
      </p:pic>
      <p:sp>
        <p:nvSpPr>
          <p:cNvPr id="19" name="TextBox 18"/>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US LAB</a:t>
            </a:r>
          </a:p>
        </p:txBody>
      </p:sp>
      <p:sp>
        <p:nvSpPr>
          <p:cNvPr id="20" name="TextBox 19"/>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Labcorp</a:t>
            </a:r>
          </a:p>
        </p:txBody>
      </p:sp>
      <p:sp>
        <p:nvSpPr>
          <p:cNvPr id="21" name="TextBox 20"/>
          <p:cNvSpPr txBox="1"/>
          <p:nvPr/>
        </p:nvSpPr>
        <p:spPr>
          <a:xfrm>
            <a:off x="3559987"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$13,951.7 million of revenues in 2025 and more than 2,200 patient service centres.</a:t>
            </a:r>
          </a:p>
        </p:txBody>
      </p:sp>
      <p:sp>
        <p:nvSpPr>
          <p:cNvPr id="22" name="Rounded Rectangle 21"/>
          <p:cNvSpPr/>
          <p:nvPr/>
        </p:nvSpPr>
        <p:spPr>
          <a:xfrm>
            <a:off x="6187287"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building-2_fd73f9675153.png"/>
          <p:cNvPicPr>
            <a:picLocks noChangeAspect="1"/>
          </p:cNvPicPr>
          <p:nvPr/>
        </p:nvPicPr>
        <p:blipFill>
          <a:blip r:embed="rId5"/>
          <a:stretch>
            <a:fillRect/>
          </a:stretch>
        </p:blipFill>
        <p:spPr>
          <a:xfrm>
            <a:off x="6498183" y="2267712"/>
            <a:ext cx="237744" cy="237744"/>
          </a:xfrm>
          <a:prstGeom prst="rect">
            <a:avLst/>
          </a:prstGeom>
        </p:spPr>
      </p:pic>
      <p:sp>
        <p:nvSpPr>
          <p:cNvPr id="25" name="TextBox 24"/>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 COMPANY'S OWN CENTRE</a:t>
            </a:r>
          </a:p>
        </p:txBody>
      </p:sp>
      <p:sp>
        <p:nvSpPr>
          <p:cNvPr id="26" name="TextBox 25"/>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Optum India</a:t>
            </a:r>
          </a:p>
        </p:txBody>
      </p:sp>
      <p:sp>
        <p:nvSpPr>
          <p:cNvPr id="27" name="TextBox 26"/>
          <p:cNvSpPr txBox="1"/>
          <p:nvPr/>
        </p:nvSpPr>
        <p:spPr>
          <a:xfrm>
            <a:off x="6388455" y="3303524"/>
            <a:ext cx="2243251" cy="763016"/>
          </a:xfrm>
          <a:prstGeom prst="rect">
            <a:avLst/>
          </a:prstGeom>
          <a:noFill/>
        </p:spPr>
        <p:txBody>
          <a:bodyPr wrap="square" anchor="t" lIns="0" rIns="0" tIns="0" bIns="0">
            <a:spAutoFit/>
          </a:bodyPr>
          <a:lstStyle/>
          <a:p>
            <a:pPr algn="l"/>
            <a:r>
              <a:rPr sz="1100" b="0" i="0">
                <a:solidFill>
                  <a:srgbClr val="6B6690"/>
                </a:solidFill>
                <a:latin typeface="Calibri"/>
              </a:rPr>
              <a:t>UnitedHealth Group's largest Global Capability Centre, for healthcare operations, technology, analytics and support.</a:t>
            </a:r>
          </a:p>
        </p:txBody>
      </p:sp>
      <p:sp>
        <p:nvSpPr>
          <p:cNvPr id="28" name="Rounded Rectangle 27"/>
          <p:cNvSpPr/>
          <p:nvPr/>
        </p:nvSpPr>
        <p:spPr>
          <a:xfrm>
            <a:off x="9015755" y="1956816"/>
            <a:ext cx="2645587" cy="2534412"/>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users_113eb2dd3269.png"/>
          <p:cNvPicPr>
            <a:picLocks noChangeAspect="1"/>
          </p:cNvPicPr>
          <p:nvPr/>
        </p:nvPicPr>
        <p:blipFill>
          <a:blip r:embed="rId6"/>
          <a:stretch>
            <a:fillRect/>
          </a:stretch>
        </p:blipFill>
        <p:spPr>
          <a:xfrm>
            <a:off x="9326651" y="2267712"/>
            <a:ext cx="237744" cy="237744"/>
          </a:xfrm>
          <a:prstGeom prst="rect">
            <a:avLst/>
          </a:prstGeom>
        </p:spPr>
      </p:pic>
      <p:sp>
        <p:nvSpPr>
          <p:cNvPr id="31" name="TextBox 30"/>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A FIRM SERVING MANY</a:t>
            </a:r>
          </a:p>
        </p:txBody>
      </p:sp>
      <p:sp>
        <p:nvSpPr>
          <p:cNvPr id="32" name="TextBox 31"/>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AGS Health</a:t>
            </a:r>
          </a:p>
        </p:txBody>
      </p:sp>
      <p:sp>
        <p:nvSpPr>
          <p:cNvPr id="33" name="TextBox 32"/>
          <p:cNvSpPr txBox="1"/>
          <p:nvPr/>
        </p:nvSpPr>
        <p:spPr>
          <a:xfrm>
            <a:off x="9216923" y="3303524"/>
            <a:ext cx="2243251" cy="763016"/>
          </a:xfrm>
          <a:prstGeom prst="rect">
            <a:avLst/>
          </a:prstGeom>
          <a:noFill/>
        </p:spPr>
        <p:txBody>
          <a:bodyPr wrap="square" anchor="t" lIns="0" rIns="0" tIns="0" bIns="0">
            <a:spAutoFit/>
          </a:bodyPr>
          <a:lstStyle/>
          <a:p>
            <a:pPr algn="l"/>
            <a:r>
              <a:rPr sz="1100" b="0" i="0">
                <a:solidFill>
                  <a:srgbClr val="CFC9EE"/>
                </a:solidFill>
                <a:latin typeface="Calibri"/>
              </a:rPr>
              <a:t>More than 15,000 revenue-cycle staff worldwide, with Indian centres in Chennai, Hyderabad and Bengaluru among others.</a:t>
            </a:r>
          </a:p>
        </p:txBody>
      </p:sp>
      <p:sp>
        <p:nvSpPr>
          <p:cNvPr id="34" name="TextBox 33"/>
          <p:cNvSpPr txBox="1"/>
          <p:nvPr/>
        </p:nvSpPr>
        <p:spPr>
          <a:xfrm>
            <a:off x="530352" y="467410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Kalpa Health is fictional, and these are real companies that look like it: its US half resembles the two labs, and its GCC half resembles Optum India, one company's own centre.</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7" name="Oval 3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39" name="Oval 3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1" name="Oval 4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3" name="Oval 4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5" name="Oval 4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7" name="Oval 46"/>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D10  ·  14 / 63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$100 of charges leaves about $6 of operating income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$100 of a lab's charges go, on illustrative numbers?</a:t>
            </a:r>
          </a:p>
        </p:txBody>
      </p:sp>
      <p:pic>
        <p:nvPicPr>
          <p:cNvPr id="10" name="mermaid diagram" descr="ed6307aa50827261.png"/>
          <p:cNvPicPr>
            <a:picLocks noChangeAspect="1"/>
          </p:cNvPicPr>
          <p:nvPr/>
        </p:nvPicPr>
        <p:blipFill>
          <a:blip r:embed="rId5"/>
          <a:stretch>
            <a:fillRect/>
          </a:stretch>
        </p:blipFill>
        <p:spPr>
          <a:xfrm>
            <a:off x="530352" y="1956816"/>
            <a:ext cx="11130991" cy="1129748"/>
          </a:xfrm>
          <a:prstGeom prst="rect">
            <a:avLst/>
          </a:prstGeom>
        </p:spPr>
      </p:pic>
      <p:sp>
        <p:nvSpPr>
          <p:cNvPr id="11" name="TextBox 10"/>
          <p:cNvSpPr txBox="1"/>
          <p:nvPr/>
        </p:nvSpPr>
        <p:spPr>
          <a:xfrm>
            <a:off x="530352" y="323286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contracts take $55, $3 is never collected, the tests cost $28 and billing, sales and administration $8. Gross profit is what is left once the tests' own costs are paid, and operating income what is left once billing, sales and administration are paid too. The numbers are an illustrative lab's, near Quest's cost shares, and a $1 leak from the $45 allowed is a sixth of the $6 the lab keeps.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D11  ·  15 / 63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Each head asks the data team for a different number</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at Kalpa Health asks the data team for what, and what does a wrong number cost?</a:t>
            </a:r>
          </a:p>
        </p:txBody>
      </p:sp>
      <p:graphicFrame>
        <p:nvGraphicFramePr>
          <p:cNvPr id="10" name="Table 9"/>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2444272"/>
                <a:gridCol w="4389678"/>
                <a:gridCol w="4297040"/>
              </a:tblGrid>
              <a:tr h="369824">
                <a:tc>
                  <a:txBody>
                    <a:bodyPr/>
                    <a:lstStyle/>
                    <a:p>
                      <a:r>
                        <a:rPr sz="1450" b="1" i="0">
                          <a:solidFill>
                            <a:srgbClr val="FFFFFF"/>
                          </a:solidFill>
                          <a:latin typeface="Calibri"/>
                        </a:rPr>
                        <a:t>Who asks</a:t>
                      </a:r>
                    </a:p>
                  </a:txBody>
                  <a:tcPr marL="101600" marR="101600" marT="38100" marB="38100" anchor="ctr">
                    <a:solidFill>
                      <a:srgbClr val="1A0F5C"/>
                    </a:solidFill>
                  </a:tcPr>
                </a:tc>
                <a:tc>
                  <a:txBody>
                    <a:bodyPr/>
                    <a:lstStyle/>
                    <a:p>
                      <a:r>
                        <a:rPr sz="1450" b="1" i="0">
                          <a:solidFill>
                            <a:srgbClr val="FFFFFF"/>
                          </a:solidFill>
                          <a:latin typeface="Calibri"/>
                        </a:rPr>
                        <a:t>What they ask the data team</a:t>
                      </a:r>
                    </a:p>
                  </a:txBody>
                  <a:tcPr marL="101600" marR="101600" marT="38100" marB="38100" anchor="ctr">
                    <a:solidFill>
                      <a:srgbClr val="1A0F5C"/>
                    </a:solidFill>
                  </a:tcPr>
                </a:tc>
                <a:tc>
                  <a:txBody>
                    <a:bodyPr/>
                    <a:lstStyle/>
                    <a:p>
                      <a:r>
                        <a:rPr sz="1450" b="1" i="0">
                          <a:solidFill>
                            <a:srgbClr val="FFFFFF"/>
                          </a:solidFill>
                          <a:latin typeface="Calibri"/>
                        </a:rPr>
                        <a:t>What a wrong number costs</a:t>
                      </a:r>
                    </a:p>
                  </a:txBody>
                  <a:tcPr marL="101600" marR="101600" marT="38100" marB="38100" anchor="ctr">
                    <a:solidFill>
                      <a:srgbClr val="1A0F5C"/>
                    </a:solidFill>
                  </a:tcPr>
                </a:tc>
              </a:tr>
              <a:tr h="369824">
                <a:tc>
                  <a:txBody>
                    <a:bodyPr/>
                    <a:lstStyle/>
                    <a:p>
                      <a:r>
                        <a:rPr sz="1400" b="0" i="0">
                          <a:solidFill>
                            <a:srgbClr val="1A1440"/>
                          </a:solidFill>
                          <a:latin typeface="Calibri"/>
                        </a:rPr>
                        <a:t>Dr Priya Menon, COO</a:t>
                      </a:r>
                    </a:p>
                  </a:txBody>
                  <a:tcPr marL="101600" marR="101600" marT="38100" marB="38100" anchor="ctr">
                    <a:solidFill>
                      <a:srgbClr val="FFFFFF"/>
                    </a:solidFill>
                  </a:tcPr>
                </a:tc>
                <a:tc>
                  <a:txBody>
                    <a:bodyPr/>
                    <a:lstStyle/>
                    <a:p>
                      <a:r>
                        <a:rPr sz="1400" b="0" i="0">
                          <a:solidFill>
                            <a:srgbClr val="1A1440"/>
                          </a:solidFill>
                          <a:latin typeface="Calibri"/>
                        </a:rPr>
                        <a:t>Which part of the business is short?</a:t>
                      </a:r>
                    </a:p>
                  </a:txBody>
                  <a:tcPr marL="101600" marR="101600" marT="38100" marB="38100" anchor="ctr">
                    <a:solidFill>
                      <a:srgbClr val="FFFFFF"/>
                    </a:solidFill>
                  </a:tcPr>
                </a:tc>
                <a:tc>
                  <a:txBody>
                    <a:bodyPr/>
                    <a:lstStyle/>
                    <a:p>
                      <a:r>
                        <a:rPr sz="1400" b="0" i="0">
                          <a:solidFill>
                            <a:srgbClr val="1A1440"/>
                          </a:solidFill>
                          <a:latin typeface="Calibri"/>
                        </a:rPr>
                        <a:t>Staff and money moved to the wrong place</a:t>
                      </a:r>
                    </a:p>
                  </a:txBody>
                  <a:tcPr marL="101600" marR="101600" marT="38100" marB="38100" anchor="ctr">
                    <a:solidFill>
                      <a:srgbClr val="FFFFFF"/>
                    </a:solidFill>
                  </a:tcPr>
                </a:tc>
              </a:tr>
              <a:tr h="369824">
                <a:tc>
                  <a:txBody>
                    <a:bodyPr/>
                    <a:lstStyle/>
                    <a:p>
                      <a:r>
                        <a:rPr sz="1400" b="0" i="0">
                          <a:solidFill>
                            <a:srgbClr val="1A1440"/>
                          </a:solidFill>
                          <a:latin typeface="Calibri"/>
                        </a:rPr>
                        <a:t>Revenue-cycle head</a:t>
                      </a:r>
                    </a:p>
                  </a:txBody>
                  <a:tcPr marL="101600" marR="101600" marT="38100" marB="38100" anchor="ctr">
                    <a:solidFill>
                      <a:srgbClr val="F4F2FA"/>
                    </a:solidFill>
                  </a:tcPr>
                </a:tc>
                <a:tc>
                  <a:txBody>
                    <a:bodyPr/>
                    <a:lstStyle/>
                    <a:p>
                      <a:r>
                        <a:rPr sz="1400" b="0" i="0">
                          <a:solidFill>
                            <a:srgbClr val="1A1440"/>
                          </a:solidFill>
                          <a:latin typeface="Calibri"/>
                        </a:rPr>
                        <a:t>Which claims will be denied, and which first?</a:t>
                      </a:r>
                    </a:p>
                  </a:txBody>
                  <a:tcPr marL="101600" marR="101600" marT="38100" marB="38100" anchor="ctr">
                    <a:solidFill>
                      <a:srgbClr val="F4F2FA"/>
                    </a:solidFill>
                  </a:tcPr>
                </a:tc>
                <a:tc>
                  <a:txBody>
                    <a:bodyPr/>
                    <a:lstStyle/>
                    <a:p>
                      <a:r>
                        <a:rPr sz="1400" b="0" i="0">
                          <a:solidFill>
                            <a:srgbClr val="1A1440"/>
                          </a:solidFill>
                          <a:latin typeface="Calibri"/>
                        </a:rPr>
                        <a:t>Claims chased past their filing limit</a:t>
                      </a:r>
                    </a:p>
                  </a:txBody>
                  <a:tcPr marL="101600" marR="101600" marT="38100" marB="38100" anchor="ctr">
                    <a:solidFill>
                      <a:srgbClr val="F4F2FA"/>
                    </a:solidFill>
                  </a:tcPr>
                </a:tc>
              </a:tr>
              <a:tr h="369824">
                <a:tc>
                  <a:txBody>
                    <a:bodyPr/>
                    <a:lstStyle/>
                    <a:p>
                      <a:r>
                        <a:rPr sz="1400" b="0" i="0">
                          <a:solidFill>
                            <a:srgbClr val="1A1440"/>
                          </a:solidFill>
                          <a:latin typeface="Calibri"/>
                        </a:rPr>
                        <a:t>Centres' operations head</a:t>
                      </a:r>
                    </a:p>
                  </a:txBody>
                  <a:tcPr marL="101600" marR="101600" marT="38100" marB="38100" anchor="ctr">
                    <a:solidFill>
                      <a:srgbClr val="FFFFFF"/>
                    </a:solidFill>
                  </a:tcPr>
                </a:tc>
                <a:tc>
                  <a:txBody>
                    <a:bodyPr/>
                    <a:lstStyle/>
                    <a:p>
                      <a:r>
                        <a:rPr sz="1400" b="0" i="0">
                          <a:solidFill>
                            <a:srgbClr val="1A1440"/>
                          </a:solidFill>
                          <a:latin typeface="Calibri"/>
                        </a:rPr>
                        <a:t>Where should staff go?</a:t>
                      </a:r>
                    </a:p>
                  </a:txBody>
                  <a:tcPr marL="101600" marR="101600" marT="38100" marB="38100" anchor="ctr">
                    <a:solidFill>
                      <a:srgbClr val="FFFFFF"/>
                    </a:solidFill>
                  </a:tcPr>
                </a:tc>
                <a:tc>
                  <a:txBody>
                    <a:bodyPr/>
                    <a:lstStyle/>
                    <a:p>
                      <a:r>
                        <a:rPr sz="1400" b="0" i="0">
                          <a:solidFill>
                            <a:srgbClr val="1A1440"/>
                          </a:solidFill>
                          <a:latin typeface="Calibri"/>
                        </a:rPr>
                        <a:t>Queues in one centre, idle staff in the next</a:t>
                      </a:r>
                    </a:p>
                  </a:txBody>
                  <a:tcPr marL="101600" marR="101600" marT="38100" marB="38100" anchor="ctr">
                    <a:solidFill>
                      <a:srgbClr val="FFFFFF"/>
                    </a:solidFill>
                  </a:tcPr>
                </a:tc>
              </a:tr>
              <a:tr h="369824">
                <a:tc>
                  <a:txBody>
                    <a:bodyPr/>
                    <a:lstStyle/>
                    <a:p>
                      <a:r>
                        <a:rPr sz="1400" b="0" i="0">
                          <a:solidFill>
                            <a:srgbClr val="1A1440"/>
                          </a:solidFill>
                          <a:latin typeface="Calibri"/>
                        </a:rPr>
                        <a:t>Finance head</a:t>
                      </a:r>
                    </a:p>
                  </a:txBody>
                  <a:tcPr marL="101600" marR="101600" marT="38100" marB="38100" anchor="ctr">
                    <a:solidFill>
                      <a:srgbClr val="F4F2FA"/>
                    </a:solidFill>
                  </a:tcPr>
                </a:tc>
                <a:tc>
                  <a:txBody>
                    <a:bodyPr/>
                    <a:lstStyle/>
                    <a:p>
                      <a:r>
                        <a:rPr sz="1400" b="0" i="0">
                          <a:solidFill>
                            <a:srgbClr val="1A1440"/>
                          </a:solidFill>
                          <a:latin typeface="Calibri"/>
                        </a:rPr>
                        <a:t>Do your numbers match my books?</a:t>
                      </a:r>
                    </a:p>
                  </a:txBody>
                  <a:tcPr marL="101600" marR="101600" marT="38100" marB="38100" anchor="ctr">
                    <a:solidFill>
                      <a:srgbClr val="F4F2FA"/>
                    </a:solidFill>
                  </a:tcPr>
                </a:tc>
                <a:tc>
                  <a:txBody>
                    <a:bodyPr/>
                    <a:lstStyle/>
                    <a:p>
                      <a:r>
                        <a:rPr sz="1400" b="0" i="0">
                          <a:solidFill>
                            <a:srgbClr val="1A1440"/>
                          </a:solidFill>
                          <a:latin typeface="Calibri"/>
                        </a:rPr>
                        <a:t>A quarter restated after the board saw it</a:t>
                      </a:r>
                    </a:p>
                  </a:txBody>
                  <a:tcPr marL="101600" marR="101600" marT="38100" marB="38100" anchor="ctr">
                    <a:solidFill>
                      <a:srgbClr val="F4F2FA"/>
                    </a:solidFill>
                  </a:tcPr>
                </a:tc>
              </a:tr>
              <a:tr h="369824">
                <a:tc>
                  <a:txBody>
                    <a:bodyPr/>
                    <a:lstStyle/>
                    <a:p>
                      <a:r>
                        <a:rPr sz="1400" b="0" i="0">
                          <a:solidFill>
                            <a:srgbClr val="1A1440"/>
                          </a:solidFill>
                          <a:latin typeface="Calibri"/>
                        </a:rPr>
                        <a:t>Marketing head</a:t>
                      </a:r>
                    </a:p>
                  </a:txBody>
                  <a:tcPr marL="101600" marR="101600" marT="38100" marB="38100" anchor="ctr">
                    <a:solidFill>
                      <a:srgbClr val="FFFFFF"/>
                    </a:solidFill>
                  </a:tcPr>
                </a:tc>
                <a:tc>
                  <a:txBody>
                    <a:bodyPr/>
                    <a:lstStyle/>
                    <a:p>
                      <a:r>
                        <a:rPr sz="1400" b="0" i="0">
                          <a:solidFill>
                            <a:srgbClr val="1A1440"/>
                          </a:solidFill>
                          <a:latin typeface="Calibri"/>
                        </a:rPr>
                        <a:t>Which offers bring patients in?</a:t>
                      </a:r>
                    </a:p>
                  </a:txBody>
                  <a:tcPr marL="101600" marR="101600" marT="38100" marB="38100" anchor="ctr">
                    <a:solidFill>
                      <a:srgbClr val="FFFFFF"/>
                    </a:solidFill>
                  </a:tcPr>
                </a:tc>
                <a:tc>
                  <a:txBody>
                    <a:bodyPr/>
                    <a:lstStyle/>
                    <a:p>
                      <a:r>
                        <a:rPr sz="1400" b="0" i="0">
                          <a:solidFill>
                            <a:srgbClr val="1A1440"/>
                          </a:solidFill>
                          <a:latin typeface="Calibri"/>
                        </a:rPr>
                        <a:t>A budget spent on the wrong number</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D12  ·  16 / 63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Every revenue-cycle number hangs off one tree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a charge become cash, and where can a number on the way mislead?</a:t>
            </a:r>
          </a:p>
        </p:txBody>
      </p:sp>
      <p:pic>
        <p:nvPicPr>
          <p:cNvPr id="10" name="mermaid diagram" descr="1a4d01d248fb93c9.png"/>
          <p:cNvPicPr>
            <a:picLocks noChangeAspect="1"/>
          </p:cNvPicPr>
          <p:nvPr/>
        </p:nvPicPr>
        <p:blipFill>
          <a:blip r:embed="rId5"/>
          <a:stretch>
            <a:fillRect/>
          </a:stretch>
        </p:blipFill>
        <p:spPr>
          <a:xfrm>
            <a:off x="530351" y="1956816"/>
            <a:ext cx="11130991" cy="2190483"/>
          </a:xfrm>
          <a:prstGeom prst="rect">
            <a:avLst/>
          </a:prstGeom>
        </p:spPr>
      </p:pic>
      <p:sp>
        <p:nvSpPr>
          <p:cNvPr id="11" name="TextBox 10"/>
          <p:cNvSpPr txBox="1"/>
          <p:nvPr/>
        </p:nvSpPr>
        <p:spPr>
          <a:xfrm>
            <a:off x="530352" y="4293603"/>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Every metric on it is a numerator over a divisor. On illustrative numbers, a lab that raises every list price 8 percent bills 8 percent more while the contracts allow what they allowed before, so not one more test was done.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D13  ·  17 / 63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rejection is fixed and resent; a denial is decided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separates a denial from a rejection, and what do the seven denial categories say?</a:t>
            </a:r>
          </a:p>
        </p:txBody>
      </p:sp>
      <p:pic>
        <p:nvPicPr>
          <p:cNvPr id="10" name="mermaid diagram" descr="76229b7d37345990.png"/>
          <p:cNvPicPr>
            <a:picLocks noChangeAspect="1"/>
          </p:cNvPicPr>
          <p:nvPr/>
        </p:nvPicPr>
        <p:blipFill>
          <a:blip r:embed="rId5"/>
          <a:stretch>
            <a:fillRect/>
          </a:stretch>
        </p:blipFill>
        <p:spPr>
          <a:xfrm>
            <a:off x="1685984" y="1664208"/>
            <a:ext cx="8819725" cy="3532631"/>
          </a:xfrm>
          <a:prstGeom prst="rect">
            <a:avLst/>
          </a:prstGeom>
        </p:spPr>
      </p:pic>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Kalpa Health names every denial by one of seven categories: eligibility or coverage, missing or invalid information, medical necessity, prior authorization, non-covered service, duplicate claim and timely filing.</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D13a  ·  18 / 63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Agreements set what the Bengaluru team may touch</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bind a US lab's data, and how far may a model or an agent go?</a:t>
            </a:r>
          </a:p>
        </p:txBody>
      </p:sp>
      <p:sp>
        <p:nvSpPr>
          <p:cNvPr id="10" name="Rounded Rectangle 9"/>
          <p:cNvSpPr/>
          <p:nvPr/>
        </p:nvSpPr>
        <p:spPr>
          <a:xfrm>
            <a:off x="530352"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eld-check_14037a39f6ae.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LAW</a:t>
            </a:r>
          </a:p>
        </p:txBody>
      </p:sp>
      <p:sp>
        <p:nvSpPr>
          <p:cNvPr id="14" name="TextBox 13"/>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HIPAA and PHI</a:t>
            </a:r>
          </a:p>
        </p:txBody>
      </p:sp>
      <p:sp>
        <p:nvSpPr>
          <p:cNvPr id="15" name="TextBox 14"/>
          <p:cNvSpPr txBox="1"/>
          <p:nvPr/>
        </p:nvSpPr>
        <p:spPr>
          <a:xfrm>
            <a:off x="731519" y="3303524"/>
            <a:ext cx="2243251" cy="944626"/>
          </a:xfrm>
          <a:prstGeom prst="rect">
            <a:avLst/>
          </a:prstGeom>
          <a:noFill/>
        </p:spPr>
        <p:txBody>
          <a:bodyPr wrap="square" anchor="t" lIns="0" rIns="0" tIns="0" bIns="0">
            <a:spAutoFit/>
          </a:bodyPr>
          <a:lstStyle/>
          <a:p>
            <a:pPr algn="l"/>
            <a:r>
              <a:rPr sz="1100" b="0" i="0">
                <a:solidFill>
                  <a:srgbClr val="6B6690"/>
                </a:solidFill>
                <a:latin typeface="Calibri"/>
              </a:rPr>
              <a:t>Health information that identifies a patient is PHI, used only for purposes the rule allows and only as much as the purpose needs.</a:t>
            </a:r>
          </a:p>
        </p:txBody>
      </p:sp>
      <p:sp>
        <p:nvSpPr>
          <p:cNvPr id="16" name="Rounded Rectangle 15"/>
          <p:cNvSpPr/>
          <p:nvPr/>
        </p:nvSpPr>
        <p:spPr>
          <a:xfrm>
            <a:off x="3358819"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file-text_5c86fecc2881.png"/>
          <p:cNvPicPr>
            <a:picLocks noChangeAspect="1"/>
          </p:cNvPicPr>
          <p:nvPr/>
        </p:nvPicPr>
        <p:blipFill>
          <a:blip r:embed="rId5"/>
          <a:stretch>
            <a:fillRect/>
          </a:stretch>
        </p:blipFill>
        <p:spPr>
          <a:xfrm>
            <a:off x="3669715" y="2267712"/>
            <a:ext cx="237744" cy="237744"/>
          </a:xfrm>
          <a:prstGeom prst="rect">
            <a:avLst/>
          </a:prstGeom>
        </p:spPr>
      </p:pic>
      <p:sp>
        <p:nvSpPr>
          <p:cNvPr id="19" name="TextBox 18"/>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AGREEMENT</a:t>
            </a:r>
          </a:p>
        </p:txBody>
      </p:sp>
      <p:sp>
        <p:nvSpPr>
          <p:cNvPr id="20" name="TextBox 19"/>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Business associate</a:t>
            </a:r>
          </a:p>
        </p:txBody>
      </p:sp>
      <p:sp>
        <p:nvSpPr>
          <p:cNvPr id="21" name="TextBox 20"/>
          <p:cNvSpPr txBox="1"/>
          <p:nvPr/>
        </p:nvSpPr>
        <p:spPr>
          <a:xfrm>
            <a:off x="3559987"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A company handling PHI for a lab signs an agreement that sets what it may do with the data.</a:t>
            </a:r>
          </a:p>
        </p:txBody>
      </p:sp>
      <p:sp>
        <p:nvSpPr>
          <p:cNvPr id="22" name="Rounded Rectangle 21"/>
          <p:cNvSpPr/>
          <p:nvPr/>
        </p:nvSpPr>
        <p:spPr>
          <a:xfrm>
            <a:off x="6187287" y="1956816"/>
            <a:ext cx="2645587" cy="2534412"/>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map_e80934a1e340.png"/>
          <p:cNvPicPr>
            <a:picLocks noChangeAspect="1"/>
          </p:cNvPicPr>
          <p:nvPr/>
        </p:nvPicPr>
        <p:blipFill>
          <a:blip r:embed="rId6"/>
          <a:stretch>
            <a:fillRect/>
          </a:stretch>
        </p:blipFill>
        <p:spPr>
          <a:xfrm>
            <a:off x="6498183" y="2267712"/>
            <a:ext cx="237744" cy="237744"/>
          </a:xfrm>
          <a:prstGeom prst="rect">
            <a:avLst/>
          </a:prstGeom>
        </p:spPr>
      </p:pic>
      <p:sp>
        <p:nvSpPr>
          <p:cNvPr id="25" name="TextBox 24"/>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BORDER</a:t>
            </a:r>
          </a:p>
        </p:txBody>
      </p:sp>
      <p:sp>
        <p:nvSpPr>
          <p:cNvPr id="26" name="TextBox 25"/>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Offshore work</a:t>
            </a:r>
          </a:p>
        </p:txBody>
      </p:sp>
      <p:sp>
        <p:nvSpPr>
          <p:cNvPr id="27" name="TextBox 26"/>
          <p:cNvSpPr txBox="1"/>
          <p:nvPr/>
        </p:nvSpPr>
        <p:spPr>
          <a:xfrm>
            <a:off x="6388455" y="3303524"/>
            <a:ext cx="2243251" cy="763016"/>
          </a:xfrm>
          <a:prstGeom prst="rect">
            <a:avLst/>
          </a:prstGeom>
          <a:noFill/>
        </p:spPr>
        <p:txBody>
          <a:bodyPr wrap="square" anchor="t" lIns="0" rIns="0" tIns="0" bIns="0">
            <a:spAutoFit/>
          </a:bodyPr>
          <a:lstStyle/>
          <a:p>
            <a:pPr algn="l"/>
            <a:r>
              <a:rPr sz="1100" b="0" i="0">
                <a:solidFill>
                  <a:srgbClr val="6B6690"/>
                </a:solidFill>
                <a:latin typeface="Calibri"/>
              </a:rPr>
              <a:t>HIPAA sets no border; agreements and payers' contracts do, and a state Medicaid contract can keep work in the US.</a:t>
            </a:r>
          </a:p>
        </p:txBody>
      </p:sp>
      <p:sp>
        <p:nvSpPr>
          <p:cNvPr id="28" name="Rounded Rectangle 27"/>
          <p:cNvSpPr/>
          <p:nvPr/>
        </p:nvSpPr>
        <p:spPr>
          <a:xfrm>
            <a:off x="9015755" y="1956816"/>
            <a:ext cx="2645587" cy="2534412"/>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users_113eb2dd3269.png"/>
          <p:cNvPicPr>
            <a:picLocks noChangeAspect="1"/>
          </p:cNvPicPr>
          <p:nvPr/>
        </p:nvPicPr>
        <p:blipFill>
          <a:blip r:embed="rId7"/>
          <a:stretch>
            <a:fillRect/>
          </a:stretch>
        </p:blipFill>
        <p:spPr>
          <a:xfrm>
            <a:off x="9326651" y="2267712"/>
            <a:ext cx="237744" cy="237744"/>
          </a:xfrm>
          <a:prstGeom prst="rect">
            <a:avLst/>
          </a:prstGeom>
        </p:spPr>
      </p:pic>
      <p:sp>
        <p:nvSpPr>
          <p:cNvPr id="31" name="TextBox 30"/>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THE LADDER</a:t>
            </a:r>
          </a:p>
        </p:txBody>
      </p:sp>
      <p:sp>
        <p:nvSpPr>
          <p:cNvPr id="32" name="TextBox 31"/>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Describe to act</a:t>
            </a:r>
          </a:p>
        </p:txBody>
      </p:sp>
      <p:sp>
        <p:nvSpPr>
          <p:cNvPr id="33" name="TextBox 32"/>
          <p:cNvSpPr txBox="1"/>
          <p:nvPr/>
        </p:nvSpPr>
        <p:spPr>
          <a:xfrm>
            <a:off x="9216923" y="3303524"/>
            <a:ext cx="2243251" cy="763016"/>
          </a:xfrm>
          <a:prstGeom prst="rect">
            <a:avLst/>
          </a:prstGeom>
          <a:noFill/>
        </p:spPr>
        <p:txBody>
          <a:bodyPr wrap="square" anchor="t" lIns="0" rIns="0" tIns="0" bIns="0">
            <a:spAutoFit/>
          </a:bodyPr>
          <a:lstStyle/>
          <a:p>
            <a:pPr algn="l"/>
            <a:r>
              <a:rPr sz="1100" b="0" i="0">
                <a:solidFill>
                  <a:srgbClr val="CFC9EE"/>
                </a:solidFill>
                <a:latin typeface="Calibri"/>
              </a:rPr>
              <a:t>A model may rank, flag and draft; a person decides anything that asserts a diagnosis or denies care.</a:t>
            </a:r>
          </a:p>
        </p:txBody>
      </p:sp>
      <p:sp>
        <p:nvSpPr>
          <p:cNvPr id="34" name="TextBox 33"/>
          <p:cNvSpPr txBox="1"/>
          <p:nvPr/>
        </p:nvSpPr>
        <p:spPr>
          <a:xfrm>
            <a:off x="530352" y="467410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Every Kalpa Health record is synthetic, so no PHI exists anywhere in the programme's files.</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7" name="Oval 3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How does a US lab earn?</a:t>
            </a:r>
          </a:p>
        </p:txBody>
      </p:sp>
      <p:sp>
        <p:nvSpPr>
          <p:cNvPr id="39" name="Oval 3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1" name="Oval 4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3" name="Oval 4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5" name="Oval 4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7" name="Oval 46"/>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D14  ·  19 / 63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five questions?</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five questions do Dr Menon's heads ask, what does each answer decide, and which files does each start from?</a:t>
            </a:r>
          </a:p>
        </p:txBody>
      </p:sp>
      <p:sp>
        <p:nvSpPr>
          <p:cNvPr id="10" name="Rounded Rectangle 9"/>
          <p:cNvSpPr/>
          <p:nvPr/>
        </p:nvSpPr>
        <p:spPr>
          <a:xfrm>
            <a:off x="731519"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20 / 63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questions, each with its own brief and files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five questions in full before the allocation, and which questions come on the way?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group: the allocation asks each group to choose, and a choice made on a question's title alone lands a group on work it cannot defend on Thursday.</a:t>
            </a:r>
          </a:p>
        </p:txBody>
      </p:sp>
      <p:sp>
        <p:nvSpPr>
          <p:cNvPr id="12" name="Rectangle 11"/>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Revenue</a:t>
            </a:r>
          </a:p>
        </p:txBody>
      </p:sp>
      <p:sp>
        <p:nvSpPr>
          <p:cNvPr id="17" name="TextBox 16"/>
          <p:cNvSpPr txBox="1"/>
          <p:nvPr/>
        </p:nvSpPr>
        <p:spPr>
          <a:xfrm>
            <a:off x="694944"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Which branch of Kalpa Health's billed revenue is short of the plan?</a:t>
            </a:r>
          </a:p>
        </p:txBody>
      </p:sp>
      <p:sp>
        <p:nvSpPr>
          <p:cNvPr id="18" name="TextBox 17"/>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Bookings</a:t>
            </a:r>
          </a:p>
        </p:txBody>
      </p:sp>
      <p:sp>
        <p:nvSpPr>
          <p:cNvPr id="22" name="TextBox 21"/>
          <p:cNvSpPr txBox="1"/>
          <p:nvPr/>
        </p:nvSpPr>
        <p:spPr>
          <a:xfrm>
            <a:off x="2957718"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How far did bookings fall in two metros, and why?</a:t>
            </a:r>
          </a:p>
        </p:txBody>
      </p:sp>
      <p:sp>
        <p:nvSpPr>
          <p:cNvPr id="23" name="TextBox 22"/>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Billing</a:t>
            </a:r>
          </a:p>
        </p:txBody>
      </p:sp>
      <p:sp>
        <p:nvSpPr>
          <p:cNvPr id="27" name="TextBox 26"/>
          <p:cNvSpPr txBox="1"/>
          <p:nvPr/>
        </p:nvSpPr>
        <p:spPr>
          <a:xfrm>
            <a:off x="5220492"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Which claims are unpaid, and can finance trust its figure?</a:t>
            </a:r>
          </a:p>
        </p:txBody>
      </p:sp>
      <p:sp>
        <p:nvSpPr>
          <p:cNvPr id="28" name="TextBox 27"/>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No-shows</a:t>
            </a:r>
          </a:p>
        </p:txBody>
      </p:sp>
      <p:sp>
        <p:nvSpPr>
          <p:cNvPr id="32" name="TextBox 31"/>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Is KH-ATL-03 really worse than the other centres?</a:t>
            </a:r>
          </a:p>
        </p:txBody>
      </p:sp>
      <p:sp>
        <p:nvSpPr>
          <p:cNvPr id="33" name="TextBox 32"/>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3816096"/>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Campaign</a:t>
            </a:r>
          </a:p>
        </p:txBody>
      </p:sp>
      <p:sp>
        <p:nvSpPr>
          <p:cNvPr id="37" name="TextBox 36"/>
          <p:cNvSpPr txBox="1"/>
          <p:nvPr/>
        </p:nvSpPr>
        <p:spPr>
          <a:xfrm>
            <a:off x="9746040" y="4250182"/>
            <a:ext cx="1750710" cy="366776"/>
          </a:xfrm>
          <a:prstGeom prst="rect">
            <a:avLst/>
          </a:prstGeom>
          <a:noFill/>
        </p:spPr>
        <p:txBody>
          <a:bodyPr wrap="square" anchor="t" lIns="0" rIns="0" tIns="0" bIns="0">
            <a:spAutoFit/>
          </a:bodyPr>
          <a:lstStyle/>
          <a:p>
            <a:pPr algn="l"/>
            <a:r>
              <a:rPr sz="1000" b="0" i="0">
                <a:solidFill>
                  <a:srgbClr val="CFC9EE"/>
                </a:solidFill>
                <a:latin typeface="Calibri"/>
              </a:rPr>
              <a:t>Did the at-home offer lift bookings 9 percent?</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40" name="Oval 3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42" name="Oval 41"/>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44" name="Oval 43"/>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6" name="Oval 4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8" name="Oval 47"/>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50" name="Oval 49"/>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52" name="TextBox 5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21 / 63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Revenue asks which branch of billed revenue is short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finance head ask, what does the answer decide, and what does a wrong one cost?</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"The board will ask me where the plan's growth went. Where does our lab revenue actually come from, and which branch of it is short?"</a:t>
            </a:r>
          </a:p>
          <a:p>
            <a:pPr>
              <a:spcBef>
                <a:spcPts val="400"/>
              </a:spcBef>
            </a:pPr>
            <a:r>
              <a:rPr sz="1000" b="0" i="0">
                <a:solidFill>
                  <a:srgbClr val="6B6690"/>
                </a:solidFill>
                <a:latin typeface="Calibri"/>
              </a:rPr>
              <a:t>The finance head, Kalpa Health</a:t>
            </a:r>
          </a:p>
        </p:txBody>
      </p:sp>
      <p:sp>
        <p:nvSpPr>
          <p:cNvPr id="11" name="Rounded Rectangle 10"/>
          <p:cNvSpPr/>
          <p:nvPr/>
        </p:nvSpPr>
        <p:spPr>
          <a:xfrm>
            <a:off x="53035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target_975d45d39ce7.png"/>
          <p:cNvPicPr>
            <a:picLocks noChangeAspect="1"/>
          </p:cNvPicPr>
          <p:nvPr/>
        </p:nvPicPr>
        <p:blipFill>
          <a:blip r:embed="rId4"/>
          <a:stretch>
            <a:fillRect/>
          </a:stretch>
        </p:blipFill>
        <p:spPr>
          <a:xfrm>
            <a:off x="841247" y="3440176"/>
            <a:ext cx="237744" cy="237744"/>
          </a:xfrm>
          <a:prstGeom prst="rect">
            <a:avLst/>
          </a:prstGeom>
        </p:spPr>
      </p:pic>
      <p:sp>
        <p:nvSpPr>
          <p:cNvPr id="14" name="TextBox 13"/>
          <p:cNvSpPr txBox="1"/>
          <p:nvPr/>
        </p:nvSpPr>
        <p:spPr>
          <a:xfrm>
            <a:off x="731519"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ANSWER DECIDES</a:t>
            </a:r>
          </a:p>
        </p:txBody>
      </p:sp>
      <p:sp>
        <p:nvSpPr>
          <p:cNvPr id="15" name="TextBox 14"/>
          <p:cNvSpPr txBox="1"/>
          <p:nvPr/>
        </p:nvSpPr>
        <p:spPr>
          <a:xfrm>
            <a:off x="731519"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Where recovery goes</a:t>
            </a:r>
          </a:p>
        </p:txBody>
      </p:sp>
      <p:sp>
        <p:nvSpPr>
          <p:cNvPr id="16" name="TextBox 15"/>
          <p:cNvSpPr txBox="1"/>
          <p:nvPr/>
        </p:nvSpPr>
        <p:spPr>
          <a:xfrm>
            <a:off x="731519"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The second half's staff and money go to the branch the group names.</a:t>
            </a:r>
          </a:p>
        </p:txBody>
      </p:sp>
      <p:sp>
        <p:nvSpPr>
          <p:cNvPr id="17" name="Rounded Rectangle 16"/>
          <p:cNvSpPr/>
          <p:nvPr/>
        </p:nvSpPr>
        <p:spPr>
          <a:xfrm>
            <a:off x="430164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50281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triangle-alert_5ac49fc6abbb.png"/>
          <p:cNvPicPr>
            <a:picLocks noChangeAspect="1"/>
          </p:cNvPicPr>
          <p:nvPr/>
        </p:nvPicPr>
        <p:blipFill>
          <a:blip r:embed="rId5"/>
          <a:stretch>
            <a:fillRect/>
          </a:stretch>
        </p:blipFill>
        <p:spPr>
          <a:xfrm>
            <a:off x="4612538" y="3440176"/>
            <a:ext cx="237744" cy="237744"/>
          </a:xfrm>
          <a:prstGeom prst="rect">
            <a:avLst/>
          </a:prstGeom>
        </p:spPr>
      </p:pic>
      <p:sp>
        <p:nvSpPr>
          <p:cNvPr id="20" name="TextBox 19"/>
          <p:cNvSpPr txBox="1"/>
          <p:nvPr/>
        </p:nvSpPr>
        <p:spPr>
          <a:xfrm>
            <a:off x="450281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A WRONG ANSWER COSTS</a:t>
            </a:r>
          </a:p>
        </p:txBody>
      </p:sp>
      <p:sp>
        <p:nvSpPr>
          <p:cNvPr id="21" name="TextBox 20"/>
          <p:cNvSpPr txBox="1"/>
          <p:nvPr/>
        </p:nvSpPr>
        <p:spPr>
          <a:xfrm>
            <a:off x="450281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The short branch falls on</a:t>
            </a:r>
          </a:p>
        </p:txBody>
      </p:sp>
      <p:sp>
        <p:nvSpPr>
          <p:cNvPr id="22" name="TextBox 21"/>
          <p:cNvSpPr txBox="1"/>
          <p:nvPr/>
        </p:nvSpPr>
        <p:spPr>
          <a:xfrm>
            <a:off x="4502810" y="4475988"/>
            <a:ext cx="3186074" cy="218186"/>
          </a:xfrm>
          <a:prstGeom prst="rect">
            <a:avLst/>
          </a:prstGeom>
          <a:noFill/>
        </p:spPr>
        <p:txBody>
          <a:bodyPr wrap="square" anchor="t" lIns="0" rIns="0" tIns="0" bIns="0">
            <a:spAutoFit/>
          </a:bodyPr>
          <a:lstStyle/>
          <a:p>
            <a:pPr algn="l"/>
            <a:r>
              <a:rPr sz="1100" b="0" i="0">
                <a:solidFill>
                  <a:srgbClr val="6B6690"/>
                </a:solidFill>
                <a:latin typeface="Calibri"/>
              </a:rPr>
              <a:t>Money goes to a branch that was never short.</a:t>
            </a:r>
          </a:p>
        </p:txBody>
      </p:sp>
      <p:sp>
        <p:nvSpPr>
          <p:cNvPr id="23" name="Rounded Rectangle 22"/>
          <p:cNvSpPr/>
          <p:nvPr/>
        </p:nvSpPr>
        <p:spPr>
          <a:xfrm>
            <a:off x="807293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27410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database_0f9c2895db54.png"/>
          <p:cNvPicPr>
            <a:picLocks noChangeAspect="1"/>
          </p:cNvPicPr>
          <p:nvPr/>
        </p:nvPicPr>
        <p:blipFill>
          <a:blip r:embed="rId6"/>
          <a:stretch>
            <a:fillRect/>
          </a:stretch>
        </p:blipFill>
        <p:spPr>
          <a:xfrm>
            <a:off x="8383828" y="3440176"/>
            <a:ext cx="237744" cy="237744"/>
          </a:xfrm>
          <a:prstGeom prst="rect">
            <a:avLst/>
          </a:prstGeom>
        </p:spPr>
      </p:pic>
      <p:sp>
        <p:nvSpPr>
          <p:cNvPr id="26" name="TextBox 25"/>
          <p:cNvSpPr txBox="1"/>
          <p:nvPr/>
        </p:nvSpPr>
        <p:spPr>
          <a:xfrm>
            <a:off x="827410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 STARTS FROM</a:t>
            </a:r>
          </a:p>
        </p:txBody>
      </p:sp>
      <p:sp>
        <p:nvSpPr>
          <p:cNvPr id="27" name="TextBox 26"/>
          <p:cNvSpPr txBox="1"/>
          <p:nvPr/>
        </p:nvSpPr>
        <p:spPr>
          <a:xfrm>
            <a:off x="827410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Seven files</a:t>
            </a:r>
          </a:p>
        </p:txBody>
      </p:sp>
      <p:sp>
        <p:nvSpPr>
          <p:cNvPr id="28" name="TextBox 27"/>
          <p:cNvSpPr txBox="1"/>
          <p:nvPr/>
        </p:nvSpPr>
        <p:spPr>
          <a:xfrm>
            <a:off x="827410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Claims, booking lines, the price list, both booking files, patients and sites.</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1" name="Oval 3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3" name="Oval 32"/>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35" name="Oval 34"/>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7" name="Oval 3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9" name="Oval 3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1" name="Oval 40"/>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22 / 63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Revenue reads seven files, about 81,000 rows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files does the revenue question start from, and how big is each?</a:t>
            </a:r>
          </a:p>
        </p:txBody>
      </p:sp>
      <p:pic>
        <p:nvPicPr>
          <p:cNvPr id="10" name="mermaid diagram" descr="8ae12e59e78dea58.png"/>
          <p:cNvPicPr>
            <a:picLocks noChangeAspect="1"/>
          </p:cNvPicPr>
          <p:nvPr/>
        </p:nvPicPr>
        <p:blipFill>
          <a:blip r:embed="rId5"/>
          <a:stretch>
            <a:fillRect/>
          </a:stretch>
        </p:blipFill>
        <p:spPr>
          <a:xfrm>
            <a:off x="530352" y="1956816"/>
            <a:ext cx="11130991" cy="2973021"/>
          </a:xfrm>
          <a:prstGeom prst="rect">
            <a:avLst/>
          </a:prstGeom>
        </p:spPr>
      </p:pic>
      <p:sp>
        <p:nvSpPr>
          <p:cNvPr id="11" name="TextBox 10"/>
          <p:cNvSpPr txBox="1"/>
          <p:nvPr/>
        </p:nvSpPr>
        <p:spPr>
          <a:xfrm>
            <a:off x="530352" y="5076141"/>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files are claims, booking_tests, test_catalogue, bookings_legacy and bookings_newsys, patients and sites.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D17  ·  23 / 63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Bookings asks how far two metros fell, and why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operations head ask, what does the answer decide, and what does a wrong one cost?</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"Bookings fell in two of our metros in Q3. Before I send a field team or cut staff there, I need to know how far they fell, and why."</a:t>
            </a:r>
          </a:p>
          <a:p>
            <a:pPr>
              <a:spcBef>
                <a:spcPts val="400"/>
              </a:spcBef>
            </a:pPr>
            <a:r>
              <a:rPr sz="1000" b="0" i="0">
                <a:solidFill>
                  <a:srgbClr val="6B6690"/>
                </a:solidFill>
                <a:latin typeface="Calibri"/>
              </a:rPr>
              <a:t>The patient service centres' operations head, Kalpa Health</a:t>
            </a:r>
          </a:p>
        </p:txBody>
      </p:sp>
      <p:sp>
        <p:nvSpPr>
          <p:cNvPr id="11" name="Rounded Rectangle 10"/>
          <p:cNvSpPr/>
          <p:nvPr/>
        </p:nvSpPr>
        <p:spPr>
          <a:xfrm>
            <a:off x="53035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target_975d45d39ce7.png"/>
          <p:cNvPicPr>
            <a:picLocks noChangeAspect="1"/>
          </p:cNvPicPr>
          <p:nvPr/>
        </p:nvPicPr>
        <p:blipFill>
          <a:blip r:embed="rId4"/>
          <a:stretch>
            <a:fillRect/>
          </a:stretch>
        </p:blipFill>
        <p:spPr>
          <a:xfrm>
            <a:off x="841247" y="3440176"/>
            <a:ext cx="237744" cy="237744"/>
          </a:xfrm>
          <a:prstGeom prst="rect">
            <a:avLst/>
          </a:prstGeom>
        </p:spPr>
      </p:pic>
      <p:sp>
        <p:nvSpPr>
          <p:cNvPr id="14" name="TextBox 13"/>
          <p:cNvSpPr txBox="1"/>
          <p:nvPr/>
        </p:nvSpPr>
        <p:spPr>
          <a:xfrm>
            <a:off x="731519"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ANSWER DECIDES</a:t>
            </a:r>
          </a:p>
        </p:txBody>
      </p:sp>
      <p:sp>
        <p:nvSpPr>
          <p:cNvPr id="15" name="TextBox 14"/>
          <p:cNvSpPr txBox="1"/>
          <p:nvPr/>
        </p:nvSpPr>
        <p:spPr>
          <a:xfrm>
            <a:off x="731519"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A field team or a staff cut</a:t>
            </a:r>
          </a:p>
        </p:txBody>
      </p:sp>
      <p:sp>
        <p:nvSpPr>
          <p:cNvPr id="16" name="TextBox 15"/>
          <p:cNvSpPr txBox="1"/>
          <p:nvPr/>
        </p:nvSpPr>
        <p:spPr>
          <a:xfrm>
            <a:off x="731519"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Send people to the two metros, cut staff there, or leave them alone.</a:t>
            </a:r>
          </a:p>
        </p:txBody>
      </p:sp>
      <p:sp>
        <p:nvSpPr>
          <p:cNvPr id="17" name="Rounded Rectangle 16"/>
          <p:cNvSpPr/>
          <p:nvPr/>
        </p:nvSpPr>
        <p:spPr>
          <a:xfrm>
            <a:off x="430164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50281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triangle-alert_5ac49fc6abbb.png"/>
          <p:cNvPicPr>
            <a:picLocks noChangeAspect="1"/>
          </p:cNvPicPr>
          <p:nvPr/>
        </p:nvPicPr>
        <p:blipFill>
          <a:blip r:embed="rId5"/>
          <a:stretch>
            <a:fillRect/>
          </a:stretch>
        </p:blipFill>
        <p:spPr>
          <a:xfrm>
            <a:off x="4612538" y="3440176"/>
            <a:ext cx="237744" cy="237744"/>
          </a:xfrm>
          <a:prstGeom prst="rect">
            <a:avLst/>
          </a:prstGeom>
        </p:spPr>
      </p:pic>
      <p:sp>
        <p:nvSpPr>
          <p:cNvPr id="20" name="TextBox 19"/>
          <p:cNvSpPr txBox="1"/>
          <p:nvPr/>
        </p:nvSpPr>
        <p:spPr>
          <a:xfrm>
            <a:off x="450281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A WRONG ANSWER COSTS</a:t>
            </a:r>
          </a:p>
        </p:txBody>
      </p:sp>
      <p:sp>
        <p:nvSpPr>
          <p:cNvPr id="21" name="TextBox 20"/>
          <p:cNvSpPr txBox="1"/>
          <p:nvPr/>
        </p:nvSpPr>
        <p:spPr>
          <a:xfrm>
            <a:off x="450281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Staff or a quarter</a:t>
            </a:r>
          </a:p>
        </p:txBody>
      </p:sp>
      <p:sp>
        <p:nvSpPr>
          <p:cNvPr id="22" name="TextBox 21"/>
          <p:cNvSpPr txBox="1"/>
          <p:nvPr/>
        </p:nvSpPr>
        <p:spPr>
          <a:xfrm>
            <a:off x="450281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Read too large, staff patients need are cut; too small, a real decline runs on.</a:t>
            </a:r>
          </a:p>
        </p:txBody>
      </p:sp>
      <p:sp>
        <p:nvSpPr>
          <p:cNvPr id="23" name="Rounded Rectangle 22"/>
          <p:cNvSpPr/>
          <p:nvPr/>
        </p:nvSpPr>
        <p:spPr>
          <a:xfrm>
            <a:off x="807293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27410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database_0f9c2895db54.png"/>
          <p:cNvPicPr>
            <a:picLocks noChangeAspect="1"/>
          </p:cNvPicPr>
          <p:nvPr/>
        </p:nvPicPr>
        <p:blipFill>
          <a:blip r:embed="rId6"/>
          <a:stretch>
            <a:fillRect/>
          </a:stretch>
        </p:blipFill>
        <p:spPr>
          <a:xfrm>
            <a:off x="8383828" y="3440176"/>
            <a:ext cx="237744" cy="237744"/>
          </a:xfrm>
          <a:prstGeom prst="rect">
            <a:avLst/>
          </a:prstGeom>
        </p:spPr>
      </p:pic>
      <p:sp>
        <p:nvSpPr>
          <p:cNvPr id="26" name="TextBox 25"/>
          <p:cNvSpPr txBox="1"/>
          <p:nvPr/>
        </p:nvSpPr>
        <p:spPr>
          <a:xfrm>
            <a:off x="827410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 STARTS FROM</a:t>
            </a:r>
          </a:p>
        </p:txBody>
      </p:sp>
      <p:sp>
        <p:nvSpPr>
          <p:cNvPr id="27" name="TextBox 26"/>
          <p:cNvSpPr txBox="1"/>
          <p:nvPr/>
        </p:nvSpPr>
        <p:spPr>
          <a:xfrm>
            <a:off x="827410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Six files</a:t>
            </a:r>
          </a:p>
        </p:txBody>
      </p:sp>
      <p:sp>
        <p:nvSpPr>
          <p:cNvPr id="28" name="TextBox 27"/>
          <p:cNvSpPr txBox="1"/>
          <p:nvPr/>
        </p:nvSpPr>
        <p:spPr>
          <a:xfrm>
            <a:off x="827410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Both booking files, sites, patients, booking lines, and the claims as a second count.</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1" name="Oval 3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3" name="Oval 32"/>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35" name="Oval 34"/>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7" name="Oval 3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9" name="Oval 3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1" name="Oval 40"/>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24 / 63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Bookings reads two booking files and four others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files does the bookings question start from, and how big is each?</a:t>
            </a:r>
          </a:p>
        </p:txBody>
      </p:sp>
      <p:pic>
        <p:nvPicPr>
          <p:cNvPr id="10" name="mermaid diagram" descr="0801e6b7f9a8ebee.png"/>
          <p:cNvPicPr>
            <a:picLocks noChangeAspect="1"/>
          </p:cNvPicPr>
          <p:nvPr/>
        </p:nvPicPr>
        <p:blipFill>
          <a:blip r:embed="rId5"/>
          <a:stretch>
            <a:fillRect/>
          </a:stretch>
        </p:blipFill>
        <p:spPr>
          <a:xfrm>
            <a:off x="530352" y="1956816"/>
            <a:ext cx="11130991" cy="2973021"/>
          </a:xfrm>
          <a:prstGeom prst="rect">
            <a:avLst/>
          </a:prstGeom>
        </p:spPr>
      </p:pic>
      <p:sp>
        <p:nvSpPr>
          <p:cNvPr id="11" name="TextBox 10"/>
          <p:cNvSpPr txBox="1"/>
          <p:nvPr/>
        </p:nvSpPr>
        <p:spPr>
          <a:xfrm>
            <a:off x="530352" y="5076141"/>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files are bookings_legacy and bookings_newsys, sites, patients, booking_tests and claims, whose 11,356 rows bill the completed bookings.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D19  ·  25 / 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Billing asks which claims are unpaid, in dollars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finance head ask, what does the answer decide, and what does a wrong one cost?</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"The claims we billed say one thing and the posting system says another. Which claims are unpaid, how much money is that, and can I trust the figure I report?"</a:t>
            </a:r>
          </a:p>
          <a:p>
            <a:pPr>
              <a:spcBef>
                <a:spcPts val="400"/>
              </a:spcBef>
            </a:pPr>
            <a:r>
              <a:rPr sz="1000" b="0" i="0">
                <a:solidFill>
                  <a:srgbClr val="6B6690"/>
                </a:solidFill>
                <a:latin typeface="Calibri"/>
              </a:rPr>
              <a:t>The finance head, Kalpa Health</a:t>
            </a:r>
          </a:p>
        </p:txBody>
      </p:sp>
      <p:sp>
        <p:nvSpPr>
          <p:cNvPr id="11" name="Rounded Rectangle 10"/>
          <p:cNvSpPr/>
          <p:nvPr/>
        </p:nvSpPr>
        <p:spPr>
          <a:xfrm>
            <a:off x="53035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target_975d45d39ce7.png"/>
          <p:cNvPicPr>
            <a:picLocks noChangeAspect="1"/>
          </p:cNvPicPr>
          <p:nvPr/>
        </p:nvPicPr>
        <p:blipFill>
          <a:blip r:embed="rId4"/>
          <a:stretch>
            <a:fillRect/>
          </a:stretch>
        </p:blipFill>
        <p:spPr>
          <a:xfrm>
            <a:off x="841247" y="3440176"/>
            <a:ext cx="237744" cy="237744"/>
          </a:xfrm>
          <a:prstGeom prst="rect">
            <a:avLst/>
          </a:prstGeom>
        </p:spPr>
      </p:pic>
      <p:sp>
        <p:nvSpPr>
          <p:cNvPr id="14" name="TextBox 13"/>
          <p:cNvSpPr txBox="1"/>
          <p:nvPr/>
        </p:nvSpPr>
        <p:spPr>
          <a:xfrm>
            <a:off x="731519"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ANSWER DECIDES</a:t>
            </a:r>
          </a:p>
        </p:txBody>
      </p:sp>
      <p:sp>
        <p:nvSpPr>
          <p:cNvPr id="15" name="TextBox 14"/>
          <p:cNvSpPr txBox="1"/>
          <p:nvPr/>
        </p:nvSpPr>
        <p:spPr>
          <a:xfrm>
            <a:off x="731519"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The figure at the close</a:t>
            </a:r>
          </a:p>
        </p:txBody>
      </p:sp>
      <p:sp>
        <p:nvSpPr>
          <p:cNvPr id="16" name="TextBox 15"/>
          <p:cNvSpPr txBox="1"/>
          <p:nvPr/>
        </p:nvSpPr>
        <p:spPr>
          <a:xfrm>
            <a:off x="731519"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What finance reports, and which claims are chased first.</a:t>
            </a:r>
          </a:p>
        </p:txBody>
      </p:sp>
      <p:sp>
        <p:nvSpPr>
          <p:cNvPr id="17" name="Rounded Rectangle 16"/>
          <p:cNvSpPr/>
          <p:nvPr/>
        </p:nvSpPr>
        <p:spPr>
          <a:xfrm>
            <a:off x="430164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50281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triangle-alert_5ac49fc6abbb.png"/>
          <p:cNvPicPr>
            <a:picLocks noChangeAspect="1"/>
          </p:cNvPicPr>
          <p:nvPr/>
        </p:nvPicPr>
        <p:blipFill>
          <a:blip r:embed="rId5"/>
          <a:stretch>
            <a:fillRect/>
          </a:stretch>
        </p:blipFill>
        <p:spPr>
          <a:xfrm>
            <a:off x="4612538" y="3440176"/>
            <a:ext cx="237744" cy="237744"/>
          </a:xfrm>
          <a:prstGeom prst="rect">
            <a:avLst/>
          </a:prstGeom>
        </p:spPr>
      </p:pic>
      <p:sp>
        <p:nvSpPr>
          <p:cNvPr id="20" name="TextBox 19"/>
          <p:cNvSpPr txBox="1"/>
          <p:nvPr/>
        </p:nvSpPr>
        <p:spPr>
          <a:xfrm>
            <a:off x="450281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A WRONG ANSWER COSTS</a:t>
            </a:r>
          </a:p>
        </p:txBody>
      </p:sp>
      <p:sp>
        <p:nvSpPr>
          <p:cNvPr id="21" name="TextBox 20"/>
          <p:cNvSpPr txBox="1"/>
          <p:nvPr/>
        </p:nvSpPr>
        <p:spPr>
          <a:xfrm>
            <a:off x="450281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A figure, or a deadline</a:t>
            </a:r>
          </a:p>
        </p:txBody>
      </p:sp>
      <p:sp>
        <p:nvSpPr>
          <p:cNvPr id="22" name="TextBox 21"/>
          <p:cNvSpPr txBox="1"/>
          <p:nvPr/>
        </p:nvSpPr>
        <p:spPr>
          <a:xfrm>
            <a:off x="450281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A wrong figure reaches the board; a claim chased late passes its filing limit.</a:t>
            </a:r>
          </a:p>
        </p:txBody>
      </p:sp>
      <p:sp>
        <p:nvSpPr>
          <p:cNvPr id="23" name="Rounded Rectangle 22"/>
          <p:cNvSpPr/>
          <p:nvPr/>
        </p:nvSpPr>
        <p:spPr>
          <a:xfrm>
            <a:off x="807293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27410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database_0f9c2895db54.png"/>
          <p:cNvPicPr>
            <a:picLocks noChangeAspect="1"/>
          </p:cNvPicPr>
          <p:nvPr/>
        </p:nvPicPr>
        <p:blipFill>
          <a:blip r:embed="rId6"/>
          <a:stretch>
            <a:fillRect/>
          </a:stretch>
        </p:blipFill>
        <p:spPr>
          <a:xfrm>
            <a:off x="8383828" y="3440176"/>
            <a:ext cx="237744" cy="237744"/>
          </a:xfrm>
          <a:prstGeom prst="rect">
            <a:avLst/>
          </a:prstGeom>
        </p:spPr>
      </p:pic>
      <p:sp>
        <p:nvSpPr>
          <p:cNvPr id="26" name="TextBox 25"/>
          <p:cNvSpPr txBox="1"/>
          <p:nvPr/>
        </p:nvSpPr>
        <p:spPr>
          <a:xfrm>
            <a:off x="827410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 STARTS FROM</a:t>
            </a:r>
          </a:p>
        </p:txBody>
      </p:sp>
      <p:sp>
        <p:nvSpPr>
          <p:cNvPr id="27" name="TextBox 26"/>
          <p:cNvSpPr txBox="1"/>
          <p:nvPr/>
        </p:nvSpPr>
        <p:spPr>
          <a:xfrm>
            <a:off x="827410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Two big files</a:t>
            </a:r>
          </a:p>
        </p:txBody>
      </p:sp>
      <p:sp>
        <p:nvSpPr>
          <p:cNvPr id="28" name="TextBox 27"/>
          <p:cNvSpPr txBox="1"/>
          <p:nvPr/>
        </p:nvSpPr>
        <p:spPr>
          <a:xfrm>
            <a:off x="827410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The claims billed and the postings received, with patients and both booking files.</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1" name="Oval 3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3" name="Oval 32"/>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35" name="Oval 34"/>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7" name="Oval 3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9" name="Oval 3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1" name="Oval 40"/>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26 / 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Billing reads 11,356 claims and 11,343 postings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files does the billing question start from, and how big is each?</a:t>
            </a:r>
          </a:p>
        </p:txBody>
      </p:sp>
      <p:pic>
        <p:nvPicPr>
          <p:cNvPr id="10" name="mermaid diagram" descr="6a1f8e255ead23be.png"/>
          <p:cNvPicPr>
            <a:picLocks noChangeAspect="1"/>
          </p:cNvPicPr>
          <p:nvPr/>
        </p:nvPicPr>
        <p:blipFill>
          <a:blip r:embed="rId5"/>
          <a:stretch>
            <a:fillRect/>
          </a:stretch>
        </p:blipFill>
        <p:spPr>
          <a:xfrm>
            <a:off x="780897" y="1955515"/>
            <a:ext cx="10629900" cy="3328987"/>
          </a:xfrm>
          <a:prstGeom prst="rect">
            <a:avLst/>
          </a:prstGeom>
        </p:spPr>
      </p:pic>
      <p:sp>
        <p:nvSpPr>
          <p:cNvPr id="11" name="TextBox 10"/>
          <p:cNvSpPr txBox="1"/>
          <p:nvPr/>
        </p:nvSpPr>
        <p:spPr>
          <a:xfrm>
            <a:off x="530352" y="543080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files are claims, remittances, patients, and bookings_legacy and bookings_newsys.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D21  ·  27 / 63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No-shows asks whether KH-ATL-03 is really worse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operations head ask, what does the answer decide, and what does a wrong one cost?</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"KH-ATL-03, one of our two Atlanta patient service centres, has the worst no-show rate on my Q3 report. I am being asked to add a receptionist there or close it. Is the centre really worse?"</a:t>
            </a:r>
          </a:p>
          <a:p>
            <a:pPr>
              <a:spcBef>
                <a:spcPts val="400"/>
              </a:spcBef>
            </a:pPr>
            <a:r>
              <a:rPr sz="1000" b="0" i="0">
                <a:solidFill>
                  <a:srgbClr val="6B6690"/>
                </a:solidFill>
                <a:latin typeface="Calibri"/>
              </a:rPr>
              <a:t>The patient service centres' operations head, Kalpa Health</a:t>
            </a:r>
          </a:p>
        </p:txBody>
      </p:sp>
      <p:sp>
        <p:nvSpPr>
          <p:cNvPr id="11" name="Rounded Rectangle 10"/>
          <p:cNvSpPr/>
          <p:nvPr/>
        </p:nvSpPr>
        <p:spPr>
          <a:xfrm>
            <a:off x="53035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target_975d45d39ce7.png"/>
          <p:cNvPicPr>
            <a:picLocks noChangeAspect="1"/>
          </p:cNvPicPr>
          <p:nvPr/>
        </p:nvPicPr>
        <p:blipFill>
          <a:blip r:embed="rId4"/>
          <a:stretch>
            <a:fillRect/>
          </a:stretch>
        </p:blipFill>
        <p:spPr>
          <a:xfrm>
            <a:off x="841247" y="3440176"/>
            <a:ext cx="237744" cy="237744"/>
          </a:xfrm>
          <a:prstGeom prst="rect">
            <a:avLst/>
          </a:prstGeom>
        </p:spPr>
      </p:pic>
      <p:sp>
        <p:nvSpPr>
          <p:cNvPr id="14" name="TextBox 13"/>
          <p:cNvSpPr txBox="1"/>
          <p:nvPr/>
        </p:nvSpPr>
        <p:spPr>
          <a:xfrm>
            <a:off x="731519"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ANSWER DECIDES</a:t>
            </a:r>
          </a:p>
        </p:txBody>
      </p:sp>
      <p:sp>
        <p:nvSpPr>
          <p:cNvPr id="15" name="TextBox 14"/>
          <p:cNvSpPr txBox="1"/>
          <p:nvPr/>
        </p:nvSpPr>
        <p:spPr>
          <a:xfrm>
            <a:off x="731519"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Staff, reminders or closure</a:t>
            </a:r>
          </a:p>
        </p:txBody>
      </p:sp>
      <p:sp>
        <p:nvSpPr>
          <p:cNvPr id="16" name="TextBox 15"/>
          <p:cNvSpPr txBox="1"/>
          <p:nvPr/>
        </p:nvSpPr>
        <p:spPr>
          <a:xfrm>
            <a:off x="731519"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A second receptionist, new reminder calls, or a closure notice.</a:t>
            </a:r>
          </a:p>
        </p:txBody>
      </p:sp>
      <p:sp>
        <p:nvSpPr>
          <p:cNvPr id="17" name="Rounded Rectangle 16"/>
          <p:cNvSpPr/>
          <p:nvPr/>
        </p:nvSpPr>
        <p:spPr>
          <a:xfrm>
            <a:off x="430164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50281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triangle-alert_5ac49fc6abbb.png"/>
          <p:cNvPicPr>
            <a:picLocks noChangeAspect="1"/>
          </p:cNvPicPr>
          <p:nvPr/>
        </p:nvPicPr>
        <p:blipFill>
          <a:blip r:embed="rId5"/>
          <a:stretch>
            <a:fillRect/>
          </a:stretch>
        </p:blipFill>
        <p:spPr>
          <a:xfrm>
            <a:off x="4612538" y="3440176"/>
            <a:ext cx="237744" cy="237744"/>
          </a:xfrm>
          <a:prstGeom prst="rect">
            <a:avLst/>
          </a:prstGeom>
        </p:spPr>
      </p:pic>
      <p:sp>
        <p:nvSpPr>
          <p:cNvPr id="20" name="TextBox 19"/>
          <p:cNvSpPr txBox="1"/>
          <p:nvPr/>
        </p:nvSpPr>
        <p:spPr>
          <a:xfrm>
            <a:off x="450281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A WRONG ANSWER COSTS</a:t>
            </a:r>
          </a:p>
        </p:txBody>
      </p:sp>
      <p:sp>
        <p:nvSpPr>
          <p:cNvPr id="21" name="TextBox 20"/>
          <p:cNvSpPr txBox="1"/>
          <p:nvPr/>
        </p:nvSpPr>
        <p:spPr>
          <a:xfrm>
            <a:off x="450281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A centre, or the slots</a:t>
            </a:r>
          </a:p>
        </p:txBody>
      </p:sp>
      <p:sp>
        <p:nvSpPr>
          <p:cNvPr id="22" name="TextBox 21"/>
          <p:cNvSpPr txBox="1"/>
          <p:nvPr/>
        </p:nvSpPr>
        <p:spPr>
          <a:xfrm>
            <a:off x="450281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A neighbourhood loses its draws on a misread rate, or a real problem goes on.</a:t>
            </a:r>
          </a:p>
        </p:txBody>
      </p:sp>
      <p:sp>
        <p:nvSpPr>
          <p:cNvPr id="23" name="Rounded Rectangle 22"/>
          <p:cNvSpPr/>
          <p:nvPr/>
        </p:nvSpPr>
        <p:spPr>
          <a:xfrm>
            <a:off x="807293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27410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database_0f9c2895db54.png"/>
          <p:cNvPicPr>
            <a:picLocks noChangeAspect="1"/>
          </p:cNvPicPr>
          <p:nvPr/>
        </p:nvPicPr>
        <p:blipFill>
          <a:blip r:embed="rId6"/>
          <a:stretch>
            <a:fillRect/>
          </a:stretch>
        </p:blipFill>
        <p:spPr>
          <a:xfrm>
            <a:off x="8383828" y="3440176"/>
            <a:ext cx="237744" cy="237744"/>
          </a:xfrm>
          <a:prstGeom prst="rect">
            <a:avLst/>
          </a:prstGeom>
        </p:spPr>
      </p:pic>
      <p:sp>
        <p:nvSpPr>
          <p:cNvPr id="26" name="TextBox 25"/>
          <p:cNvSpPr txBox="1"/>
          <p:nvPr/>
        </p:nvSpPr>
        <p:spPr>
          <a:xfrm>
            <a:off x="827410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 STARTS FROM</a:t>
            </a:r>
          </a:p>
        </p:txBody>
      </p:sp>
      <p:sp>
        <p:nvSpPr>
          <p:cNvPr id="27" name="TextBox 26"/>
          <p:cNvSpPr txBox="1"/>
          <p:nvPr/>
        </p:nvSpPr>
        <p:spPr>
          <a:xfrm>
            <a:off x="827410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Two files</a:t>
            </a:r>
          </a:p>
        </p:txBody>
      </p:sp>
      <p:sp>
        <p:nvSpPr>
          <p:cNvPr id="28" name="TextBox 27"/>
          <p:cNvSpPr txBox="1"/>
          <p:nvPr/>
        </p:nvSpPr>
        <p:spPr>
          <a:xfrm>
            <a:off x="827410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The centres' visit register for Q3 and the site list.</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1" name="Oval 3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3" name="Oval 32"/>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35" name="Oval 34"/>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7" name="Oval 3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9" name="Oval 3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1" name="Oval 40"/>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28 / 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No-shows reads 3,685 visits at twelve centres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files does the no-show question start from, and how big is each?</a:t>
            </a:r>
          </a:p>
        </p:txBody>
      </p:sp>
      <p:pic>
        <p:nvPicPr>
          <p:cNvPr id="10" name="mermaid diagram" descr="9e97a181efa4e955.png"/>
          <p:cNvPicPr>
            <a:picLocks noChangeAspect="1"/>
          </p:cNvPicPr>
          <p:nvPr/>
        </p:nvPicPr>
        <p:blipFill>
          <a:blip r:embed="rId5"/>
          <a:stretch>
            <a:fillRect/>
          </a:stretch>
        </p:blipFill>
        <p:spPr>
          <a:xfrm>
            <a:off x="3524097" y="1956816"/>
            <a:ext cx="5143500" cy="3043237"/>
          </a:xfrm>
          <a:prstGeom prst="rect">
            <a:avLst/>
          </a:prstGeom>
        </p:spPr>
      </p:pic>
      <p:sp>
        <p:nvSpPr>
          <p:cNvPr id="11" name="TextBox 10"/>
          <p:cNvSpPr txBox="1"/>
          <p:nvPr/>
        </p:nvSpPr>
        <p:spPr>
          <a:xfrm>
            <a:off x="530352" y="5146357"/>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files are appointments, which covers the twelve patient service centres, and sites.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D23  ·  29 / 63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Campaign asks whether the offer lifted bookings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marketing head ask, what does the answer decide, and what does a wrong one cost?</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"Our free at-home collection offer lifted bookings 9 percent. I want to offer it to every patient in all six metros. Can you confirm it worked?"</a:t>
            </a:r>
          </a:p>
          <a:p>
            <a:pPr>
              <a:spcBef>
                <a:spcPts val="400"/>
              </a:spcBef>
            </a:pPr>
            <a:r>
              <a:rPr sz="1000" b="0" i="0">
                <a:solidFill>
                  <a:srgbClr val="6B6690"/>
                </a:solidFill>
                <a:latin typeface="Calibri"/>
              </a:rPr>
              <a:t>The marketing head, Kalpa Health</a:t>
            </a:r>
          </a:p>
        </p:txBody>
      </p:sp>
      <p:sp>
        <p:nvSpPr>
          <p:cNvPr id="11" name="Rounded Rectangle 10"/>
          <p:cNvSpPr/>
          <p:nvPr/>
        </p:nvSpPr>
        <p:spPr>
          <a:xfrm>
            <a:off x="53035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target_975d45d39ce7.png"/>
          <p:cNvPicPr>
            <a:picLocks noChangeAspect="1"/>
          </p:cNvPicPr>
          <p:nvPr/>
        </p:nvPicPr>
        <p:blipFill>
          <a:blip r:embed="rId4"/>
          <a:stretch>
            <a:fillRect/>
          </a:stretch>
        </p:blipFill>
        <p:spPr>
          <a:xfrm>
            <a:off x="841247" y="3440176"/>
            <a:ext cx="237744" cy="237744"/>
          </a:xfrm>
          <a:prstGeom prst="rect">
            <a:avLst/>
          </a:prstGeom>
        </p:spPr>
      </p:pic>
      <p:sp>
        <p:nvSpPr>
          <p:cNvPr id="14" name="TextBox 13"/>
          <p:cNvSpPr txBox="1"/>
          <p:nvPr/>
        </p:nvSpPr>
        <p:spPr>
          <a:xfrm>
            <a:off x="731519"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ANSWER DECIDES</a:t>
            </a:r>
          </a:p>
        </p:txBody>
      </p:sp>
      <p:sp>
        <p:nvSpPr>
          <p:cNvPr id="15" name="TextBox 14"/>
          <p:cNvSpPr txBox="1"/>
          <p:nvPr/>
        </p:nvSpPr>
        <p:spPr>
          <a:xfrm>
            <a:off x="731519"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Extend, keep or stop</a:t>
            </a:r>
          </a:p>
        </p:txBody>
      </p:sp>
      <p:sp>
        <p:nvSpPr>
          <p:cNvPr id="16" name="TextBox 15"/>
          <p:cNvSpPr txBox="1"/>
          <p:nvPr/>
        </p:nvSpPr>
        <p:spPr>
          <a:xfrm>
            <a:off x="731519"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The offer to every patient in all six metros, as it is, or not at all.</a:t>
            </a:r>
          </a:p>
        </p:txBody>
      </p:sp>
      <p:sp>
        <p:nvSpPr>
          <p:cNvPr id="17" name="Rounded Rectangle 16"/>
          <p:cNvSpPr/>
          <p:nvPr/>
        </p:nvSpPr>
        <p:spPr>
          <a:xfrm>
            <a:off x="430164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50281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triangle-alert_5ac49fc6abbb.png"/>
          <p:cNvPicPr>
            <a:picLocks noChangeAspect="1"/>
          </p:cNvPicPr>
          <p:nvPr/>
        </p:nvPicPr>
        <p:blipFill>
          <a:blip r:embed="rId5"/>
          <a:stretch>
            <a:fillRect/>
          </a:stretch>
        </p:blipFill>
        <p:spPr>
          <a:xfrm>
            <a:off x="4612538" y="3440176"/>
            <a:ext cx="237744" cy="237744"/>
          </a:xfrm>
          <a:prstGeom prst="rect">
            <a:avLst/>
          </a:prstGeom>
        </p:spPr>
      </p:pic>
      <p:sp>
        <p:nvSpPr>
          <p:cNvPr id="20" name="TextBox 19"/>
          <p:cNvSpPr txBox="1"/>
          <p:nvPr/>
        </p:nvSpPr>
        <p:spPr>
          <a:xfrm>
            <a:off x="450281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A WRONG ANSWER COSTS</a:t>
            </a:r>
          </a:p>
        </p:txBody>
      </p:sp>
      <p:sp>
        <p:nvSpPr>
          <p:cNvPr id="21" name="TextBox 20"/>
          <p:cNvSpPr txBox="1"/>
          <p:nvPr/>
        </p:nvSpPr>
        <p:spPr>
          <a:xfrm>
            <a:off x="450281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Visits paid for nothing</a:t>
            </a:r>
          </a:p>
        </p:txBody>
      </p:sp>
      <p:sp>
        <p:nvSpPr>
          <p:cNvPr id="22" name="TextBox 21"/>
          <p:cNvSpPr txBox="1"/>
          <p:nvPr/>
        </p:nvSpPr>
        <p:spPr>
          <a:xfrm>
            <a:off x="450281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Every free collection sends a phlebotomist to a home.</a:t>
            </a:r>
          </a:p>
        </p:txBody>
      </p:sp>
      <p:sp>
        <p:nvSpPr>
          <p:cNvPr id="23" name="Rounded Rectangle 22"/>
          <p:cNvSpPr/>
          <p:nvPr/>
        </p:nvSpPr>
        <p:spPr>
          <a:xfrm>
            <a:off x="8072932" y="3129280"/>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274100" y="333044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database_0f9c2895db54.png"/>
          <p:cNvPicPr>
            <a:picLocks noChangeAspect="1"/>
          </p:cNvPicPr>
          <p:nvPr/>
        </p:nvPicPr>
        <p:blipFill>
          <a:blip r:embed="rId6"/>
          <a:stretch>
            <a:fillRect/>
          </a:stretch>
        </p:blipFill>
        <p:spPr>
          <a:xfrm>
            <a:off x="8383828" y="3440176"/>
            <a:ext cx="237744" cy="237744"/>
          </a:xfrm>
          <a:prstGeom prst="rect">
            <a:avLst/>
          </a:prstGeom>
        </p:spPr>
      </p:pic>
      <p:sp>
        <p:nvSpPr>
          <p:cNvPr id="26" name="TextBox 25"/>
          <p:cNvSpPr txBox="1"/>
          <p:nvPr/>
        </p:nvSpPr>
        <p:spPr>
          <a:xfrm>
            <a:off x="8274100" y="389737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 STARTS FROM</a:t>
            </a:r>
          </a:p>
        </p:txBody>
      </p:sp>
      <p:sp>
        <p:nvSpPr>
          <p:cNvPr id="27" name="TextBox 26"/>
          <p:cNvSpPr txBox="1"/>
          <p:nvPr/>
        </p:nvSpPr>
        <p:spPr>
          <a:xfrm>
            <a:off x="8274100" y="4135120"/>
            <a:ext cx="3186074" cy="267716"/>
          </a:xfrm>
          <a:prstGeom prst="rect">
            <a:avLst/>
          </a:prstGeom>
          <a:noFill/>
        </p:spPr>
        <p:txBody>
          <a:bodyPr wrap="square" anchor="t" lIns="0" rIns="0" tIns="0" bIns="0">
            <a:spAutoFit/>
          </a:bodyPr>
          <a:lstStyle/>
          <a:p>
            <a:pPr algn="l"/>
            <a:r>
              <a:rPr sz="1400" b="1" i="0">
                <a:solidFill>
                  <a:srgbClr val="1A0F5C"/>
                </a:solidFill>
                <a:latin typeface="Calibri"/>
              </a:rPr>
              <a:t>Five files</a:t>
            </a:r>
          </a:p>
        </p:txBody>
      </p:sp>
      <p:sp>
        <p:nvSpPr>
          <p:cNvPr id="28" name="TextBox 27"/>
          <p:cNvSpPr txBox="1"/>
          <p:nvPr/>
        </p:nvSpPr>
        <p:spPr>
          <a:xfrm>
            <a:off x="8274100" y="4475988"/>
            <a:ext cx="3186074" cy="399796"/>
          </a:xfrm>
          <a:prstGeom prst="rect">
            <a:avLst/>
          </a:prstGeom>
          <a:noFill/>
        </p:spPr>
        <p:txBody>
          <a:bodyPr wrap="square" anchor="t" lIns="0" rIns="0" tIns="0" bIns="0">
            <a:spAutoFit/>
          </a:bodyPr>
          <a:lstStyle/>
          <a:p>
            <a:pPr algn="l"/>
            <a:r>
              <a:rPr sz="1100" b="0" i="0">
                <a:solidFill>
                  <a:srgbClr val="6B6690"/>
                </a:solidFill>
                <a:latin typeface="Calibri"/>
              </a:rPr>
              <a:t>The offer list, patients, both booking files and the sites.</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1" name="Oval 3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3" name="Oval 32"/>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35" name="Oval 34"/>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7" name="Oval 3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9" name="Oval 3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1" name="Oval 40"/>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30 / 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Campaign reads 2,381 offers against every booking</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files does the campaign question start from, and how big is each?</a:t>
            </a:r>
          </a:p>
        </p:txBody>
      </p:sp>
      <p:pic>
        <p:nvPicPr>
          <p:cNvPr id="10" name="mermaid diagram" descr="df2ae09856ba9d88.png"/>
          <p:cNvPicPr>
            <a:picLocks noChangeAspect="1"/>
          </p:cNvPicPr>
          <p:nvPr/>
        </p:nvPicPr>
        <p:blipFill>
          <a:blip r:embed="rId5"/>
          <a:stretch>
            <a:fillRect/>
          </a:stretch>
        </p:blipFill>
        <p:spPr>
          <a:xfrm>
            <a:off x="780897" y="1834071"/>
            <a:ext cx="10629900" cy="3571875"/>
          </a:xfrm>
          <a:prstGeom prst="rect">
            <a:avLst/>
          </a:prstGeom>
        </p:spPr>
      </p:pic>
      <p:sp>
        <p:nvSpPr>
          <p:cNvPr id="11" name="TextBox 10"/>
          <p:cNvSpPr txBox="1"/>
          <p:nvPr/>
        </p:nvSpPr>
        <p:spPr>
          <a:xfrm>
            <a:off x="530352" y="5552250"/>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files are campaign, patients, bookings_legacy and bookings_newsys, and sites.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Which five questions?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D25  ·  31 / 63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moves do you own?</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moves from Weeks 1 and 2 do you own, why does the week teach nothing new, and who decides which move answers your question?</a:t>
            </a:r>
          </a:p>
        </p:txBody>
      </p:sp>
      <p:sp>
        <p:nvSpPr>
          <p:cNvPr id="10" name="Rounded Rectangle 9"/>
          <p:cNvSpPr/>
          <p:nvPr/>
        </p:nvSpPr>
        <p:spPr>
          <a:xfrm>
            <a:off x="731519"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32 / 63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Weeks 1 and 2 hold every move the week needs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method map today, and which questions come on the way?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group, for Part 2 of its translation: the mini project's first criterion scores Dr Menon's words mapped to the right Weeks 1 and 2 method, and the mapping is the group's to make.</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moves</a:t>
            </a:r>
          </a:p>
        </p:txBody>
      </p:sp>
      <p:sp>
        <p:nvSpPr>
          <p:cNvPr id="17" name="TextBox 16"/>
          <p:cNvSpPr txBox="1"/>
          <p:nvPr/>
        </p:nvSpPr>
        <p:spPr>
          <a:xfrm>
            <a:off x="694944"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Which moves do you own from Weeks 1 and 2?</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pictures</a:t>
            </a:r>
          </a:p>
        </p:txBody>
      </p:sp>
      <p:sp>
        <p:nvSpPr>
          <p:cNvPr id="22" name="TextBox 21"/>
          <p:cNvSpPr txBox="1"/>
          <p:nvPr/>
        </p:nvSpPr>
        <p:spPr>
          <a:xfrm>
            <a:off x="3523411"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did each look like when you drew it for Meera and Anand?</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Nothing new</a:t>
            </a:r>
          </a:p>
        </p:txBody>
      </p:sp>
      <p:sp>
        <p:nvSpPr>
          <p:cNvPr id="27" name="TextBox 26"/>
          <p:cNvSpPr txBox="1"/>
          <p:nvPr/>
        </p:nvSpPr>
        <p:spPr>
          <a:xfrm>
            <a:off x="6351879"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Why does the week teach nothing new, and where does help come from?</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10237965"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251205"/>
          </a:xfrm>
          <a:prstGeom prst="rect">
            <a:avLst/>
          </a:prstGeom>
          <a:noFill/>
        </p:spPr>
        <p:txBody>
          <a:bodyPr wrap="square" anchor="t" lIns="0" rIns="0" tIns="0" bIns="0">
            <a:spAutoFit/>
          </a:bodyPr>
          <a:lstStyle/>
          <a:p>
            <a:pPr algn="l"/>
            <a:r>
              <a:rPr sz="1300" b="1" i="0">
                <a:solidFill>
                  <a:srgbClr val="FFFFFF"/>
                </a:solidFill>
                <a:latin typeface="Calibri"/>
              </a:rPr>
              <a:t>Your call</a:t>
            </a:r>
          </a:p>
        </p:txBody>
      </p:sp>
      <p:sp>
        <p:nvSpPr>
          <p:cNvPr id="32" name="TextBox 31"/>
          <p:cNvSpPr txBox="1"/>
          <p:nvPr/>
        </p:nvSpPr>
        <p:spPr>
          <a:xfrm>
            <a:off x="9180347" y="4250182"/>
            <a:ext cx="2316403" cy="366776"/>
          </a:xfrm>
          <a:prstGeom prst="rect">
            <a:avLst/>
          </a:prstGeom>
          <a:noFill/>
        </p:spPr>
        <p:txBody>
          <a:bodyPr wrap="square" anchor="t" lIns="0" rIns="0" tIns="0" bIns="0">
            <a:spAutoFit/>
          </a:bodyPr>
          <a:lstStyle/>
          <a:p>
            <a:pPr algn="l"/>
            <a:r>
              <a:rPr sz="1000" b="0" i="0">
                <a:solidFill>
                  <a:srgbClr val="CFC9EE"/>
                </a:solidFill>
                <a:latin typeface="Calibri"/>
              </a:rPr>
              <a:t>Who decides which move answers which question?</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7" name="Oval 3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9" name="Oval 38"/>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41" name="Oval 4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3" name="Oval 4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5" name="Oval 44"/>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33 / 63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move from Weeks 1 and 2, on one picture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moves do you own from Weeks 1 and 2?</a:t>
            </a:r>
          </a:p>
        </p:txBody>
      </p:sp>
      <p:pic>
        <p:nvPicPr>
          <p:cNvPr id="9" name="mermaid diagram" descr="dc4c2a752ad7d040.png"/>
          <p:cNvPicPr>
            <a:picLocks noChangeAspect="1"/>
          </p:cNvPicPr>
          <p:nvPr/>
        </p:nvPicPr>
        <p:blipFill>
          <a:blip r:embed="rId5"/>
          <a:stretch>
            <a:fillRect/>
          </a:stretch>
        </p:blipFill>
        <p:spPr>
          <a:xfrm>
            <a:off x="1580041" y="1664208"/>
            <a:ext cx="9031611"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Every one of the five questions can be answered with these moves; the domain changes the words around them.</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34 / 63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revenue tree splits a total into branches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revenue tree look like when you drew it for Meera?</a:t>
            </a:r>
          </a:p>
        </p:txBody>
      </p:sp>
      <p:pic>
        <p:nvPicPr>
          <p:cNvPr id="10" name="mermaid diagram" descr="04c3d7ba76cf3d5e.png"/>
          <p:cNvPicPr>
            <a:picLocks noChangeAspect="1"/>
          </p:cNvPicPr>
          <p:nvPr/>
        </p:nvPicPr>
        <p:blipFill>
          <a:blip r:embed="rId5"/>
          <a:stretch>
            <a:fillRect/>
          </a:stretch>
        </p:blipFill>
        <p:spPr>
          <a:xfrm>
            <a:off x="3481889" y="1664208"/>
            <a:ext cx="5227916" cy="3532632"/>
          </a:xfrm>
          <a:prstGeom prst="rect">
            <a:avLst/>
          </a:prstGeom>
        </p:spPr>
      </p:pic>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Revenue = customers x orders per customer x order value, and order value splits into items per order and price per item. Every branch is a count over a denominator, and the branch whose change explains most of the shortfall is where the question points.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D28  ·  35 / 63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ladder confirms a drop before explaining it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investigation ladder look like in Week 1, Tuesday?</a:t>
            </a:r>
          </a:p>
        </p:txBody>
      </p:sp>
      <p:pic>
        <p:nvPicPr>
          <p:cNvPr id="10" name="mermaid diagram" descr="2588c84f7b75b8ea.png"/>
          <p:cNvPicPr>
            <a:picLocks noChangeAspect="1"/>
          </p:cNvPicPr>
          <p:nvPr/>
        </p:nvPicPr>
        <p:blipFill>
          <a:blip r:embed="rId5"/>
          <a:stretch>
            <a:fillRect/>
          </a:stretch>
        </p:blipFill>
        <p:spPr>
          <a:xfrm>
            <a:off x="530352" y="1956816"/>
            <a:ext cx="11130991" cy="1545971"/>
          </a:xfrm>
          <a:prstGeom prst="rect">
            <a:avLst/>
          </a:prstGeom>
        </p:spPr>
      </p:pic>
      <p:sp>
        <p:nvSpPr>
          <p:cNvPr id="11" name="TextBox 10"/>
          <p:cNvSpPr txBox="1"/>
          <p:nvPr/>
        </p:nvSpPr>
        <p:spPr>
          <a:xfrm>
            <a:off x="530352" y="3649091"/>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reason offered before rung 1 is a guess about a number nobody has checked.</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D29  ·  36 / 63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Rows in must equal rows kept plus rows set aside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Week 1, Wednesday prove before any number left the team?</a:t>
            </a:r>
          </a:p>
        </p:txBody>
      </p:sp>
      <p:pic>
        <p:nvPicPr>
          <p:cNvPr id="10" name="mermaid diagram" descr="b08036f34c3468c7.png"/>
          <p:cNvPicPr>
            <a:picLocks noChangeAspect="1"/>
          </p:cNvPicPr>
          <p:nvPr/>
        </p:nvPicPr>
        <p:blipFill>
          <a:blip r:embed="rId5"/>
          <a:stretch>
            <a:fillRect/>
          </a:stretch>
        </p:blipFill>
        <p:spPr>
          <a:xfrm>
            <a:off x="530352" y="1956816"/>
            <a:ext cx="11130991" cy="1902733"/>
          </a:xfrm>
          <a:prstGeom prst="rect">
            <a:avLst/>
          </a:prstGeom>
        </p:spPr>
      </p:pic>
      <p:sp>
        <p:nvSpPr>
          <p:cNvPr id="11" name="TextBox 10"/>
          <p:cNvSpPr txBox="1"/>
          <p:nvPr/>
        </p:nvSpPr>
        <p:spPr>
          <a:xfrm>
            <a:off x="530352" y="4005853"/>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decisions log records field, issue, rows, decision and reason, so that Anand's analyst could replay every call.</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D30  ·  37 / 63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gap is read only after chance and fairness checks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two questions did Week 1, Thursday ask before reading a gap as an effect?</a:t>
            </a:r>
          </a:p>
        </p:txBody>
      </p:sp>
      <p:pic>
        <p:nvPicPr>
          <p:cNvPr id="10" name="mermaid diagram" descr="8e629185c2fedd4f.png"/>
          <p:cNvPicPr>
            <a:picLocks noChangeAspect="1"/>
          </p:cNvPicPr>
          <p:nvPr/>
        </p:nvPicPr>
        <p:blipFill>
          <a:blip r:embed="rId5"/>
          <a:stretch>
            <a:fillRect/>
          </a:stretch>
        </p:blipFill>
        <p:spPr>
          <a:xfrm>
            <a:off x="530352" y="1885330"/>
            <a:ext cx="11130991" cy="3193004"/>
          </a:xfrm>
          <a:prstGeom prst="rect">
            <a:avLst/>
          </a:prstGeom>
        </p:spPr>
      </p:pic>
      <p:sp>
        <p:nvSpPr>
          <p:cNvPr id="11" name="TextBox 10"/>
          <p:cNvSpPr txBox="1"/>
          <p:nvPr/>
        </p:nvSpPr>
        <p:spPr>
          <a:xfrm>
            <a:off x="530352" y="522463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permutation test answers the first question; checking that the two groups were alike before the thing tested answers the second.</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D31  ·  38 / 63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join is counted before anything is summed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Week 2, Tuesday require before a joined number was trusted?</a:t>
            </a:r>
          </a:p>
        </p:txBody>
      </p:sp>
      <p:pic>
        <p:nvPicPr>
          <p:cNvPr id="10" name="mermaid diagram" descr="56d0a6cce37fa8f6.png"/>
          <p:cNvPicPr>
            <a:picLocks noChangeAspect="1"/>
          </p:cNvPicPr>
          <p:nvPr/>
        </p:nvPicPr>
        <p:blipFill>
          <a:blip r:embed="rId5"/>
          <a:stretch>
            <a:fillRect/>
          </a:stretch>
        </p:blipFill>
        <p:spPr>
          <a:xfrm>
            <a:off x="780897" y="1956816"/>
            <a:ext cx="10629900" cy="1600200"/>
          </a:xfrm>
          <a:prstGeom prst="rect">
            <a:avLst/>
          </a:prstGeom>
        </p:spPr>
      </p:pic>
      <p:sp>
        <p:nvSpPr>
          <p:cNvPr id="11" name="TextBox 10"/>
          <p:cNvSpPr txBox="1"/>
          <p:nvPr/>
        </p:nvSpPr>
        <p:spPr>
          <a:xfrm>
            <a:off x="530352" y="37033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join can drop rows it cannot match or repeat rows it matches twice, and the sum moves either way without a warning.</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8" name="Oval 17"/>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2" name="Oval 21"/>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4" name="Oval 23"/>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D32  ·  39 / 63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Nothing new is taught: the domain is what is new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build week teach nothing new, and where does help come from?</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ook-open_a730d506939d.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YOU HAVE</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Weeks 1 and 2</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tree, the ladder, profile and reconcile, the chance and fairness checks, the note, SQL, pandas and Excel.</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ap_e80934a1e340.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IS NEW</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domain</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Its words, its systems and what an error costs; you translate into it.</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fe-buoy_0e116f16dbe5.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WHEN STUCK</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Log it, then ask</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Write the challenge in the log, say what you tried, then ask a TA.</a:t>
            </a:r>
          </a:p>
        </p:txBody>
      </p:sp>
      <p:sp>
        <p:nvSpPr>
          <p:cNvPr id="27" name="TextBox 26"/>
          <p:cNvSpPr txBox="1"/>
          <p:nvPr/>
        </p:nvSpPr>
        <p:spPr>
          <a:xfrm>
            <a:off x="530352" y="42941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trainer or TA answers every domain question, such as what a phlebotomist does, and answers a method question with a question back.</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0" name="Oval 2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2" name="Oval 3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4" name="Oval 33"/>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36" name="Oval 3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8" name="Oval 37"/>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0" name="Oval 39"/>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40 / 63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group maps its own question onto a move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decides which move answers which of the five questions?</a:t>
            </a:r>
          </a:p>
        </p:txBody>
      </p:sp>
      <p:pic>
        <p:nvPicPr>
          <p:cNvPr id="9" name="mermaid diagram" descr="47201ba500385753.png"/>
          <p:cNvPicPr>
            <a:picLocks noChangeAspect="1"/>
          </p:cNvPicPr>
          <p:nvPr/>
        </p:nvPicPr>
        <p:blipFill>
          <a:blip r:embed="rId6"/>
          <a:stretch>
            <a:fillRect/>
          </a:stretch>
        </p:blipFill>
        <p:spPr>
          <a:xfrm>
            <a:off x="780897" y="1956816"/>
            <a:ext cx="10629900" cy="1857375"/>
          </a:xfrm>
          <a:prstGeom prst="rect">
            <a:avLst/>
          </a:prstGeom>
        </p:spPr>
      </p:pic>
      <p:sp>
        <p:nvSpPr>
          <p:cNvPr id="10" name="Rounded Rectangle 9"/>
          <p:cNvSpPr/>
          <p:nvPr/>
        </p:nvSpPr>
        <p:spPr>
          <a:xfrm>
            <a:off x="530352" y="3960495"/>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9272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4402455"/>
            <a:ext cx="237744" cy="237744"/>
          </a:xfrm>
          <a:prstGeom prst="rect">
            <a:avLst/>
          </a:prstGeom>
        </p:spPr>
      </p:pic>
      <p:sp>
        <p:nvSpPr>
          <p:cNvPr id="13" name="TextBox 12"/>
          <p:cNvSpPr txBox="1"/>
          <p:nvPr/>
        </p:nvSpPr>
        <p:spPr>
          <a:xfrm>
            <a:off x="1399031" y="4106799"/>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326255"/>
            <a:ext cx="9987991" cy="682752"/>
          </a:xfrm>
          <a:prstGeom prst="rect">
            <a:avLst/>
          </a:prstGeom>
          <a:noFill/>
        </p:spPr>
        <p:txBody>
          <a:bodyPr wrap="square" anchor="t" lIns="0" rIns="0" tIns="0" bIns="0">
            <a:spAutoFit/>
          </a:bodyPr>
          <a:lstStyle/>
          <a:p>
            <a:r>
              <a:rPr sz="1500" b="0" i="0">
                <a:solidFill>
                  <a:srgbClr val="1A1440"/>
                </a:solidFill>
                <a:latin typeface="Calibri"/>
              </a:rPr>
              <a:t>Kavya Nair checks the baseline, the denominator, the evidence and a second way to the same number, so a plan needs a move that leads and a move that checks it.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9" name="Oval 1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21" name="Oval 20"/>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9493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Which moves do you own?</a:t>
            </a:r>
          </a:p>
        </p:txBody>
      </p:sp>
      <p:sp>
        <p:nvSpPr>
          <p:cNvPr id="23" name="Oval 2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5" name="Oval 2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7" name="Oval 26"/>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41 / 63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 takes which question?</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How are the groups allocated to the five questions, and what happens where groups share one?</a:t>
            </a:r>
          </a:p>
        </p:txBody>
      </p:sp>
      <p:sp>
        <p:nvSpPr>
          <p:cNvPr id="10" name="Rounded Rectangle 9"/>
          <p:cNvSpPr/>
          <p:nvPr/>
        </p:nvSpPr>
        <p:spPr>
          <a:xfrm>
            <a:off x="731519"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42 / 63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allocation runs after the domain's story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allocation settled, and which questions come on the way?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learner: the question your group takes is the one you defend alone in Thursday's viva and together on Friday or Saturday.</a:t>
            </a:r>
          </a:p>
        </p:txBody>
      </p:sp>
      <p:sp>
        <p:nvSpPr>
          <p:cNvPr id="12" name="Rectangle 11"/>
          <p:cNvSpPr/>
          <p:nvPr/>
        </p:nvSpPr>
        <p:spPr>
          <a:xfrm>
            <a:off x="2324557" y="3496056"/>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222397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3259226" cy="251205"/>
          </a:xfrm>
          <a:prstGeom prst="rect">
            <a:avLst/>
          </a:prstGeom>
          <a:noFill/>
        </p:spPr>
        <p:txBody>
          <a:bodyPr wrap="square" anchor="t" lIns="0" rIns="0" tIns="0" bIns="0">
            <a:spAutoFit/>
          </a:bodyPr>
          <a:lstStyle/>
          <a:p>
            <a:pPr algn="l"/>
            <a:r>
              <a:rPr sz="1300" b="1" i="0">
                <a:solidFill>
                  <a:srgbClr val="1A0F5C"/>
                </a:solidFill>
                <a:latin typeface="Calibri"/>
              </a:rPr>
              <a:t>The groups</a:t>
            </a:r>
          </a:p>
        </p:txBody>
      </p:sp>
      <p:sp>
        <p:nvSpPr>
          <p:cNvPr id="17" name="TextBox 16"/>
          <p:cNvSpPr txBox="1"/>
          <p:nvPr/>
        </p:nvSpPr>
        <p:spPr>
          <a:xfrm>
            <a:off x="694944" y="4250182"/>
            <a:ext cx="3259226" cy="201676"/>
          </a:xfrm>
          <a:prstGeom prst="rect">
            <a:avLst/>
          </a:prstGeom>
          <a:noFill/>
        </p:spPr>
        <p:txBody>
          <a:bodyPr wrap="square" anchor="t" lIns="0" rIns="0" tIns="0" bIns="0">
            <a:spAutoFit/>
          </a:bodyPr>
          <a:lstStyle/>
          <a:p>
            <a:pPr algn="l"/>
            <a:r>
              <a:rPr sz="1000" b="0" i="0">
                <a:solidFill>
                  <a:srgbClr val="6B6690"/>
                </a:solidFill>
                <a:latin typeface="Calibri"/>
              </a:rPr>
              <a:t>How many groups are there, and how big is each?</a:t>
            </a:r>
          </a:p>
        </p:txBody>
      </p:sp>
      <p:sp>
        <p:nvSpPr>
          <p:cNvPr id="18" name="TextBox 17"/>
          <p:cNvSpPr txBox="1"/>
          <p:nvPr/>
        </p:nvSpPr>
        <p:spPr>
          <a:xfrm>
            <a:off x="4301642" y="292912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301642" y="3816096"/>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466234" y="3962400"/>
            <a:ext cx="3259226" cy="251205"/>
          </a:xfrm>
          <a:prstGeom prst="rect">
            <a:avLst/>
          </a:prstGeom>
          <a:noFill/>
        </p:spPr>
        <p:txBody>
          <a:bodyPr wrap="square" anchor="t" lIns="0" rIns="0" tIns="0" bIns="0">
            <a:spAutoFit/>
          </a:bodyPr>
          <a:lstStyle/>
          <a:p>
            <a:pPr algn="l"/>
            <a:r>
              <a:rPr sz="1300" b="1" i="0">
                <a:solidFill>
                  <a:srgbClr val="1A0F5C"/>
                </a:solidFill>
                <a:latin typeface="Calibri"/>
              </a:rPr>
              <a:t>The allocation</a:t>
            </a:r>
          </a:p>
        </p:txBody>
      </p:sp>
      <p:sp>
        <p:nvSpPr>
          <p:cNvPr id="22" name="TextBox 21"/>
          <p:cNvSpPr txBox="1"/>
          <p:nvPr/>
        </p:nvSpPr>
        <p:spPr>
          <a:xfrm>
            <a:off x="4466234" y="4250182"/>
            <a:ext cx="3259226" cy="201676"/>
          </a:xfrm>
          <a:prstGeom prst="rect">
            <a:avLst/>
          </a:prstGeom>
          <a:noFill/>
        </p:spPr>
        <p:txBody>
          <a:bodyPr wrap="square" anchor="t" lIns="0" rIns="0" tIns="0" bIns="0">
            <a:spAutoFit/>
          </a:bodyPr>
          <a:lstStyle/>
          <a:p>
            <a:pPr algn="l"/>
            <a:r>
              <a:rPr sz="1000" b="0" i="0">
                <a:solidFill>
                  <a:srgbClr val="6B6690"/>
                </a:solidFill>
                <a:latin typeface="Calibri"/>
              </a:rPr>
              <a:t>How does the allocation run in its 30 minutes?</a:t>
            </a:r>
          </a:p>
        </p:txBody>
      </p:sp>
      <p:sp>
        <p:nvSpPr>
          <p:cNvPr id="23" name="TextBox 22"/>
          <p:cNvSpPr txBox="1"/>
          <p:nvPr/>
        </p:nvSpPr>
        <p:spPr>
          <a:xfrm>
            <a:off x="8072932" y="2929128"/>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9766554"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072932" y="3816096"/>
            <a:ext cx="3588410"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37524" y="3962400"/>
            <a:ext cx="3259226" cy="251205"/>
          </a:xfrm>
          <a:prstGeom prst="rect">
            <a:avLst/>
          </a:prstGeom>
          <a:noFill/>
        </p:spPr>
        <p:txBody>
          <a:bodyPr wrap="square" anchor="t" lIns="0" rIns="0" tIns="0" bIns="0">
            <a:spAutoFit/>
          </a:bodyPr>
          <a:lstStyle/>
          <a:p>
            <a:pPr algn="l"/>
            <a:r>
              <a:rPr sz="1300" b="1" i="0">
                <a:solidFill>
                  <a:srgbClr val="FFFFFF"/>
                </a:solidFill>
                <a:latin typeface="Calibri"/>
              </a:rPr>
              <a:t>Shared questions</a:t>
            </a:r>
          </a:p>
        </p:txBody>
      </p:sp>
      <p:sp>
        <p:nvSpPr>
          <p:cNvPr id="27" name="TextBox 26"/>
          <p:cNvSpPr txBox="1"/>
          <p:nvPr/>
        </p:nvSpPr>
        <p:spPr>
          <a:xfrm>
            <a:off x="8237524" y="4250182"/>
            <a:ext cx="3259226" cy="366776"/>
          </a:xfrm>
          <a:prstGeom prst="rect">
            <a:avLst/>
          </a:prstGeom>
          <a:noFill/>
        </p:spPr>
        <p:txBody>
          <a:bodyPr wrap="square" anchor="t" lIns="0" rIns="0" tIns="0" bIns="0">
            <a:spAutoFit/>
          </a:bodyPr>
          <a:lstStyle/>
          <a:p>
            <a:pPr algn="l"/>
            <a:r>
              <a:rPr sz="1000" b="0" i="0">
                <a:solidFill>
                  <a:srgbClr val="CFC9EE"/>
                </a:solidFill>
                <a:latin typeface="Calibri"/>
              </a:rPr>
              <a:t>What happens where two or three groups take the same question?</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0" name="Oval 2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2" name="Oval 3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4" name="Oval 33"/>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6" name="Oval 35"/>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Who takes which question?</a:t>
            </a:r>
          </a:p>
        </p:txBody>
      </p:sp>
      <p:sp>
        <p:nvSpPr>
          <p:cNvPr id="38" name="Oval 37"/>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0" name="Oval 39"/>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43 / 63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plan is nine groups for five questions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groups are there, and how big is each?</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35</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LEARNERS</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the plan for this cohort</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9</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GROUPS</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the plan: eight of four, one of three</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QUESTIONS</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each with its own brief</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10</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FILES</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every group holds all of them</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group of three carries the same brief as a group of four, and narrows its scope sentence where it must.</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28" name="Oval 2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0" name="Oval 2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2" name="Oval 31"/>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4" name="Oval 33"/>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Who takes which question?</a:t>
            </a:r>
          </a:p>
        </p:txBody>
      </p:sp>
      <p:sp>
        <p:nvSpPr>
          <p:cNvPr id="36" name="Oval 35"/>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38" name="Oval 37"/>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44 / 63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Programme Head allocates, then briefs are 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allocation run in its 30 minutes?</a:t>
            </a:r>
          </a:p>
        </p:txBody>
      </p:sp>
      <p:sp>
        <p:nvSpPr>
          <p:cNvPr id="9" name="Rectangle 8"/>
          <p:cNvSpPr/>
          <p:nvPr/>
        </p:nvSpPr>
        <p:spPr>
          <a:xfrm>
            <a:off x="2324557" y="2523744"/>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1" name="Oval 10"/>
          <p:cNvSpPr/>
          <p:nvPr/>
        </p:nvSpPr>
        <p:spPr>
          <a:xfrm>
            <a:off x="222397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Groups confirmed</a:t>
            </a:r>
          </a:p>
        </p:txBody>
      </p:sp>
      <p:sp>
        <p:nvSpPr>
          <p:cNvPr id="14" name="TextBox 13"/>
          <p:cNvSpPr txBox="1"/>
          <p:nvPr/>
        </p:nvSpPr>
        <p:spPr>
          <a:xfrm>
            <a:off x="694944" y="3277870"/>
            <a:ext cx="3259226" cy="201676"/>
          </a:xfrm>
          <a:prstGeom prst="rect">
            <a:avLst/>
          </a:prstGeom>
          <a:noFill/>
        </p:spPr>
        <p:txBody>
          <a:bodyPr wrap="square" anchor="t" lIns="0" rIns="0" tIns="0" bIns="0">
            <a:spAutoFit/>
          </a:bodyPr>
          <a:lstStyle/>
          <a:p>
            <a:pPr algn="l"/>
            <a:r>
              <a:rPr sz="1000" b="0" i="0">
                <a:solidFill>
                  <a:srgbClr val="6B6690"/>
                </a:solidFill>
                <a:latin typeface="Calibri"/>
              </a:rPr>
              <a:t>Every learner knows their group and its members.</a:t>
            </a:r>
          </a:p>
        </p:txBody>
      </p:sp>
      <p:sp>
        <p:nvSpPr>
          <p:cNvPr id="15" name="TextBox 14"/>
          <p:cNvSpPr txBox="1"/>
          <p:nvPr/>
        </p:nvSpPr>
        <p:spPr>
          <a:xfrm>
            <a:off x="430164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6" name="Oval 1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0164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623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The allocation</a:t>
            </a:r>
          </a:p>
        </p:txBody>
      </p:sp>
      <p:sp>
        <p:nvSpPr>
          <p:cNvPr id="19" name="TextBox 18"/>
          <p:cNvSpPr txBox="1"/>
          <p:nvPr/>
        </p:nvSpPr>
        <p:spPr>
          <a:xfrm>
            <a:off x="446623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The Programme Head allocates the five questions to the groups.</a:t>
            </a:r>
          </a:p>
        </p:txBody>
      </p:sp>
      <p:sp>
        <p:nvSpPr>
          <p:cNvPr id="20" name="TextBox 19"/>
          <p:cNvSpPr txBox="1"/>
          <p:nvPr/>
        </p:nvSpPr>
        <p:spPr>
          <a:xfrm>
            <a:off x="807293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1" name="Oval 20"/>
          <p:cNvSpPr/>
          <p:nvPr/>
        </p:nvSpPr>
        <p:spPr>
          <a:xfrm>
            <a:off x="9766554"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072932" y="2843784"/>
            <a:ext cx="3588410"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37524" y="2990088"/>
            <a:ext cx="3259226" cy="251205"/>
          </a:xfrm>
          <a:prstGeom prst="rect">
            <a:avLst/>
          </a:prstGeom>
          <a:noFill/>
        </p:spPr>
        <p:txBody>
          <a:bodyPr wrap="square" anchor="t" lIns="0" rIns="0" tIns="0" bIns="0">
            <a:spAutoFit/>
          </a:bodyPr>
          <a:lstStyle/>
          <a:p>
            <a:pPr algn="l"/>
            <a:r>
              <a:rPr sz="1300" b="1" i="0">
                <a:solidFill>
                  <a:srgbClr val="FFFFFF"/>
                </a:solidFill>
                <a:latin typeface="Calibri"/>
              </a:rPr>
              <a:t>The brief</a:t>
            </a:r>
          </a:p>
        </p:txBody>
      </p:sp>
      <p:sp>
        <p:nvSpPr>
          <p:cNvPr id="24" name="TextBox 23"/>
          <p:cNvSpPr txBox="1"/>
          <p:nvPr/>
        </p:nvSpPr>
        <p:spPr>
          <a:xfrm>
            <a:off x="8237524" y="3277870"/>
            <a:ext cx="3259226" cy="366776"/>
          </a:xfrm>
          <a:prstGeom prst="rect">
            <a:avLst/>
          </a:prstGeom>
          <a:noFill/>
        </p:spPr>
        <p:txBody>
          <a:bodyPr wrap="square" anchor="t" lIns="0" rIns="0" tIns="0" bIns="0">
            <a:spAutoFit/>
          </a:bodyPr>
          <a:lstStyle/>
          <a:p>
            <a:pPr algn="l"/>
            <a:r>
              <a:rPr sz="1000" b="0" i="0">
                <a:solidFill>
                  <a:srgbClr val="CFC9EE"/>
                </a:solidFill>
                <a:latin typeface="Calibri"/>
              </a:rPr>
              <a:t>Each group reads its own brief and opens the translation worksheet.</a:t>
            </a:r>
          </a:p>
        </p:txBody>
      </p:sp>
      <p:sp>
        <p:nvSpPr>
          <p:cNvPr id="25" name="TextBox 24"/>
          <p:cNvSpPr txBox="1"/>
          <p:nvPr/>
        </p:nvSpPr>
        <p:spPr>
          <a:xfrm>
            <a:off x="530352" y="41036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allocation is settled in these 30 minutes and not before, so no group starts on a question it may not hold.</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28" name="Oval 2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0" name="Oval 2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2" name="Oval 31"/>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4" name="Oval 33"/>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Who takes which question?</a:t>
            </a:r>
          </a:p>
        </p:txBody>
      </p:sp>
      <p:sp>
        <p:nvSpPr>
          <p:cNvPr id="36" name="Oval 35"/>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38" name="Oval 37"/>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45 / 63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groups share a question, the panel hears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where two or three groups take the same question?</a:t>
            </a:r>
          </a:p>
        </p:txBody>
      </p:sp>
      <p:pic>
        <p:nvPicPr>
          <p:cNvPr id="9" name="mermaid diagram" descr="8dc3dc69d7577e88.png"/>
          <p:cNvPicPr>
            <a:picLocks noChangeAspect="1"/>
          </p:cNvPicPr>
          <p:nvPr/>
        </p:nvPicPr>
        <p:blipFill>
          <a:blip r:embed="rId5"/>
          <a:stretch>
            <a:fillRect/>
          </a:stretch>
        </p:blipFill>
        <p:spPr>
          <a:xfrm>
            <a:off x="780897" y="1956816"/>
            <a:ext cx="10629900" cy="3043237"/>
          </a:xfrm>
          <a:prstGeom prst="rect">
            <a:avLst/>
          </a:prstGeom>
        </p:spPr>
      </p:pic>
      <p:sp>
        <p:nvSpPr>
          <p:cNvPr id="10" name="TextBox 9"/>
          <p:cNvSpPr txBox="1"/>
          <p:nvPr/>
        </p:nvSpPr>
        <p:spPr>
          <a:xfrm>
            <a:off x="530352" y="5146357"/>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same data supports more than one honest answer, so groups on the same question may talk about the domain and keep their mappings to themselves until the panel.</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46 / 63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today's work?</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How does a group turn its question into a plan by the close, and what goes in its logs?</a:t>
            </a:r>
          </a:p>
        </p:txBody>
      </p:sp>
      <p:sp>
        <p:nvSpPr>
          <p:cNvPr id="10" name="Rounded Rectangle 9"/>
          <p:cNvSpPr/>
          <p:nvPr/>
        </p:nvSpPr>
        <p:spPr>
          <a:xfrm>
            <a:off x="731519"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47 / 63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Today ends on a pinned scope and entry 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each group's plan by tonight, and which questions come on the way?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Your group on Wednesday: the checkpoint opens the day with three questions, and a group with no pinned scope spends the build week deciding what to build.</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day</a:t>
            </a:r>
          </a:p>
        </p:txBody>
      </p:sp>
      <p:sp>
        <p:nvSpPr>
          <p:cNvPr id="17" name="TextBox 16"/>
          <p:cNvSpPr txBox="1"/>
          <p:nvPr/>
        </p:nvSpPr>
        <p:spPr>
          <a:xfrm>
            <a:off x="69494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How do today's two blocks run?</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worksheet</a:t>
            </a:r>
          </a:p>
        </p:txBody>
      </p:sp>
      <p:sp>
        <p:nvSpPr>
          <p:cNvPr id="22" name="TextBox 21"/>
          <p:cNvSpPr txBox="1"/>
          <p:nvPr/>
        </p:nvSpPr>
        <p:spPr>
          <a:xfrm>
            <a:off x="2580589"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are the six parts of the translation?</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words</a:t>
            </a:r>
          </a:p>
        </p:txBody>
      </p:sp>
      <p:sp>
        <p:nvSpPr>
          <p:cNvPr id="27" name="TextBox 26"/>
          <p:cNvSpPr txBox="1"/>
          <p:nvPr/>
        </p:nvSpPr>
        <p:spPr>
          <a:xfrm>
            <a:off x="446623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Which words map, and where does the map break?</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logs</a:t>
            </a:r>
          </a:p>
        </p:txBody>
      </p:sp>
      <p:sp>
        <p:nvSpPr>
          <p:cNvPr id="32" name="TextBox 31"/>
          <p:cNvSpPr txBox="1"/>
          <p:nvPr/>
        </p:nvSpPr>
        <p:spPr>
          <a:xfrm>
            <a:off x="6351879"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goes in the challenges log, and why today?</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checks</a:t>
            </a:r>
          </a:p>
        </p:txBody>
      </p:sp>
      <p:sp>
        <p:nvSpPr>
          <p:cNvPr id="37" name="TextBox 36"/>
          <p:cNvSpPr txBox="1"/>
          <p:nvPr/>
        </p:nvSpPr>
        <p:spPr>
          <a:xfrm>
            <a:off x="823752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do Kavya's four checks ask of a plan?</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FFFFFF"/>
                </a:solidFill>
                <a:latin typeface="Calibri"/>
              </a:rPr>
              <a:t>The scope</a:t>
            </a:r>
          </a:p>
        </p:txBody>
      </p:sp>
      <p:sp>
        <p:nvSpPr>
          <p:cNvPr id="42" name="TextBox 41"/>
          <p:cNvSpPr txBox="1"/>
          <p:nvPr/>
        </p:nvSpPr>
        <p:spPr>
          <a:xfrm>
            <a:off x="10123170" y="4250182"/>
            <a:ext cx="1373581" cy="366776"/>
          </a:xfrm>
          <a:prstGeom prst="rect">
            <a:avLst/>
          </a:prstGeom>
          <a:noFill/>
        </p:spPr>
        <p:txBody>
          <a:bodyPr wrap="square" anchor="t" lIns="0" rIns="0" tIns="0" bIns="0">
            <a:spAutoFit/>
          </a:bodyPr>
          <a:lstStyle/>
          <a:p>
            <a:pPr algn="l"/>
            <a:r>
              <a:rPr sz="1000" b="0" i="0">
                <a:solidFill>
                  <a:srgbClr val="CFC9EE"/>
                </a:solidFill>
                <a:latin typeface="Calibri"/>
              </a:rPr>
              <a:t>What does a pinned scope sentence say?</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45" name="Oval 4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47" name="Oval 4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9" name="Oval 4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51" name="Oval 5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53" name="Oval 52"/>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55" name="Oval 54"/>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57" name="TextBox 5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48 / 63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blocks: listen and choose, then translate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today's two blocks of 180 minutes run?</a:t>
            </a:r>
          </a:p>
        </p:txBody>
      </p:sp>
      <p:pic>
        <p:nvPicPr>
          <p:cNvPr id="9" name="mermaid diagram" descr="b634287ae5740c00.png"/>
          <p:cNvPicPr>
            <a:picLocks noChangeAspect="1"/>
          </p:cNvPicPr>
          <p:nvPr/>
        </p:nvPicPr>
        <p:blipFill>
          <a:blip r:embed="rId5"/>
          <a:stretch>
            <a:fillRect/>
          </a:stretch>
        </p:blipFill>
        <p:spPr>
          <a:xfrm>
            <a:off x="585996" y="1664208"/>
            <a:ext cx="11019702"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After the second block the time is open build time with the TAs; there is no practice set, quiz or test this week.</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49 / 63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worksheet asks six questions in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are the six parts of the translation worksheet?</a:t>
            </a:r>
          </a:p>
        </p:txBody>
      </p:sp>
      <p:sp>
        <p:nvSpPr>
          <p:cNvPr id="9" name="Rectangle 8"/>
          <p:cNvSpPr/>
          <p:nvPr/>
        </p:nvSpPr>
        <p:spPr>
          <a:xfrm>
            <a:off x="1381734" y="2523744"/>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1" name="Oval 10"/>
          <p:cNvSpPr/>
          <p:nvPr/>
        </p:nvSpPr>
        <p:spPr>
          <a:xfrm>
            <a:off x="1281150"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The ask</a:t>
            </a:r>
          </a:p>
        </p:txBody>
      </p:sp>
      <p:sp>
        <p:nvSpPr>
          <p:cNvPr id="14" name="TextBox 13"/>
          <p:cNvSpPr txBox="1"/>
          <p:nvPr/>
        </p:nvSpPr>
        <p:spPr>
          <a:xfrm>
            <a:off x="694944"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What exactly is your stakeholder asking, as a question a dataset can answer?</a:t>
            </a:r>
          </a:p>
        </p:txBody>
      </p:sp>
      <p:sp>
        <p:nvSpPr>
          <p:cNvPr id="15" name="TextBox 14"/>
          <p:cNvSpPr txBox="1"/>
          <p:nvPr/>
        </p:nvSpPr>
        <p:spPr>
          <a:xfrm>
            <a:off x="241599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6" name="Oval 15"/>
          <p:cNvSpPr/>
          <p:nvPr/>
        </p:nvSpPr>
        <p:spPr>
          <a:xfrm>
            <a:off x="316679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415997"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80589"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The move</a:t>
            </a:r>
          </a:p>
        </p:txBody>
      </p:sp>
      <p:sp>
        <p:nvSpPr>
          <p:cNvPr id="19" name="TextBox 18"/>
          <p:cNvSpPr txBox="1"/>
          <p:nvPr/>
        </p:nvSpPr>
        <p:spPr>
          <a:xfrm>
            <a:off x="2580589" y="3277870"/>
            <a:ext cx="1373581" cy="862076"/>
          </a:xfrm>
          <a:prstGeom prst="rect">
            <a:avLst/>
          </a:prstGeom>
          <a:noFill/>
        </p:spPr>
        <p:txBody>
          <a:bodyPr wrap="square" anchor="t" lIns="0" rIns="0" tIns="0" bIns="0">
            <a:spAutoFit/>
          </a:bodyPr>
          <a:lstStyle/>
          <a:p>
            <a:pPr algn="l"/>
            <a:r>
              <a:rPr sz="1000" b="0" i="0">
                <a:solidFill>
                  <a:srgbClr val="6B6690"/>
                </a:solidFill>
                <a:latin typeface="Calibri"/>
              </a:rPr>
              <a:t>Which move from Weeks 1 and 2 leads, which checks it, and what would make you switch?</a:t>
            </a:r>
          </a:p>
        </p:txBody>
      </p:sp>
      <p:sp>
        <p:nvSpPr>
          <p:cNvPr id="20" name="TextBox 19"/>
          <p:cNvSpPr txBox="1"/>
          <p:nvPr/>
        </p:nvSpPr>
        <p:spPr>
          <a:xfrm>
            <a:off x="430164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1" name="Oval 20"/>
          <p:cNvSpPr/>
          <p:nvPr/>
        </p:nvSpPr>
        <p:spPr>
          <a:xfrm>
            <a:off x="505244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301642"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6623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The words</a:t>
            </a:r>
          </a:p>
        </p:txBody>
      </p:sp>
      <p:sp>
        <p:nvSpPr>
          <p:cNvPr id="24" name="TextBox 23"/>
          <p:cNvSpPr txBox="1"/>
          <p:nvPr/>
        </p:nvSpPr>
        <p:spPr>
          <a:xfrm>
            <a:off x="4466234"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Which Kalpa Health words map onto Kalpa Retail's, and where does the map break?</a:t>
            </a:r>
          </a:p>
        </p:txBody>
      </p:sp>
      <p:sp>
        <p:nvSpPr>
          <p:cNvPr id="25" name="TextBox 24"/>
          <p:cNvSpPr txBox="1"/>
          <p:nvPr/>
        </p:nvSpPr>
        <p:spPr>
          <a:xfrm>
            <a:off x="618728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6" name="Oval 25"/>
          <p:cNvSpPr/>
          <p:nvPr/>
        </p:nvSpPr>
        <p:spPr>
          <a:xfrm>
            <a:off x="693808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187287"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51879"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Three moves</a:t>
            </a:r>
          </a:p>
        </p:txBody>
      </p:sp>
      <p:sp>
        <p:nvSpPr>
          <p:cNvPr id="29" name="TextBox 28"/>
          <p:cNvSpPr txBox="1"/>
          <p:nvPr/>
        </p:nvSpPr>
        <p:spPr>
          <a:xfrm>
            <a:off x="6351879"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Which file, which count, and what result would change the plan?</a:t>
            </a:r>
          </a:p>
        </p:txBody>
      </p:sp>
      <p:sp>
        <p:nvSpPr>
          <p:cNvPr id="30" name="TextBox 29"/>
          <p:cNvSpPr txBox="1"/>
          <p:nvPr/>
        </p:nvSpPr>
        <p:spPr>
          <a:xfrm>
            <a:off x="807293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1" name="Oval 30"/>
          <p:cNvSpPr/>
          <p:nvPr/>
        </p:nvSpPr>
        <p:spPr>
          <a:xfrm>
            <a:off x="882373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072932"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3752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The stakes</a:t>
            </a:r>
          </a:p>
        </p:txBody>
      </p:sp>
      <p:sp>
        <p:nvSpPr>
          <p:cNvPr id="34" name="TextBox 33"/>
          <p:cNvSpPr txBox="1"/>
          <p:nvPr/>
        </p:nvSpPr>
        <p:spPr>
          <a:xfrm>
            <a:off x="8237524" y="3277870"/>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does a wrong answer cost, and to whom?</a:t>
            </a:r>
          </a:p>
        </p:txBody>
      </p:sp>
      <p:sp>
        <p:nvSpPr>
          <p:cNvPr id="35" name="TextBox 34"/>
          <p:cNvSpPr txBox="1"/>
          <p:nvPr/>
        </p:nvSpPr>
        <p:spPr>
          <a:xfrm>
            <a:off x="9958578"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PART 6</a:t>
            </a:r>
          </a:p>
        </p:txBody>
      </p:sp>
      <p:sp>
        <p:nvSpPr>
          <p:cNvPr id="36" name="Oval 35"/>
          <p:cNvSpPr/>
          <p:nvPr/>
        </p:nvSpPr>
        <p:spPr>
          <a:xfrm>
            <a:off x="10709376"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958578" y="2843784"/>
            <a:ext cx="1702765" cy="15951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123170" y="2990088"/>
            <a:ext cx="1373581" cy="251205"/>
          </a:xfrm>
          <a:prstGeom prst="rect">
            <a:avLst/>
          </a:prstGeom>
          <a:noFill/>
        </p:spPr>
        <p:txBody>
          <a:bodyPr wrap="square" anchor="t" lIns="0" rIns="0" tIns="0" bIns="0">
            <a:spAutoFit/>
          </a:bodyPr>
          <a:lstStyle/>
          <a:p>
            <a:pPr algn="l"/>
            <a:r>
              <a:rPr sz="1300" b="1" i="0">
                <a:solidFill>
                  <a:srgbClr val="FFFFFF"/>
                </a:solidFill>
                <a:latin typeface="Calibri"/>
              </a:rPr>
              <a:t>The scope</a:t>
            </a:r>
          </a:p>
        </p:txBody>
      </p:sp>
      <p:sp>
        <p:nvSpPr>
          <p:cNvPr id="39" name="TextBox 38"/>
          <p:cNvSpPr txBox="1"/>
          <p:nvPr/>
        </p:nvSpPr>
        <p:spPr>
          <a:xfrm>
            <a:off x="10123170" y="3277870"/>
            <a:ext cx="1373581" cy="531876"/>
          </a:xfrm>
          <a:prstGeom prst="rect">
            <a:avLst/>
          </a:prstGeom>
          <a:noFill/>
        </p:spPr>
        <p:txBody>
          <a:bodyPr wrap="square" anchor="t" lIns="0" rIns="0" tIns="0" bIns="0">
            <a:spAutoFit/>
          </a:bodyPr>
          <a:lstStyle/>
          <a:p>
            <a:pPr algn="l"/>
            <a:r>
              <a:rPr sz="1000" b="0" i="0">
                <a:solidFill>
                  <a:srgbClr val="CFC9EE"/>
                </a:solidFill>
                <a:latin typeface="Calibri"/>
              </a:rPr>
              <a:t>What will you do this week, and what will you not do?</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42" name="Oval 4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44" name="Oval 4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6" name="Oval 4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8" name="Oval 4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50" name="Oval 49"/>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52" name="Oval 51"/>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54" name="TextBox 5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50 / 63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pairs start the map, and each group adds five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words map from Kalpa Retail to Kalpa Health, and where does the map break?</a:t>
            </a:r>
          </a:p>
        </p:txBody>
      </p:sp>
      <p:graphicFrame>
        <p:nvGraphicFramePr>
          <p:cNvPr id="9" name="Table 8"/>
          <p:cNvGraphicFramePr>
            <a:graphicFrameLocks noGrp="1"/>
          </p:cNvGraphicFramePr>
          <p:nvPr/>
        </p:nvGraphicFramePr>
        <p:xfrm>
          <a:off x="530352" y="1956816"/>
          <a:ext cx="11130989" cy="1849120"/>
        </p:xfrm>
        <a:graphic>
          <a:graphicData uri="http://schemas.openxmlformats.org/drawingml/2006/table">
            <a:tbl>
              <a:tblPr firstRow="0" bandRow="0">
                <a:tableStyleId>{2D5ABB26-0587-4C30-8999-92F81FD0307C}</a:tableStyleId>
              </a:tblPr>
              <a:tblGrid>
                <a:gridCol w="2666165"/>
                <a:gridCol w="3676647"/>
                <a:gridCol w="4788177"/>
              </a:tblGrid>
              <a:tr h="369824">
                <a:tc>
                  <a:txBody>
                    <a:bodyPr/>
                    <a:lstStyle/>
                    <a:p>
                      <a:r>
                        <a:rPr sz="1450" b="1" i="0">
                          <a:solidFill>
                            <a:srgbClr val="FFFFFF"/>
                          </a:solidFill>
                          <a:latin typeface="Calibri"/>
                        </a:rPr>
                        <a:t>Kalpa Retail</a:t>
                      </a:r>
                    </a:p>
                  </a:txBody>
                  <a:tcPr marL="101600" marR="101600" marT="38100" marB="38100" anchor="ctr">
                    <a:solidFill>
                      <a:srgbClr val="1A0F5C"/>
                    </a:solidFill>
                  </a:tcPr>
                </a:tc>
                <a:tc>
                  <a:txBody>
                    <a:bodyPr/>
                    <a:lstStyle/>
                    <a:p>
                      <a:r>
                        <a:rPr sz="1450" b="1" i="0">
                          <a:solidFill>
                            <a:srgbClr val="FFFFFF"/>
                          </a:solidFill>
                          <a:latin typeface="Calibri"/>
                        </a:rPr>
                        <a:t>Kalpa Health</a:t>
                      </a:r>
                    </a:p>
                  </a:txBody>
                  <a:tcPr marL="101600" marR="101600" marT="38100" marB="38100" anchor="ctr">
                    <a:solidFill>
                      <a:srgbClr val="1A0F5C"/>
                    </a:solidFill>
                  </a:tcPr>
                </a:tc>
                <a:tc>
                  <a:txBody>
                    <a:bodyPr/>
                    <a:lstStyle/>
                    <a:p>
                      <a:r>
                        <a:rPr sz="1450" b="1" i="0">
                          <a:solidFill>
                            <a:srgbClr val="FFFFFF"/>
                          </a:solidFill>
                          <a:latin typeface="Calibri"/>
                        </a:rPr>
                        <a:t>What a group writes beside it</a:t>
                      </a:r>
                    </a:p>
                  </a:txBody>
                  <a:tcPr marL="101600" marR="101600" marT="38100" marB="38100" anchor="ctr">
                    <a:solidFill>
                      <a:srgbClr val="1A0F5C"/>
                    </a:solidFill>
                  </a:tcPr>
                </a:tc>
              </a:tr>
              <a:tr h="369824">
                <a:tc>
                  <a:txBody>
                    <a:bodyPr/>
                    <a:lstStyle/>
                    <a:p>
                      <a:r>
                        <a:rPr sz="1400" b="0" i="0">
                          <a:solidFill>
                            <a:srgbClr val="1A1440"/>
                          </a:solidFill>
                          <a:latin typeface="Calibri"/>
                        </a:rPr>
                        <a:t>An order</a:t>
                      </a:r>
                    </a:p>
                  </a:txBody>
                  <a:tcPr marL="101600" marR="101600" marT="38100" marB="38100" anchor="ctr">
                    <a:solidFill>
                      <a:srgbClr val="FFFFFF"/>
                    </a:solidFill>
                  </a:tcPr>
                </a:tc>
                <a:tc>
                  <a:txBody>
                    <a:bodyPr/>
                    <a:lstStyle/>
                    <a:p>
                      <a:r>
                        <a:rPr sz="1400" b="0" i="0">
                          <a:solidFill>
                            <a:srgbClr val="1A1440"/>
                          </a:solidFill>
                          <a:latin typeface="Calibri"/>
                        </a:rPr>
                        <a:t>A booking</a:t>
                      </a:r>
                    </a:p>
                  </a:txBody>
                  <a:tcPr marL="101600" marR="101600" marT="38100" marB="38100" anchor="ctr">
                    <a:solidFill>
                      <a:srgbClr val="FFFFFF"/>
                    </a:solidFill>
                  </a:tcPr>
                </a:tc>
                <a:tc>
                  <a:txBody>
                    <a:bodyPr/>
                    <a:lstStyle/>
                    <a:p>
                      <a:r>
                        <a:rPr sz="1400" b="0" i="0">
                          <a:solidFill>
                            <a:srgbClr val="1A1440"/>
                          </a:solidFill>
                          <a:latin typeface="Calibri"/>
                        </a:rPr>
                        <a:t>Where it lives in the files, and what differs</a:t>
                      </a:r>
                    </a:p>
                  </a:txBody>
                  <a:tcPr marL="101600" marR="101600" marT="38100" marB="38100" anchor="ctr">
                    <a:solidFill>
                      <a:srgbClr val="FFFFFF"/>
                    </a:solidFill>
                  </a:tcPr>
                </a:tc>
              </a:tr>
              <a:tr h="369824">
                <a:tc>
                  <a:txBody>
                    <a:bodyPr/>
                    <a:lstStyle/>
                    <a:p>
                      <a:r>
                        <a:rPr sz="1400" b="0" i="0">
                          <a:solidFill>
                            <a:srgbClr val="1A1440"/>
                          </a:solidFill>
                          <a:latin typeface="Calibri"/>
                        </a:rPr>
                        <a:t>An item</a:t>
                      </a:r>
                    </a:p>
                  </a:txBody>
                  <a:tcPr marL="101600" marR="101600" marT="38100" marB="38100" anchor="ctr">
                    <a:solidFill>
                      <a:srgbClr val="F4F2FA"/>
                    </a:solidFill>
                  </a:tcPr>
                </a:tc>
                <a:tc>
                  <a:txBody>
                    <a:bodyPr/>
                    <a:lstStyle/>
                    <a:p>
                      <a:r>
                        <a:rPr sz="1400" b="0" i="0">
                          <a:solidFill>
                            <a:srgbClr val="1A1440"/>
                          </a:solidFill>
                          <a:latin typeface="Calibri"/>
                        </a:rPr>
                        <a:t>A test</a:t>
                      </a:r>
                    </a:p>
                  </a:txBody>
                  <a:tcPr marL="101600" marR="101600" marT="38100" marB="38100" anchor="ctr">
                    <a:solidFill>
                      <a:srgbClr val="F4F2FA"/>
                    </a:solidFill>
                  </a:tcPr>
                </a:tc>
                <a:tc>
                  <a:txBody>
                    <a:bodyPr/>
                    <a:lstStyle/>
                    <a:p>
                      <a:r>
                        <a:rPr sz="1400" b="0" i="0">
                          <a:solidFill>
                            <a:srgbClr val="1A1440"/>
                          </a:solidFill>
                          <a:latin typeface="Calibri"/>
                        </a:rPr>
                        <a:t>Where it lives in the files, and what differs</a:t>
                      </a:r>
                    </a:p>
                  </a:txBody>
                  <a:tcPr marL="101600" marR="101600" marT="38100" marB="38100" anchor="ctr">
                    <a:solidFill>
                      <a:srgbClr val="F4F2FA"/>
                    </a:solidFill>
                  </a:tcPr>
                </a:tc>
              </a:tr>
              <a:tr h="369824">
                <a:tc>
                  <a:txBody>
                    <a:bodyPr/>
                    <a:lstStyle/>
                    <a:p>
                      <a:r>
                        <a:rPr sz="1400" b="0" i="0">
                          <a:solidFill>
                            <a:srgbClr val="1A1440"/>
                          </a:solidFill>
                          <a:latin typeface="Calibri"/>
                        </a:rPr>
                        <a:t>A cancellation</a:t>
                      </a:r>
                    </a:p>
                  </a:txBody>
                  <a:tcPr marL="101600" marR="101600" marT="38100" marB="38100" anchor="ctr">
                    <a:solidFill>
                      <a:srgbClr val="FFFFFF"/>
                    </a:solidFill>
                  </a:tcPr>
                </a:tc>
                <a:tc>
                  <a:txBody>
                    <a:bodyPr/>
                    <a:lstStyle/>
                    <a:p>
                      <a:r>
                        <a:rPr sz="1400" b="0" i="0">
                          <a:solidFill>
                            <a:srgbClr val="1A1440"/>
                          </a:solidFill>
                          <a:latin typeface="Calibri"/>
                        </a:rPr>
                        <a:t>A no-show</a:t>
                      </a:r>
                    </a:p>
                  </a:txBody>
                  <a:tcPr marL="101600" marR="101600" marT="38100" marB="38100" anchor="ctr">
                    <a:solidFill>
                      <a:srgbClr val="FFFFFF"/>
                    </a:solidFill>
                  </a:tcPr>
                </a:tc>
                <a:tc>
                  <a:txBody>
                    <a:bodyPr/>
                    <a:lstStyle/>
                    <a:p>
                      <a:r>
                        <a:rPr sz="1400" b="0" i="0">
                          <a:solidFill>
                            <a:srgbClr val="1A1440"/>
                          </a:solidFill>
                          <a:latin typeface="Calibri"/>
                        </a:rPr>
                        <a:t>Where it lives in the files, and what differs</a:t>
                      </a:r>
                    </a:p>
                  </a:txBody>
                  <a:tcPr marL="101600" marR="101600" marT="38100" marB="38100" anchor="ctr">
                    <a:solidFill>
                      <a:srgbClr val="FFFFFF"/>
                    </a:solidFill>
                  </a:tcPr>
                </a:tc>
              </a:tr>
              <a:tr h="369824">
                <a:tc>
                  <a:txBody>
                    <a:bodyPr/>
                    <a:lstStyle/>
                    <a:p>
                      <a:r>
                        <a:rPr sz="1400" b="0" i="0">
                          <a:solidFill>
                            <a:srgbClr val="1A1440"/>
                          </a:solidFill>
                          <a:latin typeface="Calibri"/>
                        </a:rPr>
                        <a:t>Five or more of your own</a:t>
                      </a:r>
                    </a:p>
                  </a:txBody>
                  <a:tcPr marL="101600" marR="101600" marT="38100" marB="38100" anchor="ctr">
                    <a:solidFill>
                      <a:srgbClr val="F4F2FA"/>
                    </a:solidFill>
                  </a:tcPr>
                </a:tc>
                <a:tc>
                  <a:txBody>
                    <a:bodyPr/>
                    <a:lstStyle/>
                    <a:p>
                      <a:r>
                        <a:rPr sz="1400" b="0" i="0">
                          <a:solidFill>
                            <a:srgbClr val="1A1440"/>
                          </a:solidFill>
                          <a:latin typeface="Calibri"/>
                        </a:rPr>
                        <a:t>From your brief and the dictionary</a:t>
                      </a:r>
                    </a:p>
                  </a:txBody>
                  <a:tcPr marL="101600" marR="101600" marT="38100" marB="38100" anchor="ctr">
                    <a:solidFill>
                      <a:srgbClr val="F4F2FA"/>
                    </a:solidFill>
                  </a:tcPr>
                </a:tc>
                <a:tc>
                  <a:txBody>
                    <a:bodyPr/>
                    <a:lstStyle/>
                    <a:p>
                      <a:r>
                        <a:rPr sz="1400" b="0" i="0">
                          <a:solidFill>
                            <a:srgbClr val="1A1440"/>
                          </a:solidFill>
                          <a:latin typeface="Calibri"/>
                        </a:rPr>
                        <a:t>Including words with no retail twin</a:t>
                      </a:r>
                    </a:p>
                  </a:txBody>
                  <a:tcPr marL="101600" marR="101600" marT="38100" marB="38100" anchor="ctr">
                    <a:solidFill>
                      <a:srgbClr val="F4F2FA"/>
                    </a:solidFill>
                  </a:tcPr>
                </a:tc>
              </a:tr>
            </a:tbl>
          </a:graphicData>
        </a:graphic>
      </p:graphicFrame>
      <p:sp>
        <p:nvSpPr>
          <p:cNvPr id="10" name="TextBox 9"/>
          <p:cNvSpPr txBox="1"/>
          <p:nvPr/>
        </p:nvSpPr>
        <p:spPr>
          <a:xfrm>
            <a:off x="530352" y="40619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Write down how each pair differs, since a word that behaves differently here is the one most likely to be counted wrong.</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23" name="Oval 22"/>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51 / 63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challenges log starts with entry one today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in the challenges log, and why write entry one today?</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ircle-alert_2885187cc141.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STOPPED US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challenge</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One sentence, and where it showed: a file, a column or a step.</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wrench_4c2a87037e05.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WE TRIED</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attempt</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What the group did, including what did not work.</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check_78b4884d2083.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WHAT WE DECIDED</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The decision</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What you chose and why, or that it is still open.</a:t>
            </a:r>
          </a:p>
        </p:txBody>
      </p:sp>
      <p:sp>
        <p:nvSpPr>
          <p:cNvPr id="27" name="TextBox 26"/>
          <p:cNvSpPr txBox="1"/>
          <p:nvPr/>
        </p:nvSpPr>
        <p:spPr>
          <a:xfrm>
            <a:off x="530352" y="410413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Thursday's viva reads this log, and an entry written as it happens holds the detail a viva asks for.</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0" name="Oval 2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2" name="Oval 3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34" name="Oval 33"/>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36" name="Oval 3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38" name="Oval 37"/>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40" name="Oval 39"/>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52 / 63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plan passes four checks before it is pinned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Kavya's four checks ask of a group's plan?</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ruler_ec66f5961a9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CHECK 1</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baseline</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scope sentence names what the number is compared with.</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divide_8fbee41b51cd.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CHECK 2</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denominator</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Every rate in the plan says what it is out of.</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earch-check_efc46fa23a6f.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CHECK 3</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evidence</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Every first move names a file and a count.</a:t>
            </a:r>
          </a:p>
        </p:txBody>
      </p:sp>
      <p:sp>
        <p:nvSpPr>
          <p:cNvPr id="27" name="Rounded Rectangle 26"/>
          <p:cNvSpPr/>
          <p:nvPr/>
        </p:nvSpPr>
        <p:spPr>
          <a:xfrm>
            <a:off x="9015755" y="1956816"/>
            <a:ext cx="2645587"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repeat_22e899fab798.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CHECK 4</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A second way</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CFC9EE"/>
                </a:solidFill>
                <a:latin typeface="Calibri"/>
              </a:rPr>
              <a:t>The headline number can be reached by another route.</a:t>
            </a:r>
          </a:p>
        </p:txBody>
      </p:sp>
      <p:sp>
        <p:nvSpPr>
          <p:cNvPr id="33" name="TextBox 32"/>
          <p:cNvSpPr txBox="1"/>
          <p:nvPr/>
        </p:nvSpPr>
        <p:spPr>
          <a:xfrm>
            <a:off x="530352" y="410413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the peer check, two groups on different questions swap worksheets and run these four checks on each other.</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6" name="Oval 3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8" name="Oval 3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0" name="Oval 39"/>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2" name="Oval 4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4" name="Oval 43"/>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46" name="Oval 45"/>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53 / 63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scope names what you count and what you will not do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pinned scope sentence say?</a:t>
            </a:r>
          </a:p>
        </p:txBody>
      </p:sp>
      <p:sp>
        <p:nvSpPr>
          <p:cNvPr id="9" name="Rounded Rectangle 8"/>
          <p:cNvSpPr/>
          <p:nvPr/>
        </p:nvSpPr>
        <p:spPr>
          <a:xfrm>
            <a:off x="530352" y="1956816"/>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741680"/>
          </a:xfrm>
          <a:prstGeom prst="rect">
            <a:avLst/>
          </a:prstGeom>
          <a:noFill/>
        </p:spPr>
        <p:txBody>
          <a:bodyPr wrap="square" anchor="t" lIns="0" rIns="0" tIns="0" bIns="0">
            <a:spAutoFit/>
          </a:bodyPr>
          <a:lstStyle/>
          <a:p>
            <a:r>
              <a:rPr sz="1600" b="0" i="1">
                <a:solidFill>
                  <a:srgbClr val="1A0F5C"/>
                </a:solidFill>
                <a:latin typeface="Georgia"/>
              </a:rPr>
              <a:t>"We will answer ______ for ______, by counting ______ in ______, and we will not ______."</a:t>
            </a:r>
          </a:p>
          <a:p>
            <a:pPr>
              <a:spcBef>
                <a:spcPts val="400"/>
              </a:spcBef>
            </a:pPr>
            <a:r>
              <a:rPr sz="1000" b="0" i="0">
                <a:solidFill>
                  <a:srgbClr val="6B6690"/>
                </a:solidFill>
                <a:latin typeface="Calibri"/>
              </a:rPr>
              <a:t>The scope sentence each group signs at the close</a:t>
            </a:r>
          </a:p>
        </p:txBody>
      </p:sp>
      <p:sp>
        <p:nvSpPr>
          <p:cNvPr id="11" name="Rounded Rectangle 10"/>
          <p:cNvSpPr/>
          <p:nvPr/>
        </p:nvSpPr>
        <p:spPr>
          <a:xfrm>
            <a:off x="530352" y="2844800"/>
            <a:ext cx="11130991"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04596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shopping-cart_3d6cc98c6b44.png"/>
          <p:cNvPicPr>
            <a:picLocks noChangeAspect="1"/>
          </p:cNvPicPr>
          <p:nvPr/>
        </p:nvPicPr>
        <p:blipFill>
          <a:blip r:embed="rId4"/>
          <a:stretch>
            <a:fillRect/>
          </a:stretch>
        </p:blipFill>
        <p:spPr>
          <a:xfrm>
            <a:off x="841247" y="3155696"/>
            <a:ext cx="237744" cy="237744"/>
          </a:xfrm>
          <a:prstGeom prst="rect">
            <a:avLst/>
          </a:prstGeom>
        </p:spPr>
      </p:pic>
      <p:sp>
        <p:nvSpPr>
          <p:cNvPr id="14" name="TextBox 13"/>
          <p:cNvSpPr txBox="1"/>
          <p:nvPr/>
        </p:nvSpPr>
        <p:spPr>
          <a:xfrm>
            <a:off x="731519" y="3612896"/>
            <a:ext cx="10728655" cy="160401"/>
          </a:xfrm>
          <a:prstGeom prst="rect">
            <a:avLst/>
          </a:prstGeom>
          <a:noFill/>
        </p:spPr>
        <p:txBody>
          <a:bodyPr wrap="square" anchor="t" lIns="0" rIns="0" tIns="0" bIns="0">
            <a:spAutoFit/>
          </a:bodyPr>
          <a:lstStyle/>
          <a:p>
            <a:pPr algn="l"/>
            <a:r>
              <a:rPr sz="750" b="1" i="0" spc="250">
                <a:solidFill>
                  <a:srgbClr val="5B3FD6"/>
                </a:solidFill>
                <a:latin typeface="Calibri"/>
              </a:rPr>
              <a:t>A KALPA RETAIL EXAMPLE</a:t>
            </a:r>
          </a:p>
        </p:txBody>
      </p:sp>
      <p:sp>
        <p:nvSpPr>
          <p:cNvPr id="15" name="TextBox 14"/>
          <p:cNvSpPr txBox="1"/>
          <p:nvPr/>
        </p:nvSpPr>
        <p:spPr>
          <a:xfrm>
            <a:off x="731519" y="3850640"/>
            <a:ext cx="10728655" cy="267716"/>
          </a:xfrm>
          <a:prstGeom prst="rect">
            <a:avLst/>
          </a:prstGeom>
          <a:noFill/>
        </p:spPr>
        <p:txBody>
          <a:bodyPr wrap="square" anchor="t" lIns="0" rIns="0" tIns="0" bIns="0">
            <a:spAutoFit/>
          </a:bodyPr>
          <a:lstStyle/>
          <a:p>
            <a:pPr algn="l"/>
            <a:r>
              <a:rPr sz="1400" b="1" i="0">
                <a:solidFill>
                  <a:srgbClr val="1A0F5C"/>
                </a:solidFill>
                <a:latin typeface="Calibri"/>
              </a:rPr>
              <a:t>Meera's question</a:t>
            </a:r>
          </a:p>
        </p:txBody>
      </p:sp>
      <p:sp>
        <p:nvSpPr>
          <p:cNvPr id="16" name="TextBox 15"/>
          <p:cNvSpPr txBox="1"/>
          <p:nvPr/>
        </p:nvSpPr>
        <p:spPr>
          <a:xfrm>
            <a:off x="731519" y="4191508"/>
            <a:ext cx="10728655" cy="399796"/>
          </a:xfrm>
          <a:prstGeom prst="rect">
            <a:avLst/>
          </a:prstGeom>
          <a:noFill/>
        </p:spPr>
        <p:txBody>
          <a:bodyPr wrap="square" anchor="t" lIns="0" rIns="0" tIns="0" bIns="0">
            <a:spAutoFit/>
          </a:bodyPr>
          <a:lstStyle/>
          <a:p>
            <a:pPr algn="l"/>
            <a:r>
              <a:rPr sz="1100" b="0" i="0">
                <a:solidFill>
                  <a:srgbClr val="6B6690"/>
                </a:solidFill>
                <a:latin typeface="Calibri"/>
              </a:rPr>
              <a:t>We will answer whether acquisition is the short branch for Meera, by counting customers, orders each and order value in the orders file, and we will not forecast next quarter.</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9" name="Oval 1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21" name="Oval 20"/>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23" name="Oval 22"/>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5" name="Oval 24"/>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7" name="Oval 26"/>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is today's work?</a:t>
            </a:r>
          </a:p>
        </p:txBody>
      </p:sp>
      <p:sp>
        <p:nvSpPr>
          <p:cNvPr id="29" name="Oval 28"/>
          <p:cNvSpPr/>
          <p:nvPr/>
        </p:nvSpPr>
        <p:spPr>
          <a:xfrm>
            <a:off x="968606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95795"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When is the week scored?</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54 / 63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When is the week scored?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events are scored this week, on which days, on what criteria, and what happens if a demo fails?</a:t>
            </a:r>
          </a:p>
        </p:txBody>
      </p:sp>
      <p:sp>
        <p:nvSpPr>
          <p:cNvPr id="10" name="Rounded Rectangle 9"/>
          <p:cNvSpPr/>
          <p:nvPr/>
        </p:nvSpPr>
        <p:spPr>
          <a:xfrm>
            <a:off x="731519" y="5074920"/>
            <a:ext cx="1506834"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Dr Menon asking?</a:t>
            </a:r>
          </a:p>
        </p:txBody>
      </p:sp>
      <p:sp>
        <p:nvSpPr>
          <p:cNvPr id="11" name="Rounded Rectangle 10"/>
          <p:cNvSpPr/>
          <p:nvPr/>
        </p:nvSpPr>
        <p:spPr>
          <a:xfrm>
            <a:off x="2348082"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does a US lab earn?</a:t>
            </a:r>
          </a:p>
        </p:txBody>
      </p:sp>
      <p:sp>
        <p:nvSpPr>
          <p:cNvPr id="12" name="Rounded Rectangle 11"/>
          <p:cNvSpPr/>
          <p:nvPr/>
        </p:nvSpPr>
        <p:spPr>
          <a:xfrm>
            <a:off x="3914710"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five questions?</a:t>
            </a:r>
          </a:p>
        </p:txBody>
      </p:sp>
      <p:sp>
        <p:nvSpPr>
          <p:cNvPr id="13" name="Rounded Rectangle 12"/>
          <p:cNvSpPr/>
          <p:nvPr/>
        </p:nvSpPr>
        <p:spPr>
          <a:xfrm>
            <a:off x="5381471" y="5074920"/>
            <a:ext cx="145690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moves do you own?</a:t>
            </a:r>
          </a:p>
        </p:txBody>
      </p:sp>
      <p:sp>
        <p:nvSpPr>
          <p:cNvPr id="14" name="Rounded Rectangle 13"/>
          <p:cNvSpPr/>
          <p:nvPr/>
        </p:nvSpPr>
        <p:spPr>
          <a:xfrm>
            <a:off x="6948100" y="5074920"/>
            <a:ext cx="15567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takes which question?</a:t>
            </a:r>
          </a:p>
        </p:txBody>
      </p:sp>
      <p:sp>
        <p:nvSpPr>
          <p:cNvPr id="15" name="Rounded Rectangle 14"/>
          <p:cNvSpPr/>
          <p:nvPr/>
        </p:nvSpPr>
        <p:spPr>
          <a:xfrm>
            <a:off x="8614595" y="5074920"/>
            <a:ext cx="135703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today's work?</a:t>
            </a:r>
          </a:p>
        </p:txBody>
      </p:sp>
      <p:sp>
        <p:nvSpPr>
          <p:cNvPr id="16" name="Rounded Rectangle 15"/>
          <p:cNvSpPr/>
          <p:nvPr/>
        </p:nvSpPr>
        <p:spPr>
          <a:xfrm>
            <a:off x="10081357" y="5074920"/>
            <a:ext cx="1506834"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When is the week scored?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Day 1. Which branch of Kalpa Health is short?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55 / 63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scored events, each on its own 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week's scoring today, and which questions come on the way?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learner: the mock and the group discussion score you alone, and the presentation scores every member on the caveat, so nobody can leave the understanding to a teammate.</a:t>
            </a:r>
          </a:p>
        </p:txBody>
      </p:sp>
      <p:sp>
        <p:nvSpPr>
          <p:cNvPr id="12" name="Rectangle 11"/>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week</a:t>
            </a:r>
          </a:p>
        </p:txBody>
      </p:sp>
      <p:sp>
        <p:nvSpPr>
          <p:cNvPr id="17" name="TextBox 16"/>
          <p:cNvSpPr txBox="1"/>
          <p:nvPr/>
        </p:nvSpPr>
        <p:spPr>
          <a:xfrm>
            <a:off x="694944"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How does the week run, day by day?</a:t>
            </a:r>
          </a:p>
        </p:txBody>
      </p:sp>
      <p:sp>
        <p:nvSpPr>
          <p:cNvPr id="18" name="TextBox 17"/>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What ships</a:t>
            </a:r>
          </a:p>
        </p:txBody>
      </p:sp>
      <p:sp>
        <p:nvSpPr>
          <p:cNvPr id="22" name="TextBox 21"/>
          <p:cNvSpPr txBox="1"/>
          <p:nvPr/>
        </p:nvSpPr>
        <p:spPr>
          <a:xfrm>
            <a:off x="2957718"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What does every group ship, and when is it seen?</a:t>
            </a:r>
          </a:p>
        </p:txBody>
      </p:sp>
      <p:sp>
        <p:nvSpPr>
          <p:cNvPr id="23" name="TextBox 22"/>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project</a:t>
            </a:r>
          </a:p>
        </p:txBody>
      </p:sp>
      <p:sp>
        <p:nvSpPr>
          <p:cNvPr id="27" name="TextBox 26"/>
          <p:cNvSpPr txBox="1"/>
          <p:nvPr/>
        </p:nvSpPr>
        <p:spPr>
          <a:xfrm>
            <a:off x="5220492"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How is the mini project scored, and what if the demo fails?</a:t>
            </a:r>
          </a:p>
        </p:txBody>
      </p:sp>
      <p:sp>
        <p:nvSpPr>
          <p:cNvPr id="28" name="TextBox 27"/>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mock</a:t>
            </a:r>
          </a:p>
        </p:txBody>
      </p:sp>
      <p:sp>
        <p:nvSpPr>
          <p:cNvPr id="32" name="TextBox 31"/>
          <p:cNvSpPr txBox="1"/>
          <p:nvPr/>
        </p:nvSpPr>
        <p:spPr>
          <a:xfrm>
            <a:off x="7483266" y="4250182"/>
            <a:ext cx="1750710" cy="201676"/>
          </a:xfrm>
          <a:prstGeom prst="rect">
            <a:avLst/>
          </a:prstGeom>
          <a:noFill/>
        </p:spPr>
        <p:txBody>
          <a:bodyPr wrap="square" anchor="t" lIns="0" rIns="0" tIns="0" bIns="0">
            <a:spAutoFit/>
          </a:bodyPr>
          <a:lstStyle/>
          <a:p>
            <a:pPr algn="l"/>
            <a:r>
              <a:rPr sz="1000" b="0" i="0">
                <a:solidFill>
                  <a:srgbClr val="6B6690"/>
                </a:solidFill>
                <a:latin typeface="Calibri"/>
              </a:rPr>
              <a:t>How is Mock R1 scored?</a:t>
            </a:r>
          </a:p>
        </p:txBody>
      </p:sp>
      <p:sp>
        <p:nvSpPr>
          <p:cNvPr id="33" name="TextBox 32"/>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3816096"/>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The discussion</a:t>
            </a:r>
          </a:p>
        </p:txBody>
      </p:sp>
      <p:sp>
        <p:nvSpPr>
          <p:cNvPr id="37" name="TextBox 36"/>
          <p:cNvSpPr txBox="1"/>
          <p:nvPr/>
        </p:nvSpPr>
        <p:spPr>
          <a:xfrm>
            <a:off x="9746040" y="4250182"/>
            <a:ext cx="1750710" cy="366776"/>
          </a:xfrm>
          <a:prstGeom prst="rect">
            <a:avLst/>
          </a:prstGeom>
          <a:noFill/>
        </p:spPr>
        <p:txBody>
          <a:bodyPr wrap="square" anchor="t" lIns="0" rIns="0" tIns="0" bIns="0">
            <a:spAutoFit/>
          </a:bodyPr>
          <a:lstStyle/>
          <a:p>
            <a:pPr algn="l"/>
            <a:r>
              <a:rPr sz="1000" b="0" i="0">
                <a:solidFill>
                  <a:srgbClr val="CFC9EE"/>
                </a:solidFill>
                <a:latin typeface="Calibri"/>
              </a:rPr>
              <a:t>How is the group discussion scored?</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40" name="Oval 3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42" name="Oval 4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4" name="Oval 43"/>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6" name="Oval 4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8" name="Oval 47"/>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50" name="Oval 49"/>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52" name="TextBox 5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56 / 63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days of build, and Tuesday is Dussehra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week run, day by day?</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MONDAY 19 OCTOBER</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Translate, scope</a:t>
            </a:r>
          </a:p>
        </p:txBody>
      </p:sp>
      <p:sp>
        <p:nvSpPr>
          <p:cNvPr id="14" name="TextBox 13"/>
          <p:cNvSpPr txBox="1"/>
          <p:nvPr/>
        </p:nvSpPr>
        <p:spPr>
          <a:xfrm>
            <a:off x="694944" y="3277870"/>
            <a:ext cx="1750710" cy="696976"/>
          </a:xfrm>
          <a:prstGeom prst="rect">
            <a:avLst/>
          </a:prstGeom>
          <a:noFill/>
        </p:spPr>
        <p:txBody>
          <a:bodyPr wrap="square" anchor="t" lIns="0" rIns="0" tIns="0" bIns="0">
            <a:spAutoFit/>
          </a:bodyPr>
          <a:lstStyle/>
          <a:p>
            <a:pPr algn="l"/>
            <a:r>
              <a:rPr sz="1000" b="0" i="0">
                <a:solidFill>
                  <a:srgbClr val="6B6690"/>
                </a:solidFill>
                <a:latin typeface="Calibri"/>
              </a:rPr>
              <a:t>This introduction, the domain's story, the allocation, the translation, and scopes pinned at the close.</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WEDNESDAY 21 OCTOBER</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Clean and claim</a:t>
            </a:r>
          </a:p>
        </p:txBody>
      </p:sp>
      <p:sp>
        <p:nvSpPr>
          <p:cNvPr id="19" name="TextBox 18"/>
          <p:cNvSpPr txBox="1"/>
          <p:nvPr/>
        </p:nvSpPr>
        <p:spPr>
          <a:xfrm>
            <a:off x="2957718" y="3277870"/>
            <a:ext cx="1750710" cy="862076"/>
          </a:xfrm>
          <a:prstGeom prst="rect">
            <a:avLst/>
          </a:prstGeom>
          <a:noFill/>
        </p:spPr>
        <p:txBody>
          <a:bodyPr wrap="square" anchor="t" lIns="0" rIns="0" tIns="0" bIns="0">
            <a:spAutoFit/>
          </a:bodyPr>
          <a:lstStyle/>
          <a:p>
            <a:pPr algn="l"/>
            <a:r>
              <a:rPr sz="1000" b="0" i="0">
                <a:solidFill>
                  <a:srgbClr val="6B6690"/>
                </a:solidFill>
                <a:latin typeface="Calibri"/>
              </a:rPr>
              <a:t>The checkpoint, the trainer's build of a smaller slice in the open, build time, and each group's headline claim.</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THURSDAY 22 OCTOBER</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Mock R1</a:t>
            </a:r>
          </a:p>
        </p:txBody>
      </p:sp>
      <p:sp>
        <p:nvSpPr>
          <p:cNvPr id="24" name="TextBox 23"/>
          <p:cNvSpPr txBox="1"/>
          <p:nvPr/>
        </p:nvSpPr>
        <p:spPr>
          <a:xfrm>
            <a:off x="5220492" y="3277870"/>
            <a:ext cx="1750710" cy="696976"/>
          </a:xfrm>
          <a:prstGeom prst="rect">
            <a:avLst/>
          </a:prstGeom>
          <a:noFill/>
        </p:spPr>
        <p:txBody>
          <a:bodyPr wrap="square" anchor="t" lIns="0" rIns="0" tIns="0" bIns="0">
            <a:spAutoFit/>
          </a:bodyPr>
          <a:lstStyle/>
          <a:p>
            <a:pPr algn="l"/>
            <a:r>
              <a:rPr sz="1000" b="0" i="0">
                <a:solidFill>
                  <a:srgbClr val="6B6690"/>
                </a:solidFill>
                <a:latin typeface="Calibri"/>
              </a:rPr>
              <a:t>Every learner sits Mock R1, about 20 minutes, half technical and half a viva on the group's work.</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FRIDAY 23 OCTOBER</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Discussions</a:t>
            </a:r>
          </a:p>
        </p:txBody>
      </p:sp>
      <p:sp>
        <p:nvSpPr>
          <p:cNvPr id="29" name="TextBox 28"/>
          <p:cNvSpPr txBox="1"/>
          <p:nvPr/>
        </p:nvSpPr>
        <p:spPr>
          <a:xfrm>
            <a:off x="7483266" y="3277870"/>
            <a:ext cx="1750710" cy="862076"/>
          </a:xfrm>
          <a:prstGeom prst="rect">
            <a:avLst/>
          </a:prstGeom>
          <a:noFill/>
        </p:spPr>
        <p:txBody>
          <a:bodyPr wrap="square" anchor="t" lIns="0" rIns="0" tIns="0" bIns="0">
            <a:spAutoFit/>
          </a:bodyPr>
          <a:lstStyle/>
          <a:p>
            <a:pPr algn="l"/>
            <a:r>
              <a:rPr sz="1000" b="0" i="0">
                <a:solidFill>
                  <a:srgbClr val="6B6690"/>
                </a:solidFill>
                <a:latin typeface="Calibri"/>
              </a:rPr>
              <a:t>The expert's group discussions, about 30 minutes per group; builds freeze; two cold demo runs; the first presentations.</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SATURDAY 24 OCTOBER</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5951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FFFFFF"/>
                </a:solidFill>
                <a:latin typeface="Calibri"/>
              </a:rPr>
              <a:t>Presentations</a:t>
            </a:r>
          </a:p>
        </p:txBody>
      </p:sp>
      <p:sp>
        <p:nvSpPr>
          <p:cNvPr id="34" name="TextBox 33"/>
          <p:cNvSpPr txBox="1"/>
          <p:nvPr/>
        </p:nvSpPr>
        <p:spPr>
          <a:xfrm>
            <a:off x="9746040" y="3277870"/>
            <a:ext cx="1750710" cy="862076"/>
          </a:xfrm>
          <a:prstGeom prst="rect">
            <a:avLst/>
          </a:prstGeom>
          <a:noFill/>
        </p:spPr>
        <p:txBody>
          <a:bodyPr wrap="square" anchor="t" lIns="0" rIns="0" tIns="0" bIns="0">
            <a:spAutoFit/>
          </a:bodyPr>
          <a:lstStyle/>
          <a:p>
            <a:pPr algn="l"/>
            <a:r>
              <a:rPr sz="1000" b="0" i="0">
                <a:solidFill>
                  <a:srgbClr val="CFC9EE"/>
                </a:solidFill>
                <a:latin typeface="Calibri"/>
              </a:rPr>
              <a:t>The remaining discussions, presentations with live demos of 25 to 30 minutes, and every Build 1 grade closed.</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37" name="Oval 3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39" name="Oval 3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41" name="Oval 4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43" name="Oval 4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45" name="Oval 4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47" name="Oval 46"/>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49" name="TextBox 4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57 / 63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group ships seven pieces, one of them live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every group ship, and when is each piece seen?</a:t>
            </a:r>
          </a:p>
        </p:txBody>
      </p:sp>
      <p:graphicFrame>
        <p:nvGraphicFramePr>
          <p:cNvPr id="9" name="Table 8"/>
          <p:cNvGraphicFramePr>
            <a:graphicFrameLocks noGrp="1"/>
          </p:cNvGraphicFramePr>
          <p:nvPr/>
        </p:nvGraphicFramePr>
        <p:xfrm>
          <a:off x="530352" y="1956816"/>
          <a:ext cx="11130989" cy="2958592"/>
        </p:xfrm>
        <a:graphic>
          <a:graphicData uri="http://schemas.openxmlformats.org/drawingml/2006/table">
            <a:tbl>
              <a:tblPr firstRow="0" bandRow="0">
                <a:tableStyleId>{2D5ABB26-0587-4C30-8999-92F81FD0307C}</a:tableStyleId>
              </a:tblPr>
              <a:tblGrid>
                <a:gridCol w="2347205"/>
                <a:gridCol w="5178310"/>
                <a:gridCol w="3605474"/>
              </a:tblGrid>
              <a:tr h="369824">
                <a:tc>
                  <a:txBody>
                    <a:bodyPr/>
                    <a:lstStyle/>
                    <a:p>
                      <a:r>
                        <a:rPr sz="1450" b="1" i="0">
                          <a:solidFill>
                            <a:srgbClr val="FFFFFF"/>
                          </a:solidFill>
                          <a:latin typeface="Calibri"/>
                        </a:rPr>
                        <a:t>What</a:t>
                      </a:r>
                    </a:p>
                  </a:txBody>
                  <a:tcPr marL="101600" marR="101600" marT="38100" marB="38100" anchor="ctr">
                    <a:solidFill>
                      <a:srgbClr val="1A0F5C"/>
                    </a:solidFill>
                  </a:tcPr>
                </a:tc>
                <a:tc>
                  <a:txBody>
                    <a:bodyPr/>
                    <a:lstStyle/>
                    <a:p>
                      <a:r>
                        <a:rPr sz="1450" b="1" i="0">
                          <a:solidFill>
                            <a:srgbClr val="FFFFFF"/>
                          </a:solidFill>
                          <a:latin typeface="Calibri"/>
                        </a:rPr>
                        <a:t>What it holds</a:t>
                      </a:r>
                    </a:p>
                  </a:txBody>
                  <a:tcPr marL="101600" marR="101600" marT="38100" marB="38100" anchor="ctr">
                    <a:solidFill>
                      <a:srgbClr val="1A0F5C"/>
                    </a:solidFill>
                  </a:tcPr>
                </a:tc>
                <a:tc>
                  <a:txBody>
                    <a:bodyPr/>
                    <a:lstStyle/>
                    <a:p>
                      <a:r>
                        <a:rPr sz="1450" b="1" i="0">
                          <a:solidFill>
                            <a:srgbClr val="FFFFFF"/>
                          </a:solidFill>
                          <a:latin typeface="Calibri"/>
                        </a:rPr>
                        <a:t>When it is seen</a:t>
                      </a:r>
                    </a:p>
                  </a:txBody>
                  <a:tcPr marL="101600" marR="101600" marT="38100" marB="38100" anchor="ctr">
                    <a:solidFill>
                      <a:srgbClr val="1A0F5C"/>
                    </a:solidFill>
                  </a:tcPr>
                </a:tc>
              </a:tr>
              <a:tr h="369824">
                <a:tc>
                  <a:txBody>
                    <a:bodyPr/>
                    <a:lstStyle/>
                    <a:p>
                      <a:r>
                        <a:rPr sz="1400" b="0" i="0">
                          <a:solidFill>
                            <a:srgbClr val="1A1440"/>
                          </a:solidFill>
                          <a:latin typeface="Calibri"/>
                        </a:rPr>
                        <a:t>The worksheet</a:t>
                      </a:r>
                    </a:p>
                  </a:txBody>
                  <a:tcPr marL="101600" marR="101600" marT="38100" marB="38100" anchor="ctr">
                    <a:solidFill>
                      <a:srgbClr val="FFFFFF"/>
                    </a:solidFill>
                  </a:tcPr>
                </a:tc>
                <a:tc>
                  <a:txBody>
                    <a:bodyPr/>
                    <a:lstStyle/>
                    <a:p>
                      <a:r>
                        <a:rPr sz="1400" b="0" i="0">
                          <a:solidFill>
                            <a:srgbClr val="1A1440"/>
                          </a:solidFill>
                          <a:latin typeface="Calibri"/>
                        </a:rPr>
                        <a:t>The question in your words, the move, the scope</a:t>
                      </a:r>
                    </a:p>
                  </a:txBody>
                  <a:tcPr marL="101600" marR="101600" marT="38100" marB="38100" anchor="ctr">
                    <a:solidFill>
                      <a:srgbClr val="FFFFFF"/>
                    </a:solidFill>
                  </a:tcPr>
                </a:tc>
                <a:tc>
                  <a:txBody>
                    <a:bodyPr/>
                    <a:lstStyle/>
                    <a:p>
                      <a:r>
                        <a:rPr sz="1400" b="0" i="0">
                          <a:solidFill>
                            <a:srgbClr val="1A1440"/>
                          </a:solidFill>
                          <a:latin typeface="Calibri"/>
                        </a:rPr>
                        <a:t>Monday's close</a:t>
                      </a:r>
                    </a:p>
                  </a:txBody>
                  <a:tcPr marL="101600" marR="101600" marT="38100" marB="38100" anchor="ctr">
                    <a:solidFill>
                      <a:srgbClr val="FFFFFF"/>
                    </a:solidFill>
                  </a:tcPr>
                </a:tc>
              </a:tr>
              <a:tr h="369824">
                <a:tc>
                  <a:txBody>
                    <a:bodyPr/>
                    <a:lstStyle/>
                    <a:p>
                      <a:r>
                        <a:rPr sz="1400" b="0" i="0">
                          <a:solidFill>
                            <a:srgbClr val="1A1440"/>
                          </a:solidFill>
                          <a:latin typeface="Calibri"/>
                        </a:rPr>
                        <a:t>The challenges log</a:t>
                      </a:r>
                    </a:p>
                  </a:txBody>
                  <a:tcPr marL="101600" marR="101600" marT="38100" marB="38100" anchor="ctr">
                    <a:solidFill>
                      <a:srgbClr val="F4F2FA"/>
                    </a:solidFill>
                  </a:tcPr>
                </a:tc>
                <a:tc>
                  <a:txBody>
                    <a:bodyPr/>
                    <a:lstStyle/>
                    <a:p>
                      <a:r>
                        <a:rPr sz="1400" b="0" i="0">
                          <a:solidFill>
                            <a:srgbClr val="1A1440"/>
                          </a:solidFill>
                          <a:latin typeface="Calibri"/>
                        </a:rPr>
                        <a:t>Every stop, dated, from entry one today</a:t>
                      </a:r>
                    </a:p>
                  </a:txBody>
                  <a:tcPr marL="101600" marR="101600" marT="38100" marB="38100" anchor="ctr">
                    <a:solidFill>
                      <a:srgbClr val="F4F2FA"/>
                    </a:solidFill>
                  </a:tcPr>
                </a:tc>
                <a:tc>
                  <a:txBody>
                    <a:bodyPr/>
                    <a:lstStyle/>
                    <a:p>
                      <a:r>
                        <a:rPr sz="1400" b="0" i="0">
                          <a:solidFill>
                            <a:srgbClr val="1A1440"/>
                          </a:solidFill>
                          <a:latin typeface="Calibri"/>
                        </a:rPr>
                        <a:t>Thursday's viva</a:t>
                      </a:r>
                    </a:p>
                  </a:txBody>
                  <a:tcPr marL="101600" marR="101600" marT="38100" marB="38100" anchor="ctr">
                    <a:solidFill>
                      <a:srgbClr val="F4F2FA"/>
                    </a:solidFill>
                  </a:tcPr>
                </a:tc>
              </a:tr>
              <a:tr h="369824">
                <a:tc>
                  <a:txBody>
                    <a:bodyPr/>
                    <a:lstStyle/>
                    <a:p>
                      <a:r>
                        <a:rPr sz="1400" b="0" i="0">
                          <a:solidFill>
                            <a:srgbClr val="1A1440"/>
                          </a:solidFill>
                          <a:latin typeface="Calibri"/>
                        </a:rPr>
                        <a:t>The decisions log</a:t>
                      </a:r>
                    </a:p>
                  </a:txBody>
                  <a:tcPr marL="101600" marR="101600" marT="38100" marB="38100" anchor="ctr">
                    <a:solidFill>
                      <a:srgbClr val="FFFFFF"/>
                    </a:solidFill>
                  </a:tcPr>
                </a:tc>
                <a:tc>
                  <a:txBody>
                    <a:bodyPr/>
                    <a:lstStyle/>
                    <a:p>
                      <a:r>
                        <a:rPr sz="1400" b="0" i="0">
                          <a:solidFill>
                            <a:srgbClr val="1A1440"/>
                          </a:solidFill>
                          <a:latin typeface="Calibri"/>
                        </a:rPr>
                        <a:t>Every cleaning call, every file reconciled</a:t>
                      </a:r>
                    </a:p>
                  </a:txBody>
                  <a:tcPr marL="101600" marR="101600" marT="38100" marB="38100" anchor="ctr">
                    <a:solidFill>
                      <a:srgbClr val="FFFFFF"/>
                    </a:solidFill>
                  </a:tcPr>
                </a:tc>
                <a:tc>
                  <a:txBody>
                    <a:bodyPr/>
                    <a:lstStyle/>
                    <a:p>
                      <a:r>
                        <a:rPr sz="1400" b="0" i="0">
                          <a:solidFill>
                            <a:srgbClr val="1A1440"/>
                          </a:solidFill>
                          <a:latin typeface="Calibri"/>
                        </a:rPr>
                        <a:t>The mini project</a:t>
                      </a:r>
                    </a:p>
                  </a:txBody>
                  <a:tcPr marL="101600" marR="101600" marT="38100" marB="38100" anchor="ctr">
                    <a:solidFill>
                      <a:srgbClr val="FFFFFF"/>
                    </a:solidFill>
                  </a:tcPr>
                </a:tc>
              </a:tr>
              <a:tr h="369824">
                <a:tc>
                  <a:txBody>
                    <a:bodyPr/>
                    <a:lstStyle/>
                    <a:p>
                      <a:r>
                        <a:rPr sz="1400" b="0" i="0">
                          <a:solidFill>
                            <a:srgbClr val="1A1440"/>
                          </a:solidFill>
                          <a:latin typeface="Calibri"/>
                        </a:rPr>
                        <a:t>The headline claim</a:t>
                      </a:r>
                    </a:p>
                  </a:txBody>
                  <a:tcPr marL="101600" marR="101600" marT="38100" marB="38100" anchor="ctr">
                    <a:solidFill>
                      <a:srgbClr val="F4F2FA"/>
                    </a:solidFill>
                  </a:tcPr>
                </a:tc>
                <a:tc>
                  <a:txBody>
                    <a:bodyPr/>
                    <a:lstStyle/>
                    <a:p>
                      <a:r>
                        <a:rPr sz="1400" b="0" i="0">
                          <a:solidFill>
                            <a:srgbClr val="1A1440"/>
                          </a:solidFill>
                          <a:latin typeface="Calibri"/>
                        </a:rPr>
                        <a:t>One sentence with its denominators and caveat</a:t>
                      </a:r>
                    </a:p>
                  </a:txBody>
                  <a:tcPr marL="101600" marR="101600" marT="38100" marB="38100" anchor="ctr">
                    <a:solidFill>
                      <a:srgbClr val="F4F2FA"/>
                    </a:solidFill>
                  </a:tcPr>
                </a:tc>
                <a:tc>
                  <a:txBody>
                    <a:bodyPr/>
                    <a:lstStyle/>
                    <a:p>
                      <a:r>
                        <a:rPr sz="1400" b="0" i="0">
                          <a:solidFill>
                            <a:srgbClr val="1A1440"/>
                          </a:solidFill>
                          <a:latin typeface="Calibri"/>
                        </a:rPr>
                        <a:t>Wednesday 21 October</a:t>
                      </a:r>
                    </a:p>
                  </a:txBody>
                  <a:tcPr marL="101600" marR="101600" marT="38100" marB="38100" anchor="ctr">
                    <a:solidFill>
                      <a:srgbClr val="F4F2FA"/>
                    </a:solidFill>
                  </a:tcPr>
                </a:tc>
              </a:tr>
              <a:tr h="369824">
                <a:tc>
                  <a:txBody>
                    <a:bodyPr/>
                    <a:lstStyle/>
                    <a:p>
                      <a:r>
                        <a:rPr sz="1400" b="0" i="0">
                          <a:solidFill>
                            <a:srgbClr val="1A1440"/>
                          </a:solidFill>
                          <a:latin typeface="Calibri"/>
                        </a:rPr>
                        <a:t>The notebook or SQL</a:t>
                      </a:r>
                    </a:p>
                  </a:txBody>
                  <a:tcPr marL="101600" marR="101600" marT="38100" marB="38100" anchor="ctr">
                    <a:solidFill>
                      <a:srgbClr val="FFFFFF"/>
                    </a:solidFill>
                  </a:tcPr>
                </a:tc>
                <a:tc>
                  <a:txBody>
                    <a:bodyPr/>
                    <a:lstStyle/>
                    <a:p>
                      <a:r>
                        <a:rPr sz="1400" b="0" i="0">
                          <a:solidFill>
                            <a:srgbClr val="1A1440"/>
                          </a:solidFill>
                          <a:latin typeface="Calibri"/>
                        </a:rPr>
                        <a:t>Every number from the raw files, top to bottom</a:t>
                      </a:r>
                    </a:p>
                  </a:txBody>
                  <a:tcPr marL="101600" marR="101600" marT="38100" marB="38100" anchor="ctr">
                    <a:solidFill>
                      <a:srgbClr val="FFFFFF"/>
                    </a:solidFill>
                  </a:tcPr>
                </a:tc>
                <a:tc>
                  <a:txBody>
                    <a:bodyPr/>
                    <a:lstStyle/>
                    <a:p>
                      <a:r>
                        <a:rPr sz="1400" b="0" i="0">
                          <a:solidFill>
                            <a:srgbClr val="1A1440"/>
                          </a:solidFill>
                          <a:latin typeface="Calibri"/>
                        </a:rPr>
                        <a:t>The live demo</a:t>
                      </a:r>
                    </a:p>
                  </a:txBody>
                  <a:tcPr marL="101600" marR="101600" marT="38100" marB="38100" anchor="ctr">
                    <a:solidFill>
                      <a:srgbClr val="FFFFFF"/>
                    </a:solidFill>
                  </a:tcPr>
                </a:tc>
              </a:tr>
              <a:tr h="369824">
                <a:tc>
                  <a:txBody>
                    <a:bodyPr/>
                    <a:lstStyle/>
                    <a:p>
                      <a:r>
                        <a:rPr sz="1400" b="0" i="0">
                          <a:solidFill>
                            <a:srgbClr val="1A1440"/>
                          </a:solidFill>
                          <a:latin typeface="Calibri"/>
                        </a:rPr>
                        <a:t>The one-slide answer</a:t>
                      </a:r>
                    </a:p>
                  </a:txBody>
                  <a:tcPr marL="101600" marR="101600" marT="38100" marB="38100" anchor="ctr">
                    <a:solidFill>
                      <a:srgbClr val="F4F2FA"/>
                    </a:solidFill>
                  </a:tcPr>
                </a:tc>
                <a:tc>
                  <a:txBody>
                    <a:bodyPr/>
                    <a:lstStyle/>
                    <a:p>
                      <a:r>
                        <a:rPr sz="1400" b="0" i="0">
                          <a:solidFill>
                            <a:srgbClr val="1A1440"/>
                          </a:solidFill>
                          <a:latin typeface="Calibri"/>
                        </a:rPr>
                        <a:t>Claim, evidence, caveat, action</a:t>
                      </a:r>
                    </a:p>
                  </a:txBody>
                  <a:tcPr marL="101600" marR="101600" marT="38100" marB="38100" anchor="ctr">
                    <a:solidFill>
                      <a:srgbClr val="F4F2FA"/>
                    </a:solidFill>
                  </a:tcPr>
                </a:tc>
                <a:tc>
                  <a:txBody>
                    <a:bodyPr/>
                    <a:lstStyle/>
                    <a:p>
                      <a:r>
                        <a:rPr sz="1400" b="0" i="0">
                          <a:solidFill>
                            <a:srgbClr val="1A1440"/>
                          </a:solidFill>
                          <a:latin typeface="Calibri"/>
                        </a:rPr>
                        <a:t>The presentation</a:t>
                      </a:r>
                    </a:p>
                  </a:txBody>
                  <a:tcPr marL="101600" marR="101600" marT="38100" marB="38100" anchor="ctr">
                    <a:solidFill>
                      <a:srgbClr val="F4F2FA"/>
                    </a:solidFill>
                  </a:tcPr>
                </a:tc>
              </a:tr>
              <a:tr h="369824">
                <a:tc>
                  <a:txBody>
                    <a:bodyPr/>
                    <a:lstStyle/>
                    <a:p>
                      <a:r>
                        <a:rPr sz="1400" b="0" i="0">
                          <a:solidFill>
                            <a:srgbClr val="1A1440"/>
                          </a:solidFill>
                          <a:latin typeface="Calibri"/>
                        </a:rPr>
                        <a:t>The presentation</a:t>
                      </a:r>
                    </a:p>
                  </a:txBody>
                  <a:tcPr marL="101600" marR="101600" marT="38100" marB="38100" anchor="ctr">
                    <a:solidFill>
                      <a:srgbClr val="FFFFFF"/>
                    </a:solidFill>
                  </a:tcPr>
                </a:tc>
                <a:tc>
                  <a:txBody>
                    <a:bodyPr/>
                    <a:lstStyle/>
                    <a:p>
                      <a:r>
                        <a:rPr sz="1400" b="0" i="0">
                          <a:solidFill>
                            <a:srgbClr val="1A1440"/>
                          </a:solidFill>
                          <a:latin typeface="Calibri"/>
                        </a:rPr>
                        <a:t>The answer, a live demo run cold, the questions</a:t>
                      </a:r>
                    </a:p>
                  </a:txBody>
                  <a:tcPr marL="101600" marR="101600" marT="38100" marB="38100" anchor="ctr">
                    <a:solidFill>
                      <a:srgbClr val="FFFFFF"/>
                    </a:solidFill>
                  </a:tcPr>
                </a:tc>
                <a:tc>
                  <a:txBody>
                    <a:bodyPr/>
                    <a:lstStyle/>
                    <a:p>
                      <a:r>
                        <a:rPr sz="1400" b="0" i="0">
                          <a:solidFill>
                            <a:srgbClr val="1A1440"/>
                          </a:solidFill>
                          <a:latin typeface="Calibri"/>
                        </a:rPr>
                        <a:t>Friday 23 or Saturday 24 October</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8" name="Oval 1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0" name="Oval 1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2" name="Oval 21"/>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58 / 63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mini project is 40 marks, and 6 are yours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mini project scored?</a:t>
            </a:r>
          </a:p>
        </p:txBody>
      </p:sp>
      <p:sp>
        <p:nvSpPr>
          <p:cNvPr id="9" name="Rounded Rectangle 8"/>
          <p:cNvSpPr/>
          <p:nvPr/>
        </p:nvSpPr>
        <p:spPr>
          <a:xfrm>
            <a:off x="530352" y="1956816"/>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553720"/>
          </a:xfrm>
          <a:prstGeom prst="rect">
            <a:avLst/>
          </a:prstGeom>
          <a:noFill/>
        </p:spPr>
        <p:txBody>
          <a:bodyPr wrap="square" anchor="ctr" lIns="0" rIns="0" tIns="0" bIns="0">
            <a:spAutoFit/>
          </a:bodyPr>
          <a:lstStyle/>
          <a:p>
            <a:r>
              <a:rPr sz="1300" b="1">
                <a:solidFill>
                  <a:srgbClr val="5B3FD6"/>
                </a:solidFill>
                <a:latin typeface="Calibri"/>
              </a:rPr>
              <a:t>Mini project, 40 marks. </a:t>
            </a:r>
            <a:r>
              <a:rPr sz="1300" b="0" i="0">
                <a:solidFill>
                  <a:srgbClr val="1A1440"/>
                </a:solidFill>
                <a:latin typeface="Calibri"/>
              </a:rPr>
              <a:t>The first four criteria are scored once for the group, and every member receives those 34 marks; presentation and defence is scored for each learner on 6 marks, so a silent teammate cannot ride the group's score.</a:t>
            </a:r>
          </a:p>
        </p:txBody>
      </p:sp>
      <p:graphicFrame>
        <p:nvGraphicFramePr>
          <p:cNvPr id="12" name="Table 11"/>
          <p:cNvGraphicFramePr>
            <a:graphicFrameLocks noGrp="1"/>
          </p:cNvGraphicFramePr>
          <p:nvPr/>
        </p:nvGraphicFramePr>
        <p:xfrm>
          <a:off x="530352" y="2858008"/>
          <a:ext cx="11130990" cy="2840736"/>
        </p:xfrm>
        <a:graphic>
          <a:graphicData uri="http://schemas.openxmlformats.org/drawingml/2006/table">
            <a:tbl>
              <a:tblPr firstRow="0" bandRow="0">
                <a:tableStyleId>{2D5ABB26-0587-4C30-8999-92F81FD0307C}</a:tableStyleId>
              </a:tblPr>
              <a:tblGrid>
                <a:gridCol w="2886034"/>
                <a:gridCol w="914400"/>
                <a:gridCol w="7330556"/>
              </a:tblGrid>
              <a:tr h="335280">
                <a:tc>
                  <a:txBody>
                    <a:bodyPr/>
                    <a:lstStyle/>
                    <a:p>
                      <a:r>
                        <a:rPr sz="1250" b="1" i="0">
                          <a:solidFill>
                            <a:srgbClr val="FFFFFF"/>
                          </a:solidFill>
                          <a:latin typeface="Calibri"/>
                        </a:rPr>
                        <a:t>Criterion</a:t>
                      </a:r>
                    </a:p>
                  </a:txBody>
                  <a:tcPr marL="101600" marR="101600" marT="38100" marB="38100" anchor="ctr">
                    <a:solidFill>
                      <a:srgbClr val="1A0F5C"/>
                    </a:solidFill>
                  </a:tcPr>
                </a:tc>
                <a:tc>
                  <a:txBody>
                    <a:bodyPr/>
                    <a:lstStyle/>
                    <a:p>
                      <a:r>
                        <a:rPr sz="1250" b="1" i="0">
                          <a:solidFill>
                            <a:srgbClr val="FFFFFF"/>
                          </a:solidFill>
                          <a:latin typeface="Calibri"/>
                        </a:rPr>
                        <a:t>Marks</a:t>
                      </a:r>
                    </a:p>
                  </a:txBody>
                  <a:tcPr marL="101600" marR="101600" marT="38100" marB="38100" anchor="ctr">
                    <a:solidFill>
                      <a:srgbClr val="1A0F5C"/>
                    </a:solidFill>
                  </a:tcPr>
                </a:tc>
                <a:tc>
                  <a:txBody>
                    <a:bodyPr/>
                    <a:lstStyle/>
                    <a:p>
                      <a:r>
                        <a:rPr sz="1250" b="1" i="0">
                          <a:solidFill>
                            <a:srgbClr val="FFFFFF"/>
                          </a:solidFill>
                          <a:latin typeface="Calibri"/>
                        </a:rPr>
                        <a:t>What full marks look like</a:t>
                      </a:r>
                    </a:p>
                  </a:txBody>
                  <a:tcPr marL="101600" marR="101600" marT="38100" marB="38100" anchor="ctr">
                    <a:solidFill>
                      <a:srgbClr val="1A0F5C"/>
                    </a:solidFill>
                  </a:tcPr>
                </a:tc>
              </a:tr>
              <a:tr h="542544">
                <a:tc>
                  <a:txBody>
                    <a:bodyPr/>
                    <a:lstStyle/>
                    <a:p>
                      <a:r>
                        <a:rPr sz="1200" b="0" i="0">
                          <a:solidFill>
                            <a:srgbClr val="1A1440"/>
                          </a:solidFill>
                          <a:latin typeface="Calibri"/>
                        </a:rPr>
                        <a:t>The question translated</a:t>
                      </a:r>
                    </a:p>
                  </a:txBody>
                  <a:tcPr marL="101600" marR="101600" marT="38100" marB="38100" anchor="ctr">
                    <a:solidFill>
                      <a:srgbClr val="FFFFFF"/>
                    </a:solidFill>
                  </a:tcPr>
                </a:tc>
                <a:tc>
                  <a:txBody>
                    <a:bodyPr/>
                    <a:lstStyle/>
                    <a:p>
                      <a:r>
                        <a:rPr sz="1200" b="0" i="0">
                          <a:solidFill>
                            <a:srgbClr val="1A1440"/>
                          </a:solidFill>
                          <a:latin typeface="Calibri"/>
                        </a:rPr>
                        <a:t>8</a:t>
                      </a:r>
                    </a:p>
                  </a:txBody>
                  <a:tcPr marL="101600" marR="101600" marT="38100" marB="38100" anchor="ctr">
                    <a:solidFill>
                      <a:srgbClr val="FFFFFF"/>
                    </a:solidFill>
                  </a:tcPr>
                </a:tc>
                <a:tc>
                  <a:txBody>
                    <a:bodyPr/>
                    <a:lstStyle/>
                    <a:p>
                      <a:r>
                        <a:rPr sz="1200" b="0" i="0">
                          <a:solidFill>
                            <a:srgbClr val="1A1440"/>
                          </a:solidFill>
                          <a:latin typeface="Calibri"/>
                        </a:rPr>
                        <a:t>Dr Menon's words are mapped to the right Weeks 1 and 2 method, with the metric defined and the decision it feeds named.</a:t>
                      </a:r>
                    </a:p>
                  </a:txBody>
                  <a:tcPr marL="101600" marR="101600" marT="38100" marB="38100" anchor="ctr">
                    <a:solidFill>
                      <a:srgbClr val="FFFFFF"/>
                    </a:solidFill>
                  </a:tcPr>
                </a:tc>
              </a:tr>
              <a:tr h="542544">
                <a:tc>
                  <a:txBody>
                    <a:bodyPr/>
                    <a:lstStyle/>
                    <a:p>
                      <a:r>
                        <a:rPr sz="1200" b="0" i="0">
                          <a:solidFill>
                            <a:srgbClr val="1A1440"/>
                          </a:solidFill>
                          <a:latin typeface="Calibri"/>
                        </a:rPr>
                        <a:t>The data made trustworthy</a:t>
                      </a:r>
                    </a:p>
                  </a:txBody>
                  <a:tcPr marL="101600" marR="101600" marT="38100" marB="38100" anchor="ctr">
                    <a:solidFill>
                      <a:srgbClr val="F4F2FA"/>
                    </a:solidFill>
                  </a:tcPr>
                </a:tc>
                <a:tc>
                  <a:txBody>
                    <a:bodyPr/>
                    <a:lstStyle/>
                    <a:p>
                      <a:r>
                        <a:rPr sz="1200" b="0" i="0">
                          <a:solidFill>
                            <a:srgbClr val="1A1440"/>
                          </a:solidFill>
                          <a:latin typeface="Calibri"/>
                        </a:rPr>
                        <a:t>10</a:t>
                      </a:r>
                    </a:p>
                  </a:txBody>
                  <a:tcPr marL="101600" marR="101600" marT="38100" marB="38100" anchor="ctr">
                    <a:solidFill>
                      <a:srgbClr val="F4F2FA"/>
                    </a:solidFill>
                  </a:tcPr>
                </a:tc>
                <a:tc>
                  <a:txBody>
                    <a:bodyPr/>
                    <a:lstStyle/>
                    <a:p>
                      <a:r>
                        <a:rPr sz="1200" b="0" i="0">
                          <a:solidFill>
                            <a:srgbClr val="1A1440"/>
                          </a:solidFill>
                          <a:latin typeface="Calibri"/>
                        </a:rPr>
                        <a:t>The data is profiled before it is touched, every cleaning call is in the decisions log with its reason, and counts and dollars reconcile across files.</a:t>
                      </a:r>
                    </a:p>
                  </a:txBody>
                  <a:tcPr marL="101600" marR="101600" marT="38100" marB="38100" anchor="ctr">
                    <a:solidFill>
                      <a:srgbClr val="F4F2FA"/>
                    </a:solidFill>
                  </a:tcPr>
                </a:tc>
              </a:tr>
              <a:tr h="542544">
                <a:tc>
                  <a:txBody>
                    <a:bodyPr/>
                    <a:lstStyle/>
                    <a:p>
                      <a:r>
                        <a:rPr sz="1200" b="0" i="0">
                          <a:solidFill>
                            <a:srgbClr val="1A1440"/>
                          </a:solidFill>
                          <a:latin typeface="Calibri"/>
                        </a:rPr>
                        <a:t>The analysis</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The tree, ladder or fair comparison reaches the branch that explains the symptom, on the right denominator, with a chance test where one is needed.</a:t>
                      </a:r>
                    </a:p>
                  </a:txBody>
                  <a:tcPr marL="101600" marR="101600" marT="38100" marB="38100" anchor="ctr">
                    <a:solidFill>
                      <a:srgbClr val="FFFFFF"/>
                    </a:solidFill>
                  </a:tcPr>
                </a:tc>
              </a:tr>
              <a:tr h="542544">
                <a:tc>
                  <a:txBody>
                    <a:bodyPr/>
                    <a:lstStyle/>
                    <a:p>
                      <a:r>
                        <a:rPr sz="1200" b="0" i="0">
                          <a:solidFill>
                            <a:srgbClr val="1A1440"/>
                          </a:solidFill>
                          <a:latin typeface="Calibri"/>
                        </a:rPr>
                        <a:t>The claim</a:t>
                      </a:r>
                    </a:p>
                  </a:txBody>
                  <a:tcPr marL="101600" marR="101600" marT="38100" marB="38100" anchor="ctr">
                    <a:solidFill>
                      <a:srgbClr val="F4F2FA"/>
                    </a:solidFill>
                  </a:tcPr>
                </a:tc>
                <a:tc>
                  <a:txBody>
                    <a:bodyPr/>
                    <a:lstStyle/>
                    <a:p>
                      <a:r>
                        <a:rPr sz="1200" b="0" i="0">
                          <a:solidFill>
                            <a:srgbClr val="1A1440"/>
                          </a:solidFill>
                          <a:latin typeface="Calibri"/>
                        </a:rPr>
                        <a:t>6</a:t>
                      </a:r>
                    </a:p>
                  </a:txBody>
                  <a:tcPr marL="101600" marR="101600" marT="38100" marB="38100" anchor="ctr">
                    <a:solidFill>
                      <a:srgbClr val="F4F2FA"/>
                    </a:solidFill>
                  </a:tcPr>
                </a:tc>
                <a:tc>
                  <a:txBody>
                    <a:bodyPr/>
                    <a:lstStyle/>
                    <a:p>
                      <a:r>
                        <a:rPr sz="1200" b="0" i="0">
                          <a:solidFill>
                            <a:srgbClr val="1A1440"/>
                          </a:solidFill>
                          <a:latin typeface="Calibri"/>
                        </a:rPr>
                        <a:t>One sentence carries its number, denominator, period and caveat, plus an action Dr Menon can take.</a:t>
                      </a:r>
                    </a:p>
                  </a:txBody>
                  <a:tcPr marL="101600" marR="101600" marT="38100" marB="38100" anchor="ctr">
                    <a:solidFill>
                      <a:srgbClr val="F4F2FA"/>
                    </a:solidFill>
                  </a:tcPr>
                </a:tc>
              </a:tr>
              <a:tr h="335280">
                <a:tc>
                  <a:txBody>
                    <a:bodyPr/>
                    <a:lstStyle/>
                    <a:p>
                      <a:r>
                        <a:rPr sz="1200" b="0" i="0">
                          <a:solidFill>
                            <a:srgbClr val="1A1440"/>
                          </a:solidFill>
                          <a:latin typeface="Calibri"/>
                        </a:rPr>
                        <a:t>Presentation and defence</a:t>
                      </a:r>
                    </a:p>
                  </a:txBody>
                  <a:tcPr marL="101600" marR="101600" marT="38100" marB="38100" anchor="ctr">
                    <a:solidFill>
                      <a:srgbClr val="FFFFFF"/>
                    </a:solidFill>
                  </a:tcPr>
                </a:tc>
                <a:tc>
                  <a:txBody>
                    <a:bodyPr/>
                    <a:lstStyle/>
                    <a:p>
                      <a:r>
                        <a:rPr sz="1200" b="0" i="0">
                          <a:solidFill>
                            <a:srgbClr val="1A1440"/>
                          </a:solidFill>
                          <a:latin typeface="Calibri"/>
                        </a:rPr>
                        <a:t>6</a:t>
                      </a:r>
                    </a:p>
                  </a:txBody>
                  <a:tcPr marL="101600" marR="101600" marT="38100" marB="38100" anchor="ctr">
                    <a:solidFill>
                      <a:srgbClr val="FFFFFF"/>
                    </a:solidFill>
                  </a:tcPr>
                </a:tc>
                <a:tc>
                  <a:txBody>
                    <a:bodyPr/>
                    <a:lstStyle/>
                    <a:p>
                      <a:r>
                        <a:rPr sz="1200" b="0" i="0">
                          <a:solidFill>
                            <a:srgbClr val="1A1440"/>
                          </a:solidFill>
                          <a:latin typeface="Calibri"/>
                        </a:rPr>
                        <a:t>The live demo runs cold, and every member answers a challenge on the caveat.</a:t>
                      </a:r>
                    </a:p>
                  </a:txBody>
                  <a:tcPr marL="101600" marR="101600" marT="38100" marB="38100" anchor="ctr">
                    <a:solidFill>
                      <a:srgbClr val="FFFFFF"/>
                    </a:solidFill>
                  </a:tcPr>
                </a:tc>
              </a:tr>
            </a:tbl>
          </a:graphicData>
        </a:graphic>
      </p:graphicFrame>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9" name="Oval 1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5" name="Oval 24"/>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59 / 63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failed demo costs its own marks, never the analysis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if the live demo fails in front of the panel?</a:t>
            </a:r>
          </a:p>
        </p:txBody>
      </p:sp>
      <p:pic>
        <p:nvPicPr>
          <p:cNvPr id="9" name="mermaid diagram" descr="a9786fd97886a4a7.png"/>
          <p:cNvPicPr>
            <a:picLocks noChangeAspect="1"/>
          </p:cNvPicPr>
          <p:nvPr/>
        </p:nvPicPr>
        <p:blipFill>
          <a:blip r:embed="rId5"/>
          <a:stretch>
            <a:fillRect/>
          </a:stretch>
        </p:blipFill>
        <p:spPr>
          <a:xfrm>
            <a:off x="530352" y="1956816"/>
            <a:ext cx="11130991" cy="1450581"/>
          </a:xfrm>
          <a:prstGeom prst="rect">
            <a:avLst/>
          </a:prstGeom>
        </p:spPr>
      </p:pic>
      <p:sp>
        <p:nvSpPr>
          <p:cNvPr id="10" name="TextBox 9"/>
          <p:cNvSpPr txBox="1"/>
          <p:nvPr/>
        </p:nvSpPr>
        <p:spPr>
          <a:xfrm>
            <a:off x="530352" y="3553701"/>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other 34 marks are scored from the executed run, so a demo that fails costs the live demo's share of presentation and defence and nothing more.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3" name="Oval 22"/>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60 / 63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Mock R1 is 30 marks: a technical half and a viva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Mock R1 scored on Thursday 22 October?</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Mock interview R1, 30 marks. </a:t>
            </a:r>
            <a:r>
              <a:rPr sz="1500" b="0" i="0">
                <a:solidFill>
                  <a:srgbClr val="1A1440"/>
                </a:solidFill>
                <a:latin typeface="Calibri"/>
              </a:rPr>
              <a:t>Each learner is scored alone, 15 marks on the technical half and 15 on the project viva.</a:t>
            </a:r>
          </a:p>
        </p:txBody>
      </p:sp>
      <p:graphicFrame>
        <p:nvGraphicFramePr>
          <p:cNvPr id="12" name="Table 11"/>
          <p:cNvGraphicFramePr>
            <a:graphicFrameLocks noGrp="1"/>
          </p:cNvGraphicFramePr>
          <p:nvPr/>
        </p:nvGraphicFramePr>
        <p:xfrm>
          <a:off x="530352" y="2929128"/>
          <a:ext cx="11130991" cy="2588768"/>
        </p:xfrm>
        <a:graphic>
          <a:graphicData uri="http://schemas.openxmlformats.org/drawingml/2006/table">
            <a:tbl>
              <a:tblPr firstRow="0" bandRow="0">
                <a:tableStyleId>{2D5ABB26-0587-4C30-8999-92F81FD0307C}</a:tableStyleId>
              </a:tblPr>
              <a:tblGrid>
                <a:gridCol w="2047739"/>
                <a:gridCol w="8168852"/>
                <a:gridCol w="914400"/>
              </a:tblGrid>
              <a:tr h="369824">
                <a:tc>
                  <a:txBody>
                    <a:bodyPr/>
                    <a:lstStyle/>
                    <a:p>
                      <a:r>
                        <a:rPr sz="1450" b="1" i="0">
                          <a:solidFill>
                            <a:srgbClr val="FFFFFF"/>
                          </a:solidFill>
                          <a:latin typeface="Calibri"/>
                        </a:rPr>
                        <a:t>Half</a:t>
                      </a:r>
                    </a:p>
                  </a:txBody>
                  <a:tcPr marL="101600" marR="101600" marT="38100" marB="38100" anchor="ctr">
                    <a:solidFill>
                      <a:srgbClr val="1A0F5C"/>
                    </a:solidFill>
                  </a:tcPr>
                </a:tc>
                <a:tc>
                  <a:txBody>
                    <a:bodyPr/>
                    <a:lstStyle/>
                    <a:p>
                      <a:r>
                        <a:rPr sz="1450" b="1" i="0">
                          <a:solidFill>
                            <a:srgbClr val="FFFFFF"/>
                          </a:solidFill>
                          <a:latin typeface="Calibri"/>
                        </a:rPr>
                        <a:t>Criterion</a:t>
                      </a:r>
                    </a:p>
                  </a:txBody>
                  <a:tcPr marL="101600" marR="101600" marT="38100" marB="38100" anchor="ctr">
                    <a:solidFill>
                      <a:srgbClr val="1A0F5C"/>
                    </a:solidFill>
                  </a:tcPr>
                </a:tc>
                <a:tc>
                  <a:txBody>
                    <a:bodyPr/>
                    <a:lstStyle/>
                    <a:p>
                      <a:r>
                        <a:rPr sz="1450" b="1" i="0">
                          <a:solidFill>
                            <a:srgbClr val="FFFFFF"/>
                          </a:solidFill>
                          <a:latin typeface="Calibri"/>
                        </a:rPr>
                        <a:t>Marks</a:t>
                      </a:r>
                    </a:p>
                  </a:txBody>
                  <a:tcPr marL="101600" marR="101600" marT="38100" marB="38100" anchor="ctr">
                    <a:solidFill>
                      <a:srgbClr val="1A0F5C"/>
                    </a:solidFill>
                  </a:tcPr>
                </a:tc>
              </a:tr>
              <a:tr h="369824">
                <a:tc>
                  <a:txBody>
                    <a:bodyPr/>
                    <a:lstStyle/>
                    <a:p>
                      <a:r>
                        <a:rPr sz="1400" b="0" i="0">
                          <a:solidFill>
                            <a:srgbClr val="1A1440"/>
                          </a:solidFill>
                          <a:latin typeface="Calibri"/>
                        </a:rPr>
                        <a:t>Technical</a:t>
                      </a:r>
                    </a:p>
                  </a:txBody>
                  <a:tcPr marL="101600" marR="101600" marT="38100" marB="38100" anchor="ctr">
                    <a:solidFill>
                      <a:srgbClr val="FFFFFF"/>
                    </a:solidFill>
                  </a:tcPr>
                </a:tc>
                <a:tc>
                  <a:txBody>
                    <a:bodyPr/>
                    <a:lstStyle/>
                    <a:p>
                      <a:r>
                        <a:rPr sz="1400" b="0" i="0">
                          <a:solidFill>
                            <a:srgbClr val="1A1440"/>
                          </a:solidFill>
                          <a:latin typeface="Calibri"/>
                        </a:rPr>
                        <a:t>Correctness</a:t>
                      </a:r>
                    </a:p>
                  </a:txBody>
                  <a:tcPr marL="101600" marR="101600" marT="38100" marB="38100" anchor="ctr">
                    <a:solidFill>
                      <a:srgbClr val="FFFFFF"/>
                    </a:solidFill>
                  </a:tcPr>
                </a:tc>
                <a:tc>
                  <a:txBody>
                    <a:bodyPr/>
                    <a:lstStyle/>
                    <a:p>
                      <a:r>
                        <a:rPr sz="1400" b="0" i="0">
                          <a:solidFill>
                            <a:srgbClr val="1A1440"/>
                          </a:solidFill>
                          <a:latin typeface="Calibri"/>
                        </a:rPr>
                        <a:t>8</a:t>
                      </a:r>
                    </a:p>
                  </a:txBody>
                  <a:tcPr marL="101600" marR="101600" marT="38100" marB="38100" anchor="ctr">
                    <a:solidFill>
                      <a:srgbClr val="FFFFFF"/>
                    </a:solidFill>
                  </a:tcPr>
                </a:tc>
              </a:tr>
              <a:tr h="369824">
                <a:tc>
                  <a:txBody>
                    <a:bodyPr/>
                    <a:lstStyle/>
                    <a:p>
                      <a:r>
                        <a:rPr sz="1400" b="0" i="0">
                          <a:solidFill>
                            <a:srgbClr val="1A1440"/>
                          </a:solidFill>
                          <a:latin typeface="Calibri"/>
                        </a:rPr>
                        <a:t>Technical</a:t>
                      </a:r>
                    </a:p>
                  </a:txBody>
                  <a:tcPr marL="101600" marR="101600" marT="38100" marB="38100" anchor="ctr">
                    <a:solidFill>
                      <a:srgbClr val="F4F2FA"/>
                    </a:solidFill>
                  </a:tcPr>
                </a:tc>
                <a:tc>
                  <a:txBody>
                    <a:bodyPr/>
                    <a:lstStyle/>
                    <a:p>
                      <a:r>
                        <a:rPr sz="1400" b="0" i="0">
                          <a:solidFill>
                            <a:srgbClr val="1A1440"/>
                          </a:solidFill>
                          <a:latin typeface="Calibri"/>
                        </a:rPr>
                        <a:t>Reasoning aloud with numbers</a:t>
                      </a:r>
                    </a:p>
                  </a:txBody>
                  <a:tcPr marL="101600" marR="101600" marT="38100" marB="38100" anchor="ctr">
                    <a:solidFill>
                      <a:srgbClr val="F4F2FA"/>
                    </a:solidFill>
                  </a:tcPr>
                </a:tc>
                <a:tc>
                  <a:txBody>
                    <a:bodyPr/>
                    <a:lstStyle/>
                    <a:p>
                      <a:r>
                        <a:rPr sz="1400" b="0" i="0">
                          <a:solidFill>
                            <a:srgbClr val="1A1440"/>
                          </a:solidFill>
                          <a:latin typeface="Calibri"/>
                        </a:rPr>
                        <a:t>4</a:t>
                      </a:r>
                    </a:p>
                  </a:txBody>
                  <a:tcPr marL="101600" marR="101600" marT="38100" marB="38100" anchor="ctr">
                    <a:solidFill>
                      <a:srgbClr val="F4F2FA"/>
                    </a:solidFill>
                  </a:tcPr>
                </a:tc>
              </a:tr>
              <a:tr h="369824">
                <a:tc>
                  <a:txBody>
                    <a:bodyPr/>
                    <a:lstStyle/>
                    <a:p>
                      <a:r>
                        <a:rPr sz="1400" b="0" i="0">
                          <a:solidFill>
                            <a:srgbClr val="1A1440"/>
                          </a:solidFill>
                          <a:latin typeface="Calibri"/>
                        </a:rPr>
                        <a:t>Technical</a:t>
                      </a:r>
                    </a:p>
                  </a:txBody>
                  <a:tcPr marL="101600" marR="101600" marT="38100" marB="38100" anchor="ctr">
                    <a:solidFill>
                      <a:srgbClr val="FFFFFF"/>
                    </a:solidFill>
                  </a:tcPr>
                </a:tc>
                <a:tc>
                  <a:txBody>
                    <a:bodyPr/>
                    <a:lstStyle/>
                    <a:p>
                      <a:r>
                        <a:rPr sz="1400" b="0" i="0">
                          <a:solidFill>
                            <a:srgbClr val="1A1440"/>
                          </a:solidFill>
                          <a:latin typeface="Calibri"/>
                        </a:rPr>
                        <a:t>Handling a follow-up</a:t>
                      </a:r>
                    </a:p>
                  </a:txBody>
                  <a:tcPr marL="101600" marR="101600" marT="38100" marB="38100" anchor="ctr">
                    <a:solidFill>
                      <a:srgbClr val="FFFFFF"/>
                    </a:solidFill>
                  </a:tcPr>
                </a:tc>
                <a:tc>
                  <a:txBody>
                    <a:bodyPr/>
                    <a:lstStyle/>
                    <a:p>
                      <a:r>
                        <a:rPr sz="1400" b="0" i="0">
                          <a:solidFill>
                            <a:srgbClr val="1A1440"/>
                          </a:solidFill>
                          <a:latin typeface="Calibri"/>
                        </a:rPr>
                        <a:t>3</a:t>
                      </a:r>
                    </a:p>
                  </a:txBody>
                  <a:tcPr marL="101600" marR="101600" marT="38100" marB="38100" anchor="ctr">
                    <a:solidFill>
                      <a:srgbClr val="FFFFFF"/>
                    </a:solidFill>
                  </a:tcPr>
                </a:tc>
              </a:tr>
              <a:tr h="369824">
                <a:tc>
                  <a:txBody>
                    <a:bodyPr/>
                    <a:lstStyle/>
                    <a:p>
                      <a:r>
                        <a:rPr sz="1400" b="0" i="0">
                          <a:solidFill>
                            <a:srgbClr val="1A1440"/>
                          </a:solidFill>
                          <a:latin typeface="Calibri"/>
                        </a:rPr>
                        <a:t>Project viva</a:t>
                      </a:r>
                    </a:p>
                  </a:txBody>
                  <a:tcPr marL="101600" marR="101600" marT="38100" marB="38100" anchor="ctr">
                    <a:solidFill>
                      <a:srgbClr val="F4F2FA"/>
                    </a:solidFill>
                  </a:tcPr>
                </a:tc>
                <a:tc>
                  <a:txBody>
                    <a:bodyPr/>
                    <a:lstStyle/>
                    <a:p>
                      <a:r>
                        <a:rPr sz="1400" b="0" i="0">
                          <a:solidFill>
                            <a:srgbClr val="1A1440"/>
                          </a:solidFill>
                          <a:latin typeface="Calibri"/>
                        </a:rPr>
                        <a:t>The translation, with one decision defended by evidence</a:t>
                      </a:r>
                    </a:p>
                  </a:txBody>
                  <a:tcPr marL="101600" marR="101600" marT="38100" marB="38100" anchor="ctr">
                    <a:solidFill>
                      <a:srgbClr val="F4F2FA"/>
                    </a:solidFill>
                  </a:tcPr>
                </a:tc>
                <a:tc>
                  <a:txBody>
                    <a:bodyPr/>
                    <a:lstStyle/>
                    <a:p>
                      <a:r>
                        <a:rPr sz="1400" b="0" i="0">
                          <a:solidFill>
                            <a:srgbClr val="1A1440"/>
                          </a:solidFill>
                          <a:latin typeface="Calibri"/>
                        </a:rPr>
                        <a:t>6</a:t>
                      </a:r>
                    </a:p>
                  </a:txBody>
                  <a:tcPr marL="101600" marR="101600" marT="38100" marB="38100" anchor="ctr">
                    <a:solidFill>
                      <a:srgbClr val="F4F2FA"/>
                    </a:solidFill>
                  </a:tcPr>
                </a:tc>
              </a:tr>
              <a:tr h="369824">
                <a:tc>
                  <a:txBody>
                    <a:bodyPr/>
                    <a:lstStyle/>
                    <a:p>
                      <a:r>
                        <a:rPr sz="1400" b="0" i="0">
                          <a:solidFill>
                            <a:srgbClr val="1A1440"/>
                          </a:solidFill>
                          <a:latin typeface="Calibri"/>
                        </a:rPr>
                        <a:t>Project viva</a:t>
                      </a:r>
                    </a:p>
                  </a:txBody>
                  <a:tcPr marL="101600" marR="101600" marT="38100" marB="38100" anchor="ctr">
                    <a:solidFill>
                      <a:srgbClr val="FFFFFF"/>
                    </a:solidFill>
                  </a:tcPr>
                </a:tc>
                <a:tc>
                  <a:txBody>
                    <a:bodyPr/>
                    <a:lstStyle/>
                    <a:p>
                      <a:r>
                        <a:rPr sz="1400" b="0" i="0">
                          <a:solidFill>
                            <a:srgbClr val="1A1440"/>
                          </a:solidFill>
                          <a:latin typeface="Calibri"/>
                        </a:rPr>
                        <a:t>Defending a caveat under challenge</a:t>
                      </a:r>
                    </a:p>
                  </a:txBody>
                  <a:tcPr marL="101600" marR="101600" marT="38100" marB="38100" anchor="ctr">
                    <a:solidFill>
                      <a:srgbClr val="FFFFFF"/>
                    </a:solidFill>
                  </a:tcPr>
                </a:tc>
                <a:tc>
                  <a:txBody>
                    <a:bodyPr/>
                    <a:lstStyle/>
                    <a:p>
                      <a:r>
                        <a:rPr sz="1400" b="0" i="0">
                          <a:solidFill>
                            <a:srgbClr val="1A1440"/>
                          </a:solidFill>
                          <a:latin typeface="Calibri"/>
                        </a:rPr>
                        <a:t>6</a:t>
                      </a:r>
                    </a:p>
                  </a:txBody>
                  <a:tcPr marL="101600" marR="101600" marT="38100" marB="38100" anchor="ctr">
                    <a:solidFill>
                      <a:srgbClr val="FFFFFF"/>
                    </a:solidFill>
                  </a:tcPr>
                </a:tc>
              </a:tr>
              <a:tr h="369824">
                <a:tc>
                  <a:txBody>
                    <a:bodyPr/>
                    <a:lstStyle/>
                    <a:p>
                      <a:r>
                        <a:rPr sz="1400" b="0" i="0">
                          <a:solidFill>
                            <a:srgbClr val="1A1440"/>
                          </a:solidFill>
                          <a:latin typeface="Calibri"/>
                        </a:rPr>
                        <a:t>Project viva</a:t>
                      </a:r>
                    </a:p>
                  </a:txBody>
                  <a:tcPr marL="101600" marR="101600" marT="38100" marB="38100" anchor="ctr">
                    <a:solidFill>
                      <a:srgbClr val="F4F2FA"/>
                    </a:solidFill>
                  </a:tcPr>
                </a:tc>
                <a:tc>
                  <a:txBody>
                    <a:bodyPr/>
                    <a:lstStyle/>
                    <a:p>
                      <a:r>
                        <a:rPr sz="1400" b="0" i="0">
                          <a:solidFill>
                            <a:srgbClr val="1A1440"/>
                          </a:solidFill>
                          <a:latin typeface="Calibri"/>
                        </a:rPr>
                        <a:t>What they would do differently</a:t>
                      </a:r>
                    </a:p>
                  </a:txBody>
                  <a:tcPr marL="101600" marR="101600" marT="38100" marB="38100" anchor="ctr">
                    <a:solidFill>
                      <a:srgbClr val="F4F2FA"/>
                    </a:solidFill>
                  </a:tcPr>
                </a:tc>
                <a:tc>
                  <a:txBody>
                    <a:bodyPr/>
                    <a:lstStyle/>
                    <a:p>
                      <a:r>
                        <a:rPr sz="1400" b="0" i="0">
                          <a:solidFill>
                            <a:srgbClr val="1A1440"/>
                          </a:solidFill>
                          <a:latin typeface="Calibri"/>
                        </a:rPr>
                        <a:t>3</a:t>
                      </a:r>
                    </a:p>
                  </a:txBody>
                  <a:tcPr marL="101600" marR="101600" marT="38100" marB="38100" anchor="ctr">
                    <a:solidFill>
                      <a:srgbClr val="F4F2FA"/>
                    </a:solidFill>
                  </a:tcPr>
                </a:tc>
              </a:tr>
            </a:tbl>
          </a:graphicData>
        </a:graphic>
      </p:graphicFrame>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19" name="Oval 1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5" name="Oval 24"/>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61 / 63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group discussion is 30 marks, each learner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group discussion scored on Friday and Saturday?</a:t>
            </a:r>
          </a:p>
        </p:txBody>
      </p:sp>
      <p:sp>
        <p:nvSpPr>
          <p:cNvPr id="9" name="Rounded Rectangle 8"/>
          <p:cNvSpPr/>
          <p:nvPr/>
        </p:nvSpPr>
        <p:spPr>
          <a:xfrm>
            <a:off x="530352" y="195681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358140"/>
          </a:xfrm>
          <a:prstGeom prst="rect">
            <a:avLst/>
          </a:prstGeom>
          <a:noFill/>
        </p:spPr>
        <p:txBody>
          <a:bodyPr wrap="square" anchor="ctr" lIns="0" rIns="0" tIns="0" bIns="0">
            <a:spAutoFit/>
          </a:bodyPr>
          <a:lstStyle/>
          <a:p>
            <a:r>
              <a:rPr sz="1500" b="1">
                <a:solidFill>
                  <a:srgbClr val="5B3FD6"/>
                </a:solidFill>
                <a:latin typeface="Calibri"/>
              </a:rPr>
              <a:t>Group discussion, 30 marks. </a:t>
            </a:r>
            <a:r>
              <a:rPr sz="1500" b="0" i="0">
                <a:solidFill>
                  <a:srgbClr val="1A1440"/>
                </a:solidFill>
                <a:latin typeface="Calibri"/>
              </a:rPr>
              <a:t>Each learner is scored alone.</a:t>
            </a:r>
          </a:p>
        </p:txBody>
      </p:sp>
      <p:graphicFrame>
        <p:nvGraphicFramePr>
          <p:cNvPr id="12" name="Table 11"/>
          <p:cNvGraphicFramePr>
            <a:graphicFrameLocks noGrp="1"/>
          </p:cNvGraphicFramePr>
          <p:nvPr/>
        </p:nvGraphicFramePr>
        <p:xfrm>
          <a:off x="530352" y="2662428"/>
          <a:ext cx="11130990" cy="2090928"/>
        </p:xfrm>
        <a:graphic>
          <a:graphicData uri="http://schemas.openxmlformats.org/drawingml/2006/table">
            <a:tbl>
              <a:tblPr firstRow="0" bandRow="0">
                <a:tableStyleId>{2D5ABB26-0587-4C30-8999-92F81FD0307C}</a:tableStyleId>
              </a:tblPr>
              <a:tblGrid>
                <a:gridCol w="2935389"/>
                <a:gridCol w="914400"/>
                <a:gridCol w="7281201"/>
              </a:tblGrid>
              <a:tr h="369824">
                <a:tc>
                  <a:txBody>
                    <a:bodyPr/>
                    <a:lstStyle/>
                    <a:p>
                      <a:r>
                        <a:rPr sz="1450" b="1" i="0">
                          <a:solidFill>
                            <a:srgbClr val="FFFFFF"/>
                          </a:solidFill>
                          <a:latin typeface="Calibri"/>
                        </a:rPr>
                        <a:t>Criterion</a:t>
                      </a:r>
                    </a:p>
                  </a:txBody>
                  <a:tcPr marL="101600" marR="101600" marT="38100" marB="38100" anchor="ctr">
                    <a:solidFill>
                      <a:srgbClr val="1A0F5C"/>
                    </a:solidFill>
                  </a:tcPr>
                </a:tc>
                <a:tc>
                  <a:txBody>
                    <a:bodyPr/>
                    <a:lstStyle/>
                    <a:p>
                      <a:r>
                        <a:rPr sz="1450" b="1" i="0">
                          <a:solidFill>
                            <a:srgbClr val="FFFFFF"/>
                          </a:solidFill>
                          <a:latin typeface="Calibri"/>
                        </a:rPr>
                        <a:t>Marks</a:t>
                      </a:r>
                    </a:p>
                  </a:txBody>
                  <a:tcPr marL="101600" marR="101600" marT="38100" marB="38100" anchor="ctr">
                    <a:solidFill>
                      <a:srgbClr val="1A0F5C"/>
                    </a:solidFill>
                  </a:tcPr>
                </a:tc>
                <a:tc>
                  <a:txBody>
                    <a:bodyPr/>
                    <a:lstStyle/>
                    <a:p>
                      <a:r>
                        <a:rPr sz="1450" b="1" i="0">
                          <a:solidFill>
                            <a:srgbClr val="FFFFFF"/>
                          </a:solidFill>
                          <a:latin typeface="Calibri"/>
                        </a:rPr>
                        <a:t>What full marks look like</a:t>
                      </a:r>
                    </a:p>
                  </a:txBody>
                  <a:tcPr marL="101600" marR="101600" marT="38100" marB="38100" anchor="ctr">
                    <a:solidFill>
                      <a:srgbClr val="1A0F5C"/>
                    </a:solidFill>
                  </a:tcPr>
                </a:tc>
              </a:tr>
              <a:tr h="369824">
                <a:tc>
                  <a:txBody>
                    <a:bodyPr/>
                    <a:lstStyle/>
                    <a:p>
                      <a:r>
                        <a:rPr sz="1400" b="0" i="0">
                          <a:solidFill>
                            <a:srgbClr val="1A1440"/>
                          </a:solidFill>
                          <a:latin typeface="Calibri"/>
                        </a:rPr>
                        <a:t>Structures the problem</a:t>
                      </a:r>
                    </a:p>
                  </a:txBody>
                  <a:tcPr marL="101600" marR="101600" marT="38100" marB="38100" anchor="ctr">
                    <a:solidFill>
                      <a:srgbClr val="FFFFFF"/>
                    </a:solidFill>
                  </a:tcPr>
                </a:tc>
                <a:tc>
                  <a:txBody>
                    <a:bodyPr/>
                    <a:lstStyle/>
                    <a:p>
                      <a:r>
                        <a:rPr sz="1400" b="0" i="0">
                          <a:solidFill>
                            <a:srgbClr val="1A1440"/>
                          </a:solidFill>
                          <a:latin typeface="Calibri"/>
                        </a:rPr>
                        <a:t>8</a:t>
                      </a:r>
                    </a:p>
                  </a:txBody>
                  <a:tcPr marL="101600" marR="101600" marT="38100" marB="38100" anchor="ctr">
                    <a:solidFill>
                      <a:srgbClr val="FFFFFF"/>
                    </a:solidFill>
                  </a:tcPr>
                </a:tc>
                <a:tc>
                  <a:txBody>
                    <a:bodyPr/>
                    <a:lstStyle/>
                    <a:p>
                      <a:r>
                        <a:rPr sz="1400" b="0" i="0">
                          <a:solidFill>
                            <a:srgbClr val="1A1440"/>
                          </a:solidFill>
                          <a:latin typeface="Calibri"/>
                        </a:rPr>
                        <a:t>The learner frames the decision and the metric before arguing.</a:t>
                      </a:r>
                    </a:p>
                  </a:txBody>
                  <a:tcPr marL="101600" marR="101600" marT="38100" marB="38100" anchor="ctr">
                    <a:solidFill>
                      <a:srgbClr val="FFFFFF"/>
                    </a:solidFill>
                  </a:tcPr>
                </a:tc>
              </a:tr>
              <a:tr h="369824">
                <a:tc>
                  <a:txBody>
                    <a:bodyPr/>
                    <a:lstStyle/>
                    <a:p>
                      <a:r>
                        <a:rPr sz="1400" b="0" i="0">
                          <a:solidFill>
                            <a:srgbClr val="1A1440"/>
                          </a:solidFill>
                          <a:latin typeface="Calibri"/>
                        </a:rPr>
                        <a:t>Uses evidence</a:t>
                      </a:r>
                    </a:p>
                  </a:txBody>
                  <a:tcPr marL="101600" marR="101600" marT="38100" marB="38100" anchor="ctr">
                    <a:solidFill>
                      <a:srgbClr val="F4F2FA"/>
                    </a:solidFill>
                  </a:tcPr>
                </a:tc>
                <a:tc>
                  <a:txBody>
                    <a:bodyPr/>
                    <a:lstStyle/>
                    <a:p>
                      <a:r>
                        <a:rPr sz="1400" b="0" i="0">
                          <a:solidFill>
                            <a:srgbClr val="1A1440"/>
                          </a:solidFill>
                          <a:latin typeface="Calibri"/>
                        </a:rPr>
                        <a:t>8</a:t>
                      </a:r>
                    </a:p>
                  </a:txBody>
                  <a:tcPr marL="101600" marR="101600" marT="38100" marB="38100" anchor="ctr">
                    <a:solidFill>
                      <a:srgbClr val="F4F2FA"/>
                    </a:solidFill>
                  </a:tcPr>
                </a:tc>
                <a:tc>
                  <a:txBody>
                    <a:bodyPr/>
                    <a:lstStyle/>
                    <a:p>
                      <a:r>
                        <a:rPr sz="1400" b="0" i="0">
                          <a:solidFill>
                            <a:srgbClr val="1A1440"/>
                          </a:solidFill>
                          <a:latin typeface="Calibri"/>
                        </a:rPr>
                        <a:t>The learner takes a position and defends it with a number from the exhibit.</a:t>
                      </a:r>
                    </a:p>
                  </a:txBody>
                  <a:tcPr marL="101600" marR="101600" marT="38100" marB="38100" anchor="ctr">
                    <a:solidFill>
                      <a:srgbClr val="F4F2FA"/>
                    </a:solidFill>
                  </a:tcPr>
                </a:tc>
              </a:tr>
              <a:tr h="611632">
                <a:tc>
                  <a:txBody>
                    <a:bodyPr/>
                    <a:lstStyle/>
                    <a:p>
                      <a:r>
                        <a:rPr sz="1400" b="0" i="0">
                          <a:solidFill>
                            <a:srgbClr val="1A1440"/>
                          </a:solidFill>
                          <a:latin typeface="Calibri"/>
                        </a:rPr>
                        <a:t>Engages</a:t>
                      </a:r>
                    </a:p>
                  </a:txBody>
                  <a:tcPr marL="101600" marR="101600" marT="38100" marB="38100" anchor="ctr">
                    <a:solidFill>
                      <a:srgbClr val="FFFFFF"/>
                    </a:solidFill>
                  </a:tcPr>
                </a:tc>
                <a:tc>
                  <a:txBody>
                    <a:bodyPr/>
                    <a:lstStyle/>
                    <a:p>
                      <a:r>
                        <a:rPr sz="1400" b="0" i="0">
                          <a:solidFill>
                            <a:srgbClr val="1A1440"/>
                          </a:solidFill>
                          <a:latin typeface="Calibri"/>
                        </a:rPr>
                        <a:t>8</a:t>
                      </a:r>
                    </a:p>
                  </a:txBody>
                  <a:tcPr marL="101600" marR="101600" marT="38100" marB="38100" anchor="ctr">
                    <a:solidFill>
                      <a:srgbClr val="FFFFFF"/>
                    </a:solidFill>
                  </a:tcPr>
                </a:tc>
                <a:tc>
                  <a:txBody>
                    <a:bodyPr/>
                    <a:lstStyle/>
                    <a:p>
                      <a:r>
                        <a:rPr sz="1400" b="0" i="0">
                          <a:solidFill>
                            <a:srgbClr val="1A1440"/>
                          </a:solidFill>
                          <a:latin typeface="Calibri"/>
                        </a:rPr>
                        <a:t>The learner builds on or challenges another member's point and brings a quiet member in.</a:t>
                      </a:r>
                    </a:p>
                  </a:txBody>
                  <a:tcPr marL="101600" marR="101600" marT="38100" marB="38100" anchor="ctr">
                    <a:solidFill>
                      <a:srgbClr val="FFFFFF"/>
                    </a:solidFill>
                  </a:tcPr>
                </a:tc>
              </a:tr>
              <a:tr h="369824">
                <a:tc>
                  <a:txBody>
                    <a:bodyPr/>
                    <a:lstStyle/>
                    <a:p>
                      <a:r>
                        <a:rPr sz="1400" b="0" i="0">
                          <a:solidFill>
                            <a:srgbClr val="1A1440"/>
                          </a:solidFill>
                          <a:latin typeface="Calibri"/>
                        </a:rPr>
                        <a:t>Lands a conclusion</a:t>
                      </a:r>
                    </a:p>
                  </a:txBody>
                  <a:tcPr marL="101600" marR="101600" marT="38100" marB="38100" anchor="ctr">
                    <a:solidFill>
                      <a:srgbClr val="F4F2FA"/>
                    </a:solidFill>
                  </a:tcPr>
                </a:tc>
                <a:tc>
                  <a:txBody>
                    <a:bodyPr/>
                    <a:lstStyle/>
                    <a:p>
                      <a:r>
                        <a:rPr sz="1400" b="0" i="0">
                          <a:solidFill>
                            <a:srgbClr val="1A1440"/>
                          </a:solidFill>
                          <a:latin typeface="Calibri"/>
                        </a:rPr>
                        <a:t>6</a:t>
                      </a:r>
                    </a:p>
                  </a:txBody>
                  <a:tcPr marL="101600" marR="101600" marT="38100" marB="38100" anchor="ctr">
                    <a:solidFill>
                      <a:srgbClr val="F4F2FA"/>
                    </a:solidFill>
                  </a:tcPr>
                </a:tc>
                <a:tc>
                  <a:txBody>
                    <a:bodyPr/>
                    <a:lstStyle/>
                    <a:p>
                      <a:r>
                        <a:rPr sz="1400" b="0" i="0">
                          <a:solidFill>
                            <a:srgbClr val="1A1440"/>
                          </a:solidFill>
                          <a:latin typeface="Calibri"/>
                        </a:rPr>
                        <a:t>The discussion ends on a recommendation and its main risk.</a:t>
                      </a:r>
                    </a:p>
                  </a:txBody>
                  <a:tcPr marL="101600" marR="101600" marT="38100" marB="38100" anchor="ctr">
                    <a:solidFill>
                      <a:srgbClr val="F4F2FA"/>
                    </a:solidFill>
                  </a:tcPr>
                </a:tc>
              </a:tr>
            </a:tbl>
          </a:graphicData>
        </a:graphic>
      </p:graphicFrame>
      <p:sp>
        <p:nvSpPr>
          <p:cNvPr id="13" name="TextBox 12"/>
          <p:cNvSpPr txBox="1"/>
          <p:nvPr/>
        </p:nvSpPr>
        <p:spPr>
          <a:xfrm>
            <a:off x="530352" y="500938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group discussion rounds run on Friday 23 October and close on the morning of Saturday 24 October.</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20" name="Oval 19"/>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4" name="Oval 23"/>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6" name="Oval 25"/>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62 / 63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3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Monday closes on pinned scopes; Wednesday tests them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Monday end on, and what does Wednesday open with?</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4034277"/>
                <a:gridCol w="7096713"/>
              </a:tblGrid>
              <a:tr h="369824">
                <a:tc>
                  <a:txBody>
                    <a:bodyPr/>
                    <a:lstStyle/>
                    <a:p>
                      <a:r>
                        <a:rPr sz="1450" b="1" i="0">
                          <a:solidFill>
                            <a:srgbClr val="FFFFFF"/>
                          </a:solidFill>
                          <a:latin typeface="Calibri"/>
                        </a:rPr>
                        <a:t>When</a:t>
                      </a:r>
                    </a:p>
                  </a:txBody>
                  <a:tcPr marL="101600" marR="101600" marT="38100" marB="38100" anchor="ctr">
                    <a:solidFill>
                      <a:srgbClr val="1A0F5C"/>
                    </a:solidFill>
                  </a:tcPr>
                </a:tc>
                <a:tc>
                  <a:txBody>
                    <a:bodyPr/>
                    <a:lstStyle/>
                    <a:p>
                      <a:r>
                        <a:rPr sz="1450" b="1" i="0">
                          <a:solidFill>
                            <a:srgbClr val="FFFFFF"/>
                          </a:solidFill>
                          <a:latin typeface="Calibri"/>
                        </a:rPr>
                        <a:t>What each group does</a:t>
                      </a:r>
                    </a:p>
                  </a:txBody>
                  <a:tcPr marL="101600" marR="101600" marT="38100" marB="38100" anchor="ctr">
                    <a:solidFill>
                      <a:srgbClr val="1A0F5C"/>
                    </a:solidFill>
                  </a:tcPr>
                </a:tc>
              </a:tr>
              <a:tr h="369824">
                <a:tc>
                  <a:txBody>
                    <a:bodyPr/>
                    <a:lstStyle/>
                    <a:p>
                      <a:r>
                        <a:rPr sz="1400" b="0" i="0">
                          <a:solidFill>
                            <a:srgbClr val="1A1440"/>
                          </a:solidFill>
                          <a:latin typeface="Calibri"/>
                        </a:rPr>
                        <a:t>The close today, 15 minutes</a:t>
                      </a:r>
                    </a:p>
                  </a:txBody>
                  <a:tcPr marL="101600" marR="101600" marT="38100" marB="38100" anchor="ctr">
                    <a:solidFill>
                      <a:srgbClr val="FFFFFF"/>
                    </a:solidFill>
                  </a:tcPr>
                </a:tc>
                <a:tc>
                  <a:txBody>
                    <a:bodyPr/>
                    <a:lstStyle/>
                    <a:p>
                      <a:r>
                        <a:rPr sz="1400" b="0" i="0">
                          <a:solidFill>
                            <a:srgbClr val="1A1440"/>
                          </a:solidFill>
                          <a:latin typeface="Calibri"/>
                        </a:rPr>
                        <a:t>Reads its one-sentence scope aloud, with the one thing it will not do</a:t>
                      </a:r>
                    </a:p>
                  </a:txBody>
                  <a:tcPr marL="101600" marR="101600" marT="38100" marB="38100" anchor="ctr">
                    <a:solidFill>
                      <a:srgbClr val="FFFFFF"/>
                    </a:solidFill>
                  </a:tcPr>
                </a:tc>
              </a:tr>
              <a:tr h="369824">
                <a:tc>
                  <a:txBody>
                    <a:bodyPr/>
                    <a:lstStyle/>
                    <a:p>
                      <a:r>
                        <a:rPr sz="1400" b="0" i="0">
                          <a:solidFill>
                            <a:srgbClr val="1A1440"/>
                          </a:solidFill>
                          <a:latin typeface="Calibri"/>
                        </a:rPr>
                        <a:t>After today's blocks</a:t>
                      </a:r>
                    </a:p>
                  </a:txBody>
                  <a:tcPr marL="101600" marR="101600" marT="38100" marB="38100" anchor="ctr">
                    <a:solidFill>
                      <a:srgbClr val="F4F2FA"/>
                    </a:solidFill>
                  </a:tcPr>
                </a:tc>
                <a:tc>
                  <a:txBody>
                    <a:bodyPr/>
                    <a:lstStyle/>
                    <a:p>
                      <a:r>
                        <a:rPr sz="1400" b="0" i="0">
                          <a:solidFill>
                            <a:srgbClr val="1A1440"/>
                          </a:solidFill>
                          <a:latin typeface="Calibri"/>
                        </a:rPr>
                        <a:t>Starts the build against its own scope, and logs challenges as they happen</a:t>
                      </a:r>
                    </a:p>
                  </a:txBody>
                  <a:tcPr marL="101600" marR="101600" marT="38100" marB="38100" anchor="ctr">
                    <a:solidFill>
                      <a:srgbClr val="F4F2FA"/>
                    </a:solidFill>
                  </a:tcPr>
                </a:tc>
              </a:tr>
              <a:tr h="369824">
                <a:tc>
                  <a:txBody>
                    <a:bodyPr/>
                    <a:lstStyle/>
                    <a:p>
                      <a:r>
                        <a:rPr sz="1400" b="0" i="0">
                          <a:solidFill>
                            <a:srgbClr val="1A1440"/>
                          </a:solidFill>
                          <a:latin typeface="Calibri"/>
                        </a:rPr>
                        <a:t>Wednesday 21 October, 30 minutes</a:t>
                      </a:r>
                    </a:p>
                  </a:txBody>
                  <a:tcPr marL="101600" marR="101600" marT="38100" marB="38100" anchor="ctr">
                    <a:solidFill>
                      <a:srgbClr val="FFFFFF"/>
                    </a:solidFill>
                  </a:tcPr>
                </a:tc>
                <a:tc>
                  <a:txBody>
                    <a:bodyPr/>
                    <a:lstStyle/>
                    <a:p>
                      <a:r>
                        <a:rPr sz="1400" b="0" i="0">
                          <a:solidFill>
                            <a:srgbClr val="1A1440"/>
                          </a:solidFill>
                          <a:latin typeface="Calibri"/>
                        </a:rPr>
                        <a:t>Answers the day's three checkpoint questions, two minutes per group</a:t>
                      </a:r>
                    </a:p>
                  </a:txBody>
                  <a:tcPr marL="101600" marR="101600" marT="38100" marB="38100" anchor="ctr">
                    <a:solidFill>
                      <a:srgbClr val="FFFFFF"/>
                    </a:solidFill>
                  </a:tcPr>
                </a:tc>
              </a:tr>
              <a:tr h="369824">
                <a:tc>
                  <a:txBody>
                    <a:bodyPr/>
                    <a:lstStyle/>
                    <a:p>
                      <a:r>
                        <a:rPr sz="1400" b="0" i="0">
                          <a:solidFill>
                            <a:srgbClr val="1A1440"/>
                          </a:solidFill>
                          <a:latin typeface="Calibri"/>
                        </a:rPr>
                        <a:t>Wednesday 21 October, 20 minutes</a:t>
                      </a:r>
                    </a:p>
                  </a:txBody>
                  <a:tcPr marL="101600" marR="101600" marT="38100" marB="38100" anchor="ctr">
                    <a:solidFill>
                      <a:srgbClr val="F4F2FA"/>
                    </a:solidFill>
                  </a:tcPr>
                </a:tc>
                <a:tc>
                  <a:txBody>
                    <a:bodyPr/>
                    <a:lstStyle/>
                    <a:p>
                      <a:r>
                        <a:rPr sz="1400" b="0" i="0">
                          <a:solidFill>
                            <a:srgbClr val="1A1440"/>
                          </a:solidFill>
                          <a:latin typeface="Calibri"/>
                        </a:rPr>
                        <a:t>States its headline claim, with its denominators and caveat</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6466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ic_caee7398c80d.png"/>
          <p:cNvPicPr>
            <a:picLocks noChangeAspect="1"/>
          </p:cNvPicPr>
          <p:nvPr/>
        </p:nvPicPr>
        <p:blipFill>
          <a:blip r:embed="rId4"/>
          <a:stretch>
            <a:fillRect/>
          </a:stretch>
        </p:blipFill>
        <p:spPr>
          <a:xfrm>
            <a:off x="868680" y="4374388"/>
            <a:ext cx="237744" cy="237744"/>
          </a:xfrm>
          <a:prstGeom prst="rect">
            <a:avLst/>
          </a:prstGeom>
        </p:spPr>
      </p:pic>
      <p:sp>
        <p:nvSpPr>
          <p:cNvPr id="13" name="TextBox 12"/>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4" name="TextBox 13"/>
          <p:cNvSpPr txBox="1"/>
          <p:nvPr/>
        </p:nvSpPr>
        <p:spPr>
          <a:xfrm>
            <a:off x="1399031" y="4427728"/>
            <a:ext cx="9987991" cy="423672"/>
          </a:xfrm>
          <a:prstGeom prst="rect">
            <a:avLst/>
          </a:prstGeom>
          <a:noFill/>
        </p:spPr>
        <p:txBody>
          <a:bodyPr wrap="square" anchor="t" lIns="0" rIns="0" tIns="0" bIns="0">
            <a:spAutoFit/>
          </a:bodyPr>
          <a:lstStyle/>
          <a:p>
            <a:r>
              <a:rPr sz="1500" b="0" i="0">
                <a:solidFill>
                  <a:srgbClr val="1A1440"/>
                </a:solidFill>
                <a:latin typeface="Calibri"/>
              </a:rPr>
              <a:t>[F] What changes when the cost of an error is a missed diagnosis rather than a missed sale?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is Dr Menon asking?</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How does a US lab earn?</a:t>
            </a:r>
          </a:p>
        </p:txBody>
      </p:sp>
      <p:sp>
        <p:nvSpPr>
          <p:cNvPr id="19" name="Oval 1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5332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Which five questions?</a:t>
            </a:r>
          </a:p>
        </p:txBody>
      </p:sp>
      <p:sp>
        <p:nvSpPr>
          <p:cNvPr id="21" name="Oval 2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9493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Which moves do you own?</a:t>
            </a:r>
          </a:p>
        </p:txBody>
      </p:sp>
      <p:sp>
        <p:nvSpPr>
          <p:cNvPr id="23" name="Oval 2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Who takes which question?</a:t>
            </a:r>
          </a:p>
        </p:txBody>
      </p:sp>
      <p:sp>
        <p:nvSpPr>
          <p:cNvPr id="25" name="Oval 2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is today's work?</a:t>
            </a:r>
          </a:p>
        </p:txBody>
      </p:sp>
      <p:sp>
        <p:nvSpPr>
          <p:cNvPr id="27" name="Oval 26"/>
          <p:cNvSpPr/>
          <p:nvPr/>
        </p:nvSpPr>
        <p:spPr>
          <a:xfrm>
            <a:off x="968606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795795"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When is the week scored?</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63 / 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