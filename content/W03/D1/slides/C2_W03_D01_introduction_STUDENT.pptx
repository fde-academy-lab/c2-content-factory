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online, 1 minute. On screen as the link opens. The trainer in the room</a:t>
            </a:r>
          </a:p>
          <a:p>
            <a:r>
              <a:t>runs the link and reads the chat aloud. Read Dr Menon's words once and leave them up. Say once that</a:t>
            </a:r>
          </a:p>
          <a:p>
            <a:r>
              <a:t>Kalpa Health, like every Kalpa company, is fictional, and that every record in the files is</a:t>
            </a:r>
          </a:p>
          <a:p>
            <a:r>
              <a:t>synthetic, so no real patient's information is anywhere in the programme. Then the sentence the week</a:t>
            </a:r>
          </a:p>
          <a:p>
            <a:r>
              <a:t>rests on: this is the question Meera Raghavan asked in Week 1, from a business none of you has</a:t>
            </a:r>
          </a:p>
          <a:p>
            <a:r>
              <a:t>worked in, and you already own the method that answers it.</a:t>
            </a:r>
          </a:p>
          <a:p>
            <a:r>
              <a:t>Transition: the seven questions that turn her ask into each group's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Read the day's question, then the seven short questions in</a:t>
            </a:r>
          </a:p>
          <a:p>
            <a:r>
              <a:t>order. Say how the day runs around them: this hour answers all seven, the trainer then tells the</a:t>
            </a:r>
          </a:p>
          <a:p>
            <a:r>
              <a:t>story of the US lab business in full for 45 minutes, the allocation follows the story so that groups</a:t>
            </a:r>
          </a:p>
          <a:p>
            <a:r>
              <a:t>choose knowing the domain, and the rest of the day is each group's translation, ending on a pinned</a:t>
            </a:r>
          </a:p>
          <a:p>
            <a:r>
              <a:t>scope at the close.</a:t>
            </a:r>
          </a:p>
          <a:p>
            <a:r>
              <a:t>Ask: which of the seven would you most want answered before you choose a question? Hear two answers</a:t>
            </a:r>
          </a:p>
          <a:p>
            <a:r>
              <a:t>in the chat and leave them open.</a:t>
            </a:r>
          </a:p>
          <a:p>
            <a:r>
              <a:t>Watch for anyone who starts answering Dr Menon in the chat ("it must be a competitor"). Say: write</a:t>
            </a:r>
          </a:p>
          <a:p>
            <a:r>
              <a:t>it down as a guess; nobody has opened a file yet.</a:t>
            </a:r>
          </a:p>
          <a:p>
            <a:r>
              <a:t>Transition: question 1, what Dr Menon has actually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Head. Section 1 runs about 10 minutes over its five slides. Its job is to put Dr</a:t>
            </a:r>
          </a:p>
          <a:p>
            <a:r>
              <a:t>Menon's situation in front of the room in her words before anyone hears the word sub-problem. No</a:t>
            </a:r>
          </a:p>
          <a:p>
            <a:r>
              <a:t>tools and no method names yet.</a:t>
            </a:r>
          </a:p>
          <a:p>
            <a:r>
              <a:t>Transition: who needs the answer, and the four questions on the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Read who needs the answer, then the four questions. Each gets</a:t>
            </a:r>
          </a:p>
          <a:p>
            <a:r>
              <a:t>one slide and an answer before the next is asked.</a:t>
            </a:r>
          </a:p>
          <a:p>
            <a:r>
              <a:t>Transition: the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Kalpa Health runs one laboratory and two patient service</a:t>
            </a:r>
          </a:p>
          <a:p>
            <a:r>
              <a:t>centres, where blood is drawn, in each of six US metro areas: Dallas, Phoenix, New York, Chicago,</a:t>
            </a:r>
          </a:p>
          <a:p>
            <a:r>
              <a:t>Atlanta and Philadelphia. It reports in calendar quarters: Q2 is April to June 2026, Q3 is July to</a:t>
            </a:r>
          </a:p>
          <a:p>
            <a:r>
              <a:t>September 2026. The ten files the groups hold are the export taken on Friday 16 October 2026.</a:t>
            </a:r>
          </a:p>
          <a:p>
            <a:r>
              <a:t>Ask: which of the four numbers would you want to check first, and why? Hear two answers and rule on</a:t>
            </a:r>
          </a:p>
          <a:p>
            <a:r>
              <a:t>neither.</a:t>
            </a:r>
          </a:p>
          <a:p>
            <a:r>
              <a:t>Watch for someone who treats the 5 percent as a fact. Do not correct it; say that every number on a</a:t>
            </a:r>
          </a:p>
          <a:p>
            <a:r>
              <a:t>dashboard counts something, and that the groups will decide what this one counts.</a:t>
            </a:r>
          </a:p>
          <a:p>
            <a:r>
              <a:t>Transition: her heads each have a question of their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Read each row. The full words of each head are in the briefing</a:t>
            </a:r>
          </a:p>
          <a:p>
            <a:r>
              <a:t>note, briefs/C2_W03_D01_briefing_note_STUDENT.md, which every learner has. Each group will own one</a:t>
            </a:r>
          </a:p>
          <a:p>
            <a:r>
              <a:t>row by the end of the allocation, and section 3 gives each row its own slide.</a:t>
            </a:r>
          </a:p>
          <a:p>
            <a:r>
              <a:t>Watch for learners who start explaining a row ("it must be the season"). Say: hold that and write it</a:t>
            </a:r>
          </a:p>
          <a:p>
            <a:r>
              <a:t>down as a hypothesis to test once the build starts, since a guess said aloud now steers every group</a:t>
            </a:r>
          </a:p>
          <a:p>
            <a:r>
              <a:t>that hears it.</a:t>
            </a:r>
          </a:p>
          <a:p>
            <a:r>
              <a:t>Transition: why this is a question you have answered before.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One minute in pairs, then letters in the chat; the trainer</a:t>
            </a:r>
          </a:p>
          <a:p>
            <a:r>
              <a:t>reads the count aloud. Expect a and d from learners who feel the domain is unfamiliar. Do not resolve</a:t>
            </a:r>
          </a:p>
          <a:p>
            <a:r>
              <a:t>it here; the next slide does.</a:t>
            </a:r>
          </a:p>
          <a:p>
            <a:r>
              <a:t>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The answer is b. Option c is the dangerous one: the data does</a:t>
            </a:r>
          </a:p>
          <a:p>
            <a:r>
              <a:t>not look the same, and some of its words have no retail twin, which is where a group must slow down.</a:t>
            </a:r>
          </a:p>
          <a:p>
            <a:r>
              <a:t>Option a is why this week exists: a candidate who says "I would need to learn the domain's</a:t>
            </a:r>
          </a:p>
          <a:p>
            <a:r>
              <a:t>techniques" has not seen that the method travels.</a:t>
            </a:r>
          </a:p>
          <a:p>
            <a:r>
              <a:t>Say the interview question aloud. It is the question this whole week equips them to answer.</a:t>
            </a:r>
          </a:p>
          <a:p>
            <a:r>
              <a:t>Transition: section 2, the business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about 5 minutes over S7 to S9. The trainer tells the domain's story in</a:t>
            </a:r>
          </a:p>
          <a:p>
            <a:r>
              <a:t>full straight after this hour, 45 minutes with no laptop open, so these three slides preview it and</a:t>
            </a:r>
          </a:p>
          <a:p>
            <a:r>
              <a:t>D10 to D14 carry its depth for anyone reading alone. The domain dossier,</a:t>
            </a:r>
          </a:p>
          <a:p>
            <a:r>
              <a:t>study-notes/C2_W03_D01_domain_us_healthcare_STUDENT.md, tells it at length.</a:t>
            </a:r>
          </a:p>
          <a:p>
            <a:r>
              <a:t>Transition: who needs the domain before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Read the five questions. Say that the next two slides answer</a:t>
            </a:r>
          </a:p>
          <a:p>
            <a:r>
              <a:t>the first two, and that the trainer's story after this hour answers all five with drawings on the</a:t>
            </a:r>
          </a:p>
          <a:p>
            <a:r>
              <a:t>board.</a:t>
            </a:r>
          </a:p>
          <a:p>
            <a:r>
              <a:t>Transition: one blood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The requisition is the doctor's order; the accession number is</a:t>
            </a:r>
          </a:p>
          <a:p>
            <a:r>
              <a:t>the barcode that ties a tube to its order. The claim goes as an electronic file, an 837, and the</a:t>
            </a:r>
          </a:p>
          <a:p>
            <a:r>
              <a:t>plan answers with another, an 835, the remittance. James and his numbers come from the domain</a:t>
            </a:r>
          </a:p>
          <a:p>
            <a:r>
              <a:t>dossier; his $60 and $75 tests are prices in Kalpa Health's own test catalogue.</a:t>
            </a:r>
          </a:p>
          <a:p>
            <a:r>
              <a:t>Ask: the last time you had a blood test in India, who paid, and when did you know the price? Most</a:t>
            </a:r>
          </a:p>
          <a:p>
            <a:r>
              <a:t>paid at booking and knew the price; in the US a payer stands between the lab and its money.</a:t>
            </a:r>
          </a:p>
          <a:p>
            <a:r>
              <a:t>Transition: how much of the $135 arrives.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The list price starts the claim; the contract decides what</a:t>
            </a:r>
          </a:p>
          <a:p>
            <a:r>
              <a:t>the test earns. The $64.80 is a contractual adjustment, written off under the contract and never</a:t>
            </a:r>
          </a:p>
          <a:p>
            <a:r>
              <a:t>owed, so it is not a loss. James owes 20 percent coinsurance on the $70.20.</a:t>
            </a:r>
          </a:p>
          <a:p>
            <a:r>
              <a:t>Ask: of the $135, how much reached the lab from his plan? Letters in the chat: a) nothing, b) under</a:t>
            </a:r>
          </a:p>
          <a:p>
            <a:r>
              <a:t>$50, c) $50 to $100, d) more than $100. The answer is c, $56.16.</a:t>
            </a:r>
          </a:p>
          <a:p>
            <a:r>
              <a:t>Transition: the trainer's story takes the rest of the domain after this hour; next, the five</a:t>
            </a:r>
          </a:p>
          <a:p>
            <a:r>
              <a:t>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2 minutes. Sources, each checked on 1 October 2026: Quest's and Labcorp's Form 10-K for</a:t>
            </a:r>
          </a:p>
          <a:p>
            <a:r>
              <a:t>2025, UnitedHealth Group's careers page for India, and AGS Health's company page; the provenance</a:t>
            </a:r>
          </a:p>
          <a:p>
            <a:r>
              <a:t>holds the links. Kalpa's GCC is the first kind of twin, one company's own centre with Kalpa Health</a:t>
            </a:r>
          </a:p>
          <a:p>
            <a:r>
              <a:t>as one of its clients.</a:t>
            </a:r>
          </a:p>
          <a:p>
            <a:r>
              <a:t>Transition: where $100 of charges goes.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2 minutes. Net revenue is what the lab expects to collect, and it is the line a lab</a:t>
            </a:r>
          </a:p>
          <a:p>
            <a:r>
              <a:t>reports. Quest reported operating income of 14.1 percent of net revenues in 2025 (10-K for 2025, as</a:t>
            </a:r>
          </a:p>
          <a:p>
            <a:r>
              <a:t>the dossier records it); the illustration's $6 of $42 is 14.3 percent.</a:t>
            </a:r>
          </a:p>
          <a:p>
            <a:r>
              <a:t>Transition: who at Kalpa Health asks the data team for which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2 minutes. Only Dr Menon is named; the other heads appear by role. Payer contracting,</a:t>
            </a:r>
          </a:p>
          <a:p>
            <a:r>
              <a:t>the lab director and compliance ask too, and the dossier's section 4 lists all of them. Kavya Nair,</a:t>
            </a:r>
          </a:p>
          <a:p>
            <a:r>
              <a:t>the senior analyst on the team, checks every answer before it leaves.</a:t>
            </a:r>
          </a:p>
          <a:p>
            <a:r>
              <a:t>Transition: the tree every revenue-cycle number hangs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2 minutes. Two measures set the pace: the clean claim rate, the share of claims that</a:t>
            </a:r>
          </a:p>
          <a:p>
            <a:r>
              <a:t>pass every check before they leave, and days in accounts receivable, what the lab is owed divided by</a:t>
            </a:r>
          </a:p>
          <a:p>
            <a:r>
              <a:t>a day's net revenue. The price-list example is the dossier's and the story's, and it is</a:t>
            </a:r>
          </a:p>
          <a:p>
            <a:r>
              <a:t>illustrative, never Kalpa Health's.</a:t>
            </a:r>
          </a:p>
          <a:p>
            <a:r>
              <a:t>Transition: the rules that bind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2 minutes. The dossier's section 7 carries each rule with its source, among them Texas's</a:t>
            </a:r>
          </a:p>
          <a:p>
            <a:r>
              <a:t>Medicaid managed-care contract, which requires the work under it to be done inside the US unless the</a:t>
            </a:r>
          </a:p>
          <a:p>
            <a:r>
              <a:t>state approves in writing. Kalpa Health bills Medicaid in Texas, so what the team in Bengaluru may</a:t>
            </a:r>
          </a:p>
          <a:p>
            <a:r>
              <a:t>touch is written in its contracts.</a:t>
            </a:r>
          </a:p>
          <a:p>
            <a:r>
              <a:t>Transition: section 3, the five questions in full.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about 9 minutes over S15 to S24: a minute and a half on each question,</a:t>
            </a:r>
          </a:p>
          <a:p>
            <a:r>
              <a:t>read in the asker's words with the decision it feeds. The odd-numbered D slides show each question's</a:t>
            </a:r>
          </a:p>
          <a:p>
            <a:r>
              <a:t>files and are self-study. Each question has its own brief in briefs/, C2_W03_D01_brief_{n}_{name}_STUDENT.md,</a:t>
            </a:r>
          </a:p>
          <a:p>
            <a:r>
              <a:t>with its terms, files, the ways a group could answer it sized, and what a finished answer looks like.</a:t>
            </a:r>
          </a:p>
          <a:p>
            <a:r>
              <a:t>Use the numbers all week: 1 revenue, 2 bookings, 3 billing, 4 no-shows, 5 campaign.</a:t>
            </a:r>
          </a:p>
          <a:p>
            <a:r>
              <a:t>Transition: who needs the five questions in full.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Read the five short questions. Every group holds all ten files,</a:t>
            </a:r>
          </a:p>
          <a:p>
            <a:r>
              <a:t>whatever it takes, and every brief has the same shape.</a:t>
            </a:r>
          </a:p>
          <a:p>
            <a:r>
              <a:t>Transition: question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90 seconds. Read the finance head's words. Billed revenue is the dollars</a:t>
            </a:r>
          </a:p>
          <a:p>
            <a:r>
              <a:t>on the claims at list price, which differs from the money collected, so the group says which one it</a:t>
            </a:r>
          </a:p>
          <a:p>
            <a:r>
              <a:t>means. Do not say which method fits; that is the group's work today.</a:t>
            </a:r>
          </a:p>
          <a:p>
            <a:r>
              <a:t>Transition: the files behind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The row counts exclude each file's header line. The brief is</a:t>
            </a:r>
          </a:p>
          <a:p>
            <a:r>
              <a:t>briefs/C2_W03_D01_brief_1_revenue_STUDENT.md.</a:t>
            </a:r>
          </a:p>
          <a:p>
            <a:r>
              <a:t>Transition: question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90 seconds. Read the operations head's words. Which two metros fell is</a:t>
            </a:r>
          </a:p>
          <a:p>
            <a:r>
              <a:t>the first thing the group confirms from the files; the slide does not name them, and neither does</a:t>
            </a:r>
          </a:p>
          <a:p>
            <a:r>
              <a:t>the brief.</a:t>
            </a:r>
          </a:p>
          <a:p>
            <a:r>
              <a:t>Transition: the files behind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The brief is briefs/C2_W03_D01_brief_2_bookings_STUDENT.md.</a:t>
            </a:r>
          </a:p>
          <a:p>
            <a:r>
              <a:t>Transition: question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90 seconds. Read the finance head's words. A claim the contract never</a:t>
            </a:r>
          </a:p>
          <a:p>
            <a:r>
              <a:t>meant to pay in full is not unpaid, so the group defines paid, part paid, denied and unpaid before</a:t>
            </a:r>
          </a:p>
          <a:p>
            <a:r>
              <a:t>it counts.</a:t>
            </a:r>
          </a:p>
          <a:p>
            <a:r>
              <a:t>Transition: the files behind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The postings run up to the export on Friday 16 October 2026. The brief is</a:t>
            </a:r>
          </a:p>
          <a:p>
            <a:r>
              <a:t>briefs/C2_W03_D01_brief_3_billing_STUDENT.md.</a:t>
            </a:r>
          </a:p>
          <a:p>
            <a:r>
              <a:t>Transition: question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90 seconds. Read the operations head's words. A missed draw can be a missed</a:t>
            </a:r>
          </a:p>
          <a:p>
            <a:r>
              <a:t>diagnosis, which is why this question carries more than a staffing cost.</a:t>
            </a:r>
          </a:p>
          <a:p>
            <a:r>
              <a:t>Transition: the files behind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Laboratories keep no visit register, so the file covers the twelve patient</a:t>
            </a:r>
          </a:p>
          <a:p>
            <a:r>
              <a:t>service centres only. The brief is briefs/C2_W03_D01_brief_4_noshows_STUDENT.md.</a:t>
            </a:r>
          </a:p>
          <a:p>
            <a:r>
              <a:t>Transition: question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90 seconds. Read the marketing head's words. A collection at home means a</a:t>
            </a:r>
          </a:p>
          <a:p>
            <a:r>
              <a:t>phlebotomist visits the patient; the offer waived its fee from 15 July, and the report counts the</a:t>
            </a:r>
          </a:p>
          <a:p>
            <a:r>
              <a:t>weeks to 14 September.</a:t>
            </a:r>
          </a:p>
          <a:p>
            <a:r>
              <a:t>Transition: the files behind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The brief is briefs/C2_W03_D01_brief_5_campaign_STUDENT.md.</a:t>
            </a:r>
          </a:p>
          <a:p>
            <a:r>
              <a:t>Transition: section 4, the method you already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about 7 minutes over S26, S27, S33 and S34. D28 to D32 show each Week 1</a:t>
            </a:r>
          </a:p>
          <a:p>
            <a:r>
              <a:t>and 2 picture as the room drew it, for self-study. Nothing on these slides maps a question to a move;</a:t>
            </a:r>
          </a:p>
          <a:p>
            <a:r>
              <a:t>that mapping is each group's work today.</a:t>
            </a:r>
          </a:p>
          <a:p>
            <a:r>
              <a:t>Transition: who needs the method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Read the four questions.</a:t>
            </a:r>
          </a:p>
          <a:p>
            <a:r>
              <a:t>Transition: the moves, on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Walk Week 1 left to right, then Week 2. Each box is a day the</a:t>
            </a:r>
          </a:p>
          <a:p>
            <a:r>
              <a:t>room has done: Meera's tree, the drop investigated rung by rung, Anand's reconciliation with its</a:t>
            </a:r>
          </a:p>
          <a:p>
            <a:r>
              <a:t>decisions log, the chance check and the fair comparison, the one-page note; then the same thinking</a:t>
            </a:r>
          </a:p>
          <a:p>
            <a:r>
              <a:t>as SQL, joins proved before any sum, window functions, one row per customer in pandas, and the</a:t>
            </a:r>
          </a:p>
          <a:p>
            <a:r>
              <a:t>workbook a director cannot break.</a:t>
            </a:r>
          </a:p>
          <a:p>
            <a:r>
              <a:t>Ask: which of these did you find hardest? Hear two answers. Do not ask which fits which question.</a:t>
            </a:r>
          </a:p>
          <a:p>
            <a:r>
              <a:t>Transition: the pictures, for anyone reading alone, then why nothing new is taught.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Week 1 Monday, Kalpa Retail: revenue as customers times orders per customer</a:t>
            </a:r>
          </a:p>
          <a:p>
            <a:r>
              <a:t>times average order value, with the order's items and prices beneath. Redrawing it in Kalpa Health's</a:t>
            </a:r>
          </a:p>
          <a:p>
            <a:r>
              <a:t>words is a group's work in Part 2 of the worksheet, and nobody draws it for the room.</a:t>
            </a:r>
          </a:p>
          <a:p>
            <a:r>
              <a:t>Transition: the investigation ladder.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Week 1 Tuesday asked whether revenue really fell from Q1 to Q2 once both</a:t>
            </a:r>
          </a:p>
          <a:p>
            <a:r>
              <a:t>quarters covered the same weeks, before any branch was blamed.</a:t>
            </a:r>
          </a:p>
          <a:p>
            <a:r>
              <a:t>Transition: profile, clean,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This week's decisions log, briefs/C2_W03_D01_decisions_log_STUDENT.xlsx,</a:t>
            </a:r>
          </a:p>
          <a:p>
            <a:r>
              <a:t>has the same five columns, and its Reconcile sheet checks rows in against clean plus removed for</a:t>
            </a:r>
          </a:p>
          <a:p>
            <a:r>
              <a:t>every file.</a:t>
            </a:r>
          </a:p>
          <a:p>
            <a:r>
              <a:t>Transition: real or noise, cause or coincidence.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Week 1 Thursday ran both checks on Meera's numbers and wrote the answer as a</a:t>
            </a:r>
          </a:p>
          <a:p>
            <a:r>
              <a:t>one-page note: the claim, the evidence, the caveat and the action.</a:t>
            </a:r>
          </a:p>
          <a:p>
            <a:r>
              <a:t>Transition: joins.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Week 2 Tuesday: booked against collected, Anand's report, where the join was</a:t>
            </a:r>
          </a:p>
          <a:p>
            <a:r>
              <a:t>proved before the number.</a:t>
            </a:r>
          </a:p>
          <a:p>
            <a:r>
              <a:t>Transition: why nothing new is taught.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The rule protects the week: a build week that teaches turns</a:t>
            </a:r>
          </a:p>
          <a:p>
            <a:r>
              <a:t>into a teaching week with a project bolted on. The TAs' reply to "which method do we use?" is a</a:t>
            </a:r>
          </a:p>
          <a:p>
            <a:r>
              <a:t>question back: which one did Meera's question need?</a:t>
            </a:r>
          </a:p>
          <a:p>
            <a:r>
              <a:t>Transition: who decides which move fits which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90 seconds. Say it plainly: nobody in this room will tell a group which</a:t>
            </a:r>
          </a:p>
          <a:p>
            <a:r>
              <a:t>move fits its question. Each brief lists the ways a group could answer it, with what each costs, and</a:t>
            </a:r>
          </a:p>
          <a:p>
            <a:r>
              <a:t>choosing among them, and saying why, is the translation.</a:t>
            </a:r>
          </a:p>
          <a:p>
            <a:r>
              <a:t>Transition: section 5, who takes which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about 5 minutes over S35 to S38. The allocation itself runs after the</a:t>
            </a:r>
          </a:p>
          <a:p>
            <a:r>
              <a:t>domain's story, in its own 30 minutes; these slides say how it will run.</a:t>
            </a:r>
          </a:p>
          <a:p>
            <a:r>
              <a:t>Transition: who needs the allocation settled.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Read the three questions. The allocation runs after the story so</a:t>
            </a:r>
          </a:p>
          <a:p>
            <a:r>
              <a:t>that every group chooses knowing what a claim, a payer and a denial are.</a:t>
            </a:r>
          </a:p>
          <a:p>
            <a:r>
              <a:t>Transition: the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Every group holds all ten files whatever it takes. The group of</a:t>
            </a:r>
          </a:p>
          <a:p>
            <a:r>
              <a:t>three asks for no lighter brief; its "we will not" says what it leaves out.</a:t>
            </a:r>
          </a:p>
          <a:p>
            <a:r>
              <a:t>Transition: how the allocation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90 seconds. Say how the allocation will run today, and say nothing that</a:t>
            </a:r>
          </a:p>
          <a:p>
            <a:r>
              <a:t>promises a group a question before it runs. The trainer sheet holds the ways to allocate; the</a:t>
            </a:r>
          </a:p>
          <a:p>
            <a:r>
              <a:t>Programme Head chooses one.</a:t>
            </a:r>
          </a:p>
          <a:p>
            <a:r>
              <a:t>Transition: what happens where groups share a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90 seconds. The panel wants different viewpoints on the same question,</a:t>
            </a:r>
          </a:p>
          <a:p>
            <a:r>
              <a:t>which is why the mapping stays inside each group until Saturday.</a:t>
            </a:r>
          </a:p>
          <a:p>
            <a:r>
              <a:t>Transition: section 6, today's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about 9 minutes over S39 to S45.</a:t>
            </a:r>
          </a:p>
          <a:p>
            <a:r>
              <a:t>Transition: who needs a plan by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Read the six questions.</a:t>
            </a:r>
          </a:p>
          <a:p>
            <a:r>
              <a:t>Transition: the day in two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Walk block one, then block two. The translation runs 35</a:t>
            </a:r>
          </a:p>
          <a:p>
            <a:r>
              <a:t>minutes before lunch and 75 after it, then the cost of an error with a peer check between two groups</a:t>
            </a:r>
          </a:p>
          <a:p>
            <a:r>
              <a:t>on different questions, entry one in the challenges log, the scope rounds, and the close.</a:t>
            </a:r>
          </a:p>
          <a:p>
            <a:r>
              <a:t>Transition: the worksheet's six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90 seconds. The worksheet is briefs/C2_W03_D01_translation_worksheet_STUDENT.md;</a:t>
            </a:r>
          </a:p>
          <a:p>
            <a:r>
              <a:t>each group copies it into its repository as translation.md. It carries all five questions and the</a:t>
            </a:r>
          </a:p>
          <a:p>
            <a:r>
              <a:t>Weeks 1 and 2 moves in a line each, so it is filled with nothing else open.</a:t>
            </a:r>
          </a:p>
          <a:p>
            <a:r>
              <a:t>Transition: the vocabulary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The three pairs come from the curriculum. Each group adds at</a:t>
            </a:r>
          </a:p>
          <a:p>
            <a:r>
              <a:t>least five of its own, and the pairs that behave differently are the valuable ones. Do not add</a:t>
            </a:r>
          </a:p>
          <a:p>
            <a:r>
              <a:t>pairs for the room.</a:t>
            </a:r>
          </a:p>
          <a:p>
            <a:r>
              <a:t>Transition: the challenges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The log is briefs/C2_W03_D01_challenges_log_STUDENT.xlsx; its</a:t>
            </a:r>
          </a:p>
          <a:p>
            <a:r>
              <a:t>Example sheet shows one entry and its Summary sheet counts what is still open. A challenge that</a:t>
            </a:r>
          </a:p>
          <a:p>
            <a:r>
              <a:t>needed a cleaning or matching call also goes in the decisions log.</a:t>
            </a:r>
          </a:p>
          <a:p>
            <a:r>
              <a:t>Transition: Kavya's four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90 seconds. These are the four things Kavya Nair checks before any work</a:t>
            </a:r>
          </a:p>
          <a:p>
            <a:r>
              <a:t>leaves the team, the same four the room met in Weeks 1 and 2.</a:t>
            </a:r>
          </a:p>
          <a:p>
            <a:r>
              <a:t>Transition: the scope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The example is from Kalpa Retail on purpose; each group writes</a:t>
            </a:r>
          </a:p>
          <a:p>
            <a:r>
              <a:t>its own for Kalpa Health. The "we will not" is what keeps a group of four from spending Thursday on</a:t>
            </a:r>
          </a:p>
          <a:p>
            <a:r>
              <a:t>something nobody asked.</a:t>
            </a:r>
          </a:p>
          <a:p>
            <a:r>
              <a:t>Transition: section 7, when the week is scored.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about 12 minutes over S46 to S53, with a minute spare for questions.</a:t>
            </a:r>
          </a:p>
          <a:p>
            <a:r>
              <a:t>Transition: who needs the week's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Read the five questions.</a:t>
            </a:r>
          </a:p>
          <a:p>
            <a:r>
              <a:t>Transition: the week, day by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Tuesday 20 October is Dussehra, a holiday with no session, so</a:t>
            </a:r>
          </a:p>
          <a:p>
            <a:r>
              <a:t>Wednesday carries two build days. Three things to land: the headline claim is stated on Wednesday</a:t>
            </a:r>
          </a:p>
          <a:p>
            <a:r>
              <a:t>so that Thursday tests it; the mock's viva runs on the group's own work, so the challenges log is</a:t>
            </a:r>
          </a:p>
          <a:p>
            <a:r>
              <a:t>revision; the group discussions run on prompts separate from the project. The time after the</a:t>
            </a:r>
          </a:p>
          <a:p>
            <a:r>
              <a:t>second block each day is open build time with the TAs.</a:t>
            </a:r>
          </a:p>
          <a:p>
            <a:r>
              <a:t>Transition: what every group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90 seconds. The marks per event are locked: mini project 40 with the</a:t>
            </a:r>
          </a:p>
          <a:p>
            <a:r>
              <a:t>presentation inside it, mock 30, group discussion 30. The live demo runs cold: a fresh start, the raw</a:t>
            </a:r>
          </a:p>
          <a:p>
            <a:r>
              <a:t>files, top to bottom.</a:t>
            </a:r>
          </a:p>
          <a:p>
            <a:r>
              <a:t>Transition: how the mini project is scored.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Read the five criteria and stop on the first and the last. The</a:t>
            </a:r>
          </a:p>
          <a:p>
            <a:r>
              <a:t>first, the question translated, is scored on exactly the work the groups do today. The last means</a:t>
            </a:r>
          </a:p>
          <a:p>
            <a:r>
              <a:t>every member answers a challenge on the caveat, so a group that splits the work and not the</a:t>
            </a:r>
          </a:p>
          <a:p>
            <a:r>
              <a:t>understanding loses marks one learner at a time.</a:t>
            </a:r>
          </a:p>
          <a:p>
            <a:r>
              <a:t>Transition: what happens if the live demo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The rule runs on both expert days, as it would in front of a</a:t>
            </a:r>
          </a:p>
          <a:p>
            <a:r>
              <a:t>client: one cold run, two minutes to recover, then the executed notebook.</a:t>
            </a:r>
          </a:p>
          <a:p>
            <a:r>
              <a:t>Transition: Mock R1.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The technical half is Weeks 1 and 2; the viva half is the</a:t>
            </a:r>
          </a:p>
          <a:p>
            <a:r>
              <a:t>group's own work, which is why the challenges log is revision.</a:t>
            </a:r>
          </a:p>
          <a:p>
            <a:r>
              <a:t>Transition: the group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The group discussion is a thread separate from the project.</a:t>
            </a:r>
          </a:p>
          <a:p>
            <a:r>
              <a:t>Point at "Engages": bringing a quiet member in earns marks, and talking over one does not.</a:t>
            </a:r>
          </a:p>
          <a:p>
            <a:r>
              <a:t>Transition: how Monday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minutes, then the spare minute for questions. The checkpoint questions</a:t>
            </a:r>
          </a:p>
          <a:p>
            <a:r>
              <a:t>are not shared today; a group that cannot answer them on Wednesday is stuck, and Wednesday is the</a:t>
            </a:r>
          </a:p>
          <a:p>
            <a:r>
              <a:t>day to say so, because Thursday opens the mocks.</a:t>
            </a:r>
          </a:p>
          <a:p>
            <a:r>
              <a:t>Close on the [F] question and leave it on screen as the room breaks for the domain's story. Each</a:t>
            </a:r>
          </a:p>
          <a:p>
            <a:r>
              <a:t>group answers it for its own question in Part 5 of the worksheet; nobody answers it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3.png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Relationship Id="rId5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Relationship Id="rId5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Relationship Id="rId5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Relationship Id="rId5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Relationship Id="rId5" Type="http://schemas.openxmlformats.org/officeDocument/2006/relationships/image" Target="../media/image2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Relationship Id="rId5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Relationship Id="rId5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Relationship Id="rId5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Relationship Id="rId5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6.xml"/><Relationship Id="rId5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Relationship Id="rId5" Type="http://schemas.openxmlformats.org/officeDocument/2006/relationships/image" Target="../media/image3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2.png"/><Relationship Id="rId5" Type="http://schemas.openxmlformats.org/officeDocument/2006/relationships/image" Target="../media/image18.png"/><Relationship Id="rId6" Type="http://schemas.openxmlformats.org/officeDocument/2006/relationships/image" Target="../media/image34.png"/><Relationship Id="rId7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9.xml"/><Relationship Id="rId5" Type="http://schemas.openxmlformats.org/officeDocument/2006/relationships/image" Target="../media/image6.png"/><Relationship Id="rId6" Type="http://schemas.openxmlformats.org/officeDocument/2006/relationships/image" Target="../media/image3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Relationship Id="rId5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7.xml"/><Relationship Id="rId5" Type="http://schemas.openxmlformats.org/officeDocument/2006/relationships/image" Target="../media/image3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35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5.png"/><Relationship Id="rId5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8.xml"/><Relationship Id="rId5" Type="http://schemas.openxmlformats.org/officeDocument/2006/relationships/image" Target="../media/image4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19622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3  ·  MONDAY  ·  BUILD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Which branch of Kalpa Health is short?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“My dashboard says test volumes grew 5 percent. The plan says 18. Which branch of my business is short, and what do I do next?”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Dr Priya Menon, COO, Kalpa Health,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60248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91206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5254" y="5248656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How does a US lab earn?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1469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517" y="5248656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five questions?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343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7481" y="5248656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method answers?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5396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9444" y="5248656"/>
            <a:ext cx="166163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39" y="5669280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is today's work?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13755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7803" y="5669280"/>
            <a:ext cx="160248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3, Day 1. Which branch of Kalpa Health is short?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61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Seven questions turn Dr Menon's ask into a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part of Dr Menon's question will each group answer, and with which move it already owns?</a:t>
            </a:r>
          </a:p>
        </p:txBody>
      </p:sp>
      <p:pic>
        <p:nvPicPr>
          <p:cNvPr id="9" name="mermaid diagram" descr="c69b6b5209460d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6830" y="1664208"/>
            <a:ext cx="8238035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day ends when every group has written its question in its own words, mapped it onto a move from Weeks 1 and 2, and pinned a one-sentence scope.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5" name="Oval 1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7" name="Oval 1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19" name="Oval 1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1" name="Oval 2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3" name="Oval 2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61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is Dr Menon asking?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What has Kalpa Health's COO seen on her dashboard, what are her heads asking, and why is it Meera's question again?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5217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62983" y="5074920"/>
            <a:ext cx="147130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How does a US lab earn?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44020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five questions?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24201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method answers?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4382" y="5074920"/>
            <a:ext cx="15721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86274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today's work?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66455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is the week scored?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 Day 1: Build 1 opens in Kalpa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 / 61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Dr Menon needs one answer before her board meets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answer to Dr Menon's question, and which questions come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Dr Priya Menon, COO of Kalpa Health: she moves the second half's staff and money onto the branch the team names, so a wrong branch leaves the short one falling for another quarter.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3145" y="3496056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75256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does Dr Menon's dashboard show, and against what plan?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8819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581029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58819" y="3816096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3411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Her heads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3411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five questions do her heads ask, and what does each decide?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7287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7409497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87287" y="3816096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1879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Meera's question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1879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changes between Meera's question and Dr Menon's?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5755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10237965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015755" y="3816096"/>
            <a:ext cx="2645587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347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What travels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0347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What carries over from Kalpa Retail, and what does not?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5" name="Oval 34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7" name="Oval 36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39" name="Oval 3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41" name="Oval 4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3" name="Oval 42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5" name="Oval 44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61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Her dashboard reads 5 percent against a plan of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Dr Menon's dashboard show, and against what plan?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TEST VOLUMES, Q2 TO Q3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 Dr Menon's dashboard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the board approved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POINTS SHORT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she must explain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US METRO AREAS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laboratory and two centres in each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"I do not need another dashboard. I need to know where the 13 points went, and what to do next."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2" name="Oval 31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4" name="Oval 33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36" name="Oval 3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38" name="Oval 3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0" name="Oval 39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2" name="Oval 41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61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heads ask five questions, each with a decision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five questions do Dr Menon's heads ask, and what does each answer decide?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2200496"/>
                <a:gridCol w="4747499"/>
                <a:gridCol w="326859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ask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the answer decides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Finance head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Which branch of lab revenue is short?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Where the recovery effort goes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Centres' operations head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How far did bookings fall in two metros, and why?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field team, a staff cut, or neither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Finance head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Which claims are unpaid, and can the figure be trusted?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figure at the close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Centres' operations head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Is KH-ATL-03 really worse at no-shows?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receptionist, reminders or closure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Marketing head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Did the free at-home offer lift bookings 9 percent?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Extend the offer, keep it or stop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2" name="Oval 11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4" name="Oval 13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6" name="Oval 1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18" name="Oval 1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0" name="Oval 19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2" name="Oval 21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61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changes from Meera's question to Dr Menon's?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Meera asked it of Kalpa Retail in Week 1 and Dr Menon asks it of a US lab, so which part changes?</a:t>
            </a:r>
          </a:p>
        </p:txBody>
      </p:sp>
      <p:pic>
        <p:nvPicPr>
          <p:cNvPr id="9" name="mermaid diagram" descr="4c9b6f6bed2938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809083"/>
            <a:ext cx="7886700" cy="30432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998624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126640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117496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Answer as a letter: a) the method, since a laboratory business needs techniques of its own; b) the vocabulary and the cost of an error, while the method holds; c) nothing at all, since bookings and claims behave like orders and payments; d) the tools, since a lab's data needs a new stack.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5" name="Oval 14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7" name="Oval 16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3" name="Oval 22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5" name="Oval 24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61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the words and the stakes change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carries over from Kalpa Retail to Kalpa Health, and what does not?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857248"/>
          <a:ext cx="11130990" cy="1762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48645"/>
                <a:gridCol w="3862199"/>
                <a:gridCol w="5320146"/>
              </a:tblGrid>
              <a:tr h="352552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In Kalpa Retail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In Kalpa Health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method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Tree, ladder, reconcile, fair comparison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same moves, unchanged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vocabulary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Orders, items, cancellations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Bookings, tests, no-shows, and words with no retail twin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Who pays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shopper, at the till or on the app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A plan, Medicare, Medicaid or the patient, weeks later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What an error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A missed sale or a wasted budget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A missed draw, a centre, a diagnosis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76040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0827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18000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022344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241800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group that maps Kalpa Health onto the Week 1 method in its own words has done the transfer; a group that waits to be told the mapping has not.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16229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3649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74716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30860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52805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You have joined a healthcare company; how would you apply what you did in retail to our data?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Dr Menon asking?</a:t>
            </a:r>
          </a:p>
        </p:txBody>
      </p:sp>
      <p:sp>
        <p:nvSpPr>
          <p:cNvPr id="22" name="Oval 21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24" name="Oval 23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30" name="Oval 29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32" name="Oval 31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61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How does a US lab earn?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does a US laboratory make its money, who pays it, and what may its data team in Bengaluru touch?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62983" y="5074920"/>
            <a:ext cx="1471308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How does a US lab earn?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44020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five questions?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24201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method answers?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4382" y="5074920"/>
            <a:ext cx="15721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86274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today's work?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66455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is the week scored?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 Day 1: Build 1 opens in Kalpa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9 / 61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domain comes before the data, in five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business before the files, and which questions come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Every group: most of the room has never worked in a business role and nobody in it has worked in US healthcare, so a group that opens the files before it knows the business counts the wrong things with confidence.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299" y="3762756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31958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69715" y="36713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40827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42291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One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516882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happens to one blood test between the draw and the claim?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3126" y="31958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732489" y="36713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93126" y="40827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7718" y="42291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pays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7718" y="4516882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Who pays a US lab, and how much of the list price arrives?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5900" y="31958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995263" y="36713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55900" y="40827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492" y="42291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Real companies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0492" y="45168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real companies look like Kalpa Health?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8674" y="31958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8258037" y="36713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8674" y="40827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3266" y="42291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Where $100 goes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3266" y="4516882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Where does $100 of a lab's charges go, and who asks for which number?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1448" y="31958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10520812" y="36713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81448" y="4082796"/>
            <a:ext cx="2079894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46040" y="42291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rules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46040" y="4516882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Which rules bind the data, and how far may a model or an agent go?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40" name="Oval 39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does a US lab earn?</a:t>
            </a:r>
          </a:p>
        </p:txBody>
      </p:sp>
      <p:sp>
        <p:nvSpPr>
          <p:cNvPr id="42" name="Oval 41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44" name="Oval 4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46" name="Oval 4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8" name="Oval 47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50" name="Oval 49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61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test becomes a claim, and the payer decides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happens to one blood test between the draw and the claim?</a:t>
            </a:r>
          </a:p>
        </p:txBody>
      </p:sp>
      <p:pic>
        <p:nvPicPr>
          <p:cNvPr id="9" name="mermaid diagram" descr="29ae0f1196fe2c5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37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040570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doctor orders two tests for James Carter, a synthetic Dallas patient; a phlebotomist draws his blood, the lab runs the tests, and the claim bills his plan $135 at list price. Weeks later the plan's remittance says what it pays.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does a US lab earn?</a:t>
            </a:r>
          </a:p>
        </p:txBody>
      </p:sp>
      <p:sp>
        <p:nvSpPr>
          <p:cNvPr id="15" name="Oval 1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7" name="Oval 1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19" name="Oval 1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1" name="Oval 2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3" name="Oval 2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61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Of James's $135 claim, his plan paid $56.16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pays a US lab, and how much of the list price arrives?</a:t>
            </a:r>
          </a:p>
        </p:txBody>
      </p:sp>
      <p:pic>
        <p:nvPicPr>
          <p:cNvPr id="9" name="mermaid diagram" descr="c653c77f66f6b6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1265" y="1664208"/>
            <a:ext cx="7169164" cy="35326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242560"/>
            <a:ext cx="11130991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Four kinds of payer stand behind Kalpa Health's claims: commercial plans, Medicare for people aged 65 and over, Medicaid run by each state for people on low incomes, and self-pay patients. Each payer's contract or fee schedule sets the allowed amount.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does a US lab earn?</a:t>
            </a:r>
          </a:p>
        </p:txBody>
      </p:sp>
      <p:sp>
        <p:nvSpPr>
          <p:cNvPr id="15" name="Oval 1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7" name="Oval 1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19" name="Oval 1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1" name="Oval 2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3" name="Oval 2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61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 and Labcorp have Kalpa Health's shape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real companies look like Kalpa Health, and which teams in India do its kind of work?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flask-conical_7f5aa1048f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US 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Quest Diagnostics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3303524"/>
            <a:ext cx="2243251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$11,035 million of net revenues in 2025 and about 2,400 patient service centres, many in large retail stores; it offers in-home draws for a fee.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8819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flask-conical_7f5aa1048f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US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Labcorp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$13,951.7 million of revenues in 2025 and more than 2,200 patient service centres.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building-2_fd73f967515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 COMPANY'S OWN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Optum India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8455" y="330352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UnitedHealth Group's largest Global Capability Centre, for healthcare operations, technology, analytics and support.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15755" y="1956816"/>
            <a:ext cx="2645587" cy="2534412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users_113eb2dd32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A FIRM SERVING MANY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AGS Health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16923" y="330352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More than 15,000 revenue-cycle staff worldwide, with Indian centres in Chennai, Hyderabad and Bengaluru among others.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" y="467410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Kalpa Health is fictional, and these are real companies that look like it: its US half resembles the two labs, and its GCC half resembles Optum India, one company's own centre.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7" name="Oval 3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does a US lab earn?</a:t>
            </a:r>
          </a:p>
        </p:txBody>
      </p:sp>
      <p:sp>
        <p:nvSpPr>
          <p:cNvPr id="39" name="Oval 38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41" name="Oval 4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43" name="Oval 4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5" name="Oval 44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7" name="Oval 46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D10  ·  13 / 61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$100 of charges leaves about $6 of operating income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 does $100 of a lab's charges go, on illustrative numbers?</a:t>
            </a:r>
          </a:p>
        </p:txBody>
      </p:sp>
      <p:pic>
        <p:nvPicPr>
          <p:cNvPr id="10" name="mermaid diagram" descr="ed6307aa5082726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1297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3232868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contracts take $55, $3 is never collected, the tests cost $28 and billing, sales and administration $8. The numbers are an illustrative lab's, near Quest's cost shares, and a $1 leak from the $45 allowed is a sixth of the $6 the lab keeps.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D11  ·  14 / 61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head asks the data team for a different number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at Kalpa Health asks the data team for what, and what does a wrong number cost?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1956816"/>
          <a:ext cx="11130990" cy="29443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39271"/>
                <a:gridCol w="4955072"/>
                <a:gridCol w="39366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ask the data team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 Priya Menon, COO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part of the business is short?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Staff and money moved to the wrong place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Revenue cycle head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claims will be denied, and which come first?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Claims chased past their filing limit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Centres' operations head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centres are overloaded, and where should staff go?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Queues in one centre, idle staff in the next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Finance head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Do your numbers match my books?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quarter restated after the board saw 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Marketing head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offers bring patients in, at what cost?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campaign budget spent on the wrong number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does a US lab earn?</a:t>
            </a:r>
          </a:p>
        </p:txBody>
      </p:sp>
      <p:sp>
        <p:nvSpPr>
          <p:cNvPr id="15" name="Oval 1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7" name="Oval 1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19" name="Oval 1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1" name="Oval 2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3" name="Oval 2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D12  ·  15 / 61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 revenue-cycle number hangs off one tree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does a charge become cash, and where can a number on the way mislead?</a:t>
            </a:r>
          </a:p>
        </p:txBody>
      </p:sp>
      <p:pic>
        <p:nvPicPr>
          <p:cNvPr id="10" name="mermaid diagram" descr="1a4d01d248fb93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1" y="1956816"/>
            <a:ext cx="11130991" cy="219048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4293603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Every metric on it is a numerator over a divisor. On illustrative numbers, a lab that raises every list price 8 percent bills 8 percent more while the contracts allow what they allowed before, so not one more test was done.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D13  ·  16 / 61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Agreements decide what the team in Bengaluru may touch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rules bind a US lab's data, and how far may a model or an agent go?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eld-check_14037a39f6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LAW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HIPAA and PHI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3303524"/>
            <a:ext cx="2243251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Health information that identifies a patient is PHI, used only for purposes the rule allows and only as much as the purpose needs.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8819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file-text_5c86fecc288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AGREEMENT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Business associate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company handling PHI for a lab signs an agreement that sets what it may do with the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ap_e80934a1e34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BORDER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Offshore 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8455" y="330352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HIPAA sets no border; agreements and payers' contracts do, and a state Medicaid contract can keep work in the US.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15755" y="1956816"/>
            <a:ext cx="2645587" cy="2534412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users_113eb2dd326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LADDER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Describe to 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16923" y="330352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model may rank, flag and draft; a person decides anything that asserts a diagnosis or denies care.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" y="467410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Every Kalpa Health record is synthetic, so no PHI exists anywhere in the programme's files.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7" name="Oval 3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does a US lab earn?</a:t>
            </a:r>
          </a:p>
        </p:txBody>
      </p:sp>
      <p:sp>
        <p:nvSpPr>
          <p:cNvPr id="39" name="Oval 38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41" name="Oval 4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43" name="Oval 4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5" name="Oval 44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7" name="Oval 46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D14  ·  17 / 61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five 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five questions do Dr Menon's heads ask, what does each answer decide, and which files does each start from?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62983" y="5074920"/>
            <a:ext cx="147130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How does a US lab earn?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44020" y="5074920"/>
            <a:ext cx="137045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five questions?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24201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method answers?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4382" y="5074920"/>
            <a:ext cx="15721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86274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today's work?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66455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is the week scored?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 Day 1: Build 1 opens in Kalpa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18 / 61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questions, each with its own brief and 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five questions in full before the allocation, and which questions come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Every group: the allocation asks each group to choose, and a choice made on a question's title alone lands a group on work it cannot defend on Thursday.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299" y="3496056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6971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250182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branch of Kalpa Health's billed revenue is short of the plan?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3126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732489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93126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7718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Bookings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7718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far did bookings fall in two metros, and why?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5900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99526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55900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492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Billing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0492" y="4250182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claims are unpaid, and can finance trust its figure?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8674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8258037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8674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3266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No-shows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3266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Is KH-ATL-03 really worse than the other centres?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1448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10520812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81448" y="3816096"/>
            <a:ext cx="2079894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46040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Campaign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46040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Did the at-home offer cause 9 percent more bookings?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40" name="Oval 39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42" name="Oval 41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five questions?</a:t>
            </a:r>
          </a:p>
        </p:txBody>
      </p:sp>
      <p:sp>
        <p:nvSpPr>
          <p:cNvPr id="44" name="Oval 4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46" name="Oval 4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8" name="Oval 47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50" name="Oval 49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61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Revenue asks which branch of billed revenue is short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finance head ask, what does the answer decide, and what does a wrong one cost?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75184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75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"The board will ask me where the plan's growth went. Where does our lab revenue actually come from, and which branch of it is short?"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854960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854960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finance head, Kalpa Health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19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target_975d45d39c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3779520"/>
            <a:ext cx="237744" cy="2377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19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ANSWER DECIDES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19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Where recovery goes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second half's staff and money go to the branch the group names.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164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02810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triangle-alert_5ac49fc6ab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3779520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02810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 WRONG ANSWER COSTS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2810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short branch falls 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2810" y="4815332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Money goes to a branch that was never short.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293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74100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database_0f9c2895db5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3779520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274100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IT STARTS FROM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4100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Seven files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4100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Claims, booking lines, the price list, both booking files, patients and sites.</a:t>
            </a:r>
          </a:p>
        </p:txBody>
      </p:sp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3" name="Oval 3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5" name="Oval 3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five questions?</a:t>
            </a:r>
          </a:p>
        </p:txBody>
      </p:sp>
      <p:sp>
        <p:nvSpPr>
          <p:cNvPr id="37" name="Oval 3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39" name="Oval 3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1" name="Oval 4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3" name="Oval 4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20 / 61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Revenue reads seven files, about 81,000 rows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files does the revenue question start from, and how big is each?</a:t>
            </a:r>
          </a:p>
        </p:txBody>
      </p:sp>
      <p:pic>
        <p:nvPicPr>
          <p:cNvPr id="10" name="mermaid diagram" descr="7c2eeafed62d812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729955"/>
            <a:ext cx="11130991" cy="34011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5242560"/>
            <a:ext cx="11130991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files are claims, booking_tests, test_catalogue, bookings_legacy and bookings_newsys, patients and sites. The brief sizes four ways a group could answer the question, from about an hour to about seven, and names the Week 1 or 2 move each needs.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D17  ·  21 / 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Bookings asks how far two metros fell,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operations head ask, what does the answer decide, and what does a wrong one cost?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75184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75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"Bookings fell in two of our metros in Q3. Before I send a field team or cut staff there, I need to know how far they fell, and why."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854960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854960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patient service centres' operations head, Kalpa Health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19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target_975d45d39c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3779520"/>
            <a:ext cx="237744" cy="2377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19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ANSWER DECIDES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19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field team or a staff cut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Send people to the two metros, cut staff there, or leave them alone.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164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02810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triangle-alert_5ac49fc6ab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3779520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02810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 WRONG ANSWER COSTS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2810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Staff or a quarter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2810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Read too large, staff patients need are cut; too small, a real decline runs 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293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74100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database_0f9c2895db5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3779520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274100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IT STARTS FROM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4100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Six files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4100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Both booking files, sites, patients, booking lines, and the claims as a second count.</a:t>
            </a:r>
          </a:p>
        </p:txBody>
      </p:sp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3" name="Oval 3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5" name="Oval 3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five questions?</a:t>
            </a:r>
          </a:p>
        </p:txBody>
      </p:sp>
      <p:sp>
        <p:nvSpPr>
          <p:cNvPr id="37" name="Oval 3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39" name="Oval 3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1" name="Oval 4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3" name="Oval 4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22 / 61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Bookings reads two booking files and four others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files does the bookings question start from, and how big is each?</a:t>
            </a:r>
          </a:p>
        </p:txBody>
      </p:sp>
      <p:pic>
        <p:nvPicPr>
          <p:cNvPr id="10" name="mermaid diagram" descr="b81fac4ba08bbc2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682496"/>
            <a:ext cx="11130991" cy="318707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5015878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files are bookings_legacy and bookings_newsys, sites, patients, booking_tests and claims, whose 11,356 rows bill the completed bookings. The brief sizes four ways a group could answer the question, from about an hour to about six, and names the Week 1 or 2 move each needs.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D19  ·  23 / 61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Billing asks which claims are unpaid, in dollars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finance head ask, what does the answer decide, and what does a wrong one cost?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75184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75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"The claims we billed say one thing and the posting system says another. Which claims are unpaid, how much money is that, and can I trust the figure I report?"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854960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854960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finance head, Kalpa Health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19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target_975d45d39c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3779520"/>
            <a:ext cx="237744" cy="2377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19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ANSWER DECIDES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19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figure at the close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What finance reports, and which claims the revenue-cycle team chases first.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164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02810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triangle-alert_5ac49fc6ab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3779520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02810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 WRONG ANSWER COSTS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2810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figure, or a deadline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2810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wrong figure reaches the board; a claim chased late passes its filing limit.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293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74100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database_0f9c2895db5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3779520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274100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IT STARTS FROM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4100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Two big files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4100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claims billed and the postings received, with patients and both booking files.</a:t>
            </a:r>
          </a:p>
        </p:txBody>
      </p:sp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3" name="Oval 3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5" name="Oval 3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five questions?</a:t>
            </a:r>
          </a:p>
        </p:txBody>
      </p:sp>
      <p:sp>
        <p:nvSpPr>
          <p:cNvPr id="37" name="Oval 3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39" name="Oval 3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1" name="Oval 4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3" name="Oval 4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24 / 61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Billing reads 11,356 claims and 11,343 postings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files does the billing question start from, and how big is each?</a:t>
            </a:r>
          </a:p>
        </p:txBody>
      </p:sp>
      <p:pic>
        <p:nvPicPr>
          <p:cNvPr id="10" name="mermaid diagram" descr="d4824f890e28e3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2343" y="1664208"/>
            <a:ext cx="9807008" cy="35326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5242560"/>
            <a:ext cx="11130991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files are claims, remittances, patients, and bookings_legacy and bookings_newsys. The brief sizes four ways a group could answer the question, from about an hour to about six, and names the Week 1 or 2 move each needs.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D21  ·  25 / 61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No-shows asks whether KH-ATL-03 is really worse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operations head ask, what does the answer decide, and what does a wrong one cost?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75184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75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"KH-ATL-03, one of our two Atlanta patient service centres, has the worst no-show rate on my Q3 report. I am being asked to add a receptionist there or close it. Is the centre really worse?"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854960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854960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patient service centres' operations head, Kalpa Health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19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target_975d45d39c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3779520"/>
            <a:ext cx="237744" cy="2377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19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ANSWER DECIDES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19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Staff, reminders or closure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second receptionist, new reminder calls, or a closure notice.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164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02810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triangle-alert_5ac49fc6ab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3779520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02810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 WRONG ANSWER COSTS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2810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centre, or the slots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2810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neighbourhood loses its draws on a misread rate, or a real problem goes 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293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74100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database_0f9c2895db5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3779520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274100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IT STARTS FROM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4100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Two files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4100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centres' visit register for Q3 and the site list.</a:t>
            </a:r>
          </a:p>
        </p:txBody>
      </p:sp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3" name="Oval 3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5" name="Oval 3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five questions?</a:t>
            </a:r>
          </a:p>
        </p:txBody>
      </p:sp>
      <p:sp>
        <p:nvSpPr>
          <p:cNvPr id="37" name="Oval 3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39" name="Oval 3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1" name="Oval 4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3" name="Oval 4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61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No-shows reads 7,133 visits at twelve centres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files does the no-show question start from, and how big is each?</a:t>
            </a:r>
          </a:p>
        </p:txBody>
      </p:sp>
      <p:pic>
        <p:nvPicPr>
          <p:cNvPr id="10" name="mermaid diagram" descr="c0640e33fa9f7cd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4097" y="1838769"/>
            <a:ext cx="5143500" cy="32861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527119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files are appointments and sites. The brief sizes four ways a group could answer the question, from under an hour to about three, and names the Week 1 or 2 move each needs.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D23  ·  27 / 61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Campaign asks whether the offer caused 9 percent more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marketing head ask, what does the answer decide, and what does a wrong one cost?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75184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75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"Our free at-home collection offer lifted bookings 9 percent. I want to offer it to every patient in all six metros. Can you confirm it worked?"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854960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854960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marketing head, Kalpa Health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19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target_975d45d39c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3779520"/>
            <a:ext cx="237744" cy="2377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19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ANSWER DECIDES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19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Extend, keep or stop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offer to every patient in all six metros, as it is, or not at all.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164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02810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triangle-alert_5ac49fc6ab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3779520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02810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 WRONG ANSWER COSTS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2810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Visits paid for nothing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2810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Every free collection sends a phlebotomist to a home.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293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74100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database_0f9c2895db5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3779520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274100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IT STARTS FROM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4100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Five files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4100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offer list, patients, both booking files and the sites.</a:t>
            </a:r>
          </a:p>
        </p:txBody>
      </p:sp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3" name="Oval 3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5" name="Oval 3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five questions?</a:t>
            </a:r>
          </a:p>
        </p:txBody>
      </p:sp>
      <p:sp>
        <p:nvSpPr>
          <p:cNvPr id="37" name="Oval 3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39" name="Oval 3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1" name="Oval 4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3" name="Oval 4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28 / 61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Campaign reads 2,381 offers against every booking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files does the campaign question start from, and how big is each?</a:t>
            </a:r>
          </a:p>
        </p:txBody>
      </p:sp>
      <p:pic>
        <p:nvPicPr>
          <p:cNvPr id="10" name="mermaid diagram" descr="60fd2f1cafadd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291" y="1664208"/>
            <a:ext cx="10513112" cy="35326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5242560"/>
            <a:ext cx="11130991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files are campaign, patients, bookings_legacy and bookings_newsys, and sites. The brief sizes four ways a group could answer the question, from about two hours to about five, and names the Week 1 or 2 move each needs.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D25  ·  29 / 61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method answers?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moves from Weeks 1 and 2 could answer each of the five questions, and why does the week teach nothing new?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62983" y="5074920"/>
            <a:ext cx="147130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How does a US lab earn?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44020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five questions?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24201" y="5074920"/>
            <a:ext cx="137045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method answers?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4382" y="5074920"/>
            <a:ext cx="15721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86274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today's work?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66455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is the week scored?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 Day 1: Build 1 opens in Kalpa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30 / 61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Weeks 1 and 2 hold every move the week needs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method map today, and which questions come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Every group, for Part 2 of its translation: the mini project's first criterion scores Dr Menon's words mapped to the right Weeks 1 and 2 method, and the mapping is the group's to make.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3145" y="3496056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75256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moves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moves do you own from Weeks 1 and 2?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8819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581029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58819" y="3816096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3411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pictures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3411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did each look like when you drew it for Meera and Anand?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7287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7409497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87287" y="3816096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1879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Nothing new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1879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Why does the week teach nothing new, and where does help come from?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5755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10237965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015755" y="3816096"/>
            <a:ext cx="2645587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347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Your call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0347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Who decides which move answers which question?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5" name="Oval 34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7" name="Oval 36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39" name="Oval 3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method answers?</a:t>
            </a:r>
          </a:p>
        </p:txBody>
      </p:sp>
      <p:sp>
        <p:nvSpPr>
          <p:cNvPr id="41" name="Oval 4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3" name="Oval 42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5" name="Oval 44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31 / 61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Ten moves from Weeks 1 and 2, on one picture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moves do you own from Weeks 1 and 2?</a:t>
            </a:r>
          </a:p>
        </p:txBody>
      </p:sp>
      <p:pic>
        <p:nvPicPr>
          <p:cNvPr id="9" name="mermaid diagram" descr="dc4c2a752ad7d0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0041" y="1664208"/>
            <a:ext cx="9031611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Every one of the five questions can be answered with these moves; the domain changes the words around them.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5" name="Oval 1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7" name="Oval 1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method answers?</a:t>
            </a:r>
          </a:p>
        </p:txBody>
      </p:sp>
      <p:sp>
        <p:nvSpPr>
          <p:cNvPr id="19" name="Oval 1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1" name="Oval 2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3" name="Oval 2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32 / 61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revenue tree splits a total into branches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the revenue tree look like when you drew it for Meera?</a:t>
            </a:r>
          </a:p>
        </p:txBody>
      </p:sp>
      <p:pic>
        <p:nvPicPr>
          <p:cNvPr id="10" name="mermaid diagram" descr="6df783b5f25af0f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1686" y="1664208"/>
            <a:ext cx="6188322" cy="3808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Every branch is a count over a denominator, and the branch that falls furthest short of the plan is where the question points.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D28  ·  33 / 61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ladder confirms a drop before explaining 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the investigation ladder look like in Week 1, Tuesday?</a:t>
            </a:r>
          </a:p>
        </p:txBody>
      </p:sp>
      <p:pic>
        <p:nvPicPr>
          <p:cNvPr id="10" name="mermaid diagram" descr="2588c84f7b75b8e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5459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3649091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reason offered before rung 1 is a guess about a number nobody has checked.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D29  ·  34 / 61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Rows in must equal rows kept plus rows set aside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Week 1, Wednesday prove before any number left the team?</a:t>
            </a:r>
          </a:p>
        </p:txBody>
      </p:sp>
      <p:pic>
        <p:nvPicPr>
          <p:cNvPr id="10" name="mermaid diagram" descr="b08036f34c3468c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90273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4005853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decisions log records field, issue, rows, decision and reason, so that Anand's analyst could replay every call.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D30  ·  35 / 61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gap is read only after chance and fairness checks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two questions did Week 1, Thursday ask before reading a gap as an effect?</a:t>
            </a:r>
          </a:p>
        </p:txBody>
      </p:sp>
      <p:pic>
        <p:nvPicPr>
          <p:cNvPr id="10" name="mermaid diagram" descr="8e629185c2fedd4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885330"/>
            <a:ext cx="11130991" cy="31930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522463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permutation test answers the first question; checking that the two groups were alike before the thing tested answers the second.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D31  ·  36 / 61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join is counted before anything is summed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Week 2, Tuesday require before a joined number was trusted?</a:t>
            </a:r>
          </a:p>
        </p:txBody>
      </p:sp>
      <p:pic>
        <p:nvPicPr>
          <p:cNvPr id="10" name="mermaid diagram" descr="56d0a6cce37fa8f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1600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3703320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join can drop rows it cannot match or repeat rows it matches twice, and the sum moves either way without a warning.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D32  ·  37 / 61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Nothing new is taught: the domain is what is new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does the build week teach nothing new, and where does help come from?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ook-open_a730d50693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YOU HAVE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Weeks 1 and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tree, the ladder, profile and reconcile, the chance and fairness checks, the note, SQL, pandas and Excel.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ap_e80934a1e3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IS NEW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domain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Its words, its systems and what an error costs; you translate into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fe-buoy_0e116f16dbe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WHEN STUCK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Log it, then 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Write the challenge in the log, say what you tried, then ask a 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2941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trainer or TA answers every domain question, such as what a phlebotomist does, and answers a method question with a question back.</a:t>
            </a:r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0" name="Oval 29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2" name="Oval 31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34" name="Oval 3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method answers?</a:t>
            </a:r>
          </a:p>
        </p:txBody>
      </p:sp>
      <p:sp>
        <p:nvSpPr>
          <p:cNvPr id="36" name="Oval 3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38" name="Oval 37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0" name="Oval 39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38 / 61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group maps its own question onto a move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decides which move answers which of the five questions?</a:t>
            </a:r>
          </a:p>
        </p:txBody>
      </p:sp>
      <p:pic>
        <p:nvPicPr>
          <p:cNvPr id="9" name="mermaid diagram" descr="47201ba50038575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0897" y="1956816"/>
            <a:ext cx="10629900" cy="18573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960495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9272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402455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106799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32625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Kavya Nair checks the baseline, the denominator, the evidence and a second way to the same number, so a plan needs a move that leads and a move that checks it.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7" name="Oval 1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9" name="Oval 18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method answers?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5" name="Oval 24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7" name="Oval 26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39 / 61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Who takes which question?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are the groups allocated to the five questions, and what happens where groups share one?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62983" y="5074920"/>
            <a:ext cx="147130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How does a US lab earn?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44020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five questions?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24201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method answers?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4382" y="5074920"/>
            <a:ext cx="15721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86274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today's work?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66455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is the week scored?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 Day 1: Build 1 opens in Kalpa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40 / 61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allocation runs after the domain's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allocation settled, and which questions come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Every learner: the question your group takes is the one you defend alone in Thursday's viva and together on Friday or Saturday.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24557" y="3496056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222397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groups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250182"/>
            <a:ext cx="3259226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many groups are there, and how big is each?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01642" y="2929128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99526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01642" y="3816096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6234" y="3962400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allocation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6234" y="4250182"/>
            <a:ext cx="3259226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does the allocation run in its 30 minutes?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72932" y="2929128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9766554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72932" y="3816096"/>
            <a:ext cx="3588410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37524" y="3962400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Shared questions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7524" y="4250182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What happens where two or three groups take the same question?</a:t>
            </a:r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0" name="Oval 29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2" name="Oval 31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34" name="Oval 3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36" name="Oval 3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38" name="Oval 37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0" name="Oval 39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41 / 61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plan is nine groups for five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many groups are there, and how big is each?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LEARNERS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plan for this cohort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GROUPS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plan: eight of four, one of three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QUESTIONS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each with its own brief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FILES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group holds all of them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41985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group of three carries the same brief as a group of four, and narrows its scope sentence where it must.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28" name="Oval 27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0" name="Oval 29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36" name="Oval 35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38" name="Oval 37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42 / 61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Programme Head allocates, then briefs are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does the allocation run in its 30 minutes?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Groups confirmed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Every learner knows their group and its members.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allocation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Programme Head allocates the five questions to the groups.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brief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Each group reads its own brief and opens the translation worksheet.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41036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allocation is settled in these 30 minutes and not before, so no group starts on a question it may not hold.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28" name="Oval 27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0" name="Oval 29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36" name="Oval 35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38" name="Oval 37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43 / 61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Where groups share a question, the panel hears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happens where two or three groups take the same question?</a:t>
            </a:r>
          </a:p>
        </p:txBody>
      </p:sp>
      <p:pic>
        <p:nvPicPr>
          <p:cNvPr id="9" name="mermaid diagram" descr="8dc3dc69d7577e8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30432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146357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same data supports more than one honest answer, so groups on the same question may talk about the domain and keep their mappings to themselves until the panel.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5" name="Oval 1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7" name="Oval 1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19" name="Oval 1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1" name="Oval 2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3" name="Oval 2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44 / 61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is today's work?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does a group turn its question into a plan by the close, and what goes in its logs?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62983" y="5074920"/>
            <a:ext cx="147130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How does a US lab earn?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44020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five questions?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24201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method answers?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4382" y="5074920"/>
            <a:ext cx="15721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86274" y="5074920"/>
            <a:ext cx="137045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is today's work?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66455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is the week scored?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 Day 1: Build 1 opens in Kalpa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45 / 61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Today ends on a pinned scope and entry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each group's plan by tonight, and which questions come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Your group on Wednesday: the checkpoint opens the day with three questions, and a group with no pinned scope spends the build week deciding what to build.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1734" y="3496056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281150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25018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do today's two blocks run?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599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16679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15997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0589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worksheet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0589" y="4250182"/>
            <a:ext cx="1373581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are the six parts of the translation?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164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05244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01642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6234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words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6234" y="4250182"/>
            <a:ext cx="1373581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words map, and where does the map break?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728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6938086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87287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1879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logs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79" y="4250182"/>
            <a:ext cx="1373581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goes in the challenges log, and why today?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93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882373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72932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37524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checks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7524" y="4250182"/>
            <a:ext cx="1373581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do Kavya's four checks ask of a plan?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8578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6</a:t>
            </a:r>
          </a:p>
        </p:txBody>
      </p:sp>
      <p:sp>
        <p:nvSpPr>
          <p:cNvPr id="39" name="Oval 38"/>
          <p:cNvSpPr/>
          <p:nvPr/>
        </p:nvSpPr>
        <p:spPr>
          <a:xfrm>
            <a:off x="10709376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58578" y="3816096"/>
            <a:ext cx="1702765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23170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scope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23170" y="425018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What does a pinned scope sentence say?</a:t>
            </a:r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45" name="Oval 44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47" name="Oval 46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49" name="Oval 4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51" name="Oval 5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53" name="Oval 52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today's work?</a:t>
            </a:r>
          </a:p>
        </p:txBody>
      </p:sp>
      <p:sp>
        <p:nvSpPr>
          <p:cNvPr id="55" name="Oval 54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46 / 61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blocks: listen and choose, then translate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 today's two blocks of 180 minutes run?</a:t>
            </a:r>
          </a:p>
        </p:txBody>
      </p:sp>
      <p:pic>
        <p:nvPicPr>
          <p:cNvPr id="9" name="mermaid diagram" descr="b634287ae5740c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996" y="1664208"/>
            <a:ext cx="11019702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After the second block the time is open build time with the TAs; there is no practice set, quiz or test this week.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5" name="Oval 1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7" name="Oval 1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19" name="Oval 1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1" name="Oval 2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today's work?</a:t>
            </a:r>
          </a:p>
        </p:txBody>
      </p:sp>
      <p:sp>
        <p:nvSpPr>
          <p:cNvPr id="23" name="Oval 2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47 / 61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worksheet asks six questions in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are the six parts of the translation worksheet?</a:t>
            </a:r>
          </a:p>
        </p:txBody>
      </p:sp>
      <p:sp>
        <p:nvSpPr>
          <p:cNvPr id="9" name="Rectangle 8"/>
          <p:cNvSpPr/>
          <p:nvPr/>
        </p:nvSpPr>
        <p:spPr>
          <a:xfrm>
            <a:off x="1381734" y="2523744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1</a:t>
            </a:r>
          </a:p>
        </p:txBody>
      </p:sp>
      <p:sp>
        <p:nvSpPr>
          <p:cNvPr id="11" name="Oval 10"/>
          <p:cNvSpPr/>
          <p:nvPr/>
        </p:nvSpPr>
        <p:spPr>
          <a:xfrm>
            <a:off x="1281150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1702765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exactly is your stakeholder asking, as a question a dataset can answer?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5997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2</a:t>
            </a:r>
          </a:p>
        </p:txBody>
      </p:sp>
      <p:sp>
        <p:nvSpPr>
          <p:cNvPr id="16" name="Oval 15"/>
          <p:cNvSpPr/>
          <p:nvPr/>
        </p:nvSpPr>
        <p:spPr>
          <a:xfrm>
            <a:off x="316679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415997" y="2843784"/>
            <a:ext cx="1702765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0589" y="2990088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move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0589" y="3277870"/>
            <a:ext cx="1373581" cy="86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move from Weeks 1 and 2 leads, which checks it, and what would make you switch?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01642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3</a:t>
            </a:r>
          </a:p>
        </p:txBody>
      </p:sp>
      <p:sp>
        <p:nvSpPr>
          <p:cNvPr id="21" name="Oval 20"/>
          <p:cNvSpPr/>
          <p:nvPr/>
        </p:nvSpPr>
        <p:spPr>
          <a:xfrm>
            <a:off x="505244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01642" y="2843784"/>
            <a:ext cx="1702765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6234" y="2990088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vocabulary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6234" y="327787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Kalpa Health words map onto Kalpa Retail's, and where does the map break?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7287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4</a:t>
            </a:r>
          </a:p>
        </p:txBody>
      </p:sp>
      <p:sp>
        <p:nvSpPr>
          <p:cNvPr id="26" name="Oval 25"/>
          <p:cNvSpPr/>
          <p:nvPr/>
        </p:nvSpPr>
        <p:spPr>
          <a:xfrm>
            <a:off x="6938086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87287" y="2843784"/>
            <a:ext cx="1702765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1879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First three moves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1879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file, which count, and what result would change the plan?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72932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5</a:t>
            </a:r>
          </a:p>
        </p:txBody>
      </p:sp>
      <p:sp>
        <p:nvSpPr>
          <p:cNvPr id="31" name="Oval 30"/>
          <p:cNvSpPr/>
          <p:nvPr/>
        </p:nvSpPr>
        <p:spPr>
          <a:xfrm>
            <a:off x="882373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72932" y="2843784"/>
            <a:ext cx="1702765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37524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cost of an error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7524" y="3492500"/>
            <a:ext cx="1373581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does a wrong answer cost, and to whom?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58578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6</a:t>
            </a:r>
          </a:p>
        </p:txBody>
      </p:sp>
      <p:sp>
        <p:nvSpPr>
          <p:cNvPr id="36" name="Oval 35"/>
          <p:cNvSpPr/>
          <p:nvPr/>
        </p:nvSpPr>
        <p:spPr>
          <a:xfrm>
            <a:off x="10709376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958578" y="2843784"/>
            <a:ext cx="1702765" cy="15951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23170" y="2990088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scope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23170" y="3277870"/>
            <a:ext cx="1373581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What will you do this week, and what will you not do?</a:t>
            </a:r>
          </a:p>
        </p:txBody>
      </p:sp>
      <p:sp>
        <p:nvSpPr>
          <p:cNvPr id="40" name="Oval 3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42" name="Oval 41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44" name="Oval 43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46" name="Oval 4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48" name="Oval 4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50" name="Oval 49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today's work?</a:t>
            </a:r>
          </a:p>
        </p:txBody>
      </p:sp>
      <p:sp>
        <p:nvSpPr>
          <p:cNvPr id="52" name="Oval 51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48 / 61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pairs start the vocabulary map, you add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words map from Kalpa Retail to Kalpa Health, and where does the map break?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66165"/>
                <a:gridCol w="3676647"/>
                <a:gridCol w="478817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Kalpa Retail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Kalpa Health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a group writes beside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booking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it lives in the files, and what differs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item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test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it lives in the files, and what differs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cancellation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no-show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it lives in the files, and what differs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Five or more of your own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From your brief and the dictionary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Including words with no retail twin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0619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pair that behaves the same in both businesses is useful; a pair that behaves differently is where the week's surprises live.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5" name="Oval 1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7" name="Oval 1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19" name="Oval 1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1" name="Oval 2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today's work?</a:t>
            </a:r>
          </a:p>
        </p:txBody>
      </p:sp>
      <p:sp>
        <p:nvSpPr>
          <p:cNvPr id="23" name="Oval 2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49 / 61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challenges log starts with entry one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goes in the challenges log, and why write entry one today?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ircle-alert_2885187cc1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STOPPED 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sentence, and where it showed: a file, a column or a step.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wrench_4c2a87037e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WE TRIED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attempt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What the group did, including what did not work.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heck-check_78b4884d20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WHAT WE DECIDED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decision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What you chose and why, or that it is still open.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1041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Thursday's viva reads this log, so an entry written today is worth more than three written the night before.</a:t>
            </a:r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0" name="Oval 29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2" name="Oval 31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34" name="Oval 3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36" name="Oval 3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38" name="Oval 37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today's work?</a:t>
            </a:r>
          </a:p>
        </p:txBody>
      </p:sp>
      <p:sp>
        <p:nvSpPr>
          <p:cNvPr id="40" name="Oval 39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50 / 61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plan passes four checks before it is pinned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 Kavya's four checks ask of a group's plan?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ruler_ec66f5961a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CHECK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scope sentence names what the number is compared with.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divide_8fbee41b51c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CHECK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denominator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Every rate in the plan says what it is out of.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earch-check_efc46fa23a6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CHECK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Every first move names a file and a count.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repeat_22e899fab79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CHECK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 second way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headline number can be reached by another route.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41041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In the peer check, two groups on different questions swap worksheets and run these four checks on each other.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6" name="Oval 35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8" name="Oval 37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40" name="Oval 39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42" name="Oval 41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4" name="Oval 43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today's work?</a:t>
            </a:r>
          </a:p>
        </p:txBody>
      </p:sp>
      <p:sp>
        <p:nvSpPr>
          <p:cNvPr id="46" name="Oval 45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51 / 61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scope names what you count and what you will not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a pinned scope sentence say?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"We will answer ______ for ______, by counting ______ in ______, and we will not ______."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570480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70480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scope sentence each group signs at the close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" y="3184144"/>
            <a:ext cx="11130991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19" y="338531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shopping-cart_3d6cc98c6b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3495040"/>
            <a:ext cx="237744" cy="2377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19" y="3952240"/>
            <a:ext cx="1072865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 KALPA RETAIL EXAMPLE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19" y="4189983"/>
            <a:ext cx="10728655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Meera's 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530851"/>
            <a:ext cx="10728655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We will answer whether acquisition is the short branch for Meera, by counting customers, orders each and order value in the orders file, and we will not forecast next quarter.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21" name="Oval 20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23" name="Oval 22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25" name="Oval 24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7" name="Oval 26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9" name="Oval 28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today's work?</a:t>
            </a:r>
          </a:p>
        </p:txBody>
      </p:sp>
      <p:sp>
        <p:nvSpPr>
          <p:cNvPr id="31" name="Oval 30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52 / 61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When is the week scored?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events are scored this week, on which days, on what criteria, and what happens if a demo fails?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62983" y="5074920"/>
            <a:ext cx="147130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How does a US lab earn?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44020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five questions?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24201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method answers?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4382" y="5074920"/>
            <a:ext cx="15721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86274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today's work?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66455" y="5074920"/>
            <a:ext cx="15217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When is the week scored?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 Day 1: Build 1 opens in Kalpa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53 / 61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scored events, each on its own 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week's scoring today, and which questions come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Every learner: the mock and the group discussion score you alone, and the presentation scores every member on the caveat, so nobody can leave the understanding to a teammate.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299" y="3496056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6971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week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does the week run, day by day?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3126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732489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93126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7718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ships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7718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does every group ship, and when is it seen?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5900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99526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55900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492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project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0492" y="4250182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is the mini project scored, and what if the demo fails?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8674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8258037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8674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3266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mock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3266" y="4250182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is Mock R1 scored?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1448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10520812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81448" y="3816096"/>
            <a:ext cx="2079894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46040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discussion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46040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How is the group discussion scored?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40" name="Oval 39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42" name="Oval 41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44" name="Oval 4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46" name="Oval 4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8" name="Oval 47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50" name="Oval 49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is the week scored?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54 / 61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days of build, and Tuesday is Dussehra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does the week run, day by day?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0299" y="2523744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MONDAY 19 OCTOBER</a:t>
            </a:r>
          </a:p>
        </p:txBody>
      </p:sp>
      <p:sp>
        <p:nvSpPr>
          <p:cNvPr id="11" name="Oval 10"/>
          <p:cNvSpPr/>
          <p:nvPr/>
        </p:nvSpPr>
        <p:spPr>
          <a:xfrm>
            <a:off x="146971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079894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Translate and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1750710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This introduction, the domain's story, the allocation, the translation, and scopes pinned at the close.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3126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WEDNESDAY 21 OCTOBER</a:t>
            </a:r>
          </a:p>
        </p:txBody>
      </p:sp>
      <p:sp>
        <p:nvSpPr>
          <p:cNvPr id="16" name="Oval 15"/>
          <p:cNvSpPr/>
          <p:nvPr/>
        </p:nvSpPr>
        <p:spPr>
          <a:xfrm>
            <a:off x="373248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93126" y="2843784"/>
            <a:ext cx="2079894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57718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Profile, clean, reconcile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7718" y="3492500"/>
            <a:ext cx="1750710" cy="86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checkpoint, the trainer's build of a smaller slice in the open, build time, and each group's headline claim.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900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THURSDAY 22 OCTOBER</a:t>
            </a:r>
          </a:p>
        </p:txBody>
      </p:sp>
      <p:sp>
        <p:nvSpPr>
          <p:cNvPr id="21" name="Oval 20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55900" y="2843784"/>
            <a:ext cx="2079894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0492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Mock R1, build complete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0492" y="3492500"/>
            <a:ext cx="1750710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Every learner sits Mock R1, about 20 minutes, half technical and half a viva on the group's work.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8674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FRIDAY 23 OCTOBER</a:t>
            </a:r>
          </a:p>
        </p:txBody>
      </p:sp>
      <p:sp>
        <p:nvSpPr>
          <p:cNvPr id="26" name="Oval 25"/>
          <p:cNvSpPr/>
          <p:nvPr/>
        </p:nvSpPr>
        <p:spPr>
          <a:xfrm>
            <a:off x="825803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8674" y="2843784"/>
            <a:ext cx="2079894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3266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Discussions and the freeze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3266" y="3492500"/>
            <a:ext cx="1750710" cy="86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expert's group discussions, about 30 minutes per group; builds freeze; two cold demo runs; the first presentations.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1448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SATURDAY 24 OCTOBER</a:t>
            </a:r>
          </a:p>
        </p:txBody>
      </p:sp>
      <p:sp>
        <p:nvSpPr>
          <p:cNvPr id="31" name="Oval 30"/>
          <p:cNvSpPr/>
          <p:nvPr/>
        </p:nvSpPr>
        <p:spPr>
          <a:xfrm>
            <a:off x="10520812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1448" y="2843784"/>
            <a:ext cx="2079894" cy="15951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46040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Presentations and closure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6040" y="3492500"/>
            <a:ext cx="1750710" cy="86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remaining discussions, presentations with live demos of 25 to 30 minutes, and every Build 1 grade closed.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7" name="Oval 3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9" name="Oval 38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41" name="Oval 4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43" name="Oval 4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5" name="Oval 44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7" name="Oval 46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55 / 61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 group ships five things, one of them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every group ship, and when is each piece seen?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45130"/>
                <a:gridCol w="5690786"/>
                <a:gridCol w="329507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holds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When it is seen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presentation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answer, a live demo run cold, the panel's questions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Friday 23 or Saturday 24 October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one-slide answer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Claim, evidence, caveat, action, for Dr Menon's board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presentation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notebook or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number reproduced from the raw files, top to bottom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live demo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decisions log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cleaning call, with every file reconciled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Scored in the mini project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challenges log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stop, dated as it happened, from entry one today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Read in Thursday's viva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43179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516686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MINI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536803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marks, the presentation included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562051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2122" y="443179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516686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MOCK INTERVIEW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2122" y="536803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marks, Thursday 22 October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562051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3892" y="443179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516686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GROUP DISCUSSION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3892" y="536803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marks, Friday and Saturday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3892" y="562051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24" name="Oval 2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26" name="Oval 2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32" name="Oval 3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34" name="Oval 3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is the week scored?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56 / 61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mini project is 40 marks, and 6 are yours alone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is the mini project scored?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3660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48056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553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5B3FD6"/>
                </a:solidFill>
                <a:latin typeface="Calibri"/>
              </a:rPr>
              <a:t>Mini project, 40 marks. </a:t>
            </a:r>
            <a:r>
              <a:rPr sz="1300" b="0" i="0">
                <a:solidFill>
                  <a:srgbClr val="1A1440"/>
                </a:solidFill>
                <a:latin typeface="Calibri"/>
              </a:rPr>
              <a:t>The first four criteria are scored once for the group, and every member receives those 34 marks; presentation and defence is scored for each learner on 6 marks, so a silent teammate cannot ride the group's score.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858008"/>
          <a:ext cx="11130990" cy="2840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86034"/>
                <a:gridCol w="914400"/>
                <a:gridCol w="7330556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Marks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full marks look like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question translated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Dr Menon's words are mapped to the right Weeks 1 and 2 method, with the metric defined and the decision it feeds named.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data made trustworthy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data is profiled before it is touched, every cleaning call is in the decisions log with its reason, and counts and dollars reconcile across files.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analysis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tree, ladder or fair comparison reaches the branch that explains the symptom, on the right denominator, with a chance test where one is needed.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claim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 sentence carries its number, denominator, period and caveat, plus an action Dr Menon can take.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Presentation and defence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live demo runs cold, and every member answers a challenge on the caveat.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5" name="Oval 14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7" name="Oval 16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3" name="Oval 22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5" name="Oval 24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57 / 61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failed demo costs its own marks, never the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happens if the live demo fails in front of the panel?</a:t>
            </a:r>
          </a:p>
        </p:txBody>
      </p:sp>
      <p:pic>
        <p:nvPicPr>
          <p:cNvPr id="9" name="mermaid diagram" descr="e3de90c39719417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6228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72597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other 34 marks are scored from the executed run, so a demo that fails costs the live demo's share of presentation and defence and nothing more.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5" name="Oval 1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7" name="Oval 1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19" name="Oval 1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1" name="Oval 2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3" name="Oval 2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58 / 61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Mock R1 is 30 marks: a technical half and a viva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is Mock R1 scored on Thursday 22 October?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Mock interview R1, 30 marks.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Each learner is scored alone, 15 marks on the technical half and 15 on the project viva.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929128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47739"/>
                <a:gridCol w="8168852"/>
                <a:gridCol w="91440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Half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Marks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Technical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Correctness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Technical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Reasoning aloud with numbers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Technical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Handling a follow-up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Project viva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translation, with one decision defended by evidence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Project viva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Defending a caveat under challenge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Project viva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they would do differently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5" name="Oval 14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7" name="Oval 16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3" name="Oval 22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5" name="Oval 24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59 / 61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group discussion is 30 marks, each learner alone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is the group discussion scored on Friday and Saturday?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Group discussion, 30 marks.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Each learner is scored alone.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662428"/>
          <a:ext cx="11130990" cy="20909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35389"/>
                <a:gridCol w="914400"/>
                <a:gridCol w="728120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Marks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full marks look like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Structures the problem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learner frames the decision and the metric before arguing.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Uses evidence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learner takes a position and defends it with a number from the exhibit.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Engages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learner builds on or challenges another member's point and brings a quiet member in.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Lands a conclusion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discussion ends on a recommendation and its main risk.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30352" y="500938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group discussion rounds run on Friday 23 October and close on the morning of Saturday 24 October.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6" name="Oval 15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8" name="Oval 17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20" name="Oval 19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2" name="Oval 21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4" name="Oval 23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6" name="Oval 25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60 / 61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 closes on pinned scopes and two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Monday end on, and what does Wednesday open with?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34277"/>
                <a:gridCol w="709671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each group does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close today, 15 minutes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Reads its one-sentence scope aloud, with the one thing it will not do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After today's blocks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Starts the build against its own scope, and logs challenges as they happen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 21 October, 30 minutes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Answers the day's three checkpoint questions, two minutes per group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 21 October, 20 minutes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States its headline claim, with its denominators and caveat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646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743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What changes when the cost of an error is a missed diagnosis rather than a missed sale?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7" name="Oval 1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9" name="Oval 18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5" name="Oval 24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7" name="Oval 26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61 / 61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