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2009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SECTION A. The new 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Week 0, Day 4. Half one: the librarian's questions, asked in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The log has moved into a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554732"/>
            <a:ext cx="10820095" cy="564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The college librarian, the morning after your function worked: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247644"/>
            <a:ext cx="41148" cy="1167384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3247644"/>
            <a:ext cx="10545775" cy="1167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0" i="1">
                <a:solidFill>
                  <a:srgbClr val="5F6360"/>
                </a:solidFill>
                <a:latin typeface="Calibri"/>
              </a:rPr>
              <a:t>"The office has moved the issue log into the library's database, and it grows every week. Can the same three numbers come straight out of the database, for any week I ask about, without anyone copying rows into a notebook?"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561332"/>
            <a:ext cx="10820095" cy="564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The database is Postgres. The language it answers in is SQL.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Half one: the librarian's questions, asked in 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>
                <a:solidFill>
                  <a:srgbClr val="1C1C1A"/>
                </a:solidFill>
                <a:latin typeface="Calibri"/>
              </a:rPr>
              <a:t>The same log, two shapes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1b44161c3eb0a3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21689"/>
            <a:ext cx="4652640" cy="103758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71244" y="2353564"/>
          <a:ext cx="5734649" cy="180746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50617"/>
                <a:gridCol w="2484032"/>
              </a:tblGrid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Python on Wednesday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SQL today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log, a list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issues, a table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6461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{"dept": "Maths", ...}, a dictionary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one row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issue["days_kept"]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the column days_kept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771244" y="4417060"/>
            <a:ext cx="5734650" cy="910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The table holds four weeks: week 1 is Wednesday's class log, row for row.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Half one: the librarian's questions, asked in 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2009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SECTION B. A table in your codespace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Week 0, Day 4. Half one: the librarian's questions, asked in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Six ticks, about fifteen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597ba8f0daf87a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18093"/>
            <a:ext cx="10820095" cy="10426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3807091"/>
            <a:ext cx="10820095" cy="1255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The setup sheet has every command and what you should see after it. The server does not start by itself, so a stopped codespace needs sudo service postgresql start again.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Half one: the librarian's questions, asked in 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2009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SECTION C. One row, one record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Week 0, Day 4. Half one: the librarian's questions, asked in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Ask for columns, and say which rows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012696"/>
            <a:ext cx="10820095" cy="1121664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012696"/>
            <a:ext cx="50292" cy="112166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113280"/>
            <a:ext cx="10417759" cy="938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SELECT issue_id, student, book, dept, days_kept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FROM issues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WHERE week = 1;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3298952"/>
          <a:ext cx="10820094" cy="154838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660725"/>
                <a:gridCol w="8159369"/>
              </a:tblGrid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Clause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Says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SELECT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which columns come back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FROM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which table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which rows count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5103368"/>
            <a:ext cx="10820095" cy="564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Eight rows come back: Wednesday's class log, from the database.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Half one: the librarian's questions, asked in 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73207" y="603504"/>
            <a:ext cx="932688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8488" y="493776"/>
            <a:ext cx="87901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How many issues did Maths have in week 1?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3186684"/>
            <a:ext cx="10820095" cy="598424"/>
          </a:xfrm>
          <a:prstGeom prst="rect">
            <a:avLst/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3186684"/>
            <a:ext cx="50292" cy="59842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278124"/>
            <a:ext cx="10362895" cy="4521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000" b="1">
                <a:solidFill>
                  <a:srgbClr val="2B4A7D"/>
                </a:solidFill>
                <a:latin typeface="Calibri"/>
              </a:rPr>
              <a:t>Question. </a:t>
            </a:r>
            <a:r>
              <a:rPr sz="2000" b="0">
                <a:solidFill>
                  <a:srgbClr val="1C1C1A"/>
                </a:solidFill>
                <a:latin typeface="Calibri"/>
              </a:rPr>
              <a:t>This line looks right. Predict what Postgres prints.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949700"/>
            <a:ext cx="10820095" cy="544576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949700"/>
            <a:ext cx="50292" cy="544576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4050284"/>
            <a:ext cx="10417759" cy="361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SELECT COUNT(*) FROM issues WHERE week = 1 AND dept = "Maths";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Half one: the librarian's questions, asked in 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73207" y="603504"/>
            <a:ext cx="932688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8488" y="493776"/>
            <a:ext cx="87901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Answer: an error, because double quotes name a column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56968"/>
            <a:ext cx="10820095" cy="544576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56968"/>
            <a:ext cx="50292" cy="544576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257552"/>
            <a:ext cx="10417759" cy="361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ERROR:  column "Maths" does not exist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66136"/>
            <a:ext cx="10820095" cy="910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In SQL, double quotes wrap the name of a column or a table. Single quotes wrap text.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904488"/>
            <a:ext cx="10820095" cy="544576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904488"/>
            <a:ext cx="50292" cy="544576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4005072"/>
            <a:ext cx="10417759" cy="361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SELECT COUNT(*) FROM issues WHERE week = 1 AND dept = 'Maths';   -- 4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13656"/>
            <a:ext cx="10820095" cy="910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Python accepts either kind of quote around text. Postgres gives each kind a different job.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Half one: the librarian's questions, asked in 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2009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SECTION D. Three questions, twice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Week 0, Day 4. Half one: the librarian's questions, asked in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>
                <a:solidFill>
                  <a:srgbClr val="1C1C1A"/>
                </a:solidFill>
                <a:latin typeface="Calibri"/>
              </a:rPr>
              <a:t>How many issues? A 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271776"/>
            <a:ext cx="10820095" cy="1121664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271776"/>
            <a:ext cx="50292" cy="112166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372360"/>
            <a:ext cx="10417759" cy="938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count = 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for issue in log: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    count = count + 1        # 8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558032"/>
            <a:ext cx="10820095" cy="1121664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558032"/>
            <a:ext cx="50292" cy="112166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3658616"/>
            <a:ext cx="10417759" cy="938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SELECT COUNT(*) AS issues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FROM issues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WHERE week = 1;              -- 8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844288"/>
            <a:ext cx="10820095" cy="564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The loop's start, update and finish all live inside COUNT(*).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Half one: the librarian's questions, asked in 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Which department borrows most? A count per group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1508e9689edc5e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27632"/>
            <a:ext cx="10820095" cy="84402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2617958"/>
            <a:ext cx="10820095" cy="1518412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617958"/>
            <a:ext cx="50292" cy="1518412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718542"/>
            <a:ext cx="10417759" cy="1335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E4ECF7"/>
                </a:solidFill>
                <a:latin typeface="Consolas"/>
              </a:rPr>
              <a:t>SELECT dept, COUNT(*) AS issues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4ECF7"/>
                </a:solidFill>
                <a:latin typeface="Consolas"/>
              </a:rPr>
              <a:t>FROM issues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4ECF7"/>
                </a:solidFill>
                <a:latin typeface="Consolas"/>
              </a:rPr>
              <a:t>WHERE week = 1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4ECF7"/>
                </a:solidFill>
                <a:latin typeface="Consolas"/>
              </a:rPr>
              <a:t>GROUP BY dept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4ECF7"/>
                </a:solidFill>
                <a:latin typeface="Consolas"/>
              </a:rPr>
              <a:t>ORDER BY issues DESC, dept;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300962"/>
            <a:ext cx="10820095" cy="1518412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4300962"/>
            <a:ext cx="50292" cy="1518412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4401546"/>
            <a:ext cx="10417759" cy="1335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E4ECF7"/>
                </a:solidFill>
                <a:latin typeface="Consolas"/>
              </a:rPr>
              <a:t>  dept   | issues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4ECF7"/>
                </a:solidFill>
                <a:latin typeface="Consolas"/>
              </a:rPr>
              <a:t>---------+--------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4ECF7"/>
                </a:solidFill>
                <a:latin typeface="Consolas"/>
              </a:rPr>
              <a:t> Maths   |      4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4ECF7"/>
                </a:solidFill>
                <a:latin typeface="Consolas"/>
              </a:rPr>
              <a:t> Arts    |      2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4ECF7"/>
                </a:solidFill>
                <a:latin typeface="Consolas"/>
              </a:rPr>
              <a:t> Science |     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Half one: the librarian's questions, asked in 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73207" y="603504"/>
            <a:ext cx="932688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8488" y="493776"/>
            <a:ext cx="87901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How many days late in week 1?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573528"/>
            <a:ext cx="10820095" cy="959104"/>
          </a:xfrm>
          <a:prstGeom prst="rect">
            <a:avLst/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573528"/>
            <a:ext cx="50292" cy="9591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664968"/>
            <a:ext cx="10362895" cy="812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000" b="1">
                <a:solidFill>
                  <a:srgbClr val="2B4A7D"/>
                </a:solidFill>
                <a:latin typeface="Calibri"/>
              </a:rPr>
              <a:t>Question. </a:t>
            </a:r>
            <a:r>
              <a:rPr sz="2000" b="0">
                <a:solidFill>
                  <a:srgbClr val="1C1C1A"/>
                </a:solidFill>
                <a:latin typeface="Calibri"/>
              </a:rPr>
              <a:t>The loan is 14 days. Which two lines turn the Python below into one query?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697224"/>
            <a:ext cx="10820095" cy="1410208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697224"/>
            <a:ext cx="50292" cy="1410208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3797808"/>
            <a:ext cx="10417759" cy="122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late = 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for issue in log: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    if issue["days_kept"] &gt; 14: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        late = late + (issue["days_kept"] - 14)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Half one: the librarian's questions, asked in 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73207" y="603504"/>
            <a:ext cx="932688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8488" y="493776"/>
            <a:ext cx="87901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Answer: the if becomes WHERE, the total becomes SUM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" name="Picture 6" descr="d9f5d5431a93de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45975"/>
            <a:ext cx="4652640" cy="118900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71244" y="2597912"/>
            <a:ext cx="5734650" cy="1410208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71244" y="2597912"/>
            <a:ext cx="50292" cy="1410208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08988" y="2698496"/>
            <a:ext cx="5332314" cy="122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SELECT SUM(days_kept - 14) AS late_days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FROM issues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WHERE week = 1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4ECF7"/>
                </a:solidFill>
                <a:latin typeface="Consolas"/>
              </a:rPr>
              <a:t>  AND days_kept &gt; 14;        -- 13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71244" y="4172712"/>
            <a:ext cx="5734650" cy="910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Issue 3 adds 6 and issue 7 adds 7: 13, the same number the function returned.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Half one: the librarian's questions, asked in 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2009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SECTION E. Every week at once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Week 0, Day 4. Half one: the librarian's questions, asked in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1C1C1A"/>
                </a:solidFill>
                <a:latin typeface="Calibri"/>
              </a:rPr>
              <a:t>The same numbers every week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10820095" cy="1265936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27632"/>
            <a:ext cx="50292" cy="1265936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728216"/>
            <a:ext cx="10417759" cy="1083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E4ECF7"/>
                </a:solidFill>
                <a:latin typeface="Consolas"/>
              </a:rPr>
              <a:t>SELECT week, COUNT(*) AS issues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4ECF7"/>
                </a:solidFill>
                <a:latin typeface="Consolas"/>
              </a:rPr>
              <a:t>FROM issues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4ECF7"/>
                </a:solidFill>
                <a:latin typeface="Consolas"/>
              </a:rPr>
              <a:t>GROUP BY week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4ECF7"/>
                </a:solidFill>
                <a:latin typeface="Consolas"/>
              </a:rPr>
              <a:t>ORDER BY week;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058160"/>
            <a:ext cx="10820095" cy="1770887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058160"/>
            <a:ext cx="50292" cy="1770887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3158744"/>
            <a:ext cx="10417759" cy="1588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E4ECF7"/>
                </a:solidFill>
                <a:latin typeface="Consolas"/>
              </a:rPr>
              <a:t> week | issues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4ECF7"/>
                </a:solidFill>
                <a:latin typeface="Consolas"/>
              </a:rPr>
              <a:t>------+--------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4ECF7"/>
                </a:solidFill>
                <a:latin typeface="Consolas"/>
              </a:rPr>
              <a:t>    1 |      8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4ECF7"/>
                </a:solidFill>
                <a:latin typeface="Consolas"/>
              </a:rPr>
              <a:t>    2 |     10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4ECF7"/>
                </a:solidFill>
                <a:latin typeface="Consolas"/>
              </a:rPr>
              <a:t>    3 |     10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4ECF7"/>
                </a:solidFill>
                <a:latin typeface="Consolas"/>
              </a:rPr>
              <a:t>    4 |    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993639"/>
            <a:ext cx="10820095" cy="806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C1C1A"/>
                </a:solidFill>
                <a:latin typeface="Calibri"/>
              </a:rPr>
              <a:t>Wednesday wrapped the loop in a function so next week could reuse it. Grouping by week answers every week in one query.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Half one: the librarian's questions, asked in 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1C1C1A"/>
                </a:solidFill>
                <a:latin typeface="Calibri"/>
              </a:rPr>
              <a:t>Each Python move has a clause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e7f0f8e6a88677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49041"/>
            <a:ext cx="4652640" cy="2982877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71244" y="2679192"/>
          <a:ext cx="5734649" cy="232257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382458"/>
                <a:gridCol w="2352191"/>
              </a:tblGrid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In Python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In SQL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loop over the records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FROM issues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if inside the loop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running count or total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COUNT(*), SUM(...)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a dictionary keyed by department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GROUP BY dept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sorted(..., reverse=True)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ORDER BY ... DESC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Half one: the librarian's questions, asked in 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>
                <a:solidFill>
                  <a:srgbClr val="1C1C1A"/>
                </a:solidFill>
                <a:latin typeface="Calibri"/>
              </a:rPr>
              <a:t>Your turn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2807208"/>
          <a:ext cx="10820094" cy="20665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410047"/>
                <a:gridCol w="5410047"/>
              </a:tblGrid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What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</a:tr>
              <a:tr h="6461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The five queries of this half, with the answer each should print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C2_W00_D04_01_librarian_STUDENT.sql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87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The same questions in Python and SQL, side by side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The demo notebook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  <a:tr h="6461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Whose books spend the most days out, in SQL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Change one word of S8's query and check for Maths 42, Science 35, Arts 14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Half one: the librarian's questions, asked in 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