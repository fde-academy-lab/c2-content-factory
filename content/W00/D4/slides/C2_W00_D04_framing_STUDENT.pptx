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A. 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"I want an app that predicts how many will eat"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warden of a student hostel: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20544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20544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"Our mess throws away about a fifth of what it cooks. I want an app that predicts how many students will eat."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06064"/>
            <a:ext cx="10820095" cy="564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mess manager adds: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98975"/>
            <a:ext cx="41148" cy="839216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998975"/>
            <a:ext cx="10545775" cy="839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5F6360"/>
                </a:solidFill>
                <a:latin typeface="Calibri"/>
              </a:rPr>
              <a:t>"Students skip dinner without telling anyone, and the vendor bills us for what we order, eaten or not."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84495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You are the engineer in the room. For the first twenty minutes you may ask anything, and you may propose nothing.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B. Twenty minutes of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Ask first: the ask arrives with its answer attached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40e00ebc0e020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84679"/>
            <a:ext cx="10820095" cy="1054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585337"/>
            <a:ext cx="10820095" cy="171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warden has already chosen a solution. Your first job is to find the problem it was chosen for, and whether it is the right one.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Every answer you get in the next twenty minutes comes only from a question someone asked.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C. The four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Four questions come before any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dd41ac289d1eb5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207" y="1627632"/>
            <a:ext cx="3093825" cy="442569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1965960"/>
          <a:ext cx="5734649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19110"/>
                <a:gridCol w="3015539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 the warden's mess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pain or the decision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Money spent on food nobody eats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people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warden, the mess manager, the vendor, the students, the mess committee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number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Plates thrown away each week, and the bill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11643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unknowns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What the records show, how early the vendor needs a count, who must agree to a new rule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Known, assumed or must ask?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10820095" cy="850899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50292" cy="850899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19072"/>
            <a:ext cx="10362895" cy="7045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1700" b="0">
                <a:solidFill>
                  <a:srgbClr val="1C1C1A"/>
                </a:solidFill>
                <a:latin typeface="Calibri"/>
              </a:rPr>
              <a:t>Sort the eight statements. Known means someone who would know has said it; assumed means nobody has checked it; must ask means only the owner can fill the gap.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2643124"/>
          <a:ext cx="10820095" cy="3172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10042855"/>
              </a:tblGrid>
              <a:tr h="3525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Statement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The mess cooks for all 240 students every night.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About a fifth of the food is thrown away.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Students would use an app to say they are skipping dinner.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The vendor bills for every plate ordered, eaten or not.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Weekends waste the most.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Who has to agree before students are asked to do anything new?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How early does the vendor need the next day's count?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C1A"/>
                          </a:solidFill>
                          <a:latin typeface="Calibri"/>
                        </a:rPr>
                        <a:t>Students skip dinner without telling anyone.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Answer: three known, three assumed, two must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94484"/>
          <a:ext cx="10820094" cy="23256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76307"/>
                <a:gridCol w="4852711"/>
                <a:gridCol w="2391076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Known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Assumed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Must ask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1, the mess manager cooks for all 240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2, the warden's estimate until the register is read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6, who must agree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4, the mess manager knows the bill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3, nobody has asked a student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7, the vendor's deadline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8, the mess manager sees it nightly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5, a guess until the register is read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676140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An assumption becomes a fact the moment someone checks it. The mess keeps a register of plates served each night, so statements 2 and 5 can be checked this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D. Stated and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stated problem and the real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2f2d12bc81e39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9371"/>
            <a:ext cx="4652640" cy="154221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71244" y="2418588"/>
          <a:ext cx="5734650" cy="2843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27680"/>
                <a:gridCol w="2403485"/>
                <a:gridCol w="2403485"/>
              </a:tblGrid>
              <a:tr h="387096"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In the warden's words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Underneath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"An app that predicts how many students will eat"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way to order closer to what is eaten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cause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"Students skip dinner without telling anyone"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Nobody has a way to tell the mess in time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cost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"The vendor bills us for what we order"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Every uneaten plate is paid for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cheapest fix may need no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094484"/>
          <a:ext cx="10820094" cy="23256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1427"/>
                <a:gridCol w="5021427"/>
                <a:gridCol w="777240"/>
              </a:tblGrid>
              <a:tr h="387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takes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Model?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 sign-out each morning on the mess group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One message a day from each student who will skip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Cook each weekday's recent average, plus a small margin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The mess register and a calculator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6461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An app that predicts attendance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Data, a model, an app, and someone to keep it running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1C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76140"/>
            <a:ext cx="10820095" cy="910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The first two could start next week. Choosing between the three is the weekend project's work; today's work is being sure the problem underneath is the right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Write it for the warden's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360928"/>
            <a:ext cx="10820095" cy="95910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360928"/>
            <a:ext cx="50292" cy="9591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452368"/>
            <a:ext cx="10362895" cy="812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2B4A7D"/>
                </a:solidFill>
                <a:latin typeface="Calibri"/>
              </a:rPr>
              <a:t>Question. </a:t>
            </a:r>
            <a:r>
              <a:rPr sz="2000" b="0">
                <a:solidFill>
                  <a:srgbClr val="1C1C1A"/>
                </a:solidFill>
                <a:latin typeface="Calibri"/>
              </a:rPr>
              <a:t>Write the stated problem, a candidate real problem, and five questions ranked by importance, each with the decision its answer would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73207" y="603504"/>
            <a:ext cx="932688" cy="274320"/>
          </a:xfrm>
          <a:prstGeom prst="roundRect">
            <a:avLst/>
          </a:prstGeom>
          <a:solidFill>
            <a:srgbClr val="1C1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8488" y="493776"/>
            <a:ext cx="87901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1C1C1A"/>
                </a:solidFill>
                <a:latin typeface="Calibri"/>
              </a:rPr>
              <a:t>Answer: one strong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78355"/>
            <a:ext cx="10820095" cy="50825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78355"/>
            <a:ext cx="50292" cy="50825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69795"/>
            <a:ext cx="1036289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4A7D"/>
                </a:solidFill>
                <a:latin typeface="Calibri"/>
              </a:rPr>
              <a:t>Stated: </a:t>
            </a:r>
            <a:r>
              <a:rPr sz="1500" b="0">
                <a:solidFill>
                  <a:srgbClr val="1C1C1A"/>
                </a:solidFill>
                <a:latin typeface="Calibri"/>
              </a:rPr>
              <a:t>predict how many students will eat dinner.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51201"/>
            <a:ext cx="10820095" cy="778764"/>
          </a:xfrm>
          <a:prstGeom prst="rect">
            <a:avLst/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51201"/>
            <a:ext cx="50292" cy="77876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842641"/>
            <a:ext cx="10362895" cy="6324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B4A7D"/>
                </a:solidFill>
                <a:latin typeface="Calibri"/>
              </a:rPr>
              <a:t>Real, as a candidate: </a:t>
            </a:r>
            <a:r>
              <a:rPr sz="1500" b="0">
                <a:solidFill>
                  <a:srgbClr val="1C1C1A"/>
                </a:solidFill>
                <a:latin typeface="Calibri"/>
              </a:rPr>
              <a:t>the mess orders food for all 240 students because it has no signal of who is coming, and the vendor bills for every plate.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3694557"/>
          <a:ext cx="10820094" cy="1908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5679591"/>
                <a:gridCol w="4363263"/>
              </a:tblGrid>
              <a:tr h="3180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 decision its answer changes</a:t>
                      </a:r>
                    </a:p>
                  </a:txBody>
                  <a:tcPr marL="101600" marR="101600" marT="38100" marB="38100" anchor="ctr">
                    <a:solidFill>
                      <a:srgbClr val="2B4A7D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How many plates are thrown away, and on which nights?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Whether the fix is needed every night or only some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How early does the vendor need the count, and can that move?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How late a signal can arrive and still help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Who has to agree before students are asked to do something new?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Whether a sign-out rule is possible at 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Which number would tell you it is fixed, by how much, and by when?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What to measure, and when to stop</a:t>
                      </a:r>
                    </a:p>
                  </a:txBody>
                  <a:tcPr marL="101600" marR="101600" marT="38100" marB="38100" anchor="ctr">
                    <a:solidFill>
                      <a:srgbClr val="F7F7F5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How do students tell anyone today that they will skip?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C1A"/>
                          </a:solidFill>
                          <a:latin typeface="Calibri"/>
                        </a:rPr>
                        <a:t>Whether to build on a habit that already exists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SECTION E. Your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03504"/>
            <a:ext cx="786384" cy="274320"/>
          </a:xfrm>
          <a:prstGeom prst="round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488" y="493776"/>
            <a:ext cx="97045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300" b="1">
                <a:solidFill>
                  <a:srgbClr val="1C1C1A"/>
                </a:solidFill>
                <a:latin typeface="Calibri"/>
              </a:rPr>
              <a:t>The problem card, due Saturday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820095" cy="32004"/>
          </a:xfrm>
          <a:prstGeom prst="rect">
            <a:avLst/>
          </a:prstGeom>
          <a:solidFill>
            <a:srgbClr val="2B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82b7eae345edd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6259"/>
            <a:ext cx="10820095" cy="966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768925"/>
            <a:ext cx="10820095" cy="1255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C1C1A"/>
                </a:solidFill>
                <a:latin typeface="Calibri"/>
              </a:rPr>
              <a:t>One page, handed in on Saturday: a real problem from a field you know, the four questions answered for it, the stated problem and a candidate real problem written apart, and the three questions you would ask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12801"/>
          </a:xfrm>
          <a:prstGeom prst="rect">
            <a:avLst/>
          </a:prstGeom>
          <a:solidFill>
            <a:srgbClr val="C9C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91656"/>
            <a:ext cx="9722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5F6360"/>
                </a:solidFill>
                <a:latin typeface="Calibri"/>
              </a:rPr>
              <a:t>Week 0, Day 4. The warden's mess: the problem before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9165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5F636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