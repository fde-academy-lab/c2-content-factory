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A. The ask</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3. Half one: the librarian's log</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Every book that goes out is logged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382012"/>
            <a:ext cx="10820095" cy="56489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college librarian, before the term review:</a:t>
            </a:r>
          </a:p>
        </p:txBody>
      </p:sp>
      <p:sp>
        <p:nvSpPr>
          <p:cNvPr id="7" name="Rectangle 6"/>
          <p:cNvSpPr/>
          <p:nvPr/>
        </p:nvSpPr>
        <p:spPr>
          <a:xfrm>
            <a:off x="685800" y="3074924"/>
            <a:ext cx="41148" cy="1167384"/>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3074924"/>
            <a:ext cx="10545775" cy="1167384"/>
          </a:xfrm>
          <a:prstGeom prst="rect">
            <a:avLst/>
          </a:prstGeom>
          <a:noFill/>
        </p:spPr>
        <p:txBody>
          <a:bodyPr wrap="square" anchor="t" lIns="0" rIns="0" tIns="0" bIns="0">
            <a:spAutoFit/>
          </a:bodyPr>
          <a:lstStyle/>
          <a:p>
            <a:r>
              <a:rPr sz="1900" b="0" i="1">
                <a:solidFill>
                  <a:srgbClr val="5F6360"/>
                </a:solidFill>
                <a:latin typeface="Calibri"/>
              </a:rPr>
              <a:t>"Every book that goes out is logged. Before the term review I need how many issues we had, which department borrows most, and how many days late books came back. And I need the same numbers every week."</a:t>
            </a:r>
          </a:p>
        </p:txBody>
      </p:sp>
      <p:sp>
        <p:nvSpPr>
          <p:cNvPr id="9" name="TextBox 8"/>
          <p:cNvSpPr txBox="1"/>
          <p:nvPr/>
        </p:nvSpPr>
        <p:spPr>
          <a:xfrm>
            <a:off x="685800" y="4388612"/>
            <a:ext cx="10820095"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You are the one person in the building who can write Python. The log holds one row per book lent out.</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2" name="TextBox 11"/>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Four questions, one way of answering them</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b55d6587d2283d49.png"/>
          <p:cNvPicPr>
            <a:picLocks noChangeAspect="1"/>
          </p:cNvPicPr>
          <p:nvPr/>
        </p:nvPicPr>
        <p:blipFill>
          <a:blip r:embed="rId3"/>
          <a:stretch>
            <a:fillRect/>
          </a:stretch>
        </p:blipFill>
        <p:spPr>
          <a:xfrm>
            <a:off x="685800" y="2346895"/>
            <a:ext cx="10820095" cy="905385"/>
          </a:xfrm>
          <a:prstGeom prst="rect">
            <a:avLst/>
          </a:prstGeom>
        </p:spPr>
      </p:pic>
      <p:graphicFrame>
        <p:nvGraphicFramePr>
          <p:cNvPr id="7" name="Table 6"/>
          <p:cNvGraphicFramePr>
            <a:graphicFrameLocks noGrp="1"/>
          </p:cNvGraphicFramePr>
          <p:nvPr/>
        </p:nvGraphicFramePr>
        <p:xfrm>
          <a:off x="685800" y="3398584"/>
          <a:ext cx="10820094" cy="1935480"/>
        </p:xfrm>
        <a:graphic>
          <a:graphicData uri="http://schemas.openxmlformats.org/drawingml/2006/table">
            <a:tbl>
              <a:tblPr firstRow="0" bandRow="0">
                <a:tableStyleId>{2D5ABB26-0587-4C30-8999-92F81FD0307C}</a:tableStyleId>
              </a:tblPr>
              <a:tblGrid>
                <a:gridCol w="5020567"/>
                <a:gridCol w="5799527"/>
              </a:tblGrid>
              <a:tr h="387096">
                <a:tc>
                  <a:txBody>
                    <a:bodyPr/>
                    <a:lstStyle/>
                    <a:p>
                      <a:r>
                        <a:rPr sz="1600" b="1">
                          <a:solidFill>
                            <a:srgbClr val="FFFFFF"/>
                          </a:solidFill>
                          <a:latin typeface="Calibri"/>
                        </a:rPr>
                        <a:t>The librarian asks</a:t>
                      </a:r>
                    </a:p>
                  </a:txBody>
                  <a:tcPr marL="101600" marR="101600" marT="38100" marB="38100" anchor="ctr">
                    <a:solidFill>
                      <a:srgbClr val="2B4A7D"/>
                    </a:solidFill>
                  </a:tcPr>
                </a:tc>
                <a:tc>
                  <a:txBody>
                    <a:bodyPr/>
                    <a:lstStyle/>
                    <a:p>
                      <a:r>
                        <a:rPr sz="1600" b="1">
                          <a:solidFill>
                            <a:srgbClr val="FFFFFF"/>
                          </a:solidFill>
                          <a:latin typeface="Calibri"/>
                        </a:rPr>
                        <a:t>Python needs</a:t>
                      </a:r>
                    </a:p>
                  </a:txBody>
                  <a:tcPr marL="101600" marR="101600" marT="38100" marB="38100" anchor="ctr">
                    <a:solidFill>
                      <a:srgbClr val="2B4A7D"/>
                    </a:solidFill>
                  </a:tcPr>
                </a:tc>
              </a:tr>
              <a:tr h="387096">
                <a:tc>
                  <a:txBody>
                    <a:bodyPr/>
                    <a:lstStyle/>
                    <a:p>
                      <a:r>
                        <a:rPr sz="1500" b="0">
                          <a:solidFill>
                            <a:srgbClr val="1C1C1A"/>
                          </a:solidFill>
                          <a:latin typeface="Calibri"/>
                        </a:rPr>
                        <a:t>How many issues?</a:t>
                      </a:r>
                    </a:p>
                  </a:txBody>
                  <a:tcPr marL="101600" marR="101600" marT="38100" marB="38100" anchor="ctr">
                    <a:solidFill>
                      <a:srgbClr val="FFFFFF"/>
                    </a:solidFill>
                  </a:tcPr>
                </a:tc>
                <a:tc>
                  <a:txBody>
                    <a:bodyPr/>
                    <a:lstStyle/>
                    <a:p>
                      <a:r>
                        <a:rPr sz="1500" b="0">
                          <a:solidFill>
                            <a:srgbClr val="1C1C1A"/>
                          </a:solidFill>
                          <a:latin typeface="Calibri"/>
                        </a:rPr>
                        <a:t>A count</a:t>
                      </a:r>
                    </a:p>
                  </a:txBody>
                  <a:tcPr marL="101600" marR="101600" marT="38100" marB="38100" anchor="ctr">
                    <a:solidFill>
                      <a:srgbClr val="FFFFFF"/>
                    </a:solidFill>
                  </a:tcPr>
                </a:tc>
              </a:tr>
              <a:tr h="387096">
                <a:tc>
                  <a:txBody>
                    <a:bodyPr/>
                    <a:lstStyle/>
                    <a:p>
                      <a:r>
                        <a:rPr sz="1500" b="0">
                          <a:solidFill>
                            <a:srgbClr val="1C1C1A"/>
                          </a:solidFill>
                          <a:latin typeface="Calibri"/>
                        </a:rPr>
                        <a:t>Which department borrows most?</a:t>
                      </a:r>
                    </a:p>
                  </a:txBody>
                  <a:tcPr marL="101600" marR="101600" marT="38100" marB="38100" anchor="ctr">
                    <a:solidFill>
                      <a:srgbClr val="F7F7F5"/>
                    </a:solidFill>
                  </a:tcPr>
                </a:tc>
                <a:tc>
                  <a:txBody>
                    <a:bodyPr/>
                    <a:lstStyle/>
                    <a:p>
                      <a:r>
                        <a:rPr sz="1500" b="0">
                          <a:solidFill>
                            <a:srgbClr val="1C1C1A"/>
                          </a:solidFill>
                          <a:latin typeface="Calibri"/>
                        </a:rPr>
                        <a:t>A count per department</a:t>
                      </a:r>
                    </a:p>
                  </a:txBody>
                  <a:tcPr marL="101600" marR="101600" marT="38100" marB="38100" anchor="ctr">
                    <a:solidFill>
                      <a:srgbClr val="F7F7F5"/>
                    </a:solidFill>
                  </a:tcPr>
                </a:tc>
              </a:tr>
              <a:tr h="387096">
                <a:tc>
                  <a:txBody>
                    <a:bodyPr/>
                    <a:lstStyle/>
                    <a:p>
                      <a:r>
                        <a:rPr sz="1500" b="0">
                          <a:solidFill>
                            <a:srgbClr val="1C1C1A"/>
                          </a:solidFill>
                          <a:latin typeface="Calibri"/>
                        </a:rPr>
                        <a:t>How many days late?</a:t>
                      </a:r>
                    </a:p>
                  </a:txBody>
                  <a:tcPr marL="101600" marR="101600" marT="38100" marB="38100" anchor="ctr">
                    <a:solidFill>
                      <a:srgbClr val="FFFFFF"/>
                    </a:solidFill>
                  </a:tcPr>
                </a:tc>
                <a:tc>
                  <a:txBody>
                    <a:bodyPr/>
                    <a:lstStyle/>
                    <a:p>
                      <a:r>
                        <a:rPr sz="1500" b="0">
                          <a:solidFill>
                            <a:srgbClr val="1C1C1A"/>
                          </a:solidFill>
                          <a:latin typeface="Calibri"/>
                        </a:rPr>
                        <a:t>A sum of the days past the loan</a:t>
                      </a:r>
                    </a:p>
                  </a:txBody>
                  <a:tcPr marL="101600" marR="101600" marT="38100" marB="38100" anchor="ctr">
                    <a:solidFill>
                      <a:srgbClr val="FFFFFF"/>
                    </a:solidFill>
                  </a:tcPr>
                </a:tc>
              </a:tr>
              <a:tr h="387096">
                <a:tc>
                  <a:txBody>
                    <a:bodyPr/>
                    <a:lstStyle/>
                    <a:p>
                      <a:r>
                        <a:rPr sz="1500" b="0">
                          <a:solidFill>
                            <a:srgbClr val="1C1C1A"/>
                          </a:solidFill>
                          <a:latin typeface="Calibri"/>
                        </a:rPr>
                        <a:t>The same numbers every week</a:t>
                      </a:r>
                    </a:p>
                  </a:txBody>
                  <a:tcPr marL="101600" marR="101600" marT="38100" marB="38100" anchor="ctr">
                    <a:solidFill>
                      <a:srgbClr val="F7F7F5"/>
                    </a:solidFill>
                  </a:tcPr>
                </a:tc>
                <a:tc>
                  <a:txBody>
                    <a:bodyPr/>
                    <a:lstStyle/>
                    <a:p>
                      <a:r>
                        <a:rPr sz="1500" b="0">
                          <a:solidFill>
                            <a:srgbClr val="1C1C1A"/>
                          </a:solidFill>
                          <a:latin typeface="Calibri"/>
                        </a:rPr>
                        <a:t>A function that returns each answer</a:t>
                      </a:r>
                    </a:p>
                  </a:txBody>
                  <a:tcPr marL="101600" marR="101600" marT="38100" marB="38100" anchor="ctr">
                    <a:solidFill>
                      <a:srgbClr val="F7F7F5"/>
                    </a:solidFill>
                  </a:tcPr>
                </a:tc>
              </a:tr>
            </a:tbl>
          </a:graphicData>
        </a:graphic>
      </p:graphicFrame>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B. Values and records</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3. Half one: the librarian's log</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Every value has a type, and the type decides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2289556"/>
          <a:ext cx="10820095" cy="1935480"/>
        </p:xfrm>
        <a:graphic>
          <a:graphicData uri="http://schemas.openxmlformats.org/drawingml/2006/table">
            <a:tbl>
              <a:tblPr firstRow="0" bandRow="0">
                <a:tableStyleId>{2D5ABB26-0587-4C30-8999-92F81FD0307C}</a:tableStyleId>
              </a:tblPr>
              <a:tblGrid>
                <a:gridCol w="777240"/>
                <a:gridCol w="777240"/>
                <a:gridCol w="9265615"/>
              </a:tblGrid>
              <a:tr h="387096">
                <a:tc>
                  <a:txBody>
                    <a:bodyPr/>
                    <a:lstStyle/>
                    <a:p>
                      <a:r>
                        <a:rPr sz="1600" b="1">
                          <a:solidFill>
                            <a:srgbClr val="FFFFFF"/>
                          </a:solidFill>
                          <a:latin typeface="Calibri"/>
                        </a:rPr>
                        <a:t>Value</a:t>
                      </a:r>
                    </a:p>
                  </a:txBody>
                  <a:tcPr marL="101600" marR="101600" marT="38100" marB="38100" anchor="ctr">
                    <a:solidFill>
                      <a:srgbClr val="2B4A7D"/>
                    </a:solidFill>
                  </a:tcPr>
                </a:tc>
                <a:tc>
                  <a:txBody>
                    <a:bodyPr/>
                    <a:lstStyle/>
                    <a:p>
                      <a:r>
                        <a:rPr sz="1600" b="1">
                          <a:solidFill>
                            <a:srgbClr val="FFFFFF"/>
                          </a:solidFill>
                          <a:latin typeface="Calibri"/>
                        </a:rPr>
                        <a:t>Type</a:t>
                      </a:r>
                    </a:p>
                  </a:txBody>
                  <a:tcPr marL="101600" marR="101600" marT="38100" marB="38100" anchor="ctr">
                    <a:solidFill>
                      <a:srgbClr val="2B4A7D"/>
                    </a:solidFill>
                  </a:tcPr>
                </a:tc>
                <a:tc>
                  <a:txBody>
                    <a:bodyPr/>
                    <a:lstStyle/>
                    <a:p>
                      <a:r>
                        <a:rPr sz="1600" b="1">
                          <a:solidFill>
                            <a:srgbClr val="FFFFFF"/>
                          </a:solidFill>
                          <a:latin typeface="Calibri"/>
                        </a:rPr>
                        <a:t>What * does to it</a:t>
                      </a:r>
                    </a:p>
                  </a:txBody>
                  <a:tcPr marL="101600" marR="101600" marT="38100" marB="38100" anchor="ctr">
                    <a:solidFill>
                      <a:srgbClr val="2B4A7D"/>
                    </a:solidFill>
                  </a:tcPr>
                </a:tc>
              </a:tr>
              <a:tr h="387096">
                <a:tc>
                  <a:txBody>
                    <a:bodyPr/>
                    <a:lstStyle/>
                    <a:p>
                      <a:r>
                        <a:rPr sz="1500" b="0">
                          <a:solidFill>
                            <a:srgbClr val="1C1C1A"/>
                          </a:solidFill>
                          <a:latin typeface="Calibri"/>
                        </a:rPr>
                        <a:t>12</a:t>
                      </a:r>
                    </a:p>
                  </a:txBody>
                  <a:tcPr marL="101600" marR="101600" marT="38100" marB="38100" anchor="ctr">
                    <a:solidFill>
                      <a:srgbClr val="FFFFFF"/>
                    </a:solidFill>
                  </a:tcPr>
                </a:tc>
                <a:tc>
                  <a:txBody>
                    <a:bodyPr/>
                    <a:lstStyle/>
                    <a:p>
                      <a:r>
                        <a:rPr sz="1500" b="0">
                          <a:solidFill>
                            <a:srgbClr val="1C1C1A"/>
                          </a:solidFill>
                          <a:latin typeface="Calibri"/>
                        </a:rPr>
                        <a:t>int</a:t>
                      </a:r>
                    </a:p>
                  </a:txBody>
                  <a:tcPr marL="101600" marR="101600" marT="38100" marB="38100" anchor="ctr">
                    <a:solidFill>
                      <a:srgbClr val="FFFFFF"/>
                    </a:solidFill>
                  </a:tcPr>
                </a:tc>
                <a:tc>
                  <a:txBody>
                    <a:bodyPr/>
                    <a:lstStyle/>
                    <a:p>
                      <a:r>
                        <a:rPr sz="1500" b="0">
                          <a:solidFill>
                            <a:srgbClr val="1C1C1A"/>
                          </a:solidFill>
                          <a:latin typeface="Calibri"/>
                        </a:rPr>
                        <a:t>Multiplies</a:t>
                      </a:r>
                    </a:p>
                  </a:txBody>
                  <a:tcPr marL="101600" marR="101600" marT="38100" marB="38100" anchor="ctr">
                    <a:solidFill>
                      <a:srgbClr val="FFFFFF"/>
                    </a:solidFill>
                  </a:tcPr>
                </a:tc>
              </a:tr>
              <a:tr h="387096">
                <a:tc>
                  <a:txBody>
                    <a:bodyPr/>
                    <a:lstStyle/>
                    <a:p>
                      <a:r>
                        <a:rPr sz="1500" b="0">
                          <a:solidFill>
                            <a:srgbClr val="1C1C1A"/>
                          </a:solidFill>
                          <a:latin typeface="Calibri"/>
                        </a:rPr>
                        <a:t>3.5</a:t>
                      </a:r>
                    </a:p>
                  </a:txBody>
                  <a:tcPr marL="101600" marR="101600" marT="38100" marB="38100" anchor="ctr">
                    <a:solidFill>
                      <a:srgbClr val="F7F7F5"/>
                    </a:solidFill>
                  </a:tcPr>
                </a:tc>
                <a:tc>
                  <a:txBody>
                    <a:bodyPr/>
                    <a:lstStyle/>
                    <a:p>
                      <a:r>
                        <a:rPr sz="1500" b="0">
                          <a:solidFill>
                            <a:srgbClr val="1C1C1A"/>
                          </a:solidFill>
                          <a:latin typeface="Calibri"/>
                        </a:rPr>
                        <a:t>float</a:t>
                      </a:r>
                    </a:p>
                  </a:txBody>
                  <a:tcPr marL="101600" marR="101600" marT="38100" marB="38100" anchor="ctr">
                    <a:solidFill>
                      <a:srgbClr val="F7F7F5"/>
                    </a:solidFill>
                  </a:tcPr>
                </a:tc>
                <a:tc>
                  <a:txBody>
                    <a:bodyPr/>
                    <a:lstStyle/>
                    <a:p>
                      <a:r>
                        <a:rPr sz="1500" b="0">
                          <a:solidFill>
                            <a:srgbClr val="1C1C1A"/>
                          </a:solidFill>
                          <a:latin typeface="Calibri"/>
                        </a:rPr>
                        <a:t>Multiplies, and keeps the decimal</a:t>
                      </a:r>
                    </a:p>
                  </a:txBody>
                  <a:tcPr marL="101600" marR="101600" marT="38100" marB="38100" anchor="ctr">
                    <a:solidFill>
                      <a:srgbClr val="F7F7F5"/>
                    </a:solidFill>
                  </a:tcPr>
                </a:tc>
              </a:tr>
              <a:tr h="387096">
                <a:tc>
                  <a:txBody>
                    <a:bodyPr/>
                    <a:lstStyle/>
                    <a:p>
                      <a:r>
                        <a:rPr sz="1500" b="0">
                          <a:solidFill>
                            <a:srgbClr val="1C1C1A"/>
                          </a:solidFill>
                          <a:latin typeface="Calibri"/>
                        </a:rPr>
                        <a:t>"12"</a:t>
                      </a:r>
                    </a:p>
                  </a:txBody>
                  <a:tcPr marL="101600" marR="101600" marT="38100" marB="38100" anchor="ctr">
                    <a:solidFill>
                      <a:srgbClr val="FFFFFF"/>
                    </a:solidFill>
                  </a:tcPr>
                </a:tc>
                <a:tc>
                  <a:txBody>
                    <a:bodyPr/>
                    <a:lstStyle/>
                    <a:p>
                      <a:r>
                        <a:rPr sz="1500" b="0">
                          <a:solidFill>
                            <a:srgbClr val="1C1C1A"/>
                          </a:solidFill>
                          <a:latin typeface="Calibri"/>
                        </a:rPr>
                        <a:t>str</a:t>
                      </a:r>
                    </a:p>
                  </a:txBody>
                  <a:tcPr marL="101600" marR="101600" marT="38100" marB="38100" anchor="ctr">
                    <a:solidFill>
                      <a:srgbClr val="FFFFFF"/>
                    </a:solidFill>
                  </a:tcPr>
                </a:tc>
                <a:tc>
                  <a:txBody>
                    <a:bodyPr/>
                    <a:lstStyle/>
                    <a:p>
                      <a:r>
                        <a:rPr sz="1500" b="0">
                          <a:solidFill>
                            <a:srgbClr val="1C1C1A"/>
                          </a:solidFill>
                          <a:latin typeface="Calibri"/>
                        </a:rPr>
                        <a:t>Repeats the text</a:t>
                      </a:r>
                    </a:p>
                  </a:txBody>
                  <a:tcPr marL="101600" marR="101600" marT="38100" marB="38100" anchor="ctr">
                    <a:solidFill>
                      <a:srgbClr val="FFFFFF"/>
                    </a:solidFill>
                  </a:tcPr>
                </a:tc>
              </a:tr>
              <a:tr h="387096">
                <a:tc>
                  <a:txBody>
                    <a:bodyPr/>
                    <a:lstStyle/>
                    <a:p>
                      <a:r>
                        <a:rPr sz="1500" b="0">
                          <a:solidFill>
                            <a:srgbClr val="1C1C1A"/>
                          </a:solidFill>
                          <a:latin typeface="Calibri"/>
                        </a:rPr>
                        <a:t>True</a:t>
                      </a:r>
                    </a:p>
                  </a:txBody>
                  <a:tcPr marL="101600" marR="101600" marT="38100" marB="38100" anchor="ctr">
                    <a:solidFill>
                      <a:srgbClr val="F7F7F5"/>
                    </a:solidFill>
                  </a:tcPr>
                </a:tc>
                <a:tc>
                  <a:txBody>
                    <a:bodyPr/>
                    <a:lstStyle/>
                    <a:p>
                      <a:r>
                        <a:rPr sz="1500" b="0">
                          <a:solidFill>
                            <a:srgbClr val="1C1C1A"/>
                          </a:solidFill>
                          <a:latin typeface="Calibri"/>
                        </a:rPr>
                        <a:t>bool</a:t>
                      </a:r>
                    </a:p>
                  </a:txBody>
                  <a:tcPr marL="101600" marR="101600" marT="38100" marB="38100" anchor="ctr">
                    <a:solidFill>
                      <a:srgbClr val="F7F7F5"/>
                    </a:solidFill>
                  </a:tcPr>
                </a:tc>
                <a:tc>
                  <a:txBody>
                    <a:bodyPr/>
                    <a:lstStyle/>
                    <a:p>
                      <a:r>
                        <a:rPr sz="1500" b="0">
                          <a:solidFill>
                            <a:srgbClr val="1C1C1A"/>
                          </a:solidFill>
                          <a:latin typeface="Calibri"/>
                        </a:rPr>
                        <a:t>Counts as 1</a:t>
                      </a:r>
                    </a:p>
                  </a:txBody>
                  <a:tcPr marL="101600" marR="101600" marT="38100" marB="38100" anchor="ctr">
                    <a:solidFill>
                      <a:srgbClr val="F7F7F5"/>
                    </a:solidFill>
                  </a:tcPr>
                </a:tc>
              </a:tr>
            </a:tbl>
          </a:graphicData>
        </a:graphic>
      </p:graphicFrame>
      <p:sp>
        <p:nvSpPr>
          <p:cNvPr id="7" name="TextBox 6"/>
          <p:cNvSpPr txBox="1"/>
          <p:nvPr/>
        </p:nvSpPr>
        <p:spPr>
          <a:xfrm>
            <a:off x="685800" y="4481068"/>
            <a:ext cx="10820095"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type(12) names the type of any value. Every surprise in this half starts with a value whose type you guessed.</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D4</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2600" b="1">
                <a:solidFill>
                  <a:srgbClr val="1C1C1A"/>
                </a:solidFill>
                <a:latin typeface="Calibri"/>
              </a:rPr>
              <a:t>What does this line print?</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3186684"/>
            <a:ext cx="10820095" cy="598424"/>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3186684"/>
            <a:ext cx="50292" cy="59842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41832" y="3278124"/>
            <a:ext cx="10362895" cy="452119"/>
          </a:xfrm>
          <a:prstGeom prst="rect">
            <a:avLst/>
          </a:prstGeom>
          <a:noFill/>
        </p:spPr>
        <p:txBody>
          <a:bodyPr wrap="square" anchor="ctr" lIns="0" rIns="0" tIns="0" bIns="0">
            <a:spAutoFit/>
          </a:bodyPr>
          <a:lstStyle/>
          <a:p>
            <a:r>
              <a:rPr sz="2000" b="1">
                <a:solidFill>
                  <a:srgbClr val="2B4A7D"/>
                </a:solidFill>
                <a:latin typeface="Calibri"/>
              </a:rPr>
              <a:t>Question. </a:t>
            </a:r>
            <a:r>
              <a:rPr sz="2000" b="0">
                <a:solidFill>
                  <a:srgbClr val="1C1C1A"/>
                </a:solidFill>
                <a:latin typeface="Calibri"/>
              </a:rPr>
              <a:t>Write the four values before anything runs.</a:t>
            </a:r>
          </a:p>
        </p:txBody>
      </p:sp>
      <p:sp>
        <p:nvSpPr>
          <p:cNvPr id="10" name="Rectangle 9"/>
          <p:cNvSpPr/>
          <p:nvPr/>
        </p:nvSpPr>
        <p:spPr>
          <a:xfrm>
            <a:off x="685800" y="3949700"/>
            <a:ext cx="10820095" cy="54457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3949700"/>
            <a:ext cx="50292" cy="54457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4050284"/>
            <a:ext cx="10417759" cy="361696"/>
          </a:xfrm>
          <a:prstGeom prst="rect">
            <a:avLst/>
          </a:prstGeom>
          <a:noFill/>
        </p:spPr>
        <p:txBody>
          <a:bodyPr wrap="square" anchor="t" lIns="0" rIns="0" tIns="0" bIns="0">
            <a:spAutoFit/>
          </a:bodyPr>
          <a:lstStyle/>
          <a:p>
            <a:pPr>
              <a:spcAft>
                <a:spcPts val="200"/>
              </a:spcAft>
            </a:pPr>
            <a:r>
              <a:rPr sz="1600" b="0">
                <a:solidFill>
                  <a:srgbClr val="E4ECF7"/>
                </a:solidFill>
                <a:latin typeface="Consolas"/>
              </a:rPr>
              <a:t>print("5" * 2, 5 * 2, 7 / 2, 7 // 2)</a:t>
            </a:r>
          </a:p>
        </p:txBody>
      </p:sp>
      <p:sp>
        <p:nvSpPr>
          <p:cNvPr id="13" name="Rectangle 12"/>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5" name="TextBox 14"/>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D5</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3000" b="1">
                <a:solidFill>
                  <a:srgbClr val="1C1C1A"/>
                </a:solidFill>
                <a:latin typeface="Calibri"/>
              </a:rPr>
              <a:t>Answer: 55 10 3.5 3</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630424"/>
            <a:ext cx="10820095" cy="54457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2630424"/>
            <a:ext cx="50292" cy="54457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23544" y="2731008"/>
            <a:ext cx="10417759" cy="361696"/>
          </a:xfrm>
          <a:prstGeom prst="rect">
            <a:avLst/>
          </a:prstGeom>
          <a:noFill/>
        </p:spPr>
        <p:txBody>
          <a:bodyPr wrap="square" anchor="t" lIns="0" rIns="0" tIns="0" bIns="0">
            <a:spAutoFit/>
          </a:bodyPr>
          <a:lstStyle/>
          <a:p>
            <a:pPr>
              <a:spcAft>
                <a:spcPts val="200"/>
              </a:spcAft>
            </a:pPr>
            <a:r>
              <a:rPr sz="1600" b="0">
                <a:solidFill>
                  <a:srgbClr val="E4ECF7"/>
                </a:solidFill>
                <a:latin typeface="Consolas"/>
              </a:rPr>
              <a:t>55 10 3.5 3</a:t>
            </a:r>
          </a:p>
        </p:txBody>
      </p:sp>
      <p:sp>
        <p:nvSpPr>
          <p:cNvPr id="10" name="TextBox 9"/>
          <p:cNvSpPr txBox="1"/>
          <p:nvPr/>
        </p:nvSpPr>
        <p:spPr>
          <a:xfrm>
            <a:off x="685800" y="3339592"/>
            <a:ext cx="10820095" cy="1710944"/>
          </a:xfrm>
          <a:prstGeom prst="rect">
            <a:avLst/>
          </a:prstGeom>
          <a:noFill/>
        </p:spPr>
        <p:txBody>
          <a:bodyPr wrap="square" anchor="t" lIns="0" rIns="0" tIns="0" bIns="0">
            <a:spAutoFit/>
          </a:bodyPr>
          <a:lstStyle/>
          <a:p>
            <a:pPr>
              <a:spcAft>
                <a:spcPts val="900"/>
              </a:spcAft>
            </a:pPr>
            <a:r>
              <a:rPr sz="2000" b="0">
                <a:solidFill>
                  <a:srgbClr val="1C1C1A"/>
                </a:solidFill>
                <a:latin typeface="Calibri"/>
              </a:rPr>
              <a:t>"5" * 2 repeats the text. 5 * 2 multiplies. 7 / 2 always gives a float. 7 // 2 divides and drops the remainder.</a:t>
            </a:r>
          </a:p>
          <a:p>
            <a:pPr>
              <a:spcAft>
                <a:spcPts val="900"/>
              </a:spcAft>
            </a:pPr>
            <a:r>
              <a:rPr sz="2000" b="0">
                <a:solidFill>
                  <a:srgbClr val="1C1C1A"/>
                </a:solidFill>
                <a:latin typeface="Calibri"/>
              </a:rPr>
              <a:t>The same symbol did four different things, because four values carried their types in with them.</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3" name="TextBox 12"/>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S6</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One issue is one dictionary</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2ce2de7501e6a77a.png"/>
          <p:cNvPicPr>
            <a:picLocks noChangeAspect="1"/>
          </p:cNvPicPr>
          <p:nvPr/>
        </p:nvPicPr>
        <p:blipFill>
          <a:blip r:embed="rId3"/>
          <a:stretch>
            <a:fillRect/>
          </a:stretch>
        </p:blipFill>
        <p:spPr>
          <a:xfrm>
            <a:off x="894244" y="1627632"/>
            <a:ext cx="4235751" cy="4425696"/>
          </a:xfrm>
          <a:prstGeom prst="rect">
            <a:avLst/>
          </a:prstGeom>
        </p:spPr>
      </p:pic>
      <p:sp>
        <p:nvSpPr>
          <p:cNvPr id="7" name="Rectangle 6"/>
          <p:cNvSpPr/>
          <p:nvPr/>
        </p:nvSpPr>
        <p:spPr>
          <a:xfrm>
            <a:off x="5771244" y="2425192"/>
            <a:ext cx="5734650" cy="1410208"/>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771244" y="2425192"/>
            <a:ext cx="50292" cy="1410208"/>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08988" y="2525776"/>
            <a:ext cx="5332314" cy="1227328"/>
          </a:xfrm>
          <a:prstGeom prst="rect">
            <a:avLst/>
          </a:prstGeom>
          <a:noFill/>
        </p:spPr>
        <p:txBody>
          <a:bodyPr wrap="square" anchor="t" lIns="0" rIns="0" tIns="0" bIns="0">
            <a:spAutoFit/>
          </a:bodyPr>
          <a:lstStyle/>
          <a:p>
            <a:pPr>
              <a:spcAft>
                <a:spcPts val="200"/>
              </a:spcAft>
            </a:pPr>
            <a:r>
              <a:rPr sz="1600" b="0">
                <a:solidFill>
                  <a:srgbClr val="E4ECF7"/>
                </a:solidFill>
                <a:latin typeface="Consolas"/>
              </a:rPr>
              <a:t>issue = {"issue_id": 3, "student": "S01", "book": "Calculus", "dept": "Maths", "days_kept": 20}</a:t>
            </a:r>
          </a:p>
          <a:p>
            <a:pPr>
              <a:spcAft>
                <a:spcPts val="200"/>
              </a:spcAft>
            </a:pPr>
            <a:r>
              <a:rPr sz="1600" b="0">
                <a:solidFill>
                  <a:srgbClr val="E4ECF7"/>
                </a:solidFill>
                <a:latin typeface="Consolas"/>
              </a:rPr>
              <a:t>issue["days_kept"]    # 20</a:t>
            </a:r>
          </a:p>
        </p:txBody>
      </p:sp>
      <p:sp>
        <p:nvSpPr>
          <p:cNvPr id="10" name="TextBox 9"/>
          <p:cNvSpPr txBox="1"/>
          <p:nvPr/>
        </p:nvSpPr>
        <p:spPr>
          <a:xfrm>
            <a:off x="5771244" y="3999992"/>
            <a:ext cx="5734650" cy="1255776"/>
          </a:xfrm>
          <a:prstGeom prst="rect">
            <a:avLst/>
          </a:prstGeom>
          <a:noFill/>
        </p:spPr>
        <p:txBody>
          <a:bodyPr wrap="square" anchor="t" lIns="0" rIns="0" tIns="0" bIns="0">
            <a:spAutoFit/>
          </a:bodyPr>
          <a:lstStyle/>
          <a:p>
            <a:pPr>
              <a:spcAft>
                <a:spcPts val="900"/>
              </a:spcAft>
            </a:pPr>
            <a:r>
              <a:rPr sz="2000" b="0">
                <a:solidFill>
                  <a:srgbClr val="1C1C1A"/>
                </a:solidFill>
                <a:latin typeface="Calibri"/>
              </a:rPr>
              <a:t>A key names a field, and the value sits beside it. One row of the log is one dictionary.</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3" name="TextBox 12"/>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S7</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The log is a list of those dictionaries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631545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631545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1728216"/>
            <a:ext cx="10417759" cy="6132575"/>
          </a:xfrm>
          <a:prstGeom prst="rect">
            <a:avLst/>
          </a:prstGeom>
          <a:noFill/>
        </p:spPr>
        <p:txBody>
          <a:bodyPr wrap="square" anchor="t" lIns="0" rIns="0" tIns="0" bIns="0">
            <a:spAutoFit/>
          </a:bodyPr>
          <a:lstStyle/>
          <a:p>
            <a:pPr>
              <a:spcAft>
                <a:spcPts val="200"/>
              </a:spcAft>
            </a:pPr>
            <a:r>
              <a:rPr sz="1600" b="0">
                <a:solidFill>
                  <a:srgbClr val="E4ECF7"/>
                </a:solidFill>
                <a:latin typeface="Consolas"/>
              </a:rPr>
              <a:t>log = [</a:t>
            </a:r>
          </a:p>
          <a:p>
            <a:pPr>
              <a:spcAft>
                <a:spcPts val="200"/>
              </a:spcAft>
            </a:pPr>
            <a:r>
              <a:rPr sz="1600" b="0">
                <a:solidFill>
                  <a:srgbClr val="E4ECF7"/>
                </a:solidFill>
                <a:latin typeface="Consolas"/>
              </a:rPr>
              <a:t>    {"issue_id": 1, "student": "S01", "book": "Algebra", "dept": "Maths", "days_kept": 12},</a:t>
            </a:r>
          </a:p>
          <a:p>
            <a:pPr>
              <a:spcAft>
                <a:spcPts val="200"/>
              </a:spcAft>
            </a:pPr>
            <a:r>
              <a:rPr sz="1600" b="0">
                <a:solidFill>
                  <a:srgbClr val="E4ECF7"/>
                </a:solidFill>
                <a:latin typeface="Consolas"/>
              </a:rPr>
              <a:t>    {"issue_id": 2, "student": "S02", "book": "Poetry", "dept": "Arts", "days_kept": 5},</a:t>
            </a:r>
          </a:p>
          <a:p>
            <a:pPr>
              <a:spcAft>
                <a:spcPts val="200"/>
              </a:spcAft>
            </a:pPr>
            <a:r>
              <a:rPr sz="1600" b="0">
                <a:solidFill>
                  <a:srgbClr val="E4ECF7"/>
                </a:solidFill>
                <a:latin typeface="Consolas"/>
              </a:rPr>
              <a:t>    {"issue_id": 3, "student": "S01", "book": "Calculus", "dept": "Maths", "days_kept": 20},</a:t>
            </a:r>
          </a:p>
          <a:p>
            <a:pPr>
              <a:spcAft>
                <a:spcPts val="200"/>
              </a:spcAft>
            </a:pPr>
            <a:r>
              <a:rPr sz="1600" b="0">
                <a:solidFill>
                  <a:srgbClr val="E4ECF7"/>
                </a:solidFill>
                <a:latin typeface="Consolas"/>
              </a:rPr>
              <a:t>    {"issue_id": 4, "student": "S03", "book": "Poetry", "dept": "Arts", "days_kept": 9},</a:t>
            </a:r>
          </a:p>
          <a:p>
            <a:pPr>
              <a:spcAft>
                <a:spcPts val="200"/>
              </a:spcAft>
            </a:pPr>
            <a:r>
              <a:rPr sz="1600" b="0">
                <a:solidFill>
                  <a:srgbClr val="E4ECF7"/>
                </a:solidFill>
                <a:latin typeface="Consolas"/>
              </a:rPr>
              <a:t>    {"issue_id": 5, "student": "S04", "book": "Physics", "dept": "Science", "days_kept": 14},</a:t>
            </a:r>
          </a:p>
          <a:p>
            <a:pPr>
              <a:spcAft>
                <a:spcPts val="200"/>
              </a:spcAft>
            </a:pPr>
            <a:r>
              <a:rPr sz="1600" b="0">
                <a:solidFill>
                  <a:srgbClr val="E4ECF7"/>
                </a:solidFill>
                <a:latin typeface="Consolas"/>
              </a:rPr>
              <a:t>    {"issue_id": 6, "student": "S02", "book": "Algebra", "dept": "Maths", "days_kept": 3},</a:t>
            </a:r>
          </a:p>
          <a:p>
            <a:pPr>
              <a:spcAft>
                <a:spcPts val="200"/>
              </a:spcAft>
            </a:pPr>
            <a:r>
              <a:rPr sz="1600" b="0">
                <a:solidFill>
                  <a:srgbClr val="E4ECF7"/>
                </a:solidFill>
                <a:latin typeface="Consolas"/>
              </a:rPr>
              <a:t>    {"issue_id": 7, "student": "S05", "book": "Chemistry", "dept": "Science", "days_kept": 21},</a:t>
            </a:r>
          </a:p>
          <a:p>
            <a:pPr>
              <a:spcAft>
                <a:spcPts val="200"/>
              </a:spcAft>
            </a:pPr>
            <a:r>
              <a:rPr sz="1600" b="0">
                <a:solidFill>
                  <a:srgbClr val="E4ECF7"/>
                </a:solidFill>
                <a:latin typeface="Consolas"/>
              </a:rPr>
              <a:t>    {"issue_id": 8, "student": "S03", "book": "Calculus", "dept": "Maths", "days_kept": 7},</a:t>
            </a:r>
          </a:p>
          <a:p>
            <a:pPr>
              <a:spcAft>
                <a:spcPts val="200"/>
              </a:spcAft>
            </a:pPr>
            <a:r>
              <a:rPr sz="1600" b="0">
                <a:solidFill>
                  <a:srgbClr val="E4ECF7"/>
                </a:solidFill>
                <a:latin typeface="Consolas"/>
              </a:rPr>
              <a:t>]</a:t>
            </a:r>
          </a:p>
          <a:p>
            <a:pPr>
              <a:spcAft>
                <a:spcPts val="200"/>
              </a:spcAft>
            </a:pPr>
            <a:r>
              <a:rPr sz="1600" b="0">
                <a:solidFill>
                  <a:srgbClr val="E4ECF7"/>
                </a:solidFill>
                <a:latin typeface="Consolas"/>
              </a:rPr>
              <a:t>len(log)              # 8</a:t>
            </a:r>
          </a:p>
          <a:p>
            <a:pPr>
              <a:spcAft>
                <a:spcPts val="200"/>
              </a:spcAft>
            </a:pPr>
            <a:r>
              <a:rPr sz="1600" b="0">
                <a:solidFill>
                  <a:srgbClr val="E4ECF7"/>
                </a:solidFill>
                <a:latin typeface="Consolas"/>
              </a:rPr>
              <a:t>log[2]["book"]        # 'Calculus': the list counts from 0, the dictionary answers by name</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1" name="TextBox 10"/>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C. One loop, one running total</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3. Half one: the librarian's log</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S8</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A running total makes three moves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7f9b88ee653f7cd1.png"/>
          <p:cNvPicPr>
            <a:picLocks noChangeAspect="1"/>
          </p:cNvPicPr>
          <p:nvPr/>
        </p:nvPicPr>
        <p:blipFill>
          <a:blip r:embed="rId3"/>
          <a:stretch>
            <a:fillRect/>
          </a:stretch>
        </p:blipFill>
        <p:spPr>
          <a:xfrm>
            <a:off x="685800" y="1627632"/>
            <a:ext cx="10820095" cy="2409516"/>
          </a:xfrm>
          <a:prstGeom prst="rect">
            <a:avLst/>
          </a:prstGeom>
        </p:spPr>
      </p:pic>
      <p:sp>
        <p:nvSpPr>
          <p:cNvPr id="7" name="Rectangle 6"/>
          <p:cNvSpPr/>
          <p:nvPr/>
        </p:nvSpPr>
        <p:spPr>
          <a:xfrm>
            <a:off x="685800" y="4183452"/>
            <a:ext cx="10820095" cy="1121664"/>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4183452"/>
            <a:ext cx="50292" cy="112166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23544" y="4284036"/>
            <a:ext cx="10417759" cy="938784"/>
          </a:xfrm>
          <a:prstGeom prst="rect">
            <a:avLst/>
          </a:prstGeom>
          <a:noFill/>
        </p:spPr>
        <p:txBody>
          <a:bodyPr wrap="square" anchor="t" lIns="0" rIns="0" tIns="0" bIns="0">
            <a:spAutoFit/>
          </a:bodyPr>
          <a:lstStyle/>
          <a:p>
            <a:pPr>
              <a:spcAft>
                <a:spcPts val="200"/>
              </a:spcAft>
            </a:pPr>
            <a:r>
              <a:rPr sz="1200" b="0">
                <a:solidFill>
                  <a:srgbClr val="E4ECF7"/>
                </a:solidFill>
                <a:latin typeface="Consolas"/>
              </a:rPr>
              <a:t>total = 0                                  # start</a:t>
            </a:r>
          </a:p>
          <a:p>
            <a:pPr>
              <a:spcAft>
                <a:spcPts val="200"/>
              </a:spcAft>
            </a:pPr>
            <a:r>
              <a:rPr sz="1200" b="0">
                <a:solidFill>
                  <a:srgbClr val="E4ECF7"/>
                </a:solidFill>
                <a:latin typeface="Consolas"/>
              </a:rPr>
              <a:t>for issue in log:</a:t>
            </a:r>
          </a:p>
          <a:p>
            <a:pPr>
              <a:spcAft>
                <a:spcPts val="200"/>
              </a:spcAft>
            </a:pPr>
            <a:r>
              <a:rPr sz="1200" b="0">
                <a:solidFill>
                  <a:srgbClr val="E4ECF7"/>
                </a:solidFill>
                <a:latin typeface="Consolas"/>
              </a:rPr>
              <a:t>    total = total + issue["days_kept"]     # update</a:t>
            </a:r>
          </a:p>
          <a:p>
            <a:pPr>
              <a:spcAft>
                <a:spcPts val="200"/>
              </a:spcAft>
            </a:pPr>
            <a:r>
              <a:rPr sz="1200" b="0">
                <a:solidFill>
                  <a:srgbClr val="E4ECF7"/>
                </a:solidFill>
                <a:latin typeface="Consolas"/>
              </a:rPr>
              <a:t>print(total)                               # finish: 91</a:t>
            </a:r>
          </a:p>
        </p:txBody>
      </p:sp>
      <p:sp>
        <p:nvSpPr>
          <p:cNvPr id="10" name="TextBox 9"/>
          <p:cNvSpPr txBox="1"/>
          <p:nvPr/>
        </p:nvSpPr>
        <p:spPr>
          <a:xfrm>
            <a:off x="685800" y="5469708"/>
            <a:ext cx="10820095" cy="478536"/>
          </a:xfrm>
          <a:prstGeom prst="rect">
            <a:avLst/>
          </a:prstGeom>
          <a:noFill/>
        </p:spPr>
        <p:txBody>
          <a:bodyPr wrap="square" anchor="t" lIns="0" rIns="0" tIns="0" bIns="0">
            <a:spAutoFit/>
          </a:bodyPr>
          <a:lstStyle/>
          <a:p>
            <a:pPr>
              <a:spcAft>
                <a:spcPts val="700"/>
              </a:spcAft>
            </a:pPr>
            <a:r>
              <a:rPr sz="1500" b="0">
                <a:solidFill>
                  <a:srgbClr val="1C1C1A"/>
                </a:solidFill>
                <a:latin typeface="Calibri"/>
              </a:rPr>
              <a:t>A count is the same three moves with + 1 in the update. The librarian's first answer is 8 issues.</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3" name="TextBox 12"/>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S9</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A dictionary can be the running total</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983232"/>
            <a:ext cx="10820095" cy="2275840"/>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983232"/>
            <a:ext cx="50292" cy="227584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2083816"/>
            <a:ext cx="10417759" cy="2092959"/>
          </a:xfrm>
          <a:prstGeom prst="rect">
            <a:avLst/>
          </a:prstGeom>
          <a:noFill/>
        </p:spPr>
        <p:txBody>
          <a:bodyPr wrap="square" anchor="t" lIns="0" rIns="0" tIns="0" bIns="0">
            <a:spAutoFit/>
          </a:bodyPr>
          <a:lstStyle/>
          <a:p>
            <a:pPr>
              <a:spcAft>
                <a:spcPts val="200"/>
              </a:spcAft>
            </a:pPr>
            <a:r>
              <a:rPr sz="1600" b="0">
                <a:solidFill>
                  <a:srgbClr val="E4ECF7"/>
                </a:solidFill>
                <a:latin typeface="Consolas"/>
              </a:rPr>
              <a:t>counts = {}</a:t>
            </a:r>
          </a:p>
          <a:p>
            <a:pPr>
              <a:spcAft>
                <a:spcPts val="200"/>
              </a:spcAft>
            </a:pPr>
            <a:r>
              <a:rPr sz="1600" b="0">
                <a:solidFill>
                  <a:srgbClr val="E4ECF7"/>
                </a:solidFill>
                <a:latin typeface="Consolas"/>
              </a:rPr>
              <a:t>for issue in log:</a:t>
            </a:r>
          </a:p>
          <a:p>
            <a:pPr>
              <a:spcAft>
                <a:spcPts val="200"/>
              </a:spcAft>
            </a:pPr>
            <a:r>
              <a:rPr sz="1600" b="0">
                <a:solidFill>
                  <a:srgbClr val="E4ECF7"/>
                </a:solidFill>
                <a:latin typeface="Consolas"/>
              </a:rPr>
              <a:t>    dept = issue["dept"]</a:t>
            </a:r>
          </a:p>
          <a:p>
            <a:pPr>
              <a:spcAft>
                <a:spcPts val="200"/>
              </a:spcAft>
            </a:pPr>
            <a:r>
              <a:rPr sz="1600" b="0">
                <a:solidFill>
                  <a:srgbClr val="E4ECF7"/>
                </a:solidFill>
                <a:latin typeface="Consolas"/>
              </a:rPr>
              <a:t>    if dept not in counts:</a:t>
            </a:r>
          </a:p>
          <a:p>
            <a:pPr>
              <a:spcAft>
                <a:spcPts val="200"/>
              </a:spcAft>
            </a:pPr>
            <a:r>
              <a:rPr sz="1600" b="0">
                <a:solidFill>
                  <a:srgbClr val="E4ECF7"/>
                </a:solidFill>
                <a:latin typeface="Consolas"/>
              </a:rPr>
              <a:t>        counts[dept] = 0                   # the first time a department appears</a:t>
            </a:r>
          </a:p>
          <a:p>
            <a:pPr>
              <a:spcAft>
                <a:spcPts val="200"/>
              </a:spcAft>
            </a:pPr>
            <a:r>
              <a:rPr sz="1600" b="0">
                <a:solidFill>
                  <a:srgbClr val="E4ECF7"/>
                </a:solidFill>
                <a:latin typeface="Consolas"/>
              </a:rPr>
              <a:t>    counts[dept] = counts[dept] + 1</a:t>
            </a:r>
          </a:p>
          <a:p>
            <a:pPr>
              <a:spcAft>
                <a:spcPts val="200"/>
              </a:spcAft>
            </a:pPr>
            <a:r>
              <a:rPr sz="1600" b="0">
                <a:solidFill>
                  <a:srgbClr val="E4ECF7"/>
                </a:solidFill>
                <a:latin typeface="Consolas"/>
              </a:rPr>
              <a:t>print(counts)</a:t>
            </a:r>
          </a:p>
        </p:txBody>
      </p:sp>
      <p:sp>
        <p:nvSpPr>
          <p:cNvPr id="9" name="Rectangle 8"/>
          <p:cNvSpPr/>
          <p:nvPr/>
        </p:nvSpPr>
        <p:spPr>
          <a:xfrm>
            <a:off x="685800" y="4423664"/>
            <a:ext cx="10820095" cy="54457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85800" y="4423664"/>
            <a:ext cx="50292" cy="54457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23544" y="4524248"/>
            <a:ext cx="10417759" cy="361696"/>
          </a:xfrm>
          <a:prstGeom prst="rect">
            <a:avLst/>
          </a:prstGeom>
          <a:noFill/>
        </p:spPr>
        <p:txBody>
          <a:bodyPr wrap="square" anchor="t" lIns="0" rIns="0" tIns="0" bIns="0">
            <a:spAutoFit/>
          </a:bodyPr>
          <a:lstStyle/>
          <a:p>
            <a:pPr>
              <a:spcAft>
                <a:spcPts val="200"/>
              </a:spcAft>
            </a:pPr>
            <a:r>
              <a:rPr sz="1600" b="0">
                <a:solidFill>
                  <a:srgbClr val="E4ECF7"/>
                </a:solidFill>
                <a:latin typeface="Consolas"/>
              </a:rPr>
              <a:t>{'Maths': 4, 'Arts': 2, 'Science': 2}</a:t>
            </a:r>
          </a:p>
        </p:txBody>
      </p:sp>
      <p:sp>
        <p:nvSpPr>
          <p:cNvPr id="12" name="TextBox 11"/>
          <p:cNvSpPr txBox="1"/>
          <p:nvPr/>
        </p:nvSpPr>
        <p:spPr>
          <a:xfrm>
            <a:off x="685800" y="5132832"/>
            <a:ext cx="10820095" cy="564896"/>
          </a:xfrm>
          <a:prstGeom prst="rect">
            <a:avLst/>
          </a:prstGeom>
          <a:noFill/>
        </p:spPr>
        <p:txBody>
          <a:bodyPr wrap="square" anchor="t" lIns="0" rIns="0" tIns="0" bIns="0">
            <a:spAutoFit/>
          </a:bodyPr>
          <a:lstStyle/>
          <a:p>
            <a:pPr>
              <a:spcAft>
                <a:spcPts val="900"/>
              </a:spcAft>
            </a:pPr>
            <a:r>
              <a:rPr sz="2000" b="0">
                <a:solidFill>
                  <a:srgbClr val="1C1C1A"/>
                </a:solidFill>
                <a:latin typeface="Calibri"/>
              </a:rPr>
              <a:t>Maths borrows most. The start move now happens once per key, inside the loop.</a:t>
            </a:r>
          </a:p>
        </p:txBody>
      </p:sp>
      <p:sp>
        <p:nvSpPr>
          <p:cNvPr id="13" name="Rectangle 12"/>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5" name="TextBox 14"/>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D10</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2300" b="1">
                <a:solidFill>
                  <a:srgbClr val="1C1C1A"/>
                </a:solidFill>
                <a:latin typeface="Calibri"/>
              </a:rPr>
              <a:t>Whose books spend the most days out?</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3360928"/>
            <a:ext cx="10820095" cy="959104"/>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3360928"/>
            <a:ext cx="50292" cy="9591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41832" y="3452368"/>
            <a:ext cx="10362895" cy="812800"/>
          </a:xfrm>
          <a:prstGeom prst="rect">
            <a:avLst/>
          </a:prstGeom>
          <a:noFill/>
        </p:spPr>
        <p:txBody>
          <a:bodyPr wrap="square" anchor="ctr" lIns="0" rIns="0" tIns="0" bIns="0">
            <a:spAutoFit/>
          </a:bodyPr>
          <a:lstStyle/>
          <a:p>
            <a:r>
              <a:rPr sz="2000" b="1">
                <a:solidFill>
                  <a:srgbClr val="2B4A7D"/>
                </a:solidFill>
                <a:latin typeface="Calibri"/>
              </a:rPr>
              <a:t>Question. </a:t>
            </a:r>
            <a:r>
              <a:rPr sz="2000" b="0">
                <a:solidFill>
                  <a:srgbClr val="1C1C1A"/>
                </a:solidFill>
                <a:latin typeface="Calibri"/>
              </a:rPr>
              <a:t>Change one line of the counting loop so it answers this, then predict the three totals.</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2" name="TextBox 11"/>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D11</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2300" b="1">
                <a:solidFill>
                  <a:srgbClr val="1C1C1A"/>
                </a:solidFill>
                <a:latin typeface="Calibri"/>
              </a:rPr>
              <a:t>Answer: Maths 42, Science 35, Arts 14</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503424"/>
            <a:ext cx="10820095" cy="54457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2503424"/>
            <a:ext cx="50292" cy="54457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23544" y="2604008"/>
            <a:ext cx="10417759" cy="361696"/>
          </a:xfrm>
          <a:prstGeom prst="rect">
            <a:avLst/>
          </a:prstGeom>
          <a:noFill/>
        </p:spPr>
        <p:txBody>
          <a:bodyPr wrap="square" anchor="t" lIns="0" rIns="0" tIns="0" bIns="0">
            <a:spAutoFit/>
          </a:bodyPr>
          <a:lstStyle/>
          <a:p>
            <a:pPr>
              <a:spcAft>
                <a:spcPts val="200"/>
              </a:spcAft>
            </a:pPr>
            <a:r>
              <a:rPr sz="1600" b="0">
                <a:solidFill>
                  <a:srgbClr val="E4ECF7"/>
                </a:solidFill>
                <a:latin typeface="Consolas"/>
              </a:rPr>
              <a:t>    counts[dept] = counts[dept] + issue["days_kept"]    # add the days, not 1</a:t>
            </a:r>
          </a:p>
        </p:txBody>
      </p:sp>
      <p:sp>
        <p:nvSpPr>
          <p:cNvPr id="10" name="Rectangle 9"/>
          <p:cNvSpPr/>
          <p:nvPr/>
        </p:nvSpPr>
        <p:spPr>
          <a:xfrm>
            <a:off x="685800" y="3212592"/>
            <a:ext cx="10820095" cy="54457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3212592"/>
            <a:ext cx="50292" cy="54457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3313176"/>
            <a:ext cx="10417759" cy="361696"/>
          </a:xfrm>
          <a:prstGeom prst="rect">
            <a:avLst/>
          </a:prstGeom>
          <a:noFill/>
        </p:spPr>
        <p:txBody>
          <a:bodyPr wrap="square" anchor="t" lIns="0" rIns="0" tIns="0" bIns="0">
            <a:spAutoFit/>
          </a:bodyPr>
          <a:lstStyle/>
          <a:p>
            <a:pPr>
              <a:spcAft>
                <a:spcPts val="200"/>
              </a:spcAft>
            </a:pPr>
            <a:r>
              <a:rPr sz="1600" b="0">
                <a:solidFill>
                  <a:srgbClr val="E4ECF7"/>
                </a:solidFill>
                <a:latin typeface="Consolas"/>
              </a:rPr>
              <a:t>{'Maths': 42, 'Arts': 14, 'Science': 35}</a:t>
            </a:r>
          </a:p>
        </p:txBody>
      </p:sp>
      <p:sp>
        <p:nvSpPr>
          <p:cNvPr id="13" name="TextBox 12"/>
          <p:cNvSpPr txBox="1"/>
          <p:nvPr/>
        </p:nvSpPr>
        <p:spPr>
          <a:xfrm>
            <a:off x="685800" y="3921760"/>
            <a:ext cx="10820095" cy="1255776"/>
          </a:xfrm>
          <a:prstGeom prst="rect">
            <a:avLst/>
          </a:prstGeom>
          <a:noFill/>
        </p:spPr>
        <p:txBody>
          <a:bodyPr wrap="square" anchor="t" lIns="0" rIns="0" tIns="0" bIns="0">
            <a:spAutoFit/>
          </a:bodyPr>
          <a:lstStyle/>
          <a:p>
            <a:pPr>
              <a:spcAft>
                <a:spcPts val="900"/>
              </a:spcAft>
            </a:pPr>
            <a:r>
              <a:rPr sz="2000" b="0">
                <a:solidFill>
                  <a:srgbClr val="1C1C1A"/>
                </a:solidFill>
                <a:latin typeface="Calibri"/>
              </a:rPr>
              <a:t>Science reaches 35 days from two issues, while Maths needs four for 42. Borrowing most and keeping longest are different questions, and the loop answers whichever one its update line asks.</a:t>
            </a:r>
          </a:p>
        </p:txBody>
      </p:sp>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6" name="TextBox 1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D. A function that returns</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3. Half one: the librarian's log</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S12</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Wrap the loop so next week gets the same answer</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3285743"/>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3285743"/>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1728216"/>
            <a:ext cx="10417759" cy="3102863"/>
          </a:xfrm>
          <a:prstGeom prst="rect">
            <a:avLst/>
          </a:prstGeom>
          <a:noFill/>
        </p:spPr>
        <p:txBody>
          <a:bodyPr wrap="square" anchor="t" lIns="0" rIns="0" tIns="0" bIns="0">
            <a:spAutoFit/>
          </a:bodyPr>
          <a:lstStyle/>
          <a:p>
            <a:pPr>
              <a:spcAft>
                <a:spcPts val="200"/>
              </a:spcAft>
            </a:pPr>
            <a:r>
              <a:rPr sz="1200" b="0">
                <a:solidFill>
                  <a:srgbClr val="E4ECF7"/>
                </a:solidFill>
                <a:latin typeface="Consolas"/>
              </a:rPr>
              <a:t>def busiest_department(log):</a:t>
            </a:r>
          </a:p>
          <a:p>
            <a:pPr>
              <a:spcAft>
                <a:spcPts val="200"/>
              </a:spcAft>
            </a:pPr>
            <a:r>
              <a:rPr sz="1200" b="0">
                <a:solidFill>
                  <a:srgbClr val="E4ECF7"/>
                </a:solidFill>
                <a:latin typeface="Consolas"/>
              </a:rPr>
              <a:t>    counts = {}</a:t>
            </a:r>
          </a:p>
          <a:p>
            <a:pPr>
              <a:spcAft>
                <a:spcPts val="200"/>
              </a:spcAft>
            </a:pPr>
            <a:r>
              <a:rPr sz="1200" b="0">
                <a:solidFill>
                  <a:srgbClr val="E4ECF7"/>
                </a:solidFill>
                <a:latin typeface="Consolas"/>
              </a:rPr>
              <a:t>    for issue in log:</a:t>
            </a:r>
          </a:p>
          <a:p>
            <a:pPr>
              <a:spcAft>
                <a:spcPts val="200"/>
              </a:spcAft>
            </a:pPr>
            <a:r>
              <a:rPr sz="1200" b="0">
                <a:solidFill>
                  <a:srgbClr val="E4ECF7"/>
                </a:solidFill>
                <a:latin typeface="Consolas"/>
              </a:rPr>
              <a:t>        dept = issue["dept"]</a:t>
            </a:r>
          </a:p>
          <a:p>
            <a:pPr>
              <a:spcAft>
                <a:spcPts val="200"/>
              </a:spcAft>
            </a:pPr>
            <a:r>
              <a:rPr sz="1200" b="0">
                <a:solidFill>
                  <a:srgbClr val="E4ECF7"/>
                </a:solidFill>
                <a:latin typeface="Consolas"/>
              </a:rPr>
              <a:t>        if dept not in counts:</a:t>
            </a:r>
          </a:p>
          <a:p>
            <a:pPr>
              <a:spcAft>
                <a:spcPts val="200"/>
              </a:spcAft>
            </a:pPr>
            <a:r>
              <a:rPr sz="1200" b="0">
                <a:solidFill>
                  <a:srgbClr val="E4ECF7"/>
                </a:solidFill>
                <a:latin typeface="Consolas"/>
              </a:rPr>
              <a:t>            counts[dept] = 0</a:t>
            </a:r>
          </a:p>
          <a:p>
            <a:pPr>
              <a:spcAft>
                <a:spcPts val="200"/>
              </a:spcAft>
            </a:pPr>
            <a:r>
              <a:rPr sz="1200" b="0">
                <a:solidFill>
                  <a:srgbClr val="E4ECF7"/>
                </a:solidFill>
                <a:latin typeface="Consolas"/>
              </a:rPr>
              <a:t>        counts[dept] = counts[dept] + 1</a:t>
            </a:r>
          </a:p>
          <a:p>
            <a:pPr>
              <a:spcAft>
                <a:spcPts val="200"/>
              </a:spcAft>
            </a:pPr>
            <a:r>
              <a:rPr sz="1200" b="0">
                <a:solidFill>
                  <a:srgbClr val="E4ECF7"/>
                </a:solidFill>
                <a:latin typeface="Consolas"/>
              </a:rPr>
              <a:t>    best = None</a:t>
            </a:r>
          </a:p>
          <a:p>
            <a:pPr>
              <a:spcAft>
                <a:spcPts val="200"/>
              </a:spcAft>
            </a:pPr>
            <a:r>
              <a:rPr sz="1200" b="0">
                <a:solidFill>
                  <a:srgbClr val="E4ECF7"/>
                </a:solidFill>
                <a:latin typeface="Consolas"/>
              </a:rPr>
              <a:t>    for dept in counts:</a:t>
            </a:r>
          </a:p>
          <a:p>
            <a:pPr>
              <a:spcAft>
                <a:spcPts val="200"/>
              </a:spcAft>
            </a:pPr>
            <a:r>
              <a:rPr sz="1200" b="0">
                <a:solidFill>
                  <a:srgbClr val="E4ECF7"/>
                </a:solidFill>
                <a:latin typeface="Consolas"/>
              </a:rPr>
              <a:t>        if best is None or counts[dept] &gt; counts[best]:</a:t>
            </a:r>
          </a:p>
          <a:p>
            <a:pPr>
              <a:spcAft>
                <a:spcPts val="200"/>
              </a:spcAft>
            </a:pPr>
            <a:r>
              <a:rPr sz="1200" b="0">
                <a:solidFill>
                  <a:srgbClr val="E4ECF7"/>
                </a:solidFill>
                <a:latin typeface="Consolas"/>
              </a:rPr>
              <a:t>            best = dept</a:t>
            </a:r>
          </a:p>
          <a:p>
            <a:pPr>
              <a:spcAft>
                <a:spcPts val="200"/>
              </a:spcAft>
            </a:pPr>
            <a:r>
              <a:rPr sz="1200" b="0">
                <a:solidFill>
                  <a:srgbClr val="E4ECF7"/>
                </a:solidFill>
                <a:latin typeface="Consolas"/>
              </a:rPr>
              <a:t>    return best</a:t>
            </a:r>
          </a:p>
          <a:p>
            <a:pPr>
              <a:spcAft>
                <a:spcPts val="200"/>
              </a:spcAft>
            </a:pPr>
          </a:p>
          <a:p>
            <a:pPr>
              <a:spcAft>
                <a:spcPts val="200"/>
              </a:spcAft>
            </a:pPr>
            <a:r>
              <a:rPr sz="1200" b="0">
                <a:solidFill>
                  <a:srgbClr val="E4ECF7"/>
                </a:solidFill>
                <a:latin typeface="Consolas"/>
              </a:rPr>
              <a:t>busiest_department(log)    # 'Maths'</a:t>
            </a:r>
          </a:p>
        </p:txBody>
      </p:sp>
      <p:sp>
        <p:nvSpPr>
          <p:cNvPr id="9" name="TextBox 8"/>
          <p:cNvSpPr txBox="1"/>
          <p:nvPr/>
        </p:nvSpPr>
        <p:spPr>
          <a:xfrm>
            <a:off x="685800" y="5077967"/>
            <a:ext cx="10820095" cy="478536"/>
          </a:xfrm>
          <a:prstGeom prst="rect">
            <a:avLst/>
          </a:prstGeom>
          <a:noFill/>
        </p:spPr>
        <p:txBody>
          <a:bodyPr wrap="square" anchor="t" lIns="0" rIns="0" tIns="0" bIns="0">
            <a:spAutoFit/>
          </a:bodyPr>
          <a:lstStyle/>
          <a:p>
            <a:pPr>
              <a:spcAft>
                <a:spcPts val="700"/>
              </a:spcAft>
            </a:pPr>
            <a:r>
              <a:rPr sz="1500" b="0">
                <a:solidFill>
                  <a:srgbClr val="1C1C1A"/>
                </a:solidFill>
                <a:latin typeface="Calibri"/>
              </a:rPr>
              <a:t>Next week's log goes in, and the same question comes back answered.</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2" name="TextBox 11"/>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D13</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2300" b="1">
                <a:solidFill>
                  <a:srgbClr val="1C1C1A"/>
                </a:solidFill>
                <a:latin typeface="Calibri"/>
              </a:rPr>
              <a:t>The helper printed 6, so why did the total stop?</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011553"/>
            <a:ext cx="10820095" cy="544322"/>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2011553"/>
            <a:ext cx="50292" cy="544322"/>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41832" y="2102993"/>
            <a:ext cx="10362895" cy="398018"/>
          </a:xfrm>
          <a:prstGeom prst="rect">
            <a:avLst/>
          </a:prstGeom>
          <a:noFill/>
        </p:spPr>
        <p:txBody>
          <a:bodyPr wrap="square" anchor="ctr" lIns="0" rIns="0" tIns="0" bIns="0">
            <a:spAutoFit/>
          </a:bodyPr>
          <a:lstStyle/>
          <a:p>
            <a:r>
              <a:rPr sz="1700" b="1">
                <a:solidFill>
                  <a:srgbClr val="2B4A7D"/>
                </a:solidFill>
                <a:latin typeface="Calibri"/>
              </a:rPr>
              <a:t>Question. </a:t>
            </a:r>
            <a:r>
              <a:rPr sz="1700" b="0">
                <a:solidFill>
                  <a:srgbClr val="1C1C1A"/>
                </a:solidFill>
                <a:latin typeface="Calibri"/>
              </a:rPr>
              <a:t>The loan is 14 days. Read the output, then say what late_days gave back.</a:t>
            </a:r>
          </a:p>
        </p:txBody>
      </p:sp>
      <p:sp>
        <p:nvSpPr>
          <p:cNvPr id="10" name="Rectangle 9"/>
          <p:cNvSpPr/>
          <p:nvPr/>
        </p:nvSpPr>
        <p:spPr>
          <a:xfrm>
            <a:off x="685800" y="2720467"/>
            <a:ext cx="10820095" cy="2023363"/>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2720467"/>
            <a:ext cx="50292" cy="2023363"/>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2821051"/>
            <a:ext cx="10417759" cy="1840483"/>
          </a:xfrm>
          <a:prstGeom prst="rect">
            <a:avLst/>
          </a:prstGeom>
          <a:noFill/>
        </p:spPr>
        <p:txBody>
          <a:bodyPr wrap="square" anchor="t" lIns="0" rIns="0" tIns="0" bIns="0">
            <a:spAutoFit/>
          </a:bodyPr>
          <a:lstStyle/>
          <a:p>
            <a:pPr>
              <a:spcAft>
                <a:spcPts val="200"/>
              </a:spcAft>
            </a:pPr>
            <a:r>
              <a:rPr sz="1400" b="0">
                <a:solidFill>
                  <a:srgbClr val="E4ECF7"/>
                </a:solidFill>
                <a:latin typeface="Consolas"/>
              </a:rPr>
              <a:t>def late_days(issue):</a:t>
            </a:r>
          </a:p>
          <a:p>
            <a:pPr>
              <a:spcAft>
                <a:spcPts val="200"/>
              </a:spcAft>
            </a:pPr>
            <a:r>
              <a:rPr sz="1400" b="0">
                <a:solidFill>
                  <a:srgbClr val="E4ECF7"/>
                </a:solidFill>
                <a:latin typeface="Consolas"/>
              </a:rPr>
              <a:t>    print(issue["days_kept"] - 14)</a:t>
            </a:r>
          </a:p>
          <a:p>
            <a:pPr>
              <a:spcAft>
                <a:spcPts val="200"/>
              </a:spcAft>
            </a:pPr>
          </a:p>
          <a:p>
            <a:pPr>
              <a:spcAft>
                <a:spcPts val="200"/>
              </a:spcAft>
            </a:pPr>
            <a:r>
              <a:rPr sz="1400" b="0">
                <a:solidFill>
                  <a:srgbClr val="E4ECF7"/>
                </a:solidFill>
                <a:latin typeface="Consolas"/>
              </a:rPr>
              <a:t>late = 0</a:t>
            </a:r>
          </a:p>
          <a:p>
            <a:pPr>
              <a:spcAft>
                <a:spcPts val="200"/>
              </a:spcAft>
            </a:pPr>
            <a:r>
              <a:rPr sz="1400" b="0">
                <a:solidFill>
                  <a:srgbClr val="E4ECF7"/>
                </a:solidFill>
                <a:latin typeface="Consolas"/>
              </a:rPr>
              <a:t>for issue in log:</a:t>
            </a:r>
          </a:p>
          <a:p>
            <a:pPr>
              <a:spcAft>
                <a:spcPts val="200"/>
              </a:spcAft>
            </a:pPr>
            <a:r>
              <a:rPr sz="1400" b="0">
                <a:solidFill>
                  <a:srgbClr val="E4ECF7"/>
                </a:solidFill>
                <a:latin typeface="Consolas"/>
              </a:rPr>
              <a:t>    if issue["days_kept"] &gt; 14:</a:t>
            </a:r>
          </a:p>
          <a:p>
            <a:pPr>
              <a:spcAft>
                <a:spcPts val="200"/>
              </a:spcAft>
            </a:pPr>
            <a:r>
              <a:rPr sz="1400" b="0">
                <a:solidFill>
                  <a:srgbClr val="E4ECF7"/>
                </a:solidFill>
                <a:latin typeface="Consolas"/>
              </a:rPr>
              <a:t>        late = late + late_days(issue)</a:t>
            </a:r>
          </a:p>
        </p:txBody>
      </p:sp>
      <p:sp>
        <p:nvSpPr>
          <p:cNvPr id="13" name="Rectangle 12"/>
          <p:cNvSpPr/>
          <p:nvPr/>
        </p:nvSpPr>
        <p:spPr>
          <a:xfrm>
            <a:off x="685800" y="4908423"/>
            <a:ext cx="10820095" cy="760984"/>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85800" y="4908423"/>
            <a:ext cx="50292" cy="76098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23544" y="5009007"/>
            <a:ext cx="10417759" cy="578104"/>
          </a:xfrm>
          <a:prstGeom prst="rect">
            <a:avLst/>
          </a:prstGeom>
          <a:noFill/>
        </p:spPr>
        <p:txBody>
          <a:bodyPr wrap="square" anchor="t" lIns="0" rIns="0" tIns="0" bIns="0">
            <a:spAutoFit/>
          </a:bodyPr>
          <a:lstStyle/>
          <a:p>
            <a:pPr>
              <a:spcAft>
                <a:spcPts val="200"/>
              </a:spcAft>
            </a:pPr>
            <a:r>
              <a:rPr sz="1400" b="0">
                <a:solidFill>
                  <a:srgbClr val="E4ECF7"/>
                </a:solidFill>
                <a:latin typeface="Consolas"/>
              </a:rPr>
              <a:t>6</a:t>
            </a:r>
          </a:p>
          <a:p>
            <a:pPr>
              <a:spcAft>
                <a:spcPts val="200"/>
              </a:spcAft>
            </a:pPr>
            <a:r>
              <a:rPr sz="1400" b="0">
                <a:solidFill>
                  <a:srgbClr val="E4ECF7"/>
                </a:solidFill>
                <a:latin typeface="Consolas"/>
              </a:rPr>
              <a:t>TypeError: unsupported operand type(s) for +: 'int' and 'NoneType'</a:t>
            </a:r>
          </a:p>
        </p:txBody>
      </p:sp>
      <p:sp>
        <p:nvSpPr>
          <p:cNvPr id="16" name="Rectangle 15"/>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8" name="TextBox 17"/>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D14</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2300" b="1">
                <a:solidFill>
                  <a:srgbClr val="1C1C1A"/>
                </a:solidFill>
                <a:latin typeface="Calibri"/>
              </a:rPr>
              <a:t>Answer: print shows a value, return hands it back</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131fc8fea8904e6a.png"/>
          <p:cNvPicPr>
            <a:picLocks noChangeAspect="1"/>
          </p:cNvPicPr>
          <p:nvPr/>
        </p:nvPicPr>
        <p:blipFill>
          <a:blip r:embed="rId3"/>
          <a:stretch>
            <a:fillRect/>
          </a:stretch>
        </p:blipFill>
        <p:spPr>
          <a:xfrm>
            <a:off x="685800" y="3194849"/>
            <a:ext cx="4652640" cy="1291261"/>
          </a:xfrm>
          <a:prstGeom prst="rect">
            <a:avLst/>
          </a:prstGeom>
        </p:spPr>
      </p:pic>
      <p:sp>
        <p:nvSpPr>
          <p:cNvPr id="8" name="Rectangle 7"/>
          <p:cNvSpPr/>
          <p:nvPr/>
        </p:nvSpPr>
        <p:spPr>
          <a:xfrm>
            <a:off x="5771244" y="2742184"/>
            <a:ext cx="5734650" cy="1121664"/>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771244" y="2742184"/>
            <a:ext cx="50292" cy="112166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008988" y="2842768"/>
            <a:ext cx="5332314" cy="938784"/>
          </a:xfrm>
          <a:prstGeom prst="rect">
            <a:avLst/>
          </a:prstGeom>
          <a:noFill/>
        </p:spPr>
        <p:txBody>
          <a:bodyPr wrap="square" anchor="t" lIns="0" rIns="0" tIns="0" bIns="0">
            <a:spAutoFit/>
          </a:bodyPr>
          <a:lstStyle/>
          <a:p>
            <a:pPr>
              <a:spcAft>
                <a:spcPts val="200"/>
              </a:spcAft>
            </a:pPr>
            <a:r>
              <a:rPr sz="1600" b="0">
                <a:solidFill>
                  <a:srgbClr val="E4ECF7"/>
                </a:solidFill>
                <a:latin typeface="Consolas"/>
              </a:rPr>
              <a:t>def late_days(issue):</a:t>
            </a:r>
          </a:p>
          <a:p>
            <a:pPr>
              <a:spcAft>
                <a:spcPts val="200"/>
              </a:spcAft>
            </a:pPr>
            <a:r>
              <a:rPr sz="1600" b="0">
                <a:solidFill>
                  <a:srgbClr val="E4ECF7"/>
                </a:solidFill>
                <a:latin typeface="Consolas"/>
              </a:rPr>
              <a:t>    return issue["days_kept"] - 14    # the loop now adds 6, then 7: 13 days late</a:t>
            </a:r>
          </a:p>
        </p:txBody>
      </p:sp>
      <p:sp>
        <p:nvSpPr>
          <p:cNvPr id="11" name="TextBox 10"/>
          <p:cNvSpPr txBox="1"/>
          <p:nvPr/>
        </p:nvSpPr>
        <p:spPr>
          <a:xfrm>
            <a:off x="5771244" y="4028440"/>
            <a:ext cx="5734650"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A function without return gives back None, and late + None is the line that fails.</a:t>
            </a:r>
          </a:p>
        </p:txBody>
      </p:sp>
      <p:sp>
        <p:nvSpPr>
          <p:cNvPr id="12" name="Rectangle 11"/>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4" name="TextBox 13"/>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E. Tracebacks</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3. Half one: the librarian's log</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S15</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Read a traceback from the bottom up</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d94cfe7528ad41c2.png"/>
          <p:cNvPicPr>
            <a:picLocks noChangeAspect="1"/>
          </p:cNvPicPr>
          <p:nvPr/>
        </p:nvPicPr>
        <p:blipFill>
          <a:blip r:embed="rId3"/>
          <a:stretch>
            <a:fillRect/>
          </a:stretch>
        </p:blipFill>
        <p:spPr>
          <a:xfrm>
            <a:off x="4506517" y="1517904"/>
            <a:ext cx="3178660" cy="3325368"/>
          </a:xfrm>
          <a:prstGeom prst="rect">
            <a:avLst/>
          </a:prstGeom>
        </p:spPr>
      </p:pic>
      <p:sp>
        <p:nvSpPr>
          <p:cNvPr id="7" name="TextBox 6"/>
          <p:cNvSpPr txBox="1"/>
          <p:nvPr/>
        </p:nvSpPr>
        <p:spPr>
          <a:xfrm>
            <a:off x="685800" y="4888992"/>
            <a:ext cx="10820095" cy="1164336"/>
          </a:xfrm>
          <a:prstGeom prst="rect">
            <a:avLst/>
          </a:prstGeom>
          <a:noFill/>
        </p:spPr>
        <p:txBody>
          <a:bodyPr wrap="square" anchor="t" lIns="0" rIns="0" tIns="0" bIns="0">
            <a:spAutoFit/>
          </a:bodyPr>
          <a:lstStyle/>
          <a:p>
            <a:r>
              <a:rPr sz="2000" b="0">
                <a:solidFill>
                  <a:srgbClr val="1C1C1A"/>
                </a:solidFill>
                <a:latin typeface="Calibri"/>
              </a:rPr>
              <a:t>The Python tutorial says it in one line: "The last line of the error message indicates what happened." Then find the line it names, and ask what value each name on that line held when it ran.</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S16</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Your turn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2483104"/>
          <a:ext cx="10820094" cy="1548384"/>
        </p:xfrm>
        <a:graphic>
          <a:graphicData uri="http://schemas.openxmlformats.org/drawingml/2006/table">
            <a:tbl>
              <a:tblPr firstRow="0" bandRow="0">
                <a:tableStyleId>{2D5ABB26-0587-4C30-8999-92F81FD0307C}</a:tableStyleId>
              </a:tblPr>
              <a:tblGrid>
                <a:gridCol w="7602472"/>
                <a:gridCol w="3217622"/>
              </a:tblGrid>
              <a:tr h="387096">
                <a:tc>
                  <a:txBody>
                    <a:bodyPr/>
                    <a:lstStyle/>
                    <a:p>
                      <a:r>
                        <a:rPr sz="1600" b="1">
                          <a:solidFill>
                            <a:srgbClr val="FFFFFF"/>
                          </a:solidFill>
                          <a:latin typeface="Calibri"/>
                        </a:rPr>
                        <a:t>What</a:t>
                      </a:r>
                    </a:p>
                  </a:txBody>
                  <a:tcPr marL="101600" marR="101600" marT="38100" marB="38100" anchor="ctr">
                    <a:solidFill>
                      <a:srgbClr val="2B4A7D"/>
                    </a:solidFill>
                  </a:tcPr>
                </a:tc>
                <a:tc>
                  <a:txBody>
                    <a:bodyPr/>
                    <a:lstStyle/>
                    <a:p>
                      <a:r>
                        <a:rPr sz="1600" b="1">
                          <a:solidFill>
                            <a:srgbClr val="FFFFFF"/>
                          </a:solidFill>
                          <a:latin typeface="Calibri"/>
                        </a:rPr>
                        <a:t>Where</a:t>
                      </a:r>
                    </a:p>
                  </a:txBody>
                  <a:tcPr marL="101600" marR="101600" marT="38100" marB="38100" anchor="ctr">
                    <a:solidFill>
                      <a:srgbClr val="2B4A7D"/>
                    </a:solidFill>
                  </a:tcPr>
                </a:tc>
              </a:tr>
              <a:tr h="387096">
                <a:tc>
                  <a:txBody>
                    <a:bodyPr/>
                    <a:lstStyle/>
                    <a:p>
                      <a:r>
                        <a:rPr sz="1500" b="0">
                          <a:solidFill>
                            <a:srgbClr val="1C1C1A"/>
                          </a:solidFill>
                          <a:latin typeface="Calibri"/>
                        </a:rPr>
                        <a:t>Twelve items on the log, answered as letters</a:t>
                      </a:r>
                    </a:p>
                  </a:txBody>
                  <a:tcPr marL="101600" marR="101600" marT="38100" marB="38100" anchor="ctr">
                    <a:solidFill>
                      <a:srgbClr val="FFFFFF"/>
                    </a:solidFill>
                  </a:tcPr>
                </a:tc>
                <a:tc>
                  <a:txBody>
                    <a:bodyPr/>
                    <a:lstStyle/>
                    <a:p>
                      <a:r>
                        <a:rPr sz="1500" b="0">
                          <a:solidFill>
                            <a:srgbClr val="1C1C1A"/>
                          </a:solidFill>
                          <a:latin typeface="Calibri"/>
                        </a:rPr>
                        <a:t>The unguided exercise</a:t>
                      </a:r>
                    </a:p>
                  </a:txBody>
                  <a:tcPr marL="101600" marR="101600" marT="38100" marB="38100" anchor="ctr">
                    <a:solidFill>
                      <a:srgbClr val="FFFFFF"/>
                    </a:solidFill>
                  </a:tcPr>
                </a:tc>
              </a:tr>
              <a:tr h="387096">
                <a:tc>
                  <a:txBody>
                    <a:bodyPr/>
                    <a:lstStyle/>
                    <a:p>
                      <a:r>
                        <a:rPr sz="1500" b="0">
                          <a:solidFill>
                            <a:srgbClr val="1C1C1A"/>
                          </a:solidFill>
                          <a:latin typeface="Calibri"/>
                        </a:rPr>
                        <a:t>The next week's log, with checks that tell you when you are right</a:t>
                      </a:r>
                    </a:p>
                  </a:txBody>
                  <a:tcPr marL="101600" marR="101600" marT="38100" marB="38100" anchor="ctr">
                    <a:solidFill>
                      <a:srgbClr val="F7F7F5"/>
                    </a:solidFill>
                  </a:tcPr>
                </a:tc>
                <a:tc>
                  <a:txBody>
                    <a:bodyPr/>
                    <a:lstStyle/>
                    <a:p>
                      <a:r>
                        <a:rPr sz="1500" b="0">
                          <a:solidFill>
                            <a:srgbClr val="1C1C1A"/>
                          </a:solidFill>
                          <a:latin typeface="Calibri"/>
                        </a:rPr>
                        <a:t>The hands-on notebook</a:t>
                      </a:r>
                    </a:p>
                  </a:txBody>
                  <a:tcPr marL="101600" marR="101600" marT="38100" marB="38100" anchor="ctr">
                    <a:solidFill>
                      <a:srgbClr val="F7F7F5"/>
                    </a:solidFill>
                  </a:tcPr>
                </a:tc>
              </a:tr>
              <a:tr h="387096">
                <a:tc>
                  <a:txBody>
                    <a:bodyPr/>
                    <a:lstStyle/>
                    <a:p>
                      <a:r>
                        <a:rPr sz="1500" b="0">
                          <a:solidFill>
                            <a:srgbClr val="1C1C1A"/>
                          </a:solidFill>
                          <a:latin typeface="Calibri"/>
                        </a:rPr>
                        <a:t>The five ideas on one page</a:t>
                      </a:r>
                    </a:p>
                  </a:txBody>
                  <a:tcPr marL="101600" marR="101600" marT="38100" marB="38100" anchor="ctr">
                    <a:solidFill>
                      <a:srgbClr val="FFFFFF"/>
                    </a:solidFill>
                  </a:tcPr>
                </a:tc>
                <a:tc>
                  <a:txBody>
                    <a:bodyPr/>
                    <a:lstStyle/>
                    <a:p>
                      <a:r>
                        <a:rPr sz="1500" b="0">
                          <a:solidFill>
                            <a:srgbClr val="1C1C1A"/>
                          </a:solidFill>
                          <a:latin typeface="Calibri"/>
                        </a:rPr>
                        <a:t>Today's cheat sheet</a:t>
                      </a:r>
                    </a:p>
                  </a:txBody>
                  <a:tcPr marL="101600" marR="101600" marT="38100" marB="38100" anchor="ctr">
                    <a:solidFill>
                      <a:srgbClr val="FFFFFF"/>
                    </a:solidFill>
                  </a:tcPr>
                </a:tc>
              </a:tr>
            </a:tbl>
          </a:graphicData>
        </a:graphic>
      </p:graphicFrame>
      <p:sp>
        <p:nvSpPr>
          <p:cNvPr id="7" name="TextBox 6"/>
          <p:cNvSpPr txBox="1"/>
          <p:nvPr/>
        </p:nvSpPr>
        <p:spPr>
          <a:xfrm>
            <a:off x="685800" y="4287520"/>
            <a:ext cx="10820095"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next week's log has different numbers, so nothing from the demo can be pasted in.</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3. Half one: the librarian's log</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