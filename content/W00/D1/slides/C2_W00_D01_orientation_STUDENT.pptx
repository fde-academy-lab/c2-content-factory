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academic orientation for Cohort 2 of the PG Diploma in AI-ML and Agentic AI Engineering, offered by IIT Gandhinagar through the Competency Advancement Academy. The strip at the bottom is the whole programme: twenty weeks, each coloured by what kind of week it is. You will see it again and again tonight. Six chapters: where this takes you, how it is built, how a week runs, how you are evaluated, placement and capstone, and the people and support around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one: the destination. Before any structure, the roles this programme is built for and what you leave with. One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programme is built for two roles: GenAI or AI engineer, and agentic AI engineer. Every one of you should be interview-ready for those by the end. Two more roles are covered well because they share the same data and ML spine: analyst roles and entry-level data science. Forward deployed engineering is a way of working you practise in every build week and in the Week 16 block. One honest exclusion: computer vision is not taught and will not be claimed on your behalf. Three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you leave with. The PG Diploma itself, thirty-three credits on a Senate-approved structure. Regular IIT Gandhinagar alumni status, which comes with the diploma. A portfolio of five mini-projects and a capstone, each demonstrated live and documented in a challenges log. And five rounds of mock interviews with scores, followed by final mocks with external panels. Nothing on this slide is a hope; each is part of the programme structure. Two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two: how the twenty weeks are built. Three kinds of week first, then the four phases, then how they interlock, then the road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numbers to hold in your head. Twenty weeks, five hundred and ten hours, thirty-three credits, ten modules. Five build weeks, three major exams, one capstone. The bar shows where the hours go: three hundred of the five hundred and ten are hands-on. Three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week of the twenty is exactly one of three kinds. Teaching weeks, ten of them: new concepts daily, lab work every session, a Saturday paper; nothing graded. Build weeks, five of them: no new content, a mini-project in groups of four, then Friday and Saturday with an industry expert, and one hundred marks closed inside the week. Capstone weeks, four of them, ending in Demo Day for two hundred marks. And one hinge week between them, Week 16, the forward deployed engineering block, where the capstone brief is issued and Major Exam 3 sits. Four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moves in four phases. Phase 1, data and machine learning, weeks one to six, ends with the second build. Phase 2, deep learning through transformers to generative AI and retrieval, weeks seven to twelve, ends with the fourth build. Phase 3, agents, agents in production and the forward deployed engineering block, weeks thirteen to sixteen, ends with Major Exam 3 and the capstone brief. Phase 4 is the capstone, ending in Demo Day. The line under each phase is what you can do at its end; treat it as your own checklist. Four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kinds of week and the phases fit together. Above the strip, the four phases. On the strip, the twenty weeks coloured by kind. Below it, the rhythm: two teaching weeks then a build week, five cycles, then the hinge week and the capstone. Three facts to take away: each cycle builds a skill set and then proves it; the three exams always sit at the end of a phase, never inside a build week; and build-week grades close in the week. Four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 in full, one click per phase. Read the week names; each is the title of a curriculum block. The gold dots and chips mark the three exams in weeks five, ten and sixteen. Week 16 is the gold hinge week. Four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diploma is ten modules. Each has a fixed credit weight and a fixed number of hours, and each is examined through the exams and projects that fall in its weeks. Four modules carry four credits. When you receive a grade for a mini-project or an exam, it posts in full to exactly one module. Two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three: the inside of a week. A session first, then a teaching week, then a build week, then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session has four beats. Beat one: a stakeholder asks. The whole programme is set inside one fictional company, Kalpa Group, and every day opens on a business question from one of its people. Beat two: you think first, before any notebook is open. Beat three: you build and see it work, then the theory and the name arrive. Beat four: something breaks on purpose and the room diagnoses it. In every hour, about twenty minutes are teaching, thirty are you building, ten are debrief and buffer. You leave every session with a notebook you ran, the day's interview question answered, and tomorrow's setup in your inbox. Five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teaching week. On the left, the shape of one day: scenario and thinking, teaching and demo, your own lab work, a debrief, and a short ungraded Kahoot quiz. On the right, that same shape five times, and then Saturday, which is different: a pen-and-paper recap paper without any AI, about two hours, built from the week's interview questions, ungraded; then a break; then the Academic TA runs the solution discussion the way an interviewer would, calling on people at random. Three practical commitments at the bottom: setup for tomorrow arrives tonight, every session tells you what it assumes, and everything you submit goes on GitHub and the LMS. Four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third week is a build week, and nothing new is taught. On Monday the Programme Head introduces the mini-projects and you form groups of four. Monday to Thursday you build, with daily checkpoints, keeping a challenges log as you go. Friday and Saturday an industry expert is in the room. Four things are assessed: the mini-project with its live demo, forty marks; a mock interview, thirty; a business group discussion, thirty; and your presentation, which sits inside the project score. All grades close within the week on a fixed rubric. Three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environment for the whole programme, and this is what it looks like: VS Code, opened in GitHub Codespaces from your own GitHub account, so nothing installs on your machine and every laptop behaves the same. On the left of the window, the course repository: each week, each day, with slides, notebooks, exercises and SQL. In the editor, a notebook cell in Python, and a SQL file that runs against a live Postgres database. Three more things plug in: GitHub Discussions for exercises, submissions and questions; the LMS for recordings and your score sheet; and Kahoot for the daily quiz. There is no Slack. Three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capstone you receive OpenRouter API credits so your project can call frontier models, and cloud credits to host it, with the terms announced in writing at kickoff. You also get the course repositories, every recording and your score sheet on the LMS. Everything else, your laptop, your accounts, your tool choices, is yours, and that is deliberate: an engineer who can only work inside a sandbox someone else set up is not what this programme trains. Two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four: evaluation. The thousand marks first, then when each mark is earned, then how a score becomes a diploma, then the AI-use ladder and the four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is deliberately simple: one thousand marks, five components. Three major exams add up to three hundred, weighted seventy, one hundred and one hundred and thirty so the later exams count more. Five mini-projects at forty each give two hundred. Five mock interviews and five group discussions give one hundred and fifty each. The capstone is two hundred. Everything else is tracked and fed back but carries no marks. Rubrics and the calendar reach you before the first graded event in Week 3. Three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information laid out on the calendar. Read any column and you know what that week holds. The five build weeks each carry a mini-project, a mock interview and a group discussion, one hundred marks in total. The three exams sit in weeks five, ten and sixteen. The capstone builds through weeks seventeen to nineteen and is defended in week twenty for two hundred marks. The hollow rings are the Saturday recap paper and the daily Kahoot, recorded and fed back but never marked. Four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score becomes a diploma. Five graded components. Each posts in full to one of the ten modules. Module grades are weighted by credits, thirty-three in all. IIT Gandhinagar reports the result as a credit-weighted grade-point index on its ten-point scale, and awards the PG Diploma when the programme requirements are met. The pass requirements, every rubric and the full calendar are in the programme handbook, which you receive before the first graded event. Four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AI-use policy is a ladder. Weeks one to six are assistant-free on core exercises and every assessment; the habit of thinking first comes before the tool. Weeks seven to fifteen allow assistants on build work, and you defend every line in the viva. Weeks sixteen to twenty treat assistants as accelerators with disclosure, and the capstone defence assumes you can justify every decision without help. Throughout, graded coding and case studies stay assistant-free and observed. Three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from day one. Attendance: ninety percent minimum overall, recorded every session. Assessments: exams, mocks and group discussions run offline; the Saturday paper is pen and paper. Submissions: GitHub Discussions and the LMS, by the deadline. Your own work: keep the challenges log live during every build, and submit only what you can defend. Four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five: placement preparation and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preparation is layered in from the first week. Every teaching week: a set of interview questions, and the Saturday paper built from them. Every build week: a real mock interview, a live demo you must defend, a group discussion, and a challenges log; from Round 3 the mocks include HR and behavioural questions. Week 4 adds the cross-domain drill. Week 16 is forward deployed engineering. Weeks nineteen and twenty: preparation against real job descriptions, coaching, and final mocks with external panels. And the line at the bottom, said plainly: there is no placement guarantee; the commitment is interview readiness and bringing opportunities to you. Five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capstone spans five weeks. In Week 16 the brief is issued and you scope it the way a forward deployed engineer would: options, trade-offs, a recommendation. Weeks seventeen to nineteen are three sprints: core build with evaluation designed in, then deployment and documentation, then rehearsal and defence drills. Week 20 is Demo Day before an industry panel, graded on the repository and code and on the presentation and defence, two hundred marks. Groups get different projects by theme area, and this is the phase where the programme switches on API credits and cloud hosting credits. Four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six: the people around the programme, the support ladder, this week, and the pledge.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bodies sit around this programme, and you sit where they overlap. IIT Gandhinagar is the academic authority: the Senate approved the curriculum, faculty teach sessions through the programme, and the institute awards the diploma and alumni status. IITGN CDF, also called the Competency Advancement Academy, is the institute's Section 8 company that runs the programme; it is your bridge to the institute, and your contact there is shared with you separately. The Academic Oversight Committee is three faculty members who oversee academic quality and approve the evaluation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Academic Oversight Committee: three IIT Gandhinagar faculty members. Below them is the team you will see every day: the Programme Head for academics; the Programme Head for operations; the On-ground Manager, on campus with you throughout; and the two TAs, the Academic TA for content doubts and the Support TA for day-to-day support. Two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routes. For a content doubt, go to the Academic TA first, then to the Programme Head for academics; between sessions, ask on GitHub Discussions so everyone benefits from the answer. For anything else, Level 1 is the On-ground Manager, who is on campus with you throughout, routes the matter to the right owner and comes back to you. If you have no response within two working days, Level 2: write directly to the CDF contact, the Programme Head for operations or the Programme Head for academics, whichever the matter belongs to. Level 3 is a written mail to the programme delivery email ID, and Level 4 a mail to the CDF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is Week 0. Tonight is orientation, alongside document verification. Then the institute address and a baseline diagnostic, by topic, which places you rather than ranks you. You introduce yourself to the cohort by presenting a project you have built. Python and SQL are refreshed because both are used in class from the first day, with a class on articulating a problem before solving it. Saturday is a session with a forward deployed engineer. Teaching Week 1 begins on Monday 5 October with data analysis foundations. Four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both checkable. On the left, what the programme commits to you. Hold us to these. On the right, what we ask of you. Read both aloud if the room is quiet; this is the slide people photograph. Two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programme. Week 1 begins on Monday 5 October, and it opens on this question from your first client. You will answer it with data in your first week, and you will be answering harder versions of it for twenty weeks. Questions now; the deck is shared with you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image" Target="../media/image-14-32.png"/><Relationship Id="rId33" Type="http://schemas.openxmlformats.org/officeDocument/2006/relationships/image" Target="../media/image-14-33.png"/><Relationship Id="rId34" Type="http://schemas.openxmlformats.org/officeDocument/2006/relationships/image" Target="../media/image-14-34.png"/><Relationship Id="rId35" Type="http://schemas.openxmlformats.org/officeDocument/2006/relationships/image" Target="../media/image-14-35.png"/><Relationship Id="rId36" Type="http://schemas.openxmlformats.org/officeDocument/2006/relationships/image" Target="../media/image-14-36.png"/><Relationship Id="rId37" Type="http://schemas.openxmlformats.org/officeDocument/2006/relationships/image" Target="../media/image-14-37.png"/><Relationship Id="rId38" Type="http://schemas.openxmlformats.org/officeDocument/2006/relationships/image" Target="../media/image-14-38.png"/><Relationship Id="rId39" Type="http://schemas.openxmlformats.org/officeDocument/2006/relationships/slideLayout" Target="../slideLayouts/slideLayout1.xml"/><Relationship Id="rId4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1.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slideLayout" Target="../slideLayouts/slideLayout1.xml"/><Relationship Id="rId1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slideLayout" Target="../slideLayouts/slideLayout1.xml"/><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1.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image" Target="../media/image-32-12.png"/><Relationship Id="rId13" Type="http://schemas.openxmlformats.org/officeDocument/2006/relationships/image" Target="../media/image-32-13.png"/><Relationship Id="rId14" Type="http://schemas.openxmlformats.org/officeDocument/2006/relationships/image" Target="../media/image-32-14.png"/><Relationship Id="rId15" Type="http://schemas.openxmlformats.org/officeDocument/2006/relationships/slideLayout" Target="../slideLayouts/slideLayout1.xml"/><Relationship Id="rId1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683" y="175931"/>
            <a:ext cx="471099" cy="471099"/>
          </a:xfrm>
          <a:prstGeom prst="ellipse">
            <a:avLst/>
          </a:prstGeom>
          <a:solidFill>
            <a:srgbClr val="FFFFFF"/>
          </a:solidFill>
          <a:ln w="12700">
            <a:solidFill>
              <a:srgbClr val="FFFFFF"/>
            </a:solidFill>
            <a:prstDash val="solid"/>
          </a:ln>
        </p:spPr>
        <p:txBody>
          <a:bodyPr/>
          <a:p/>
        </p:txBody>
      </p:sp>
      <p:pic>
        <p:nvPicPr>
          <p:cNvPr id="3"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4" name="Text 1"/>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FFFFFF"/>
                </a:solidFill>
                <a:latin typeface="Calibri" pitchFamily="34" charset="0"/>
                <a:ea typeface="Calibri" pitchFamily="34" charset="-122"/>
                <a:cs typeface="Calibri" pitchFamily="34" charset="-120"/>
              </a:rPr>
              <a:t>IITGN CDF (CAA)</a:t>
            </a:r>
            <a:endParaRPr lang="en-US" sz="950" dirty="0"/>
          </a:p>
        </p:txBody>
      </p:sp>
      <p:sp>
        <p:nvSpPr>
          <p:cNvPr id="5" name="Text 2"/>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A9B8CA"/>
                </a:solidFill>
                <a:latin typeface="Calibri" pitchFamily="34" charset="0"/>
                <a:ea typeface="Calibri" pitchFamily="34" charset="-122"/>
                <a:cs typeface="Calibri" pitchFamily="34" charset="-120"/>
              </a:rPr>
              <a:t>COMPETENCY ADVANCEMENT ACADEMY  ·  IIT GANDHINAGAR</a:t>
            </a:r>
            <a:endParaRPr lang="en-US" sz="650" dirty="0"/>
          </a:p>
        </p:txBody>
      </p:sp>
      <p:sp>
        <p:nvSpPr>
          <p:cNvPr id="6" name="Text 3"/>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A9B8CA"/>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7" name="Text 4"/>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A9B8CA"/>
                </a:solidFill>
                <a:latin typeface="Calibri" pitchFamily="34" charset="0"/>
                <a:ea typeface="Calibri" pitchFamily="34" charset="-122"/>
                <a:cs typeface="Calibri" pitchFamily="34" charset="-120"/>
              </a:rPr>
              <a:t>1</a:t>
            </a:r>
            <a:endParaRPr lang="en-US" sz="850" dirty="0"/>
          </a:p>
        </p:txBody>
      </p:sp>
      <p:sp>
        <p:nvSpPr>
          <p:cNvPr id="8" name="Text 5"/>
          <p:cNvSpPr txBox="1"/>
          <p:nvPr/>
        </p:nvSpPr>
        <p:spPr>
          <a:xfrm>
            <a:off x="548640" y="6455664"/>
            <a:ext cx="3657600" cy="201168"/>
          </a:xfrm>
          <a:prstGeom prst="rect">
            <a:avLst/>
          </a:prstGeom>
          <a:noFill/>
          <a:ln/>
        </p:spPr>
        <p:txBody>
          <a:bodyPr wrap="square" lIns="0" tIns="0" rIns="0" bIns="0" rtlCol="0" anchor="t"/>
          <a:lstStyle/>
          <a:p>
            <a:pPr algn="l" indent="0" marL="0">
              <a:buNone/>
            </a:pPr>
            <a:r>
              <a:rPr lang="en-US" sz="850" dirty="0">
                <a:solidFill>
                  <a:srgbClr val="A9B8CA"/>
                </a:solidFill>
                <a:latin typeface="Calibri" pitchFamily="34" charset="0"/>
                <a:ea typeface="Calibri" pitchFamily="34" charset="-122"/>
                <a:cs typeface="Calibri" pitchFamily="34" charset="-120"/>
              </a:rPr>
              <a:t>Academic orientation</a:t>
            </a:r>
            <a:endParaRPr lang="en-US" sz="850" dirty="0"/>
          </a:p>
        </p:txBody>
      </p:sp>
      <p:sp>
        <p:nvSpPr>
          <p:cNvPr id="9" name="Shape 6"/>
          <p:cNvSpPr/>
          <p:nvPr/>
        </p:nvSpPr>
        <p:spPr>
          <a:xfrm>
            <a:off x="668426" y="897026"/>
            <a:ext cx="1177747" cy="1177747"/>
          </a:xfrm>
          <a:prstGeom prst="ellipse">
            <a:avLst/>
          </a:prstGeom>
          <a:solidFill>
            <a:srgbClr val="FFFFFF"/>
          </a:solidFill>
          <a:ln w="12700">
            <a:solidFill>
              <a:srgbClr val="FFFFFF"/>
            </a:solidFill>
            <a:prstDash val="solid"/>
          </a:ln>
        </p:spPr>
        <p:txBody>
          <a:bodyPr/>
          <a:p/>
        </p:txBody>
      </p:sp>
      <p:pic>
        <p:nvPicPr>
          <p:cNvPr id="10" name="Image 1" descr="preencoded.png">    </p:cNvPr>
          <p:cNvPicPr>
            <a:picLocks noChangeAspect="1"/>
          </p:cNvPicPr>
          <p:nvPr/>
        </p:nvPicPr>
        <p:blipFill>
          <a:blip r:embed="rId3"/>
          <a:stretch>
            <a:fillRect/>
          </a:stretch>
        </p:blipFill>
        <p:spPr>
          <a:xfrm>
            <a:off x="731520" y="960120"/>
            <a:ext cx="1051560" cy="1051560"/>
          </a:xfrm>
          <a:prstGeom prst="rect">
            <a:avLst/>
          </a:prstGeom>
        </p:spPr>
      </p:pic>
      <p:sp>
        <p:nvSpPr>
          <p:cNvPr id="11" name="Text 7"/>
          <p:cNvSpPr txBox="1"/>
          <p:nvPr/>
        </p:nvSpPr>
        <p:spPr>
          <a:xfrm>
            <a:off x="1965960" y="1078992"/>
            <a:ext cx="5486400" cy="292608"/>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Competency Advancement Academy</a:t>
            </a:r>
            <a:endParaRPr lang="en-US" sz="1300" dirty="0"/>
          </a:p>
        </p:txBody>
      </p:sp>
      <p:sp>
        <p:nvSpPr>
          <p:cNvPr id="12" name="Text 8"/>
          <p:cNvSpPr txBox="1"/>
          <p:nvPr/>
        </p:nvSpPr>
        <p:spPr>
          <a:xfrm>
            <a:off x="1965960" y="1371600"/>
            <a:ext cx="5486400" cy="228600"/>
          </a:xfrm>
          <a:prstGeom prst="rect">
            <a:avLst/>
          </a:prstGeom>
          <a:noFill/>
          <a:ln/>
        </p:spPr>
        <p:txBody>
          <a:bodyPr wrap="square" lIns="0" tIns="0" rIns="0" bIns="0" rtlCol="0" anchor="t"/>
          <a:lstStyle/>
          <a:p>
            <a:pPr algn="l" indent="0" marL="0">
              <a:buNone/>
            </a:pPr>
            <a:r>
              <a:rPr lang="en-US" sz="850" b="1" spc="250" kern="0" dirty="0">
                <a:solidFill>
                  <a:srgbClr val="E9B221"/>
                </a:solidFill>
                <a:latin typeface="Calibri" pitchFamily="34" charset="0"/>
                <a:ea typeface="Calibri" pitchFamily="34" charset="-122"/>
                <a:cs typeface="Calibri" pitchFamily="34" charset="-120"/>
              </a:rPr>
              <a:t>IIT GANDHINAGAR  ·  IITGN CDF</a:t>
            </a:r>
            <a:endParaRPr lang="en-US" sz="850" dirty="0"/>
          </a:p>
        </p:txBody>
      </p:sp>
      <p:sp>
        <p:nvSpPr>
          <p:cNvPr id="13" name="Text 9"/>
          <p:cNvSpPr txBox="1"/>
          <p:nvPr/>
        </p:nvSpPr>
        <p:spPr>
          <a:xfrm>
            <a:off x="731520" y="2240280"/>
            <a:ext cx="9875520" cy="1737360"/>
          </a:xfrm>
          <a:prstGeom prst="rect">
            <a:avLst/>
          </a:prstGeom>
          <a:noFill/>
          <a:ln/>
        </p:spPr>
        <p:txBody>
          <a:bodyPr wrap="square" lIns="0" tIns="0" rIns="0" bIns="0" rtlCol="0" anchor="t"/>
          <a:lstStyle/>
          <a:p>
            <a:pPr algn="l" indent="0" marL="0">
              <a:buNone/>
            </a:pPr>
            <a:r>
              <a:rPr lang="en-US" sz="4400" b="1" dirty="0">
                <a:solidFill>
                  <a:srgbClr val="FFFFFF"/>
                </a:solidFill>
                <a:latin typeface="Calibri" pitchFamily="34" charset="0"/>
                <a:ea typeface="Calibri" pitchFamily="34" charset="-122"/>
                <a:cs typeface="Calibri" pitchFamily="34" charset="-120"/>
              </a:rPr>
              <a:t>PG Diploma in AI-ML</a:t>
            </a:r>
            <a:endParaRPr lang="en-US" sz="4400" dirty="0"/>
          </a:p>
          <a:p>
            <a:pPr algn="l" indent="0" marL="0">
              <a:buNone/>
            </a:pPr>
            <a:r>
              <a:rPr lang="en-US" sz="4400" b="1" dirty="0">
                <a:solidFill>
                  <a:srgbClr val="FFFFFF"/>
                </a:solidFill>
                <a:latin typeface="Calibri" pitchFamily="34" charset="0"/>
                <a:ea typeface="Calibri" pitchFamily="34" charset="-122"/>
                <a:cs typeface="Calibri" pitchFamily="34" charset="-120"/>
              </a:rPr>
              <a:t>and Agentic AI Engineering</a:t>
            </a:r>
            <a:endParaRPr lang="en-US" sz="4400" dirty="0"/>
          </a:p>
        </p:txBody>
      </p:sp>
      <p:sp>
        <p:nvSpPr>
          <p:cNvPr id="14" name="Text 10"/>
          <p:cNvSpPr txBox="1"/>
          <p:nvPr/>
        </p:nvSpPr>
        <p:spPr>
          <a:xfrm>
            <a:off x="731520" y="3931920"/>
            <a:ext cx="7315200" cy="411480"/>
          </a:xfrm>
          <a:prstGeom prst="rect">
            <a:avLst/>
          </a:prstGeom>
          <a:noFill/>
          <a:ln/>
        </p:spPr>
        <p:txBody>
          <a:bodyPr wrap="square" lIns="0" tIns="0" rIns="0" bIns="0" rtlCol="0" anchor="t"/>
          <a:lstStyle/>
          <a:p>
            <a:pPr algn="l" indent="0" marL="0">
              <a:buNone/>
            </a:pPr>
            <a:r>
              <a:rPr lang="en-US" sz="1900" i="1" dirty="0">
                <a:solidFill>
                  <a:srgbClr val="E9B221"/>
                </a:solidFill>
                <a:latin typeface="Calibri" pitchFamily="34" charset="0"/>
                <a:ea typeface="Calibri" pitchFamily="34" charset="-122"/>
                <a:cs typeface="Calibri" pitchFamily="34" charset="-120"/>
              </a:rPr>
              <a:t>for Forward Deployed AI Engineers</a:t>
            </a:r>
            <a:endParaRPr lang="en-US" sz="1900" dirty="0"/>
          </a:p>
        </p:txBody>
      </p:sp>
      <p:sp>
        <p:nvSpPr>
          <p:cNvPr id="15" name="Text 11"/>
          <p:cNvSpPr txBox="1"/>
          <p:nvPr/>
        </p:nvSpPr>
        <p:spPr>
          <a:xfrm>
            <a:off x="731520" y="4526280"/>
            <a:ext cx="4023360" cy="347472"/>
          </a:xfrm>
          <a:prstGeom prst="roundRect">
            <a:avLst>
              <a:gd name="adj" fmla="val 52632"/>
            </a:avLst>
          </a:prstGeom>
          <a:solidFill>
            <a:srgbClr val="10294A"/>
          </a:solidFill>
          <a:ln w="9525">
            <a:solidFill>
              <a:srgbClr val="2FA8E0"/>
            </a:solidFill>
          </a:ln>
        </p:spPr>
        <p:txBody>
          <a:bodyPr wrap="square" lIns="0" tIns="76200" rIns="7620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COHORT 2   ·   ACADEMIC ORIENTATION</a:t>
            </a:r>
            <a:endParaRPr lang="en-US" sz="950" dirty="0"/>
          </a:p>
        </p:txBody>
      </p:sp>
      <p:sp>
        <p:nvSpPr>
          <p:cNvPr id="16" name="Text 12"/>
          <p:cNvSpPr txBox="1"/>
          <p:nvPr/>
        </p:nvSpPr>
        <p:spPr>
          <a:xfrm>
            <a:off x="4983480" y="4526280"/>
            <a:ext cx="6675120" cy="347472"/>
          </a:xfrm>
          <a:prstGeom prst="rect">
            <a:avLst/>
          </a:prstGeom>
          <a:noFill/>
          <a:ln/>
        </p:spPr>
        <p:txBody>
          <a:bodyPr wrap="square" lIns="0" tIns="0" rIns="0" bIns="0" rtlCol="0" anchor="ctr"/>
          <a:lstStyle/>
          <a:p>
            <a:pPr algn="l" indent="0" marL="0">
              <a:buNone/>
            </a:pPr>
            <a:r>
              <a:rPr lang="en-US" sz="1150" dirty="0">
                <a:solidFill>
                  <a:srgbClr val="C9D6E4"/>
                </a:solidFill>
                <a:latin typeface="Calibri" pitchFamily="34" charset="0"/>
                <a:ea typeface="Calibri" pitchFamily="34" charset="-122"/>
                <a:cs typeface="Calibri" pitchFamily="34" charset="-120"/>
              </a:rPr>
              <a:t>35 learners   ·   20 weeks   ·   510 hours   ·   33 credits   ·   full-time, residential</a:t>
            </a:r>
            <a:endParaRPr lang="en-US" sz="1150" dirty="0"/>
          </a:p>
        </p:txBody>
      </p:sp>
      <p:sp>
        <p:nvSpPr>
          <p:cNvPr id="17" name="Text 13"/>
          <p:cNvSpPr txBox="1"/>
          <p:nvPr/>
        </p:nvSpPr>
        <p:spPr>
          <a:xfrm>
            <a:off x="731520" y="516636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8" name="Text 14"/>
          <p:cNvSpPr txBox="1"/>
          <p:nvPr/>
        </p:nvSpPr>
        <p:spPr>
          <a:xfrm>
            <a:off x="1270102" y="516636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grad:blue"/>
          <p:cNvSpPr txBox="1"/>
          <p:nvPr/>
        </p:nvSpPr>
        <p:spPr>
          <a:xfrm>
            <a:off x="1808683" y="5166360"/>
            <a:ext cx="492862" cy="530352"/>
          </a:xfrm>
          <a:prstGeom prst="roundRect">
            <a:avLst>
              <a:gd name="adj" fmla="val 11132"/>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6"/>
          <p:cNvSpPr txBox="1"/>
          <p:nvPr/>
        </p:nvSpPr>
        <p:spPr>
          <a:xfrm>
            <a:off x="2347265" y="516636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7"/>
          <p:cNvSpPr txBox="1"/>
          <p:nvPr/>
        </p:nvSpPr>
        <p:spPr>
          <a:xfrm>
            <a:off x="2885846" y="5166360"/>
            <a:ext cx="492862" cy="530352"/>
          </a:xfrm>
          <a:prstGeom prst="roundRect">
            <a:avLst>
              <a:gd name="adj" fmla="val 11132"/>
            </a:avLst>
          </a:prstGeom>
          <a:solidFill>
            <a:srgbClr val="10294A"/>
          </a:solidFill>
          <a:ln w="19050">
            <a:solidFill>
              <a:srgbClr val="E9B221"/>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2" name="Shape 18"/>
          <p:cNvSpPr/>
          <p:nvPr/>
        </p:nvSpPr>
        <p:spPr>
          <a:xfrm>
            <a:off x="3077413" y="5541264"/>
            <a:ext cx="109728" cy="109728"/>
          </a:xfrm>
          <a:prstGeom prst="ellipse">
            <a:avLst/>
          </a:prstGeom>
          <a:solidFill>
            <a:srgbClr val="E9B221"/>
          </a:solidFill>
          <a:ln w="12700">
            <a:solidFill>
              <a:srgbClr val="E9B221"/>
            </a:solidFill>
            <a:prstDash val="solid"/>
          </a:ln>
        </p:spPr>
        <p:txBody>
          <a:bodyPr/>
          <a:p/>
        </p:txBody>
      </p:sp>
      <p:sp>
        <p:nvSpPr>
          <p:cNvPr id="23" name="grad:blue"/>
          <p:cNvSpPr txBox="1"/>
          <p:nvPr/>
        </p:nvSpPr>
        <p:spPr>
          <a:xfrm>
            <a:off x="3424428" y="5166360"/>
            <a:ext cx="492862" cy="530352"/>
          </a:xfrm>
          <a:prstGeom prst="roundRect">
            <a:avLst>
              <a:gd name="adj" fmla="val 11132"/>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4" name="Text 20"/>
          <p:cNvSpPr txBox="1"/>
          <p:nvPr/>
        </p:nvSpPr>
        <p:spPr>
          <a:xfrm>
            <a:off x="3963010" y="516636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5" name="Text 21"/>
          <p:cNvSpPr txBox="1"/>
          <p:nvPr/>
        </p:nvSpPr>
        <p:spPr>
          <a:xfrm>
            <a:off x="4501591" y="516636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6" name="grad:blue"/>
          <p:cNvSpPr txBox="1"/>
          <p:nvPr/>
        </p:nvSpPr>
        <p:spPr>
          <a:xfrm>
            <a:off x="5040173" y="5166360"/>
            <a:ext cx="492862" cy="530352"/>
          </a:xfrm>
          <a:prstGeom prst="roundRect">
            <a:avLst>
              <a:gd name="adj" fmla="val 11132"/>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27" name="Text 23"/>
          <p:cNvSpPr txBox="1"/>
          <p:nvPr/>
        </p:nvSpPr>
        <p:spPr>
          <a:xfrm>
            <a:off x="5578754" y="5166360"/>
            <a:ext cx="492862" cy="530352"/>
          </a:xfrm>
          <a:prstGeom prst="roundRect">
            <a:avLst>
              <a:gd name="adj" fmla="val 11132"/>
            </a:avLst>
          </a:prstGeom>
          <a:solidFill>
            <a:srgbClr val="10294A"/>
          </a:solidFill>
          <a:ln w="19050">
            <a:solidFill>
              <a:srgbClr val="E9B221"/>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28" name="Shape 24"/>
          <p:cNvSpPr/>
          <p:nvPr/>
        </p:nvSpPr>
        <p:spPr>
          <a:xfrm>
            <a:off x="5770321" y="5541264"/>
            <a:ext cx="109728" cy="109728"/>
          </a:xfrm>
          <a:prstGeom prst="ellipse">
            <a:avLst/>
          </a:prstGeom>
          <a:solidFill>
            <a:srgbClr val="E9B221"/>
          </a:solidFill>
          <a:ln w="12700">
            <a:solidFill>
              <a:srgbClr val="E9B221"/>
            </a:solidFill>
            <a:prstDash val="solid"/>
          </a:ln>
        </p:spPr>
        <p:txBody>
          <a:bodyPr/>
          <a:p/>
        </p:txBody>
      </p:sp>
      <p:sp>
        <p:nvSpPr>
          <p:cNvPr id="29" name="Text 25"/>
          <p:cNvSpPr txBox="1"/>
          <p:nvPr/>
        </p:nvSpPr>
        <p:spPr>
          <a:xfrm>
            <a:off x="6117336" y="516636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30" name="grad:blue"/>
          <p:cNvSpPr txBox="1"/>
          <p:nvPr/>
        </p:nvSpPr>
        <p:spPr>
          <a:xfrm>
            <a:off x="6655918" y="5166360"/>
            <a:ext cx="492862" cy="530352"/>
          </a:xfrm>
          <a:prstGeom prst="roundRect">
            <a:avLst>
              <a:gd name="adj" fmla="val 11132"/>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31" name="Text 27"/>
          <p:cNvSpPr txBox="1"/>
          <p:nvPr/>
        </p:nvSpPr>
        <p:spPr>
          <a:xfrm>
            <a:off x="7194499" y="516636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32" name="Text 28"/>
          <p:cNvSpPr txBox="1"/>
          <p:nvPr/>
        </p:nvSpPr>
        <p:spPr>
          <a:xfrm>
            <a:off x="7733081" y="516636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33" name="grad:blue"/>
          <p:cNvSpPr txBox="1"/>
          <p:nvPr/>
        </p:nvSpPr>
        <p:spPr>
          <a:xfrm>
            <a:off x="8271662" y="5166360"/>
            <a:ext cx="492862" cy="530352"/>
          </a:xfrm>
          <a:prstGeom prst="roundRect">
            <a:avLst>
              <a:gd name="adj" fmla="val 11132"/>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34" name="grad:goldTint"/>
          <p:cNvSpPr txBox="1"/>
          <p:nvPr/>
        </p:nvSpPr>
        <p:spPr>
          <a:xfrm>
            <a:off x="8810244" y="5166360"/>
            <a:ext cx="492862" cy="530352"/>
          </a:xfrm>
          <a:prstGeom prst="roundRect">
            <a:avLst>
              <a:gd name="adj" fmla="val 11132"/>
            </a:avLst>
          </a:prstGeom>
          <a:gradFill rotWithShape="1">
            <a:gsLst>
              <a:gs pos="0">
                <a:srgbClr val="FCF5E2"/>
              </a:gs>
              <a:gs pos="100000">
                <a:srgbClr val="F4E5B8"/>
              </a:gs>
            </a:gsLst>
            <a:lin ang="5400000" scaled="0"/>
          </a:gradFill>
          <a:ln w="19050">
            <a:solidFill>
              <a:srgbClr val="E9B221"/>
            </a:solidFill>
          </a:ln>
        </p:spPr>
        <p:txBody>
          <a:bodyPr wrap="square" lIns="0" tIns="0" rIns="0" bIns="0" rtlCol="0" anchor="ctr"/>
          <a:lstStyle/>
          <a:p>
            <a:pPr algn="ctr" indent="0" marL="0">
              <a:buNone/>
            </a:pPr>
            <a:r>
              <a:rPr lang="en-US" sz="1000" b="1" dirty="0">
                <a:solidFill>
                  <a:srgbClr val="0A1E33"/>
                </a:solidFill>
                <a:latin typeface="Calibri" pitchFamily="34" charset="0"/>
                <a:ea typeface="Calibri" pitchFamily="34" charset="-122"/>
                <a:cs typeface="Calibri" pitchFamily="34" charset="-120"/>
              </a:rPr>
              <a:t>16</a:t>
            </a:r>
            <a:endParaRPr lang="en-US" sz="1000" dirty="0"/>
          </a:p>
        </p:txBody>
      </p:sp>
      <p:sp>
        <p:nvSpPr>
          <p:cNvPr id="35" name="Shape 31"/>
          <p:cNvSpPr/>
          <p:nvPr/>
        </p:nvSpPr>
        <p:spPr>
          <a:xfrm>
            <a:off x="9001811" y="5541264"/>
            <a:ext cx="109728" cy="109728"/>
          </a:xfrm>
          <a:prstGeom prst="ellipse">
            <a:avLst/>
          </a:prstGeom>
          <a:solidFill>
            <a:srgbClr val="E9B221"/>
          </a:solidFill>
          <a:ln w="12700">
            <a:solidFill>
              <a:srgbClr val="E9B221"/>
            </a:solidFill>
            <a:prstDash val="solid"/>
          </a:ln>
        </p:spPr>
        <p:txBody>
          <a:bodyPr/>
          <a:p/>
        </p:txBody>
      </p:sp>
      <p:sp>
        <p:nvSpPr>
          <p:cNvPr id="36" name="grad:navyCard"/>
          <p:cNvSpPr txBox="1"/>
          <p:nvPr/>
        </p:nvSpPr>
        <p:spPr>
          <a:xfrm>
            <a:off x="9348826" y="5166360"/>
            <a:ext cx="492862" cy="530352"/>
          </a:xfrm>
          <a:prstGeom prst="roundRect">
            <a:avLst>
              <a:gd name="adj" fmla="val 11132"/>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000" b="1" dirty="0">
                <a:solidFill>
                  <a:srgbClr val="E9B221"/>
                </a:solidFill>
                <a:latin typeface="Calibri" pitchFamily="34" charset="0"/>
                <a:ea typeface="Calibri" pitchFamily="34" charset="-122"/>
                <a:cs typeface="Calibri" pitchFamily="34" charset="-120"/>
              </a:rPr>
              <a:t>17</a:t>
            </a:r>
            <a:endParaRPr lang="en-US" sz="1000" dirty="0"/>
          </a:p>
        </p:txBody>
      </p:sp>
      <p:sp>
        <p:nvSpPr>
          <p:cNvPr id="37" name="grad:navyCard"/>
          <p:cNvSpPr txBox="1"/>
          <p:nvPr/>
        </p:nvSpPr>
        <p:spPr>
          <a:xfrm>
            <a:off x="9887407" y="5166360"/>
            <a:ext cx="492862" cy="530352"/>
          </a:xfrm>
          <a:prstGeom prst="roundRect">
            <a:avLst>
              <a:gd name="adj" fmla="val 11132"/>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000" b="1" dirty="0">
                <a:solidFill>
                  <a:srgbClr val="E9B221"/>
                </a:solidFill>
                <a:latin typeface="Calibri" pitchFamily="34" charset="0"/>
                <a:ea typeface="Calibri" pitchFamily="34" charset="-122"/>
                <a:cs typeface="Calibri" pitchFamily="34" charset="-120"/>
              </a:rPr>
              <a:t>18</a:t>
            </a:r>
            <a:endParaRPr lang="en-US" sz="1000" dirty="0"/>
          </a:p>
        </p:txBody>
      </p:sp>
      <p:sp>
        <p:nvSpPr>
          <p:cNvPr id="38" name="grad:navyCard"/>
          <p:cNvSpPr txBox="1"/>
          <p:nvPr/>
        </p:nvSpPr>
        <p:spPr>
          <a:xfrm>
            <a:off x="10425989" y="5166360"/>
            <a:ext cx="492862" cy="530352"/>
          </a:xfrm>
          <a:prstGeom prst="roundRect">
            <a:avLst>
              <a:gd name="adj" fmla="val 11132"/>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000" b="1" dirty="0">
                <a:solidFill>
                  <a:srgbClr val="E9B221"/>
                </a:solidFill>
                <a:latin typeface="Calibri" pitchFamily="34" charset="0"/>
                <a:ea typeface="Calibri" pitchFamily="34" charset="-122"/>
                <a:cs typeface="Calibri" pitchFamily="34" charset="-120"/>
              </a:rPr>
              <a:t>19</a:t>
            </a:r>
            <a:endParaRPr lang="en-US" sz="1000" dirty="0"/>
          </a:p>
        </p:txBody>
      </p:sp>
      <p:sp>
        <p:nvSpPr>
          <p:cNvPr id="39" name="grad:navyCard"/>
          <p:cNvSpPr txBox="1"/>
          <p:nvPr/>
        </p:nvSpPr>
        <p:spPr>
          <a:xfrm>
            <a:off x="10964570" y="5166360"/>
            <a:ext cx="492862" cy="530352"/>
          </a:xfrm>
          <a:prstGeom prst="roundRect">
            <a:avLst>
              <a:gd name="adj" fmla="val 11132"/>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000" b="1" dirty="0">
                <a:solidFill>
                  <a:srgbClr val="E9B221"/>
                </a:solidFill>
                <a:latin typeface="Calibri" pitchFamily="34" charset="0"/>
                <a:ea typeface="Calibri" pitchFamily="34" charset="-122"/>
                <a:cs typeface="Calibri" pitchFamily="34" charset="-120"/>
              </a:rPr>
              <a:t>20</a:t>
            </a:r>
            <a:endParaRPr lang="en-US" sz="1000" dirty="0"/>
          </a:p>
        </p:txBody>
      </p:sp>
      <p:sp>
        <p:nvSpPr>
          <p:cNvPr id="40" name="Shape 36"/>
          <p:cNvSpPr/>
          <p:nvPr/>
        </p:nvSpPr>
        <p:spPr>
          <a:xfrm>
            <a:off x="731520" y="5852160"/>
            <a:ext cx="201168" cy="164592"/>
          </a:xfrm>
          <a:prstGeom prst="roundRect">
            <a:avLst>
              <a:gd name="adj" fmla="val 16667"/>
            </a:avLst>
          </a:prstGeom>
          <a:solidFill>
            <a:srgbClr val="10294A"/>
          </a:solidFill>
          <a:ln w="9525">
            <a:solidFill>
              <a:srgbClr val="25467A"/>
            </a:solidFill>
            <a:prstDash val="solid"/>
          </a:ln>
        </p:spPr>
        <p:txBody>
          <a:bodyPr/>
          <a:p/>
        </p:txBody>
      </p:sp>
      <p:sp>
        <p:nvSpPr>
          <p:cNvPr id="41" name="Text 37"/>
          <p:cNvSpPr txBox="1"/>
          <p:nvPr/>
        </p:nvSpPr>
        <p:spPr>
          <a:xfrm>
            <a:off x="1005840" y="5806440"/>
            <a:ext cx="1371600" cy="256032"/>
          </a:xfrm>
          <a:prstGeom prst="rect">
            <a:avLst/>
          </a:prstGeom>
          <a:noFill/>
          <a:ln/>
        </p:spPr>
        <p:txBody>
          <a:bodyPr wrap="square" lIns="0" tIns="0" rIns="0" bIns="0" rtlCol="0" anchor="ctr"/>
          <a:lstStyle/>
          <a:p>
            <a:pPr algn="l" indent="0" marL="0">
              <a:buNone/>
            </a:pPr>
            <a:r>
              <a:rPr lang="en-US" sz="950" dirty="0">
                <a:solidFill>
                  <a:srgbClr val="A9B8CA"/>
                </a:solidFill>
                <a:latin typeface="Calibri" pitchFamily="34" charset="0"/>
                <a:ea typeface="Calibri" pitchFamily="34" charset="-122"/>
                <a:cs typeface="Calibri" pitchFamily="34" charset="-120"/>
              </a:rPr>
              <a:t>Teaching week</a:t>
            </a:r>
            <a:endParaRPr lang="en-US" sz="950" dirty="0"/>
          </a:p>
        </p:txBody>
      </p:sp>
      <p:sp>
        <p:nvSpPr>
          <p:cNvPr id="42" name="Shape 38"/>
          <p:cNvSpPr/>
          <p:nvPr/>
        </p:nvSpPr>
        <p:spPr>
          <a:xfrm>
            <a:off x="2148840" y="5852160"/>
            <a:ext cx="201168" cy="164592"/>
          </a:xfrm>
          <a:prstGeom prst="roundRect">
            <a:avLst>
              <a:gd name="adj" fmla="val 16667"/>
            </a:avLst>
          </a:prstGeom>
          <a:solidFill>
            <a:srgbClr val="007DB6"/>
          </a:solidFill>
          <a:ln w="9525">
            <a:solidFill>
              <a:srgbClr val="007DB6"/>
            </a:solidFill>
            <a:prstDash val="solid"/>
          </a:ln>
        </p:spPr>
        <p:txBody>
          <a:bodyPr/>
          <a:p/>
        </p:txBody>
      </p:sp>
      <p:sp>
        <p:nvSpPr>
          <p:cNvPr id="43" name="Text 39"/>
          <p:cNvSpPr txBox="1"/>
          <p:nvPr/>
        </p:nvSpPr>
        <p:spPr>
          <a:xfrm>
            <a:off x="2423160" y="5806440"/>
            <a:ext cx="1371600" cy="256032"/>
          </a:xfrm>
          <a:prstGeom prst="rect">
            <a:avLst/>
          </a:prstGeom>
          <a:noFill/>
          <a:ln/>
        </p:spPr>
        <p:txBody>
          <a:bodyPr wrap="square" lIns="0" tIns="0" rIns="0" bIns="0" rtlCol="0" anchor="ctr"/>
          <a:lstStyle/>
          <a:p>
            <a:pPr algn="l" indent="0" marL="0">
              <a:buNone/>
            </a:pPr>
            <a:r>
              <a:rPr lang="en-US" sz="950" dirty="0">
                <a:solidFill>
                  <a:srgbClr val="A9B8CA"/>
                </a:solidFill>
                <a:latin typeface="Calibri" pitchFamily="34" charset="0"/>
                <a:ea typeface="Calibri" pitchFamily="34" charset="-122"/>
                <a:cs typeface="Calibri" pitchFamily="34" charset="-120"/>
              </a:rPr>
              <a:t>Build week</a:t>
            </a:r>
            <a:endParaRPr lang="en-US" sz="950" dirty="0"/>
          </a:p>
        </p:txBody>
      </p:sp>
      <p:sp>
        <p:nvSpPr>
          <p:cNvPr id="44" name="Shape 40"/>
          <p:cNvSpPr/>
          <p:nvPr/>
        </p:nvSpPr>
        <p:spPr>
          <a:xfrm>
            <a:off x="3566160" y="5852160"/>
            <a:ext cx="201168" cy="164592"/>
          </a:xfrm>
          <a:prstGeom prst="roundRect">
            <a:avLst>
              <a:gd name="adj" fmla="val 16667"/>
            </a:avLst>
          </a:prstGeom>
          <a:solidFill>
            <a:srgbClr val="FBF1D6"/>
          </a:solidFill>
          <a:ln w="9525">
            <a:solidFill>
              <a:srgbClr val="E9B221"/>
            </a:solidFill>
            <a:prstDash val="solid"/>
          </a:ln>
        </p:spPr>
        <p:txBody>
          <a:bodyPr/>
          <a:p/>
        </p:txBody>
      </p:sp>
      <p:sp>
        <p:nvSpPr>
          <p:cNvPr id="45" name="Text 41"/>
          <p:cNvSpPr txBox="1"/>
          <p:nvPr/>
        </p:nvSpPr>
        <p:spPr>
          <a:xfrm>
            <a:off x="3840480" y="5806440"/>
            <a:ext cx="1371600" cy="256032"/>
          </a:xfrm>
          <a:prstGeom prst="rect">
            <a:avLst/>
          </a:prstGeom>
          <a:noFill/>
          <a:ln/>
        </p:spPr>
        <p:txBody>
          <a:bodyPr wrap="square" lIns="0" tIns="0" rIns="0" bIns="0" rtlCol="0" anchor="ctr"/>
          <a:lstStyle/>
          <a:p>
            <a:pPr algn="l" indent="0" marL="0">
              <a:buNone/>
            </a:pPr>
            <a:r>
              <a:rPr lang="en-US" sz="950" dirty="0">
                <a:solidFill>
                  <a:srgbClr val="A9B8CA"/>
                </a:solidFill>
                <a:latin typeface="Calibri" pitchFamily="34" charset="0"/>
                <a:ea typeface="Calibri" pitchFamily="34" charset="-122"/>
                <a:cs typeface="Calibri" pitchFamily="34" charset="-120"/>
              </a:rPr>
              <a:t>FDE block</a:t>
            </a:r>
            <a:endParaRPr lang="en-US" sz="950" dirty="0"/>
          </a:p>
        </p:txBody>
      </p:sp>
      <p:sp>
        <p:nvSpPr>
          <p:cNvPr id="46" name="Shape 42"/>
          <p:cNvSpPr/>
          <p:nvPr/>
        </p:nvSpPr>
        <p:spPr>
          <a:xfrm>
            <a:off x="4983480" y="5852160"/>
            <a:ext cx="201168" cy="164592"/>
          </a:xfrm>
          <a:prstGeom prst="roundRect">
            <a:avLst>
              <a:gd name="adj" fmla="val 16667"/>
            </a:avLst>
          </a:prstGeom>
          <a:solidFill>
            <a:srgbClr val="173A62"/>
          </a:solidFill>
          <a:ln w="9525">
            <a:solidFill>
              <a:srgbClr val="173A62"/>
            </a:solidFill>
            <a:prstDash val="solid"/>
          </a:ln>
        </p:spPr>
        <p:txBody>
          <a:bodyPr/>
          <a:p/>
        </p:txBody>
      </p:sp>
      <p:sp>
        <p:nvSpPr>
          <p:cNvPr id="47" name="Text 43"/>
          <p:cNvSpPr txBox="1"/>
          <p:nvPr/>
        </p:nvSpPr>
        <p:spPr>
          <a:xfrm>
            <a:off x="5257800" y="5806440"/>
            <a:ext cx="1371600" cy="256032"/>
          </a:xfrm>
          <a:prstGeom prst="rect">
            <a:avLst/>
          </a:prstGeom>
          <a:noFill/>
          <a:ln/>
        </p:spPr>
        <p:txBody>
          <a:bodyPr wrap="square" lIns="0" tIns="0" rIns="0" bIns="0" rtlCol="0" anchor="ctr"/>
          <a:lstStyle/>
          <a:p>
            <a:pPr algn="l" indent="0" marL="0">
              <a:buNone/>
            </a:pPr>
            <a:r>
              <a:rPr lang="en-US" sz="950" dirty="0">
                <a:solidFill>
                  <a:srgbClr val="A9B8CA"/>
                </a:solidFill>
                <a:latin typeface="Calibri" pitchFamily="34" charset="0"/>
                <a:ea typeface="Calibri" pitchFamily="34" charset="-122"/>
                <a:cs typeface="Calibri" pitchFamily="34" charset="-120"/>
              </a:rPr>
              <a:t>Capstone</a:t>
            </a:r>
            <a:endParaRPr lang="en-US" sz="950" dirty="0"/>
          </a:p>
        </p:txBody>
      </p:sp>
      <p:sp>
        <p:nvSpPr>
          <p:cNvPr id="48" name="Shape 44"/>
          <p:cNvSpPr/>
          <p:nvPr/>
        </p:nvSpPr>
        <p:spPr>
          <a:xfrm>
            <a:off x="6446520" y="5879592"/>
            <a:ext cx="109728" cy="109728"/>
          </a:xfrm>
          <a:prstGeom prst="ellipse">
            <a:avLst/>
          </a:prstGeom>
          <a:solidFill>
            <a:srgbClr val="E9B221"/>
          </a:solidFill>
          <a:ln w="12700">
            <a:solidFill>
              <a:srgbClr val="E9B221"/>
            </a:solidFill>
            <a:prstDash val="solid"/>
          </a:ln>
        </p:spPr>
        <p:txBody>
          <a:bodyPr/>
          <a:p/>
        </p:txBody>
      </p:sp>
      <p:sp>
        <p:nvSpPr>
          <p:cNvPr id="49" name="Text 45"/>
          <p:cNvSpPr txBox="1"/>
          <p:nvPr/>
        </p:nvSpPr>
        <p:spPr>
          <a:xfrm>
            <a:off x="6675120" y="5806440"/>
            <a:ext cx="1828800" cy="256032"/>
          </a:xfrm>
          <a:prstGeom prst="rect">
            <a:avLst/>
          </a:prstGeom>
          <a:noFill/>
          <a:ln/>
        </p:spPr>
        <p:txBody>
          <a:bodyPr wrap="square" lIns="0" tIns="0" rIns="0" bIns="0" rtlCol="0" anchor="ctr"/>
          <a:lstStyle/>
          <a:p>
            <a:pPr algn="l" indent="0" marL="0">
              <a:buNone/>
            </a:pPr>
            <a:r>
              <a:rPr lang="en-US" sz="950" dirty="0">
                <a:solidFill>
                  <a:srgbClr val="A9B8CA"/>
                </a:solidFill>
                <a:latin typeface="Calibri" pitchFamily="34" charset="0"/>
                <a:ea typeface="Calibri" pitchFamily="34" charset="-122"/>
                <a:cs typeface="Calibri" pitchFamily="34" charset="-120"/>
              </a:rPr>
              <a:t>Major exam in this week</a:t>
            </a:r>
            <a:endParaRPr lang="en-US" sz="950" dirty="0"/>
          </a:p>
        </p:txBody>
      </p:sp>
      <p:sp>
        <p:nvSpPr>
          <p:cNvPr id="50" name="Text 46"/>
          <p:cNvSpPr txBox="1"/>
          <p:nvPr/>
        </p:nvSpPr>
        <p:spPr>
          <a:xfrm>
            <a:off x="7498080" y="5806440"/>
            <a:ext cx="3959352" cy="256032"/>
          </a:xfrm>
          <a:prstGeom prst="rect">
            <a:avLst/>
          </a:prstGeom>
          <a:noFill/>
          <a:ln/>
        </p:spPr>
        <p:txBody>
          <a:bodyPr wrap="square" lIns="0" tIns="0" rIns="0" bIns="0" rtlCol="0" anchor="ctr"/>
          <a:lstStyle/>
          <a:p>
            <a:pPr algn="r" indent="0" marL="0">
              <a:buNone/>
            </a:pPr>
            <a:r>
              <a:rPr lang="en-US" sz="950" dirty="0">
                <a:solidFill>
                  <a:srgbClr val="C9D6E4"/>
                </a:solidFill>
                <a:latin typeface="Calibri" pitchFamily="34" charset="0"/>
                <a:ea typeface="Calibri" pitchFamily="34" charset="-122"/>
                <a:cs typeface="Calibri" pitchFamily="34" charset="-120"/>
              </a:rPr>
              <a:t>Week 0 begins Monday 28 September 2026</a:t>
            </a:r>
            <a:endParaRPr lang="en-US" sz="950" dirty="0"/>
          </a:p>
        </p:txBody>
      </p:sp>
    </p:spTree>
  </p:cSld>
  <p:clrMapOvr>
    <a:masterClrMapping/>
  </p:clrMapOvr>
  <p:transition spd="fast">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683" y="175931"/>
            <a:ext cx="471099" cy="471099"/>
          </a:xfrm>
          <a:prstGeom prst="ellipse">
            <a:avLst/>
          </a:prstGeom>
          <a:solidFill>
            <a:srgbClr val="FFFFFF"/>
          </a:solidFill>
          <a:ln w="12700">
            <a:solidFill>
              <a:srgbClr val="FFFFFF"/>
            </a:solidFill>
            <a:prstDash val="solid"/>
          </a:ln>
        </p:spPr>
        <p:txBody>
          <a:bodyPr/>
          <a:p/>
        </p:txBody>
      </p:sp>
      <p:pic>
        <p:nvPicPr>
          <p:cNvPr id="3"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4" name="Text 1"/>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FFFFFF"/>
                </a:solidFill>
                <a:latin typeface="Calibri" pitchFamily="34" charset="0"/>
                <a:ea typeface="Calibri" pitchFamily="34" charset="-122"/>
                <a:cs typeface="Calibri" pitchFamily="34" charset="-120"/>
              </a:rPr>
              <a:t>IITGN CDF (CAA)</a:t>
            </a:r>
            <a:endParaRPr lang="en-US" sz="950" dirty="0"/>
          </a:p>
        </p:txBody>
      </p:sp>
      <p:sp>
        <p:nvSpPr>
          <p:cNvPr id="5" name="Text 2"/>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A9B8CA"/>
                </a:solidFill>
                <a:latin typeface="Calibri" pitchFamily="34" charset="0"/>
                <a:ea typeface="Calibri" pitchFamily="34" charset="-122"/>
                <a:cs typeface="Calibri" pitchFamily="34" charset="-120"/>
              </a:rPr>
              <a:t>COMPETENCY ADVANCEMENT ACADEMY  ·  IIT GANDHINAGAR</a:t>
            </a:r>
            <a:endParaRPr lang="en-US" sz="650" dirty="0"/>
          </a:p>
        </p:txBody>
      </p:sp>
      <p:sp>
        <p:nvSpPr>
          <p:cNvPr id="6" name="Text 3"/>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A9B8CA"/>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7" name="Text 4"/>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A9B8CA"/>
                </a:solidFill>
                <a:latin typeface="Calibri" pitchFamily="34" charset="0"/>
                <a:ea typeface="Calibri" pitchFamily="34" charset="-122"/>
                <a:cs typeface="Calibri" pitchFamily="34" charset="-120"/>
              </a:rPr>
              <a:t>2</a:t>
            </a:r>
            <a:endParaRPr lang="en-US" sz="850" dirty="0"/>
          </a:p>
        </p:txBody>
      </p:sp>
      <p:sp>
        <p:nvSpPr>
          <p:cNvPr id="8" name="Text 5"/>
          <p:cNvSpPr txBox="1"/>
          <p:nvPr/>
        </p:nvSpPr>
        <p:spPr>
          <a:xfrm>
            <a:off x="548640" y="6455664"/>
            <a:ext cx="3657600" cy="201168"/>
          </a:xfrm>
          <a:prstGeom prst="rect">
            <a:avLst/>
          </a:prstGeom>
          <a:noFill/>
          <a:ln/>
        </p:spPr>
        <p:txBody>
          <a:bodyPr wrap="square" lIns="0" tIns="0" rIns="0" bIns="0" rtlCol="0" anchor="t"/>
          <a:lstStyle/>
          <a:p>
            <a:pPr algn="l" indent="0" marL="0">
              <a:buNone/>
            </a:pPr>
            <a:r>
              <a:rPr lang="en-US" sz="850" dirty="0">
                <a:solidFill>
                  <a:srgbClr val="A9B8CA"/>
                </a:solidFill>
                <a:latin typeface="Calibri" pitchFamily="34" charset="0"/>
                <a:ea typeface="Calibri" pitchFamily="34" charset="-122"/>
                <a:cs typeface="Calibri" pitchFamily="34" charset="-120"/>
              </a:rPr>
              <a:t>Academic orientation</a:t>
            </a:r>
            <a:endParaRPr lang="en-US" sz="850" dirty="0"/>
          </a:p>
        </p:txBody>
      </p:sp>
      <p:sp>
        <p:nvSpPr>
          <p:cNvPr id="9" name="anim:1"/>
          <p:cNvSpPr txBox="1"/>
          <p:nvPr/>
        </p:nvSpPr>
        <p:spPr>
          <a:xfrm>
            <a:off x="731520" y="1371600"/>
            <a:ext cx="3657600" cy="1463040"/>
          </a:xfrm>
          <a:prstGeom prst="rect">
            <a:avLst/>
          </a:prstGeom>
          <a:noFill/>
          <a:ln/>
        </p:spPr>
        <p:txBody>
          <a:bodyPr wrap="square" lIns="0" tIns="0" rIns="0" bIns="0" rtlCol="0" anchor="t"/>
          <a:lstStyle/>
          <a:p>
            <a:pPr algn="l" indent="0" marL="0">
              <a:buNone/>
            </a:pPr>
            <a:r>
              <a:rPr lang="en-US" sz="9600" b="1" dirty="0">
                <a:solidFill>
                  <a:srgbClr val="E9B221"/>
                </a:solidFill>
                <a:latin typeface="Calibri" pitchFamily="34" charset="0"/>
                <a:ea typeface="Calibri" pitchFamily="34" charset="-122"/>
                <a:cs typeface="Calibri" pitchFamily="34" charset="-120"/>
              </a:rPr>
              <a:t>01</a:t>
            </a:r>
            <a:endParaRPr lang="en-US" sz="9600" dirty="0"/>
          </a:p>
        </p:txBody>
      </p:sp>
      <p:sp>
        <p:nvSpPr>
          <p:cNvPr id="10" name="anim:1"/>
          <p:cNvSpPr txBox="1"/>
          <p:nvPr/>
        </p:nvSpPr>
        <p:spPr>
          <a:xfrm>
            <a:off x="731520" y="288036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Where this takes you</a:t>
            </a:r>
            <a:endParaRPr lang="en-US" sz="4000" dirty="0"/>
          </a:p>
        </p:txBody>
      </p:sp>
      <p:sp>
        <p:nvSpPr>
          <p:cNvPr id="11" name="anim:1"/>
          <p:cNvSpPr txBox="1"/>
          <p:nvPr/>
        </p:nvSpPr>
        <p:spPr>
          <a:xfrm>
            <a:off x="731520" y="3794760"/>
            <a:ext cx="9144000" cy="731520"/>
          </a:xfrm>
          <a:prstGeom prst="rect">
            <a:avLst/>
          </a:prstGeom>
          <a:noFill/>
          <a:ln/>
        </p:spPr>
        <p:txBody>
          <a:bodyPr wrap="square" lIns="0" tIns="0" rIns="0" bIns="0" rtlCol="0" anchor="t"/>
          <a:lstStyle/>
          <a:p>
            <a:pPr algn="l" indent="0" marL="0">
              <a:buNone/>
            </a:pPr>
            <a:r>
              <a:rPr lang="en-US" sz="1500" dirty="0">
                <a:solidFill>
                  <a:srgbClr val="C9D6E4"/>
                </a:solidFill>
                <a:latin typeface="Calibri" pitchFamily="34" charset="0"/>
                <a:ea typeface="Calibri" pitchFamily="34" charset="-122"/>
                <a:cs typeface="Calibri" pitchFamily="34" charset="-120"/>
              </a:rPr>
              <a:t>The roles the programme is built for, and what you hold in your hands when it ends.</a:t>
            </a:r>
            <a:endParaRPr lang="en-US" sz="1500" dirty="0"/>
          </a:p>
        </p:txBody>
      </p:sp>
      <p:sp>
        <p:nvSpPr>
          <p:cNvPr id="12" name="anim:1"/>
          <p:cNvSpPr txBox="1"/>
          <p:nvPr/>
        </p:nvSpPr>
        <p:spPr>
          <a:xfrm>
            <a:off x="731520" y="5120640"/>
            <a:ext cx="1828800" cy="310896"/>
          </a:xfrm>
          <a:prstGeom prst="roundRect">
            <a:avLst>
              <a:gd name="adj" fmla="val 58824"/>
            </a:avLst>
          </a:prstGeom>
          <a:solidFill>
            <a:srgbClr val="E9B221"/>
          </a:solidFill>
          <a:ln w="9525">
            <a:solidFill>
              <a:srgbClr val="E9B221"/>
            </a:solidFill>
          </a:ln>
        </p:spPr>
        <p:txBody>
          <a:bodyPr wrap="square" lIns="0" tIns="76200" rIns="76200" bIns="0" rtlCol="0" anchor="ctr"/>
          <a:lstStyle/>
          <a:p>
            <a:pPr algn="ctr" indent="0" marL="0">
              <a:buNone/>
            </a:pPr>
            <a:r>
              <a:rPr lang="en-US" sz="900" b="1" dirty="0">
                <a:solidFill>
                  <a:srgbClr val="0A1E33"/>
                </a:solidFill>
                <a:latin typeface="Calibri" pitchFamily="34" charset="0"/>
                <a:ea typeface="Calibri" pitchFamily="34" charset="-122"/>
                <a:cs typeface="Calibri" pitchFamily="34" charset="-120"/>
              </a:rPr>
              <a:t>Where this takes you</a:t>
            </a:r>
            <a:endParaRPr lang="en-US" sz="900" dirty="0"/>
          </a:p>
        </p:txBody>
      </p:sp>
      <p:sp>
        <p:nvSpPr>
          <p:cNvPr id="13" name="anim:1"/>
          <p:cNvSpPr txBox="1"/>
          <p:nvPr/>
        </p:nvSpPr>
        <p:spPr>
          <a:xfrm>
            <a:off x="2670048" y="5120640"/>
            <a:ext cx="14859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it is built</a:t>
            </a:r>
            <a:endParaRPr lang="en-US" sz="900" dirty="0"/>
          </a:p>
        </p:txBody>
      </p:sp>
      <p:sp>
        <p:nvSpPr>
          <p:cNvPr id="14" name="anim:1"/>
          <p:cNvSpPr txBox="1"/>
          <p:nvPr/>
        </p:nvSpPr>
        <p:spPr>
          <a:xfrm>
            <a:off x="4265676" y="5120640"/>
            <a:ext cx="14859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a week runs</a:t>
            </a:r>
            <a:endParaRPr lang="en-US" sz="900" dirty="0"/>
          </a:p>
        </p:txBody>
      </p:sp>
      <p:sp>
        <p:nvSpPr>
          <p:cNvPr id="15" name="anim:1"/>
          <p:cNvSpPr txBox="1"/>
          <p:nvPr/>
        </p:nvSpPr>
        <p:spPr>
          <a:xfrm>
            <a:off x="5861304" y="5120640"/>
            <a:ext cx="189738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you are evaluated</a:t>
            </a:r>
            <a:endParaRPr lang="en-US" sz="900" dirty="0"/>
          </a:p>
        </p:txBody>
      </p:sp>
      <p:sp>
        <p:nvSpPr>
          <p:cNvPr id="16" name="anim:1"/>
          <p:cNvSpPr txBox="1"/>
          <p:nvPr/>
        </p:nvSpPr>
        <p:spPr>
          <a:xfrm>
            <a:off x="7868412" y="5120640"/>
            <a:ext cx="196596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Placement and capstone</a:t>
            </a:r>
            <a:endParaRPr lang="en-US" sz="900" dirty="0"/>
          </a:p>
        </p:txBody>
      </p:sp>
      <p:sp>
        <p:nvSpPr>
          <p:cNvPr id="17" name="anim:1"/>
          <p:cNvSpPr txBox="1"/>
          <p:nvPr/>
        </p:nvSpPr>
        <p:spPr>
          <a:xfrm>
            <a:off x="9944100" y="5120640"/>
            <a:ext cx="169164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People and support</a:t>
            </a:r>
            <a:endParaRPr lang="en-US" sz="9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3</a:t>
            </a:r>
            <a:endParaRPr lang="en-US" sz="850" dirty="0"/>
          </a:p>
        </p:txBody>
      </p:sp>
      <p:sp>
        <p:nvSpPr>
          <p:cNvPr id="7" name="Shape 4"/>
          <p:cNvSpPr/>
          <p:nvPr/>
        </p:nvSpPr>
        <p:spPr>
          <a:xfrm>
            <a:off x="548640" y="6519672"/>
            <a:ext cx="73152" cy="73152"/>
          </a:xfrm>
          <a:prstGeom prst="ellipse">
            <a:avLst/>
          </a:prstGeom>
          <a:solidFill>
            <a:srgbClr val="007DB6"/>
          </a:solidFill>
          <a:ln w="12700">
            <a:solidFill>
              <a:srgbClr val="007DB6"/>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Where this programme takes you</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Two roles it is built for, two it covers well, one way of working, and one thing it does not claim.</a:t>
            </a:r>
            <a:endParaRPr lang="en-US" sz="1250" dirty="0"/>
          </a:p>
        </p:txBody>
      </p:sp>
      <p:sp>
        <p:nvSpPr>
          <p:cNvPr id="21" name="anim:1 grad:navy"/>
          <p:cNvSpPr/>
          <p:nvPr/>
        </p:nvSpPr>
        <p:spPr>
          <a:xfrm>
            <a:off x="548640" y="1783080"/>
            <a:ext cx="5212080" cy="1874520"/>
          </a:xfrm>
          <a:prstGeom prst="roundRect">
            <a:avLst>
              <a:gd name="adj" fmla="val 4878"/>
            </a:avLst>
          </a:prstGeom>
          <a:gradFill rotWithShape="1">
            <a:gsLst>
              <a:gs pos="0">
                <a:srgbClr val="1B4170"/>
              </a:gs>
              <a:gs pos="100000">
                <a:srgbClr val="0A1E33"/>
              </a:gs>
            </a:gsLst>
            <a:lin ang="5400000" scaled="0"/>
          </a:gradFill>
          <a:ln w="12700">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22" name="anim:1 grad:sheen"/>
          <p:cNvSpPr/>
          <p:nvPr/>
        </p:nvSpPr>
        <p:spPr>
          <a:xfrm>
            <a:off x="548640" y="1783080"/>
            <a:ext cx="5212080" cy="1874520"/>
          </a:xfrm>
          <a:prstGeom prst="roundRect">
            <a:avLst>
              <a:gd name="adj" fmla="val 4878"/>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23" name="anim:1 grad:blue"/>
          <p:cNvSpPr/>
          <p:nvPr/>
        </p:nvSpPr>
        <p:spPr>
          <a:xfrm>
            <a:off x="822960" y="2057400"/>
            <a:ext cx="640080" cy="64008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24" name="anim:1" descr="preencoded.png">    </p:cNvPr>
          <p:cNvPicPr>
            <a:picLocks noChangeAspect="1"/>
          </p:cNvPicPr>
          <p:nvPr/>
        </p:nvPicPr>
        <p:blipFill>
          <a:blip r:embed="rId3"/>
          <a:stretch>
            <a:fillRect/>
          </a:stretch>
        </p:blipFill>
        <p:spPr>
          <a:xfrm>
            <a:off x="976579" y="2211019"/>
            <a:ext cx="332842" cy="332842"/>
          </a:xfrm>
          <a:prstGeom prst="rect">
            <a:avLst/>
          </a:prstGeom>
        </p:spPr>
      </p:pic>
      <p:sp>
        <p:nvSpPr>
          <p:cNvPr id="25" name="anim:1"/>
          <p:cNvSpPr txBox="1"/>
          <p:nvPr/>
        </p:nvSpPr>
        <p:spPr>
          <a:xfrm>
            <a:off x="3840480" y="2103120"/>
            <a:ext cx="1645920" cy="256032"/>
          </a:xfrm>
          <a:prstGeom prst="roundRect">
            <a:avLst>
              <a:gd name="adj" fmla="val 71429"/>
            </a:avLst>
          </a:prstGeom>
          <a:solidFill>
            <a:srgbClr val="E9B221"/>
          </a:solidFill>
          <a:ln w="9525">
            <a:solidFill>
              <a:srgbClr val="E9B221"/>
            </a:solidFill>
          </a:ln>
        </p:spPr>
        <p:txBody>
          <a:bodyPr wrap="square" lIns="0" tIns="76200" rIns="76200" bIns="0" rtlCol="0" anchor="ctr"/>
          <a:lstStyle/>
          <a:p>
            <a:pPr algn="ctr" indent="0" marL="0">
              <a:buNone/>
            </a:pPr>
            <a:r>
              <a:rPr lang="en-US" sz="800" b="1" spc="200" kern="0" dirty="0">
                <a:solidFill>
                  <a:srgbClr val="0A1E33"/>
                </a:solidFill>
                <a:latin typeface="Calibri" pitchFamily="34" charset="0"/>
                <a:ea typeface="Calibri" pitchFamily="34" charset="-122"/>
                <a:cs typeface="Calibri" pitchFamily="34" charset="-120"/>
              </a:rPr>
              <a:t>PRIMARY TRACK</a:t>
            </a:r>
            <a:endParaRPr lang="en-US" sz="800" dirty="0"/>
          </a:p>
        </p:txBody>
      </p:sp>
      <p:sp>
        <p:nvSpPr>
          <p:cNvPr id="26" name="anim:1"/>
          <p:cNvSpPr txBox="1"/>
          <p:nvPr/>
        </p:nvSpPr>
        <p:spPr>
          <a:xfrm>
            <a:off x="3840480" y="2404872"/>
            <a:ext cx="1645920" cy="228600"/>
          </a:xfrm>
          <a:prstGeom prst="rect">
            <a:avLst/>
          </a:prstGeom>
          <a:noFill/>
          <a:ln/>
        </p:spPr>
        <p:txBody>
          <a:bodyPr wrap="square" lIns="0" tIns="0" rIns="0" bIns="0" rtlCol="0" anchor="t"/>
          <a:lstStyle/>
          <a:p>
            <a:pPr algn="r" indent="0" marL="0">
              <a:buNone/>
            </a:pPr>
            <a:r>
              <a:rPr lang="en-US" sz="900" b="1" dirty="0">
                <a:solidFill>
                  <a:srgbClr val="E9B221"/>
                </a:solidFill>
                <a:latin typeface="Calibri" pitchFamily="34" charset="0"/>
                <a:ea typeface="Calibri" pitchFamily="34" charset="-122"/>
                <a:cs typeface="Calibri" pitchFamily="34" charset="-120"/>
              </a:rPr>
              <a:t>Weeks 7 to 12 and 14</a:t>
            </a:r>
            <a:endParaRPr lang="en-US" sz="900" dirty="0"/>
          </a:p>
        </p:txBody>
      </p:sp>
      <p:sp>
        <p:nvSpPr>
          <p:cNvPr id="27" name="anim:1"/>
          <p:cNvSpPr txBox="1"/>
          <p:nvPr/>
        </p:nvSpPr>
        <p:spPr>
          <a:xfrm>
            <a:off x="822960" y="2788920"/>
            <a:ext cx="466344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GenAI / AI Engineer</a:t>
            </a:r>
            <a:endParaRPr lang="en-US" sz="2000" dirty="0"/>
          </a:p>
        </p:txBody>
      </p:sp>
      <p:sp>
        <p:nvSpPr>
          <p:cNvPr id="28" name="anim:1"/>
          <p:cNvSpPr txBox="1"/>
          <p:nvPr/>
        </p:nvSpPr>
        <p:spPr>
          <a:xfrm>
            <a:off x="822960" y="3200400"/>
            <a:ext cx="4663440" cy="411480"/>
          </a:xfrm>
          <a:prstGeom prst="rect">
            <a:avLst/>
          </a:prstGeom>
          <a:noFill/>
          <a:ln/>
        </p:spPr>
        <p:txBody>
          <a:bodyPr wrap="square" lIns="0" tIns="0" rIns="0" bIns="0" rtlCol="0" anchor="t"/>
          <a:lstStyle/>
          <a:p>
            <a:pPr algn="l" indent="0" marL="0">
              <a:buNone/>
            </a:pPr>
            <a:r>
              <a:rPr lang="en-US" sz="1000" dirty="0">
                <a:solidFill>
                  <a:srgbClr val="C9D6E4"/>
                </a:solidFill>
                <a:latin typeface="Calibri" pitchFamily="34" charset="0"/>
                <a:ea typeface="Calibri" pitchFamily="34" charset="-122"/>
                <a:cs typeface="Calibri" pitchFamily="34" charset="-120"/>
              </a:rPr>
              <a:t>LLM internals, prompt design, retrieval systems with measured quality, cost and latency judgement, production reliability.</a:t>
            </a:r>
            <a:endParaRPr lang="en-US" sz="1000" dirty="0"/>
          </a:p>
        </p:txBody>
      </p:sp>
      <p:sp>
        <p:nvSpPr>
          <p:cNvPr id="29" name="anim:1 grad:navy"/>
          <p:cNvSpPr/>
          <p:nvPr/>
        </p:nvSpPr>
        <p:spPr>
          <a:xfrm>
            <a:off x="548640" y="3840480"/>
            <a:ext cx="5212080" cy="1874520"/>
          </a:xfrm>
          <a:prstGeom prst="roundRect">
            <a:avLst>
              <a:gd name="adj" fmla="val 4878"/>
            </a:avLst>
          </a:prstGeom>
          <a:gradFill rotWithShape="1">
            <a:gsLst>
              <a:gs pos="0">
                <a:srgbClr val="1B4170"/>
              </a:gs>
              <a:gs pos="100000">
                <a:srgbClr val="0A1E33"/>
              </a:gs>
            </a:gsLst>
            <a:lin ang="5400000" scaled="0"/>
          </a:gradFill>
          <a:ln w="12700">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30" name="anim:1 grad:sheen"/>
          <p:cNvSpPr/>
          <p:nvPr/>
        </p:nvSpPr>
        <p:spPr>
          <a:xfrm>
            <a:off x="548640" y="3840480"/>
            <a:ext cx="5212080" cy="1874520"/>
          </a:xfrm>
          <a:prstGeom prst="roundRect">
            <a:avLst>
              <a:gd name="adj" fmla="val 4878"/>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31" name="anim:1 grad:blue"/>
          <p:cNvSpPr/>
          <p:nvPr/>
        </p:nvSpPr>
        <p:spPr>
          <a:xfrm>
            <a:off x="822960" y="4114800"/>
            <a:ext cx="640080" cy="64008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32" name="anim:1" descr="preencoded.png">    </p:cNvPr>
          <p:cNvPicPr>
            <a:picLocks noChangeAspect="1"/>
          </p:cNvPicPr>
          <p:nvPr/>
        </p:nvPicPr>
        <p:blipFill>
          <a:blip r:embed="rId4"/>
          <a:stretch>
            <a:fillRect/>
          </a:stretch>
        </p:blipFill>
        <p:spPr>
          <a:xfrm>
            <a:off x="976579" y="4268419"/>
            <a:ext cx="332842" cy="332842"/>
          </a:xfrm>
          <a:prstGeom prst="rect">
            <a:avLst/>
          </a:prstGeom>
        </p:spPr>
      </p:pic>
      <p:sp>
        <p:nvSpPr>
          <p:cNvPr id="33" name="anim:1"/>
          <p:cNvSpPr txBox="1"/>
          <p:nvPr/>
        </p:nvSpPr>
        <p:spPr>
          <a:xfrm>
            <a:off x="3840480" y="4160520"/>
            <a:ext cx="1645920" cy="256032"/>
          </a:xfrm>
          <a:prstGeom prst="roundRect">
            <a:avLst>
              <a:gd name="adj" fmla="val 71429"/>
            </a:avLst>
          </a:prstGeom>
          <a:solidFill>
            <a:srgbClr val="E9B221"/>
          </a:solidFill>
          <a:ln w="9525">
            <a:solidFill>
              <a:srgbClr val="E9B221"/>
            </a:solidFill>
          </a:ln>
        </p:spPr>
        <p:txBody>
          <a:bodyPr wrap="square" lIns="0" tIns="76200" rIns="76200" bIns="0" rtlCol="0" anchor="ctr"/>
          <a:lstStyle/>
          <a:p>
            <a:pPr algn="ctr" indent="0" marL="0">
              <a:buNone/>
            </a:pPr>
            <a:r>
              <a:rPr lang="en-US" sz="800" b="1" spc="200" kern="0" dirty="0">
                <a:solidFill>
                  <a:srgbClr val="0A1E33"/>
                </a:solidFill>
                <a:latin typeface="Calibri" pitchFamily="34" charset="0"/>
                <a:ea typeface="Calibri" pitchFamily="34" charset="-122"/>
                <a:cs typeface="Calibri" pitchFamily="34" charset="-120"/>
              </a:rPr>
              <a:t>PRIMARY TRACK</a:t>
            </a:r>
            <a:endParaRPr lang="en-US" sz="800" dirty="0"/>
          </a:p>
        </p:txBody>
      </p:sp>
      <p:sp>
        <p:nvSpPr>
          <p:cNvPr id="34" name="anim:1"/>
          <p:cNvSpPr txBox="1"/>
          <p:nvPr/>
        </p:nvSpPr>
        <p:spPr>
          <a:xfrm>
            <a:off x="3840480" y="4462272"/>
            <a:ext cx="1645920" cy="228600"/>
          </a:xfrm>
          <a:prstGeom prst="rect">
            <a:avLst/>
          </a:prstGeom>
          <a:noFill/>
          <a:ln/>
        </p:spPr>
        <p:txBody>
          <a:bodyPr wrap="square" lIns="0" tIns="0" rIns="0" bIns="0" rtlCol="0" anchor="t"/>
          <a:lstStyle/>
          <a:p>
            <a:pPr algn="r" indent="0" marL="0">
              <a:buNone/>
            </a:pPr>
            <a:r>
              <a:rPr lang="en-US" sz="900" b="1" dirty="0">
                <a:solidFill>
                  <a:srgbClr val="E9B221"/>
                </a:solidFill>
                <a:latin typeface="Calibri" pitchFamily="34" charset="0"/>
                <a:ea typeface="Calibri" pitchFamily="34" charset="-122"/>
                <a:cs typeface="Calibri" pitchFamily="34" charset="-120"/>
              </a:rPr>
              <a:t>Weeks 13 to 15</a:t>
            </a:r>
            <a:endParaRPr lang="en-US" sz="900" dirty="0"/>
          </a:p>
        </p:txBody>
      </p:sp>
      <p:sp>
        <p:nvSpPr>
          <p:cNvPr id="35" name="anim:1"/>
          <p:cNvSpPr txBox="1"/>
          <p:nvPr/>
        </p:nvSpPr>
        <p:spPr>
          <a:xfrm>
            <a:off x="822960" y="4846320"/>
            <a:ext cx="4663440" cy="41148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Agentic AI Engineer</a:t>
            </a:r>
            <a:endParaRPr lang="en-US" sz="2000" dirty="0"/>
          </a:p>
        </p:txBody>
      </p:sp>
      <p:sp>
        <p:nvSpPr>
          <p:cNvPr id="36" name="anim:1"/>
          <p:cNvSpPr txBox="1"/>
          <p:nvPr/>
        </p:nvSpPr>
        <p:spPr>
          <a:xfrm>
            <a:off x="822960" y="5257800"/>
            <a:ext cx="4663440" cy="411480"/>
          </a:xfrm>
          <a:prstGeom prst="rect">
            <a:avLst/>
          </a:prstGeom>
          <a:noFill/>
          <a:ln/>
        </p:spPr>
        <p:txBody>
          <a:bodyPr wrap="square" lIns="0" tIns="0" rIns="0" bIns="0" rtlCol="0" anchor="t"/>
          <a:lstStyle/>
          <a:p>
            <a:pPr algn="l" indent="0" marL="0">
              <a:buNone/>
            </a:pPr>
            <a:r>
              <a:rPr lang="en-US" sz="1000" dirty="0">
                <a:solidFill>
                  <a:srgbClr val="C9D6E4"/>
                </a:solidFill>
                <a:latin typeface="Calibri" pitchFamily="34" charset="0"/>
                <a:ea typeface="Calibri" pitchFamily="34" charset="-122"/>
                <a:cs typeface="Calibri" pitchFamily="34" charset="-120"/>
              </a:rPr>
              <a:t>Agent design, tool schemas, trajectory evaluation, guardrails against injection and runaway cost, deployment and monitoring.</a:t>
            </a:r>
            <a:endParaRPr lang="en-US" sz="1000" dirty="0"/>
          </a:p>
        </p:txBody>
      </p:sp>
      <p:sp>
        <p:nvSpPr>
          <p:cNvPr id="37" name="anim:2 grad:card"/>
          <p:cNvSpPr/>
          <p:nvPr/>
        </p:nvSpPr>
        <p:spPr>
          <a:xfrm>
            <a:off x="6035040" y="1783080"/>
            <a:ext cx="5605272" cy="1234440"/>
          </a:xfrm>
          <a:prstGeom prst="roundRect">
            <a:avLst>
              <a:gd name="adj" fmla="val 740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8" name="anim:2"/>
          <p:cNvSpPr/>
          <p:nvPr/>
        </p:nvSpPr>
        <p:spPr>
          <a:xfrm>
            <a:off x="6263640" y="2075688"/>
            <a:ext cx="640080" cy="640080"/>
          </a:xfrm>
          <a:prstGeom prst="ellipse">
            <a:avLst/>
          </a:prstGeom>
          <a:solidFill>
            <a:srgbClr val="E3F2FA"/>
          </a:solidFill>
          <a:ln w="9525">
            <a:solidFill>
              <a:srgbClr val="E3F2FA"/>
            </a:solidFill>
            <a:prstDash val="solid"/>
          </a:ln>
        </p:spPr>
        <p:txBody>
          <a:bodyPr/>
          <a:p/>
        </p:txBody>
      </p:sp>
      <p:pic>
        <p:nvPicPr>
          <p:cNvPr id="39" name="anim:2" descr="preencoded.png">    </p:cNvPr>
          <p:cNvPicPr>
            <a:picLocks noChangeAspect="1"/>
          </p:cNvPicPr>
          <p:nvPr/>
        </p:nvPicPr>
        <p:blipFill>
          <a:blip r:embed="rId5"/>
          <a:stretch>
            <a:fillRect/>
          </a:stretch>
        </p:blipFill>
        <p:spPr>
          <a:xfrm>
            <a:off x="6417259" y="2229307"/>
            <a:ext cx="332842" cy="332842"/>
          </a:xfrm>
          <a:prstGeom prst="rect">
            <a:avLst/>
          </a:prstGeom>
        </p:spPr>
      </p:pic>
      <p:sp>
        <p:nvSpPr>
          <p:cNvPr id="40" name="anim:2"/>
          <p:cNvSpPr txBox="1"/>
          <p:nvPr/>
        </p:nvSpPr>
        <p:spPr>
          <a:xfrm>
            <a:off x="7086600" y="1965960"/>
            <a:ext cx="1371600" cy="237744"/>
          </a:xfrm>
          <a:prstGeom prst="roundRect">
            <a:avLst>
              <a:gd name="adj" fmla="val 76923"/>
            </a:avLst>
          </a:prstGeom>
          <a:solidFill>
            <a:srgbClr val="E3F2FA"/>
          </a:solidFill>
          <a:ln w="9525">
            <a:solidFill>
              <a:srgbClr val="E3F2FA"/>
            </a:solidFill>
          </a:ln>
        </p:spPr>
        <p:txBody>
          <a:bodyPr wrap="square" lIns="0" tIns="76200" rIns="76200" bIns="0" rtlCol="0" anchor="ctr"/>
          <a:lstStyle/>
          <a:p>
            <a:pPr algn="ctr" indent="0" marL="0">
              <a:buNone/>
            </a:pPr>
            <a:r>
              <a:rPr lang="en-US" sz="750" b="1" spc="200" kern="0" dirty="0">
                <a:solidFill>
                  <a:srgbClr val="007DB6"/>
                </a:solidFill>
                <a:latin typeface="Calibri" pitchFamily="34" charset="0"/>
                <a:ea typeface="Calibri" pitchFamily="34" charset="-122"/>
                <a:cs typeface="Calibri" pitchFamily="34" charset="-120"/>
              </a:rPr>
              <a:t>SUPPORTED</a:t>
            </a:r>
            <a:endParaRPr lang="en-US" sz="750" dirty="0"/>
          </a:p>
        </p:txBody>
      </p:sp>
      <p:sp>
        <p:nvSpPr>
          <p:cNvPr id="41" name="anim:2"/>
          <p:cNvSpPr txBox="1"/>
          <p:nvPr/>
        </p:nvSpPr>
        <p:spPr>
          <a:xfrm>
            <a:off x="8595360" y="1965960"/>
            <a:ext cx="2834640" cy="237744"/>
          </a:xfrm>
          <a:prstGeom prst="rect">
            <a:avLst/>
          </a:prstGeom>
          <a:noFill/>
          <a:ln/>
        </p:spPr>
        <p:txBody>
          <a:bodyPr wrap="square" lIns="0" tIns="0" rIns="0" bIns="0" rtlCol="0" anchor="ctr"/>
          <a:lstStyle/>
          <a:p>
            <a:pPr algn="r" indent="0" marL="0">
              <a:buNone/>
            </a:pPr>
            <a:r>
              <a:rPr lang="en-US" sz="900" b="1" dirty="0">
                <a:solidFill>
                  <a:srgbClr val="007DB6"/>
                </a:solidFill>
                <a:latin typeface="Calibri" pitchFamily="34" charset="0"/>
                <a:ea typeface="Calibri" pitchFamily="34" charset="-122"/>
                <a:cs typeface="Calibri" pitchFamily="34" charset="-120"/>
              </a:rPr>
              <a:t>Weeks 1 to 4 and Build 1</a:t>
            </a:r>
            <a:endParaRPr lang="en-US" sz="900" dirty="0"/>
          </a:p>
        </p:txBody>
      </p:sp>
      <p:sp>
        <p:nvSpPr>
          <p:cNvPr id="42" name="anim:2"/>
          <p:cNvSpPr txBox="1"/>
          <p:nvPr/>
        </p:nvSpPr>
        <p:spPr>
          <a:xfrm>
            <a:off x="7086600" y="2240280"/>
            <a:ext cx="4389120" cy="320040"/>
          </a:xfrm>
          <a:prstGeom prst="rect">
            <a:avLst/>
          </a:prstGeom>
          <a:noFill/>
          <a:ln/>
        </p:spPr>
        <p:txBody>
          <a:bodyPr wrap="square" lIns="0" tIns="0" rIns="0" bIns="0" rtlCol="0" anchor="t"/>
          <a:lstStyle/>
          <a:p>
            <a:pPr algn="l" indent="0" marL="0">
              <a:buNone/>
            </a:pPr>
            <a:r>
              <a:rPr lang="en-US" sz="1500" b="1" dirty="0">
                <a:solidFill>
                  <a:srgbClr val="0A1E33"/>
                </a:solidFill>
                <a:latin typeface="Calibri" pitchFamily="34" charset="0"/>
                <a:ea typeface="Calibri" pitchFamily="34" charset="-122"/>
                <a:cs typeface="Calibri" pitchFamily="34" charset="-120"/>
              </a:rPr>
              <a:t>Data Analyst / Business Analyst</a:t>
            </a:r>
            <a:endParaRPr lang="en-US" sz="1500" dirty="0"/>
          </a:p>
        </p:txBody>
      </p:sp>
      <p:sp>
        <p:nvSpPr>
          <p:cNvPr id="43" name="anim:2"/>
          <p:cNvSpPr txBox="1"/>
          <p:nvPr/>
        </p:nvSpPr>
        <p:spPr>
          <a:xfrm>
            <a:off x="7086600" y="2569464"/>
            <a:ext cx="4389120" cy="411480"/>
          </a:xfrm>
          <a:prstGeom prst="rect">
            <a:avLst/>
          </a:prstGeom>
          <a:noFill/>
          <a:ln/>
        </p:spPr>
        <p:txBody>
          <a:bodyPr wrap="square" lIns="0" tIns="0" rIns="0" bIns="0" rtlCol="0" anchor="t"/>
          <a:lstStyle/>
          <a:p>
            <a:pPr algn="l" indent="0" marL="0">
              <a:buNone/>
            </a:pPr>
            <a:r>
              <a:rPr lang="en-US" sz="950" dirty="0">
                <a:solidFill>
                  <a:srgbClr val="5F7183"/>
                </a:solidFill>
                <a:latin typeface="Calibri" pitchFamily="34" charset="0"/>
                <a:ea typeface="Calibri" pitchFamily="34" charset="-122"/>
                <a:cs typeface="Calibri" pitchFamily="34" charset="-120"/>
              </a:rPr>
              <a:t>SQL at depth, business metrics, basket and cohort analysis, Excel, stakeholder communication.</a:t>
            </a:r>
            <a:endParaRPr lang="en-US" sz="950" dirty="0"/>
          </a:p>
        </p:txBody>
      </p:sp>
      <p:sp>
        <p:nvSpPr>
          <p:cNvPr id="44" name="anim:2 grad:card"/>
          <p:cNvSpPr/>
          <p:nvPr/>
        </p:nvSpPr>
        <p:spPr>
          <a:xfrm>
            <a:off x="6035040" y="3154680"/>
            <a:ext cx="5605272" cy="1234440"/>
          </a:xfrm>
          <a:prstGeom prst="roundRect">
            <a:avLst>
              <a:gd name="adj" fmla="val 740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5" name="anim:2"/>
          <p:cNvSpPr/>
          <p:nvPr/>
        </p:nvSpPr>
        <p:spPr>
          <a:xfrm>
            <a:off x="6263640" y="3447288"/>
            <a:ext cx="640080" cy="640080"/>
          </a:xfrm>
          <a:prstGeom prst="ellipse">
            <a:avLst/>
          </a:prstGeom>
          <a:solidFill>
            <a:srgbClr val="E3F2FA"/>
          </a:solidFill>
          <a:ln w="9525">
            <a:solidFill>
              <a:srgbClr val="E3F2FA"/>
            </a:solidFill>
            <a:prstDash val="solid"/>
          </a:ln>
        </p:spPr>
        <p:txBody>
          <a:bodyPr/>
          <a:p/>
        </p:txBody>
      </p:sp>
      <p:pic>
        <p:nvPicPr>
          <p:cNvPr id="46" name="anim:2" descr="preencoded.png">    </p:cNvPr>
          <p:cNvPicPr>
            <a:picLocks noChangeAspect="1"/>
          </p:cNvPicPr>
          <p:nvPr/>
        </p:nvPicPr>
        <p:blipFill>
          <a:blip r:embed="rId6"/>
          <a:stretch>
            <a:fillRect/>
          </a:stretch>
        </p:blipFill>
        <p:spPr>
          <a:xfrm>
            <a:off x="6417259" y="3600907"/>
            <a:ext cx="332842" cy="332842"/>
          </a:xfrm>
          <a:prstGeom prst="rect">
            <a:avLst/>
          </a:prstGeom>
        </p:spPr>
      </p:pic>
      <p:sp>
        <p:nvSpPr>
          <p:cNvPr id="47" name="anim:2"/>
          <p:cNvSpPr txBox="1"/>
          <p:nvPr/>
        </p:nvSpPr>
        <p:spPr>
          <a:xfrm>
            <a:off x="7086600" y="3337560"/>
            <a:ext cx="1371600" cy="237744"/>
          </a:xfrm>
          <a:prstGeom prst="roundRect">
            <a:avLst>
              <a:gd name="adj" fmla="val 76923"/>
            </a:avLst>
          </a:prstGeom>
          <a:solidFill>
            <a:srgbClr val="E3F2FA"/>
          </a:solidFill>
          <a:ln w="9525">
            <a:solidFill>
              <a:srgbClr val="E3F2FA"/>
            </a:solidFill>
          </a:ln>
        </p:spPr>
        <p:txBody>
          <a:bodyPr wrap="square" lIns="0" tIns="76200" rIns="76200" bIns="0" rtlCol="0" anchor="ctr"/>
          <a:lstStyle/>
          <a:p>
            <a:pPr algn="ctr" indent="0" marL="0">
              <a:buNone/>
            </a:pPr>
            <a:r>
              <a:rPr lang="en-US" sz="750" b="1" spc="200" kern="0" dirty="0">
                <a:solidFill>
                  <a:srgbClr val="007DB6"/>
                </a:solidFill>
                <a:latin typeface="Calibri" pitchFamily="34" charset="0"/>
                <a:ea typeface="Calibri" pitchFamily="34" charset="-122"/>
                <a:cs typeface="Calibri" pitchFamily="34" charset="-120"/>
              </a:rPr>
              <a:t>SUPPORTED</a:t>
            </a:r>
            <a:endParaRPr lang="en-US" sz="750" dirty="0"/>
          </a:p>
        </p:txBody>
      </p:sp>
      <p:sp>
        <p:nvSpPr>
          <p:cNvPr id="48" name="anim:2"/>
          <p:cNvSpPr txBox="1"/>
          <p:nvPr/>
        </p:nvSpPr>
        <p:spPr>
          <a:xfrm>
            <a:off x="8595360" y="3337560"/>
            <a:ext cx="2834640" cy="237744"/>
          </a:xfrm>
          <a:prstGeom prst="rect">
            <a:avLst/>
          </a:prstGeom>
          <a:noFill/>
          <a:ln/>
        </p:spPr>
        <p:txBody>
          <a:bodyPr wrap="square" lIns="0" tIns="0" rIns="0" bIns="0" rtlCol="0" anchor="ctr"/>
          <a:lstStyle/>
          <a:p>
            <a:pPr algn="r" indent="0" marL="0">
              <a:buNone/>
            </a:pPr>
            <a:r>
              <a:rPr lang="en-US" sz="900" b="1" dirty="0">
                <a:solidFill>
                  <a:srgbClr val="007DB6"/>
                </a:solidFill>
                <a:latin typeface="Calibri" pitchFamily="34" charset="0"/>
                <a:ea typeface="Calibri" pitchFamily="34" charset="-122"/>
                <a:cs typeface="Calibri" pitchFamily="34" charset="-120"/>
              </a:rPr>
              <a:t>Weeks 4 to 6</a:t>
            </a:r>
            <a:endParaRPr lang="en-US" sz="900" dirty="0"/>
          </a:p>
        </p:txBody>
      </p:sp>
      <p:sp>
        <p:nvSpPr>
          <p:cNvPr id="49" name="anim:2"/>
          <p:cNvSpPr txBox="1"/>
          <p:nvPr/>
        </p:nvSpPr>
        <p:spPr>
          <a:xfrm>
            <a:off x="7086600" y="3611880"/>
            <a:ext cx="4389120" cy="320040"/>
          </a:xfrm>
          <a:prstGeom prst="rect">
            <a:avLst/>
          </a:prstGeom>
          <a:noFill/>
          <a:ln/>
        </p:spPr>
        <p:txBody>
          <a:bodyPr wrap="square" lIns="0" tIns="0" rIns="0" bIns="0" rtlCol="0" anchor="t"/>
          <a:lstStyle/>
          <a:p>
            <a:pPr algn="l" indent="0" marL="0">
              <a:buNone/>
            </a:pPr>
            <a:r>
              <a:rPr lang="en-US" sz="1500" b="1" dirty="0">
                <a:solidFill>
                  <a:srgbClr val="0A1E33"/>
                </a:solidFill>
                <a:latin typeface="Calibri" pitchFamily="34" charset="0"/>
                <a:ea typeface="Calibri" pitchFamily="34" charset="-122"/>
                <a:cs typeface="Calibri" pitchFamily="34" charset="-120"/>
              </a:rPr>
              <a:t>Data Scientist, entry level</a:t>
            </a:r>
            <a:endParaRPr lang="en-US" sz="1500" dirty="0"/>
          </a:p>
        </p:txBody>
      </p:sp>
      <p:sp>
        <p:nvSpPr>
          <p:cNvPr id="50" name="anim:2"/>
          <p:cNvSpPr txBox="1"/>
          <p:nvPr/>
        </p:nvSpPr>
        <p:spPr>
          <a:xfrm>
            <a:off x="7086600" y="3941064"/>
            <a:ext cx="4389120" cy="411480"/>
          </a:xfrm>
          <a:prstGeom prst="rect">
            <a:avLst/>
          </a:prstGeom>
          <a:noFill/>
          <a:ln/>
        </p:spPr>
        <p:txBody>
          <a:bodyPr wrap="square" lIns="0" tIns="0" rIns="0" bIns="0" rtlCol="0" anchor="t"/>
          <a:lstStyle/>
          <a:p>
            <a:pPr algn="l" indent="0" marL="0">
              <a:buNone/>
            </a:pPr>
            <a:r>
              <a:rPr lang="en-US" sz="950" dirty="0">
                <a:solidFill>
                  <a:srgbClr val="5F7183"/>
                </a:solidFill>
                <a:latin typeface="Calibri" pitchFamily="34" charset="0"/>
                <a:ea typeface="Calibri" pitchFamily="34" charset="-122"/>
                <a:cs typeface="Calibri" pitchFamily="34" charset="-120"/>
              </a:rPr>
              <a:t>ML core, honest evaluation, feature work, experiment design.</a:t>
            </a:r>
            <a:endParaRPr lang="en-US" sz="950" dirty="0"/>
          </a:p>
        </p:txBody>
      </p:sp>
      <p:sp>
        <p:nvSpPr>
          <p:cNvPr id="51" name="anim:2 grad:card"/>
          <p:cNvSpPr/>
          <p:nvPr/>
        </p:nvSpPr>
        <p:spPr>
          <a:xfrm>
            <a:off x="6035040" y="4526280"/>
            <a:ext cx="5605272" cy="1234440"/>
          </a:xfrm>
          <a:prstGeom prst="roundRect">
            <a:avLst>
              <a:gd name="adj" fmla="val 740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52" name="anim:2"/>
          <p:cNvSpPr/>
          <p:nvPr/>
        </p:nvSpPr>
        <p:spPr>
          <a:xfrm>
            <a:off x="6263640" y="4818888"/>
            <a:ext cx="640080" cy="640080"/>
          </a:xfrm>
          <a:prstGeom prst="ellipse">
            <a:avLst/>
          </a:prstGeom>
          <a:solidFill>
            <a:srgbClr val="E3F2FA"/>
          </a:solidFill>
          <a:ln w="9525">
            <a:solidFill>
              <a:srgbClr val="E3F2FA"/>
            </a:solidFill>
            <a:prstDash val="solid"/>
          </a:ln>
        </p:spPr>
        <p:txBody>
          <a:bodyPr/>
          <a:p/>
        </p:txBody>
      </p:sp>
      <p:pic>
        <p:nvPicPr>
          <p:cNvPr id="53" name="anim:2" descr="preencoded.png">    </p:cNvPr>
          <p:cNvPicPr>
            <a:picLocks noChangeAspect="1"/>
          </p:cNvPicPr>
          <p:nvPr/>
        </p:nvPicPr>
        <p:blipFill>
          <a:blip r:embed="rId7"/>
          <a:stretch>
            <a:fillRect/>
          </a:stretch>
        </p:blipFill>
        <p:spPr>
          <a:xfrm>
            <a:off x="6417259" y="4972507"/>
            <a:ext cx="332842" cy="332842"/>
          </a:xfrm>
          <a:prstGeom prst="rect">
            <a:avLst/>
          </a:prstGeom>
        </p:spPr>
      </p:pic>
      <p:sp>
        <p:nvSpPr>
          <p:cNvPr id="54" name="anim:2"/>
          <p:cNvSpPr txBox="1"/>
          <p:nvPr/>
        </p:nvSpPr>
        <p:spPr>
          <a:xfrm>
            <a:off x="7086600" y="4709160"/>
            <a:ext cx="1371600" cy="237744"/>
          </a:xfrm>
          <a:prstGeom prst="roundRect">
            <a:avLst>
              <a:gd name="adj" fmla="val 76923"/>
            </a:avLst>
          </a:prstGeom>
          <a:solidFill>
            <a:srgbClr val="E3F2FA"/>
          </a:solidFill>
          <a:ln w="9525">
            <a:solidFill>
              <a:srgbClr val="E3F2FA"/>
            </a:solidFill>
          </a:ln>
        </p:spPr>
        <p:txBody>
          <a:bodyPr wrap="square" lIns="0" tIns="76200" rIns="76200" bIns="0" rtlCol="0" anchor="ctr"/>
          <a:lstStyle/>
          <a:p>
            <a:pPr algn="ctr" indent="0" marL="0">
              <a:buNone/>
            </a:pPr>
            <a:r>
              <a:rPr lang="en-US" sz="750" b="1" spc="200" kern="0" dirty="0">
                <a:solidFill>
                  <a:srgbClr val="007DB6"/>
                </a:solidFill>
                <a:latin typeface="Calibri" pitchFamily="34" charset="0"/>
                <a:ea typeface="Calibri" pitchFamily="34" charset="-122"/>
                <a:cs typeface="Calibri" pitchFamily="34" charset="-120"/>
              </a:rPr>
              <a:t>FITMENT LAYER</a:t>
            </a:r>
            <a:endParaRPr lang="en-US" sz="750" dirty="0"/>
          </a:p>
        </p:txBody>
      </p:sp>
      <p:sp>
        <p:nvSpPr>
          <p:cNvPr id="55" name="anim:2"/>
          <p:cNvSpPr txBox="1"/>
          <p:nvPr/>
        </p:nvSpPr>
        <p:spPr>
          <a:xfrm>
            <a:off x="8595360" y="4709160"/>
            <a:ext cx="2834640" cy="237744"/>
          </a:xfrm>
          <a:prstGeom prst="rect">
            <a:avLst/>
          </a:prstGeom>
          <a:noFill/>
          <a:ln/>
        </p:spPr>
        <p:txBody>
          <a:bodyPr wrap="square" lIns="0" tIns="0" rIns="0" bIns="0" rtlCol="0" anchor="ctr"/>
          <a:lstStyle/>
          <a:p>
            <a:pPr algn="r" indent="0" marL="0">
              <a:buNone/>
            </a:pPr>
            <a:r>
              <a:rPr lang="en-US" sz="900" b="1" dirty="0">
                <a:solidFill>
                  <a:srgbClr val="007DB6"/>
                </a:solidFill>
                <a:latin typeface="Calibri" pitchFamily="34" charset="0"/>
                <a:ea typeface="Calibri" pitchFamily="34" charset="-122"/>
                <a:cs typeface="Calibri" pitchFamily="34" charset="-120"/>
              </a:rPr>
              <a:t>Week 16 and every build week</a:t>
            </a:r>
            <a:endParaRPr lang="en-US" sz="900" dirty="0"/>
          </a:p>
        </p:txBody>
      </p:sp>
      <p:sp>
        <p:nvSpPr>
          <p:cNvPr id="56" name="anim:2"/>
          <p:cNvSpPr txBox="1"/>
          <p:nvPr/>
        </p:nvSpPr>
        <p:spPr>
          <a:xfrm>
            <a:off x="7086600" y="4983480"/>
            <a:ext cx="4389120" cy="320040"/>
          </a:xfrm>
          <a:prstGeom prst="rect">
            <a:avLst/>
          </a:prstGeom>
          <a:noFill/>
          <a:ln/>
        </p:spPr>
        <p:txBody>
          <a:bodyPr wrap="square" lIns="0" tIns="0" rIns="0" bIns="0" rtlCol="0" anchor="t"/>
          <a:lstStyle/>
          <a:p>
            <a:pPr algn="l" indent="0" marL="0">
              <a:buNone/>
            </a:pPr>
            <a:r>
              <a:rPr lang="en-US" sz="1500" b="1" dirty="0">
                <a:solidFill>
                  <a:srgbClr val="0A1E33"/>
                </a:solidFill>
                <a:latin typeface="Calibri" pitchFamily="34" charset="0"/>
                <a:ea typeface="Calibri" pitchFamily="34" charset="-122"/>
                <a:cs typeface="Calibri" pitchFamily="34" charset="-120"/>
              </a:rPr>
              <a:t>Forward Deployed Engineer</a:t>
            </a:r>
            <a:endParaRPr lang="en-US" sz="1500" dirty="0"/>
          </a:p>
        </p:txBody>
      </p:sp>
      <p:sp>
        <p:nvSpPr>
          <p:cNvPr id="57" name="anim:2"/>
          <p:cNvSpPr txBox="1"/>
          <p:nvPr/>
        </p:nvSpPr>
        <p:spPr>
          <a:xfrm>
            <a:off x="7086600" y="5312664"/>
            <a:ext cx="4389120" cy="411480"/>
          </a:xfrm>
          <a:prstGeom prst="rect">
            <a:avLst/>
          </a:prstGeom>
          <a:noFill/>
          <a:ln/>
        </p:spPr>
        <p:txBody>
          <a:bodyPr wrap="square" lIns="0" tIns="0" rIns="0" bIns="0" rtlCol="0" anchor="t"/>
          <a:lstStyle/>
          <a:p>
            <a:pPr algn="l" indent="0" marL="0">
              <a:buNone/>
            </a:pPr>
            <a:r>
              <a:rPr lang="en-US" sz="950" dirty="0">
                <a:solidFill>
                  <a:srgbClr val="5F7183"/>
                </a:solidFill>
                <a:latin typeface="Calibri" pitchFamily="34" charset="0"/>
                <a:ea typeface="Calibri" pitchFamily="34" charset="-122"/>
                <a:cs typeface="Calibri" pitchFamily="34" charset="-120"/>
              </a:rPr>
              <a:t>Problem framing, options with trade-offs, a quantified recommendation, client-facing communication.</a:t>
            </a:r>
            <a:endParaRPr lang="en-US" sz="950" dirty="0"/>
          </a:p>
        </p:txBody>
      </p:sp>
      <p:sp>
        <p:nvSpPr>
          <p:cNvPr id="58" name="anim:3 grad:redTint"/>
          <p:cNvSpPr/>
          <p:nvPr/>
        </p:nvSpPr>
        <p:spPr>
          <a:xfrm>
            <a:off x="548640" y="5943600"/>
            <a:ext cx="11091672" cy="420624"/>
          </a:xfrm>
          <a:prstGeom prst="roundRect">
            <a:avLst>
              <a:gd name="adj" fmla="val 21739"/>
            </a:avLst>
          </a:prstGeom>
          <a:gradFill rotWithShape="1">
            <a:gsLst>
              <a:gs pos="0">
                <a:srgbClr val="FBEAEB"/>
              </a:gs>
              <a:gs pos="100000">
                <a:srgbClr val="F3D6D9"/>
              </a:gs>
            </a:gsLst>
            <a:lin ang="5400000" scaled="0"/>
          </a:gradFill>
          <a:ln w="9525">
            <a:solidFill>
              <a:srgbClr val="BE1E2D"/>
            </a:solidFill>
            <a:prstDash val="solid"/>
          </a:ln>
        </p:spPr>
        <p:txBody>
          <a:bodyPr/>
          <a:p/>
        </p:txBody>
      </p:sp>
      <p:sp>
        <p:nvSpPr>
          <p:cNvPr id="59" name="anim:3"/>
          <p:cNvSpPr/>
          <p:nvPr/>
        </p:nvSpPr>
        <p:spPr>
          <a:xfrm>
            <a:off x="685800" y="5998464"/>
            <a:ext cx="310896" cy="310896"/>
          </a:xfrm>
          <a:prstGeom prst="ellipse">
            <a:avLst/>
          </a:prstGeom>
          <a:solidFill>
            <a:srgbClr val="BE1E2D"/>
          </a:solidFill>
          <a:ln w="9525">
            <a:solidFill>
              <a:srgbClr val="BE1E2D"/>
            </a:solidFill>
            <a:prstDash val="solid"/>
          </a:ln>
        </p:spPr>
        <p:txBody>
          <a:bodyPr/>
          <a:p/>
        </p:txBody>
      </p:sp>
      <p:pic>
        <p:nvPicPr>
          <p:cNvPr id="60" name="anim:3" descr="preencoded.png">    </p:cNvPr>
          <p:cNvPicPr>
            <a:picLocks noChangeAspect="1"/>
          </p:cNvPicPr>
          <p:nvPr/>
        </p:nvPicPr>
        <p:blipFill>
          <a:blip r:embed="rId8"/>
          <a:stretch>
            <a:fillRect/>
          </a:stretch>
        </p:blipFill>
        <p:spPr>
          <a:xfrm>
            <a:off x="760415" y="6073079"/>
            <a:ext cx="161666" cy="161666"/>
          </a:xfrm>
          <a:prstGeom prst="rect">
            <a:avLst/>
          </a:prstGeom>
        </p:spPr>
      </p:pic>
      <p:sp>
        <p:nvSpPr>
          <p:cNvPr id="61" name="anim:3"/>
          <p:cNvSpPr txBox="1"/>
          <p:nvPr/>
        </p:nvSpPr>
        <p:spPr>
          <a:xfrm>
            <a:off x="1097280" y="5943600"/>
            <a:ext cx="10424160" cy="420624"/>
          </a:xfrm>
          <a:prstGeom prst="rect">
            <a:avLst/>
          </a:prstGeom>
          <a:noFill/>
          <a:ln/>
        </p:spPr>
        <p:txBody>
          <a:bodyPr wrap="square" lIns="0" tIns="0" rIns="0" bIns="0" rtlCol="0" anchor="ctr"/>
          <a:lstStyle/>
          <a:p>
            <a:pPr algn="l" indent="0" marL="0">
              <a:buNone/>
            </a:pPr>
            <a:r>
              <a:rPr lang="en-US" sz="1050" dirty="0">
                <a:solidFill>
                  <a:srgbClr val="15243A"/>
                </a:solidFill>
                <a:latin typeface="Calibri" pitchFamily="34" charset="0"/>
                <a:ea typeface="Calibri" pitchFamily="34" charset="-122"/>
                <a:cs typeface="Calibri" pitchFamily="34" charset="-120"/>
              </a:rPr>
              <a:t>Not covered, not claimed: Computer Vision. It needs a different skill set and cannot be added properly inside twenty weeks alongside the tracks above.</a:t>
            </a:r>
            <a:endParaRPr lang="en-US" sz="10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childTnLst>
                          </p:cTn>
                        </p:par>
                      </p:childTnLst>
                    </p:cTn>
                  </p:par>
                  <p:par>
                    <p:cTn id="116" fill="hold">
                      <p:stCondLst>
                        <p:cond delay="indefinite"/>
                      </p:stCondLst>
                      <p:childTnLst>
                        <p:par>
                          <p:cTn id="117"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9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18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27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36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45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54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63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72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81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par>
                                <p:cTn id="92" presetID="10" presetClass="entr" presetSubtype="0" fill="hold" grpId="0" nodeType="withEffect">
                                  <p:stCondLst>
                                    <p:cond delay="90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400"/>
                                        <p:tgtEl>
                                          <p:spTgt spid="50"/>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00"/>
                                        <p:tgtEl>
                                          <p:spTgt spid="51"/>
                                        </p:tgtEl>
                                      </p:cBhvr>
                                    </p:animEffect>
                                  </p:childTnLst>
                                </p:cTn>
                              </p:par>
                              <p:par>
                                <p:cTn id="98" presetID="10" presetClass="entr" presetSubtype="0" fill="hold" grpId="0" nodeType="withEffect">
                                  <p:stCondLst>
                                    <p:cond delay="90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400"/>
                                        <p:tgtEl>
                                          <p:spTgt spid="52"/>
                                        </p:tgtEl>
                                      </p:cBhvr>
                                    </p:animEffect>
                                  </p:childTnLst>
                                </p:cTn>
                              </p:par>
                              <p:par>
                                <p:cTn id="101" presetID="10" presetClass="entr" presetSubtype="0" fill="hold" grpId="0" nodeType="withEffect">
                                  <p:stCondLst>
                                    <p:cond delay="90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400"/>
                                        <p:tgtEl>
                                          <p:spTgt spid="53"/>
                                        </p:tgtEl>
                                      </p:cBhvr>
                                    </p:animEffect>
                                  </p:childTnLst>
                                </p:cTn>
                              </p:par>
                              <p:par>
                                <p:cTn id="104" presetID="10" presetClass="entr" presetSubtype="0" fill="hold" grpId="0" nodeType="withEffect">
                                  <p:stCondLst>
                                    <p:cond delay="900"/>
                                  </p:stCondLst>
                                  <p:childTnLst>
                                    <p:set>
                                      <p:cBhvr>
                                        <p:cTn id="105" dur="1" fill="hold">
                                          <p:stCondLst>
                                            <p:cond delay="0"/>
                                          </p:stCondLst>
                                        </p:cTn>
                                        <p:tgtEl>
                                          <p:spTgt spid="54"/>
                                        </p:tgtEl>
                                        <p:attrNameLst>
                                          <p:attrName>style.visibility</p:attrName>
                                        </p:attrNameLst>
                                      </p:cBhvr>
                                      <p:to>
                                        <p:strVal val="visible"/>
                                      </p:to>
                                    </p:set>
                                    <p:animEffect transition="in" filter="fade">
                                      <p:cBhvr>
                                        <p:cTn id="106" dur="400"/>
                                        <p:tgtEl>
                                          <p:spTgt spid="54"/>
                                        </p:tgtEl>
                                      </p:cBhvr>
                                    </p:animEffect>
                                  </p:childTnLst>
                                </p:cTn>
                              </p:par>
                              <p:par>
                                <p:cTn id="107" presetID="10" presetClass="entr" presetSubtype="0" fill="hold" grpId="0" nodeType="withEffect">
                                  <p:stCondLst>
                                    <p:cond delay="90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400"/>
                                        <p:tgtEl>
                                          <p:spTgt spid="55"/>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56"/>
                                        </p:tgtEl>
                                        <p:attrNameLst>
                                          <p:attrName>style.visibility</p:attrName>
                                        </p:attrNameLst>
                                      </p:cBhvr>
                                      <p:to>
                                        <p:strVal val="visible"/>
                                      </p:to>
                                    </p:set>
                                    <p:animEffect transition="in" filter="fade">
                                      <p:cBhvr>
                                        <p:cTn id="112" dur="400"/>
                                        <p:tgtEl>
                                          <p:spTgt spid="56"/>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400"/>
                                        <p:tgtEl>
                                          <p:spTgt spid="57"/>
                                        </p:tgtEl>
                                      </p:cBhvr>
                                    </p:animEffect>
                                  </p:childTnLst>
                                </p:cTn>
                              </p:par>
                            </p:childTnLst>
                          </p:cTn>
                        </p:par>
                      </p:childTnLst>
                    </p:cTn>
                  </p:par>
                  <p:par>
                    <p:cTn id="130" fill="hold">
                      <p:stCondLst>
                        <p:cond delay="indefinite"/>
                      </p:stCondLst>
                      <p:childTnLst>
                        <p:par>
                          <p:cTn id="131"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58"/>
                                        </p:tgtEl>
                                        <p:attrNameLst>
                                          <p:attrName>style.visibility</p:attrName>
                                        </p:attrNameLst>
                                      </p:cBhvr>
                                      <p:to>
                                        <p:strVal val="visible"/>
                                      </p:to>
                                    </p:set>
                                    <p:animEffect transition="in" filter="fade">
                                      <p:cBhvr>
                                        <p:cTn id="120" dur="400"/>
                                        <p:tgtEl>
                                          <p:spTgt spid="58"/>
                                        </p:tgtEl>
                                      </p:cBhvr>
                                    </p:animEffect>
                                  </p:childTnLst>
                                </p:cTn>
                              </p:par>
                              <p:par>
                                <p:cTn id="121" presetID="10" presetClass="entr" presetSubtype="0" fill="hold" grpId="0" nodeType="withEffect">
                                  <p:stCondLst>
                                    <p:cond delay="90"/>
                                  </p:stCondLst>
                                  <p:childTnLst>
                                    <p:set>
                                      <p:cBhvr>
                                        <p:cTn id="122" dur="1" fill="hold">
                                          <p:stCondLst>
                                            <p:cond delay="0"/>
                                          </p:stCondLst>
                                        </p:cTn>
                                        <p:tgtEl>
                                          <p:spTgt spid="59"/>
                                        </p:tgtEl>
                                        <p:attrNameLst>
                                          <p:attrName>style.visibility</p:attrName>
                                        </p:attrNameLst>
                                      </p:cBhvr>
                                      <p:to>
                                        <p:strVal val="visible"/>
                                      </p:to>
                                    </p:set>
                                    <p:animEffect transition="in" filter="fade">
                                      <p:cBhvr>
                                        <p:cTn id="123" dur="400"/>
                                        <p:tgtEl>
                                          <p:spTgt spid="59"/>
                                        </p:tgtEl>
                                      </p:cBhvr>
                                    </p:animEffect>
                                  </p:childTnLst>
                                </p:cTn>
                              </p:par>
                              <p:par>
                                <p:cTn id="124" presetID="10" presetClass="entr" presetSubtype="0" fill="hold" grpId="0" nodeType="withEffect">
                                  <p:stCondLst>
                                    <p:cond delay="180"/>
                                  </p:stCondLst>
                                  <p:childTnLst>
                                    <p:set>
                                      <p:cBhvr>
                                        <p:cTn id="125" dur="1" fill="hold">
                                          <p:stCondLst>
                                            <p:cond delay="0"/>
                                          </p:stCondLst>
                                        </p:cTn>
                                        <p:tgtEl>
                                          <p:spTgt spid="60"/>
                                        </p:tgtEl>
                                        <p:attrNameLst>
                                          <p:attrName>style.visibility</p:attrName>
                                        </p:attrNameLst>
                                      </p:cBhvr>
                                      <p:to>
                                        <p:strVal val="visible"/>
                                      </p:to>
                                    </p:set>
                                    <p:animEffect transition="in" filter="fade">
                                      <p:cBhvr>
                                        <p:cTn id="126" dur="400"/>
                                        <p:tgtEl>
                                          <p:spTgt spid="60"/>
                                        </p:tgtEl>
                                      </p:cBhvr>
                                    </p:animEffect>
                                  </p:childTnLst>
                                </p:cTn>
                              </p:par>
                              <p:par>
                                <p:cTn id="127" presetID="10" presetClass="entr" presetSubtype="0" fill="hold" grpId="0" nodeType="withEffect">
                                  <p:stCondLst>
                                    <p:cond delay="270"/>
                                  </p:stCondLst>
                                  <p:childTnLst>
                                    <p:set>
                                      <p:cBhvr>
                                        <p:cTn id="128" dur="1" fill="hold">
                                          <p:stCondLst>
                                            <p:cond delay="0"/>
                                          </p:stCondLst>
                                        </p:cTn>
                                        <p:tgtEl>
                                          <p:spTgt spid="61"/>
                                        </p:tgtEl>
                                        <p:attrNameLst>
                                          <p:attrName>style.visibility</p:attrName>
                                        </p:attrNameLst>
                                      </p:cBhvr>
                                      <p:to>
                                        <p:strVal val="visible"/>
                                      </p:to>
                                    </p:set>
                                    <p:animEffect transition="in" filter="fade">
                                      <p:cBhvr>
                                        <p:cTn id="129"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4</a:t>
            </a:r>
            <a:endParaRPr lang="en-US" sz="850" dirty="0"/>
          </a:p>
        </p:txBody>
      </p:sp>
      <p:sp>
        <p:nvSpPr>
          <p:cNvPr id="7" name="Shape 4"/>
          <p:cNvSpPr/>
          <p:nvPr/>
        </p:nvSpPr>
        <p:spPr>
          <a:xfrm>
            <a:off x="548640" y="6519672"/>
            <a:ext cx="73152" cy="73152"/>
          </a:xfrm>
          <a:prstGeom prst="ellipse">
            <a:avLst/>
          </a:prstGeom>
          <a:solidFill>
            <a:srgbClr val="007DB6"/>
          </a:solidFill>
          <a:ln w="12700">
            <a:solidFill>
              <a:srgbClr val="007DB6"/>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What you leave with</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Four things, all of them checkable.</a:t>
            </a:r>
            <a:endParaRPr lang="en-US" sz="1250" dirty="0"/>
          </a:p>
        </p:txBody>
      </p:sp>
      <p:sp>
        <p:nvSpPr>
          <p:cNvPr id="21" name="anim:1 grad:navy"/>
          <p:cNvSpPr/>
          <p:nvPr/>
        </p:nvSpPr>
        <p:spPr>
          <a:xfrm>
            <a:off x="548640" y="1783080"/>
            <a:ext cx="2606040" cy="3977640"/>
          </a:xfrm>
          <a:prstGeom prst="roundRect">
            <a:avLst>
              <a:gd name="adj" fmla="val 3509"/>
            </a:avLst>
          </a:prstGeom>
          <a:gradFill rotWithShape="1">
            <a:gsLst>
              <a:gs pos="0">
                <a:srgbClr val="1B4170"/>
              </a:gs>
              <a:gs pos="100000">
                <a:srgbClr val="0A1E33"/>
              </a:gs>
            </a:gsLst>
            <a:lin ang="5400000" scaled="0"/>
          </a:gradFill>
          <a:ln w="9525">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22" name="anim:1 grad:sheen"/>
          <p:cNvSpPr/>
          <p:nvPr/>
        </p:nvSpPr>
        <p:spPr>
          <a:xfrm>
            <a:off x="548640" y="1783080"/>
            <a:ext cx="2606040" cy="3977640"/>
          </a:xfrm>
          <a:prstGeom prst="roundRect">
            <a:avLst>
              <a:gd name="adj" fmla="val 3509"/>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23" name="anim:1 grad:blue"/>
          <p:cNvSpPr/>
          <p:nvPr/>
        </p:nvSpPr>
        <p:spPr>
          <a:xfrm>
            <a:off x="822960" y="2103120"/>
            <a:ext cx="822960" cy="82296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24" name="anim:1" descr="preencoded.png">    </p:cNvPr>
          <p:cNvPicPr>
            <a:picLocks noChangeAspect="1"/>
          </p:cNvPicPr>
          <p:nvPr/>
        </p:nvPicPr>
        <p:blipFill>
          <a:blip r:embed="rId3"/>
          <a:stretch>
            <a:fillRect/>
          </a:stretch>
        </p:blipFill>
        <p:spPr>
          <a:xfrm>
            <a:off x="1020470" y="2300630"/>
            <a:ext cx="427939" cy="427939"/>
          </a:xfrm>
          <a:prstGeom prst="rect">
            <a:avLst/>
          </a:prstGeom>
        </p:spPr>
      </p:pic>
      <p:sp>
        <p:nvSpPr>
          <p:cNvPr id="25" name="anim:1"/>
          <p:cNvSpPr txBox="1"/>
          <p:nvPr/>
        </p:nvSpPr>
        <p:spPr>
          <a:xfrm>
            <a:off x="2286000" y="2148840"/>
            <a:ext cx="594360" cy="548640"/>
          </a:xfrm>
          <a:prstGeom prst="rect">
            <a:avLst/>
          </a:prstGeom>
          <a:noFill/>
          <a:ln/>
        </p:spPr>
        <p:txBody>
          <a:bodyPr wrap="square" lIns="0" tIns="0" rIns="0" bIns="0" rtlCol="0" anchor="t"/>
          <a:lstStyle/>
          <a:p>
            <a:pPr algn="r" indent="0" marL="0">
              <a:buNone/>
            </a:pPr>
            <a:r>
              <a:rPr lang="en-US" sz="2600" b="1" dirty="0">
                <a:solidFill>
                  <a:srgbClr val="E9B221"/>
                </a:solidFill>
                <a:latin typeface="Calibri" pitchFamily="34" charset="0"/>
                <a:ea typeface="Calibri" pitchFamily="34" charset="-122"/>
                <a:cs typeface="Calibri" pitchFamily="34" charset="-120"/>
              </a:rPr>
              <a:t>01</a:t>
            </a:r>
            <a:endParaRPr lang="en-US" sz="2600" dirty="0"/>
          </a:p>
        </p:txBody>
      </p:sp>
      <p:sp>
        <p:nvSpPr>
          <p:cNvPr id="26" name="anim:1"/>
          <p:cNvSpPr txBox="1"/>
          <p:nvPr/>
        </p:nvSpPr>
        <p:spPr>
          <a:xfrm>
            <a:off x="822960" y="3200400"/>
            <a:ext cx="2103120" cy="914400"/>
          </a:xfrm>
          <a:prstGeom prst="rect">
            <a:avLst/>
          </a:prstGeom>
          <a:noFill/>
          <a:ln/>
        </p:spPr>
        <p:txBody>
          <a:bodyPr wrap="square" lIns="0" tIns="0" rIns="0" bIns="0" rtlCol="0" anchor="t"/>
          <a:lstStyle/>
          <a:p>
            <a:pPr algn="l" indent="0" marL="0">
              <a:buNone/>
            </a:pPr>
            <a:r>
              <a:rPr lang="en-US" sz="1700" b="1" dirty="0">
                <a:solidFill>
                  <a:srgbClr val="FFFFFF"/>
                </a:solidFill>
                <a:latin typeface="Calibri" pitchFamily="34" charset="0"/>
                <a:ea typeface="Calibri" pitchFamily="34" charset="-122"/>
                <a:cs typeface="Calibri" pitchFamily="34" charset="-120"/>
              </a:rPr>
              <a:t>A PG Diploma from IIT Gandhinagar</a:t>
            </a:r>
            <a:endParaRPr lang="en-US" sz="1700" dirty="0"/>
          </a:p>
        </p:txBody>
      </p:sp>
      <p:sp>
        <p:nvSpPr>
          <p:cNvPr id="27" name="anim:1"/>
          <p:cNvSpPr txBox="1"/>
          <p:nvPr/>
        </p:nvSpPr>
        <p:spPr>
          <a:xfrm>
            <a:off x="822960" y="4206240"/>
            <a:ext cx="2103120" cy="1463040"/>
          </a:xfrm>
          <a:prstGeom prst="rect">
            <a:avLst/>
          </a:prstGeom>
          <a:noFill/>
          <a:ln/>
        </p:spPr>
        <p:txBody>
          <a:bodyPr wrap="square" lIns="0" tIns="0" rIns="0" bIns="0" rtlCol="0" anchor="t"/>
          <a:lstStyle/>
          <a:p>
            <a:pPr algn="l" indent="0" marL="0">
              <a:buNone/>
            </a:pPr>
            <a:r>
              <a:rPr lang="en-US" sz="1150" dirty="0">
                <a:solidFill>
                  <a:srgbClr val="C9D6E4"/>
                </a:solidFill>
                <a:latin typeface="Calibri" pitchFamily="34" charset="0"/>
                <a:ea typeface="Calibri" pitchFamily="34" charset="-122"/>
                <a:cs typeface="Calibri" pitchFamily="34" charset="-120"/>
              </a:rPr>
              <a:t>33 credits across ten modules, on the structure the IIT Gandhinagar Senate approved: 150 hours of theory, 300 of practice, 60 of capstone.</a:t>
            </a:r>
            <a:endParaRPr lang="en-US" sz="1150" dirty="0"/>
          </a:p>
        </p:txBody>
      </p:sp>
      <p:sp>
        <p:nvSpPr>
          <p:cNvPr id="28" name="anim:1 grad:navy"/>
          <p:cNvSpPr/>
          <p:nvPr/>
        </p:nvSpPr>
        <p:spPr>
          <a:xfrm>
            <a:off x="3364992" y="1783080"/>
            <a:ext cx="2606040" cy="3977640"/>
          </a:xfrm>
          <a:prstGeom prst="roundRect">
            <a:avLst>
              <a:gd name="adj" fmla="val 3509"/>
            </a:avLst>
          </a:prstGeom>
          <a:gradFill rotWithShape="1">
            <a:gsLst>
              <a:gs pos="0">
                <a:srgbClr val="1B4170"/>
              </a:gs>
              <a:gs pos="100000">
                <a:srgbClr val="0A1E33"/>
              </a:gs>
            </a:gsLst>
            <a:lin ang="5400000" scaled="0"/>
          </a:gradFill>
          <a:ln w="9525">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29" name="anim:1 grad:sheen"/>
          <p:cNvSpPr/>
          <p:nvPr/>
        </p:nvSpPr>
        <p:spPr>
          <a:xfrm>
            <a:off x="3364992" y="1783080"/>
            <a:ext cx="2606040" cy="3977640"/>
          </a:xfrm>
          <a:prstGeom prst="roundRect">
            <a:avLst>
              <a:gd name="adj" fmla="val 3509"/>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30" name="anim:1 grad:blue"/>
          <p:cNvSpPr/>
          <p:nvPr/>
        </p:nvSpPr>
        <p:spPr>
          <a:xfrm>
            <a:off x="3639312" y="2103120"/>
            <a:ext cx="822960" cy="82296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31" name="anim:1" descr="preencoded.png">    </p:cNvPr>
          <p:cNvPicPr>
            <a:picLocks noChangeAspect="1"/>
          </p:cNvPicPr>
          <p:nvPr/>
        </p:nvPicPr>
        <p:blipFill>
          <a:blip r:embed="rId4"/>
          <a:stretch>
            <a:fillRect/>
          </a:stretch>
        </p:blipFill>
        <p:spPr>
          <a:xfrm>
            <a:off x="3836822" y="2300630"/>
            <a:ext cx="427939" cy="427939"/>
          </a:xfrm>
          <a:prstGeom prst="rect">
            <a:avLst/>
          </a:prstGeom>
        </p:spPr>
      </p:pic>
      <p:sp>
        <p:nvSpPr>
          <p:cNvPr id="32" name="anim:1"/>
          <p:cNvSpPr txBox="1"/>
          <p:nvPr/>
        </p:nvSpPr>
        <p:spPr>
          <a:xfrm>
            <a:off x="5102352" y="2148840"/>
            <a:ext cx="594360" cy="548640"/>
          </a:xfrm>
          <a:prstGeom prst="rect">
            <a:avLst/>
          </a:prstGeom>
          <a:noFill/>
          <a:ln/>
        </p:spPr>
        <p:txBody>
          <a:bodyPr wrap="square" lIns="0" tIns="0" rIns="0" bIns="0" rtlCol="0" anchor="t"/>
          <a:lstStyle/>
          <a:p>
            <a:pPr algn="r" indent="0" marL="0">
              <a:buNone/>
            </a:pPr>
            <a:r>
              <a:rPr lang="en-US" sz="2600" b="1" dirty="0">
                <a:solidFill>
                  <a:srgbClr val="E9B221"/>
                </a:solidFill>
                <a:latin typeface="Calibri" pitchFamily="34" charset="0"/>
                <a:ea typeface="Calibri" pitchFamily="34" charset="-122"/>
                <a:cs typeface="Calibri" pitchFamily="34" charset="-120"/>
              </a:rPr>
              <a:t>02</a:t>
            </a:r>
            <a:endParaRPr lang="en-US" sz="2600" dirty="0"/>
          </a:p>
        </p:txBody>
      </p:sp>
      <p:sp>
        <p:nvSpPr>
          <p:cNvPr id="33" name="anim:1"/>
          <p:cNvSpPr txBox="1"/>
          <p:nvPr/>
        </p:nvSpPr>
        <p:spPr>
          <a:xfrm>
            <a:off x="3639312" y="3200400"/>
            <a:ext cx="2103120" cy="914400"/>
          </a:xfrm>
          <a:prstGeom prst="rect">
            <a:avLst/>
          </a:prstGeom>
          <a:noFill/>
          <a:ln/>
        </p:spPr>
        <p:txBody>
          <a:bodyPr wrap="square" lIns="0" tIns="0" rIns="0" bIns="0" rtlCol="0" anchor="t"/>
          <a:lstStyle/>
          <a:p>
            <a:pPr algn="l" indent="0" marL="0">
              <a:buNone/>
            </a:pPr>
            <a:r>
              <a:rPr lang="en-US" sz="1700" b="1" dirty="0">
                <a:solidFill>
                  <a:srgbClr val="FFFFFF"/>
                </a:solidFill>
                <a:latin typeface="Calibri" pitchFamily="34" charset="0"/>
                <a:ea typeface="Calibri" pitchFamily="34" charset="-122"/>
                <a:cs typeface="Calibri" pitchFamily="34" charset="-120"/>
              </a:rPr>
              <a:t>Regular IITGN alumni status</a:t>
            </a:r>
            <a:endParaRPr lang="en-US" sz="1700" dirty="0"/>
          </a:p>
        </p:txBody>
      </p:sp>
      <p:sp>
        <p:nvSpPr>
          <p:cNvPr id="34" name="anim:1"/>
          <p:cNvSpPr txBox="1"/>
          <p:nvPr/>
        </p:nvSpPr>
        <p:spPr>
          <a:xfrm>
            <a:off x="3639312" y="4206240"/>
            <a:ext cx="2103120" cy="1463040"/>
          </a:xfrm>
          <a:prstGeom prst="rect">
            <a:avLst/>
          </a:prstGeom>
          <a:noFill/>
          <a:ln/>
        </p:spPr>
        <p:txBody>
          <a:bodyPr wrap="square" lIns="0" tIns="0" rIns="0" bIns="0" rtlCol="0" anchor="t"/>
          <a:lstStyle/>
          <a:p>
            <a:pPr algn="l" indent="0" marL="0">
              <a:buNone/>
            </a:pPr>
            <a:r>
              <a:rPr lang="en-US" sz="1150" dirty="0">
                <a:solidFill>
                  <a:srgbClr val="C9D6E4"/>
                </a:solidFill>
                <a:latin typeface="Calibri" pitchFamily="34" charset="0"/>
                <a:ea typeface="Calibri" pitchFamily="34" charset="-122"/>
                <a:cs typeface="Calibri" pitchFamily="34" charset="-120"/>
              </a:rPr>
              <a:t>You graduate as regular alumni of IIT Gandhinagar, after twenty weeks in residence on campus.</a:t>
            </a:r>
            <a:endParaRPr lang="en-US" sz="1150" dirty="0"/>
          </a:p>
        </p:txBody>
      </p:sp>
      <p:sp>
        <p:nvSpPr>
          <p:cNvPr id="35" name="anim:2 grad:card"/>
          <p:cNvSpPr/>
          <p:nvPr/>
        </p:nvSpPr>
        <p:spPr>
          <a:xfrm>
            <a:off x="6181344" y="1783080"/>
            <a:ext cx="2606040" cy="3977640"/>
          </a:xfrm>
          <a:prstGeom prst="roundRect">
            <a:avLst>
              <a:gd name="adj" fmla="val 350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6" name="anim:2"/>
          <p:cNvSpPr/>
          <p:nvPr/>
        </p:nvSpPr>
        <p:spPr>
          <a:xfrm>
            <a:off x="6455664" y="2103120"/>
            <a:ext cx="822960" cy="822960"/>
          </a:xfrm>
          <a:prstGeom prst="ellipse">
            <a:avLst/>
          </a:prstGeom>
          <a:solidFill>
            <a:srgbClr val="E3F2FA"/>
          </a:solidFill>
          <a:ln w="9525">
            <a:solidFill>
              <a:srgbClr val="E3F2FA"/>
            </a:solidFill>
            <a:prstDash val="solid"/>
          </a:ln>
        </p:spPr>
        <p:txBody>
          <a:bodyPr/>
          <a:p/>
        </p:txBody>
      </p:sp>
      <p:pic>
        <p:nvPicPr>
          <p:cNvPr id="37" name="anim:2" descr="preencoded.png">    </p:cNvPr>
          <p:cNvPicPr>
            <a:picLocks noChangeAspect="1"/>
          </p:cNvPicPr>
          <p:nvPr/>
        </p:nvPicPr>
        <p:blipFill>
          <a:blip r:embed="rId5"/>
          <a:stretch>
            <a:fillRect/>
          </a:stretch>
        </p:blipFill>
        <p:spPr>
          <a:xfrm>
            <a:off x="6653174" y="2300630"/>
            <a:ext cx="427939" cy="427939"/>
          </a:xfrm>
          <a:prstGeom prst="rect">
            <a:avLst/>
          </a:prstGeom>
        </p:spPr>
      </p:pic>
      <p:sp>
        <p:nvSpPr>
          <p:cNvPr id="38" name="anim:2"/>
          <p:cNvSpPr txBox="1"/>
          <p:nvPr/>
        </p:nvSpPr>
        <p:spPr>
          <a:xfrm>
            <a:off x="7918704" y="2148840"/>
            <a:ext cx="594360" cy="548640"/>
          </a:xfrm>
          <a:prstGeom prst="rect">
            <a:avLst/>
          </a:prstGeom>
          <a:noFill/>
          <a:ln/>
        </p:spPr>
        <p:txBody>
          <a:bodyPr wrap="square" lIns="0" tIns="0" rIns="0" bIns="0" rtlCol="0" anchor="t"/>
          <a:lstStyle/>
          <a:p>
            <a:pPr algn="r" indent="0" marL="0">
              <a:buNone/>
            </a:pPr>
            <a:r>
              <a:rPr lang="en-US" sz="2600" b="1" dirty="0">
                <a:solidFill>
                  <a:srgbClr val="E4E9F0"/>
                </a:solidFill>
                <a:latin typeface="Calibri" pitchFamily="34" charset="0"/>
                <a:ea typeface="Calibri" pitchFamily="34" charset="-122"/>
                <a:cs typeface="Calibri" pitchFamily="34" charset="-120"/>
              </a:rPr>
              <a:t>03</a:t>
            </a:r>
            <a:endParaRPr lang="en-US" sz="2600" dirty="0"/>
          </a:p>
        </p:txBody>
      </p:sp>
      <p:sp>
        <p:nvSpPr>
          <p:cNvPr id="39" name="anim:2"/>
          <p:cNvSpPr txBox="1"/>
          <p:nvPr/>
        </p:nvSpPr>
        <p:spPr>
          <a:xfrm>
            <a:off x="6455664" y="3200400"/>
            <a:ext cx="2103120" cy="914400"/>
          </a:xfrm>
          <a:prstGeom prst="rect">
            <a:avLst/>
          </a:prstGeom>
          <a:noFill/>
          <a:ln/>
        </p:spPr>
        <p:txBody>
          <a:bodyPr wrap="square" lIns="0" tIns="0" rIns="0" bIns="0" rtlCol="0" anchor="t"/>
          <a:lstStyle/>
          <a:p>
            <a:pPr algn="l" indent="0" marL="0">
              <a:buNone/>
            </a:pPr>
            <a:r>
              <a:rPr lang="en-US" sz="1700" b="1" dirty="0">
                <a:solidFill>
                  <a:srgbClr val="0A1E33"/>
                </a:solidFill>
                <a:latin typeface="Calibri" pitchFamily="34" charset="0"/>
                <a:ea typeface="Calibri" pitchFamily="34" charset="-122"/>
                <a:cs typeface="Calibri" pitchFamily="34" charset="-120"/>
              </a:rPr>
              <a:t>A defended portfolio</a:t>
            </a:r>
            <a:endParaRPr lang="en-US" sz="1700" dirty="0"/>
          </a:p>
        </p:txBody>
      </p:sp>
      <p:sp>
        <p:nvSpPr>
          <p:cNvPr id="40" name="anim:2"/>
          <p:cNvSpPr txBox="1"/>
          <p:nvPr/>
        </p:nvSpPr>
        <p:spPr>
          <a:xfrm>
            <a:off x="6455664" y="4206240"/>
            <a:ext cx="2103120" cy="1463040"/>
          </a:xfrm>
          <a:prstGeom prst="rect">
            <a:avLst/>
          </a:prstGeom>
          <a:noFill/>
          <a:ln/>
        </p:spPr>
        <p:txBody>
          <a:bodyPr wrap="square" lIns="0" tIns="0" rIns="0" bIns="0" rtlCol="0" anchor="t"/>
          <a:lstStyle/>
          <a:p>
            <a:pPr algn="l" indent="0" marL="0">
              <a:buNone/>
            </a:pPr>
            <a:r>
              <a:rPr lang="en-US" sz="1150" dirty="0">
                <a:solidFill>
                  <a:srgbClr val="15243A"/>
                </a:solidFill>
                <a:latin typeface="Calibri" pitchFamily="34" charset="0"/>
                <a:ea typeface="Calibri" pitchFamily="34" charset="-122"/>
                <a:cs typeface="Calibri" pitchFamily="34" charset="-120"/>
              </a:rPr>
              <a:t>Five mini-projects and a capstone on GitHub, each with a live demo you gave, a working artefact and a challenges log of what broke and what you changed.</a:t>
            </a:r>
            <a:endParaRPr lang="en-US" sz="1150" dirty="0"/>
          </a:p>
        </p:txBody>
      </p:sp>
      <p:sp>
        <p:nvSpPr>
          <p:cNvPr id="41" name="anim:2 grad:card"/>
          <p:cNvSpPr/>
          <p:nvPr/>
        </p:nvSpPr>
        <p:spPr>
          <a:xfrm>
            <a:off x="8997696" y="1783080"/>
            <a:ext cx="2606040" cy="3977640"/>
          </a:xfrm>
          <a:prstGeom prst="roundRect">
            <a:avLst>
              <a:gd name="adj" fmla="val 350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2" name="anim:2"/>
          <p:cNvSpPr/>
          <p:nvPr/>
        </p:nvSpPr>
        <p:spPr>
          <a:xfrm>
            <a:off x="9272016" y="2103120"/>
            <a:ext cx="822960" cy="822960"/>
          </a:xfrm>
          <a:prstGeom prst="ellipse">
            <a:avLst/>
          </a:prstGeom>
          <a:solidFill>
            <a:srgbClr val="E3F2FA"/>
          </a:solidFill>
          <a:ln w="9525">
            <a:solidFill>
              <a:srgbClr val="E3F2FA"/>
            </a:solidFill>
            <a:prstDash val="solid"/>
          </a:ln>
        </p:spPr>
        <p:txBody>
          <a:bodyPr/>
          <a:p/>
        </p:txBody>
      </p:sp>
      <p:pic>
        <p:nvPicPr>
          <p:cNvPr id="43" name="anim:2" descr="preencoded.png">    </p:cNvPr>
          <p:cNvPicPr>
            <a:picLocks noChangeAspect="1"/>
          </p:cNvPicPr>
          <p:nvPr/>
        </p:nvPicPr>
        <p:blipFill>
          <a:blip r:embed="rId6"/>
          <a:stretch>
            <a:fillRect/>
          </a:stretch>
        </p:blipFill>
        <p:spPr>
          <a:xfrm>
            <a:off x="9469526" y="2300630"/>
            <a:ext cx="427939" cy="427939"/>
          </a:xfrm>
          <a:prstGeom prst="rect">
            <a:avLst/>
          </a:prstGeom>
        </p:spPr>
      </p:pic>
      <p:sp>
        <p:nvSpPr>
          <p:cNvPr id="44" name="anim:2"/>
          <p:cNvSpPr txBox="1"/>
          <p:nvPr/>
        </p:nvSpPr>
        <p:spPr>
          <a:xfrm>
            <a:off x="10735056" y="2148840"/>
            <a:ext cx="594360" cy="548640"/>
          </a:xfrm>
          <a:prstGeom prst="rect">
            <a:avLst/>
          </a:prstGeom>
          <a:noFill/>
          <a:ln/>
        </p:spPr>
        <p:txBody>
          <a:bodyPr wrap="square" lIns="0" tIns="0" rIns="0" bIns="0" rtlCol="0" anchor="t"/>
          <a:lstStyle/>
          <a:p>
            <a:pPr algn="r" indent="0" marL="0">
              <a:buNone/>
            </a:pPr>
            <a:r>
              <a:rPr lang="en-US" sz="2600" b="1" dirty="0">
                <a:solidFill>
                  <a:srgbClr val="E4E9F0"/>
                </a:solidFill>
                <a:latin typeface="Calibri" pitchFamily="34" charset="0"/>
                <a:ea typeface="Calibri" pitchFamily="34" charset="-122"/>
                <a:cs typeface="Calibri" pitchFamily="34" charset="-120"/>
              </a:rPr>
              <a:t>04</a:t>
            </a:r>
            <a:endParaRPr lang="en-US" sz="2600" dirty="0"/>
          </a:p>
        </p:txBody>
      </p:sp>
      <p:sp>
        <p:nvSpPr>
          <p:cNvPr id="45" name="anim:2"/>
          <p:cNvSpPr txBox="1"/>
          <p:nvPr/>
        </p:nvSpPr>
        <p:spPr>
          <a:xfrm>
            <a:off x="9272016" y="3200400"/>
            <a:ext cx="2103120" cy="914400"/>
          </a:xfrm>
          <a:prstGeom prst="rect">
            <a:avLst/>
          </a:prstGeom>
          <a:noFill/>
          <a:ln/>
        </p:spPr>
        <p:txBody>
          <a:bodyPr wrap="square" lIns="0" tIns="0" rIns="0" bIns="0" rtlCol="0" anchor="t"/>
          <a:lstStyle/>
          <a:p>
            <a:pPr algn="l" indent="0" marL="0">
              <a:buNone/>
            </a:pPr>
            <a:r>
              <a:rPr lang="en-US" sz="1700" b="1" dirty="0">
                <a:solidFill>
                  <a:srgbClr val="0A1E33"/>
                </a:solidFill>
                <a:latin typeface="Calibri" pitchFamily="34" charset="0"/>
                <a:ea typeface="Calibri" pitchFamily="34" charset="-122"/>
                <a:cs typeface="Calibri" pitchFamily="34" charset="-120"/>
              </a:rPr>
              <a:t>Five rounds of mock interviews</a:t>
            </a:r>
            <a:endParaRPr lang="en-US" sz="1700" dirty="0"/>
          </a:p>
        </p:txBody>
      </p:sp>
      <p:sp>
        <p:nvSpPr>
          <p:cNvPr id="46" name="anim:2"/>
          <p:cNvSpPr txBox="1"/>
          <p:nvPr/>
        </p:nvSpPr>
        <p:spPr>
          <a:xfrm>
            <a:off x="9272016" y="4206240"/>
            <a:ext cx="2103120" cy="1463040"/>
          </a:xfrm>
          <a:prstGeom prst="rect">
            <a:avLst/>
          </a:prstGeom>
          <a:noFill/>
          <a:ln/>
        </p:spPr>
        <p:txBody>
          <a:bodyPr wrap="square" lIns="0" tIns="0" rIns="0" bIns="0" rtlCol="0" anchor="t"/>
          <a:lstStyle/>
          <a:p>
            <a:pPr algn="l" indent="0" marL="0">
              <a:buNone/>
            </a:pPr>
            <a:r>
              <a:rPr lang="en-US" sz="1150" dirty="0">
                <a:solidFill>
                  <a:srgbClr val="15243A"/>
                </a:solidFill>
                <a:latin typeface="Calibri" pitchFamily="34" charset="0"/>
                <a:ea typeface="Calibri" pitchFamily="34" charset="-122"/>
                <a:cs typeface="Calibri" pitchFamily="34" charset="-120"/>
              </a:rPr>
              <a:t>One in every build week, half technical and half a viva on your own project, with scores closed in the week; then final mocks with external panels.</a:t>
            </a:r>
            <a:endParaRPr lang="en-US" sz="11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45" fill="hold">
                      <p:stCondLst>
                        <p:cond delay="indefinite"/>
                      </p:stCondLst>
                      <p:childTnLst>
                        <p:par>
                          <p:cTn id="4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childTnLst>
                          </p:cTn>
                        </p:par>
                      </p:childTnLst>
                    </p:cTn>
                  </p:par>
                  <p:par>
                    <p:cTn id="83" fill="hold">
                      <p:stCondLst>
                        <p:cond delay="indefinite"/>
                      </p:stCondLst>
                      <p:childTnLst>
                        <p:par>
                          <p:cTn id="84"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9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18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27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36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45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54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63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72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81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90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90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683" y="175931"/>
            <a:ext cx="471099" cy="471099"/>
          </a:xfrm>
          <a:prstGeom prst="ellipse">
            <a:avLst/>
          </a:prstGeom>
          <a:solidFill>
            <a:srgbClr val="FFFFFF"/>
          </a:solidFill>
          <a:ln w="12700">
            <a:solidFill>
              <a:srgbClr val="FFFFFF"/>
            </a:solidFill>
            <a:prstDash val="solid"/>
          </a:ln>
        </p:spPr>
        <p:txBody>
          <a:bodyPr/>
          <a:p/>
        </p:txBody>
      </p:sp>
      <p:pic>
        <p:nvPicPr>
          <p:cNvPr id="3"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4" name="Text 1"/>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FFFFFF"/>
                </a:solidFill>
                <a:latin typeface="Calibri" pitchFamily="34" charset="0"/>
                <a:ea typeface="Calibri" pitchFamily="34" charset="-122"/>
                <a:cs typeface="Calibri" pitchFamily="34" charset="-120"/>
              </a:rPr>
              <a:t>IITGN CDF (CAA)</a:t>
            </a:r>
            <a:endParaRPr lang="en-US" sz="950" dirty="0"/>
          </a:p>
        </p:txBody>
      </p:sp>
      <p:sp>
        <p:nvSpPr>
          <p:cNvPr id="5" name="Text 2"/>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A9B8CA"/>
                </a:solidFill>
                <a:latin typeface="Calibri" pitchFamily="34" charset="0"/>
                <a:ea typeface="Calibri" pitchFamily="34" charset="-122"/>
                <a:cs typeface="Calibri" pitchFamily="34" charset="-120"/>
              </a:rPr>
              <a:t>COMPETENCY ADVANCEMENT ACADEMY  ·  IIT GANDHINAGAR</a:t>
            </a:r>
            <a:endParaRPr lang="en-US" sz="650" dirty="0"/>
          </a:p>
        </p:txBody>
      </p:sp>
      <p:sp>
        <p:nvSpPr>
          <p:cNvPr id="6" name="Text 3"/>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A9B8CA"/>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7" name="Text 4"/>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A9B8CA"/>
                </a:solidFill>
                <a:latin typeface="Calibri" pitchFamily="34" charset="0"/>
                <a:ea typeface="Calibri" pitchFamily="34" charset="-122"/>
                <a:cs typeface="Calibri" pitchFamily="34" charset="-120"/>
              </a:rPr>
              <a:t>5</a:t>
            </a:r>
            <a:endParaRPr lang="en-US" sz="850" dirty="0"/>
          </a:p>
        </p:txBody>
      </p:sp>
      <p:sp>
        <p:nvSpPr>
          <p:cNvPr id="8" name="Text 5"/>
          <p:cNvSpPr txBox="1"/>
          <p:nvPr/>
        </p:nvSpPr>
        <p:spPr>
          <a:xfrm>
            <a:off x="548640" y="6455664"/>
            <a:ext cx="3657600" cy="201168"/>
          </a:xfrm>
          <a:prstGeom prst="rect">
            <a:avLst/>
          </a:prstGeom>
          <a:noFill/>
          <a:ln/>
        </p:spPr>
        <p:txBody>
          <a:bodyPr wrap="square" lIns="0" tIns="0" rIns="0" bIns="0" rtlCol="0" anchor="t"/>
          <a:lstStyle/>
          <a:p>
            <a:pPr algn="l" indent="0" marL="0">
              <a:buNone/>
            </a:pPr>
            <a:r>
              <a:rPr lang="en-US" sz="850" dirty="0">
                <a:solidFill>
                  <a:srgbClr val="A9B8CA"/>
                </a:solidFill>
                <a:latin typeface="Calibri" pitchFamily="34" charset="0"/>
                <a:ea typeface="Calibri" pitchFamily="34" charset="-122"/>
                <a:cs typeface="Calibri" pitchFamily="34" charset="-120"/>
              </a:rPr>
              <a:t>Academic orientation</a:t>
            </a:r>
            <a:endParaRPr lang="en-US" sz="850" dirty="0"/>
          </a:p>
        </p:txBody>
      </p:sp>
      <p:sp>
        <p:nvSpPr>
          <p:cNvPr id="9" name="anim:1"/>
          <p:cNvSpPr txBox="1"/>
          <p:nvPr/>
        </p:nvSpPr>
        <p:spPr>
          <a:xfrm>
            <a:off x="731520" y="1371600"/>
            <a:ext cx="3657600" cy="1463040"/>
          </a:xfrm>
          <a:prstGeom prst="rect">
            <a:avLst/>
          </a:prstGeom>
          <a:noFill/>
          <a:ln/>
        </p:spPr>
        <p:txBody>
          <a:bodyPr wrap="square" lIns="0" tIns="0" rIns="0" bIns="0" rtlCol="0" anchor="t"/>
          <a:lstStyle/>
          <a:p>
            <a:pPr algn="l" indent="0" marL="0">
              <a:buNone/>
            </a:pPr>
            <a:r>
              <a:rPr lang="en-US" sz="9600" b="1" dirty="0">
                <a:solidFill>
                  <a:srgbClr val="E9B221"/>
                </a:solidFill>
                <a:latin typeface="Calibri" pitchFamily="34" charset="0"/>
                <a:ea typeface="Calibri" pitchFamily="34" charset="-122"/>
                <a:cs typeface="Calibri" pitchFamily="34" charset="-120"/>
              </a:rPr>
              <a:t>02</a:t>
            </a:r>
            <a:endParaRPr lang="en-US" sz="9600" dirty="0"/>
          </a:p>
        </p:txBody>
      </p:sp>
      <p:sp>
        <p:nvSpPr>
          <p:cNvPr id="10" name="anim:1"/>
          <p:cNvSpPr txBox="1"/>
          <p:nvPr/>
        </p:nvSpPr>
        <p:spPr>
          <a:xfrm>
            <a:off x="731520" y="288036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How the programme is built</a:t>
            </a:r>
            <a:endParaRPr lang="en-US" sz="4000" dirty="0"/>
          </a:p>
        </p:txBody>
      </p:sp>
      <p:sp>
        <p:nvSpPr>
          <p:cNvPr id="11" name="anim:1"/>
          <p:cNvSpPr txBox="1"/>
          <p:nvPr/>
        </p:nvSpPr>
        <p:spPr>
          <a:xfrm>
            <a:off x="731520" y="3794760"/>
            <a:ext cx="9144000" cy="731520"/>
          </a:xfrm>
          <a:prstGeom prst="rect">
            <a:avLst/>
          </a:prstGeom>
          <a:noFill/>
          <a:ln/>
        </p:spPr>
        <p:txBody>
          <a:bodyPr wrap="square" lIns="0" tIns="0" rIns="0" bIns="0" rtlCol="0" anchor="t"/>
          <a:lstStyle/>
          <a:p>
            <a:pPr algn="l" indent="0" marL="0">
              <a:buNone/>
            </a:pPr>
            <a:r>
              <a:rPr lang="en-US" sz="1500" dirty="0">
                <a:solidFill>
                  <a:srgbClr val="C9D6E4"/>
                </a:solidFill>
                <a:latin typeface="Calibri" pitchFamily="34" charset="0"/>
                <a:ea typeface="Calibri" pitchFamily="34" charset="-122"/>
                <a:cs typeface="Calibri" pitchFamily="34" charset="-120"/>
              </a:rPr>
              <a:t>Three kinds of week, four phases, one rhythm. Once you see the shape, every later slide is a detail of it.</a:t>
            </a:r>
            <a:endParaRPr lang="en-US" sz="1500" dirty="0"/>
          </a:p>
        </p:txBody>
      </p:sp>
      <p:sp>
        <p:nvSpPr>
          <p:cNvPr id="12" name="anim:1"/>
          <p:cNvSpPr txBox="1"/>
          <p:nvPr/>
        </p:nvSpPr>
        <p:spPr>
          <a:xfrm>
            <a:off x="731520" y="5120640"/>
            <a:ext cx="18288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Where this takes you</a:t>
            </a:r>
            <a:endParaRPr lang="en-US" sz="900" dirty="0"/>
          </a:p>
        </p:txBody>
      </p:sp>
      <p:sp>
        <p:nvSpPr>
          <p:cNvPr id="13" name="anim:1"/>
          <p:cNvSpPr txBox="1"/>
          <p:nvPr/>
        </p:nvSpPr>
        <p:spPr>
          <a:xfrm>
            <a:off x="2670048" y="5120640"/>
            <a:ext cx="1485900" cy="310896"/>
          </a:xfrm>
          <a:prstGeom prst="roundRect">
            <a:avLst>
              <a:gd name="adj" fmla="val 58824"/>
            </a:avLst>
          </a:prstGeom>
          <a:solidFill>
            <a:srgbClr val="E9B221"/>
          </a:solidFill>
          <a:ln w="9525">
            <a:solidFill>
              <a:srgbClr val="E9B221"/>
            </a:solidFill>
          </a:ln>
        </p:spPr>
        <p:txBody>
          <a:bodyPr wrap="square" lIns="0" tIns="76200" rIns="76200" bIns="0" rtlCol="0" anchor="ctr"/>
          <a:lstStyle/>
          <a:p>
            <a:pPr algn="ctr" indent="0" marL="0">
              <a:buNone/>
            </a:pPr>
            <a:r>
              <a:rPr lang="en-US" sz="900" b="1" dirty="0">
                <a:solidFill>
                  <a:srgbClr val="0A1E33"/>
                </a:solidFill>
                <a:latin typeface="Calibri" pitchFamily="34" charset="0"/>
                <a:ea typeface="Calibri" pitchFamily="34" charset="-122"/>
                <a:cs typeface="Calibri" pitchFamily="34" charset="-120"/>
              </a:rPr>
              <a:t>How it is built</a:t>
            </a:r>
            <a:endParaRPr lang="en-US" sz="900" dirty="0"/>
          </a:p>
        </p:txBody>
      </p:sp>
      <p:sp>
        <p:nvSpPr>
          <p:cNvPr id="14" name="anim:1"/>
          <p:cNvSpPr txBox="1"/>
          <p:nvPr/>
        </p:nvSpPr>
        <p:spPr>
          <a:xfrm>
            <a:off x="4265676" y="5120640"/>
            <a:ext cx="14859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a week runs</a:t>
            </a:r>
            <a:endParaRPr lang="en-US" sz="900" dirty="0"/>
          </a:p>
        </p:txBody>
      </p:sp>
      <p:sp>
        <p:nvSpPr>
          <p:cNvPr id="15" name="anim:1"/>
          <p:cNvSpPr txBox="1"/>
          <p:nvPr/>
        </p:nvSpPr>
        <p:spPr>
          <a:xfrm>
            <a:off x="5861304" y="5120640"/>
            <a:ext cx="189738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you are evaluated</a:t>
            </a:r>
            <a:endParaRPr lang="en-US" sz="900" dirty="0"/>
          </a:p>
        </p:txBody>
      </p:sp>
      <p:sp>
        <p:nvSpPr>
          <p:cNvPr id="16" name="anim:1"/>
          <p:cNvSpPr txBox="1"/>
          <p:nvPr/>
        </p:nvSpPr>
        <p:spPr>
          <a:xfrm>
            <a:off x="7868412" y="5120640"/>
            <a:ext cx="196596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Placement and capstone</a:t>
            </a:r>
            <a:endParaRPr lang="en-US" sz="900" dirty="0"/>
          </a:p>
        </p:txBody>
      </p:sp>
      <p:sp>
        <p:nvSpPr>
          <p:cNvPr id="17" name="anim:1"/>
          <p:cNvSpPr txBox="1"/>
          <p:nvPr/>
        </p:nvSpPr>
        <p:spPr>
          <a:xfrm>
            <a:off x="9944100" y="5120640"/>
            <a:ext cx="169164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People and support</a:t>
            </a:r>
            <a:endParaRPr lang="en-US" sz="9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6</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007DB6"/>
          </a:solidFill>
          <a:ln w="12700">
            <a:solidFill>
              <a:srgbClr val="007DB6"/>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The programme in seven numbers</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Approved by the IIT Gandhinagar Senate, so these numbers do not move.</a:t>
            </a:r>
            <a:endParaRPr lang="en-US" sz="1250" dirty="0"/>
          </a:p>
        </p:txBody>
      </p:sp>
      <p:sp>
        <p:nvSpPr>
          <p:cNvPr id="21" name="anim:1"/>
          <p:cNvSpPr txBox="1"/>
          <p:nvPr/>
        </p:nvSpPr>
        <p:spPr>
          <a:xfrm>
            <a:off x="548640" y="1783080"/>
            <a:ext cx="2560320" cy="960120"/>
          </a:xfrm>
          <a:prstGeom prst="rect">
            <a:avLst/>
          </a:prstGeom>
          <a:noFill/>
          <a:ln/>
        </p:spPr>
        <p:txBody>
          <a:bodyPr wrap="square" lIns="0" tIns="0" rIns="0" bIns="0" rtlCol="0" anchor="b"/>
          <a:lstStyle/>
          <a:p>
            <a:pPr algn="l" indent="0" marL="0">
              <a:buNone/>
            </a:pPr>
            <a:r>
              <a:rPr lang="en-US" sz="5800" b="1" dirty="0">
                <a:solidFill>
                  <a:srgbClr val="007DB6"/>
                </a:solidFill>
                <a:latin typeface="Calibri" pitchFamily="34" charset="0"/>
                <a:ea typeface="Calibri" pitchFamily="34" charset="-122"/>
                <a:cs typeface="Calibri" pitchFamily="34" charset="-120"/>
              </a:rPr>
              <a:t>20</a:t>
            </a:r>
            <a:endParaRPr lang="en-US" sz="5800" dirty="0"/>
          </a:p>
        </p:txBody>
      </p:sp>
      <p:sp>
        <p:nvSpPr>
          <p:cNvPr id="22" name="anim:1"/>
          <p:cNvSpPr txBox="1"/>
          <p:nvPr/>
        </p:nvSpPr>
        <p:spPr>
          <a:xfrm>
            <a:off x="548640" y="2770632"/>
            <a:ext cx="2560320" cy="274320"/>
          </a:xfrm>
          <a:prstGeom prst="rect">
            <a:avLst/>
          </a:prstGeom>
          <a:noFill/>
          <a:ln/>
        </p:spPr>
        <p:txBody>
          <a:bodyPr wrap="square" lIns="0" tIns="0" rIns="0" bIns="0" rtlCol="0" anchor="t"/>
          <a:lstStyle/>
          <a:p>
            <a:pPr algn="l" indent="0" marL="0">
              <a:buNone/>
            </a:pPr>
            <a:r>
              <a:rPr lang="en-US" sz="900" b="1" spc="200" kern="0" dirty="0">
                <a:solidFill>
                  <a:srgbClr val="5F7183"/>
                </a:solidFill>
                <a:latin typeface="Calibri" pitchFamily="34" charset="0"/>
                <a:ea typeface="Calibri" pitchFamily="34" charset="-122"/>
                <a:cs typeface="Calibri" pitchFamily="34" charset="-120"/>
              </a:rPr>
              <a:t>WEEKS</a:t>
            </a:r>
            <a:endParaRPr lang="en-US" sz="900" dirty="0"/>
          </a:p>
        </p:txBody>
      </p:sp>
      <p:sp>
        <p:nvSpPr>
          <p:cNvPr id="23" name="anim:1"/>
          <p:cNvSpPr/>
          <p:nvPr/>
        </p:nvSpPr>
        <p:spPr>
          <a:xfrm>
            <a:off x="548640" y="3108960"/>
            <a:ext cx="2560320" cy="0"/>
          </a:xfrm>
          <a:prstGeom prst="line">
            <a:avLst/>
          </a:prstGeom>
          <a:noFill/>
          <a:ln w="9525">
            <a:solidFill>
              <a:srgbClr val="E4E9F0"/>
            </a:solidFill>
            <a:prstDash val="solid"/>
          </a:ln>
        </p:spPr>
        <p:txBody>
          <a:bodyPr/>
          <a:p/>
        </p:txBody>
      </p:sp>
      <p:sp>
        <p:nvSpPr>
          <p:cNvPr id="24" name="anim:1"/>
          <p:cNvSpPr txBox="1"/>
          <p:nvPr/>
        </p:nvSpPr>
        <p:spPr>
          <a:xfrm>
            <a:off x="3337560" y="1783080"/>
            <a:ext cx="2560320" cy="960120"/>
          </a:xfrm>
          <a:prstGeom prst="rect">
            <a:avLst/>
          </a:prstGeom>
          <a:noFill/>
          <a:ln/>
        </p:spPr>
        <p:txBody>
          <a:bodyPr wrap="square" lIns="0" tIns="0" rIns="0" bIns="0" rtlCol="0" anchor="b"/>
          <a:lstStyle/>
          <a:p>
            <a:pPr algn="l" indent="0" marL="0">
              <a:buNone/>
            </a:pPr>
            <a:r>
              <a:rPr lang="en-US" sz="5800" b="1" dirty="0">
                <a:solidFill>
                  <a:srgbClr val="007DB6"/>
                </a:solidFill>
                <a:latin typeface="Calibri" pitchFamily="34" charset="0"/>
                <a:ea typeface="Calibri" pitchFamily="34" charset="-122"/>
                <a:cs typeface="Calibri" pitchFamily="34" charset="-120"/>
              </a:rPr>
              <a:t>510</a:t>
            </a:r>
            <a:endParaRPr lang="en-US" sz="5800" dirty="0"/>
          </a:p>
        </p:txBody>
      </p:sp>
      <p:sp>
        <p:nvSpPr>
          <p:cNvPr id="25" name="anim:1"/>
          <p:cNvSpPr txBox="1"/>
          <p:nvPr/>
        </p:nvSpPr>
        <p:spPr>
          <a:xfrm>
            <a:off x="3337560" y="2770632"/>
            <a:ext cx="2560320" cy="274320"/>
          </a:xfrm>
          <a:prstGeom prst="rect">
            <a:avLst/>
          </a:prstGeom>
          <a:noFill/>
          <a:ln/>
        </p:spPr>
        <p:txBody>
          <a:bodyPr wrap="square" lIns="0" tIns="0" rIns="0" bIns="0" rtlCol="0" anchor="t"/>
          <a:lstStyle/>
          <a:p>
            <a:pPr algn="l" indent="0" marL="0">
              <a:buNone/>
            </a:pPr>
            <a:r>
              <a:rPr lang="en-US" sz="900" b="1" spc="200" kern="0" dirty="0">
                <a:solidFill>
                  <a:srgbClr val="5F7183"/>
                </a:solidFill>
                <a:latin typeface="Calibri" pitchFamily="34" charset="0"/>
                <a:ea typeface="Calibri" pitchFamily="34" charset="-122"/>
                <a:cs typeface="Calibri" pitchFamily="34" charset="-120"/>
              </a:rPr>
              <a:t>ENGAGEMENT HOURS</a:t>
            </a:r>
            <a:endParaRPr lang="en-US" sz="900" dirty="0"/>
          </a:p>
        </p:txBody>
      </p:sp>
      <p:sp>
        <p:nvSpPr>
          <p:cNvPr id="26" name="anim:1"/>
          <p:cNvSpPr/>
          <p:nvPr/>
        </p:nvSpPr>
        <p:spPr>
          <a:xfrm>
            <a:off x="3337560" y="3108960"/>
            <a:ext cx="2560320" cy="0"/>
          </a:xfrm>
          <a:prstGeom prst="line">
            <a:avLst/>
          </a:prstGeom>
          <a:noFill/>
          <a:ln w="9525">
            <a:solidFill>
              <a:srgbClr val="E4E9F0"/>
            </a:solidFill>
            <a:prstDash val="solid"/>
          </a:ln>
        </p:spPr>
        <p:txBody>
          <a:bodyPr/>
          <a:p/>
        </p:txBody>
      </p:sp>
      <p:sp>
        <p:nvSpPr>
          <p:cNvPr id="27" name="anim:1"/>
          <p:cNvSpPr txBox="1"/>
          <p:nvPr/>
        </p:nvSpPr>
        <p:spPr>
          <a:xfrm>
            <a:off x="6126480" y="1783080"/>
            <a:ext cx="2560320" cy="960120"/>
          </a:xfrm>
          <a:prstGeom prst="rect">
            <a:avLst/>
          </a:prstGeom>
          <a:noFill/>
          <a:ln/>
        </p:spPr>
        <p:txBody>
          <a:bodyPr wrap="square" lIns="0" tIns="0" rIns="0" bIns="0" rtlCol="0" anchor="b"/>
          <a:lstStyle/>
          <a:p>
            <a:pPr algn="l" indent="0" marL="0">
              <a:buNone/>
            </a:pPr>
            <a:r>
              <a:rPr lang="en-US" sz="5800" b="1" dirty="0">
                <a:solidFill>
                  <a:srgbClr val="007DB6"/>
                </a:solidFill>
                <a:latin typeface="Calibri" pitchFamily="34" charset="0"/>
                <a:ea typeface="Calibri" pitchFamily="34" charset="-122"/>
                <a:cs typeface="Calibri" pitchFamily="34" charset="-120"/>
              </a:rPr>
              <a:t>33</a:t>
            </a:r>
            <a:endParaRPr lang="en-US" sz="5800" dirty="0"/>
          </a:p>
        </p:txBody>
      </p:sp>
      <p:sp>
        <p:nvSpPr>
          <p:cNvPr id="28" name="anim:1"/>
          <p:cNvSpPr txBox="1"/>
          <p:nvPr/>
        </p:nvSpPr>
        <p:spPr>
          <a:xfrm>
            <a:off x="6126480" y="2770632"/>
            <a:ext cx="2560320" cy="274320"/>
          </a:xfrm>
          <a:prstGeom prst="rect">
            <a:avLst/>
          </a:prstGeom>
          <a:noFill/>
          <a:ln/>
        </p:spPr>
        <p:txBody>
          <a:bodyPr wrap="square" lIns="0" tIns="0" rIns="0" bIns="0" rtlCol="0" anchor="t"/>
          <a:lstStyle/>
          <a:p>
            <a:pPr algn="l" indent="0" marL="0">
              <a:buNone/>
            </a:pPr>
            <a:r>
              <a:rPr lang="en-US" sz="900" b="1" spc="200" kern="0" dirty="0">
                <a:solidFill>
                  <a:srgbClr val="5F7183"/>
                </a:solidFill>
                <a:latin typeface="Calibri" pitchFamily="34" charset="0"/>
                <a:ea typeface="Calibri" pitchFamily="34" charset="-122"/>
                <a:cs typeface="Calibri" pitchFamily="34" charset="-120"/>
              </a:rPr>
              <a:t>CREDITS</a:t>
            </a:r>
            <a:endParaRPr lang="en-US" sz="900" dirty="0"/>
          </a:p>
        </p:txBody>
      </p:sp>
      <p:sp>
        <p:nvSpPr>
          <p:cNvPr id="29" name="anim:1"/>
          <p:cNvSpPr/>
          <p:nvPr/>
        </p:nvSpPr>
        <p:spPr>
          <a:xfrm>
            <a:off x="6126480" y="3108960"/>
            <a:ext cx="2560320" cy="0"/>
          </a:xfrm>
          <a:prstGeom prst="line">
            <a:avLst/>
          </a:prstGeom>
          <a:noFill/>
          <a:ln w="9525">
            <a:solidFill>
              <a:srgbClr val="E4E9F0"/>
            </a:solidFill>
            <a:prstDash val="solid"/>
          </a:ln>
        </p:spPr>
        <p:txBody>
          <a:bodyPr/>
          <a:p/>
        </p:txBody>
      </p:sp>
      <p:sp>
        <p:nvSpPr>
          <p:cNvPr id="30" name="anim:1"/>
          <p:cNvSpPr txBox="1"/>
          <p:nvPr/>
        </p:nvSpPr>
        <p:spPr>
          <a:xfrm>
            <a:off x="8915400" y="1783080"/>
            <a:ext cx="2560320" cy="960120"/>
          </a:xfrm>
          <a:prstGeom prst="rect">
            <a:avLst/>
          </a:prstGeom>
          <a:noFill/>
          <a:ln/>
        </p:spPr>
        <p:txBody>
          <a:bodyPr wrap="square" lIns="0" tIns="0" rIns="0" bIns="0" rtlCol="0" anchor="b"/>
          <a:lstStyle/>
          <a:p>
            <a:pPr algn="l" indent="0" marL="0">
              <a:buNone/>
            </a:pPr>
            <a:r>
              <a:rPr lang="en-US" sz="5800" b="1" dirty="0">
                <a:solidFill>
                  <a:srgbClr val="007DB6"/>
                </a:solidFill>
                <a:latin typeface="Calibri" pitchFamily="34" charset="0"/>
                <a:ea typeface="Calibri" pitchFamily="34" charset="-122"/>
                <a:cs typeface="Calibri" pitchFamily="34" charset="-120"/>
              </a:rPr>
              <a:t>10</a:t>
            </a:r>
            <a:endParaRPr lang="en-US" sz="5800" dirty="0"/>
          </a:p>
        </p:txBody>
      </p:sp>
      <p:sp>
        <p:nvSpPr>
          <p:cNvPr id="31" name="anim:1"/>
          <p:cNvSpPr txBox="1"/>
          <p:nvPr/>
        </p:nvSpPr>
        <p:spPr>
          <a:xfrm>
            <a:off x="8915400" y="2770632"/>
            <a:ext cx="2560320" cy="274320"/>
          </a:xfrm>
          <a:prstGeom prst="rect">
            <a:avLst/>
          </a:prstGeom>
          <a:noFill/>
          <a:ln/>
        </p:spPr>
        <p:txBody>
          <a:bodyPr wrap="square" lIns="0" tIns="0" rIns="0" bIns="0" rtlCol="0" anchor="t"/>
          <a:lstStyle/>
          <a:p>
            <a:pPr algn="l" indent="0" marL="0">
              <a:buNone/>
            </a:pPr>
            <a:r>
              <a:rPr lang="en-US" sz="900" b="1" spc="200" kern="0" dirty="0">
                <a:solidFill>
                  <a:srgbClr val="5F7183"/>
                </a:solidFill>
                <a:latin typeface="Calibri" pitchFamily="34" charset="0"/>
                <a:ea typeface="Calibri" pitchFamily="34" charset="-122"/>
                <a:cs typeface="Calibri" pitchFamily="34" charset="-120"/>
              </a:rPr>
              <a:t>MODULES</a:t>
            </a:r>
            <a:endParaRPr lang="en-US" sz="900" dirty="0"/>
          </a:p>
        </p:txBody>
      </p:sp>
      <p:sp>
        <p:nvSpPr>
          <p:cNvPr id="32" name="anim:1"/>
          <p:cNvSpPr/>
          <p:nvPr/>
        </p:nvSpPr>
        <p:spPr>
          <a:xfrm>
            <a:off x="8915400" y="3108960"/>
            <a:ext cx="2560320" cy="0"/>
          </a:xfrm>
          <a:prstGeom prst="line">
            <a:avLst/>
          </a:prstGeom>
          <a:noFill/>
          <a:ln w="9525">
            <a:solidFill>
              <a:srgbClr val="E4E9F0"/>
            </a:solidFill>
            <a:prstDash val="solid"/>
          </a:ln>
        </p:spPr>
        <p:txBody>
          <a:bodyPr/>
          <a:p/>
        </p:txBody>
      </p:sp>
      <p:sp>
        <p:nvSpPr>
          <p:cNvPr id="33" name="anim:2"/>
          <p:cNvSpPr txBox="1"/>
          <p:nvPr/>
        </p:nvSpPr>
        <p:spPr>
          <a:xfrm>
            <a:off x="548640" y="3474720"/>
            <a:ext cx="2560320" cy="960120"/>
          </a:xfrm>
          <a:prstGeom prst="rect">
            <a:avLst/>
          </a:prstGeom>
          <a:noFill/>
          <a:ln/>
        </p:spPr>
        <p:txBody>
          <a:bodyPr wrap="square" lIns="0" tIns="0" rIns="0" bIns="0" rtlCol="0" anchor="b"/>
          <a:lstStyle/>
          <a:p>
            <a:pPr algn="l" indent="0" marL="0">
              <a:buNone/>
            </a:pPr>
            <a:r>
              <a:rPr lang="en-US" sz="5800" b="1" dirty="0">
                <a:solidFill>
                  <a:srgbClr val="0A1E33"/>
                </a:solidFill>
                <a:latin typeface="Calibri" pitchFamily="34" charset="0"/>
                <a:ea typeface="Calibri" pitchFamily="34" charset="-122"/>
                <a:cs typeface="Calibri" pitchFamily="34" charset="-120"/>
              </a:rPr>
              <a:t>5</a:t>
            </a:r>
            <a:endParaRPr lang="en-US" sz="5800" dirty="0"/>
          </a:p>
        </p:txBody>
      </p:sp>
      <p:sp>
        <p:nvSpPr>
          <p:cNvPr id="34" name="anim:2"/>
          <p:cNvSpPr txBox="1"/>
          <p:nvPr/>
        </p:nvSpPr>
        <p:spPr>
          <a:xfrm>
            <a:off x="548640" y="4462272"/>
            <a:ext cx="2560320" cy="274320"/>
          </a:xfrm>
          <a:prstGeom prst="rect">
            <a:avLst/>
          </a:prstGeom>
          <a:noFill/>
          <a:ln/>
        </p:spPr>
        <p:txBody>
          <a:bodyPr wrap="square" lIns="0" tIns="0" rIns="0" bIns="0" rtlCol="0" anchor="t"/>
          <a:lstStyle/>
          <a:p>
            <a:pPr algn="l" indent="0" marL="0">
              <a:buNone/>
            </a:pPr>
            <a:r>
              <a:rPr lang="en-US" sz="900" b="1" spc="200" kern="0" dirty="0">
                <a:solidFill>
                  <a:srgbClr val="5F7183"/>
                </a:solidFill>
                <a:latin typeface="Calibri" pitchFamily="34" charset="0"/>
                <a:ea typeface="Calibri" pitchFamily="34" charset="-122"/>
                <a:cs typeface="Calibri" pitchFamily="34" charset="-120"/>
              </a:rPr>
              <a:t>BUILD WEEKS</a:t>
            </a:r>
            <a:endParaRPr lang="en-US" sz="900" dirty="0"/>
          </a:p>
        </p:txBody>
      </p:sp>
      <p:sp>
        <p:nvSpPr>
          <p:cNvPr id="35" name="anim:2"/>
          <p:cNvSpPr/>
          <p:nvPr/>
        </p:nvSpPr>
        <p:spPr>
          <a:xfrm>
            <a:off x="548640" y="4800600"/>
            <a:ext cx="2560320" cy="0"/>
          </a:xfrm>
          <a:prstGeom prst="line">
            <a:avLst/>
          </a:prstGeom>
          <a:noFill/>
          <a:ln w="9525">
            <a:solidFill>
              <a:srgbClr val="E4E9F0"/>
            </a:solidFill>
            <a:prstDash val="solid"/>
          </a:ln>
        </p:spPr>
        <p:txBody>
          <a:bodyPr/>
          <a:p/>
        </p:txBody>
      </p:sp>
      <p:sp>
        <p:nvSpPr>
          <p:cNvPr id="36" name="anim:2"/>
          <p:cNvSpPr txBox="1"/>
          <p:nvPr/>
        </p:nvSpPr>
        <p:spPr>
          <a:xfrm>
            <a:off x="3337560" y="3474720"/>
            <a:ext cx="2560320" cy="960120"/>
          </a:xfrm>
          <a:prstGeom prst="rect">
            <a:avLst/>
          </a:prstGeom>
          <a:noFill/>
          <a:ln/>
        </p:spPr>
        <p:txBody>
          <a:bodyPr wrap="square" lIns="0" tIns="0" rIns="0" bIns="0" rtlCol="0" anchor="b"/>
          <a:lstStyle/>
          <a:p>
            <a:pPr algn="l" indent="0" marL="0">
              <a:buNone/>
            </a:pPr>
            <a:r>
              <a:rPr lang="en-US" sz="5800" b="1" dirty="0">
                <a:solidFill>
                  <a:srgbClr val="0A1E33"/>
                </a:solidFill>
                <a:latin typeface="Calibri" pitchFamily="34" charset="0"/>
                <a:ea typeface="Calibri" pitchFamily="34" charset="-122"/>
                <a:cs typeface="Calibri" pitchFamily="34" charset="-120"/>
              </a:rPr>
              <a:t>3</a:t>
            </a:r>
            <a:endParaRPr lang="en-US" sz="5800" dirty="0"/>
          </a:p>
        </p:txBody>
      </p:sp>
      <p:sp>
        <p:nvSpPr>
          <p:cNvPr id="37" name="anim:2"/>
          <p:cNvSpPr txBox="1"/>
          <p:nvPr/>
        </p:nvSpPr>
        <p:spPr>
          <a:xfrm>
            <a:off x="3337560" y="4462272"/>
            <a:ext cx="2560320" cy="274320"/>
          </a:xfrm>
          <a:prstGeom prst="rect">
            <a:avLst/>
          </a:prstGeom>
          <a:noFill/>
          <a:ln/>
        </p:spPr>
        <p:txBody>
          <a:bodyPr wrap="square" lIns="0" tIns="0" rIns="0" bIns="0" rtlCol="0" anchor="t"/>
          <a:lstStyle/>
          <a:p>
            <a:pPr algn="l" indent="0" marL="0">
              <a:buNone/>
            </a:pPr>
            <a:r>
              <a:rPr lang="en-US" sz="900" b="1" spc="200" kern="0" dirty="0">
                <a:solidFill>
                  <a:srgbClr val="5F7183"/>
                </a:solidFill>
                <a:latin typeface="Calibri" pitchFamily="34" charset="0"/>
                <a:ea typeface="Calibri" pitchFamily="34" charset="-122"/>
                <a:cs typeface="Calibri" pitchFamily="34" charset="-120"/>
              </a:rPr>
              <a:t>MAJOR EXAMS</a:t>
            </a:r>
            <a:endParaRPr lang="en-US" sz="900" dirty="0"/>
          </a:p>
        </p:txBody>
      </p:sp>
      <p:sp>
        <p:nvSpPr>
          <p:cNvPr id="38" name="anim:2"/>
          <p:cNvSpPr/>
          <p:nvPr/>
        </p:nvSpPr>
        <p:spPr>
          <a:xfrm>
            <a:off x="3337560" y="4800600"/>
            <a:ext cx="2560320" cy="0"/>
          </a:xfrm>
          <a:prstGeom prst="line">
            <a:avLst/>
          </a:prstGeom>
          <a:noFill/>
          <a:ln w="9525">
            <a:solidFill>
              <a:srgbClr val="E4E9F0"/>
            </a:solidFill>
            <a:prstDash val="solid"/>
          </a:ln>
        </p:spPr>
        <p:txBody>
          <a:bodyPr/>
          <a:p/>
        </p:txBody>
      </p:sp>
      <p:sp>
        <p:nvSpPr>
          <p:cNvPr id="39" name="anim:2"/>
          <p:cNvSpPr txBox="1"/>
          <p:nvPr/>
        </p:nvSpPr>
        <p:spPr>
          <a:xfrm>
            <a:off x="6126480" y="3474720"/>
            <a:ext cx="2560320" cy="960120"/>
          </a:xfrm>
          <a:prstGeom prst="rect">
            <a:avLst/>
          </a:prstGeom>
          <a:noFill/>
          <a:ln/>
        </p:spPr>
        <p:txBody>
          <a:bodyPr wrap="square" lIns="0" tIns="0" rIns="0" bIns="0" rtlCol="0" anchor="b"/>
          <a:lstStyle/>
          <a:p>
            <a:pPr algn="l" indent="0" marL="0">
              <a:buNone/>
            </a:pPr>
            <a:r>
              <a:rPr lang="en-US" sz="5800" b="1" dirty="0">
                <a:solidFill>
                  <a:srgbClr val="0A1E33"/>
                </a:solidFill>
                <a:latin typeface="Calibri" pitchFamily="34" charset="0"/>
                <a:ea typeface="Calibri" pitchFamily="34" charset="-122"/>
                <a:cs typeface="Calibri" pitchFamily="34" charset="-120"/>
              </a:rPr>
              <a:t>1</a:t>
            </a:r>
            <a:endParaRPr lang="en-US" sz="5800" dirty="0"/>
          </a:p>
        </p:txBody>
      </p:sp>
      <p:sp>
        <p:nvSpPr>
          <p:cNvPr id="40" name="anim:2"/>
          <p:cNvSpPr txBox="1"/>
          <p:nvPr/>
        </p:nvSpPr>
        <p:spPr>
          <a:xfrm>
            <a:off x="6126480" y="4462272"/>
            <a:ext cx="2560320" cy="274320"/>
          </a:xfrm>
          <a:prstGeom prst="rect">
            <a:avLst/>
          </a:prstGeom>
          <a:noFill/>
          <a:ln/>
        </p:spPr>
        <p:txBody>
          <a:bodyPr wrap="square" lIns="0" tIns="0" rIns="0" bIns="0" rtlCol="0" anchor="t"/>
          <a:lstStyle/>
          <a:p>
            <a:pPr algn="l" indent="0" marL="0">
              <a:buNone/>
            </a:pPr>
            <a:r>
              <a:rPr lang="en-US" sz="900" b="1" spc="200" kern="0" dirty="0">
                <a:solidFill>
                  <a:srgbClr val="5F7183"/>
                </a:solidFill>
                <a:latin typeface="Calibri" pitchFamily="34" charset="0"/>
                <a:ea typeface="Calibri" pitchFamily="34" charset="-122"/>
                <a:cs typeface="Calibri" pitchFamily="34" charset="-120"/>
              </a:rPr>
              <a:t>CAPSTONE</a:t>
            </a:r>
            <a:endParaRPr lang="en-US" sz="900" dirty="0"/>
          </a:p>
        </p:txBody>
      </p:sp>
      <p:sp>
        <p:nvSpPr>
          <p:cNvPr id="41" name="anim:2"/>
          <p:cNvSpPr/>
          <p:nvPr/>
        </p:nvSpPr>
        <p:spPr>
          <a:xfrm>
            <a:off x="6126480" y="4800600"/>
            <a:ext cx="2560320" cy="0"/>
          </a:xfrm>
          <a:prstGeom prst="line">
            <a:avLst/>
          </a:prstGeom>
          <a:noFill/>
          <a:ln w="9525">
            <a:solidFill>
              <a:srgbClr val="E4E9F0"/>
            </a:solidFill>
            <a:prstDash val="solid"/>
          </a:ln>
        </p:spPr>
        <p:txBody>
          <a:bodyPr/>
          <a:p/>
        </p:txBody>
      </p:sp>
      <p:sp>
        <p:nvSpPr>
          <p:cNvPr id="42" name="anim:2 grad:skyTint"/>
          <p:cNvSpPr/>
          <p:nvPr/>
        </p:nvSpPr>
        <p:spPr>
          <a:xfrm>
            <a:off x="8915400" y="3474720"/>
            <a:ext cx="2724912" cy="1463040"/>
          </a:xfrm>
          <a:prstGeom prst="roundRect">
            <a:avLst>
              <a:gd name="adj" fmla="val 6250"/>
            </a:avLst>
          </a:prstGeom>
          <a:gradFill rotWithShape="1">
            <a:gsLst>
              <a:gs pos="0">
                <a:srgbClr val="EEF7FC"/>
              </a:gs>
              <a:gs pos="100000">
                <a:srgbClr val="D8EBF6"/>
              </a:gs>
            </a:gsLst>
            <a:lin ang="5400000" scaled="0"/>
          </a:gradFill>
          <a:ln w="12700">
            <a:solidFill>
              <a:srgbClr val="E3F2FA"/>
            </a:solidFill>
            <a:prstDash val="solid"/>
          </a:ln>
        </p:spPr>
        <p:txBody>
          <a:bodyPr/>
          <a:p/>
        </p:txBody>
      </p:sp>
      <p:sp>
        <p:nvSpPr>
          <p:cNvPr id="43" name="anim:2"/>
          <p:cNvSpPr txBox="1"/>
          <p:nvPr/>
        </p:nvSpPr>
        <p:spPr>
          <a:xfrm>
            <a:off x="9144000" y="3630168"/>
            <a:ext cx="2286000" cy="201168"/>
          </a:xfrm>
          <a:prstGeom prst="rect">
            <a:avLst/>
          </a:prstGeom>
          <a:noFill/>
          <a:ln/>
        </p:spPr>
        <p:txBody>
          <a:bodyPr wrap="square" lIns="0" tIns="0" rIns="0" bIns="0" rtlCol="0" anchor="t"/>
          <a:lstStyle/>
          <a:p>
            <a:pPr algn="l" indent="0" marL="0">
              <a:buNone/>
            </a:pPr>
            <a:r>
              <a:rPr lang="en-US" sz="800" b="1" spc="200" kern="0" dirty="0">
                <a:solidFill>
                  <a:srgbClr val="007DB6"/>
                </a:solidFill>
                <a:latin typeface="Calibri" pitchFamily="34" charset="0"/>
                <a:ea typeface="Calibri" pitchFamily="34" charset="-122"/>
                <a:cs typeface="Calibri" pitchFamily="34" charset="-120"/>
              </a:rPr>
              <a:t>ONE CREDIT IS</a:t>
            </a:r>
            <a:endParaRPr lang="en-US" sz="800" dirty="0"/>
          </a:p>
        </p:txBody>
      </p:sp>
      <p:sp>
        <p:nvSpPr>
          <p:cNvPr id="44" name="anim:2"/>
          <p:cNvSpPr txBox="1"/>
          <p:nvPr/>
        </p:nvSpPr>
        <p:spPr>
          <a:xfrm>
            <a:off x="9144000" y="3886200"/>
            <a:ext cx="2286000" cy="914400"/>
          </a:xfrm>
          <a:prstGeom prst="rect">
            <a:avLst/>
          </a:prstGeom>
          <a:noFill/>
          <a:ln/>
        </p:spPr>
        <p:txBody>
          <a:bodyPr wrap="square" lIns="0" tIns="0" rIns="0" bIns="0" rtlCol="0" anchor="t"/>
          <a:lstStyle/>
          <a:p>
            <a:pPr algn="l" indent="0" marL="0">
              <a:buNone/>
            </a:pPr>
            <a:r>
              <a:rPr lang="en-US" sz="1400" b="1" dirty="0">
                <a:solidFill>
                  <a:srgbClr val="0A1E33"/>
                </a:solidFill>
                <a:latin typeface="Calibri" pitchFamily="34" charset="0"/>
                <a:ea typeface="Calibri" pitchFamily="34" charset="-122"/>
                <a:cs typeface="Calibri" pitchFamily="34" charset="-120"/>
              </a:rPr>
              <a:t>10 hours of theory, or 20 hours of practical work.</a:t>
            </a:r>
            <a:endParaRPr lang="en-US" sz="1400" dirty="0"/>
          </a:p>
        </p:txBody>
      </p:sp>
      <p:sp>
        <p:nvSpPr>
          <p:cNvPr id="45" name="anim:3 grad:goldTint"/>
          <p:cNvSpPr txBox="1"/>
          <p:nvPr/>
        </p:nvSpPr>
        <p:spPr>
          <a:xfrm>
            <a:off x="548640" y="5394960"/>
            <a:ext cx="3262256" cy="457200"/>
          </a:xfrm>
          <a:prstGeom prst="rect">
            <a:avLst/>
          </a:prstGeom>
          <a:gradFill rotWithShape="1">
            <a:gsLst>
              <a:gs pos="0">
                <a:srgbClr val="FCF5E2"/>
              </a:gs>
              <a:gs pos="100000">
                <a:srgbClr val="F4E5B8"/>
              </a:gs>
            </a:gsLst>
            <a:lin ang="5400000" scaled="0"/>
          </a:gradFill>
          <a:ln w="12700">
            <a:solidFill>
              <a:srgbClr val="F4F6F9"/>
            </a:solidFill>
          </a:ln>
        </p:spPr>
        <p:txBody>
          <a:bodyPr wrap="square" lIns="0" tIns="0" rIns="0" bIns="0" rtlCol="0" anchor="ctr"/>
          <a:lstStyle/>
          <a:p>
            <a:pPr algn="ctr" indent="0" marL="0">
              <a:buNone/>
            </a:pPr>
            <a:r>
              <a:rPr lang="en-US" sz="1200" b="1" dirty="0">
                <a:solidFill>
                  <a:srgbClr val="0A1E33"/>
                </a:solidFill>
                <a:latin typeface="Calibri" pitchFamily="34" charset="0"/>
                <a:ea typeface="Calibri" pitchFamily="34" charset="-122"/>
                <a:cs typeface="Calibri" pitchFamily="34" charset="-120"/>
              </a:rPr>
              <a:t>150 hours</a:t>
            </a:r>
            <a:endParaRPr lang="en-US" sz="1200" dirty="0"/>
          </a:p>
        </p:txBody>
      </p:sp>
      <p:sp>
        <p:nvSpPr>
          <p:cNvPr id="46" name="anim:3"/>
          <p:cNvSpPr txBox="1"/>
          <p:nvPr/>
        </p:nvSpPr>
        <p:spPr>
          <a:xfrm>
            <a:off x="548640" y="5907024"/>
            <a:ext cx="3262256" cy="228600"/>
          </a:xfrm>
          <a:prstGeom prst="rect">
            <a:avLst/>
          </a:prstGeom>
          <a:noFill/>
          <a:ln/>
        </p:spPr>
        <p:txBody>
          <a:bodyPr wrap="square" lIns="0" tIns="0" rIns="0" bIns="0" rtlCol="0" anchor="t"/>
          <a:lstStyle/>
          <a:p>
            <a:pPr algn="ctr" indent="0" marL="0">
              <a:buNone/>
            </a:pPr>
            <a:r>
              <a:rPr lang="en-US" sz="850" dirty="0">
                <a:solidFill>
                  <a:srgbClr val="5F7183"/>
                </a:solidFill>
                <a:latin typeface="Calibri" pitchFamily="34" charset="0"/>
                <a:ea typeface="Calibri" pitchFamily="34" charset="-122"/>
                <a:cs typeface="Calibri" pitchFamily="34" charset="-120"/>
              </a:rPr>
              <a:t>Concept building, 15 credits</a:t>
            </a:r>
            <a:endParaRPr lang="en-US" sz="850" dirty="0"/>
          </a:p>
        </p:txBody>
      </p:sp>
      <p:sp>
        <p:nvSpPr>
          <p:cNvPr id="47" name="anim:3 grad:blue"/>
          <p:cNvSpPr txBox="1"/>
          <p:nvPr/>
        </p:nvSpPr>
        <p:spPr>
          <a:xfrm>
            <a:off x="3810896" y="5394960"/>
            <a:ext cx="6524513" cy="457200"/>
          </a:xfrm>
          <a:prstGeom prst="rect">
            <a:avLst/>
          </a:prstGeom>
          <a:gradFill rotWithShape="1">
            <a:gsLst>
              <a:gs pos="0">
                <a:srgbClr val="2FA8E0"/>
              </a:gs>
              <a:gs pos="100000">
                <a:srgbClr val="007DB6"/>
              </a:gs>
            </a:gsLst>
            <a:lin ang="5400000" scaled="0"/>
          </a:gradFill>
          <a:ln w="12700">
            <a:solidFill>
              <a:srgbClr val="F4F6F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300 hours</a:t>
            </a:r>
            <a:endParaRPr lang="en-US" sz="1200" dirty="0"/>
          </a:p>
        </p:txBody>
      </p:sp>
      <p:sp>
        <p:nvSpPr>
          <p:cNvPr id="48" name="anim:3"/>
          <p:cNvSpPr txBox="1"/>
          <p:nvPr/>
        </p:nvSpPr>
        <p:spPr>
          <a:xfrm>
            <a:off x="3810896" y="5907024"/>
            <a:ext cx="6524513" cy="228600"/>
          </a:xfrm>
          <a:prstGeom prst="rect">
            <a:avLst/>
          </a:prstGeom>
          <a:noFill/>
          <a:ln/>
        </p:spPr>
        <p:txBody>
          <a:bodyPr wrap="square" lIns="0" tIns="0" rIns="0" bIns="0" rtlCol="0" anchor="t"/>
          <a:lstStyle/>
          <a:p>
            <a:pPr algn="ctr" indent="0" marL="0">
              <a:buNone/>
            </a:pPr>
            <a:r>
              <a:rPr lang="en-US" sz="850" dirty="0">
                <a:solidFill>
                  <a:srgbClr val="5F7183"/>
                </a:solidFill>
                <a:latin typeface="Calibri" pitchFamily="34" charset="0"/>
                <a:ea typeface="Calibri" pitchFamily="34" charset="-122"/>
                <a:cs typeface="Calibri" pitchFamily="34" charset="-120"/>
              </a:rPr>
              <a:t>Practical and hands-on, 15 credits</a:t>
            </a:r>
            <a:endParaRPr lang="en-US" sz="850" dirty="0"/>
          </a:p>
        </p:txBody>
      </p:sp>
      <p:sp>
        <p:nvSpPr>
          <p:cNvPr id="49" name="anim:3 grad:navy"/>
          <p:cNvSpPr txBox="1"/>
          <p:nvPr/>
        </p:nvSpPr>
        <p:spPr>
          <a:xfrm>
            <a:off x="10335409" y="5394960"/>
            <a:ext cx="1304903" cy="457200"/>
          </a:xfrm>
          <a:prstGeom prst="rect">
            <a:avLst/>
          </a:prstGeom>
          <a:gradFill rotWithShape="1">
            <a:gsLst>
              <a:gs pos="0">
                <a:srgbClr val="1B4170"/>
              </a:gs>
              <a:gs pos="100000">
                <a:srgbClr val="0A1E33"/>
              </a:gs>
            </a:gsLst>
            <a:lin ang="5400000" scaled="0"/>
          </a:gradFill>
          <a:ln w="12700">
            <a:solidFill>
              <a:srgbClr val="F4F6F9"/>
            </a:solidFill>
          </a:ln>
        </p:spPr>
        <p:txBody>
          <a:bodyPr wrap="square" lIns="0" tIns="0" rIns="0" bIns="0" rtlCol="0" anchor="ctr"/>
          <a:lstStyle/>
          <a:p>
            <a:pPr algn="ctr" indent="0" marL="0">
              <a:buNone/>
            </a:pPr>
            <a:r>
              <a:rPr lang="en-US" sz="1200" b="1" dirty="0">
                <a:solidFill>
                  <a:srgbClr val="E9B221"/>
                </a:solidFill>
                <a:latin typeface="Calibri" pitchFamily="34" charset="0"/>
                <a:ea typeface="Calibri" pitchFamily="34" charset="-122"/>
                <a:cs typeface="Calibri" pitchFamily="34" charset="-120"/>
              </a:rPr>
              <a:t>60 hours</a:t>
            </a:r>
            <a:endParaRPr lang="en-US" sz="1200" dirty="0"/>
          </a:p>
        </p:txBody>
      </p:sp>
      <p:sp>
        <p:nvSpPr>
          <p:cNvPr id="50" name="anim:3"/>
          <p:cNvSpPr txBox="1"/>
          <p:nvPr/>
        </p:nvSpPr>
        <p:spPr>
          <a:xfrm>
            <a:off x="10335409" y="5907024"/>
            <a:ext cx="1304903" cy="228600"/>
          </a:xfrm>
          <a:prstGeom prst="rect">
            <a:avLst/>
          </a:prstGeom>
          <a:noFill/>
          <a:ln/>
        </p:spPr>
        <p:txBody>
          <a:bodyPr wrap="square" lIns="0" tIns="0" rIns="0" bIns="0" rtlCol="0" anchor="t"/>
          <a:lstStyle/>
          <a:p>
            <a:pPr algn="ctr" indent="0" marL="0">
              <a:buNone/>
            </a:pPr>
            <a:r>
              <a:rPr lang="en-US" sz="850" dirty="0">
                <a:solidFill>
                  <a:srgbClr val="5F7183"/>
                </a:solidFill>
                <a:latin typeface="Calibri" pitchFamily="34" charset="0"/>
                <a:ea typeface="Calibri" pitchFamily="34" charset="-122"/>
                <a:cs typeface="Calibri" pitchFamily="34" charset="-120"/>
              </a:rPr>
              <a:t>Capstone, 3 credits</a:t>
            </a:r>
            <a:endParaRPr lang="en-US" sz="8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9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18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27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45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54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63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72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81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90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childTnLst>
                          </p:cTn>
                        </p:par>
                      </p:childTnLst>
                    </p:cTn>
                  </p:par>
                  <p:par>
                    <p:cTn id="97" fill="hold">
                      <p:stCondLst>
                        <p:cond delay="indefinite"/>
                      </p:stCondLst>
                      <p:childTnLst>
                        <p:par>
                          <p:cTn id="9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9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18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par>
                                <p:cTn id="88" presetID="10" presetClass="entr" presetSubtype="0" fill="hold" grpId="0" nodeType="withEffect">
                                  <p:stCondLst>
                                    <p:cond delay="27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400"/>
                                        <p:tgtEl>
                                          <p:spTgt spid="48"/>
                                        </p:tgtEl>
                                      </p:cBhvr>
                                    </p:animEffect>
                                  </p:childTnLst>
                                </p:cTn>
                              </p:par>
                              <p:par>
                                <p:cTn id="91" presetID="10" presetClass="entr" presetSubtype="0" fill="hold" grpId="0" nodeType="withEffect">
                                  <p:stCondLst>
                                    <p:cond delay="360"/>
                                  </p:stCondLst>
                                  <p:childTnLst>
                                    <p:set>
                                      <p:cBhvr>
                                        <p:cTn id="92" dur="1" fill="hold">
                                          <p:stCondLst>
                                            <p:cond delay="0"/>
                                          </p:stCondLst>
                                        </p:cTn>
                                        <p:tgtEl>
                                          <p:spTgt spid="49"/>
                                        </p:tgtEl>
                                        <p:attrNameLst>
                                          <p:attrName>style.visibility</p:attrName>
                                        </p:attrNameLst>
                                      </p:cBhvr>
                                      <p:to>
                                        <p:strVal val="visible"/>
                                      </p:to>
                                    </p:set>
                                    <p:animEffect transition="in" filter="fade">
                                      <p:cBhvr>
                                        <p:cTn id="93" dur="400"/>
                                        <p:tgtEl>
                                          <p:spTgt spid="49"/>
                                        </p:tgtEl>
                                      </p:cBhvr>
                                    </p:animEffect>
                                  </p:childTnLst>
                                </p:cTn>
                              </p:par>
                              <p:par>
                                <p:cTn id="94" presetID="10" presetClass="entr" presetSubtype="0" fill="hold" grpId="0" nodeType="withEffect">
                                  <p:stCondLst>
                                    <p:cond delay="450"/>
                                  </p:stCondLst>
                                  <p:childTnLst>
                                    <p:set>
                                      <p:cBhvr>
                                        <p:cTn id="95" dur="1" fill="hold">
                                          <p:stCondLst>
                                            <p:cond delay="0"/>
                                          </p:stCondLst>
                                        </p:cTn>
                                        <p:tgtEl>
                                          <p:spTgt spid="50"/>
                                        </p:tgtEl>
                                        <p:attrNameLst>
                                          <p:attrName>style.visibility</p:attrName>
                                        </p:attrNameLst>
                                      </p:cBhvr>
                                      <p:to>
                                        <p:strVal val="visible"/>
                                      </p:to>
                                    </p:set>
                                    <p:animEffect transition="in" filter="fade">
                                      <p:cBhvr>
                                        <p:cTn id="96"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7</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007DB6"/>
          </a:solidFill>
          <a:ln w="12700">
            <a:solidFill>
              <a:srgbClr val="007DB6"/>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Three kinds of week</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Every one of the twenty weeks is exactly one of these. Learn the three shapes and the calendar reads itself.</a:t>
            </a:r>
            <a:endParaRPr lang="en-US" sz="1250" dirty="0"/>
          </a:p>
        </p:txBody>
      </p:sp>
      <p:sp>
        <p:nvSpPr>
          <p:cNvPr id="21" name="anim:1 grad:card"/>
          <p:cNvSpPr/>
          <p:nvPr/>
        </p:nvSpPr>
        <p:spPr>
          <a:xfrm>
            <a:off x="548640" y="1783080"/>
            <a:ext cx="3566160" cy="3611880"/>
          </a:xfrm>
          <a:prstGeom prst="roundRect">
            <a:avLst>
              <a:gd name="adj" fmla="val 2564"/>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2" name="anim:1"/>
          <p:cNvSpPr/>
          <p:nvPr/>
        </p:nvSpPr>
        <p:spPr>
          <a:xfrm>
            <a:off x="822960" y="2057400"/>
            <a:ext cx="640080" cy="640080"/>
          </a:xfrm>
          <a:prstGeom prst="ellipse">
            <a:avLst/>
          </a:prstGeom>
          <a:solidFill>
            <a:srgbClr val="E3F2FA"/>
          </a:solidFill>
          <a:ln w="9525">
            <a:solidFill>
              <a:srgbClr val="E3F2FA"/>
            </a:solidFill>
            <a:prstDash val="solid"/>
          </a:ln>
        </p:spPr>
        <p:txBody>
          <a:bodyPr/>
          <a:p/>
        </p:txBody>
      </p:sp>
      <p:pic>
        <p:nvPicPr>
          <p:cNvPr id="23" name="anim:1" descr="preencoded.png">    </p:cNvPr>
          <p:cNvPicPr>
            <a:picLocks noChangeAspect="1"/>
          </p:cNvPicPr>
          <p:nvPr/>
        </p:nvPicPr>
        <p:blipFill>
          <a:blip r:embed="rId3"/>
          <a:stretch>
            <a:fillRect/>
          </a:stretch>
        </p:blipFill>
        <p:spPr>
          <a:xfrm>
            <a:off x="976579" y="2211019"/>
            <a:ext cx="332842" cy="332842"/>
          </a:xfrm>
          <a:prstGeom prst="rect">
            <a:avLst/>
          </a:prstGeom>
        </p:spPr>
      </p:pic>
      <p:sp>
        <p:nvSpPr>
          <p:cNvPr id="24" name="anim:1"/>
          <p:cNvSpPr txBox="1"/>
          <p:nvPr/>
        </p:nvSpPr>
        <p:spPr>
          <a:xfrm>
            <a:off x="1600200" y="1920240"/>
            <a:ext cx="1097280" cy="731520"/>
          </a:xfrm>
          <a:prstGeom prst="rect">
            <a:avLst/>
          </a:prstGeom>
          <a:noFill/>
          <a:ln/>
        </p:spPr>
        <p:txBody>
          <a:bodyPr wrap="square" lIns="0" tIns="0" rIns="0" bIns="0" rtlCol="0" anchor="t"/>
          <a:lstStyle/>
          <a:p>
            <a:pPr algn="l" indent="0" marL="0">
              <a:buNone/>
            </a:pPr>
            <a:r>
              <a:rPr lang="en-US" sz="4000" b="1" dirty="0">
                <a:solidFill>
                  <a:srgbClr val="0A1E33"/>
                </a:solidFill>
                <a:latin typeface="Calibri" pitchFamily="34" charset="0"/>
                <a:ea typeface="Calibri" pitchFamily="34" charset="-122"/>
                <a:cs typeface="Calibri" pitchFamily="34" charset="-120"/>
              </a:rPr>
              <a:t>10</a:t>
            </a:r>
            <a:endParaRPr lang="en-US" sz="4000" dirty="0"/>
          </a:p>
        </p:txBody>
      </p:sp>
      <p:sp>
        <p:nvSpPr>
          <p:cNvPr id="25" name="anim:1"/>
          <p:cNvSpPr txBox="1"/>
          <p:nvPr/>
        </p:nvSpPr>
        <p:spPr>
          <a:xfrm>
            <a:off x="1600200" y="2651760"/>
            <a:ext cx="2377440" cy="320040"/>
          </a:xfrm>
          <a:prstGeom prst="rect">
            <a:avLst/>
          </a:prstGeom>
          <a:noFill/>
          <a:ln/>
        </p:spPr>
        <p:txBody>
          <a:bodyPr wrap="square" lIns="0" tIns="0" rIns="0" bIns="0" rtlCol="0" anchor="t"/>
          <a:lstStyle/>
          <a:p>
            <a:pPr algn="l" indent="0" marL="0">
              <a:buNone/>
            </a:pPr>
            <a:r>
              <a:rPr lang="en-US" sz="1500" b="1" dirty="0">
                <a:solidFill>
                  <a:srgbClr val="0A1E33"/>
                </a:solidFill>
                <a:latin typeface="Calibri" pitchFamily="34" charset="0"/>
                <a:ea typeface="Calibri" pitchFamily="34" charset="-122"/>
                <a:cs typeface="Calibri" pitchFamily="34" charset="-120"/>
              </a:rPr>
              <a:t>Teaching weeks</a:t>
            </a:r>
            <a:endParaRPr lang="en-US" sz="1500" dirty="0"/>
          </a:p>
        </p:txBody>
      </p:sp>
      <p:sp>
        <p:nvSpPr>
          <p:cNvPr id="26" name="anim:1"/>
          <p:cNvSpPr txBox="1"/>
          <p:nvPr/>
        </p:nvSpPr>
        <p:spPr>
          <a:xfrm>
            <a:off x="822960" y="3108960"/>
            <a:ext cx="3017520" cy="182880"/>
          </a:xfrm>
          <a:prstGeom prst="rect">
            <a:avLst/>
          </a:prstGeom>
          <a:noFill/>
          <a:ln/>
        </p:spPr>
        <p:txBody>
          <a:bodyPr wrap="square" lIns="0" tIns="0" rIns="0" bIns="0" rtlCol="0" anchor="t"/>
          <a:lstStyle/>
          <a:p>
            <a:pPr algn="l" indent="0" marL="0">
              <a:buNone/>
            </a:pPr>
            <a:r>
              <a:rPr lang="en-US" sz="750" b="1" spc="200" kern="0" dirty="0">
                <a:solidFill>
                  <a:srgbClr val="007DB6"/>
                </a:solidFill>
                <a:latin typeface="Calibri" pitchFamily="34" charset="0"/>
                <a:ea typeface="Calibri" pitchFamily="34" charset="-122"/>
                <a:cs typeface="Calibri" pitchFamily="34" charset="-120"/>
              </a:rPr>
              <a:t>WHAT HAPPENS</a:t>
            </a:r>
            <a:endParaRPr lang="en-US" sz="750" dirty="0"/>
          </a:p>
        </p:txBody>
      </p:sp>
      <p:sp>
        <p:nvSpPr>
          <p:cNvPr id="27" name="anim:1"/>
          <p:cNvSpPr txBox="1"/>
          <p:nvPr/>
        </p:nvSpPr>
        <p:spPr>
          <a:xfrm>
            <a:off x="822960" y="3337560"/>
            <a:ext cx="3017520" cy="13258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New concepts every day, each opening on a business question.</a:t>
            </a:r>
            <a:endParaRPr lang="en-US" sz="1050" dirty="0"/>
          </a:p>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Your own lab work in every session, guided first, then unguided.</a:t>
            </a:r>
            <a:endParaRPr lang="en-US" sz="1050" dirty="0"/>
          </a:p>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Saturday: a pen-and-paper recap paper, then the solution discussion.</a:t>
            </a:r>
            <a:endParaRPr lang="en-US" sz="1050" dirty="0"/>
          </a:p>
        </p:txBody>
      </p:sp>
      <p:sp>
        <p:nvSpPr>
          <p:cNvPr id="28" name="anim:1"/>
          <p:cNvSpPr/>
          <p:nvPr/>
        </p:nvSpPr>
        <p:spPr>
          <a:xfrm>
            <a:off x="822960" y="4663440"/>
            <a:ext cx="3017520" cy="0"/>
          </a:xfrm>
          <a:prstGeom prst="line">
            <a:avLst/>
          </a:prstGeom>
          <a:noFill/>
          <a:ln w="9525">
            <a:solidFill>
              <a:srgbClr val="E4E9F0"/>
            </a:solidFill>
            <a:prstDash val="solid"/>
          </a:ln>
        </p:spPr>
        <p:txBody>
          <a:bodyPr/>
          <a:p/>
        </p:txBody>
      </p:sp>
      <p:sp>
        <p:nvSpPr>
          <p:cNvPr id="29" name="anim:1"/>
          <p:cNvSpPr txBox="1"/>
          <p:nvPr/>
        </p:nvSpPr>
        <p:spPr>
          <a:xfrm>
            <a:off x="822960" y="4727448"/>
            <a:ext cx="3017520" cy="182880"/>
          </a:xfrm>
          <a:prstGeom prst="rect">
            <a:avLst/>
          </a:prstGeom>
          <a:noFill/>
          <a:ln/>
        </p:spPr>
        <p:txBody>
          <a:bodyPr wrap="square" lIns="0" tIns="0" rIns="0" bIns="0" rtlCol="0" anchor="t"/>
          <a:lstStyle/>
          <a:p>
            <a:pPr algn="l" indent="0" marL="0">
              <a:buNone/>
            </a:pPr>
            <a:r>
              <a:rPr lang="en-US" sz="750" b="1" spc="200" kern="0" dirty="0">
                <a:solidFill>
                  <a:srgbClr val="007DB6"/>
                </a:solidFill>
                <a:latin typeface="Calibri" pitchFamily="34" charset="0"/>
                <a:ea typeface="Calibri" pitchFamily="34" charset="-122"/>
                <a:cs typeface="Calibri" pitchFamily="34" charset="-120"/>
              </a:rPr>
              <a:t>WHAT IS GRADED</a:t>
            </a:r>
            <a:endParaRPr lang="en-US" sz="750" dirty="0"/>
          </a:p>
        </p:txBody>
      </p:sp>
      <p:sp>
        <p:nvSpPr>
          <p:cNvPr id="30" name="anim:1"/>
          <p:cNvSpPr txBox="1"/>
          <p:nvPr/>
        </p:nvSpPr>
        <p:spPr>
          <a:xfrm>
            <a:off x="822960" y="4910328"/>
            <a:ext cx="3017520" cy="45720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Nothing is graded. The daily Kahoot and the Saturday paper are indicators you and the trainers read.</a:t>
            </a:r>
            <a:endParaRPr lang="en-US" sz="950" dirty="0"/>
          </a:p>
        </p:txBody>
      </p:sp>
      <p:sp>
        <p:nvSpPr>
          <p:cNvPr id="31" name="anim:2 grad:blue"/>
          <p:cNvSpPr/>
          <p:nvPr/>
        </p:nvSpPr>
        <p:spPr>
          <a:xfrm>
            <a:off x="4306824" y="1783080"/>
            <a:ext cx="3566160" cy="3611880"/>
          </a:xfrm>
          <a:prstGeom prst="roundRect">
            <a:avLst>
              <a:gd name="adj" fmla="val 2564"/>
            </a:avLst>
          </a:prstGeom>
          <a:gradFill rotWithShape="1">
            <a:gsLst>
              <a:gs pos="0">
                <a:srgbClr val="2FA8E0"/>
              </a:gs>
              <a:gs pos="100000">
                <a:srgbClr val="007DB6"/>
              </a:gs>
            </a:gsLst>
            <a:lin ang="5400000" scaled="0"/>
          </a:gradFill>
          <a:ln w="9525">
            <a:solidFill>
              <a:srgbClr val="007DB6"/>
            </a:solidFill>
            <a:prstDash val="solid"/>
          </a:ln>
          <a:effectLst>
            <a:outerShdw sx="100000" sy="100000" kx="0" ky="0" algn="bl" rotWithShape="0" blurRad="76200" dist="19050" dir="5400000">
              <a:srgbClr val="0A1E33">
                <a:alpha val="10000"/>
              </a:srgbClr>
            </a:outerShdw>
          </a:effectLst>
        </p:spPr>
        <p:txBody>
          <a:bodyPr/>
          <a:p/>
        </p:txBody>
      </p:sp>
      <p:sp>
        <p:nvSpPr>
          <p:cNvPr id="32" name="anim:2 grad:sheen"/>
          <p:cNvSpPr/>
          <p:nvPr/>
        </p:nvSpPr>
        <p:spPr>
          <a:xfrm>
            <a:off x="4306824" y="1783080"/>
            <a:ext cx="3566160" cy="3611880"/>
          </a:xfrm>
          <a:prstGeom prst="roundRect">
            <a:avLst>
              <a:gd name="adj" fmla="val 2564"/>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33" name="anim:2"/>
          <p:cNvSpPr/>
          <p:nvPr/>
        </p:nvSpPr>
        <p:spPr>
          <a:xfrm>
            <a:off x="4581144" y="2057400"/>
            <a:ext cx="640080" cy="640080"/>
          </a:xfrm>
          <a:prstGeom prst="ellipse">
            <a:avLst/>
          </a:prstGeom>
          <a:solidFill>
            <a:srgbClr val="FFFFFF"/>
          </a:solidFill>
          <a:ln w="9525">
            <a:solidFill>
              <a:srgbClr val="FFFFFF"/>
            </a:solidFill>
            <a:prstDash val="solid"/>
          </a:ln>
        </p:spPr>
        <p:txBody>
          <a:bodyPr/>
          <a:p/>
        </p:txBody>
      </p:sp>
      <p:pic>
        <p:nvPicPr>
          <p:cNvPr id="34" name="anim:2" descr="preencoded.png">    </p:cNvPr>
          <p:cNvPicPr>
            <a:picLocks noChangeAspect="1"/>
          </p:cNvPicPr>
          <p:nvPr/>
        </p:nvPicPr>
        <p:blipFill>
          <a:blip r:embed="rId4"/>
          <a:stretch>
            <a:fillRect/>
          </a:stretch>
        </p:blipFill>
        <p:spPr>
          <a:xfrm>
            <a:off x="4734763" y="2211019"/>
            <a:ext cx="332842" cy="332842"/>
          </a:xfrm>
          <a:prstGeom prst="rect">
            <a:avLst/>
          </a:prstGeom>
        </p:spPr>
      </p:pic>
      <p:sp>
        <p:nvSpPr>
          <p:cNvPr id="35" name="anim:2"/>
          <p:cNvSpPr txBox="1"/>
          <p:nvPr/>
        </p:nvSpPr>
        <p:spPr>
          <a:xfrm>
            <a:off x="5358384" y="1920240"/>
            <a:ext cx="1097280" cy="73152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5</a:t>
            </a:r>
            <a:endParaRPr lang="en-US" sz="4000" dirty="0"/>
          </a:p>
        </p:txBody>
      </p:sp>
      <p:sp>
        <p:nvSpPr>
          <p:cNvPr id="36" name="anim:2"/>
          <p:cNvSpPr txBox="1"/>
          <p:nvPr/>
        </p:nvSpPr>
        <p:spPr>
          <a:xfrm>
            <a:off x="5358384" y="2651760"/>
            <a:ext cx="2377440" cy="32004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Build weeks</a:t>
            </a:r>
            <a:endParaRPr lang="en-US" sz="1500" dirty="0"/>
          </a:p>
        </p:txBody>
      </p:sp>
      <p:sp>
        <p:nvSpPr>
          <p:cNvPr id="37" name="anim:2"/>
          <p:cNvSpPr txBox="1"/>
          <p:nvPr/>
        </p:nvSpPr>
        <p:spPr>
          <a:xfrm>
            <a:off x="4581144" y="3108960"/>
            <a:ext cx="3017520" cy="182880"/>
          </a:xfrm>
          <a:prstGeom prst="rect">
            <a:avLst/>
          </a:prstGeom>
          <a:noFill/>
          <a:ln/>
        </p:spPr>
        <p:txBody>
          <a:bodyPr wrap="square" lIns="0" tIns="0" rIns="0" bIns="0" rtlCol="0" anchor="t"/>
          <a:lstStyle/>
          <a:p>
            <a:pPr algn="l" indent="0" marL="0">
              <a:buNone/>
            </a:pPr>
            <a:r>
              <a:rPr lang="en-US" sz="750" b="1" spc="200" kern="0" dirty="0">
                <a:solidFill>
                  <a:srgbClr val="E3F2FA"/>
                </a:solidFill>
                <a:latin typeface="Calibri" pitchFamily="34" charset="0"/>
                <a:ea typeface="Calibri" pitchFamily="34" charset="-122"/>
                <a:cs typeface="Calibri" pitchFamily="34" charset="-120"/>
              </a:rPr>
              <a:t>WHAT HAPPENS</a:t>
            </a:r>
            <a:endParaRPr lang="en-US" sz="750" dirty="0"/>
          </a:p>
        </p:txBody>
      </p:sp>
      <p:sp>
        <p:nvSpPr>
          <p:cNvPr id="38" name="anim:2"/>
          <p:cNvSpPr txBox="1"/>
          <p:nvPr/>
        </p:nvSpPr>
        <p:spPr>
          <a:xfrm>
            <a:off x="4581144" y="3337560"/>
            <a:ext cx="3017520" cy="13258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No new content. A mini-project on a business brief, in groups of four.</a:t>
            </a:r>
            <a:endParaRPr lang="en-US" sz="1050" dirty="0"/>
          </a:p>
          <a:p>
            <a:pPr marL="152400" indent="-1524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Daily checkpoints Monday to Thursday, with a challenges log kept live.</a:t>
            </a:r>
            <a:endParaRPr lang="en-US" sz="1050" dirty="0"/>
          </a:p>
          <a:p>
            <a:pPr marL="152400" indent="-1524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Friday and Saturday with an industry expert: demo, mock, discussion, presentation.</a:t>
            </a:r>
            <a:endParaRPr lang="en-US" sz="1050" dirty="0"/>
          </a:p>
        </p:txBody>
      </p:sp>
      <p:sp>
        <p:nvSpPr>
          <p:cNvPr id="39" name="anim:2"/>
          <p:cNvSpPr/>
          <p:nvPr/>
        </p:nvSpPr>
        <p:spPr>
          <a:xfrm>
            <a:off x="4581144" y="4663440"/>
            <a:ext cx="3017520" cy="0"/>
          </a:xfrm>
          <a:prstGeom prst="line">
            <a:avLst/>
          </a:prstGeom>
          <a:noFill/>
          <a:ln w="9525">
            <a:solidFill>
              <a:srgbClr val="4FBBEC"/>
            </a:solidFill>
            <a:prstDash val="solid"/>
          </a:ln>
        </p:spPr>
        <p:txBody>
          <a:bodyPr/>
          <a:p/>
        </p:txBody>
      </p:sp>
      <p:sp>
        <p:nvSpPr>
          <p:cNvPr id="40" name="anim:2"/>
          <p:cNvSpPr txBox="1"/>
          <p:nvPr/>
        </p:nvSpPr>
        <p:spPr>
          <a:xfrm>
            <a:off x="4581144" y="4727448"/>
            <a:ext cx="3017520" cy="182880"/>
          </a:xfrm>
          <a:prstGeom prst="rect">
            <a:avLst/>
          </a:prstGeom>
          <a:noFill/>
          <a:ln/>
        </p:spPr>
        <p:txBody>
          <a:bodyPr wrap="square" lIns="0" tIns="0" rIns="0" bIns="0" rtlCol="0" anchor="t"/>
          <a:lstStyle/>
          <a:p>
            <a:pPr algn="l" indent="0" marL="0">
              <a:buNone/>
            </a:pPr>
            <a:r>
              <a:rPr lang="en-US" sz="750" b="1" spc="200" kern="0" dirty="0">
                <a:solidFill>
                  <a:srgbClr val="E3F2FA"/>
                </a:solidFill>
                <a:latin typeface="Calibri" pitchFamily="34" charset="0"/>
                <a:ea typeface="Calibri" pitchFamily="34" charset="-122"/>
                <a:cs typeface="Calibri" pitchFamily="34" charset="-120"/>
              </a:rPr>
              <a:t>WHAT IS GRADED</a:t>
            </a:r>
            <a:endParaRPr lang="en-US" sz="750" dirty="0"/>
          </a:p>
        </p:txBody>
      </p:sp>
      <p:sp>
        <p:nvSpPr>
          <p:cNvPr id="41" name="anim:2"/>
          <p:cNvSpPr txBox="1"/>
          <p:nvPr/>
        </p:nvSpPr>
        <p:spPr>
          <a:xfrm>
            <a:off x="4581144" y="4910328"/>
            <a:ext cx="3017520" cy="457200"/>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Mini-project 40, mock interview 30, group discussion 30. All closed inside the week.</a:t>
            </a:r>
            <a:endParaRPr lang="en-US" sz="950" dirty="0"/>
          </a:p>
        </p:txBody>
      </p:sp>
      <p:sp>
        <p:nvSpPr>
          <p:cNvPr id="42" name="anim:3 grad:navy"/>
          <p:cNvSpPr/>
          <p:nvPr/>
        </p:nvSpPr>
        <p:spPr>
          <a:xfrm>
            <a:off x="8065008" y="1783080"/>
            <a:ext cx="3566160" cy="3611880"/>
          </a:xfrm>
          <a:prstGeom prst="roundRect">
            <a:avLst>
              <a:gd name="adj" fmla="val 2564"/>
            </a:avLst>
          </a:prstGeom>
          <a:gradFill rotWithShape="1">
            <a:gsLst>
              <a:gs pos="0">
                <a:srgbClr val="1B4170"/>
              </a:gs>
              <a:gs pos="100000">
                <a:srgbClr val="0A1E33"/>
              </a:gs>
            </a:gsLst>
            <a:lin ang="5400000" scaled="0"/>
          </a:gradFill>
          <a:ln w="9525">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43" name="anim:3 grad:sheen"/>
          <p:cNvSpPr/>
          <p:nvPr/>
        </p:nvSpPr>
        <p:spPr>
          <a:xfrm>
            <a:off x="8065008" y="1783080"/>
            <a:ext cx="3566160" cy="3611880"/>
          </a:xfrm>
          <a:prstGeom prst="roundRect">
            <a:avLst>
              <a:gd name="adj" fmla="val 2564"/>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44" name="anim:3"/>
          <p:cNvSpPr/>
          <p:nvPr/>
        </p:nvSpPr>
        <p:spPr>
          <a:xfrm>
            <a:off x="8339328" y="2057400"/>
            <a:ext cx="640080" cy="640080"/>
          </a:xfrm>
          <a:prstGeom prst="ellipse">
            <a:avLst/>
          </a:prstGeom>
          <a:solidFill>
            <a:srgbClr val="FFFFFF"/>
          </a:solidFill>
          <a:ln w="9525">
            <a:solidFill>
              <a:srgbClr val="FFFFFF"/>
            </a:solidFill>
            <a:prstDash val="solid"/>
          </a:ln>
        </p:spPr>
        <p:txBody>
          <a:bodyPr/>
          <a:p/>
        </p:txBody>
      </p:sp>
      <p:pic>
        <p:nvPicPr>
          <p:cNvPr id="45" name="anim:3" descr="preencoded.png">    </p:cNvPr>
          <p:cNvPicPr>
            <a:picLocks noChangeAspect="1"/>
          </p:cNvPicPr>
          <p:nvPr/>
        </p:nvPicPr>
        <p:blipFill>
          <a:blip r:embed="rId5"/>
          <a:stretch>
            <a:fillRect/>
          </a:stretch>
        </p:blipFill>
        <p:spPr>
          <a:xfrm>
            <a:off x="8492947" y="2211019"/>
            <a:ext cx="332842" cy="332842"/>
          </a:xfrm>
          <a:prstGeom prst="rect">
            <a:avLst/>
          </a:prstGeom>
        </p:spPr>
      </p:pic>
      <p:sp>
        <p:nvSpPr>
          <p:cNvPr id="46" name="anim:3"/>
          <p:cNvSpPr txBox="1"/>
          <p:nvPr/>
        </p:nvSpPr>
        <p:spPr>
          <a:xfrm>
            <a:off x="9116568" y="1920240"/>
            <a:ext cx="1097280" cy="731520"/>
          </a:xfrm>
          <a:prstGeom prst="rect">
            <a:avLst/>
          </a:prstGeom>
          <a:noFill/>
          <a:ln/>
        </p:spPr>
        <p:txBody>
          <a:bodyPr wrap="square" lIns="0" tIns="0" rIns="0" bIns="0" rtlCol="0" anchor="t"/>
          <a:lstStyle/>
          <a:p>
            <a:pPr algn="l" indent="0" marL="0">
              <a:buNone/>
            </a:pPr>
            <a:r>
              <a:rPr lang="en-US" sz="4000" b="1" dirty="0">
                <a:solidFill>
                  <a:srgbClr val="E9B221"/>
                </a:solidFill>
                <a:latin typeface="Calibri" pitchFamily="34" charset="0"/>
                <a:ea typeface="Calibri" pitchFamily="34" charset="-122"/>
                <a:cs typeface="Calibri" pitchFamily="34" charset="-120"/>
              </a:rPr>
              <a:t>4</a:t>
            </a:r>
            <a:endParaRPr lang="en-US" sz="4000" dirty="0"/>
          </a:p>
        </p:txBody>
      </p:sp>
      <p:sp>
        <p:nvSpPr>
          <p:cNvPr id="47" name="anim:3"/>
          <p:cNvSpPr txBox="1"/>
          <p:nvPr/>
        </p:nvSpPr>
        <p:spPr>
          <a:xfrm>
            <a:off x="9116568" y="2651760"/>
            <a:ext cx="2377440" cy="320040"/>
          </a:xfrm>
          <a:prstGeom prst="rect">
            <a:avLst/>
          </a:prstGeom>
          <a:noFill/>
          <a:ln/>
        </p:spPr>
        <p:txBody>
          <a:bodyPr wrap="square" lIns="0" tIns="0" rIns="0" bIns="0" rtlCol="0" anchor="t"/>
          <a:lstStyle/>
          <a:p>
            <a:pPr algn="l" indent="0" marL="0">
              <a:buNone/>
            </a:pPr>
            <a:r>
              <a:rPr lang="en-US" sz="1500" b="1" dirty="0">
                <a:solidFill>
                  <a:srgbClr val="E9B221"/>
                </a:solidFill>
                <a:latin typeface="Calibri" pitchFamily="34" charset="0"/>
                <a:ea typeface="Calibri" pitchFamily="34" charset="-122"/>
                <a:cs typeface="Calibri" pitchFamily="34" charset="-120"/>
              </a:rPr>
              <a:t>Capstone weeks</a:t>
            </a:r>
            <a:endParaRPr lang="en-US" sz="1500" dirty="0"/>
          </a:p>
        </p:txBody>
      </p:sp>
      <p:sp>
        <p:nvSpPr>
          <p:cNvPr id="48" name="anim:3"/>
          <p:cNvSpPr txBox="1"/>
          <p:nvPr/>
        </p:nvSpPr>
        <p:spPr>
          <a:xfrm>
            <a:off x="8339328" y="3108960"/>
            <a:ext cx="3017520" cy="182880"/>
          </a:xfrm>
          <a:prstGeom prst="rect">
            <a:avLst/>
          </a:prstGeom>
          <a:noFill/>
          <a:ln/>
        </p:spPr>
        <p:txBody>
          <a:bodyPr wrap="square" lIns="0" tIns="0" rIns="0" bIns="0" rtlCol="0" anchor="t"/>
          <a:lstStyle/>
          <a:p>
            <a:pPr algn="l" indent="0" marL="0">
              <a:buNone/>
            </a:pPr>
            <a:r>
              <a:rPr lang="en-US" sz="750" b="1" spc="200" kern="0" dirty="0">
                <a:solidFill>
                  <a:srgbClr val="E9B221"/>
                </a:solidFill>
                <a:latin typeface="Calibri" pitchFamily="34" charset="0"/>
                <a:ea typeface="Calibri" pitchFamily="34" charset="-122"/>
                <a:cs typeface="Calibri" pitchFamily="34" charset="-120"/>
              </a:rPr>
              <a:t>WHAT HAPPENS</a:t>
            </a:r>
            <a:endParaRPr lang="en-US" sz="750" dirty="0"/>
          </a:p>
        </p:txBody>
      </p:sp>
      <p:sp>
        <p:nvSpPr>
          <p:cNvPr id="49" name="anim:3"/>
          <p:cNvSpPr txBox="1"/>
          <p:nvPr/>
        </p:nvSpPr>
        <p:spPr>
          <a:xfrm>
            <a:off x="8339328" y="3337560"/>
            <a:ext cx="3017520" cy="13258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C9D6E4"/>
                </a:solidFill>
                <a:latin typeface="Calibri" pitchFamily="34" charset="0"/>
                <a:ea typeface="Calibri" pitchFamily="34" charset="-122"/>
                <a:cs typeface="Calibri" pitchFamily="34" charset="-120"/>
              </a:rPr>
              <a:t>Three build sprints on a project your group scopes in FDE mode.</a:t>
            </a:r>
            <a:endParaRPr lang="en-US" sz="1050" dirty="0"/>
          </a:p>
          <a:p>
            <a:pPr marL="152400" indent="-152400">
              <a:spcAft>
                <a:spcPts val="400"/>
              </a:spcAft>
              <a:buSzPct val="100000"/>
              <a:buChar char="•"/>
            </a:pPr>
            <a:r>
              <a:rPr lang="en-US" sz="1050" dirty="0">
                <a:solidFill>
                  <a:srgbClr val="C9D6E4"/>
                </a:solidFill>
                <a:latin typeface="Calibri" pitchFamily="34" charset="0"/>
                <a:ea typeface="Calibri" pitchFamily="34" charset="-122"/>
                <a:cs typeface="Calibri" pitchFamily="34" charset="-120"/>
              </a:rPr>
              <a:t>Deployed beyond localhost, monitored, documented, rehearsed.</a:t>
            </a:r>
            <a:endParaRPr lang="en-US" sz="1050" dirty="0"/>
          </a:p>
          <a:p>
            <a:pPr marL="152400" indent="-152400">
              <a:spcAft>
                <a:spcPts val="400"/>
              </a:spcAft>
              <a:buSzPct val="100000"/>
              <a:buChar char="•"/>
            </a:pPr>
            <a:r>
              <a:rPr lang="en-US" sz="1050" dirty="0">
                <a:solidFill>
                  <a:srgbClr val="C9D6E4"/>
                </a:solidFill>
                <a:latin typeface="Calibri" pitchFamily="34" charset="0"/>
                <a:ea typeface="Calibri" pitchFamily="34" charset="-122"/>
                <a:cs typeface="Calibri" pitchFamily="34" charset="-120"/>
              </a:rPr>
              <a:t>Week 20: Demo Day before an industry panel.</a:t>
            </a:r>
            <a:endParaRPr lang="en-US" sz="1050" dirty="0"/>
          </a:p>
        </p:txBody>
      </p:sp>
      <p:sp>
        <p:nvSpPr>
          <p:cNvPr id="50" name="anim:3"/>
          <p:cNvSpPr/>
          <p:nvPr/>
        </p:nvSpPr>
        <p:spPr>
          <a:xfrm>
            <a:off x="8339328" y="4663440"/>
            <a:ext cx="3017520" cy="0"/>
          </a:xfrm>
          <a:prstGeom prst="line">
            <a:avLst/>
          </a:prstGeom>
          <a:noFill/>
          <a:ln w="9525">
            <a:solidFill>
              <a:srgbClr val="25467A"/>
            </a:solidFill>
            <a:prstDash val="solid"/>
          </a:ln>
        </p:spPr>
        <p:txBody>
          <a:bodyPr/>
          <a:p/>
        </p:txBody>
      </p:sp>
      <p:sp>
        <p:nvSpPr>
          <p:cNvPr id="51" name="anim:3"/>
          <p:cNvSpPr txBox="1"/>
          <p:nvPr/>
        </p:nvSpPr>
        <p:spPr>
          <a:xfrm>
            <a:off x="8339328" y="4727448"/>
            <a:ext cx="3017520" cy="182880"/>
          </a:xfrm>
          <a:prstGeom prst="rect">
            <a:avLst/>
          </a:prstGeom>
          <a:noFill/>
          <a:ln/>
        </p:spPr>
        <p:txBody>
          <a:bodyPr wrap="square" lIns="0" tIns="0" rIns="0" bIns="0" rtlCol="0" anchor="t"/>
          <a:lstStyle/>
          <a:p>
            <a:pPr algn="l" indent="0" marL="0">
              <a:buNone/>
            </a:pPr>
            <a:r>
              <a:rPr lang="en-US" sz="750" b="1" spc="200" kern="0" dirty="0">
                <a:solidFill>
                  <a:srgbClr val="E9B221"/>
                </a:solidFill>
                <a:latin typeface="Calibri" pitchFamily="34" charset="0"/>
                <a:ea typeface="Calibri" pitchFamily="34" charset="-122"/>
                <a:cs typeface="Calibri" pitchFamily="34" charset="-120"/>
              </a:rPr>
              <a:t>WHAT IS GRADED</a:t>
            </a:r>
            <a:endParaRPr lang="en-US" sz="750" dirty="0"/>
          </a:p>
        </p:txBody>
      </p:sp>
      <p:sp>
        <p:nvSpPr>
          <p:cNvPr id="52" name="anim:3"/>
          <p:cNvSpPr txBox="1"/>
          <p:nvPr/>
        </p:nvSpPr>
        <p:spPr>
          <a:xfrm>
            <a:off x="8339328" y="4910328"/>
            <a:ext cx="3017520" cy="457200"/>
          </a:xfrm>
          <a:prstGeom prst="rect">
            <a:avLst/>
          </a:prstGeom>
          <a:noFill/>
          <a:ln/>
        </p:spPr>
        <p:txBody>
          <a:bodyPr wrap="square" lIns="0" tIns="0" rIns="0" bIns="0" rtlCol="0" anchor="t"/>
          <a:lstStyle/>
          <a:p>
            <a:pPr algn="l" indent="0" marL="0">
              <a:buNone/>
            </a:pPr>
            <a:r>
              <a:rPr lang="en-US" sz="950" dirty="0">
                <a:solidFill>
                  <a:srgbClr val="C9D6E4"/>
                </a:solidFill>
                <a:latin typeface="Calibri" pitchFamily="34" charset="0"/>
                <a:ea typeface="Calibri" pitchFamily="34" charset="-122"/>
                <a:cs typeface="Calibri" pitchFamily="34" charset="-120"/>
              </a:rPr>
              <a:t>Capstone 200: the repository and code, plus the presentation and defence.</a:t>
            </a:r>
            <a:endParaRPr lang="en-US" sz="950" dirty="0"/>
          </a:p>
        </p:txBody>
      </p:sp>
      <p:sp>
        <p:nvSpPr>
          <p:cNvPr id="53" name="anim:4 grad:goldTint"/>
          <p:cNvSpPr/>
          <p:nvPr/>
        </p:nvSpPr>
        <p:spPr>
          <a:xfrm>
            <a:off x="548640" y="5577840"/>
            <a:ext cx="11091672" cy="713232"/>
          </a:xfrm>
          <a:prstGeom prst="roundRect">
            <a:avLst>
              <a:gd name="adj" fmla="val 12821"/>
            </a:avLst>
          </a:prstGeom>
          <a:gradFill rotWithShape="1">
            <a:gsLst>
              <a:gs pos="0">
                <a:srgbClr val="FCF5E2"/>
              </a:gs>
              <a:gs pos="100000">
                <a:srgbClr val="F4E5B8"/>
              </a:gs>
            </a:gsLst>
            <a:lin ang="5400000" scaled="0"/>
          </a:gradFill>
          <a:ln w="9525">
            <a:solidFill>
              <a:srgbClr val="E9B221"/>
            </a:solidFill>
            <a:prstDash val="solid"/>
          </a:ln>
        </p:spPr>
        <p:txBody>
          <a:bodyPr/>
          <a:p/>
        </p:txBody>
      </p:sp>
      <p:sp>
        <p:nvSpPr>
          <p:cNvPr id="54" name="anim:4"/>
          <p:cNvSpPr/>
          <p:nvPr/>
        </p:nvSpPr>
        <p:spPr>
          <a:xfrm>
            <a:off x="731520" y="5687568"/>
            <a:ext cx="493776" cy="493776"/>
          </a:xfrm>
          <a:prstGeom prst="ellipse">
            <a:avLst/>
          </a:prstGeom>
          <a:solidFill>
            <a:srgbClr val="E9B221"/>
          </a:solidFill>
          <a:ln w="9525">
            <a:solidFill>
              <a:srgbClr val="E9B221"/>
            </a:solidFill>
            <a:prstDash val="solid"/>
          </a:ln>
        </p:spPr>
        <p:txBody>
          <a:bodyPr/>
          <a:p/>
        </p:txBody>
      </p:sp>
      <p:pic>
        <p:nvPicPr>
          <p:cNvPr id="55" name="anim:4" descr="preencoded.png">    </p:cNvPr>
          <p:cNvPicPr>
            <a:picLocks noChangeAspect="1"/>
          </p:cNvPicPr>
          <p:nvPr/>
        </p:nvPicPr>
        <p:blipFill>
          <a:blip r:embed="rId6"/>
          <a:stretch>
            <a:fillRect/>
          </a:stretch>
        </p:blipFill>
        <p:spPr>
          <a:xfrm>
            <a:off x="850026" y="5806074"/>
            <a:ext cx="256764" cy="256764"/>
          </a:xfrm>
          <a:prstGeom prst="rect">
            <a:avLst/>
          </a:prstGeom>
        </p:spPr>
      </p:pic>
      <p:sp>
        <p:nvSpPr>
          <p:cNvPr id="56" name="anim:4"/>
          <p:cNvSpPr txBox="1"/>
          <p:nvPr/>
        </p:nvSpPr>
        <p:spPr>
          <a:xfrm>
            <a:off x="1371600" y="5650992"/>
            <a:ext cx="2743200" cy="182880"/>
          </a:xfrm>
          <a:prstGeom prst="rect">
            <a:avLst/>
          </a:prstGeom>
          <a:noFill/>
          <a:ln/>
        </p:spPr>
        <p:txBody>
          <a:bodyPr wrap="square" lIns="0" tIns="0" rIns="0" bIns="0" rtlCol="0" anchor="t"/>
          <a:lstStyle/>
          <a:p>
            <a:pPr algn="l" indent="0" marL="0">
              <a:buNone/>
            </a:pPr>
            <a:r>
              <a:rPr lang="en-US" sz="750" b="1" spc="200" kern="0" dirty="0">
                <a:solidFill>
                  <a:srgbClr val="C48F0F"/>
                </a:solidFill>
                <a:latin typeface="Calibri" pitchFamily="34" charset="0"/>
                <a:ea typeface="Calibri" pitchFamily="34" charset="-122"/>
                <a:cs typeface="Calibri" pitchFamily="34" charset="-120"/>
              </a:rPr>
              <a:t>PLUS ONE HINGE WEEK</a:t>
            </a:r>
            <a:endParaRPr lang="en-US" sz="750" dirty="0"/>
          </a:p>
        </p:txBody>
      </p:sp>
      <p:sp>
        <p:nvSpPr>
          <p:cNvPr id="57" name="anim:4"/>
          <p:cNvSpPr txBox="1"/>
          <p:nvPr/>
        </p:nvSpPr>
        <p:spPr>
          <a:xfrm>
            <a:off x="1371600" y="5852160"/>
            <a:ext cx="10058400" cy="41148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Week 16, the forward deployed engineering block: problem framing, options and trade-offs, the pitch. The capstone brief is issued here, and Major Exam 3 sits in this week.</a:t>
            </a:r>
            <a:endParaRPr lang="en-US" sz="10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childTnLst>
                          </p:cTn>
                        </p:par>
                      </p:childTnLst>
                    </p:cTn>
                  </p:par>
                  <p:par>
                    <p:cTn id="68" fill="hold">
                      <p:stCondLst>
                        <p:cond delay="indefinite"/>
                      </p:stCondLst>
                      <p:childTnLst>
                        <p:par>
                          <p:cTn id="69"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9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18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27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36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45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54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63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81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90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childTnLst>
                          </p:cTn>
                        </p:par>
                      </p:childTnLst>
                    </p:cTn>
                  </p:par>
                  <p:par>
                    <p:cTn id="103" fill="hold">
                      <p:stCondLst>
                        <p:cond delay="indefinite"/>
                      </p:stCondLst>
                      <p:childTnLst>
                        <p:par>
                          <p:cTn id="104"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9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18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27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36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45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par>
                                <p:cTn id="88" presetID="10" presetClass="entr" presetSubtype="0" fill="hold" grpId="0" nodeType="withEffect">
                                  <p:stCondLst>
                                    <p:cond delay="54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400"/>
                                        <p:tgtEl>
                                          <p:spTgt spid="48"/>
                                        </p:tgtEl>
                                      </p:cBhvr>
                                    </p:animEffect>
                                  </p:childTnLst>
                                </p:cTn>
                              </p:par>
                              <p:par>
                                <p:cTn id="91" presetID="10" presetClass="entr" presetSubtype="0" fill="hold" grpId="0" nodeType="withEffect">
                                  <p:stCondLst>
                                    <p:cond delay="630"/>
                                  </p:stCondLst>
                                  <p:childTnLst>
                                    <p:set>
                                      <p:cBhvr>
                                        <p:cTn id="92" dur="1" fill="hold">
                                          <p:stCondLst>
                                            <p:cond delay="0"/>
                                          </p:stCondLst>
                                        </p:cTn>
                                        <p:tgtEl>
                                          <p:spTgt spid="49"/>
                                        </p:tgtEl>
                                        <p:attrNameLst>
                                          <p:attrName>style.visibility</p:attrName>
                                        </p:attrNameLst>
                                      </p:cBhvr>
                                      <p:to>
                                        <p:strVal val="visible"/>
                                      </p:to>
                                    </p:set>
                                    <p:animEffect transition="in" filter="fade">
                                      <p:cBhvr>
                                        <p:cTn id="93" dur="400"/>
                                        <p:tgtEl>
                                          <p:spTgt spid="49"/>
                                        </p:tgtEl>
                                      </p:cBhvr>
                                    </p:animEffect>
                                  </p:childTnLst>
                                </p:cTn>
                              </p:par>
                              <p:par>
                                <p:cTn id="94" presetID="10" presetClass="entr" presetSubtype="0" fill="hold" grpId="0" nodeType="withEffect">
                                  <p:stCondLst>
                                    <p:cond delay="720"/>
                                  </p:stCondLst>
                                  <p:childTnLst>
                                    <p:set>
                                      <p:cBhvr>
                                        <p:cTn id="95" dur="1" fill="hold">
                                          <p:stCondLst>
                                            <p:cond delay="0"/>
                                          </p:stCondLst>
                                        </p:cTn>
                                        <p:tgtEl>
                                          <p:spTgt spid="50"/>
                                        </p:tgtEl>
                                        <p:attrNameLst>
                                          <p:attrName>style.visibility</p:attrName>
                                        </p:attrNameLst>
                                      </p:cBhvr>
                                      <p:to>
                                        <p:strVal val="visible"/>
                                      </p:to>
                                    </p:set>
                                    <p:animEffect transition="in" filter="fade">
                                      <p:cBhvr>
                                        <p:cTn id="96" dur="400"/>
                                        <p:tgtEl>
                                          <p:spTgt spid="50"/>
                                        </p:tgtEl>
                                      </p:cBhvr>
                                    </p:animEffect>
                                  </p:childTnLst>
                                </p:cTn>
                              </p:par>
                              <p:par>
                                <p:cTn id="97" presetID="10" presetClass="entr" presetSubtype="0" fill="hold" grpId="0" nodeType="withEffect">
                                  <p:stCondLst>
                                    <p:cond delay="810"/>
                                  </p:stCondLst>
                                  <p:childTnLst>
                                    <p:set>
                                      <p:cBhvr>
                                        <p:cTn id="98" dur="1" fill="hold">
                                          <p:stCondLst>
                                            <p:cond delay="0"/>
                                          </p:stCondLst>
                                        </p:cTn>
                                        <p:tgtEl>
                                          <p:spTgt spid="51"/>
                                        </p:tgtEl>
                                        <p:attrNameLst>
                                          <p:attrName>style.visibility</p:attrName>
                                        </p:attrNameLst>
                                      </p:cBhvr>
                                      <p:to>
                                        <p:strVal val="visible"/>
                                      </p:to>
                                    </p:set>
                                    <p:animEffect transition="in" filter="fade">
                                      <p:cBhvr>
                                        <p:cTn id="99" dur="400"/>
                                        <p:tgtEl>
                                          <p:spTgt spid="51"/>
                                        </p:tgtEl>
                                      </p:cBhvr>
                                    </p:animEffect>
                                  </p:childTnLst>
                                </p:cTn>
                              </p:par>
                              <p:par>
                                <p:cTn id="100" presetID="10" presetClass="entr" presetSubtype="0" fill="hold" grpId="0" nodeType="withEffect">
                                  <p:stCondLst>
                                    <p:cond delay="900"/>
                                  </p:stCondLst>
                                  <p:childTnLst>
                                    <p:set>
                                      <p:cBhvr>
                                        <p:cTn id="101" dur="1" fill="hold">
                                          <p:stCondLst>
                                            <p:cond delay="0"/>
                                          </p:stCondLst>
                                        </p:cTn>
                                        <p:tgtEl>
                                          <p:spTgt spid="52"/>
                                        </p:tgtEl>
                                        <p:attrNameLst>
                                          <p:attrName>style.visibility</p:attrName>
                                        </p:attrNameLst>
                                      </p:cBhvr>
                                      <p:to>
                                        <p:strVal val="visible"/>
                                      </p:to>
                                    </p:set>
                                    <p:animEffect transition="in" filter="fade">
                                      <p:cBhvr>
                                        <p:cTn id="102" dur="400"/>
                                        <p:tgtEl>
                                          <p:spTgt spid="52"/>
                                        </p:tgtEl>
                                      </p:cBhvr>
                                    </p:animEffect>
                                  </p:childTnLst>
                                </p:cTn>
                              </p:par>
                            </p:childTnLst>
                          </p:cTn>
                        </p:par>
                      </p:childTnLst>
                    </p:cTn>
                  </p:par>
                  <p:par>
                    <p:cTn id="120" fill="hold">
                      <p:stCondLst>
                        <p:cond delay="indefinite"/>
                      </p:stCondLst>
                      <p:childTnLst>
                        <p:par>
                          <p:cTn id="121"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9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18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27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par>
                                <p:cTn id="117" presetID="10" presetClass="entr" presetSubtype="0" fill="hold" grpId="0" nodeType="withEffect">
                                  <p:stCondLst>
                                    <p:cond delay="360"/>
                                  </p:stCondLst>
                                  <p:childTnLst>
                                    <p:set>
                                      <p:cBhvr>
                                        <p:cTn id="118" dur="1" fill="hold">
                                          <p:stCondLst>
                                            <p:cond delay="0"/>
                                          </p:stCondLst>
                                        </p:cTn>
                                        <p:tgtEl>
                                          <p:spTgt spid="57"/>
                                        </p:tgtEl>
                                        <p:attrNameLst>
                                          <p:attrName>style.visibility</p:attrName>
                                        </p:attrNameLst>
                                      </p:cBhvr>
                                      <p:to>
                                        <p:strVal val="visible"/>
                                      </p:to>
                                    </p:set>
                                    <p:animEffect transition="in" filter="fade">
                                      <p:cBhvr>
                                        <p:cTn id="119"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8</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007DB6"/>
          </a:solidFill>
          <a:ln w="12700">
            <a:solidFill>
              <a:srgbClr val="007DB6"/>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Four phases</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The content moves in four phases. Each ends with something you can show.</a:t>
            </a:r>
            <a:endParaRPr lang="en-US" sz="1250" dirty="0"/>
          </a:p>
        </p:txBody>
      </p:sp>
      <p:sp>
        <p:nvSpPr>
          <p:cNvPr id="21" name="anim:1 grad:card"/>
          <p:cNvSpPr/>
          <p:nvPr/>
        </p:nvSpPr>
        <p:spPr>
          <a:xfrm>
            <a:off x="548640" y="1783080"/>
            <a:ext cx="2606040" cy="4480560"/>
          </a:xfrm>
          <a:prstGeom prst="roundRect">
            <a:avLst>
              <a:gd name="adj" fmla="val 350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2" name="anim:1 grad:blue"/>
          <p:cNvSpPr/>
          <p:nvPr/>
        </p:nvSpPr>
        <p:spPr>
          <a:xfrm>
            <a:off x="822960" y="1947672"/>
            <a:ext cx="2057400" cy="82296"/>
          </a:xfrm>
          <a:prstGeom prst="roundRect">
            <a:avLst>
              <a:gd name="adj" fmla="val 44444"/>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23" name="anim:1"/>
          <p:cNvSpPr/>
          <p:nvPr/>
        </p:nvSpPr>
        <p:spPr>
          <a:xfrm>
            <a:off x="822960" y="2148840"/>
            <a:ext cx="640080" cy="640080"/>
          </a:xfrm>
          <a:prstGeom prst="ellipse">
            <a:avLst/>
          </a:prstGeom>
          <a:solidFill>
            <a:srgbClr val="E3F2FA"/>
          </a:solidFill>
          <a:ln w="9525">
            <a:solidFill>
              <a:srgbClr val="E3F2FA"/>
            </a:solidFill>
            <a:prstDash val="solid"/>
          </a:ln>
        </p:spPr>
        <p:txBody>
          <a:bodyPr/>
          <a:p/>
        </p:txBody>
      </p:sp>
      <p:pic>
        <p:nvPicPr>
          <p:cNvPr id="24" name="anim:1" descr="preencoded.png">    </p:cNvPr>
          <p:cNvPicPr>
            <a:picLocks noChangeAspect="1"/>
          </p:cNvPicPr>
          <p:nvPr/>
        </p:nvPicPr>
        <p:blipFill>
          <a:blip r:embed="rId3"/>
          <a:stretch>
            <a:fillRect/>
          </a:stretch>
        </p:blipFill>
        <p:spPr>
          <a:xfrm>
            <a:off x="976579" y="2302459"/>
            <a:ext cx="332842" cy="332842"/>
          </a:xfrm>
          <a:prstGeom prst="rect">
            <a:avLst/>
          </a:prstGeom>
        </p:spPr>
      </p:pic>
      <p:sp>
        <p:nvSpPr>
          <p:cNvPr id="25" name="anim:1"/>
          <p:cNvSpPr txBox="1"/>
          <p:nvPr/>
        </p:nvSpPr>
        <p:spPr>
          <a:xfrm>
            <a:off x="2148840" y="2148840"/>
            <a:ext cx="731520" cy="640080"/>
          </a:xfrm>
          <a:prstGeom prst="rect">
            <a:avLst/>
          </a:prstGeom>
          <a:noFill/>
          <a:ln/>
        </p:spPr>
        <p:txBody>
          <a:bodyPr wrap="square" lIns="0" tIns="0" rIns="0" bIns="0" rtlCol="0" anchor="t"/>
          <a:lstStyle/>
          <a:p>
            <a:pPr algn="r" indent="0" marL="0">
              <a:buNone/>
            </a:pPr>
            <a:r>
              <a:rPr lang="en-US" sz="3000" b="1" dirty="0">
                <a:solidFill>
                  <a:srgbClr val="E4E9F0"/>
                </a:solidFill>
                <a:latin typeface="Calibri" pitchFamily="34" charset="0"/>
                <a:ea typeface="Calibri" pitchFamily="34" charset="-122"/>
                <a:cs typeface="Calibri" pitchFamily="34" charset="-120"/>
              </a:rPr>
              <a:t>01</a:t>
            </a:r>
            <a:endParaRPr lang="en-US" sz="3000" dirty="0"/>
          </a:p>
        </p:txBody>
      </p:sp>
      <p:sp>
        <p:nvSpPr>
          <p:cNvPr id="26" name="anim:1"/>
          <p:cNvSpPr txBox="1"/>
          <p:nvPr/>
        </p:nvSpPr>
        <p:spPr>
          <a:xfrm>
            <a:off x="822960" y="2971800"/>
            <a:ext cx="2103120" cy="685800"/>
          </a:xfrm>
          <a:prstGeom prst="rect">
            <a:avLst/>
          </a:prstGeom>
          <a:noFill/>
          <a:ln/>
        </p:spPr>
        <p:txBody>
          <a:bodyPr wrap="square" lIns="0" tIns="0" rIns="0" bIns="0" rtlCol="0" anchor="t"/>
          <a:lstStyle/>
          <a:p>
            <a:pPr algn="l" indent="0" marL="0">
              <a:buNone/>
            </a:pPr>
            <a:r>
              <a:rPr lang="en-US" sz="1600" b="1" dirty="0">
                <a:solidFill>
                  <a:srgbClr val="0A1E33"/>
                </a:solidFill>
                <a:latin typeface="Calibri" pitchFamily="34" charset="0"/>
                <a:ea typeface="Calibri" pitchFamily="34" charset="-122"/>
                <a:cs typeface="Calibri" pitchFamily="34" charset="-120"/>
              </a:rPr>
              <a:t>Data and machine learning</a:t>
            </a:r>
            <a:endParaRPr lang="en-US" sz="1600" dirty="0"/>
          </a:p>
        </p:txBody>
      </p:sp>
      <p:sp>
        <p:nvSpPr>
          <p:cNvPr id="27" name="anim:1"/>
          <p:cNvSpPr txBox="1"/>
          <p:nvPr/>
        </p:nvSpPr>
        <p:spPr>
          <a:xfrm>
            <a:off x="822960" y="3703320"/>
            <a:ext cx="1051560" cy="237744"/>
          </a:xfrm>
          <a:prstGeom prst="roundRect">
            <a:avLst>
              <a:gd name="adj" fmla="val 76923"/>
            </a:avLst>
          </a:prstGeom>
          <a:solidFill>
            <a:srgbClr val="E3F2FA"/>
          </a:solidFill>
          <a:ln w="9525">
            <a:solidFill>
              <a:srgbClr val="E3F2FA"/>
            </a:solidFill>
          </a:ln>
        </p:spPr>
        <p:txBody>
          <a:bodyPr wrap="square" lIns="0" tIns="76200" rIns="76200" bIns="0" rtlCol="0" anchor="ctr"/>
          <a:lstStyle/>
          <a:p>
            <a:pPr algn="ctr" indent="0" marL="0">
              <a:buNone/>
            </a:pPr>
            <a:r>
              <a:rPr lang="en-US" sz="800" b="1" dirty="0">
                <a:solidFill>
                  <a:srgbClr val="007DB6"/>
                </a:solidFill>
                <a:latin typeface="Calibri" pitchFamily="34" charset="0"/>
                <a:ea typeface="Calibri" pitchFamily="34" charset="-122"/>
                <a:cs typeface="Calibri" pitchFamily="34" charset="-120"/>
              </a:rPr>
              <a:t>Weeks 1 to 6</a:t>
            </a:r>
            <a:endParaRPr lang="en-US" sz="800" dirty="0"/>
          </a:p>
        </p:txBody>
      </p:sp>
      <p:sp>
        <p:nvSpPr>
          <p:cNvPr id="28" name="anim:1"/>
          <p:cNvSpPr txBox="1"/>
          <p:nvPr/>
        </p:nvSpPr>
        <p:spPr>
          <a:xfrm>
            <a:off x="1920240" y="3703320"/>
            <a:ext cx="1005840" cy="237744"/>
          </a:xfrm>
          <a:prstGeom prst="roundRect">
            <a:avLst>
              <a:gd name="adj" fmla="val 76923"/>
            </a:avLst>
          </a:prstGeom>
          <a:solidFill>
            <a:srgbClr val="F4F6F9"/>
          </a:solidFill>
          <a:ln w="9525">
            <a:solidFill>
              <a:srgbClr val="E4E9F0"/>
            </a:solidFill>
          </a:ln>
        </p:spPr>
        <p:txBody>
          <a:bodyPr wrap="square" lIns="0" tIns="76200" rIns="76200" bIns="0" rtlCol="0" anchor="ctr"/>
          <a:lstStyle/>
          <a:p>
            <a:pPr algn="ctr" indent="0" marL="0">
              <a:buNone/>
            </a:pPr>
            <a:r>
              <a:rPr lang="en-US" sz="800" b="1" dirty="0">
                <a:solidFill>
                  <a:srgbClr val="5F7183"/>
                </a:solidFill>
                <a:latin typeface="Calibri" pitchFamily="34" charset="0"/>
                <a:ea typeface="Calibri" pitchFamily="34" charset="-122"/>
                <a:cs typeface="Calibri" pitchFamily="34" charset="-120"/>
              </a:rPr>
              <a:t>Modules 1 and 2</a:t>
            </a:r>
            <a:endParaRPr lang="en-US" sz="800" dirty="0"/>
          </a:p>
        </p:txBody>
      </p:sp>
      <p:sp>
        <p:nvSpPr>
          <p:cNvPr id="29" name="anim:1"/>
          <p:cNvSpPr txBox="1"/>
          <p:nvPr/>
        </p:nvSpPr>
        <p:spPr>
          <a:xfrm>
            <a:off x="822960" y="4160520"/>
            <a:ext cx="210312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WHAT YOU CAN DO AT THE END</a:t>
            </a:r>
            <a:endParaRPr lang="en-US" sz="750" dirty="0"/>
          </a:p>
        </p:txBody>
      </p:sp>
      <p:sp>
        <p:nvSpPr>
          <p:cNvPr id="30" name="anim:1"/>
          <p:cNvSpPr txBox="1"/>
          <p:nvPr/>
        </p:nvSpPr>
        <p:spPr>
          <a:xfrm>
            <a:off x="822960" y="4389120"/>
            <a:ext cx="2103120" cy="11887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Raw data to a defended business recommendation.</a:t>
            </a:r>
            <a:endParaRPr lang="en-US" sz="1050" dirty="0"/>
          </a:p>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A first ML pipeline with honest evaluation.</a:t>
            </a:r>
            <a:endParaRPr lang="en-US" sz="1050" dirty="0"/>
          </a:p>
        </p:txBody>
      </p:sp>
      <p:sp>
        <p:nvSpPr>
          <p:cNvPr id="31" name="anim:1"/>
          <p:cNvSpPr/>
          <p:nvPr/>
        </p:nvSpPr>
        <p:spPr>
          <a:xfrm>
            <a:off x="822960" y="5577840"/>
            <a:ext cx="2057400" cy="475488"/>
          </a:xfrm>
          <a:prstGeom prst="roundRect">
            <a:avLst>
              <a:gd name="adj" fmla="val 19231"/>
            </a:avLst>
          </a:prstGeom>
          <a:solidFill>
            <a:srgbClr val="F4F6F9"/>
          </a:solidFill>
          <a:ln w="9525">
            <a:solidFill>
              <a:srgbClr val="E4E9F0"/>
            </a:solidFill>
            <a:prstDash val="solid"/>
          </a:ln>
        </p:spPr>
        <p:txBody>
          <a:bodyPr/>
          <a:p/>
        </p:txBody>
      </p:sp>
      <p:sp>
        <p:nvSpPr>
          <p:cNvPr id="32" name="anim:1"/>
          <p:cNvSpPr txBox="1"/>
          <p:nvPr/>
        </p:nvSpPr>
        <p:spPr>
          <a:xfrm>
            <a:off x="932688" y="5577840"/>
            <a:ext cx="1874520" cy="475488"/>
          </a:xfrm>
          <a:prstGeom prst="rect">
            <a:avLst/>
          </a:prstGeom>
          <a:noFill/>
          <a:ln/>
        </p:spPr>
        <p:txBody>
          <a:bodyPr wrap="square" lIns="0" tIns="0" rIns="0" bIns="0" rtlCol="0" anchor="ctr"/>
          <a:lstStyle/>
          <a:p>
            <a:pPr algn="l" indent="0" marL="0">
              <a:buNone/>
            </a:pPr>
            <a:r>
              <a:rPr lang="en-US" sz="900" b="1" dirty="0">
                <a:solidFill>
                  <a:srgbClr val="0A1E33"/>
                </a:solidFill>
                <a:latin typeface="Calibri" pitchFamily="34" charset="0"/>
                <a:ea typeface="Calibri" pitchFamily="34" charset="-122"/>
                <a:cs typeface="Calibri" pitchFamily="34" charset="-120"/>
              </a:rPr>
              <a:t>Ends with Build 2</a:t>
            </a:r>
            <a:endParaRPr lang="en-US" sz="900" dirty="0"/>
          </a:p>
        </p:txBody>
      </p:sp>
      <p:sp>
        <p:nvSpPr>
          <p:cNvPr id="33" name="anim:2 grad:card"/>
          <p:cNvSpPr/>
          <p:nvPr/>
        </p:nvSpPr>
        <p:spPr>
          <a:xfrm>
            <a:off x="3364992" y="1783080"/>
            <a:ext cx="2606040" cy="4480560"/>
          </a:xfrm>
          <a:prstGeom prst="roundRect">
            <a:avLst>
              <a:gd name="adj" fmla="val 350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4" name="anim:2 grad:bluePop"/>
          <p:cNvSpPr/>
          <p:nvPr/>
        </p:nvSpPr>
        <p:spPr>
          <a:xfrm>
            <a:off x="3639312" y="1947672"/>
            <a:ext cx="2057400" cy="82296"/>
          </a:xfrm>
          <a:prstGeom prst="roundRect">
            <a:avLst>
              <a:gd name="adj" fmla="val 44444"/>
            </a:avLst>
          </a:prstGeom>
          <a:gradFill rotWithShape="1">
            <a:gsLst>
              <a:gs pos="0">
                <a:srgbClr val="5CC0EE"/>
              </a:gs>
              <a:gs pos="100000">
                <a:srgbClr val="1E96CF"/>
              </a:gs>
            </a:gsLst>
            <a:lin ang="5400000" scaled="0"/>
          </a:gradFill>
          <a:ln w="12700">
            <a:solidFill>
              <a:srgbClr val="2FA8E0"/>
            </a:solidFill>
            <a:prstDash val="solid"/>
          </a:ln>
        </p:spPr>
        <p:txBody>
          <a:bodyPr/>
          <a:p/>
        </p:txBody>
      </p:sp>
      <p:sp>
        <p:nvSpPr>
          <p:cNvPr id="35" name="anim:2"/>
          <p:cNvSpPr/>
          <p:nvPr/>
        </p:nvSpPr>
        <p:spPr>
          <a:xfrm>
            <a:off x="3639312" y="2148840"/>
            <a:ext cx="640080" cy="640080"/>
          </a:xfrm>
          <a:prstGeom prst="ellipse">
            <a:avLst/>
          </a:prstGeom>
          <a:solidFill>
            <a:srgbClr val="E3F2FA"/>
          </a:solidFill>
          <a:ln w="9525">
            <a:solidFill>
              <a:srgbClr val="E3F2FA"/>
            </a:solidFill>
            <a:prstDash val="solid"/>
          </a:ln>
        </p:spPr>
        <p:txBody>
          <a:bodyPr/>
          <a:p/>
        </p:txBody>
      </p:sp>
      <p:pic>
        <p:nvPicPr>
          <p:cNvPr id="36" name="anim:2" descr="preencoded.png">    </p:cNvPr>
          <p:cNvPicPr>
            <a:picLocks noChangeAspect="1"/>
          </p:cNvPicPr>
          <p:nvPr/>
        </p:nvPicPr>
        <p:blipFill>
          <a:blip r:embed="rId4"/>
          <a:stretch>
            <a:fillRect/>
          </a:stretch>
        </p:blipFill>
        <p:spPr>
          <a:xfrm>
            <a:off x="3792931" y="2302459"/>
            <a:ext cx="332842" cy="332842"/>
          </a:xfrm>
          <a:prstGeom prst="rect">
            <a:avLst/>
          </a:prstGeom>
        </p:spPr>
      </p:pic>
      <p:sp>
        <p:nvSpPr>
          <p:cNvPr id="37" name="anim:2"/>
          <p:cNvSpPr txBox="1"/>
          <p:nvPr/>
        </p:nvSpPr>
        <p:spPr>
          <a:xfrm>
            <a:off x="4965192" y="2148840"/>
            <a:ext cx="731520" cy="640080"/>
          </a:xfrm>
          <a:prstGeom prst="rect">
            <a:avLst/>
          </a:prstGeom>
          <a:noFill/>
          <a:ln/>
        </p:spPr>
        <p:txBody>
          <a:bodyPr wrap="square" lIns="0" tIns="0" rIns="0" bIns="0" rtlCol="0" anchor="t"/>
          <a:lstStyle/>
          <a:p>
            <a:pPr algn="r" indent="0" marL="0">
              <a:buNone/>
            </a:pPr>
            <a:r>
              <a:rPr lang="en-US" sz="3000" b="1" dirty="0">
                <a:solidFill>
                  <a:srgbClr val="E4E9F0"/>
                </a:solidFill>
                <a:latin typeface="Calibri" pitchFamily="34" charset="0"/>
                <a:ea typeface="Calibri" pitchFamily="34" charset="-122"/>
                <a:cs typeface="Calibri" pitchFamily="34" charset="-120"/>
              </a:rPr>
              <a:t>02</a:t>
            </a:r>
            <a:endParaRPr lang="en-US" sz="3000" dirty="0"/>
          </a:p>
        </p:txBody>
      </p:sp>
      <p:sp>
        <p:nvSpPr>
          <p:cNvPr id="38" name="anim:2"/>
          <p:cNvSpPr txBox="1"/>
          <p:nvPr/>
        </p:nvSpPr>
        <p:spPr>
          <a:xfrm>
            <a:off x="3639312" y="2971800"/>
            <a:ext cx="2103120" cy="685800"/>
          </a:xfrm>
          <a:prstGeom prst="rect">
            <a:avLst/>
          </a:prstGeom>
          <a:noFill/>
          <a:ln/>
        </p:spPr>
        <p:txBody>
          <a:bodyPr wrap="square" lIns="0" tIns="0" rIns="0" bIns="0" rtlCol="0" anchor="t"/>
          <a:lstStyle/>
          <a:p>
            <a:pPr algn="l" indent="0" marL="0">
              <a:buNone/>
            </a:pPr>
            <a:r>
              <a:rPr lang="en-US" sz="1600" b="1" dirty="0">
                <a:solidFill>
                  <a:srgbClr val="0A1E33"/>
                </a:solidFill>
                <a:latin typeface="Calibri" pitchFamily="34" charset="0"/>
                <a:ea typeface="Calibri" pitchFamily="34" charset="-122"/>
                <a:cs typeface="Calibri" pitchFamily="34" charset="-120"/>
              </a:rPr>
              <a:t>Deep learning to generative AI</a:t>
            </a:r>
            <a:endParaRPr lang="en-US" sz="1600" dirty="0"/>
          </a:p>
        </p:txBody>
      </p:sp>
      <p:sp>
        <p:nvSpPr>
          <p:cNvPr id="39" name="anim:2"/>
          <p:cNvSpPr txBox="1"/>
          <p:nvPr/>
        </p:nvSpPr>
        <p:spPr>
          <a:xfrm>
            <a:off x="3639312" y="3703320"/>
            <a:ext cx="1051560" cy="237744"/>
          </a:xfrm>
          <a:prstGeom prst="roundRect">
            <a:avLst>
              <a:gd name="adj" fmla="val 76923"/>
            </a:avLst>
          </a:prstGeom>
          <a:solidFill>
            <a:srgbClr val="E3F2FA"/>
          </a:solidFill>
          <a:ln w="9525">
            <a:solidFill>
              <a:srgbClr val="E3F2FA"/>
            </a:solidFill>
          </a:ln>
        </p:spPr>
        <p:txBody>
          <a:bodyPr wrap="square" lIns="0" tIns="76200" rIns="76200" bIns="0" rtlCol="0" anchor="ctr"/>
          <a:lstStyle/>
          <a:p>
            <a:pPr algn="ctr" indent="0" marL="0">
              <a:buNone/>
            </a:pPr>
            <a:r>
              <a:rPr lang="en-US" sz="800" b="1" dirty="0">
                <a:solidFill>
                  <a:srgbClr val="007DB6"/>
                </a:solidFill>
                <a:latin typeface="Calibri" pitchFamily="34" charset="0"/>
                <a:ea typeface="Calibri" pitchFamily="34" charset="-122"/>
                <a:cs typeface="Calibri" pitchFamily="34" charset="-120"/>
              </a:rPr>
              <a:t>Weeks 7 to 12</a:t>
            </a:r>
            <a:endParaRPr lang="en-US" sz="800" dirty="0"/>
          </a:p>
        </p:txBody>
      </p:sp>
      <p:sp>
        <p:nvSpPr>
          <p:cNvPr id="40" name="anim:2"/>
          <p:cNvSpPr txBox="1"/>
          <p:nvPr/>
        </p:nvSpPr>
        <p:spPr>
          <a:xfrm>
            <a:off x="4736592" y="3703320"/>
            <a:ext cx="1005840" cy="237744"/>
          </a:xfrm>
          <a:prstGeom prst="roundRect">
            <a:avLst>
              <a:gd name="adj" fmla="val 76923"/>
            </a:avLst>
          </a:prstGeom>
          <a:solidFill>
            <a:srgbClr val="F4F6F9"/>
          </a:solidFill>
          <a:ln w="9525">
            <a:solidFill>
              <a:srgbClr val="E4E9F0"/>
            </a:solidFill>
          </a:ln>
        </p:spPr>
        <p:txBody>
          <a:bodyPr wrap="square" lIns="0" tIns="76200" rIns="76200" bIns="0" rtlCol="0" anchor="ctr"/>
          <a:lstStyle/>
          <a:p>
            <a:pPr algn="ctr" indent="0" marL="0">
              <a:buNone/>
            </a:pPr>
            <a:r>
              <a:rPr lang="en-US" sz="800" b="1" dirty="0">
                <a:solidFill>
                  <a:srgbClr val="5F7183"/>
                </a:solidFill>
                <a:latin typeface="Calibri" pitchFamily="34" charset="0"/>
                <a:ea typeface="Calibri" pitchFamily="34" charset="-122"/>
                <a:cs typeface="Calibri" pitchFamily="34" charset="-120"/>
              </a:rPr>
              <a:t>Modules 3 to 6</a:t>
            </a:r>
            <a:endParaRPr lang="en-US" sz="800" dirty="0"/>
          </a:p>
        </p:txBody>
      </p:sp>
      <p:sp>
        <p:nvSpPr>
          <p:cNvPr id="41" name="anim:2"/>
          <p:cNvSpPr txBox="1"/>
          <p:nvPr/>
        </p:nvSpPr>
        <p:spPr>
          <a:xfrm>
            <a:off x="3639312" y="4160520"/>
            <a:ext cx="210312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WHAT YOU CAN DO AT THE END</a:t>
            </a:r>
            <a:endParaRPr lang="en-US" sz="750" dirty="0"/>
          </a:p>
        </p:txBody>
      </p:sp>
      <p:sp>
        <p:nvSpPr>
          <p:cNvPr id="42" name="anim:2"/>
          <p:cNvSpPr txBox="1"/>
          <p:nvPr/>
        </p:nvSpPr>
        <p:spPr>
          <a:xfrm>
            <a:off x="3639312" y="4389120"/>
            <a:ext cx="2103120" cy="11887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A transformer you can explain and an LLM whose output you control.</a:t>
            </a:r>
            <a:endParaRPr lang="en-US" sz="1050" dirty="0"/>
          </a:p>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A cited retrieval assistant with measured quality.</a:t>
            </a:r>
            <a:endParaRPr lang="en-US" sz="1050" dirty="0"/>
          </a:p>
        </p:txBody>
      </p:sp>
      <p:sp>
        <p:nvSpPr>
          <p:cNvPr id="43" name="anim:2"/>
          <p:cNvSpPr/>
          <p:nvPr/>
        </p:nvSpPr>
        <p:spPr>
          <a:xfrm>
            <a:off x="3639312" y="5577840"/>
            <a:ext cx="2057400" cy="475488"/>
          </a:xfrm>
          <a:prstGeom prst="roundRect">
            <a:avLst>
              <a:gd name="adj" fmla="val 19231"/>
            </a:avLst>
          </a:prstGeom>
          <a:solidFill>
            <a:srgbClr val="F4F6F9"/>
          </a:solidFill>
          <a:ln w="9525">
            <a:solidFill>
              <a:srgbClr val="E4E9F0"/>
            </a:solidFill>
            <a:prstDash val="solid"/>
          </a:ln>
        </p:spPr>
        <p:txBody>
          <a:bodyPr/>
          <a:p/>
        </p:txBody>
      </p:sp>
      <p:sp>
        <p:nvSpPr>
          <p:cNvPr id="44" name="anim:2"/>
          <p:cNvSpPr txBox="1"/>
          <p:nvPr/>
        </p:nvSpPr>
        <p:spPr>
          <a:xfrm>
            <a:off x="3749040" y="5577840"/>
            <a:ext cx="1874520" cy="475488"/>
          </a:xfrm>
          <a:prstGeom prst="rect">
            <a:avLst/>
          </a:prstGeom>
          <a:noFill/>
          <a:ln/>
        </p:spPr>
        <p:txBody>
          <a:bodyPr wrap="square" lIns="0" tIns="0" rIns="0" bIns="0" rtlCol="0" anchor="ctr"/>
          <a:lstStyle/>
          <a:p>
            <a:pPr algn="l" indent="0" marL="0">
              <a:buNone/>
            </a:pPr>
            <a:r>
              <a:rPr lang="en-US" sz="900" b="1" dirty="0">
                <a:solidFill>
                  <a:srgbClr val="0A1E33"/>
                </a:solidFill>
                <a:latin typeface="Calibri" pitchFamily="34" charset="0"/>
                <a:ea typeface="Calibri" pitchFamily="34" charset="-122"/>
                <a:cs typeface="Calibri" pitchFamily="34" charset="-120"/>
              </a:rPr>
              <a:t>Ends with Build 4</a:t>
            </a:r>
            <a:endParaRPr lang="en-US" sz="900" dirty="0"/>
          </a:p>
        </p:txBody>
      </p:sp>
      <p:sp>
        <p:nvSpPr>
          <p:cNvPr id="45" name="anim:3 grad:card"/>
          <p:cNvSpPr/>
          <p:nvPr/>
        </p:nvSpPr>
        <p:spPr>
          <a:xfrm>
            <a:off x="6181344" y="1783080"/>
            <a:ext cx="2606040" cy="4480560"/>
          </a:xfrm>
          <a:prstGeom prst="roundRect">
            <a:avLst>
              <a:gd name="adj" fmla="val 350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6" name="anim:3 grad:gold"/>
          <p:cNvSpPr/>
          <p:nvPr/>
        </p:nvSpPr>
        <p:spPr>
          <a:xfrm>
            <a:off x="6455664" y="1947672"/>
            <a:ext cx="2057400" cy="82296"/>
          </a:xfrm>
          <a:prstGeom prst="roundRect">
            <a:avLst>
              <a:gd name="adj" fmla="val 44444"/>
            </a:avLst>
          </a:prstGeom>
          <a:gradFill rotWithShape="1">
            <a:gsLst>
              <a:gs pos="0">
                <a:srgbClr val="F3C84A"/>
              </a:gs>
              <a:gs pos="100000">
                <a:srgbClr val="D9A21A"/>
              </a:gs>
            </a:gsLst>
            <a:lin ang="5400000" scaled="0"/>
          </a:gradFill>
          <a:ln w="12700">
            <a:solidFill>
              <a:srgbClr val="E9B221"/>
            </a:solidFill>
            <a:prstDash val="solid"/>
          </a:ln>
        </p:spPr>
        <p:txBody>
          <a:bodyPr/>
          <a:p/>
        </p:txBody>
      </p:sp>
      <p:sp>
        <p:nvSpPr>
          <p:cNvPr id="47" name="anim:3"/>
          <p:cNvSpPr/>
          <p:nvPr/>
        </p:nvSpPr>
        <p:spPr>
          <a:xfrm>
            <a:off x="6455664" y="2148840"/>
            <a:ext cx="640080" cy="640080"/>
          </a:xfrm>
          <a:prstGeom prst="ellipse">
            <a:avLst/>
          </a:prstGeom>
          <a:solidFill>
            <a:srgbClr val="FBF1D6"/>
          </a:solidFill>
          <a:ln w="9525">
            <a:solidFill>
              <a:srgbClr val="FBF1D6"/>
            </a:solidFill>
            <a:prstDash val="solid"/>
          </a:ln>
        </p:spPr>
        <p:txBody>
          <a:bodyPr/>
          <a:p/>
        </p:txBody>
      </p:sp>
      <p:pic>
        <p:nvPicPr>
          <p:cNvPr id="48" name="anim:3" descr="preencoded.png">    </p:cNvPr>
          <p:cNvPicPr>
            <a:picLocks noChangeAspect="1"/>
          </p:cNvPicPr>
          <p:nvPr/>
        </p:nvPicPr>
        <p:blipFill>
          <a:blip r:embed="rId5"/>
          <a:stretch>
            <a:fillRect/>
          </a:stretch>
        </p:blipFill>
        <p:spPr>
          <a:xfrm>
            <a:off x="6609283" y="2302459"/>
            <a:ext cx="332842" cy="332842"/>
          </a:xfrm>
          <a:prstGeom prst="rect">
            <a:avLst/>
          </a:prstGeom>
        </p:spPr>
      </p:pic>
      <p:sp>
        <p:nvSpPr>
          <p:cNvPr id="49" name="anim:3"/>
          <p:cNvSpPr txBox="1"/>
          <p:nvPr/>
        </p:nvSpPr>
        <p:spPr>
          <a:xfrm>
            <a:off x="7781544" y="2148840"/>
            <a:ext cx="731520" cy="640080"/>
          </a:xfrm>
          <a:prstGeom prst="rect">
            <a:avLst/>
          </a:prstGeom>
          <a:noFill/>
          <a:ln/>
        </p:spPr>
        <p:txBody>
          <a:bodyPr wrap="square" lIns="0" tIns="0" rIns="0" bIns="0" rtlCol="0" anchor="t"/>
          <a:lstStyle/>
          <a:p>
            <a:pPr algn="r" indent="0" marL="0">
              <a:buNone/>
            </a:pPr>
            <a:r>
              <a:rPr lang="en-US" sz="3000" b="1" dirty="0">
                <a:solidFill>
                  <a:srgbClr val="E4E9F0"/>
                </a:solidFill>
                <a:latin typeface="Calibri" pitchFamily="34" charset="0"/>
                <a:ea typeface="Calibri" pitchFamily="34" charset="-122"/>
                <a:cs typeface="Calibri" pitchFamily="34" charset="-120"/>
              </a:rPr>
              <a:t>03</a:t>
            </a:r>
            <a:endParaRPr lang="en-US" sz="3000" dirty="0"/>
          </a:p>
        </p:txBody>
      </p:sp>
      <p:sp>
        <p:nvSpPr>
          <p:cNvPr id="50" name="anim:3"/>
          <p:cNvSpPr txBox="1"/>
          <p:nvPr/>
        </p:nvSpPr>
        <p:spPr>
          <a:xfrm>
            <a:off x="6455664" y="2971800"/>
            <a:ext cx="2103120" cy="685800"/>
          </a:xfrm>
          <a:prstGeom prst="rect">
            <a:avLst/>
          </a:prstGeom>
          <a:noFill/>
          <a:ln/>
        </p:spPr>
        <p:txBody>
          <a:bodyPr wrap="square" lIns="0" tIns="0" rIns="0" bIns="0" rtlCol="0" anchor="t"/>
          <a:lstStyle/>
          <a:p>
            <a:pPr algn="l" indent="0" marL="0">
              <a:buNone/>
            </a:pPr>
            <a:r>
              <a:rPr lang="en-US" sz="1600" b="1" dirty="0">
                <a:solidFill>
                  <a:srgbClr val="0A1E33"/>
                </a:solidFill>
                <a:latin typeface="Calibri" pitchFamily="34" charset="0"/>
                <a:ea typeface="Calibri" pitchFamily="34" charset="-122"/>
                <a:cs typeface="Calibri" pitchFamily="34" charset="-120"/>
              </a:rPr>
              <a:t>Agents, production, FDE</a:t>
            </a:r>
            <a:endParaRPr lang="en-US" sz="1600" dirty="0"/>
          </a:p>
        </p:txBody>
      </p:sp>
      <p:sp>
        <p:nvSpPr>
          <p:cNvPr id="51" name="anim:3"/>
          <p:cNvSpPr txBox="1"/>
          <p:nvPr/>
        </p:nvSpPr>
        <p:spPr>
          <a:xfrm>
            <a:off x="6455664" y="3703320"/>
            <a:ext cx="1051560" cy="237744"/>
          </a:xfrm>
          <a:prstGeom prst="roundRect">
            <a:avLst>
              <a:gd name="adj" fmla="val 76923"/>
            </a:avLst>
          </a:prstGeom>
          <a:solidFill>
            <a:srgbClr val="E3F2FA"/>
          </a:solidFill>
          <a:ln w="9525">
            <a:solidFill>
              <a:srgbClr val="E3F2FA"/>
            </a:solidFill>
          </a:ln>
        </p:spPr>
        <p:txBody>
          <a:bodyPr wrap="square" lIns="0" tIns="76200" rIns="76200" bIns="0" rtlCol="0" anchor="ctr"/>
          <a:lstStyle/>
          <a:p>
            <a:pPr algn="ctr" indent="0" marL="0">
              <a:buNone/>
            </a:pPr>
            <a:r>
              <a:rPr lang="en-US" sz="800" b="1" dirty="0">
                <a:solidFill>
                  <a:srgbClr val="007DB6"/>
                </a:solidFill>
                <a:latin typeface="Calibri" pitchFamily="34" charset="0"/>
                <a:ea typeface="Calibri" pitchFamily="34" charset="-122"/>
                <a:cs typeface="Calibri" pitchFamily="34" charset="-120"/>
              </a:rPr>
              <a:t>Weeks 13 to 16</a:t>
            </a:r>
            <a:endParaRPr lang="en-US" sz="800" dirty="0"/>
          </a:p>
        </p:txBody>
      </p:sp>
      <p:sp>
        <p:nvSpPr>
          <p:cNvPr id="52" name="anim:3"/>
          <p:cNvSpPr txBox="1"/>
          <p:nvPr/>
        </p:nvSpPr>
        <p:spPr>
          <a:xfrm>
            <a:off x="7552944" y="3703320"/>
            <a:ext cx="1005840" cy="237744"/>
          </a:xfrm>
          <a:prstGeom prst="roundRect">
            <a:avLst>
              <a:gd name="adj" fmla="val 76923"/>
            </a:avLst>
          </a:prstGeom>
          <a:solidFill>
            <a:srgbClr val="F4F6F9"/>
          </a:solidFill>
          <a:ln w="9525">
            <a:solidFill>
              <a:srgbClr val="E4E9F0"/>
            </a:solidFill>
          </a:ln>
        </p:spPr>
        <p:txBody>
          <a:bodyPr wrap="square" lIns="0" tIns="76200" rIns="76200" bIns="0" rtlCol="0" anchor="ctr"/>
          <a:lstStyle/>
          <a:p>
            <a:pPr algn="ctr" indent="0" marL="0">
              <a:buNone/>
            </a:pPr>
            <a:r>
              <a:rPr lang="en-US" sz="800" b="1" dirty="0">
                <a:solidFill>
                  <a:srgbClr val="5F7183"/>
                </a:solidFill>
                <a:latin typeface="Calibri" pitchFamily="34" charset="0"/>
                <a:ea typeface="Calibri" pitchFamily="34" charset="-122"/>
                <a:cs typeface="Calibri" pitchFamily="34" charset="-120"/>
              </a:rPr>
              <a:t>Modules 7 to 9</a:t>
            </a:r>
            <a:endParaRPr lang="en-US" sz="800" dirty="0"/>
          </a:p>
        </p:txBody>
      </p:sp>
      <p:sp>
        <p:nvSpPr>
          <p:cNvPr id="53" name="anim:3"/>
          <p:cNvSpPr txBox="1"/>
          <p:nvPr/>
        </p:nvSpPr>
        <p:spPr>
          <a:xfrm>
            <a:off x="6455664" y="4160520"/>
            <a:ext cx="210312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WHAT YOU CAN DO AT THE END</a:t>
            </a:r>
            <a:endParaRPr lang="en-US" sz="750" dirty="0"/>
          </a:p>
        </p:txBody>
      </p:sp>
      <p:sp>
        <p:nvSpPr>
          <p:cNvPr id="54" name="anim:3"/>
          <p:cNvSpPr txBox="1"/>
          <p:nvPr/>
        </p:nvSpPr>
        <p:spPr>
          <a:xfrm>
            <a:off x="6455664" y="4389120"/>
            <a:ext cx="2103120" cy="11887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An agent you can build, guard, evaluate and deploy.</a:t>
            </a:r>
            <a:endParaRPr lang="en-US" sz="1050" dirty="0"/>
          </a:p>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A solution pitch in forward deployed mode.</a:t>
            </a:r>
            <a:endParaRPr lang="en-US" sz="1050" dirty="0"/>
          </a:p>
        </p:txBody>
      </p:sp>
      <p:sp>
        <p:nvSpPr>
          <p:cNvPr id="55" name="anim:3"/>
          <p:cNvSpPr/>
          <p:nvPr/>
        </p:nvSpPr>
        <p:spPr>
          <a:xfrm>
            <a:off x="6455664" y="5577840"/>
            <a:ext cx="2057400" cy="475488"/>
          </a:xfrm>
          <a:prstGeom prst="roundRect">
            <a:avLst>
              <a:gd name="adj" fmla="val 19231"/>
            </a:avLst>
          </a:prstGeom>
          <a:solidFill>
            <a:srgbClr val="F4F6F9"/>
          </a:solidFill>
          <a:ln w="9525">
            <a:solidFill>
              <a:srgbClr val="E4E9F0"/>
            </a:solidFill>
            <a:prstDash val="solid"/>
          </a:ln>
        </p:spPr>
        <p:txBody>
          <a:bodyPr/>
          <a:p/>
        </p:txBody>
      </p:sp>
      <p:sp>
        <p:nvSpPr>
          <p:cNvPr id="56" name="anim:3"/>
          <p:cNvSpPr txBox="1"/>
          <p:nvPr/>
        </p:nvSpPr>
        <p:spPr>
          <a:xfrm>
            <a:off x="6565392" y="5577840"/>
            <a:ext cx="1874520" cy="475488"/>
          </a:xfrm>
          <a:prstGeom prst="rect">
            <a:avLst/>
          </a:prstGeom>
          <a:noFill/>
          <a:ln/>
        </p:spPr>
        <p:txBody>
          <a:bodyPr wrap="square" lIns="0" tIns="0" rIns="0" bIns="0" rtlCol="0" anchor="ctr"/>
          <a:lstStyle/>
          <a:p>
            <a:pPr algn="l" indent="0" marL="0">
              <a:buNone/>
            </a:pPr>
            <a:r>
              <a:rPr lang="en-US" sz="900" b="1" dirty="0">
                <a:solidFill>
                  <a:srgbClr val="0A1E33"/>
                </a:solidFill>
                <a:latin typeface="Calibri" pitchFamily="34" charset="0"/>
                <a:ea typeface="Calibri" pitchFamily="34" charset="-122"/>
                <a:cs typeface="Calibri" pitchFamily="34" charset="-120"/>
              </a:rPr>
              <a:t>Ends with Major Exam 3 and the capstone brief</a:t>
            </a:r>
            <a:endParaRPr lang="en-US" sz="900" dirty="0"/>
          </a:p>
        </p:txBody>
      </p:sp>
      <p:sp>
        <p:nvSpPr>
          <p:cNvPr id="57" name="anim:4 grad:card"/>
          <p:cNvSpPr/>
          <p:nvPr/>
        </p:nvSpPr>
        <p:spPr>
          <a:xfrm>
            <a:off x="8997696" y="1783080"/>
            <a:ext cx="2606040" cy="4480560"/>
          </a:xfrm>
          <a:prstGeom prst="roundRect">
            <a:avLst>
              <a:gd name="adj" fmla="val 350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58" name="anim:4 grad:navy"/>
          <p:cNvSpPr/>
          <p:nvPr/>
        </p:nvSpPr>
        <p:spPr>
          <a:xfrm>
            <a:off x="9272016" y="1947672"/>
            <a:ext cx="2057400" cy="82296"/>
          </a:xfrm>
          <a:prstGeom prst="roundRect">
            <a:avLst>
              <a:gd name="adj" fmla="val 44444"/>
            </a:avLst>
          </a:prstGeom>
          <a:gradFill rotWithShape="1">
            <a:gsLst>
              <a:gs pos="0">
                <a:srgbClr val="1B4170"/>
              </a:gs>
              <a:gs pos="100000">
                <a:srgbClr val="0A1E33"/>
              </a:gs>
            </a:gsLst>
            <a:lin ang="5400000" scaled="0"/>
          </a:gradFill>
          <a:ln w="12700">
            <a:solidFill>
              <a:srgbClr val="0A1E33"/>
            </a:solidFill>
            <a:prstDash val="solid"/>
          </a:ln>
        </p:spPr>
        <p:txBody>
          <a:bodyPr/>
          <a:p/>
        </p:txBody>
      </p:sp>
      <p:sp>
        <p:nvSpPr>
          <p:cNvPr id="59" name="anim:4 grad:navy"/>
          <p:cNvSpPr/>
          <p:nvPr/>
        </p:nvSpPr>
        <p:spPr>
          <a:xfrm>
            <a:off x="9272016" y="2148840"/>
            <a:ext cx="640080" cy="640080"/>
          </a:xfrm>
          <a:prstGeom prst="ellipse">
            <a:avLst/>
          </a:prstGeom>
          <a:gradFill rotWithShape="1">
            <a:gsLst>
              <a:gs pos="0">
                <a:srgbClr val="1B4170"/>
              </a:gs>
              <a:gs pos="100000">
                <a:srgbClr val="0A1E33"/>
              </a:gs>
            </a:gsLst>
            <a:lin ang="5400000" scaled="0"/>
          </a:gradFill>
          <a:ln w="9525">
            <a:solidFill>
              <a:srgbClr val="0A1E33"/>
            </a:solidFill>
            <a:prstDash val="solid"/>
          </a:ln>
        </p:spPr>
        <p:txBody>
          <a:bodyPr/>
          <a:p/>
        </p:txBody>
      </p:sp>
      <p:pic>
        <p:nvPicPr>
          <p:cNvPr id="60" name="anim:4" descr="preencoded.png">    </p:cNvPr>
          <p:cNvPicPr>
            <a:picLocks noChangeAspect="1"/>
          </p:cNvPicPr>
          <p:nvPr/>
        </p:nvPicPr>
        <p:blipFill>
          <a:blip r:embed="rId6"/>
          <a:stretch>
            <a:fillRect/>
          </a:stretch>
        </p:blipFill>
        <p:spPr>
          <a:xfrm>
            <a:off x="9425635" y="2302459"/>
            <a:ext cx="332842" cy="332842"/>
          </a:xfrm>
          <a:prstGeom prst="rect">
            <a:avLst/>
          </a:prstGeom>
        </p:spPr>
      </p:pic>
      <p:sp>
        <p:nvSpPr>
          <p:cNvPr id="61" name="anim:4"/>
          <p:cNvSpPr txBox="1"/>
          <p:nvPr/>
        </p:nvSpPr>
        <p:spPr>
          <a:xfrm>
            <a:off x="10597896" y="2148840"/>
            <a:ext cx="731520" cy="640080"/>
          </a:xfrm>
          <a:prstGeom prst="rect">
            <a:avLst/>
          </a:prstGeom>
          <a:noFill/>
          <a:ln/>
        </p:spPr>
        <p:txBody>
          <a:bodyPr wrap="square" lIns="0" tIns="0" rIns="0" bIns="0" rtlCol="0" anchor="t"/>
          <a:lstStyle/>
          <a:p>
            <a:pPr algn="r" indent="0" marL="0">
              <a:buNone/>
            </a:pPr>
            <a:r>
              <a:rPr lang="en-US" sz="3000" b="1" dirty="0">
                <a:solidFill>
                  <a:srgbClr val="E4E9F0"/>
                </a:solidFill>
                <a:latin typeface="Calibri" pitchFamily="34" charset="0"/>
                <a:ea typeface="Calibri" pitchFamily="34" charset="-122"/>
                <a:cs typeface="Calibri" pitchFamily="34" charset="-120"/>
              </a:rPr>
              <a:t>04</a:t>
            </a:r>
            <a:endParaRPr lang="en-US" sz="3000" dirty="0"/>
          </a:p>
        </p:txBody>
      </p:sp>
      <p:sp>
        <p:nvSpPr>
          <p:cNvPr id="62" name="anim:4"/>
          <p:cNvSpPr txBox="1"/>
          <p:nvPr/>
        </p:nvSpPr>
        <p:spPr>
          <a:xfrm>
            <a:off x="9272016" y="2971800"/>
            <a:ext cx="2103120" cy="685800"/>
          </a:xfrm>
          <a:prstGeom prst="rect">
            <a:avLst/>
          </a:prstGeom>
          <a:noFill/>
          <a:ln/>
        </p:spPr>
        <p:txBody>
          <a:bodyPr wrap="square" lIns="0" tIns="0" rIns="0" bIns="0" rtlCol="0" anchor="t"/>
          <a:lstStyle/>
          <a:p>
            <a:pPr algn="l" indent="0" marL="0">
              <a:buNone/>
            </a:pPr>
            <a:r>
              <a:rPr lang="en-US" sz="1600" b="1" dirty="0">
                <a:solidFill>
                  <a:srgbClr val="0A1E33"/>
                </a:solidFill>
                <a:latin typeface="Calibri" pitchFamily="34" charset="0"/>
                <a:ea typeface="Calibri" pitchFamily="34" charset="-122"/>
                <a:cs typeface="Calibri" pitchFamily="34" charset="-120"/>
              </a:rPr>
              <a:t>Capstone</a:t>
            </a:r>
            <a:endParaRPr lang="en-US" sz="1600" dirty="0"/>
          </a:p>
        </p:txBody>
      </p:sp>
      <p:sp>
        <p:nvSpPr>
          <p:cNvPr id="63" name="anim:4"/>
          <p:cNvSpPr txBox="1"/>
          <p:nvPr/>
        </p:nvSpPr>
        <p:spPr>
          <a:xfrm>
            <a:off x="9272016" y="3703320"/>
            <a:ext cx="1051560" cy="237744"/>
          </a:xfrm>
          <a:prstGeom prst="roundRect">
            <a:avLst>
              <a:gd name="adj" fmla="val 76923"/>
            </a:avLst>
          </a:prstGeom>
          <a:solidFill>
            <a:srgbClr val="E3F2FA"/>
          </a:solidFill>
          <a:ln w="9525">
            <a:solidFill>
              <a:srgbClr val="E3F2FA"/>
            </a:solidFill>
          </a:ln>
        </p:spPr>
        <p:txBody>
          <a:bodyPr wrap="square" lIns="0" tIns="76200" rIns="76200" bIns="0" rtlCol="0" anchor="ctr"/>
          <a:lstStyle/>
          <a:p>
            <a:pPr algn="ctr" indent="0" marL="0">
              <a:buNone/>
            </a:pPr>
            <a:r>
              <a:rPr lang="en-US" sz="800" b="1" dirty="0">
                <a:solidFill>
                  <a:srgbClr val="007DB6"/>
                </a:solidFill>
                <a:latin typeface="Calibri" pitchFamily="34" charset="0"/>
                <a:ea typeface="Calibri" pitchFamily="34" charset="-122"/>
                <a:cs typeface="Calibri" pitchFamily="34" charset="-120"/>
              </a:rPr>
              <a:t>Weeks 17 to 20</a:t>
            </a:r>
            <a:endParaRPr lang="en-US" sz="800" dirty="0"/>
          </a:p>
        </p:txBody>
      </p:sp>
      <p:sp>
        <p:nvSpPr>
          <p:cNvPr id="64" name="anim:4"/>
          <p:cNvSpPr txBox="1"/>
          <p:nvPr/>
        </p:nvSpPr>
        <p:spPr>
          <a:xfrm>
            <a:off x="10369296" y="3703320"/>
            <a:ext cx="1005840" cy="237744"/>
          </a:xfrm>
          <a:prstGeom prst="roundRect">
            <a:avLst>
              <a:gd name="adj" fmla="val 76923"/>
            </a:avLst>
          </a:prstGeom>
          <a:solidFill>
            <a:srgbClr val="F4F6F9"/>
          </a:solidFill>
          <a:ln w="9525">
            <a:solidFill>
              <a:srgbClr val="E4E9F0"/>
            </a:solidFill>
          </a:ln>
        </p:spPr>
        <p:txBody>
          <a:bodyPr wrap="square" lIns="0" tIns="76200" rIns="76200" bIns="0" rtlCol="0" anchor="ctr"/>
          <a:lstStyle/>
          <a:p>
            <a:pPr algn="ctr" indent="0" marL="0">
              <a:buNone/>
            </a:pPr>
            <a:r>
              <a:rPr lang="en-US" sz="800" b="1" dirty="0">
                <a:solidFill>
                  <a:srgbClr val="5F7183"/>
                </a:solidFill>
                <a:latin typeface="Calibri" pitchFamily="34" charset="0"/>
                <a:ea typeface="Calibri" pitchFamily="34" charset="-122"/>
                <a:cs typeface="Calibri" pitchFamily="34" charset="-120"/>
              </a:rPr>
              <a:t>Module 10</a:t>
            </a:r>
            <a:endParaRPr lang="en-US" sz="800" dirty="0"/>
          </a:p>
        </p:txBody>
      </p:sp>
      <p:sp>
        <p:nvSpPr>
          <p:cNvPr id="65" name="anim:4"/>
          <p:cNvSpPr txBox="1"/>
          <p:nvPr/>
        </p:nvSpPr>
        <p:spPr>
          <a:xfrm>
            <a:off x="9272016" y="4160520"/>
            <a:ext cx="210312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WHAT YOU CAN DO AT THE END</a:t>
            </a:r>
            <a:endParaRPr lang="en-US" sz="750" dirty="0"/>
          </a:p>
        </p:txBody>
      </p:sp>
      <p:sp>
        <p:nvSpPr>
          <p:cNvPr id="66" name="anim:4"/>
          <p:cNvSpPr txBox="1"/>
          <p:nvPr/>
        </p:nvSpPr>
        <p:spPr>
          <a:xfrm>
            <a:off x="9272016" y="4389120"/>
            <a:ext cx="2103120" cy="118872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A deployed, defended project.</a:t>
            </a:r>
            <a:endParaRPr lang="en-US" sz="1050" dirty="0"/>
          </a:p>
          <a:p>
            <a:pPr marL="152400" indent="-152400">
              <a:spcAft>
                <a:spcPts val="400"/>
              </a:spcAft>
              <a:buSzPct val="100000"/>
              <a:buChar char="•"/>
            </a:pPr>
            <a:r>
              <a:rPr lang="en-US" sz="1050" dirty="0">
                <a:solidFill>
                  <a:srgbClr val="15243A"/>
                </a:solidFill>
                <a:latin typeface="Calibri" pitchFamily="34" charset="0"/>
                <a:ea typeface="Calibri" pitchFamily="34" charset="-122"/>
                <a:cs typeface="Calibri" pitchFamily="34" charset="-120"/>
              </a:rPr>
              <a:t>A challenges log you can talk through in any interview.</a:t>
            </a:r>
            <a:endParaRPr lang="en-US" sz="1050" dirty="0"/>
          </a:p>
        </p:txBody>
      </p:sp>
      <p:sp>
        <p:nvSpPr>
          <p:cNvPr id="67" name="anim:4"/>
          <p:cNvSpPr/>
          <p:nvPr/>
        </p:nvSpPr>
        <p:spPr>
          <a:xfrm>
            <a:off x="9272016" y="5577840"/>
            <a:ext cx="2057400" cy="475488"/>
          </a:xfrm>
          <a:prstGeom prst="roundRect">
            <a:avLst>
              <a:gd name="adj" fmla="val 19231"/>
            </a:avLst>
          </a:prstGeom>
          <a:solidFill>
            <a:srgbClr val="F4F6F9"/>
          </a:solidFill>
          <a:ln w="9525">
            <a:solidFill>
              <a:srgbClr val="E4E9F0"/>
            </a:solidFill>
            <a:prstDash val="solid"/>
          </a:ln>
        </p:spPr>
        <p:txBody>
          <a:bodyPr/>
          <a:p/>
        </p:txBody>
      </p:sp>
      <p:sp>
        <p:nvSpPr>
          <p:cNvPr id="68" name="anim:4"/>
          <p:cNvSpPr txBox="1"/>
          <p:nvPr/>
        </p:nvSpPr>
        <p:spPr>
          <a:xfrm>
            <a:off x="9381744" y="5577840"/>
            <a:ext cx="1874520" cy="475488"/>
          </a:xfrm>
          <a:prstGeom prst="rect">
            <a:avLst/>
          </a:prstGeom>
          <a:noFill/>
          <a:ln/>
        </p:spPr>
        <p:txBody>
          <a:bodyPr wrap="square" lIns="0" tIns="0" rIns="0" bIns="0" rtlCol="0" anchor="ctr"/>
          <a:lstStyle/>
          <a:p>
            <a:pPr algn="l" indent="0" marL="0">
              <a:buNone/>
            </a:pPr>
            <a:r>
              <a:rPr lang="en-US" sz="900" b="1" dirty="0">
                <a:solidFill>
                  <a:srgbClr val="0A1E33"/>
                </a:solidFill>
                <a:latin typeface="Calibri" pitchFamily="34" charset="0"/>
                <a:ea typeface="Calibri" pitchFamily="34" charset="-122"/>
                <a:cs typeface="Calibri" pitchFamily="34" charset="-120"/>
              </a:rPr>
              <a:t>Ends with Demo Day</a:t>
            </a:r>
            <a:endParaRPr lang="en-US" sz="9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9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18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27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45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54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63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72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81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90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9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18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par>
                                <p:cTn id="88" presetID="10" presetClass="entr" presetSubtype="0" fill="hold" grpId="0" nodeType="withEffect">
                                  <p:stCondLst>
                                    <p:cond delay="27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400"/>
                                        <p:tgtEl>
                                          <p:spTgt spid="48"/>
                                        </p:tgtEl>
                                      </p:cBhvr>
                                    </p:animEffect>
                                  </p:childTnLst>
                                </p:cTn>
                              </p:par>
                              <p:par>
                                <p:cTn id="91" presetID="10" presetClass="entr" presetSubtype="0" fill="hold" grpId="0" nodeType="withEffect">
                                  <p:stCondLst>
                                    <p:cond delay="360"/>
                                  </p:stCondLst>
                                  <p:childTnLst>
                                    <p:set>
                                      <p:cBhvr>
                                        <p:cTn id="92" dur="1" fill="hold">
                                          <p:stCondLst>
                                            <p:cond delay="0"/>
                                          </p:stCondLst>
                                        </p:cTn>
                                        <p:tgtEl>
                                          <p:spTgt spid="49"/>
                                        </p:tgtEl>
                                        <p:attrNameLst>
                                          <p:attrName>style.visibility</p:attrName>
                                        </p:attrNameLst>
                                      </p:cBhvr>
                                      <p:to>
                                        <p:strVal val="visible"/>
                                      </p:to>
                                    </p:set>
                                    <p:animEffect transition="in" filter="fade">
                                      <p:cBhvr>
                                        <p:cTn id="93" dur="400"/>
                                        <p:tgtEl>
                                          <p:spTgt spid="49"/>
                                        </p:tgtEl>
                                      </p:cBhvr>
                                    </p:animEffect>
                                  </p:childTnLst>
                                </p:cTn>
                              </p:par>
                              <p:par>
                                <p:cTn id="94" presetID="10" presetClass="entr" presetSubtype="0" fill="hold" grpId="0" nodeType="withEffect">
                                  <p:stCondLst>
                                    <p:cond delay="450"/>
                                  </p:stCondLst>
                                  <p:childTnLst>
                                    <p:set>
                                      <p:cBhvr>
                                        <p:cTn id="95" dur="1" fill="hold">
                                          <p:stCondLst>
                                            <p:cond delay="0"/>
                                          </p:stCondLst>
                                        </p:cTn>
                                        <p:tgtEl>
                                          <p:spTgt spid="50"/>
                                        </p:tgtEl>
                                        <p:attrNameLst>
                                          <p:attrName>style.visibility</p:attrName>
                                        </p:attrNameLst>
                                      </p:cBhvr>
                                      <p:to>
                                        <p:strVal val="visible"/>
                                      </p:to>
                                    </p:set>
                                    <p:animEffect transition="in" filter="fade">
                                      <p:cBhvr>
                                        <p:cTn id="96" dur="400"/>
                                        <p:tgtEl>
                                          <p:spTgt spid="50"/>
                                        </p:tgtEl>
                                      </p:cBhvr>
                                    </p:animEffect>
                                  </p:childTnLst>
                                </p:cTn>
                              </p:par>
                              <p:par>
                                <p:cTn id="97" presetID="10" presetClass="entr" presetSubtype="0" fill="hold" grpId="0" nodeType="withEffect">
                                  <p:stCondLst>
                                    <p:cond delay="540"/>
                                  </p:stCondLst>
                                  <p:childTnLst>
                                    <p:set>
                                      <p:cBhvr>
                                        <p:cTn id="98" dur="1" fill="hold">
                                          <p:stCondLst>
                                            <p:cond delay="0"/>
                                          </p:stCondLst>
                                        </p:cTn>
                                        <p:tgtEl>
                                          <p:spTgt spid="51"/>
                                        </p:tgtEl>
                                        <p:attrNameLst>
                                          <p:attrName>style.visibility</p:attrName>
                                        </p:attrNameLst>
                                      </p:cBhvr>
                                      <p:to>
                                        <p:strVal val="visible"/>
                                      </p:to>
                                    </p:set>
                                    <p:animEffect transition="in" filter="fade">
                                      <p:cBhvr>
                                        <p:cTn id="99" dur="400"/>
                                        <p:tgtEl>
                                          <p:spTgt spid="51"/>
                                        </p:tgtEl>
                                      </p:cBhvr>
                                    </p:animEffect>
                                  </p:childTnLst>
                                </p:cTn>
                              </p:par>
                              <p:par>
                                <p:cTn id="100" presetID="10" presetClass="entr" presetSubtype="0" fill="hold" grpId="0" nodeType="withEffect">
                                  <p:stCondLst>
                                    <p:cond delay="630"/>
                                  </p:stCondLst>
                                  <p:childTnLst>
                                    <p:set>
                                      <p:cBhvr>
                                        <p:cTn id="101" dur="1" fill="hold">
                                          <p:stCondLst>
                                            <p:cond delay="0"/>
                                          </p:stCondLst>
                                        </p:cTn>
                                        <p:tgtEl>
                                          <p:spTgt spid="52"/>
                                        </p:tgtEl>
                                        <p:attrNameLst>
                                          <p:attrName>style.visibility</p:attrName>
                                        </p:attrNameLst>
                                      </p:cBhvr>
                                      <p:to>
                                        <p:strVal val="visible"/>
                                      </p:to>
                                    </p:set>
                                    <p:animEffect transition="in" filter="fade">
                                      <p:cBhvr>
                                        <p:cTn id="102" dur="400"/>
                                        <p:tgtEl>
                                          <p:spTgt spid="52"/>
                                        </p:tgtEl>
                                      </p:cBhvr>
                                    </p:animEffect>
                                  </p:childTnLst>
                                </p:cTn>
                              </p:par>
                              <p:par>
                                <p:cTn id="103" presetID="10" presetClass="entr" presetSubtype="0" fill="hold" grpId="0" nodeType="withEffect">
                                  <p:stCondLst>
                                    <p:cond delay="720"/>
                                  </p:stCondLst>
                                  <p:childTnLst>
                                    <p:set>
                                      <p:cBhvr>
                                        <p:cTn id="104" dur="1" fill="hold">
                                          <p:stCondLst>
                                            <p:cond delay="0"/>
                                          </p:stCondLst>
                                        </p:cTn>
                                        <p:tgtEl>
                                          <p:spTgt spid="53"/>
                                        </p:tgtEl>
                                        <p:attrNameLst>
                                          <p:attrName>style.visibility</p:attrName>
                                        </p:attrNameLst>
                                      </p:cBhvr>
                                      <p:to>
                                        <p:strVal val="visible"/>
                                      </p:to>
                                    </p:set>
                                    <p:animEffect transition="in" filter="fade">
                                      <p:cBhvr>
                                        <p:cTn id="105" dur="400"/>
                                        <p:tgtEl>
                                          <p:spTgt spid="53"/>
                                        </p:tgtEl>
                                      </p:cBhvr>
                                    </p:animEffect>
                                  </p:childTnLst>
                                </p:cTn>
                              </p:par>
                              <p:par>
                                <p:cTn id="106" presetID="10" presetClass="entr" presetSubtype="0" fill="hold" grpId="0" nodeType="withEffect">
                                  <p:stCondLst>
                                    <p:cond delay="81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400"/>
                                        <p:tgtEl>
                                          <p:spTgt spid="54"/>
                                        </p:tgtEl>
                                      </p:cBhvr>
                                    </p:animEffect>
                                  </p:childTnLst>
                                </p:cTn>
                              </p:par>
                              <p:par>
                                <p:cTn id="109" presetID="10" presetClass="entr" presetSubtype="0" fill="hold" grpId="0" nodeType="withEffect">
                                  <p:stCondLst>
                                    <p:cond delay="90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400"/>
                                        <p:tgtEl>
                                          <p:spTgt spid="55"/>
                                        </p:tgtEl>
                                      </p:cBhvr>
                                    </p:animEffect>
                                  </p:childTnLst>
                                </p:cTn>
                              </p:par>
                              <p:par>
                                <p:cTn id="112" presetID="10" presetClass="entr" presetSubtype="0" fill="hold" grpId="0" nodeType="withEffect">
                                  <p:stCondLst>
                                    <p:cond delay="900"/>
                                  </p:stCondLst>
                                  <p:childTnLst>
                                    <p:set>
                                      <p:cBhvr>
                                        <p:cTn id="113" dur="1" fill="hold">
                                          <p:stCondLst>
                                            <p:cond delay="0"/>
                                          </p:stCondLst>
                                        </p:cTn>
                                        <p:tgtEl>
                                          <p:spTgt spid="56"/>
                                        </p:tgtEl>
                                        <p:attrNameLst>
                                          <p:attrName>style.visibility</p:attrName>
                                        </p:attrNameLst>
                                      </p:cBhvr>
                                      <p:to>
                                        <p:strVal val="visible"/>
                                      </p:to>
                                    </p:set>
                                    <p:animEffect transition="in" filter="fade">
                                      <p:cBhvr>
                                        <p:cTn id="114" dur="400"/>
                                        <p:tgtEl>
                                          <p:spTgt spid="56"/>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57"/>
                                        </p:tgtEl>
                                        <p:attrNameLst>
                                          <p:attrName>style.visibility</p:attrName>
                                        </p:attrNameLst>
                                      </p:cBhvr>
                                      <p:to>
                                        <p:strVal val="visible"/>
                                      </p:to>
                                    </p:set>
                                    <p:animEffect transition="in" filter="fade">
                                      <p:cBhvr>
                                        <p:cTn id="119" dur="400"/>
                                        <p:tgtEl>
                                          <p:spTgt spid="57"/>
                                        </p:tgtEl>
                                      </p:cBhvr>
                                    </p:animEffect>
                                  </p:childTnLst>
                                </p:cTn>
                              </p:par>
                              <p:par>
                                <p:cTn id="120" presetID="10" presetClass="entr" presetSubtype="0" fill="hold" grpId="0" nodeType="withEffect">
                                  <p:stCondLst>
                                    <p:cond delay="90"/>
                                  </p:stCondLst>
                                  <p:childTnLst>
                                    <p:set>
                                      <p:cBhvr>
                                        <p:cTn id="121" dur="1" fill="hold">
                                          <p:stCondLst>
                                            <p:cond delay="0"/>
                                          </p:stCondLst>
                                        </p:cTn>
                                        <p:tgtEl>
                                          <p:spTgt spid="58"/>
                                        </p:tgtEl>
                                        <p:attrNameLst>
                                          <p:attrName>style.visibility</p:attrName>
                                        </p:attrNameLst>
                                      </p:cBhvr>
                                      <p:to>
                                        <p:strVal val="visible"/>
                                      </p:to>
                                    </p:set>
                                    <p:animEffect transition="in" filter="fade">
                                      <p:cBhvr>
                                        <p:cTn id="122" dur="400"/>
                                        <p:tgtEl>
                                          <p:spTgt spid="58"/>
                                        </p:tgtEl>
                                      </p:cBhvr>
                                    </p:animEffect>
                                  </p:childTnLst>
                                </p:cTn>
                              </p:par>
                              <p:par>
                                <p:cTn id="123" presetID="10" presetClass="entr" presetSubtype="0" fill="hold" grpId="0" nodeType="withEffect">
                                  <p:stCondLst>
                                    <p:cond delay="180"/>
                                  </p:stCondLst>
                                  <p:childTnLst>
                                    <p:set>
                                      <p:cBhvr>
                                        <p:cTn id="124" dur="1" fill="hold">
                                          <p:stCondLst>
                                            <p:cond delay="0"/>
                                          </p:stCondLst>
                                        </p:cTn>
                                        <p:tgtEl>
                                          <p:spTgt spid="59"/>
                                        </p:tgtEl>
                                        <p:attrNameLst>
                                          <p:attrName>style.visibility</p:attrName>
                                        </p:attrNameLst>
                                      </p:cBhvr>
                                      <p:to>
                                        <p:strVal val="visible"/>
                                      </p:to>
                                    </p:set>
                                    <p:animEffect transition="in" filter="fade">
                                      <p:cBhvr>
                                        <p:cTn id="125" dur="400"/>
                                        <p:tgtEl>
                                          <p:spTgt spid="59"/>
                                        </p:tgtEl>
                                      </p:cBhvr>
                                    </p:animEffect>
                                  </p:childTnLst>
                                </p:cTn>
                              </p:par>
                              <p:par>
                                <p:cTn id="126" presetID="10" presetClass="entr" presetSubtype="0" fill="hold" grpId="0" nodeType="withEffect">
                                  <p:stCondLst>
                                    <p:cond delay="270"/>
                                  </p:stCondLst>
                                  <p:childTnLst>
                                    <p:set>
                                      <p:cBhvr>
                                        <p:cTn id="127" dur="1" fill="hold">
                                          <p:stCondLst>
                                            <p:cond delay="0"/>
                                          </p:stCondLst>
                                        </p:cTn>
                                        <p:tgtEl>
                                          <p:spTgt spid="60"/>
                                        </p:tgtEl>
                                        <p:attrNameLst>
                                          <p:attrName>style.visibility</p:attrName>
                                        </p:attrNameLst>
                                      </p:cBhvr>
                                      <p:to>
                                        <p:strVal val="visible"/>
                                      </p:to>
                                    </p:set>
                                    <p:animEffect transition="in" filter="fade">
                                      <p:cBhvr>
                                        <p:cTn id="128" dur="400"/>
                                        <p:tgtEl>
                                          <p:spTgt spid="60"/>
                                        </p:tgtEl>
                                      </p:cBhvr>
                                    </p:animEffect>
                                  </p:childTnLst>
                                </p:cTn>
                              </p:par>
                              <p:par>
                                <p:cTn id="129" presetID="10" presetClass="entr" presetSubtype="0" fill="hold" grpId="0" nodeType="withEffect">
                                  <p:stCondLst>
                                    <p:cond delay="360"/>
                                  </p:stCondLst>
                                  <p:childTnLst>
                                    <p:set>
                                      <p:cBhvr>
                                        <p:cTn id="130" dur="1" fill="hold">
                                          <p:stCondLst>
                                            <p:cond delay="0"/>
                                          </p:stCondLst>
                                        </p:cTn>
                                        <p:tgtEl>
                                          <p:spTgt spid="61"/>
                                        </p:tgtEl>
                                        <p:attrNameLst>
                                          <p:attrName>style.visibility</p:attrName>
                                        </p:attrNameLst>
                                      </p:cBhvr>
                                      <p:to>
                                        <p:strVal val="visible"/>
                                      </p:to>
                                    </p:set>
                                    <p:animEffect transition="in" filter="fade">
                                      <p:cBhvr>
                                        <p:cTn id="131" dur="400"/>
                                        <p:tgtEl>
                                          <p:spTgt spid="61"/>
                                        </p:tgtEl>
                                      </p:cBhvr>
                                    </p:animEffect>
                                  </p:childTnLst>
                                </p:cTn>
                              </p:par>
                              <p:par>
                                <p:cTn id="132" presetID="10" presetClass="entr" presetSubtype="0" fill="hold" grpId="0" nodeType="withEffect">
                                  <p:stCondLst>
                                    <p:cond delay="450"/>
                                  </p:stCondLst>
                                  <p:childTnLst>
                                    <p:set>
                                      <p:cBhvr>
                                        <p:cTn id="133" dur="1" fill="hold">
                                          <p:stCondLst>
                                            <p:cond delay="0"/>
                                          </p:stCondLst>
                                        </p:cTn>
                                        <p:tgtEl>
                                          <p:spTgt spid="62"/>
                                        </p:tgtEl>
                                        <p:attrNameLst>
                                          <p:attrName>style.visibility</p:attrName>
                                        </p:attrNameLst>
                                      </p:cBhvr>
                                      <p:to>
                                        <p:strVal val="visible"/>
                                      </p:to>
                                    </p:set>
                                    <p:animEffect transition="in" filter="fade">
                                      <p:cBhvr>
                                        <p:cTn id="134" dur="400"/>
                                        <p:tgtEl>
                                          <p:spTgt spid="62"/>
                                        </p:tgtEl>
                                      </p:cBhvr>
                                    </p:animEffect>
                                  </p:childTnLst>
                                </p:cTn>
                              </p:par>
                              <p:par>
                                <p:cTn id="135" presetID="10" presetClass="entr" presetSubtype="0" fill="hold" grpId="0" nodeType="withEffect">
                                  <p:stCondLst>
                                    <p:cond delay="540"/>
                                  </p:stCondLst>
                                  <p:childTnLst>
                                    <p:set>
                                      <p:cBhvr>
                                        <p:cTn id="136" dur="1" fill="hold">
                                          <p:stCondLst>
                                            <p:cond delay="0"/>
                                          </p:stCondLst>
                                        </p:cTn>
                                        <p:tgtEl>
                                          <p:spTgt spid="63"/>
                                        </p:tgtEl>
                                        <p:attrNameLst>
                                          <p:attrName>style.visibility</p:attrName>
                                        </p:attrNameLst>
                                      </p:cBhvr>
                                      <p:to>
                                        <p:strVal val="visible"/>
                                      </p:to>
                                    </p:set>
                                    <p:animEffect transition="in" filter="fade">
                                      <p:cBhvr>
                                        <p:cTn id="137" dur="400"/>
                                        <p:tgtEl>
                                          <p:spTgt spid="63"/>
                                        </p:tgtEl>
                                      </p:cBhvr>
                                    </p:animEffect>
                                  </p:childTnLst>
                                </p:cTn>
                              </p:par>
                              <p:par>
                                <p:cTn id="138" presetID="10" presetClass="entr" presetSubtype="0" fill="hold" grpId="0" nodeType="withEffect">
                                  <p:stCondLst>
                                    <p:cond delay="630"/>
                                  </p:stCondLst>
                                  <p:childTnLst>
                                    <p:set>
                                      <p:cBhvr>
                                        <p:cTn id="139" dur="1" fill="hold">
                                          <p:stCondLst>
                                            <p:cond delay="0"/>
                                          </p:stCondLst>
                                        </p:cTn>
                                        <p:tgtEl>
                                          <p:spTgt spid="64"/>
                                        </p:tgtEl>
                                        <p:attrNameLst>
                                          <p:attrName>style.visibility</p:attrName>
                                        </p:attrNameLst>
                                      </p:cBhvr>
                                      <p:to>
                                        <p:strVal val="visible"/>
                                      </p:to>
                                    </p:set>
                                    <p:animEffect transition="in" filter="fade">
                                      <p:cBhvr>
                                        <p:cTn id="140" dur="400"/>
                                        <p:tgtEl>
                                          <p:spTgt spid="64"/>
                                        </p:tgtEl>
                                      </p:cBhvr>
                                    </p:animEffect>
                                  </p:childTnLst>
                                </p:cTn>
                              </p:par>
                              <p:par>
                                <p:cTn id="141" presetID="10" presetClass="entr" presetSubtype="0" fill="hold" grpId="0" nodeType="withEffect">
                                  <p:stCondLst>
                                    <p:cond delay="720"/>
                                  </p:stCondLst>
                                  <p:childTnLst>
                                    <p:set>
                                      <p:cBhvr>
                                        <p:cTn id="142" dur="1" fill="hold">
                                          <p:stCondLst>
                                            <p:cond delay="0"/>
                                          </p:stCondLst>
                                        </p:cTn>
                                        <p:tgtEl>
                                          <p:spTgt spid="65"/>
                                        </p:tgtEl>
                                        <p:attrNameLst>
                                          <p:attrName>style.visibility</p:attrName>
                                        </p:attrNameLst>
                                      </p:cBhvr>
                                      <p:to>
                                        <p:strVal val="visible"/>
                                      </p:to>
                                    </p:set>
                                    <p:animEffect transition="in" filter="fade">
                                      <p:cBhvr>
                                        <p:cTn id="143" dur="400"/>
                                        <p:tgtEl>
                                          <p:spTgt spid="65"/>
                                        </p:tgtEl>
                                      </p:cBhvr>
                                    </p:animEffect>
                                  </p:childTnLst>
                                </p:cTn>
                              </p:par>
                              <p:par>
                                <p:cTn id="144" presetID="10" presetClass="entr" presetSubtype="0" fill="hold" grpId="0" nodeType="withEffect">
                                  <p:stCondLst>
                                    <p:cond delay="810"/>
                                  </p:stCondLst>
                                  <p:childTnLst>
                                    <p:set>
                                      <p:cBhvr>
                                        <p:cTn id="145" dur="1" fill="hold">
                                          <p:stCondLst>
                                            <p:cond delay="0"/>
                                          </p:stCondLst>
                                        </p:cTn>
                                        <p:tgtEl>
                                          <p:spTgt spid="66"/>
                                        </p:tgtEl>
                                        <p:attrNameLst>
                                          <p:attrName>style.visibility</p:attrName>
                                        </p:attrNameLst>
                                      </p:cBhvr>
                                      <p:to>
                                        <p:strVal val="visible"/>
                                      </p:to>
                                    </p:set>
                                    <p:animEffect transition="in" filter="fade">
                                      <p:cBhvr>
                                        <p:cTn id="146" dur="400"/>
                                        <p:tgtEl>
                                          <p:spTgt spid="66"/>
                                        </p:tgtEl>
                                      </p:cBhvr>
                                    </p:animEffect>
                                  </p:childTnLst>
                                </p:cTn>
                              </p:par>
                              <p:par>
                                <p:cTn id="147" presetID="10" presetClass="entr" presetSubtype="0" fill="hold" grpId="0" nodeType="withEffect">
                                  <p:stCondLst>
                                    <p:cond delay="900"/>
                                  </p:stCondLst>
                                  <p:childTnLst>
                                    <p:set>
                                      <p:cBhvr>
                                        <p:cTn id="148" dur="1" fill="hold">
                                          <p:stCondLst>
                                            <p:cond delay="0"/>
                                          </p:stCondLst>
                                        </p:cTn>
                                        <p:tgtEl>
                                          <p:spTgt spid="67"/>
                                        </p:tgtEl>
                                        <p:attrNameLst>
                                          <p:attrName>style.visibility</p:attrName>
                                        </p:attrNameLst>
                                      </p:cBhvr>
                                      <p:to>
                                        <p:strVal val="visible"/>
                                      </p:to>
                                    </p:set>
                                    <p:animEffect transition="in" filter="fade">
                                      <p:cBhvr>
                                        <p:cTn id="149" dur="400"/>
                                        <p:tgtEl>
                                          <p:spTgt spid="67"/>
                                        </p:tgtEl>
                                      </p:cBhvr>
                                    </p:animEffect>
                                  </p:childTnLst>
                                </p:cTn>
                              </p:par>
                              <p:par>
                                <p:cTn id="150" presetID="10" presetClass="entr" presetSubtype="0" fill="hold" grpId="0" nodeType="withEffect">
                                  <p:stCondLst>
                                    <p:cond delay="900"/>
                                  </p:stCondLst>
                                  <p:childTnLst>
                                    <p:set>
                                      <p:cBhvr>
                                        <p:cTn id="151" dur="1" fill="hold">
                                          <p:stCondLst>
                                            <p:cond delay="0"/>
                                          </p:stCondLst>
                                        </p:cTn>
                                        <p:tgtEl>
                                          <p:spTgt spid="68"/>
                                        </p:tgtEl>
                                        <p:attrNameLst>
                                          <p:attrName>style.visibility</p:attrName>
                                        </p:attrNameLst>
                                      </p:cBhvr>
                                      <p:to>
                                        <p:strVal val="visible"/>
                                      </p:to>
                                    </p:set>
                                    <p:animEffect transition="in" filter="fade">
                                      <p:cBhvr>
                                        <p:cTn id="152"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9</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007DB6"/>
          </a:solidFill>
          <a:ln w="12700">
            <a:solidFill>
              <a:srgbClr val="007DB6"/>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How the kinds and the phases interlock</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Two teaching weeks, then one build week, five times over. Then the hinge week, then the capstone.</a:t>
            </a:r>
            <a:endParaRPr lang="en-US" sz="1250" dirty="0"/>
          </a:p>
        </p:txBody>
      </p:sp>
      <p:sp>
        <p:nvSpPr>
          <p:cNvPr id="21" name="anim:2 grad:card"/>
          <p:cNvSpPr txBox="1"/>
          <p:nvPr/>
        </p:nvSpPr>
        <p:spPr>
          <a:xfrm>
            <a:off x="548640" y="2788920"/>
            <a:ext cx="511150" cy="868680"/>
          </a:xfrm>
          <a:prstGeom prst="roundRect">
            <a:avLst>
              <a:gd name="adj" fmla="val 10733"/>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1</a:t>
            </a:r>
            <a:endParaRPr lang="en-US" sz="1400" dirty="0"/>
          </a:p>
        </p:txBody>
      </p:sp>
      <p:sp>
        <p:nvSpPr>
          <p:cNvPr id="22" name="anim:2 grad:card"/>
          <p:cNvSpPr txBox="1"/>
          <p:nvPr/>
        </p:nvSpPr>
        <p:spPr>
          <a:xfrm>
            <a:off x="1105510" y="2788920"/>
            <a:ext cx="511150" cy="868680"/>
          </a:xfrm>
          <a:prstGeom prst="roundRect">
            <a:avLst>
              <a:gd name="adj" fmla="val 10733"/>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2</a:t>
            </a:r>
            <a:endParaRPr lang="en-US" sz="1400" dirty="0"/>
          </a:p>
        </p:txBody>
      </p:sp>
      <p:sp>
        <p:nvSpPr>
          <p:cNvPr id="23" name="anim:2 grad:blue"/>
          <p:cNvSpPr txBox="1"/>
          <p:nvPr/>
        </p:nvSpPr>
        <p:spPr>
          <a:xfrm>
            <a:off x="1662379" y="2788920"/>
            <a:ext cx="511150" cy="868680"/>
          </a:xfrm>
          <a:prstGeom prst="roundRect">
            <a:avLst>
              <a:gd name="adj" fmla="val 10733"/>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anim:2 grad:card"/>
          <p:cNvSpPr txBox="1"/>
          <p:nvPr/>
        </p:nvSpPr>
        <p:spPr>
          <a:xfrm>
            <a:off x="2219249" y="2788920"/>
            <a:ext cx="511150" cy="868680"/>
          </a:xfrm>
          <a:prstGeom prst="roundRect">
            <a:avLst>
              <a:gd name="adj" fmla="val 10733"/>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4</a:t>
            </a:r>
            <a:endParaRPr lang="en-US" sz="1400" dirty="0"/>
          </a:p>
        </p:txBody>
      </p:sp>
      <p:sp>
        <p:nvSpPr>
          <p:cNvPr id="25" name="anim:2 grad:card"/>
          <p:cNvSpPr txBox="1"/>
          <p:nvPr/>
        </p:nvSpPr>
        <p:spPr>
          <a:xfrm>
            <a:off x="2776118" y="2788920"/>
            <a:ext cx="511150" cy="868680"/>
          </a:xfrm>
          <a:prstGeom prst="roundRect">
            <a:avLst>
              <a:gd name="adj" fmla="val 10733"/>
            </a:avLst>
          </a:prstGeom>
          <a:gradFill rotWithShape="1">
            <a:gsLst>
              <a:gs pos="0">
                <a:srgbClr val="FFFFFF"/>
              </a:gs>
              <a:gs pos="100000">
                <a:srgbClr val="F3F6FA"/>
              </a:gs>
            </a:gsLst>
            <a:lin ang="5400000" scaled="0"/>
          </a:gradFill>
          <a:ln w="19050">
            <a:solidFill>
              <a:srgbClr val="E9B221"/>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5</a:t>
            </a:r>
            <a:endParaRPr lang="en-US" sz="1400" dirty="0"/>
          </a:p>
        </p:txBody>
      </p:sp>
      <p:sp>
        <p:nvSpPr>
          <p:cNvPr id="26" name="anim:2"/>
          <p:cNvSpPr/>
          <p:nvPr/>
        </p:nvSpPr>
        <p:spPr>
          <a:xfrm>
            <a:off x="2976829" y="3502152"/>
            <a:ext cx="109728" cy="109728"/>
          </a:xfrm>
          <a:prstGeom prst="ellipse">
            <a:avLst/>
          </a:prstGeom>
          <a:solidFill>
            <a:srgbClr val="E9B221"/>
          </a:solidFill>
          <a:ln w="12700">
            <a:solidFill>
              <a:srgbClr val="E9B221"/>
            </a:solidFill>
            <a:prstDash val="solid"/>
          </a:ln>
        </p:spPr>
        <p:txBody>
          <a:bodyPr/>
          <a:p/>
        </p:txBody>
      </p:sp>
      <p:sp>
        <p:nvSpPr>
          <p:cNvPr id="27" name="anim:2 grad:blue"/>
          <p:cNvSpPr txBox="1"/>
          <p:nvPr/>
        </p:nvSpPr>
        <p:spPr>
          <a:xfrm>
            <a:off x="3332988" y="2788920"/>
            <a:ext cx="511150" cy="868680"/>
          </a:xfrm>
          <a:prstGeom prst="roundRect">
            <a:avLst>
              <a:gd name="adj" fmla="val 10733"/>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anim:2 grad:card"/>
          <p:cNvSpPr txBox="1"/>
          <p:nvPr/>
        </p:nvSpPr>
        <p:spPr>
          <a:xfrm>
            <a:off x="3889858" y="2788920"/>
            <a:ext cx="511150" cy="868680"/>
          </a:xfrm>
          <a:prstGeom prst="roundRect">
            <a:avLst>
              <a:gd name="adj" fmla="val 10733"/>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7</a:t>
            </a:r>
            <a:endParaRPr lang="en-US" sz="1400" dirty="0"/>
          </a:p>
        </p:txBody>
      </p:sp>
      <p:sp>
        <p:nvSpPr>
          <p:cNvPr id="29" name="anim:2 grad:card"/>
          <p:cNvSpPr txBox="1"/>
          <p:nvPr/>
        </p:nvSpPr>
        <p:spPr>
          <a:xfrm>
            <a:off x="4446727" y="2788920"/>
            <a:ext cx="511150" cy="868680"/>
          </a:xfrm>
          <a:prstGeom prst="roundRect">
            <a:avLst>
              <a:gd name="adj" fmla="val 10733"/>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8</a:t>
            </a:r>
            <a:endParaRPr lang="en-US" sz="1400" dirty="0"/>
          </a:p>
        </p:txBody>
      </p:sp>
      <p:sp>
        <p:nvSpPr>
          <p:cNvPr id="30" name="anim:2 grad:blue"/>
          <p:cNvSpPr txBox="1"/>
          <p:nvPr/>
        </p:nvSpPr>
        <p:spPr>
          <a:xfrm>
            <a:off x="5003597" y="2788920"/>
            <a:ext cx="511150" cy="868680"/>
          </a:xfrm>
          <a:prstGeom prst="roundRect">
            <a:avLst>
              <a:gd name="adj" fmla="val 10733"/>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1" name="anim:2 grad:card"/>
          <p:cNvSpPr txBox="1"/>
          <p:nvPr/>
        </p:nvSpPr>
        <p:spPr>
          <a:xfrm>
            <a:off x="5560466" y="2788920"/>
            <a:ext cx="511150" cy="868680"/>
          </a:xfrm>
          <a:prstGeom prst="roundRect">
            <a:avLst>
              <a:gd name="adj" fmla="val 10733"/>
            </a:avLst>
          </a:prstGeom>
          <a:gradFill rotWithShape="1">
            <a:gsLst>
              <a:gs pos="0">
                <a:srgbClr val="FFFFFF"/>
              </a:gs>
              <a:gs pos="100000">
                <a:srgbClr val="F3F6FA"/>
              </a:gs>
            </a:gsLst>
            <a:lin ang="5400000" scaled="0"/>
          </a:gradFill>
          <a:ln w="19050">
            <a:solidFill>
              <a:srgbClr val="E9B221"/>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10</a:t>
            </a:r>
            <a:endParaRPr lang="en-US" sz="1400" dirty="0"/>
          </a:p>
        </p:txBody>
      </p:sp>
      <p:sp>
        <p:nvSpPr>
          <p:cNvPr id="32" name="anim:2"/>
          <p:cNvSpPr/>
          <p:nvPr/>
        </p:nvSpPr>
        <p:spPr>
          <a:xfrm>
            <a:off x="5761177" y="3502152"/>
            <a:ext cx="109728" cy="109728"/>
          </a:xfrm>
          <a:prstGeom prst="ellipse">
            <a:avLst/>
          </a:prstGeom>
          <a:solidFill>
            <a:srgbClr val="E9B221"/>
          </a:solidFill>
          <a:ln w="12700">
            <a:solidFill>
              <a:srgbClr val="E9B221"/>
            </a:solidFill>
            <a:prstDash val="solid"/>
          </a:ln>
        </p:spPr>
        <p:txBody>
          <a:bodyPr/>
          <a:p/>
        </p:txBody>
      </p:sp>
      <p:sp>
        <p:nvSpPr>
          <p:cNvPr id="33" name="anim:2 grad:card"/>
          <p:cNvSpPr txBox="1"/>
          <p:nvPr/>
        </p:nvSpPr>
        <p:spPr>
          <a:xfrm>
            <a:off x="6117336" y="2788920"/>
            <a:ext cx="511150" cy="868680"/>
          </a:xfrm>
          <a:prstGeom prst="roundRect">
            <a:avLst>
              <a:gd name="adj" fmla="val 10733"/>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11</a:t>
            </a:r>
            <a:endParaRPr lang="en-US" sz="1400" dirty="0"/>
          </a:p>
        </p:txBody>
      </p:sp>
      <p:sp>
        <p:nvSpPr>
          <p:cNvPr id="34" name="anim:2 grad:blue"/>
          <p:cNvSpPr txBox="1"/>
          <p:nvPr/>
        </p:nvSpPr>
        <p:spPr>
          <a:xfrm>
            <a:off x="6674206" y="2788920"/>
            <a:ext cx="511150" cy="868680"/>
          </a:xfrm>
          <a:prstGeom prst="roundRect">
            <a:avLst>
              <a:gd name="adj" fmla="val 10733"/>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35" name="anim:2 grad:card"/>
          <p:cNvSpPr txBox="1"/>
          <p:nvPr/>
        </p:nvSpPr>
        <p:spPr>
          <a:xfrm>
            <a:off x="7231075" y="2788920"/>
            <a:ext cx="511150" cy="868680"/>
          </a:xfrm>
          <a:prstGeom prst="roundRect">
            <a:avLst>
              <a:gd name="adj" fmla="val 10733"/>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13</a:t>
            </a:r>
            <a:endParaRPr lang="en-US" sz="1400" dirty="0"/>
          </a:p>
        </p:txBody>
      </p:sp>
      <p:sp>
        <p:nvSpPr>
          <p:cNvPr id="36" name="anim:2 grad:card"/>
          <p:cNvSpPr txBox="1"/>
          <p:nvPr/>
        </p:nvSpPr>
        <p:spPr>
          <a:xfrm>
            <a:off x="7787945" y="2788920"/>
            <a:ext cx="511150" cy="868680"/>
          </a:xfrm>
          <a:prstGeom prst="roundRect">
            <a:avLst>
              <a:gd name="adj" fmla="val 10733"/>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14</a:t>
            </a:r>
            <a:endParaRPr lang="en-US" sz="1400" dirty="0"/>
          </a:p>
        </p:txBody>
      </p:sp>
      <p:sp>
        <p:nvSpPr>
          <p:cNvPr id="37" name="anim:2 grad:blue"/>
          <p:cNvSpPr txBox="1"/>
          <p:nvPr/>
        </p:nvSpPr>
        <p:spPr>
          <a:xfrm>
            <a:off x="8344814" y="2788920"/>
            <a:ext cx="511150" cy="868680"/>
          </a:xfrm>
          <a:prstGeom prst="roundRect">
            <a:avLst>
              <a:gd name="adj" fmla="val 10733"/>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38" name="anim:2 grad:goldTint"/>
          <p:cNvSpPr txBox="1"/>
          <p:nvPr/>
        </p:nvSpPr>
        <p:spPr>
          <a:xfrm>
            <a:off x="8901684" y="2788920"/>
            <a:ext cx="511150" cy="868680"/>
          </a:xfrm>
          <a:prstGeom prst="roundRect">
            <a:avLst>
              <a:gd name="adj" fmla="val 10733"/>
            </a:avLst>
          </a:prstGeom>
          <a:gradFill rotWithShape="1">
            <a:gsLst>
              <a:gs pos="0">
                <a:srgbClr val="FCF5E2"/>
              </a:gs>
              <a:gs pos="100000">
                <a:srgbClr val="F4E5B8"/>
              </a:gs>
            </a:gsLst>
            <a:lin ang="5400000" scaled="0"/>
          </a:gradFill>
          <a:ln w="19050">
            <a:solidFill>
              <a:srgbClr val="E9B221"/>
            </a:solid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16</a:t>
            </a:r>
            <a:endParaRPr lang="en-US" sz="1400" dirty="0"/>
          </a:p>
        </p:txBody>
      </p:sp>
      <p:sp>
        <p:nvSpPr>
          <p:cNvPr id="39" name="anim:2"/>
          <p:cNvSpPr/>
          <p:nvPr/>
        </p:nvSpPr>
        <p:spPr>
          <a:xfrm>
            <a:off x="9102395" y="3502152"/>
            <a:ext cx="109728" cy="109728"/>
          </a:xfrm>
          <a:prstGeom prst="ellipse">
            <a:avLst/>
          </a:prstGeom>
          <a:solidFill>
            <a:srgbClr val="E9B221"/>
          </a:solidFill>
          <a:ln w="12700">
            <a:solidFill>
              <a:srgbClr val="E9B221"/>
            </a:solidFill>
            <a:prstDash val="solid"/>
          </a:ln>
        </p:spPr>
        <p:txBody>
          <a:bodyPr/>
          <a:p/>
        </p:txBody>
      </p:sp>
      <p:sp>
        <p:nvSpPr>
          <p:cNvPr id="40" name="anim:2 grad:navyCard"/>
          <p:cNvSpPr txBox="1"/>
          <p:nvPr/>
        </p:nvSpPr>
        <p:spPr>
          <a:xfrm>
            <a:off x="9458554" y="2788920"/>
            <a:ext cx="511150" cy="868680"/>
          </a:xfrm>
          <a:prstGeom prst="roundRect">
            <a:avLst>
              <a:gd name="adj" fmla="val 10733"/>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400" b="1" dirty="0">
                <a:solidFill>
                  <a:srgbClr val="E9B221"/>
                </a:solidFill>
                <a:latin typeface="Calibri" pitchFamily="34" charset="0"/>
                <a:ea typeface="Calibri" pitchFamily="34" charset="-122"/>
                <a:cs typeface="Calibri" pitchFamily="34" charset="-120"/>
              </a:rPr>
              <a:t>17</a:t>
            </a:r>
            <a:endParaRPr lang="en-US" sz="1400" dirty="0"/>
          </a:p>
        </p:txBody>
      </p:sp>
      <p:sp>
        <p:nvSpPr>
          <p:cNvPr id="41" name="anim:2 grad:navyCard"/>
          <p:cNvSpPr txBox="1"/>
          <p:nvPr/>
        </p:nvSpPr>
        <p:spPr>
          <a:xfrm>
            <a:off x="10015423" y="2788920"/>
            <a:ext cx="511150" cy="868680"/>
          </a:xfrm>
          <a:prstGeom prst="roundRect">
            <a:avLst>
              <a:gd name="adj" fmla="val 10733"/>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400" b="1" dirty="0">
                <a:solidFill>
                  <a:srgbClr val="E9B221"/>
                </a:solidFill>
                <a:latin typeface="Calibri" pitchFamily="34" charset="0"/>
                <a:ea typeface="Calibri" pitchFamily="34" charset="-122"/>
                <a:cs typeface="Calibri" pitchFamily="34" charset="-120"/>
              </a:rPr>
              <a:t>18</a:t>
            </a:r>
            <a:endParaRPr lang="en-US" sz="1400" dirty="0"/>
          </a:p>
        </p:txBody>
      </p:sp>
      <p:sp>
        <p:nvSpPr>
          <p:cNvPr id="42" name="anim:2 grad:navyCard"/>
          <p:cNvSpPr txBox="1"/>
          <p:nvPr/>
        </p:nvSpPr>
        <p:spPr>
          <a:xfrm>
            <a:off x="10572293" y="2788920"/>
            <a:ext cx="511150" cy="868680"/>
          </a:xfrm>
          <a:prstGeom prst="roundRect">
            <a:avLst>
              <a:gd name="adj" fmla="val 10733"/>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400" b="1" dirty="0">
                <a:solidFill>
                  <a:srgbClr val="E9B221"/>
                </a:solidFill>
                <a:latin typeface="Calibri" pitchFamily="34" charset="0"/>
                <a:ea typeface="Calibri" pitchFamily="34" charset="-122"/>
                <a:cs typeface="Calibri" pitchFamily="34" charset="-120"/>
              </a:rPr>
              <a:t>19</a:t>
            </a:r>
            <a:endParaRPr lang="en-US" sz="1400" dirty="0"/>
          </a:p>
        </p:txBody>
      </p:sp>
      <p:sp>
        <p:nvSpPr>
          <p:cNvPr id="43" name="anim:2 grad:navyCard"/>
          <p:cNvSpPr txBox="1"/>
          <p:nvPr/>
        </p:nvSpPr>
        <p:spPr>
          <a:xfrm>
            <a:off x="11129162" y="2788920"/>
            <a:ext cx="511150" cy="868680"/>
          </a:xfrm>
          <a:prstGeom prst="roundRect">
            <a:avLst>
              <a:gd name="adj" fmla="val 10733"/>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400" b="1" dirty="0">
                <a:solidFill>
                  <a:srgbClr val="E9B221"/>
                </a:solidFill>
                <a:latin typeface="Calibri" pitchFamily="34" charset="0"/>
                <a:ea typeface="Calibri" pitchFamily="34" charset="-122"/>
                <a:cs typeface="Calibri" pitchFamily="34" charset="-120"/>
              </a:rPr>
              <a:t>20</a:t>
            </a:r>
            <a:endParaRPr lang="en-US" sz="1400" dirty="0"/>
          </a:p>
        </p:txBody>
      </p:sp>
      <p:sp>
        <p:nvSpPr>
          <p:cNvPr id="44" name="anim:1 grad:card"/>
          <p:cNvSpPr/>
          <p:nvPr/>
        </p:nvSpPr>
        <p:spPr>
          <a:xfrm>
            <a:off x="548640" y="1920240"/>
            <a:ext cx="3295498" cy="548640"/>
          </a:xfrm>
          <a:prstGeom prst="roundRect">
            <a:avLst>
              <a:gd name="adj" fmla="val 16667"/>
            </a:avLst>
          </a:prstGeom>
          <a:gradFill rotWithShape="1">
            <a:gsLst>
              <a:gs pos="0">
                <a:srgbClr val="FFFFFF"/>
              </a:gs>
              <a:gs pos="100000">
                <a:srgbClr val="F3F6FA"/>
              </a:gs>
            </a:gsLst>
            <a:lin ang="5400000" scaled="0"/>
          </a:gradFill>
          <a:ln w="12700">
            <a:solidFill>
              <a:srgbClr val="007DB6"/>
            </a:solidFill>
            <a:prstDash val="solid"/>
          </a:ln>
        </p:spPr>
        <p:txBody>
          <a:bodyPr/>
          <a:p/>
        </p:txBody>
      </p:sp>
      <p:sp>
        <p:nvSpPr>
          <p:cNvPr id="45" name="anim:1"/>
          <p:cNvSpPr/>
          <p:nvPr/>
        </p:nvSpPr>
        <p:spPr>
          <a:xfrm>
            <a:off x="658368" y="1984248"/>
            <a:ext cx="3076042" cy="64008"/>
          </a:xfrm>
          <a:prstGeom prst="roundRect">
            <a:avLst>
              <a:gd name="adj" fmla="val 42857"/>
            </a:avLst>
          </a:prstGeom>
          <a:solidFill>
            <a:srgbClr val="007DB6"/>
          </a:solidFill>
          <a:ln w="12700">
            <a:solidFill>
              <a:srgbClr val="007DB6"/>
            </a:solidFill>
            <a:prstDash val="solid"/>
          </a:ln>
        </p:spPr>
        <p:txBody>
          <a:bodyPr/>
          <a:p/>
        </p:txBody>
      </p:sp>
      <p:sp>
        <p:nvSpPr>
          <p:cNvPr id="46" name="anim:1"/>
          <p:cNvSpPr txBox="1"/>
          <p:nvPr/>
        </p:nvSpPr>
        <p:spPr>
          <a:xfrm>
            <a:off x="658368" y="2084832"/>
            <a:ext cx="3076042" cy="365760"/>
          </a:xfrm>
          <a:prstGeom prst="rect">
            <a:avLst/>
          </a:prstGeom>
          <a:noFill/>
          <a:ln/>
        </p:spPr>
        <p:txBody>
          <a:bodyPr wrap="square" lIns="0" tIns="0" rIns="0" bIns="0" rtlCol="0" anchor="ctr"/>
          <a:lstStyle/>
          <a:p>
            <a:pPr algn="l" indent="0" marL="0">
              <a:buNone/>
            </a:pPr>
            <a:r>
              <a:rPr lang="en-US" sz="950" b="1" dirty="0">
                <a:solidFill>
                  <a:srgbClr val="0A1E33"/>
                </a:solidFill>
                <a:latin typeface="Calibri" pitchFamily="34" charset="0"/>
                <a:ea typeface="Calibri" pitchFamily="34" charset="-122"/>
                <a:cs typeface="Calibri" pitchFamily="34" charset="-120"/>
              </a:rPr>
              <a:t>Phase 1  ·  Data and machine learning</a:t>
            </a:r>
            <a:endParaRPr lang="en-US" sz="950" dirty="0"/>
          </a:p>
        </p:txBody>
      </p:sp>
      <p:sp>
        <p:nvSpPr>
          <p:cNvPr id="47" name="anim:1"/>
          <p:cNvSpPr/>
          <p:nvPr/>
        </p:nvSpPr>
        <p:spPr>
          <a:xfrm>
            <a:off x="2196389" y="2468880"/>
            <a:ext cx="0" cy="320040"/>
          </a:xfrm>
          <a:prstGeom prst="line">
            <a:avLst/>
          </a:prstGeom>
          <a:noFill/>
          <a:ln w="12700">
            <a:solidFill>
              <a:srgbClr val="007DB6"/>
            </a:solidFill>
            <a:prstDash val="solid"/>
          </a:ln>
        </p:spPr>
        <p:txBody>
          <a:bodyPr/>
          <a:p/>
        </p:txBody>
      </p:sp>
      <p:sp>
        <p:nvSpPr>
          <p:cNvPr id="48" name="anim:1 grad:card"/>
          <p:cNvSpPr/>
          <p:nvPr/>
        </p:nvSpPr>
        <p:spPr>
          <a:xfrm>
            <a:off x="3889858" y="1920240"/>
            <a:ext cx="3295498" cy="548640"/>
          </a:xfrm>
          <a:prstGeom prst="roundRect">
            <a:avLst>
              <a:gd name="adj" fmla="val 16667"/>
            </a:avLst>
          </a:prstGeom>
          <a:gradFill rotWithShape="1">
            <a:gsLst>
              <a:gs pos="0">
                <a:srgbClr val="FFFFFF"/>
              </a:gs>
              <a:gs pos="100000">
                <a:srgbClr val="F3F6FA"/>
              </a:gs>
            </a:gsLst>
            <a:lin ang="5400000" scaled="0"/>
          </a:gradFill>
          <a:ln w="12700">
            <a:solidFill>
              <a:srgbClr val="2FA8E0"/>
            </a:solidFill>
            <a:prstDash val="solid"/>
          </a:ln>
        </p:spPr>
        <p:txBody>
          <a:bodyPr/>
          <a:p/>
        </p:txBody>
      </p:sp>
      <p:sp>
        <p:nvSpPr>
          <p:cNvPr id="49" name="anim:1"/>
          <p:cNvSpPr/>
          <p:nvPr/>
        </p:nvSpPr>
        <p:spPr>
          <a:xfrm>
            <a:off x="3999586" y="1984248"/>
            <a:ext cx="3076042" cy="64008"/>
          </a:xfrm>
          <a:prstGeom prst="roundRect">
            <a:avLst>
              <a:gd name="adj" fmla="val 42857"/>
            </a:avLst>
          </a:prstGeom>
          <a:solidFill>
            <a:srgbClr val="2FA8E0"/>
          </a:solidFill>
          <a:ln w="12700">
            <a:solidFill>
              <a:srgbClr val="2FA8E0"/>
            </a:solidFill>
            <a:prstDash val="solid"/>
          </a:ln>
        </p:spPr>
        <p:txBody>
          <a:bodyPr/>
          <a:p/>
        </p:txBody>
      </p:sp>
      <p:sp>
        <p:nvSpPr>
          <p:cNvPr id="50" name="anim:1"/>
          <p:cNvSpPr txBox="1"/>
          <p:nvPr/>
        </p:nvSpPr>
        <p:spPr>
          <a:xfrm>
            <a:off x="3999586" y="2084832"/>
            <a:ext cx="3076042" cy="365760"/>
          </a:xfrm>
          <a:prstGeom prst="rect">
            <a:avLst/>
          </a:prstGeom>
          <a:noFill/>
          <a:ln/>
        </p:spPr>
        <p:txBody>
          <a:bodyPr wrap="square" lIns="0" tIns="0" rIns="0" bIns="0" rtlCol="0" anchor="ctr"/>
          <a:lstStyle/>
          <a:p>
            <a:pPr algn="l" indent="0" marL="0">
              <a:buNone/>
            </a:pPr>
            <a:r>
              <a:rPr lang="en-US" sz="950" b="1" dirty="0">
                <a:solidFill>
                  <a:srgbClr val="0A1E33"/>
                </a:solidFill>
                <a:latin typeface="Calibri" pitchFamily="34" charset="0"/>
                <a:ea typeface="Calibri" pitchFamily="34" charset="-122"/>
                <a:cs typeface="Calibri" pitchFamily="34" charset="-120"/>
              </a:rPr>
              <a:t>Phase 2  ·  Deep learning to generative AI</a:t>
            </a:r>
            <a:endParaRPr lang="en-US" sz="950" dirty="0"/>
          </a:p>
        </p:txBody>
      </p:sp>
      <p:sp>
        <p:nvSpPr>
          <p:cNvPr id="51" name="anim:1"/>
          <p:cNvSpPr/>
          <p:nvPr/>
        </p:nvSpPr>
        <p:spPr>
          <a:xfrm>
            <a:off x="5537606" y="2468880"/>
            <a:ext cx="0" cy="320040"/>
          </a:xfrm>
          <a:prstGeom prst="line">
            <a:avLst/>
          </a:prstGeom>
          <a:noFill/>
          <a:ln w="12700">
            <a:solidFill>
              <a:srgbClr val="2FA8E0"/>
            </a:solidFill>
            <a:prstDash val="solid"/>
          </a:ln>
        </p:spPr>
        <p:txBody>
          <a:bodyPr/>
          <a:p/>
        </p:txBody>
      </p:sp>
      <p:sp>
        <p:nvSpPr>
          <p:cNvPr id="52" name="anim:1 grad:card"/>
          <p:cNvSpPr/>
          <p:nvPr/>
        </p:nvSpPr>
        <p:spPr>
          <a:xfrm>
            <a:off x="7231075" y="1920240"/>
            <a:ext cx="2181758" cy="548640"/>
          </a:xfrm>
          <a:prstGeom prst="roundRect">
            <a:avLst>
              <a:gd name="adj" fmla="val 16667"/>
            </a:avLst>
          </a:prstGeom>
          <a:gradFill rotWithShape="1">
            <a:gsLst>
              <a:gs pos="0">
                <a:srgbClr val="FFFFFF"/>
              </a:gs>
              <a:gs pos="100000">
                <a:srgbClr val="F3F6FA"/>
              </a:gs>
            </a:gsLst>
            <a:lin ang="5400000" scaled="0"/>
          </a:gradFill>
          <a:ln w="12700">
            <a:solidFill>
              <a:srgbClr val="C48F0F"/>
            </a:solidFill>
            <a:prstDash val="solid"/>
          </a:ln>
        </p:spPr>
        <p:txBody>
          <a:bodyPr/>
          <a:p/>
        </p:txBody>
      </p:sp>
      <p:sp>
        <p:nvSpPr>
          <p:cNvPr id="53" name="anim:1"/>
          <p:cNvSpPr/>
          <p:nvPr/>
        </p:nvSpPr>
        <p:spPr>
          <a:xfrm>
            <a:off x="7340803" y="1984248"/>
            <a:ext cx="1962302" cy="64008"/>
          </a:xfrm>
          <a:prstGeom prst="roundRect">
            <a:avLst>
              <a:gd name="adj" fmla="val 42857"/>
            </a:avLst>
          </a:prstGeom>
          <a:solidFill>
            <a:srgbClr val="C48F0F"/>
          </a:solidFill>
          <a:ln w="12700">
            <a:solidFill>
              <a:srgbClr val="C48F0F"/>
            </a:solidFill>
            <a:prstDash val="solid"/>
          </a:ln>
        </p:spPr>
        <p:txBody>
          <a:bodyPr/>
          <a:p/>
        </p:txBody>
      </p:sp>
      <p:sp>
        <p:nvSpPr>
          <p:cNvPr id="54" name="anim:1"/>
          <p:cNvSpPr txBox="1"/>
          <p:nvPr/>
        </p:nvSpPr>
        <p:spPr>
          <a:xfrm>
            <a:off x="7340803" y="2084832"/>
            <a:ext cx="1962302" cy="365760"/>
          </a:xfrm>
          <a:prstGeom prst="rect">
            <a:avLst/>
          </a:prstGeom>
          <a:noFill/>
          <a:ln/>
        </p:spPr>
        <p:txBody>
          <a:bodyPr wrap="square" lIns="0" tIns="0" rIns="0" bIns="0" rtlCol="0" anchor="ctr"/>
          <a:lstStyle/>
          <a:p>
            <a:pPr algn="l" indent="0" marL="0">
              <a:buNone/>
            </a:pPr>
            <a:r>
              <a:rPr lang="en-US" sz="950" b="1" dirty="0">
                <a:solidFill>
                  <a:srgbClr val="0A1E33"/>
                </a:solidFill>
                <a:latin typeface="Calibri" pitchFamily="34" charset="0"/>
                <a:ea typeface="Calibri" pitchFamily="34" charset="-122"/>
                <a:cs typeface="Calibri" pitchFamily="34" charset="-120"/>
              </a:rPr>
              <a:t>Phase 3  ·  Agents, production, FDE</a:t>
            </a:r>
            <a:endParaRPr lang="en-US" sz="950" dirty="0"/>
          </a:p>
        </p:txBody>
      </p:sp>
      <p:sp>
        <p:nvSpPr>
          <p:cNvPr id="55" name="anim:1"/>
          <p:cNvSpPr/>
          <p:nvPr/>
        </p:nvSpPr>
        <p:spPr>
          <a:xfrm>
            <a:off x="8321954" y="2468880"/>
            <a:ext cx="0" cy="320040"/>
          </a:xfrm>
          <a:prstGeom prst="line">
            <a:avLst/>
          </a:prstGeom>
          <a:noFill/>
          <a:ln w="12700">
            <a:solidFill>
              <a:srgbClr val="C48F0F"/>
            </a:solidFill>
            <a:prstDash val="solid"/>
          </a:ln>
        </p:spPr>
        <p:txBody>
          <a:bodyPr/>
          <a:p/>
        </p:txBody>
      </p:sp>
      <p:sp>
        <p:nvSpPr>
          <p:cNvPr id="56" name="anim:1 grad:card"/>
          <p:cNvSpPr/>
          <p:nvPr/>
        </p:nvSpPr>
        <p:spPr>
          <a:xfrm>
            <a:off x="9458554" y="1920240"/>
            <a:ext cx="2181758" cy="548640"/>
          </a:xfrm>
          <a:prstGeom prst="roundRect">
            <a:avLst>
              <a:gd name="adj" fmla="val 16667"/>
            </a:avLst>
          </a:prstGeom>
          <a:gradFill rotWithShape="1">
            <a:gsLst>
              <a:gs pos="0">
                <a:srgbClr val="FFFFFF"/>
              </a:gs>
              <a:gs pos="100000">
                <a:srgbClr val="F3F6FA"/>
              </a:gs>
            </a:gsLst>
            <a:lin ang="5400000" scaled="0"/>
          </a:gradFill>
          <a:ln w="12700">
            <a:solidFill>
              <a:srgbClr val="0A1E33"/>
            </a:solidFill>
            <a:prstDash val="solid"/>
          </a:ln>
        </p:spPr>
        <p:txBody>
          <a:bodyPr/>
          <a:p/>
        </p:txBody>
      </p:sp>
      <p:sp>
        <p:nvSpPr>
          <p:cNvPr id="57" name="anim:1"/>
          <p:cNvSpPr/>
          <p:nvPr/>
        </p:nvSpPr>
        <p:spPr>
          <a:xfrm>
            <a:off x="9568282" y="1984248"/>
            <a:ext cx="1962302" cy="64008"/>
          </a:xfrm>
          <a:prstGeom prst="roundRect">
            <a:avLst>
              <a:gd name="adj" fmla="val 42857"/>
            </a:avLst>
          </a:prstGeom>
          <a:solidFill>
            <a:srgbClr val="0A1E33"/>
          </a:solidFill>
          <a:ln w="12700">
            <a:solidFill>
              <a:srgbClr val="0A1E33"/>
            </a:solidFill>
            <a:prstDash val="solid"/>
          </a:ln>
        </p:spPr>
        <p:txBody>
          <a:bodyPr/>
          <a:p/>
        </p:txBody>
      </p:sp>
      <p:sp>
        <p:nvSpPr>
          <p:cNvPr id="58" name="anim:1"/>
          <p:cNvSpPr txBox="1"/>
          <p:nvPr/>
        </p:nvSpPr>
        <p:spPr>
          <a:xfrm>
            <a:off x="9568282" y="2084832"/>
            <a:ext cx="1962302" cy="365760"/>
          </a:xfrm>
          <a:prstGeom prst="rect">
            <a:avLst/>
          </a:prstGeom>
          <a:noFill/>
          <a:ln/>
        </p:spPr>
        <p:txBody>
          <a:bodyPr wrap="square" lIns="0" tIns="0" rIns="0" bIns="0" rtlCol="0" anchor="ctr"/>
          <a:lstStyle/>
          <a:p>
            <a:pPr algn="l" indent="0" marL="0">
              <a:buNone/>
            </a:pPr>
            <a:r>
              <a:rPr lang="en-US" sz="950" b="1" dirty="0">
                <a:solidFill>
                  <a:srgbClr val="0A1E33"/>
                </a:solidFill>
                <a:latin typeface="Calibri" pitchFamily="34" charset="0"/>
                <a:ea typeface="Calibri" pitchFamily="34" charset="-122"/>
                <a:cs typeface="Calibri" pitchFamily="34" charset="-120"/>
              </a:rPr>
              <a:t>Phase 4  ·  Capstone</a:t>
            </a:r>
            <a:endParaRPr lang="en-US" sz="950" dirty="0"/>
          </a:p>
        </p:txBody>
      </p:sp>
      <p:sp>
        <p:nvSpPr>
          <p:cNvPr id="59" name="anim:1"/>
          <p:cNvSpPr/>
          <p:nvPr/>
        </p:nvSpPr>
        <p:spPr>
          <a:xfrm>
            <a:off x="10549433" y="2468880"/>
            <a:ext cx="0" cy="320040"/>
          </a:xfrm>
          <a:prstGeom prst="line">
            <a:avLst/>
          </a:prstGeom>
          <a:noFill/>
          <a:ln w="12700">
            <a:solidFill>
              <a:srgbClr val="0A1E33"/>
            </a:solidFill>
            <a:prstDash val="solid"/>
          </a:ln>
        </p:spPr>
        <p:txBody>
          <a:bodyPr/>
          <a:p/>
        </p:txBody>
      </p:sp>
      <p:sp>
        <p:nvSpPr>
          <p:cNvPr id="60" name="anim:3"/>
          <p:cNvSpPr/>
          <p:nvPr/>
        </p:nvSpPr>
        <p:spPr>
          <a:xfrm>
            <a:off x="594360" y="3794760"/>
            <a:ext cx="1533449" cy="0"/>
          </a:xfrm>
          <a:prstGeom prst="line">
            <a:avLst/>
          </a:prstGeom>
          <a:noFill/>
          <a:ln w="19050">
            <a:solidFill>
              <a:srgbClr val="007DB6"/>
            </a:solidFill>
            <a:prstDash val="solid"/>
          </a:ln>
        </p:spPr>
        <p:txBody>
          <a:bodyPr/>
          <a:p/>
        </p:txBody>
      </p:sp>
      <p:sp>
        <p:nvSpPr>
          <p:cNvPr id="61" name="anim:3"/>
          <p:cNvSpPr txBox="1"/>
          <p:nvPr/>
        </p:nvSpPr>
        <p:spPr>
          <a:xfrm>
            <a:off x="548640" y="3840480"/>
            <a:ext cx="1624889" cy="228600"/>
          </a:xfrm>
          <a:prstGeom prst="rect">
            <a:avLst/>
          </a:prstGeom>
          <a:noFill/>
          <a:ln/>
        </p:spPr>
        <p:txBody>
          <a:bodyPr wrap="square" lIns="0" tIns="0" rIns="0" bIns="0" rtlCol="0" anchor="t"/>
          <a:lstStyle/>
          <a:p>
            <a:pPr algn="ctr" indent="0" marL="0">
              <a:buNone/>
            </a:pPr>
            <a:r>
              <a:rPr lang="en-US" sz="850" b="1" dirty="0">
                <a:solidFill>
                  <a:srgbClr val="007DB6"/>
                </a:solidFill>
                <a:latin typeface="Calibri" pitchFamily="34" charset="0"/>
                <a:ea typeface="Calibri" pitchFamily="34" charset="-122"/>
                <a:cs typeface="Calibri" pitchFamily="34" charset="-120"/>
              </a:rPr>
              <a:t>Cycle 1  ·  teach, teach, build</a:t>
            </a:r>
            <a:endParaRPr lang="en-US" sz="850" dirty="0"/>
          </a:p>
        </p:txBody>
      </p:sp>
      <p:sp>
        <p:nvSpPr>
          <p:cNvPr id="62" name="anim:3"/>
          <p:cNvSpPr/>
          <p:nvPr/>
        </p:nvSpPr>
        <p:spPr>
          <a:xfrm>
            <a:off x="2264969" y="3794760"/>
            <a:ext cx="1533449" cy="0"/>
          </a:xfrm>
          <a:prstGeom prst="line">
            <a:avLst/>
          </a:prstGeom>
          <a:noFill/>
          <a:ln w="19050">
            <a:solidFill>
              <a:srgbClr val="007DB6"/>
            </a:solidFill>
            <a:prstDash val="solid"/>
          </a:ln>
        </p:spPr>
        <p:txBody>
          <a:bodyPr/>
          <a:p/>
        </p:txBody>
      </p:sp>
      <p:sp>
        <p:nvSpPr>
          <p:cNvPr id="63" name="anim:3"/>
          <p:cNvSpPr txBox="1"/>
          <p:nvPr/>
        </p:nvSpPr>
        <p:spPr>
          <a:xfrm>
            <a:off x="2219249" y="3840480"/>
            <a:ext cx="1624889" cy="228600"/>
          </a:xfrm>
          <a:prstGeom prst="rect">
            <a:avLst/>
          </a:prstGeom>
          <a:noFill/>
          <a:ln/>
        </p:spPr>
        <p:txBody>
          <a:bodyPr wrap="square" lIns="0" tIns="0" rIns="0" bIns="0" rtlCol="0" anchor="t"/>
          <a:lstStyle/>
          <a:p>
            <a:pPr algn="ctr" indent="0" marL="0">
              <a:buNone/>
            </a:pPr>
            <a:r>
              <a:rPr lang="en-US" sz="850" b="1" dirty="0">
                <a:solidFill>
                  <a:srgbClr val="007DB6"/>
                </a:solidFill>
                <a:latin typeface="Calibri" pitchFamily="34" charset="0"/>
                <a:ea typeface="Calibri" pitchFamily="34" charset="-122"/>
                <a:cs typeface="Calibri" pitchFamily="34" charset="-120"/>
              </a:rPr>
              <a:t>Cycle 2  ·  teach, teach, build</a:t>
            </a:r>
            <a:endParaRPr lang="en-US" sz="850" dirty="0"/>
          </a:p>
        </p:txBody>
      </p:sp>
      <p:sp>
        <p:nvSpPr>
          <p:cNvPr id="64" name="anim:3"/>
          <p:cNvSpPr/>
          <p:nvPr/>
        </p:nvSpPr>
        <p:spPr>
          <a:xfrm>
            <a:off x="3935578" y="3794760"/>
            <a:ext cx="1533449" cy="0"/>
          </a:xfrm>
          <a:prstGeom prst="line">
            <a:avLst/>
          </a:prstGeom>
          <a:noFill/>
          <a:ln w="19050">
            <a:solidFill>
              <a:srgbClr val="007DB6"/>
            </a:solidFill>
            <a:prstDash val="solid"/>
          </a:ln>
        </p:spPr>
        <p:txBody>
          <a:bodyPr/>
          <a:p/>
        </p:txBody>
      </p:sp>
      <p:sp>
        <p:nvSpPr>
          <p:cNvPr id="65" name="anim:3"/>
          <p:cNvSpPr txBox="1"/>
          <p:nvPr/>
        </p:nvSpPr>
        <p:spPr>
          <a:xfrm>
            <a:off x="3889858" y="3840480"/>
            <a:ext cx="1624889" cy="228600"/>
          </a:xfrm>
          <a:prstGeom prst="rect">
            <a:avLst/>
          </a:prstGeom>
          <a:noFill/>
          <a:ln/>
        </p:spPr>
        <p:txBody>
          <a:bodyPr wrap="square" lIns="0" tIns="0" rIns="0" bIns="0" rtlCol="0" anchor="t"/>
          <a:lstStyle/>
          <a:p>
            <a:pPr algn="ctr" indent="0" marL="0">
              <a:buNone/>
            </a:pPr>
            <a:r>
              <a:rPr lang="en-US" sz="850" b="1" dirty="0">
                <a:solidFill>
                  <a:srgbClr val="007DB6"/>
                </a:solidFill>
                <a:latin typeface="Calibri" pitchFamily="34" charset="0"/>
                <a:ea typeface="Calibri" pitchFamily="34" charset="-122"/>
                <a:cs typeface="Calibri" pitchFamily="34" charset="-120"/>
              </a:rPr>
              <a:t>Cycle 3  ·  teach, teach, build</a:t>
            </a:r>
            <a:endParaRPr lang="en-US" sz="850" dirty="0"/>
          </a:p>
        </p:txBody>
      </p:sp>
      <p:sp>
        <p:nvSpPr>
          <p:cNvPr id="66" name="anim:3"/>
          <p:cNvSpPr/>
          <p:nvPr/>
        </p:nvSpPr>
        <p:spPr>
          <a:xfrm>
            <a:off x="5606186" y="3794760"/>
            <a:ext cx="1533449" cy="0"/>
          </a:xfrm>
          <a:prstGeom prst="line">
            <a:avLst/>
          </a:prstGeom>
          <a:noFill/>
          <a:ln w="19050">
            <a:solidFill>
              <a:srgbClr val="007DB6"/>
            </a:solidFill>
            <a:prstDash val="solid"/>
          </a:ln>
        </p:spPr>
        <p:txBody>
          <a:bodyPr/>
          <a:p/>
        </p:txBody>
      </p:sp>
      <p:sp>
        <p:nvSpPr>
          <p:cNvPr id="67" name="anim:3"/>
          <p:cNvSpPr txBox="1"/>
          <p:nvPr/>
        </p:nvSpPr>
        <p:spPr>
          <a:xfrm>
            <a:off x="5560466" y="3840480"/>
            <a:ext cx="1624889" cy="228600"/>
          </a:xfrm>
          <a:prstGeom prst="rect">
            <a:avLst/>
          </a:prstGeom>
          <a:noFill/>
          <a:ln/>
        </p:spPr>
        <p:txBody>
          <a:bodyPr wrap="square" lIns="0" tIns="0" rIns="0" bIns="0" rtlCol="0" anchor="t"/>
          <a:lstStyle/>
          <a:p>
            <a:pPr algn="ctr" indent="0" marL="0">
              <a:buNone/>
            </a:pPr>
            <a:r>
              <a:rPr lang="en-US" sz="850" b="1" dirty="0">
                <a:solidFill>
                  <a:srgbClr val="007DB6"/>
                </a:solidFill>
                <a:latin typeface="Calibri" pitchFamily="34" charset="0"/>
                <a:ea typeface="Calibri" pitchFamily="34" charset="-122"/>
                <a:cs typeface="Calibri" pitchFamily="34" charset="-120"/>
              </a:rPr>
              <a:t>Cycle 4  ·  teach, teach, build</a:t>
            </a:r>
            <a:endParaRPr lang="en-US" sz="850" dirty="0"/>
          </a:p>
        </p:txBody>
      </p:sp>
      <p:sp>
        <p:nvSpPr>
          <p:cNvPr id="68" name="anim:3"/>
          <p:cNvSpPr/>
          <p:nvPr/>
        </p:nvSpPr>
        <p:spPr>
          <a:xfrm>
            <a:off x="7276795" y="3794760"/>
            <a:ext cx="1533449" cy="0"/>
          </a:xfrm>
          <a:prstGeom prst="line">
            <a:avLst/>
          </a:prstGeom>
          <a:noFill/>
          <a:ln w="19050">
            <a:solidFill>
              <a:srgbClr val="007DB6"/>
            </a:solidFill>
            <a:prstDash val="solid"/>
          </a:ln>
        </p:spPr>
        <p:txBody>
          <a:bodyPr/>
          <a:p/>
        </p:txBody>
      </p:sp>
      <p:sp>
        <p:nvSpPr>
          <p:cNvPr id="69" name="anim:3"/>
          <p:cNvSpPr txBox="1"/>
          <p:nvPr/>
        </p:nvSpPr>
        <p:spPr>
          <a:xfrm>
            <a:off x="7231075" y="3840480"/>
            <a:ext cx="1624889" cy="228600"/>
          </a:xfrm>
          <a:prstGeom prst="rect">
            <a:avLst/>
          </a:prstGeom>
          <a:noFill/>
          <a:ln/>
        </p:spPr>
        <p:txBody>
          <a:bodyPr wrap="square" lIns="0" tIns="0" rIns="0" bIns="0" rtlCol="0" anchor="t"/>
          <a:lstStyle/>
          <a:p>
            <a:pPr algn="ctr" indent="0" marL="0">
              <a:buNone/>
            </a:pPr>
            <a:r>
              <a:rPr lang="en-US" sz="850" b="1" dirty="0">
                <a:solidFill>
                  <a:srgbClr val="007DB6"/>
                </a:solidFill>
                <a:latin typeface="Calibri" pitchFamily="34" charset="0"/>
                <a:ea typeface="Calibri" pitchFamily="34" charset="-122"/>
                <a:cs typeface="Calibri" pitchFamily="34" charset="-120"/>
              </a:rPr>
              <a:t>Cycle 5  ·  teach, teach, build</a:t>
            </a:r>
            <a:endParaRPr lang="en-US" sz="850" dirty="0"/>
          </a:p>
        </p:txBody>
      </p:sp>
      <p:sp>
        <p:nvSpPr>
          <p:cNvPr id="70" name="anim:3"/>
          <p:cNvSpPr txBox="1"/>
          <p:nvPr/>
        </p:nvSpPr>
        <p:spPr>
          <a:xfrm>
            <a:off x="8901684" y="3840480"/>
            <a:ext cx="511150" cy="228600"/>
          </a:xfrm>
          <a:prstGeom prst="rect">
            <a:avLst/>
          </a:prstGeom>
          <a:noFill/>
          <a:ln/>
        </p:spPr>
        <p:txBody>
          <a:bodyPr wrap="square" lIns="0" tIns="0" rIns="0" bIns="0" rtlCol="0" anchor="t"/>
          <a:lstStyle/>
          <a:p>
            <a:pPr algn="ctr" indent="0" marL="0">
              <a:buNone/>
            </a:pPr>
            <a:r>
              <a:rPr lang="en-US" sz="850" b="1" dirty="0">
                <a:solidFill>
                  <a:srgbClr val="C48F0F"/>
                </a:solidFill>
                <a:latin typeface="Calibri" pitchFamily="34" charset="0"/>
                <a:ea typeface="Calibri" pitchFamily="34" charset="-122"/>
                <a:cs typeface="Calibri" pitchFamily="34" charset="-120"/>
              </a:rPr>
              <a:t>Hinge</a:t>
            </a:r>
            <a:endParaRPr lang="en-US" sz="850" dirty="0"/>
          </a:p>
        </p:txBody>
      </p:sp>
      <p:sp>
        <p:nvSpPr>
          <p:cNvPr id="71" name="anim:3"/>
          <p:cNvSpPr/>
          <p:nvPr/>
        </p:nvSpPr>
        <p:spPr>
          <a:xfrm>
            <a:off x="8947404" y="3794760"/>
            <a:ext cx="419710" cy="0"/>
          </a:xfrm>
          <a:prstGeom prst="line">
            <a:avLst/>
          </a:prstGeom>
          <a:noFill/>
          <a:ln w="19050">
            <a:solidFill>
              <a:srgbClr val="E9B221"/>
            </a:solidFill>
            <a:prstDash val="solid"/>
          </a:ln>
        </p:spPr>
        <p:txBody>
          <a:bodyPr/>
          <a:p/>
        </p:txBody>
      </p:sp>
      <p:sp>
        <p:nvSpPr>
          <p:cNvPr id="72" name="anim:3"/>
          <p:cNvSpPr/>
          <p:nvPr/>
        </p:nvSpPr>
        <p:spPr>
          <a:xfrm>
            <a:off x="9504274" y="3794760"/>
            <a:ext cx="2090318" cy="0"/>
          </a:xfrm>
          <a:prstGeom prst="line">
            <a:avLst/>
          </a:prstGeom>
          <a:noFill/>
          <a:ln w="19050">
            <a:solidFill>
              <a:srgbClr val="0A1E33"/>
            </a:solidFill>
            <a:prstDash val="solid"/>
          </a:ln>
        </p:spPr>
        <p:txBody>
          <a:bodyPr/>
          <a:p/>
        </p:txBody>
      </p:sp>
      <p:sp>
        <p:nvSpPr>
          <p:cNvPr id="73" name="anim:3"/>
          <p:cNvSpPr txBox="1"/>
          <p:nvPr/>
        </p:nvSpPr>
        <p:spPr>
          <a:xfrm>
            <a:off x="9458554" y="3840480"/>
            <a:ext cx="2181758" cy="228600"/>
          </a:xfrm>
          <a:prstGeom prst="rect">
            <a:avLst/>
          </a:prstGeom>
          <a:noFill/>
          <a:ln/>
        </p:spPr>
        <p:txBody>
          <a:bodyPr wrap="square" lIns="0" tIns="0" rIns="0" bIns="0" rtlCol="0" anchor="t"/>
          <a:lstStyle/>
          <a:p>
            <a:pPr algn="ctr" indent="0" marL="0">
              <a:buNone/>
            </a:pPr>
            <a:r>
              <a:rPr lang="en-US" sz="850" b="1" dirty="0">
                <a:solidFill>
                  <a:srgbClr val="0A1E33"/>
                </a:solidFill>
                <a:latin typeface="Calibri" pitchFamily="34" charset="0"/>
                <a:ea typeface="Calibri" pitchFamily="34" charset="-122"/>
                <a:cs typeface="Calibri" pitchFamily="34" charset="-120"/>
              </a:rPr>
              <a:t>Capstone  ·  three sprints, then Demo Day</a:t>
            </a:r>
            <a:endParaRPr lang="en-US" sz="850" dirty="0"/>
          </a:p>
        </p:txBody>
      </p:sp>
      <p:sp>
        <p:nvSpPr>
          <p:cNvPr id="74" name="anim:3"/>
          <p:cNvSpPr/>
          <p:nvPr/>
        </p:nvSpPr>
        <p:spPr>
          <a:xfrm>
            <a:off x="548640" y="4343400"/>
            <a:ext cx="201168" cy="164592"/>
          </a:xfrm>
          <a:prstGeom prst="roundRect">
            <a:avLst>
              <a:gd name="adj" fmla="val 16667"/>
            </a:avLst>
          </a:prstGeom>
          <a:solidFill>
            <a:srgbClr val="FFFFFF"/>
          </a:solidFill>
          <a:ln w="9525">
            <a:solidFill>
              <a:srgbClr val="E4E9F0"/>
            </a:solidFill>
            <a:prstDash val="solid"/>
          </a:ln>
        </p:spPr>
        <p:txBody>
          <a:bodyPr/>
          <a:p/>
        </p:txBody>
      </p:sp>
      <p:sp>
        <p:nvSpPr>
          <p:cNvPr id="75" name="anim:3"/>
          <p:cNvSpPr txBox="1"/>
          <p:nvPr/>
        </p:nvSpPr>
        <p:spPr>
          <a:xfrm>
            <a:off x="822960" y="4297680"/>
            <a:ext cx="1371600" cy="256032"/>
          </a:xfrm>
          <a:prstGeom prst="rect">
            <a:avLst/>
          </a:prstGeom>
          <a:noFill/>
          <a:ln/>
        </p:spPr>
        <p:txBody>
          <a:bodyPr wrap="square" lIns="0" tIns="0" rIns="0" bIns="0" rtlCol="0" anchor="ctr"/>
          <a:lstStyle/>
          <a:p>
            <a:pPr algn="l" indent="0" marL="0">
              <a:buNone/>
            </a:pPr>
            <a:r>
              <a:rPr lang="en-US" sz="950" dirty="0">
                <a:solidFill>
                  <a:srgbClr val="5F7183"/>
                </a:solidFill>
                <a:latin typeface="Calibri" pitchFamily="34" charset="0"/>
                <a:ea typeface="Calibri" pitchFamily="34" charset="-122"/>
                <a:cs typeface="Calibri" pitchFamily="34" charset="-120"/>
              </a:rPr>
              <a:t>Teaching week</a:t>
            </a:r>
            <a:endParaRPr lang="en-US" sz="950" dirty="0"/>
          </a:p>
        </p:txBody>
      </p:sp>
      <p:sp>
        <p:nvSpPr>
          <p:cNvPr id="76" name="anim:3"/>
          <p:cNvSpPr/>
          <p:nvPr/>
        </p:nvSpPr>
        <p:spPr>
          <a:xfrm>
            <a:off x="1965960" y="4343400"/>
            <a:ext cx="201168" cy="164592"/>
          </a:xfrm>
          <a:prstGeom prst="roundRect">
            <a:avLst>
              <a:gd name="adj" fmla="val 16667"/>
            </a:avLst>
          </a:prstGeom>
          <a:solidFill>
            <a:srgbClr val="007DB6"/>
          </a:solidFill>
          <a:ln w="9525">
            <a:solidFill>
              <a:srgbClr val="007DB6"/>
            </a:solidFill>
            <a:prstDash val="solid"/>
          </a:ln>
        </p:spPr>
        <p:txBody>
          <a:bodyPr/>
          <a:p/>
        </p:txBody>
      </p:sp>
      <p:sp>
        <p:nvSpPr>
          <p:cNvPr id="77" name="anim:3"/>
          <p:cNvSpPr txBox="1"/>
          <p:nvPr/>
        </p:nvSpPr>
        <p:spPr>
          <a:xfrm>
            <a:off x="2240280" y="4297680"/>
            <a:ext cx="1371600" cy="256032"/>
          </a:xfrm>
          <a:prstGeom prst="rect">
            <a:avLst/>
          </a:prstGeom>
          <a:noFill/>
          <a:ln/>
        </p:spPr>
        <p:txBody>
          <a:bodyPr wrap="square" lIns="0" tIns="0" rIns="0" bIns="0" rtlCol="0" anchor="ctr"/>
          <a:lstStyle/>
          <a:p>
            <a:pPr algn="l" indent="0" marL="0">
              <a:buNone/>
            </a:pPr>
            <a:r>
              <a:rPr lang="en-US" sz="950" dirty="0">
                <a:solidFill>
                  <a:srgbClr val="5F7183"/>
                </a:solidFill>
                <a:latin typeface="Calibri" pitchFamily="34" charset="0"/>
                <a:ea typeface="Calibri" pitchFamily="34" charset="-122"/>
                <a:cs typeface="Calibri" pitchFamily="34" charset="-120"/>
              </a:rPr>
              <a:t>Build week</a:t>
            </a:r>
            <a:endParaRPr lang="en-US" sz="950" dirty="0"/>
          </a:p>
        </p:txBody>
      </p:sp>
      <p:sp>
        <p:nvSpPr>
          <p:cNvPr id="78" name="anim:3"/>
          <p:cNvSpPr/>
          <p:nvPr/>
        </p:nvSpPr>
        <p:spPr>
          <a:xfrm>
            <a:off x="3383280" y="4343400"/>
            <a:ext cx="201168" cy="164592"/>
          </a:xfrm>
          <a:prstGeom prst="roundRect">
            <a:avLst>
              <a:gd name="adj" fmla="val 16667"/>
            </a:avLst>
          </a:prstGeom>
          <a:solidFill>
            <a:srgbClr val="FBF1D6"/>
          </a:solidFill>
          <a:ln w="9525">
            <a:solidFill>
              <a:srgbClr val="E9B221"/>
            </a:solidFill>
            <a:prstDash val="solid"/>
          </a:ln>
        </p:spPr>
        <p:txBody>
          <a:bodyPr/>
          <a:p/>
        </p:txBody>
      </p:sp>
      <p:sp>
        <p:nvSpPr>
          <p:cNvPr id="79" name="anim:3"/>
          <p:cNvSpPr txBox="1"/>
          <p:nvPr/>
        </p:nvSpPr>
        <p:spPr>
          <a:xfrm>
            <a:off x="3657600" y="4297680"/>
            <a:ext cx="1371600" cy="256032"/>
          </a:xfrm>
          <a:prstGeom prst="rect">
            <a:avLst/>
          </a:prstGeom>
          <a:noFill/>
          <a:ln/>
        </p:spPr>
        <p:txBody>
          <a:bodyPr wrap="square" lIns="0" tIns="0" rIns="0" bIns="0" rtlCol="0" anchor="ctr"/>
          <a:lstStyle/>
          <a:p>
            <a:pPr algn="l" indent="0" marL="0">
              <a:buNone/>
            </a:pPr>
            <a:r>
              <a:rPr lang="en-US" sz="950" dirty="0">
                <a:solidFill>
                  <a:srgbClr val="5F7183"/>
                </a:solidFill>
                <a:latin typeface="Calibri" pitchFamily="34" charset="0"/>
                <a:ea typeface="Calibri" pitchFamily="34" charset="-122"/>
                <a:cs typeface="Calibri" pitchFamily="34" charset="-120"/>
              </a:rPr>
              <a:t>FDE block</a:t>
            </a:r>
            <a:endParaRPr lang="en-US" sz="950" dirty="0"/>
          </a:p>
        </p:txBody>
      </p:sp>
      <p:sp>
        <p:nvSpPr>
          <p:cNvPr id="80" name="anim:3"/>
          <p:cNvSpPr/>
          <p:nvPr/>
        </p:nvSpPr>
        <p:spPr>
          <a:xfrm>
            <a:off x="4800600" y="4343400"/>
            <a:ext cx="201168" cy="164592"/>
          </a:xfrm>
          <a:prstGeom prst="roundRect">
            <a:avLst>
              <a:gd name="adj" fmla="val 16667"/>
            </a:avLst>
          </a:prstGeom>
          <a:solidFill>
            <a:srgbClr val="173A62"/>
          </a:solidFill>
          <a:ln w="9525">
            <a:solidFill>
              <a:srgbClr val="173A62"/>
            </a:solidFill>
            <a:prstDash val="solid"/>
          </a:ln>
        </p:spPr>
        <p:txBody>
          <a:bodyPr/>
          <a:p/>
        </p:txBody>
      </p:sp>
      <p:sp>
        <p:nvSpPr>
          <p:cNvPr id="81" name="anim:3"/>
          <p:cNvSpPr txBox="1"/>
          <p:nvPr/>
        </p:nvSpPr>
        <p:spPr>
          <a:xfrm>
            <a:off x="5074920" y="4297680"/>
            <a:ext cx="1371600" cy="256032"/>
          </a:xfrm>
          <a:prstGeom prst="rect">
            <a:avLst/>
          </a:prstGeom>
          <a:noFill/>
          <a:ln/>
        </p:spPr>
        <p:txBody>
          <a:bodyPr wrap="square" lIns="0" tIns="0" rIns="0" bIns="0" rtlCol="0" anchor="ctr"/>
          <a:lstStyle/>
          <a:p>
            <a:pPr algn="l" indent="0" marL="0">
              <a:buNone/>
            </a:pPr>
            <a:r>
              <a:rPr lang="en-US" sz="950" dirty="0">
                <a:solidFill>
                  <a:srgbClr val="5F7183"/>
                </a:solidFill>
                <a:latin typeface="Calibri" pitchFamily="34" charset="0"/>
                <a:ea typeface="Calibri" pitchFamily="34" charset="-122"/>
                <a:cs typeface="Calibri" pitchFamily="34" charset="-120"/>
              </a:rPr>
              <a:t>Capstone</a:t>
            </a:r>
            <a:endParaRPr lang="en-US" sz="950" dirty="0"/>
          </a:p>
        </p:txBody>
      </p:sp>
      <p:sp>
        <p:nvSpPr>
          <p:cNvPr id="82" name="anim:3"/>
          <p:cNvSpPr/>
          <p:nvPr/>
        </p:nvSpPr>
        <p:spPr>
          <a:xfrm>
            <a:off x="6263640" y="4370832"/>
            <a:ext cx="109728" cy="109728"/>
          </a:xfrm>
          <a:prstGeom prst="ellipse">
            <a:avLst/>
          </a:prstGeom>
          <a:solidFill>
            <a:srgbClr val="E9B221"/>
          </a:solidFill>
          <a:ln w="12700">
            <a:solidFill>
              <a:srgbClr val="E9B221"/>
            </a:solidFill>
            <a:prstDash val="solid"/>
          </a:ln>
        </p:spPr>
        <p:txBody>
          <a:bodyPr/>
          <a:p/>
        </p:txBody>
      </p:sp>
      <p:sp>
        <p:nvSpPr>
          <p:cNvPr id="83" name="anim:3"/>
          <p:cNvSpPr txBox="1"/>
          <p:nvPr/>
        </p:nvSpPr>
        <p:spPr>
          <a:xfrm>
            <a:off x="6492240" y="4297680"/>
            <a:ext cx="1828800" cy="256032"/>
          </a:xfrm>
          <a:prstGeom prst="rect">
            <a:avLst/>
          </a:prstGeom>
          <a:noFill/>
          <a:ln/>
        </p:spPr>
        <p:txBody>
          <a:bodyPr wrap="square" lIns="0" tIns="0" rIns="0" bIns="0" rtlCol="0" anchor="ctr"/>
          <a:lstStyle/>
          <a:p>
            <a:pPr algn="l" indent="0" marL="0">
              <a:buNone/>
            </a:pPr>
            <a:r>
              <a:rPr lang="en-US" sz="950" dirty="0">
                <a:solidFill>
                  <a:srgbClr val="5F7183"/>
                </a:solidFill>
                <a:latin typeface="Calibri" pitchFamily="34" charset="0"/>
                <a:ea typeface="Calibri" pitchFamily="34" charset="-122"/>
                <a:cs typeface="Calibri" pitchFamily="34" charset="-120"/>
              </a:rPr>
              <a:t>Major exam in this week</a:t>
            </a:r>
            <a:endParaRPr lang="en-US" sz="950" dirty="0"/>
          </a:p>
        </p:txBody>
      </p:sp>
      <p:sp>
        <p:nvSpPr>
          <p:cNvPr id="84" name="anim:4 grad:card"/>
          <p:cNvSpPr/>
          <p:nvPr/>
        </p:nvSpPr>
        <p:spPr>
          <a:xfrm>
            <a:off x="548640" y="4800600"/>
            <a:ext cx="3566160" cy="1463040"/>
          </a:xfrm>
          <a:prstGeom prst="roundRect">
            <a:avLst>
              <a:gd name="adj" fmla="val 6250"/>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85" name="anim:4"/>
          <p:cNvSpPr/>
          <p:nvPr/>
        </p:nvSpPr>
        <p:spPr>
          <a:xfrm>
            <a:off x="777240" y="5029200"/>
            <a:ext cx="502920" cy="502920"/>
          </a:xfrm>
          <a:prstGeom prst="ellipse">
            <a:avLst/>
          </a:prstGeom>
          <a:solidFill>
            <a:srgbClr val="E3F2FA"/>
          </a:solidFill>
          <a:ln w="9525">
            <a:solidFill>
              <a:srgbClr val="E3F2FA"/>
            </a:solidFill>
            <a:prstDash val="solid"/>
          </a:ln>
        </p:spPr>
        <p:txBody>
          <a:bodyPr/>
          <a:p/>
        </p:txBody>
      </p:sp>
      <p:pic>
        <p:nvPicPr>
          <p:cNvPr id="86" name="anim:4" descr="preencoded.png">    </p:cNvPr>
          <p:cNvPicPr>
            <a:picLocks noChangeAspect="1"/>
          </p:cNvPicPr>
          <p:nvPr/>
        </p:nvPicPr>
        <p:blipFill>
          <a:blip r:embed="rId3"/>
          <a:stretch>
            <a:fillRect/>
          </a:stretch>
        </p:blipFill>
        <p:spPr>
          <a:xfrm>
            <a:off x="897941" y="5149901"/>
            <a:ext cx="261518" cy="261518"/>
          </a:xfrm>
          <a:prstGeom prst="rect">
            <a:avLst/>
          </a:prstGeom>
        </p:spPr>
      </p:pic>
      <p:sp>
        <p:nvSpPr>
          <p:cNvPr id="87" name="anim:4"/>
          <p:cNvSpPr txBox="1"/>
          <p:nvPr/>
        </p:nvSpPr>
        <p:spPr>
          <a:xfrm>
            <a:off x="1417320" y="5029200"/>
            <a:ext cx="2560320" cy="502920"/>
          </a:xfrm>
          <a:prstGeom prst="rect">
            <a:avLst/>
          </a:prstGeom>
          <a:noFill/>
          <a:ln/>
        </p:spPr>
        <p:txBody>
          <a:bodyPr wrap="square" lIns="0" tIns="0" rIns="0" bIns="0" rtlCol="0" anchor="ctr"/>
          <a:lstStyle/>
          <a:p>
            <a:pPr algn="l" indent="0" marL="0">
              <a:buNone/>
            </a:pPr>
            <a:r>
              <a:rPr lang="en-US" sz="1300" b="1" dirty="0">
                <a:solidFill>
                  <a:srgbClr val="0A1E33"/>
                </a:solidFill>
                <a:latin typeface="Calibri" pitchFamily="34" charset="0"/>
                <a:ea typeface="Calibri" pitchFamily="34" charset="-122"/>
                <a:cs typeface="Calibri" pitchFamily="34" charset="-120"/>
              </a:rPr>
              <a:t>Five cycles</a:t>
            </a:r>
            <a:endParaRPr lang="en-US" sz="1300" dirty="0"/>
          </a:p>
        </p:txBody>
      </p:sp>
      <p:sp>
        <p:nvSpPr>
          <p:cNvPr id="88" name="anim:4"/>
          <p:cNvSpPr txBox="1"/>
          <p:nvPr/>
        </p:nvSpPr>
        <p:spPr>
          <a:xfrm>
            <a:off x="777240" y="5577840"/>
            <a:ext cx="3108960" cy="64008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Each cycle is two teaching weeks that build one skill set, then a build week that proves it on a brief.</a:t>
            </a:r>
            <a:endParaRPr lang="en-US" sz="950" dirty="0"/>
          </a:p>
        </p:txBody>
      </p:sp>
      <p:sp>
        <p:nvSpPr>
          <p:cNvPr id="89" name="anim:4 grad:card"/>
          <p:cNvSpPr/>
          <p:nvPr/>
        </p:nvSpPr>
        <p:spPr>
          <a:xfrm>
            <a:off x="4306824" y="4800600"/>
            <a:ext cx="3566160" cy="1463040"/>
          </a:xfrm>
          <a:prstGeom prst="roundRect">
            <a:avLst>
              <a:gd name="adj" fmla="val 6250"/>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90" name="anim:4"/>
          <p:cNvSpPr/>
          <p:nvPr/>
        </p:nvSpPr>
        <p:spPr>
          <a:xfrm>
            <a:off x="4535424" y="5029200"/>
            <a:ext cx="502920" cy="502920"/>
          </a:xfrm>
          <a:prstGeom prst="ellipse">
            <a:avLst/>
          </a:prstGeom>
          <a:solidFill>
            <a:srgbClr val="E3F2FA"/>
          </a:solidFill>
          <a:ln w="9525">
            <a:solidFill>
              <a:srgbClr val="E3F2FA"/>
            </a:solidFill>
            <a:prstDash val="solid"/>
          </a:ln>
        </p:spPr>
        <p:txBody>
          <a:bodyPr/>
          <a:p/>
        </p:txBody>
      </p:sp>
      <p:pic>
        <p:nvPicPr>
          <p:cNvPr id="91" name="anim:4" descr="preencoded.png">    </p:cNvPr>
          <p:cNvPicPr>
            <a:picLocks noChangeAspect="1"/>
          </p:cNvPicPr>
          <p:nvPr/>
        </p:nvPicPr>
        <p:blipFill>
          <a:blip r:embed="rId4"/>
          <a:stretch>
            <a:fillRect/>
          </a:stretch>
        </p:blipFill>
        <p:spPr>
          <a:xfrm>
            <a:off x="4656125" y="5149901"/>
            <a:ext cx="261518" cy="261518"/>
          </a:xfrm>
          <a:prstGeom prst="rect">
            <a:avLst/>
          </a:prstGeom>
        </p:spPr>
      </p:pic>
      <p:sp>
        <p:nvSpPr>
          <p:cNvPr id="92" name="anim:4"/>
          <p:cNvSpPr txBox="1"/>
          <p:nvPr/>
        </p:nvSpPr>
        <p:spPr>
          <a:xfrm>
            <a:off x="5175504" y="5029200"/>
            <a:ext cx="2560320" cy="502920"/>
          </a:xfrm>
          <a:prstGeom prst="rect">
            <a:avLst/>
          </a:prstGeom>
          <a:noFill/>
          <a:ln/>
        </p:spPr>
        <p:txBody>
          <a:bodyPr wrap="square" lIns="0" tIns="0" rIns="0" bIns="0" rtlCol="0" anchor="ctr"/>
          <a:lstStyle/>
          <a:p>
            <a:pPr algn="l" indent="0" marL="0">
              <a:buNone/>
            </a:pPr>
            <a:r>
              <a:rPr lang="en-US" sz="1300" b="1" dirty="0">
                <a:solidFill>
                  <a:srgbClr val="0A1E33"/>
                </a:solidFill>
                <a:latin typeface="Calibri" pitchFamily="34" charset="0"/>
                <a:ea typeface="Calibri" pitchFamily="34" charset="-122"/>
                <a:cs typeface="Calibri" pitchFamily="34" charset="-120"/>
              </a:rPr>
              <a:t>Three exams</a:t>
            </a:r>
            <a:endParaRPr lang="en-US" sz="1300" dirty="0"/>
          </a:p>
        </p:txBody>
      </p:sp>
      <p:sp>
        <p:nvSpPr>
          <p:cNvPr id="93" name="anim:4"/>
          <p:cNvSpPr txBox="1"/>
          <p:nvPr/>
        </p:nvSpPr>
        <p:spPr>
          <a:xfrm>
            <a:off x="4535424" y="5577840"/>
            <a:ext cx="3108960" cy="64008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Weeks 5, 10 and 16, always at the end of a phase, never inside a build week.</a:t>
            </a:r>
            <a:endParaRPr lang="en-US" sz="950" dirty="0"/>
          </a:p>
        </p:txBody>
      </p:sp>
      <p:sp>
        <p:nvSpPr>
          <p:cNvPr id="94" name="anim:4 grad:card"/>
          <p:cNvSpPr/>
          <p:nvPr/>
        </p:nvSpPr>
        <p:spPr>
          <a:xfrm>
            <a:off x="8065008" y="4800600"/>
            <a:ext cx="3566160" cy="1463040"/>
          </a:xfrm>
          <a:prstGeom prst="roundRect">
            <a:avLst>
              <a:gd name="adj" fmla="val 6250"/>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95" name="anim:4"/>
          <p:cNvSpPr/>
          <p:nvPr/>
        </p:nvSpPr>
        <p:spPr>
          <a:xfrm>
            <a:off x="8293608" y="5029200"/>
            <a:ext cx="502920" cy="502920"/>
          </a:xfrm>
          <a:prstGeom prst="ellipse">
            <a:avLst/>
          </a:prstGeom>
          <a:solidFill>
            <a:srgbClr val="E3F2FA"/>
          </a:solidFill>
          <a:ln w="9525">
            <a:solidFill>
              <a:srgbClr val="E3F2FA"/>
            </a:solidFill>
            <a:prstDash val="solid"/>
          </a:ln>
        </p:spPr>
        <p:txBody>
          <a:bodyPr/>
          <a:p/>
        </p:txBody>
      </p:sp>
      <p:pic>
        <p:nvPicPr>
          <p:cNvPr id="96" name="anim:4" descr="preencoded.png">    </p:cNvPr>
          <p:cNvPicPr>
            <a:picLocks noChangeAspect="1"/>
          </p:cNvPicPr>
          <p:nvPr/>
        </p:nvPicPr>
        <p:blipFill>
          <a:blip r:embed="rId5"/>
          <a:stretch>
            <a:fillRect/>
          </a:stretch>
        </p:blipFill>
        <p:spPr>
          <a:xfrm>
            <a:off x="8414309" y="5149901"/>
            <a:ext cx="261518" cy="261518"/>
          </a:xfrm>
          <a:prstGeom prst="rect">
            <a:avLst/>
          </a:prstGeom>
        </p:spPr>
      </p:pic>
      <p:sp>
        <p:nvSpPr>
          <p:cNvPr id="97" name="anim:4"/>
          <p:cNvSpPr txBox="1"/>
          <p:nvPr/>
        </p:nvSpPr>
        <p:spPr>
          <a:xfrm>
            <a:off x="8933688" y="5029200"/>
            <a:ext cx="2560320" cy="502920"/>
          </a:xfrm>
          <a:prstGeom prst="rect">
            <a:avLst/>
          </a:prstGeom>
          <a:noFill/>
          <a:ln/>
        </p:spPr>
        <p:txBody>
          <a:bodyPr wrap="square" lIns="0" tIns="0" rIns="0" bIns="0" rtlCol="0" anchor="ctr"/>
          <a:lstStyle/>
          <a:p>
            <a:pPr algn="l" indent="0" marL="0">
              <a:buNone/>
            </a:pPr>
            <a:r>
              <a:rPr lang="en-US" sz="1300" b="1" dirty="0">
                <a:solidFill>
                  <a:srgbClr val="0A1E33"/>
                </a:solidFill>
                <a:latin typeface="Calibri" pitchFamily="34" charset="0"/>
                <a:ea typeface="Calibri" pitchFamily="34" charset="-122"/>
                <a:cs typeface="Calibri" pitchFamily="34" charset="-120"/>
              </a:rPr>
              <a:t>Grades never wait</a:t>
            </a:r>
            <a:endParaRPr lang="en-US" sz="1300" dirty="0"/>
          </a:p>
        </p:txBody>
      </p:sp>
      <p:sp>
        <p:nvSpPr>
          <p:cNvPr id="98" name="anim:4"/>
          <p:cNvSpPr txBox="1"/>
          <p:nvPr/>
        </p:nvSpPr>
        <p:spPr>
          <a:xfrm>
            <a:off x="8293608" y="5577840"/>
            <a:ext cx="3108960" cy="64008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Every build-week grade closes in that week, so you always know where you stand before the next cycle.</a:t>
            </a:r>
            <a:endParaRPr lang="en-US" sz="9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4"/>
                                        </p:tgtEl>
                                        <p:attrNameLst>
                                          <p:attrName>style.visibility</p:attrName>
                                        </p:attrNameLst>
                                      </p:cBhvr>
                                      <p:to>
                                        <p:strVal val="visible"/>
                                      </p:to>
                                    </p:set>
                                    <p:animEffect transition="in" filter="fade">
                                      <p:cBhvr>
                                        <p:cTn id="5" dur="400"/>
                                        <p:tgtEl>
                                          <p:spTgt spid="44"/>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45"/>
                                        </p:tgtEl>
                                        <p:attrNameLst>
                                          <p:attrName>style.visibility</p:attrName>
                                        </p:attrNameLst>
                                      </p:cBhvr>
                                      <p:to>
                                        <p:strVal val="visible"/>
                                      </p:to>
                                    </p:set>
                                    <p:animEffect transition="in" filter="fade">
                                      <p:cBhvr>
                                        <p:cTn id="8" dur="400"/>
                                        <p:tgtEl>
                                          <p:spTgt spid="45"/>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400"/>
                                        <p:tgtEl>
                                          <p:spTgt spid="46"/>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47"/>
                                        </p:tgtEl>
                                        <p:attrNameLst>
                                          <p:attrName>style.visibility</p:attrName>
                                        </p:attrNameLst>
                                      </p:cBhvr>
                                      <p:to>
                                        <p:strVal val="visible"/>
                                      </p:to>
                                    </p:set>
                                    <p:animEffect transition="in" filter="fade">
                                      <p:cBhvr>
                                        <p:cTn id="14" dur="400"/>
                                        <p:tgtEl>
                                          <p:spTgt spid="47"/>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400"/>
                                        <p:tgtEl>
                                          <p:spTgt spid="48"/>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400"/>
                                        <p:tgtEl>
                                          <p:spTgt spid="49"/>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50"/>
                                        </p:tgtEl>
                                        <p:attrNameLst>
                                          <p:attrName>style.visibility</p:attrName>
                                        </p:attrNameLst>
                                      </p:cBhvr>
                                      <p:to>
                                        <p:strVal val="visible"/>
                                      </p:to>
                                    </p:set>
                                    <p:animEffect transition="in" filter="fade">
                                      <p:cBhvr>
                                        <p:cTn id="23" dur="400"/>
                                        <p:tgtEl>
                                          <p:spTgt spid="50"/>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51"/>
                                        </p:tgtEl>
                                        <p:attrNameLst>
                                          <p:attrName>style.visibility</p:attrName>
                                        </p:attrNameLst>
                                      </p:cBhvr>
                                      <p:to>
                                        <p:strVal val="visible"/>
                                      </p:to>
                                    </p:set>
                                    <p:animEffect transition="in" filter="fade">
                                      <p:cBhvr>
                                        <p:cTn id="26" dur="400"/>
                                        <p:tgtEl>
                                          <p:spTgt spid="51"/>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52"/>
                                        </p:tgtEl>
                                        <p:attrNameLst>
                                          <p:attrName>style.visibility</p:attrName>
                                        </p:attrNameLst>
                                      </p:cBhvr>
                                      <p:to>
                                        <p:strVal val="visible"/>
                                      </p:to>
                                    </p:set>
                                    <p:animEffect transition="in" filter="fade">
                                      <p:cBhvr>
                                        <p:cTn id="29" dur="400"/>
                                        <p:tgtEl>
                                          <p:spTgt spid="52"/>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53"/>
                                        </p:tgtEl>
                                        <p:attrNameLst>
                                          <p:attrName>style.visibility</p:attrName>
                                        </p:attrNameLst>
                                      </p:cBhvr>
                                      <p:to>
                                        <p:strVal val="visible"/>
                                      </p:to>
                                    </p:set>
                                    <p:animEffect transition="in" filter="fade">
                                      <p:cBhvr>
                                        <p:cTn id="32" dur="400"/>
                                        <p:tgtEl>
                                          <p:spTgt spid="53"/>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400"/>
                                        <p:tgtEl>
                                          <p:spTgt spid="54"/>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55"/>
                                        </p:tgtEl>
                                        <p:attrNameLst>
                                          <p:attrName>style.visibility</p:attrName>
                                        </p:attrNameLst>
                                      </p:cBhvr>
                                      <p:to>
                                        <p:strVal val="visible"/>
                                      </p:to>
                                    </p:set>
                                    <p:animEffect transition="in" filter="fade">
                                      <p:cBhvr>
                                        <p:cTn id="38" dur="400"/>
                                        <p:tgtEl>
                                          <p:spTgt spid="55"/>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56"/>
                                        </p:tgtEl>
                                        <p:attrNameLst>
                                          <p:attrName>style.visibility</p:attrName>
                                        </p:attrNameLst>
                                      </p:cBhvr>
                                      <p:to>
                                        <p:strVal val="visible"/>
                                      </p:to>
                                    </p:set>
                                    <p:animEffect transition="in" filter="fade">
                                      <p:cBhvr>
                                        <p:cTn id="41" dur="400"/>
                                        <p:tgtEl>
                                          <p:spTgt spid="56"/>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57"/>
                                        </p:tgtEl>
                                        <p:attrNameLst>
                                          <p:attrName>style.visibility</p:attrName>
                                        </p:attrNameLst>
                                      </p:cBhvr>
                                      <p:to>
                                        <p:strVal val="visible"/>
                                      </p:to>
                                    </p:set>
                                    <p:animEffect transition="in" filter="fade">
                                      <p:cBhvr>
                                        <p:cTn id="44" dur="400"/>
                                        <p:tgtEl>
                                          <p:spTgt spid="57"/>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400"/>
                                        <p:tgtEl>
                                          <p:spTgt spid="58"/>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59"/>
                                        </p:tgtEl>
                                        <p:attrNameLst>
                                          <p:attrName>style.visibility</p:attrName>
                                        </p:attrNameLst>
                                      </p:cBhvr>
                                      <p:to>
                                        <p:strVal val="visible"/>
                                      </p:to>
                                    </p:set>
                                    <p:animEffect transition="in" filter="fade">
                                      <p:cBhvr>
                                        <p:cTn id="50" dur="400"/>
                                        <p:tgtEl>
                                          <p:spTgt spid="59"/>
                                        </p:tgtEl>
                                      </p:cBhvr>
                                    </p:animEffect>
                                  </p:childTnLst>
                                </p:cTn>
                              </p:par>
                            </p:childTnLst>
                          </p:cTn>
                        </p:par>
                      </p:childTnLst>
                    </p:cTn>
                  </p:par>
                  <p:par>
                    <p:cTn id="122" fill="hold">
                      <p:stCondLst>
                        <p:cond delay="indefinite"/>
                      </p:stCondLst>
                      <p:childTnLst>
                        <p:par>
                          <p:cTn id="123"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00"/>
                                        <p:tgtEl>
                                          <p:spTgt spid="21"/>
                                        </p:tgtEl>
                                      </p:cBhvr>
                                    </p:animEffect>
                                  </p:childTnLst>
                                </p:cTn>
                              </p:par>
                              <p:par>
                                <p:cTn id="56" presetID="10" presetClass="entr" presetSubtype="0" fill="hold" grpId="0" nodeType="withEffect">
                                  <p:stCondLst>
                                    <p:cond delay="9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18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27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36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45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par>
                                <p:cTn id="71" presetID="10" presetClass="entr" presetSubtype="0" fill="hold" grpId="0" nodeType="withEffect">
                                  <p:stCondLst>
                                    <p:cond delay="54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00"/>
                                        <p:tgtEl>
                                          <p:spTgt spid="27"/>
                                        </p:tgtEl>
                                      </p:cBhvr>
                                    </p:animEffect>
                                  </p:childTnLst>
                                </p:cTn>
                              </p:par>
                              <p:par>
                                <p:cTn id="74" presetID="10" presetClass="entr" presetSubtype="0" fill="hold" grpId="0" nodeType="withEffect">
                                  <p:stCondLst>
                                    <p:cond delay="63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00"/>
                                        <p:tgtEl>
                                          <p:spTgt spid="28"/>
                                        </p:tgtEl>
                                      </p:cBhvr>
                                    </p:animEffect>
                                  </p:childTnLst>
                                </p:cTn>
                              </p:par>
                              <p:par>
                                <p:cTn id="77" presetID="10" presetClass="entr" presetSubtype="0" fill="hold" grpId="0" nodeType="withEffect">
                                  <p:stCondLst>
                                    <p:cond delay="72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400"/>
                                        <p:tgtEl>
                                          <p:spTgt spid="29"/>
                                        </p:tgtEl>
                                      </p:cBhvr>
                                    </p:animEffect>
                                  </p:childTnLst>
                                </p:cTn>
                              </p:par>
                              <p:par>
                                <p:cTn id="80" presetID="10" presetClass="entr" presetSubtype="0" fill="hold" grpId="0" nodeType="withEffect">
                                  <p:stCondLst>
                                    <p:cond delay="81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400"/>
                                        <p:tgtEl>
                                          <p:spTgt spid="30"/>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400"/>
                                        <p:tgtEl>
                                          <p:spTgt spid="31"/>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400"/>
                                        <p:tgtEl>
                                          <p:spTgt spid="32"/>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400"/>
                                        <p:tgtEl>
                                          <p:spTgt spid="33"/>
                                        </p:tgtEl>
                                      </p:cBhvr>
                                    </p:animEffect>
                                  </p:childTnLst>
                                </p:cTn>
                              </p:par>
                              <p:par>
                                <p:cTn id="92" presetID="10" presetClass="entr" presetSubtype="0" fill="hold" grpId="0" nodeType="withEffect">
                                  <p:stCondLst>
                                    <p:cond delay="90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400"/>
                                        <p:tgtEl>
                                          <p:spTgt spid="35"/>
                                        </p:tgtEl>
                                      </p:cBhvr>
                                    </p:animEffect>
                                  </p:childTnLst>
                                </p:cTn>
                              </p:par>
                              <p:par>
                                <p:cTn id="98" presetID="10" presetClass="entr" presetSubtype="0" fill="hold" grpId="0" nodeType="withEffect">
                                  <p:stCondLst>
                                    <p:cond delay="90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400"/>
                                        <p:tgtEl>
                                          <p:spTgt spid="36"/>
                                        </p:tgtEl>
                                      </p:cBhvr>
                                    </p:animEffect>
                                  </p:childTnLst>
                                </p:cTn>
                              </p:par>
                              <p:par>
                                <p:cTn id="101" presetID="10" presetClass="entr" presetSubtype="0" fill="hold" grpId="0" nodeType="withEffect">
                                  <p:stCondLst>
                                    <p:cond delay="90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400"/>
                                        <p:tgtEl>
                                          <p:spTgt spid="37"/>
                                        </p:tgtEl>
                                      </p:cBhvr>
                                    </p:animEffect>
                                  </p:childTnLst>
                                </p:cTn>
                              </p:par>
                              <p:par>
                                <p:cTn id="104" presetID="10" presetClass="entr" presetSubtype="0" fill="hold" grpId="0" nodeType="withEffect">
                                  <p:stCondLst>
                                    <p:cond delay="90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400"/>
                                        <p:tgtEl>
                                          <p:spTgt spid="38"/>
                                        </p:tgtEl>
                                      </p:cBhvr>
                                    </p:animEffect>
                                  </p:childTnLst>
                                </p:cTn>
                              </p:par>
                              <p:par>
                                <p:cTn id="107" presetID="10" presetClass="entr" presetSubtype="0" fill="hold" grpId="0" nodeType="withEffect">
                                  <p:stCondLst>
                                    <p:cond delay="90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400"/>
                                        <p:tgtEl>
                                          <p:spTgt spid="39"/>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400"/>
                                        <p:tgtEl>
                                          <p:spTgt spid="40"/>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400"/>
                                        <p:tgtEl>
                                          <p:spTgt spid="41"/>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400"/>
                                        <p:tgtEl>
                                          <p:spTgt spid="42"/>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400"/>
                                        <p:tgtEl>
                                          <p:spTgt spid="43"/>
                                        </p:tgtEl>
                                      </p:cBhvr>
                                    </p:animEffect>
                                  </p:childTnLst>
                                </p:cTn>
                              </p:par>
                            </p:childTnLst>
                          </p:cTn>
                        </p:par>
                      </p:childTnLst>
                    </p:cTn>
                  </p:par>
                  <p:par>
                    <p:cTn id="196" fill="hold">
                      <p:stCondLst>
                        <p:cond delay="indefinite"/>
                      </p:stCondLst>
                      <p:childTnLst>
                        <p:par>
                          <p:cTn id="197"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60"/>
                                        </p:tgtEl>
                                        <p:attrNameLst>
                                          <p:attrName>style.visibility</p:attrName>
                                        </p:attrNameLst>
                                      </p:cBhvr>
                                      <p:to>
                                        <p:strVal val="visible"/>
                                      </p:to>
                                    </p:set>
                                    <p:animEffect transition="in" filter="fade">
                                      <p:cBhvr>
                                        <p:cTn id="126" dur="400"/>
                                        <p:tgtEl>
                                          <p:spTgt spid="60"/>
                                        </p:tgtEl>
                                      </p:cBhvr>
                                    </p:animEffect>
                                  </p:childTnLst>
                                </p:cTn>
                              </p:par>
                              <p:par>
                                <p:cTn id="127" presetID="10" presetClass="entr" presetSubtype="0" fill="hold" grpId="0" nodeType="withEffect">
                                  <p:stCondLst>
                                    <p:cond delay="90"/>
                                  </p:stCondLst>
                                  <p:childTnLst>
                                    <p:set>
                                      <p:cBhvr>
                                        <p:cTn id="128" dur="1" fill="hold">
                                          <p:stCondLst>
                                            <p:cond delay="0"/>
                                          </p:stCondLst>
                                        </p:cTn>
                                        <p:tgtEl>
                                          <p:spTgt spid="61"/>
                                        </p:tgtEl>
                                        <p:attrNameLst>
                                          <p:attrName>style.visibility</p:attrName>
                                        </p:attrNameLst>
                                      </p:cBhvr>
                                      <p:to>
                                        <p:strVal val="visible"/>
                                      </p:to>
                                    </p:set>
                                    <p:animEffect transition="in" filter="fade">
                                      <p:cBhvr>
                                        <p:cTn id="129" dur="400"/>
                                        <p:tgtEl>
                                          <p:spTgt spid="61"/>
                                        </p:tgtEl>
                                      </p:cBhvr>
                                    </p:animEffect>
                                  </p:childTnLst>
                                </p:cTn>
                              </p:par>
                              <p:par>
                                <p:cTn id="130" presetID="10" presetClass="entr" presetSubtype="0" fill="hold" grpId="0" nodeType="withEffect">
                                  <p:stCondLst>
                                    <p:cond delay="180"/>
                                  </p:stCondLst>
                                  <p:childTnLst>
                                    <p:set>
                                      <p:cBhvr>
                                        <p:cTn id="131" dur="1" fill="hold">
                                          <p:stCondLst>
                                            <p:cond delay="0"/>
                                          </p:stCondLst>
                                        </p:cTn>
                                        <p:tgtEl>
                                          <p:spTgt spid="62"/>
                                        </p:tgtEl>
                                        <p:attrNameLst>
                                          <p:attrName>style.visibility</p:attrName>
                                        </p:attrNameLst>
                                      </p:cBhvr>
                                      <p:to>
                                        <p:strVal val="visible"/>
                                      </p:to>
                                    </p:set>
                                    <p:animEffect transition="in" filter="fade">
                                      <p:cBhvr>
                                        <p:cTn id="132" dur="400"/>
                                        <p:tgtEl>
                                          <p:spTgt spid="62"/>
                                        </p:tgtEl>
                                      </p:cBhvr>
                                    </p:animEffect>
                                  </p:childTnLst>
                                </p:cTn>
                              </p:par>
                              <p:par>
                                <p:cTn id="133" presetID="10" presetClass="entr" presetSubtype="0" fill="hold" grpId="0" nodeType="withEffect">
                                  <p:stCondLst>
                                    <p:cond delay="270"/>
                                  </p:stCondLst>
                                  <p:childTnLst>
                                    <p:set>
                                      <p:cBhvr>
                                        <p:cTn id="134" dur="1" fill="hold">
                                          <p:stCondLst>
                                            <p:cond delay="0"/>
                                          </p:stCondLst>
                                        </p:cTn>
                                        <p:tgtEl>
                                          <p:spTgt spid="63"/>
                                        </p:tgtEl>
                                        <p:attrNameLst>
                                          <p:attrName>style.visibility</p:attrName>
                                        </p:attrNameLst>
                                      </p:cBhvr>
                                      <p:to>
                                        <p:strVal val="visible"/>
                                      </p:to>
                                    </p:set>
                                    <p:animEffect transition="in" filter="fade">
                                      <p:cBhvr>
                                        <p:cTn id="135" dur="400"/>
                                        <p:tgtEl>
                                          <p:spTgt spid="63"/>
                                        </p:tgtEl>
                                      </p:cBhvr>
                                    </p:animEffect>
                                  </p:childTnLst>
                                </p:cTn>
                              </p:par>
                              <p:par>
                                <p:cTn id="136" presetID="10" presetClass="entr" presetSubtype="0" fill="hold" grpId="0" nodeType="withEffect">
                                  <p:stCondLst>
                                    <p:cond delay="360"/>
                                  </p:stCondLst>
                                  <p:childTnLst>
                                    <p:set>
                                      <p:cBhvr>
                                        <p:cTn id="137" dur="1" fill="hold">
                                          <p:stCondLst>
                                            <p:cond delay="0"/>
                                          </p:stCondLst>
                                        </p:cTn>
                                        <p:tgtEl>
                                          <p:spTgt spid="64"/>
                                        </p:tgtEl>
                                        <p:attrNameLst>
                                          <p:attrName>style.visibility</p:attrName>
                                        </p:attrNameLst>
                                      </p:cBhvr>
                                      <p:to>
                                        <p:strVal val="visible"/>
                                      </p:to>
                                    </p:set>
                                    <p:animEffect transition="in" filter="fade">
                                      <p:cBhvr>
                                        <p:cTn id="138" dur="400"/>
                                        <p:tgtEl>
                                          <p:spTgt spid="64"/>
                                        </p:tgtEl>
                                      </p:cBhvr>
                                    </p:animEffect>
                                  </p:childTnLst>
                                </p:cTn>
                              </p:par>
                              <p:par>
                                <p:cTn id="139" presetID="10" presetClass="entr" presetSubtype="0" fill="hold" grpId="0" nodeType="withEffect">
                                  <p:stCondLst>
                                    <p:cond delay="450"/>
                                  </p:stCondLst>
                                  <p:childTnLst>
                                    <p:set>
                                      <p:cBhvr>
                                        <p:cTn id="140" dur="1" fill="hold">
                                          <p:stCondLst>
                                            <p:cond delay="0"/>
                                          </p:stCondLst>
                                        </p:cTn>
                                        <p:tgtEl>
                                          <p:spTgt spid="65"/>
                                        </p:tgtEl>
                                        <p:attrNameLst>
                                          <p:attrName>style.visibility</p:attrName>
                                        </p:attrNameLst>
                                      </p:cBhvr>
                                      <p:to>
                                        <p:strVal val="visible"/>
                                      </p:to>
                                    </p:set>
                                    <p:animEffect transition="in" filter="fade">
                                      <p:cBhvr>
                                        <p:cTn id="141" dur="400"/>
                                        <p:tgtEl>
                                          <p:spTgt spid="65"/>
                                        </p:tgtEl>
                                      </p:cBhvr>
                                    </p:animEffect>
                                  </p:childTnLst>
                                </p:cTn>
                              </p:par>
                              <p:par>
                                <p:cTn id="142" presetID="10" presetClass="entr" presetSubtype="0" fill="hold" grpId="0" nodeType="withEffect">
                                  <p:stCondLst>
                                    <p:cond delay="540"/>
                                  </p:stCondLst>
                                  <p:childTnLst>
                                    <p:set>
                                      <p:cBhvr>
                                        <p:cTn id="143" dur="1" fill="hold">
                                          <p:stCondLst>
                                            <p:cond delay="0"/>
                                          </p:stCondLst>
                                        </p:cTn>
                                        <p:tgtEl>
                                          <p:spTgt spid="66"/>
                                        </p:tgtEl>
                                        <p:attrNameLst>
                                          <p:attrName>style.visibility</p:attrName>
                                        </p:attrNameLst>
                                      </p:cBhvr>
                                      <p:to>
                                        <p:strVal val="visible"/>
                                      </p:to>
                                    </p:set>
                                    <p:animEffect transition="in" filter="fade">
                                      <p:cBhvr>
                                        <p:cTn id="144" dur="400"/>
                                        <p:tgtEl>
                                          <p:spTgt spid="66"/>
                                        </p:tgtEl>
                                      </p:cBhvr>
                                    </p:animEffect>
                                  </p:childTnLst>
                                </p:cTn>
                              </p:par>
                              <p:par>
                                <p:cTn id="145" presetID="10" presetClass="entr" presetSubtype="0" fill="hold" grpId="0" nodeType="withEffect">
                                  <p:stCondLst>
                                    <p:cond delay="630"/>
                                  </p:stCondLst>
                                  <p:childTnLst>
                                    <p:set>
                                      <p:cBhvr>
                                        <p:cTn id="146" dur="1" fill="hold">
                                          <p:stCondLst>
                                            <p:cond delay="0"/>
                                          </p:stCondLst>
                                        </p:cTn>
                                        <p:tgtEl>
                                          <p:spTgt spid="67"/>
                                        </p:tgtEl>
                                        <p:attrNameLst>
                                          <p:attrName>style.visibility</p:attrName>
                                        </p:attrNameLst>
                                      </p:cBhvr>
                                      <p:to>
                                        <p:strVal val="visible"/>
                                      </p:to>
                                    </p:set>
                                    <p:animEffect transition="in" filter="fade">
                                      <p:cBhvr>
                                        <p:cTn id="147" dur="400"/>
                                        <p:tgtEl>
                                          <p:spTgt spid="67"/>
                                        </p:tgtEl>
                                      </p:cBhvr>
                                    </p:animEffect>
                                  </p:childTnLst>
                                </p:cTn>
                              </p:par>
                              <p:par>
                                <p:cTn id="148" presetID="10" presetClass="entr" presetSubtype="0" fill="hold" grpId="0" nodeType="withEffect">
                                  <p:stCondLst>
                                    <p:cond delay="720"/>
                                  </p:stCondLst>
                                  <p:childTnLst>
                                    <p:set>
                                      <p:cBhvr>
                                        <p:cTn id="149" dur="1" fill="hold">
                                          <p:stCondLst>
                                            <p:cond delay="0"/>
                                          </p:stCondLst>
                                        </p:cTn>
                                        <p:tgtEl>
                                          <p:spTgt spid="68"/>
                                        </p:tgtEl>
                                        <p:attrNameLst>
                                          <p:attrName>style.visibility</p:attrName>
                                        </p:attrNameLst>
                                      </p:cBhvr>
                                      <p:to>
                                        <p:strVal val="visible"/>
                                      </p:to>
                                    </p:set>
                                    <p:animEffect transition="in" filter="fade">
                                      <p:cBhvr>
                                        <p:cTn id="150" dur="400"/>
                                        <p:tgtEl>
                                          <p:spTgt spid="68"/>
                                        </p:tgtEl>
                                      </p:cBhvr>
                                    </p:animEffect>
                                  </p:childTnLst>
                                </p:cTn>
                              </p:par>
                              <p:par>
                                <p:cTn id="151" presetID="10" presetClass="entr" presetSubtype="0" fill="hold" grpId="0" nodeType="withEffect">
                                  <p:stCondLst>
                                    <p:cond delay="810"/>
                                  </p:stCondLst>
                                  <p:childTnLst>
                                    <p:set>
                                      <p:cBhvr>
                                        <p:cTn id="152" dur="1" fill="hold">
                                          <p:stCondLst>
                                            <p:cond delay="0"/>
                                          </p:stCondLst>
                                        </p:cTn>
                                        <p:tgtEl>
                                          <p:spTgt spid="69"/>
                                        </p:tgtEl>
                                        <p:attrNameLst>
                                          <p:attrName>style.visibility</p:attrName>
                                        </p:attrNameLst>
                                      </p:cBhvr>
                                      <p:to>
                                        <p:strVal val="visible"/>
                                      </p:to>
                                    </p:set>
                                    <p:animEffect transition="in" filter="fade">
                                      <p:cBhvr>
                                        <p:cTn id="153" dur="400"/>
                                        <p:tgtEl>
                                          <p:spTgt spid="69"/>
                                        </p:tgtEl>
                                      </p:cBhvr>
                                    </p:animEffect>
                                  </p:childTnLst>
                                </p:cTn>
                              </p:par>
                              <p:par>
                                <p:cTn id="154" presetID="10" presetClass="entr" presetSubtype="0" fill="hold" grpId="0" nodeType="withEffect">
                                  <p:stCondLst>
                                    <p:cond delay="900"/>
                                  </p:stCondLst>
                                  <p:childTnLst>
                                    <p:set>
                                      <p:cBhvr>
                                        <p:cTn id="155" dur="1" fill="hold">
                                          <p:stCondLst>
                                            <p:cond delay="0"/>
                                          </p:stCondLst>
                                        </p:cTn>
                                        <p:tgtEl>
                                          <p:spTgt spid="70"/>
                                        </p:tgtEl>
                                        <p:attrNameLst>
                                          <p:attrName>style.visibility</p:attrName>
                                        </p:attrNameLst>
                                      </p:cBhvr>
                                      <p:to>
                                        <p:strVal val="visible"/>
                                      </p:to>
                                    </p:set>
                                    <p:animEffect transition="in" filter="fade">
                                      <p:cBhvr>
                                        <p:cTn id="156" dur="400"/>
                                        <p:tgtEl>
                                          <p:spTgt spid="70"/>
                                        </p:tgtEl>
                                      </p:cBhvr>
                                    </p:animEffect>
                                  </p:childTnLst>
                                </p:cTn>
                              </p:par>
                              <p:par>
                                <p:cTn id="157" presetID="10" presetClass="entr" presetSubtype="0" fill="hold" grpId="0" nodeType="withEffect">
                                  <p:stCondLst>
                                    <p:cond delay="900"/>
                                  </p:stCondLst>
                                  <p:childTnLst>
                                    <p:set>
                                      <p:cBhvr>
                                        <p:cTn id="158" dur="1" fill="hold">
                                          <p:stCondLst>
                                            <p:cond delay="0"/>
                                          </p:stCondLst>
                                        </p:cTn>
                                        <p:tgtEl>
                                          <p:spTgt spid="71"/>
                                        </p:tgtEl>
                                        <p:attrNameLst>
                                          <p:attrName>style.visibility</p:attrName>
                                        </p:attrNameLst>
                                      </p:cBhvr>
                                      <p:to>
                                        <p:strVal val="visible"/>
                                      </p:to>
                                    </p:set>
                                    <p:animEffect transition="in" filter="fade">
                                      <p:cBhvr>
                                        <p:cTn id="159" dur="400"/>
                                        <p:tgtEl>
                                          <p:spTgt spid="71"/>
                                        </p:tgtEl>
                                      </p:cBhvr>
                                    </p:animEffect>
                                  </p:childTnLst>
                                </p:cTn>
                              </p:par>
                              <p:par>
                                <p:cTn id="160" presetID="10" presetClass="entr" presetSubtype="0" fill="hold" grpId="0" nodeType="withEffect">
                                  <p:stCondLst>
                                    <p:cond delay="900"/>
                                  </p:stCondLst>
                                  <p:childTnLst>
                                    <p:set>
                                      <p:cBhvr>
                                        <p:cTn id="161" dur="1" fill="hold">
                                          <p:stCondLst>
                                            <p:cond delay="0"/>
                                          </p:stCondLst>
                                        </p:cTn>
                                        <p:tgtEl>
                                          <p:spTgt spid="72"/>
                                        </p:tgtEl>
                                        <p:attrNameLst>
                                          <p:attrName>style.visibility</p:attrName>
                                        </p:attrNameLst>
                                      </p:cBhvr>
                                      <p:to>
                                        <p:strVal val="visible"/>
                                      </p:to>
                                    </p:set>
                                    <p:animEffect transition="in" filter="fade">
                                      <p:cBhvr>
                                        <p:cTn id="162" dur="400"/>
                                        <p:tgtEl>
                                          <p:spTgt spid="72"/>
                                        </p:tgtEl>
                                      </p:cBhvr>
                                    </p:animEffect>
                                  </p:childTnLst>
                                </p:cTn>
                              </p:par>
                              <p:par>
                                <p:cTn id="163" presetID="10" presetClass="entr" presetSubtype="0" fill="hold" grpId="0" nodeType="withEffect">
                                  <p:stCondLst>
                                    <p:cond delay="900"/>
                                  </p:stCondLst>
                                  <p:childTnLst>
                                    <p:set>
                                      <p:cBhvr>
                                        <p:cTn id="164" dur="1" fill="hold">
                                          <p:stCondLst>
                                            <p:cond delay="0"/>
                                          </p:stCondLst>
                                        </p:cTn>
                                        <p:tgtEl>
                                          <p:spTgt spid="73"/>
                                        </p:tgtEl>
                                        <p:attrNameLst>
                                          <p:attrName>style.visibility</p:attrName>
                                        </p:attrNameLst>
                                      </p:cBhvr>
                                      <p:to>
                                        <p:strVal val="visible"/>
                                      </p:to>
                                    </p:set>
                                    <p:animEffect transition="in" filter="fade">
                                      <p:cBhvr>
                                        <p:cTn id="165" dur="400"/>
                                        <p:tgtEl>
                                          <p:spTgt spid="73"/>
                                        </p:tgtEl>
                                      </p:cBhvr>
                                    </p:animEffect>
                                  </p:childTnLst>
                                </p:cTn>
                              </p:par>
                              <p:par>
                                <p:cTn id="166" presetID="10" presetClass="entr" presetSubtype="0" fill="hold" grpId="0" nodeType="withEffect">
                                  <p:stCondLst>
                                    <p:cond delay="900"/>
                                  </p:stCondLst>
                                  <p:childTnLst>
                                    <p:set>
                                      <p:cBhvr>
                                        <p:cTn id="167" dur="1" fill="hold">
                                          <p:stCondLst>
                                            <p:cond delay="0"/>
                                          </p:stCondLst>
                                        </p:cTn>
                                        <p:tgtEl>
                                          <p:spTgt spid="74"/>
                                        </p:tgtEl>
                                        <p:attrNameLst>
                                          <p:attrName>style.visibility</p:attrName>
                                        </p:attrNameLst>
                                      </p:cBhvr>
                                      <p:to>
                                        <p:strVal val="visible"/>
                                      </p:to>
                                    </p:set>
                                    <p:animEffect transition="in" filter="fade">
                                      <p:cBhvr>
                                        <p:cTn id="168" dur="400"/>
                                        <p:tgtEl>
                                          <p:spTgt spid="74"/>
                                        </p:tgtEl>
                                      </p:cBhvr>
                                    </p:animEffect>
                                  </p:childTnLst>
                                </p:cTn>
                              </p:par>
                              <p:par>
                                <p:cTn id="169" presetID="10" presetClass="entr" presetSubtype="0" fill="hold" grpId="0" nodeType="withEffect">
                                  <p:stCondLst>
                                    <p:cond delay="900"/>
                                  </p:stCondLst>
                                  <p:childTnLst>
                                    <p:set>
                                      <p:cBhvr>
                                        <p:cTn id="170" dur="1" fill="hold">
                                          <p:stCondLst>
                                            <p:cond delay="0"/>
                                          </p:stCondLst>
                                        </p:cTn>
                                        <p:tgtEl>
                                          <p:spTgt spid="75"/>
                                        </p:tgtEl>
                                        <p:attrNameLst>
                                          <p:attrName>style.visibility</p:attrName>
                                        </p:attrNameLst>
                                      </p:cBhvr>
                                      <p:to>
                                        <p:strVal val="visible"/>
                                      </p:to>
                                    </p:set>
                                    <p:animEffect transition="in" filter="fade">
                                      <p:cBhvr>
                                        <p:cTn id="171" dur="400"/>
                                        <p:tgtEl>
                                          <p:spTgt spid="75"/>
                                        </p:tgtEl>
                                      </p:cBhvr>
                                    </p:animEffect>
                                  </p:childTnLst>
                                </p:cTn>
                              </p:par>
                              <p:par>
                                <p:cTn id="172" presetID="10" presetClass="entr" presetSubtype="0" fill="hold" grpId="0" nodeType="withEffect">
                                  <p:stCondLst>
                                    <p:cond delay="900"/>
                                  </p:stCondLst>
                                  <p:childTnLst>
                                    <p:set>
                                      <p:cBhvr>
                                        <p:cTn id="173" dur="1" fill="hold">
                                          <p:stCondLst>
                                            <p:cond delay="0"/>
                                          </p:stCondLst>
                                        </p:cTn>
                                        <p:tgtEl>
                                          <p:spTgt spid="76"/>
                                        </p:tgtEl>
                                        <p:attrNameLst>
                                          <p:attrName>style.visibility</p:attrName>
                                        </p:attrNameLst>
                                      </p:cBhvr>
                                      <p:to>
                                        <p:strVal val="visible"/>
                                      </p:to>
                                    </p:set>
                                    <p:animEffect transition="in" filter="fade">
                                      <p:cBhvr>
                                        <p:cTn id="174" dur="400"/>
                                        <p:tgtEl>
                                          <p:spTgt spid="76"/>
                                        </p:tgtEl>
                                      </p:cBhvr>
                                    </p:animEffect>
                                  </p:childTnLst>
                                </p:cTn>
                              </p:par>
                              <p:par>
                                <p:cTn id="175" presetID="10" presetClass="entr" presetSubtype="0" fill="hold" grpId="0" nodeType="withEffect">
                                  <p:stCondLst>
                                    <p:cond delay="900"/>
                                  </p:stCondLst>
                                  <p:childTnLst>
                                    <p:set>
                                      <p:cBhvr>
                                        <p:cTn id="176" dur="1" fill="hold">
                                          <p:stCondLst>
                                            <p:cond delay="0"/>
                                          </p:stCondLst>
                                        </p:cTn>
                                        <p:tgtEl>
                                          <p:spTgt spid="77"/>
                                        </p:tgtEl>
                                        <p:attrNameLst>
                                          <p:attrName>style.visibility</p:attrName>
                                        </p:attrNameLst>
                                      </p:cBhvr>
                                      <p:to>
                                        <p:strVal val="visible"/>
                                      </p:to>
                                    </p:set>
                                    <p:animEffect transition="in" filter="fade">
                                      <p:cBhvr>
                                        <p:cTn id="177" dur="400"/>
                                        <p:tgtEl>
                                          <p:spTgt spid="77"/>
                                        </p:tgtEl>
                                      </p:cBhvr>
                                    </p:animEffect>
                                  </p:childTnLst>
                                </p:cTn>
                              </p:par>
                              <p:par>
                                <p:cTn id="178" presetID="10" presetClass="entr" presetSubtype="0" fill="hold" grpId="0" nodeType="withEffect">
                                  <p:stCondLst>
                                    <p:cond delay="900"/>
                                  </p:stCondLst>
                                  <p:childTnLst>
                                    <p:set>
                                      <p:cBhvr>
                                        <p:cTn id="179" dur="1" fill="hold">
                                          <p:stCondLst>
                                            <p:cond delay="0"/>
                                          </p:stCondLst>
                                        </p:cTn>
                                        <p:tgtEl>
                                          <p:spTgt spid="78"/>
                                        </p:tgtEl>
                                        <p:attrNameLst>
                                          <p:attrName>style.visibility</p:attrName>
                                        </p:attrNameLst>
                                      </p:cBhvr>
                                      <p:to>
                                        <p:strVal val="visible"/>
                                      </p:to>
                                    </p:set>
                                    <p:animEffect transition="in" filter="fade">
                                      <p:cBhvr>
                                        <p:cTn id="180" dur="400"/>
                                        <p:tgtEl>
                                          <p:spTgt spid="78"/>
                                        </p:tgtEl>
                                      </p:cBhvr>
                                    </p:animEffect>
                                  </p:childTnLst>
                                </p:cTn>
                              </p:par>
                              <p:par>
                                <p:cTn id="181" presetID="10" presetClass="entr" presetSubtype="0" fill="hold" grpId="0" nodeType="withEffect">
                                  <p:stCondLst>
                                    <p:cond delay="900"/>
                                  </p:stCondLst>
                                  <p:childTnLst>
                                    <p:set>
                                      <p:cBhvr>
                                        <p:cTn id="182" dur="1" fill="hold">
                                          <p:stCondLst>
                                            <p:cond delay="0"/>
                                          </p:stCondLst>
                                        </p:cTn>
                                        <p:tgtEl>
                                          <p:spTgt spid="79"/>
                                        </p:tgtEl>
                                        <p:attrNameLst>
                                          <p:attrName>style.visibility</p:attrName>
                                        </p:attrNameLst>
                                      </p:cBhvr>
                                      <p:to>
                                        <p:strVal val="visible"/>
                                      </p:to>
                                    </p:set>
                                    <p:animEffect transition="in" filter="fade">
                                      <p:cBhvr>
                                        <p:cTn id="183" dur="400"/>
                                        <p:tgtEl>
                                          <p:spTgt spid="79"/>
                                        </p:tgtEl>
                                      </p:cBhvr>
                                    </p:animEffect>
                                  </p:childTnLst>
                                </p:cTn>
                              </p:par>
                              <p:par>
                                <p:cTn id="184" presetID="10" presetClass="entr" presetSubtype="0" fill="hold" grpId="0" nodeType="withEffect">
                                  <p:stCondLst>
                                    <p:cond delay="900"/>
                                  </p:stCondLst>
                                  <p:childTnLst>
                                    <p:set>
                                      <p:cBhvr>
                                        <p:cTn id="185" dur="1" fill="hold">
                                          <p:stCondLst>
                                            <p:cond delay="0"/>
                                          </p:stCondLst>
                                        </p:cTn>
                                        <p:tgtEl>
                                          <p:spTgt spid="80"/>
                                        </p:tgtEl>
                                        <p:attrNameLst>
                                          <p:attrName>style.visibility</p:attrName>
                                        </p:attrNameLst>
                                      </p:cBhvr>
                                      <p:to>
                                        <p:strVal val="visible"/>
                                      </p:to>
                                    </p:set>
                                    <p:animEffect transition="in" filter="fade">
                                      <p:cBhvr>
                                        <p:cTn id="186" dur="400"/>
                                        <p:tgtEl>
                                          <p:spTgt spid="80"/>
                                        </p:tgtEl>
                                      </p:cBhvr>
                                    </p:animEffect>
                                  </p:childTnLst>
                                </p:cTn>
                              </p:par>
                              <p:par>
                                <p:cTn id="187" presetID="10" presetClass="entr" presetSubtype="0" fill="hold" grpId="0" nodeType="withEffect">
                                  <p:stCondLst>
                                    <p:cond delay="900"/>
                                  </p:stCondLst>
                                  <p:childTnLst>
                                    <p:set>
                                      <p:cBhvr>
                                        <p:cTn id="188" dur="1" fill="hold">
                                          <p:stCondLst>
                                            <p:cond delay="0"/>
                                          </p:stCondLst>
                                        </p:cTn>
                                        <p:tgtEl>
                                          <p:spTgt spid="81"/>
                                        </p:tgtEl>
                                        <p:attrNameLst>
                                          <p:attrName>style.visibility</p:attrName>
                                        </p:attrNameLst>
                                      </p:cBhvr>
                                      <p:to>
                                        <p:strVal val="visible"/>
                                      </p:to>
                                    </p:set>
                                    <p:animEffect transition="in" filter="fade">
                                      <p:cBhvr>
                                        <p:cTn id="189" dur="400"/>
                                        <p:tgtEl>
                                          <p:spTgt spid="81"/>
                                        </p:tgtEl>
                                      </p:cBhvr>
                                    </p:animEffect>
                                  </p:childTnLst>
                                </p:cTn>
                              </p:par>
                              <p:par>
                                <p:cTn id="190" presetID="10" presetClass="entr" presetSubtype="0" fill="hold" grpId="0" nodeType="withEffect">
                                  <p:stCondLst>
                                    <p:cond delay="900"/>
                                  </p:stCondLst>
                                  <p:childTnLst>
                                    <p:set>
                                      <p:cBhvr>
                                        <p:cTn id="191" dur="1" fill="hold">
                                          <p:stCondLst>
                                            <p:cond delay="0"/>
                                          </p:stCondLst>
                                        </p:cTn>
                                        <p:tgtEl>
                                          <p:spTgt spid="82"/>
                                        </p:tgtEl>
                                        <p:attrNameLst>
                                          <p:attrName>style.visibility</p:attrName>
                                        </p:attrNameLst>
                                      </p:cBhvr>
                                      <p:to>
                                        <p:strVal val="visible"/>
                                      </p:to>
                                    </p:set>
                                    <p:animEffect transition="in" filter="fade">
                                      <p:cBhvr>
                                        <p:cTn id="192" dur="400"/>
                                        <p:tgtEl>
                                          <p:spTgt spid="82"/>
                                        </p:tgtEl>
                                      </p:cBhvr>
                                    </p:animEffect>
                                  </p:childTnLst>
                                </p:cTn>
                              </p:par>
                              <p:par>
                                <p:cTn id="193" presetID="10" presetClass="entr" presetSubtype="0" fill="hold" grpId="0" nodeType="withEffect">
                                  <p:stCondLst>
                                    <p:cond delay="900"/>
                                  </p:stCondLst>
                                  <p:childTnLst>
                                    <p:set>
                                      <p:cBhvr>
                                        <p:cTn id="194" dur="1" fill="hold">
                                          <p:stCondLst>
                                            <p:cond delay="0"/>
                                          </p:stCondLst>
                                        </p:cTn>
                                        <p:tgtEl>
                                          <p:spTgt spid="83"/>
                                        </p:tgtEl>
                                        <p:attrNameLst>
                                          <p:attrName>style.visibility</p:attrName>
                                        </p:attrNameLst>
                                      </p:cBhvr>
                                      <p:to>
                                        <p:strVal val="visible"/>
                                      </p:to>
                                    </p:set>
                                    <p:animEffect transition="in" filter="fade">
                                      <p:cBhvr>
                                        <p:cTn id="195" dur="400"/>
                                        <p:tgtEl>
                                          <p:spTgt spid="83"/>
                                        </p:tgtEl>
                                      </p:cBhvr>
                                    </p:animEffect>
                                  </p:childTnLst>
                                </p:cTn>
                              </p:par>
                            </p:childTnLst>
                          </p:cTn>
                        </p:par>
                      </p:childTnLst>
                    </p:cTn>
                  </p:par>
                  <p:par>
                    <p:cTn id="243" fill="hold">
                      <p:stCondLst>
                        <p:cond delay="indefinite"/>
                      </p:stCondLst>
                      <p:childTnLst>
                        <p:par>
                          <p:cTn id="244" fill="hold">
                            <p:stCondLst>
                              <p:cond delay="0"/>
                            </p:stCondLst>
                            <p:childTnLst>
                              <p:par>
                                <p:cTn id="198" presetID="10" presetClass="entr" presetSubtype="0" fill="hold" grpId="0" nodeType="clickEffect">
                                  <p:stCondLst>
                                    <p:cond delay="0"/>
                                  </p:stCondLst>
                                  <p:childTnLst>
                                    <p:set>
                                      <p:cBhvr>
                                        <p:cTn id="199" dur="1" fill="hold">
                                          <p:stCondLst>
                                            <p:cond delay="0"/>
                                          </p:stCondLst>
                                        </p:cTn>
                                        <p:tgtEl>
                                          <p:spTgt spid="84"/>
                                        </p:tgtEl>
                                        <p:attrNameLst>
                                          <p:attrName>style.visibility</p:attrName>
                                        </p:attrNameLst>
                                      </p:cBhvr>
                                      <p:to>
                                        <p:strVal val="visible"/>
                                      </p:to>
                                    </p:set>
                                    <p:animEffect transition="in" filter="fade">
                                      <p:cBhvr>
                                        <p:cTn id="200" dur="400"/>
                                        <p:tgtEl>
                                          <p:spTgt spid="84"/>
                                        </p:tgtEl>
                                      </p:cBhvr>
                                    </p:animEffect>
                                  </p:childTnLst>
                                </p:cTn>
                              </p:par>
                              <p:par>
                                <p:cTn id="201" presetID="10" presetClass="entr" presetSubtype="0" fill="hold" grpId="0" nodeType="withEffect">
                                  <p:stCondLst>
                                    <p:cond delay="90"/>
                                  </p:stCondLst>
                                  <p:childTnLst>
                                    <p:set>
                                      <p:cBhvr>
                                        <p:cTn id="202" dur="1" fill="hold">
                                          <p:stCondLst>
                                            <p:cond delay="0"/>
                                          </p:stCondLst>
                                        </p:cTn>
                                        <p:tgtEl>
                                          <p:spTgt spid="85"/>
                                        </p:tgtEl>
                                        <p:attrNameLst>
                                          <p:attrName>style.visibility</p:attrName>
                                        </p:attrNameLst>
                                      </p:cBhvr>
                                      <p:to>
                                        <p:strVal val="visible"/>
                                      </p:to>
                                    </p:set>
                                    <p:animEffect transition="in" filter="fade">
                                      <p:cBhvr>
                                        <p:cTn id="203" dur="400"/>
                                        <p:tgtEl>
                                          <p:spTgt spid="85"/>
                                        </p:tgtEl>
                                      </p:cBhvr>
                                    </p:animEffect>
                                  </p:childTnLst>
                                </p:cTn>
                              </p:par>
                              <p:par>
                                <p:cTn id="204" presetID="10" presetClass="entr" presetSubtype="0" fill="hold" grpId="0" nodeType="withEffect">
                                  <p:stCondLst>
                                    <p:cond delay="180"/>
                                  </p:stCondLst>
                                  <p:childTnLst>
                                    <p:set>
                                      <p:cBhvr>
                                        <p:cTn id="205" dur="1" fill="hold">
                                          <p:stCondLst>
                                            <p:cond delay="0"/>
                                          </p:stCondLst>
                                        </p:cTn>
                                        <p:tgtEl>
                                          <p:spTgt spid="86"/>
                                        </p:tgtEl>
                                        <p:attrNameLst>
                                          <p:attrName>style.visibility</p:attrName>
                                        </p:attrNameLst>
                                      </p:cBhvr>
                                      <p:to>
                                        <p:strVal val="visible"/>
                                      </p:to>
                                    </p:set>
                                    <p:animEffect transition="in" filter="fade">
                                      <p:cBhvr>
                                        <p:cTn id="206" dur="400"/>
                                        <p:tgtEl>
                                          <p:spTgt spid="86"/>
                                        </p:tgtEl>
                                      </p:cBhvr>
                                    </p:animEffect>
                                  </p:childTnLst>
                                </p:cTn>
                              </p:par>
                              <p:par>
                                <p:cTn id="207" presetID="10" presetClass="entr" presetSubtype="0" fill="hold" grpId="0" nodeType="withEffect">
                                  <p:stCondLst>
                                    <p:cond delay="270"/>
                                  </p:stCondLst>
                                  <p:childTnLst>
                                    <p:set>
                                      <p:cBhvr>
                                        <p:cTn id="208" dur="1" fill="hold">
                                          <p:stCondLst>
                                            <p:cond delay="0"/>
                                          </p:stCondLst>
                                        </p:cTn>
                                        <p:tgtEl>
                                          <p:spTgt spid="87"/>
                                        </p:tgtEl>
                                        <p:attrNameLst>
                                          <p:attrName>style.visibility</p:attrName>
                                        </p:attrNameLst>
                                      </p:cBhvr>
                                      <p:to>
                                        <p:strVal val="visible"/>
                                      </p:to>
                                    </p:set>
                                    <p:animEffect transition="in" filter="fade">
                                      <p:cBhvr>
                                        <p:cTn id="209" dur="400"/>
                                        <p:tgtEl>
                                          <p:spTgt spid="87"/>
                                        </p:tgtEl>
                                      </p:cBhvr>
                                    </p:animEffect>
                                  </p:childTnLst>
                                </p:cTn>
                              </p:par>
                              <p:par>
                                <p:cTn id="210" presetID="10" presetClass="entr" presetSubtype="0" fill="hold" grpId="0" nodeType="withEffect">
                                  <p:stCondLst>
                                    <p:cond delay="360"/>
                                  </p:stCondLst>
                                  <p:childTnLst>
                                    <p:set>
                                      <p:cBhvr>
                                        <p:cTn id="211" dur="1" fill="hold">
                                          <p:stCondLst>
                                            <p:cond delay="0"/>
                                          </p:stCondLst>
                                        </p:cTn>
                                        <p:tgtEl>
                                          <p:spTgt spid="88"/>
                                        </p:tgtEl>
                                        <p:attrNameLst>
                                          <p:attrName>style.visibility</p:attrName>
                                        </p:attrNameLst>
                                      </p:cBhvr>
                                      <p:to>
                                        <p:strVal val="visible"/>
                                      </p:to>
                                    </p:set>
                                    <p:animEffect transition="in" filter="fade">
                                      <p:cBhvr>
                                        <p:cTn id="212" dur="400"/>
                                        <p:tgtEl>
                                          <p:spTgt spid="88"/>
                                        </p:tgtEl>
                                      </p:cBhvr>
                                    </p:animEffect>
                                  </p:childTnLst>
                                </p:cTn>
                              </p:par>
                              <p:par>
                                <p:cTn id="213" presetID="10" presetClass="entr" presetSubtype="0" fill="hold" grpId="0" nodeType="withEffect">
                                  <p:stCondLst>
                                    <p:cond delay="450"/>
                                  </p:stCondLst>
                                  <p:childTnLst>
                                    <p:set>
                                      <p:cBhvr>
                                        <p:cTn id="214" dur="1" fill="hold">
                                          <p:stCondLst>
                                            <p:cond delay="0"/>
                                          </p:stCondLst>
                                        </p:cTn>
                                        <p:tgtEl>
                                          <p:spTgt spid="89"/>
                                        </p:tgtEl>
                                        <p:attrNameLst>
                                          <p:attrName>style.visibility</p:attrName>
                                        </p:attrNameLst>
                                      </p:cBhvr>
                                      <p:to>
                                        <p:strVal val="visible"/>
                                      </p:to>
                                    </p:set>
                                    <p:animEffect transition="in" filter="fade">
                                      <p:cBhvr>
                                        <p:cTn id="215" dur="400"/>
                                        <p:tgtEl>
                                          <p:spTgt spid="89"/>
                                        </p:tgtEl>
                                      </p:cBhvr>
                                    </p:animEffect>
                                  </p:childTnLst>
                                </p:cTn>
                              </p:par>
                              <p:par>
                                <p:cTn id="216" presetID="10" presetClass="entr" presetSubtype="0" fill="hold" grpId="0" nodeType="withEffect">
                                  <p:stCondLst>
                                    <p:cond delay="540"/>
                                  </p:stCondLst>
                                  <p:childTnLst>
                                    <p:set>
                                      <p:cBhvr>
                                        <p:cTn id="217" dur="1" fill="hold">
                                          <p:stCondLst>
                                            <p:cond delay="0"/>
                                          </p:stCondLst>
                                        </p:cTn>
                                        <p:tgtEl>
                                          <p:spTgt spid="90"/>
                                        </p:tgtEl>
                                        <p:attrNameLst>
                                          <p:attrName>style.visibility</p:attrName>
                                        </p:attrNameLst>
                                      </p:cBhvr>
                                      <p:to>
                                        <p:strVal val="visible"/>
                                      </p:to>
                                    </p:set>
                                    <p:animEffect transition="in" filter="fade">
                                      <p:cBhvr>
                                        <p:cTn id="218" dur="400"/>
                                        <p:tgtEl>
                                          <p:spTgt spid="90"/>
                                        </p:tgtEl>
                                      </p:cBhvr>
                                    </p:animEffect>
                                  </p:childTnLst>
                                </p:cTn>
                              </p:par>
                              <p:par>
                                <p:cTn id="219" presetID="10" presetClass="entr" presetSubtype="0" fill="hold" grpId="0" nodeType="withEffect">
                                  <p:stCondLst>
                                    <p:cond delay="630"/>
                                  </p:stCondLst>
                                  <p:childTnLst>
                                    <p:set>
                                      <p:cBhvr>
                                        <p:cTn id="220" dur="1" fill="hold">
                                          <p:stCondLst>
                                            <p:cond delay="0"/>
                                          </p:stCondLst>
                                        </p:cTn>
                                        <p:tgtEl>
                                          <p:spTgt spid="91"/>
                                        </p:tgtEl>
                                        <p:attrNameLst>
                                          <p:attrName>style.visibility</p:attrName>
                                        </p:attrNameLst>
                                      </p:cBhvr>
                                      <p:to>
                                        <p:strVal val="visible"/>
                                      </p:to>
                                    </p:set>
                                    <p:animEffect transition="in" filter="fade">
                                      <p:cBhvr>
                                        <p:cTn id="221" dur="400"/>
                                        <p:tgtEl>
                                          <p:spTgt spid="91"/>
                                        </p:tgtEl>
                                      </p:cBhvr>
                                    </p:animEffect>
                                  </p:childTnLst>
                                </p:cTn>
                              </p:par>
                              <p:par>
                                <p:cTn id="222" presetID="10" presetClass="entr" presetSubtype="0" fill="hold" grpId="0" nodeType="withEffect">
                                  <p:stCondLst>
                                    <p:cond delay="720"/>
                                  </p:stCondLst>
                                  <p:childTnLst>
                                    <p:set>
                                      <p:cBhvr>
                                        <p:cTn id="223" dur="1" fill="hold">
                                          <p:stCondLst>
                                            <p:cond delay="0"/>
                                          </p:stCondLst>
                                        </p:cTn>
                                        <p:tgtEl>
                                          <p:spTgt spid="92"/>
                                        </p:tgtEl>
                                        <p:attrNameLst>
                                          <p:attrName>style.visibility</p:attrName>
                                        </p:attrNameLst>
                                      </p:cBhvr>
                                      <p:to>
                                        <p:strVal val="visible"/>
                                      </p:to>
                                    </p:set>
                                    <p:animEffect transition="in" filter="fade">
                                      <p:cBhvr>
                                        <p:cTn id="224" dur="400"/>
                                        <p:tgtEl>
                                          <p:spTgt spid="92"/>
                                        </p:tgtEl>
                                      </p:cBhvr>
                                    </p:animEffect>
                                  </p:childTnLst>
                                </p:cTn>
                              </p:par>
                              <p:par>
                                <p:cTn id="225" presetID="10" presetClass="entr" presetSubtype="0" fill="hold" grpId="0" nodeType="withEffect">
                                  <p:stCondLst>
                                    <p:cond delay="810"/>
                                  </p:stCondLst>
                                  <p:childTnLst>
                                    <p:set>
                                      <p:cBhvr>
                                        <p:cTn id="226" dur="1" fill="hold">
                                          <p:stCondLst>
                                            <p:cond delay="0"/>
                                          </p:stCondLst>
                                        </p:cTn>
                                        <p:tgtEl>
                                          <p:spTgt spid="93"/>
                                        </p:tgtEl>
                                        <p:attrNameLst>
                                          <p:attrName>style.visibility</p:attrName>
                                        </p:attrNameLst>
                                      </p:cBhvr>
                                      <p:to>
                                        <p:strVal val="visible"/>
                                      </p:to>
                                    </p:set>
                                    <p:animEffect transition="in" filter="fade">
                                      <p:cBhvr>
                                        <p:cTn id="227" dur="400"/>
                                        <p:tgtEl>
                                          <p:spTgt spid="93"/>
                                        </p:tgtEl>
                                      </p:cBhvr>
                                    </p:animEffect>
                                  </p:childTnLst>
                                </p:cTn>
                              </p:par>
                              <p:par>
                                <p:cTn id="228" presetID="10" presetClass="entr" presetSubtype="0" fill="hold" grpId="0" nodeType="withEffect">
                                  <p:stCondLst>
                                    <p:cond delay="900"/>
                                  </p:stCondLst>
                                  <p:childTnLst>
                                    <p:set>
                                      <p:cBhvr>
                                        <p:cTn id="229" dur="1" fill="hold">
                                          <p:stCondLst>
                                            <p:cond delay="0"/>
                                          </p:stCondLst>
                                        </p:cTn>
                                        <p:tgtEl>
                                          <p:spTgt spid="94"/>
                                        </p:tgtEl>
                                        <p:attrNameLst>
                                          <p:attrName>style.visibility</p:attrName>
                                        </p:attrNameLst>
                                      </p:cBhvr>
                                      <p:to>
                                        <p:strVal val="visible"/>
                                      </p:to>
                                    </p:set>
                                    <p:animEffect transition="in" filter="fade">
                                      <p:cBhvr>
                                        <p:cTn id="230" dur="400"/>
                                        <p:tgtEl>
                                          <p:spTgt spid="94"/>
                                        </p:tgtEl>
                                      </p:cBhvr>
                                    </p:animEffect>
                                  </p:childTnLst>
                                </p:cTn>
                              </p:par>
                              <p:par>
                                <p:cTn id="231" presetID="10" presetClass="entr" presetSubtype="0" fill="hold" grpId="0" nodeType="withEffect">
                                  <p:stCondLst>
                                    <p:cond delay="900"/>
                                  </p:stCondLst>
                                  <p:childTnLst>
                                    <p:set>
                                      <p:cBhvr>
                                        <p:cTn id="232" dur="1" fill="hold">
                                          <p:stCondLst>
                                            <p:cond delay="0"/>
                                          </p:stCondLst>
                                        </p:cTn>
                                        <p:tgtEl>
                                          <p:spTgt spid="95"/>
                                        </p:tgtEl>
                                        <p:attrNameLst>
                                          <p:attrName>style.visibility</p:attrName>
                                        </p:attrNameLst>
                                      </p:cBhvr>
                                      <p:to>
                                        <p:strVal val="visible"/>
                                      </p:to>
                                    </p:set>
                                    <p:animEffect transition="in" filter="fade">
                                      <p:cBhvr>
                                        <p:cTn id="233" dur="400"/>
                                        <p:tgtEl>
                                          <p:spTgt spid="95"/>
                                        </p:tgtEl>
                                      </p:cBhvr>
                                    </p:animEffect>
                                  </p:childTnLst>
                                </p:cTn>
                              </p:par>
                              <p:par>
                                <p:cTn id="234" presetID="10" presetClass="entr" presetSubtype="0" fill="hold" grpId="0" nodeType="withEffect">
                                  <p:stCondLst>
                                    <p:cond delay="900"/>
                                  </p:stCondLst>
                                  <p:childTnLst>
                                    <p:set>
                                      <p:cBhvr>
                                        <p:cTn id="235" dur="1" fill="hold">
                                          <p:stCondLst>
                                            <p:cond delay="0"/>
                                          </p:stCondLst>
                                        </p:cTn>
                                        <p:tgtEl>
                                          <p:spTgt spid="96"/>
                                        </p:tgtEl>
                                        <p:attrNameLst>
                                          <p:attrName>style.visibility</p:attrName>
                                        </p:attrNameLst>
                                      </p:cBhvr>
                                      <p:to>
                                        <p:strVal val="visible"/>
                                      </p:to>
                                    </p:set>
                                    <p:animEffect transition="in" filter="fade">
                                      <p:cBhvr>
                                        <p:cTn id="236" dur="400"/>
                                        <p:tgtEl>
                                          <p:spTgt spid="96"/>
                                        </p:tgtEl>
                                      </p:cBhvr>
                                    </p:animEffect>
                                  </p:childTnLst>
                                </p:cTn>
                              </p:par>
                              <p:par>
                                <p:cTn id="237" presetID="10" presetClass="entr" presetSubtype="0" fill="hold" grpId="0" nodeType="withEffect">
                                  <p:stCondLst>
                                    <p:cond delay="900"/>
                                  </p:stCondLst>
                                  <p:childTnLst>
                                    <p:set>
                                      <p:cBhvr>
                                        <p:cTn id="238" dur="1" fill="hold">
                                          <p:stCondLst>
                                            <p:cond delay="0"/>
                                          </p:stCondLst>
                                        </p:cTn>
                                        <p:tgtEl>
                                          <p:spTgt spid="97"/>
                                        </p:tgtEl>
                                        <p:attrNameLst>
                                          <p:attrName>style.visibility</p:attrName>
                                        </p:attrNameLst>
                                      </p:cBhvr>
                                      <p:to>
                                        <p:strVal val="visible"/>
                                      </p:to>
                                    </p:set>
                                    <p:animEffect transition="in" filter="fade">
                                      <p:cBhvr>
                                        <p:cTn id="239" dur="400"/>
                                        <p:tgtEl>
                                          <p:spTgt spid="97"/>
                                        </p:tgtEl>
                                      </p:cBhvr>
                                    </p:animEffect>
                                  </p:childTnLst>
                                </p:cTn>
                              </p:par>
                              <p:par>
                                <p:cTn id="240" presetID="10" presetClass="entr" presetSubtype="0" fill="hold" grpId="0" nodeType="withEffect">
                                  <p:stCondLst>
                                    <p:cond delay="900"/>
                                  </p:stCondLst>
                                  <p:childTnLst>
                                    <p:set>
                                      <p:cBhvr>
                                        <p:cTn id="241" dur="1" fill="hold">
                                          <p:stCondLst>
                                            <p:cond delay="0"/>
                                          </p:stCondLst>
                                        </p:cTn>
                                        <p:tgtEl>
                                          <p:spTgt spid="98"/>
                                        </p:tgtEl>
                                        <p:attrNameLst>
                                          <p:attrName>style.visibility</p:attrName>
                                        </p:attrNameLst>
                                      </p:cBhvr>
                                      <p:to>
                                        <p:strVal val="visible"/>
                                      </p:to>
                                    </p:set>
                                    <p:animEffect transition="in" filter="fade">
                                      <p:cBhvr>
                                        <p:cTn id="242" dur="4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10</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007DB6"/>
          </a:solidFill>
          <a:ln w="12700">
            <a:solidFill>
              <a:srgbClr val="007DB6"/>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The twenty-week road</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Every week named. Blue for build weeks, navy for the capstone, gold for the hinge week, a gold dot where a major exam sits.</a:t>
            </a:r>
            <a:endParaRPr lang="en-US" sz="1250" dirty="0"/>
          </a:p>
        </p:txBody>
      </p:sp>
      <p:sp>
        <p:nvSpPr>
          <p:cNvPr id="21" name="anim:1"/>
          <p:cNvSpPr txBox="1"/>
          <p:nvPr/>
        </p:nvSpPr>
        <p:spPr>
          <a:xfrm>
            <a:off x="548640" y="1828800"/>
            <a:ext cx="141732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PHASE 1</a:t>
            </a:r>
            <a:endParaRPr lang="en-US" sz="850" dirty="0"/>
          </a:p>
        </p:txBody>
      </p:sp>
      <p:sp>
        <p:nvSpPr>
          <p:cNvPr id="22" name="anim:1"/>
          <p:cNvSpPr txBox="1"/>
          <p:nvPr/>
        </p:nvSpPr>
        <p:spPr>
          <a:xfrm>
            <a:off x="548640" y="2029968"/>
            <a:ext cx="1417320" cy="457200"/>
          </a:xfrm>
          <a:prstGeom prst="rect">
            <a:avLst/>
          </a:prstGeom>
          <a:noFill/>
          <a:ln/>
        </p:spPr>
        <p:txBody>
          <a:bodyPr wrap="square" lIns="0" tIns="0" rIns="0" bIns="0" rtlCol="0" anchor="t"/>
          <a:lstStyle/>
          <a:p>
            <a:pPr algn="l" indent="0" marL="0">
              <a:buNone/>
            </a:pPr>
            <a:r>
              <a:rPr lang="en-US" sz="1200" b="1" dirty="0">
                <a:solidFill>
                  <a:srgbClr val="0A1E33"/>
                </a:solidFill>
                <a:latin typeface="Calibri" pitchFamily="34" charset="0"/>
                <a:ea typeface="Calibri" pitchFamily="34" charset="-122"/>
                <a:cs typeface="Calibri" pitchFamily="34" charset="-120"/>
              </a:rPr>
              <a:t>Data and machine learning</a:t>
            </a:r>
            <a:endParaRPr lang="en-US" sz="1200" dirty="0"/>
          </a:p>
        </p:txBody>
      </p:sp>
      <p:sp>
        <p:nvSpPr>
          <p:cNvPr id="23" name="anim:1"/>
          <p:cNvSpPr txBox="1"/>
          <p:nvPr/>
        </p:nvSpPr>
        <p:spPr>
          <a:xfrm>
            <a:off x="548640" y="2496312"/>
            <a:ext cx="1417320" cy="274320"/>
          </a:xfrm>
          <a:prstGeom prst="rect">
            <a:avLst/>
          </a:prstGeom>
          <a:noFill/>
          <a:ln/>
        </p:spPr>
        <p:txBody>
          <a:bodyPr wrap="square" lIns="0" tIns="0" rIns="0" bIns="0" rtlCol="0" anchor="t"/>
          <a:lstStyle/>
          <a:p>
            <a:pPr algn="l" indent="0" marL="0">
              <a:buNone/>
            </a:pPr>
            <a:r>
              <a:rPr lang="en-US" sz="750" dirty="0">
                <a:solidFill>
                  <a:srgbClr val="5F7183"/>
                </a:solidFill>
                <a:latin typeface="Calibri" pitchFamily="34" charset="0"/>
                <a:ea typeface="Calibri" pitchFamily="34" charset="-122"/>
                <a:cs typeface="Calibri" pitchFamily="34" charset="-120"/>
              </a:rPr>
              <a:t>Weeks 1 to 6 · Modules 1, 2</a:t>
            </a:r>
            <a:endParaRPr lang="en-US" sz="750" dirty="0"/>
          </a:p>
        </p:txBody>
      </p:sp>
      <p:sp>
        <p:nvSpPr>
          <p:cNvPr id="24" name="anim:1 grad:card"/>
          <p:cNvSpPr/>
          <p:nvPr/>
        </p:nvSpPr>
        <p:spPr>
          <a:xfrm>
            <a:off x="2103120" y="1783080"/>
            <a:ext cx="1536192" cy="987552"/>
          </a:xfrm>
          <a:prstGeom prst="roundRect">
            <a:avLst>
              <a:gd name="adj" fmla="val 5556"/>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38100" dist="12700" dir="5400000">
              <a:srgbClr val="0A1E33">
                <a:alpha val="6000"/>
              </a:srgbClr>
            </a:outerShdw>
          </a:effectLst>
        </p:spPr>
        <p:txBody>
          <a:bodyPr/>
          <a:p/>
        </p:txBody>
      </p:sp>
      <p:sp>
        <p:nvSpPr>
          <p:cNvPr id="25" name="anim:1"/>
          <p:cNvSpPr txBox="1"/>
          <p:nvPr/>
        </p:nvSpPr>
        <p:spPr>
          <a:xfrm>
            <a:off x="2212848" y="1874520"/>
            <a:ext cx="109728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WEEK 1</a:t>
            </a:r>
            <a:endParaRPr lang="en-US" sz="750" dirty="0"/>
          </a:p>
        </p:txBody>
      </p:sp>
      <p:sp>
        <p:nvSpPr>
          <p:cNvPr id="26" name="anim:1"/>
          <p:cNvSpPr txBox="1"/>
          <p:nvPr/>
        </p:nvSpPr>
        <p:spPr>
          <a:xfrm>
            <a:off x="2212848" y="2093976"/>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Data analysis foundations</a:t>
            </a:r>
            <a:endParaRPr lang="en-US" sz="1000" dirty="0"/>
          </a:p>
        </p:txBody>
      </p:sp>
      <p:sp>
        <p:nvSpPr>
          <p:cNvPr id="27" name="anim:1 grad:card"/>
          <p:cNvSpPr/>
          <p:nvPr/>
        </p:nvSpPr>
        <p:spPr>
          <a:xfrm>
            <a:off x="3694176" y="1783080"/>
            <a:ext cx="1536192" cy="987552"/>
          </a:xfrm>
          <a:prstGeom prst="roundRect">
            <a:avLst>
              <a:gd name="adj" fmla="val 5556"/>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38100" dist="12700" dir="5400000">
              <a:srgbClr val="0A1E33">
                <a:alpha val="6000"/>
              </a:srgbClr>
            </a:outerShdw>
          </a:effectLst>
        </p:spPr>
        <p:txBody>
          <a:bodyPr/>
          <a:p/>
        </p:txBody>
      </p:sp>
      <p:sp>
        <p:nvSpPr>
          <p:cNvPr id="28" name="anim:1"/>
          <p:cNvSpPr txBox="1"/>
          <p:nvPr/>
        </p:nvSpPr>
        <p:spPr>
          <a:xfrm>
            <a:off x="3803904" y="1874520"/>
            <a:ext cx="109728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WEEK 2</a:t>
            </a:r>
            <a:endParaRPr lang="en-US" sz="750" dirty="0"/>
          </a:p>
        </p:txBody>
      </p:sp>
      <p:sp>
        <p:nvSpPr>
          <p:cNvPr id="29" name="anim:1"/>
          <p:cNvSpPr txBox="1"/>
          <p:nvPr/>
        </p:nvSpPr>
        <p:spPr>
          <a:xfrm>
            <a:off x="3803904" y="2093976"/>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Data manipulation at depth</a:t>
            </a:r>
            <a:endParaRPr lang="en-US" sz="1000" dirty="0"/>
          </a:p>
        </p:txBody>
      </p:sp>
      <p:sp>
        <p:nvSpPr>
          <p:cNvPr id="30" name="anim:1 grad:blue"/>
          <p:cNvSpPr/>
          <p:nvPr/>
        </p:nvSpPr>
        <p:spPr>
          <a:xfrm>
            <a:off x="5285232" y="1783080"/>
            <a:ext cx="1536192" cy="987552"/>
          </a:xfrm>
          <a:prstGeom prst="roundRect">
            <a:avLst>
              <a:gd name="adj" fmla="val 5556"/>
            </a:avLst>
          </a:prstGeom>
          <a:gradFill rotWithShape="1">
            <a:gsLst>
              <a:gs pos="0">
                <a:srgbClr val="2FA8E0"/>
              </a:gs>
              <a:gs pos="100000">
                <a:srgbClr val="007DB6"/>
              </a:gs>
            </a:gsLst>
            <a:lin ang="5400000" scaled="0"/>
          </a:gradFill>
          <a:ln w="9525">
            <a:solidFill>
              <a:srgbClr val="007DB6"/>
            </a:solidFill>
            <a:prstDash val="solid"/>
          </a:ln>
          <a:effectLst>
            <a:outerShdw sx="100000" sy="100000" kx="0" ky="0" algn="bl" rotWithShape="0" blurRad="38100" dist="12700" dir="5400000">
              <a:srgbClr val="0A1E33">
                <a:alpha val="6000"/>
              </a:srgbClr>
            </a:outerShdw>
          </a:effectLst>
        </p:spPr>
        <p:txBody>
          <a:bodyPr/>
          <a:p/>
        </p:txBody>
      </p:sp>
      <p:sp>
        <p:nvSpPr>
          <p:cNvPr id="31" name="anim:1"/>
          <p:cNvSpPr txBox="1"/>
          <p:nvPr/>
        </p:nvSpPr>
        <p:spPr>
          <a:xfrm>
            <a:off x="5394960" y="1874520"/>
            <a:ext cx="1097280" cy="182880"/>
          </a:xfrm>
          <a:prstGeom prst="rect">
            <a:avLst/>
          </a:prstGeom>
          <a:noFill/>
          <a:ln/>
        </p:spPr>
        <p:txBody>
          <a:bodyPr wrap="square" lIns="0" tIns="0" rIns="0" bIns="0" rtlCol="0" anchor="t"/>
          <a:lstStyle/>
          <a:p>
            <a:pPr algn="l" indent="0" marL="0">
              <a:buNone/>
            </a:pPr>
            <a:r>
              <a:rPr lang="en-US" sz="750" b="1" spc="150" kern="0" dirty="0">
                <a:solidFill>
                  <a:srgbClr val="FFFFFF"/>
                </a:solidFill>
                <a:latin typeface="Calibri" pitchFamily="34" charset="0"/>
                <a:ea typeface="Calibri" pitchFamily="34" charset="-122"/>
                <a:cs typeface="Calibri" pitchFamily="34" charset="-120"/>
              </a:rPr>
              <a:t>WEEK 3</a:t>
            </a:r>
            <a:endParaRPr lang="en-US" sz="750" dirty="0"/>
          </a:p>
        </p:txBody>
      </p:sp>
      <p:sp>
        <p:nvSpPr>
          <p:cNvPr id="32" name="anim:1"/>
          <p:cNvSpPr txBox="1"/>
          <p:nvPr/>
        </p:nvSpPr>
        <p:spPr>
          <a:xfrm>
            <a:off x="5394960" y="2093976"/>
            <a:ext cx="1316736" cy="457200"/>
          </a:xfrm>
          <a:prstGeom prst="rect">
            <a:avLst/>
          </a:prstGeom>
          <a:noFill/>
          <a:ln/>
        </p:spPr>
        <p:txBody>
          <a:bodyPr wrap="square" lIns="0" tIns="0" rIns="0" bIns="0" rtlCol="0" anchor="t"/>
          <a:lstStyle/>
          <a:p>
            <a:pPr algn="l" indent="0" marL="0">
              <a:buNone/>
            </a:pPr>
            <a:r>
              <a:rPr lang="en-US" sz="1000" b="1" dirty="0">
                <a:solidFill>
                  <a:srgbClr val="FFFFFF"/>
                </a:solidFill>
                <a:latin typeface="Calibri" pitchFamily="34" charset="0"/>
                <a:ea typeface="Calibri" pitchFamily="34" charset="-122"/>
                <a:cs typeface="Calibri" pitchFamily="34" charset="-120"/>
              </a:rPr>
              <a:t>Build 1: data to insight</a:t>
            </a:r>
            <a:endParaRPr lang="en-US" sz="1000" dirty="0"/>
          </a:p>
        </p:txBody>
      </p:sp>
      <p:sp>
        <p:nvSpPr>
          <p:cNvPr id="33" name="anim:1 grad:card"/>
          <p:cNvSpPr/>
          <p:nvPr/>
        </p:nvSpPr>
        <p:spPr>
          <a:xfrm>
            <a:off x="6876288" y="1783080"/>
            <a:ext cx="1536192" cy="987552"/>
          </a:xfrm>
          <a:prstGeom prst="roundRect">
            <a:avLst>
              <a:gd name="adj" fmla="val 5556"/>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38100" dist="12700" dir="5400000">
              <a:srgbClr val="0A1E33">
                <a:alpha val="6000"/>
              </a:srgbClr>
            </a:outerShdw>
          </a:effectLst>
        </p:spPr>
        <p:txBody>
          <a:bodyPr/>
          <a:p/>
        </p:txBody>
      </p:sp>
      <p:sp>
        <p:nvSpPr>
          <p:cNvPr id="34" name="anim:1"/>
          <p:cNvSpPr txBox="1"/>
          <p:nvPr/>
        </p:nvSpPr>
        <p:spPr>
          <a:xfrm>
            <a:off x="6986016" y="1874520"/>
            <a:ext cx="109728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WEEK 4</a:t>
            </a:r>
            <a:endParaRPr lang="en-US" sz="750" dirty="0"/>
          </a:p>
        </p:txBody>
      </p:sp>
      <p:sp>
        <p:nvSpPr>
          <p:cNvPr id="35" name="anim:1"/>
          <p:cNvSpPr txBox="1"/>
          <p:nvPr/>
        </p:nvSpPr>
        <p:spPr>
          <a:xfrm>
            <a:off x="6986016" y="2093976"/>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Business and data analyst craft</a:t>
            </a:r>
            <a:endParaRPr lang="en-US" sz="1000" dirty="0"/>
          </a:p>
        </p:txBody>
      </p:sp>
      <p:sp>
        <p:nvSpPr>
          <p:cNvPr id="36" name="anim:1 grad:card"/>
          <p:cNvSpPr/>
          <p:nvPr/>
        </p:nvSpPr>
        <p:spPr>
          <a:xfrm>
            <a:off x="8467344" y="1783080"/>
            <a:ext cx="1536192" cy="987552"/>
          </a:xfrm>
          <a:prstGeom prst="roundRect">
            <a:avLst>
              <a:gd name="adj" fmla="val 5556"/>
            </a:avLst>
          </a:prstGeom>
          <a:gradFill rotWithShape="1">
            <a:gsLst>
              <a:gs pos="0">
                <a:srgbClr val="FFFFFF"/>
              </a:gs>
              <a:gs pos="100000">
                <a:srgbClr val="F3F6FA"/>
              </a:gs>
            </a:gsLst>
            <a:lin ang="5400000" scaled="0"/>
          </a:gradFill>
          <a:ln w="19050">
            <a:solidFill>
              <a:srgbClr val="E9B221"/>
            </a:solidFill>
            <a:prstDash val="solid"/>
          </a:ln>
          <a:effectLst>
            <a:outerShdw sx="100000" sy="100000" kx="0" ky="0" algn="bl" rotWithShape="0" blurRad="38100" dist="12700" dir="5400000">
              <a:srgbClr val="0A1E33">
                <a:alpha val="6000"/>
              </a:srgbClr>
            </a:outerShdw>
          </a:effectLst>
        </p:spPr>
        <p:txBody>
          <a:bodyPr/>
          <a:p/>
        </p:txBody>
      </p:sp>
      <p:sp>
        <p:nvSpPr>
          <p:cNvPr id="37" name="anim:1"/>
          <p:cNvSpPr txBox="1"/>
          <p:nvPr/>
        </p:nvSpPr>
        <p:spPr>
          <a:xfrm>
            <a:off x="8577072" y="1874520"/>
            <a:ext cx="109728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WEEK 5</a:t>
            </a:r>
            <a:endParaRPr lang="en-US" sz="750" dirty="0"/>
          </a:p>
        </p:txBody>
      </p:sp>
      <p:sp>
        <p:nvSpPr>
          <p:cNvPr id="38" name="anim:1"/>
          <p:cNvSpPr txBox="1"/>
          <p:nvPr/>
        </p:nvSpPr>
        <p:spPr>
          <a:xfrm>
            <a:off x="8577072" y="2093976"/>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Machine learning core</a:t>
            </a:r>
            <a:endParaRPr lang="en-US" sz="1000" dirty="0"/>
          </a:p>
        </p:txBody>
      </p:sp>
      <p:sp>
        <p:nvSpPr>
          <p:cNvPr id="39" name="anim:1"/>
          <p:cNvSpPr txBox="1"/>
          <p:nvPr/>
        </p:nvSpPr>
        <p:spPr>
          <a:xfrm>
            <a:off x="8577072" y="2478024"/>
            <a:ext cx="960120" cy="201168"/>
          </a:xfrm>
          <a:prstGeom prst="roundRect">
            <a:avLst>
              <a:gd name="adj" fmla="val 90909"/>
            </a:avLst>
          </a:prstGeom>
          <a:solidFill>
            <a:srgbClr val="E9B221"/>
          </a:solidFill>
          <a:ln w="9525">
            <a:solidFill>
              <a:srgbClr val="E9B221"/>
            </a:solidFill>
          </a:ln>
        </p:spPr>
        <p:txBody>
          <a:bodyPr wrap="square" lIns="0" tIns="76200" rIns="76200" bIns="0" rtlCol="0" anchor="ctr"/>
          <a:lstStyle/>
          <a:p>
            <a:pPr algn="ctr" indent="0" marL="0">
              <a:buNone/>
            </a:pPr>
            <a:r>
              <a:rPr lang="en-US" sz="700" b="1" spc="100" kern="0" dirty="0">
                <a:solidFill>
                  <a:srgbClr val="0A1E33"/>
                </a:solidFill>
                <a:latin typeface="Calibri" pitchFamily="34" charset="0"/>
                <a:ea typeface="Calibri" pitchFamily="34" charset="-122"/>
                <a:cs typeface="Calibri" pitchFamily="34" charset="-120"/>
              </a:rPr>
              <a:t>MAJOR EXAM 1</a:t>
            </a:r>
            <a:endParaRPr lang="en-US" sz="700" dirty="0"/>
          </a:p>
        </p:txBody>
      </p:sp>
      <p:sp>
        <p:nvSpPr>
          <p:cNvPr id="40" name="anim:1 grad:blue"/>
          <p:cNvSpPr/>
          <p:nvPr/>
        </p:nvSpPr>
        <p:spPr>
          <a:xfrm>
            <a:off x="10058400" y="1783080"/>
            <a:ext cx="1536192" cy="987552"/>
          </a:xfrm>
          <a:prstGeom prst="roundRect">
            <a:avLst>
              <a:gd name="adj" fmla="val 5556"/>
            </a:avLst>
          </a:prstGeom>
          <a:gradFill rotWithShape="1">
            <a:gsLst>
              <a:gs pos="0">
                <a:srgbClr val="2FA8E0"/>
              </a:gs>
              <a:gs pos="100000">
                <a:srgbClr val="007DB6"/>
              </a:gs>
            </a:gsLst>
            <a:lin ang="5400000" scaled="0"/>
          </a:gradFill>
          <a:ln w="9525">
            <a:solidFill>
              <a:srgbClr val="007DB6"/>
            </a:solidFill>
            <a:prstDash val="solid"/>
          </a:ln>
          <a:effectLst>
            <a:outerShdw sx="100000" sy="100000" kx="0" ky="0" algn="bl" rotWithShape="0" blurRad="38100" dist="12700" dir="5400000">
              <a:srgbClr val="0A1E33">
                <a:alpha val="6000"/>
              </a:srgbClr>
            </a:outerShdw>
          </a:effectLst>
        </p:spPr>
        <p:txBody>
          <a:bodyPr/>
          <a:p/>
        </p:txBody>
      </p:sp>
      <p:sp>
        <p:nvSpPr>
          <p:cNvPr id="41" name="anim:1"/>
          <p:cNvSpPr txBox="1"/>
          <p:nvPr/>
        </p:nvSpPr>
        <p:spPr>
          <a:xfrm>
            <a:off x="10168128" y="1874520"/>
            <a:ext cx="1097280" cy="182880"/>
          </a:xfrm>
          <a:prstGeom prst="rect">
            <a:avLst/>
          </a:prstGeom>
          <a:noFill/>
          <a:ln/>
        </p:spPr>
        <p:txBody>
          <a:bodyPr wrap="square" lIns="0" tIns="0" rIns="0" bIns="0" rtlCol="0" anchor="t"/>
          <a:lstStyle/>
          <a:p>
            <a:pPr algn="l" indent="0" marL="0">
              <a:buNone/>
            </a:pPr>
            <a:r>
              <a:rPr lang="en-US" sz="750" b="1" spc="150" kern="0" dirty="0">
                <a:solidFill>
                  <a:srgbClr val="FFFFFF"/>
                </a:solidFill>
                <a:latin typeface="Calibri" pitchFamily="34" charset="0"/>
                <a:ea typeface="Calibri" pitchFamily="34" charset="-122"/>
                <a:cs typeface="Calibri" pitchFamily="34" charset="-120"/>
              </a:rPr>
              <a:t>WEEK 6</a:t>
            </a:r>
            <a:endParaRPr lang="en-US" sz="750" dirty="0"/>
          </a:p>
        </p:txBody>
      </p:sp>
      <p:sp>
        <p:nvSpPr>
          <p:cNvPr id="42" name="anim:1"/>
          <p:cNvSpPr txBox="1"/>
          <p:nvPr/>
        </p:nvSpPr>
        <p:spPr>
          <a:xfrm>
            <a:off x="10168128" y="2093976"/>
            <a:ext cx="1316736" cy="457200"/>
          </a:xfrm>
          <a:prstGeom prst="rect">
            <a:avLst/>
          </a:prstGeom>
          <a:noFill/>
          <a:ln/>
        </p:spPr>
        <p:txBody>
          <a:bodyPr wrap="square" lIns="0" tIns="0" rIns="0" bIns="0" rtlCol="0" anchor="t"/>
          <a:lstStyle/>
          <a:p>
            <a:pPr algn="l" indent="0" marL="0">
              <a:buNone/>
            </a:pPr>
            <a:r>
              <a:rPr lang="en-US" sz="1000" b="1" dirty="0">
                <a:solidFill>
                  <a:srgbClr val="FFFFFF"/>
                </a:solidFill>
                <a:latin typeface="Calibri" pitchFamily="34" charset="0"/>
                <a:ea typeface="Calibri" pitchFamily="34" charset="-122"/>
                <a:cs typeface="Calibri" pitchFamily="34" charset="-120"/>
              </a:rPr>
              <a:t>Build 2: machine learning</a:t>
            </a:r>
            <a:endParaRPr lang="en-US" sz="1000" dirty="0"/>
          </a:p>
        </p:txBody>
      </p:sp>
      <p:sp>
        <p:nvSpPr>
          <p:cNvPr id="43" name="anim:2"/>
          <p:cNvSpPr txBox="1"/>
          <p:nvPr/>
        </p:nvSpPr>
        <p:spPr>
          <a:xfrm>
            <a:off x="548640" y="2935224"/>
            <a:ext cx="141732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PHASE 2</a:t>
            </a:r>
            <a:endParaRPr lang="en-US" sz="850" dirty="0"/>
          </a:p>
        </p:txBody>
      </p:sp>
      <p:sp>
        <p:nvSpPr>
          <p:cNvPr id="44" name="anim:2"/>
          <p:cNvSpPr txBox="1"/>
          <p:nvPr/>
        </p:nvSpPr>
        <p:spPr>
          <a:xfrm>
            <a:off x="548640" y="3136392"/>
            <a:ext cx="1417320" cy="457200"/>
          </a:xfrm>
          <a:prstGeom prst="rect">
            <a:avLst/>
          </a:prstGeom>
          <a:noFill/>
          <a:ln/>
        </p:spPr>
        <p:txBody>
          <a:bodyPr wrap="square" lIns="0" tIns="0" rIns="0" bIns="0" rtlCol="0" anchor="t"/>
          <a:lstStyle/>
          <a:p>
            <a:pPr algn="l" indent="0" marL="0">
              <a:buNone/>
            </a:pPr>
            <a:r>
              <a:rPr lang="en-US" sz="1200" b="1" dirty="0">
                <a:solidFill>
                  <a:srgbClr val="0A1E33"/>
                </a:solidFill>
                <a:latin typeface="Calibri" pitchFamily="34" charset="0"/>
                <a:ea typeface="Calibri" pitchFamily="34" charset="-122"/>
                <a:cs typeface="Calibri" pitchFamily="34" charset="-120"/>
              </a:rPr>
              <a:t>Deep learning to generative AI</a:t>
            </a:r>
            <a:endParaRPr lang="en-US" sz="1200" dirty="0"/>
          </a:p>
        </p:txBody>
      </p:sp>
      <p:sp>
        <p:nvSpPr>
          <p:cNvPr id="45" name="anim:2"/>
          <p:cNvSpPr txBox="1"/>
          <p:nvPr/>
        </p:nvSpPr>
        <p:spPr>
          <a:xfrm>
            <a:off x="548640" y="3602736"/>
            <a:ext cx="1417320" cy="274320"/>
          </a:xfrm>
          <a:prstGeom prst="rect">
            <a:avLst/>
          </a:prstGeom>
          <a:noFill/>
          <a:ln/>
        </p:spPr>
        <p:txBody>
          <a:bodyPr wrap="square" lIns="0" tIns="0" rIns="0" bIns="0" rtlCol="0" anchor="t"/>
          <a:lstStyle/>
          <a:p>
            <a:pPr algn="l" indent="0" marL="0">
              <a:buNone/>
            </a:pPr>
            <a:r>
              <a:rPr lang="en-US" sz="750" dirty="0">
                <a:solidFill>
                  <a:srgbClr val="5F7183"/>
                </a:solidFill>
                <a:latin typeface="Calibri" pitchFamily="34" charset="0"/>
                <a:ea typeface="Calibri" pitchFamily="34" charset="-122"/>
                <a:cs typeface="Calibri" pitchFamily="34" charset="-120"/>
              </a:rPr>
              <a:t>Weeks 7 to 12 · Modules 3 to 6</a:t>
            </a:r>
            <a:endParaRPr lang="en-US" sz="750" dirty="0"/>
          </a:p>
        </p:txBody>
      </p:sp>
      <p:sp>
        <p:nvSpPr>
          <p:cNvPr id="46" name="anim:2 grad:card"/>
          <p:cNvSpPr/>
          <p:nvPr/>
        </p:nvSpPr>
        <p:spPr>
          <a:xfrm>
            <a:off x="2103120" y="2889504"/>
            <a:ext cx="1536192" cy="987552"/>
          </a:xfrm>
          <a:prstGeom prst="roundRect">
            <a:avLst>
              <a:gd name="adj" fmla="val 5556"/>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38100" dist="12700" dir="5400000">
              <a:srgbClr val="0A1E33">
                <a:alpha val="6000"/>
              </a:srgbClr>
            </a:outerShdw>
          </a:effectLst>
        </p:spPr>
        <p:txBody>
          <a:bodyPr/>
          <a:p/>
        </p:txBody>
      </p:sp>
      <p:sp>
        <p:nvSpPr>
          <p:cNvPr id="47" name="anim:2"/>
          <p:cNvSpPr txBox="1"/>
          <p:nvPr/>
        </p:nvSpPr>
        <p:spPr>
          <a:xfrm>
            <a:off x="2212848" y="2980944"/>
            <a:ext cx="109728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WEEK 7</a:t>
            </a:r>
            <a:endParaRPr lang="en-US" sz="750" dirty="0"/>
          </a:p>
        </p:txBody>
      </p:sp>
      <p:sp>
        <p:nvSpPr>
          <p:cNvPr id="48" name="anim:2"/>
          <p:cNvSpPr txBox="1"/>
          <p:nvPr/>
        </p:nvSpPr>
        <p:spPr>
          <a:xfrm>
            <a:off x="2212848" y="3200400"/>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Deep learning essentials</a:t>
            </a:r>
            <a:endParaRPr lang="en-US" sz="1000" dirty="0"/>
          </a:p>
        </p:txBody>
      </p:sp>
      <p:sp>
        <p:nvSpPr>
          <p:cNvPr id="49" name="anim:2 grad:card"/>
          <p:cNvSpPr/>
          <p:nvPr/>
        </p:nvSpPr>
        <p:spPr>
          <a:xfrm>
            <a:off x="3694176" y="2889504"/>
            <a:ext cx="1536192" cy="987552"/>
          </a:xfrm>
          <a:prstGeom prst="roundRect">
            <a:avLst>
              <a:gd name="adj" fmla="val 5556"/>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38100" dist="12700" dir="5400000">
              <a:srgbClr val="0A1E33">
                <a:alpha val="6000"/>
              </a:srgbClr>
            </a:outerShdw>
          </a:effectLst>
        </p:spPr>
        <p:txBody>
          <a:bodyPr/>
          <a:p/>
        </p:txBody>
      </p:sp>
      <p:sp>
        <p:nvSpPr>
          <p:cNvPr id="50" name="anim:2"/>
          <p:cNvSpPr txBox="1"/>
          <p:nvPr/>
        </p:nvSpPr>
        <p:spPr>
          <a:xfrm>
            <a:off x="3803904" y="2980944"/>
            <a:ext cx="109728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WEEK 8</a:t>
            </a:r>
            <a:endParaRPr lang="en-US" sz="750" dirty="0"/>
          </a:p>
        </p:txBody>
      </p:sp>
      <p:sp>
        <p:nvSpPr>
          <p:cNvPr id="51" name="anim:2"/>
          <p:cNvSpPr txBox="1"/>
          <p:nvPr/>
        </p:nvSpPr>
        <p:spPr>
          <a:xfrm>
            <a:off x="3803904" y="3200400"/>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Transformers and LLM internals</a:t>
            </a:r>
            <a:endParaRPr lang="en-US" sz="1000" dirty="0"/>
          </a:p>
        </p:txBody>
      </p:sp>
      <p:sp>
        <p:nvSpPr>
          <p:cNvPr id="52" name="anim:2 grad:blue"/>
          <p:cNvSpPr/>
          <p:nvPr/>
        </p:nvSpPr>
        <p:spPr>
          <a:xfrm>
            <a:off x="5285232" y="2889504"/>
            <a:ext cx="1536192" cy="987552"/>
          </a:xfrm>
          <a:prstGeom prst="roundRect">
            <a:avLst>
              <a:gd name="adj" fmla="val 5556"/>
            </a:avLst>
          </a:prstGeom>
          <a:gradFill rotWithShape="1">
            <a:gsLst>
              <a:gs pos="0">
                <a:srgbClr val="2FA8E0"/>
              </a:gs>
              <a:gs pos="100000">
                <a:srgbClr val="007DB6"/>
              </a:gs>
            </a:gsLst>
            <a:lin ang="5400000" scaled="0"/>
          </a:gradFill>
          <a:ln w="9525">
            <a:solidFill>
              <a:srgbClr val="007DB6"/>
            </a:solidFill>
            <a:prstDash val="solid"/>
          </a:ln>
          <a:effectLst>
            <a:outerShdw sx="100000" sy="100000" kx="0" ky="0" algn="bl" rotWithShape="0" blurRad="38100" dist="12700" dir="5400000">
              <a:srgbClr val="0A1E33">
                <a:alpha val="6000"/>
              </a:srgbClr>
            </a:outerShdw>
          </a:effectLst>
        </p:spPr>
        <p:txBody>
          <a:bodyPr/>
          <a:p/>
        </p:txBody>
      </p:sp>
      <p:sp>
        <p:nvSpPr>
          <p:cNvPr id="53" name="anim:2"/>
          <p:cNvSpPr txBox="1"/>
          <p:nvPr/>
        </p:nvSpPr>
        <p:spPr>
          <a:xfrm>
            <a:off x="5394960" y="2980944"/>
            <a:ext cx="1097280" cy="182880"/>
          </a:xfrm>
          <a:prstGeom prst="rect">
            <a:avLst/>
          </a:prstGeom>
          <a:noFill/>
          <a:ln/>
        </p:spPr>
        <p:txBody>
          <a:bodyPr wrap="square" lIns="0" tIns="0" rIns="0" bIns="0" rtlCol="0" anchor="t"/>
          <a:lstStyle/>
          <a:p>
            <a:pPr algn="l" indent="0" marL="0">
              <a:buNone/>
            </a:pPr>
            <a:r>
              <a:rPr lang="en-US" sz="750" b="1" spc="150" kern="0" dirty="0">
                <a:solidFill>
                  <a:srgbClr val="FFFFFF"/>
                </a:solidFill>
                <a:latin typeface="Calibri" pitchFamily="34" charset="0"/>
                <a:ea typeface="Calibri" pitchFamily="34" charset="-122"/>
                <a:cs typeface="Calibri" pitchFamily="34" charset="-120"/>
              </a:rPr>
              <a:t>WEEK 9</a:t>
            </a:r>
            <a:endParaRPr lang="en-US" sz="750" dirty="0"/>
          </a:p>
        </p:txBody>
      </p:sp>
      <p:sp>
        <p:nvSpPr>
          <p:cNvPr id="54" name="anim:2"/>
          <p:cNvSpPr txBox="1"/>
          <p:nvPr/>
        </p:nvSpPr>
        <p:spPr>
          <a:xfrm>
            <a:off x="5394960" y="3200400"/>
            <a:ext cx="1316736" cy="457200"/>
          </a:xfrm>
          <a:prstGeom prst="rect">
            <a:avLst/>
          </a:prstGeom>
          <a:noFill/>
          <a:ln/>
        </p:spPr>
        <p:txBody>
          <a:bodyPr wrap="square" lIns="0" tIns="0" rIns="0" bIns="0" rtlCol="0" anchor="t"/>
          <a:lstStyle/>
          <a:p>
            <a:pPr algn="l" indent="0" marL="0">
              <a:buNone/>
            </a:pPr>
            <a:r>
              <a:rPr lang="en-US" sz="1000" b="1" dirty="0">
                <a:solidFill>
                  <a:srgbClr val="FFFFFF"/>
                </a:solidFill>
                <a:latin typeface="Calibri" pitchFamily="34" charset="0"/>
                <a:ea typeface="Calibri" pitchFamily="34" charset="-122"/>
                <a:cs typeface="Calibri" pitchFamily="34" charset="-120"/>
              </a:rPr>
              <a:t>Build 3: deep learning and LLM</a:t>
            </a:r>
            <a:endParaRPr lang="en-US" sz="1000" dirty="0"/>
          </a:p>
        </p:txBody>
      </p:sp>
      <p:sp>
        <p:nvSpPr>
          <p:cNvPr id="55" name="anim:2 grad:card"/>
          <p:cNvSpPr/>
          <p:nvPr/>
        </p:nvSpPr>
        <p:spPr>
          <a:xfrm>
            <a:off x="6876288" y="2889504"/>
            <a:ext cx="1536192" cy="987552"/>
          </a:xfrm>
          <a:prstGeom prst="roundRect">
            <a:avLst>
              <a:gd name="adj" fmla="val 5556"/>
            </a:avLst>
          </a:prstGeom>
          <a:gradFill rotWithShape="1">
            <a:gsLst>
              <a:gs pos="0">
                <a:srgbClr val="FFFFFF"/>
              </a:gs>
              <a:gs pos="100000">
                <a:srgbClr val="F3F6FA"/>
              </a:gs>
            </a:gsLst>
            <a:lin ang="5400000" scaled="0"/>
          </a:gradFill>
          <a:ln w="19050">
            <a:solidFill>
              <a:srgbClr val="E9B221"/>
            </a:solidFill>
            <a:prstDash val="solid"/>
          </a:ln>
          <a:effectLst>
            <a:outerShdw sx="100000" sy="100000" kx="0" ky="0" algn="bl" rotWithShape="0" blurRad="38100" dist="12700" dir="5400000">
              <a:srgbClr val="0A1E33">
                <a:alpha val="6000"/>
              </a:srgbClr>
            </a:outerShdw>
          </a:effectLst>
        </p:spPr>
        <p:txBody>
          <a:bodyPr/>
          <a:p/>
        </p:txBody>
      </p:sp>
      <p:sp>
        <p:nvSpPr>
          <p:cNvPr id="56" name="anim:2"/>
          <p:cNvSpPr txBox="1"/>
          <p:nvPr/>
        </p:nvSpPr>
        <p:spPr>
          <a:xfrm>
            <a:off x="6986016" y="2980944"/>
            <a:ext cx="109728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WEEK 10</a:t>
            </a:r>
            <a:endParaRPr lang="en-US" sz="750" dirty="0"/>
          </a:p>
        </p:txBody>
      </p:sp>
      <p:sp>
        <p:nvSpPr>
          <p:cNvPr id="57" name="anim:2"/>
          <p:cNvSpPr txBox="1"/>
          <p:nvPr/>
        </p:nvSpPr>
        <p:spPr>
          <a:xfrm>
            <a:off x="6986016" y="3200400"/>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Generative AI applied</a:t>
            </a:r>
            <a:endParaRPr lang="en-US" sz="1000" dirty="0"/>
          </a:p>
        </p:txBody>
      </p:sp>
      <p:sp>
        <p:nvSpPr>
          <p:cNvPr id="58" name="anim:2"/>
          <p:cNvSpPr txBox="1"/>
          <p:nvPr/>
        </p:nvSpPr>
        <p:spPr>
          <a:xfrm>
            <a:off x="6986016" y="3584448"/>
            <a:ext cx="960120" cy="201168"/>
          </a:xfrm>
          <a:prstGeom prst="roundRect">
            <a:avLst>
              <a:gd name="adj" fmla="val 90909"/>
            </a:avLst>
          </a:prstGeom>
          <a:solidFill>
            <a:srgbClr val="E9B221"/>
          </a:solidFill>
          <a:ln w="9525">
            <a:solidFill>
              <a:srgbClr val="E9B221"/>
            </a:solidFill>
          </a:ln>
        </p:spPr>
        <p:txBody>
          <a:bodyPr wrap="square" lIns="0" tIns="76200" rIns="76200" bIns="0" rtlCol="0" anchor="ctr"/>
          <a:lstStyle/>
          <a:p>
            <a:pPr algn="ctr" indent="0" marL="0">
              <a:buNone/>
            </a:pPr>
            <a:r>
              <a:rPr lang="en-US" sz="700" b="1" spc="100" kern="0" dirty="0">
                <a:solidFill>
                  <a:srgbClr val="0A1E33"/>
                </a:solidFill>
                <a:latin typeface="Calibri" pitchFamily="34" charset="0"/>
                <a:ea typeface="Calibri" pitchFamily="34" charset="-122"/>
                <a:cs typeface="Calibri" pitchFamily="34" charset="-120"/>
              </a:rPr>
              <a:t>MAJOR EXAM 2</a:t>
            </a:r>
            <a:endParaRPr lang="en-US" sz="700" dirty="0"/>
          </a:p>
        </p:txBody>
      </p:sp>
      <p:sp>
        <p:nvSpPr>
          <p:cNvPr id="59" name="anim:2 grad:card"/>
          <p:cNvSpPr/>
          <p:nvPr/>
        </p:nvSpPr>
        <p:spPr>
          <a:xfrm>
            <a:off x="8467344" y="2889504"/>
            <a:ext cx="1536192" cy="987552"/>
          </a:xfrm>
          <a:prstGeom prst="roundRect">
            <a:avLst>
              <a:gd name="adj" fmla="val 5556"/>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38100" dist="12700" dir="5400000">
              <a:srgbClr val="0A1E33">
                <a:alpha val="6000"/>
              </a:srgbClr>
            </a:outerShdw>
          </a:effectLst>
        </p:spPr>
        <p:txBody>
          <a:bodyPr/>
          <a:p/>
        </p:txBody>
      </p:sp>
      <p:sp>
        <p:nvSpPr>
          <p:cNvPr id="60" name="anim:2"/>
          <p:cNvSpPr txBox="1"/>
          <p:nvPr/>
        </p:nvSpPr>
        <p:spPr>
          <a:xfrm>
            <a:off x="8577072" y="2980944"/>
            <a:ext cx="109728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WEEK 11</a:t>
            </a:r>
            <a:endParaRPr lang="en-US" sz="750" dirty="0"/>
          </a:p>
        </p:txBody>
      </p:sp>
      <p:sp>
        <p:nvSpPr>
          <p:cNvPr id="61" name="anim:2"/>
          <p:cNvSpPr txBox="1"/>
          <p:nvPr/>
        </p:nvSpPr>
        <p:spPr>
          <a:xfrm>
            <a:off x="8577072" y="3200400"/>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Retrieval-augmented generation</a:t>
            </a:r>
            <a:endParaRPr lang="en-US" sz="1000" dirty="0"/>
          </a:p>
        </p:txBody>
      </p:sp>
      <p:sp>
        <p:nvSpPr>
          <p:cNvPr id="62" name="anim:2 grad:blue"/>
          <p:cNvSpPr/>
          <p:nvPr/>
        </p:nvSpPr>
        <p:spPr>
          <a:xfrm>
            <a:off x="10058400" y="2889504"/>
            <a:ext cx="1536192" cy="987552"/>
          </a:xfrm>
          <a:prstGeom prst="roundRect">
            <a:avLst>
              <a:gd name="adj" fmla="val 5556"/>
            </a:avLst>
          </a:prstGeom>
          <a:gradFill rotWithShape="1">
            <a:gsLst>
              <a:gs pos="0">
                <a:srgbClr val="2FA8E0"/>
              </a:gs>
              <a:gs pos="100000">
                <a:srgbClr val="007DB6"/>
              </a:gs>
            </a:gsLst>
            <a:lin ang="5400000" scaled="0"/>
          </a:gradFill>
          <a:ln w="9525">
            <a:solidFill>
              <a:srgbClr val="007DB6"/>
            </a:solidFill>
            <a:prstDash val="solid"/>
          </a:ln>
          <a:effectLst>
            <a:outerShdw sx="100000" sy="100000" kx="0" ky="0" algn="bl" rotWithShape="0" blurRad="38100" dist="12700" dir="5400000">
              <a:srgbClr val="0A1E33">
                <a:alpha val="6000"/>
              </a:srgbClr>
            </a:outerShdw>
          </a:effectLst>
        </p:spPr>
        <p:txBody>
          <a:bodyPr/>
          <a:p/>
        </p:txBody>
      </p:sp>
      <p:sp>
        <p:nvSpPr>
          <p:cNvPr id="63" name="anim:2"/>
          <p:cNvSpPr txBox="1"/>
          <p:nvPr/>
        </p:nvSpPr>
        <p:spPr>
          <a:xfrm>
            <a:off x="10168128" y="2980944"/>
            <a:ext cx="1097280" cy="182880"/>
          </a:xfrm>
          <a:prstGeom prst="rect">
            <a:avLst/>
          </a:prstGeom>
          <a:noFill/>
          <a:ln/>
        </p:spPr>
        <p:txBody>
          <a:bodyPr wrap="square" lIns="0" tIns="0" rIns="0" bIns="0" rtlCol="0" anchor="t"/>
          <a:lstStyle/>
          <a:p>
            <a:pPr algn="l" indent="0" marL="0">
              <a:buNone/>
            </a:pPr>
            <a:r>
              <a:rPr lang="en-US" sz="750" b="1" spc="150" kern="0" dirty="0">
                <a:solidFill>
                  <a:srgbClr val="FFFFFF"/>
                </a:solidFill>
                <a:latin typeface="Calibri" pitchFamily="34" charset="0"/>
                <a:ea typeface="Calibri" pitchFamily="34" charset="-122"/>
                <a:cs typeface="Calibri" pitchFamily="34" charset="-120"/>
              </a:rPr>
              <a:t>WEEK 12</a:t>
            </a:r>
            <a:endParaRPr lang="en-US" sz="750" dirty="0"/>
          </a:p>
        </p:txBody>
      </p:sp>
      <p:sp>
        <p:nvSpPr>
          <p:cNvPr id="64" name="anim:2"/>
          <p:cNvSpPr txBox="1"/>
          <p:nvPr/>
        </p:nvSpPr>
        <p:spPr>
          <a:xfrm>
            <a:off x="10168128" y="3200400"/>
            <a:ext cx="1316736" cy="457200"/>
          </a:xfrm>
          <a:prstGeom prst="rect">
            <a:avLst/>
          </a:prstGeom>
          <a:noFill/>
          <a:ln/>
        </p:spPr>
        <p:txBody>
          <a:bodyPr wrap="square" lIns="0" tIns="0" rIns="0" bIns="0" rtlCol="0" anchor="t"/>
          <a:lstStyle/>
          <a:p>
            <a:pPr algn="l" indent="0" marL="0">
              <a:buNone/>
            </a:pPr>
            <a:r>
              <a:rPr lang="en-US" sz="1000" b="1" dirty="0">
                <a:solidFill>
                  <a:srgbClr val="FFFFFF"/>
                </a:solidFill>
                <a:latin typeface="Calibri" pitchFamily="34" charset="0"/>
                <a:ea typeface="Calibri" pitchFamily="34" charset="-122"/>
                <a:cs typeface="Calibri" pitchFamily="34" charset="-120"/>
              </a:rPr>
              <a:t>Build 4: RAG assistant</a:t>
            </a:r>
            <a:endParaRPr lang="en-US" sz="1000" dirty="0"/>
          </a:p>
        </p:txBody>
      </p:sp>
      <p:sp>
        <p:nvSpPr>
          <p:cNvPr id="65" name="anim:3"/>
          <p:cNvSpPr txBox="1"/>
          <p:nvPr/>
        </p:nvSpPr>
        <p:spPr>
          <a:xfrm>
            <a:off x="548640" y="4041648"/>
            <a:ext cx="141732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PHASE 3</a:t>
            </a:r>
            <a:endParaRPr lang="en-US" sz="850" dirty="0"/>
          </a:p>
        </p:txBody>
      </p:sp>
      <p:sp>
        <p:nvSpPr>
          <p:cNvPr id="66" name="anim:3"/>
          <p:cNvSpPr txBox="1"/>
          <p:nvPr/>
        </p:nvSpPr>
        <p:spPr>
          <a:xfrm>
            <a:off x="548640" y="4242816"/>
            <a:ext cx="1417320" cy="457200"/>
          </a:xfrm>
          <a:prstGeom prst="rect">
            <a:avLst/>
          </a:prstGeom>
          <a:noFill/>
          <a:ln/>
        </p:spPr>
        <p:txBody>
          <a:bodyPr wrap="square" lIns="0" tIns="0" rIns="0" bIns="0" rtlCol="0" anchor="t"/>
          <a:lstStyle/>
          <a:p>
            <a:pPr algn="l" indent="0" marL="0">
              <a:buNone/>
            </a:pPr>
            <a:r>
              <a:rPr lang="en-US" sz="1200" b="1" dirty="0">
                <a:solidFill>
                  <a:srgbClr val="0A1E33"/>
                </a:solidFill>
                <a:latin typeface="Calibri" pitchFamily="34" charset="0"/>
                <a:ea typeface="Calibri" pitchFamily="34" charset="-122"/>
                <a:cs typeface="Calibri" pitchFamily="34" charset="-120"/>
              </a:rPr>
              <a:t>Agents, production, FDE</a:t>
            </a:r>
            <a:endParaRPr lang="en-US" sz="1200" dirty="0"/>
          </a:p>
        </p:txBody>
      </p:sp>
      <p:sp>
        <p:nvSpPr>
          <p:cNvPr id="67" name="anim:3"/>
          <p:cNvSpPr txBox="1"/>
          <p:nvPr/>
        </p:nvSpPr>
        <p:spPr>
          <a:xfrm>
            <a:off x="548640" y="4709160"/>
            <a:ext cx="1417320" cy="274320"/>
          </a:xfrm>
          <a:prstGeom prst="rect">
            <a:avLst/>
          </a:prstGeom>
          <a:noFill/>
          <a:ln/>
        </p:spPr>
        <p:txBody>
          <a:bodyPr wrap="square" lIns="0" tIns="0" rIns="0" bIns="0" rtlCol="0" anchor="t"/>
          <a:lstStyle/>
          <a:p>
            <a:pPr algn="l" indent="0" marL="0">
              <a:buNone/>
            </a:pPr>
            <a:r>
              <a:rPr lang="en-US" sz="750" dirty="0">
                <a:solidFill>
                  <a:srgbClr val="5F7183"/>
                </a:solidFill>
                <a:latin typeface="Calibri" pitchFamily="34" charset="0"/>
                <a:ea typeface="Calibri" pitchFamily="34" charset="-122"/>
                <a:cs typeface="Calibri" pitchFamily="34" charset="-120"/>
              </a:rPr>
              <a:t>Weeks 13 to 16 · Modules 7 to 9</a:t>
            </a:r>
            <a:endParaRPr lang="en-US" sz="750" dirty="0"/>
          </a:p>
        </p:txBody>
      </p:sp>
      <p:sp>
        <p:nvSpPr>
          <p:cNvPr id="68" name="anim:3 grad:card"/>
          <p:cNvSpPr/>
          <p:nvPr/>
        </p:nvSpPr>
        <p:spPr>
          <a:xfrm>
            <a:off x="2103120" y="3995928"/>
            <a:ext cx="1536192" cy="987552"/>
          </a:xfrm>
          <a:prstGeom prst="roundRect">
            <a:avLst>
              <a:gd name="adj" fmla="val 5556"/>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38100" dist="12700" dir="5400000">
              <a:srgbClr val="0A1E33">
                <a:alpha val="6000"/>
              </a:srgbClr>
            </a:outerShdw>
          </a:effectLst>
        </p:spPr>
        <p:txBody>
          <a:bodyPr/>
          <a:p/>
        </p:txBody>
      </p:sp>
      <p:sp>
        <p:nvSpPr>
          <p:cNvPr id="69" name="anim:3"/>
          <p:cNvSpPr txBox="1"/>
          <p:nvPr/>
        </p:nvSpPr>
        <p:spPr>
          <a:xfrm>
            <a:off x="2212848" y="4087368"/>
            <a:ext cx="109728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WEEK 13</a:t>
            </a:r>
            <a:endParaRPr lang="en-US" sz="750" dirty="0"/>
          </a:p>
        </p:txBody>
      </p:sp>
      <p:sp>
        <p:nvSpPr>
          <p:cNvPr id="70" name="anim:3"/>
          <p:cNvSpPr txBox="1"/>
          <p:nvPr/>
        </p:nvSpPr>
        <p:spPr>
          <a:xfrm>
            <a:off x="2212848" y="4306824"/>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AI agents</a:t>
            </a:r>
            <a:endParaRPr lang="en-US" sz="1000" dirty="0"/>
          </a:p>
        </p:txBody>
      </p:sp>
      <p:sp>
        <p:nvSpPr>
          <p:cNvPr id="71" name="anim:3 grad:card"/>
          <p:cNvSpPr/>
          <p:nvPr/>
        </p:nvSpPr>
        <p:spPr>
          <a:xfrm>
            <a:off x="3694176" y="3995928"/>
            <a:ext cx="1536192" cy="987552"/>
          </a:xfrm>
          <a:prstGeom prst="roundRect">
            <a:avLst>
              <a:gd name="adj" fmla="val 5556"/>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38100" dist="12700" dir="5400000">
              <a:srgbClr val="0A1E33">
                <a:alpha val="6000"/>
              </a:srgbClr>
            </a:outerShdw>
          </a:effectLst>
        </p:spPr>
        <p:txBody>
          <a:bodyPr/>
          <a:p/>
        </p:txBody>
      </p:sp>
      <p:sp>
        <p:nvSpPr>
          <p:cNvPr id="72" name="anim:3"/>
          <p:cNvSpPr txBox="1"/>
          <p:nvPr/>
        </p:nvSpPr>
        <p:spPr>
          <a:xfrm>
            <a:off x="3803904" y="4087368"/>
            <a:ext cx="1097280" cy="182880"/>
          </a:xfrm>
          <a:prstGeom prst="rect">
            <a:avLst/>
          </a:prstGeom>
          <a:noFill/>
          <a:ln/>
        </p:spPr>
        <p:txBody>
          <a:bodyPr wrap="square" lIns="0" tIns="0" rIns="0" bIns="0" rtlCol="0" anchor="t"/>
          <a:lstStyle/>
          <a:p>
            <a:pPr algn="l" indent="0" marL="0">
              <a:buNone/>
            </a:pPr>
            <a:r>
              <a:rPr lang="en-US" sz="750" b="1" spc="150" kern="0" dirty="0">
                <a:solidFill>
                  <a:srgbClr val="007DB6"/>
                </a:solidFill>
                <a:latin typeface="Calibri" pitchFamily="34" charset="0"/>
                <a:ea typeface="Calibri" pitchFamily="34" charset="-122"/>
                <a:cs typeface="Calibri" pitchFamily="34" charset="-120"/>
              </a:rPr>
              <a:t>WEEK 14</a:t>
            </a:r>
            <a:endParaRPr lang="en-US" sz="750" dirty="0"/>
          </a:p>
        </p:txBody>
      </p:sp>
      <p:sp>
        <p:nvSpPr>
          <p:cNvPr id="73" name="anim:3"/>
          <p:cNvSpPr txBox="1"/>
          <p:nvPr/>
        </p:nvSpPr>
        <p:spPr>
          <a:xfrm>
            <a:off x="3803904" y="4306824"/>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Agents in production</a:t>
            </a:r>
            <a:endParaRPr lang="en-US" sz="1000" dirty="0"/>
          </a:p>
        </p:txBody>
      </p:sp>
      <p:sp>
        <p:nvSpPr>
          <p:cNvPr id="74" name="anim:3 grad:blue"/>
          <p:cNvSpPr/>
          <p:nvPr/>
        </p:nvSpPr>
        <p:spPr>
          <a:xfrm>
            <a:off x="5285232" y="3995928"/>
            <a:ext cx="1536192" cy="987552"/>
          </a:xfrm>
          <a:prstGeom prst="roundRect">
            <a:avLst>
              <a:gd name="adj" fmla="val 5556"/>
            </a:avLst>
          </a:prstGeom>
          <a:gradFill rotWithShape="1">
            <a:gsLst>
              <a:gs pos="0">
                <a:srgbClr val="2FA8E0"/>
              </a:gs>
              <a:gs pos="100000">
                <a:srgbClr val="007DB6"/>
              </a:gs>
            </a:gsLst>
            <a:lin ang="5400000" scaled="0"/>
          </a:gradFill>
          <a:ln w="9525">
            <a:solidFill>
              <a:srgbClr val="007DB6"/>
            </a:solidFill>
            <a:prstDash val="solid"/>
          </a:ln>
          <a:effectLst>
            <a:outerShdw sx="100000" sy="100000" kx="0" ky="0" algn="bl" rotWithShape="0" blurRad="38100" dist="12700" dir="5400000">
              <a:srgbClr val="0A1E33">
                <a:alpha val="6000"/>
              </a:srgbClr>
            </a:outerShdw>
          </a:effectLst>
        </p:spPr>
        <p:txBody>
          <a:bodyPr/>
          <a:p/>
        </p:txBody>
      </p:sp>
      <p:sp>
        <p:nvSpPr>
          <p:cNvPr id="75" name="anim:3"/>
          <p:cNvSpPr txBox="1"/>
          <p:nvPr/>
        </p:nvSpPr>
        <p:spPr>
          <a:xfrm>
            <a:off x="5394960" y="4087368"/>
            <a:ext cx="1097280" cy="182880"/>
          </a:xfrm>
          <a:prstGeom prst="rect">
            <a:avLst/>
          </a:prstGeom>
          <a:noFill/>
          <a:ln/>
        </p:spPr>
        <p:txBody>
          <a:bodyPr wrap="square" lIns="0" tIns="0" rIns="0" bIns="0" rtlCol="0" anchor="t"/>
          <a:lstStyle/>
          <a:p>
            <a:pPr algn="l" indent="0" marL="0">
              <a:buNone/>
            </a:pPr>
            <a:r>
              <a:rPr lang="en-US" sz="750" b="1" spc="150" kern="0" dirty="0">
                <a:solidFill>
                  <a:srgbClr val="FFFFFF"/>
                </a:solidFill>
                <a:latin typeface="Calibri" pitchFamily="34" charset="0"/>
                <a:ea typeface="Calibri" pitchFamily="34" charset="-122"/>
                <a:cs typeface="Calibri" pitchFamily="34" charset="-120"/>
              </a:rPr>
              <a:t>WEEK 15</a:t>
            </a:r>
            <a:endParaRPr lang="en-US" sz="750" dirty="0"/>
          </a:p>
        </p:txBody>
      </p:sp>
      <p:sp>
        <p:nvSpPr>
          <p:cNvPr id="76" name="anim:3"/>
          <p:cNvSpPr txBox="1"/>
          <p:nvPr/>
        </p:nvSpPr>
        <p:spPr>
          <a:xfrm>
            <a:off x="5394960" y="4306824"/>
            <a:ext cx="1316736" cy="457200"/>
          </a:xfrm>
          <a:prstGeom prst="rect">
            <a:avLst/>
          </a:prstGeom>
          <a:noFill/>
          <a:ln/>
        </p:spPr>
        <p:txBody>
          <a:bodyPr wrap="square" lIns="0" tIns="0" rIns="0" bIns="0" rtlCol="0" anchor="t"/>
          <a:lstStyle/>
          <a:p>
            <a:pPr algn="l" indent="0" marL="0">
              <a:buNone/>
            </a:pPr>
            <a:r>
              <a:rPr lang="en-US" sz="1000" b="1" dirty="0">
                <a:solidFill>
                  <a:srgbClr val="FFFFFF"/>
                </a:solidFill>
                <a:latin typeface="Calibri" pitchFamily="34" charset="0"/>
                <a:ea typeface="Calibri" pitchFamily="34" charset="-122"/>
                <a:cs typeface="Calibri" pitchFamily="34" charset="-120"/>
              </a:rPr>
              <a:t>Build 5: agentic system</a:t>
            </a:r>
            <a:endParaRPr lang="en-US" sz="1000" dirty="0"/>
          </a:p>
        </p:txBody>
      </p:sp>
      <p:sp>
        <p:nvSpPr>
          <p:cNvPr id="77" name="anim:3 grad:goldTint"/>
          <p:cNvSpPr/>
          <p:nvPr/>
        </p:nvSpPr>
        <p:spPr>
          <a:xfrm>
            <a:off x="6876288" y="3995928"/>
            <a:ext cx="1536192" cy="987552"/>
          </a:xfrm>
          <a:prstGeom prst="roundRect">
            <a:avLst>
              <a:gd name="adj" fmla="val 5556"/>
            </a:avLst>
          </a:prstGeom>
          <a:gradFill rotWithShape="1">
            <a:gsLst>
              <a:gs pos="0">
                <a:srgbClr val="FCF5E2"/>
              </a:gs>
              <a:gs pos="100000">
                <a:srgbClr val="F4E5B8"/>
              </a:gs>
            </a:gsLst>
            <a:lin ang="5400000" scaled="0"/>
          </a:gradFill>
          <a:ln w="19050">
            <a:solidFill>
              <a:srgbClr val="E9B221"/>
            </a:solidFill>
            <a:prstDash val="solid"/>
          </a:ln>
          <a:effectLst>
            <a:outerShdw sx="100000" sy="100000" kx="0" ky="0" algn="bl" rotWithShape="0" blurRad="38100" dist="12700" dir="5400000">
              <a:srgbClr val="0A1E33">
                <a:alpha val="6000"/>
              </a:srgbClr>
            </a:outerShdw>
          </a:effectLst>
        </p:spPr>
        <p:txBody>
          <a:bodyPr/>
          <a:p/>
        </p:txBody>
      </p:sp>
      <p:sp>
        <p:nvSpPr>
          <p:cNvPr id="78" name="anim:3"/>
          <p:cNvSpPr txBox="1"/>
          <p:nvPr/>
        </p:nvSpPr>
        <p:spPr>
          <a:xfrm>
            <a:off x="6986016" y="4087368"/>
            <a:ext cx="1097280" cy="182880"/>
          </a:xfrm>
          <a:prstGeom prst="rect">
            <a:avLst/>
          </a:prstGeom>
          <a:noFill/>
          <a:ln/>
        </p:spPr>
        <p:txBody>
          <a:bodyPr wrap="square" lIns="0" tIns="0" rIns="0" bIns="0" rtlCol="0" anchor="t"/>
          <a:lstStyle/>
          <a:p>
            <a:pPr algn="l" indent="0" marL="0">
              <a:buNone/>
            </a:pPr>
            <a:r>
              <a:rPr lang="en-US" sz="750" b="1" spc="150" kern="0" dirty="0">
                <a:solidFill>
                  <a:srgbClr val="0A1E33"/>
                </a:solidFill>
                <a:latin typeface="Calibri" pitchFamily="34" charset="0"/>
                <a:ea typeface="Calibri" pitchFamily="34" charset="-122"/>
                <a:cs typeface="Calibri" pitchFamily="34" charset="-120"/>
              </a:rPr>
              <a:t>WEEK 16</a:t>
            </a:r>
            <a:endParaRPr lang="en-US" sz="750" dirty="0"/>
          </a:p>
        </p:txBody>
      </p:sp>
      <p:sp>
        <p:nvSpPr>
          <p:cNvPr id="79" name="anim:3"/>
          <p:cNvSpPr txBox="1"/>
          <p:nvPr/>
        </p:nvSpPr>
        <p:spPr>
          <a:xfrm>
            <a:off x="6986016" y="4306824"/>
            <a:ext cx="1316736" cy="457200"/>
          </a:xfrm>
          <a:prstGeom prst="rect">
            <a:avLst/>
          </a:prstGeom>
          <a:noFill/>
          <a:ln/>
        </p:spPr>
        <p:txBody>
          <a:bodyPr wrap="square" lIns="0" tIns="0" rIns="0" bIns="0" rtlCol="0" anchor="t"/>
          <a:lstStyle/>
          <a:p>
            <a:pPr algn="l" indent="0" marL="0">
              <a:buNone/>
            </a:pPr>
            <a:r>
              <a:rPr lang="en-US" sz="1000" b="1" dirty="0">
                <a:solidFill>
                  <a:srgbClr val="0A1E33"/>
                </a:solidFill>
                <a:latin typeface="Calibri" pitchFamily="34" charset="0"/>
                <a:ea typeface="Calibri" pitchFamily="34" charset="-122"/>
                <a:cs typeface="Calibri" pitchFamily="34" charset="-120"/>
              </a:rPr>
              <a:t>FDE block and capstone kickoff</a:t>
            </a:r>
            <a:endParaRPr lang="en-US" sz="1000" dirty="0"/>
          </a:p>
        </p:txBody>
      </p:sp>
      <p:sp>
        <p:nvSpPr>
          <p:cNvPr id="80" name="anim:3"/>
          <p:cNvSpPr txBox="1"/>
          <p:nvPr/>
        </p:nvSpPr>
        <p:spPr>
          <a:xfrm>
            <a:off x="6986016" y="4690872"/>
            <a:ext cx="960120" cy="201168"/>
          </a:xfrm>
          <a:prstGeom prst="roundRect">
            <a:avLst>
              <a:gd name="adj" fmla="val 90909"/>
            </a:avLst>
          </a:prstGeom>
          <a:solidFill>
            <a:srgbClr val="E9B221"/>
          </a:solidFill>
          <a:ln w="9525">
            <a:solidFill>
              <a:srgbClr val="E9B221"/>
            </a:solidFill>
          </a:ln>
        </p:spPr>
        <p:txBody>
          <a:bodyPr wrap="square" lIns="0" tIns="76200" rIns="76200" bIns="0" rtlCol="0" anchor="ctr"/>
          <a:lstStyle/>
          <a:p>
            <a:pPr algn="ctr" indent="0" marL="0">
              <a:buNone/>
            </a:pPr>
            <a:r>
              <a:rPr lang="en-US" sz="700" b="1" spc="100" kern="0" dirty="0">
                <a:solidFill>
                  <a:srgbClr val="0A1E33"/>
                </a:solidFill>
                <a:latin typeface="Calibri" pitchFamily="34" charset="0"/>
                <a:ea typeface="Calibri" pitchFamily="34" charset="-122"/>
                <a:cs typeface="Calibri" pitchFamily="34" charset="-120"/>
              </a:rPr>
              <a:t>MAJOR EXAM 3</a:t>
            </a:r>
            <a:endParaRPr lang="en-US" sz="700" dirty="0"/>
          </a:p>
        </p:txBody>
      </p:sp>
      <p:sp>
        <p:nvSpPr>
          <p:cNvPr id="81" name="anim:4"/>
          <p:cNvSpPr txBox="1"/>
          <p:nvPr/>
        </p:nvSpPr>
        <p:spPr>
          <a:xfrm>
            <a:off x="548640" y="5148072"/>
            <a:ext cx="141732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PHASE 4</a:t>
            </a:r>
            <a:endParaRPr lang="en-US" sz="850" dirty="0"/>
          </a:p>
        </p:txBody>
      </p:sp>
      <p:sp>
        <p:nvSpPr>
          <p:cNvPr id="82" name="anim:4"/>
          <p:cNvSpPr txBox="1"/>
          <p:nvPr/>
        </p:nvSpPr>
        <p:spPr>
          <a:xfrm>
            <a:off x="548640" y="5349240"/>
            <a:ext cx="1417320" cy="457200"/>
          </a:xfrm>
          <a:prstGeom prst="rect">
            <a:avLst/>
          </a:prstGeom>
          <a:noFill/>
          <a:ln/>
        </p:spPr>
        <p:txBody>
          <a:bodyPr wrap="square" lIns="0" tIns="0" rIns="0" bIns="0" rtlCol="0" anchor="t"/>
          <a:lstStyle/>
          <a:p>
            <a:pPr algn="l" indent="0" marL="0">
              <a:buNone/>
            </a:pPr>
            <a:r>
              <a:rPr lang="en-US" sz="1200" b="1" dirty="0">
                <a:solidFill>
                  <a:srgbClr val="0A1E33"/>
                </a:solidFill>
                <a:latin typeface="Calibri" pitchFamily="34" charset="0"/>
                <a:ea typeface="Calibri" pitchFamily="34" charset="-122"/>
                <a:cs typeface="Calibri" pitchFamily="34" charset="-120"/>
              </a:rPr>
              <a:t>Capstone</a:t>
            </a:r>
            <a:endParaRPr lang="en-US" sz="1200" dirty="0"/>
          </a:p>
        </p:txBody>
      </p:sp>
      <p:sp>
        <p:nvSpPr>
          <p:cNvPr id="83" name="anim:4"/>
          <p:cNvSpPr txBox="1"/>
          <p:nvPr/>
        </p:nvSpPr>
        <p:spPr>
          <a:xfrm>
            <a:off x="548640" y="5815584"/>
            <a:ext cx="1417320" cy="274320"/>
          </a:xfrm>
          <a:prstGeom prst="rect">
            <a:avLst/>
          </a:prstGeom>
          <a:noFill/>
          <a:ln/>
        </p:spPr>
        <p:txBody>
          <a:bodyPr wrap="square" lIns="0" tIns="0" rIns="0" bIns="0" rtlCol="0" anchor="t"/>
          <a:lstStyle/>
          <a:p>
            <a:pPr algn="l" indent="0" marL="0">
              <a:buNone/>
            </a:pPr>
            <a:r>
              <a:rPr lang="en-US" sz="750" dirty="0">
                <a:solidFill>
                  <a:srgbClr val="5F7183"/>
                </a:solidFill>
                <a:latin typeface="Calibri" pitchFamily="34" charset="0"/>
                <a:ea typeface="Calibri" pitchFamily="34" charset="-122"/>
                <a:cs typeface="Calibri" pitchFamily="34" charset="-120"/>
              </a:rPr>
              <a:t>Weeks 17 to 20 · Module 10</a:t>
            </a:r>
            <a:endParaRPr lang="en-US" sz="750" dirty="0"/>
          </a:p>
        </p:txBody>
      </p:sp>
      <p:sp>
        <p:nvSpPr>
          <p:cNvPr id="84" name="anim:4 grad:navyCard"/>
          <p:cNvSpPr/>
          <p:nvPr/>
        </p:nvSpPr>
        <p:spPr>
          <a:xfrm>
            <a:off x="2103120" y="5102352"/>
            <a:ext cx="1536192" cy="987552"/>
          </a:xfrm>
          <a:prstGeom prst="roundRect">
            <a:avLst>
              <a:gd name="adj" fmla="val 5556"/>
            </a:avLst>
          </a:prstGeom>
          <a:gradFill rotWithShape="1">
            <a:gsLst>
              <a:gs pos="0">
                <a:srgbClr val="1E4A7E"/>
              </a:gs>
              <a:gs pos="100000">
                <a:srgbClr val="12325A"/>
              </a:gs>
            </a:gsLst>
            <a:lin ang="5400000" scaled="0"/>
          </a:gradFill>
          <a:ln w="9525">
            <a:solidFill>
              <a:srgbClr val="173A62"/>
            </a:solidFill>
            <a:prstDash val="solid"/>
          </a:ln>
          <a:effectLst>
            <a:outerShdw sx="100000" sy="100000" kx="0" ky="0" algn="bl" rotWithShape="0" blurRad="38100" dist="12700" dir="5400000">
              <a:srgbClr val="0A1E33">
                <a:alpha val="6000"/>
              </a:srgbClr>
            </a:outerShdw>
          </a:effectLst>
        </p:spPr>
        <p:txBody>
          <a:bodyPr/>
          <a:p/>
        </p:txBody>
      </p:sp>
      <p:sp>
        <p:nvSpPr>
          <p:cNvPr id="85" name="anim:4"/>
          <p:cNvSpPr txBox="1"/>
          <p:nvPr/>
        </p:nvSpPr>
        <p:spPr>
          <a:xfrm>
            <a:off x="2212848" y="5193792"/>
            <a:ext cx="1097280" cy="182880"/>
          </a:xfrm>
          <a:prstGeom prst="rect">
            <a:avLst/>
          </a:prstGeom>
          <a:noFill/>
          <a:ln/>
        </p:spPr>
        <p:txBody>
          <a:bodyPr wrap="square" lIns="0" tIns="0" rIns="0" bIns="0" rtlCol="0" anchor="t"/>
          <a:lstStyle/>
          <a:p>
            <a:pPr algn="l" indent="0" marL="0">
              <a:buNone/>
            </a:pPr>
            <a:r>
              <a:rPr lang="en-US" sz="750" b="1" spc="150" kern="0" dirty="0">
                <a:solidFill>
                  <a:srgbClr val="E9B221"/>
                </a:solidFill>
                <a:latin typeface="Calibri" pitchFamily="34" charset="0"/>
                <a:ea typeface="Calibri" pitchFamily="34" charset="-122"/>
                <a:cs typeface="Calibri" pitchFamily="34" charset="-120"/>
              </a:rPr>
              <a:t>WEEK 17</a:t>
            </a:r>
            <a:endParaRPr lang="en-US" sz="750" dirty="0"/>
          </a:p>
        </p:txBody>
      </p:sp>
      <p:sp>
        <p:nvSpPr>
          <p:cNvPr id="86" name="anim:4"/>
          <p:cNvSpPr txBox="1"/>
          <p:nvPr/>
        </p:nvSpPr>
        <p:spPr>
          <a:xfrm>
            <a:off x="2212848" y="5413248"/>
            <a:ext cx="1316736" cy="457200"/>
          </a:xfrm>
          <a:prstGeom prst="rect">
            <a:avLst/>
          </a:prstGeom>
          <a:noFill/>
          <a:ln/>
        </p:spPr>
        <p:txBody>
          <a:bodyPr wrap="square" lIns="0" tIns="0" rIns="0" bIns="0" rtlCol="0" anchor="t"/>
          <a:lstStyle/>
          <a:p>
            <a:pPr algn="l" indent="0" marL="0">
              <a:buNone/>
            </a:pPr>
            <a:r>
              <a:rPr lang="en-US" sz="1000" b="1" dirty="0">
                <a:solidFill>
                  <a:srgbClr val="E9B221"/>
                </a:solidFill>
                <a:latin typeface="Calibri" pitchFamily="34" charset="0"/>
                <a:ea typeface="Calibri" pitchFamily="34" charset="-122"/>
                <a:cs typeface="Calibri" pitchFamily="34" charset="-120"/>
              </a:rPr>
              <a:t>Capstone sprint 1</a:t>
            </a:r>
            <a:endParaRPr lang="en-US" sz="1000" dirty="0"/>
          </a:p>
        </p:txBody>
      </p:sp>
      <p:sp>
        <p:nvSpPr>
          <p:cNvPr id="87" name="anim:4 grad:navyCard"/>
          <p:cNvSpPr/>
          <p:nvPr/>
        </p:nvSpPr>
        <p:spPr>
          <a:xfrm>
            <a:off x="3694176" y="5102352"/>
            <a:ext cx="1536192" cy="987552"/>
          </a:xfrm>
          <a:prstGeom prst="roundRect">
            <a:avLst>
              <a:gd name="adj" fmla="val 5556"/>
            </a:avLst>
          </a:prstGeom>
          <a:gradFill rotWithShape="1">
            <a:gsLst>
              <a:gs pos="0">
                <a:srgbClr val="1E4A7E"/>
              </a:gs>
              <a:gs pos="100000">
                <a:srgbClr val="12325A"/>
              </a:gs>
            </a:gsLst>
            <a:lin ang="5400000" scaled="0"/>
          </a:gradFill>
          <a:ln w="9525">
            <a:solidFill>
              <a:srgbClr val="173A62"/>
            </a:solidFill>
            <a:prstDash val="solid"/>
          </a:ln>
          <a:effectLst>
            <a:outerShdw sx="100000" sy="100000" kx="0" ky="0" algn="bl" rotWithShape="0" blurRad="38100" dist="12700" dir="5400000">
              <a:srgbClr val="0A1E33">
                <a:alpha val="6000"/>
              </a:srgbClr>
            </a:outerShdw>
          </a:effectLst>
        </p:spPr>
        <p:txBody>
          <a:bodyPr/>
          <a:p/>
        </p:txBody>
      </p:sp>
      <p:sp>
        <p:nvSpPr>
          <p:cNvPr id="88" name="anim:4"/>
          <p:cNvSpPr txBox="1"/>
          <p:nvPr/>
        </p:nvSpPr>
        <p:spPr>
          <a:xfrm>
            <a:off x="3803904" y="5193792"/>
            <a:ext cx="1097280" cy="182880"/>
          </a:xfrm>
          <a:prstGeom prst="rect">
            <a:avLst/>
          </a:prstGeom>
          <a:noFill/>
          <a:ln/>
        </p:spPr>
        <p:txBody>
          <a:bodyPr wrap="square" lIns="0" tIns="0" rIns="0" bIns="0" rtlCol="0" anchor="t"/>
          <a:lstStyle/>
          <a:p>
            <a:pPr algn="l" indent="0" marL="0">
              <a:buNone/>
            </a:pPr>
            <a:r>
              <a:rPr lang="en-US" sz="750" b="1" spc="150" kern="0" dirty="0">
                <a:solidFill>
                  <a:srgbClr val="E9B221"/>
                </a:solidFill>
                <a:latin typeface="Calibri" pitchFamily="34" charset="0"/>
                <a:ea typeface="Calibri" pitchFamily="34" charset="-122"/>
                <a:cs typeface="Calibri" pitchFamily="34" charset="-120"/>
              </a:rPr>
              <a:t>WEEK 18</a:t>
            </a:r>
            <a:endParaRPr lang="en-US" sz="750" dirty="0"/>
          </a:p>
        </p:txBody>
      </p:sp>
      <p:sp>
        <p:nvSpPr>
          <p:cNvPr id="89" name="anim:4"/>
          <p:cNvSpPr txBox="1"/>
          <p:nvPr/>
        </p:nvSpPr>
        <p:spPr>
          <a:xfrm>
            <a:off x="3803904" y="5413248"/>
            <a:ext cx="1316736" cy="457200"/>
          </a:xfrm>
          <a:prstGeom prst="rect">
            <a:avLst/>
          </a:prstGeom>
          <a:noFill/>
          <a:ln/>
        </p:spPr>
        <p:txBody>
          <a:bodyPr wrap="square" lIns="0" tIns="0" rIns="0" bIns="0" rtlCol="0" anchor="t"/>
          <a:lstStyle/>
          <a:p>
            <a:pPr algn="l" indent="0" marL="0">
              <a:buNone/>
            </a:pPr>
            <a:r>
              <a:rPr lang="en-US" sz="1000" b="1" dirty="0">
                <a:solidFill>
                  <a:srgbClr val="E9B221"/>
                </a:solidFill>
                <a:latin typeface="Calibri" pitchFamily="34" charset="0"/>
                <a:ea typeface="Calibri" pitchFamily="34" charset="-122"/>
                <a:cs typeface="Calibri" pitchFamily="34" charset="-120"/>
              </a:rPr>
              <a:t>Capstone sprint 2</a:t>
            </a:r>
            <a:endParaRPr lang="en-US" sz="1000" dirty="0"/>
          </a:p>
        </p:txBody>
      </p:sp>
      <p:sp>
        <p:nvSpPr>
          <p:cNvPr id="90" name="anim:4 grad:navyCard"/>
          <p:cNvSpPr/>
          <p:nvPr/>
        </p:nvSpPr>
        <p:spPr>
          <a:xfrm>
            <a:off x="5285232" y="5102352"/>
            <a:ext cx="1536192" cy="987552"/>
          </a:xfrm>
          <a:prstGeom prst="roundRect">
            <a:avLst>
              <a:gd name="adj" fmla="val 5556"/>
            </a:avLst>
          </a:prstGeom>
          <a:gradFill rotWithShape="1">
            <a:gsLst>
              <a:gs pos="0">
                <a:srgbClr val="1E4A7E"/>
              </a:gs>
              <a:gs pos="100000">
                <a:srgbClr val="12325A"/>
              </a:gs>
            </a:gsLst>
            <a:lin ang="5400000" scaled="0"/>
          </a:gradFill>
          <a:ln w="9525">
            <a:solidFill>
              <a:srgbClr val="173A62"/>
            </a:solidFill>
            <a:prstDash val="solid"/>
          </a:ln>
          <a:effectLst>
            <a:outerShdw sx="100000" sy="100000" kx="0" ky="0" algn="bl" rotWithShape="0" blurRad="38100" dist="12700" dir="5400000">
              <a:srgbClr val="0A1E33">
                <a:alpha val="6000"/>
              </a:srgbClr>
            </a:outerShdw>
          </a:effectLst>
        </p:spPr>
        <p:txBody>
          <a:bodyPr/>
          <a:p/>
        </p:txBody>
      </p:sp>
      <p:sp>
        <p:nvSpPr>
          <p:cNvPr id="91" name="anim:4"/>
          <p:cNvSpPr txBox="1"/>
          <p:nvPr/>
        </p:nvSpPr>
        <p:spPr>
          <a:xfrm>
            <a:off x="5394960" y="5193792"/>
            <a:ext cx="1097280" cy="182880"/>
          </a:xfrm>
          <a:prstGeom prst="rect">
            <a:avLst/>
          </a:prstGeom>
          <a:noFill/>
          <a:ln/>
        </p:spPr>
        <p:txBody>
          <a:bodyPr wrap="square" lIns="0" tIns="0" rIns="0" bIns="0" rtlCol="0" anchor="t"/>
          <a:lstStyle/>
          <a:p>
            <a:pPr algn="l" indent="0" marL="0">
              <a:buNone/>
            </a:pPr>
            <a:r>
              <a:rPr lang="en-US" sz="750" b="1" spc="150" kern="0" dirty="0">
                <a:solidFill>
                  <a:srgbClr val="E9B221"/>
                </a:solidFill>
                <a:latin typeface="Calibri" pitchFamily="34" charset="0"/>
                <a:ea typeface="Calibri" pitchFamily="34" charset="-122"/>
                <a:cs typeface="Calibri" pitchFamily="34" charset="-120"/>
              </a:rPr>
              <a:t>WEEK 19</a:t>
            </a:r>
            <a:endParaRPr lang="en-US" sz="750" dirty="0"/>
          </a:p>
        </p:txBody>
      </p:sp>
      <p:sp>
        <p:nvSpPr>
          <p:cNvPr id="92" name="anim:4"/>
          <p:cNvSpPr txBox="1"/>
          <p:nvPr/>
        </p:nvSpPr>
        <p:spPr>
          <a:xfrm>
            <a:off x="5394960" y="5413248"/>
            <a:ext cx="1316736" cy="457200"/>
          </a:xfrm>
          <a:prstGeom prst="rect">
            <a:avLst/>
          </a:prstGeom>
          <a:noFill/>
          <a:ln/>
        </p:spPr>
        <p:txBody>
          <a:bodyPr wrap="square" lIns="0" tIns="0" rIns="0" bIns="0" rtlCol="0" anchor="t"/>
          <a:lstStyle/>
          <a:p>
            <a:pPr algn="l" indent="0" marL="0">
              <a:buNone/>
            </a:pPr>
            <a:r>
              <a:rPr lang="en-US" sz="1000" b="1" dirty="0">
                <a:solidFill>
                  <a:srgbClr val="E9B221"/>
                </a:solidFill>
                <a:latin typeface="Calibri" pitchFamily="34" charset="0"/>
                <a:ea typeface="Calibri" pitchFamily="34" charset="-122"/>
                <a:cs typeface="Calibri" pitchFamily="34" charset="-120"/>
              </a:rPr>
              <a:t>Capstone sprint 3 and rehearsal</a:t>
            </a:r>
            <a:endParaRPr lang="en-US" sz="1000" dirty="0"/>
          </a:p>
        </p:txBody>
      </p:sp>
      <p:sp>
        <p:nvSpPr>
          <p:cNvPr id="93" name="anim:4 grad:navyCard"/>
          <p:cNvSpPr/>
          <p:nvPr/>
        </p:nvSpPr>
        <p:spPr>
          <a:xfrm>
            <a:off x="6876288" y="5102352"/>
            <a:ext cx="1536192" cy="987552"/>
          </a:xfrm>
          <a:prstGeom prst="roundRect">
            <a:avLst>
              <a:gd name="adj" fmla="val 5556"/>
            </a:avLst>
          </a:prstGeom>
          <a:gradFill rotWithShape="1">
            <a:gsLst>
              <a:gs pos="0">
                <a:srgbClr val="1E4A7E"/>
              </a:gs>
              <a:gs pos="100000">
                <a:srgbClr val="12325A"/>
              </a:gs>
            </a:gsLst>
            <a:lin ang="5400000" scaled="0"/>
          </a:gradFill>
          <a:ln w="9525">
            <a:solidFill>
              <a:srgbClr val="173A62"/>
            </a:solidFill>
            <a:prstDash val="solid"/>
          </a:ln>
          <a:effectLst>
            <a:outerShdw sx="100000" sy="100000" kx="0" ky="0" algn="bl" rotWithShape="0" blurRad="38100" dist="12700" dir="5400000">
              <a:srgbClr val="0A1E33">
                <a:alpha val="6000"/>
              </a:srgbClr>
            </a:outerShdw>
          </a:effectLst>
        </p:spPr>
        <p:txBody>
          <a:bodyPr/>
          <a:p/>
        </p:txBody>
      </p:sp>
      <p:sp>
        <p:nvSpPr>
          <p:cNvPr id="94" name="anim:4"/>
          <p:cNvSpPr txBox="1"/>
          <p:nvPr/>
        </p:nvSpPr>
        <p:spPr>
          <a:xfrm>
            <a:off x="6986016" y="5193792"/>
            <a:ext cx="1097280" cy="182880"/>
          </a:xfrm>
          <a:prstGeom prst="rect">
            <a:avLst/>
          </a:prstGeom>
          <a:noFill/>
          <a:ln/>
        </p:spPr>
        <p:txBody>
          <a:bodyPr wrap="square" lIns="0" tIns="0" rIns="0" bIns="0" rtlCol="0" anchor="t"/>
          <a:lstStyle/>
          <a:p>
            <a:pPr algn="l" indent="0" marL="0">
              <a:buNone/>
            </a:pPr>
            <a:r>
              <a:rPr lang="en-US" sz="750" b="1" spc="150" kern="0" dirty="0">
                <a:solidFill>
                  <a:srgbClr val="E9B221"/>
                </a:solidFill>
                <a:latin typeface="Calibri" pitchFamily="34" charset="0"/>
                <a:ea typeface="Calibri" pitchFamily="34" charset="-122"/>
                <a:cs typeface="Calibri" pitchFamily="34" charset="-120"/>
              </a:rPr>
              <a:t>WEEK 20</a:t>
            </a:r>
            <a:endParaRPr lang="en-US" sz="750" dirty="0"/>
          </a:p>
        </p:txBody>
      </p:sp>
      <p:sp>
        <p:nvSpPr>
          <p:cNvPr id="95" name="anim:4"/>
          <p:cNvSpPr txBox="1"/>
          <p:nvPr/>
        </p:nvSpPr>
        <p:spPr>
          <a:xfrm>
            <a:off x="6986016" y="5413248"/>
            <a:ext cx="1316736" cy="457200"/>
          </a:xfrm>
          <a:prstGeom prst="rect">
            <a:avLst/>
          </a:prstGeom>
          <a:noFill/>
          <a:ln/>
        </p:spPr>
        <p:txBody>
          <a:bodyPr wrap="square" lIns="0" tIns="0" rIns="0" bIns="0" rtlCol="0" anchor="t"/>
          <a:lstStyle/>
          <a:p>
            <a:pPr algn="l" indent="0" marL="0">
              <a:buNone/>
            </a:pPr>
            <a:r>
              <a:rPr lang="en-US" sz="1000" b="1" dirty="0">
                <a:solidFill>
                  <a:srgbClr val="E9B221"/>
                </a:solidFill>
                <a:latin typeface="Calibri" pitchFamily="34" charset="0"/>
                <a:ea typeface="Calibri" pitchFamily="34" charset="-122"/>
                <a:cs typeface="Calibri" pitchFamily="34" charset="-120"/>
              </a:rPr>
              <a:t>Capstone Demo Day and closing</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69" fill="hold">
                      <p:stCondLst>
                        <p:cond delay="indefinite"/>
                      </p:stCondLst>
                      <p:childTnLst>
                        <p:par>
                          <p:cTn id="7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par>
                                <p:cTn id="51" presetID="10" presetClass="entr" presetSubtype="0" fill="hold" grpId="0" nodeType="withEffect">
                                  <p:stCondLst>
                                    <p:cond delay="90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400"/>
                                        <p:tgtEl>
                                          <p:spTgt spid="37"/>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400"/>
                                        <p:tgtEl>
                                          <p:spTgt spid="38"/>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400"/>
                                        <p:tgtEl>
                                          <p:spTgt spid="39"/>
                                        </p:tgtEl>
                                      </p:cBhvr>
                                    </p:animEffect>
                                  </p:childTnLst>
                                </p:cTn>
                              </p:par>
                              <p:par>
                                <p:cTn id="60" presetID="10" presetClass="entr" presetSubtype="0" fill="hold" grpId="0" nodeType="withEffect">
                                  <p:stCondLst>
                                    <p:cond delay="90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400"/>
                                        <p:tgtEl>
                                          <p:spTgt spid="40"/>
                                        </p:tgtEl>
                                      </p:cBhvr>
                                    </p:animEffect>
                                  </p:childTnLst>
                                </p:cTn>
                              </p:par>
                              <p:par>
                                <p:cTn id="63" presetID="10" presetClass="entr" presetSubtype="0" fill="hold" grpId="0" nodeType="withEffect">
                                  <p:stCondLst>
                                    <p:cond delay="90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400"/>
                                        <p:tgtEl>
                                          <p:spTgt spid="41"/>
                                        </p:tgtEl>
                                      </p:cBhvr>
                                    </p:animEffect>
                                  </p:childTnLst>
                                </p:cTn>
                              </p:par>
                              <p:par>
                                <p:cTn id="66" presetID="10" presetClass="entr" presetSubtype="0" fill="hold" grpId="0" nodeType="withEffect">
                                  <p:stCondLst>
                                    <p:cond delay="90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400"/>
                                        <p:tgtEl>
                                          <p:spTgt spid="42"/>
                                        </p:tgtEl>
                                      </p:cBhvr>
                                    </p:animEffect>
                                  </p:childTnLst>
                                </p:cTn>
                              </p:par>
                            </p:childTnLst>
                          </p:cTn>
                        </p:par>
                      </p:childTnLst>
                    </p:cTn>
                  </p:par>
                  <p:par>
                    <p:cTn id="137" fill="hold">
                      <p:stCondLst>
                        <p:cond delay="indefinite"/>
                      </p:stCondLst>
                      <p:childTnLst>
                        <p:par>
                          <p:cTn id="138"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9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18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27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36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45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54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par>
                                <p:cTn id="92" presetID="10" presetClass="entr" presetSubtype="0" fill="hold" grpId="0" nodeType="withEffect">
                                  <p:stCondLst>
                                    <p:cond delay="63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400"/>
                                        <p:tgtEl>
                                          <p:spTgt spid="50"/>
                                        </p:tgtEl>
                                      </p:cBhvr>
                                    </p:animEffect>
                                  </p:childTnLst>
                                </p:cTn>
                              </p:par>
                              <p:par>
                                <p:cTn id="95" presetID="10" presetClass="entr" presetSubtype="0" fill="hold" grpId="0" nodeType="withEffect">
                                  <p:stCondLst>
                                    <p:cond delay="72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00"/>
                                        <p:tgtEl>
                                          <p:spTgt spid="51"/>
                                        </p:tgtEl>
                                      </p:cBhvr>
                                    </p:animEffect>
                                  </p:childTnLst>
                                </p:cTn>
                              </p:par>
                              <p:par>
                                <p:cTn id="98" presetID="10" presetClass="entr" presetSubtype="0" fill="hold" grpId="0" nodeType="withEffect">
                                  <p:stCondLst>
                                    <p:cond delay="81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400"/>
                                        <p:tgtEl>
                                          <p:spTgt spid="52"/>
                                        </p:tgtEl>
                                      </p:cBhvr>
                                    </p:animEffect>
                                  </p:childTnLst>
                                </p:cTn>
                              </p:par>
                              <p:par>
                                <p:cTn id="101" presetID="10" presetClass="entr" presetSubtype="0" fill="hold" grpId="0" nodeType="withEffect">
                                  <p:stCondLst>
                                    <p:cond delay="90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400"/>
                                        <p:tgtEl>
                                          <p:spTgt spid="53"/>
                                        </p:tgtEl>
                                      </p:cBhvr>
                                    </p:animEffect>
                                  </p:childTnLst>
                                </p:cTn>
                              </p:par>
                              <p:par>
                                <p:cTn id="104" presetID="10" presetClass="entr" presetSubtype="0" fill="hold" grpId="0" nodeType="withEffect">
                                  <p:stCondLst>
                                    <p:cond delay="900"/>
                                  </p:stCondLst>
                                  <p:childTnLst>
                                    <p:set>
                                      <p:cBhvr>
                                        <p:cTn id="105" dur="1" fill="hold">
                                          <p:stCondLst>
                                            <p:cond delay="0"/>
                                          </p:stCondLst>
                                        </p:cTn>
                                        <p:tgtEl>
                                          <p:spTgt spid="54"/>
                                        </p:tgtEl>
                                        <p:attrNameLst>
                                          <p:attrName>style.visibility</p:attrName>
                                        </p:attrNameLst>
                                      </p:cBhvr>
                                      <p:to>
                                        <p:strVal val="visible"/>
                                      </p:to>
                                    </p:set>
                                    <p:animEffect transition="in" filter="fade">
                                      <p:cBhvr>
                                        <p:cTn id="106" dur="400"/>
                                        <p:tgtEl>
                                          <p:spTgt spid="54"/>
                                        </p:tgtEl>
                                      </p:cBhvr>
                                    </p:animEffect>
                                  </p:childTnLst>
                                </p:cTn>
                              </p:par>
                              <p:par>
                                <p:cTn id="107" presetID="10" presetClass="entr" presetSubtype="0" fill="hold" grpId="0" nodeType="withEffect">
                                  <p:stCondLst>
                                    <p:cond delay="90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400"/>
                                        <p:tgtEl>
                                          <p:spTgt spid="55"/>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56"/>
                                        </p:tgtEl>
                                        <p:attrNameLst>
                                          <p:attrName>style.visibility</p:attrName>
                                        </p:attrNameLst>
                                      </p:cBhvr>
                                      <p:to>
                                        <p:strVal val="visible"/>
                                      </p:to>
                                    </p:set>
                                    <p:animEffect transition="in" filter="fade">
                                      <p:cBhvr>
                                        <p:cTn id="112" dur="400"/>
                                        <p:tgtEl>
                                          <p:spTgt spid="56"/>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400"/>
                                        <p:tgtEl>
                                          <p:spTgt spid="57"/>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58"/>
                                        </p:tgtEl>
                                        <p:attrNameLst>
                                          <p:attrName>style.visibility</p:attrName>
                                        </p:attrNameLst>
                                      </p:cBhvr>
                                      <p:to>
                                        <p:strVal val="visible"/>
                                      </p:to>
                                    </p:set>
                                    <p:animEffect transition="in" filter="fade">
                                      <p:cBhvr>
                                        <p:cTn id="118" dur="400"/>
                                        <p:tgtEl>
                                          <p:spTgt spid="58"/>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59"/>
                                        </p:tgtEl>
                                        <p:attrNameLst>
                                          <p:attrName>style.visibility</p:attrName>
                                        </p:attrNameLst>
                                      </p:cBhvr>
                                      <p:to>
                                        <p:strVal val="visible"/>
                                      </p:to>
                                    </p:set>
                                    <p:animEffect transition="in" filter="fade">
                                      <p:cBhvr>
                                        <p:cTn id="121" dur="400"/>
                                        <p:tgtEl>
                                          <p:spTgt spid="59"/>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60"/>
                                        </p:tgtEl>
                                        <p:attrNameLst>
                                          <p:attrName>style.visibility</p:attrName>
                                        </p:attrNameLst>
                                      </p:cBhvr>
                                      <p:to>
                                        <p:strVal val="visible"/>
                                      </p:to>
                                    </p:set>
                                    <p:animEffect transition="in" filter="fade">
                                      <p:cBhvr>
                                        <p:cTn id="124" dur="400"/>
                                        <p:tgtEl>
                                          <p:spTgt spid="60"/>
                                        </p:tgtEl>
                                      </p:cBhvr>
                                    </p:animEffect>
                                  </p:childTnLst>
                                </p:cTn>
                              </p:par>
                              <p:par>
                                <p:cTn id="125" presetID="10" presetClass="entr" presetSubtype="0" fill="hold" grpId="0" nodeType="withEffect">
                                  <p:stCondLst>
                                    <p:cond delay="900"/>
                                  </p:stCondLst>
                                  <p:childTnLst>
                                    <p:set>
                                      <p:cBhvr>
                                        <p:cTn id="126" dur="1" fill="hold">
                                          <p:stCondLst>
                                            <p:cond delay="0"/>
                                          </p:stCondLst>
                                        </p:cTn>
                                        <p:tgtEl>
                                          <p:spTgt spid="61"/>
                                        </p:tgtEl>
                                        <p:attrNameLst>
                                          <p:attrName>style.visibility</p:attrName>
                                        </p:attrNameLst>
                                      </p:cBhvr>
                                      <p:to>
                                        <p:strVal val="visible"/>
                                      </p:to>
                                    </p:set>
                                    <p:animEffect transition="in" filter="fade">
                                      <p:cBhvr>
                                        <p:cTn id="127" dur="400"/>
                                        <p:tgtEl>
                                          <p:spTgt spid="61"/>
                                        </p:tgtEl>
                                      </p:cBhvr>
                                    </p:animEffect>
                                  </p:childTnLst>
                                </p:cTn>
                              </p:par>
                              <p:par>
                                <p:cTn id="128" presetID="10" presetClass="entr" presetSubtype="0" fill="hold" grpId="0" nodeType="withEffect">
                                  <p:stCondLst>
                                    <p:cond delay="900"/>
                                  </p:stCondLst>
                                  <p:childTnLst>
                                    <p:set>
                                      <p:cBhvr>
                                        <p:cTn id="129" dur="1" fill="hold">
                                          <p:stCondLst>
                                            <p:cond delay="0"/>
                                          </p:stCondLst>
                                        </p:cTn>
                                        <p:tgtEl>
                                          <p:spTgt spid="62"/>
                                        </p:tgtEl>
                                        <p:attrNameLst>
                                          <p:attrName>style.visibility</p:attrName>
                                        </p:attrNameLst>
                                      </p:cBhvr>
                                      <p:to>
                                        <p:strVal val="visible"/>
                                      </p:to>
                                    </p:set>
                                    <p:animEffect transition="in" filter="fade">
                                      <p:cBhvr>
                                        <p:cTn id="130" dur="400"/>
                                        <p:tgtEl>
                                          <p:spTgt spid="62"/>
                                        </p:tgtEl>
                                      </p:cBhvr>
                                    </p:animEffect>
                                  </p:childTnLst>
                                </p:cTn>
                              </p:par>
                              <p:par>
                                <p:cTn id="131" presetID="10" presetClass="entr" presetSubtype="0" fill="hold" grpId="0" nodeType="withEffect">
                                  <p:stCondLst>
                                    <p:cond delay="900"/>
                                  </p:stCondLst>
                                  <p:childTnLst>
                                    <p:set>
                                      <p:cBhvr>
                                        <p:cTn id="132" dur="1" fill="hold">
                                          <p:stCondLst>
                                            <p:cond delay="0"/>
                                          </p:stCondLst>
                                        </p:cTn>
                                        <p:tgtEl>
                                          <p:spTgt spid="63"/>
                                        </p:tgtEl>
                                        <p:attrNameLst>
                                          <p:attrName>style.visibility</p:attrName>
                                        </p:attrNameLst>
                                      </p:cBhvr>
                                      <p:to>
                                        <p:strVal val="visible"/>
                                      </p:to>
                                    </p:set>
                                    <p:animEffect transition="in" filter="fade">
                                      <p:cBhvr>
                                        <p:cTn id="133" dur="400"/>
                                        <p:tgtEl>
                                          <p:spTgt spid="63"/>
                                        </p:tgtEl>
                                      </p:cBhvr>
                                    </p:animEffect>
                                  </p:childTnLst>
                                </p:cTn>
                              </p:par>
                              <p:par>
                                <p:cTn id="134" presetID="10" presetClass="entr" presetSubtype="0" fill="hold" grpId="0" nodeType="withEffect">
                                  <p:stCondLst>
                                    <p:cond delay="900"/>
                                  </p:stCondLst>
                                  <p:childTnLst>
                                    <p:set>
                                      <p:cBhvr>
                                        <p:cTn id="135" dur="1" fill="hold">
                                          <p:stCondLst>
                                            <p:cond delay="0"/>
                                          </p:stCondLst>
                                        </p:cTn>
                                        <p:tgtEl>
                                          <p:spTgt spid="64"/>
                                        </p:tgtEl>
                                        <p:attrNameLst>
                                          <p:attrName>style.visibility</p:attrName>
                                        </p:attrNameLst>
                                      </p:cBhvr>
                                      <p:to>
                                        <p:strVal val="visible"/>
                                      </p:to>
                                    </p:set>
                                    <p:animEffect transition="in" filter="fade">
                                      <p:cBhvr>
                                        <p:cTn id="136" dur="400"/>
                                        <p:tgtEl>
                                          <p:spTgt spid="64"/>
                                        </p:tgtEl>
                                      </p:cBhvr>
                                    </p:animEffect>
                                  </p:childTnLst>
                                </p:cTn>
                              </p:par>
                            </p:childTnLst>
                          </p:cTn>
                        </p:par>
                      </p:childTnLst>
                    </p:cTn>
                  </p:par>
                  <p:par>
                    <p:cTn id="187" fill="hold">
                      <p:stCondLst>
                        <p:cond delay="indefinite"/>
                      </p:stCondLst>
                      <p:childTnLst>
                        <p:par>
                          <p:cTn id="188" fill="hold">
                            <p:stCondLst>
                              <p:cond delay="0"/>
                            </p:stCondLst>
                            <p:childTnLst>
                              <p:par>
                                <p:cTn id="139" presetID="10" presetClass="entr" presetSubtype="0" fill="hold" grpId="0" nodeType="clickEffect">
                                  <p:stCondLst>
                                    <p:cond delay="0"/>
                                  </p:stCondLst>
                                  <p:childTnLst>
                                    <p:set>
                                      <p:cBhvr>
                                        <p:cTn id="140" dur="1" fill="hold">
                                          <p:stCondLst>
                                            <p:cond delay="0"/>
                                          </p:stCondLst>
                                        </p:cTn>
                                        <p:tgtEl>
                                          <p:spTgt spid="65"/>
                                        </p:tgtEl>
                                        <p:attrNameLst>
                                          <p:attrName>style.visibility</p:attrName>
                                        </p:attrNameLst>
                                      </p:cBhvr>
                                      <p:to>
                                        <p:strVal val="visible"/>
                                      </p:to>
                                    </p:set>
                                    <p:animEffect transition="in" filter="fade">
                                      <p:cBhvr>
                                        <p:cTn id="141" dur="400"/>
                                        <p:tgtEl>
                                          <p:spTgt spid="65"/>
                                        </p:tgtEl>
                                      </p:cBhvr>
                                    </p:animEffect>
                                  </p:childTnLst>
                                </p:cTn>
                              </p:par>
                              <p:par>
                                <p:cTn id="142" presetID="10" presetClass="entr" presetSubtype="0" fill="hold" grpId="0" nodeType="withEffect">
                                  <p:stCondLst>
                                    <p:cond delay="90"/>
                                  </p:stCondLst>
                                  <p:childTnLst>
                                    <p:set>
                                      <p:cBhvr>
                                        <p:cTn id="143" dur="1" fill="hold">
                                          <p:stCondLst>
                                            <p:cond delay="0"/>
                                          </p:stCondLst>
                                        </p:cTn>
                                        <p:tgtEl>
                                          <p:spTgt spid="66"/>
                                        </p:tgtEl>
                                        <p:attrNameLst>
                                          <p:attrName>style.visibility</p:attrName>
                                        </p:attrNameLst>
                                      </p:cBhvr>
                                      <p:to>
                                        <p:strVal val="visible"/>
                                      </p:to>
                                    </p:set>
                                    <p:animEffect transition="in" filter="fade">
                                      <p:cBhvr>
                                        <p:cTn id="144" dur="400"/>
                                        <p:tgtEl>
                                          <p:spTgt spid="66"/>
                                        </p:tgtEl>
                                      </p:cBhvr>
                                    </p:animEffect>
                                  </p:childTnLst>
                                </p:cTn>
                              </p:par>
                              <p:par>
                                <p:cTn id="145" presetID="10" presetClass="entr" presetSubtype="0" fill="hold" grpId="0" nodeType="withEffect">
                                  <p:stCondLst>
                                    <p:cond delay="180"/>
                                  </p:stCondLst>
                                  <p:childTnLst>
                                    <p:set>
                                      <p:cBhvr>
                                        <p:cTn id="146" dur="1" fill="hold">
                                          <p:stCondLst>
                                            <p:cond delay="0"/>
                                          </p:stCondLst>
                                        </p:cTn>
                                        <p:tgtEl>
                                          <p:spTgt spid="67"/>
                                        </p:tgtEl>
                                        <p:attrNameLst>
                                          <p:attrName>style.visibility</p:attrName>
                                        </p:attrNameLst>
                                      </p:cBhvr>
                                      <p:to>
                                        <p:strVal val="visible"/>
                                      </p:to>
                                    </p:set>
                                    <p:animEffect transition="in" filter="fade">
                                      <p:cBhvr>
                                        <p:cTn id="147" dur="400"/>
                                        <p:tgtEl>
                                          <p:spTgt spid="67"/>
                                        </p:tgtEl>
                                      </p:cBhvr>
                                    </p:animEffect>
                                  </p:childTnLst>
                                </p:cTn>
                              </p:par>
                              <p:par>
                                <p:cTn id="148" presetID="10" presetClass="entr" presetSubtype="0" fill="hold" grpId="0" nodeType="withEffect">
                                  <p:stCondLst>
                                    <p:cond delay="270"/>
                                  </p:stCondLst>
                                  <p:childTnLst>
                                    <p:set>
                                      <p:cBhvr>
                                        <p:cTn id="149" dur="1" fill="hold">
                                          <p:stCondLst>
                                            <p:cond delay="0"/>
                                          </p:stCondLst>
                                        </p:cTn>
                                        <p:tgtEl>
                                          <p:spTgt spid="68"/>
                                        </p:tgtEl>
                                        <p:attrNameLst>
                                          <p:attrName>style.visibility</p:attrName>
                                        </p:attrNameLst>
                                      </p:cBhvr>
                                      <p:to>
                                        <p:strVal val="visible"/>
                                      </p:to>
                                    </p:set>
                                    <p:animEffect transition="in" filter="fade">
                                      <p:cBhvr>
                                        <p:cTn id="150" dur="400"/>
                                        <p:tgtEl>
                                          <p:spTgt spid="68"/>
                                        </p:tgtEl>
                                      </p:cBhvr>
                                    </p:animEffect>
                                  </p:childTnLst>
                                </p:cTn>
                              </p:par>
                              <p:par>
                                <p:cTn id="151" presetID="10" presetClass="entr" presetSubtype="0" fill="hold" grpId="0" nodeType="withEffect">
                                  <p:stCondLst>
                                    <p:cond delay="360"/>
                                  </p:stCondLst>
                                  <p:childTnLst>
                                    <p:set>
                                      <p:cBhvr>
                                        <p:cTn id="152" dur="1" fill="hold">
                                          <p:stCondLst>
                                            <p:cond delay="0"/>
                                          </p:stCondLst>
                                        </p:cTn>
                                        <p:tgtEl>
                                          <p:spTgt spid="69"/>
                                        </p:tgtEl>
                                        <p:attrNameLst>
                                          <p:attrName>style.visibility</p:attrName>
                                        </p:attrNameLst>
                                      </p:cBhvr>
                                      <p:to>
                                        <p:strVal val="visible"/>
                                      </p:to>
                                    </p:set>
                                    <p:animEffect transition="in" filter="fade">
                                      <p:cBhvr>
                                        <p:cTn id="153" dur="400"/>
                                        <p:tgtEl>
                                          <p:spTgt spid="69"/>
                                        </p:tgtEl>
                                      </p:cBhvr>
                                    </p:animEffect>
                                  </p:childTnLst>
                                </p:cTn>
                              </p:par>
                              <p:par>
                                <p:cTn id="154" presetID="10" presetClass="entr" presetSubtype="0" fill="hold" grpId="0" nodeType="withEffect">
                                  <p:stCondLst>
                                    <p:cond delay="450"/>
                                  </p:stCondLst>
                                  <p:childTnLst>
                                    <p:set>
                                      <p:cBhvr>
                                        <p:cTn id="155" dur="1" fill="hold">
                                          <p:stCondLst>
                                            <p:cond delay="0"/>
                                          </p:stCondLst>
                                        </p:cTn>
                                        <p:tgtEl>
                                          <p:spTgt spid="70"/>
                                        </p:tgtEl>
                                        <p:attrNameLst>
                                          <p:attrName>style.visibility</p:attrName>
                                        </p:attrNameLst>
                                      </p:cBhvr>
                                      <p:to>
                                        <p:strVal val="visible"/>
                                      </p:to>
                                    </p:set>
                                    <p:animEffect transition="in" filter="fade">
                                      <p:cBhvr>
                                        <p:cTn id="156" dur="400"/>
                                        <p:tgtEl>
                                          <p:spTgt spid="70"/>
                                        </p:tgtEl>
                                      </p:cBhvr>
                                    </p:animEffect>
                                  </p:childTnLst>
                                </p:cTn>
                              </p:par>
                              <p:par>
                                <p:cTn id="157" presetID="10" presetClass="entr" presetSubtype="0" fill="hold" grpId="0" nodeType="withEffect">
                                  <p:stCondLst>
                                    <p:cond delay="540"/>
                                  </p:stCondLst>
                                  <p:childTnLst>
                                    <p:set>
                                      <p:cBhvr>
                                        <p:cTn id="158" dur="1" fill="hold">
                                          <p:stCondLst>
                                            <p:cond delay="0"/>
                                          </p:stCondLst>
                                        </p:cTn>
                                        <p:tgtEl>
                                          <p:spTgt spid="71"/>
                                        </p:tgtEl>
                                        <p:attrNameLst>
                                          <p:attrName>style.visibility</p:attrName>
                                        </p:attrNameLst>
                                      </p:cBhvr>
                                      <p:to>
                                        <p:strVal val="visible"/>
                                      </p:to>
                                    </p:set>
                                    <p:animEffect transition="in" filter="fade">
                                      <p:cBhvr>
                                        <p:cTn id="159" dur="400"/>
                                        <p:tgtEl>
                                          <p:spTgt spid="71"/>
                                        </p:tgtEl>
                                      </p:cBhvr>
                                    </p:animEffect>
                                  </p:childTnLst>
                                </p:cTn>
                              </p:par>
                              <p:par>
                                <p:cTn id="160" presetID="10" presetClass="entr" presetSubtype="0" fill="hold" grpId="0" nodeType="withEffect">
                                  <p:stCondLst>
                                    <p:cond delay="630"/>
                                  </p:stCondLst>
                                  <p:childTnLst>
                                    <p:set>
                                      <p:cBhvr>
                                        <p:cTn id="161" dur="1" fill="hold">
                                          <p:stCondLst>
                                            <p:cond delay="0"/>
                                          </p:stCondLst>
                                        </p:cTn>
                                        <p:tgtEl>
                                          <p:spTgt spid="72"/>
                                        </p:tgtEl>
                                        <p:attrNameLst>
                                          <p:attrName>style.visibility</p:attrName>
                                        </p:attrNameLst>
                                      </p:cBhvr>
                                      <p:to>
                                        <p:strVal val="visible"/>
                                      </p:to>
                                    </p:set>
                                    <p:animEffect transition="in" filter="fade">
                                      <p:cBhvr>
                                        <p:cTn id="162" dur="400"/>
                                        <p:tgtEl>
                                          <p:spTgt spid="72"/>
                                        </p:tgtEl>
                                      </p:cBhvr>
                                    </p:animEffect>
                                  </p:childTnLst>
                                </p:cTn>
                              </p:par>
                              <p:par>
                                <p:cTn id="163" presetID="10" presetClass="entr" presetSubtype="0" fill="hold" grpId="0" nodeType="withEffect">
                                  <p:stCondLst>
                                    <p:cond delay="720"/>
                                  </p:stCondLst>
                                  <p:childTnLst>
                                    <p:set>
                                      <p:cBhvr>
                                        <p:cTn id="164" dur="1" fill="hold">
                                          <p:stCondLst>
                                            <p:cond delay="0"/>
                                          </p:stCondLst>
                                        </p:cTn>
                                        <p:tgtEl>
                                          <p:spTgt spid="73"/>
                                        </p:tgtEl>
                                        <p:attrNameLst>
                                          <p:attrName>style.visibility</p:attrName>
                                        </p:attrNameLst>
                                      </p:cBhvr>
                                      <p:to>
                                        <p:strVal val="visible"/>
                                      </p:to>
                                    </p:set>
                                    <p:animEffect transition="in" filter="fade">
                                      <p:cBhvr>
                                        <p:cTn id="165" dur="400"/>
                                        <p:tgtEl>
                                          <p:spTgt spid="73"/>
                                        </p:tgtEl>
                                      </p:cBhvr>
                                    </p:animEffect>
                                  </p:childTnLst>
                                </p:cTn>
                              </p:par>
                              <p:par>
                                <p:cTn id="166" presetID="10" presetClass="entr" presetSubtype="0" fill="hold" grpId="0" nodeType="withEffect">
                                  <p:stCondLst>
                                    <p:cond delay="810"/>
                                  </p:stCondLst>
                                  <p:childTnLst>
                                    <p:set>
                                      <p:cBhvr>
                                        <p:cTn id="167" dur="1" fill="hold">
                                          <p:stCondLst>
                                            <p:cond delay="0"/>
                                          </p:stCondLst>
                                        </p:cTn>
                                        <p:tgtEl>
                                          <p:spTgt spid="74"/>
                                        </p:tgtEl>
                                        <p:attrNameLst>
                                          <p:attrName>style.visibility</p:attrName>
                                        </p:attrNameLst>
                                      </p:cBhvr>
                                      <p:to>
                                        <p:strVal val="visible"/>
                                      </p:to>
                                    </p:set>
                                    <p:animEffect transition="in" filter="fade">
                                      <p:cBhvr>
                                        <p:cTn id="168" dur="400"/>
                                        <p:tgtEl>
                                          <p:spTgt spid="74"/>
                                        </p:tgtEl>
                                      </p:cBhvr>
                                    </p:animEffect>
                                  </p:childTnLst>
                                </p:cTn>
                              </p:par>
                              <p:par>
                                <p:cTn id="169" presetID="10" presetClass="entr" presetSubtype="0" fill="hold" grpId="0" nodeType="withEffect">
                                  <p:stCondLst>
                                    <p:cond delay="900"/>
                                  </p:stCondLst>
                                  <p:childTnLst>
                                    <p:set>
                                      <p:cBhvr>
                                        <p:cTn id="170" dur="1" fill="hold">
                                          <p:stCondLst>
                                            <p:cond delay="0"/>
                                          </p:stCondLst>
                                        </p:cTn>
                                        <p:tgtEl>
                                          <p:spTgt spid="75"/>
                                        </p:tgtEl>
                                        <p:attrNameLst>
                                          <p:attrName>style.visibility</p:attrName>
                                        </p:attrNameLst>
                                      </p:cBhvr>
                                      <p:to>
                                        <p:strVal val="visible"/>
                                      </p:to>
                                    </p:set>
                                    <p:animEffect transition="in" filter="fade">
                                      <p:cBhvr>
                                        <p:cTn id="171" dur="400"/>
                                        <p:tgtEl>
                                          <p:spTgt spid="75"/>
                                        </p:tgtEl>
                                      </p:cBhvr>
                                    </p:animEffect>
                                  </p:childTnLst>
                                </p:cTn>
                              </p:par>
                              <p:par>
                                <p:cTn id="172" presetID="10" presetClass="entr" presetSubtype="0" fill="hold" grpId="0" nodeType="withEffect">
                                  <p:stCondLst>
                                    <p:cond delay="900"/>
                                  </p:stCondLst>
                                  <p:childTnLst>
                                    <p:set>
                                      <p:cBhvr>
                                        <p:cTn id="173" dur="1" fill="hold">
                                          <p:stCondLst>
                                            <p:cond delay="0"/>
                                          </p:stCondLst>
                                        </p:cTn>
                                        <p:tgtEl>
                                          <p:spTgt spid="76"/>
                                        </p:tgtEl>
                                        <p:attrNameLst>
                                          <p:attrName>style.visibility</p:attrName>
                                        </p:attrNameLst>
                                      </p:cBhvr>
                                      <p:to>
                                        <p:strVal val="visible"/>
                                      </p:to>
                                    </p:set>
                                    <p:animEffect transition="in" filter="fade">
                                      <p:cBhvr>
                                        <p:cTn id="174" dur="400"/>
                                        <p:tgtEl>
                                          <p:spTgt spid="76"/>
                                        </p:tgtEl>
                                      </p:cBhvr>
                                    </p:animEffect>
                                  </p:childTnLst>
                                </p:cTn>
                              </p:par>
                              <p:par>
                                <p:cTn id="175" presetID="10" presetClass="entr" presetSubtype="0" fill="hold" grpId="0" nodeType="withEffect">
                                  <p:stCondLst>
                                    <p:cond delay="900"/>
                                  </p:stCondLst>
                                  <p:childTnLst>
                                    <p:set>
                                      <p:cBhvr>
                                        <p:cTn id="176" dur="1" fill="hold">
                                          <p:stCondLst>
                                            <p:cond delay="0"/>
                                          </p:stCondLst>
                                        </p:cTn>
                                        <p:tgtEl>
                                          <p:spTgt spid="77"/>
                                        </p:tgtEl>
                                        <p:attrNameLst>
                                          <p:attrName>style.visibility</p:attrName>
                                        </p:attrNameLst>
                                      </p:cBhvr>
                                      <p:to>
                                        <p:strVal val="visible"/>
                                      </p:to>
                                    </p:set>
                                    <p:animEffect transition="in" filter="fade">
                                      <p:cBhvr>
                                        <p:cTn id="177" dur="400"/>
                                        <p:tgtEl>
                                          <p:spTgt spid="77"/>
                                        </p:tgtEl>
                                      </p:cBhvr>
                                    </p:animEffect>
                                  </p:childTnLst>
                                </p:cTn>
                              </p:par>
                              <p:par>
                                <p:cTn id="178" presetID="10" presetClass="entr" presetSubtype="0" fill="hold" grpId="0" nodeType="withEffect">
                                  <p:stCondLst>
                                    <p:cond delay="900"/>
                                  </p:stCondLst>
                                  <p:childTnLst>
                                    <p:set>
                                      <p:cBhvr>
                                        <p:cTn id="179" dur="1" fill="hold">
                                          <p:stCondLst>
                                            <p:cond delay="0"/>
                                          </p:stCondLst>
                                        </p:cTn>
                                        <p:tgtEl>
                                          <p:spTgt spid="78"/>
                                        </p:tgtEl>
                                        <p:attrNameLst>
                                          <p:attrName>style.visibility</p:attrName>
                                        </p:attrNameLst>
                                      </p:cBhvr>
                                      <p:to>
                                        <p:strVal val="visible"/>
                                      </p:to>
                                    </p:set>
                                    <p:animEffect transition="in" filter="fade">
                                      <p:cBhvr>
                                        <p:cTn id="180" dur="400"/>
                                        <p:tgtEl>
                                          <p:spTgt spid="78"/>
                                        </p:tgtEl>
                                      </p:cBhvr>
                                    </p:animEffect>
                                  </p:childTnLst>
                                </p:cTn>
                              </p:par>
                              <p:par>
                                <p:cTn id="181" presetID="10" presetClass="entr" presetSubtype="0" fill="hold" grpId="0" nodeType="withEffect">
                                  <p:stCondLst>
                                    <p:cond delay="900"/>
                                  </p:stCondLst>
                                  <p:childTnLst>
                                    <p:set>
                                      <p:cBhvr>
                                        <p:cTn id="182" dur="1" fill="hold">
                                          <p:stCondLst>
                                            <p:cond delay="0"/>
                                          </p:stCondLst>
                                        </p:cTn>
                                        <p:tgtEl>
                                          <p:spTgt spid="79"/>
                                        </p:tgtEl>
                                        <p:attrNameLst>
                                          <p:attrName>style.visibility</p:attrName>
                                        </p:attrNameLst>
                                      </p:cBhvr>
                                      <p:to>
                                        <p:strVal val="visible"/>
                                      </p:to>
                                    </p:set>
                                    <p:animEffect transition="in" filter="fade">
                                      <p:cBhvr>
                                        <p:cTn id="183" dur="400"/>
                                        <p:tgtEl>
                                          <p:spTgt spid="79"/>
                                        </p:tgtEl>
                                      </p:cBhvr>
                                    </p:animEffect>
                                  </p:childTnLst>
                                </p:cTn>
                              </p:par>
                              <p:par>
                                <p:cTn id="184" presetID="10" presetClass="entr" presetSubtype="0" fill="hold" grpId="0" nodeType="withEffect">
                                  <p:stCondLst>
                                    <p:cond delay="900"/>
                                  </p:stCondLst>
                                  <p:childTnLst>
                                    <p:set>
                                      <p:cBhvr>
                                        <p:cTn id="185" dur="1" fill="hold">
                                          <p:stCondLst>
                                            <p:cond delay="0"/>
                                          </p:stCondLst>
                                        </p:cTn>
                                        <p:tgtEl>
                                          <p:spTgt spid="80"/>
                                        </p:tgtEl>
                                        <p:attrNameLst>
                                          <p:attrName>style.visibility</p:attrName>
                                        </p:attrNameLst>
                                      </p:cBhvr>
                                      <p:to>
                                        <p:strVal val="visible"/>
                                      </p:to>
                                    </p:set>
                                    <p:animEffect transition="in" filter="fade">
                                      <p:cBhvr>
                                        <p:cTn id="186" dur="400"/>
                                        <p:tgtEl>
                                          <p:spTgt spid="80"/>
                                        </p:tgtEl>
                                      </p:cBhvr>
                                    </p:animEffect>
                                  </p:childTnLst>
                                </p:cTn>
                              </p:par>
                            </p:childTnLst>
                          </p:cTn>
                        </p:par>
                      </p:childTnLst>
                    </p:cTn>
                  </p:par>
                  <p:par>
                    <p:cTn id="234" fill="hold">
                      <p:stCondLst>
                        <p:cond delay="indefinite"/>
                      </p:stCondLst>
                      <p:childTnLst>
                        <p:par>
                          <p:cTn id="235" fill="hold">
                            <p:stCondLst>
                              <p:cond delay="0"/>
                            </p:stCondLst>
                            <p:childTnLst>
                              <p:par>
                                <p:cTn id="189" presetID="10" presetClass="entr" presetSubtype="0" fill="hold" grpId="0" nodeType="clickEffect">
                                  <p:stCondLst>
                                    <p:cond delay="0"/>
                                  </p:stCondLst>
                                  <p:childTnLst>
                                    <p:set>
                                      <p:cBhvr>
                                        <p:cTn id="190" dur="1" fill="hold">
                                          <p:stCondLst>
                                            <p:cond delay="0"/>
                                          </p:stCondLst>
                                        </p:cTn>
                                        <p:tgtEl>
                                          <p:spTgt spid="81"/>
                                        </p:tgtEl>
                                        <p:attrNameLst>
                                          <p:attrName>style.visibility</p:attrName>
                                        </p:attrNameLst>
                                      </p:cBhvr>
                                      <p:to>
                                        <p:strVal val="visible"/>
                                      </p:to>
                                    </p:set>
                                    <p:animEffect transition="in" filter="fade">
                                      <p:cBhvr>
                                        <p:cTn id="191" dur="400"/>
                                        <p:tgtEl>
                                          <p:spTgt spid="81"/>
                                        </p:tgtEl>
                                      </p:cBhvr>
                                    </p:animEffect>
                                  </p:childTnLst>
                                </p:cTn>
                              </p:par>
                              <p:par>
                                <p:cTn id="192" presetID="10" presetClass="entr" presetSubtype="0" fill="hold" grpId="0" nodeType="withEffect">
                                  <p:stCondLst>
                                    <p:cond delay="90"/>
                                  </p:stCondLst>
                                  <p:childTnLst>
                                    <p:set>
                                      <p:cBhvr>
                                        <p:cTn id="193" dur="1" fill="hold">
                                          <p:stCondLst>
                                            <p:cond delay="0"/>
                                          </p:stCondLst>
                                        </p:cTn>
                                        <p:tgtEl>
                                          <p:spTgt spid="82"/>
                                        </p:tgtEl>
                                        <p:attrNameLst>
                                          <p:attrName>style.visibility</p:attrName>
                                        </p:attrNameLst>
                                      </p:cBhvr>
                                      <p:to>
                                        <p:strVal val="visible"/>
                                      </p:to>
                                    </p:set>
                                    <p:animEffect transition="in" filter="fade">
                                      <p:cBhvr>
                                        <p:cTn id="194" dur="400"/>
                                        <p:tgtEl>
                                          <p:spTgt spid="82"/>
                                        </p:tgtEl>
                                      </p:cBhvr>
                                    </p:animEffect>
                                  </p:childTnLst>
                                </p:cTn>
                              </p:par>
                              <p:par>
                                <p:cTn id="195" presetID="10" presetClass="entr" presetSubtype="0" fill="hold" grpId="0" nodeType="withEffect">
                                  <p:stCondLst>
                                    <p:cond delay="180"/>
                                  </p:stCondLst>
                                  <p:childTnLst>
                                    <p:set>
                                      <p:cBhvr>
                                        <p:cTn id="196" dur="1" fill="hold">
                                          <p:stCondLst>
                                            <p:cond delay="0"/>
                                          </p:stCondLst>
                                        </p:cTn>
                                        <p:tgtEl>
                                          <p:spTgt spid="83"/>
                                        </p:tgtEl>
                                        <p:attrNameLst>
                                          <p:attrName>style.visibility</p:attrName>
                                        </p:attrNameLst>
                                      </p:cBhvr>
                                      <p:to>
                                        <p:strVal val="visible"/>
                                      </p:to>
                                    </p:set>
                                    <p:animEffect transition="in" filter="fade">
                                      <p:cBhvr>
                                        <p:cTn id="197" dur="400"/>
                                        <p:tgtEl>
                                          <p:spTgt spid="83"/>
                                        </p:tgtEl>
                                      </p:cBhvr>
                                    </p:animEffect>
                                  </p:childTnLst>
                                </p:cTn>
                              </p:par>
                              <p:par>
                                <p:cTn id="198" presetID="10" presetClass="entr" presetSubtype="0" fill="hold" grpId="0" nodeType="withEffect">
                                  <p:stCondLst>
                                    <p:cond delay="270"/>
                                  </p:stCondLst>
                                  <p:childTnLst>
                                    <p:set>
                                      <p:cBhvr>
                                        <p:cTn id="199" dur="1" fill="hold">
                                          <p:stCondLst>
                                            <p:cond delay="0"/>
                                          </p:stCondLst>
                                        </p:cTn>
                                        <p:tgtEl>
                                          <p:spTgt spid="84"/>
                                        </p:tgtEl>
                                        <p:attrNameLst>
                                          <p:attrName>style.visibility</p:attrName>
                                        </p:attrNameLst>
                                      </p:cBhvr>
                                      <p:to>
                                        <p:strVal val="visible"/>
                                      </p:to>
                                    </p:set>
                                    <p:animEffect transition="in" filter="fade">
                                      <p:cBhvr>
                                        <p:cTn id="200" dur="400"/>
                                        <p:tgtEl>
                                          <p:spTgt spid="84"/>
                                        </p:tgtEl>
                                      </p:cBhvr>
                                    </p:animEffect>
                                  </p:childTnLst>
                                </p:cTn>
                              </p:par>
                              <p:par>
                                <p:cTn id="201" presetID="10" presetClass="entr" presetSubtype="0" fill="hold" grpId="0" nodeType="withEffect">
                                  <p:stCondLst>
                                    <p:cond delay="360"/>
                                  </p:stCondLst>
                                  <p:childTnLst>
                                    <p:set>
                                      <p:cBhvr>
                                        <p:cTn id="202" dur="1" fill="hold">
                                          <p:stCondLst>
                                            <p:cond delay="0"/>
                                          </p:stCondLst>
                                        </p:cTn>
                                        <p:tgtEl>
                                          <p:spTgt spid="85"/>
                                        </p:tgtEl>
                                        <p:attrNameLst>
                                          <p:attrName>style.visibility</p:attrName>
                                        </p:attrNameLst>
                                      </p:cBhvr>
                                      <p:to>
                                        <p:strVal val="visible"/>
                                      </p:to>
                                    </p:set>
                                    <p:animEffect transition="in" filter="fade">
                                      <p:cBhvr>
                                        <p:cTn id="203" dur="400"/>
                                        <p:tgtEl>
                                          <p:spTgt spid="85"/>
                                        </p:tgtEl>
                                      </p:cBhvr>
                                    </p:animEffect>
                                  </p:childTnLst>
                                </p:cTn>
                              </p:par>
                              <p:par>
                                <p:cTn id="204" presetID="10" presetClass="entr" presetSubtype="0" fill="hold" grpId="0" nodeType="withEffect">
                                  <p:stCondLst>
                                    <p:cond delay="450"/>
                                  </p:stCondLst>
                                  <p:childTnLst>
                                    <p:set>
                                      <p:cBhvr>
                                        <p:cTn id="205" dur="1" fill="hold">
                                          <p:stCondLst>
                                            <p:cond delay="0"/>
                                          </p:stCondLst>
                                        </p:cTn>
                                        <p:tgtEl>
                                          <p:spTgt spid="86"/>
                                        </p:tgtEl>
                                        <p:attrNameLst>
                                          <p:attrName>style.visibility</p:attrName>
                                        </p:attrNameLst>
                                      </p:cBhvr>
                                      <p:to>
                                        <p:strVal val="visible"/>
                                      </p:to>
                                    </p:set>
                                    <p:animEffect transition="in" filter="fade">
                                      <p:cBhvr>
                                        <p:cTn id="206" dur="400"/>
                                        <p:tgtEl>
                                          <p:spTgt spid="86"/>
                                        </p:tgtEl>
                                      </p:cBhvr>
                                    </p:animEffect>
                                  </p:childTnLst>
                                </p:cTn>
                              </p:par>
                              <p:par>
                                <p:cTn id="207" presetID="10" presetClass="entr" presetSubtype="0" fill="hold" grpId="0" nodeType="withEffect">
                                  <p:stCondLst>
                                    <p:cond delay="540"/>
                                  </p:stCondLst>
                                  <p:childTnLst>
                                    <p:set>
                                      <p:cBhvr>
                                        <p:cTn id="208" dur="1" fill="hold">
                                          <p:stCondLst>
                                            <p:cond delay="0"/>
                                          </p:stCondLst>
                                        </p:cTn>
                                        <p:tgtEl>
                                          <p:spTgt spid="87"/>
                                        </p:tgtEl>
                                        <p:attrNameLst>
                                          <p:attrName>style.visibility</p:attrName>
                                        </p:attrNameLst>
                                      </p:cBhvr>
                                      <p:to>
                                        <p:strVal val="visible"/>
                                      </p:to>
                                    </p:set>
                                    <p:animEffect transition="in" filter="fade">
                                      <p:cBhvr>
                                        <p:cTn id="209" dur="400"/>
                                        <p:tgtEl>
                                          <p:spTgt spid="87"/>
                                        </p:tgtEl>
                                      </p:cBhvr>
                                    </p:animEffect>
                                  </p:childTnLst>
                                </p:cTn>
                              </p:par>
                              <p:par>
                                <p:cTn id="210" presetID="10" presetClass="entr" presetSubtype="0" fill="hold" grpId="0" nodeType="withEffect">
                                  <p:stCondLst>
                                    <p:cond delay="630"/>
                                  </p:stCondLst>
                                  <p:childTnLst>
                                    <p:set>
                                      <p:cBhvr>
                                        <p:cTn id="211" dur="1" fill="hold">
                                          <p:stCondLst>
                                            <p:cond delay="0"/>
                                          </p:stCondLst>
                                        </p:cTn>
                                        <p:tgtEl>
                                          <p:spTgt spid="88"/>
                                        </p:tgtEl>
                                        <p:attrNameLst>
                                          <p:attrName>style.visibility</p:attrName>
                                        </p:attrNameLst>
                                      </p:cBhvr>
                                      <p:to>
                                        <p:strVal val="visible"/>
                                      </p:to>
                                    </p:set>
                                    <p:animEffect transition="in" filter="fade">
                                      <p:cBhvr>
                                        <p:cTn id="212" dur="400"/>
                                        <p:tgtEl>
                                          <p:spTgt spid="88"/>
                                        </p:tgtEl>
                                      </p:cBhvr>
                                    </p:animEffect>
                                  </p:childTnLst>
                                </p:cTn>
                              </p:par>
                              <p:par>
                                <p:cTn id="213" presetID="10" presetClass="entr" presetSubtype="0" fill="hold" grpId="0" nodeType="withEffect">
                                  <p:stCondLst>
                                    <p:cond delay="720"/>
                                  </p:stCondLst>
                                  <p:childTnLst>
                                    <p:set>
                                      <p:cBhvr>
                                        <p:cTn id="214" dur="1" fill="hold">
                                          <p:stCondLst>
                                            <p:cond delay="0"/>
                                          </p:stCondLst>
                                        </p:cTn>
                                        <p:tgtEl>
                                          <p:spTgt spid="89"/>
                                        </p:tgtEl>
                                        <p:attrNameLst>
                                          <p:attrName>style.visibility</p:attrName>
                                        </p:attrNameLst>
                                      </p:cBhvr>
                                      <p:to>
                                        <p:strVal val="visible"/>
                                      </p:to>
                                    </p:set>
                                    <p:animEffect transition="in" filter="fade">
                                      <p:cBhvr>
                                        <p:cTn id="215" dur="400"/>
                                        <p:tgtEl>
                                          <p:spTgt spid="89"/>
                                        </p:tgtEl>
                                      </p:cBhvr>
                                    </p:animEffect>
                                  </p:childTnLst>
                                </p:cTn>
                              </p:par>
                              <p:par>
                                <p:cTn id="216" presetID="10" presetClass="entr" presetSubtype="0" fill="hold" grpId="0" nodeType="withEffect">
                                  <p:stCondLst>
                                    <p:cond delay="810"/>
                                  </p:stCondLst>
                                  <p:childTnLst>
                                    <p:set>
                                      <p:cBhvr>
                                        <p:cTn id="217" dur="1" fill="hold">
                                          <p:stCondLst>
                                            <p:cond delay="0"/>
                                          </p:stCondLst>
                                        </p:cTn>
                                        <p:tgtEl>
                                          <p:spTgt spid="90"/>
                                        </p:tgtEl>
                                        <p:attrNameLst>
                                          <p:attrName>style.visibility</p:attrName>
                                        </p:attrNameLst>
                                      </p:cBhvr>
                                      <p:to>
                                        <p:strVal val="visible"/>
                                      </p:to>
                                    </p:set>
                                    <p:animEffect transition="in" filter="fade">
                                      <p:cBhvr>
                                        <p:cTn id="218" dur="400"/>
                                        <p:tgtEl>
                                          <p:spTgt spid="90"/>
                                        </p:tgtEl>
                                      </p:cBhvr>
                                    </p:animEffect>
                                  </p:childTnLst>
                                </p:cTn>
                              </p:par>
                              <p:par>
                                <p:cTn id="219" presetID="10" presetClass="entr" presetSubtype="0" fill="hold" grpId="0" nodeType="withEffect">
                                  <p:stCondLst>
                                    <p:cond delay="900"/>
                                  </p:stCondLst>
                                  <p:childTnLst>
                                    <p:set>
                                      <p:cBhvr>
                                        <p:cTn id="220" dur="1" fill="hold">
                                          <p:stCondLst>
                                            <p:cond delay="0"/>
                                          </p:stCondLst>
                                        </p:cTn>
                                        <p:tgtEl>
                                          <p:spTgt spid="91"/>
                                        </p:tgtEl>
                                        <p:attrNameLst>
                                          <p:attrName>style.visibility</p:attrName>
                                        </p:attrNameLst>
                                      </p:cBhvr>
                                      <p:to>
                                        <p:strVal val="visible"/>
                                      </p:to>
                                    </p:set>
                                    <p:animEffect transition="in" filter="fade">
                                      <p:cBhvr>
                                        <p:cTn id="221" dur="400"/>
                                        <p:tgtEl>
                                          <p:spTgt spid="91"/>
                                        </p:tgtEl>
                                      </p:cBhvr>
                                    </p:animEffect>
                                  </p:childTnLst>
                                </p:cTn>
                              </p:par>
                              <p:par>
                                <p:cTn id="222" presetID="10" presetClass="entr" presetSubtype="0" fill="hold" grpId="0" nodeType="withEffect">
                                  <p:stCondLst>
                                    <p:cond delay="900"/>
                                  </p:stCondLst>
                                  <p:childTnLst>
                                    <p:set>
                                      <p:cBhvr>
                                        <p:cTn id="223" dur="1" fill="hold">
                                          <p:stCondLst>
                                            <p:cond delay="0"/>
                                          </p:stCondLst>
                                        </p:cTn>
                                        <p:tgtEl>
                                          <p:spTgt spid="92"/>
                                        </p:tgtEl>
                                        <p:attrNameLst>
                                          <p:attrName>style.visibility</p:attrName>
                                        </p:attrNameLst>
                                      </p:cBhvr>
                                      <p:to>
                                        <p:strVal val="visible"/>
                                      </p:to>
                                    </p:set>
                                    <p:animEffect transition="in" filter="fade">
                                      <p:cBhvr>
                                        <p:cTn id="224" dur="400"/>
                                        <p:tgtEl>
                                          <p:spTgt spid="92"/>
                                        </p:tgtEl>
                                      </p:cBhvr>
                                    </p:animEffect>
                                  </p:childTnLst>
                                </p:cTn>
                              </p:par>
                              <p:par>
                                <p:cTn id="225" presetID="10" presetClass="entr" presetSubtype="0" fill="hold" grpId="0" nodeType="withEffect">
                                  <p:stCondLst>
                                    <p:cond delay="900"/>
                                  </p:stCondLst>
                                  <p:childTnLst>
                                    <p:set>
                                      <p:cBhvr>
                                        <p:cTn id="226" dur="1" fill="hold">
                                          <p:stCondLst>
                                            <p:cond delay="0"/>
                                          </p:stCondLst>
                                        </p:cTn>
                                        <p:tgtEl>
                                          <p:spTgt spid="93"/>
                                        </p:tgtEl>
                                        <p:attrNameLst>
                                          <p:attrName>style.visibility</p:attrName>
                                        </p:attrNameLst>
                                      </p:cBhvr>
                                      <p:to>
                                        <p:strVal val="visible"/>
                                      </p:to>
                                    </p:set>
                                    <p:animEffect transition="in" filter="fade">
                                      <p:cBhvr>
                                        <p:cTn id="227" dur="400"/>
                                        <p:tgtEl>
                                          <p:spTgt spid="93"/>
                                        </p:tgtEl>
                                      </p:cBhvr>
                                    </p:animEffect>
                                  </p:childTnLst>
                                </p:cTn>
                              </p:par>
                              <p:par>
                                <p:cTn id="228" presetID="10" presetClass="entr" presetSubtype="0" fill="hold" grpId="0" nodeType="withEffect">
                                  <p:stCondLst>
                                    <p:cond delay="900"/>
                                  </p:stCondLst>
                                  <p:childTnLst>
                                    <p:set>
                                      <p:cBhvr>
                                        <p:cTn id="229" dur="1" fill="hold">
                                          <p:stCondLst>
                                            <p:cond delay="0"/>
                                          </p:stCondLst>
                                        </p:cTn>
                                        <p:tgtEl>
                                          <p:spTgt spid="94"/>
                                        </p:tgtEl>
                                        <p:attrNameLst>
                                          <p:attrName>style.visibility</p:attrName>
                                        </p:attrNameLst>
                                      </p:cBhvr>
                                      <p:to>
                                        <p:strVal val="visible"/>
                                      </p:to>
                                    </p:set>
                                    <p:animEffect transition="in" filter="fade">
                                      <p:cBhvr>
                                        <p:cTn id="230" dur="400"/>
                                        <p:tgtEl>
                                          <p:spTgt spid="94"/>
                                        </p:tgtEl>
                                      </p:cBhvr>
                                    </p:animEffect>
                                  </p:childTnLst>
                                </p:cTn>
                              </p:par>
                              <p:par>
                                <p:cTn id="231" presetID="10" presetClass="entr" presetSubtype="0" fill="hold" grpId="0" nodeType="withEffect">
                                  <p:stCondLst>
                                    <p:cond delay="900"/>
                                  </p:stCondLst>
                                  <p:childTnLst>
                                    <p:set>
                                      <p:cBhvr>
                                        <p:cTn id="232" dur="1" fill="hold">
                                          <p:stCondLst>
                                            <p:cond delay="0"/>
                                          </p:stCondLst>
                                        </p:cTn>
                                        <p:tgtEl>
                                          <p:spTgt spid="95"/>
                                        </p:tgtEl>
                                        <p:attrNameLst>
                                          <p:attrName>style.visibility</p:attrName>
                                        </p:attrNameLst>
                                      </p:cBhvr>
                                      <p:to>
                                        <p:strVal val="visible"/>
                                      </p:to>
                                    </p:set>
                                    <p:animEffect transition="in" filter="fade">
                                      <p:cBhvr>
                                        <p:cTn id="233" dur="4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11</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007DB6"/>
          </a:solidFill>
          <a:ln w="12700">
            <a:solidFill>
              <a:srgbClr val="007DB6"/>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Ten modules, thirty-three credits</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Bar length is the credit weight. Every graded event posts in full to exactly one module.</a:t>
            </a:r>
            <a:endParaRPr lang="en-US" sz="1250" dirty="0"/>
          </a:p>
        </p:txBody>
      </p:sp>
      <p:sp>
        <p:nvSpPr>
          <p:cNvPr id="21" name="anim:1"/>
          <p:cNvSpPr txBox="1"/>
          <p:nvPr/>
        </p:nvSpPr>
        <p:spPr>
          <a:xfrm>
            <a:off x="548640" y="1783080"/>
            <a:ext cx="411480" cy="402336"/>
          </a:xfrm>
          <a:prstGeom prst="rect">
            <a:avLst/>
          </a:prstGeom>
          <a:noFill/>
          <a:ln/>
        </p:spPr>
        <p:txBody>
          <a:bodyPr wrap="square" lIns="0" tIns="0" rIns="0" bIns="0" rtlCol="0" anchor="ctr"/>
          <a:lstStyle/>
          <a:p>
            <a:pPr algn="l" indent="0" marL="0">
              <a:buNone/>
            </a:pPr>
            <a:r>
              <a:rPr lang="en-US" sz="1200" b="1" dirty="0">
                <a:solidFill>
                  <a:srgbClr val="007DB6"/>
                </a:solidFill>
                <a:latin typeface="Calibri" pitchFamily="34" charset="0"/>
                <a:ea typeface="Calibri" pitchFamily="34" charset="-122"/>
                <a:cs typeface="Calibri" pitchFamily="34" charset="-120"/>
              </a:rPr>
              <a:t>01</a:t>
            </a:r>
            <a:endParaRPr lang="en-US" sz="1200" dirty="0"/>
          </a:p>
        </p:txBody>
      </p:sp>
      <p:sp>
        <p:nvSpPr>
          <p:cNvPr id="22" name="anim:1"/>
          <p:cNvSpPr txBox="1"/>
          <p:nvPr/>
        </p:nvSpPr>
        <p:spPr>
          <a:xfrm>
            <a:off x="1005840" y="1783080"/>
            <a:ext cx="3749040" cy="402336"/>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Foundations of AI and Data</a:t>
            </a:r>
            <a:endParaRPr lang="en-US" sz="1100" dirty="0"/>
          </a:p>
        </p:txBody>
      </p:sp>
      <p:sp>
        <p:nvSpPr>
          <p:cNvPr id="23" name="anim:1"/>
          <p:cNvSpPr txBox="1"/>
          <p:nvPr/>
        </p:nvSpPr>
        <p:spPr>
          <a:xfrm>
            <a:off x="4846320" y="1783080"/>
            <a:ext cx="160020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Weeks 1 to 3</a:t>
            </a:r>
            <a:endParaRPr lang="en-US" sz="900" dirty="0"/>
          </a:p>
        </p:txBody>
      </p:sp>
      <p:sp>
        <p:nvSpPr>
          <p:cNvPr id="24" name="anim:1 grad:goldTint"/>
          <p:cNvSpPr/>
          <p:nvPr/>
        </p:nvSpPr>
        <p:spPr>
          <a:xfrm>
            <a:off x="6537960" y="1865376"/>
            <a:ext cx="3017520" cy="237744"/>
          </a:xfrm>
          <a:prstGeom prst="rect">
            <a:avLst/>
          </a:prstGeom>
          <a:gradFill rotWithShape="1">
            <a:gsLst>
              <a:gs pos="0">
                <a:srgbClr val="FCF5E2"/>
              </a:gs>
              <a:gs pos="100000">
                <a:srgbClr val="F4E5B8"/>
              </a:gs>
            </a:gsLst>
            <a:lin ang="5400000" scaled="0"/>
          </a:gradFill>
          <a:ln w="12700">
            <a:solidFill>
              <a:srgbClr val="007DB6"/>
            </a:solidFill>
            <a:prstDash val="solid"/>
          </a:ln>
        </p:spPr>
        <p:txBody>
          <a:bodyPr/>
          <a:p/>
        </p:txBody>
      </p:sp>
      <p:sp>
        <p:nvSpPr>
          <p:cNvPr id="25" name="anim:1"/>
          <p:cNvSpPr txBox="1"/>
          <p:nvPr/>
        </p:nvSpPr>
        <p:spPr>
          <a:xfrm>
            <a:off x="9665208" y="1783080"/>
            <a:ext cx="146304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3 credits  ·  45 hours</a:t>
            </a:r>
            <a:endParaRPr lang="en-US" sz="900" dirty="0"/>
          </a:p>
        </p:txBody>
      </p:sp>
      <p:sp>
        <p:nvSpPr>
          <p:cNvPr id="26" name="anim:1"/>
          <p:cNvSpPr/>
          <p:nvPr/>
        </p:nvSpPr>
        <p:spPr>
          <a:xfrm>
            <a:off x="548640" y="2185416"/>
            <a:ext cx="11091672" cy="0"/>
          </a:xfrm>
          <a:prstGeom prst="line">
            <a:avLst/>
          </a:prstGeom>
          <a:noFill/>
          <a:ln w="9525">
            <a:solidFill>
              <a:srgbClr val="E4E9F0"/>
            </a:solidFill>
            <a:prstDash val="solid"/>
          </a:ln>
        </p:spPr>
        <p:txBody>
          <a:bodyPr/>
          <a:p/>
        </p:txBody>
      </p:sp>
      <p:sp>
        <p:nvSpPr>
          <p:cNvPr id="27" name="anim:1"/>
          <p:cNvSpPr txBox="1"/>
          <p:nvPr/>
        </p:nvSpPr>
        <p:spPr>
          <a:xfrm>
            <a:off x="548640" y="2185416"/>
            <a:ext cx="411480" cy="402336"/>
          </a:xfrm>
          <a:prstGeom prst="rect">
            <a:avLst/>
          </a:prstGeom>
          <a:noFill/>
          <a:ln/>
        </p:spPr>
        <p:txBody>
          <a:bodyPr wrap="square" lIns="0" tIns="0" rIns="0" bIns="0" rtlCol="0" anchor="ctr"/>
          <a:lstStyle/>
          <a:p>
            <a:pPr algn="l" indent="0" marL="0">
              <a:buNone/>
            </a:pPr>
            <a:r>
              <a:rPr lang="en-US" sz="1200" b="1" dirty="0">
                <a:solidFill>
                  <a:srgbClr val="007DB6"/>
                </a:solidFill>
                <a:latin typeface="Calibri" pitchFamily="34" charset="0"/>
                <a:ea typeface="Calibri" pitchFamily="34" charset="-122"/>
                <a:cs typeface="Calibri" pitchFamily="34" charset="-120"/>
              </a:rPr>
              <a:t>02</a:t>
            </a:r>
            <a:endParaRPr lang="en-US" sz="1200" dirty="0"/>
          </a:p>
        </p:txBody>
      </p:sp>
      <p:sp>
        <p:nvSpPr>
          <p:cNvPr id="28" name="anim:1"/>
          <p:cNvSpPr txBox="1"/>
          <p:nvPr/>
        </p:nvSpPr>
        <p:spPr>
          <a:xfrm>
            <a:off x="1005840" y="2185416"/>
            <a:ext cx="3749040" cy="402336"/>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Applied Machine Learning</a:t>
            </a:r>
            <a:endParaRPr lang="en-US" sz="1100" dirty="0"/>
          </a:p>
        </p:txBody>
      </p:sp>
      <p:sp>
        <p:nvSpPr>
          <p:cNvPr id="29" name="anim:1"/>
          <p:cNvSpPr txBox="1"/>
          <p:nvPr/>
        </p:nvSpPr>
        <p:spPr>
          <a:xfrm>
            <a:off x="4846320" y="2185416"/>
            <a:ext cx="160020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Weeks 4 to 6</a:t>
            </a:r>
            <a:endParaRPr lang="en-US" sz="900" dirty="0"/>
          </a:p>
        </p:txBody>
      </p:sp>
      <p:sp>
        <p:nvSpPr>
          <p:cNvPr id="30" name="anim:1 grad:blue"/>
          <p:cNvSpPr/>
          <p:nvPr/>
        </p:nvSpPr>
        <p:spPr>
          <a:xfrm>
            <a:off x="6537960" y="2267712"/>
            <a:ext cx="4023360" cy="237744"/>
          </a:xfrm>
          <a:prstGeom prst="rect">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31" name="anim:1"/>
          <p:cNvSpPr txBox="1"/>
          <p:nvPr/>
        </p:nvSpPr>
        <p:spPr>
          <a:xfrm>
            <a:off x="10671048" y="2185416"/>
            <a:ext cx="146304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4 credits  ·  60 hours</a:t>
            </a:r>
            <a:endParaRPr lang="en-US" sz="900" dirty="0"/>
          </a:p>
        </p:txBody>
      </p:sp>
      <p:sp>
        <p:nvSpPr>
          <p:cNvPr id="32" name="anim:1"/>
          <p:cNvSpPr/>
          <p:nvPr/>
        </p:nvSpPr>
        <p:spPr>
          <a:xfrm>
            <a:off x="548640" y="2587752"/>
            <a:ext cx="11091672" cy="0"/>
          </a:xfrm>
          <a:prstGeom prst="line">
            <a:avLst/>
          </a:prstGeom>
          <a:noFill/>
          <a:ln w="9525">
            <a:solidFill>
              <a:srgbClr val="E4E9F0"/>
            </a:solidFill>
            <a:prstDash val="solid"/>
          </a:ln>
        </p:spPr>
        <p:txBody>
          <a:bodyPr/>
          <a:p/>
        </p:txBody>
      </p:sp>
      <p:sp>
        <p:nvSpPr>
          <p:cNvPr id="33" name="anim:1"/>
          <p:cNvSpPr txBox="1"/>
          <p:nvPr/>
        </p:nvSpPr>
        <p:spPr>
          <a:xfrm>
            <a:off x="548640" y="2587752"/>
            <a:ext cx="411480" cy="402336"/>
          </a:xfrm>
          <a:prstGeom prst="rect">
            <a:avLst/>
          </a:prstGeom>
          <a:noFill/>
          <a:ln/>
        </p:spPr>
        <p:txBody>
          <a:bodyPr wrap="square" lIns="0" tIns="0" rIns="0" bIns="0" rtlCol="0" anchor="ctr"/>
          <a:lstStyle/>
          <a:p>
            <a:pPr algn="l" indent="0" marL="0">
              <a:buNone/>
            </a:pPr>
            <a:r>
              <a:rPr lang="en-US" sz="1200" b="1" dirty="0">
                <a:solidFill>
                  <a:srgbClr val="007DB6"/>
                </a:solidFill>
                <a:latin typeface="Calibri" pitchFamily="34" charset="0"/>
                <a:ea typeface="Calibri" pitchFamily="34" charset="-122"/>
                <a:cs typeface="Calibri" pitchFamily="34" charset="-120"/>
              </a:rPr>
              <a:t>03</a:t>
            </a:r>
            <a:endParaRPr lang="en-US" sz="1200" dirty="0"/>
          </a:p>
        </p:txBody>
      </p:sp>
      <p:sp>
        <p:nvSpPr>
          <p:cNvPr id="34" name="anim:1"/>
          <p:cNvSpPr txBox="1"/>
          <p:nvPr/>
        </p:nvSpPr>
        <p:spPr>
          <a:xfrm>
            <a:off x="1005840" y="2587752"/>
            <a:ext cx="3749040" cy="402336"/>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Deep Learning and Neural Networks</a:t>
            </a:r>
            <a:endParaRPr lang="en-US" sz="1100" dirty="0"/>
          </a:p>
        </p:txBody>
      </p:sp>
      <p:sp>
        <p:nvSpPr>
          <p:cNvPr id="35" name="anim:1"/>
          <p:cNvSpPr txBox="1"/>
          <p:nvPr/>
        </p:nvSpPr>
        <p:spPr>
          <a:xfrm>
            <a:off x="4846320" y="2587752"/>
            <a:ext cx="160020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Weeks 7 and 9</a:t>
            </a:r>
            <a:endParaRPr lang="en-US" sz="900" dirty="0"/>
          </a:p>
        </p:txBody>
      </p:sp>
      <p:sp>
        <p:nvSpPr>
          <p:cNvPr id="36" name="anim:1 grad:blue"/>
          <p:cNvSpPr/>
          <p:nvPr/>
        </p:nvSpPr>
        <p:spPr>
          <a:xfrm>
            <a:off x="6537960" y="2670048"/>
            <a:ext cx="4023360" cy="237744"/>
          </a:xfrm>
          <a:prstGeom prst="rect">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37" name="anim:1"/>
          <p:cNvSpPr txBox="1"/>
          <p:nvPr/>
        </p:nvSpPr>
        <p:spPr>
          <a:xfrm>
            <a:off x="10671048" y="2587752"/>
            <a:ext cx="146304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4 credits  ·  60 hours</a:t>
            </a:r>
            <a:endParaRPr lang="en-US" sz="900" dirty="0"/>
          </a:p>
        </p:txBody>
      </p:sp>
      <p:sp>
        <p:nvSpPr>
          <p:cNvPr id="38" name="anim:1"/>
          <p:cNvSpPr/>
          <p:nvPr/>
        </p:nvSpPr>
        <p:spPr>
          <a:xfrm>
            <a:off x="548640" y="2990088"/>
            <a:ext cx="11091672" cy="0"/>
          </a:xfrm>
          <a:prstGeom prst="line">
            <a:avLst/>
          </a:prstGeom>
          <a:noFill/>
          <a:ln w="9525">
            <a:solidFill>
              <a:srgbClr val="E4E9F0"/>
            </a:solidFill>
            <a:prstDash val="solid"/>
          </a:ln>
        </p:spPr>
        <p:txBody>
          <a:bodyPr/>
          <a:p/>
        </p:txBody>
      </p:sp>
      <p:sp>
        <p:nvSpPr>
          <p:cNvPr id="39" name="anim:1"/>
          <p:cNvSpPr txBox="1"/>
          <p:nvPr/>
        </p:nvSpPr>
        <p:spPr>
          <a:xfrm>
            <a:off x="548640" y="2990088"/>
            <a:ext cx="411480" cy="402336"/>
          </a:xfrm>
          <a:prstGeom prst="rect">
            <a:avLst/>
          </a:prstGeom>
          <a:noFill/>
          <a:ln/>
        </p:spPr>
        <p:txBody>
          <a:bodyPr wrap="square" lIns="0" tIns="0" rIns="0" bIns="0" rtlCol="0" anchor="ctr"/>
          <a:lstStyle/>
          <a:p>
            <a:pPr algn="l" indent="0" marL="0">
              <a:buNone/>
            </a:pPr>
            <a:r>
              <a:rPr lang="en-US" sz="1200" b="1" dirty="0">
                <a:solidFill>
                  <a:srgbClr val="007DB6"/>
                </a:solidFill>
                <a:latin typeface="Calibri" pitchFamily="34" charset="0"/>
                <a:ea typeface="Calibri" pitchFamily="34" charset="-122"/>
                <a:cs typeface="Calibri" pitchFamily="34" charset="-120"/>
              </a:rPr>
              <a:t>04</a:t>
            </a:r>
            <a:endParaRPr lang="en-US" sz="1200" dirty="0"/>
          </a:p>
        </p:txBody>
      </p:sp>
      <p:sp>
        <p:nvSpPr>
          <p:cNvPr id="40" name="anim:1"/>
          <p:cNvSpPr txBox="1"/>
          <p:nvPr/>
        </p:nvSpPr>
        <p:spPr>
          <a:xfrm>
            <a:off x="1005840" y="2990088"/>
            <a:ext cx="3749040" cy="402336"/>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Natural Language Processing</a:t>
            </a:r>
            <a:endParaRPr lang="en-US" sz="1100" dirty="0"/>
          </a:p>
        </p:txBody>
      </p:sp>
      <p:sp>
        <p:nvSpPr>
          <p:cNvPr id="41" name="anim:1"/>
          <p:cNvSpPr txBox="1"/>
          <p:nvPr/>
        </p:nvSpPr>
        <p:spPr>
          <a:xfrm>
            <a:off x="4846320" y="2990088"/>
            <a:ext cx="160020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Week 8</a:t>
            </a:r>
            <a:endParaRPr lang="en-US" sz="900" dirty="0"/>
          </a:p>
        </p:txBody>
      </p:sp>
      <p:sp>
        <p:nvSpPr>
          <p:cNvPr id="42" name="anim:1 grad:blue"/>
          <p:cNvSpPr/>
          <p:nvPr/>
        </p:nvSpPr>
        <p:spPr>
          <a:xfrm>
            <a:off x="6537960" y="3072384"/>
            <a:ext cx="3017520" cy="237744"/>
          </a:xfrm>
          <a:prstGeom prst="rect">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43" name="anim:1"/>
          <p:cNvSpPr txBox="1"/>
          <p:nvPr/>
        </p:nvSpPr>
        <p:spPr>
          <a:xfrm>
            <a:off x="9665208" y="2990088"/>
            <a:ext cx="146304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3 credits  ·  45 hours</a:t>
            </a:r>
            <a:endParaRPr lang="en-US" sz="900" dirty="0"/>
          </a:p>
        </p:txBody>
      </p:sp>
      <p:sp>
        <p:nvSpPr>
          <p:cNvPr id="44" name="anim:1"/>
          <p:cNvSpPr/>
          <p:nvPr/>
        </p:nvSpPr>
        <p:spPr>
          <a:xfrm>
            <a:off x="548640" y="3392424"/>
            <a:ext cx="11091672" cy="0"/>
          </a:xfrm>
          <a:prstGeom prst="line">
            <a:avLst/>
          </a:prstGeom>
          <a:noFill/>
          <a:ln w="9525">
            <a:solidFill>
              <a:srgbClr val="E4E9F0"/>
            </a:solidFill>
            <a:prstDash val="solid"/>
          </a:ln>
        </p:spPr>
        <p:txBody>
          <a:bodyPr/>
          <a:p/>
        </p:txBody>
      </p:sp>
      <p:sp>
        <p:nvSpPr>
          <p:cNvPr id="45" name="anim:1"/>
          <p:cNvSpPr txBox="1"/>
          <p:nvPr/>
        </p:nvSpPr>
        <p:spPr>
          <a:xfrm>
            <a:off x="548640" y="3392424"/>
            <a:ext cx="411480" cy="402336"/>
          </a:xfrm>
          <a:prstGeom prst="rect">
            <a:avLst/>
          </a:prstGeom>
          <a:noFill/>
          <a:ln/>
        </p:spPr>
        <p:txBody>
          <a:bodyPr wrap="square" lIns="0" tIns="0" rIns="0" bIns="0" rtlCol="0" anchor="ctr"/>
          <a:lstStyle/>
          <a:p>
            <a:pPr algn="l" indent="0" marL="0">
              <a:buNone/>
            </a:pPr>
            <a:r>
              <a:rPr lang="en-US" sz="1200" b="1" dirty="0">
                <a:solidFill>
                  <a:srgbClr val="007DB6"/>
                </a:solidFill>
                <a:latin typeface="Calibri" pitchFamily="34" charset="0"/>
                <a:ea typeface="Calibri" pitchFamily="34" charset="-122"/>
                <a:cs typeface="Calibri" pitchFamily="34" charset="-120"/>
              </a:rPr>
              <a:t>05</a:t>
            </a:r>
            <a:endParaRPr lang="en-US" sz="1200" dirty="0"/>
          </a:p>
        </p:txBody>
      </p:sp>
      <p:sp>
        <p:nvSpPr>
          <p:cNvPr id="46" name="anim:1"/>
          <p:cNvSpPr txBox="1"/>
          <p:nvPr/>
        </p:nvSpPr>
        <p:spPr>
          <a:xfrm>
            <a:off x="1005840" y="3392424"/>
            <a:ext cx="3749040" cy="402336"/>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Generative AI Foundations</a:t>
            </a:r>
            <a:endParaRPr lang="en-US" sz="1100" dirty="0"/>
          </a:p>
        </p:txBody>
      </p:sp>
      <p:sp>
        <p:nvSpPr>
          <p:cNvPr id="47" name="anim:1"/>
          <p:cNvSpPr txBox="1"/>
          <p:nvPr/>
        </p:nvSpPr>
        <p:spPr>
          <a:xfrm>
            <a:off x="4846320" y="3392424"/>
            <a:ext cx="160020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Week 10</a:t>
            </a:r>
            <a:endParaRPr lang="en-US" sz="900" dirty="0"/>
          </a:p>
        </p:txBody>
      </p:sp>
      <p:sp>
        <p:nvSpPr>
          <p:cNvPr id="48" name="anim:1 grad:blue"/>
          <p:cNvSpPr/>
          <p:nvPr/>
        </p:nvSpPr>
        <p:spPr>
          <a:xfrm>
            <a:off x="6537960" y="3474720"/>
            <a:ext cx="3017520" cy="237744"/>
          </a:xfrm>
          <a:prstGeom prst="rect">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49" name="anim:1"/>
          <p:cNvSpPr txBox="1"/>
          <p:nvPr/>
        </p:nvSpPr>
        <p:spPr>
          <a:xfrm>
            <a:off x="9665208" y="3392424"/>
            <a:ext cx="146304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3 credits  ·  45 hours</a:t>
            </a:r>
            <a:endParaRPr lang="en-US" sz="900" dirty="0"/>
          </a:p>
        </p:txBody>
      </p:sp>
      <p:sp>
        <p:nvSpPr>
          <p:cNvPr id="50" name="anim:1"/>
          <p:cNvSpPr/>
          <p:nvPr/>
        </p:nvSpPr>
        <p:spPr>
          <a:xfrm>
            <a:off x="548640" y="3794760"/>
            <a:ext cx="11091672" cy="0"/>
          </a:xfrm>
          <a:prstGeom prst="line">
            <a:avLst/>
          </a:prstGeom>
          <a:noFill/>
          <a:ln w="9525">
            <a:solidFill>
              <a:srgbClr val="E4E9F0"/>
            </a:solidFill>
            <a:prstDash val="solid"/>
          </a:ln>
        </p:spPr>
        <p:txBody>
          <a:bodyPr/>
          <a:p/>
        </p:txBody>
      </p:sp>
      <p:sp>
        <p:nvSpPr>
          <p:cNvPr id="51" name="anim:2"/>
          <p:cNvSpPr txBox="1"/>
          <p:nvPr/>
        </p:nvSpPr>
        <p:spPr>
          <a:xfrm>
            <a:off x="548640" y="3794760"/>
            <a:ext cx="411480" cy="402336"/>
          </a:xfrm>
          <a:prstGeom prst="rect">
            <a:avLst/>
          </a:prstGeom>
          <a:noFill/>
          <a:ln/>
        </p:spPr>
        <p:txBody>
          <a:bodyPr wrap="square" lIns="0" tIns="0" rIns="0" bIns="0" rtlCol="0" anchor="ctr"/>
          <a:lstStyle/>
          <a:p>
            <a:pPr algn="l" indent="0" marL="0">
              <a:buNone/>
            </a:pPr>
            <a:r>
              <a:rPr lang="en-US" sz="1200" b="1" dirty="0">
                <a:solidFill>
                  <a:srgbClr val="007DB6"/>
                </a:solidFill>
                <a:latin typeface="Calibri" pitchFamily="34" charset="0"/>
                <a:ea typeface="Calibri" pitchFamily="34" charset="-122"/>
                <a:cs typeface="Calibri" pitchFamily="34" charset="-120"/>
              </a:rPr>
              <a:t>06</a:t>
            </a:r>
            <a:endParaRPr lang="en-US" sz="1200" dirty="0"/>
          </a:p>
        </p:txBody>
      </p:sp>
      <p:sp>
        <p:nvSpPr>
          <p:cNvPr id="52" name="anim:2"/>
          <p:cNvSpPr txBox="1"/>
          <p:nvPr/>
        </p:nvSpPr>
        <p:spPr>
          <a:xfrm>
            <a:off x="1005840" y="3794760"/>
            <a:ext cx="3749040" cy="402336"/>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Applied Generative AI</a:t>
            </a:r>
            <a:endParaRPr lang="en-US" sz="1100" dirty="0"/>
          </a:p>
        </p:txBody>
      </p:sp>
      <p:sp>
        <p:nvSpPr>
          <p:cNvPr id="53" name="anim:2"/>
          <p:cNvSpPr txBox="1"/>
          <p:nvPr/>
        </p:nvSpPr>
        <p:spPr>
          <a:xfrm>
            <a:off x="4846320" y="3794760"/>
            <a:ext cx="160020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Weeks 11 and 12</a:t>
            </a:r>
            <a:endParaRPr lang="en-US" sz="900" dirty="0"/>
          </a:p>
        </p:txBody>
      </p:sp>
      <p:sp>
        <p:nvSpPr>
          <p:cNvPr id="54" name="anim:2 grad:blue"/>
          <p:cNvSpPr/>
          <p:nvPr/>
        </p:nvSpPr>
        <p:spPr>
          <a:xfrm>
            <a:off x="6537960" y="3877056"/>
            <a:ext cx="3017520" cy="237744"/>
          </a:xfrm>
          <a:prstGeom prst="rect">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55" name="anim:2"/>
          <p:cNvSpPr txBox="1"/>
          <p:nvPr/>
        </p:nvSpPr>
        <p:spPr>
          <a:xfrm>
            <a:off x="9665208" y="3794760"/>
            <a:ext cx="146304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3 credits  ·  45 hours</a:t>
            </a:r>
            <a:endParaRPr lang="en-US" sz="900" dirty="0"/>
          </a:p>
        </p:txBody>
      </p:sp>
      <p:sp>
        <p:nvSpPr>
          <p:cNvPr id="56" name="anim:2"/>
          <p:cNvSpPr/>
          <p:nvPr/>
        </p:nvSpPr>
        <p:spPr>
          <a:xfrm>
            <a:off x="548640" y="4197096"/>
            <a:ext cx="11091672" cy="0"/>
          </a:xfrm>
          <a:prstGeom prst="line">
            <a:avLst/>
          </a:prstGeom>
          <a:noFill/>
          <a:ln w="9525">
            <a:solidFill>
              <a:srgbClr val="E4E9F0"/>
            </a:solidFill>
            <a:prstDash val="solid"/>
          </a:ln>
        </p:spPr>
        <p:txBody>
          <a:bodyPr/>
          <a:p/>
        </p:txBody>
      </p:sp>
      <p:sp>
        <p:nvSpPr>
          <p:cNvPr id="57" name="anim:2"/>
          <p:cNvSpPr txBox="1"/>
          <p:nvPr/>
        </p:nvSpPr>
        <p:spPr>
          <a:xfrm>
            <a:off x="548640" y="4197096"/>
            <a:ext cx="411480" cy="402336"/>
          </a:xfrm>
          <a:prstGeom prst="rect">
            <a:avLst/>
          </a:prstGeom>
          <a:noFill/>
          <a:ln/>
        </p:spPr>
        <p:txBody>
          <a:bodyPr wrap="square" lIns="0" tIns="0" rIns="0" bIns="0" rtlCol="0" anchor="ctr"/>
          <a:lstStyle/>
          <a:p>
            <a:pPr algn="l" indent="0" marL="0">
              <a:buNone/>
            </a:pPr>
            <a:r>
              <a:rPr lang="en-US" sz="1200" b="1" dirty="0">
                <a:solidFill>
                  <a:srgbClr val="007DB6"/>
                </a:solidFill>
                <a:latin typeface="Calibri" pitchFamily="34" charset="0"/>
                <a:ea typeface="Calibri" pitchFamily="34" charset="-122"/>
                <a:cs typeface="Calibri" pitchFamily="34" charset="-120"/>
              </a:rPr>
              <a:t>07</a:t>
            </a:r>
            <a:endParaRPr lang="en-US" sz="1200" dirty="0"/>
          </a:p>
        </p:txBody>
      </p:sp>
      <p:sp>
        <p:nvSpPr>
          <p:cNvPr id="58" name="anim:2"/>
          <p:cNvSpPr txBox="1"/>
          <p:nvPr/>
        </p:nvSpPr>
        <p:spPr>
          <a:xfrm>
            <a:off x="1005840" y="4197096"/>
            <a:ext cx="3749040" cy="402336"/>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Production AI for Real-World Applications</a:t>
            </a:r>
            <a:endParaRPr lang="en-US" sz="1100" dirty="0"/>
          </a:p>
        </p:txBody>
      </p:sp>
      <p:sp>
        <p:nvSpPr>
          <p:cNvPr id="59" name="anim:2"/>
          <p:cNvSpPr txBox="1"/>
          <p:nvPr/>
        </p:nvSpPr>
        <p:spPr>
          <a:xfrm>
            <a:off x="4846320" y="4197096"/>
            <a:ext cx="160020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Weeks 14 and 16</a:t>
            </a:r>
            <a:endParaRPr lang="en-US" sz="900" dirty="0"/>
          </a:p>
        </p:txBody>
      </p:sp>
      <p:sp>
        <p:nvSpPr>
          <p:cNvPr id="60" name="anim:2 grad:blue"/>
          <p:cNvSpPr/>
          <p:nvPr/>
        </p:nvSpPr>
        <p:spPr>
          <a:xfrm>
            <a:off x="6537960" y="4279392"/>
            <a:ext cx="3017520" cy="237744"/>
          </a:xfrm>
          <a:prstGeom prst="rect">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61" name="anim:2"/>
          <p:cNvSpPr txBox="1"/>
          <p:nvPr/>
        </p:nvSpPr>
        <p:spPr>
          <a:xfrm>
            <a:off x="9665208" y="4197096"/>
            <a:ext cx="146304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3 credits  ·  45 hours</a:t>
            </a:r>
            <a:endParaRPr lang="en-US" sz="900" dirty="0"/>
          </a:p>
        </p:txBody>
      </p:sp>
      <p:sp>
        <p:nvSpPr>
          <p:cNvPr id="62" name="anim:2"/>
          <p:cNvSpPr/>
          <p:nvPr/>
        </p:nvSpPr>
        <p:spPr>
          <a:xfrm>
            <a:off x="548640" y="4599432"/>
            <a:ext cx="11091672" cy="0"/>
          </a:xfrm>
          <a:prstGeom prst="line">
            <a:avLst/>
          </a:prstGeom>
          <a:noFill/>
          <a:ln w="9525">
            <a:solidFill>
              <a:srgbClr val="E4E9F0"/>
            </a:solidFill>
            <a:prstDash val="solid"/>
          </a:ln>
        </p:spPr>
        <p:txBody>
          <a:bodyPr/>
          <a:p/>
        </p:txBody>
      </p:sp>
      <p:sp>
        <p:nvSpPr>
          <p:cNvPr id="63" name="anim:2"/>
          <p:cNvSpPr txBox="1"/>
          <p:nvPr/>
        </p:nvSpPr>
        <p:spPr>
          <a:xfrm>
            <a:off x="548640" y="4599432"/>
            <a:ext cx="411480" cy="402336"/>
          </a:xfrm>
          <a:prstGeom prst="rect">
            <a:avLst/>
          </a:prstGeom>
          <a:noFill/>
          <a:ln/>
        </p:spPr>
        <p:txBody>
          <a:bodyPr wrap="square" lIns="0" tIns="0" rIns="0" bIns="0" rtlCol="0" anchor="ctr"/>
          <a:lstStyle/>
          <a:p>
            <a:pPr algn="l" indent="0" marL="0">
              <a:buNone/>
            </a:pPr>
            <a:r>
              <a:rPr lang="en-US" sz="1200" b="1" dirty="0">
                <a:solidFill>
                  <a:srgbClr val="007DB6"/>
                </a:solidFill>
                <a:latin typeface="Calibri" pitchFamily="34" charset="0"/>
                <a:ea typeface="Calibri" pitchFamily="34" charset="-122"/>
                <a:cs typeface="Calibri" pitchFamily="34" charset="-120"/>
              </a:rPr>
              <a:t>08</a:t>
            </a:r>
            <a:endParaRPr lang="en-US" sz="1200" dirty="0"/>
          </a:p>
        </p:txBody>
      </p:sp>
      <p:sp>
        <p:nvSpPr>
          <p:cNvPr id="64" name="anim:2"/>
          <p:cNvSpPr txBox="1"/>
          <p:nvPr/>
        </p:nvSpPr>
        <p:spPr>
          <a:xfrm>
            <a:off x="1005840" y="4599432"/>
            <a:ext cx="3749040" cy="402336"/>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Foundations of Agentic AI</a:t>
            </a:r>
            <a:endParaRPr lang="en-US" sz="1100" dirty="0"/>
          </a:p>
        </p:txBody>
      </p:sp>
      <p:sp>
        <p:nvSpPr>
          <p:cNvPr id="65" name="anim:2"/>
          <p:cNvSpPr txBox="1"/>
          <p:nvPr/>
        </p:nvSpPr>
        <p:spPr>
          <a:xfrm>
            <a:off x="4846320" y="4599432"/>
            <a:ext cx="160020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Week 13</a:t>
            </a:r>
            <a:endParaRPr lang="en-US" sz="900" dirty="0"/>
          </a:p>
        </p:txBody>
      </p:sp>
      <p:sp>
        <p:nvSpPr>
          <p:cNvPr id="66" name="anim:2 grad:blue"/>
          <p:cNvSpPr/>
          <p:nvPr/>
        </p:nvSpPr>
        <p:spPr>
          <a:xfrm>
            <a:off x="6537960" y="4681728"/>
            <a:ext cx="3017520" cy="237744"/>
          </a:xfrm>
          <a:prstGeom prst="rect">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67" name="anim:2"/>
          <p:cNvSpPr txBox="1"/>
          <p:nvPr/>
        </p:nvSpPr>
        <p:spPr>
          <a:xfrm>
            <a:off x="9665208" y="4599432"/>
            <a:ext cx="146304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3 credits  ·  45 hours</a:t>
            </a:r>
            <a:endParaRPr lang="en-US" sz="900" dirty="0"/>
          </a:p>
        </p:txBody>
      </p:sp>
      <p:sp>
        <p:nvSpPr>
          <p:cNvPr id="68" name="anim:2"/>
          <p:cNvSpPr/>
          <p:nvPr/>
        </p:nvSpPr>
        <p:spPr>
          <a:xfrm>
            <a:off x="548640" y="5001768"/>
            <a:ext cx="11091672" cy="0"/>
          </a:xfrm>
          <a:prstGeom prst="line">
            <a:avLst/>
          </a:prstGeom>
          <a:noFill/>
          <a:ln w="9525">
            <a:solidFill>
              <a:srgbClr val="E4E9F0"/>
            </a:solidFill>
            <a:prstDash val="solid"/>
          </a:ln>
        </p:spPr>
        <p:txBody>
          <a:bodyPr/>
          <a:p/>
        </p:txBody>
      </p:sp>
      <p:sp>
        <p:nvSpPr>
          <p:cNvPr id="69" name="anim:2"/>
          <p:cNvSpPr txBox="1"/>
          <p:nvPr/>
        </p:nvSpPr>
        <p:spPr>
          <a:xfrm>
            <a:off x="548640" y="5001768"/>
            <a:ext cx="411480" cy="402336"/>
          </a:xfrm>
          <a:prstGeom prst="rect">
            <a:avLst/>
          </a:prstGeom>
          <a:noFill/>
          <a:ln/>
        </p:spPr>
        <p:txBody>
          <a:bodyPr wrap="square" lIns="0" tIns="0" rIns="0" bIns="0" rtlCol="0" anchor="ctr"/>
          <a:lstStyle/>
          <a:p>
            <a:pPr algn="l" indent="0" marL="0">
              <a:buNone/>
            </a:pPr>
            <a:r>
              <a:rPr lang="en-US" sz="1200" b="1" dirty="0">
                <a:solidFill>
                  <a:srgbClr val="007DB6"/>
                </a:solidFill>
                <a:latin typeface="Calibri" pitchFamily="34" charset="0"/>
                <a:ea typeface="Calibri" pitchFamily="34" charset="-122"/>
                <a:cs typeface="Calibri" pitchFamily="34" charset="-120"/>
              </a:rPr>
              <a:t>09</a:t>
            </a:r>
            <a:endParaRPr lang="en-US" sz="1200" dirty="0"/>
          </a:p>
        </p:txBody>
      </p:sp>
      <p:sp>
        <p:nvSpPr>
          <p:cNvPr id="70" name="anim:2"/>
          <p:cNvSpPr txBox="1"/>
          <p:nvPr/>
        </p:nvSpPr>
        <p:spPr>
          <a:xfrm>
            <a:off x="1005840" y="5001768"/>
            <a:ext cx="3749040" cy="402336"/>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Advanced Agentic AI and Multi-Agent Systems</a:t>
            </a:r>
            <a:endParaRPr lang="en-US" sz="1100" dirty="0"/>
          </a:p>
        </p:txBody>
      </p:sp>
      <p:sp>
        <p:nvSpPr>
          <p:cNvPr id="71" name="anim:2"/>
          <p:cNvSpPr txBox="1"/>
          <p:nvPr/>
        </p:nvSpPr>
        <p:spPr>
          <a:xfrm>
            <a:off x="4846320" y="5001768"/>
            <a:ext cx="160020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Week 15</a:t>
            </a:r>
            <a:endParaRPr lang="en-US" sz="900" dirty="0"/>
          </a:p>
        </p:txBody>
      </p:sp>
      <p:sp>
        <p:nvSpPr>
          <p:cNvPr id="72" name="anim:2 grad:blue"/>
          <p:cNvSpPr/>
          <p:nvPr/>
        </p:nvSpPr>
        <p:spPr>
          <a:xfrm>
            <a:off x="6537960" y="5084064"/>
            <a:ext cx="4023360" cy="237744"/>
          </a:xfrm>
          <a:prstGeom prst="rect">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73" name="anim:2"/>
          <p:cNvSpPr txBox="1"/>
          <p:nvPr/>
        </p:nvSpPr>
        <p:spPr>
          <a:xfrm>
            <a:off x="10671048" y="5001768"/>
            <a:ext cx="146304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4 credits  ·  60 hours</a:t>
            </a:r>
            <a:endParaRPr lang="en-US" sz="900" dirty="0"/>
          </a:p>
        </p:txBody>
      </p:sp>
      <p:sp>
        <p:nvSpPr>
          <p:cNvPr id="74" name="anim:2"/>
          <p:cNvSpPr/>
          <p:nvPr/>
        </p:nvSpPr>
        <p:spPr>
          <a:xfrm>
            <a:off x="548640" y="5404104"/>
            <a:ext cx="11091672" cy="0"/>
          </a:xfrm>
          <a:prstGeom prst="line">
            <a:avLst/>
          </a:prstGeom>
          <a:noFill/>
          <a:ln w="9525">
            <a:solidFill>
              <a:srgbClr val="E4E9F0"/>
            </a:solidFill>
            <a:prstDash val="solid"/>
          </a:ln>
        </p:spPr>
        <p:txBody>
          <a:bodyPr/>
          <a:p/>
        </p:txBody>
      </p:sp>
      <p:sp>
        <p:nvSpPr>
          <p:cNvPr id="75" name="anim:2"/>
          <p:cNvSpPr txBox="1"/>
          <p:nvPr/>
        </p:nvSpPr>
        <p:spPr>
          <a:xfrm>
            <a:off x="548640" y="5404104"/>
            <a:ext cx="411480" cy="402336"/>
          </a:xfrm>
          <a:prstGeom prst="rect">
            <a:avLst/>
          </a:prstGeom>
          <a:noFill/>
          <a:ln/>
        </p:spPr>
        <p:txBody>
          <a:bodyPr wrap="square" lIns="0" tIns="0" rIns="0" bIns="0" rtlCol="0" anchor="ctr"/>
          <a:lstStyle/>
          <a:p>
            <a:pPr algn="l" indent="0" marL="0">
              <a:buNone/>
            </a:pPr>
            <a:r>
              <a:rPr lang="en-US" sz="1200" b="1" dirty="0">
                <a:solidFill>
                  <a:srgbClr val="007DB6"/>
                </a:solidFill>
                <a:latin typeface="Calibri" pitchFamily="34" charset="0"/>
                <a:ea typeface="Calibri" pitchFamily="34" charset="-122"/>
                <a:cs typeface="Calibri" pitchFamily="34" charset="-120"/>
              </a:rPr>
              <a:t>10</a:t>
            </a:r>
            <a:endParaRPr lang="en-US" sz="1200" dirty="0"/>
          </a:p>
        </p:txBody>
      </p:sp>
      <p:sp>
        <p:nvSpPr>
          <p:cNvPr id="76" name="anim:2"/>
          <p:cNvSpPr txBox="1"/>
          <p:nvPr/>
        </p:nvSpPr>
        <p:spPr>
          <a:xfrm>
            <a:off x="1005840" y="5404104"/>
            <a:ext cx="3749040" cy="402336"/>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Capstone Project</a:t>
            </a:r>
            <a:endParaRPr lang="en-US" sz="1100" dirty="0"/>
          </a:p>
        </p:txBody>
      </p:sp>
      <p:sp>
        <p:nvSpPr>
          <p:cNvPr id="77" name="anim:2"/>
          <p:cNvSpPr txBox="1"/>
          <p:nvPr/>
        </p:nvSpPr>
        <p:spPr>
          <a:xfrm>
            <a:off x="4846320" y="5404104"/>
            <a:ext cx="160020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Weeks 17 to 20</a:t>
            </a:r>
            <a:endParaRPr lang="en-US" sz="900" dirty="0"/>
          </a:p>
        </p:txBody>
      </p:sp>
      <p:sp>
        <p:nvSpPr>
          <p:cNvPr id="78" name="anim:2 grad:navy"/>
          <p:cNvSpPr/>
          <p:nvPr/>
        </p:nvSpPr>
        <p:spPr>
          <a:xfrm>
            <a:off x="6537960" y="5486400"/>
            <a:ext cx="3017520" cy="237744"/>
          </a:xfrm>
          <a:prstGeom prst="rect">
            <a:avLst/>
          </a:prstGeom>
          <a:gradFill rotWithShape="1">
            <a:gsLst>
              <a:gs pos="0">
                <a:srgbClr val="1B4170"/>
              </a:gs>
              <a:gs pos="100000">
                <a:srgbClr val="0A1E33"/>
              </a:gs>
            </a:gsLst>
            <a:lin ang="5400000" scaled="0"/>
          </a:gradFill>
          <a:ln w="12700">
            <a:solidFill>
              <a:srgbClr val="007DB6"/>
            </a:solidFill>
            <a:prstDash val="solid"/>
          </a:ln>
        </p:spPr>
        <p:txBody>
          <a:bodyPr/>
          <a:p/>
        </p:txBody>
      </p:sp>
      <p:sp>
        <p:nvSpPr>
          <p:cNvPr id="79" name="anim:2"/>
          <p:cNvSpPr txBox="1"/>
          <p:nvPr/>
        </p:nvSpPr>
        <p:spPr>
          <a:xfrm>
            <a:off x="9665208" y="5404104"/>
            <a:ext cx="1463040" cy="402336"/>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3 credits  ·  60 hours</a:t>
            </a:r>
            <a:endParaRPr lang="en-US" sz="900" dirty="0"/>
          </a:p>
        </p:txBody>
      </p:sp>
      <p:sp>
        <p:nvSpPr>
          <p:cNvPr id="80" name="anim:2"/>
          <p:cNvSpPr/>
          <p:nvPr/>
        </p:nvSpPr>
        <p:spPr>
          <a:xfrm>
            <a:off x="548640" y="5806440"/>
            <a:ext cx="11091672" cy="0"/>
          </a:xfrm>
          <a:prstGeom prst="line">
            <a:avLst/>
          </a:prstGeom>
          <a:noFill/>
          <a:ln w="9525">
            <a:solidFill>
              <a:srgbClr val="E4E9F0"/>
            </a:solidFill>
            <a:prstDash val="solid"/>
          </a:ln>
        </p:spPr>
        <p:txBody>
          <a:bodyPr/>
          <a:p/>
        </p:txBody>
      </p:sp>
      <p:sp>
        <p:nvSpPr>
          <p:cNvPr id="81" name="anim:2"/>
          <p:cNvSpPr txBox="1"/>
          <p:nvPr/>
        </p:nvSpPr>
        <p:spPr>
          <a:xfrm>
            <a:off x="1005840" y="5916168"/>
            <a:ext cx="3657600" cy="365760"/>
          </a:xfrm>
          <a:prstGeom prst="rect">
            <a:avLst/>
          </a:prstGeom>
          <a:noFill/>
          <a:ln/>
        </p:spPr>
        <p:txBody>
          <a:bodyPr wrap="square" lIns="0" tIns="0" rIns="0" bIns="0" rtlCol="0" anchor="ctr"/>
          <a:lstStyle/>
          <a:p>
            <a:pPr algn="l" indent="0" marL="0">
              <a:buNone/>
            </a:pPr>
            <a:r>
              <a:rPr lang="en-US" sz="1300" b="1" dirty="0">
                <a:solidFill>
                  <a:srgbClr val="0A1E33"/>
                </a:solidFill>
                <a:latin typeface="Calibri" pitchFamily="34" charset="0"/>
                <a:ea typeface="Calibri" pitchFamily="34" charset="-122"/>
                <a:cs typeface="Calibri" pitchFamily="34" charset="-120"/>
              </a:rPr>
              <a:t>Total</a:t>
            </a:r>
            <a:endParaRPr lang="en-US" sz="1300" dirty="0"/>
          </a:p>
        </p:txBody>
      </p:sp>
      <p:sp>
        <p:nvSpPr>
          <p:cNvPr id="82" name="anim:2"/>
          <p:cNvSpPr txBox="1"/>
          <p:nvPr/>
        </p:nvSpPr>
        <p:spPr>
          <a:xfrm>
            <a:off x="6537960" y="5916168"/>
            <a:ext cx="4572000" cy="365760"/>
          </a:xfrm>
          <a:prstGeom prst="rect">
            <a:avLst/>
          </a:prstGeom>
          <a:noFill/>
          <a:ln/>
        </p:spPr>
        <p:txBody>
          <a:bodyPr wrap="square" lIns="0" tIns="0" rIns="0" bIns="0" rtlCol="0" anchor="ctr"/>
          <a:lstStyle/>
          <a:p>
            <a:pPr algn="l" indent="0" marL="0">
              <a:buNone/>
            </a:pPr>
            <a:r>
              <a:rPr lang="en-US" sz="1300" b="1" dirty="0">
                <a:solidFill>
                  <a:srgbClr val="0A1E33"/>
                </a:solidFill>
                <a:latin typeface="Calibri" pitchFamily="34" charset="0"/>
                <a:ea typeface="Calibri" pitchFamily="34" charset="-122"/>
                <a:cs typeface="Calibri" pitchFamily="34" charset="-120"/>
              </a:rPr>
              <a:t>33 credits  ·  510 hours</a:t>
            </a:r>
            <a:endParaRPr lang="en-US" sz="1300" dirty="0"/>
          </a:p>
        </p:txBody>
      </p:sp>
      <p:sp>
        <p:nvSpPr>
          <p:cNvPr id="83" name="Shape 80"/>
          <p:cNvSpPr/>
          <p:nvPr/>
        </p:nvSpPr>
        <p:spPr>
          <a:xfrm>
            <a:off x="8595360" y="1536192"/>
            <a:ext cx="201168" cy="146304"/>
          </a:xfrm>
          <a:prstGeom prst="rect">
            <a:avLst/>
          </a:prstGeom>
          <a:solidFill>
            <a:srgbClr val="FBF1D6"/>
          </a:solidFill>
          <a:ln w="9525">
            <a:solidFill>
              <a:srgbClr val="E9B221"/>
            </a:solidFill>
            <a:prstDash val="solid"/>
          </a:ln>
        </p:spPr>
        <p:txBody>
          <a:bodyPr/>
          <a:p/>
        </p:txBody>
      </p:sp>
      <p:sp>
        <p:nvSpPr>
          <p:cNvPr id="84" name="Text 81"/>
          <p:cNvSpPr txBox="1"/>
          <p:nvPr/>
        </p:nvSpPr>
        <p:spPr>
          <a:xfrm>
            <a:off x="8869680" y="1481328"/>
            <a:ext cx="822960" cy="256032"/>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Foundation</a:t>
            </a:r>
            <a:endParaRPr lang="en-US" sz="900" dirty="0"/>
          </a:p>
        </p:txBody>
      </p:sp>
      <p:sp>
        <p:nvSpPr>
          <p:cNvPr id="85" name="Shape 82"/>
          <p:cNvSpPr/>
          <p:nvPr/>
        </p:nvSpPr>
        <p:spPr>
          <a:xfrm>
            <a:off x="9646920" y="1536192"/>
            <a:ext cx="201168" cy="146304"/>
          </a:xfrm>
          <a:prstGeom prst="rect">
            <a:avLst/>
          </a:prstGeom>
          <a:solidFill>
            <a:srgbClr val="007DB6"/>
          </a:solidFill>
          <a:ln w="9525">
            <a:solidFill>
              <a:srgbClr val="007DB6"/>
            </a:solidFill>
            <a:prstDash val="solid"/>
          </a:ln>
        </p:spPr>
        <p:txBody>
          <a:bodyPr/>
          <a:p/>
        </p:txBody>
      </p:sp>
      <p:sp>
        <p:nvSpPr>
          <p:cNvPr id="86" name="Text 83"/>
          <p:cNvSpPr txBox="1"/>
          <p:nvPr/>
        </p:nvSpPr>
        <p:spPr>
          <a:xfrm>
            <a:off x="9921240" y="1481328"/>
            <a:ext cx="822960" cy="256032"/>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Core</a:t>
            </a:r>
            <a:endParaRPr lang="en-US" sz="900" dirty="0"/>
          </a:p>
        </p:txBody>
      </p:sp>
      <p:sp>
        <p:nvSpPr>
          <p:cNvPr id="87" name="Shape 84"/>
          <p:cNvSpPr/>
          <p:nvPr/>
        </p:nvSpPr>
        <p:spPr>
          <a:xfrm>
            <a:off x="10698480" y="1536192"/>
            <a:ext cx="201168" cy="146304"/>
          </a:xfrm>
          <a:prstGeom prst="rect">
            <a:avLst/>
          </a:prstGeom>
          <a:solidFill>
            <a:srgbClr val="0A1E33"/>
          </a:solidFill>
          <a:ln w="9525">
            <a:solidFill>
              <a:srgbClr val="0A1E33"/>
            </a:solidFill>
            <a:prstDash val="solid"/>
          </a:ln>
        </p:spPr>
        <p:txBody>
          <a:bodyPr/>
          <a:p/>
        </p:txBody>
      </p:sp>
      <p:sp>
        <p:nvSpPr>
          <p:cNvPr id="88" name="Text 85"/>
          <p:cNvSpPr txBox="1"/>
          <p:nvPr/>
        </p:nvSpPr>
        <p:spPr>
          <a:xfrm>
            <a:off x="10972800" y="1481328"/>
            <a:ext cx="822960" cy="256032"/>
          </a:xfrm>
          <a:prstGeom prst="rect">
            <a:avLst/>
          </a:prstGeom>
          <a:noFill/>
          <a:ln/>
        </p:spPr>
        <p:txBody>
          <a:bodyPr wrap="square" lIns="0" tIns="0" rIns="0" bIns="0" rtlCol="0" anchor="ctr"/>
          <a:lstStyle/>
          <a:p>
            <a:pPr algn="l" indent="0" marL="0">
              <a:buNone/>
            </a:pPr>
            <a:r>
              <a:rPr lang="en-US" sz="900" dirty="0">
                <a:solidFill>
                  <a:srgbClr val="5F7183"/>
                </a:solidFill>
                <a:latin typeface="Calibri" pitchFamily="34" charset="0"/>
                <a:ea typeface="Calibri" pitchFamily="34" charset="-122"/>
                <a:cs typeface="Calibri" pitchFamily="34" charset="-120"/>
              </a:rPr>
              <a:t>Project</a:t>
            </a:r>
            <a:endParaRPr lang="en-US" sz="9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93" fill="hold">
                      <p:stCondLst>
                        <p:cond delay="indefinite"/>
                      </p:stCondLst>
                      <p:childTnLst>
                        <p:par>
                          <p:cTn id="9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par>
                                <p:cTn id="51" presetID="10" presetClass="entr" presetSubtype="0" fill="hold" grpId="0" nodeType="withEffect">
                                  <p:stCondLst>
                                    <p:cond delay="90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400"/>
                                        <p:tgtEl>
                                          <p:spTgt spid="37"/>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400"/>
                                        <p:tgtEl>
                                          <p:spTgt spid="38"/>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400"/>
                                        <p:tgtEl>
                                          <p:spTgt spid="39"/>
                                        </p:tgtEl>
                                      </p:cBhvr>
                                    </p:animEffect>
                                  </p:childTnLst>
                                </p:cTn>
                              </p:par>
                              <p:par>
                                <p:cTn id="60" presetID="10" presetClass="entr" presetSubtype="0" fill="hold" grpId="0" nodeType="withEffect">
                                  <p:stCondLst>
                                    <p:cond delay="90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400"/>
                                        <p:tgtEl>
                                          <p:spTgt spid="40"/>
                                        </p:tgtEl>
                                      </p:cBhvr>
                                    </p:animEffect>
                                  </p:childTnLst>
                                </p:cTn>
                              </p:par>
                              <p:par>
                                <p:cTn id="63" presetID="10" presetClass="entr" presetSubtype="0" fill="hold" grpId="0" nodeType="withEffect">
                                  <p:stCondLst>
                                    <p:cond delay="90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400"/>
                                        <p:tgtEl>
                                          <p:spTgt spid="41"/>
                                        </p:tgtEl>
                                      </p:cBhvr>
                                    </p:animEffect>
                                  </p:childTnLst>
                                </p:cTn>
                              </p:par>
                              <p:par>
                                <p:cTn id="66" presetID="10" presetClass="entr" presetSubtype="0" fill="hold" grpId="0" nodeType="withEffect">
                                  <p:stCondLst>
                                    <p:cond delay="90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400"/>
                                        <p:tgtEl>
                                          <p:spTgt spid="42"/>
                                        </p:tgtEl>
                                      </p:cBhvr>
                                    </p:animEffect>
                                  </p:childTnLst>
                                </p:cTn>
                              </p:par>
                              <p:par>
                                <p:cTn id="69" presetID="10" presetClass="entr" presetSubtype="0" fill="hold" grpId="0" nodeType="withEffect">
                                  <p:stCondLst>
                                    <p:cond delay="90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400"/>
                                        <p:tgtEl>
                                          <p:spTgt spid="43"/>
                                        </p:tgtEl>
                                      </p:cBhvr>
                                    </p:animEffect>
                                  </p:childTnLst>
                                </p:cTn>
                              </p:par>
                              <p:par>
                                <p:cTn id="72" presetID="10" presetClass="entr" presetSubtype="0" fill="hold" grpId="0" nodeType="withEffect">
                                  <p:stCondLst>
                                    <p:cond delay="900"/>
                                  </p:stCondLst>
                                  <p:childTnLst>
                                    <p:set>
                                      <p:cBhvr>
                                        <p:cTn id="73" dur="1" fill="hold">
                                          <p:stCondLst>
                                            <p:cond delay="0"/>
                                          </p:stCondLst>
                                        </p:cTn>
                                        <p:tgtEl>
                                          <p:spTgt spid="44"/>
                                        </p:tgtEl>
                                        <p:attrNameLst>
                                          <p:attrName>style.visibility</p:attrName>
                                        </p:attrNameLst>
                                      </p:cBhvr>
                                      <p:to>
                                        <p:strVal val="visible"/>
                                      </p:to>
                                    </p:set>
                                    <p:animEffect transition="in" filter="fade">
                                      <p:cBhvr>
                                        <p:cTn id="74" dur="400"/>
                                        <p:tgtEl>
                                          <p:spTgt spid="44"/>
                                        </p:tgtEl>
                                      </p:cBhvr>
                                    </p:animEffect>
                                  </p:childTnLst>
                                </p:cTn>
                              </p:par>
                              <p:par>
                                <p:cTn id="75" presetID="10" presetClass="entr" presetSubtype="0" fill="hold" grpId="0" nodeType="withEffect">
                                  <p:stCondLst>
                                    <p:cond delay="900"/>
                                  </p:stCondLst>
                                  <p:childTnLst>
                                    <p:set>
                                      <p:cBhvr>
                                        <p:cTn id="76" dur="1" fill="hold">
                                          <p:stCondLst>
                                            <p:cond delay="0"/>
                                          </p:stCondLst>
                                        </p:cTn>
                                        <p:tgtEl>
                                          <p:spTgt spid="45"/>
                                        </p:tgtEl>
                                        <p:attrNameLst>
                                          <p:attrName>style.visibility</p:attrName>
                                        </p:attrNameLst>
                                      </p:cBhvr>
                                      <p:to>
                                        <p:strVal val="visible"/>
                                      </p:to>
                                    </p:set>
                                    <p:animEffect transition="in" filter="fade">
                                      <p:cBhvr>
                                        <p:cTn id="77" dur="400"/>
                                        <p:tgtEl>
                                          <p:spTgt spid="45"/>
                                        </p:tgtEl>
                                      </p:cBhvr>
                                    </p:animEffect>
                                  </p:childTnLst>
                                </p:cTn>
                              </p:par>
                              <p:par>
                                <p:cTn id="78" presetID="10" presetClass="entr" presetSubtype="0" fill="hold" grpId="0" nodeType="withEffect">
                                  <p:stCondLst>
                                    <p:cond delay="900"/>
                                  </p:stCondLst>
                                  <p:childTnLst>
                                    <p:set>
                                      <p:cBhvr>
                                        <p:cTn id="79" dur="1" fill="hold">
                                          <p:stCondLst>
                                            <p:cond delay="0"/>
                                          </p:stCondLst>
                                        </p:cTn>
                                        <p:tgtEl>
                                          <p:spTgt spid="46"/>
                                        </p:tgtEl>
                                        <p:attrNameLst>
                                          <p:attrName>style.visibility</p:attrName>
                                        </p:attrNameLst>
                                      </p:cBhvr>
                                      <p:to>
                                        <p:strVal val="visible"/>
                                      </p:to>
                                    </p:set>
                                    <p:animEffect transition="in" filter="fade">
                                      <p:cBhvr>
                                        <p:cTn id="80" dur="400"/>
                                        <p:tgtEl>
                                          <p:spTgt spid="46"/>
                                        </p:tgtEl>
                                      </p:cBhvr>
                                    </p:animEffect>
                                  </p:childTnLst>
                                </p:cTn>
                              </p:par>
                              <p:par>
                                <p:cTn id="81" presetID="10" presetClass="entr" presetSubtype="0" fill="hold" grpId="0" nodeType="withEffect">
                                  <p:stCondLst>
                                    <p:cond delay="900"/>
                                  </p:stCondLst>
                                  <p:childTnLst>
                                    <p:set>
                                      <p:cBhvr>
                                        <p:cTn id="82" dur="1" fill="hold">
                                          <p:stCondLst>
                                            <p:cond delay="0"/>
                                          </p:stCondLst>
                                        </p:cTn>
                                        <p:tgtEl>
                                          <p:spTgt spid="47"/>
                                        </p:tgtEl>
                                        <p:attrNameLst>
                                          <p:attrName>style.visibility</p:attrName>
                                        </p:attrNameLst>
                                      </p:cBhvr>
                                      <p:to>
                                        <p:strVal val="visible"/>
                                      </p:to>
                                    </p:set>
                                    <p:animEffect transition="in" filter="fade">
                                      <p:cBhvr>
                                        <p:cTn id="83" dur="400"/>
                                        <p:tgtEl>
                                          <p:spTgt spid="47"/>
                                        </p:tgtEl>
                                      </p:cBhvr>
                                    </p:animEffect>
                                  </p:childTnLst>
                                </p:cTn>
                              </p:par>
                              <p:par>
                                <p:cTn id="84" presetID="10" presetClass="entr" presetSubtype="0" fill="hold" grpId="0" nodeType="withEffect">
                                  <p:stCondLst>
                                    <p:cond delay="900"/>
                                  </p:stCondLst>
                                  <p:childTnLst>
                                    <p:set>
                                      <p:cBhvr>
                                        <p:cTn id="85" dur="1" fill="hold">
                                          <p:stCondLst>
                                            <p:cond delay="0"/>
                                          </p:stCondLst>
                                        </p:cTn>
                                        <p:tgtEl>
                                          <p:spTgt spid="48"/>
                                        </p:tgtEl>
                                        <p:attrNameLst>
                                          <p:attrName>style.visibility</p:attrName>
                                        </p:attrNameLst>
                                      </p:cBhvr>
                                      <p:to>
                                        <p:strVal val="visible"/>
                                      </p:to>
                                    </p:set>
                                    <p:animEffect transition="in" filter="fade">
                                      <p:cBhvr>
                                        <p:cTn id="86" dur="400"/>
                                        <p:tgtEl>
                                          <p:spTgt spid="48"/>
                                        </p:tgtEl>
                                      </p:cBhvr>
                                    </p:animEffect>
                                  </p:childTnLst>
                                </p:cTn>
                              </p:par>
                              <p:par>
                                <p:cTn id="87" presetID="10" presetClass="entr" presetSubtype="0" fill="hold" grpId="0" nodeType="withEffect">
                                  <p:stCondLst>
                                    <p:cond delay="900"/>
                                  </p:stCondLst>
                                  <p:childTnLst>
                                    <p:set>
                                      <p:cBhvr>
                                        <p:cTn id="88" dur="1" fill="hold">
                                          <p:stCondLst>
                                            <p:cond delay="0"/>
                                          </p:stCondLst>
                                        </p:cTn>
                                        <p:tgtEl>
                                          <p:spTgt spid="49"/>
                                        </p:tgtEl>
                                        <p:attrNameLst>
                                          <p:attrName>style.visibility</p:attrName>
                                        </p:attrNameLst>
                                      </p:cBhvr>
                                      <p:to>
                                        <p:strVal val="visible"/>
                                      </p:to>
                                    </p:set>
                                    <p:animEffect transition="in" filter="fade">
                                      <p:cBhvr>
                                        <p:cTn id="89" dur="400"/>
                                        <p:tgtEl>
                                          <p:spTgt spid="49"/>
                                        </p:tgtEl>
                                      </p:cBhvr>
                                    </p:animEffect>
                                  </p:childTnLst>
                                </p:cTn>
                              </p:par>
                              <p:par>
                                <p:cTn id="90" presetID="10" presetClass="entr" presetSubtype="0" fill="hold" grpId="0" nodeType="withEffect">
                                  <p:stCondLst>
                                    <p:cond delay="900"/>
                                  </p:stCondLst>
                                  <p:childTnLst>
                                    <p:set>
                                      <p:cBhvr>
                                        <p:cTn id="91" dur="1" fill="hold">
                                          <p:stCondLst>
                                            <p:cond delay="0"/>
                                          </p:stCondLst>
                                        </p:cTn>
                                        <p:tgtEl>
                                          <p:spTgt spid="50"/>
                                        </p:tgtEl>
                                        <p:attrNameLst>
                                          <p:attrName>style.visibility</p:attrName>
                                        </p:attrNameLst>
                                      </p:cBhvr>
                                      <p:to>
                                        <p:strVal val="visible"/>
                                      </p:to>
                                    </p:set>
                                    <p:animEffect transition="in" filter="fade">
                                      <p:cBhvr>
                                        <p:cTn id="92" dur="400"/>
                                        <p:tgtEl>
                                          <p:spTgt spid="50"/>
                                        </p:tgtEl>
                                      </p:cBhvr>
                                    </p:animEffect>
                                  </p:childTnLst>
                                </p:cTn>
                              </p:par>
                            </p:childTnLst>
                          </p:cTn>
                        </p:par>
                      </p:childTnLst>
                    </p:cTn>
                  </p:par>
                  <p:par>
                    <p:cTn id="191" fill="hold">
                      <p:stCondLst>
                        <p:cond delay="indefinite"/>
                      </p:stCondLst>
                      <p:childTnLst>
                        <p:par>
                          <p:cTn id="192"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00"/>
                                        <p:tgtEl>
                                          <p:spTgt spid="51"/>
                                        </p:tgtEl>
                                      </p:cBhvr>
                                    </p:animEffect>
                                  </p:childTnLst>
                                </p:cTn>
                              </p:par>
                              <p:par>
                                <p:cTn id="98" presetID="10" presetClass="entr" presetSubtype="0" fill="hold" grpId="0" nodeType="withEffect">
                                  <p:stCondLst>
                                    <p:cond delay="9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400"/>
                                        <p:tgtEl>
                                          <p:spTgt spid="52"/>
                                        </p:tgtEl>
                                      </p:cBhvr>
                                    </p:animEffect>
                                  </p:childTnLst>
                                </p:cTn>
                              </p:par>
                              <p:par>
                                <p:cTn id="101" presetID="10" presetClass="entr" presetSubtype="0" fill="hold" grpId="0" nodeType="withEffect">
                                  <p:stCondLst>
                                    <p:cond delay="18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400"/>
                                        <p:tgtEl>
                                          <p:spTgt spid="53"/>
                                        </p:tgtEl>
                                      </p:cBhvr>
                                    </p:animEffect>
                                  </p:childTnLst>
                                </p:cTn>
                              </p:par>
                              <p:par>
                                <p:cTn id="104" presetID="10" presetClass="entr" presetSubtype="0" fill="hold" grpId="0" nodeType="withEffect">
                                  <p:stCondLst>
                                    <p:cond delay="270"/>
                                  </p:stCondLst>
                                  <p:childTnLst>
                                    <p:set>
                                      <p:cBhvr>
                                        <p:cTn id="105" dur="1" fill="hold">
                                          <p:stCondLst>
                                            <p:cond delay="0"/>
                                          </p:stCondLst>
                                        </p:cTn>
                                        <p:tgtEl>
                                          <p:spTgt spid="54"/>
                                        </p:tgtEl>
                                        <p:attrNameLst>
                                          <p:attrName>style.visibility</p:attrName>
                                        </p:attrNameLst>
                                      </p:cBhvr>
                                      <p:to>
                                        <p:strVal val="visible"/>
                                      </p:to>
                                    </p:set>
                                    <p:animEffect transition="in" filter="fade">
                                      <p:cBhvr>
                                        <p:cTn id="106" dur="400"/>
                                        <p:tgtEl>
                                          <p:spTgt spid="54"/>
                                        </p:tgtEl>
                                      </p:cBhvr>
                                    </p:animEffect>
                                  </p:childTnLst>
                                </p:cTn>
                              </p:par>
                              <p:par>
                                <p:cTn id="107" presetID="10" presetClass="entr" presetSubtype="0" fill="hold" grpId="0" nodeType="withEffect">
                                  <p:stCondLst>
                                    <p:cond delay="36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400"/>
                                        <p:tgtEl>
                                          <p:spTgt spid="55"/>
                                        </p:tgtEl>
                                      </p:cBhvr>
                                    </p:animEffect>
                                  </p:childTnLst>
                                </p:cTn>
                              </p:par>
                              <p:par>
                                <p:cTn id="110" presetID="10" presetClass="entr" presetSubtype="0" fill="hold" grpId="0" nodeType="withEffect">
                                  <p:stCondLst>
                                    <p:cond delay="450"/>
                                  </p:stCondLst>
                                  <p:childTnLst>
                                    <p:set>
                                      <p:cBhvr>
                                        <p:cTn id="111" dur="1" fill="hold">
                                          <p:stCondLst>
                                            <p:cond delay="0"/>
                                          </p:stCondLst>
                                        </p:cTn>
                                        <p:tgtEl>
                                          <p:spTgt spid="56"/>
                                        </p:tgtEl>
                                        <p:attrNameLst>
                                          <p:attrName>style.visibility</p:attrName>
                                        </p:attrNameLst>
                                      </p:cBhvr>
                                      <p:to>
                                        <p:strVal val="visible"/>
                                      </p:to>
                                    </p:set>
                                    <p:animEffect transition="in" filter="fade">
                                      <p:cBhvr>
                                        <p:cTn id="112" dur="400"/>
                                        <p:tgtEl>
                                          <p:spTgt spid="56"/>
                                        </p:tgtEl>
                                      </p:cBhvr>
                                    </p:animEffect>
                                  </p:childTnLst>
                                </p:cTn>
                              </p:par>
                              <p:par>
                                <p:cTn id="113" presetID="10" presetClass="entr" presetSubtype="0" fill="hold" grpId="0" nodeType="withEffect">
                                  <p:stCondLst>
                                    <p:cond delay="540"/>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400"/>
                                        <p:tgtEl>
                                          <p:spTgt spid="57"/>
                                        </p:tgtEl>
                                      </p:cBhvr>
                                    </p:animEffect>
                                  </p:childTnLst>
                                </p:cTn>
                              </p:par>
                              <p:par>
                                <p:cTn id="116" presetID="10" presetClass="entr" presetSubtype="0" fill="hold" grpId="0" nodeType="withEffect">
                                  <p:stCondLst>
                                    <p:cond delay="630"/>
                                  </p:stCondLst>
                                  <p:childTnLst>
                                    <p:set>
                                      <p:cBhvr>
                                        <p:cTn id="117" dur="1" fill="hold">
                                          <p:stCondLst>
                                            <p:cond delay="0"/>
                                          </p:stCondLst>
                                        </p:cTn>
                                        <p:tgtEl>
                                          <p:spTgt spid="58"/>
                                        </p:tgtEl>
                                        <p:attrNameLst>
                                          <p:attrName>style.visibility</p:attrName>
                                        </p:attrNameLst>
                                      </p:cBhvr>
                                      <p:to>
                                        <p:strVal val="visible"/>
                                      </p:to>
                                    </p:set>
                                    <p:animEffect transition="in" filter="fade">
                                      <p:cBhvr>
                                        <p:cTn id="118" dur="400"/>
                                        <p:tgtEl>
                                          <p:spTgt spid="58"/>
                                        </p:tgtEl>
                                      </p:cBhvr>
                                    </p:animEffect>
                                  </p:childTnLst>
                                </p:cTn>
                              </p:par>
                              <p:par>
                                <p:cTn id="119" presetID="10" presetClass="entr" presetSubtype="0" fill="hold" grpId="0" nodeType="withEffect">
                                  <p:stCondLst>
                                    <p:cond delay="720"/>
                                  </p:stCondLst>
                                  <p:childTnLst>
                                    <p:set>
                                      <p:cBhvr>
                                        <p:cTn id="120" dur="1" fill="hold">
                                          <p:stCondLst>
                                            <p:cond delay="0"/>
                                          </p:stCondLst>
                                        </p:cTn>
                                        <p:tgtEl>
                                          <p:spTgt spid="59"/>
                                        </p:tgtEl>
                                        <p:attrNameLst>
                                          <p:attrName>style.visibility</p:attrName>
                                        </p:attrNameLst>
                                      </p:cBhvr>
                                      <p:to>
                                        <p:strVal val="visible"/>
                                      </p:to>
                                    </p:set>
                                    <p:animEffect transition="in" filter="fade">
                                      <p:cBhvr>
                                        <p:cTn id="121" dur="400"/>
                                        <p:tgtEl>
                                          <p:spTgt spid="59"/>
                                        </p:tgtEl>
                                      </p:cBhvr>
                                    </p:animEffect>
                                  </p:childTnLst>
                                </p:cTn>
                              </p:par>
                              <p:par>
                                <p:cTn id="122" presetID="10" presetClass="entr" presetSubtype="0" fill="hold" grpId="0" nodeType="withEffect">
                                  <p:stCondLst>
                                    <p:cond delay="810"/>
                                  </p:stCondLst>
                                  <p:childTnLst>
                                    <p:set>
                                      <p:cBhvr>
                                        <p:cTn id="123" dur="1" fill="hold">
                                          <p:stCondLst>
                                            <p:cond delay="0"/>
                                          </p:stCondLst>
                                        </p:cTn>
                                        <p:tgtEl>
                                          <p:spTgt spid="60"/>
                                        </p:tgtEl>
                                        <p:attrNameLst>
                                          <p:attrName>style.visibility</p:attrName>
                                        </p:attrNameLst>
                                      </p:cBhvr>
                                      <p:to>
                                        <p:strVal val="visible"/>
                                      </p:to>
                                    </p:set>
                                    <p:animEffect transition="in" filter="fade">
                                      <p:cBhvr>
                                        <p:cTn id="124" dur="400"/>
                                        <p:tgtEl>
                                          <p:spTgt spid="60"/>
                                        </p:tgtEl>
                                      </p:cBhvr>
                                    </p:animEffect>
                                  </p:childTnLst>
                                </p:cTn>
                              </p:par>
                              <p:par>
                                <p:cTn id="125" presetID="10" presetClass="entr" presetSubtype="0" fill="hold" grpId="0" nodeType="withEffect">
                                  <p:stCondLst>
                                    <p:cond delay="900"/>
                                  </p:stCondLst>
                                  <p:childTnLst>
                                    <p:set>
                                      <p:cBhvr>
                                        <p:cTn id="126" dur="1" fill="hold">
                                          <p:stCondLst>
                                            <p:cond delay="0"/>
                                          </p:stCondLst>
                                        </p:cTn>
                                        <p:tgtEl>
                                          <p:spTgt spid="61"/>
                                        </p:tgtEl>
                                        <p:attrNameLst>
                                          <p:attrName>style.visibility</p:attrName>
                                        </p:attrNameLst>
                                      </p:cBhvr>
                                      <p:to>
                                        <p:strVal val="visible"/>
                                      </p:to>
                                    </p:set>
                                    <p:animEffect transition="in" filter="fade">
                                      <p:cBhvr>
                                        <p:cTn id="127" dur="400"/>
                                        <p:tgtEl>
                                          <p:spTgt spid="61"/>
                                        </p:tgtEl>
                                      </p:cBhvr>
                                    </p:animEffect>
                                  </p:childTnLst>
                                </p:cTn>
                              </p:par>
                              <p:par>
                                <p:cTn id="128" presetID="10" presetClass="entr" presetSubtype="0" fill="hold" grpId="0" nodeType="withEffect">
                                  <p:stCondLst>
                                    <p:cond delay="900"/>
                                  </p:stCondLst>
                                  <p:childTnLst>
                                    <p:set>
                                      <p:cBhvr>
                                        <p:cTn id="129" dur="1" fill="hold">
                                          <p:stCondLst>
                                            <p:cond delay="0"/>
                                          </p:stCondLst>
                                        </p:cTn>
                                        <p:tgtEl>
                                          <p:spTgt spid="62"/>
                                        </p:tgtEl>
                                        <p:attrNameLst>
                                          <p:attrName>style.visibility</p:attrName>
                                        </p:attrNameLst>
                                      </p:cBhvr>
                                      <p:to>
                                        <p:strVal val="visible"/>
                                      </p:to>
                                    </p:set>
                                    <p:animEffect transition="in" filter="fade">
                                      <p:cBhvr>
                                        <p:cTn id="130" dur="400"/>
                                        <p:tgtEl>
                                          <p:spTgt spid="62"/>
                                        </p:tgtEl>
                                      </p:cBhvr>
                                    </p:animEffect>
                                  </p:childTnLst>
                                </p:cTn>
                              </p:par>
                              <p:par>
                                <p:cTn id="131" presetID="10" presetClass="entr" presetSubtype="0" fill="hold" grpId="0" nodeType="withEffect">
                                  <p:stCondLst>
                                    <p:cond delay="900"/>
                                  </p:stCondLst>
                                  <p:childTnLst>
                                    <p:set>
                                      <p:cBhvr>
                                        <p:cTn id="132" dur="1" fill="hold">
                                          <p:stCondLst>
                                            <p:cond delay="0"/>
                                          </p:stCondLst>
                                        </p:cTn>
                                        <p:tgtEl>
                                          <p:spTgt spid="63"/>
                                        </p:tgtEl>
                                        <p:attrNameLst>
                                          <p:attrName>style.visibility</p:attrName>
                                        </p:attrNameLst>
                                      </p:cBhvr>
                                      <p:to>
                                        <p:strVal val="visible"/>
                                      </p:to>
                                    </p:set>
                                    <p:animEffect transition="in" filter="fade">
                                      <p:cBhvr>
                                        <p:cTn id="133" dur="400"/>
                                        <p:tgtEl>
                                          <p:spTgt spid="63"/>
                                        </p:tgtEl>
                                      </p:cBhvr>
                                    </p:animEffect>
                                  </p:childTnLst>
                                </p:cTn>
                              </p:par>
                              <p:par>
                                <p:cTn id="134" presetID="10" presetClass="entr" presetSubtype="0" fill="hold" grpId="0" nodeType="withEffect">
                                  <p:stCondLst>
                                    <p:cond delay="900"/>
                                  </p:stCondLst>
                                  <p:childTnLst>
                                    <p:set>
                                      <p:cBhvr>
                                        <p:cTn id="135" dur="1" fill="hold">
                                          <p:stCondLst>
                                            <p:cond delay="0"/>
                                          </p:stCondLst>
                                        </p:cTn>
                                        <p:tgtEl>
                                          <p:spTgt spid="64"/>
                                        </p:tgtEl>
                                        <p:attrNameLst>
                                          <p:attrName>style.visibility</p:attrName>
                                        </p:attrNameLst>
                                      </p:cBhvr>
                                      <p:to>
                                        <p:strVal val="visible"/>
                                      </p:to>
                                    </p:set>
                                    <p:animEffect transition="in" filter="fade">
                                      <p:cBhvr>
                                        <p:cTn id="136" dur="400"/>
                                        <p:tgtEl>
                                          <p:spTgt spid="64"/>
                                        </p:tgtEl>
                                      </p:cBhvr>
                                    </p:animEffect>
                                  </p:childTnLst>
                                </p:cTn>
                              </p:par>
                              <p:par>
                                <p:cTn id="137" presetID="10" presetClass="entr" presetSubtype="0" fill="hold" grpId="0" nodeType="withEffect">
                                  <p:stCondLst>
                                    <p:cond delay="900"/>
                                  </p:stCondLst>
                                  <p:childTnLst>
                                    <p:set>
                                      <p:cBhvr>
                                        <p:cTn id="138" dur="1" fill="hold">
                                          <p:stCondLst>
                                            <p:cond delay="0"/>
                                          </p:stCondLst>
                                        </p:cTn>
                                        <p:tgtEl>
                                          <p:spTgt spid="65"/>
                                        </p:tgtEl>
                                        <p:attrNameLst>
                                          <p:attrName>style.visibility</p:attrName>
                                        </p:attrNameLst>
                                      </p:cBhvr>
                                      <p:to>
                                        <p:strVal val="visible"/>
                                      </p:to>
                                    </p:set>
                                    <p:animEffect transition="in" filter="fade">
                                      <p:cBhvr>
                                        <p:cTn id="139" dur="400"/>
                                        <p:tgtEl>
                                          <p:spTgt spid="65"/>
                                        </p:tgtEl>
                                      </p:cBhvr>
                                    </p:animEffect>
                                  </p:childTnLst>
                                </p:cTn>
                              </p:par>
                              <p:par>
                                <p:cTn id="140" presetID="10" presetClass="entr" presetSubtype="0" fill="hold" grpId="0" nodeType="withEffect">
                                  <p:stCondLst>
                                    <p:cond delay="900"/>
                                  </p:stCondLst>
                                  <p:childTnLst>
                                    <p:set>
                                      <p:cBhvr>
                                        <p:cTn id="141" dur="1" fill="hold">
                                          <p:stCondLst>
                                            <p:cond delay="0"/>
                                          </p:stCondLst>
                                        </p:cTn>
                                        <p:tgtEl>
                                          <p:spTgt spid="66"/>
                                        </p:tgtEl>
                                        <p:attrNameLst>
                                          <p:attrName>style.visibility</p:attrName>
                                        </p:attrNameLst>
                                      </p:cBhvr>
                                      <p:to>
                                        <p:strVal val="visible"/>
                                      </p:to>
                                    </p:set>
                                    <p:animEffect transition="in" filter="fade">
                                      <p:cBhvr>
                                        <p:cTn id="142" dur="400"/>
                                        <p:tgtEl>
                                          <p:spTgt spid="66"/>
                                        </p:tgtEl>
                                      </p:cBhvr>
                                    </p:animEffect>
                                  </p:childTnLst>
                                </p:cTn>
                              </p:par>
                              <p:par>
                                <p:cTn id="143" presetID="10" presetClass="entr" presetSubtype="0" fill="hold" grpId="0" nodeType="withEffect">
                                  <p:stCondLst>
                                    <p:cond delay="900"/>
                                  </p:stCondLst>
                                  <p:childTnLst>
                                    <p:set>
                                      <p:cBhvr>
                                        <p:cTn id="144" dur="1" fill="hold">
                                          <p:stCondLst>
                                            <p:cond delay="0"/>
                                          </p:stCondLst>
                                        </p:cTn>
                                        <p:tgtEl>
                                          <p:spTgt spid="67"/>
                                        </p:tgtEl>
                                        <p:attrNameLst>
                                          <p:attrName>style.visibility</p:attrName>
                                        </p:attrNameLst>
                                      </p:cBhvr>
                                      <p:to>
                                        <p:strVal val="visible"/>
                                      </p:to>
                                    </p:set>
                                    <p:animEffect transition="in" filter="fade">
                                      <p:cBhvr>
                                        <p:cTn id="145" dur="400"/>
                                        <p:tgtEl>
                                          <p:spTgt spid="67"/>
                                        </p:tgtEl>
                                      </p:cBhvr>
                                    </p:animEffect>
                                  </p:childTnLst>
                                </p:cTn>
                              </p:par>
                              <p:par>
                                <p:cTn id="146" presetID="10" presetClass="entr" presetSubtype="0" fill="hold" grpId="0" nodeType="withEffect">
                                  <p:stCondLst>
                                    <p:cond delay="900"/>
                                  </p:stCondLst>
                                  <p:childTnLst>
                                    <p:set>
                                      <p:cBhvr>
                                        <p:cTn id="147" dur="1" fill="hold">
                                          <p:stCondLst>
                                            <p:cond delay="0"/>
                                          </p:stCondLst>
                                        </p:cTn>
                                        <p:tgtEl>
                                          <p:spTgt spid="68"/>
                                        </p:tgtEl>
                                        <p:attrNameLst>
                                          <p:attrName>style.visibility</p:attrName>
                                        </p:attrNameLst>
                                      </p:cBhvr>
                                      <p:to>
                                        <p:strVal val="visible"/>
                                      </p:to>
                                    </p:set>
                                    <p:animEffect transition="in" filter="fade">
                                      <p:cBhvr>
                                        <p:cTn id="148" dur="400"/>
                                        <p:tgtEl>
                                          <p:spTgt spid="68"/>
                                        </p:tgtEl>
                                      </p:cBhvr>
                                    </p:animEffect>
                                  </p:childTnLst>
                                </p:cTn>
                              </p:par>
                              <p:par>
                                <p:cTn id="149" presetID="10" presetClass="entr" presetSubtype="0" fill="hold" grpId="0" nodeType="withEffect">
                                  <p:stCondLst>
                                    <p:cond delay="900"/>
                                  </p:stCondLst>
                                  <p:childTnLst>
                                    <p:set>
                                      <p:cBhvr>
                                        <p:cTn id="150" dur="1" fill="hold">
                                          <p:stCondLst>
                                            <p:cond delay="0"/>
                                          </p:stCondLst>
                                        </p:cTn>
                                        <p:tgtEl>
                                          <p:spTgt spid="69"/>
                                        </p:tgtEl>
                                        <p:attrNameLst>
                                          <p:attrName>style.visibility</p:attrName>
                                        </p:attrNameLst>
                                      </p:cBhvr>
                                      <p:to>
                                        <p:strVal val="visible"/>
                                      </p:to>
                                    </p:set>
                                    <p:animEffect transition="in" filter="fade">
                                      <p:cBhvr>
                                        <p:cTn id="151" dur="400"/>
                                        <p:tgtEl>
                                          <p:spTgt spid="69"/>
                                        </p:tgtEl>
                                      </p:cBhvr>
                                    </p:animEffect>
                                  </p:childTnLst>
                                </p:cTn>
                              </p:par>
                              <p:par>
                                <p:cTn id="152" presetID="10" presetClass="entr" presetSubtype="0" fill="hold" grpId="0" nodeType="withEffect">
                                  <p:stCondLst>
                                    <p:cond delay="900"/>
                                  </p:stCondLst>
                                  <p:childTnLst>
                                    <p:set>
                                      <p:cBhvr>
                                        <p:cTn id="153" dur="1" fill="hold">
                                          <p:stCondLst>
                                            <p:cond delay="0"/>
                                          </p:stCondLst>
                                        </p:cTn>
                                        <p:tgtEl>
                                          <p:spTgt spid="70"/>
                                        </p:tgtEl>
                                        <p:attrNameLst>
                                          <p:attrName>style.visibility</p:attrName>
                                        </p:attrNameLst>
                                      </p:cBhvr>
                                      <p:to>
                                        <p:strVal val="visible"/>
                                      </p:to>
                                    </p:set>
                                    <p:animEffect transition="in" filter="fade">
                                      <p:cBhvr>
                                        <p:cTn id="154" dur="400"/>
                                        <p:tgtEl>
                                          <p:spTgt spid="70"/>
                                        </p:tgtEl>
                                      </p:cBhvr>
                                    </p:animEffect>
                                  </p:childTnLst>
                                </p:cTn>
                              </p:par>
                              <p:par>
                                <p:cTn id="155" presetID="10" presetClass="entr" presetSubtype="0" fill="hold" grpId="0" nodeType="withEffect">
                                  <p:stCondLst>
                                    <p:cond delay="900"/>
                                  </p:stCondLst>
                                  <p:childTnLst>
                                    <p:set>
                                      <p:cBhvr>
                                        <p:cTn id="156" dur="1" fill="hold">
                                          <p:stCondLst>
                                            <p:cond delay="0"/>
                                          </p:stCondLst>
                                        </p:cTn>
                                        <p:tgtEl>
                                          <p:spTgt spid="71"/>
                                        </p:tgtEl>
                                        <p:attrNameLst>
                                          <p:attrName>style.visibility</p:attrName>
                                        </p:attrNameLst>
                                      </p:cBhvr>
                                      <p:to>
                                        <p:strVal val="visible"/>
                                      </p:to>
                                    </p:set>
                                    <p:animEffect transition="in" filter="fade">
                                      <p:cBhvr>
                                        <p:cTn id="157" dur="400"/>
                                        <p:tgtEl>
                                          <p:spTgt spid="71"/>
                                        </p:tgtEl>
                                      </p:cBhvr>
                                    </p:animEffect>
                                  </p:childTnLst>
                                </p:cTn>
                              </p:par>
                              <p:par>
                                <p:cTn id="158" presetID="10" presetClass="entr" presetSubtype="0" fill="hold" grpId="0" nodeType="withEffect">
                                  <p:stCondLst>
                                    <p:cond delay="900"/>
                                  </p:stCondLst>
                                  <p:childTnLst>
                                    <p:set>
                                      <p:cBhvr>
                                        <p:cTn id="159" dur="1" fill="hold">
                                          <p:stCondLst>
                                            <p:cond delay="0"/>
                                          </p:stCondLst>
                                        </p:cTn>
                                        <p:tgtEl>
                                          <p:spTgt spid="72"/>
                                        </p:tgtEl>
                                        <p:attrNameLst>
                                          <p:attrName>style.visibility</p:attrName>
                                        </p:attrNameLst>
                                      </p:cBhvr>
                                      <p:to>
                                        <p:strVal val="visible"/>
                                      </p:to>
                                    </p:set>
                                    <p:animEffect transition="in" filter="fade">
                                      <p:cBhvr>
                                        <p:cTn id="160" dur="400"/>
                                        <p:tgtEl>
                                          <p:spTgt spid="72"/>
                                        </p:tgtEl>
                                      </p:cBhvr>
                                    </p:animEffect>
                                  </p:childTnLst>
                                </p:cTn>
                              </p:par>
                              <p:par>
                                <p:cTn id="161" presetID="10" presetClass="entr" presetSubtype="0" fill="hold" grpId="0" nodeType="withEffect">
                                  <p:stCondLst>
                                    <p:cond delay="900"/>
                                  </p:stCondLst>
                                  <p:childTnLst>
                                    <p:set>
                                      <p:cBhvr>
                                        <p:cTn id="162" dur="1" fill="hold">
                                          <p:stCondLst>
                                            <p:cond delay="0"/>
                                          </p:stCondLst>
                                        </p:cTn>
                                        <p:tgtEl>
                                          <p:spTgt spid="73"/>
                                        </p:tgtEl>
                                        <p:attrNameLst>
                                          <p:attrName>style.visibility</p:attrName>
                                        </p:attrNameLst>
                                      </p:cBhvr>
                                      <p:to>
                                        <p:strVal val="visible"/>
                                      </p:to>
                                    </p:set>
                                    <p:animEffect transition="in" filter="fade">
                                      <p:cBhvr>
                                        <p:cTn id="163" dur="400"/>
                                        <p:tgtEl>
                                          <p:spTgt spid="73"/>
                                        </p:tgtEl>
                                      </p:cBhvr>
                                    </p:animEffect>
                                  </p:childTnLst>
                                </p:cTn>
                              </p:par>
                              <p:par>
                                <p:cTn id="164" presetID="10" presetClass="entr" presetSubtype="0" fill="hold" grpId="0" nodeType="withEffect">
                                  <p:stCondLst>
                                    <p:cond delay="900"/>
                                  </p:stCondLst>
                                  <p:childTnLst>
                                    <p:set>
                                      <p:cBhvr>
                                        <p:cTn id="165" dur="1" fill="hold">
                                          <p:stCondLst>
                                            <p:cond delay="0"/>
                                          </p:stCondLst>
                                        </p:cTn>
                                        <p:tgtEl>
                                          <p:spTgt spid="74"/>
                                        </p:tgtEl>
                                        <p:attrNameLst>
                                          <p:attrName>style.visibility</p:attrName>
                                        </p:attrNameLst>
                                      </p:cBhvr>
                                      <p:to>
                                        <p:strVal val="visible"/>
                                      </p:to>
                                    </p:set>
                                    <p:animEffect transition="in" filter="fade">
                                      <p:cBhvr>
                                        <p:cTn id="166" dur="400"/>
                                        <p:tgtEl>
                                          <p:spTgt spid="74"/>
                                        </p:tgtEl>
                                      </p:cBhvr>
                                    </p:animEffect>
                                  </p:childTnLst>
                                </p:cTn>
                              </p:par>
                              <p:par>
                                <p:cTn id="167" presetID="10" presetClass="entr" presetSubtype="0" fill="hold" grpId="0" nodeType="withEffect">
                                  <p:stCondLst>
                                    <p:cond delay="900"/>
                                  </p:stCondLst>
                                  <p:childTnLst>
                                    <p:set>
                                      <p:cBhvr>
                                        <p:cTn id="168" dur="1" fill="hold">
                                          <p:stCondLst>
                                            <p:cond delay="0"/>
                                          </p:stCondLst>
                                        </p:cTn>
                                        <p:tgtEl>
                                          <p:spTgt spid="75"/>
                                        </p:tgtEl>
                                        <p:attrNameLst>
                                          <p:attrName>style.visibility</p:attrName>
                                        </p:attrNameLst>
                                      </p:cBhvr>
                                      <p:to>
                                        <p:strVal val="visible"/>
                                      </p:to>
                                    </p:set>
                                    <p:animEffect transition="in" filter="fade">
                                      <p:cBhvr>
                                        <p:cTn id="169" dur="400"/>
                                        <p:tgtEl>
                                          <p:spTgt spid="75"/>
                                        </p:tgtEl>
                                      </p:cBhvr>
                                    </p:animEffect>
                                  </p:childTnLst>
                                </p:cTn>
                              </p:par>
                              <p:par>
                                <p:cTn id="170" presetID="10" presetClass="entr" presetSubtype="0" fill="hold" grpId="0" nodeType="withEffect">
                                  <p:stCondLst>
                                    <p:cond delay="900"/>
                                  </p:stCondLst>
                                  <p:childTnLst>
                                    <p:set>
                                      <p:cBhvr>
                                        <p:cTn id="171" dur="1" fill="hold">
                                          <p:stCondLst>
                                            <p:cond delay="0"/>
                                          </p:stCondLst>
                                        </p:cTn>
                                        <p:tgtEl>
                                          <p:spTgt spid="76"/>
                                        </p:tgtEl>
                                        <p:attrNameLst>
                                          <p:attrName>style.visibility</p:attrName>
                                        </p:attrNameLst>
                                      </p:cBhvr>
                                      <p:to>
                                        <p:strVal val="visible"/>
                                      </p:to>
                                    </p:set>
                                    <p:animEffect transition="in" filter="fade">
                                      <p:cBhvr>
                                        <p:cTn id="172" dur="400"/>
                                        <p:tgtEl>
                                          <p:spTgt spid="76"/>
                                        </p:tgtEl>
                                      </p:cBhvr>
                                    </p:animEffect>
                                  </p:childTnLst>
                                </p:cTn>
                              </p:par>
                              <p:par>
                                <p:cTn id="173" presetID="10" presetClass="entr" presetSubtype="0" fill="hold" grpId="0" nodeType="withEffect">
                                  <p:stCondLst>
                                    <p:cond delay="900"/>
                                  </p:stCondLst>
                                  <p:childTnLst>
                                    <p:set>
                                      <p:cBhvr>
                                        <p:cTn id="174" dur="1" fill="hold">
                                          <p:stCondLst>
                                            <p:cond delay="0"/>
                                          </p:stCondLst>
                                        </p:cTn>
                                        <p:tgtEl>
                                          <p:spTgt spid="77"/>
                                        </p:tgtEl>
                                        <p:attrNameLst>
                                          <p:attrName>style.visibility</p:attrName>
                                        </p:attrNameLst>
                                      </p:cBhvr>
                                      <p:to>
                                        <p:strVal val="visible"/>
                                      </p:to>
                                    </p:set>
                                    <p:animEffect transition="in" filter="fade">
                                      <p:cBhvr>
                                        <p:cTn id="175" dur="400"/>
                                        <p:tgtEl>
                                          <p:spTgt spid="77"/>
                                        </p:tgtEl>
                                      </p:cBhvr>
                                    </p:animEffect>
                                  </p:childTnLst>
                                </p:cTn>
                              </p:par>
                              <p:par>
                                <p:cTn id="176" presetID="10" presetClass="entr" presetSubtype="0" fill="hold" grpId="0" nodeType="withEffect">
                                  <p:stCondLst>
                                    <p:cond delay="900"/>
                                  </p:stCondLst>
                                  <p:childTnLst>
                                    <p:set>
                                      <p:cBhvr>
                                        <p:cTn id="177" dur="1" fill="hold">
                                          <p:stCondLst>
                                            <p:cond delay="0"/>
                                          </p:stCondLst>
                                        </p:cTn>
                                        <p:tgtEl>
                                          <p:spTgt spid="78"/>
                                        </p:tgtEl>
                                        <p:attrNameLst>
                                          <p:attrName>style.visibility</p:attrName>
                                        </p:attrNameLst>
                                      </p:cBhvr>
                                      <p:to>
                                        <p:strVal val="visible"/>
                                      </p:to>
                                    </p:set>
                                    <p:animEffect transition="in" filter="fade">
                                      <p:cBhvr>
                                        <p:cTn id="178" dur="400"/>
                                        <p:tgtEl>
                                          <p:spTgt spid="78"/>
                                        </p:tgtEl>
                                      </p:cBhvr>
                                    </p:animEffect>
                                  </p:childTnLst>
                                </p:cTn>
                              </p:par>
                              <p:par>
                                <p:cTn id="179" presetID="10" presetClass="entr" presetSubtype="0" fill="hold" grpId="0" nodeType="withEffect">
                                  <p:stCondLst>
                                    <p:cond delay="900"/>
                                  </p:stCondLst>
                                  <p:childTnLst>
                                    <p:set>
                                      <p:cBhvr>
                                        <p:cTn id="180" dur="1" fill="hold">
                                          <p:stCondLst>
                                            <p:cond delay="0"/>
                                          </p:stCondLst>
                                        </p:cTn>
                                        <p:tgtEl>
                                          <p:spTgt spid="79"/>
                                        </p:tgtEl>
                                        <p:attrNameLst>
                                          <p:attrName>style.visibility</p:attrName>
                                        </p:attrNameLst>
                                      </p:cBhvr>
                                      <p:to>
                                        <p:strVal val="visible"/>
                                      </p:to>
                                    </p:set>
                                    <p:animEffect transition="in" filter="fade">
                                      <p:cBhvr>
                                        <p:cTn id="181" dur="400"/>
                                        <p:tgtEl>
                                          <p:spTgt spid="79"/>
                                        </p:tgtEl>
                                      </p:cBhvr>
                                    </p:animEffect>
                                  </p:childTnLst>
                                </p:cTn>
                              </p:par>
                              <p:par>
                                <p:cTn id="182" presetID="10" presetClass="entr" presetSubtype="0" fill="hold" grpId="0" nodeType="withEffect">
                                  <p:stCondLst>
                                    <p:cond delay="900"/>
                                  </p:stCondLst>
                                  <p:childTnLst>
                                    <p:set>
                                      <p:cBhvr>
                                        <p:cTn id="183" dur="1" fill="hold">
                                          <p:stCondLst>
                                            <p:cond delay="0"/>
                                          </p:stCondLst>
                                        </p:cTn>
                                        <p:tgtEl>
                                          <p:spTgt spid="80"/>
                                        </p:tgtEl>
                                        <p:attrNameLst>
                                          <p:attrName>style.visibility</p:attrName>
                                        </p:attrNameLst>
                                      </p:cBhvr>
                                      <p:to>
                                        <p:strVal val="visible"/>
                                      </p:to>
                                    </p:set>
                                    <p:animEffect transition="in" filter="fade">
                                      <p:cBhvr>
                                        <p:cTn id="184" dur="400"/>
                                        <p:tgtEl>
                                          <p:spTgt spid="80"/>
                                        </p:tgtEl>
                                      </p:cBhvr>
                                    </p:animEffect>
                                  </p:childTnLst>
                                </p:cTn>
                              </p:par>
                              <p:par>
                                <p:cTn id="185" presetID="10" presetClass="entr" presetSubtype="0" fill="hold" grpId="0" nodeType="withEffect">
                                  <p:stCondLst>
                                    <p:cond delay="900"/>
                                  </p:stCondLst>
                                  <p:childTnLst>
                                    <p:set>
                                      <p:cBhvr>
                                        <p:cTn id="186" dur="1" fill="hold">
                                          <p:stCondLst>
                                            <p:cond delay="0"/>
                                          </p:stCondLst>
                                        </p:cTn>
                                        <p:tgtEl>
                                          <p:spTgt spid="81"/>
                                        </p:tgtEl>
                                        <p:attrNameLst>
                                          <p:attrName>style.visibility</p:attrName>
                                        </p:attrNameLst>
                                      </p:cBhvr>
                                      <p:to>
                                        <p:strVal val="visible"/>
                                      </p:to>
                                    </p:set>
                                    <p:animEffect transition="in" filter="fade">
                                      <p:cBhvr>
                                        <p:cTn id="187" dur="400"/>
                                        <p:tgtEl>
                                          <p:spTgt spid="81"/>
                                        </p:tgtEl>
                                      </p:cBhvr>
                                    </p:animEffect>
                                  </p:childTnLst>
                                </p:cTn>
                              </p:par>
                              <p:par>
                                <p:cTn id="188" presetID="10" presetClass="entr" presetSubtype="0" fill="hold" grpId="0" nodeType="withEffect">
                                  <p:stCondLst>
                                    <p:cond delay="900"/>
                                  </p:stCondLst>
                                  <p:childTnLst>
                                    <p:set>
                                      <p:cBhvr>
                                        <p:cTn id="189" dur="1" fill="hold">
                                          <p:stCondLst>
                                            <p:cond delay="0"/>
                                          </p:stCondLst>
                                        </p:cTn>
                                        <p:tgtEl>
                                          <p:spTgt spid="82"/>
                                        </p:tgtEl>
                                        <p:attrNameLst>
                                          <p:attrName>style.visibility</p:attrName>
                                        </p:attrNameLst>
                                      </p:cBhvr>
                                      <p:to>
                                        <p:strVal val="visible"/>
                                      </p:to>
                                    </p:set>
                                    <p:animEffect transition="in" filter="fade">
                                      <p:cBhvr>
                                        <p:cTn id="190"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683" y="175931"/>
            <a:ext cx="471099" cy="471099"/>
          </a:xfrm>
          <a:prstGeom prst="ellipse">
            <a:avLst/>
          </a:prstGeom>
          <a:solidFill>
            <a:srgbClr val="FFFFFF"/>
          </a:solidFill>
          <a:ln w="12700">
            <a:solidFill>
              <a:srgbClr val="FFFFFF"/>
            </a:solidFill>
            <a:prstDash val="solid"/>
          </a:ln>
        </p:spPr>
        <p:txBody>
          <a:bodyPr/>
          <a:p/>
        </p:txBody>
      </p:sp>
      <p:pic>
        <p:nvPicPr>
          <p:cNvPr id="3"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4" name="Text 1"/>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FFFFFF"/>
                </a:solidFill>
                <a:latin typeface="Calibri" pitchFamily="34" charset="0"/>
                <a:ea typeface="Calibri" pitchFamily="34" charset="-122"/>
                <a:cs typeface="Calibri" pitchFamily="34" charset="-120"/>
              </a:rPr>
              <a:t>IITGN CDF (CAA)</a:t>
            </a:r>
            <a:endParaRPr lang="en-US" sz="950" dirty="0"/>
          </a:p>
        </p:txBody>
      </p:sp>
      <p:sp>
        <p:nvSpPr>
          <p:cNvPr id="5" name="Text 2"/>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A9B8CA"/>
                </a:solidFill>
                <a:latin typeface="Calibri" pitchFamily="34" charset="0"/>
                <a:ea typeface="Calibri" pitchFamily="34" charset="-122"/>
                <a:cs typeface="Calibri" pitchFamily="34" charset="-120"/>
              </a:rPr>
              <a:t>COMPETENCY ADVANCEMENT ACADEMY  ·  IIT GANDHINAGAR</a:t>
            </a:r>
            <a:endParaRPr lang="en-US" sz="650" dirty="0"/>
          </a:p>
        </p:txBody>
      </p:sp>
      <p:sp>
        <p:nvSpPr>
          <p:cNvPr id="6" name="Text 3"/>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A9B8CA"/>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7" name="Text 4"/>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A9B8CA"/>
                </a:solidFill>
                <a:latin typeface="Calibri" pitchFamily="34" charset="0"/>
                <a:ea typeface="Calibri" pitchFamily="34" charset="-122"/>
                <a:cs typeface="Calibri" pitchFamily="34" charset="-120"/>
              </a:rPr>
              <a:t>12</a:t>
            </a:r>
            <a:endParaRPr lang="en-US" sz="850" dirty="0"/>
          </a:p>
        </p:txBody>
      </p:sp>
      <p:sp>
        <p:nvSpPr>
          <p:cNvPr id="8" name="Text 5"/>
          <p:cNvSpPr txBox="1"/>
          <p:nvPr/>
        </p:nvSpPr>
        <p:spPr>
          <a:xfrm>
            <a:off x="548640" y="6455664"/>
            <a:ext cx="3657600" cy="201168"/>
          </a:xfrm>
          <a:prstGeom prst="rect">
            <a:avLst/>
          </a:prstGeom>
          <a:noFill/>
          <a:ln/>
        </p:spPr>
        <p:txBody>
          <a:bodyPr wrap="square" lIns="0" tIns="0" rIns="0" bIns="0" rtlCol="0" anchor="t"/>
          <a:lstStyle/>
          <a:p>
            <a:pPr algn="l" indent="0" marL="0">
              <a:buNone/>
            </a:pPr>
            <a:r>
              <a:rPr lang="en-US" sz="850" dirty="0">
                <a:solidFill>
                  <a:srgbClr val="A9B8CA"/>
                </a:solidFill>
                <a:latin typeface="Calibri" pitchFamily="34" charset="0"/>
                <a:ea typeface="Calibri" pitchFamily="34" charset="-122"/>
                <a:cs typeface="Calibri" pitchFamily="34" charset="-120"/>
              </a:rPr>
              <a:t>Academic orientation</a:t>
            </a:r>
            <a:endParaRPr lang="en-US" sz="850" dirty="0"/>
          </a:p>
        </p:txBody>
      </p:sp>
      <p:sp>
        <p:nvSpPr>
          <p:cNvPr id="9" name="anim:1"/>
          <p:cNvSpPr txBox="1"/>
          <p:nvPr/>
        </p:nvSpPr>
        <p:spPr>
          <a:xfrm>
            <a:off x="731520" y="1371600"/>
            <a:ext cx="3657600" cy="1463040"/>
          </a:xfrm>
          <a:prstGeom prst="rect">
            <a:avLst/>
          </a:prstGeom>
          <a:noFill/>
          <a:ln/>
        </p:spPr>
        <p:txBody>
          <a:bodyPr wrap="square" lIns="0" tIns="0" rIns="0" bIns="0" rtlCol="0" anchor="t"/>
          <a:lstStyle/>
          <a:p>
            <a:pPr algn="l" indent="0" marL="0">
              <a:buNone/>
            </a:pPr>
            <a:r>
              <a:rPr lang="en-US" sz="9600" b="1" dirty="0">
                <a:solidFill>
                  <a:srgbClr val="E9B221"/>
                </a:solidFill>
                <a:latin typeface="Calibri" pitchFamily="34" charset="0"/>
                <a:ea typeface="Calibri" pitchFamily="34" charset="-122"/>
                <a:cs typeface="Calibri" pitchFamily="34" charset="-120"/>
              </a:rPr>
              <a:t>03</a:t>
            </a:r>
            <a:endParaRPr lang="en-US" sz="9600" dirty="0"/>
          </a:p>
        </p:txBody>
      </p:sp>
      <p:sp>
        <p:nvSpPr>
          <p:cNvPr id="10" name="anim:1"/>
          <p:cNvSpPr txBox="1"/>
          <p:nvPr/>
        </p:nvSpPr>
        <p:spPr>
          <a:xfrm>
            <a:off x="731520" y="288036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How a week runs</a:t>
            </a:r>
            <a:endParaRPr lang="en-US" sz="4000" dirty="0"/>
          </a:p>
        </p:txBody>
      </p:sp>
      <p:sp>
        <p:nvSpPr>
          <p:cNvPr id="11" name="anim:1"/>
          <p:cNvSpPr txBox="1"/>
          <p:nvPr/>
        </p:nvSpPr>
        <p:spPr>
          <a:xfrm>
            <a:off x="731520" y="3794760"/>
            <a:ext cx="9144000" cy="731520"/>
          </a:xfrm>
          <a:prstGeom prst="rect">
            <a:avLst/>
          </a:prstGeom>
          <a:noFill/>
          <a:ln/>
        </p:spPr>
        <p:txBody>
          <a:bodyPr wrap="square" lIns="0" tIns="0" rIns="0" bIns="0" rtlCol="0" anchor="t"/>
          <a:lstStyle/>
          <a:p>
            <a:pPr algn="l" indent="0" marL="0">
              <a:buNone/>
            </a:pPr>
            <a:r>
              <a:rPr lang="en-US" sz="1500" dirty="0">
                <a:solidFill>
                  <a:srgbClr val="C9D6E4"/>
                </a:solidFill>
                <a:latin typeface="Calibri" pitchFamily="34" charset="0"/>
                <a:ea typeface="Calibri" pitchFamily="34" charset="-122"/>
                <a:cs typeface="Calibri" pitchFamily="34" charset="-120"/>
              </a:rPr>
              <a:t>One session, one teaching week, one build week, and the workbench they all run on.</a:t>
            </a:r>
            <a:endParaRPr lang="en-US" sz="1500" dirty="0"/>
          </a:p>
        </p:txBody>
      </p:sp>
      <p:sp>
        <p:nvSpPr>
          <p:cNvPr id="12" name="anim:1"/>
          <p:cNvSpPr txBox="1"/>
          <p:nvPr/>
        </p:nvSpPr>
        <p:spPr>
          <a:xfrm>
            <a:off x="731520" y="5120640"/>
            <a:ext cx="18288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Where this takes you</a:t>
            </a:r>
            <a:endParaRPr lang="en-US" sz="900" dirty="0"/>
          </a:p>
        </p:txBody>
      </p:sp>
      <p:sp>
        <p:nvSpPr>
          <p:cNvPr id="13" name="anim:1"/>
          <p:cNvSpPr txBox="1"/>
          <p:nvPr/>
        </p:nvSpPr>
        <p:spPr>
          <a:xfrm>
            <a:off x="2670048" y="5120640"/>
            <a:ext cx="14859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it is built</a:t>
            </a:r>
            <a:endParaRPr lang="en-US" sz="900" dirty="0"/>
          </a:p>
        </p:txBody>
      </p:sp>
      <p:sp>
        <p:nvSpPr>
          <p:cNvPr id="14" name="anim:1"/>
          <p:cNvSpPr txBox="1"/>
          <p:nvPr/>
        </p:nvSpPr>
        <p:spPr>
          <a:xfrm>
            <a:off x="4265676" y="5120640"/>
            <a:ext cx="1485900" cy="310896"/>
          </a:xfrm>
          <a:prstGeom prst="roundRect">
            <a:avLst>
              <a:gd name="adj" fmla="val 58824"/>
            </a:avLst>
          </a:prstGeom>
          <a:solidFill>
            <a:srgbClr val="E9B221"/>
          </a:solidFill>
          <a:ln w="9525">
            <a:solidFill>
              <a:srgbClr val="E9B221"/>
            </a:solidFill>
          </a:ln>
        </p:spPr>
        <p:txBody>
          <a:bodyPr wrap="square" lIns="0" tIns="76200" rIns="76200" bIns="0" rtlCol="0" anchor="ctr"/>
          <a:lstStyle/>
          <a:p>
            <a:pPr algn="ctr" indent="0" marL="0">
              <a:buNone/>
            </a:pPr>
            <a:r>
              <a:rPr lang="en-US" sz="900" b="1" dirty="0">
                <a:solidFill>
                  <a:srgbClr val="0A1E33"/>
                </a:solidFill>
                <a:latin typeface="Calibri" pitchFamily="34" charset="0"/>
                <a:ea typeface="Calibri" pitchFamily="34" charset="-122"/>
                <a:cs typeface="Calibri" pitchFamily="34" charset="-120"/>
              </a:rPr>
              <a:t>How a week runs</a:t>
            </a:r>
            <a:endParaRPr lang="en-US" sz="900" dirty="0"/>
          </a:p>
        </p:txBody>
      </p:sp>
      <p:sp>
        <p:nvSpPr>
          <p:cNvPr id="15" name="anim:1"/>
          <p:cNvSpPr txBox="1"/>
          <p:nvPr/>
        </p:nvSpPr>
        <p:spPr>
          <a:xfrm>
            <a:off x="5861304" y="5120640"/>
            <a:ext cx="189738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you are evaluated</a:t>
            </a:r>
            <a:endParaRPr lang="en-US" sz="900" dirty="0"/>
          </a:p>
        </p:txBody>
      </p:sp>
      <p:sp>
        <p:nvSpPr>
          <p:cNvPr id="16" name="anim:1"/>
          <p:cNvSpPr txBox="1"/>
          <p:nvPr/>
        </p:nvSpPr>
        <p:spPr>
          <a:xfrm>
            <a:off x="7868412" y="5120640"/>
            <a:ext cx="196596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Placement and capstone</a:t>
            </a:r>
            <a:endParaRPr lang="en-US" sz="900" dirty="0"/>
          </a:p>
        </p:txBody>
      </p:sp>
      <p:sp>
        <p:nvSpPr>
          <p:cNvPr id="17" name="anim:1"/>
          <p:cNvSpPr txBox="1"/>
          <p:nvPr/>
        </p:nvSpPr>
        <p:spPr>
          <a:xfrm>
            <a:off x="9944100" y="5120640"/>
            <a:ext cx="169164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People and support</a:t>
            </a:r>
            <a:endParaRPr lang="en-US" sz="9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13</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007DB6"/>
          </a:solidFill>
          <a:ln w="12700">
            <a:solidFill>
              <a:srgbClr val="007DB6"/>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How every session runs</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Four beats, always in this order: it is the order an engineer works in, and the order an interviewer probes in.</a:t>
            </a:r>
            <a:endParaRPr lang="en-US" sz="1250" dirty="0"/>
          </a:p>
        </p:txBody>
      </p:sp>
      <p:sp>
        <p:nvSpPr>
          <p:cNvPr id="21" name="anim:1"/>
          <p:cNvSpPr/>
          <p:nvPr/>
        </p:nvSpPr>
        <p:spPr>
          <a:xfrm>
            <a:off x="1600200" y="2395728"/>
            <a:ext cx="9006840" cy="0"/>
          </a:xfrm>
          <a:prstGeom prst="line">
            <a:avLst/>
          </a:prstGeom>
          <a:noFill/>
          <a:ln w="25400">
            <a:solidFill>
              <a:srgbClr val="BFDDEE"/>
            </a:solidFill>
            <a:prstDash val="solid"/>
          </a:ln>
        </p:spPr>
        <p:txBody>
          <a:bodyPr/>
          <a:p/>
        </p:txBody>
      </p:sp>
      <p:sp>
        <p:nvSpPr>
          <p:cNvPr id="22" name="anim:1"/>
          <p:cNvSpPr/>
          <p:nvPr/>
        </p:nvSpPr>
        <p:spPr>
          <a:xfrm>
            <a:off x="1508760" y="2057400"/>
            <a:ext cx="685800" cy="685800"/>
          </a:xfrm>
          <a:prstGeom prst="ellipse">
            <a:avLst/>
          </a:prstGeom>
          <a:solidFill>
            <a:srgbClr val="E3F2FA"/>
          </a:solidFill>
          <a:ln w="38100">
            <a:solidFill>
              <a:srgbClr val="FFFFFF"/>
            </a:solidFill>
            <a:prstDash val="solid"/>
          </a:ln>
          <a:effectLst>
            <a:outerShdw sx="100000" sy="100000" kx="0" ky="0" algn="bl" rotWithShape="0" blurRad="38100" dist="12700" dir="5400000">
              <a:srgbClr val="0A1E33">
                <a:alpha val="6000"/>
              </a:srgbClr>
            </a:outerShdw>
          </a:effectLst>
        </p:spPr>
        <p:txBody>
          <a:bodyPr/>
          <a:p/>
        </p:txBody>
      </p:sp>
      <p:pic>
        <p:nvPicPr>
          <p:cNvPr id="23" name="anim:1" descr="preencoded.png">    </p:cNvPr>
          <p:cNvPicPr>
            <a:picLocks noChangeAspect="1"/>
          </p:cNvPicPr>
          <p:nvPr/>
        </p:nvPicPr>
        <p:blipFill>
          <a:blip r:embed="rId3"/>
          <a:stretch>
            <a:fillRect/>
          </a:stretch>
        </p:blipFill>
        <p:spPr>
          <a:xfrm>
            <a:off x="1682496" y="2231136"/>
            <a:ext cx="338328" cy="338328"/>
          </a:xfrm>
          <a:prstGeom prst="rect">
            <a:avLst/>
          </a:prstGeom>
        </p:spPr>
      </p:pic>
      <p:sp>
        <p:nvSpPr>
          <p:cNvPr id="24" name="anim:1"/>
          <p:cNvSpPr txBox="1"/>
          <p:nvPr/>
        </p:nvSpPr>
        <p:spPr>
          <a:xfrm>
            <a:off x="548640" y="2880360"/>
            <a:ext cx="2606040" cy="201168"/>
          </a:xfrm>
          <a:prstGeom prst="rect">
            <a:avLst/>
          </a:prstGeom>
          <a:noFill/>
          <a:ln/>
        </p:spPr>
        <p:txBody>
          <a:bodyPr wrap="square" lIns="0" tIns="0" rIns="0" bIns="0" rtlCol="0" anchor="t"/>
          <a:lstStyle/>
          <a:p>
            <a:pPr algn="ctr" indent="0" marL="0">
              <a:buNone/>
            </a:pPr>
            <a:r>
              <a:rPr lang="en-US" sz="800" b="1" spc="200" kern="0" dirty="0">
                <a:solidFill>
                  <a:srgbClr val="007DB6"/>
                </a:solidFill>
                <a:latin typeface="Calibri" pitchFamily="34" charset="0"/>
                <a:ea typeface="Calibri" pitchFamily="34" charset="-122"/>
                <a:cs typeface="Calibri" pitchFamily="34" charset="-120"/>
              </a:rPr>
              <a:t>BEAT 1</a:t>
            </a:r>
            <a:endParaRPr lang="en-US" sz="800" dirty="0"/>
          </a:p>
        </p:txBody>
      </p:sp>
      <p:sp>
        <p:nvSpPr>
          <p:cNvPr id="25" name="anim:1"/>
          <p:cNvSpPr txBox="1"/>
          <p:nvPr/>
        </p:nvSpPr>
        <p:spPr>
          <a:xfrm>
            <a:off x="548640" y="3108960"/>
            <a:ext cx="2606040" cy="365760"/>
          </a:xfrm>
          <a:prstGeom prst="rect">
            <a:avLst/>
          </a:prstGeom>
          <a:noFill/>
          <a:ln/>
        </p:spPr>
        <p:txBody>
          <a:bodyPr wrap="square" lIns="0" tIns="0" rIns="0" bIns="0" rtlCol="0" anchor="t"/>
          <a:lstStyle/>
          <a:p>
            <a:pPr algn="ctr" indent="0" marL="0">
              <a:buNone/>
            </a:pPr>
            <a:r>
              <a:rPr lang="en-US" sz="1600" b="1" dirty="0">
                <a:solidFill>
                  <a:srgbClr val="0A1E33"/>
                </a:solidFill>
                <a:latin typeface="Calibri" pitchFamily="34" charset="0"/>
                <a:ea typeface="Calibri" pitchFamily="34" charset="-122"/>
                <a:cs typeface="Calibri" pitchFamily="34" charset="-120"/>
              </a:rPr>
              <a:t>A stakeholder asks</a:t>
            </a:r>
            <a:endParaRPr lang="en-US" sz="1600" dirty="0"/>
          </a:p>
        </p:txBody>
      </p:sp>
      <p:sp>
        <p:nvSpPr>
          <p:cNvPr id="26" name="anim:1"/>
          <p:cNvSpPr txBox="1"/>
          <p:nvPr/>
        </p:nvSpPr>
        <p:spPr>
          <a:xfrm>
            <a:off x="640080" y="3520440"/>
            <a:ext cx="2423160" cy="1005840"/>
          </a:xfrm>
          <a:prstGeom prst="rect">
            <a:avLst/>
          </a:prstGeom>
          <a:noFill/>
          <a:ln/>
        </p:spPr>
        <p:txBody>
          <a:bodyPr wrap="square" lIns="0" tIns="0" rIns="0" bIns="0" rtlCol="0" anchor="t"/>
          <a:lstStyle/>
          <a:p>
            <a:pPr algn="ctr" indent="0" marL="0">
              <a:buNone/>
            </a:pPr>
            <a:r>
              <a:rPr lang="en-US" sz="1050" dirty="0">
                <a:solidFill>
                  <a:srgbClr val="15243A"/>
                </a:solidFill>
                <a:latin typeface="Calibri" pitchFamily="34" charset="0"/>
                <a:ea typeface="Calibri" pitchFamily="34" charset="-122"/>
                <a:cs typeface="Calibri" pitchFamily="34" charset="-120"/>
              </a:rPr>
              <a:t>A business question from Kalpa Group, the fictional company the whole programme is set inside, in a named person's words.</a:t>
            </a:r>
            <a:endParaRPr lang="en-US" sz="1050" dirty="0"/>
          </a:p>
        </p:txBody>
      </p:sp>
      <p:sp>
        <p:nvSpPr>
          <p:cNvPr id="27" name="anim:2"/>
          <p:cNvSpPr/>
          <p:nvPr/>
        </p:nvSpPr>
        <p:spPr>
          <a:xfrm>
            <a:off x="4325112" y="2057400"/>
            <a:ext cx="685800" cy="685800"/>
          </a:xfrm>
          <a:prstGeom prst="ellipse">
            <a:avLst/>
          </a:prstGeom>
          <a:solidFill>
            <a:srgbClr val="FBF1D6"/>
          </a:solidFill>
          <a:ln w="38100">
            <a:solidFill>
              <a:srgbClr val="FFFFFF"/>
            </a:solidFill>
            <a:prstDash val="solid"/>
          </a:ln>
          <a:effectLst>
            <a:outerShdw sx="100000" sy="100000" kx="0" ky="0" algn="bl" rotWithShape="0" blurRad="38100" dist="12700" dir="5400000">
              <a:srgbClr val="0A1E33">
                <a:alpha val="6000"/>
              </a:srgbClr>
            </a:outerShdw>
          </a:effectLst>
        </p:spPr>
        <p:txBody>
          <a:bodyPr/>
          <a:p/>
        </p:txBody>
      </p:sp>
      <p:pic>
        <p:nvPicPr>
          <p:cNvPr id="28" name="anim:2" descr="preencoded.png">    </p:cNvPr>
          <p:cNvPicPr>
            <a:picLocks noChangeAspect="1"/>
          </p:cNvPicPr>
          <p:nvPr/>
        </p:nvPicPr>
        <p:blipFill>
          <a:blip r:embed="rId4"/>
          <a:stretch>
            <a:fillRect/>
          </a:stretch>
        </p:blipFill>
        <p:spPr>
          <a:xfrm>
            <a:off x="4498848" y="2231136"/>
            <a:ext cx="338328" cy="338328"/>
          </a:xfrm>
          <a:prstGeom prst="rect">
            <a:avLst/>
          </a:prstGeom>
        </p:spPr>
      </p:pic>
      <p:sp>
        <p:nvSpPr>
          <p:cNvPr id="29" name="anim:2"/>
          <p:cNvSpPr txBox="1"/>
          <p:nvPr/>
        </p:nvSpPr>
        <p:spPr>
          <a:xfrm>
            <a:off x="3364992" y="2880360"/>
            <a:ext cx="2606040" cy="201168"/>
          </a:xfrm>
          <a:prstGeom prst="rect">
            <a:avLst/>
          </a:prstGeom>
          <a:noFill/>
          <a:ln/>
        </p:spPr>
        <p:txBody>
          <a:bodyPr wrap="square" lIns="0" tIns="0" rIns="0" bIns="0" rtlCol="0" anchor="t"/>
          <a:lstStyle/>
          <a:p>
            <a:pPr algn="ctr" indent="0" marL="0">
              <a:buNone/>
            </a:pPr>
            <a:r>
              <a:rPr lang="en-US" sz="800" b="1" spc="200" kern="0" dirty="0">
                <a:solidFill>
                  <a:srgbClr val="C48F0F"/>
                </a:solidFill>
                <a:latin typeface="Calibri" pitchFamily="34" charset="0"/>
                <a:ea typeface="Calibri" pitchFamily="34" charset="-122"/>
                <a:cs typeface="Calibri" pitchFamily="34" charset="-120"/>
              </a:rPr>
              <a:t>BEAT 2</a:t>
            </a:r>
            <a:endParaRPr lang="en-US" sz="800" dirty="0"/>
          </a:p>
        </p:txBody>
      </p:sp>
      <p:sp>
        <p:nvSpPr>
          <p:cNvPr id="30" name="anim:2"/>
          <p:cNvSpPr txBox="1"/>
          <p:nvPr/>
        </p:nvSpPr>
        <p:spPr>
          <a:xfrm>
            <a:off x="3364992" y="3108960"/>
            <a:ext cx="2606040" cy="365760"/>
          </a:xfrm>
          <a:prstGeom prst="rect">
            <a:avLst/>
          </a:prstGeom>
          <a:noFill/>
          <a:ln/>
        </p:spPr>
        <p:txBody>
          <a:bodyPr wrap="square" lIns="0" tIns="0" rIns="0" bIns="0" rtlCol="0" anchor="t"/>
          <a:lstStyle/>
          <a:p>
            <a:pPr algn="ctr" indent="0" marL="0">
              <a:buNone/>
            </a:pPr>
            <a:r>
              <a:rPr lang="en-US" sz="1600" b="1" dirty="0">
                <a:solidFill>
                  <a:srgbClr val="0A1E33"/>
                </a:solidFill>
                <a:latin typeface="Calibri" pitchFamily="34" charset="0"/>
                <a:ea typeface="Calibri" pitchFamily="34" charset="-122"/>
                <a:cs typeface="Calibri" pitchFamily="34" charset="-120"/>
              </a:rPr>
              <a:t>You think first</a:t>
            </a:r>
            <a:endParaRPr lang="en-US" sz="1600" dirty="0"/>
          </a:p>
        </p:txBody>
      </p:sp>
      <p:sp>
        <p:nvSpPr>
          <p:cNvPr id="31" name="anim:2"/>
          <p:cNvSpPr txBox="1"/>
          <p:nvPr/>
        </p:nvSpPr>
        <p:spPr>
          <a:xfrm>
            <a:off x="3456432" y="3520440"/>
            <a:ext cx="2423160" cy="1005840"/>
          </a:xfrm>
          <a:prstGeom prst="rect">
            <a:avLst/>
          </a:prstGeom>
          <a:noFill/>
          <a:ln/>
        </p:spPr>
        <p:txBody>
          <a:bodyPr wrap="square" lIns="0" tIns="0" rIns="0" bIns="0" rtlCol="0" anchor="t"/>
          <a:lstStyle/>
          <a:p>
            <a:pPr algn="ctr" indent="0" marL="0">
              <a:buNone/>
            </a:pPr>
            <a:r>
              <a:rPr lang="en-US" sz="1050" dirty="0">
                <a:solidFill>
                  <a:srgbClr val="15243A"/>
                </a:solidFill>
                <a:latin typeface="Calibri" pitchFamily="34" charset="0"/>
                <a:ea typeface="Calibri" pitchFamily="34" charset="-122"/>
                <a:cs typeface="Calibri" pitchFamily="34" charset="-120"/>
              </a:rPr>
              <a:t>What would answer it, what data it needs, what a good answer looks like. No notebook is open yet.</a:t>
            </a:r>
            <a:endParaRPr lang="en-US" sz="1050" dirty="0"/>
          </a:p>
        </p:txBody>
      </p:sp>
      <p:sp>
        <p:nvSpPr>
          <p:cNvPr id="32" name="anim:3"/>
          <p:cNvSpPr/>
          <p:nvPr/>
        </p:nvSpPr>
        <p:spPr>
          <a:xfrm>
            <a:off x="7141464" y="2057400"/>
            <a:ext cx="685800" cy="685800"/>
          </a:xfrm>
          <a:prstGeom prst="ellipse">
            <a:avLst/>
          </a:prstGeom>
          <a:solidFill>
            <a:srgbClr val="E3F2FA"/>
          </a:solidFill>
          <a:ln w="38100">
            <a:solidFill>
              <a:srgbClr val="FFFFFF"/>
            </a:solidFill>
            <a:prstDash val="solid"/>
          </a:ln>
          <a:effectLst>
            <a:outerShdw sx="100000" sy="100000" kx="0" ky="0" algn="bl" rotWithShape="0" blurRad="38100" dist="12700" dir="5400000">
              <a:srgbClr val="0A1E33">
                <a:alpha val="6000"/>
              </a:srgbClr>
            </a:outerShdw>
          </a:effectLst>
        </p:spPr>
        <p:txBody>
          <a:bodyPr/>
          <a:p/>
        </p:txBody>
      </p:sp>
      <p:pic>
        <p:nvPicPr>
          <p:cNvPr id="33" name="anim:3" descr="preencoded.png">    </p:cNvPr>
          <p:cNvPicPr>
            <a:picLocks noChangeAspect="1"/>
          </p:cNvPicPr>
          <p:nvPr/>
        </p:nvPicPr>
        <p:blipFill>
          <a:blip r:embed="rId5"/>
          <a:stretch>
            <a:fillRect/>
          </a:stretch>
        </p:blipFill>
        <p:spPr>
          <a:xfrm>
            <a:off x="7315200" y="2231136"/>
            <a:ext cx="338328" cy="338328"/>
          </a:xfrm>
          <a:prstGeom prst="rect">
            <a:avLst/>
          </a:prstGeom>
        </p:spPr>
      </p:pic>
      <p:sp>
        <p:nvSpPr>
          <p:cNvPr id="34" name="anim:3"/>
          <p:cNvSpPr txBox="1"/>
          <p:nvPr/>
        </p:nvSpPr>
        <p:spPr>
          <a:xfrm>
            <a:off x="6181344" y="2880360"/>
            <a:ext cx="2606040" cy="201168"/>
          </a:xfrm>
          <a:prstGeom prst="rect">
            <a:avLst/>
          </a:prstGeom>
          <a:noFill/>
          <a:ln/>
        </p:spPr>
        <p:txBody>
          <a:bodyPr wrap="square" lIns="0" tIns="0" rIns="0" bIns="0" rtlCol="0" anchor="t"/>
          <a:lstStyle/>
          <a:p>
            <a:pPr algn="ctr" indent="0" marL="0">
              <a:buNone/>
            </a:pPr>
            <a:r>
              <a:rPr lang="en-US" sz="800" b="1" spc="200" kern="0" dirty="0">
                <a:solidFill>
                  <a:srgbClr val="007DB6"/>
                </a:solidFill>
                <a:latin typeface="Calibri" pitchFamily="34" charset="0"/>
                <a:ea typeface="Calibri" pitchFamily="34" charset="-122"/>
                <a:cs typeface="Calibri" pitchFamily="34" charset="-120"/>
              </a:rPr>
              <a:t>BEAT 3</a:t>
            </a:r>
            <a:endParaRPr lang="en-US" sz="800" dirty="0"/>
          </a:p>
        </p:txBody>
      </p:sp>
      <p:sp>
        <p:nvSpPr>
          <p:cNvPr id="35" name="anim:3"/>
          <p:cNvSpPr txBox="1"/>
          <p:nvPr/>
        </p:nvSpPr>
        <p:spPr>
          <a:xfrm>
            <a:off x="6181344" y="3108960"/>
            <a:ext cx="2606040" cy="365760"/>
          </a:xfrm>
          <a:prstGeom prst="rect">
            <a:avLst/>
          </a:prstGeom>
          <a:noFill/>
          <a:ln/>
        </p:spPr>
        <p:txBody>
          <a:bodyPr wrap="square" lIns="0" tIns="0" rIns="0" bIns="0" rtlCol="0" anchor="t"/>
          <a:lstStyle/>
          <a:p>
            <a:pPr algn="ctr" indent="0" marL="0">
              <a:buNone/>
            </a:pPr>
            <a:r>
              <a:rPr lang="en-US" sz="1600" b="1" dirty="0">
                <a:solidFill>
                  <a:srgbClr val="0A1E33"/>
                </a:solidFill>
                <a:latin typeface="Calibri" pitchFamily="34" charset="0"/>
                <a:ea typeface="Calibri" pitchFamily="34" charset="-122"/>
                <a:cs typeface="Calibri" pitchFamily="34" charset="-120"/>
              </a:rPr>
              <a:t>Build, then the theory</a:t>
            </a:r>
            <a:endParaRPr lang="en-US" sz="1600" dirty="0"/>
          </a:p>
        </p:txBody>
      </p:sp>
      <p:sp>
        <p:nvSpPr>
          <p:cNvPr id="36" name="anim:3"/>
          <p:cNvSpPr txBox="1"/>
          <p:nvPr/>
        </p:nvSpPr>
        <p:spPr>
          <a:xfrm>
            <a:off x="6272784" y="3520440"/>
            <a:ext cx="2423160" cy="1005840"/>
          </a:xfrm>
          <a:prstGeom prst="rect">
            <a:avLst/>
          </a:prstGeom>
          <a:noFill/>
          <a:ln/>
        </p:spPr>
        <p:txBody>
          <a:bodyPr wrap="square" lIns="0" tIns="0" rIns="0" bIns="0" rtlCol="0" anchor="t"/>
          <a:lstStyle/>
          <a:p>
            <a:pPr algn="ctr" indent="0" marL="0">
              <a:buNone/>
            </a:pPr>
            <a:r>
              <a:rPr lang="en-US" sz="1050" dirty="0">
                <a:solidFill>
                  <a:srgbClr val="15243A"/>
                </a:solidFill>
                <a:latin typeface="Calibri" pitchFamily="34" charset="0"/>
                <a:ea typeface="Calibri" pitchFamily="34" charset="-122"/>
                <a:cs typeface="Calibri" pitchFamily="34" charset="-120"/>
              </a:rPr>
              <a:t>Run the working thing and read its output. Take it apart. Only then attach the formal name.</a:t>
            </a:r>
            <a:endParaRPr lang="en-US" sz="1050" dirty="0"/>
          </a:p>
        </p:txBody>
      </p:sp>
      <p:sp>
        <p:nvSpPr>
          <p:cNvPr id="37" name="anim:4"/>
          <p:cNvSpPr/>
          <p:nvPr/>
        </p:nvSpPr>
        <p:spPr>
          <a:xfrm>
            <a:off x="9957816" y="2057400"/>
            <a:ext cx="685800" cy="685800"/>
          </a:xfrm>
          <a:prstGeom prst="ellipse">
            <a:avLst/>
          </a:prstGeom>
          <a:solidFill>
            <a:srgbClr val="F8E1E3"/>
          </a:solidFill>
          <a:ln w="38100">
            <a:solidFill>
              <a:srgbClr val="FFFFFF"/>
            </a:solidFill>
            <a:prstDash val="solid"/>
          </a:ln>
          <a:effectLst>
            <a:outerShdw sx="100000" sy="100000" kx="0" ky="0" algn="bl" rotWithShape="0" blurRad="38100" dist="12700" dir="5400000">
              <a:srgbClr val="0A1E33">
                <a:alpha val="6000"/>
              </a:srgbClr>
            </a:outerShdw>
          </a:effectLst>
        </p:spPr>
        <p:txBody>
          <a:bodyPr/>
          <a:p/>
        </p:txBody>
      </p:sp>
      <p:pic>
        <p:nvPicPr>
          <p:cNvPr id="38" name="anim:4" descr="preencoded.png">    </p:cNvPr>
          <p:cNvPicPr>
            <a:picLocks noChangeAspect="1"/>
          </p:cNvPicPr>
          <p:nvPr/>
        </p:nvPicPr>
        <p:blipFill>
          <a:blip r:embed="rId6"/>
          <a:stretch>
            <a:fillRect/>
          </a:stretch>
        </p:blipFill>
        <p:spPr>
          <a:xfrm>
            <a:off x="10131552" y="2231136"/>
            <a:ext cx="338328" cy="338328"/>
          </a:xfrm>
          <a:prstGeom prst="rect">
            <a:avLst/>
          </a:prstGeom>
        </p:spPr>
      </p:pic>
      <p:sp>
        <p:nvSpPr>
          <p:cNvPr id="39" name="anim:4"/>
          <p:cNvSpPr txBox="1"/>
          <p:nvPr/>
        </p:nvSpPr>
        <p:spPr>
          <a:xfrm>
            <a:off x="8997696" y="2880360"/>
            <a:ext cx="2606040" cy="201168"/>
          </a:xfrm>
          <a:prstGeom prst="rect">
            <a:avLst/>
          </a:prstGeom>
          <a:noFill/>
          <a:ln/>
        </p:spPr>
        <p:txBody>
          <a:bodyPr wrap="square" lIns="0" tIns="0" rIns="0" bIns="0" rtlCol="0" anchor="t"/>
          <a:lstStyle/>
          <a:p>
            <a:pPr algn="ctr" indent="0" marL="0">
              <a:buNone/>
            </a:pPr>
            <a:r>
              <a:rPr lang="en-US" sz="800" b="1" spc="200" kern="0" dirty="0">
                <a:solidFill>
                  <a:srgbClr val="BE1E2D"/>
                </a:solidFill>
                <a:latin typeface="Calibri" pitchFamily="34" charset="0"/>
                <a:ea typeface="Calibri" pitchFamily="34" charset="-122"/>
                <a:cs typeface="Calibri" pitchFamily="34" charset="-120"/>
              </a:rPr>
              <a:t>BEAT 4</a:t>
            </a:r>
            <a:endParaRPr lang="en-US" sz="800" dirty="0"/>
          </a:p>
        </p:txBody>
      </p:sp>
      <p:sp>
        <p:nvSpPr>
          <p:cNvPr id="40" name="anim:4"/>
          <p:cNvSpPr txBox="1"/>
          <p:nvPr/>
        </p:nvSpPr>
        <p:spPr>
          <a:xfrm>
            <a:off x="8997696" y="3108960"/>
            <a:ext cx="2606040" cy="365760"/>
          </a:xfrm>
          <a:prstGeom prst="rect">
            <a:avLst/>
          </a:prstGeom>
          <a:noFill/>
          <a:ln/>
        </p:spPr>
        <p:txBody>
          <a:bodyPr wrap="square" lIns="0" tIns="0" rIns="0" bIns="0" rtlCol="0" anchor="t"/>
          <a:lstStyle/>
          <a:p>
            <a:pPr algn="ctr" indent="0" marL="0">
              <a:buNone/>
            </a:pPr>
            <a:r>
              <a:rPr lang="en-US" sz="1600" b="1" dirty="0">
                <a:solidFill>
                  <a:srgbClr val="0A1E33"/>
                </a:solidFill>
                <a:latin typeface="Calibri" pitchFamily="34" charset="0"/>
                <a:ea typeface="Calibri" pitchFamily="34" charset="-122"/>
                <a:cs typeface="Calibri" pitchFamily="34" charset="-120"/>
              </a:rPr>
              <a:t>Something breaks, on purpose</a:t>
            </a:r>
            <a:endParaRPr lang="en-US" sz="1600" dirty="0"/>
          </a:p>
        </p:txBody>
      </p:sp>
      <p:sp>
        <p:nvSpPr>
          <p:cNvPr id="41" name="anim:4"/>
          <p:cNvSpPr txBox="1"/>
          <p:nvPr/>
        </p:nvSpPr>
        <p:spPr>
          <a:xfrm>
            <a:off x="9089136" y="3520440"/>
            <a:ext cx="2423160" cy="1005840"/>
          </a:xfrm>
          <a:prstGeom prst="rect">
            <a:avLst/>
          </a:prstGeom>
          <a:noFill/>
          <a:ln/>
        </p:spPr>
        <p:txBody>
          <a:bodyPr wrap="square" lIns="0" tIns="0" rIns="0" bIns="0" rtlCol="0" anchor="t"/>
          <a:lstStyle/>
          <a:p>
            <a:pPr algn="ctr" indent="0" marL="0">
              <a:buNone/>
            </a:pPr>
            <a:r>
              <a:rPr lang="en-US" sz="1050" dirty="0">
                <a:solidFill>
                  <a:srgbClr val="15243A"/>
                </a:solidFill>
                <a:latin typeface="Calibri" pitchFamily="34" charset="0"/>
                <a:ea typeface="Calibri" pitchFamily="34" charset="-122"/>
                <a:cs typeface="Calibri" pitchFamily="34" charset="-120"/>
              </a:rPr>
              <a:t>A planted error or a plausible wrong number for the room to diagnose. Reading a failure is the skill interviews test.</a:t>
            </a:r>
            <a:endParaRPr lang="en-US" sz="1050" dirty="0"/>
          </a:p>
        </p:txBody>
      </p:sp>
      <p:sp>
        <p:nvSpPr>
          <p:cNvPr id="42" name="anim:5"/>
          <p:cNvSpPr txBox="1"/>
          <p:nvPr/>
        </p:nvSpPr>
        <p:spPr>
          <a:xfrm>
            <a:off x="548640" y="4709160"/>
            <a:ext cx="5486400" cy="201168"/>
          </a:xfrm>
          <a:prstGeom prst="rect">
            <a:avLst/>
          </a:prstGeom>
          <a:noFill/>
          <a:ln/>
        </p:spPr>
        <p:txBody>
          <a:bodyPr wrap="square" lIns="0" tIns="0" rIns="0" bIns="0" rtlCol="0" anchor="t"/>
          <a:lstStyle/>
          <a:p>
            <a:pPr algn="l" indent="0" marL="0">
              <a:buNone/>
            </a:pPr>
            <a:r>
              <a:rPr lang="en-US" sz="800" b="1" spc="200" kern="0" dirty="0">
                <a:solidFill>
                  <a:srgbClr val="007DB6"/>
                </a:solidFill>
                <a:latin typeface="Calibri" pitchFamily="34" charset="0"/>
                <a:ea typeface="Calibri" pitchFamily="34" charset="-122"/>
                <a:cs typeface="Calibri" pitchFamily="34" charset="-120"/>
              </a:rPr>
              <a:t>IN EVERY HOUR OF A SESSION, ABOUT</a:t>
            </a:r>
            <a:endParaRPr lang="en-US" sz="800" dirty="0"/>
          </a:p>
        </p:txBody>
      </p:sp>
      <p:sp>
        <p:nvSpPr>
          <p:cNvPr id="43" name="anim:5 grad:skyTint"/>
          <p:cNvSpPr txBox="1"/>
          <p:nvPr/>
        </p:nvSpPr>
        <p:spPr>
          <a:xfrm>
            <a:off x="548640" y="4956048"/>
            <a:ext cx="3697224" cy="566928"/>
          </a:xfrm>
          <a:prstGeom prst="rect">
            <a:avLst/>
          </a:prstGeom>
          <a:gradFill rotWithShape="1">
            <a:gsLst>
              <a:gs pos="0">
                <a:srgbClr val="EEF7FC"/>
              </a:gs>
              <a:gs pos="100000">
                <a:srgbClr val="D8EBF6"/>
              </a:gs>
            </a:gsLst>
            <a:lin ang="5400000" scaled="0"/>
          </a:gradFill>
          <a:ln w="12700">
            <a:solidFill>
              <a:srgbClr val="F4F6F9"/>
            </a:solidFill>
          </a:ln>
        </p:spPr>
        <p:txBody>
          <a:bodyPr wrap="square" lIns="0" tIns="0" rIns="0" bIns="0" rtlCol="0" anchor="ctr"/>
          <a:lstStyle/>
          <a:p>
            <a:pPr algn="ctr" indent="0" marL="0">
              <a:buNone/>
            </a:pPr>
            <a:r>
              <a:rPr lang="en-US" sz="1200" b="1" dirty="0">
                <a:solidFill>
                  <a:srgbClr val="0A1E33"/>
                </a:solidFill>
                <a:latin typeface="Calibri" pitchFamily="34" charset="0"/>
                <a:ea typeface="Calibri" pitchFamily="34" charset="-122"/>
                <a:cs typeface="Calibri" pitchFamily="34" charset="-120"/>
              </a:rPr>
              <a:t>20 minutes</a:t>
            </a:r>
            <a:endParaRPr lang="en-US" sz="1200" dirty="0"/>
          </a:p>
          <a:p>
            <a:pPr algn="ctr" indent="0" marL="0">
              <a:buNone/>
            </a:pPr>
            <a:r>
              <a:rPr lang="en-US" sz="900" dirty="0">
                <a:solidFill>
                  <a:srgbClr val="0A1E33"/>
                </a:solidFill>
                <a:latin typeface="Calibri" pitchFamily="34" charset="0"/>
                <a:ea typeface="Calibri" pitchFamily="34" charset="-122"/>
                <a:cs typeface="Calibri" pitchFamily="34" charset="-120"/>
              </a:rPr>
              <a:t>Teach and demo</a:t>
            </a:r>
            <a:endParaRPr lang="en-US" sz="1200" dirty="0"/>
          </a:p>
        </p:txBody>
      </p:sp>
      <p:sp>
        <p:nvSpPr>
          <p:cNvPr id="44" name="anim:5 grad:blue"/>
          <p:cNvSpPr txBox="1"/>
          <p:nvPr/>
        </p:nvSpPr>
        <p:spPr>
          <a:xfrm>
            <a:off x="4245864" y="4956048"/>
            <a:ext cx="5545836" cy="566928"/>
          </a:xfrm>
          <a:prstGeom prst="rect">
            <a:avLst/>
          </a:prstGeom>
          <a:gradFill rotWithShape="1">
            <a:gsLst>
              <a:gs pos="0">
                <a:srgbClr val="2FA8E0"/>
              </a:gs>
              <a:gs pos="100000">
                <a:srgbClr val="007DB6"/>
              </a:gs>
            </a:gsLst>
            <a:lin ang="5400000" scaled="0"/>
          </a:gradFill>
          <a:ln w="12700">
            <a:solidFill>
              <a:srgbClr val="F4F6F9"/>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30 minutes</a:t>
            </a:r>
            <a:endParaRPr lang="en-US" sz="1200" dirty="0"/>
          </a:p>
          <a:p>
            <a:pPr algn="ctr" indent="0" marL="0">
              <a:buNone/>
            </a:pPr>
            <a:r>
              <a:rPr lang="en-US" sz="900" dirty="0">
                <a:solidFill>
                  <a:srgbClr val="FFFFFF"/>
                </a:solidFill>
                <a:latin typeface="Calibri" pitchFamily="34" charset="0"/>
                <a:ea typeface="Calibri" pitchFamily="34" charset="-122"/>
                <a:cs typeface="Calibri" pitchFamily="34" charset="-120"/>
              </a:rPr>
              <a:t>You build</a:t>
            </a:r>
            <a:endParaRPr lang="en-US" sz="1200" dirty="0"/>
          </a:p>
        </p:txBody>
      </p:sp>
      <p:sp>
        <p:nvSpPr>
          <p:cNvPr id="45" name="anim:5 grad:navy"/>
          <p:cNvSpPr txBox="1"/>
          <p:nvPr/>
        </p:nvSpPr>
        <p:spPr>
          <a:xfrm>
            <a:off x="9791700" y="4956048"/>
            <a:ext cx="1848612" cy="566928"/>
          </a:xfrm>
          <a:prstGeom prst="rect">
            <a:avLst/>
          </a:prstGeom>
          <a:gradFill rotWithShape="1">
            <a:gsLst>
              <a:gs pos="0">
                <a:srgbClr val="1B4170"/>
              </a:gs>
              <a:gs pos="100000">
                <a:srgbClr val="0A1E33"/>
              </a:gs>
            </a:gsLst>
            <a:lin ang="5400000" scaled="0"/>
          </a:gradFill>
          <a:ln w="12700">
            <a:solidFill>
              <a:srgbClr val="F4F6F9"/>
            </a:solidFill>
          </a:ln>
        </p:spPr>
        <p:txBody>
          <a:bodyPr wrap="square" lIns="0" tIns="0" rIns="0" bIns="0" rtlCol="0" anchor="ctr"/>
          <a:lstStyle/>
          <a:p>
            <a:pPr algn="ctr" indent="0" marL="0">
              <a:buNone/>
            </a:pPr>
            <a:r>
              <a:rPr lang="en-US" sz="1200" b="1" dirty="0">
                <a:solidFill>
                  <a:srgbClr val="E9B221"/>
                </a:solidFill>
                <a:latin typeface="Calibri" pitchFamily="34" charset="0"/>
                <a:ea typeface="Calibri" pitchFamily="34" charset="-122"/>
                <a:cs typeface="Calibri" pitchFamily="34" charset="-120"/>
              </a:rPr>
              <a:t>10 minutes</a:t>
            </a:r>
            <a:endParaRPr lang="en-US" sz="1200" dirty="0"/>
          </a:p>
          <a:p>
            <a:pPr algn="ctr" indent="0" marL="0">
              <a:buNone/>
            </a:pPr>
            <a:r>
              <a:rPr lang="en-US" sz="900" dirty="0">
                <a:solidFill>
                  <a:srgbClr val="E9B221"/>
                </a:solidFill>
                <a:latin typeface="Calibri" pitchFamily="34" charset="0"/>
                <a:ea typeface="Calibri" pitchFamily="34" charset="-122"/>
                <a:cs typeface="Calibri" pitchFamily="34" charset="-120"/>
              </a:rPr>
              <a:t>Debrief and buffer</a:t>
            </a:r>
            <a:endParaRPr lang="en-US" sz="1200" dirty="0"/>
          </a:p>
        </p:txBody>
      </p:sp>
      <p:sp>
        <p:nvSpPr>
          <p:cNvPr id="46" name="anim:5"/>
          <p:cNvSpPr txBox="1"/>
          <p:nvPr/>
        </p:nvSpPr>
        <p:spPr>
          <a:xfrm>
            <a:off x="548640" y="5669280"/>
            <a:ext cx="3657600" cy="201168"/>
          </a:xfrm>
          <a:prstGeom prst="rect">
            <a:avLst/>
          </a:prstGeom>
          <a:noFill/>
          <a:ln/>
        </p:spPr>
        <p:txBody>
          <a:bodyPr wrap="square" lIns="0" tIns="0" rIns="0" bIns="0" rtlCol="0" anchor="t"/>
          <a:lstStyle/>
          <a:p>
            <a:pPr algn="l" indent="0" marL="0">
              <a:buNone/>
            </a:pPr>
            <a:r>
              <a:rPr lang="en-US" sz="800" b="1" spc="200" kern="0" dirty="0">
                <a:solidFill>
                  <a:srgbClr val="007DB6"/>
                </a:solidFill>
                <a:latin typeface="Calibri" pitchFamily="34" charset="0"/>
                <a:ea typeface="Calibri" pitchFamily="34" charset="-122"/>
                <a:cs typeface="Calibri" pitchFamily="34" charset="-120"/>
              </a:rPr>
              <a:t>YOU LEAVE EVERY SESSION WITH</a:t>
            </a:r>
            <a:endParaRPr lang="en-US" sz="800" dirty="0"/>
          </a:p>
        </p:txBody>
      </p:sp>
      <p:sp>
        <p:nvSpPr>
          <p:cNvPr id="47" name="anim:5"/>
          <p:cNvSpPr/>
          <p:nvPr/>
        </p:nvSpPr>
        <p:spPr>
          <a:xfrm>
            <a:off x="548640" y="5897880"/>
            <a:ext cx="3566160" cy="402336"/>
          </a:xfrm>
          <a:prstGeom prst="roundRect">
            <a:avLst>
              <a:gd name="adj" fmla="val 22727"/>
            </a:avLst>
          </a:prstGeom>
          <a:solidFill>
            <a:srgbClr val="FFFFFF"/>
          </a:solidFill>
          <a:ln w="9525">
            <a:solidFill>
              <a:srgbClr val="E4E9F0"/>
            </a:solidFill>
            <a:prstDash val="solid"/>
          </a:ln>
        </p:spPr>
        <p:txBody>
          <a:bodyPr/>
          <a:p/>
        </p:txBody>
      </p:sp>
      <p:sp>
        <p:nvSpPr>
          <p:cNvPr id="48" name="anim:5"/>
          <p:cNvSpPr/>
          <p:nvPr/>
        </p:nvSpPr>
        <p:spPr>
          <a:xfrm>
            <a:off x="640080" y="5943600"/>
            <a:ext cx="310896" cy="310896"/>
          </a:xfrm>
          <a:prstGeom prst="ellipse">
            <a:avLst/>
          </a:prstGeom>
          <a:solidFill>
            <a:srgbClr val="E3F2FA"/>
          </a:solidFill>
          <a:ln w="9525">
            <a:solidFill>
              <a:srgbClr val="E3F2FA"/>
            </a:solidFill>
            <a:prstDash val="solid"/>
          </a:ln>
        </p:spPr>
        <p:txBody>
          <a:bodyPr/>
          <a:p/>
        </p:txBody>
      </p:sp>
      <p:pic>
        <p:nvPicPr>
          <p:cNvPr id="49" name="anim:5" descr="preencoded.png">    </p:cNvPr>
          <p:cNvPicPr>
            <a:picLocks noChangeAspect="1"/>
          </p:cNvPicPr>
          <p:nvPr/>
        </p:nvPicPr>
        <p:blipFill>
          <a:blip r:embed="rId7"/>
          <a:stretch>
            <a:fillRect/>
          </a:stretch>
        </p:blipFill>
        <p:spPr>
          <a:xfrm>
            <a:off x="714695" y="6018215"/>
            <a:ext cx="161666" cy="161666"/>
          </a:xfrm>
          <a:prstGeom prst="rect">
            <a:avLst/>
          </a:prstGeom>
        </p:spPr>
      </p:pic>
      <p:sp>
        <p:nvSpPr>
          <p:cNvPr id="50" name="anim:5"/>
          <p:cNvSpPr txBox="1"/>
          <p:nvPr/>
        </p:nvSpPr>
        <p:spPr>
          <a:xfrm>
            <a:off x="1051560" y="5897880"/>
            <a:ext cx="2971800" cy="402336"/>
          </a:xfrm>
          <a:prstGeom prst="rect">
            <a:avLst/>
          </a:prstGeom>
          <a:noFill/>
          <a:ln/>
        </p:spPr>
        <p:txBody>
          <a:bodyPr wrap="square" lIns="0" tIns="0" rIns="0" bIns="0" rtlCol="0" anchor="ctr"/>
          <a:lstStyle/>
          <a:p>
            <a:pPr algn="l" indent="0" marL="0">
              <a:buNone/>
            </a:pPr>
            <a:r>
              <a:rPr lang="en-US" sz="1000" dirty="0">
                <a:solidFill>
                  <a:srgbClr val="15243A"/>
                </a:solidFill>
                <a:latin typeface="Calibri" pitchFamily="34" charset="0"/>
                <a:ea typeface="Calibri" pitchFamily="34" charset="-122"/>
                <a:cs typeface="Calibri" pitchFamily="34" charset="-120"/>
              </a:rPr>
              <a:t>a working notebook you ran yourself</a:t>
            </a:r>
            <a:endParaRPr lang="en-US" sz="1000" dirty="0"/>
          </a:p>
        </p:txBody>
      </p:sp>
      <p:sp>
        <p:nvSpPr>
          <p:cNvPr id="51" name="anim:5"/>
          <p:cNvSpPr/>
          <p:nvPr/>
        </p:nvSpPr>
        <p:spPr>
          <a:xfrm>
            <a:off x="4306824" y="5897880"/>
            <a:ext cx="3566160" cy="402336"/>
          </a:xfrm>
          <a:prstGeom prst="roundRect">
            <a:avLst>
              <a:gd name="adj" fmla="val 22727"/>
            </a:avLst>
          </a:prstGeom>
          <a:solidFill>
            <a:srgbClr val="FFFFFF"/>
          </a:solidFill>
          <a:ln w="9525">
            <a:solidFill>
              <a:srgbClr val="E4E9F0"/>
            </a:solidFill>
            <a:prstDash val="solid"/>
          </a:ln>
        </p:spPr>
        <p:txBody>
          <a:bodyPr/>
          <a:p/>
        </p:txBody>
      </p:sp>
      <p:sp>
        <p:nvSpPr>
          <p:cNvPr id="52" name="anim:5"/>
          <p:cNvSpPr/>
          <p:nvPr/>
        </p:nvSpPr>
        <p:spPr>
          <a:xfrm>
            <a:off x="4398264" y="5943600"/>
            <a:ext cx="310896" cy="310896"/>
          </a:xfrm>
          <a:prstGeom prst="ellipse">
            <a:avLst/>
          </a:prstGeom>
          <a:solidFill>
            <a:srgbClr val="E3F2FA"/>
          </a:solidFill>
          <a:ln w="9525">
            <a:solidFill>
              <a:srgbClr val="E3F2FA"/>
            </a:solidFill>
            <a:prstDash val="solid"/>
          </a:ln>
        </p:spPr>
        <p:txBody>
          <a:bodyPr/>
          <a:p/>
        </p:txBody>
      </p:sp>
      <p:pic>
        <p:nvPicPr>
          <p:cNvPr id="53" name="anim:5" descr="preencoded.png">    </p:cNvPr>
          <p:cNvPicPr>
            <a:picLocks noChangeAspect="1"/>
          </p:cNvPicPr>
          <p:nvPr/>
        </p:nvPicPr>
        <p:blipFill>
          <a:blip r:embed="rId8"/>
          <a:stretch>
            <a:fillRect/>
          </a:stretch>
        </p:blipFill>
        <p:spPr>
          <a:xfrm>
            <a:off x="4472879" y="6018215"/>
            <a:ext cx="161666" cy="161666"/>
          </a:xfrm>
          <a:prstGeom prst="rect">
            <a:avLst/>
          </a:prstGeom>
        </p:spPr>
      </p:pic>
      <p:sp>
        <p:nvSpPr>
          <p:cNvPr id="54" name="anim:5"/>
          <p:cNvSpPr txBox="1"/>
          <p:nvPr/>
        </p:nvSpPr>
        <p:spPr>
          <a:xfrm>
            <a:off x="4809744" y="5897880"/>
            <a:ext cx="2971800" cy="402336"/>
          </a:xfrm>
          <a:prstGeom prst="rect">
            <a:avLst/>
          </a:prstGeom>
          <a:noFill/>
          <a:ln/>
        </p:spPr>
        <p:txBody>
          <a:bodyPr wrap="square" lIns="0" tIns="0" rIns="0" bIns="0" rtlCol="0" anchor="ctr"/>
          <a:lstStyle/>
          <a:p>
            <a:pPr algn="l" indent="0" marL="0">
              <a:buNone/>
            </a:pPr>
            <a:r>
              <a:rPr lang="en-US" sz="1000" dirty="0">
                <a:solidFill>
                  <a:srgbClr val="15243A"/>
                </a:solidFill>
                <a:latin typeface="Calibri" pitchFamily="34" charset="0"/>
                <a:ea typeface="Calibri" pitchFamily="34" charset="-122"/>
                <a:cs typeface="Calibri" pitchFamily="34" charset="-120"/>
              </a:rPr>
              <a:t>the day's interview question, answered</a:t>
            </a:r>
            <a:endParaRPr lang="en-US" sz="1000" dirty="0"/>
          </a:p>
        </p:txBody>
      </p:sp>
      <p:sp>
        <p:nvSpPr>
          <p:cNvPr id="55" name="anim:5"/>
          <p:cNvSpPr/>
          <p:nvPr/>
        </p:nvSpPr>
        <p:spPr>
          <a:xfrm>
            <a:off x="8065008" y="5897880"/>
            <a:ext cx="3566160" cy="402336"/>
          </a:xfrm>
          <a:prstGeom prst="roundRect">
            <a:avLst>
              <a:gd name="adj" fmla="val 22727"/>
            </a:avLst>
          </a:prstGeom>
          <a:solidFill>
            <a:srgbClr val="FFFFFF"/>
          </a:solidFill>
          <a:ln w="9525">
            <a:solidFill>
              <a:srgbClr val="E4E9F0"/>
            </a:solidFill>
            <a:prstDash val="solid"/>
          </a:ln>
        </p:spPr>
        <p:txBody>
          <a:bodyPr/>
          <a:p/>
        </p:txBody>
      </p:sp>
      <p:sp>
        <p:nvSpPr>
          <p:cNvPr id="56" name="anim:5"/>
          <p:cNvSpPr/>
          <p:nvPr/>
        </p:nvSpPr>
        <p:spPr>
          <a:xfrm>
            <a:off x="8156448" y="5943600"/>
            <a:ext cx="310896" cy="310896"/>
          </a:xfrm>
          <a:prstGeom prst="ellipse">
            <a:avLst/>
          </a:prstGeom>
          <a:solidFill>
            <a:srgbClr val="E3F2FA"/>
          </a:solidFill>
          <a:ln w="9525">
            <a:solidFill>
              <a:srgbClr val="E3F2FA"/>
            </a:solidFill>
            <a:prstDash val="solid"/>
          </a:ln>
        </p:spPr>
        <p:txBody>
          <a:bodyPr/>
          <a:p/>
        </p:txBody>
      </p:sp>
      <p:pic>
        <p:nvPicPr>
          <p:cNvPr id="57" name="anim:5" descr="preencoded.png">    </p:cNvPr>
          <p:cNvPicPr>
            <a:picLocks noChangeAspect="1"/>
          </p:cNvPicPr>
          <p:nvPr/>
        </p:nvPicPr>
        <p:blipFill>
          <a:blip r:embed="rId9"/>
          <a:stretch>
            <a:fillRect/>
          </a:stretch>
        </p:blipFill>
        <p:spPr>
          <a:xfrm>
            <a:off x="8231063" y="6018215"/>
            <a:ext cx="161666" cy="161666"/>
          </a:xfrm>
          <a:prstGeom prst="rect">
            <a:avLst/>
          </a:prstGeom>
        </p:spPr>
      </p:pic>
      <p:sp>
        <p:nvSpPr>
          <p:cNvPr id="58" name="anim:5"/>
          <p:cNvSpPr txBox="1"/>
          <p:nvPr/>
        </p:nvSpPr>
        <p:spPr>
          <a:xfrm>
            <a:off x="8567928" y="5897880"/>
            <a:ext cx="2971800" cy="402336"/>
          </a:xfrm>
          <a:prstGeom prst="rect">
            <a:avLst/>
          </a:prstGeom>
          <a:noFill/>
          <a:ln/>
        </p:spPr>
        <p:txBody>
          <a:bodyPr wrap="square" lIns="0" tIns="0" rIns="0" bIns="0" rtlCol="0" anchor="ctr"/>
          <a:lstStyle/>
          <a:p>
            <a:pPr algn="l" indent="0" marL="0">
              <a:buNone/>
            </a:pPr>
            <a:r>
              <a:rPr lang="en-US" sz="1000" dirty="0">
                <a:solidFill>
                  <a:srgbClr val="15243A"/>
                </a:solidFill>
                <a:latin typeface="Calibri" pitchFamily="34" charset="0"/>
                <a:ea typeface="Calibri" pitchFamily="34" charset="-122"/>
                <a:cs typeface="Calibri" pitchFamily="34" charset="-120"/>
              </a:rPr>
              <a:t>tomorrow's setup, in your inbox tonight</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childTnLst>
                          </p:cTn>
                        </p:par>
                      </p:childTnLst>
                    </p:cTn>
                  </p:par>
                  <p:par>
                    <p:cTn id="38" fill="hold">
                      <p:stCondLst>
                        <p:cond delay="indefinite"/>
                      </p:stCondLst>
                      <p:childTnLst>
                        <p:par>
                          <p:cTn id="39"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grpId="0" nodeType="withEffect">
                                  <p:stCondLst>
                                    <p:cond delay="9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00"/>
                                        <p:tgtEl>
                                          <p:spTgt spid="28"/>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grpId="0" nodeType="withEffect">
                                  <p:stCondLst>
                                    <p:cond delay="27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childTnLst>
                          </p:cTn>
                        </p:par>
                      </p:childTnLst>
                    </p:cTn>
                  </p:par>
                  <p:par>
                    <p:cTn id="55" fill="hold">
                      <p:stCondLst>
                        <p:cond delay="indefinite"/>
                      </p:stCondLst>
                      <p:childTnLst>
                        <p:par>
                          <p:cTn id="56"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400"/>
                                        <p:tgtEl>
                                          <p:spTgt spid="32"/>
                                        </p:tgtEl>
                                      </p:cBhvr>
                                    </p:animEffect>
                                  </p:childTnLst>
                                </p:cTn>
                              </p:par>
                              <p:par>
                                <p:cTn id="43" presetID="10" presetClass="entr" presetSubtype="0" fill="hold" grpId="0" nodeType="withEffect">
                                  <p:stCondLst>
                                    <p:cond delay="9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400"/>
                                        <p:tgtEl>
                                          <p:spTgt spid="33"/>
                                        </p:tgtEl>
                                      </p:cBhvr>
                                    </p:animEffect>
                                  </p:childTnLst>
                                </p:cTn>
                              </p:par>
                              <p:par>
                                <p:cTn id="46" presetID="10" presetClass="entr" presetSubtype="0" fill="hold" grpId="0" nodeType="withEffect">
                                  <p:stCondLst>
                                    <p:cond delay="18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400"/>
                                        <p:tgtEl>
                                          <p:spTgt spid="34"/>
                                        </p:tgtEl>
                                      </p:cBhvr>
                                    </p:animEffect>
                                  </p:childTnLst>
                                </p:cTn>
                              </p:par>
                              <p:par>
                                <p:cTn id="49" presetID="10" presetClass="entr" presetSubtype="0" fill="hold" grpId="0" nodeType="withEffect">
                                  <p:stCondLst>
                                    <p:cond delay="27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00"/>
                                        <p:tgtEl>
                                          <p:spTgt spid="35"/>
                                        </p:tgtEl>
                                      </p:cBhvr>
                                    </p:animEffect>
                                  </p:childTnLst>
                                </p:cTn>
                              </p:par>
                              <p:par>
                                <p:cTn id="52" presetID="10" presetClass="entr" presetSubtype="0" fill="hold" grpId="0" nodeType="withEffect">
                                  <p:stCondLst>
                                    <p:cond delay="36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00"/>
                                        <p:tgtEl>
                                          <p:spTgt spid="36"/>
                                        </p:tgtEl>
                                      </p:cBhvr>
                                    </p:animEffect>
                                  </p:childTnLst>
                                </p:cTn>
                              </p:par>
                            </p:childTnLst>
                          </p:cTn>
                        </p:par>
                      </p:childTnLst>
                    </p:cTn>
                  </p:par>
                  <p:par>
                    <p:cTn id="72" fill="hold">
                      <p:stCondLst>
                        <p:cond delay="indefinite"/>
                      </p:stCondLst>
                      <p:childTnLst>
                        <p:par>
                          <p:cTn id="73"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fade">
                                      <p:cBhvr>
                                        <p:cTn id="59" dur="400"/>
                                        <p:tgtEl>
                                          <p:spTgt spid="37"/>
                                        </p:tgtEl>
                                      </p:cBhvr>
                                    </p:animEffect>
                                  </p:childTnLst>
                                </p:cTn>
                              </p:par>
                              <p:par>
                                <p:cTn id="60" presetID="10" presetClass="entr" presetSubtype="0" fill="hold" grpId="0" nodeType="withEffect">
                                  <p:stCondLst>
                                    <p:cond delay="90"/>
                                  </p:stCondLst>
                                  <p:childTnLst>
                                    <p:set>
                                      <p:cBhvr>
                                        <p:cTn id="61" dur="1" fill="hold">
                                          <p:stCondLst>
                                            <p:cond delay="0"/>
                                          </p:stCondLst>
                                        </p:cTn>
                                        <p:tgtEl>
                                          <p:spTgt spid="38"/>
                                        </p:tgtEl>
                                        <p:attrNameLst>
                                          <p:attrName>style.visibility</p:attrName>
                                        </p:attrNameLst>
                                      </p:cBhvr>
                                      <p:to>
                                        <p:strVal val="visible"/>
                                      </p:to>
                                    </p:set>
                                    <p:animEffect transition="in" filter="fade">
                                      <p:cBhvr>
                                        <p:cTn id="62" dur="400"/>
                                        <p:tgtEl>
                                          <p:spTgt spid="38"/>
                                        </p:tgtEl>
                                      </p:cBhvr>
                                    </p:animEffect>
                                  </p:childTnLst>
                                </p:cTn>
                              </p:par>
                              <p:par>
                                <p:cTn id="63" presetID="10" presetClass="entr" presetSubtype="0" fill="hold" grpId="0" nodeType="withEffect">
                                  <p:stCondLst>
                                    <p:cond delay="18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400"/>
                                        <p:tgtEl>
                                          <p:spTgt spid="39"/>
                                        </p:tgtEl>
                                      </p:cBhvr>
                                    </p:animEffect>
                                  </p:childTnLst>
                                </p:cTn>
                              </p:par>
                              <p:par>
                                <p:cTn id="66" presetID="10" presetClass="entr" presetSubtype="0" fill="hold" grpId="0" nodeType="withEffect">
                                  <p:stCondLst>
                                    <p:cond delay="27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400"/>
                                        <p:tgtEl>
                                          <p:spTgt spid="40"/>
                                        </p:tgtEl>
                                      </p:cBhvr>
                                    </p:animEffect>
                                  </p:childTnLst>
                                </p:cTn>
                              </p:par>
                              <p:par>
                                <p:cTn id="69" presetID="10" presetClass="entr" presetSubtype="0" fill="hold" grpId="0" nodeType="withEffect">
                                  <p:stCondLst>
                                    <p:cond delay="36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400"/>
                                        <p:tgtEl>
                                          <p:spTgt spid="41"/>
                                        </p:tgtEl>
                                      </p:cBhvr>
                                    </p:animEffect>
                                  </p:childTnLst>
                                </p:cTn>
                              </p:par>
                            </p:childTnLst>
                          </p:cTn>
                        </p:par>
                      </p:childTnLst>
                    </p:cTn>
                  </p:par>
                  <p:par>
                    <p:cTn id="125" fill="hold">
                      <p:stCondLst>
                        <p:cond delay="indefinite"/>
                      </p:stCondLst>
                      <p:childTnLst>
                        <p:par>
                          <p:cTn id="126"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400"/>
                                        <p:tgtEl>
                                          <p:spTgt spid="42"/>
                                        </p:tgtEl>
                                      </p:cBhvr>
                                    </p:animEffect>
                                  </p:childTnLst>
                                </p:cTn>
                              </p:par>
                              <p:par>
                                <p:cTn id="77" presetID="10" presetClass="entr" presetSubtype="0" fill="hold" grpId="0" nodeType="withEffect">
                                  <p:stCondLst>
                                    <p:cond delay="90"/>
                                  </p:stCondLst>
                                  <p:childTnLst>
                                    <p:set>
                                      <p:cBhvr>
                                        <p:cTn id="78" dur="1" fill="hold">
                                          <p:stCondLst>
                                            <p:cond delay="0"/>
                                          </p:stCondLst>
                                        </p:cTn>
                                        <p:tgtEl>
                                          <p:spTgt spid="43"/>
                                        </p:tgtEl>
                                        <p:attrNameLst>
                                          <p:attrName>style.visibility</p:attrName>
                                        </p:attrNameLst>
                                      </p:cBhvr>
                                      <p:to>
                                        <p:strVal val="visible"/>
                                      </p:to>
                                    </p:set>
                                    <p:animEffect transition="in" filter="fade">
                                      <p:cBhvr>
                                        <p:cTn id="79" dur="400"/>
                                        <p:tgtEl>
                                          <p:spTgt spid="43"/>
                                        </p:tgtEl>
                                      </p:cBhvr>
                                    </p:animEffect>
                                  </p:childTnLst>
                                </p:cTn>
                              </p:par>
                              <p:par>
                                <p:cTn id="80" presetID="10" presetClass="entr" presetSubtype="0" fill="hold" grpId="0" nodeType="withEffect">
                                  <p:stCondLst>
                                    <p:cond delay="18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400"/>
                                        <p:tgtEl>
                                          <p:spTgt spid="44"/>
                                        </p:tgtEl>
                                      </p:cBhvr>
                                    </p:animEffect>
                                  </p:childTnLst>
                                </p:cTn>
                              </p:par>
                              <p:par>
                                <p:cTn id="83" presetID="10" presetClass="entr" presetSubtype="0" fill="hold" grpId="0" nodeType="withEffect">
                                  <p:stCondLst>
                                    <p:cond delay="270"/>
                                  </p:stCondLst>
                                  <p:childTnLst>
                                    <p:set>
                                      <p:cBhvr>
                                        <p:cTn id="84" dur="1" fill="hold">
                                          <p:stCondLst>
                                            <p:cond delay="0"/>
                                          </p:stCondLst>
                                        </p:cTn>
                                        <p:tgtEl>
                                          <p:spTgt spid="45"/>
                                        </p:tgtEl>
                                        <p:attrNameLst>
                                          <p:attrName>style.visibility</p:attrName>
                                        </p:attrNameLst>
                                      </p:cBhvr>
                                      <p:to>
                                        <p:strVal val="visible"/>
                                      </p:to>
                                    </p:set>
                                    <p:animEffect transition="in" filter="fade">
                                      <p:cBhvr>
                                        <p:cTn id="85" dur="400"/>
                                        <p:tgtEl>
                                          <p:spTgt spid="45"/>
                                        </p:tgtEl>
                                      </p:cBhvr>
                                    </p:animEffect>
                                  </p:childTnLst>
                                </p:cTn>
                              </p:par>
                              <p:par>
                                <p:cTn id="86" presetID="10" presetClass="entr" presetSubtype="0" fill="hold" grpId="0" nodeType="withEffect">
                                  <p:stCondLst>
                                    <p:cond delay="360"/>
                                  </p:stCondLst>
                                  <p:childTnLst>
                                    <p:set>
                                      <p:cBhvr>
                                        <p:cTn id="87" dur="1" fill="hold">
                                          <p:stCondLst>
                                            <p:cond delay="0"/>
                                          </p:stCondLst>
                                        </p:cTn>
                                        <p:tgtEl>
                                          <p:spTgt spid="46"/>
                                        </p:tgtEl>
                                        <p:attrNameLst>
                                          <p:attrName>style.visibility</p:attrName>
                                        </p:attrNameLst>
                                      </p:cBhvr>
                                      <p:to>
                                        <p:strVal val="visible"/>
                                      </p:to>
                                    </p:set>
                                    <p:animEffect transition="in" filter="fade">
                                      <p:cBhvr>
                                        <p:cTn id="88" dur="400"/>
                                        <p:tgtEl>
                                          <p:spTgt spid="46"/>
                                        </p:tgtEl>
                                      </p:cBhvr>
                                    </p:animEffect>
                                  </p:childTnLst>
                                </p:cTn>
                              </p:par>
                              <p:par>
                                <p:cTn id="89" presetID="10" presetClass="entr" presetSubtype="0" fill="hold" grpId="0" nodeType="withEffect">
                                  <p:stCondLst>
                                    <p:cond delay="450"/>
                                  </p:stCondLst>
                                  <p:childTnLst>
                                    <p:set>
                                      <p:cBhvr>
                                        <p:cTn id="90" dur="1" fill="hold">
                                          <p:stCondLst>
                                            <p:cond delay="0"/>
                                          </p:stCondLst>
                                        </p:cTn>
                                        <p:tgtEl>
                                          <p:spTgt spid="47"/>
                                        </p:tgtEl>
                                        <p:attrNameLst>
                                          <p:attrName>style.visibility</p:attrName>
                                        </p:attrNameLst>
                                      </p:cBhvr>
                                      <p:to>
                                        <p:strVal val="visible"/>
                                      </p:to>
                                    </p:set>
                                    <p:animEffect transition="in" filter="fade">
                                      <p:cBhvr>
                                        <p:cTn id="91" dur="400"/>
                                        <p:tgtEl>
                                          <p:spTgt spid="47"/>
                                        </p:tgtEl>
                                      </p:cBhvr>
                                    </p:animEffect>
                                  </p:childTnLst>
                                </p:cTn>
                              </p:par>
                              <p:par>
                                <p:cTn id="92" presetID="10" presetClass="entr" presetSubtype="0" fill="hold" grpId="0" nodeType="withEffect">
                                  <p:stCondLst>
                                    <p:cond delay="540"/>
                                  </p:stCondLst>
                                  <p:childTnLst>
                                    <p:set>
                                      <p:cBhvr>
                                        <p:cTn id="93" dur="1" fill="hold">
                                          <p:stCondLst>
                                            <p:cond delay="0"/>
                                          </p:stCondLst>
                                        </p:cTn>
                                        <p:tgtEl>
                                          <p:spTgt spid="48"/>
                                        </p:tgtEl>
                                        <p:attrNameLst>
                                          <p:attrName>style.visibility</p:attrName>
                                        </p:attrNameLst>
                                      </p:cBhvr>
                                      <p:to>
                                        <p:strVal val="visible"/>
                                      </p:to>
                                    </p:set>
                                    <p:animEffect transition="in" filter="fade">
                                      <p:cBhvr>
                                        <p:cTn id="94" dur="400"/>
                                        <p:tgtEl>
                                          <p:spTgt spid="48"/>
                                        </p:tgtEl>
                                      </p:cBhvr>
                                    </p:animEffect>
                                  </p:childTnLst>
                                </p:cTn>
                              </p:par>
                              <p:par>
                                <p:cTn id="95" presetID="10" presetClass="entr" presetSubtype="0" fill="hold" grpId="0" nodeType="withEffect">
                                  <p:stCondLst>
                                    <p:cond delay="630"/>
                                  </p:stCondLst>
                                  <p:childTnLst>
                                    <p:set>
                                      <p:cBhvr>
                                        <p:cTn id="96" dur="1" fill="hold">
                                          <p:stCondLst>
                                            <p:cond delay="0"/>
                                          </p:stCondLst>
                                        </p:cTn>
                                        <p:tgtEl>
                                          <p:spTgt spid="49"/>
                                        </p:tgtEl>
                                        <p:attrNameLst>
                                          <p:attrName>style.visibility</p:attrName>
                                        </p:attrNameLst>
                                      </p:cBhvr>
                                      <p:to>
                                        <p:strVal val="visible"/>
                                      </p:to>
                                    </p:set>
                                    <p:animEffect transition="in" filter="fade">
                                      <p:cBhvr>
                                        <p:cTn id="97" dur="400"/>
                                        <p:tgtEl>
                                          <p:spTgt spid="49"/>
                                        </p:tgtEl>
                                      </p:cBhvr>
                                    </p:animEffect>
                                  </p:childTnLst>
                                </p:cTn>
                              </p:par>
                              <p:par>
                                <p:cTn id="98" presetID="10" presetClass="entr" presetSubtype="0" fill="hold" grpId="0" nodeType="withEffect">
                                  <p:stCondLst>
                                    <p:cond delay="720"/>
                                  </p:stCondLst>
                                  <p:childTnLst>
                                    <p:set>
                                      <p:cBhvr>
                                        <p:cTn id="99" dur="1" fill="hold">
                                          <p:stCondLst>
                                            <p:cond delay="0"/>
                                          </p:stCondLst>
                                        </p:cTn>
                                        <p:tgtEl>
                                          <p:spTgt spid="50"/>
                                        </p:tgtEl>
                                        <p:attrNameLst>
                                          <p:attrName>style.visibility</p:attrName>
                                        </p:attrNameLst>
                                      </p:cBhvr>
                                      <p:to>
                                        <p:strVal val="visible"/>
                                      </p:to>
                                    </p:set>
                                    <p:animEffect transition="in" filter="fade">
                                      <p:cBhvr>
                                        <p:cTn id="100" dur="400"/>
                                        <p:tgtEl>
                                          <p:spTgt spid="50"/>
                                        </p:tgtEl>
                                      </p:cBhvr>
                                    </p:animEffect>
                                  </p:childTnLst>
                                </p:cTn>
                              </p:par>
                              <p:par>
                                <p:cTn id="101" presetID="10" presetClass="entr" presetSubtype="0" fill="hold" grpId="0" nodeType="withEffect">
                                  <p:stCondLst>
                                    <p:cond delay="810"/>
                                  </p:stCondLst>
                                  <p:childTnLst>
                                    <p:set>
                                      <p:cBhvr>
                                        <p:cTn id="102" dur="1" fill="hold">
                                          <p:stCondLst>
                                            <p:cond delay="0"/>
                                          </p:stCondLst>
                                        </p:cTn>
                                        <p:tgtEl>
                                          <p:spTgt spid="51"/>
                                        </p:tgtEl>
                                        <p:attrNameLst>
                                          <p:attrName>style.visibility</p:attrName>
                                        </p:attrNameLst>
                                      </p:cBhvr>
                                      <p:to>
                                        <p:strVal val="visible"/>
                                      </p:to>
                                    </p:set>
                                    <p:animEffect transition="in" filter="fade">
                                      <p:cBhvr>
                                        <p:cTn id="103" dur="400"/>
                                        <p:tgtEl>
                                          <p:spTgt spid="51"/>
                                        </p:tgtEl>
                                      </p:cBhvr>
                                    </p:animEffect>
                                  </p:childTnLst>
                                </p:cTn>
                              </p:par>
                              <p:par>
                                <p:cTn id="104" presetID="10" presetClass="entr" presetSubtype="0" fill="hold" grpId="0" nodeType="withEffect">
                                  <p:stCondLst>
                                    <p:cond delay="900"/>
                                  </p:stCondLst>
                                  <p:childTnLst>
                                    <p:set>
                                      <p:cBhvr>
                                        <p:cTn id="105" dur="1" fill="hold">
                                          <p:stCondLst>
                                            <p:cond delay="0"/>
                                          </p:stCondLst>
                                        </p:cTn>
                                        <p:tgtEl>
                                          <p:spTgt spid="52"/>
                                        </p:tgtEl>
                                        <p:attrNameLst>
                                          <p:attrName>style.visibility</p:attrName>
                                        </p:attrNameLst>
                                      </p:cBhvr>
                                      <p:to>
                                        <p:strVal val="visible"/>
                                      </p:to>
                                    </p:set>
                                    <p:animEffect transition="in" filter="fade">
                                      <p:cBhvr>
                                        <p:cTn id="106" dur="400"/>
                                        <p:tgtEl>
                                          <p:spTgt spid="52"/>
                                        </p:tgtEl>
                                      </p:cBhvr>
                                    </p:animEffect>
                                  </p:childTnLst>
                                </p:cTn>
                              </p:par>
                              <p:par>
                                <p:cTn id="107" presetID="10" presetClass="entr" presetSubtype="0" fill="hold" grpId="0" nodeType="withEffect">
                                  <p:stCondLst>
                                    <p:cond delay="900"/>
                                  </p:stCondLst>
                                  <p:childTnLst>
                                    <p:set>
                                      <p:cBhvr>
                                        <p:cTn id="108" dur="1" fill="hold">
                                          <p:stCondLst>
                                            <p:cond delay="0"/>
                                          </p:stCondLst>
                                        </p:cTn>
                                        <p:tgtEl>
                                          <p:spTgt spid="53"/>
                                        </p:tgtEl>
                                        <p:attrNameLst>
                                          <p:attrName>style.visibility</p:attrName>
                                        </p:attrNameLst>
                                      </p:cBhvr>
                                      <p:to>
                                        <p:strVal val="visible"/>
                                      </p:to>
                                    </p:set>
                                    <p:animEffect transition="in" filter="fade">
                                      <p:cBhvr>
                                        <p:cTn id="109" dur="400"/>
                                        <p:tgtEl>
                                          <p:spTgt spid="53"/>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54"/>
                                        </p:tgtEl>
                                        <p:attrNameLst>
                                          <p:attrName>style.visibility</p:attrName>
                                        </p:attrNameLst>
                                      </p:cBhvr>
                                      <p:to>
                                        <p:strVal val="visible"/>
                                      </p:to>
                                    </p:set>
                                    <p:animEffect transition="in" filter="fade">
                                      <p:cBhvr>
                                        <p:cTn id="112" dur="400"/>
                                        <p:tgtEl>
                                          <p:spTgt spid="54"/>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55"/>
                                        </p:tgtEl>
                                        <p:attrNameLst>
                                          <p:attrName>style.visibility</p:attrName>
                                        </p:attrNameLst>
                                      </p:cBhvr>
                                      <p:to>
                                        <p:strVal val="visible"/>
                                      </p:to>
                                    </p:set>
                                    <p:animEffect transition="in" filter="fade">
                                      <p:cBhvr>
                                        <p:cTn id="115" dur="400"/>
                                        <p:tgtEl>
                                          <p:spTgt spid="55"/>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56"/>
                                        </p:tgtEl>
                                        <p:attrNameLst>
                                          <p:attrName>style.visibility</p:attrName>
                                        </p:attrNameLst>
                                      </p:cBhvr>
                                      <p:to>
                                        <p:strVal val="visible"/>
                                      </p:to>
                                    </p:set>
                                    <p:animEffect transition="in" filter="fade">
                                      <p:cBhvr>
                                        <p:cTn id="118" dur="400"/>
                                        <p:tgtEl>
                                          <p:spTgt spid="56"/>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57"/>
                                        </p:tgtEl>
                                        <p:attrNameLst>
                                          <p:attrName>style.visibility</p:attrName>
                                        </p:attrNameLst>
                                      </p:cBhvr>
                                      <p:to>
                                        <p:strVal val="visible"/>
                                      </p:to>
                                    </p:set>
                                    <p:animEffect transition="in" filter="fade">
                                      <p:cBhvr>
                                        <p:cTn id="121" dur="400"/>
                                        <p:tgtEl>
                                          <p:spTgt spid="57"/>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58"/>
                                        </p:tgtEl>
                                        <p:attrNameLst>
                                          <p:attrName>style.visibility</p:attrName>
                                        </p:attrNameLst>
                                      </p:cBhvr>
                                      <p:to>
                                        <p:strVal val="visible"/>
                                      </p:to>
                                    </p:set>
                                    <p:animEffect transition="in" filter="fade">
                                      <p:cBhvr>
                                        <p:cTn id="124"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14</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007DB6"/>
          </a:solidFill>
          <a:ln w="12700">
            <a:solidFill>
              <a:srgbClr val="007DB6"/>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A teaching week</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The same day shape five times, then a Saturday that turns the week into interview answers.</a:t>
            </a:r>
            <a:endParaRPr lang="en-US" sz="1250" dirty="0"/>
          </a:p>
        </p:txBody>
      </p:sp>
      <p:sp>
        <p:nvSpPr>
          <p:cNvPr id="21" name="anim:1 grad:card"/>
          <p:cNvSpPr/>
          <p:nvPr/>
        </p:nvSpPr>
        <p:spPr>
          <a:xfrm>
            <a:off x="548640" y="1783080"/>
            <a:ext cx="3291840" cy="4526280"/>
          </a:xfrm>
          <a:prstGeom prst="roundRect">
            <a:avLst>
              <a:gd name="adj" fmla="val 277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2" name="anim:1"/>
          <p:cNvSpPr txBox="1"/>
          <p:nvPr/>
        </p:nvSpPr>
        <p:spPr>
          <a:xfrm>
            <a:off x="777240" y="1965960"/>
            <a:ext cx="2743200" cy="182880"/>
          </a:xfrm>
          <a:prstGeom prst="rect">
            <a:avLst/>
          </a:prstGeom>
          <a:noFill/>
          <a:ln/>
        </p:spPr>
        <p:txBody>
          <a:bodyPr wrap="square" lIns="0" tIns="0" rIns="0" bIns="0" rtlCol="0" anchor="t"/>
          <a:lstStyle/>
          <a:p>
            <a:pPr algn="l" indent="0" marL="0">
              <a:buNone/>
            </a:pPr>
            <a:r>
              <a:rPr lang="en-US" sz="800" b="1" spc="200" kern="0" dirty="0">
                <a:solidFill>
                  <a:srgbClr val="007DB6"/>
                </a:solidFill>
                <a:latin typeface="Calibri" pitchFamily="34" charset="0"/>
                <a:ea typeface="Calibri" pitchFamily="34" charset="-122"/>
                <a:cs typeface="Calibri" pitchFamily="34" charset="-120"/>
              </a:rPr>
              <a:t>ONE DAY</a:t>
            </a:r>
            <a:endParaRPr lang="en-US" sz="800" dirty="0"/>
          </a:p>
        </p:txBody>
      </p:sp>
      <p:sp>
        <p:nvSpPr>
          <p:cNvPr id="23" name="anim:1"/>
          <p:cNvSpPr/>
          <p:nvPr/>
        </p:nvSpPr>
        <p:spPr>
          <a:xfrm>
            <a:off x="1088136" y="2468880"/>
            <a:ext cx="0" cy="3337560"/>
          </a:xfrm>
          <a:prstGeom prst="line">
            <a:avLst/>
          </a:prstGeom>
          <a:noFill/>
          <a:ln w="25400">
            <a:solidFill>
              <a:srgbClr val="BFDDEE"/>
            </a:solidFill>
            <a:prstDash val="solid"/>
          </a:ln>
        </p:spPr>
        <p:txBody>
          <a:bodyPr/>
          <a:p/>
        </p:txBody>
      </p:sp>
      <p:sp>
        <p:nvSpPr>
          <p:cNvPr id="24" name="anim:1"/>
          <p:cNvSpPr/>
          <p:nvPr/>
        </p:nvSpPr>
        <p:spPr>
          <a:xfrm>
            <a:off x="822960" y="2286000"/>
            <a:ext cx="530352" cy="530352"/>
          </a:xfrm>
          <a:prstGeom prst="ellipse">
            <a:avLst/>
          </a:prstGeom>
          <a:solidFill>
            <a:srgbClr val="E3F2FA"/>
          </a:solidFill>
          <a:ln w="9525">
            <a:solidFill>
              <a:srgbClr val="FFFFFF"/>
            </a:solidFill>
            <a:prstDash val="solid"/>
          </a:ln>
        </p:spPr>
        <p:txBody>
          <a:bodyPr/>
          <a:p/>
        </p:txBody>
      </p:sp>
      <p:pic>
        <p:nvPicPr>
          <p:cNvPr id="25" name="anim:1" descr="preencoded.png">    </p:cNvPr>
          <p:cNvPicPr>
            <a:picLocks noChangeAspect="1"/>
          </p:cNvPicPr>
          <p:nvPr/>
        </p:nvPicPr>
        <p:blipFill>
          <a:blip r:embed="rId3"/>
          <a:stretch>
            <a:fillRect/>
          </a:stretch>
        </p:blipFill>
        <p:spPr>
          <a:xfrm>
            <a:off x="950244" y="2413284"/>
            <a:ext cx="275783" cy="275783"/>
          </a:xfrm>
          <a:prstGeom prst="rect">
            <a:avLst/>
          </a:prstGeom>
        </p:spPr>
      </p:pic>
      <p:sp>
        <p:nvSpPr>
          <p:cNvPr id="26" name="anim:1"/>
          <p:cNvSpPr txBox="1"/>
          <p:nvPr/>
        </p:nvSpPr>
        <p:spPr>
          <a:xfrm>
            <a:off x="1508760" y="2286000"/>
            <a:ext cx="2194560" cy="530352"/>
          </a:xfrm>
          <a:prstGeom prst="rect">
            <a:avLst/>
          </a:prstGeom>
          <a:noFill/>
          <a:ln/>
        </p:spPr>
        <p:txBody>
          <a:bodyPr wrap="square" lIns="0" tIns="0" rIns="0" bIns="0" rtlCol="0" anchor="ctr"/>
          <a:lstStyle/>
          <a:p>
            <a:pPr algn="l" indent="0" marL="0">
              <a:buNone/>
            </a:pPr>
            <a:r>
              <a:rPr lang="en-US" sz="1150" b="1" dirty="0">
                <a:solidFill>
                  <a:srgbClr val="0A1E33"/>
                </a:solidFill>
                <a:latin typeface="Calibri" pitchFamily="34" charset="0"/>
                <a:ea typeface="Calibri" pitchFamily="34" charset="-122"/>
                <a:cs typeface="Calibri" pitchFamily="34" charset="-120"/>
              </a:rPr>
              <a:t>Scenario and thinking</a:t>
            </a:r>
            <a:endParaRPr lang="en-US" sz="1150" dirty="0"/>
          </a:p>
        </p:txBody>
      </p:sp>
      <p:sp>
        <p:nvSpPr>
          <p:cNvPr id="27" name="anim:1"/>
          <p:cNvSpPr/>
          <p:nvPr/>
        </p:nvSpPr>
        <p:spPr>
          <a:xfrm>
            <a:off x="822960" y="3072384"/>
            <a:ext cx="530352" cy="530352"/>
          </a:xfrm>
          <a:prstGeom prst="ellipse">
            <a:avLst/>
          </a:prstGeom>
          <a:solidFill>
            <a:srgbClr val="E3F2FA"/>
          </a:solidFill>
          <a:ln w="9525">
            <a:solidFill>
              <a:srgbClr val="FFFFFF"/>
            </a:solidFill>
            <a:prstDash val="solid"/>
          </a:ln>
        </p:spPr>
        <p:txBody>
          <a:bodyPr/>
          <a:p/>
        </p:txBody>
      </p:sp>
      <p:pic>
        <p:nvPicPr>
          <p:cNvPr id="28" name="anim:1" descr="preencoded.png">    </p:cNvPr>
          <p:cNvPicPr>
            <a:picLocks noChangeAspect="1"/>
          </p:cNvPicPr>
          <p:nvPr/>
        </p:nvPicPr>
        <p:blipFill>
          <a:blip r:embed="rId4"/>
          <a:stretch>
            <a:fillRect/>
          </a:stretch>
        </p:blipFill>
        <p:spPr>
          <a:xfrm>
            <a:off x="950244" y="3199668"/>
            <a:ext cx="275783" cy="275783"/>
          </a:xfrm>
          <a:prstGeom prst="rect">
            <a:avLst/>
          </a:prstGeom>
        </p:spPr>
      </p:pic>
      <p:sp>
        <p:nvSpPr>
          <p:cNvPr id="29" name="anim:1"/>
          <p:cNvSpPr txBox="1"/>
          <p:nvPr/>
        </p:nvSpPr>
        <p:spPr>
          <a:xfrm>
            <a:off x="1508760" y="3072384"/>
            <a:ext cx="2194560" cy="530352"/>
          </a:xfrm>
          <a:prstGeom prst="rect">
            <a:avLst/>
          </a:prstGeom>
          <a:noFill/>
          <a:ln/>
        </p:spPr>
        <p:txBody>
          <a:bodyPr wrap="square" lIns="0" tIns="0" rIns="0" bIns="0" rtlCol="0" anchor="ctr"/>
          <a:lstStyle/>
          <a:p>
            <a:pPr algn="l" indent="0" marL="0">
              <a:buNone/>
            </a:pPr>
            <a:r>
              <a:rPr lang="en-US" sz="1150" b="1" dirty="0">
                <a:solidFill>
                  <a:srgbClr val="0A1E33"/>
                </a:solidFill>
                <a:latin typeface="Calibri" pitchFamily="34" charset="0"/>
                <a:ea typeface="Calibri" pitchFamily="34" charset="-122"/>
                <a:cs typeface="Calibri" pitchFamily="34" charset="-120"/>
              </a:rPr>
              <a:t>Teach and demo</a:t>
            </a:r>
            <a:endParaRPr lang="en-US" sz="1150" dirty="0"/>
          </a:p>
        </p:txBody>
      </p:sp>
      <p:sp>
        <p:nvSpPr>
          <p:cNvPr id="30" name="anim:1"/>
          <p:cNvSpPr/>
          <p:nvPr/>
        </p:nvSpPr>
        <p:spPr>
          <a:xfrm>
            <a:off x="822960" y="3858768"/>
            <a:ext cx="530352" cy="530352"/>
          </a:xfrm>
          <a:prstGeom prst="ellipse">
            <a:avLst/>
          </a:prstGeom>
          <a:solidFill>
            <a:srgbClr val="007DB6"/>
          </a:solidFill>
          <a:ln w="9525">
            <a:solidFill>
              <a:srgbClr val="FFFFFF"/>
            </a:solidFill>
            <a:prstDash val="solid"/>
          </a:ln>
        </p:spPr>
        <p:txBody>
          <a:bodyPr/>
          <a:p/>
        </p:txBody>
      </p:sp>
      <p:pic>
        <p:nvPicPr>
          <p:cNvPr id="31" name="anim:1" descr="preencoded.png">    </p:cNvPr>
          <p:cNvPicPr>
            <a:picLocks noChangeAspect="1"/>
          </p:cNvPicPr>
          <p:nvPr/>
        </p:nvPicPr>
        <p:blipFill>
          <a:blip r:embed="rId5"/>
          <a:stretch>
            <a:fillRect/>
          </a:stretch>
        </p:blipFill>
        <p:spPr>
          <a:xfrm>
            <a:off x="950244" y="3986052"/>
            <a:ext cx="275783" cy="275783"/>
          </a:xfrm>
          <a:prstGeom prst="rect">
            <a:avLst/>
          </a:prstGeom>
        </p:spPr>
      </p:pic>
      <p:sp>
        <p:nvSpPr>
          <p:cNvPr id="32" name="anim:1"/>
          <p:cNvSpPr txBox="1"/>
          <p:nvPr/>
        </p:nvSpPr>
        <p:spPr>
          <a:xfrm>
            <a:off x="1508760" y="3858768"/>
            <a:ext cx="2194560" cy="530352"/>
          </a:xfrm>
          <a:prstGeom prst="rect">
            <a:avLst/>
          </a:prstGeom>
          <a:noFill/>
          <a:ln/>
        </p:spPr>
        <p:txBody>
          <a:bodyPr wrap="square" lIns="0" tIns="0" rIns="0" bIns="0" rtlCol="0" anchor="ctr"/>
          <a:lstStyle/>
          <a:p>
            <a:pPr algn="l" indent="0" marL="0">
              <a:buNone/>
            </a:pPr>
            <a:r>
              <a:rPr lang="en-US" sz="1150" b="1" dirty="0">
                <a:solidFill>
                  <a:srgbClr val="0A1E33"/>
                </a:solidFill>
                <a:latin typeface="Calibri" pitchFamily="34" charset="0"/>
                <a:ea typeface="Calibri" pitchFamily="34" charset="-122"/>
                <a:cs typeface="Calibri" pitchFamily="34" charset="-120"/>
              </a:rPr>
              <a:t>Your lab: guided, then unguided</a:t>
            </a:r>
            <a:endParaRPr lang="en-US" sz="1150" dirty="0"/>
          </a:p>
        </p:txBody>
      </p:sp>
      <p:sp>
        <p:nvSpPr>
          <p:cNvPr id="33" name="anim:1"/>
          <p:cNvSpPr/>
          <p:nvPr/>
        </p:nvSpPr>
        <p:spPr>
          <a:xfrm>
            <a:off x="822960" y="4645152"/>
            <a:ext cx="530352" cy="530352"/>
          </a:xfrm>
          <a:prstGeom prst="ellipse">
            <a:avLst/>
          </a:prstGeom>
          <a:solidFill>
            <a:srgbClr val="E3F2FA"/>
          </a:solidFill>
          <a:ln w="9525">
            <a:solidFill>
              <a:srgbClr val="FFFFFF"/>
            </a:solidFill>
            <a:prstDash val="solid"/>
          </a:ln>
        </p:spPr>
        <p:txBody>
          <a:bodyPr/>
          <a:p/>
        </p:txBody>
      </p:sp>
      <p:pic>
        <p:nvPicPr>
          <p:cNvPr id="34" name="anim:1" descr="preencoded.png">    </p:cNvPr>
          <p:cNvPicPr>
            <a:picLocks noChangeAspect="1"/>
          </p:cNvPicPr>
          <p:nvPr/>
        </p:nvPicPr>
        <p:blipFill>
          <a:blip r:embed="rId6"/>
          <a:stretch>
            <a:fillRect/>
          </a:stretch>
        </p:blipFill>
        <p:spPr>
          <a:xfrm>
            <a:off x="950244" y="4772436"/>
            <a:ext cx="275783" cy="275783"/>
          </a:xfrm>
          <a:prstGeom prst="rect">
            <a:avLst/>
          </a:prstGeom>
        </p:spPr>
      </p:pic>
      <p:sp>
        <p:nvSpPr>
          <p:cNvPr id="35" name="anim:1"/>
          <p:cNvSpPr txBox="1"/>
          <p:nvPr/>
        </p:nvSpPr>
        <p:spPr>
          <a:xfrm>
            <a:off x="1508760" y="4645152"/>
            <a:ext cx="2194560" cy="530352"/>
          </a:xfrm>
          <a:prstGeom prst="rect">
            <a:avLst/>
          </a:prstGeom>
          <a:noFill/>
          <a:ln/>
        </p:spPr>
        <p:txBody>
          <a:bodyPr wrap="square" lIns="0" tIns="0" rIns="0" bIns="0" rtlCol="0" anchor="ctr"/>
          <a:lstStyle/>
          <a:p>
            <a:pPr algn="l" indent="0" marL="0">
              <a:buNone/>
            </a:pPr>
            <a:r>
              <a:rPr lang="en-US" sz="1150" b="1" dirty="0">
                <a:solidFill>
                  <a:srgbClr val="0A1E33"/>
                </a:solidFill>
                <a:latin typeface="Calibri" pitchFamily="34" charset="0"/>
                <a:ea typeface="Calibri" pitchFamily="34" charset="-122"/>
                <a:cs typeface="Calibri" pitchFamily="34" charset="-120"/>
              </a:rPr>
              <a:t>Debrief</a:t>
            </a:r>
            <a:endParaRPr lang="en-US" sz="1150" dirty="0"/>
          </a:p>
        </p:txBody>
      </p:sp>
      <p:sp>
        <p:nvSpPr>
          <p:cNvPr id="36" name="anim:1"/>
          <p:cNvSpPr/>
          <p:nvPr/>
        </p:nvSpPr>
        <p:spPr>
          <a:xfrm>
            <a:off x="822960" y="5431536"/>
            <a:ext cx="530352" cy="530352"/>
          </a:xfrm>
          <a:prstGeom prst="ellipse">
            <a:avLst/>
          </a:prstGeom>
          <a:solidFill>
            <a:srgbClr val="0A1E33"/>
          </a:solidFill>
          <a:ln w="9525">
            <a:solidFill>
              <a:srgbClr val="FFFFFF"/>
            </a:solidFill>
            <a:prstDash val="solid"/>
          </a:ln>
        </p:spPr>
        <p:txBody>
          <a:bodyPr/>
          <a:p/>
        </p:txBody>
      </p:sp>
      <p:pic>
        <p:nvPicPr>
          <p:cNvPr id="37" name="anim:1" descr="preencoded.png">    </p:cNvPr>
          <p:cNvPicPr>
            <a:picLocks noChangeAspect="1"/>
          </p:cNvPicPr>
          <p:nvPr/>
        </p:nvPicPr>
        <p:blipFill>
          <a:blip r:embed="rId7"/>
          <a:stretch>
            <a:fillRect/>
          </a:stretch>
        </p:blipFill>
        <p:spPr>
          <a:xfrm>
            <a:off x="950244" y="5558820"/>
            <a:ext cx="275783" cy="275783"/>
          </a:xfrm>
          <a:prstGeom prst="rect">
            <a:avLst/>
          </a:prstGeom>
        </p:spPr>
      </p:pic>
      <p:sp>
        <p:nvSpPr>
          <p:cNvPr id="38" name="anim:1"/>
          <p:cNvSpPr txBox="1"/>
          <p:nvPr/>
        </p:nvSpPr>
        <p:spPr>
          <a:xfrm>
            <a:off x="1508760" y="5431536"/>
            <a:ext cx="2194560" cy="530352"/>
          </a:xfrm>
          <a:prstGeom prst="rect">
            <a:avLst/>
          </a:prstGeom>
          <a:noFill/>
          <a:ln/>
        </p:spPr>
        <p:txBody>
          <a:bodyPr wrap="square" lIns="0" tIns="0" rIns="0" bIns="0" rtlCol="0" anchor="ctr"/>
          <a:lstStyle/>
          <a:p>
            <a:pPr algn="l" indent="0" marL="0">
              <a:buNone/>
            </a:pPr>
            <a:r>
              <a:rPr lang="en-US" sz="1150" b="1" dirty="0">
                <a:solidFill>
                  <a:srgbClr val="0A1E33"/>
                </a:solidFill>
                <a:latin typeface="Calibri" pitchFamily="34" charset="0"/>
                <a:ea typeface="Calibri" pitchFamily="34" charset="-122"/>
                <a:cs typeface="Calibri" pitchFamily="34" charset="-120"/>
              </a:rPr>
              <a:t>Kahoot, ungraded</a:t>
            </a:r>
            <a:endParaRPr lang="en-US" sz="1150" dirty="0"/>
          </a:p>
        </p:txBody>
      </p:sp>
      <p:sp>
        <p:nvSpPr>
          <p:cNvPr id="39" name="anim:2"/>
          <p:cNvSpPr txBox="1"/>
          <p:nvPr/>
        </p:nvSpPr>
        <p:spPr>
          <a:xfrm>
            <a:off x="4114800" y="1965960"/>
            <a:ext cx="3657600" cy="182880"/>
          </a:xfrm>
          <a:prstGeom prst="rect">
            <a:avLst/>
          </a:prstGeom>
          <a:noFill/>
          <a:ln/>
        </p:spPr>
        <p:txBody>
          <a:bodyPr wrap="square" lIns="0" tIns="0" rIns="0" bIns="0" rtlCol="0" anchor="t"/>
          <a:lstStyle/>
          <a:p>
            <a:pPr algn="l" indent="0" marL="0">
              <a:buNone/>
            </a:pPr>
            <a:r>
              <a:rPr lang="en-US" sz="800" b="1" spc="200" kern="0" dirty="0">
                <a:solidFill>
                  <a:srgbClr val="007DB6"/>
                </a:solidFill>
                <a:latin typeface="Calibri" pitchFamily="34" charset="0"/>
                <a:ea typeface="Calibri" pitchFamily="34" charset="-122"/>
                <a:cs typeface="Calibri" pitchFamily="34" charset="-120"/>
              </a:rPr>
              <a:t>THE WEEK</a:t>
            </a:r>
            <a:endParaRPr lang="en-US" sz="800" dirty="0"/>
          </a:p>
        </p:txBody>
      </p:sp>
      <p:sp>
        <p:nvSpPr>
          <p:cNvPr id="40" name="anim:2 grad:card"/>
          <p:cNvSpPr/>
          <p:nvPr/>
        </p:nvSpPr>
        <p:spPr>
          <a:xfrm>
            <a:off x="4114800" y="2240280"/>
            <a:ext cx="1024128" cy="3108960"/>
          </a:xfrm>
          <a:prstGeom prst="roundRect">
            <a:avLst>
              <a:gd name="adj" fmla="val 892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1" name="anim:2"/>
          <p:cNvSpPr txBox="1"/>
          <p:nvPr/>
        </p:nvSpPr>
        <p:spPr>
          <a:xfrm>
            <a:off x="4114800" y="2350008"/>
            <a:ext cx="1024128" cy="228600"/>
          </a:xfrm>
          <a:prstGeom prst="rect">
            <a:avLst/>
          </a:prstGeom>
          <a:noFill/>
          <a:ln/>
        </p:spPr>
        <p:txBody>
          <a:bodyPr wrap="square" lIns="0" tIns="0" rIns="0" bIns="0" rtlCol="0" anchor="t"/>
          <a:lstStyle/>
          <a:p>
            <a:pPr algn="ctr" indent="0" marL="0">
              <a:buNone/>
            </a:pPr>
            <a:r>
              <a:rPr lang="en-US" sz="850" b="1" spc="200" kern="0" dirty="0">
                <a:solidFill>
                  <a:srgbClr val="5F7183"/>
                </a:solidFill>
                <a:latin typeface="Calibri" pitchFamily="34" charset="0"/>
                <a:ea typeface="Calibri" pitchFamily="34" charset="-122"/>
                <a:cs typeface="Calibri" pitchFamily="34" charset="-120"/>
              </a:rPr>
              <a:t>MON</a:t>
            </a:r>
            <a:endParaRPr lang="en-US" sz="850" dirty="0"/>
          </a:p>
        </p:txBody>
      </p:sp>
      <p:sp>
        <p:nvSpPr>
          <p:cNvPr id="42" name="anim:2"/>
          <p:cNvSpPr/>
          <p:nvPr/>
        </p:nvSpPr>
        <p:spPr>
          <a:xfrm>
            <a:off x="4453128" y="2651760"/>
            <a:ext cx="347472" cy="347472"/>
          </a:xfrm>
          <a:prstGeom prst="ellipse">
            <a:avLst/>
          </a:prstGeom>
          <a:solidFill>
            <a:srgbClr val="E3F2FA"/>
          </a:solidFill>
          <a:ln w="12700">
            <a:solidFill>
              <a:srgbClr val="E3F2FA"/>
            </a:solidFill>
            <a:prstDash val="solid"/>
          </a:ln>
        </p:spPr>
        <p:txBody>
          <a:bodyPr/>
          <a:p/>
        </p:txBody>
      </p:sp>
      <p:pic>
        <p:nvPicPr>
          <p:cNvPr id="43" name="anim:2" descr="preencoded.png">    </p:cNvPr>
          <p:cNvPicPr>
            <a:picLocks noChangeAspect="1"/>
          </p:cNvPicPr>
          <p:nvPr/>
        </p:nvPicPr>
        <p:blipFill>
          <a:blip r:embed="rId8"/>
          <a:stretch>
            <a:fillRect/>
          </a:stretch>
        </p:blipFill>
        <p:spPr>
          <a:xfrm>
            <a:off x="4535424" y="2734056"/>
            <a:ext cx="182880" cy="182880"/>
          </a:xfrm>
          <a:prstGeom prst="rect">
            <a:avLst/>
          </a:prstGeom>
        </p:spPr>
      </p:pic>
      <p:sp>
        <p:nvSpPr>
          <p:cNvPr id="44" name="anim:2"/>
          <p:cNvSpPr/>
          <p:nvPr/>
        </p:nvSpPr>
        <p:spPr>
          <a:xfrm>
            <a:off x="4453128" y="3108960"/>
            <a:ext cx="347472" cy="347472"/>
          </a:xfrm>
          <a:prstGeom prst="ellipse">
            <a:avLst/>
          </a:prstGeom>
          <a:solidFill>
            <a:srgbClr val="E3F2FA"/>
          </a:solidFill>
          <a:ln w="12700">
            <a:solidFill>
              <a:srgbClr val="E3F2FA"/>
            </a:solidFill>
            <a:prstDash val="solid"/>
          </a:ln>
        </p:spPr>
        <p:txBody>
          <a:bodyPr/>
          <a:p/>
        </p:txBody>
      </p:sp>
      <p:pic>
        <p:nvPicPr>
          <p:cNvPr id="45" name="anim:2" descr="preencoded.png">    </p:cNvPr>
          <p:cNvPicPr>
            <a:picLocks noChangeAspect="1"/>
          </p:cNvPicPr>
          <p:nvPr/>
        </p:nvPicPr>
        <p:blipFill>
          <a:blip r:embed="rId9"/>
          <a:stretch>
            <a:fillRect/>
          </a:stretch>
        </p:blipFill>
        <p:spPr>
          <a:xfrm>
            <a:off x="4535424" y="3191256"/>
            <a:ext cx="182880" cy="182880"/>
          </a:xfrm>
          <a:prstGeom prst="rect">
            <a:avLst/>
          </a:prstGeom>
        </p:spPr>
      </p:pic>
      <p:sp>
        <p:nvSpPr>
          <p:cNvPr id="46" name="anim:2"/>
          <p:cNvSpPr/>
          <p:nvPr/>
        </p:nvSpPr>
        <p:spPr>
          <a:xfrm>
            <a:off x="4453128" y="3566160"/>
            <a:ext cx="347472" cy="347472"/>
          </a:xfrm>
          <a:prstGeom prst="ellipse">
            <a:avLst/>
          </a:prstGeom>
          <a:solidFill>
            <a:srgbClr val="007DB6"/>
          </a:solidFill>
          <a:ln w="12700">
            <a:solidFill>
              <a:srgbClr val="007DB6"/>
            </a:solidFill>
            <a:prstDash val="solid"/>
          </a:ln>
        </p:spPr>
        <p:txBody>
          <a:bodyPr/>
          <a:p/>
        </p:txBody>
      </p:sp>
      <p:pic>
        <p:nvPicPr>
          <p:cNvPr id="47" name="anim:2" descr="preencoded.png">    </p:cNvPr>
          <p:cNvPicPr>
            <a:picLocks noChangeAspect="1"/>
          </p:cNvPicPr>
          <p:nvPr/>
        </p:nvPicPr>
        <p:blipFill>
          <a:blip r:embed="rId10"/>
          <a:stretch>
            <a:fillRect/>
          </a:stretch>
        </p:blipFill>
        <p:spPr>
          <a:xfrm>
            <a:off x="4535424" y="3648456"/>
            <a:ext cx="182880" cy="182880"/>
          </a:xfrm>
          <a:prstGeom prst="rect">
            <a:avLst/>
          </a:prstGeom>
        </p:spPr>
      </p:pic>
      <p:sp>
        <p:nvSpPr>
          <p:cNvPr id="48" name="anim:2"/>
          <p:cNvSpPr/>
          <p:nvPr/>
        </p:nvSpPr>
        <p:spPr>
          <a:xfrm>
            <a:off x="4453128" y="4023360"/>
            <a:ext cx="347472" cy="347472"/>
          </a:xfrm>
          <a:prstGeom prst="ellipse">
            <a:avLst/>
          </a:prstGeom>
          <a:solidFill>
            <a:srgbClr val="E3F2FA"/>
          </a:solidFill>
          <a:ln w="12700">
            <a:solidFill>
              <a:srgbClr val="E3F2FA"/>
            </a:solidFill>
            <a:prstDash val="solid"/>
          </a:ln>
        </p:spPr>
        <p:txBody>
          <a:bodyPr/>
          <a:p/>
        </p:txBody>
      </p:sp>
      <p:pic>
        <p:nvPicPr>
          <p:cNvPr id="49" name="anim:2" descr="preencoded.png">    </p:cNvPr>
          <p:cNvPicPr>
            <a:picLocks noChangeAspect="1"/>
          </p:cNvPicPr>
          <p:nvPr/>
        </p:nvPicPr>
        <p:blipFill>
          <a:blip r:embed="rId11"/>
          <a:stretch>
            <a:fillRect/>
          </a:stretch>
        </p:blipFill>
        <p:spPr>
          <a:xfrm>
            <a:off x="4535424" y="4105656"/>
            <a:ext cx="182880" cy="182880"/>
          </a:xfrm>
          <a:prstGeom prst="rect">
            <a:avLst/>
          </a:prstGeom>
        </p:spPr>
      </p:pic>
      <p:sp>
        <p:nvSpPr>
          <p:cNvPr id="50" name="anim:2"/>
          <p:cNvSpPr/>
          <p:nvPr/>
        </p:nvSpPr>
        <p:spPr>
          <a:xfrm>
            <a:off x="4453128" y="4480560"/>
            <a:ext cx="347472" cy="347472"/>
          </a:xfrm>
          <a:prstGeom prst="ellipse">
            <a:avLst/>
          </a:prstGeom>
          <a:solidFill>
            <a:srgbClr val="0A1E33"/>
          </a:solidFill>
          <a:ln w="12700">
            <a:solidFill>
              <a:srgbClr val="0A1E33"/>
            </a:solidFill>
            <a:prstDash val="solid"/>
          </a:ln>
        </p:spPr>
        <p:txBody>
          <a:bodyPr/>
          <a:p/>
        </p:txBody>
      </p:sp>
      <p:pic>
        <p:nvPicPr>
          <p:cNvPr id="51" name="anim:2" descr="preencoded.png">    </p:cNvPr>
          <p:cNvPicPr>
            <a:picLocks noChangeAspect="1"/>
          </p:cNvPicPr>
          <p:nvPr/>
        </p:nvPicPr>
        <p:blipFill>
          <a:blip r:embed="rId12"/>
          <a:stretch>
            <a:fillRect/>
          </a:stretch>
        </p:blipFill>
        <p:spPr>
          <a:xfrm>
            <a:off x="4535424" y="4562856"/>
            <a:ext cx="182880" cy="182880"/>
          </a:xfrm>
          <a:prstGeom prst="rect">
            <a:avLst/>
          </a:prstGeom>
        </p:spPr>
      </p:pic>
      <p:sp>
        <p:nvSpPr>
          <p:cNvPr id="52" name="anim:2 grad:card"/>
          <p:cNvSpPr/>
          <p:nvPr/>
        </p:nvSpPr>
        <p:spPr>
          <a:xfrm>
            <a:off x="5212080" y="2240280"/>
            <a:ext cx="1024128" cy="3108960"/>
          </a:xfrm>
          <a:prstGeom prst="roundRect">
            <a:avLst>
              <a:gd name="adj" fmla="val 892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53" name="anim:2"/>
          <p:cNvSpPr txBox="1"/>
          <p:nvPr/>
        </p:nvSpPr>
        <p:spPr>
          <a:xfrm>
            <a:off x="5212080" y="2350008"/>
            <a:ext cx="1024128" cy="228600"/>
          </a:xfrm>
          <a:prstGeom prst="rect">
            <a:avLst/>
          </a:prstGeom>
          <a:noFill/>
          <a:ln/>
        </p:spPr>
        <p:txBody>
          <a:bodyPr wrap="square" lIns="0" tIns="0" rIns="0" bIns="0" rtlCol="0" anchor="t"/>
          <a:lstStyle/>
          <a:p>
            <a:pPr algn="ctr" indent="0" marL="0">
              <a:buNone/>
            </a:pPr>
            <a:r>
              <a:rPr lang="en-US" sz="850" b="1" spc="200" kern="0" dirty="0">
                <a:solidFill>
                  <a:srgbClr val="5F7183"/>
                </a:solidFill>
                <a:latin typeface="Calibri" pitchFamily="34" charset="0"/>
                <a:ea typeface="Calibri" pitchFamily="34" charset="-122"/>
                <a:cs typeface="Calibri" pitchFamily="34" charset="-120"/>
              </a:rPr>
              <a:t>TUE</a:t>
            </a:r>
            <a:endParaRPr lang="en-US" sz="850" dirty="0"/>
          </a:p>
        </p:txBody>
      </p:sp>
      <p:sp>
        <p:nvSpPr>
          <p:cNvPr id="54" name="anim:2"/>
          <p:cNvSpPr/>
          <p:nvPr/>
        </p:nvSpPr>
        <p:spPr>
          <a:xfrm>
            <a:off x="5550408" y="2651760"/>
            <a:ext cx="347472" cy="347472"/>
          </a:xfrm>
          <a:prstGeom prst="ellipse">
            <a:avLst/>
          </a:prstGeom>
          <a:solidFill>
            <a:srgbClr val="E3F2FA"/>
          </a:solidFill>
          <a:ln w="12700">
            <a:solidFill>
              <a:srgbClr val="E3F2FA"/>
            </a:solidFill>
            <a:prstDash val="solid"/>
          </a:ln>
        </p:spPr>
        <p:txBody>
          <a:bodyPr/>
          <a:p/>
        </p:txBody>
      </p:sp>
      <p:pic>
        <p:nvPicPr>
          <p:cNvPr id="55" name="anim:2" descr="preencoded.png">    </p:cNvPr>
          <p:cNvPicPr>
            <a:picLocks noChangeAspect="1"/>
          </p:cNvPicPr>
          <p:nvPr/>
        </p:nvPicPr>
        <p:blipFill>
          <a:blip r:embed="rId13"/>
          <a:stretch>
            <a:fillRect/>
          </a:stretch>
        </p:blipFill>
        <p:spPr>
          <a:xfrm>
            <a:off x="5632704" y="2734056"/>
            <a:ext cx="182880" cy="182880"/>
          </a:xfrm>
          <a:prstGeom prst="rect">
            <a:avLst/>
          </a:prstGeom>
        </p:spPr>
      </p:pic>
      <p:sp>
        <p:nvSpPr>
          <p:cNvPr id="56" name="anim:2"/>
          <p:cNvSpPr/>
          <p:nvPr/>
        </p:nvSpPr>
        <p:spPr>
          <a:xfrm>
            <a:off x="5550408" y="3108960"/>
            <a:ext cx="347472" cy="347472"/>
          </a:xfrm>
          <a:prstGeom prst="ellipse">
            <a:avLst/>
          </a:prstGeom>
          <a:solidFill>
            <a:srgbClr val="E3F2FA"/>
          </a:solidFill>
          <a:ln w="12700">
            <a:solidFill>
              <a:srgbClr val="E3F2FA"/>
            </a:solidFill>
            <a:prstDash val="solid"/>
          </a:ln>
        </p:spPr>
        <p:txBody>
          <a:bodyPr/>
          <a:p/>
        </p:txBody>
      </p:sp>
      <p:pic>
        <p:nvPicPr>
          <p:cNvPr id="57" name="anim:2" descr="preencoded.png">    </p:cNvPr>
          <p:cNvPicPr>
            <a:picLocks noChangeAspect="1"/>
          </p:cNvPicPr>
          <p:nvPr/>
        </p:nvPicPr>
        <p:blipFill>
          <a:blip r:embed="rId14"/>
          <a:stretch>
            <a:fillRect/>
          </a:stretch>
        </p:blipFill>
        <p:spPr>
          <a:xfrm>
            <a:off x="5632704" y="3191256"/>
            <a:ext cx="182880" cy="182880"/>
          </a:xfrm>
          <a:prstGeom prst="rect">
            <a:avLst/>
          </a:prstGeom>
        </p:spPr>
      </p:pic>
      <p:sp>
        <p:nvSpPr>
          <p:cNvPr id="58" name="anim:2"/>
          <p:cNvSpPr/>
          <p:nvPr/>
        </p:nvSpPr>
        <p:spPr>
          <a:xfrm>
            <a:off x="5550408" y="3566160"/>
            <a:ext cx="347472" cy="347472"/>
          </a:xfrm>
          <a:prstGeom prst="ellipse">
            <a:avLst/>
          </a:prstGeom>
          <a:solidFill>
            <a:srgbClr val="007DB6"/>
          </a:solidFill>
          <a:ln w="12700">
            <a:solidFill>
              <a:srgbClr val="007DB6"/>
            </a:solidFill>
            <a:prstDash val="solid"/>
          </a:ln>
        </p:spPr>
        <p:txBody>
          <a:bodyPr/>
          <a:p/>
        </p:txBody>
      </p:sp>
      <p:pic>
        <p:nvPicPr>
          <p:cNvPr id="59" name="anim:2" descr="preencoded.png">    </p:cNvPr>
          <p:cNvPicPr>
            <a:picLocks noChangeAspect="1"/>
          </p:cNvPicPr>
          <p:nvPr/>
        </p:nvPicPr>
        <p:blipFill>
          <a:blip r:embed="rId15"/>
          <a:stretch>
            <a:fillRect/>
          </a:stretch>
        </p:blipFill>
        <p:spPr>
          <a:xfrm>
            <a:off x="5632704" y="3648456"/>
            <a:ext cx="182880" cy="182880"/>
          </a:xfrm>
          <a:prstGeom prst="rect">
            <a:avLst/>
          </a:prstGeom>
        </p:spPr>
      </p:pic>
      <p:sp>
        <p:nvSpPr>
          <p:cNvPr id="60" name="anim:2"/>
          <p:cNvSpPr/>
          <p:nvPr/>
        </p:nvSpPr>
        <p:spPr>
          <a:xfrm>
            <a:off x="5550408" y="4023360"/>
            <a:ext cx="347472" cy="347472"/>
          </a:xfrm>
          <a:prstGeom prst="ellipse">
            <a:avLst/>
          </a:prstGeom>
          <a:solidFill>
            <a:srgbClr val="E3F2FA"/>
          </a:solidFill>
          <a:ln w="12700">
            <a:solidFill>
              <a:srgbClr val="E3F2FA"/>
            </a:solidFill>
            <a:prstDash val="solid"/>
          </a:ln>
        </p:spPr>
        <p:txBody>
          <a:bodyPr/>
          <a:p/>
        </p:txBody>
      </p:sp>
      <p:pic>
        <p:nvPicPr>
          <p:cNvPr id="61" name="anim:2" descr="preencoded.png">    </p:cNvPr>
          <p:cNvPicPr>
            <a:picLocks noChangeAspect="1"/>
          </p:cNvPicPr>
          <p:nvPr/>
        </p:nvPicPr>
        <p:blipFill>
          <a:blip r:embed="rId16"/>
          <a:stretch>
            <a:fillRect/>
          </a:stretch>
        </p:blipFill>
        <p:spPr>
          <a:xfrm>
            <a:off x="5632704" y="4105656"/>
            <a:ext cx="182880" cy="182880"/>
          </a:xfrm>
          <a:prstGeom prst="rect">
            <a:avLst/>
          </a:prstGeom>
        </p:spPr>
      </p:pic>
      <p:sp>
        <p:nvSpPr>
          <p:cNvPr id="62" name="anim:2"/>
          <p:cNvSpPr/>
          <p:nvPr/>
        </p:nvSpPr>
        <p:spPr>
          <a:xfrm>
            <a:off x="5550408" y="4480560"/>
            <a:ext cx="347472" cy="347472"/>
          </a:xfrm>
          <a:prstGeom prst="ellipse">
            <a:avLst/>
          </a:prstGeom>
          <a:solidFill>
            <a:srgbClr val="0A1E33"/>
          </a:solidFill>
          <a:ln w="12700">
            <a:solidFill>
              <a:srgbClr val="0A1E33"/>
            </a:solidFill>
            <a:prstDash val="solid"/>
          </a:ln>
        </p:spPr>
        <p:txBody>
          <a:bodyPr/>
          <a:p/>
        </p:txBody>
      </p:sp>
      <p:pic>
        <p:nvPicPr>
          <p:cNvPr id="63" name="anim:2" descr="preencoded.png">    </p:cNvPr>
          <p:cNvPicPr>
            <a:picLocks noChangeAspect="1"/>
          </p:cNvPicPr>
          <p:nvPr/>
        </p:nvPicPr>
        <p:blipFill>
          <a:blip r:embed="rId17"/>
          <a:stretch>
            <a:fillRect/>
          </a:stretch>
        </p:blipFill>
        <p:spPr>
          <a:xfrm>
            <a:off x="5632704" y="4562856"/>
            <a:ext cx="182880" cy="182880"/>
          </a:xfrm>
          <a:prstGeom prst="rect">
            <a:avLst/>
          </a:prstGeom>
        </p:spPr>
      </p:pic>
      <p:sp>
        <p:nvSpPr>
          <p:cNvPr id="64" name="anim:2 grad:card"/>
          <p:cNvSpPr/>
          <p:nvPr/>
        </p:nvSpPr>
        <p:spPr>
          <a:xfrm>
            <a:off x="6309360" y="2240280"/>
            <a:ext cx="1024128" cy="3108960"/>
          </a:xfrm>
          <a:prstGeom prst="roundRect">
            <a:avLst>
              <a:gd name="adj" fmla="val 892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65" name="anim:2"/>
          <p:cNvSpPr txBox="1"/>
          <p:nvPr/>
        </p:nvSpPr>
        <p:spPr>
          <a:xfrm>
            <a:off x="6309360" y="2350008"/>
            <a:ext cx="1024128" cy="228600"/>
          </a:xfrm>
          <a:prstGeom prst="rect">
            <a:avLst/>
          </a:prstGeom>
          <a:noFill/>
          <a:ln/>
        </p:spPr>
        <p:txBody>
          <a:bodyPr wrap="square" lIns="0" tIns="0" rIns="0" bIns="0" rtlCol="0" anchor="t"/>
          <a:lstStyle/>
          <a:p>
            <a:pPr algn="ctr" indent="0" marL="0">
              <a:buNone/>
            </a:pPr>
            <a:r>
              <a:rPr lang="en-US" sz="850" b="1" spc="200" kern="0" dirty="0">
                <a:solidFill>
                  <a:srgbClr val="5F7183"/>
                </a:solidFill>
                <a:latin typeface="Calibri" pitchFamily="34" charset="0"/>
                <a:ea typeface="Calibri" pitchFamily="34" charset="-122"/>
                <a:cs typeface="Calibri" pitchFamily="34" charset="-120"/>
              </a:rPr>
              <a:t>WED</a:t>
            </a:r>
            <a:endParaRPr lang="en-US" sz="850" dirty="0"/>
          </a:p>
        </p:txBody>
      </p:sp>
      <p:sp>
        <p:nvSpPr>
          <p:cNvPr id="66" name="anim:2"/>
          <p:cNvSpPr/>
          <p:nvPr/>
        </p:nvSpPr>
        <p:spPr>
          <a:xfrm>
            <a:off x="6647688" y="2651760"/>
            <a:ext cx="347472" cy="347472"/>
          </a:xfrm>
          <a:prstGeom prst="ellipse">
            <a:avLst/>
          </a:prstGeom>
          <a:solidFill>
            <a:srgbClr val="E3F2FA"/>
          </a:solidFill>
          <a:ln w="12700">
            <a:solidFill>
              <a:srgbClr val="E3F2FA"/>
            </a:solidFill>
            <a:prstDash val="solid"/>
          </a:ln>
        </p:spPr>
        <p:txBody>
          <a:bodyPr/>
          <a:p/>
        </p:txBody>
      </p:sp>
      <p:pic>
        <p:nvPicPr>
          <p:cNvPr id="67" name="anim:2" descr="preencoded.png">    </p:cNvPr>
          <p:cNvPicPr>
            <a:picLocks noChangeAspect="1"/>
          </p:cNvPicPr>
          <p:nvPr/>
        </p:nvPicPr>
        <p:blipFill>
          <a:blip r:embed="rId18"/>
          <a:stretch>
            <a:fillRect/>
          </a:stretch>
        </p:blipFill>
        <p:spPr>
          <a:xfrm>
            <a:off x="6729984" y="2734056"/>
            <a:ext cx="182880" cy="182880"/>
          </a:xfrm>
          <a:prstGeom prst="rect">
            <a:avLst/>
          </a:prstGeom>
        </p:spPr>
      </p:pic>
      <p:sp>
        <p:nvSpPr>
          <p:cNvPr id="68" name="anim:2"/>
          <p:cNvSpPr/>
          <p:nvPr/>
        </p:nvSpPr>
        <p:spPr>
          <a:xfrm>
            <a:off x="6647688" y="3108960"/>
            <a:ext cx="347472" cy="347472"/>
          </a:xfrm>
          <a:prstGeom prst="ellipse">
            <a:avLst/>
          </a:prstGeom>
          <a:solidFill>
            <a:srgbClr val="E3F2FA"/>
          </a:solidFill>
          <a:ln w="12700">
            <a:solidFill>
              <a:srgbClr val="E3F2FA"/>
            </a:solidFill>
            <a:prstDash val="solid"/>
          </a:ln>
        </p:spPr>
        <p:txBody>
          <a:bodyPr/>
          <a:p/>
        </p:txBody>
      </p:sp>
      <p:pic>
        <p:nvPicPr>
          <p:cNvPr id="69" name="anim:2" descr="preencoded.png">    </p:cNvPr>
          <p:cNvPicPr>
            <a:picLocks noChangeAspect="1"/>
          </p:cNvPicPr>
          <p:nvPr/>
        </p:nvPicPr>
        <p:blipFill>
          <a:blip r:embed="rId19"/>
          <a:stretch>
            <a:fillRect/>
          </a:stretch>
        </p:blipFill>
        <p:spPr>
          <a:xfrm>
            <a:off x="6729984" y="3191256"/>
            <a:ext cx="182880" cy="182880"/>
          </a:xfrm>
          <a:prstGeom prst="rect">
            <a:avLst/>
          </a:prstGeom>
        </p:spPr>
      </p:pic>
      <p:sp>
        <p:nvSpPr>
          <p:cNvPr id="70" name="anim:2"/>
          <p:cNvSpPr/>
          <p:nvPr/>
        </p:nvSpPr>
        <p:spPr>
          <a:xfrm>
            <a:off x="6647688" y="3566160"/>
            <a:ext cx="347472" cy="347472"/>
          </a:xfrm>
          <a:prstGeom prst="ellipse">
            <a:avLst/>
          </a:prstGeom>
          <a:solidFill>
            <a:srgbClr val="007DB6"/>
          </a:solidFill>
          <a:ln w="12700">
            <a:solidFill>
              <a:srgbClr val="007DB6"/>
            </a:solidFill>
            <a:prstDash val="solid"/>
          </a:ln>
        </p:spPr>
        <p:txBody>
          <a:bodyPr/>
          <a:p/>
        </p:txBody>
      </p:sp>
      <p:pic>
        <p:nvPicPr>
          <p:cNvPr id="71" name="anim:2" descr="preencoded.png">    </p:cNvPr>
          <p:cNvPicPr>
            <a:picLocks noChangeAspect="1"/>
          </p:cNvPicPr>
          <p:nvPr/>
        </p:nvPicPr>
        <p:blipFill>
          <a:blip r:embed="rId20"/>
          <a:stretch>
            <a:fillRect/>
          </a:stretch>
        </p:blipFill>
        <p:spPr>
          <a:xfrm>
            <a:off x="6729984" y="3648456"/>
            <a:ext cx="182880" cy="182880"/>
          </a:xfrm>
          <a:prstGeom prst="rect">
            <a:avLst/>
          </a:prstGeom>
        </p:spPr>
      </p:pic>
      <p:sp>
        <p:nvSpPr>
          <p:cNvPr id="72" name="anim:2"/>
          <p:cNvSpPr/>
          <p:nvPr/>
        </p:nvSpPr>
        <p:spPr>
          <a:xfrm>
            <a:off x="6647688" y="4023360"/>
            <a:ext cx="347472" cy="347472"/>
          </a:xfrm>
          <a:prstGeom prst="ellipse">
            <a:avLst/>
          </a:prstGeom>
          <a:solidFill>
            <a:srgbClr val="E3F2FA"/>
          </a:solidFill>
          <a:ln w="12700">
            <a:solidFill>
              <a:srgbClr val="E3F2FA"/>
            </a:solidFill>
            <a:prstDash val="solid"/>
          </a:ln>
        </p:spPr>
        <p:txBody>
          <a:bodyPr/>
          <a:p/>
        </p:txBody>
      </p:sp>
      <p:pic>
        <p:nvPicPr>
          <p:cNvPr id="73" name="anim:2" descr="preencoded.png">    </p:cNvPr>
          <p:cNvPicPr>
            <a:picLocks noChangeAspect="1"/>
          </p:cNvPicPr>
          <p:nvPr/>
        </p:nvPicPr>
        <p:blipFill>
          <a:blip r:embed="rId21"/>
          <a:stretch>
            <a:fillRect/>
          </a:stretch>
        </p:blipFill>
        <p:spPr>
          <a:xfrm>
            <a:off x="6729984" y="4105656"/>
            <a:ext cx="182880" cy="182880"/>
          </a:xfrm>
          <a:prstGeom prst="rect">
            <a:avLst/>
          </a:prstGeom>
        </p:spPr>
      </p:pic>
      <p:sp>
        <p:nvSpPr>
          <p:cNvPr id="74" name="anim:2"/>
          <p:cNvSpPr/>
          <p:nvPr/>
        </p:nvSpPr>
        <p:spPr>
          <a:xfrm>
            <a:off x="6647688" y="4480560"/>
            <a:ext cx="347472" cy="347472"/>
          </a:xfrm>
          <a:prstGeom prst="ellipse">
            <a:avLst/>
          </a:prstGeom>
          <a:solidFill>
            <a:srgbClr val="0A1E33"/>
          </a:solidFill>
          <a:ln w="12700">
            <a:solidFill>
              <a:srgbClr val="0A1E33"/>
            </a:solidFill>
            <a:prstDash val="solid"/>
          </a:ln>
        </p:spPr>
        <p:txBody>
          <a:bodyPr/>
          <a:p/>
        </p:txBody>
      </p:sp>
      <p:pic>
        <p:nvPicPr>
          <p:cNvPr id="75" name="anim:2" descr="preencoded.png">    </p:cNvPr>
          <p:cNvPicPr>
            <a:picLocks noChangeAspect="1"/>
          </p:cNvPicPr>
          <p:nvPr/>
        </p:nvPicPr>
        <p:blipFill>
          <a:blip r:embed="rId22"/>
          <a:stretch>
            <a:fillRect/>
          </a:stretch>
        </p:blipFill>
        <p:spPr>
          <a:xfrm>
            <a:off x="6729984" y="4562856"/>
            <a:ext cx="182880" cy="182880"/>
          </a:xfrm>
          <a:prstGeom prst="rect">
            <a:avLst/>
          </a:prstGeom>
        </p:spPr>
      </p:pic>
      <p:sp>
        <p:nvSpPr>
          <p:cNvPr id="76" name="anim:2 grad:card"/>
          <p:cNvSpPr/>
          <p:nvPr/>
        </p:nvSpPr>
        <p:spPr>
          <a:xfrm>
            <a:off x="7406640" y="2240280"/>
            <a:ext cx="1024128" cy="3108960"/>
          </a:xfrm>
          <a:prstGeom prst="roundRect">
            <a:avLst>
              <a:gd name="adj" fmla="val 892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77" name="anim:2"/>
          <p:cNvSpPr txBox="1"/>
          <p:nvPr/>
        </p:nvSpPr>
        <p:spPr>
          <a:xfrm>
            <a:off x="7406640" y="2350008"/>
            <a:ext cx="1024128" cy="228600"/>
          </a:xfrm>
          <a:prstGeom prst="rect">
            <a:avLst/>
          </a:prstGeom>
          <a:noFill/>
          <a:ln/>
        </p:spPr>
        <p:txBody>
          <a:bodyPr wrap="square" lIns="0" tIns="0" rIns="0" bIns="0" rtlCol="0" anchor="t"/>
          <a:lstStyle/>
          <a:p>
            <a:pPr algn="ctr" indent="0" marL="0">
              <a:buNone/>
            </a:pPr>
            <a:r>
              <a:rPr lang="en-US" sz="850" b="1" spc="200" kern="0" dirty="0">
                <a:solidFill>
                  <a:srgbClr val="5F7183"/>
                </a:solidFill>
                <a:latin typeface="Calibri" pitchFamily="34" charset="0"/>
                <a:ea typeface="Calibri" pitchFamily="34" charset="-122"/>
                <a:cs typeface="Calibri" pitchFamily="34" charset="-120"/>
              </a:rPr>
              <a:t>THU</a:t>
            </a:r>
            <a:endParaRPr lang="en-US" sz="850" dirty="0"/>
          </a:p>
        </p:txBody>
      </p:sp>
      <p:sp>
        <p:nvSpPr>
          <p:cNvPr id="78" name="anim:2"/>
          <p:cNvSpPr/>
          <p:nvPr/>
        </p:nvSpPr>
        <p:spPr>
          <a:xfrm>
            <a:off x="7744968" y="2651760"/>
            <a:ext cx="347472" cy="347472"/>
          </a:xfrm>
          <a:prstGeom prst="ellipse">
            <a:avLst/>
          </a:prstGeom>
          <a:solidFill>
            <a:srgbClr val="E3F2FA"/>
          </a:solidFill>
          <a:ln w="12700">
            <a:solidFill>
              <a:srgbClr val="E3F2FA"/>
            </a:solidFill>
            <a:prstDash val="solid"/>
          </a:ln>
        </p:spPr>
        <p:txBody>
          <a:bodyPr/>
          <a:p/>
        </p:txBody>
      </p:sp>
      <p:pic>
        <p:nvPicPr>
          <p:cNvPr id="79" name="anim:2" descr="preencoded.png">    </p:cNvPr>
          <p:cNvPicPr>
            <a:picLocks noChangeAspect="1"/>
          </p:cNvPicPr>
          <p:nvPr/>
        </p:nvPicPr>
        <p:blipFill>
          <a:blip r:embed="rId23"/>
          <a:stretch>
            <a:fillRect/>
          </a:stretch>
        </p:blipFill>
        <p:spPr>
          <a:xfrm>
            <a:off x="7827264" y="2734056"/>
            <a:ext cx="182880" cy="182880"/>
          </a:xfrm>
          <a:prstGeom prst="rect">
            <a:avLst/>
          </a:prstGeom>
        </p:spPr>
      </p:pic>
      <p:sp>
        <p:nvSpPr>
          <p:cNvPr id="80" name="anim:2"/>
          <p:cNvSpPr/>
          <p:nvPr/>
        </p:nvSpPr>
        <p:spPr>
          <a:xfrm>
            <a:off x="7744968" y="3108960"/>
            <a:ext cx="347472" cy="347472"/>
          </a:xfrm>
          <a:prstGeom prst="ellipse">
            <a:avLst/>
          </a:prstGeom>
          <a:solidFill>
            <a:srgbClr val="E3F2FA"/>
          </a:solidFill>
          <a:ln w="12700">
            <a:solidFill>
              <a:srgbClr val="E3F2FA"/>
            </a:solidFill>
            <a:prstDash val="solid"/>
          </a:ln>
        </p:spPr>
        <p:txBody>
          <a:bodyPr/>
          <a:p/>
        </p:txBody>
      </p:sp>
      <p:pic>
        <p:nvPicPr>
          <p:cNvPr id="81" name="anim:2" descr="preencoded.png">    </p:cNvPr>
          <p:cNvPicPr>
            <a:picLocks noChangeAspect="1"/>
          </p:cNvPicPr>
          <p:nvPr/>
        </p:nvPicPr>
        <p:blipFill>
          <a:blip r:embed="rId24"/>
          <a:stretch>
            <a:fillRect/>
          </a:stretch>
        </p:blipFill>
        <p:spPr>
          <a:xfrm>
            <a:off x="7827264" y="3191256"/>
            <a:ext cx="182880" cy="182880"/>
          </a:xfrm>
          <a:prstGeom prst="rect">
            <a:avLst/>
          </a:prstGeom>
        </p:spPr>
      </p:pic>
      <p:sp>
        <p:nvSpPr>
          <p:cNvPr id="82" name="anim:2"/>
          <p:cNvSpPr/>
          <p:nvPr/>
        </p:nvSpPr>
        <p:spPr>
          <a:xfrm>
            <a:off x="7744968" y="3566160"/>
            <a:ext cx="347472" cy="347472"/>
          </a:xfrm>
          <a:prstGeom prst="ellipse">
            <a:avLst/>
          </a:prstGeom>
          <a:solidFill>
            <a:srgbClr val="007DB6"/>
          </a:solidFill>
          <a:ln w="12700">
            <a:solidFill>
              <a:srgbClr val="007DB6"/>
            </a:solidFill>
            <a:prstDash val="solid"/>
          </a:ln>
        </p:spPr>
        <p:txBody>
          <a:bodyPr/>
          <a:p/>
        </p:txBody>
      </p:sp>
      <p:pic>
        <p:nvPicPr>
          <p:cNvPr id="83" name="anim:2" descr="preencoded.png">    </p:cNvPr>
          <p:cNvPicPr>
            <a:picLocks noChangeAspect="1"/>
          </p:cNvPicPr>
          <p:nvPr/>
        </p:nvPicPr>
        <p:blipFill>
          <a:blip r:embed="rId25"/>
          <a:stretch>
            <a:fillRect/>
          </a:stretch>
        </p:blipFill>
        <p:spPr>
          <a:xfrm>
            <a:off x="7827264" y="3648456"/>
            <a:ext cx="182880" cy="182880"/>
          </a:xfrm>
          <a:prstGeom prst="rect">
            <a:avLst/>
          </a:prstGeom>
        </p:spPr>
      </p:pic>
      <p:sp>
        <p:nvSpPr>
          <p:cNvPr id="84" name="anim:2"/>
          <p:cNvSpPr/>
          <p:nvPr/>
        </p:nvSpPr>
        <p:spPr>
          <a:xfrm>
            <a:off x="7744968" y="4023360"/>
            <a:ext cx="347472" cy="347472"/>
          </a:xfrm>
          <a:prstGeom prst="ellipse">
            <a:avLst/>
          </a:prstGeom>
          <a:solidFill>
            <a:srgbClr val="E3F2FA"/>
          </a:solidFill>
          <a:ln w="12700">
            <a:solidFill>
              <a:srgbClr val="E3F2FA"/>
            </a:solidFill>
            <a:prstDash val="solid"/>
          </a:ln>
        </p:spPr>
        <p:txBody>
          <a:bodyPr/>
          <a:p/>
        </p:txBody>
      </p:sp>
      <p:pic>
        <p:nvPicPr>
          <p:cNvPr id="85" name="anim:2" descr="preencoded.png">    </p:cNvPr>
          <p:cNvPicPr>
            <a:picLocks noChangeAspect="1"/>
          </p:cNvPicPr>
          <p:nvPr/>
        </p:nvPicPr>
        <p:blipFill>
          <a:blip r:embed="rId26"/>
          <a:stretch>
            <a:fillRect/>
          </a:stretch>
        </p:blipFill>
        <p:spPr>
          <a:xfrm>
            <a:off x="7827264" y="4105656"/>
            <a:ext cx="182880" cy="182880"/>
          </a:xfrm>
          <a:prstGeom prst="rect">
            <a:avLst/>
          </a:prstGeom>
        </p:spPr>
      </p:pic>
      <p:sp>
        <p:nvSpPr>
          <p:cNvPr id="86" name="anim:2"/>
          <p:cNvSpPr/>
          <p:nvPr/>
        </p:nvSpPr>
        <p:spPr>
          <a:xfrm>
            <a:off x="7744968" y="4480560"/>
            <a:ext cx="347472" cy="347472"/>
          </a:xfrm>
          <a:prstGeom prst="ellipse">
            <a:avLst/>
          </a:prstGeom>
          <a:solidFill>
            <a:srgbClr val="0A1E33"/>
          </a:solidFill>
          <a:ln w="12700">
            <a:solidFill>
              <a:srgbClr val="0A1E33"/>
            </a:solidFill>
            <a:prstDash val="solid"/>
          </a:ln>
        </p:spPr>
        <p:txBody>
          <a:bodyPr/>
          <a:p/>
        </p:txBody>
      </p:sp>
      <p:pic>
        <p:nvPicPr>
          <p:cNvPr id="87" name="anim:2" descr="preencoded.png">    </p:cNvPr>
          <p:cNvPicPr>
            <a:picLocks noChangeAspect="1"/>
          </p:cNvPicPr>
          <p:nvPr/>
        </p:nvPicPr>
        <p:blipFill>
          <a:blip r:embed="rId27"/>
          <a:stretch>
            <a:fillRect/>
          </a:stretch>
        </p:blipFill>
        <p:spPr>
          <a:xfrm>
            <a:off x="7827264" y="4562856"/>
            <a:ext cx="182880" cy="182880"/>
          </a:xfrm>
          <a:prstGeom prst="rect">
            <a:avLst/>
          </a:prstGeom>
        </p:spPr>
      </p:pic>
      <p:sp>
        <p:nvSpPr>
          <p:cNvPr id="88" name="anim:2 grad:card"/>
          <p:cNvSpPr/>
          <p:nvPr/>
        </p:nvSpPr>
        <p:spPr>
          <a:xfrm>
            <a:off x="8503920" y="2240280"/>
            <a:ext cx="1024128" cy="3108960"/>
          </a:xfrm>
          <a:prstGeom prst="roundRect">
            <a:avLst>
              <a:gd name="adj" fmla="val 892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89" name="anim:2"/>
          <p:cNvSpPr txBox="1"/>
          <p:nvPr/>
        </p:nvSpPr>
        <p:spPr>
          <a:xfrm>
            <a:off x="8503920" y="2350008"/>
            <a:ext cx="1024128" cy="228600"/>
          </a:xfrm>
          <a:prstGeom prst="rect">
            <a:avLst/>
          </a:prstGeom>
          <a:noFill/>
          <a:ln/>
        </p:spPr>
        <p:txBody>
          <a:bodyPr wrap="square" lIns="0" tIns="0" rIns="0" bIns="0" rtlCol="0" anchor="t"/>
          <a:lstStyle/>
          <a:p>
            <a:pPr algn="ctr" indent="0" marL="0">
              <a:buNone/>
            </a:pPr>
            <a:r>
              <a:rPr lang="en-US" sz="850" b="1" spc="200" kern="0" dirty="0">
                <a:solidFill>
                  <a:srgbClr val="5F7183"/>
                </a:solidFill>
                <a:latin typeface="Calibri" pitchFamily="34" charset="0"/>
                <a:ea typeface="Calibri" pitchFamily="34" charset="-122"/>
                <a:cs typeface="Calibri" pitchFamily="34" charset="-120"/>
              </a:rPr>
              <a:t>FRI</a:t>
            </a:r>
            <a:endParaRPr lang="en-US" sz="850" dirty="0"/>
          </a:p>
        </p:txBody>
      </p:sp>
      <p:sp>
        <p:nvSpPr>
          <p:cNvPr id="90" name="anim:2"/>
          <p:cNvSpPr/>
          <p:nvPr/>
        </p:nvSpPr>
        <p:spPr>
          <a:xfrm>
            <a:off x="8842248" y="2651760"/>
            <a:ext cx="347472" cy="347472"/>
          </a:xfrm>
          <a:prstGeom prst="ellipse">
            <a:avLst/>
          </a:prstGeom>
          <a:solidFill>
            <a:srgbClr val="E3F2FA"/>
          </a:solidFill>
          <a:ln w="12700">
            <a:solidFill>
              <a:srgbClr val="E3F2FA"/>
            </a:solidFill>
            <a:prstDash val="solid"/>
          </a:ln>
        </p:spPr>
        <p:txBody>
          <a:bodyPr/>
          <a:p/>
        </p:txBody>
      </p:sp>
      <p:pic>
        <p:nvPicPr>
          <p:cNvPr id="91" name="anim:2" descr="preencoded.png">    </p:cNvPr>
          <p:cNvPicPr>
            <a:picLocks noChangeAspect="1"/>
          </p:cNvPicPr>
          <p:nvPr/>
        </p:nvPicPr>
        <p:blipFill>
          <a:blip r:embed="rId28"/>
          <a:stretch>
            <a:fillRect/>
          </a:stretch>
        </p:blipFill>
        <p:spPr>
          <a:xfrm>
            <a:off x="8924544" y="2734056"/>
            <a:ext cx="182880" cy="182880"/>
          </a:xfrm>
          <a:prstGeom prst="rect">
            <a:avLst/>
          </a:prstGeom>
        </p:spPr>
      </p:pic>
      <p:sp>
        <p:nvSpPr>
          <p:cNvPr id="92" name="anim:2"/>
          <p:cNvSpPr/>
          <p:nvPr/>
        </p:nvSpPr>
        <p:spPr>
          <a:xfrm>
            <a:off x="8842248" y="3108960"/>
            <a:ext cx="347472" cy="347472"/>
          </a:xfrm>
          <a:prstGeom prst="ellipse">
            <a:avLst/>
          </a:prstGeom>
          <a:solidFill>
            <a:srgbClr val="E3F2FA"/>
          </a:solidFill>
          <a:ln w="12700">
            <a:solidFill>
              <a:srgbClr val="E3F2FA"/>
            </a:solidFill>
            <a:prstDash val="solid"/>
          </a:ln>
        </p:spPr>
        <p:txBody>
          <a:bodyPr/>
          <a:p/>
        </p:txBody>
      </p:sp>
      <p:pic>
        <p:nvPicPr>
          <p:cNvPr id="93" name="anim:2" descr="preencoded.png">    </p:cNvPr>
          <p:cNvPicPr>
            <a:picLocks noChangeAspect="1"/>
          </p:cNvPicPr>
          <p:nvPr/>
        </p:nvPicPr>
        <p:blipFill>
          <a:blip r:embed="rId29"/>
          <a:stretch>
            <a:fillRect/>
          </a:stretch>
        </p:blipFill>
        <p:spPr>
          <a:xfrm>
            <a:off x="8924544" y="3191256"/>
            <a:ext cx="182880" cy="182880"/>
          </a:xfrm>
          <a:prstGeom prst="rect">
            <a:avLst/>
          </a:prstGeom>
        </p:spPr>
      </p:pic>
      <p:sp>
        <p:nvSpPr>
          <p:cNvPr id="94" name="anim:2"/>
          <p:cNvSpPr/>
          <p:nvPr/>
        </p:nvSpPr>
        <p:spPr>
          <a:xfrm>
            <a:off x="8842248" y="3566160"/>
            <a:ext cx="347472" cy="347472"/>
          </a:xfrm>
          <a:prstGeom prst="ellipse">
            <a:avLst/>
          </a:prstGeom>
          <a:solidFill>
            <a:srgbClr val="007DB6"/>
          </a:solidFill>
          <a:ln w="12700">
            <a:solidFill>
              <a:srgbClr val="007DB6"/>
            </a:solidFill>
            <a:prstDash val="solid"/>
          </a:ln>
        </p:spPr>
        <p:txBody>
          <a:bodyPr/>
          <a:p/>
        </p:txBody>
      </p:sp>
      <p:pic>
        <p:nvPicPr>
          <p:cNvPr id="95" name="anim:2" descr="preencoded.png">    </p:cNvPr>
          <p:cNvPicPr>
            <a:picLocks noChangeAspect="1"/>
          </p:cNvPicPr>
          <p:nvPr/>
        </p:nvPicPr>
        <p:blipFill>
          <a:blip r:embed="rId30"/>
          <a:stretch>
            <a:fillRect/>
          </a:stretch>
        </p:blipFill>
        <p:spPr>
          <a:xfrm>
            <a:off x="8924544" y="3648456"/>
            <a:ext cx="182880" cy="182880"/>
          </a:xfrm>
          <a:prstGeom prst="rect">
            <a:avLst/>
          </a:prstGeom>
        </p:spPr>
      </p:pic>
      <p:sp>
        <p:nvSpPr>
          <p:cNvPr id="96" name="anim:2"/>
          <p:cNvSpPr/>
          <p:nvPr/>
        </p:nvSpPr>
        <p:spPr>
          <a:xfrm>
            <a:off x="8842248" y="4023360"/>
            <a:ext cx="347472" cy="347472"/>
          </a:xfrm>
          <a:prstGeom prst="ellipse">
            <a:avLst/>
          </a:prstGeom>
          <a:solidFill>
            <a:srgbClr val="E3F2FA"/>
          </a:solidFill>
          <a:ln w="12700">
            <a:solidFill>
              <a:srgbClr val="E3F2FA"/>
            </a:solidFill>
            <a:prstDash val="solid"/>
          </a:ln>
        </p:spPr>
        <p:txBody>
          <a:bodyPr/>
          <a:p/>
        </p:txBody>
      </p:sp>
      <p:pic>
        <p:nvPicPr>
          <p:cNvPr id="97" name="anim:2" descr="preencoded.png">    </p:cNvPr>
          <p:cNvPicPr>
            <a:picLocks noChangeAspect="1"/>
          </p:cNvPicPr>
          <p:nvPr/>
        </p:nvPicPr>
        <p:blipFill>
          <a:blip r:embed="rId31"/>
          <a:stretch>
            <a:fillRect/>
          </a:stretch>
        </p:blipFill>
        <p:spPr>
          <a:xfrm>
            <a:off x="8924544" y="4105656"/>
            <a:ext cx="182880" cy="182880"/>
          </a:xfrm>
          <a:prstGeom prst="rect">
            <a:avLst/>
          </a:prstGeom>
        </p:spPr>
      </p:pic>
      <p:sp>
        <p:nvSpPr>
          <p:cNvPr id="98" name="anim:2"/>
          <p:cNvSpPr/>
          <p:nvPr/>
        </p:nvSpPr>
        <p:spPr>
          <a:xfrm>
            <a:off x="8842248" y="4480560"/>
            <a:ext cx="347472" cy="347472"/>
          </a:xfrm>
          <a:prstGeom prst="ellipse">
            <a:avLst/>
          </a:prstGeom>
          <a:solidFill>
            <a:srgbClr val="0A1E33"/>
          </a:solidFill>
          <a:ln w="12700">
            <a:solidFill>
              <a:srgbClr val="0A1E33"/>
            </a:solidFill>
            <a:prstDash val="solid"/>
          </a:ln>
        </p:spPr>
        <p:txBody>
          <a:bodyPr/>
          <a:p/>
        </p:txBody>
      </p:sp>
      <p:pic>
        <p:nvPicPr>
          <p:cNvPr id="99" name="anim:2" descr="preencoded.png">    </p:cNvPr>
          <p:cNvPicPr>
            <a:picLocks noChangeAspect="1"/>
          </p:cNvPicPr>
          <p:nvPr/>
        </p:nvPicPr>
        <p:blipFill>
          <a:blip r:embed="rId32"/>
          <a:stretch>
            <a:fillRect/>
          </a:stretch>
        </p:blipFill>
        <p:spPr>
          <a:xfrm>
            <a:off x="8924544" y="4562856"/>
            <a:ext cx="182880" cy="182880"/>
          </a:xfrm>
          <a:prstGeom prst="rect">
            <a:avLst/>
          </a:prstGeom>
        </p:spPr>
      </p:pic>
      <p:sp>
        <p:nvSpPr>
          <p:cNvPr id="100" name="anim:3 grad:navy"/>
          <p:cNvSpPr/>
          <p:nvPr/>
        </p:nvSpPr>
        <p:spPr>
          <a:xfrm>
            <a:off x="9601200" y="2240280"/>
            <a:ext cx="2039112" cy="3200400"/>
          </a:xfrm>
          <a:prstGeom prst="roundRect">
            <a:avLst>
              <a:gd name="adj" fmla="val 4484"/>
            </a:avLst>
          </a:prstGeom>
          <a:gradFill rotWithShape="1">
            <a:gsLst>
              <a:gs pos="0">
                <a:srgbClr val="1B4170"/>
              </a:gs>
              <a:gs pos="100000">
                <a:srgbClr val="0A1E33"/>
              </a:gs>
            </a:gsLst>
            <a:lin ang="5400000" scaled="0"/>
          </a:gradFill>
          <a:ln w="12700">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101" name="anim:3 grad:sheen"/>
          <p:cNvSpPr/>
          <p:nvPr/>
        </p:nvSpPr>
        <p:spPr>
          <a:xfrm>
            <a:off x="9601200" y="2240280"/>
            <a:ext cx="2039112" cy="3200400"/>
          </a:xfrm>
          <a:prstGeom prst="roundRect">
            <a:avLst>
              <a:gd name="adj" fmla="val 4484"/>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102" name="anim:3"/>
          <p:cNvSpPr txBox="1"/>
          <p:nvPr/>
        </p:nvSpPr>
        <p:spPr>
          <a:xfrm>
            <a:off x="9601200" y="2350008"/>
            <a:ext cx="2039112" cy="228600"/>
          </a:xfrm>
          <a:prstGeom prst="rect">
            <a:avLst/>
          </a:prstGeom>
          <a:noFill/>
          <a:ln/>
        </p:spPr>
        <p:txBody>
          <a:bodyPr wrap="square" lIns="0" tIns="0" rIns="0" bIns="0" rtlCol="0" anchor="t"/>
          <a:lstStyle/>
          <a:p>
            <a:pPr algn="ctr" indent="0" marL="0">
              <a:buNone/>
            </a:pPr>
            <a:r>
              <a:rPr lang="en-US" sz="850" b="1" spc="200" kern="0" dirty="0">
                <a:solidFill>
                  <a:srgbClr val="E9B221"/>
                </a:solidFill>
                <a:latin typeface="Calibri" pitchFamily="34" charset="0"/>
                <a:ea typeface="Calibri" pitchFamily="34" charset="-122"/>
                <a:cs typeface="Calibri" pitchFamily="34" charset="-120"/>
              </a:rPr>
              <a:t>SATURDAY</a:t>
            </a:r>
            <a:endParaRPr lang="en-US" sz="850" dirty="0"/>
          </a:p>
        </p:txBody>
      </p:sp>
      <p:sp>
        <p:nvSpPr>
          <p:cNvPr id="103" name="anim:3 grad:blue"/>
          <p:cNvSpPr/>
          <p:nvPr/>
        </p:nvSpPr>
        <p:spPr>
          <a:xfrm>
            <a:off x="10401300" y="2587752"/>
            <a:ext cx="438912" cy="438912"/>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104" name="anim:3" descr="preencoded.png">    </p:cNvPr>
          <p:cNvPicPr>
            <a:picLocks noChangeAspect="1"/>
          </p:cNvPicPr>
          <p:nvPr/>
        </p:nvPicPr>
        <p:blipFill>
          <a:blip r:embed="rId33"/>
          <a:stretch>
            <a:fillRect/>
          </a:stretch>
        </p:blipFill>
        <p:spPr>
          <a:xfrm>
            <a:off x="10506639" y="2693091"/>
            <a:ext cx="228234" cy="228234"/>
          </a:xfrm>
          <a:prstGeom prst="rect">
            <a:avLst/>
          </a:prstGeom>
        </p:spPr>
      </p:pic>
      <p:sp>
        <p:nvSpPr>
          <p:cNvPr id="105" name="anim:3"/>
          <p:cNvSpPr txBox="1"/>
          <p:nvPr/>
        </p:nvSpPr>
        <p:spPr>
          <a:xfrm>
            <a:off x="9692640" y="3044952"/>
            <a:ext cx="1856232" cy="237744"/>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Recap paper</a:t>
            </a:r>
            <a:endParaRPr lang="en-US" sz="1050" dirty="0"/>
          </a:p>
        </p:txBody>
      </p:sp>
      <p:sp>
        <p:nvSpPr>
          <p:cNvPr id="106" name="anim:3"/>
          <p:cNvSpPr txBox="1"/>
          <p:nvPr/>
        </p:nvSpPr>
        <p:spPr>
          <a:xfrm>
            <a:off x="9710928" y="3282696"/>
            <a:ext cx="1819656" cy="457200"/>
          </a:xfrm>
          <a:prstGeom prst="rect">
            <a:avLst/>
          </a:prstGeom>
          <a:noFill/>
          <a:ln/>
        </p:spPr>
        <p:txBody>
          <a:bodyPr wrap="square" lIns="0" tIns="0" rIns="0" bIns="0" rtlCol="0" anchor="t"/>
          <a:lstStyle/>
          <a:p>
            <a:pPr algn="ctr" indent="0" marL="0">
              <a:buNone/>
            </a:pPr>
            <a:r>
              <a:rPr lang="en-US" sz="800" dirty="0">
                <a:solidFill>
                  <a:srgbClr val="C9D6E4"/>
                </a:solidFill>
                <a:latin typeface="Calibri" pitchFamily="34" charset="0"/>
                <a:ea typeface="Calibri" pitchFamily="34" charset="-122"/>
                <a:cs typeface="Calibri" pitchFamily="34" charset="-120"/>
              </a:rPr>
              <a:t>pen and paper, AI-free, about two hours, ungraded</a:t>
            </a:r>
            <a:endParaRPr lang="en-US" sz="800" dirty="0"/>
          </a:p>
        </p:txBody>
      </p:sp>
      <p:sp>
        <p:nvSpPr>
          <p:cNvPr id="107" name="anim:3 grad:blue"/>
          <p:cNvSpPr/>
          <p:nvPr/>
        </p:nvSpPr>
        <p:spPr>
          <a:xfrm>
            <a:off x="10401300" y="3639312"/>
            <a:ext cx="438912" cy="438912"/>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108" name="anim:3" descr="preencoded.png">    </p:cNvPr>
          <p:cNvPicPr>
            <a:picLocks noChangeAspect="1"/>
          </p:cNvPicPr>
          <p:nvPr/>
        </p:nvPicPr>
        <p:blipFill>
          <a:blip r:embed="rId34"/>
          <a:stretch>
            <a:fillRect/>
          </a:stretch>
        </p:blipFill>
        <p:spPr>
          <a:xfrm>
            <a:off x="10506639" y="3744651"/>
            <a:ext cx="228234" cy="228234"/>
          </a:xfrm>
          <a:prstGeom prst="rect">
            <a:avLst/>
          </a:prstGeom>
        </p:spPr>
      </p:pic>
      <p:sp>
        <p:nvSpPr>
          <p:cNvPr id="109" name="anim:3"/>
          <p:cNvSpPr txBox="1"/>
          <p:nvPr/>
        </p:nvSpPr>
        <p:spPr>
          <a:xfrm>
            <a:off x="9692640" y="4096512"/>
            <a:ext cx="1856232" cy="237744"/>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Break</a:t>
            </a:r>
            <a:endParaRPr lang="en-US" sz="1050" dirty="0"/>
          </a:p>
        </p:txBody>
      </p:sp>
      <p:sp>
        <p:nvSpPr>
          <p:cNvPr id="110" name="anim:3 grad:blue"/>
          <p:cNvSpPr/>
          <p:nvPr/>
        </p:nvSpPr>
        <p:spPr>
          <a:xfrm>
            <a:off x="10401300" y="4370832"/>
            <a:ext cx="438912" cy="438912"/>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111" name="anim:3" descr="preencoded.png">    </p:cNvPr>
          <p:cNvPicPr>
            <a:picLocks noChangeAspect="1"/>
          </p:cNvPicPr>
          <p:nvPr/>
        </p:nvPicPr>
        <p:blipFill>
          <a:blip r:embed="rId35"/>
          <a:stretch>
            <a:fillRect/>
          </a:stretch>
        </p:blipFill>
        <p:spPr>
          <a:xfrm>
            <a:off x="10506639" y="4476171"/>
            <a:ext cx="228234" cy="228234"/>
          </a:xfrm>
          <a:prstGeom prst="rect">
            <a:avLst/>
          </a:prstGeom>
        </p:spPr>
      </p:pic>
      <p:sp>
        <p:nvSpPr>
          <p:cNvPr id="112" name="anim:3"/>
          <p:cNvSpPr txBox="1"/>
          <p:nvPr/>
        </p:nvSpPr>
        <p:spPr>
          <a:xfrm>
            <a:off x="9692640" y="4828032"/>
            <a:ext cx="1856232" cy="237744"/>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Solution discussion</a:t>
            </a:r>
            <a:endParaRPr lang="en-US" sz="1050" dirty="0"/>
          </a:p>
        </p:txBody>
      </p:sp>
      <p:sp>
        <p:nvSpPr>
          <p:cNvPr id="113" name="anim:3"/>
          <p:cNvSpPr txBox="1"/>
          <p:nvPr/>
        </p:nvSpPr>
        <p:spPr>
          <a:xfrm>
            <a:off x="9710928" y="5065776"/>
            <a:ext cx="1819656" cy="457200"/>
          </a:xfrm>
          <a:prstGeom prst="rect">
            <a:avLst/>
          </a:prstGeom>
          <a:noFill/>
          <a:ln/>
        </p:spPr>
        <p:txBody>
          <a:bodyPr wrap="square" lIns="0" tIns="0" rIns="0" bIns="0" rtlCol="0" anchor="t"/>
          <a:lstStyle/>
          <a:p>
            <a:pPr algn="ctr" indent="0" marL="0">
              <a:buNone/>
            </a:pPr>
            <a:r>
              <a:rPr lang="en-US" sz="800" dirty="0">
                <a:solidFill>
                  <a:srgbClr val="C9D6E4"/>
                </a:solidFill>
                <a:latin typeface="Calibri" pitchFamily="34" charset="0"/>
                <a:ea typeface="Calibri" pitchFamily="34" charset="-122"/>
                <a:cs typeface="Calibri" pitchFamily="34" charset="-120"/>
              </a:rPr>
              <a:t>interview-answer style, random call-outs</a:t>
            </a:r>
            <a:endParaRPr lang="en-US" sz="800" dirty="0"/>
          </a:p>
        </p:txBody>
      </p:sp>
      <p:sp>
        <p:nvSpPr>
          <p:cNvPr id="114" name="anim:4"/>
          <p:cNvSpPr/>
          <p:nvPr/>
        </p:nvSpPr>
        <p:spPr>
          <a:xfrm>
            <a:off x="4114800" y="5623560"/>
            <a:ext cx="2450592" cy="658368"/>
          </a:xfrm>
          <a:prstGeom prst="roundRect">
            <a:avLst>
              <a:gd name="adj" fmla="val 13889"/>
            </a:avLst>
          </a:prstGeom>
          <a:solidFill>
            <a:srgbClr val="FFFFFF"/>
          </a:solidFill>
          <a:ln w="9525">
            <a:solidFill>
              <a:srgbClr val="E4E9F0"/>
            </a:solidFill>
            <a:prstDash val="solid"/>
          </a:ln>
        </p:spPr>
        <p:txBody>
          <a:bodyPr/>
          <a:p/>
        </p:txBody>
      </p:sp>
      <p:sp>
        <p:nvSpPr>
          <p:cNvPr id="115" name="anim:4"/>
          <p:cNvSpPr/>
          <p:nvPr/>
        </p:nvSpPr>
        <p:spPr>
          <a:xfrm>
            <a:off x="4224528" y="5779008"/>
            <a:ext cx="347472" cy="347472"/>
          </a:xfrm>
          <a:prstGeom prst="ellipse">
            <a:avLst/>
          </a:prstGeom>
          <a:solidFill>
            <a:srgbClr val="E3F2FA"/>
          </a:solidFill>
          <a:ln w="9525">
            <a:solidFill>
              <a:srgbClr val="E3F2FA"/>
            </a:solidFill>
            <a:prstDash val="solid"/>
          </a:ln>
        </p:spPr>
        <p:txBody>
          <a:bodyPr/>
          <a:p/>
        </p:txBody>
      </p:sp>
      <p:pic>
        <p:nvPicPr>
          <p:cNvPr id="116" name="anim:4" descr="preencoded.png">    </p:cNvPr>
          <p:cNvPicPr>
            <a:picLocks noChangeAspect="1"/>
          </p:cNvPicPr>
          <p:nvPr/>
        </p:nvPicPr>
        <p:blipFill>
          <a:blip r:embed="rId36"/>
          <a:stretch>
            <a:fillRect/>
          </a:stretch>
        </p:blipFill>
        <p:spPr>
          <a:xfrm>
            <a:off x="4307921" y="5862401"/>
            <a:ext cx="180685" cy="180685"/>
          </a:xfrm>
          <a:prstGeom prst="rect">
            <a:avLst/>
          </a:prstGeom>
        </p:spPr>
      </p:pic>
      <p:sp>
        <p:nvSpPr>
          <p:cNvPr id="117" name="anim:4"/>
          <p:cNvSpPr txBox="1"/>
          <p:nvPr/>
        </p:nvSpPr>
        <p:spPr>
          <a:xfrm>
            <a:off x="4663440" y="5623560"/>
            <a:ext cx="1828800" cy="658368"/>
          </a:xfrm>
          <a:prstGeom prst="rect">
            <a:avLst/>
          </a:prstGeom>
          <a:noFill/>
          <a:ln/>
        </p:spPr>
        <p:txBody>
          <a:bodyPr wrap="square" lIns="0" tIns="0" rIns="0" bIns="0" rtlCol="0" anchor="ctr"/>
          <a:lstStyle/>
          <a:p>
            <a:pPr algn="l" indent="0" marL="0">
              <a:buNone/>
            </a:pPr>
            <a:r>
              <a:rPr lang="en-US" sz="950" dirty="0">
                <a:solidFill>
                  <a:srgbClr val="15243A"/>
                </a:solidFill>
                <a:latin typeface="Calibri" pitchFamily="34" charset="0"/>
                <a:ea typeface="Calibri" pitchFamily="34" charset="-122"/>
                <a:cs typeface="Calibri" pitchFamily="34" charset="-120"/>
              </a:rPr>
              <a:t>Setup for tomorrow arrives the evening before</a:t>
            </a:r>
            <a:endParaRPr lang="en-US" sz="950" dirty="0"/>
          </a:p>
        </p:txBody>
      </p:sp>
      <p:sp>
        <p:nvSpPr>
          <p:cNvPr id="118" name="anim:4"/>
          <p:cNvSpPr/>
          <p:nvPr/>
        </p:nvSpPr>
        <p:spPr>
          <a:xfrm>
            <a:off x="6675120" y="5623560"/>
            <a:ext cx="2450592" cy="658368"/>
          </a:xfrm>
          <a:prstGeom prst="roundRect">
            <a:avLst>
              <a:gd name="adj" fmla="val 13889"/>
            </a:avLst>
          </a:prstGeom>
          <a:solidFill>
            <a:srgbClr val="FFFFFF"/>
          </a:solidFill>
          <a:ln w="9525">
            <a:solidFill>
              <a:srgbClr val="E4E9F0"/>
            </a:solidFill>
            <a:prstDash val="solid"/>
          </a:ln>
        </p:spPr>
        <p:txBody>
          <a:bodyPr/>
          <a:p/>
        </p:txBody>
      </p:sp>
      <p:sp>
        <p:nvSpPr>
          <p:cNvPr id="119" name="anim:4"/>
          <p:cNvSpPr/>
          <p:nvPr/>
        </p:nvSpPr>
        <p:spPr>
          <a:xfrm>
            <a:off x="6784848" y="5779008"/>
            <a:ext cx="347472" cy="347472"/>
          </a:xfrm>
          <a:prstGeom prst="ellipse">
            <a:avLst/>
          </a:prstGeom>
          <a:solidFill>
            <a:srgbClr val="E3F2FA"/>
          </a:solidFill>
          <a:ln w="9525">
            <a:solidFill>
              <a:srgbClr val="E3F2FA"/>
            </a:solidFill>
            <a:prstDash val="solid"/>
          </a:ln>
        </p:spPr>
        <p:txBody>
          <a:bodyPr/>
          <a:p/>
        </p:txBody>
      </p:sp>
      <p:pic>
        <p:nvPicPr>
          <p:cNvPr id="120" name="anim:4" descr="preencoded.png">    </p:cNvPr>
          <p:cNvPicPr>
            <a:picLocks noChangeAspect="1"/>
          </p:cNvPicPr>
          <p:nvPr/>
        </p:nvPicPr>
        <p:blipFill>
          <a:blip r:embed="rId37"/>
          <a:stretch>
            <a:fillRect/>
          </a:stretch>
        </p:blipFill>
        <p:spPr>
          <a:xfrm>
            <a:off x="6868241" y="5862401"/>
            <a:ext cx="180685" cy="180685"/>
          </a:xfrm>
          <a:prstGeom prst="rect">
            <a:avLst/>
          </a:prstGeom>
        </p:spPr>
      </p:pic>
      <p:sp>
        <p:nvSpPr>
          <p:cNvPr id="121" name="anim:4"/>
          <p:cNvSpPr txBox="1"/>
          <p:nvPr/>
        </p:nvSpPr>
        <p:spPr>
          <a:xfrm>
            <a:off x="7223760" y="5623560"/>
            <a:ext cx="1828800" cy="658368"/>
          </a:xfrm>
          <a:prstGeom prst="rect">
            <a:avLst/>
          </a:prstGeom>
          <a:noFill/>
          <a:ln/>
        </p:spPr>
        <p:txBody>
          <a:bodyPr wrap="square" lIns="0" tIns="0" rIns="0" bIns="0" rtlCol="0" anchor="ctr"/>
          <a:lstStyle/>
          <a:p>
            <a:pPr algn="l" indent="0" marL="0">
              <a:buNone/>
            </a:pPr>
            <a:r>
              <a:rPr lang="en-US" sz="950" dirty="0">
                <a:solidFill>
                  <a:srgbClr val="15243A"/>
                </a:solidFill>
                <a:latin typeface="Calibri" pitchFamily="34" charset="0"/>
                <a:ea typeface="Calibri" pitchFamily="34" charset="-122"/>
                <a:cs typeface="Calibri" pitchFamily="34" charset="-120"/>
              </a:rPr>
              <a:t>Every session states what it assumes you know</a:t>
            </a:r>
            <a:endParaRPr lang="en-US" sz="950" dirty="0"/>
          </a:p>
        </p:txBody>
      </p:sp>
      <p:sp>
        <p:nvSpPr>
          <p:cNvPr id="122" name="anim:4"/>
          <p:cNvSpPr/>
          <p:nvPr/>
        </p:nvSpPr>
        <p:spPr>
          <a:xfrm>
            <a:off x="9235440" y="5623560"/>
            <a:ext cx="2450592" cy="658368"/>
          </a:xfrm>
          <a:prstGeom prst="roundRect">
            <a:avLst>
              <a:gd name="adj" fmla="val 13889"/>
            </a:avLst>
          </a:prstGeom>
          <a:solidFill>
            <a:srgbClr val="FFFFFF"/>
          </a:solidFill>
          <a:ln w="9525">
            <a:solidFill>
              <a:srgbClr val="E4E9F0"/>
            </a:solidFill>
            <a:prstDash val="solid"/>
          </a:ln>
        </p:spPr>
        <p:txBody>
          <a:bodyPr/>
          <a:p/>
        </p:txBody>
      </p:sp>
      <p:sp>
        <p:nvSpPr>
          <p:cNvPr id="123" name="anim:4"/>
          <p:cNvSpPr/>
          <p:nvPr/>
        </p:nvSpPr>
        <p:spPr>
          <a:xfrm>
            <a:off x="9345168" y="5779008"/>
            <a:ext cx="347472" cy="347472"/>
          </a:xfrm>
          <a:prstGeom prst="ellipse">
            <a:avLst/>
          </a:prstGeom>
          <a:solidFill>
            <a:srgbClr val="E3F2FA"/>
          </a:solidFill>
          <a:ln w="9525">
            <a:solidFill>
              <a:srgbClr val="E3F2FA"/>
            </a:solidFill>
            <a:prstDash val="solid"/>
          </a:ln>
        </p:spPr>
        <p:txBody>
          <a:bodyPr/>
          <a:p/>
        </p:txBody>
      </p:sp>
      <p:pic>
        <p:nvPicPr>
          <p:cNvPr id="124" name="anim:4" descr="preencoded.png">    </p:cNvPr>
          <p:cNvPicPr>
            <a:picLocks noChangeAspect="1"/>
          </p:cNvPicPr>
          <p:nvPr/>
        </p:nvPicPr>
        <p:blipFill>
          <a:blip r:embed="rId38"/>
          <a:stretch>
            <a:fillRect/>
          </a:stretch>
        </p:blipFill>
        <p:spPr>
          <a:xfrm>
            <a:off x="9428561" y="5862401"/>
            <a:ext cx="180685" cy="180685"/>
          </a:xfrm>
          <a:prstGeom prst="rect">
            <a:avLst/>
          </a:prstGeom>
        </p:spPr>
      </p:pic>
      <p:sp>
        <p:nvSpPr>
          <p:cNvPr id="125" name="anim:4"/>
          <p:cNvSpPr txBox="1"/>
          <p:nvPr/>
        </p:nvSpPr>
        <p:spPr>
          <a:xfrm>
            <a:off x="9784080" y="5623560"/>
            <a:ext cx="1828800" cy="658368"/>
          </a:xfrm>
          <a:prstGeom prst="rect">
            <a:avLst/>
          </a:prstGeom>
          <a:noFill/>
          <a:ln/>
        </p:spPr>
        <p:txBody>
          <a:bodyPr wrap="square" lIns="0" tIns="0" rIns="0" bIns="0" rtlCol="0" anchor="ctr"/>
          <a:lstStyle/>
          <a:p>
            <a:pPr algn="l" indent="0" marL="0">
              <a:buNone/>
            </a:pPr>
            <a:r>
              <a:rPr lang="en-US" sz="950" dirty="0">
                <a:solidFill>
                  <a:srgbClr val="15243A"/>
                </a:solidFill>
                <a:latin typeface="Calibri" pitchFamily="34" charset="0"/>
                <a:ea typeface="Calibri" pitchFamily="34" charset="-122"/>
                <a:cs typeface="Calibri" pitchFamily="34" charset="-120"/>
              </a:rPr>
              <a:t>Exercises and submissions on GitHub and the LMS</a:t>
            </a:r>
            <a:endParaRPr lang="en-US" sz="9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par>
                                <p:cTn id="51" presetID="10" presetClass="entr" presetSubtype="0" fill="hold" grpId="0" nodeType="withEffect">
                                  <p:stCondLst>
                                    <p:cond delay="90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400"/>
                                        <p:tgtEl>
                                          <p:spTgt spid="37"/>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400"/>
                                        <p:tgtEl>
                                          <p:spTgt spid="38"/>
                                        </p:tgtEl>
                                      </p:cBhvr>
                                    </p:animEffect>
                                  </p:childTnLst>
                                </p:cTn>
                              </p:par>
                            </p:childTnLst>
                          </p:cTn>
                        </p:par>
                      </p:childTnLst>
                    </p:cTn>
                  </p:par>
                  <p:par>
                    <p:cTn id="242" fill="hold">
                      <p:stCondLst>
                        <p:cond delay="indefinite"/>
                      </p:stCondLst>
                      <p:childTnLst>
                        <p:par>
                          <p:cTn id="243"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9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18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27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36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45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54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63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72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81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par>
                                <p:cTn id="92" presetID="10" presetClass="entr" presetSubtype="0" fill="hold" grpId="0" nodeType="withEffect">
                                  <p:stCondLst>
                                    <p:cond delay="90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400"/>
                                        <p:tgtEl>
                                          <p:spTgt spid="50"/>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00"/>
                                        <p:tgtEl>
                                          <p:spTgt spid="51"/>
                                        </p:tgtEl>
                                      </p:cBhvr>
                                    </p:animEffect>
                                  </p:childTnLst>
                                </p:cTn>
                              </p:par>
                              <p:par>
                                <p:cTn id="98" presetID="10" presetClass="entr" presetSubtype="0" fill="hold" grpId="0" nodeType="withEffect">
                                  <p:stCondLst>
                                    <p:cond delay="90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400"/>
                                        <p:tgtEl>
                                          <p:spTgt spid="52"/>
                                        </p:tgtEl>
                                      </p:cBhvr>
                                    </p:animEffect>
                                  </p:childTnLst>
                                </p:cTn>
                              </p:par>
                              <p:par>
                                <p:cTn id="101" presetID="10" presetClass="entr" presetSubtype="0" fill="hold" grpId="0" nodeType="withEffect">
                                  <p:stCondLst>
                                    <p:cond delay="90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400"/>
                                        <p:tgtEl>
                                          <p:spTgt spid="53"/>
                                        </p:tgtEl>
                                      </p:cBhvr>
                                    </p:animEffect>
                                  </p:childTnLst>
                                </p:cTn>
                              </p:par>
                              <p:par>
                                <p:cTn id="104" presetID="10" presetClass="entr" presetSubtype="0" fill="hold" grpId="0" nodeType="withEffect">
                                  <p:stCondLst>
                                    <p:cond delay="900"/>
                                  </p:stCondLst>
                                  <p:childTnLst>
                                    <p:set>
                                      <p:cBhvr>
                                        <p:cTn id="105" dur="1" fill="hold">
                                          <p:stCondLst>
                                            <p:cond delay="0"/>
                                          </p:stCondLst>
                                        </p:cTn>
                                        <p:tgtEl>
                                          <p:spTgt spid="54"/>
                                        </p:tgtEl>
                                        <p:attrNameLst>
                                          <p:attrName>style.visibility</p:attrName>
                                        </p:attrNameLst>
                                      </p:cBhvr>
                                      <p:to>
                                        <p:strVal val="visible"/>
                                      </p:to>
                                    </p:set>
                                    <p:animEffect transition="in" filter="fade">
                                      <p:cBhvr>
                                        <p:cTn id="106" dur="400"/>
                                        <p:tgtEl>
                                          <p:spTgt spid="54"/>
                                        </p:tgtEl>
                                      </p:cBhvr>
                                    </p:animEffect>
                                  </p:childTnLst>
                                </p:cTn>
                              </p:par>
                              <p:par>
                                <p:cTn id="107" presetID="10" presetClass="entr" presetSubtype="0" fill="hold" grpId="0" nodeType="withEffect">
                                  <p:stCondLst>
                                    <p:cond delay="90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400"/>
                                        <p:tgtEl>
                                          <p:spTgt spid="55"/>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56"/>
                                        </p:tgtEl>
                                        <p:attrNameLst>
                                          <p:attrName>style.visibility</p:attrName>
                                        </p:attrNameLst>
                                      </p:cBhvr>
                                      <p:to>
                                        <p:strVal val="visible"/>
                                      </p:to>
                                    </p:set>
                                    <p:animEffect transition="in" filter="fade">
                                      <p:cBhvr>
                                        <p:cTn id="112" dur="400"/>
                                        <p:tgtEl>
                                          <p:spTgt spid="56"/>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400"/>
                                        <p:tgtEl>
                                          <p:spTgt spid="57"/>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58"/>
                                        </p:tgtEl>
                                        <p:attrNameLst>
                                          <p:attrName>style.visibility</p:attrName>
                                        </p:attrNameLst>
                                      </p:cBhvr>
                                      <p:to>
                                        <p:strVal val="visible"/>
                                      </p:to>
                                    </p:set>
                                    <p:animEffect transition="in" filter="fade">
                                      <p:cBhvr>
                                        <p:cTn id="118" dur="400"/>
                                        <p:tgtEl>
                                          <p:spTgt spid="58"/>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59"/>
                                        </p:tgtEl>
                                        <p:attrNameLst>
                                          <p:attrName>style.visibility</p:attrName>
                                        </p:attrNameLst>
                                      </p:cBhvr>
                                      <p:to>
                                        <p:strVal val="visible"/>
                                      </p:to>
                                    </p:set>
                                    <p:animEffect transition="in" filter="fade">
                                      <p:cBhvr>
                                        <p:cTn id="121" dur="400"/>
                                        <p:tgtEl>
                                          <p:spTgt spid="59"/>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60"/>
                                        </p:tgtEl>
                                        <p:attrNameLst>
                                          <p:attrName>style.visibility</p:attrName>
                                        </p:attrNameLst>
                                      </p:cBhvr>
                                      <p:to>
                                        <p:strVal val="visible"/>
                                      </p:to>
                                    </p:set>
                                    <p:animEffect transition="in" filter="fade">
                                      <p:cBhvr>
                                        <p:cTn id="124" dur="400"/>
                                        <p:tgtEl>
                                          <p:spTgt spid="60"/>
                                        </p:tgtEl>
                                      </p:cBhvr>
                                    </p:animEffect>
                                  </p:childTnLst>
                                </p:cTn>
                              </p:par>
                              <p:par>
                                <p:cTn id="125" presetID="10" presetClass="entr" presetSubtype="0" fill="hold" grpId="0" nodeType="withEffect">
                                  <p:stCondLst>
                                    <p:cond delay="900"/>
                                  </p:stCondLst>
                                  <p:childTnLst>
                                    <p:set>
                                      <p:cBhvr>
                                        <p:cTn id="126" dur="1" fill="hold">
                                          <p:stCondLst>
                                            <p:cond delay="0"/>
                                          </p:stCondLst>
                                        </p:cTn>
                                        <p:tgtEl>
                                          <p:spTgt spid="61"/>
                                        </p:tgtEl>
                                        <p:attrNameLst>
                                          <p:attrName>style.visibility</p:attrName>
                                        </p:attrNameLst>
                                      </p:cBhvr>
                                      <p:to>
                                        <p:strVal val="visible"/>
                                      </p:to>
                                    </p:set>
                                    <p:animEffect transition="in" filter="fade">
                                      <p:cBhvr>
                                        <p:cTn id="127" dur="400"/>
                                        <p:tgtEl>
                                          <p:spTgt spid="61"/>
                                        </p:tgtEl>
                                      </p:cBhvr>
                                    </p:animEffect>
                                  </p:childTnLst>
                                </p:cTn>
                              </p:par>
                              <p:par>
                                <p:cTn id="128" presetID="10" presetClass="entr" presetSubtype="0" fill="hold" grpId="0" nodeType="withEffect">
                                  <p:stCondLst>
                                    <p:cond delay="900"/>
                                  </p:stCondLst>
                                  <p:childTnLst>
                                    <p:set>
                                      <p:cBhvr>
                                        <p:cTn id="129" dur="1" fill="hold">
                                          <p:stCondLst>
                                            <p:cond delay="0"/>
                                          </p:stCondLst>
                                        </p:cTn>
                                        <p:tgtEl>
                                          <p:spTgt spid="62"/>
                                        </p:tgtEl>
                                        <p:attrNameLst>
                                          <p:attrName>style.visibility</p:attrName>
                                        </p:attrNameLst>
                                      </p:cBhvr>
                                      <p:to>
                                        <p:strVal val="visible"/>
                                      </p:to>
                                    </p:set>
                                    <p:animEffect transition="in" filter="fade">
                                      <p:cBhvr>
                                        <p:cTn id="130" dur="400"/>
                                        <p:tgtEl>
                                          <p:spTgt spid="62"/>
                                        </p:tgtEl>
                                      </p:cBhvr>
                                    </p:animEffect>
                                  </p:childTnLst>
                                </p:cTn>
                              </p:par>
                              <p:par>
                                <p:cTn id="131" presetID="10" presetClass="entr" presetSubtype="0" fill="hold" grpId="0" nodeType="withEffect">
                                  <p:stCondLst>
                                    <p:cond delay="900"/>
                                  </p:stCondLst>
                                  <p:childTnLst>
                                    <p:set>
                                      <p:cBhvr>
                                        <p:cTn id="132" dur="1" fill="hold">
                                          <p:stCondLst>
                                            <p:cond delay="0"/>
                                          </p:stCondLst>
                                        </p:cTn>
                                        <p:tgtEl>
                                          <p:spTgt spid="63"/>
                                        </p:tgtEl>
                                        <p:attrNameLst>
                                          <p:attrName>style.visibility</p:attrName>
                                        </p:attrNameLst>
                                      </p:cBhvr>
                                      <p:to>
                                        <p:strVal val="visible"/>
                                      </p:to>
                                    </p:set>
                                    <p:animEffect transition="in" filter="fade">
                                      <p:cBhvr>
                                        <p:cTn id="133" dur="400"/>
                                        <p:tgtEl>
                                          <p:spTgt spid="63"/>
                                        </p:tgtEl>
                                      </p:cBhvr>
                                    </p:animEffect>
                                  </p:childTnLst>
                                </p:cTn>
                              </p:par>
                              <p:par>
                                <p:cTn id="134" presetID="10" presetClass="entr" presetSubtype="0" fill="hold" grpId="0" nodeType="withEffect">
                                  <p:stCondLst>
                                    <p:cond delay="900"/>
                                  </p:stCondLst>
                                  <p:childTnLst>
                                    <p:set>
                                      <p:cBhvr>
                                        <p:cTn id="135" dur="1" fill="hold">
                                          <p:stCondLst>
                                            <p:cond delay="0"/>
                                          </p:stCondLst>
                                        </p:cTn>
                                        <p:tgtEl>
                                          <p:spTgt spid="64"/>
                                        </p:tgtEl>
                                        <p:attrNameLst>
                                          <p:attrName>style.visibility</p:attrName>
                                        </p:attrNameLst>
                                      </p:cBhvr>
                                      <p:to>
                                        <p:strVal val="visible"/>
                                      </p:to>
                                    </p:set>
                                    <p:animEffect transition="in" filter="fade">
                                      <p:cBhvr>
                                        <p:cTn id="136" dur="400"/>
                                        <p:tgtEl>
                                          <p:spTgt spid="64"/>
                                        </p:tgtEl>
                                      </p:cBhvr>
                                    </p:animEffect>
                                  </p:childTnLst>
                                </p:cTn>
                              </p:par>
                              <p:par>
                                <p:cTn id="137" presetID="10" presetClass="entr" presetSubtype="0" fill="hold" grpId="0" nodeType="withEffect">
                                  <p:stCondLst>
                                    <p:cond delay="900"/>
                                  </p:stCondLst>
                                  <p:childTnLst>
                                    <p:set>
                                      <p:cBhvr>
                                        <p:cTn id="138" dur="1" fill="hold">
                                          <p:stCondLst>
                                            <p:cond delay="0"/>
                                          </p:stCondLst>
                                        </p:cTn>
                                        <p:tgtEl>
                                          <p:spTgt spid="65"/>
                                        </p:tgtEl>
                                        <p:attrNameLst>
                                          <p:attrName>style.visibility</p:attrName>
                                        </p:attrNameLst>
                                      </p:cBhvr>
                                      <p:to>
                                        <p:strVal val="visible"/>
                                      </p:to>
                                    </p:set>
                                    <p:animEffect transition="in" filter="fade">
                                      <p:cBhvr>
                                        <p:cTn id="139" dur="400"/>
                                        <p:tgtEl>
                                          <p:spTgt spid="65"/>
                                        </p:tgtEl>
                                      </p:cBhvr>
                                    </p:animEffect>
                                  </p:childTnLst>
                                </p:cTn>
                              </p:par>
                              <p:par>
                                <p:cTn id="140" presetID="10" presetClass="entr" presetSubtype="0" fill="hold" grpId="0" nodeType="withEffect">
                                  <p:stCondLst>
                                    <p:cond delay="900"/>
                                  </p:stCondLst>
                                  <p:childTnLst>
                                    <p:set>
                                      <p:cBhvr>
                                        <p:cTn id="141" dur="1" fill="hold">
                                          <p:stCondLst>
                                            <p:cond delay="0"/>
                                          </p:stCondLst>
                                        </p:cTn>
                                        <p:tgtEl>
                                          <p:spTgt spid="66"/>
                                        </p:tgtEl>
                                        <p:attrNameLst>
                                          <p:attrName>style.visibility</p:attrName>
                                        </p:attrNameLst>
                                      </p:cBhvr>
                                      <p:to>
                                        <p:strVal val="visible"/>
                                      </p:to>
                                    </p:set>
                                    <p:animEffect transition="in" filter="fade">
                                      <p:cBhvr>
                                        <p:cTn id="142" dur="400"/>
                                        <p:tgtEl>
                                          <p:spTgt spid="66"/>
                                        </p:tgtEl>
                                      </p:cBhvr>
                                    </p:animEffect>
                                  </p:childTnLst>
                                </p:cTn>
                              </p:par>
                              <p:par>
                                <p:cTn id="143" presetID="10" presetClass="entr" presetSubtype="0" fill="hold" grpId="0" nodeType="withEffect">
                                  <p:stCondLst>
                                    <p:cond delay="900"/>
                                  </p:stCondLst>
                                  <p:childTnLst>
                                    <p:set>
                                      <p:cBhvr>
                                        <p:cTn id="144" dur="1" fill="hold">
                                          <p:stCondLst>
                                            <p:cond delay="0"/>
                                          </p:stCondLst>
                                        </p:cTn>
                                        <p:tgtEl>
                                          <p:spTgt spid="67"/>
                                        </p:tgtEl>
                                        <p:attrNameLst>
                                          <p:attrName>style.visibility</p:attrName>
                                        </p:attrNameLst>
                                      </p:cBhvr>
                                      <p:to>
                                        <p:strVal val="visible"/>
                                      </p:to>
                                    </p:set>
                                    <p:animEffect transition="in" filter="fade">
                                      <p:cBhvr>
                                        <p:cTn id="145" dur="400"/>
                                        <p:tgtEl>
                                          <p:spTgt spid="67"/>
                                        </p:tgtEl>
                                      </p:cBhvr>
                                    </p:animEffect>
                                  </p:childTnLst>
                                </p:cTn>
                              </p:par>
                              <p:par>
                                <p:cTn id="146" presetID="10" presetClass="entr" presetSubtype="0" fill="hold" grpId="0" nodeType="withEffect">
                                  <p:stCondLst>
                                    <p:cond delay="900"/>
                                  </p:stCondLst>
                                  <p:childTnLst>
                                    <p:set>
                                      <p:cBhvr>
                                        <p:cTn id="147" dur="1" fill="hold">
                                          <p:stCondLst>
                                            <p:cond delay="0"/>
                                          </p:stCondLst>
                                        </p:cTn>
                                        <p:tgtEl>
                                          <p:spTgt spid="68"/>
                                        </p:tgtEl>
                                        <p:attrNameLst>
                                          <p:attrName>style.visibility</p:attrName>
                                        </p:attrNameLst>
                                      </p:cBhvr>
                                      <p:to>
                                        <p:strVal val="visible"/>
                                      </p:to>
                                    </p:set>
                                    <p:animEffect transition="in" filter="fade">
                                      <p:cBhvr>
                                        <p:cTn id="148" dur="400"/>
                                        <p:tgtEl>
                                          <p:spTgt spid="68"/>
                                        </p:tgtEl>
                                      </p:cBhvr>
                                    </p:animEffect>
                                  </p:childTnLst>
                                </p:cTn>
                              </p:par>
                              <p:par>
                                <p:cTn id="149" presetID="10" presetClass="entr" presetSubtype="0" fill="hold" grpId="0" nodeType="withEffect">
                                  <p:stCondLst>
                                    <p:cond delay="900"/>
                                  </p:stCondLst>
                                  <p:childTnLst>
                                    <p:set>
                                      <p:cBhvr>
                                        <p:cTn id="150" dur="1" fill="hold">
                                          <p:stCondLst>
                                            <p:cond delay="0"/>
                                          </p:stCondLst>
                                        </p:cTn>
                                        <p:tgtEl>
                                          <p:spTgt spid="69"/>
                                        </p:tgtEl>
                                        <p:attrNameLst>
                                          <p:attrName>style.visibility</p:attrName>
                                        </p:attrNameLst>
                                      </p:cBhvr>
                                      <p:to>
                                        <p:strVal val="visible"/>
                                      </p:to>
                                    </p:set>
                                    <p:animEffect transition="in" filter="fade">
                                      <p:cBhvr>
                                        <p:cTn id="151" dur="400"/>
                                        <p:tgtEl>
                                          <p:spTgt spid="69"/>
                                        </p:tgtEl>
                                      </p:cBhvr>
                                    </p:animEffect>
                                  </p:childTnLst>
                                </p:cTn>
                              </p:par>
                              <p:par>
                                <p:cTn id="152" presetID="10" presetClass="entr" presetSubtype="0" fill="hold" grpId="0" nodeType="withEffect">
                                  <p:stCondLst>
                                    <p:cond delay="900"/>
                                  </p:stCondLst>
                                  <p:childTnLst>
                                    <p:set>
                                      <p:cBhvr>
                                        <p:cTn id="153" dur="1" fill="hold">
                                          <p:stCondLst>
                                            <p:cond delay="0"/>
                                          </p:stCondLst>
                                        </p:cTn>
                                        <p:tgtEl>
                                          <p:spTgt spid="70"/>
                                        </p:tgtEl>
                                        <p:attrNameLst>
                                          <p:attrName>style.visibility</p:attrName>
                                        </p:attrNameLst>
                                      </p:cBhvr>
                                      <p:to>
                                        <p:strVal val="visible"/>
                                      </p:to>
                                    </p:set>
                                    <p:animEffect transition="in" filter="fade">
                                      <p:cBhvr>
                                        <p:cTn id="154" dur="400"/>
                                        <p:tgtEl>
                                          <p:spTgt spid="70"/>
                                        </p:tgtEl>
                                      </p:cBhvr>
                                    </p:animEffect>
                                  </p:childTnLst>
                                </p:cTn>
                              </p:par>
                              <p:par>
                                <p:cTn id="155" presetID="10" presetClass="entr" presetSubtype="0" fill="hold" grpId="0" nodeType="withEffect">
                                  <p:stCondLst>
                                    <p:cond delay="900"/>
                                  </p:stCondLst>
                                  <p:childTnLst>
                                    <p:set>
                                      <p:cBhvr>
                                        <p:cTn id="156" dur="1" fill="hold">
                                          <p:stCondLst>
                                            <p:cond delay="0"/>
                                          </p:stCondLst>
                                        </p:cTn>
                                        <p:tgtEl>
                                          <p:spTgt spid="71"/>
                                        </p:tgtEl>
                                        <p:attrNameLst>
                                          <p:attrName>style.visibility</p:attrName>
                                        </p:attrNameLst>
                                      </p:cBhvr>
                                      <p:to>
                                        <p:strVal val="visible"/>
                                      </p:to>
                                    </p:set>
                                    <p:animEffect transition="in" filter="fade">
                                      <p:cBhvr>
                                        <p:cTn id="157" dur="400"/>
                                        <p:tgtEl>
                                          <p:spTgt spid="71"/>
                                        </p:tgtEl>
                                      </p:cBhvr>
                                    </p:animEffect>
                                  </p:childTnLst>
                                </p:cTn>
                              </p:par>
                              <p:par>
                                <p:cTn id="158" presetID="10" presetClass="entr" presetSubtype="0" fill="hold" grpId="0" nodeType="withEffect">
                                  <p:stCondLst>
                                    <p:cond delay="900"/>
                                  </p:stCondLst>
                                  <p:childTnLst>
                                    <p:set>
                                      <p:cBhvr>
                                        <p:cTn id="159" dur="1" fill="hold">
                                          <p:stCondLst>
                                            <p:cond delay="0"/>
                                          </p:stCondLst>
                                        </p:cTn>
                                        <p:tgtEl>
                                          <p:spTgt spid="72"/>
                                        </p:tgtEl>
                                        <p:attrNameLst>
                                          <p:attrName>style.visibility</p:attrName>
                                        </p:attrNameLst>
                                      </p:cBhvr>
                                      <p:to>
                                        <p:strVal val="visible"/>
                                      </p:to>
                                    </p:set>
                                    <p:animEffect transition="in" filter="fade">
                                      <p:cBhvr>
                                        <p:cTn id="160" dur="400"/>
                                        <p:tgtEl>
                                          <p:spTgt spid="72"/>
                                        </p:tgtEl>
                                      </p:cBhvr>
                                    </p:animEffect>
                                  </p:childTnLst>
                                </p:cTn>
                              </p:par>
                              <p:par>
                                <p:cTn id="161" presetID="10" presetClass="entr" presetSubtype="0" fill="hold" grpId="0" nodeType="withEffect">
                                  <p:stCondLst>
                                    <p:cond delay="900"/>
                                  </p:stCondLst>
                                  <p:childTnLst>
                                    <p:set>
                                      <p:cBhvr>
                                        <p:cTn id="162" dur="1" fill="hold">
                                          <p:stCondLst>
                                            <p:cond delay="0"/>
                                          </p:stCondLst>
                                        </p:cTn>
                                        <p:tgtEl>
                                          <p:spTgt spid="73"/>
                                        </p:tgtEl>
                                        <p:attrNameLst>
                                          <p:attrName>style.visibility</p:attrName>
                                        </p:attrNameLst>
                                      </p:cBhvr>
                                      <p:to>
                                        <p:strVal val="visible"/>
                                      </p:to>
                                    </p:set>
                                    <p:animEffect transition="in" filter="fade">
                                      <p:cBhvr>
                                        <p:cTn id="163" dur="400"/>
                                        <p:tgtEl>
                                          <p:spTgt spid="73"/>
                                        </p:tgtEl>
                                      </p:cBhvr>
                                    </p:animEffect>
                                  </p:childTnLst>
                                </p:cTn>
                              </p:par>
                              <p:par>
                                <p:cTn id="164" presetID="10" presetClass="entr" presetSubtype="0" fill="hold" grpId="0" nodeType="withEffect">
                                  <p:stCondLst>
                                    <p:cond delay="900"/>
                                  </p:stCondLst>
                                  <p:childTnLst>
                                    <p:set>
                                      <p:cBhvr>
                                        <p:cTn id="165" dur="1" fill="hold">
                                          <p:stCondLst>
                                            <p:cond delay="0"/>
                                          </p:stCondLst>
                                        </p:cTn>
                                        <p:tgtEl>
                                          <p:spTgt spid="74"/>
                                        </p:tgtEl>
                                        <p:attrNameLst>
                                          <p:attrName>style.visibility</p:attrName>
                                        </p:attrNameLst>
                                      </p:cBhvr>
                                      <p:to>
                                        <p:strVal val="visible"/>
                                      </p:to>
                                    </p:set>
                                    <p:animEffect transition="in" filter="fade">
                                      <p:cBhvr>
                                        <p:cTn id="166" dur="400"/>
                                        <p:tgtEl>
                                          <p:spTgt spid="74"/>
                                        </p:tgtEl>
                                      </p:cBhvr>
                                    </p:animEffect>
                                  </p:childTnLst>
                                </p:cTn>
                              </p:par>
                              <p:par>
                                <p:cTn id="167" presetID="10" presetClass="entr" presetSubtype="0" fill="hold" grpId="0" nodeType="withEffect">
                                  <p:stCondLst>
                                    <p:cond delay="900"/>
                                  </p:stCondLst>
                                  <p:childTnLst>
                                    <p:set>
                                      <p:cBhvr>
                                        <p:cTn id="168" dur="1" fill="hold">
                                          <p:stCondLst>
                                            <p:cond delay="0"/>
                                          </p:stCondLst>
                                        </p:cTn>
                                        <p:tgtEl>
                                          <p:spTgt spid="75"/>
                                        </p:tgtEl>
                                        <p:attrNameLst>
                                          <p:attrName>style.visibility</p:attrName>
                                        </p:attrNameLst>
                                      </p:cBhvr>
                                      <p:to>
                                        <p:strVal val="visible"/>
                                      </p:to>
                                    </p:set>
                                    <p:animEffect transition="in" filter="fade">
                                      <p:cBhvr>
                                        <p:cTn id="169" dur="400"/>
                                        <p:tgtEl>
                                          <p:spTgt spid="75"/>
                                        </p:tgtEl>
                                      </p:cBhvr>
                                    </p:animEffect>
                                  </p:childTnLst>
                                </p:cTn>
                              </p:par>
                              <p:par>
                                <p:cTn id="170" presetID="10" presetClass="entr" presetSubtype="0" fill="hold" grpId="0" nodeType="withEffect">
                                  <p:stCondLst>
                                    <p:cond delay="900"/>
                                  </p:stCondLst>
                                  <p:childTnLst>
                                    <p:set>
                                      <p:cBhvr>
                                        <p:cTn id="171" dur="1" fill="hold">
                                          <p:stCondLst>
                                            <p:cond delay="0"/>
                                          </p:stCondLst>
                                        </p:cTn>
                                        <p:tgtEl>
                                          <p:spTgt spid="76"/>
                                        </p:tgtEl>
                                        <p:attrNameLst>
                                          <p:attrName>style.visibility</p:attrName>
                                        </p:attrNameLst>
                                      </p:cBhvr>
                                      <p:to>
                                        <p:strVal val="visible"/>
                                      </p:to>
                                    </p:set>
                                    <p:animEffect transition="in" filter="fade">
                                      <p:cBhvr>
                                        <p:cTn id="172" dur="400"/>
                                        <p:tgtEl>
                                          <p:spTgt spid="76"/>
                                        </p:tgtEl>
                                      </p:cBhvr>
                                    </p:animEffect>
                                  </p:childTnLst>
                                </p:cTn>
                              </p:par>
                              <p:par>
                                <p:cTn id="173" presetID="10" presetClass="entr" presetSubtype="0" fill="hold" grpId="0" nodeType="withEffect">
                                  <p:stCondLst>
                                    <p:cond delay="900"/>
                                  </p:stCondLst>
                                  <p:childTnLst>
                                    <p:set>
                                      <p:cBhvr>
                                        <p:cTn id="174" dur="1" fill="hold">
                                          <p:stCondLst>
                                            <p:cond delay="0"/>
                                          </p:stCondLst>
                                        </p:cTn>
                                        <p:tgtEl>
                                          <p:spTgt spid="77"/>
                                        </p:tgtEl>
                                        <p:attrNameLst>
                                          <p:attrName>style.visibility</p:attrName>
                                        </p:attrNameLst>
                                      </p:cBhvr>
                                      <p:to>
                                        <p:strVal val="visible"/>
                                      </p:to>
                                    </p:set>
                                    <p:animEffect transition="in" filter="fade">
                                      <p:cBhvr>
                                        <p:cTn id="175" dur="400"/>
                                        <p:tgtEl>
                                          <p:spTgt spid="77"/>
                                        </p:tgtEl>
                                      </p:cBhvr>
                                    </p:animEffect>
                                  </p:childTnLst>
                                </p:cTn>
                              </p:par>
                              <p:par>
                                <p:cTn id="176" presetID="10" presetClass="entr" presetSubtype="0" fill="hold" grpId="0" nodeType="withEffect">
                                  <p:stCondLst>
                                    <p:cond delay="900"/>
                                  </p:stCondLst>
                                  <p:childTnLst>
                                    <p:set>
                                      <p:cBhvr>
                                        <p:cTn id="177" dur="1" fill="hold">
                                          <p:stCondLst>
                                            <p:cond delay="0"/>
                                          </p:stCondLst>
                                        </p:cTn>
                                        <p:tgtEl>
                                          <p:spTgt spid="78"/>
                                        </p:tgtEl>
                                        <p:attrNameLst>
                                          <p:attrName>style.visibility</p:attrName>
                                        </p:attrNameLst>
                                      </p:cBhvr>
                                      <p:to>
                                        <p:strVal val="visible"/>
                                      </p:to>
                                    </p:set>
                                    <p:animEffect transition="in" filter="fade">
                                      <p:cBhvr>
                                        <p:cTn id="178" dur="400"/>
                                        <p:tgtEl>
                                          <p:spTgt spid="78"/>
                                        </p:tgtEl>
                                      </p:cBhvr>
                                    </p:animEffect>
                                  </p:childTnLst>
                                </p:cTn>
                              </p:par>
                              <p:par>
                                <p:cTn id="179" presetID="10" presetClass="entr" presetSubtype="0" fill="hold" grpId="0" nodeType="withEffect">
                                  <p:stCondLst>
                                    <p:cond delay="900"/>
                                  </p:stCondLst>
                                  <p:childTnLst>
                                    <p:set>
                                      <p:cBhvr>
                                        <p:cTn id="180" dur="1" fill="hold">
                                          <p:stCondLst>
                                            <p:cond delay="0"/>
                                          </p:stCondLst>
                                        </p:cTn>
                                        <p:tgtEl>
                                          <p:spTgt spid="79"/>
                                        </p:tgtEl>
                                        <p:attrNameLst>
                                          <p:attrName>style.visibility</p:attrName>
                                        </p:attrNameLst>
                                      </p:cBhvr>
                                      <p:to>
                                        <p:strVal val="visible"/>
                                      </p:to>
                                    </p:set>
                                    <p:animEffect transition="in" filter="fade">
                                      <p:cBhvr>
                                        <p:cTn id="181" dur="400"/>
                                        <p:tgtEl>
                                          <p:spTgt spid="79"/>
                                        </p:tgtEl>
                                      </p:cBhvr>
                                    </p:animEffect>
                                  </p:childTnLst>
                                </p:cTn>
                              </p:par>
                              <p:par>
                                <p:cTn id="182" presetID="10" presetClass="entr" presetSubtype="0" fill="hold" grpId="0" nodeType="withEffect">
                                  <p:stCondLst>
                                    <p:cond delay="900"/>
                                  </p:stCondLst>
                                  <p:childTnLst>
                                    <p:set>
                                      <p:cBhvr>
                                        <p:cTn id="183" dur="1" fill="hold">
                                          <p:stCondLst>
                                            <p:cond delay="0"/>
                                          </p:stCondLst>
                                        </p:cTn>
                                        <p:tgtEl>
                                          <p:spTgt spid="80"/>
                                        </p:tgtEl>
                                        <p:attrNameLst>
                                          <p:attrName>style.visibility</p:attrName>
                                        </p:attrNameLst>
                                      </p:cBhvr>
                                      <p:to>
                                        <p:strVal val="visible"/>
                                      </p:to>
                                    </p:set>
                                    <p:animEffect transition="in" filter="fade">
                                      <p:cBhvr>
                                        <p:cTn id="184" dur="400"/>
                                        <p:tgtEl>
                                          <p:spTgt spid="80"/>
                                        </p:tgtEl>
                                      </p:cBhvr>
                                    </p:animEffect>
                                  </p:childTnLst>
                                </p:cTn>
                              </p:par>
                              <p:par>
                                <p:cTn id="185" presetID="10" presetClass="entr" presetSubtype="0" fill="hold" grpId="0" nodeType="withEffect">
                                  <p:stCondLst>
                                    <p:cond delay="900"/>
                                  </p:stCondLst>
                                  <p:childTnLst>
                                    <p:set>
                                      <p:cBhvr>
                                        <p:cTn id="186" dur="1" fill="hold">
                                          <p:stCondLst>
                                            <p:cond delay="0"/>
                                          </p:stCondLst>
                                        </p:cTn>
                                        <p:tgtEl>
                                          <p:spTgt spid="81"/>
                                        </p:tgtEl>
                                        <p:attrNameLst>
                                          <p:attrName>style.visibility</p:attrName>
                                        </p:attrNameLst>
                                      </p:cBhvr>
                                      <p:to>
                                        <p:strVal val="visible"/>
                                      </p:to>
                                    </p:set>
                                    <p:animEffect transition="in" filter="fade">
                                      <p:cBhvr>
                                        <p:cTn id="187" dur="400"/>
                                        <p:tgtEl>
                                          <p:spTgt spid="81"/>
                                        </p:tgtEl>
                                      </p:cBhvr>
                                    </p:animEffect>
                                  </p:childTnLst>
                                </p:cTn>
                              </p:par>
                              <p:par>
                                <p:cTn id="188" presetID="10" presetClass="entr" presetSubtype="0" fill="hold" grpId="0" nodeType="withEffect">
                                  <p:stCondLst>
                                    <p:cond delay="900"/>
                                  </p:stCondLst>
                                  <p:childTnLst>
                                    <p:set>
                                      <p:cBhvr>
                                        <p:cTn id="189" dur="1" fill="hold">
                                          <p:stCondLst>
                                            <p:cond delay="0"/>
                                          </p:stCondLst>
                                        </p:cTn>
                                        <p:tgtEl>
                                          <p:spTgt spid="82"/>
                                        </p:tgtEl>
                                        <p:attrNameLst>
                                          <p:attrName>style.visibility</p:attrName>
                                        </p:attrNameLst>
                                      </p:cBhvr>
                                      <p:to>
                                        <p:strVal val="visible"/>
                                      </p:to>
                                    </p:set>
                                    <p:animEffect transition="in" filter="fade">
                                      <p:cBhvr>
                                        <p:cTn id="190" dur="400"/>
                                        <p:tgtEl>
                                          <p:spTgt spid="82"/>
                                        </p:tgtEl>
                                      </p:cBhvr>
                                    </p:animEffect>
                                  </p:childTnLst>
                                </p:cTn>
                              </p:par>
                              <p:par>
                                <p:cTn id="191" presetID="10" presetClass="entr" presetSubtype="0" fill="hold" grpId="0" nodeType="withEffect">
                                  <p:stCondLst>
                                    <p:cond delay="900"/>
                                  </p:stCondLst>
                                  <p:childTnLst>
                                    <p:set>
                                      <p:cBhvr>
                                        <p:cTn id="192" dur="1" fill="hold">
                                          <p:stCondLst>
                                            <p:cond delay="0"/>
                                          </p:stCondLst>
                                        </p:cTn>
                                        <p:tgtEl>
                                          <p:spTgt spid="83"/>
                                        </p:tgtEl>
                                        <p:attrNameLst>
                                          <p:attrName>style.visibility</p:attrName>
                                        </p:attrNameLst>
                                      </p:cBhvr>
                                      <p:to>
                                        <p:strVal val="visible"/>
                                      </p:to>
                                    </p:set>
                                    <p:animEffect transition="in" filter="fade">
                                      <p:cBhvr>
                                        <p:cTn id="193" dur="400"/>
                                        <p:tgtEl>
                                          <p:spTgt spid="83"/>
                                        </p:tgtEl>
                                      </p:cBhvr>
                                    </p:animEffect>
                                  </p:childTnLst>
                                </p:cTn>
                              </p:par>
                              <p:par>
                                <p:cTn id="194" presetID="10" presetClass="entr" presetSubtype="0" fill="hold" grpId="0" nodeType="withEffect">
                                  <p:stCondLst>
                                    <p:cond delay="900"/>
                                  </p:stCondLst>
                                  <p:childTnLst>
                                    <p:set>
                                      <p:cBhvr>
                                        <p:cTn id="195" dur="1" fill="hold">
                                          <p:stCondLst>
                                            <p:cond delay="0"/>
                                          </p:stCondLst>
                                        </p:cTn>
                                        <p:tgtEl>
                                          <p:spTgt spid="84"/>
                                        </p:tgtEl>
                                        <p:attrNameLst>
                                          <p:attrName>style.visibility</p:attrName>
                                        </p:attrNameLst>
                                      </p:cBhvr>
                                      <p:to>
                                        <p:strVal val="visible"/>
                                      </p:to>
                                    </p:set>
                                    <p:animEffect transition="in" filter="fade">
                                      <p:cBhvr>
                                        <p:cTn id="196" dur="400"/>
                                        <p:tgtEl>
                                          <p:spTgt spid="84"/>
                                        </p:tgtEl>
                                      </p:cBhvr>
                                    </p:animEffect>
                                  </p:childTnLst>
                                </p:cTn>
                              </p:par>
                              <p:par>
                                <p:cTn id="197" presetID="10" presetClass="entr" presetSubtype="0" fill="hold" grpId="0" nodeType="withEffect">
                                  <p:stCondLst>
                                    <p:cond delay="900"/>
                                  </p:stCondLst>
                                  <p:childTnLst>
                                    <p:set>
                                      <p:cBhvr>
                                        <p:cTn id="198" dur="1" fill="hold">
                                          <p:stCondLst>
                                            <p:cond delay="0"/>
                                          </p:stCondLst>
                                        </p:cTn>
                                        <p:tgtEl>
                                          <p:spTgt spid="85"/>
                                        </p:tgtEl>
                                        <p:attrNameLst>
                                          <p:attrName>style.visibility</p:attrName>
                                        </p:attrNameLst>
                                      </p:cBhvr>
                                      <p:to>
                                        <p:strVal val="visible"/>
                                      </p:to>
                                    </p:set>
                                    <p:animEffect transition="in" filter="fade">
                                      <p:cBhvr>
                                        <p:cTn id="199" dur="400"/>
                                        <p:tgtEl>
                                          <p:spTgt spid="85"/>
                                        </p:tgtEl>
                                      </p:cBhvr>
                                    </p:animEffect>
                                  </p:childTnLst>
                                </p:cTn>
                              </p:par>
                              <p:par>
                                <p:cTn id="200" presetID="10" presetClass="entr" presetSubtype="0" fill="hold" grpId="0" nodeType="withEffect">
                                  <p:stCondLst>
                                    <p:cond delay="900"/>
                                  </p:stCondLst>
                                  <p:childTnLst>
                                    <p:set>
                                      <p:cBhvr>
                                        <p:cTn id="201" dur="1" fill="hold">
                                          <p:stCondLst>
                                            <p:cond delay="0"/>
                                          </p:stCondLst>
                                        </p:cTn>
                                        <p:tgtEl>
                                          <p:spTgt spid="86"/>
                                        </p:tgtEl>
                                        <p:attrNameLst>
                                          <p:attrName>style.visibility</p:attrName>
                                        </p:attrNameLst>
                                      </p:cBhvr>
                                      <p:to>
                                        <p:strVal val="visible"/>
                                      </p:to>
                                    </p:set>
                                    <p:animEffect transition="in" filter="fade">
                                      <p:cBhvr>
                                        <p:cTn id="202" dur="400"/>
                                        <p:tgtEl>
                                          <p:spTgt spid="86"/>
                                        </p:tgtEl>
                                      </p:cBhvr>
                                    </p:animEffect>
                                  </p:childTnLst>
                                </p:cTn>
                              </p:par>
                              <p:par>
                                <p:cTn id="203" presetID="10" presetClass="entr" presetSubtype="0" fill="hold" grpId="0" nodeType="withEffect">
                                  <p:stCondLst>
                                    <p:cond delay="900"/>
                                  </p:stCondLst>
                                  <p:childTnLst>
                                    <p:set>
                                      <p:cBhvr>
                                        <p:cTn id="204" dur="1" fill="hold">
                                          <p:stCondLst>
                                            <p:cond delay="0"/>
                                          </p:stCondLst>
                                        </p:cTn>
                                        <p:tgtEl>
                                          <p:spTgt spid="87"/>
                                        </p:tgtEl>
                                        <p:attrNameLst>
                                          <p:attrName>style.visibility</p:attrName>
                                        </p:attrNameLst>
                                      </p:cBhvr>
                                      <p:to>
                                        <p:strVal val="visible"/>
                                      </p:to>
                                    </p:set>
                                    <p:animEffect transition="in" filter="fade">
                                      <p:cBhvr>
                                        <p:cTn id="205" dur="400"/>
                                        <p:tgtEl>
                                          <p:spTgt spid="87"/>
                                        </p:tgtEl>
                                      </p:cBhvr>
                                    </p:animEffect>
                                  </p:childTnLst>
                                </p:cTn>
                              </p:par>
                              <p:par>
                                <p:cTn id="206" presetID="10" presetClass="entr" presetSubtype="0" fill="hold" grpId="0" nodeType="withEffect">
                                  <p:stCondLst>
                                    <p:cond delay="900"/>
                                  </p:stCondLst>
                                  <p:childTnLst>
                                    <p:set>
                                      <p:cBhvr>
                                        <p:cTn id="207" dur="1" fill="hold">
                                          <p:stCondLst>
                                            <p:cond delay="0"/>
                                          </p:stCondLst>
                                        </p:cTn>
                                        <p:tgtEl>
                                          <p:spTgt spid="88"/>
                                        </p:tgtEl>
                                        <p:attrNameLst>
                                          <p:attrName>style.visibility</p:attrName>
                                        </p:attrNameLst>
                                      </p:cBhvr>
                                      <p:to>
                                        <p:strVal val="visible"/>
                                      </p:to>
                                    </p:set>
                                    <p:animEffect transition="in" filter="fade">
                                      <p:cBhvr>
                                        <p:cTn id="208" dur="400"/>
                                        <p:tgtEl>
                                          <p:spTgt spid="88"/>
                                        </p:tgtEl>
                                      </p:cBhvr>
                                    </p:animEffect>
                                  </p:childTnLst>
                                </p:cTn>
                              </p:par>
                              <p:par>
                                <p:cTn id="209" presetID="10" presetClass="entr" presetSubtype="0" fill="hold" grpId="0" nodeType="withEffect">
                                  <p:stCondLst>
                                    <p:cond delay="900"/>
                                  </p:stCondLst>
                                  <p:childTnLst>
                                    <p:set>
                                      <p:cBhvr>
                                        <p:cTn id="210" dur="1" fill="hold">
                                          <p:stCondLst>
                                            <p:cond delay="0"/>
                                          </p:stCondLst>
                                        </p:cTn>
                                        <p:tgtEl>
                                          <p:spTgt spid="89"/>
                                        </p:tgtEl>
                                        <p:attrNameLst>
                                          <p:attrName>style.visibility</p:attrName>
                                        </p:attrNameLst>
                                      </p:cBhvr>
                                      <p:to>
                                        <p:strVal val="visible"/>
                                      </p:to>
                                    </p:set>
                                    <p:animEffect transition="in" filter="fade">
                                      <p:cBhvr>
                                        <p:cTn id="211" dur="400"/>
                                        <p:tgtEl>
                                          <p:spTgt spid="89"/>
                                        </p:tgtEl>
                                      </p:cBhvr>
                                    </p:animEffect>
                                  </p:childTnLst>
                                </p:cTn>
                              </p:par>
                              <p:par>
                                <p:cTn id="212" presetID="10" presetClass="entr" presetSubtype="0" fill="hold" grpId="0" nodeType="withEffect">
                                  <p:stCondLst>
                                    <p:cond delay="900"/>
                                  </p:stCondLst>
                                  <p:childTnLst>
                                    <p:set>
                                      <p:cBhvr>
                                        <p:cTn id="213" dur="1" fill="hold">
                                          <p:stCondLst>
                                            <p:cond delay="0"/>
                                          </p:stCondLst>
                                        </p:cTn>
                                        <p:tgtEl>
                                          <p:spTgt spid="90"/>
                                        </p:tgtEl>
                                        <p:attrNameLst>
                                          <p:attrName>style.visibility</p:attrName>
                                        </p:attrNameLst>
                                      </p:cBhvr>
                                      <p:to>
                                        <p:strVal val="visible"/>
                                      </p:to>
                                    </p:set>
                                    <p:animEffect transition="in" filter="fade">
                                      <p:cBhvr>
                                        <p:cTn id="214" dur="400"/>
                                        <p:tgtEl>
                                          <p:spTgt spid="90"/>
                                        </p:tgtEl>
                                      </p:cBhvr>
                                    </p:animEffect>
                                  </p:childTnLst>
                                </p:cTn>
                              </p:par>
                              <p:par>
                                <p:cTn id="215" presetID="10" presetClass="entr" presetSubtype="0" fill="hold" grpId="0" nodeType="withEffect">
                                  <p:stCondLst>
                                    <p:cond delay="900"/>
                                  </p:stCondLst>
                                  <p:childTnLst>
                                    <p:set>
                                      <p:cBhvr>
                                        <p:cTn id="216" dur="1" fill="hold">
                                          <p:stCondLst>
                                            <p:cond delay="0"/>
                                          </p:stCondLst>
                                        </p:cTn>
                                        <p:tgtEl>
                                          <p:spTgt spid="91"/>
                                        </p:tgtEl>
                                        <p:attrNameLst>
                                          <p:attrName>style.visibility</p:attrName>
                                        </p:attrNameLst>
                                      </p:cBhvr>
                                      <p:to>
                                        <p:strVal val="visible"/>
                                      </p:to>
                                    </p:set>
                                    <p:animEffect transition="in" filter="fade">
                                      <p:cBhvr>
                                        <p:cTn id="217" dur="400"/>
                                        <p:tgtEl>
                                          <p:spTgt spid="91"/>
                                        </p:tgtEl>
                                      </p:cBhvr>
                                    </p:animEffect>
                                  </p:childTnLst>
                                </p:cTn>
                              </p:par>
                              <p:par>
                                <p:cTn id="218" presetID="10" presetClass="entr" presetSubtype="0" fill="hold" grpId="0" nodeType="withEffect">
                                  <p:stCondLst>
                                    <p:cond delay="900"/>
                                  </p:stCondLst>
                                  <p:childTnLst>
                                    <p:set>
                                      <p:cBhvr>
                                        <p:cTn id="219" dur="1" fill="hold">
                                          <p:stCondLst>
                                            <p:cond delay="0"/>
                                          </p:stCondLst>
                                        </p:cTn>
                                        <p:tgtEl>
                                          <p:spTgt spid="92"/>
                                        </p:tgtEl>
                                        <p:attrNameLst>
                                          <p:attrName>style.visibility</p:attrName>
                                        </p:attrNameLst>
                                      </p:cBhvr>
                                      <p:to>
                                        <p:strVal val="visible"/>
                                      </p:to>
                                    </p:set>
                                    <p:animEffect transition="in" filter="fade">
                                      <p:cBhvr>
                                        <p:cTn id="220" dur="400"/>
                                        <p:tgtEl>
                                          <p:spTgt spid="92"/>
                                        </p:tgtEl>
                                      </p:cBhvr>
                                    </p:animEffect>
                                  </p:childTnLst>
                                </p:cTn>
                              </p:par>
                              <p:par>
                                <p:cTn id="221" presetID="10" presetClass="entr" presetSubtype="0" fill="hold" grpId="0" nodeType="withEffect">
                                  <p:stCondLst>
                                    <p:cond delay="900"/>
                                  </p:stCondLst>
                                  <p:childTnLst>
                                    <p:set>
                                      <p:cBhvr>
                                        <p:cTn id="222" dur="1" fill="hold">
                                          <p:stCondLst>
                                            <p:cond delay="0"/>
                                          </p:stCondLst>
                                        </p:cTn>
                                        <p:tgtEl>
                                          <p:spTgt spid="93"/>
                                        </p:tgtEl>
                                        <p:attrNameLst>
                                          <p:attrName>style.visibility</p:attrName>
                                        </p:attrNameLst>
                                      </p:cBhvr>
                                      <p:to>
                                        <p:strVal val="visible"/>
                                      </p:to>
                                    </p:set>
                                    <p:animEffect transition="in" filter="fade">
                                      <p:cBhvr>
                                        <p:cTn id="223" dur="400"/>
                                        <p:tgtEl>
                                          <p:spTgt spid="93"/>
                                        </p:tgtEl>
                                      </p:cBhvr>
                                    </p:animEffect>
                                  </p:childTnLst>
                                </p:cTn>
                              </p:par>
                              <p:par>
                                <p:cTn id="224" presetID="10" presetClass="entr" presetSubtype="0" fill="hold" grpId="0" nodeType="withEffect">
                                  <p:stCondLst>
                                    <p:cond delay="900"/>
                                  </p:stCondLst>
                                  <p:childTnLst>
                                    <p:set>
                                      <p:cBhvr>
                                        <p:cTn id="225" dur="1" fill="hold">
                                          <p:stCondLst>
                                            <p:cond delay="0"/>
                                          </p:stCondLst>
                                        </p:cTn>
                                        <p:tgtEl>
                                          <p:spTgt spid="94"/>
                                        </p:tgtEl>
                                        <p:attrNameLst>
                                          <p:attrName>style.visibility</p:attrName>
                                        </p:attrNameLst>
                                      </p:cBhvr>
                                      <p:to>
                                        <p:strVal val="visible"/>
                                      </p:to>
                                    </p:set>
                                    <p:animEffect transition="in" filter="fade">
                                      <p:cBhvr>
                                        <p:cTn id="226" dur="400"/>
                                        <p:tgtEl>
                                          <p:spTgt spid="94"/>
                                        </p:tgtEl>
                                      </p:cBhvr>
                                    </p:animEffect>
                                  </p:childTnLst>
                                </p:cTn>
                              </p:par>
                              <p:par>
                                <p:cTn id="227" presetID="10" presetClass="entr" presetSubtype="0" fill="hold" grpId="0" nodeType="withEffect">
                                  <p:stCondLst>
                                    <p:cond delay="900"/>
                                  </p:stCondLst>
                                  <p:childTnLst>
                                    <p:set>
                                      <p:cBhvr>
                                        <p:cTn id="228" dur="1" fill="hold">
                                          <p:stCondLst>
                                            <p:cond delay="0"/>
                                          </p:stCondLst>
                                        </p:cTn>
                                        <p:tgtEl>
                                          <p:spTgt spid="95"/>
                                        </p:tgtEl>
                                        <p:attrNameLst>
                                          <p:attrName>style.visibility</p:attrName>
                                        </p:attrNameLst>
                                      </p:cBhvr>
                                      <p:to>
                                        <p:strVal val="visible"/>
                                      </p:to>
                                    </p:set>
                                    <p:animEffect transition="in" filter="fade">
                                      <p:cBhvr>
                                        <p:cTn id="229" dur="400"/>
                                        <p:tgtEl>
                                          <p:spTgt spid="95"/>
                                        </p:tgtEl>
                                      </p:cBhvr>
                                    </p:animEffect>
                                  </p:childTnLst>
                                </p:cTn>
                              </p:par>
                              <p:par>
                                <p:cTn id="230" presetID="10" presetClass="entr" presetSubtype="0" fill="hold" grpId="0" nodeType="withEffect">
                                  <p:stCondLst>
                                    <p:cond delay="900"/>
                                  </p:stCondLst>
                                  <p:childTnLst>
                                    <p:set>
                                      <p:cBhvr>
                                        <p:cTn id="231" dur="1" fill="hold">
                                          <p:stCondLst>
                                            <p:cond delay="0"/>
                                          </p:stCondLst>
                                        </p:cTn>
                                        <p:tgtEl>
                                          <p:spTgt spid="96"/>
                                        </p:tgtEl>
                                        <p:attrNameLst>
                                          <p:attrName>style.visibility</p:attrName>
                                        </p:attrNameLst>
                                      </p:cBhvr>
                                      <p:to>
                                        <p:strVal val="visible"/>
                                      </p:to>
                                    </p:set>
                                    <p:animEffect transition="in" filter="fade">
                                      <p:cBhvr>
                                        <p:cTn id="232" dur="400"/>
                                        <p:tgtEl>
                                          <p:spTgt spid="96"/>
                                        </p:tgtEl>
                                      </p:cBhvr>
                                    </p:animEffect>
                                  </p:childTnLst>
                                </p:cTn>
                              </p:par>
                              <p:par>
                                <p:cTn id="233" presetID="10" presetClass="entr" presetSubtype="0" fill="hold" grpId="0" nodeType="withEffect">
                                  <p:stCondLst>
                                    <p:cond delay="900"/>
                                  </p:stCondLst>
                                  <p:childTnLst>
                                    <p:set>
                                      <p:cBhvr>
                                        <p:cTn id="234" dur="1" fill="hold">
                                          <p:stCondLst>
                                            <p:cond delay="0"/>
                                          </p:stCondLst>
                                        </p:cTn>
                                        <p:tgtEl>
                                          <p:spTgt spid="97"/>
                                        </p:tgtEl>
                                        <p:attrNameLst>
                                          <p:attrName>style.visibility</p:attrName>
                                        </p:attrNameLst>
                                      </p:cBhvr>
                                      <p:to>
                                        <p:strVal val="visible"/>
                                      </p:to>
                                    </p:set>
                                    <p:animEffect transition="in" filter="fade">
                                      <p:cBhvr>
                                        <p:cTn id="235" dur="400"/>
                                        <p:tgtEl>
                                          <p:spTgt spid="97"/>
                                        </p:tgtEl>
                                      </p:cBhvr>
                                    </p:animEffect>
                                  </p:childTnLst>
                                </p:cTn>
                              </p:par>
                              <p:par>
                                <p:cTn id="236" presetID="10" presetClass="entr" presetSubtype="0" fill="hold" grpId="0" nodeType="withEffect">
                                  <p:stCondLst>
                                    <p:cond delay="900"/>
                                  </p:stCondLst>
                                  <p:childTnLst>
                                    <p:set>
                                      <p:cBhvr>
                                        <p:cTn id="237" dur="1" fill="hold">
                                          <p:stCondLst>
                                            <p:cond delay="0"/>
                                          </p:stCondLst>
                                        </p:cTn>
                                        <p:tgtEl>
                                          <p:spTgt spid="98"/>
                                        </p:tgtEl>
                                        <p:attrNameLst>
                                          <p:attrName>style.visibility</p:attrName>
                                        </p:attrNameLst>
                                      </p:cBhvr>
                                      <p:to>
                                        <p:strVal val="visible"/>
                                      </p:to>
                                    </p:set>
                                    <p:animEffect transition="in" filter="fade">
                                      <p:cBhvr>
                                        <p:cTn id="238" dur="400"/>
                                        <p:tgtEl>
                                          <p:spTgt spid="98"/>
                                        </p:tgtEl>
                                      </p:cBhvr>
                                    </p:animEffect>
                                  </p:childTnLst>
                                </p:cTn>
                              </p:par>
                              <p:par>
                                <p:cTn id="239" presetID="10" presetClass="entr" presetSubtype="0" fill="hold" grpId="0" nodeType="withEffect">
                                  <p:stCondLst>
                                    <p:cond delay="900"/>
                                  </p:stCondLst>
                                  <p:childTnLst>
                                    <p:set>
                                      <p:cBhvr>
                                        <p:cTn id="240" dur="1" fill="hold">
                                          <p:stCondLst>
                                            <p:cond delay="0"/>
                                          </p:stCondLst>
                                        </p:cTn>
                                        <p:tgtEl>
                                          <p:spTgt spid="99"/>
                                        </p:tgtEl>
                                        <p:attrNameLst>
                                          <p:attrName>style.visibility</p:attrName>
                                        </p:attrNameLst>
                                      </p:cBhvr>
                                      <p:to>
                                        <p:strVal val="visible"/>
                                      </p:to>
                                    </p:set>
                                    <p:animEffect transition="in" filter="fade">
                                      <p:cBhvr>
                                        <p:cTn id="241" dur="400"/>
                                        <p:tgtEl>
                                          <p:spTgt spid="99"/>
                                        </p:tgtEl>
                                      </p:cBhvr>
                                    </p:animEffect>
                                  </p:childTnLst>
                                </p:cTn>
                              </p:par>
                            </p:childTnLst>
                          </p:cTn>
                        </p:par>
                      </p:childTnLst>
                    </p:cTn>
                  </p:par>
                  <p:par>
                    <p:cTn id="286" fill="hold">
                      <p:stCondLst>
                        <p:cond delay="indefinite"/>
                      </p:stCondLst>
                      <p:childTnLst>
                        <p:par>
                          <p:cTn id="287" fill="hold">
                            <p:stCondLst>
                              <p:cond delay="0"/>
                            </p:stCondLst>
                            <p:childTnLst>
                              <p:par>
                                <p:cTn id="244" presetID="10" presetClass="entr" presetSubtype="0" fill="hold" grpId="0" nodeType="clickEffect">
                                  <p:stCondLst>
                                    <p:cond delay="0"/>
                                  </p:stCondLst>
                                  <p:childTnLst>
                                    <p:set>
                                      <p:cBhvr>
                                        <p:cTn id="245" dur="1" fill="hold">
                                          <p:stCondLst>
                                            <p:cond delay="0"/>
                                          </p:stCondLst>
                                        </p:cTn>
                                        <p:tgtEl>
                                          <p:spTgt spid="100"/>
                                        </p:tgtEl>
                                        <p:attrNameLst>
                                          <p:attrName>style.visibility</p:attrName>
                                        </p:attrNameLst>
                                      </p:cBhvr>
                                      <p:to>
                                        <p:strVal val="visible"/>
                                      </p:to>
                                    </p:set>
                                    <p:animEffect transition="in" filter="fade">
                                      <p:cBhvr>
                                        <p:cTn id="246" dur="400"/>
                                        <p:tgtEl>
                                          <p:spTgt spid="100"/>
                                        </p:tgtEl>
                                      </p:cBhvr>
                                    </p:animEffect>
                                  </p:childTnLst>
                                </p:cTn>
                              </p:par>
                              <p:par>
                                <p:cTn id="247" presetID="10" presetClass="entr" presetSubtype="0" fill="hold" grpId="0" nodeType="withEffect">
                                  <p:stCondLst>
                                    <p:cond delay="90"/>
                                  </p:stCondLst>
                                  <p:childTnLst>
                                    <p:set>
                                      <p:cBhvr>
                                        <p:cTn id="248" dur="1" fill="hold">
                                          <p:stCondLst>
                                            <p:cond delay="0"/>
                                          </p:stCondLst>
                                        </p:cTn>
                                        <p:tgtEl>
                                          <p:spTgt spid="101"/>
                                        </p:tgtEl>
                                        <p:attrNameLst>
                                          <p:attrName>style.visibility</p:attrName>
                                        </p:attrNameLst>
                                      </p:cBhvr>
                                      <p:to>
                                        <p:strVal val="visible"/>
                                      </p:to>
                                    </p:set>
                                    <p:animEffect transition="in" filter="fade">
                                      <p:cBhvr>
                                        <p:cTn id="249" dur="400"/>
                                        <p:tgtEl>
                                          <p:spTgt spid="101"/>
                                        </p:tgtEl>
                                      </p:cBhvr>
                                    </p:animEffect>
                                  </p:childTnLst>
                                </p:cTn>
                              </p:par>
                              <p:par>
                                <p:cTn id="250" presetID="10" presetClass="entr" presetSubtype="0" fill="hold" grpId="0" nodeType="withEffect">
                                  <p:stCondLst>
                                    <p:cond delay="180"/>
                                  </p:stCondLst>
                                  <p:childTnLst>
                                    <p:set>
                                      <p:cBhvr>
                                        <p:cTn id="251" dur="1" fill="hold">
                                          <p:stCondLst>
                                            <p:cond delay="0"/>
                                          </p:stCondLst>
                                        </p:cTn>
                                        <p:tgtEl>
                                          <p:spTgt spid="102"/>
                                        </p:tgtEl>
                                        <p:attrNameLst>
                                          <p:attrName>style.visibility</p:attrName>
                                        </p:attrNameLst>
                                      </p:cBhvr>
                                      <p:to>
                                        <p:strVal val="visible"/>
                                      </p:to>
                                    </p:set>
                                    <p:animEffect transition="in" filter="fade">
                                      <p:cBhvr>
                                        <p:cTn id="252" dur="400"/>
                                        <p:tgtEl>
                                          <p:spTgt spid="102"/>
                                        </p:tgtEl>
                                      </p:cBhvr>
                                    </p:animEffect>
                                  </p:childTnLst>
                                </p:cTn>
                              </p:par>
                              <p:par>
                                <p:cTn id="253" presetID="10" presetClass="entr" presetSubtype="0" fill="hold" grpId="0" nodeType="withEffect">
                                  <p:stCondLst>
                                    <p:cond delay="270"/>
                                  </p:stCondLst>
                                  <p:childTnLst>
                                    <p:set>
                                      <p:cBhvr>
                                        <p:cTn id="254" dur="1" fill="hold">
                                          <p:stCondLst>
                                            <p:cond delay="0"/>
                                          </p:stCondLst>
                                        </p:cTn>
                                        <p:tgtEl>
                                          <p:spTgt spid="103"/>
                                        </p:tgtEl>
                                        <p:attrNameLst>
                                          <p:attrName>style.visibility</p:attrName>
                                        </p:attrNameLst>
                                      </p:cBhvr>
                                      <p:to>
                                        <p:strVal val="visible"/>
                                      </p:to>
                                    </p:set>
                                    <p:animEffect transition="in" filter="fade">
                                      <p:cBhvr>
                                        <p:cTn id="255" dur="400"/>
                                        <p:tgtEl>
                                          <p:spTgt spid="103"/>
                                        </p:tgtEl>
                                      </p:cBhvr>
                                    </p:animEffect>
                                  </p:childTnLst>
                                </p:cTn>
                              </p:par>
                              <p:par>
                                <p:cTn id="256" presetID="10" presetClass="entr" presetSubtype="0" fill="hold" grpId="0" nodeType="withEffect">
                                  <p:stCondLst>
                                    <p:cond delay="360"/>
                                  </p:stCondLst>
                                  <p:childTnLst>
                                    <p:set>
                                      <p:cBhvr>
                                        <p:cTn id="257" dur="1" fill="hold">
                                          <p:stCondLst>
                                            <p:cond delay="0"/>
                                          </p:stCondLst>
                                        </p:cTn>
                                        <p:tgtEl>
                                          <p:spTgt spid="104"/>
                                        </p:tgtEl>
                                        <p:attrNameLst>
                                          <p:attrName>style.visibility</p:attrName>
                                        </p:attrNameLst>
                                      </p:cBhvr>
                                      <p:to>
                                        <p:strVal val="visible"/>
                                      </p:to>
                                    </p:set>
                                    <p:animEffect transition="in" filter="fade">
                                      <p:cBhvr>
                                        <p:cTn id="258" dur="400"/>
                                        <p:tgtEl>
                                          <p:spTgt spid="104"/>
                                        </p:tgtEl>
                                      </p:cBhvr>
                                    </p:animEffect>
                                  </p:childTnLst>
                                </p:cTn>
                              </p:par>
                              <p:par>
                                <p:cTn id="259" presetID="10" presetClass="entr" presetSubtype="0" fill="hold" grpId="0" nodeType="withEffect">
                                  <p:stCondLst>
                                    <p:cond delay="450"/>
                                  </p:stCondLst>
                                  <p:childTnLst>
                                    <p:set>
                                      <p:cBhvr>
                                        <p:cTn id="260" dur="1" fill="hold">
                                          <p:stCondLst>
                                            <p:cond delay="0"/>
                                          </p:stCondLst>
                                        </p:cTn>
                                        <p:tgtEl>
                                          <p:spTgt spid="105"/>
                                        </p:tgtEl>
                                        <p:attrNameLst>
                                          <p:attrName>style.visibility</p:attrName>
                                        </p:attrNameLst>
                                      </p:cBhvr>
                                      <p:to>
                                        <p:strVal val="visible"/>
                                      </p:to>
                                    </p:set>
                                    <p:animEffect transition="in" filter="fade">
                                      <p:cBhvr>
                                        <p:cTn id="261" dur="400"/>
                                        <p:tgtEl>
                                          <p:spTgt spid="105"/>
                                        </p:tgtEl>
                                      </p:cBhvr>
                                    </p:animEffect>
                                  </p:childTnLst>
                                </p:cTn>
                              </p:par>
                              <p:par>
                                <p:cTn id="262" presetID="10" presetClass="entr" presetSubtype="0" fill="hold" grpId="0" nodeType="withEffect">
                                  <p:stCondLst>
                                    <p:cond delay="540"/>
                                  </p:stCondLst>
                                  <p:childTnLst>
                                    <p:set>
                                      <p:cBhvr>
                                        <p:cTn id="263" dur="1" fill="hold">
                                          <p:stCondLst>
                                            <p:cond delay="0"/>
                                          </p:stCondLst>
                                        </p:cTn>
                                        <p:tgtEl>
                                          <p:spTgt spid="106"/>
                                        </p:tgtEl>
                                        <p:attrNameLst>
                                          <p:attrName>style.visibility</p:attrName>
                                        </p:attrNameLst>
                                      </p:cBhvr>
                                      <p:to>
                                        <p:strVal val="visible"/>
                                      </p:to>
                                    </p:set>
                                    <p:animEffect transition="in" filter="fade">
                                      <p:cBhvr>
                                        <p:cTn id="264" dur="400"/>
                                        <p:tgtEl>
                                          <p:spTgt spid="106"/>
                                        </p:tgtEl>
                                      </p:cBhvr>
                                    </p:animEffect>
                                  </p:childTnLst>
                                </p:cTn>
                              </p:par>
                              <p:par>
                                <p:cTn id="265" presetID="10" presetClass="entr" presetSubtype="0" fill="hold" grpId="0" nodeType="withEffect">
                                  <p:stCondLst>
                                    <p:cond delay="630"/>
                                  </p:stCondLst>
                                  <p:childTnLst>
                                    <p:set>
                                      <p:cBhvr>
                                        <p:cTn id="266" dur="1" fill="hold">
                                          <p:stCondLst>
                                            <p:cond delay="0"/>
                                          </p:stCondLst>
                                        </p:cTn>
                                        <p:tgtEl>
                                          <p:spTgt spid="107"/>
                                        </p:tgtEl>
                                        <p:attrNameLst>
                                          <p:attrName>style.visibility</p:attrName>
                                        </p:attrNameLst>
                                      </p:cBhvr>
                                      <p:to>
                                        <p:strVal val="visible"/>
                                      </p:to>
                                    </p:set>
                                    <p:animEffect transition="in" filter="fade">
                                      <p:cBhvr>
                                        <p:cTn id="267" dur="400"/>
                                        <p:tgtEl>
                                          <p:spTgt spid="107"/>
                                        </p:tgtEl>
                                      </p:cBhvr>
                                    </p:animEffect>
                                  </p:childTnLst>
                                </p:cTn>
                              </p:par>
                              <p:par>
                                <p:cTn id="268" presetID="10" presetClass="entr" presetSubtype="0" fill="hold" grpId="0" nodeType="withEffect">
                                  <p:stCondLst>
                                    <p:cond delay="720"/>
                                  </p:stCondLst>
                                  <p:childTnLst>
                                    <p:set>
                                      <p:cBhvr>
                                        <p:cTn id="269" dur="1" fill="hold">
                                          <p:stCondLst>
                                            <p:cond delay="0"/>
                                          </p:stCondLst>
                                        </p:cTn>
                                        <p:tgtEl>
                                          <p:spTgt spid="108"/>
                                        </p:tgtEl>
                                        <p:attrNameLst>
                                          <p:attrName>style.visibility</p:attrName>
                                        </p:attrNameLst>
                                      </p:cBhvr>
                                      <p:to>
                                        <p:strVal val="visible"/>
                                      </p:to>
                                    </p:set>
                                    <p:animEffect transition="in" filter="fade">
                                      <p:cBhvr>
                                        <p:cTn id="270" dur="400"/>
                                        <p:tgtEl>
                                          <p:spTgt spid="108"/>
                                        </p:tgtEl>
                                      </p:cBhvr>
                                    </p:animEffect>
                                  </p:childTnLst>
                                </p:cTn>
                              </p:par>
                              <p:par>
                                <p:cTn id="271" presetID="10" presetClass="entr" presetSubtype="0" fill="hold" grpId="0" nodeType="withEffect">
                                  <p:stCondLst>
                                    <p:cond delay="810"/>
                                  </p:stCondLst>
                                  <p:childTnLst>
                                    <p:set>
                                      <p:cBhvr>
                                        <p:cTn id="272" dur="1" fill="hold">
                                          <p:stCondLst>
                                            <p:cond delay="0"/>
                                          </p:stCondLst>
                                        </p:cTn>
                                        <p:tgtEl>
                                          <p:spTgt spid="109"/>
                                        </p:tgtEl>
                                        <p:attrNameLst>
                                          <p:attrName>style.visibility</p:attrName>
                                        </p:attrNameLst>
                                      </p:cBhvr>
                                      <p:to>
                                        <p:strVal val="visible"/>
                                      </p:to>
                                    </p:set>
                                    <p:animEffect transition="in" filter="fade">
                                      <p:cBhvr>
                                        <p:cTn id="273" dur="400"/>
                                        <p:tgtEl>
                                          <p:spTgt spid="109"/>
                                        </p:tgtEl>
                                      </p:cBhvr>
                                    </p:animEffect>
                                  </p:childTnLst>
                                </p:cTn>
                              </p:par>
                              <p:par>
                                <p:cTn id="274" presetID="10" presetClass="entr" presetSubtype="0" fill="hold" grpId="0" nodeType="withEffect">
                                  <p:stCondLst>
                                    <p:cond delay="900"/>
                                  </p:stCondLst>
                                  <p:childTnLst>
                                    <p:set>
                                      <p:cBhvr>
                                        <p:cTn id="275" dur="1" fill="hold">
                                          <p:stCondLst>
                                            <p:cond delay="0"/>
                                          </p:stCondLst>
                                        </p:cTn>
                                        <p:tgtEl>
                                          <p:spTgt spid="110"/>
                                        </p:tgtEl>
                                        <p:attrNameLst>
                                          <p:attrName>style.visibility</p:attrName>
                                        </p:attrNameLst>
                                      </p:cBhvr>
                                      <p:to>
                                        <p:strVal val="visible"/>
                                      </p:to>
                                    </p:set>
                                    <p:animEffect transition="in" filter="fade">
                                      <p:cBhvr>
                                        <p:cTn id="276" dur="400"/>
                                        <p:tgtEl>
                                          <p:spTgt spid="110"/>
                                        </p:tgtEl>
                                      </p:cBhvr>
                                    </p:animEffect>
                                  </p:childTnLst>
                                </p:cTn>
                              </p:par>
                              <p:par>
                                <p:cTn id="277" presetID="10" presetClass="entr" presetSubtype="0" fill="hold" grpId="0" nodeType="withEffect">
                                  <p:stCondLst>
                                    <p:cond delay="900"/>
                                  </p:stCondLst>
                                  <p:childTnLst>
                                    <p:set>
                                      <p:cBhvr>
                                        <p:cTn id="278" dur="1" fill="hold">
                                          <p:stCondLst>
                                            <p:cond delay="0"/>
                                          </p:stCondLst>
                                        </p:cTn>
                                        <p:tgtEl>
                                          <p:spTgt spid="111"/>
                                        </p:tgtEl>
                                        <p:attrNameLst>
                                          <p:attrName>style.visibility</p:attrName>
                                        </p:attrNameLst>
                                      </p:cBhvr>
                                      <p:to>
                                        <p:strVal val="visible"/>
                                      </p:to>
                                    </p:set>
                                    <p:animEffect transition="in" filter="fade">
                                      <p:cBhvr>
                                        <p:cTn id="279" dur="400"/>
                                        <p:tgtEl>
                                          <p:spTgt spid="111"/>
                                        </p:tgtEl>
                                      </p:cBhvr>
                                    </p:animEffect>
                                  </p:childTnLst>
                                </p:cTn>
                              </p:par>
                              <p:par>
                                <p:cTn id="280" presetID="10" presetClass="entr" presetSubtype="0" fill="hold" grpId="0" nodeType="withEffect">
                                  <p:stCondLst>
                                    <p:cond delay="900"/>
                                  </p:stCondLst>
                                  <p:childTnLst>
                                    <p:set>
                                      <p:cBhvr>
                                        <p:cTn id="281" dur="1" fill="hold">
                                          <p:stCondLst>
                                            <p:cond delay="0"/>
                                          </p:stCondLst>
                                        </p:cTn>
                                        <p:tgtEl>
                                          <p:spTgt spid="112"/>
                                        </p:tgtEl>
                                        <p:attrNameLst>
                                          <p:attrName>style.visibility</p:attrName>
                                        </p:attrNameLst>
                                      </p:cBhvr>
                                      <p:to>
                                        <p:strVal val="visible"/>
                                      </p:to>
                                    </p:set>
                                    <p:animEffect transition="in" filter="fade">
                                      <p:cBhvr>
                                        <p:cTn id="282" dur="400"/>
                                        <p:tgtEl>
                                          <p:spTgt spid="112"/>
                                        </p:tgtEl>
                                      </p:cBhvr>
                                    </p:animEffect>
                                  </p:childTnLst>
                                </p:cTn>
                              </p:par>
                              <p:par>
                                <p:cTn id="283" presetID="10" presetClass="entr" presetSubtype="0" fill="hold" grpId="0" nodeType="withEffect">
                                  <p:stCondLst>
                                    <p:cond delay="900"/>
                                  </p:stCondLst>
                                  <p:childTnLst>
                                    <p:set>
                                      <p:cBhvr>
                                        <p:cTn id="284" dur="1" fill="hold">
                                          <p:stCondLst>
                                            <p:cond delay="0"/>
                                          </p:stCondLst>
                                        </p:cTn>
                                        <p:tgtEl>
                                          <p:spTgt spid="113"/>
                                        </p:tgtEl>
                                        <p:attrNameLst>
                                          <p:attrName>style.visibility</p:attrName>
                                        </p:attrNameLst>
                                      </p:cBhvr>
                                      <p:to>
                                        <p:strVal val="visible"/>
                                      </p:to>
                                    </p:set>
                                    <p:animEffect transition="in" filter="fade">
                                      <p:cBhvr>
                                        <p:cTn id="285" dur="400"/>
                                        <p:tgtEl>
                                          <p:spTgt spid="113"/>
                                        </p:tgtEl>
                                      </p:cBhvr>
                                    </p:animEffect>
                                  </p:childTnLst>
                                </p:cTn>
                              </p:par>
                            </p:childTnLst>
                          </p:cTn>
                        </p:par>
                      </p:childTnLst>
                    </p:cTn>
                  </p:par>
                  <p:par>
                    <p:cTn id="324" fill="hold">
                      <p:stCondLst>
                        <p:cond delay="indefinite"/>
                      </p:stCondLst>
                      <p:childTnLst>
                        <p:par>
                          <p:cTn id="325" fill="hold">
                            <p:stCondLst>
                              <p:cond delay="0"/>
                            </p:stCondLst>
                            <p:childTnLst>
                              <p:par>
                                <p:cTn id="288" presetID="10" presetClass="entr" presetSubtype="0" fill="hold" grpId="0" nodeType="clickEffect">
                                  <p:stCondLst>
                                    <p:cond delay="0"/>
                                  </p:stCondLst>
                                  <p:childTnLst>
                                    <p:set>
                                      <p:cBhvr>
                                        <p:cTn id="289" dur="1" fill="hold">
                                          <p:stCondLst>
                                            <p:cond delay="0"/>
                                          </p:stCondLst>
                                        </p:cTn>
                                        <p:tgtEl>
                                          <p:spTgt spid="114"/>
                                        </p:tgtEl>
                                        <p:attrNameLst>
                                          <p:attrName>style.visibility</p:attrName>
                                        </p:attrNameLst>
                                      </p:cBhvr>
                                      <p:to>
                                        <p:strVal val="visible"/>
                                      </p:to>
                                    </p:set>
                                    <p:animEffect transition="in" filter="fade">
                                      <p:cBhvr>
                                        <p:cTn id="290" dur="400"/>
                                        <p:tgtEl>
                                          <p:spTgt spid="114"/>
                                        </p:tgtEl>
                                      </p:cBhvr>
                                    </p:animEffect>
                                  </p:childTnLst>
                                </p:cTn>
                              </p:par>
                              <p:par>
                                <p:cTn id="291" presetID="10" presetClass="entr" presetSubtype="0" fill="hold" grpId="0" nodeType="withEffect">
                                  <p:stCondLst>
                                    <p:cond delay="90"/>
                                  </p:stCondLst>
                                  <p:childTnLst>
                                    <p:set>
                                      <p:cBhvr>
                                        <p:cTn id="292" dur="1" fill="hold">
                                          <p:stCondLst>
                                            <p:cond delay="0"/>
                                          </p:stCondLst>
                                        </p:cTn>
                                        <p:tgtEl>
                                          <p:spTgt spid="115"/>
                                        </p:tgtEl>
                                        <p:attrNameLst>
                                          <p:attrName>style.visibility</p:attrName>
                                        </p:attrNameLst>
                                      </p:cBhvr>
                                      <p:to>
                                        <p:strVal val="visible"/>
                                      </p:to>
                                    </p:set>
                                    <p:animEffect transition="in" filter="fade">
                                      <p:cBhvr>
                                        <p:cTn id="293" dur="400"/>
                                        <p:tgtEl>
                                          <p:spTgt spid="115"/>
                                        </p:tgtEl>
                                      </p:cBhvr>
                                    </p:animEffect>
                                  </p:childTnLst>
                                </p:cTn>
                              </p:par>
                              <p:par>
                                <p:cTn id="294" presetID="10" presetClass="entr" presetSubtype="0" fill="hold" grpId="0" nodeType="withEffect">
                                  <p:stCondLst>
                                    <p:cond delay="180"/>
                                  </p:stCondLst>
                                  <p:childTnLst>
                                    <p:set>
                                      <p:cBhvr>
                                        <p:cTn id="295" dur="1" fill="hold">
                                          <p:stCondLst>
                                            <p:cond delay="0"/>
                                          </p:stCondLst>
                                        </p:cTn>
                                        <p:tgtEl>
                                          <p:spTgt spid="116"/>
                                        </p:tgtEl>
                                        <p:attrNameLst>
                                          <p:attrName>style.visibility</p:attrName>
                                        </p:attrNameLst>
                                      </p:cBhvr>
                                      <p:to>
                                        <p:strVal val="visible"/>
                                      </p:to>
                                    </p:set>
                                    <p:animEffect transition="in" filter="fade">
                                      <p:cBhvr>
                                        <p:cTn id="296" dur="400"/>
                                        <p:tgtEl>
                                          <p:spTgt spid="116"/>
                                        </p:tgtEl>
                                      </p:cBhvr>
                                    </p:animEffect>
                                  </p:childTnLst>
                                </p:cTn>
                              </p:par>
                              <p:par>
                                <p:cTn id="297" presetID="10" presetClass="entr" presetSubtype="0" fill="hold" grpId="0" nodeType="withEffect">
                                  <p:stCondLst>
                                    <p:cond delay="270"/>
                                  </p:stCondLst>
                                  <p:childTnLst>
                                    <p:set>
                                      <p:cBhvr>
                                        <p:cTn id="298" dur="1" fill="hold">
                                          <p:stCondLst>
                                            <p:cond delay="0"/>
                                          </p:stCondLst>
                                        </p:cTn>
                                        <p:tgtEl>
                                          <p:spTgt spid="117"/>
                                        </p:tgtEl>
                                        <p:attrNameLst>
                                          <p:attrName>style.visibility</p:attrName>
                                        </p:attrNameLst>
                                      </p:cBhvr>
                                      <p:to>
                                        <p:strVal val="visible"/>
                                      </p:to>
                                    </p:set>
                                    <p:animEffect transition="in" filter="fade">
                                      <p:cBhvr>
                                        <p:cTn id="299" dur="400"/>
                                        <p:tgtEl>
                                          <p:spTgt spid="117"/>
                                        </p:tgtEl>
                                      </p:cBhvr>
                                    </p:animEffect>
                                  </p:childTnLst>
                                </p:cTn>
                              </p:par>
                              <p:par>
                                <p:cTn id="300" presetID="10" presetClass="entr" presetSubtype="0" fill="hold" grpId="0" nodeType="withEffect">
                                  <p:stCondLst>
                                    <p:cond delay="360"/>
                                  </p:stCondLst>
                                  <p:childTnLst>
                                    <p:set>
                                      <p:cBhvr>
                                        <p:cTn id="301" dur="1" fill="hold">
                                          <p:stCondLst>
                                            <p:cond delay="0"/>
                                          </p:stCondLst>
                                        </p:cTn>
                                        <p:tgtEl>
                                          <p:spTgt spid="118"/>
                                        </p:tgtEl>
                                        <p:attrNameLst>
                                          <p:attrName>style.visibility</p:attrName>
                                        </p:attrNameLst>
                                      </p:cBhvr>
                                      <p:to>
                                        <p:strVal val="visible"/>
                                      </p:to>
                                    </p:set>
                                    <p:animEffect transition="in" filter="fade">
                                      <p:cBhvr>
                                        <p:cTn id="302" dur="400"/>
                                        <p:tgtEl>
                                          <p:spTgt spid="118"/>
                                        </p:tgtEl>
                                      </p:cBhvr>
                                    </p:animEffect>
                                  </p:childTnLst>
                                </p:cTn>
                              </p:par>
                              <p:par>
                                <p:cTn id="303" presetID="10" presetClass="entr" presetSubtype="0" fill="hold" grpId="0" nodeType="withEffect">
                                  <p:stCondLst>
                                    <p:cond delay="450"/>
                                  </p:stCondLst>
                                  <p:childTnLst>
                                    <p:set>
                                      <p:cBhvr>
                                        <p:cTn id="304" dur="1" fill="hold">
                                          <p:stCondLst>
                                            <p:cond delay="0"/>
                                          </p:stCondLst>
                                        </p:cTn>
                                        <p:tgtEl>
                                          <p:spTgt spid="119"/>
                                        </p:tgtEl>
                                        <p:attrNameLst>
                                          <p:attrName>style.visibility</p:attrName>
                                        </p:attrNameLst>
                                      </p:cBhvr>
                                      <p:to>
                                        <p:strVal val="visible"/>
                                      </p:to>
                                    </p:set>
                                    <p:animEffect transition="in" filter="fade">
                                      <p:cBhvr>
                                        <p:cTn id="305" dur="400"/>
                                        <p:tgtEl>
                                          <p:spTgt spid="119"/>
                                        </p:tgtEl>
                                      </p:cBhvr>
                                    </p:animEffect>
                                  </p:childTnLst>
                                </p:cTn>
                              </p:par>
                              <p:par>
                                <p:cTn id="306" presetID="10" presetClass="entr" presetSubtype="0" fill="hold" grpId="0" nodeType="withEffect">
                                  <p:stCondLst>
                                    <p:cond delay="540"/>
                                  </p:stCondLst>
                                  <p:childTnLst>
                                    <p:set>
                                      <p:cBhvr>
                                        <p:cTn id="307" dur="1" fill="hold">
                                          <p:stCondLst>
                                            <p:cond delay="0"/>
                                          </p:stCondLst>
                                        </p:cTn>
                                        <p:tgtEl>
                                          <p:spTgt spid="120"/>
                                        </p:tgtEl>
                                        <p:attrNameLst>
                                          <p:attrName>style.visibility</p:attrName>
                                        </p:attrNameLst>
                                      </p:cBhvr>
                                      <p:to>
                                        <p:strVal val="visible"/>
                                      </p:to>
                                    </p:set>
                                    <p:animEffect transition="in" filter="fade">
                                      <p:cBhvr>
                                        <p:cTn id="308" dur="400"/>
                                        <p:tgtEl>
                                          <p:spTgt spid="120"/>
                                        </p:tgtEl>
                                      </p:cBhvr>
                                    </p:animEffect>
                                  </p:childTnLst>
                                </p:cTn>
                              </p:par>
                              <p:par>
                                <p:cTn id="309" presetID="10" presetClass="entr" presetSubtype="0" fill="hold" grpId="0" nodeType="withEffect">
                                  <p:stCondLst>
                                    <p:cond delay="630"/>
                                  </p:stCondLst>
                                  <p:childTnLst>
                                    <p:set>
                                      <p:cBhvr>
                                        <p:cTn id="310" dur="1" fill="hold">
                                          <p:stCondLst>
                                            <p:cond delay="0"/>
                                          </p:stCondLst>
                                        </p:cTn>
                                        <p:tgtEl>
                                          <p:spTgt spid="121"/>
                                        </p:tgtEl>
                                        <p:attrNameLst>
                                          <p:attrName>style.visibility</p:attrName>
                                        </p:attrNameLst>
                                      </p:cBhvr>
                                      <p:to>
                                        <p:strVal val="visible"/>
                                      </p:to>
                                    </p:set>
                                    <p:animEffect transition="in" filter="fade">
                                      <p:cBhvr>
                                        <p:cTn id="311" dur="400"/>
                                        <p:tgtEl>
                                          <p:spTgt spid="121"/>
                                        </p:tgtEl>
                                      </p:cBhvr>
                                    </p:animEffect>
                                  </p:childTnLst>
                                </p:cTn>
                              </p:par>
                              <p:par>
                                <p:cTn id="312" presetID="10" presetClass="entr" presetSubtype="0" fill="hold" grpId="0" nodeType="withEffect">
                                  <p:stCondLst>
                                    <p:cond delay="720"/>
                                  </p:stCondLst>
                                  <p:childTnLst>
                                    <p:set>
                                      <p:cBhvr>
                                        <p:cTn id="313" dur="1" fill="hold">
                                          <p:stCondLst>
                                            <p:cond delay="0"/>
                                          </p:stCondLst>
                                        </p:cTn>
                                        <p:tgtEl>
                                          <p:spTgt spid="122"/>
                                        </p:tgtEl>
                                        <p:attrNameLst>
                                          <p:attrName>style.visibility</p:attrName>
                                        </p:attrNameLst>
                                      </p:cBhvr>
                                      <p:to>
                                        <p:strVal val="visible"/>
                                      </p:to>
                                    </p:set>
                                    <p:animEffect transition="in" filter="fade">
                                      <p:cBhvr>
                                        <p:cTn id="314" dur="400"/>
                                        <p:tgtEl>
                                          <p:spTgt spid="122"/>
                                        </p:tgtEl>
                                      </p:cBhvr>
                                    </p:animEffect>
                                  </p:childTnLst>
                                </p:cTn>
                              </p:par>
                              <p:par>
                                <p:cTn id="315" presetID="10" presetClass="entr" presetSubtype="0" fill="hold" grpId="0" nodeType="withEffect">
                                  <p:stCondLst>
                                    <p:cond delay="810"/>
                                  </p:stCondLst>
                                  <p:childTnLst>
                                    <p:set>
                                      <p:cBhvr>
                                        <p:cTn id="316" dur="1" fill="hold">
                                          <p:stCondLst>
                                            <p:cond delay="0"/>
                                          </p:stCondLst>
                                        </p:cTn>
                                        <p:tgtEl>
                                          <p:spTgt spid="123"/>
                                        </p:tgtEl>
                                        <p:attrNameLst>
                                          <p:attrName>style.visibility</p:attrName>
                                        </p:attrNameLst>
                                      </p:cBhvr>
                                      <p:to>
                                        <p:strVal val="visible"/>
                                      </p:to>
                                    </p:set>
                                    <p:animEffect transition="in" filter="fade">
                                      <p:cBhvr>
                                        <p:cTn id="317" dur="400"/>
                                        <p:tgtEl>
                                          <p:spTgt spid="123"/>
                                        </p:tgtEl>
                                      </p:cBhvr>
                                    </p:animEffect>
                                  </p:childTnLst>
                                </p:cTn>
                              </p:par>
                              <p:par>
                                <p:cTn id="318" presetID="10" presetClass="entr" presetSubtype="0" fill="hold" grpId="0" nodeType="withEffect">
                                  <p:stCondLst>
                                    <p:cond delay="900"/>
                                  </p:stCondLst>
                                  <p:childTnLst>
                                    <p:set>
                                      <p:cBhvr>
                                        <p:cTn id="319" dur="1" fill="hold">
                                          <p:stCondLst>
                                            <p:cond delay="0"/>
                                          </p:stCondLst>
                                        </p:cTn>
                                        <p:tgtEl>
                                          <p:spTgt spid="124"/>
                                        </p:tgtEl>
                                        <p:attrNameLst>
                                          <p:attrName>style.visibility</p:attrName>
                                        </p:attrNameLst>
                                      </p:cBhvr>
                                      <p:to>
                                        <p:strVal val="visible"/>
                                      </p:to>
                                    </p:set>
                                    <p:animEffect transition="in" filter="fade">
                                      <p:cBhvr>
                                        <p:cTn id="320" dur="400"/>
                                        <p:tgtEl>
                                          <p:spTgt spid="124"/>
                                        </p:tgtEl>
                                      </p:cBhvr>
                                    </p:animEffect>
                                  </p:childTnLst>
                                </p:cTn>
                              </p:par>
                              <p:par>
                                <p:cTn id="321" presetID="10" presetClass="entr" presetSubtype="0" fill="hold" grpId="0" nodeType="withEffect">
                                  <p:stCondLst>
                                    <p:cond delay="900"/>
                                  </p:stCondLst>
                                  <p:childTnLst>
                                    <p:set>
                                      <p:cBhvr>
                                        <p:cTn id="322" dur="1" fill="hold">
                                          <p:stCondLst>
                                            <p:cond delay="0"/>
                                          </p:stCondLst>
                                        </p:cTn>
                                        <p:tgtEl>
                                          <p:spTgt spid="125"/>
                                        </p:tgtEl>
                                        <p:attrNameLst>
                                          <p:attrName>style.visibility</p:attrName>
                                        </p:attrNameLst>
                                      </p:cBhvr>
                                      <p:to>
                                        <p:strVal val="visible"/>
                                      </p:to>
                                    </p:set>
                                    <p:animEffect transition="in" filter="fade">
                                      <p:cBhvr>
                                        <p:cTn id="323"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15</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007DB6"/>
          </a:solidFill>
          <a:ln w="12700">
            <a:solidFill>
              <a:srgbClr val="007DB6"/>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A build week</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No new content. You build on a brief, then present, defend and get graded, all inside the same week.</a:t>
            </a:r>
            <a:endParaRPr lang="en-US" sz="1250" dirty="0"/>
          </a:p>
        </p:txBody>
      </p:sp>
      <p:sp>
        <p:nvSpPr>
          <p:cNvPr id="21" name="anim:1 grad:navy"/>
          <p:cNvSpPr/>
          <p:nvPr/>
        </p:nvSpPr>
        <p:spPr>
          <a:xfrm>
            <a:off x="548640" y="1783080"/>
            <a:ext cx="1572768" cy="1371600"/>
          </a:xfrm>
          <a:prstGeom prst="roundRect">
            <a:avLst>
              <a:gd name="adj" fmla="val 6667"/>
            </a:avLst>
          </a:prstGeom>
          <a:gradFill rotWithShape="1">
            <a:gsLst>
              <a:gs pos="0">
                <a:srgbClr val="1B4170"/>
              </a:gs>
              <a:gs pos="100000">
                <a:srgbClr val="0A1E33"/>
              </a:gs>
            </a:gsLst>
            <a:lin ang="5400000" scaled="0"/>
          </a:gradFill>
          <a:ln w="12700">
            <a:solidFill>
              <a:srgbClr val="007DB6"/>
            </a:solidFill>
            <a:prstDash val="solid"/>
          </a:ln>
          <a:effectLst>
            <a:outerShdw sx="100000" sy="100000" kx="0" ky="0" algn="bl" rotWithShape="0" blurRad="38100" dist="12700" dir="5400000">
              <a:srgbClr val="0A1E33">
                <a:alpha val="6000"/>
              </a:srgbClr>
            </a:outerShdw>
          </a:effectLst>
        </p:spPr>
        <p:txBody>
          <a:bodyPr/>
          <a:p/>
        </p:txBody>
      </p:sp>
      <p:sp>
        <p:nvSpPr>
          <p:cNvPr id="22" name="anim:1"/>
          <p:cNvSpPr txBox="1"/>
          <p:nvPr/>
        </p:nvSpPr>
        <p:spPr>
          <a:xfrm>
            <a:off x="749808" y="1901952"/>
            <a:ext cx="1170432" cy="201168"/>
          </a:xfrm>
          <a:prstGeom prst="rect">
            <a:avLst/>
          </a:prstGeom>
          <a:noFill/>
          <a:ln/>
        </p:spPr>
        <p:txBody>
          <a:bodyPr wrap="square" lIns="0" tIns="0" rIns="0" bIns="0" rtlCol="0" anchor="t"/>
          <a:lstStyle/>
          <a:p>
            <a:pPr algn="l" indent="0" marL="0">
              <a:buNone/>
            </a:pPr>
            <a:r>
              <a:rPr lang="en-US" sz="800" b="1" spc="200" kern="0" dirty="0">
                <a:solidFill>
                  <a:srgbClr val="C9D6E4"/>
                </a:solidFill>
                <a:latin typeface="Calibri" pitchFamily="34" charset="0"/>
                <a:ea typeface="Calibri" pitchFamily="34" charset="-122"/>
                <a:cs typeface="Calibri" pitchFamily="34" charset="-120"/>
              </a:rPr>
              <a:t>MONDAY</a:t>
            </a:r>
            <a:endParaRPr lang="en-US" sz="800" dirty="0"/>
          </a:p>
        </p:txBody>
      </p:sp>
      <p:sp>
        <p:nvSpPr>
          <p:cNvPr id="23" name="anim:1"/>
          <p:cNvSpPr txBox="1"/>
          <p:nvPr/>
        </p:nvSpPr>
        <p:spPr>
          <a:xfrm>
            <a:off x="749808" y="2103120"/>
            <a:ext cx="1170432" cy="32004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The brief</a:t>
            </a:r>
            <a:endParaRPr lang="en-US" sz="1500" dirty="0"/>
          </a:p>
        </p:txBody>
      </p:sp>
      <p:sp>
        <p:nvSpPr>
          <p:cNvPr id="24" name="anim:1"/>
          <p:cNvSpPr txBox="1"/>
          <p:nvPr/>
        </p:nvSpPr>
        <p:spPr>
          <a:xfrm>
            <a:off x="749808" y="2423160"/>
            <a:ext cx="1170432" cy="685800"/>
          </a:xfrm>
          <a:prstGeom prst="rect">
            <a:avLst/>
          </a:prstGeom>
          <a:noFill/>
          <a:ln/>
        </p:spPr>
        <p:txBody>
          <a:bodyPr wrap="square" lIns="0" tIns="0" rIns="0" bIns="0" rtlCol="0" anchor="t"/>
          <a:lstStyle/>
          <a:p>
            <a:pPr algn="l" indent="0" marL="0">
              <a:buNone/>
            </a:pPr>
            <a:r>
              <a:rPr lang="en-US" sz="950" dirty="0">
                <a:solidFill>
                  <a:srgbClr val="C9D6E4"/>
                </a:solidFill>
                <a:latin typeface="Calibri" pitchFamily="34" charset="0"/>
                <a:ea typeface="Calibri" pitchFamily="34" charset="-122"/>
                <a:cs typeface="Calibri" pitchFamily="34" charset="-120"/>
              </a:rPr>
              <a:t>The Programme Head introduces the mini-projects; groups of four form.</a:t>
            </a:r>
            <a:endParaRPr lang="en-US" sz="950" dirty="0"/>
          </a:p>
        </p:txBody>
      </p:sp>
      <p:sp>
        <p:nvSpPr>
          <p:cNvPr id="25" name="anim:1 grad:skyTint"/>
          <p:cNvSpPr/>
          <p:nvPr/>
        </p:nvSpPr>
        <p:spPr>
          <a:xfrm>
            <a:off x="2194560" y="1783080"/>
            <a:ext cx="5394960" cy="1371600"/>
          </a:xfrm>
          <a:prstGeom prst="roundRect">
            <a:avLst>
              <a:gd name="adj" fmla="val 6667"/>
            </a:avLst>
          </a:prstGeom>
          <a:gradFill rotWithShape="1">
            <a:gsLst>
              <a:gs pos="0">
                <a:srgbClr val="EEF7FC"/>
              </a:gs>
              <a:gs pos="100000">
                <a:srgbClr val="D8EBF6"/>
              </a:gs>
            </a:gsLst>
            <a:lin ang="5400000" scaled="0"/>
          </a:gradFill>
          <a:ln w="12700">
            <a:solidFill>
              <a:srgbClr val="007DB6"/>
            </a:solidFill>
            <a:prstDash val="solid"/>
          </a:ln>
          <a:effectLst>
            <a:outerShdw sx="100000" sy="100000" kx="0" ky="0" algn="bl" rotWithShape="0" blurRad="38100" dist="12700" dir="5400000">
              <a:srgbClr val="0A1E33">
                <a:alpha val="6000"/>
              </a:srgbClr>
            </a:outerShdw>
          </a:effectLst>
        </p:spPr>
        <p:txBody>
          <a:bodyPr/>
          <a:p/>
        </p:txBody>
      </p:sp>
      <p:sp>
        <p:nvSpPr>
          <p:cNvPr id="26" name="anim:1"/>
          <p:cNvSpPr txBox="1"/>
          <p:nvPr/>
        </p:nvSpPr>
        <p:spPr>
          <a:xfrm>
            <a:off x="2395728" y="1901952"/>
            <a:ext cx="4992624" cy="201168"/>
          </a:xfrm>
          <a:prstGeom prst="rect">
            <a:avLst/>
          </a:prstGeom>
          <a:noFill/>
          <a:ln/>
        </p:spPr>
        <p:txBody>
          <a:bodyPr wrap="square" lIns="0" tIns="0" rIns="0" bIns="0" rtlCol="0" anchor="t"/>
          <a:lstStyle/>
          <a:p>
            <a:pPr algn="l" indent="0" marL="0">
              <a:buNone/>
            </a:pPr>
            <a:r>
              <a:rPr lang="en-US" sz="800" b="1" spc="200" kern="0" dirty="0">
                <a:solidFill>
                  <a:srgbClr val="15243A"/>
                </a:solidFill>
                <a:latin typeface="Calibri" pitchFamily="34" charset="0"/>
                <a:ea typeface="Calibri" pitchFamily="34" charset="-122"/>
                <a:cs typeface="Calibri" pitchFamily="34" charset="-120"/>
              </a:rPr>
              <a:t>MONDAY TO THURSDAY</a:t>
            </a:r>
            <a:endParaRPr lang="en-US" sz="800" dirty="0"/>
          </a:p>
        </p:txBody>
      </p:sp>
      <p:sp>
        <p:nvSpPr>
          <p:cNvPr id="27" name="anim:1"/>
          <p:cNvSpPr txBox="1"/>
          <p:nvPr/>
        </p:nvSpPr>
        <p:spPr>
          <a:xfrm>
            <a:off x="2395728" y="2103120"/>
            <a:ext cx="4992624" cy="320040"/>
          </a:xfrm>
          <a:prstGeom prst="rect">
            <a:avLst/>
          </a:prstGeom>
          <a:noFill/>
          <a:ln/>
        </p:spPr>
        <p:txBody>
          <a:bodyPr wrap="square" lIns="0" tIns="0" rIns="0" bIns="0" rtlCol="0" anchor="t"/>
          <a:lstStyle/>
          <a:p>
            <a:pPr algn="l" indent="0" marL="0">
              <a:buNone/>
            </a:pPr>
            <a:r>
              <a:rPr lang="en-US" sz="1500" b="1" dirty="0">
                <a:solidFill>
                  <a:srgbClr val="0A1E33"/>
                </a:solidFill>
                <a:latin typeface="Calibri" pitchFamily="34" charset="0"/>
                <a:ea typeface="Calibri" pitchFamily="34" charset="-122"/>
                <a:cs typeface="Calibri" pitchFamily="34" charset="-120"/>
              </a:rPr>
              <a:t>Build</a:t>
            </a:r>
            <a:endParaRPr lang="en-US" sz="1500" dirty="0"/>
          </a:p>
        </p:txBody>
      </p:sp>
      <p:sp>
        <p:nvSpPr>
          <p:cNvPr id="28" name="anim:1"/>
          <p:cNvSpPr txBox="1"/>
          <p:nvPr/>
        </p:nvSpPr>
        <p:spPr>
          <a:xfrm>
            <a:off x="2395728" y="2423160"/>
            <a:ext cx="4992624" cy="68580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Daily checkpoints with the trainer, who builds in parallel. Your challenges log is kept live as you go, never written afterwards.</a:t>
            </a:r>
            <a:endParaRPr lang="en-US" sz="950" dirty="0"/>
          </a:p>
        </p:txBody>
      </p:sp>
      <p:sp>
        <p:nvSpPr>
          <p:cNvPr id="29" name="anim:1 grad:blue"/>
          <p:cNvSpPr/>
          <p:nvPr/>
        </p:nvSpPr>
        <p:spPr>
          <a:xfrm>
            <a:off x="7662672" y="1783080"/>
            <a:ext cx="3977640" cy="1371600"/>
          </a:xfrm>
          <a:prstGeom prst="roundRect">
            <a:avLst>
              <a:gd name="adj" fmla="val 6667"/>
            </a:avLst>
          </a:prstGeom>
          <a:gradFill rotWithShape="1">
            <a:gsLst>
              <a:gs pos="0">
                <a:srgbClr val="2FA8E0"/>
              </a:gs>
              <a:gs pos="100000">
                <a:srgbClr val="007DB6"/>
              </a:gs>
            </a:gsLst>
            <a:lin ang="5400000" scaled="0"/>
          </a:gradFill>
          <a:ln w="12700">
            <a:solidFill>
              <a:srgbClr val="007DB6"/>
            </a:solidFill>
            <a:prstDash val="solid"/>
          </a:ln>
          <a:effectLst>
            <a:outerShdw sx="100000" sy="100000" kx="0" ky="0" algn="bl" rotWithShape="0" blurRad="38100" dist="12700" dir="5400000">
              <a:srgbClr val="0A1E33">
                <a:alpha val="6000"/>
              </a:srgbClr>
            </a:outerShdw>
          </a:effectLst>
        </p:spPr>
        <p:txBody>
          <a:bodyPr/>
          <a:p/>
        </p:txBody>
      </p:sp>
      <p:sp>
        <p:nvSpPr>
          <p:cNvPr id="30" name="anim:1"/>
          <p:cNvSpPr txBox="1"/>
          <p:nvPr/>
        </p:nvSpPr>
        <p:spPr>
          <a:xfrm>
            <a:off x="7863840" y="1901952"/>
            <a:ext cx="3575304" cy="201168"/>
          </a:xfrm>
          <a:prstGeom prst="rect">
            <a:avLst/>
          </a:prstGeom>
          <a:noFill/>
          <a:ln/>
        </p:spPr>
        <p:txBody>
          <a:bodyPr wrap="square" lIns="0" tIns="0" rIns="0" bIns="0" rtlCol="0" anchor="t"/>
          <a:lstStyle/>
          <a:p>
            <a:pPr algn="l" indent="0" marL="0">
              <a:buNone/>
            </a:pPr>
            <a:r>
              <a:rPr lang="en-US" sz="800" b="1" spc="200" kern="0" dirty="0">
                <a:solidFill>
                  <a:srgbClr val="E3F2FA"/>
                </a:solidFill>
                <a:latin typeface="Calibri" pitchFamily="34" charset="0"/>
                <a:ea typeface="Calibri" pitchFamily="34" charset="-122"/>
                <a:cs typeface="Calibri" pitchFamily="34" charset="-120"/>
              </a:rPr>
              <a:t>FRIDAY AND SATURDAY</a:t>
            </a:r>
            <a:endParaRPr lang="en-US" sz="800" dirty="0"/>
          </a:p>
        </p:txBody>
      </p:sp>
      <p:sp>
        <p:nvSpPr>
          <p:cNvPr id="31" name="anim:1"/>
          <p:cNvSpPr txBox="1"/>
          <p:nvPr/>
        </p:nvSpPr>
        <p:spPr>
          <a:xfrm>
            <a:off x="7863840" y="2103120"/>
            <a:ext cx="3575304" cy="32004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Assess</a:t>
            </a:r>
            <a:endParaRPr lang="en-US" sz="1500" dirty="0"/>
          </a:p>
        </p:txBody>
      </p:sp>
      <p:sp>
        <p:nvSpPr>
          <p:cNvPr id="32" name="anim:1"/>
          <p:cNvSpPr txBox="1"/>
          <p:nvPr/>
        </p:nvSpPr>
        <p:spPr>
          <a:xfrm>
            <a:off x="7863840" y="2423160"/>
            <a:ext cx="3575304" cy="685800"/>
          </a:xfrm>
          <a:prstGeom prst="rect">
            <a:avLst/>
          </a:prstGeom>
          <a:noFill/>
          <a:ln/>
        </p:spPr>
        <p:txBody>
          <a:bodyPr wrap="square" lIns="0" tIns="0" rIns="0" bIns="0" rtlCol="0" anchor="t"/>
          <a:lstStyle/>
          <a:p>
            <a:pPr algn="l" indent="0" marL="0">
              <a:buNone/>
            </a:pPr>
            <a:r>
              <a:rPr lang="en-US" sz="950" dirty="0">
                <a:solidFill>
                  <a:srgbClr val="E3F2FA"/>
                </a:solidFill>
                <a:latin typeface="Calibri" pitchFamily="34" charset="0"/>
                <a:ea typeface="Calibri" pitchFamily="34" charset="-122"/>
                <a:cs typeface="Calibri" pitchFamily="34" charset="-120"/>
              </a:rPr>
              <a:t>The industry expert is in the room for demos, discussions, mocks and presentations. A senior industry leader joins on Saturday.</a:t>
            </a:r>
            <a:endParaRPr lang="en-US" sz="950" dirty="0"/>
          </a:p>
        </p:txBody>
      </p:sp>
      <p:sp>
        <p:nvSpPr>
          <p:cNvPr id="33" name="anim:2 grad:card"/>
          <p:cNvSpPr/>
          <p:nvPr/>
        </p:nvSpPr>
        <p:spPr>
          <a:xfrm>
            <a:off x="548640" y="3383280"/>
            <a:ext cx="2606040" cy="210312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4" name="anim:2"/>
          <p:cNvSpPr/>
          <p:nvPr/>
        </p:nvSpPr>
        <p:spPr>
          <a:xfrm>
            <a:off x="777240" y="3611880"/>
            <a:ext cx="548640" cy="548640"/>
          </a:xfrm>
          <a:prstGeom prst="ellipse">
            <a:avLst/>
          </a:prstGeom>
          <a:solidFill>
            <a:srgbClr val="E3F2FA"/>
          </a:solidFill>
          <a:ln w="9525">
            <a:solidFill>
              <a:srgbClr val="E3F2FA"/>
            </a:solidFill>
            <a:prstDash val="solid"/>
          </a:ln>
        </p:spPr>
        <p:txBody>
          <a:bodyPr/>
          <a:p/>
        </p:txBody>
      </p:sp>
      <p:pic>
        <p:nvPicPr>
          <p:cNvPr id="35" name="anim:2" descr="preencoded.png">    </p:cNvPr>
          <p:cNvPicPr>
            <a:picLocks noChangeAspect="1"/>
          </p:cNvPicPr>
          <p:nvPr/>
        </p:nvPicPr>
        <p:blipFill>
          <a:blip r:embed="rId3"/>
          <a:stretch>
            <a:fillRect/>
          </a:stretch>
        </p:blipFill>
        <p:spPr>
          <a:xfrm>
            <a:off x="908914" y="3743554"/>
            <a:ext cx="285293" cy="285293"/>
          </a:xfrm>
          <a:prstGeom prst="rect">
            <a:avLst/>
          </a:prstGeom>
        </p:spPr>
      </p:pic>
      <p:sp>
        <p:nvSpPr>
          <p:cNvPr id="36" name="anim:2"/>
          <p:cNvSpPr txBox="1"/>
          <p:nvPr/>
        </p:nvSpPr>
        <p:spPr>
          <a:xfrm>
            <a:off x="1463040" y="3657600"/>
            <a:ext cx="914400" cy="237744"/>
          </a:xfrm>
          <a:prstGeom prst="roundRect">
            <a:avLst>
              <a:gd name="adj" fmla="val 76923"/>
            </a:avLst>
          </a:prstGeom>
          <a:solidFill>
            <a:srgbClr val="E9B221"/>
          </a:solidFill>
          <a:ln w="9525">
            <a:solidFill>
              <a:srgbClr val="E9B221"/>
            </a:solidFill>
          </a:ln>
        </p:spPr>
        <p:txBody>
          <a:bodyPr wrap="square" lIns="0" tIns="76200" rIns="76200" bIns="0" rtlCol="0" anchor="ctr"/>
          <a:lstStyle/>
          <a:p>
            <a:pPr algn="ctr" indent="0" marL="0">
              <a:buNone/>
            </a:pPr>
            <a:r>
              <a:rPr lang="en-US" sz="750" b="1" spc="100" kern="0" dirty="0">
                <a:solidFill>
                  <a:srgbClr val="0A1E33"/>
                </a:solidFill>
                <a:latin typeface="Calibri" pitchFamily="34" charset="0"/>
                <a:ea typeface="Calibri" pitchFamily="34" charset="-122"/>
                <a:cs typeface="Calibri" pitchFamily="34" charset="-120"/>
              </a:rPr>
              <a:t>40 MARKS</a:t>
            </a:r>
            <a:endParaRPr lang="en-US" sz="750" dirty="0"/>
          </a:p>
        </p:txBody>
      </p:sp>
      <p:sp>
        <p:nvSpPr>
          <p:cNvPr id="37" name="anim:2"/>
          <p:cNvSpPr txBox="1"/>
          <p:nvPr/>
        </p:nvSpPr>
        <p:spPr>
          <a:xfrm>
            <a:off x="777240" y="4251960"/>
            <a:ext cx="2194560" cy="36576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Mini-project and live demo</a:t>
            </a:r>
            <a:endParaRPr lang="en-US" sz="1300" dirty="0"/>
          </a:p>
        </p:txBody>
      </p:sp>
      <p:sp>
        <p:nvSpPr>
          <p:cNvPr id="38" name="anim:2"/>
          <p:cNvSpPr txBox="1"/>
          <p:nvPr/>
        </p:nvSpPr>
        <p:spPr>
          <a:xfrm>
            <a:off x="777240" y="4617720"/>
            <a:ext cx="2194560" cy="86868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A business brief with a constraint written in. Graded on the implementation and on how well you explain it, live, on the spot.</a:t>
            </a:r>
            <a:endParaRPr lang="en-US" sz="950" dirty="0"/>
          </a:p>
        </p:txBody>
      </p:sp>
      <p:sp>
        <p:nvSpPr>
          <p:cNvPr id="39" name="anim:2 grad:card"/>
          <p:cNvSpPr/>
          <p:nvPr/>
        </p:nvSpPr>
        <p:spPr>
          <a:xfrm>
            <a:off x="3364992" y="3383280"/>
            <a:ext cx="2606040" cy="210312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0" name="anim:2"/>
          <p:cNvSpPr/>
          <p:nvPr/>
        </p:nvSpPr>
        <p:spPr>
          <a:xfrm>
            <a:off x="3593592" y="3611880"/>
            <a:ext cx="548640" cy="548640"/>
          </a:xfrm>
          <a:prstGeom prst="ellipse">
            <a:avLst/>
          </a:prstGeom>
          <a:solidFill>
            <a:srgbClr val="E3F2FA"/>
          </a:solidFill>
          <a:ln w="9525">
            <a:solidFill>
              <a:srgbClr val="E3F2FA"/>
            </a:solidFill>
            <a:prstDash val="solid"/>
          </a:ln>
        </p:spPr>
        <p:txBody>
          <a:bodyPr/>
          <a:p/>
        </p:txBody>
      </p:sp>
      <p:pic>
        <p:nvPicPr>
          <p:cNvPr id="41" name="anim:2" descr="preencoded.png">    </p:cNvPr>
          <p:cNvPicPr>
            <a:picLocks noChangeAspect="1"/>
          </p:cNvPicPr>
          <p:nvPr/>
        </p:nvPicPr>
        <p:blipFill>
          <a:blip r:embed="rId4"/>
          <a:stretch>
            <a:fillRect/>
          </a:stretch>
        </p:blipFill>
        <p:spPr>
          <a:xfrm>
            <a:off x="3725266" y="3743554"/>
            <a:ext cx="285293" cy="285293"/>
          </a:xfrm>
          <a:prstGeom prst="rect">
            <a:avLst/>
          </a:prstGeom>
        </p:spPr>
      </p:pic>
      <p:sp>
        <p:nvSpPr>
          <p:cNvPr id="42" name="anim:2"/>
          <p:cNvSpPr txBox="1"/>
          <p:nvPr/>
        </p:nvSpPr>
        <p:spPr>
          <a:xfrm>
            <a:off x="4279392" y="3657600"/>
            <a:ext cx="914400" cy="237744"/>
          </a:xfrm>
          <a:prstGeom prst="roundRect">
            <a:avLst>
              <a:gd name="adj" fmla="val 76923"/>
            </a:avLst>
          </a:prstGeom>
          <a:solidFill>
            <a:srgbClr val="E9B221"/>
          </a:solidFill>
          <a:ln w="9525">
            <a:solidFill>
              <a:srgbClr val="E9B221"/>
            </a:solidFill>
          </a:ln>
        </p:spPr>
        <p:txBody>
          <a:bodyPr wrap="square" lIns="0" tIns="76200" rIns="76200" bIns="0" rtlCol="0" anchor="ctr"/>
          <a:lstStyle/>
          <a:p>
            <a:pPr algn="ctr" indent="0" marL="0">
              <a:buNone/>
            </a:pPr>
            <a:r>
              <a:rPr lang="en-US" sz="750" b="1" spc="100" kern="0" dirty="0">
                <a:solidFill>
                  <a:srgbClr val="0A1E33"/>
                </a:solidFill>
                <a:latin typeface="Calibri" pitchFamily="34" charset="0"/>
                <a:ea typeface="Calibri" pitchFamily="34" charset="-122"/>
                <a:cs typeface="Calibri" pitchFamily="34" charset="-120"/>
              </a:rPr>
              <a:t>30 MARKS</a:t>
            </a:r>
            <a:endParaRPr lang="en-US" sz="750" dirty="0"/>
          </a:p>
        </p:txBody>
      </p:sp>
      <p:sp>
        <p:nvSpPr>
          <p:cNvPr id="43" name="anim:2"/>
          <p:cNvSpPr txBox="1"/>
          <p:nvPr/>
        </p:nvSpPr>
        <p:spPr>
          <a:xfrm>
            <a:off x="3593592" y="4251960"/>
            <a:ext cx="2194560" cy="36576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Mock interview</a:t>
            </a:r>
            <a:endParaRPr lang="en-US" sz="1300" dirty="0"/>
          </a:p>
        </p:txBody>
      </p:sp>
      <p:sp>
        <p:nvSpPr>
          <p:cNvPr id="44" name="anim:2"/>
          <p:cNvSpPr txBox="1"/>
          <p:nvPr/>
        </p:nvSpPr>
        <p:spPr>
          <a:xfrm>
            <a:off x="3593592" y="4617720"/>
            <a:ext cx="2194560" cy="86868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Half technical on the cycle's topics, half a viva on your own project. HR and behavioural questions join from Round 3.</a:t>
            </a:r>
            <a:endParaRPr lang="en-US" sz="950" dirty="0"/>
          </a:p>
        </p:txBody>
      </p:sp>
      <p:sp>
        <p:nvSpPr>
          <p:cNvPr id="45" name="anim:2 grad:card"/>
          <p:cNvSpPr/>
          <p:nvPr/>
        </p:nvSpPr>
        <p:spPr>
          <a:xfrm>
            <a:off x="6181344" y="3383280"/>
            <a:ext cx="2606040" cy="210312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6" name="anim:2"/>
          <p:cNvSpPr/>
          <p:nvPr/>
        </p:nvSpPr>
        <p:spPr>
          <a:xfrm>
            <a:off x="6409944" y="3611880"/>
            <a:ext cx="548640" cy="548640"/>
          </a:xfrm>
          <a:prstGeom prst="ellipse">
            <a:avLst/>
          </a:prstGeom>
          <a:solidFill>
            <a:srgbClr val="E3F2FA"/>
          </a:solidFill>
          <a:ln w="9525">
            <a:solidFill>
              <a:srgbClr val="E3F2FA"/>
            </a:solidFill>
            <a:prstDash val="solid"/>
          </a:ln>
        </p:spPr>
        <p:txBody>
          <a:bodyPr/>
          <a:p/>
        </p:txBody>
      </p:sp>
      <p:pic>
        <p:nvPicPr>
          <p:cNvPr id="47" name="anim:2" descr="preencoded.png">    </p:cNvPr>
          <p:cNvPicPr>
            <a:picLocks noChangeAspect="1"/>
          </p:cNvPicPr>
          <p:nvPr/>
        </p:nvPicPr>
        <p:blipFill>
          <a:blip r:embed="rId5"/>
          <a:stretch>
            <a:fillRect/>
          </a:stretch>
        </p:blipFill>
        <p:spPr>
          <a:xfrm>
            <a:off x="6541618" y="3743554"/>
            <a:ext cx="285293" cy="285293"/>
          </a:xfrm>
          <a:prstGeom prst="rect">
            <a:avLst/>
          </a:prstGeom>
        </p:spPr>
      </p:pic>
      <p:sp>
        <p:nvSpPr>
          <p:cNvPr id="48" name="anim:2"/>
          <p:cNvSpPr txBox="1"/>
          <p:nvPr/>
        </p:nvSpPr>
        <p:spPr>
          <a:xfrm>
            <a:off x="7095744" y="3657600"/>
            <a:ext cx="914400" cy="237744"/>
          </a:xfrm>
          <a:prstGeom prst="roundRect">
            <a:avLst>
              <a:gd name="adj" fmla="val 76923"/>
            </a:avLst>
          </a:prstGeom>
          <a:solidFill>
            <a:srgbClr val="E9B221"/>
          </a:solidFill>
          <a:ln w="9525">
            <a:solidFill>
              <a:srgbClr val="E9B221"/>
            </a:solidFill>
          </a:ln>
        </p:spPr>
        <p:txBody>
          <a:bodyPr wrap="square" lIns="0" tIns="76200" rIns="76200" bIns="0" rtlCol="0" anchor="ctr"/>
          <a:lstStyle/>
          <a:p>
            <a:pPr algn="ctr" indent="0" marL="0">
              <a:buNone/>
            </a:pPr>
            <a:r>
              <a:rPr lang="en-US" sz="750" b="1" spc="100" kern="0" dirty="0">
                <a:solidFill>
                  <a:srgbClr val="0A1E33"/>
                </a:solidFill>
                <a:latin typeface="Calibri" pitchFamily="34" charset="0"/>
                <a:ea typeface="Calibri" pitchFamily="34" charset="-122"/>
                <a:cs typeface="Calibri" pitchFamily="34" charset="-120"/>
              </a:rPr>
              <a:t>30 MARKS</a:t>
            </a:r>
            <a:endParaRPr lang="en-US" sz="750" dirty="0"/>
          </a:p>
        </p:txBody>
      </p:sp>
      <p:sp>
        <p:nvSpPr>
          <p:cNvPr id="49" name="anim:2"/>
          <p:cNvSpPr txBox="1"/>
          <p:nvPr/>
        </p:nvSpPr>
        <p:spPr>
          <a:xfrm>
            <a:off x="6409944" y="4251960"/>
            <a:ext cx="2194560" cy="36576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Business group discussion</a:t>
            </a:r>
            <a:endParaRPr lang="en-US" sz="1300" dirty="0"/>
          </a:p>
        </p:txBody>
      </p:sp>
      <p:sp>
        <p:nvSpPr>
          <p:cNvPr id="50" name="anim:2"/>
          <p:cNvSpPr txBox="1"/>
          <p:nvPr/>
        </p:nvSpPr>
        <p:spPr>
          <a:xfrm>
            <a:off x="6409944" y="4617720"/>
            <a:ext cx="2194560" cy="86868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Impromptu, about thirty minutes per group, on the business problem you built for. Graded on reasoning, not volume.</a:t>
            </a:r>
            <a:endParaRPr lang="en-US" sz="950" dirty="0"/>
          </a:p>
        </p:txBody>
      </p:sp>
      <p:sp>
        <p:nvSpPr>
          <p:cNvPr id="51" name="anim:2 grad:card"/>
          <p:cNvSpPr/>
          <p:nvPr/>
        </p:nvSpPr>
        <p:spPr>
          <a:xfrm>
            <a:off x="8997696" y="3383280"/>
            <a:ext cx="2606040" cy="210312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52" name="anim:2"/>
          <p:cNvSpPr/>
          <p:nvPr/>
        </p:nvSpPr>
        <p:spPr>
          <a:xfrm>
            <a:off x="9226296" y="3611880"/>
            <a:ext cx="548640" cy="548640"/>
          </a:xfrm>
          <a:prstGeom prst="ellipse">
            <a:avLst/>
          </a:prstGeom>
          <a:solidFill>
            <a:srgbClr val="E3F2FA"/>
          </a:solidFill>
          <a:ln w="9525">
            <a:solidFill>
              <a:srgbClr val="E3F2FA"/>
            </a:solidFill>
            <a:prstDash val="solid"/>
          </a:ln>
        </p:spPr>
        <p:txBody>
          <a:bodyPr/>
          <a:p/>
        </p:txBody>
      </p:sp>
      <p:pic>
        <p:nvPicPr>
          <p:cNvPr id="53" name="anim:2" descr="preencoded.png">    </p:cNvPr>
          <p:cNvPicPr>
            <a:picLocks noChangeAspect="1"/>
          </p:cNvPicPr>
          <p:nvPr/>
        </p:nvPicPr>
        <p:blipFill>
          <a:blip r:embed="rId6"/>
          <a:stretch>
            <a:fillRect/>
          </a:stretch>
        </p:blipFill>
        <p:spPr>
          <a:xfrm>
            <a:off x="9357970" y="3743554"/>
            <a:ext cx="285293" cy="285293"/>
          </a:xfrm>
          <a:prstGeom prst="rect">
            <a:avLst/>
          </a:prstGeom>
        </p:spPr>
      </p:pic>
      <p:sp>
        <p:nvSpPr>
          <p:cNvPr id="54" name="anim:2"/>
          <p:cNvSpPr txBox="1"/>
          <p:nvPr/>
        </p:nvSpPr>
        <p:spPr>
          <a:xfrm>
            <a:off x="9912096" y="3657600"/>
            <a:ext cx="1508760" cy="237744"/>
          </a:xfrm>
          <a:prstGeom prst="roundRect">
            <a:avLst>
              <a:gd name="adj" fmla="val 76923"/>
            </a:avLst>
          </a:prstGeom>
          <a:solidFill>
            <a:srgbClr val="E9B221"/>
          </a:solidFill>
          <a:ln w="9525">
            <a:solidFill>
              <a:srgbClr val="E9B221"/>
            </a:solidFill>
          </a:ln>
        </p:spPr>
        <p:txBody>
          <a:bodyPr wrap="square" lIns="0" tIns="76200" rIns="76200" bIns="0" rtlCol="0" anchor="ctr"/>
          <a:lstStyle/>
          <a:p>
            <a:pPr algn="ctr" indent="0" marL="0">
              <a:buNone/>
            </a:pPr>
            <a:r>
              <a:rPr lang="en-US" sz="750" b="1" spc="100" kern="0" dirty="0">
                <a:solidFill>
                  <a:srgbClr val="0A1E33"/>
                </a:solidFill>
                <a:latin typeface="Calibri" pitchFamily="34" charset="0"/>
                <a:ea typeface="Calibri" pitchFamily="34" charset="-122"/>
                <a:cs typeface="Calibri" pitchFamily="34" charset="-120"/>
              </a:rPr>
              <a:t>IN THE PROJECT SCORE</a:t>
            </a:r>
            <a:endParaRPr lang="en-US" sz="750" dirty="0"/>
          </a:p>
        </p:txBody>
      </p:sp>
      <p:sp>
        <p:nvSpPr>
          <p:cNvPr id="55" name="anim:2"/>
          <p:cNvSpPr txBox="1"/>
          <p:nvPr/>
        </p:nvSpPr>
        <p:spPr>
          <a:xfrm>
            <a:off x="9226296" y="4251960"/>
            <a:ext cx="2194560" cy="36576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Presentation</a:t>
            </a:r>
            <a:endParaRPr lang="en-US" sz="1300" dirty="0"/>
          </a:p>
        </p:txBody>
      </p:sp>
      <p:sp>
        <p:nvSpPr>
          <p:cNvPr id="56" name="anim:2"/>
          <p:cNvSpPr txBox="1"/>
          <p:nvPr/>
        </p:nvSpPr>
        <p:spPr>
          <a:xfrm>
            <a:off x="9226296" y="4617720"/>
            <a:ext cx="2194560" cy="86868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Offline, before the panel, in FDE mode: frame the problem, shortlist options, state the trade-off, recommend with numbers.</a:t>
            </a:r>
            <a:endParaRPr lang="en-US" sz="950" dirty="0"/>
          </a:p>
        </p:txBody>
      </p:sp>
      <p:sp>
        <p:nvSpPr>
          <p:cNvPr id="57" name="anim:3 grad:navy"/>
          <p:cNvSpPr/>
          <p:nvPr/>
        </p:nvSpPr>
        <p:spPr>
          <a:xfrm>
            <a:off x="548640" y="5760720"/>
            <a:ext cx="1600200" cy="457200"/>
          </a:xfrm>
          <a:prstGeom prst="roundRect">
            <a:avLst>
              <a:gd name="adj" fmla="val 20000"/>
            </a:avLst>
          </a:prstGeom>
          <a:gradFill rotWithShape="1">
            <a:gsLst>
              <a:gs pos="0">
                <a:srgbClr val="1B4170"/>
              </a:gs>
              <a:gs pos="100000">
                <a:srgbClr val="0A1E33"/>
              </a:gs>
            </a:gsLst>
            <a:lin ang="5400000" scaled="0"/>
          </a:gradFill>
          <a:ln w="12700">
            <a:solidFill>
              <a:srgbClr val="0A1E33"/>
            </a:solidFill>
            <a:prstDash val="solid"/>
          </a:ln>
        </p:spPr>
        <p:txBody>
          <a:bodyPr/>
          <a:p/>
        </p:txBody>
      </p:sp>
      <p:pic>
        <p:nvPicPr>
          <p:cNvPr id="58" name="anim:3" descr="preencoded.png">    </p:cNvPr>
          <p:cNvPicPr>
            <a:picLocks noChangeAspect="1"/>
          </p:cNvPicPr>
          <p:nvPr/>
        </p:nvPicPr>
        <p:blipFill>
          <a:blip r:embed="rId7"/>
          <a:stretch>
            <a:fillRect/>
          </a:stretch>
        </p:blipFill>
        <p:spPr>
          <a:xfrm>
            <a:off x="685800" y="5870448"/>
            <a:ext cx="237744" cy="237744"/>
          </a:xfrm>
          <a:prstGeom prst="rect">
            <a:avLst/>
          </a:prstGeom>
        </p:spPr>
      </p:pic>
      <p:sp>
        <p:nvSpPr>
          <p:cNvPr id="59" name="anim:3"/>
          <p:cNvSpPr txBox="1"/>
          <p:nvPr/>
        </p:nvSpPr>
        <p:spPr>
          <a:xfrm>
            <a:off x="1005840" y="5760720"/>
            <a:ext cx="1051560" cy="45720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Groups of four</a:t>
            </a:r>
            <a:endParaRPr lang="en-US" sz="950" dirty="0"/>
          </a:p>
        </p:txBody>
      </p:sp>
      <p:sp>
        <p:nvSpPr>
          <p:cNvPr id="60" name="anim:3 grad:navy"/>
          <p:cNvSpPr/>
          <p:nvPr/>
        </p:nvSpPr>
        <p:spPr>
          <a:xfrm>
            <a:off x="2267712" y="5760720"/>
            <a:ext cx="3291840" cy="457200"/>
          </a:xfrm>
          <a:prstGeom prst="roundRect">
            <a:avLst>
              <a:gd name="adj" fmla="val 20000"/>
            </a:avLst>
          </a:prstGeom>
          <a:gradFill rotWithShape="1">
            <a:gsLst>
              <a:gs pos="0">
                <a:srgbClr val="1B4170"/>
              </a:gs>
              <a:gs pos="100000">
                <a:srgbClr val="0A1E33"/>
              </a:gs>
            </a:gsLst>
            <a:lin ang="5400000" scaled="0"/>
          </a:gradFill>
          <a:ln w="12700">
            <a:solidFill>
              <a:srgbClr val="0A1E33"/>
            </a:solidFill>
            <a:prstDash val="solid"/>
          </a:ln>
        </p:spPr>
        <p:txBody>
          <a:bodyPr/>
          <a:p/>
        </p:txBody>
      </p:sp>
      <p:pic>
        <p:nvPicPr>
          <p:cNvPr id="61" name="anim:3" descr="preencoded.png">    </p:cNvPr>
          <p:cNvPicPr>
            <a:picLocks noChangeAspect="1"/>
          </p:cNvPicPr>
          <p:nvPr/>
        </p:nvPicPr>
        <p:blipFill>
          <a:blip r:embed="rId8"/>
          <a:stretch>
            <a:fillRect/>
          </a:stretch>
        </p:blipFill>
        <p:spPr>
          <a:xfrm>
            <a:off x="2404872" y="5870448"/>
            <a:ext cx="237744" cy="237744"/>
          </a:xfrm>
          <a:prstGeom prst="rect">
            <a:avLst/>
          </a:prstGeom>
        </p:spPr>
      </p:pic>
      <p:sp>
        <p:nvSpPr>
          <p:cNvPr id="62" name="anim:3"/>
          <p:cNvSpPr txBox="1"/>
          <p:nvPr/>
        </p:nvSpPr>
        <p:spPr>
          <a:xfrm>
            <a:off x="2724912" y="5760720"/>
            <a:ext cx="2743200" cy="45720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Grades close within the week on a fixed rubric</a:t>
            </a:r>
            <a:endParaRPr lang="en-US" sz="950" dirty="0"/>
          </a:p>
        </p:txBody>
      </p:sp>
      <p:sp>
        <p:nvSpPr>
          <p:cNvPr id="63" name="anim:3 grad:navy"/>
          <p:cNvSpPr/>
          <p:nvPr/>
        </p:nvSpPr>
        <p:spPr>
          <a:xfrm>
            <a:off x="5678424" y="5760720"/>
            <a:ext cx="2880360" cy="457200"/>
          </a:xfrm>
          <a:prstGeom prst="roundRect">
            <a:avLst>
              <a:gd name="adj" fmla="val 20000"/>
            </a:avLst>
          </a:prstGeom>
          <a:gradFill rotWithShape="1">
            <a:gsLst>
              <a:gs pos="0">
                <a:srgbClr val="1B4170"/>
              </a:gs>
              <a:gs pos="100000">
                <a:srgbClr val="0A1E33"/>
              </a:gs>
            </a:gsLst>
            <a:lin ang="5400000" scaled="0"/>
          </a:gradFill>
          <a:ln w="12700">
            <a:solidFill>
              <a:srgbClr val="0A1E33"/>
            </a:solidFill>
            <a:prstDash val="solid"/>
          </a:ln>
        </p:spPr>
        <p:txBody>
          <a:bodyPr/>
          <a:p/>
        </p:txBody>
      </p:sp>
      <p:pic>
        <p:nvPicPr>
          <p:cNvPr id="64" name="anim:3" descr="preencoded.png">    </p:cNvPr>
          <p:cNvPicPr>
            <a:picLocks noChangeAspect="1"/>
          </p:cNvPicPr>
          <p:nvPr/>
        </p:nvPicPr>
        <p:blipFill>
          <a:blip r:embed="rId9"/>
          <a:stretch>
            <a:fillRect/>
          </a:stretch>
        </p:blipFill>
        <p:spPr>
          <a:xfrm>
            <a:off x="5815584" y="5870448"/>
            <a:ext cx="237744" cy="237744"/>
          </a:xfrm>
          <a:prstGeom prst="rect">
            <a:avLst/>
          </a:prstGeom>
        </p:spPr>
      </p:pic>
      <p:sp>
        <p:nvSpPr>
          <p:cNvPr id="65" name="anim:3"/>
          <p:cNvSpPr txBox="1"/>
          <p:nvPr/>
        </p:nvSpPr>
        <p:spPr>
          <a:xfrm>
            <a:off x="6135624" y="5760720"/>
            <a:ext cx="2331720" cy="45720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Industry expert on Friday and Saturday</a:t>
            </a:r>
            <a:endParaRPr lang="en-US" sz="950" dirty="0"/>
          </a:p>
        </p:txBody>
      </p:sp>
      <p:sp>
        <p:nvSpPr>
          <p:cNvPr id="66" name="anim:3 grad:navy"/>
          <p:cNvSpPr/>
          <p:nvPr/>
        </p:nvSpPr>
        <p:spPr>
          <a:xfrm>
            <a:off x="8677656" y="5760720"/>
            <a:ext cx="2788920" cy="457200"/>
          </a:xfrm>
          <a:prstGeom prst="roundRect">
            <a:avLst>
              <a:gd name="adj" fmla="val 20000"/>
            </a:avLst>
          </a:prstGeom>
          <a:gradFill rotWithShape="1">
            <a:gsLst>
              <a:gs pos="0">
                <a:srgbClr val="1B4170"/>
              </a:gs>
              <a:gs pos="100000">
                <a:srgbClr val="0A1E33"/>
              </a:gs>
            </a:gsLst>
            <a:lin ang="5400000" scaled="0"/>
          </a:gradFill>
          <a:ln w="12700">
            <a:solidFill>
              <a:srgbClr val="0A1E33"/>
            </a:solidFill>
            <a:prstDash val="solid"/>
          </a:ln>
        </p:spPr>
        <p:txBody>
          <a:bodyPr/>
          <a:p/>
        </p:txBody>
      </p:sp>
      <p:pic>
        <p:nvPicPr>
          <p:cNvPr id="67" name="anim:3" descr="preencoded.png">    </p:cNvPr>
          <p:cNvPicPr>
            <a:picLocks noChangeAspect="1"/>
          </p:cNvPicPr>
          <p:nvPr/>
        </p:nvPicPr>
        <p:blipFill>
          <a:blip r:embed="rId10"/>
          <a:stretch>
            <a:fillRect/>
          </a:stretch>
        </p:blipFill>
        <p:spPr>
          <a:xfrm>
            <a:off x="8814816" y="5870448"/>
            <a:ext cx="237744" cy="237744"/>
          </a:xfrm>
          <a:prstGeom prst="rect">
            <a:avLst/>
          </a:prstGeom>
        </p:spPr>
      </p:pic>
      <p:sp>
        <p:nvSpPr>
          <p:cNvPr id="68" name="anim:3"/>
          <p:cNvSpPr txBox="1"/>
          <p:nvPr/>
        </p:nvSpPr>
        <p:spPr>
          <a:xfrm>
            <a:off x="9134856" y="5760720"/>
            <a:ext cx="2240280" cy="45720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Senior industry leader on Saturday</a:t>
            </a:r>
            <a:endParaRPr lang="en-US" sz="9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childTnLst>
                          </p:cTn>
                        </p:par>
                      </p:childTnLst>
                    </p:cTn>
                  </p:par>
                  <p:par>
                    <p:cTn id="113" fill="hold">
                      <p:stCondLst>
                        <p:cond delay="indefinite"/>
                      </p:stCondLst>
                      <p:childTnLst>
                        <p:par>
                          <p:cTn id="114"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9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18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27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45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54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63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72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81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90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90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90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par>
                                <p:cTn id="92" presetID="10" presetClass="entr" presetSubtype="0" fill="hold" grpId="0" nodeType="withEffect">
                                  <p:stCondLst>
                                    <p:cond delay="90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400"/>
                                        <p:tgtEl>
                                          <p:spTgt spid="50"/>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00"/>
                                        <p:tgtEl>
                                          <p:spTgt spid="51"/>
                                        </p:tgtEl>
                                      </p:cBhvr>
                                    </p:animEffect>
                                  </p:childTnLst>
                                </p:cTn>
                              </p:par>
                              <p:par>
                                <p:cTn id="98" presetID="10" presetClass="entr" presetSubtype="0" fill="hold" grpId="0" nodeType="withEffect">
                                  <p:stCondLst>
                                    <p:cond delay="90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400"/>
                                        <p:tgtEl>
                                          <p:spTgt spid="52"/>
                                        </p:tgtEl>
                                      </p:cBhvr>
                                    </p:animEffect>
                                  </p:childTnLst>
                                </p:cTn>
                              </p:par>
                              <p:par>
                                <p:cTn id="101" presetID="10" presetClass="entr" presetSubtype="0" fill="hold" grpId="0" nodeType="withEffect">
                                  <p:stCondLst>
                                    <p:cond delay="90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400"/>
                                        <p:tgtEl>
                                          <p:spTgt spid="53"/>
                                        </p:tgtEl>
                                      </p:cBhvr>
                                    </p:animEffect>
                                  </p:childTnLst>
                                </p:cTn>
                              </p:par>
                              <p:par>
                                <p:cTn id="104" presetID="10" presetClass="entr" presetSubtype="0" fill="hold" grpId="0" nodeType="withEffect">
                                  <p:stCondLst>
                                    <p:cond delay="900"/>
                                  </p:stCondLst>
                                  <p:childTnLst>
                                    <p:set>
                                      <p:cBhvr>
                                        <p:cTn id="105" dur="1" fill="hold">
                                          <p:stCondLst>
                                            <p:cond delay="0"/>
                                          </p:stCondLst>
                                        </p:cTn>
                                        <p:tgtEl>
                                          <p:spTgt spid="54"/>
                                        </p:tgtEl>
                                        <p:attrNameLst>
                                          <p:attrName>style.visibility</p:attrName>
                                        </p:attrNameLst>
                                      </p:cBhvr>
                                      <p:to>
                                        <p:strVal val="visible"/>
                                      </p:to>
                                    </p:set>
                                    <p:animEffect transition="in" filter="fade">
                                      <p:cBhvr>
                                        <p:cTn id="106" dur="400"/>
                                        <p:tgtEl>
                                          <p:spTgt spid="54"/>
                                        </p:tgtEl>
                                      </p:cBhvr>
                                    </p:animEffect>
                                  </p:childTnLst>
                                </p:cTn>
                              </p:par>
                              <p:par>
                                <p:cTn id="107" presetID="10" presetClass="entr" presetSubtype="0" fill="hold" grpId="0" nodeType="withEffect">
                                  <p:stCondLst>
                                    <p:cond delay="90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400"/>
                                        <p:tgtEl>
                                          <p:spTgt spid="55"/>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56"/>
                                        </p:tgtEl>
                                        <p:attrNameLst>
                                          <p:attrName>style.visibility</p:attrName>
                                        </p:attrNameLst>
                                      </p:cBhvr>
                                      <p:to>
                                        <p:strVal val="visible"/>
                                      </p:to>
                                    </p:set>
                                    <p:animEffect transition="in" filter="fade">
                                      <p:cBhvr>
                                        <p:cTn id="112" dur="400"/>
                                        <p:tgtEl>
                                          <p:spTgt spid="56"/>
                                        </p:tgtEl>
                                      </p:cBhvr>
                                    </p:animEffect>
                                  </p:childTnLst>
                                </p:cTn>
                              </p:par>
                            </p:childTnLst>
                          </p:cTn>
                        </p:par>
                      </p:childTnLst>
                    </p:cTn>
                  </p:par>
                  <p:par>
                    <p:cTn id="151" fill="hold">
                      <p:stCondLst>
                        <p:cond delay="indefinite"/>
                      </p:stCondLst>
                      <p:childTnLst>
                        <p:par>
                          <p:cTn id="152"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57"/>
                                        </p:tgtEl>
                                        <p:attrNameLst>
                                          <p:attrName>style.visibility</p:attrName>
                                        </p:attrNameLst>
                                      </p:cBhvr>
                                      <p:to>
                                        <p:strVal val="visible"/>
                                      </p:to>
                                    </p:set>
                                    <p:animEffect transition="in" filter="fade">
                                      <p:cBhvr>
                                        <p:cTn id="117" dur="400"/>
                                        <p:tgtEl>
                                          <p:spTgt spid="57"/>
                                        </p:tgtEl>
                                      </p:cBhvr>
                                    </p:animEffect>
                                  </p:childTnLst>
                                </p:cTn>
                              </p:par>
                              <p:par>
                                <p:cTn id="118" presetID="10" presetClass="entr" presetSubtype="0" fill="hold" grpId="0" nodeType="withEffect">
                                  <p:stCondLst>
                                    <p:cond delay="90"/>
                                  </p:stCondLst>
                                  <p:childTnLst>
                                    <p:set>
                                      <p:cBhvr>
                                        <p:cTn id="119" dur="1" fill="hold">
                                          <p:stCondLst>
                                            <p:cond delay="0"/>
                                          </p:stCondLst>
                                        </p:cTn>
                                        <p:tgtEl>
                                          <p:spTgt spid="58"/>
                                        </p:tgtEl>
                                        <p:attrNameLst>
                                          <p:attrName>style.visibility</p:attrName>
                                        </p:attrNameLst>
                                      </p:cBhvr>
                                      <p:to>
                                        <p:strVal val="visible"/>
                                      </p:to>
                                    </p:set>
                                    <p:animEffect transition="in" filter="fade">
                                      <p:cBhvr>
                                        <p:cTn id="120" dur="400"/>
                                        <p:tgtEl>
                                          <p:spTgt spid="58"/>
                                        </p:tgtEl>
                                      </p:cBhvr>
                                    </p:animEffect>
                                  </p:childTnLst>
                                </p:cTn>
                              </p:par>
                              <p:par>
                                <p:cTn id="121" presetID="10" presetClass="entr" presetSubtype="0" fill="hold" grpId="0" nodeType="withEffect">
                                  <p:stCondLst>
                                    <p:cond delay="180"/>
                                  </p:stCondLst>
                                  <p:childTnLst>
                                    <p:set>
                                      <p:cBhvr>
                                        <p:cTn id="122" dur="1" fill="hold">
                                          <p:stCondLst>
                                            <p:cond delay="0"/>
                                          </p:stCondLst>
                                        </p:cTn>
                                        <p:tgtEl>
                                          <p:spTgt spid="59"/>
                                        </p:tgtEl>
                                        <p:attrNameLst>
                                          <p:attrName>style.visibility</p:attrName>
                                        </p:attrNameLst>
                                      </p:cBhvr>
                                      <p:to>
                                        <p:strVal val="visible"/>
                                      </p:to>
                                    </p:set>
                                    <p:animEffect transition="in" filter="fade">
                                      <p:cBhvr>
                                        <p:cTn id="123" dur="400"/>
                                        <p:tgtEl>
                                          <p:spTgt spid="59"/>
                                        </p:tgtEl>
                                      </p:cBhvr>
                                    </p:animEffect>
                                  </p:childTnLst>
                                </p:cTn>
                              </p:par>
                              <p:par>
                                <p:cTn id="124" presetID="10" presetClass="entr" presetSubtype="0" fill="hold" grpId="0" nodeType="withEffect">
                                  <p:stCondLst>
                                    <p:cond delay="270"/>
                                  </p:stCondLst>
                                  <p:childTnLst>
                                    <p:set>
                                      <p:cBhvr>
                                        <p:cTn id="125" dur="1" fill="hold">
                                          <p:stCondLst>
                                            <p:cond delay="0"/>
                                          </p:stCondLst>
                                        </p:cTn>
                                        <p:tgtEl>
                                          <p:spTgt spid="60"/>
                                        </p:tgtEl>
                                        <p:attrNameLst>
                                          <p:attrName>style.visibility</p:attrName>
                                        </p:attrNameLst>
                                      </p:cBhvr>
                                      <p:to>
                                        <p:strVal val="visible"/>
                                      </p:to>
                                    </p:set>
                                    <p:animEffect transition="in" filter="fade">
                                      <p:cBhvr>
                                        <p:cTn id="126" dur="400"/>
                                        <p:tgtEl>
                                          <p:spTgt spid="60"/>
                                        </p:tgtEl>
                                      </p:cBhvr>
                                    </p:animEffect>
                                  </p:childTnLst>
                                </p:cTn>
                              </p:par>
                              <p:par>
                                <p:cTn id="127" presetID="10" presetClass="entr" presetSubtype="0" fill="hold" grpId="0" nodeType="withEffect">
                                  <p:stCondLst>
                                    <p:cond delay="360"/>
                                  </p:stCondLst>
                                  <p:childTnLst>
                                    <p:set>
                                      <p:cBhvr>
                                        <p:cTn id="128" dur="1" fill="hold">
                                          <p:stCondLst>
                                            <p:cond delay="0"/>
                                          </p:stCondLst>
                                        </p:cTn>
                                        <p:tgtEl>
                                          <p:spTgt spid="61"/>
                                        </p:tgtEl>
                                        <p:attrNameLst>
                                          <p:attrName>style.visibility</p:attrName>
                                        </p:attrNameLst>
                                      </p:cBhvr>
                                      <p:to>
                                        <p:strVal val="visible"/>
                                      </p:to>
                                    </p:set>
                                    <p:animEffect transition="in" filter="fade">
                                      <p:cBhvr>
                                        <p:cTn id="129" dur="400"/>
                                        <p:tgtEl>
                                          <p:spTgt spid="61"/>
                                        </p:tgtEl>
                                      </p:cBhvr>
                                    </p:animEffect>
                                  </p:childTnLst>
                                </p:cTn>
                              </p:par>
                              <p:par>
                                <p:cTn id="130" presetID="10" presetClass="entr" presetSubtype="0" fill="hold" grpId="0" nodeType="withEffect">
                                  <p:stCondLst>
                                    <p:cond delay="450"/>
                                  </p:stCondLst>
                                  <p:childTnLst>
                                    <p:set>
                                      <p:cBhvr>
                                        <p:cTn id="131" dur="1" fill="hold">
                                          <p:stCondLst>
                                            <p:cond delay="0"/>
                                          </p:stCondLst>
                                        </p:cTn>
                                        <p:tgtEl>
                                          <p:spTgt spid="62"/>
                                        </p:tgtEl>
                                        <p:attrNameLst>
                                          <p:attrName>style.visibility</p:attrName>
                                        </p:attrNameLst>
                                      </p:cBhvr>
                                      <p:to>
                                        <p:strVal val="visible"/>
                                      </p:to>
                                    </p:set>
                                    <p:animEffect transition="in" filter="fade">
                                      <p:cBhvr>
                                        <p:cTn id="132" dur="400"/>
                                        <p:tgtEl>
                                          <p:spTgt spid="62"/>
                                        </p:tgtEl>
                                      </p:cBhvr>
                                    </p:animEffect>
                                  </p:childTnLst>
                                </p:cTn>
                              </p:par>
                              <p:par>
                                <p:cTn id="133" presetID="10" presetClass="entr" presetSubtype="0" fill="hold" grpId="0" nodeType="withEffect">
                                  <p:stCondLst>
                                    <p:cond delay="540"/>
                                  </p:stCondLst>
                                  <p:childTnLst>
                                    <p:set>
                                      <p:cBhvr>
                                        <p:cTn id="134" dur="1" fill="hold">
                                          <p:stCondLst>
                                            <p:cond delay="0"/>
                                          </p:stCondLst>
                                        </p:cTn>
                                        <p:tgtEl>
                                          <p:spTgt spid="63"/>
                                        </p:tgtEl>
                                        <p:attrNameLst>
                                          <p:attrName>style.visibility</p:attrName>
                                        </p:attrNameLst>
                                      </p:cBhvr>
                                      <p:to>
                                        <p:strVal val="visible"/>
                                      </p:to>
                                    </p:set>
                                    <p:animEffect transition="in" filter="fade">
                                      <p:cBhvr>
                                        <p:cTn id="135" dur="400"/>
                                        <p:tgtEl>
                                          <p:spTgt spid="63"/>
                                        </p:tgtEl>
                                      </p:cBhvr>
                                    </p:animEffect>
                                  </p:childTnLst>
                                </p:cTn>
                              </p:par>
                              <p:par>
                                <p:cTn id="136" presetID="10" presetClass="entr" presetSubtype="0" fill="hold" grpId="0" nodeType="withEffect">
                                  <p:stCondLst>
                                    <p:cond delay="630"/>
                                  </p:stCondLst>
                                  <p:childTnLst>
                                    <p:set>
                                      <p:cBhvr>
                                        <p:cTn id="137" dur="1" fill="hold">
                                          <p:stCondLst>
                                            <p:cond delay="0"/>
                                          </p:stCondLst>
                                        </p:cTn>
                                        <p:tgtEl>
                                          <p:spTgt spid="64"/>
                                        </p:tgtEl>
                                        <p:attrNameLst>
                                          <p:attrName>style.visibility</p:attrName>
                                        </p:attrNameLst>
                                      </p:cBhvr>
                                      <p:to>
                                        <p:strVal val="visible"/>
                                      </p:to>
                                    </p:set>
                                    <p:animEffect transition="in" filter="fade">
                                      <p:cBhvr>
                                        <p:cTn id="138" dur="400"/>
                                        <p:tgtEl>
                                          <p:spTgt spid="64"/>
                                        </p:tgtEl>
                                      </p:cBhvr>
                                    </p:animEffect>
                                  </p:childTnLst>
                                </p:cTn>
                              </p:par>
                              <p:par>
                                <p:cTn id="139" presetID="10" presetClass="entr" presetSubtype="0" fill="hold" grpId="0" nodeType="withEffect">
                                  <p:stCondLst>
                                    <p:cond delay="720"/>
                                  </p:stCondLst>
                                  <p:childTnLst>
                                    <p:set>
                                      <p:cBhvr>
                                        <p:cTn id="140" dur="1" fill="hold">
                                          <p:stCondLst>
                                            <p:cond delay="0"/>
                                          </p:stCondLst>
                                        </p:cTn>
                                        <p:tgtEl>
                                          <p:spTgt spid="65"/>
                                        </p:tgtEl>
                                        <p:attrNameLst>
                                          <p:attrName>style.visibility</p:attrName>
                                        </p:attrNameLst>
                                      </p:cBhvr>
                                      <p:to>
                                        <p:strVal val="visible"/>
                                      </p:to>
                                    </p:set>
                                    <p:animEffect transition="in" filter="fade">
                                      <p:cBhvr>
                                        <p:cTn id="141" dur="400"/>
                                        <p:tgtEl>
                                          <p:spTgt spid="65"/>
                                        </p:tgtEl>
                                      </p:cBhvr>
                                    </p:animEffect>
                                  </p:childTnLst>
                                </p:cTn>
                              </p:par>
                              <p:par>
                                <p:cTn id="142" presetID="10" presetClass="entr" presetSubtype="0" fill="hold" grpId="0" nodeType="withEffect">
                                  <p:stCondLst>
                                    <p:cond delay="810"/>
                                  </p:stCondLst>
                                  <p:childTnLst>
                                    <p:set>
                                      <p:cBhvr>
                                        <p:cTn id="143" dur="1" fill="hold">
                                          <p:stCondLst>
                                            <p:cond delay="0"/>
                                          </p:stCondLst>
                                        </p:cTn>
                                        <p:tgtEl>
                                          <p:spTgt spid="66"/>
                                        </p:tgtEl>
                                        <p:attrNameLst>
                                          <p:attrName>style.visibility</p:attrName>
                                        </p:attrNameLst>
                                      </p:cBhvr>
                                      <p:to>
                                        <p:strVal val="visible"/>
                                      </p:to>
                                    </p:set>
                                    <p:animEffect transition="in" filter="fade">
                                      <p:cBhvr>
                                        <p:cTn id="144" dur="400"/>
                                        <p:tgtEl>
                                          <p:spTgt spid="66"/>
                                        </p:tgtEl>
                                      </p:cBhvr>
                                    </p:animEffect>
                                  </p:childTnLst>
                                </p:cTn>
                              </p:par>
                              <p:par>
                                <p:cTn id="145" presetID="10" presetClass="entr" presetSubtype="0" fill="hold" grpId="0" nodeType="withEffect">
                                  <p:stCondLst>
                                    <p:cond delay="900"/>
                                  </p:stCondLst>
                                  <p:childTnLst>
                                    <p:set>
                                      <p:cBhvr>
                                        <p:cTn id="146" dur="1" fill="hold">
                                          <p:stCondLst>
                                            <p:cond delay="0"/>
                                          </p:stCondLst>
                                        </p:cTn>
                                        <p:tgtEl>
                                          <p:spTgt spid="67"/>
                                        </p:tgtEl>
                                        <p:attrNameLst>
                                          <p:attrName>style.visibility</p:attrName>
                                        </p:attrNameLst>
                                      </p:cBhvr>
                                      <p:to>
                                        <p:strVal val="visible"/>
                                      </p:to>
                                    </p:set>
                                    <p:animEffect transition="in" filter="fade">
                                      <p:cBhvr>
                                        <p:cTn id="147" dur="400"/>
                                        <p:tgtEl>
                                          <p:spTgt spid="67"/>
                                        </p:tgtEl>
                                      </p:cBhvr>
                                    </p:animEffect>
                                  </p:childTnLst>
                                </p:cTn>
                              </p:par>
                              <p:par>
                                <p:cTn id="148" presetID="10" presetClass="entr" presetSubtype="0" fill="hold" grpId="0" nodeType="withEffect">
                                  <p:stCondLst>
                                    <p:cond delay="900"/>
                                  </p:stCondLst>
                                  <p:childTnLst>
                                    <p:set>
                                      <p:cBhvr>
                                        <p:cTn id="149" dur="1" fill="hold">
                                          <p:stCondLst>
                                            <p:cond delay="0"/>
                                          </p:stCondLst>
                                        </p:cTn>
                                        <p:tgtEl>
                                          <p:spTgt spid="68"/>
                                        </p:tgtEl>
                                        <p:attrNameLst>
                                          <p:attrName>style.visibility</p:attrName>
                                        </p:attrNameLst>
                                      </p:cBhvr>
                                      <p:to>
                                        <p:strVal val="visible"/>
                                      </p:to>
                                    </p:set>
                                    <p:animEffect transition="in" filter="fade">
                                      <p:cBhvr>
                                        <p:cTn id="150"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16</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007DB6"/>
          </a:solidFill>
          <a:ln w="12700">
            <a:solidFill>
              <a:srgbClr val="007DB6"/>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Your workbench: VS Code, and everything that plugs into it</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One editor window for the whole programme. Six things connect to it, and nothing else is needed.</a:t>
            </a:r>
            <a:endParaRPr lang="en-US" sz="1250" dirty="0"/>
          </a:p>
        </p:txBody>
      </p:sp>
      <p:sp>
        <p:nvSpPr>
          <p:cNvPr id="21" name="anim:1 grad:navy"/>
          <p:cNvSpPr/>
          <p:nvPr/>
        </p:nvSpPr>
        <p:spPr>
          <a:xfrm>
            <a:off x="3429000" y="1783080"/>
            <a:ext cx="5330952" cy="4480560"/>
          </a:xfrm>
          <a:prstGeom prst="roundRect">
            <a:avLst>
              <a:gd name="adj" fmla="val 2449"/>
            </a:avLst>
          </a:prstGeom>
          <a:gradFill rotWithShape="1">
            <a:gsLst>
              <a:gs pos="0">
                <a:srgbClr val="1B4170"/>
              </a:gs>
              <a:gs pos="100000">
                <a:srgbClr val="0A1E33"/>
              </a:gs>
            </a:gsLst>
            <a:lin ang="5400000" scaled="0"/>
          </a:gradFill>
          <a:ln w="12700">
            <a:solidFill>
              <a:srgbClr val="25467A"/>
            </a:solidFill>
            <a:prstDash val="solid"/>
          </a:ln>
          <a:effectLst>
            <a:outerShdw sx="100000" sy="100000" kx="0" ky="0" algn="bl" rotWithShape="0" blurRad="76200" dist="19050" dir="5400000">
              <a:srgbClr val="0A1E33">
                <a:alpha val="10000"/>
              </a:srgbClr>
            </a:outerShdw>
          </a:effectLst>
        </p:spPr>
        <p:txBody>
          <a:bodyPr/>
          <a:p/>
        </p:txBody>
      </p:sp>
      <p:sp>
        <p:nvSpPr>
          <p:cNvPr id="22" name="anim:1 grad:glass"/>
          <p:cNvSpPr/>
          <p:nvPr/>
        </p:nvSpPr>
        <p:spPr>
          <a:xfrm>
            <a:off x="3429000" y="1783080"/>
            <a:ext cx="5330952" cy="4480560"/>
          </a:xfrm>
          <a:prstGeom prst="roundRect">
            <a:avLst>
              <a:gd name="adj" fmla="val 2449"/>
            </a:avLst>
          </a:prstGeom>
          <a:gradFill rotWithShape="1">
            <a:gsLst>
              <a:gs pos="0">
                <a:srgbClr val="FFFFFF">
                  <a:alpha val="12000"/>
                </a:srgbClr>
              </a:gs>
              <a:gs pos="100000">
                <a:srgbClr val="FFFFFF">
                  <a:alpha val="2000"/>
                </a:srgbClr>
              </a:gs>
            </a:gsLst>
            <a:lin ang="5400000" scaled="0"/>
          </a:gradFill>
          <a:ln w="12700">
            <a:solidFill>
              <a:srgbClr val="FFFFFF"/>
            </a:solidFill>
            <a:prstDash val="solid"/>
          </a:ln>
        </p:spPr>
        <p:txBody>
          <a:bodyPr/>
          <a:p/>
        </p:txBody>
      </p:sp>
      <p:sp>
        <p:nvSpPr>
          <p:cNvPr id="23" name="anim:1"/>
          <p:cNvSpPr/>
          <p:nvPr/>
        </p:nvSpPr>
        <p:spPr>
          <a:xfrm>
            <a:off x="3611880" y="1929384"/>
            <a:ext cx="118872" cy="118872"/>
          </a:xfrm>
          <a:prstGeom prst="ellipse">
            <a:avLst/>
          </a:prstGeom>
          <a:solidFill>
            <a:srgbClr val="BE1E2D"/>
          </a:solidFill>
          <a:ln w="12700">
            <a:solidFill>
              <a:srgbClr val="BE1E2D"/>
            </a:solidFill>
            <a:prstDash val="solid"/>
          </a:ln>
        </p:spPr>
        <p:txBody>
          <a:bodyPr/>
          <a:p/>
        </p:txBody>
      </p:sp>
      <p:sp>
        <p:nvSpPr>
          <p:cNvPr id="24" name="anim:1"/>
          <p:cNvSpPr/>
          <p:nvPr/>
        </p:nvSpPr>
        <p:spPr>
          <a:xfrm>
            <a:off x="3813048" y="1929384"/>
            <a:ext cx="118872" cy="118872"/>
          </a:xfrm>
          <a:prstGeom prst="ellipse">
            <a:avLst/>
          </a:prstGeom>
          <a:solidFill>
            <a:srgbClr val="E9B221"/>
          </a:solidFill>
          <a:ln w="12700">
            <a:solidFill>
              <a:srgbClr val="E9B221"/>
            </a:solidFill>
            <a:prstDash val="solid"/>
          </a:ln>
        </p:spPr>
        <p:txBody>
          <a:bodyPr/>
          <a:p/>
        </p:txBody>
      </p:sp>
      <p:sp>
        <p:nvSpPr>
          <p:cNvPr id="25" name="anim:1"/>
          <p:cNvSpPr/>
          <p:nvPr/>
        </p:nvSpPr>
        <p:spPr>
          <a:xfrm>
            <a:off x="4014216" y="1929384"/>
            <a:ext cx="118872" cy="118872"/>
          </a:xfrm>
          <a:prstGeom prst="ellipse">
            <a:avLst/>
          </a:prstGeom>
          <a:solidFill>
            <a:srgbClr val="1F8A5B"/>
          </a:solidFill>
          <a:ln w="12700">
            <a:solidFill>
              <a:srgbClr val="1F8A5B"/>
            </a:solidFill>
            <a:prstDash val="solid"/>
          </a:ln>
        </p:spPr>
        <p:txBody>
          <a:bodyPr/>
          <a:p/>
        </p:txBody>
      </p:sp>
      <p:sp>
        <p:nvSpPr>
          <p:cNvPr id="26" name="anim:1"/>
          <p:cNvSpPr txBox="1"/>
          <p:nvPr/>
        </p:nvSpPr>
        <p:spPr>
          <a:xfrm>
            <a:off x="3429000" y="1874520"/>
            <a:ext cx="5330952" cy="228600"/>
          </a:xfrm>
          <a:prstGeom prst="rect">
            <a:avLst/>
          </a:prstGeom>
          <a:noFill/>
          <a:ln/>
        </p:spPr>
        <p:txBody>
          <a:bodyPr wrap="square" lIns="0" tIns="0" rIns="0" bIns="0" rtlCol="0" anchor="ctr"/>
          <a:lstStyle/>
          <a:p>
            <a:pPr algn="ctr" indent="0" marL="0">
              <a:buNone/>
            </a:pPr>
            <a:r>
              <a:rPr lang="en-US" sz="850" dirty="0">
                <a:solidFill>
                  <a:srgbClr val="C9D6E4"/>
                </a:solidFill>
                <a:latin typeface="Calibri" pitchFamily="34" charset="0"/>
                <a:ea typeface="Calibri" pitchFamily="34" charset="-122"/>
                <a:cs typeface="Calibri" pitchFamily="34" charset="-120"/>
              </a:rPr>
              <a:t>cohort-2  ·  Codespaces</a:t>
            </a:r>
            <a:endParaRPr lang="en-US" sz="850" dirty="0"/>
          </a:p>
        </p:txBody>
      </p:sp>
      <p:sp>
        <p:nvSpPr>
          <p:cNvPr id="27" name="anim:1"/>
          <p:cNvSpPr/>
          <p:nvPr/>
        </p:nvSpPr>
        <p:spPr>
          <a:xfrm>
            <a:off x="3429000" y="2185416"/>
            <a:ext cx="5330952" cy="0"/>
          </a:xfrm>
          <a:prstGeom prst="line">
            <a:avLst/>
          </a:prstGeom>
          <a:noFill/>
          <a:ln w="9525">
            <a:solidFill>
              <a:srgbClr val="25467A"/>
            </a:solidFill>
            <a:prstDash val="solid"/>
          </a:ln>
        </p:spPr>
        <p:txBody>
          <a:bodyPr/>
          <a:p/>
        </p:txBody>
      </p:sp>
      <p:sp>
        <p:nvSpPr>
          <p:cNvPr id="28" name="anim:1"/>
          <p:cNvSpPr/>
          <p:nvPr/>
        </p:nvSpPr>
        <p:spPr>
          <a:xfrm>
            <a:off x="3502152" y="2313432"/>
            <a:ext cx="365760" cy="365760"/>
          </a:xfrm>
          <a:prstGeom prst="roundRect">
            <a:avLst>
              <a:gd name="adj" fmla="val 15000"/>
            </a:avLst>
          </a:prstGeom>
          <a:solidFill>
            <a:srgbClr val="173A62"/>
          </a:solidFill>
          <a:ln w="12700">
            <a:solidFill>
              <a:srgbClr val="173A62"/>
            </a:solidFill>
            <a:prstDash val="solid"/>
          </a:ln>
        </p:spPr>
        <p:txBody>
          <a:bodyPr/>
          <a:p/>
        </p:txBody>
      </p:sp>
      <p:pic>
        <p:nvPicPr>
          <p:cNvPr id="29" name="anim:1" descr="preencoded.png">    </p:cNvPr>
          <p:cNvPicPr>
            <a:picLocks noChangeAspect="1"/>
          </p:cNvPicPr>
          <p:nvPr/>
        </p:nvPicPr>
        <p:blipFill>
          <a:blip r:embed="rId3"/>
          <a:stretch>
            <a:fillRect/>
          </a:stretch>
        </p:blipFill>
        <p:spPr>
          <a:xfrm>
            <a:off x="3557016" y="2368296"/>
            <a:ext cx="256032" cy="256032"/>
          </a:xfrm>
          <a:prstGeom prst="rect">
            <a:avLst/>
          </a:prstGeom>
        </p:spPr>
      </p:pic>
      <p:pic>
        <p:nvPicPr>
          <p:cNvPr id="30" name="anim:1" descr="preencoded.png">    </p:cNvPr>
          <p:cNvPicPr>
            <a:picLocks noChangeAspect="1"/>
          </p:cNvPicPr>
          <p:nvPr/>
        </p:nvPicPr>
        <p:blipFill>
          <a:blip r:embed="rId4"/>
          <a:stretch>
            <a:fillRect/>
          </a:stretch>
        </p:blipFill>
        <p:spPr>
          <a:xfrm>
            <a:off x="3557016" y="2825496"/>
            <a:ext cx="256032" cy="256032"/>
          </a:xfrm>
          <a:prstGeom prst="rect">
            <a:avLst/>
          </a:prstGeom>
        </p:spPr>
      </p:pic>
      <p:pic>
        <p:nvPicPr>
          <p:cNvPr id="31" name="anim:1" descr="preencoded.png">    </p:cNvPr>
          <p:cNvPicPr>
            <a:picLocks noChangeAspect="1"/>
          </p:cNvPicPr>
          <p:nvPr/>
        </p:nvPicPr>
        <p:blipFill>
          <a:blip r:embed="rId5"/>
          <a:stretch>
            <a:fillRect/>
          </a:stretch>
        </p:blipFill>
        <p:spPr>
          <a:xfrm>
            <a:off x="3557016" y="3282696"/>
            <a:ext cx="256032" cy="256032"/>
          </a:xfrm>
          <a:prstGeom prst="rect">
            <a:avLst/>
          </a:prstGeom>
        </p:spPr>
      </p:pic>
      <p:pic>
        <p:nvPicPr>
          <p:cNvPr id="32" name="anim:1" descr="preencoded.png">    </p:cNvPr>
          <p:cNvPicPr>
            <a:picLocks noChangeAspect="1"/>
          </p:cNvPicPr>
          <p:nvPr/>
        </p:nvPicPr>
        <p:blipFill>
          <a:blip r:embed="rId6"/>
          <a:stretch>
            <a:fillRect/>
          </a:stretch>
        </p:blipFill>
        <p:spPr>
          <a:xfrm>
            <a:off x="3557016" y="3739896"/>
            <a:ext cx="256032" cy="256032"/>
          </a:xfrm>
          <a:prstGeom prst="rect">
            <a:avLst/>
          </a:prstGeom>
        </p:spPr>
      </p:pic>
      <p:pic>
        <p:nvPicPr>
          <p:cNvPr id="33" name="anim:1" descr="preencoded.png">    </p:cNvPr>
          <p:cNvPicPr>
            <a:picLocks noChangeAspect="1"/>
          </p:cNvPicPr>
          <p:nvPr/>
        </p:nvPicPr>
        <p:blipFill>
          <a:blip r:embed="rId7"/>
          <a:stretch>
            <a:fillRect/>
          </a:stretch>
        </p:blipFill>
        <p:spPr>
          <a:xfrm>
            <a:off x="3557016" y="4197096"/>
            <a:ext cx="256032" cy="256032"/>
          </a:xfrm>
          <a:prstGeom prst="rect">
            <a:avLst/>
          </a:prstGeom>
        </p:spPr>
      </p:pic>
      <p:sp>
        <p:nvSpPr>
          <p:cNvPr id="34" name="anim:1"/>
          <p:cNvSpPr/>
          <p:nvPr/>
        </p:nvSpPr>
        <p:spPr>
          <a:xfrm>
            <a:off x="3941064" y="2185416"/>
            <a:ext cx="0" cy="4078224"/>
          </a:xfrm>
          <a:prstGeom prst="line">
            <a:avLst/>
          </a:prstGeom>
          <a:noFill/>
          <a:ln w="9525">
            <a:solidFill>
              <a:srgbClr val="25467A"/>
            </a:solidFill>
            <a:prstDash val="solid"/>
          </a:ln>
        </p:spPr>
        <p:txBody>
          <a:bodyPr/>
          <a:p/>
        </p:txBody>
      </p:sp>
      <p:sp>
        <p:nvSpPr>
          <p:cNvPr id="35" name="anim:1"/>
          <p:cNvSpPr txBox="1"/>
          <p:nvPr/>
        </p:nvSpPr>
        <p:spPr>
          <a:xfrm>
            <a:off x="4050792" y="2295144"/>
            <a:ext cx="1371600" cy="182880"/>
          </a:xfrm>
          <a:prstGeom prst="rect">
            <a:avLst/>
          </a:prstGeom>
          <a:noFill/>
          <a:ln/>
        </p:spPr>
        <p:txBody>
          <a:bodyPr wrap="square" lIns="0" tIns="0" rIns="0" bIns="0" rtlCol="0" anchor="t"/>
          <a:lstStyle/>
          <a:p>
            <a:pPr algn="l" indent="0" marL="0">
              <a:buNone/>
            </a:pPr>
            <a:r>
              <a:rPr lang="en-US" sz="700" b="1" spc="200" kern="0" dirty="0">
                <a:solidFill>
                  <a:srgbClr val="C9D6E4"/>
                </a:solidFill>
                <a:latin typeface="Calibri" pitchFamily="34" charset="0"/>
                <a:ea typeface="Calibri" pitchFamily="34" charset="-122"/>
                <a:cs typeface="Calibri" pitchFamily="34" charset="-120"/>
              </a:rPr>
              <a:t>EXPLORER</a:t>
            </a:r>
            <a:endParaRPr lang="en-US" sz="700" dirty="0"/>
          </a:p>
        </p:txBody>
      </p:sp>
      <p:sp>
        <p:nvSpPr>
          <p:cNvPr id="36" name="anim:1"/>
          <p:cNvSpPr txBox="1"/>
          <p:nvPr/>
        </p:nvSpPr>
        <p:spPr>
          <a:xfrm>
            <a:off x="4050792" y="2532888"/>
            <a:ext cx="1554480" cy="228600"/>
          </a:xfrm>
          <a:prstGeom prst="rect">
            <a:avLst/>
          </a:prstGeom>
          <a:noFill/>
          <a:ln/>
        </p:spPr>
        <p:txBody>
          <a:bodyPr wrap="square" lIns="0" tIns="0" rIns="0" bIns="0" rtlCol="0" anchor="t"/>
          <a:lstStyle/>
          <a:p>
            <a:pPr algn="l" indent="0" marL="0">
              <a:buNone/>
            </a:pPr>
            <a:r>
              <a:rPr lang="en-US" sz="800" b="1" dirty="0">
                <a:solidFill>
                  <a:srgbClr val="FFFFFF"/>
                </a:solidFill>
                <a:latin typeface="Courier New" pitchFamily="34" charset="0"/>
                <a:ea typeface="Courier New" pitchFamily="34" charset="-122"/>
                <a:cs typeface="Courier New" pitchFamily="34" charset="-120"/>
              </a:rPr>
              <a:t>COHORT-2</a:t>
            </a:r>
            <a:endParaRPr lang="en-US" sz="800" dirty="0"/>
          </a:p>
        </p:txBody>
      </p:sp>
      <p:sp>
        <p:nvSpPr>
          <p:cNvPr id="37" name="anim:1"/>
          <p:cNvSpPr txBox="1"/>
          <p:nvPr/>
        </p:nvSpPr>
        <p:spPr>
          <a:xfrm>
            <a:off x="4197096" y="2779776"/>
            <a:ext cx="1554480" cy="228600"/>
          </a:xfrm>
          <a:prstGeom prst="rect">
            <a:avLst/>
          </a:prstGeom>
          <a:noFill/>
          <a:ln/>
        </p:spPr>
        <p:txBody>
          <a:bodyPr wrap="square" lIns="0" tIns="0" rIns="0" bIns="0" rtlCol="0" anchor="t"/>
          <a:lstStyle/>
          <a:p>
            <a:pPr algn="l" indent="0" marL="0">
              <a:buNone/>
            </a:pPr>
            <a:r>
              <a:rPr lang="en-US" sz="800" dirty="0">
                <a:solidFill>
                  <a:srgbClr val="FFFFFF"/>
                </a:solidFill>
                <a:latin typeface="Courier New" pitchFamily="34" charset="0"/>
                <a:ea typeface="Courier New" pitchFamily="34" charset="-122"/>
                <a:cs typeface="Courier New" pitchFamily="34" charset="-120"/>
              </a:rPr>
              <a:t>▾ content</a:t>
            </a:r>
            <a:endParaRPr lang="en-US" sz="800" dirty="0"/>
          </a:p>
        </p:txBody>
      </p:sp>
      <p:sp>
        <p:nvSpPr>
          <p:cNvPr id="38" name="anim:1"/>
          <p:cNvSpPr txBox="1"/>
          <p:nvPr/>
        </p:nvSpPr>
        <p:spPr>
          <a:xfrm>
            <a:off x="4343400" y="3026664"/>
            <a:ext cx="1554480" cy="228600"/>
          </a:xfrm>
          <a:prstGeom prst="rect">
            <a:avLst/>
          </a:prstGeom>
          <a:noFill/>
          <a:ln/>
        </p:spPr>
        <p:txBody>
          <a:bodyPr wrap="square" lIns="0" tIns="0" rIns="0" bIns="0" rtlCol="0" anchor="t"/>
          <a:lstStyle/>
          <a:p>
            <a:pPr algn="l" indent="0" marL="0">
              <a:buNone/>
            </a:pPr>
            <a:r>
              <a:rPr lang="en-US" sz="800" dirty="0">
                <a:solidFill>
                  <a:srgbClr val="FFFFFF"/>
                </a:solidFill>
                <a:latin typeface="Courier New" pitchFamily="34" charset="0"/>
                <a:ea typeface="Courier New" pitchFamily="34" charset="-122"/>
                <a:cs typeface="Courier New" pitchFamily="34" charset="-120"/>
              </a:rPr>
              <a:t>▾ W01</a:t>
            </a:r>
            <a:endParaRPr lang="en-US" sz="800" dirty="0"/>
          </a:p>
        </p:txBody>
      </p:sp>
      <p:sp>
        <p:nvSpPr>
          <p:cNvPr id="39" name="anim:1"/>
          <p:cNvSpPr txBox="1"/>
          <p:nvPr/>
        </p:nvSpPr>
        <p:spPr>
          <a:xfrm>
            <a:off x="4489704" y="3273552"/>
            <a:ext cx="1554480" cy="228600"/>
          </a:xfrm>
          <a:prstGeom prst="rect">
            <a:avLst/>
          </a:prstGeom>
          <a:noFill/>
          <a:ln/>
        </p:spPr>
        <p:txBody>
          <a:bodyPr wrap="square" lIns="0" tIns="0" rIns="0" bIns="0" rtlCol="0" anchor="t"/>
          <a:lstStyle/>
          <a:p>
            <a:pPr algn="l" indent="0" marL="0">
              <a:buNone/>
            </a:pPr>
            <a:r>
              <a:rPr lang="en-US" sz="800" dirty="0">
                <a:solidFill>
                  <a:srgbClr val="E9B221"/>
                </a:solidFill>
                <a:latin typeface="Courier New" pitchFamily="34" charset="0"/>
                <a:ea typeface="Courier New" pitchFamily="34" charset="-122"/>
                <a:cs typeface="Courier New" pitchFamily="34" charset="-120"/>
              </a:rPr>
              <a:t>▾ D1</a:t>
            </a:r>
            <a:endParaRPr lang="en-US" sz="800" dirty="0"/>
          </a:p>
        </p:txBody>
      </p:sp>
      <p:sp>
        <p:nvSpPr>
          <p:cNvPr id="40" name="anim:1"/>
          <p:cNvSpPr txBox="1"/>
          <p:nvPr/>
        </p:nvSpPr>
        <p:spPr>
          <a:xfrm>
            <a:off x="4636008" y="3520440"/>
            <a:ext cx="1554480" cy="228600"/>
          </a:xfrm>
          <a:prstGeom prst="rect">
            <a:avLst/>
          </a:prstGeom>
          <a:noFill/>
          <a:ln/>
        </p:spPr>
        <p:txBody>
          <a:bodyPr wrap="square" lIns="0" tIns="0" rIns="0" bIns="0" rtlCol="0" anchor="t"/>
          <a:lstStyle/>
          <a:p>
            <a:pPr algn="l" indent="0" marL="0">
              <a:buNone/>
            </a:pPr>
            <a:r>
              <a:rPr lang="en-US" sz="800" dirty="0">
                <a:solidFill>
                  <a:srgbClr val="C9D6E4"/>
                </a:solidFill>
                <a:latin typeface="Courier New" pitchFamily="34" charset="0"/>
                <a:ea typeface="Courier New" pitchFamily="34" charset="-122"/>
                <a:cs typeface="Courier New" pitchFamily="34" charset="-120"/>
              </a:rPr>
              <a:t>▸ slides</a:t>
            </a:r>
            <a:endParaRPr lang="en-US" sz="800" dirty="0"/>
          </a:p>
        </p:txBody>
      </p:sp>
      <p:sp>
        <p:nvSpPr>
          <p:cNvPr id="41" name="anim:1"/>
          <p:cNvSpPr txBox="1"/>
          <p:nvPr/>
        </p:nvSpPr>
        <p:spPr>
          <a:xfrm>
            <a:off x="4636008" y="3767328"/>
            <a:ext cx="1554480" cy="228600"/>
          </a:xfrm>
          <a:prstGeom prst="rect">
            <a:avLst/>
          </a:prstGeom>
          <a:noFill/>
          <a:ln/>
        </p:spPr>
        <p:txBody>
          <a:bodyPr wrap="square" lIns="0" tIns="0" rIns="0" bIns="0" rtlCol="0" anchor="t"/>
          <a:lstStyle/>
          <a:p>
            <a:pPr algn="l" indent="0" marL="0">
              <a:buNone/>
            </a:pPr>
            <a:r>
              <a:rPr lang="en-US" sz="800" dirty="0">
                <a:solidFill>
                  <a:srgbClr val="C9D6E4"/>
                </a:solidFill>
                <a:latin typeface="Courier New" pitchFamily="34" charset="0"/>
                <a:ea typeface="Courier New" pitchFamily="34" charset="-122"/>
                <a:cs typeface="Courier New" pitchFamily="34" charset="-120"/>
              </a:rPr>
              <a:t>▸ notebooks</a:t>
            </a:r>
            <a:endParaRPr lang="en-US" sz="800" dirty="0"/>
          </a:p>
        </p:txBody>
      </p:sp>
      <p:sp>
        <p:nvSpPr>
          <p:cNvPr id="42" name="anim:1"/>
          <p:cNvSpPr txBox="1"/>
          <p:nvPr/>
        </p:nvSpPr>
        <p:spPr>
          <a:xfrm>
            <a:off x="4636008" y="4014216"/>
            <a:ext cx="1554480" cy="228600"/>
          </a:xfrm>
          <a:prstGeom prst="rect">
            <a:avLst/>
          </a:prstGeom>
          <a:noFill/>
          <a:ln/>
        </p:spPr>
        <p:txBody>
          <a:bodyPr wrap="square" lIns="0" tIns="0" rIns="0" bIns="0" rtlCol="0" anchor="t"/>
          <a:lstStyle/>
          <a:p>
            <a:pPr algn="l" indent="0" marL="0">
              <a:buNone/>
            </a:pPr>
            <a:r>
              <a:rPr lang="en-US" sz="800" dirty="0">
                <a:solidFill>
                  <a:srgbClr val="C9D6E4"/>
                </a:solidFill>
                <a:latin typeface="Courier New" pitchFamily="34" charset="0"/>
                <a:ea typeface="Courier New" pitchFamily="34" charset="-122"/>
                <a:cs typeface="Courier New" pitchFamily="34" charset="-120"/>
              </a:rPr>
              <a:t>▸ exercises</a:t>
            </a:r>
            <a:endParaRPr lang="en-US" sz="800" dirty="0"/>
          </a:p>
        </p:txBody>
      </p:sp>
      <p:sp>
        <p:nvSpPr>
          <p:cNvPr id="43" name="anim:1"/>
          <p:cNvSpPr txBox="1"/>
          <p:nvPr/>
        </p:nvSpPr>
        <p:spPr>
          <a:xfrm>
            <a:off x="4636008" y="4261104"/>
            <a:ext cx="1554480" cy="228600"/>
          </a:xfrm>
          <a:prstGeom prst="rect">
            <a:avLst/>
          </a:prstGeom>
          <a:noFill/>
          <a:ln/>
        </p:spPr>
        <p:txBody>
          <a:bodyPr wrap="square" lIns="0" tIns="0" rIns="0" bIns="0" rtlCol="0" anchor="t"/>
          <a:lstStyle/>
          <a:p>
            <a:pPr algn="l" indent="0" marL="0">
              <a:buNone/>
            </a:pPr>
            <a:r>
              <a:rPr lang="en-US" sz="800" dirty="0">
                <a:solidFill>
                  <a:srgbClr val="C9D6E4"/>
                </a:solidFill>
                <a:latin typeface="Courier New" pitchFamily="34" charset="0"/>
                <a:ea typeface="Courier New" pitchFamily="34" charset="-122"/>
                <a:cs typeface="Courier New" pitchFamily="34" charset="-120"/>
              </a:rPr>
              <a:t>▸ sql</a:t>
            </a:r>
            <a:endParaRPr lang="en-US" sz="800" dirty="0"/>
          </a:p>
        </p:txBody>
      </p:sp>
      <p:sp>
        <p:nvSpPr>
          <p:cNvPr id="44" name="anim:1"/>
          <p:cNvSpPr txBox="1"/>
          <p:nvPr/>
        </p:nvSpPr>
        <p:spPr>
          <a:xfrm>
            <a:off x="4489704" y="4507992"/>
            <a:ext cx="1554480" cy="228600"/>
          </a:xfrm>
          <a:prstGeom prst="rect">
            <a:avLst/>
          </a:prstGeom>
          <a:noFill/>
          <a:ln/>
        </p:spPr>
        <p:txBody>
          <a:bodyPr wrap="square" lIns="0" tIns="0" rIns="0" bIns="0" rtlCol="0" anchor="t"/>
          <a:lstStyle/>
          <a:p>
            <a:pPr algn="l" indent="0" marL="0">
              <a:buNone/>
            </a:pPr>
            <a:r>
              <a:rPr lang="en-US" sz="800" dirty="0">
                <a:solidFill>
                  <a:srgbClr val="C9D6E4"/>
                </a:solidFill>
                <a:latin typeface="Courier New" pitchFamily="34" charset="0"/>
                <a:ea typeface="Courier New" pitchFamily="34" charset="-122"/>
                <a:cs typeface="Courier New" pitchFamily="34" charset="-120"/>
              </a:rPr>
              <a:t>▸ D2</a:t>
            </a:r>
            <a:endParaRPr lang="en-US" sz="800" dirty="0"/>
          </a:p>
        </p:txBody>
      </p:sp>
      <p:sp>
        <p:nvSpPr>
          <p:cNvPr id="45" name="anim:1"/>
          <p:cNvSpPr txBox="1"/>
          <p:nvPr/>
        </p:nvSpPr>
        <p:spPr>
          <a:xfrm>
            <a:off x="4343400" y="4754880"/>
            <a:ext cx="1554480" cy="228600"/>
          </a:xfrm>
          <a:prstGeom prst="rect">
            <a:avLst/>
          </a:prstGeom>
          <a:noFill/>
          <a:ln/>
        </p:spPr>
        <p:txBody>
          <a:bodyPr wrap="square" lIns="0" tIns="0" rIns="0" bIns="0" rtlCol="0" anchor="t"/>
          <a:lstStyle/>
          <a:p>
            <a:pPr algn="l" indent="0" marL="0">
              <a:buNone/>
            </a:pPr>
            <a:r>
              <a:rPr lang="en-US" sz="800" dirty="0">
                <a:solidFill>
                  <a:srgbClr val="C9D6E4"/>
                </a:solidFill>
                <a:latin typeface="Courier New" pitchFamily="34" charset="0"/>
                <a:ea typeface="Courier New" pitchFamily="34" charset="-122"/>
                <a:cs typeface="Courier New" pitchFamily="34" charset="-120"/>
              </a:rPr>
              <a:t>▸ W02</a:t>
            </a:r>
            <a:endParaRPr lang="en-US" sz="800" dirty="0"/>
          </a:p>
        </p:txBody>
      </p:sp>
      <p:sp>
        <p:nvSpPr>
          <p:cNvPr id="46" name="anim:1"/>
          <p:cNvSpPr txBox="1"/>
          <p:nvPr/>
        </p:nvSpPr>
        <p:spPr>
          <a:xfrm>
            <a:off x="4197096" y="5001768"/>
            <a:ext cx="1554480" cy="228600"/>
          </a:xfrm>
          <a:prstGeom prst="rect">
            <a:avLst/>
          </a:prstGeom>
          <a:noFill/>
          <a:ln/>
        </p:spPr>
        <p:txBody>
          <a:bodyPr wrap="square" lIns="0" tIns="0" rIns="0" bIns="0" rtlCol="0" anchor="t"/>
          <a:lstStyle/>
          <a:p>
            <a:pPr algn="l" indent="0" marL="0">
              <a:buNone/>
            </a:pPr>
            <a:r>
              <a:rPr lang="en-US" sz="800" dirty="0">
                <a:solidFill>
                  <a:srgbClr val="C9D6E4"/>
                </a:solidFill>
                <a:latin typeface="Courier New" pitchFamily="34" charset="0"/>
                <a:ea typeface="Courier New" pitchFamily="34" charset="-122"/>
                <a:cs typeface="Courier New" pitchFamily="34" charset="-120"/>
              </a:rPr>
              <a:t>▸ data</a:t>
            </a:r>
            <a:endParaRPr lang="en-US" sz="800" dirty="0"/>
          </a:p>
        </p:txBody>
      </p:sp>
      <p:sp>
        <p:nvSpPr>
          <p:cNvPr id="47" name="anim:1"/>
          <p:cNvSpPr txBox="1"/>
          <p:nvPr/>
        </p:nvSpPr>
        <p:spPr>
          <a:xfrm>
            <a:off x="4197096" y="5248656"/>
            <a:ext cx="1554480" cy="228600"/>
          </a:xfrm>
          <a:prstGeom prst="rect">
            <a:avLst/>
          </a:prstGeom>
          <a:noFill/>
          <a:ln/>
        </p:spPr>
        <p:txBody>
          <a:bodyPr wrap="square" lIns="0" tIns="0" rIns="0" bIns="0" rtlCol="0" anchor="t"/>
          <a:lstStyle/>
          <a:p>
            <a:pPr algn="l" indent="0" marL="0">
              <a:buNone/>
            </a:pPr>
            <a:r>
              <a:rPr lang="en-US" sz="800" dirty="0">
                <a:solidFill>
                  <a:srgbClr val="C9D6E4"/>
                </a:solidFill>
                <a:latin typeface="Courier New" pitchFamily="34" charset="0"/>
                <a:ea typeface="Courier New" pitchFamily="34" charset="-122"/>
                <a:cs typeface="Courier New" pitchFamily="34" charset="-120"/>
              </a:rPr>
              <a:t>   README.md</a:t>
            </a:r>
            <a:endParaRPr lang="en-US" sz="800" dirty="0"/>
          </a:p>
        </p:txBody>
      </p:sp>
      <p:sp>
        <p:nvSpPr>
          <p:cNvPr id="48" name="anim:1"/>
          <p:cNvSpPr/>
          <p:nvPr/>
        </p:nvSpPr>
        <p:spPr>
          <a:xfrm>
            <a:off x="5577840" y="2185416"/>
            <a:ext cx="0" cy="4078224"/>
          </a:xfrm>
          <a:prstGeom prst="line">
            <a:avLst/>
          </a:prstGeom>
          <a:noFill/>
          <a:ln w="9525">
            <a:solidFill>
              <a:srgbClr val="25467A"/>
            </a:solidFill>
            <a:prstDash val="solid"/>
          </a:ln>
        </p:spPr>
        <p:txBody>
          <a:bodyPr/>
          <a:p/>
        </p:txBody>
      </p:sp>
      <p:sp>
        <p:nvSpPr>
          <p:cNvPr id="49" name="anim:1"/>
          <p:cNvSpPr/>
          <p:nvPr/>
        </p:nvSpPr>
        <p:spPr>
          <a:xfrm>
            <a:off x="5577840" y="2185416"/>
            <a:ext cx="1417320" cy="329184"/>
          </a:xfrm>
          <a:prstGeom prst="rect">
            <a:avLst/>
          </a:prstGeom>
          <a:solidFill>
            <a:srgbClr val="173A62"/>
          </a:solidFill>
          <a:ln w="12700">
            <a:solidFill>
              <a:srgbClr val="173A62"/>
            </a:solidFill>
            <a:prstDash val="solid"/>
          </a:ln>
        </p:spPr>
        <p:txBody>
          <a:bodyPr/>
          <a:p/>
        </p:txBody>
      </p:sp>
      <p:sp>
        <p:nvSpPr>
          <p:cNvPr id="50" name="anim:1"/>
          <p:cNvSpPr txBox="1"/>
          <p:nvPr/>
        </p:nvSpPr>
        <p:spPr>
          <a:xfrm>
            <a:off x="5687568" y="2185416"/>
            <a:ext cx="1280160" cy="329184"/>
          </a:xfrm>
          <a:prstGeom prst="rect">
            <a:avLst/>
          </a:prstGeom>
          <a:noFill/>
          <a:ln/>
        </p:spPr>
        <p:txBody>
          <a:bodyPr wrap="square" lIns="0" tIns="0" rIns="0" bIns="0" rtlCol="0" anchor="ctr"/>
          <a:lstStyle/>
          <a:p>
            <a:pPr algn="l" indent="0" marL="0">
              <a:buNone/>
            </a:pPr>
            <a:r>
              <a:rPr lang="en-US" sz="800" dirty="0">
                <a:solidFill>
                  <a:srgbClr val="E9B221"/>
                </a:solidFill>
                <a:latin typeface="Courier New" pitchFamily="34" charset="0"/>
                <a:ea typeface="Courier New" pitchFamily="34" charset="-122"/>
                <a:cs typeface="Courier New" pitchFamily="34" charset="-120"/>
              </a:rPr>
              <a:t>demo.ipynb</a:t>
            </a:r>
            <a:endParaRPr lang="en-US" sz="800" dirty="0"/>
          </a:p>
        </p:txBody>
      </p:sp>
      <p:sp>
        <p:nvSpPr>
          <p:cNvPr id="51" name="anim:1"/>
          <p:cNvSpPr txBox="1"/>
          <p:nvPr/>
        </p:nvSpPr>
        <p:spPr>
          <a:xfrm>
            <a:off x="7132320" y="2185416"/>
            <a:ext cx="1280160" cy="329184"/>
          </a:xfrm>
          <a:prstGeom prst="rect">
            <a:avLst/>
          </a:prstGeom>
          <a:noFill/>
          <a:ln/>
        </p:spPr>
        <p:txBody>
          <a:bodyPr wrap="square" lIns="0" tIns="0" rIns="0" bIns="0" rtlCol="0" anchor="ctr"/>
          <a:lstStyle/>
          <a:p>
            <a:pPr algn="l" indent="0" marL="0">
              <a:buNone/>
            </a:pPr>
            <a:r>
              <a:rPr lang="en-US" sz="800" dirty="0">
                <a:solidFill>
                  <a:srgbClr val="C9D6E4"/>
                </a:solidFill>
                <a:latin typeface="Courier New" pitchFamily="34" charset="0"/>
                <a:ea typeface="Courier New" pitchFamily="34" charset="-122"/>
                <a:cs typeface="Courier New" pitchFamily="34" charset="-120"/>
              </a:rPr>
              <a:t>queries.sql</a:t>
            </a:r>
            <a:endParaRPr lang="en-US" sz="800" dirty="0"/>
          </a:p>
        </p:txBody>
      </p:sp>
      <p:sp>
        <p:nvSpPr>
          <p:cNvPr id="52" name="anim:1"/>
          <p:cNvSpPr/>
          <p:nvPr/>
        </p:nvSpPr>
        <p:spPr>
          <a:xfrm>
            <a:off x="5577840" y="2514600"/>
            <a:ext cx="3182112" cy="0"/>
          </a:xfrm>
          <a:prstGeom prst="line">
            <a:avLst/>
          </a:prstGeom>
          <a:noFill/>
          <a:ln w="9525">
            <a:solidFill>
              <a:srgbClr val="25467A"/>
            </a:solidFill>
            <a:prstDash val="solid"/>
          </a:ln>
        </p:spPr>
        <p:txBody>
          <a:bodyPr/>
          <a:p/>
        </p:txBody>
      </p:sp>
      <p:sp>
        <p:nvSpPr>
          <p:cNvPr id="53" name="anim:1"/>
          <p:cNvSpPr/>
          <p:nvPr/>
        </p:nvSpPr>
        <p:spPr>
          <a:xfrm>
            <a:off x="5742432" y="2697480"/>
            <a:ext cx="2852928" cy="1691640"/>
          </a:xfrm>
          <a:prstGeom prst="roundRect">
            <a:avLst>
              <a:gd name="adj" fmla="val 2703"/>
            </a:avLst>
          </a:prstGeom>
          <a:solidFill>
            <a:srgbClr val="10294A"/>
          </a:solidFill>
          <a:ln w="9525">
            <a:solidFill>
              <a:srgbClr val="25467A"/>
            </a:solidFill>
            <a:prstDash val="solid"/>
          </a:ln>
        </p:spPr>
        <p:txBody>
          <a:bodyPr/>
          <a:p/>
        </p:txBody>
      </p:sp>
      <p:sp>
        <p:nvSpPr>
          <p:cNvPr id="54" name="anim:1"/>
          <p:cNvSpPr txBox="1"/>
          <p:nvPr/>
        </p:nvSpPr>
        <p:spPr>
          <a:xfrm>
            <a:off x="5815584" y="2770632"/>
            <a:ext cx="365760" cy="182880"/>
          </a:xfrm>
          <a:prstGeom prst="rect">
            <a:avLst/>
          </a:prstGeom>
          <a:noFill/>
          <a:ln/>
        </p:spPr>
        <p:txBody>
          <a:bodyPr wrap="square" lIns="0" tIns="0" rIns="0" bIns="0" rtlCol="0" anchor="t"/>
          <a:lstStyle/>
          <a:p>
            <a:pPr algn="l" indent="0" marL="0">
              <a:buNone/>
            </a:pPr>
            <a:r>
              <a:rPr lang="en-US" sz="750" dirty="0">
                <a:solidFill>
                  <a:srgbClr val="2FA8E0"/>
                </a:solidFill>
                <a:latin typeface="Courier New" pitchFamily="34" charset="0"/>
                <a:ea typeface="Courier New" pitchFamily="34" charset="-122"/>
                <a:cs typeface="Courier New" pitchFamily="34" charset="-120"/>
              </a:rPr>
              <a:t>[1]</a:t>
            </a:r>
            <a:endParaRPr lang="en-US" sz="750" dirty="0"/>
          </a:p>
        </p:txBody>
      </p:sp>
      <p:sp>
        <p:nvSpPr>
          <p:cNvPr id="55" name="anim:1"/>
          <p:cNvSpPr txBox="1"/>
          <p:nvPr/>
        </p:nvSpPr>
        <p:spPr>
          <a:xfrm>
            <a:off x="6217920" y="2770632"/>
            <a:ext cx="2313432" cy="237744"/>
          </a:xfrm>
          <a:prstGeom prst="rect">
            <a:avLst/>
          </a:prstGeom>
          <a:noFill/>
          <a:ln/>
        </p:spPr>
        <p:txBody>
          <a:bodyPr wrap="square" lIns="0" tIns="0" rIns="0" bIns="0" rtlCol="0" anchor="ctr"/>
          <a:lstStyle/>
          <a:p>
            <a:pPr indent="0" marL="0">
              <a:buNone/>
            </a:pPr>
            <a:r>
              <a:rPr lang="en-US" sz="800" dirty="0">
                <a:solidFill>
                  <a:srgbClr val="A9B8CA"/>
                </a:solidFill>
                <a:latin typeface="Courier New" pitchFamily="34" charset="0"/>
                <a:ea typeface="Courier New" pitchFamily="34" charset="-122"/>
                <a:cs typeface="Courier New" pitchFamily="34" charset="-120"/>
              </a:rPr>
              <a:t># W01 · D1 · the first question</a:t>
            </a:r>
            <a:endParaRPr lang="en-US" sz="800" dirty="0"/>
          </a:p>
        </p:txBody>
      </p:sp>
      <p:sp>
        <p:nvSpPr>
          <p:cNvPr id="56" name="anim:1"/>
          <p:cNvSpPr txBox="1"/>
          <p:nvPr/>
        </p:nvSpPr>
        <p:spPr>
          <a:xfrm>
            <a:off x="6217920" y="3008376"/>
            <a:ext cx="2313432" cy="237744"/>
          </a:xfrm>
          <a:prstGeom prst="rect">
            <a:avLst/>
          </a:prstGeom>
          <a:noFill/>
          <a:ln/>
        </p:spPr>
        <p:txBody>
          <a:bodyPr wrap="square" lIns="0" tIns="0" rIns="0" bIns="0" rtlCol="0" anchor="ctr"/>
          <a:lstStyle/>
          <a:p>
            <a:pPr indent="0" marL="0">
              <a:buNone/>
            </a:pPr>
            <a:r>
              <a:rPr lang="en-US" sz="800" dirty="0">
                <a:solidFill>
                  <a:srgbClr val="FFFFFF"/>
                </a:solidFill>
                <a:latin typeface="Courier New" pitchFamily="34" charset="0"/>
                <a:ea typeface="Courier New" pitchFamily="34" charset="-122"/>
                <a:cs typeface="Courier New" pitchFamily="34" charset="-120"/>
              </a:rPr>
              <a:t>by_store = (sales</a:t>
            </a:r>
            <a:endParaRPr lang="en-US" sz="800" dirty="0"/>
          </a:p>
        </p:txBody>
      </p:sp>
      <p:sp>
        <p:nvSpPr>
          <p:cNvPr id="57" name="anim:1"/>
          <p:cNvSpPr txBox="1"/>
          <p:nvPr/>
        </p:nvSpPr>
        <p:spPr>
          <a:xfrm>
            <a:off x="6217920" y="3246120"/>
            <a:ext cx="2313432" cy="237744"/>
          </a:xfrm>
          <a:prstGeom prst="rect">
            <a:avLst/>
          </a:prstGeom>
          <a:noFill/>
          <a:ln/>
        </p:spPr>
        <p:txBody>
          <a:bodyPr wrap="square" lIns="0" tIns="0" rIns="0" bIns="0" rtlCol="0" anchor="ctr"/>
          <a:lstStyle/>
          <a:p>
            <a:pPr indent="0" marL="0">
              <a:buNone/>
            </a:pPr>
            <a:r>
              <a:rPr lang="en-US" sz="800" dirty="0">
                <a:solidFill>
                  <a:srgbClr val="FFFFFF"/>
                </a:solidFill>
                <a:latin typeface="Courier New" pitchFamily="34" charset="0"/>
                <a:ea typeface="Courier New" pitchFamily="34" charset="-122"/>
                <a:cs typeface="Courier New" pitchFamily="34" charset="-120"/>
              </a:rPr>
              <a:t>    .groupby(</a:t>
            </a:r>
            <a:pPr indent="0" marL="0">
              <a:buNone/>
            </a:pPr>
            <a:r>
              <a:rPr lang="en-US" sz="800" dirty="0">
                <a:solidFill>
                  <a:srgbClr val="E9B221"/>
                </a:solidFill>
                <a:latin typeface="Courier New" pitchFamily="34" charset="0"/>
                <a:ea typeface="Courier New" pitchFamily="34" charset="-122"/>
                <a:cs typeface="Courier New" pitchFamily="34" charset="-120"/>
              </a:rPr>
              <a:t>"store"</a:t>
            </a:r>
            <a:pPr indent="0" marL="0">
              <a:buNone/>
            </a:pPr>
            <a:r>
              <a:rPr lang="en-US" sz="800" dirty="0">
                <a:solidFill>
                  <a:srgbClr val="FFFFFF"/>
                </a:solidFill>
                <a:latin typeface="Courier New" pitchFamily="34" charset="0"/>
                <a:ea typeface="Courier New" pitchFamily="34" charset="-122"/>
                <a:cs typeface="Courier New" pitchFamily="34" charset="-120"/>
              </a:rPr>
              <a:t>)[</a:t>
            </a:r>
            <a:pPr indent="0" marL="0">
              <a:buNone/>
            </a:pPr>
            <a:r>
              <a:rPr lang="en-US" sz="800" dirty="0">
                <a:solidFill>
                  <a:srgbClr val="E9B221"/>
                </a:solidFill>
                <a:latin typeface="Courier New" pitchFamily="34" charset="0"/>
                <a:ea typeface="Courier New" pitchFamily="34" charset="-122"/>
                <a:cs typeface="Courier New" pitchFamily="34" charset="-120"/>
              </a:rPr>
              <a:t>"revenue"</a:t>
            </a:r>
            <a:pPr indent="0" marL="0">
              <a:buNone/>
            </a:pPr>
            <a:r>
              <a:rPr lang="en-US" sz="800" dirty="0">
                <a:solidFill>
                  <a:srgbClr val="FFFFFF"/>
                </a:solidFill>
                <a:latin typeface="Courier New" pitchFamily="34" charset="0"/>
                <a:ea typeface="Courier New" pitchFamily="34" charset="-122"/>
                <a:cs typeface="Courier New" pitchFamily="34" charset="-120"/>
              </a:rPr>
              <a:t>]</a:t>
            </a:r>
            <a:endParaRPr lang="en-US" sz="800" dirty="0"/>
          </a:p>
        </p:txBody>
      </p:sp>
      <p:sp>
        <p:nvSpPr>
          <p:cNvPr id="58" name="anim:1"/>
          <p:cNvSpPr txBox="1"/>
          <p:nvPr/>
        </p:nvSpPr>
        <p:spPr>
          <a:xfrm>
            <a:off x="6217920" y="3483864"/>
            <a:ext cx="2313432" cy="237744"/>
          </a:xfrm>
          <a:prstGeom prst="rect">
            <a:avLst/>
          </a:prstGeom>
          <a:noFill/>
          <a:ln/>
        </p:spPr>
        <p:txBody>
          <a:bodyPr wrap="square" lIns="0" tIns="0" rIns="0" bIns="0" rtlCol="0" anchor="ctr"/>
          <a:lstStyle/>
          <a:p>
            <a:pPr indent="0" marL="0">
              <a:buNone/>
            </a:pPr>
            <a:r>
              <a:rPr lang="en-US" sz="800" dirty="0">
                <a:solidFill>
                  <a:srgbClr val="FFFFFF"/>
                </a:solidFill>
                <a:latin typeface="Courier New" pitchFamily="34" charset="0"/>
                <a:ea typeface="Courier New" pitchFamily="34" charset="-122"/>
                <a:cs typeface="Courier New" pitchFamily="34" charset="-120"/>
              </a:rPr>
              <a:t>    .sum()</a:t>
            </a:r>
            <a:endParaRPr lang="en-US" sz="800" dirty="0"/>
          </a:p>
        </p:txBody>
      </p:sp>
      <p:sp>
        <p:nvSpPr>
          <p:cNvPr id="59" name="anim:1"/>
          <p:cNvSpPr txBox="1"/>
          <p:nvPr/>
        </p:nvSpPr>
        <p:spPr>
          <a:xfrm>
            <a:off x="6217920" y="3721608"/>
            <a:ext cx="2313432" cy="237744"/>
          </a:xfrm>
          <a:prstGeom prst="rect">
            <a:avLst/>
          </a:prstGeom>
          <a:noFill/>
          <a:ln/>
        </p:spPr>
        <p:txBody>
          <a:bodyPr wrap="square" lIns="0" tIns="0" rIns="0" bIns="0" rtlCol="0" anchor="ctr"/>
          <a:lstStyle/>
          <a:p>
            <a:pPr indent="0" marL="0">
              <a:buNone/>
            </a:pPr>
            <a:r>
              <a:rPr lang="en-US" sz="800" dirty="0">
                <a:solidFill>
                  <a:srgbClr val="FFFFFF"/>
                </a:solidFill>
                <a:latin typeface="Courier New" pitchFamily="34" charset="0"/>
                <a:ea typeface="Courier New" pitchFamily="34" charset="-122"/>
                <a:cs typeface="Courier New" pitchFamily="34" charset="-120"/>
              </a:rPr>
              <a:t>    .sort_values(ascending=</a:t>
            </a:r>
            <a:pPr indent="0" marL="0">
              <a:buNone/>
            </a:pPr>
            <a:r>
              <a:rPr lang="en-US" sz="800" dirty="0">
                <a:solidFill>
                  <a:srgbClr val="2FA8E0"/>
                </a:solidFill>
                <a:latin typeface="Courier New" pitchFamily="34" charset="0"/>
                <a:ea typeface="Courier New" pitchFamily="34" charset="-122"/>
                <a:cs typeface="Courier New" pitchFamily="34" charset="-120"/>
              </a:rPr>
              <a:t>False</a:t>
            </a:r>
            <a:pPr indent="0" marL="0">
              <a:buNone/>
            </a:pPr>
            <a:r>
              <a:rPr lang="en-US" sz="800" dirty="0">
                <a:solidFill>
                  <a:srgbClr val="FFFFFF"/>
                </a:solidFill>
                <a:latin typeface="Courier New" pitchFamily="34" charset="0"/>
                <a:ea typeface="Courier New" pitchFamily="34" charset="-122"/>
                <a:cs typeface="Courier New" pitchFamily="34" charset="-120"/>
              </a:rPr>
              <a:t>))</a:t>
            </a:r>
            <a:endParaRPr lang="en-US" sz="800" dirty="0"/>
          </a:p>
        </p:txBody>
      </p:sp>
      <p:sp>
        <p:nvSpPr>
          <p:cNvPr id="60" name="anim:1"/>
          <p:cNvSpPr txBox="1"/>
          <p:nvPr/>
        </p:nvSpPr>
        <p:spPr>
          <a:xfrm>
            <a:off x="6217920" y="3959352"/>
            <a:ext cx="2313432" cy="237744"/>
          </a:xfrm>
          <a:prstGeom prst="rect">
            <a:avLst/>
          </a:prstGeom>
          <a:noFill/>
          <a:ln/>
        </p:spPr>
        <p:txBody>
          <a:bodyPr wrap="square" lIns="0" tIns="0" rIns="0" bIns="0" rtlCol="0" anchor="ctr"/>
          <a:lstStyle/>
          <a:p>
            <a:pPr indent="0" marL="0">
              <a:buNone/>
            </a:pPr>
            <a:r>
              <a:rPr lang="en-US" sz="800" dirty="0">
                <a:solidFill>
                  <a:srgbClr val="FFFFFF"/>
                </a:solidFill>
                <a:latin typeface="Courier New" pitchFamily="34" charset="0"/>
                <a:ea typeface="Courier New" pitchFamily="34" charset="-122"/>
                <a:cs typeface="Courier New" pitchFamily="34" charset="-120"/>
              </a:rPr>
              <a:t>by_store.head(</a:t>
            </a:r>
            <a:pPr indent="0" marL="0">
              <a:buNone/>
            </a:pPr>
            <a:r>
              <a:rPr lang="en-US" sz="800" dirty="0">
                <a:solidFill>
                  <a:srgbClr val="2FA8E0"/>
                </a:solidFill>
                <a:latin typeface="Courier New" pitchFamily="34" charset="0"/>
                <a:ea typeface="Courier New" pitchFamily="34" charset="-122"/>
                <a:cs typeface="Courier New" pitchFamily="34" charset="-120"/>
              </a:rPr>
              <a:t>3</a:t>
            </a:r>
            <a:pPr indent="0" marL="0">
              <a:buNone/>
            </a:pPr>
            <a:r>
              <a:rPr lang="en-US" sz="800" dirty="0">
                <a:solidFill>
                  <a:srgbClr val="FFFFFF"/>
                </a:solidFill>
                <a:latin typeface="Courier New" pitchFamily="34" charset="0"/>
                <a:ea typeface="Courier New" pitchFamily="34" charset="-122"/>
                <a:cs typeface="Courier New" pitchFamily="34" charset="-120"/>
              </a:rPr>
              <a:t>)</a:t>
            </a:r>
            <a:endParaRPr lang="en-US" sz="800" dirty="0"/>
          </a:p>
        </p:txBody>
      </p:sp>
      <p:sp>
        <p:nvSpPr>
          <p:cNvPr id="61" name="anim:1"/>
          <p:cNvSpPr/>
          <p:nvPr/>
        </p:nvSpPr>
        <p:spPr>
          <a:xfrm>
            <a:off x="5742432" y="4526280"/>
            <a:ext cx="2852928" cy="960120"/>
          </a:xfrm>
          <a:prstGeom prst="roundRect">
            <a:avLst>
              <a:gd name="adj" fmla="val 4762"/>
            </a:avLst>
          </a:prstGeom>
          <a:solidFill>
            <a:srgbClr val="08192B"/>
          </a:solidFill>
          <a:ln w="9525">
            <a:solidFill>
              <a:srgbClr val="25467A"/>
            </a:solidFill>
            <a:prstDash val="solid"/>
          </a:ln>
        </p:spPr>
        <p:txBody>
          <a:bodyPr/>
          <a:p/>
        </p:txBody>
      </p:sp>
      <p:sp>
        <p:nvSpPr>
          <p:cNvPr id="62" name="anim:1"/>
          <p:cNvSpPr txBox="1"/>
          <p:nvPr/>
        </p:nvSpPr>
        <p:spPr>
          <a:xfrm>
            <a:off x="5815584" y="4599432"/>
            <a:ext cx="365760" cy="182880"/>
          </a:xfrm>
          <a:prstGeom prst="rect">
            <a:avLst/>
          </a:prstGeom>
          <a:noFill/>
          <a:ln/>
        </p:spPr>
        <p:txBody>
          <a:bodyPr wrap="square" lIns="0" tIns="0" rIns="0" bIns="0" rtlCol="0" anchor="t"/>
          <a:lstStyle/>
          <a:p>
            <a:pPr algn="l" indent="0" marL="0">
              <a:buNone/>
            </a:pPr>
            <a:r>
              <a:rPr lang="en-US" sz="750" dirty="0">
                <a:solidFill>
                  <a:srgbClr val="E9B221"/>
                </a:solidFill>
                <a:latin typeface="Courier New" pitchFamily="34" charset="0"/>
                <a:ea typeface="Courier New" pitchFamily="34" charset="-122"/>
                <a:cs typeface="Courier New" pitchFamily="34" charset="-120"/>
              </a:rPr>
              <a:t>[1]</a:t>
            </a:r>
            <a:endParaRPr lang="en-US" sz="750" dirty="0"/>
          </a:p>
        </p:txBody>
      </p:sp>
      <p:sp>
        <p:nvSpPr>
          <p:cNvPr id="63" name="anim:1"/>
          <p:cNvSpPr txBox="1"/>
          <p:nvPr/>
        </p:nvSpPr>
        <p:spPr>
          <a:xfrm>
            <a:off x="5797296" y="4800600"/>
            <a:ext cx="420624" cy="182880"/>
          </a:xfrm>
          <a:prstGeom prst="rect">
            <a:avLst/>
          </a:prstGeom>
          <a:noFill/>
          <a:ln/>
        </p:spPr>
        <p:txBody>
          <a:bodyPr wrap="square" lIns="0" tIns="0" rIns="0" bIns="0" rtlCol="0" anchor="t"/>
          <a:lstStyle/>
          <a:p>
            <a:pPr algn="l" indent="0" marL="0">
              <a:buNone/>
            </a:pPr>
            <a:r>
              <a:rPr lang="en-US" sz="650" dirty="0">
                <a:solidFill>
                  <a:srgbClr val="A9B8CA"/>
                </a:solidFill>
                <a:latin typeface="Courier New" pitchFamily="34" charset="0"/>
                <a:ea typeface="Courier New" pitchFamily="34" charset="-122"/>
                <a:cs typeface="Courier New" pitchFamily="34" charset="-120"/>
              </a:rPr>
              <a:t>sample</a:t>
            </a:r>
            <a:endParaRPr lang="en-US" sz="650" dirty="0"/>
          </a:p>
        </p:txBody>
      </p:sp>
      <p:sp>
        <p:nvSpPr>
          <p:cNvPr id="64" name="anim:1"/>
          <p:cNvSpPr txBox="1"/>
          <p:nvPr/>
        </p:nvSpPr>
        <p:spPr>
          <a:xfrm>
            <a:off x="6217920" y="4599432"/>
            <a:ext cx="1828800" cy="219456"/>
          </a:xfrm>
          <a:prstGeom prst="rect">
            <a:avLst/>
          </a:prstGeom>
          <a:noFill/>
          <a:ln/>
        </p:spPr>
        <p:txBody>
          <a:bodyPr wrap="square" lIns="0" tIns="0" rIns="0" bIns="0" rtlCol="0" anchor="ctr"/>
          <a:lstStyle/>
          <a:p>
            <a:pPr algn="l" indent="0" marL="0">
              <a:buNone/>
            </a:pPr>
            <a:r>
              <a:rPr lang="en-US" sz="800" dirty="0">
                <a:solidFill>
                  <a:srgbClr val="C9D6E4"/>
                </a:solidFill>
                <a:latin typeface="Courier New" pitchFamily="34" charset="0"/>
                <a:ea typeface="Courier New" pitchFamily="34" charset="-122"/>
                <a:cs typeface="Courier New" pitchFamily="34" charset="-120"/>
              </a:rPr>
              <a:t>store</a:t>
            </a:r>
            <a:endParaRPr lang="en-US" sz="800" dirty="0"/>
          </a:p>
        </p:txBody>
      </p:sp>
      <p:sp>
        <p:nvSpPr>
          <p:cNvPr id="65" name="anim:1"/>
          <p:cNvSpPr txBox="1"/>
          <p:nvPr/>
        </p:nvSpPr>
        <p:spPr>
          <a:xfrm>
            <a:off x="7772400" y="4599432"/>
            <a:ext cx="822960" cy="219456"/>
          </a:xfrm>
          <a:prstGeom prst="rect">
            <a:avLst/>
          </a:prstGeom>
          <a:noFill/>
          <a:ln/>
        </p:spPr>
        <p:txBody>
          <a:bodyPr wrap="square" lIns="0" tIns="0" rIns="0" bIns="0" rtlCol="0" anchor="ctr"/>
          <a:lstStyle/>
          <a:p>
            <a:pPr algn="r" indent="0" marL="0">
              <a:buNone/>
            </a:pPr>
            <a:r>
              <a:rPr lang="en-US" sz="800" dirty="0">
                <a:solidFill>
                  <a:srgbClr val="C9D6E4"/>
                </a:solidFill>
                <a:latin typeface="Courier New" pitchFamily="34" charset="0"/>
                <a:ea typeface="Courier New" pitchFamily="34" charset="-122"/>
                <a:cs typeface="Courier New" pitchFamily="34" charset="-120"/>
              </a:rPr>
              <a:t>revenue</a:t>
            </a:r>
            <a:endParaRPr lang="en-US" sz="800" dirty="0"/>
          </a:p>
        </p:txBody>
      </p:sp>
      <p:sp>
        <p:nvSpPr>
          <p:cNvPr id="66" name="anim:1"/>
          <p:cNvSpPr txBox="1"/>
          <p:nvPr/>
        </p:nvSpPr>
        <p:spPr>
          <a:xfrm>
            <a:off x="6217920" y="4818888"/>
            <a:ext cx="1828800" cy="219456"/>
          </a:xfrm>
          <a:prstGeom prst="rect">
            <a:avLst/>
          </a:prstGeom>
          <a:noFill/>
          <a:ln/>
        </p:spPr>
        <p:txBody>
          <a:bodyPr wrap="square" lIns="0" tIns="0" rIns="0" bIns="0" rtlCol="0" anchor="ctr"/>
          <a:lstStyle/>
          <a:p>
            <a:pPr algn="l" indent="0" marL="0">
              <a:buNone/>
            </a:pPr>
            <a:r>
              <a:rPr lang="en-US" sz="800" dirty="0">
                <a:solidFill>
                  <a:srgbClr val="FFFFFF"/>
                </a:solidFill>
                <a:latin typeface="Courier New" pitchFamily="34" charset="0"/>
                <a:ea typeface="Courier New" pitchFamily="34" charset="-122"/>
                <a:cs typeface="Courier New" pitchFamily="34" charset="-120"/>
              </a:rPr>
              <a:t>store_014</a:t>
            </a:r>
            <a:endParaRPr lang="en-US" sz="800" dirty="0"/>
          </a:p>
        </p:txBody>
      </p:sp>
      <p:sp>
        <p:nvSpPr>
          <p:cNvPr id="67" name="anim:1"/>
          <p:cNvSpPr txBox="1"/>
          <p:nvPr/>
        </p:nvSpPr>
        <p:spPr>
          <a:xfrm>
            <a:off x="7772400" y="4818888"/>
            <a:ext cx="822960" cy="219456"/>
          </a:xfrm>
          <a:prstGeom prst="rect">
            <a:avLst/>
          </a:prstGeom>
          <a:noFill/>
          <a:ln/>
        </p:spPr>
        <p:txBody>
          <a:bodyPr wrap="square" lIns="0" tIns="0" rIns="0" bIns="0" rtlCol="0" anchor="ctr"/>
          <a:lstStyle/>
          <a:p>
            <a:pPr algn="r" indent="0" marL="0">
              <a:buNone/>
            </a:pPr>
            <a:r>
              <a:rPr lang="en-US" sz="800" dirty="0">
                <a:solidFill>
                  <a:srgbClr val="E9B221"/>
                </a:solidFill>
                <a:latin typeface="Courier New" pitchFamily="34" charset="0"/>
                <a:ea typeface="Courier New" pitchFamily="34" charset="-122"/>
                <a:cs typeface="Courier New" pitchFamily="34" charset="-120"/>
              </a:rPr>
              <a:t>4,182,900</a:t>
            </a:r>
            <a:endParaRPr lang="en-US" sz="800" dirty="0"/>
          </a:p>
        </p:txBody>
      </p:sp>
      <p:sp>
        <p:nvSpPr>
          <p:cNvPr id="68" name="anim:1"/>
          <p:cNvSpPr txBox="1"/>
          <p:nvPr/>
        </p:nvSpPr>
        <p:spPr>
          <a:xfrm>
            <a:off x="6217920" y="5038344"/>
            <a:ext cx="1828800" cy="219456"/>
          </a:xfrm>
          <a:prstGeom prst="rect">
            <a:avLst/>
          </a:prstGeom>
          <a:noFill/>
          <a:ln/>
        </p:spPr>
        <p:txBody>
          <a:bodyPr wrap="square" lIns="0" tIns="0" rIns="0" bIns="0" rtlCol="0" anchor="ctr"/>
          <a:lstStyle/>
          <a:p>
            <a:pPr algn="l" indent="0" marL="0">
              <a:buNone/>
            </a:pPr>
            <a:r>
              <a:rPr lang="en-US" sz="800" dirty="0">
                <a:solidFill>
                  <a:srgbClr val="FFFFFF"/>
                </a:solidFill>
                <a:latin typeface="Courier New" pitchFamily="34" charset="0"/>
                <a:ea typeface="Courier New" pitchFamily="34" charset="-122"/>
                <a:cs typeface="Courier New" pitchFamily="34" charset="-120"/>
              </a:rPr>
              <a:t>store_022</a:t>
            </a:r>
            <a:endParaRPr lang="en-US" sz="800" dirty="0"/>
          </a:p>
        </p:txBody>
      </p:sp>
      <p:sp>
        <p:nvSpPr>
          <p:cNvPr id="69" name="anim:1"/>
          <p:cNvSpPr txBox="1"/>
          <p:nvPr/>
        </p:nvSpPr>
        <p:spPr>
          <a:xfrm>
            <a:off x="7772400" y="5038344"/>
            <a:ext cx="822960" cy="219456"/>
          </a:xfrm>
          <a:prstGeom prst="rect">
            <a:avLst/>
          </a:prstGeom>
          <a:noFill/>
          <a:ln/>
        </p:spPr>
        <p:txBody>
          <a:bodyPr wrap="square" lIns="0" tIns="0" rIns="0" bIns="0" rtlCol="0" anchor="ctr"/>
          <a:lstStyle/>
          <a:p>
            <a:pPr algn="r" indent="0" marL="0">
              <a:buNone/>
            </a:pPr>
            <a:r>
              <a:rPr lang="en-US" sz="800" dirty="0">
                <a:solidFill>
                  <a:srgbClr val="E9B221"/>
                </a:solidFill>
                <a:latin typeface="Courier New" pitchFamily="34" charset="0"/>
                <a:ea typeface="Courier New" pitchFamily="34" charset="-122"/>
                <a:cs typeface="Courier New" pitchFamily="34" charset="-120"/>
              </a:rPr>
              <a:t>3,907,450</a:t>
            </a:r>
            <a:endParaRPr lang="en-US" sz="800" dirty="0"/>
          </a:p>
        </p:txBody>
      </p:sp>
      <p:sp>
        <p:nvSpPr>
          <p:cNvPr id="70" name="anim:1"/>
          <p:cNvSpPr txBox="1"/>
          <p:nvPr/>
        </p:nvSpPr>
        <p:spPr>
          <a:xfrm>
            <a:off x="6217920" y="5257800"/>
            <a:ext cx="1828800" cy="219456"/>
          </a:xfrm>
          <a:prstGeom prst="rect">
            <a:avLst/>
          </a:prstGeom>
          <a:noFill/>
          <a:ln/>
        </p:spPr>
        <p:txBody>
          <a:bodyPr wrap="square" lIns="0" tIns="0" rIns="0" bIns="0" rtlCol="0" anchor="ctr"/>
          <a:lstStyle/>
          <a:p>
            <a:pPr algn="l" indent="0" marL="0">
              <a:buNone/>
            </a:pPr>
            <a:r>
              <a:rPr lang="en-US" sz="800" dirty="0">
                <a:solidFill>
                  <a:srgbClr val="FFFFFF"/>
                </a:solidFill>
                <a:latin typeface="Courier New" pitchFamily="34" charset="0"/>
                <a:ea typeface="Courier New" pitchFamily="34" charset="-122"/>
                <a:cs typeface="Courier New" pitchFamily="34" charset="-120"/>
              </a:rPr>
              <a:t>store_003</a:t>
            </a:r>
            <a:endParaRPr lang="en-US" sz="800" dirty="0"/>
          </a:p>
        </p:txBody>
      </p:sp>
      <p:sp>
        <p:nvSpPr>
          <p:cNvPr id="71" name="anim:1"/>
          <p:cNvSpPr txBox="1"/>
          <p:nvPr/>
        </p:nvSpPr>
        <p:spPr>
          <a:xfrm>
            <a:off x="7772400" y="5257800"/>
            <a:ext cx="822960" cy="219456"/>
          </a:xfrm>
          <a:prstGeom prst="rect">
            <a:avLst/>
          </a:prstGeom>
          <a:noFill/>
          <a:ln/>
        </p:spPr>
        <p:txBody>
          <a:bodyPr wrap="square" lIns="0" tIns="0" rIns="0" bIns="0" rtlCol="0" anchor="ctr"/>
          <a:lstStyle/>
          <a:p>
            <a:pPr algn="r" indent="0" marL="0">
              <a:buNone/>
            </a:pPr>
            <a:r>
              <a:rPr lang="en-US" sz="800" dirty="0">
                <a:solidFill>
                  <a:srgbClr val="E9B221"/>
                </a:solidFill>
                <a:latin typeface="Courier New" pitchFamily="34" charset="0"/>
                <a:ea typeface="Courier New" pitchFamily="34" charset="-122"/>
                <a:cs typeface="Courier New" pitchFamily="34" charset="-120"/>
              </a:rPr>
              <a:t>3,611,200</a:t>
            </a:r>
            <a:endParaRPr lang="en-US" sz="800" dirty="0"/>
          </a:p>
        </p:txBody>
      </p:sp>
      <p:sp>
        <p:nvSpPr>
          <p:cNvPr id="72" name="anim:1"/>
          <p:cNvSpPr/>
          <p:nvPr/>
        </p:nvSpPr>
        <p:spPr>
          <a:xfrm>
            <a:off x="3429000" y="5934456"/>
            <a:ext cx="5330952" cy="329184"/>
          </a:xfrm>
          <a:prstGeom prst="rect">
            <a:avLst/>
          </a:prstGeom>
          <a:solidFill>
            <a:srgbClr val="173A62"/>
          </a:solidFill>
          <a:ln w="12700">
            <a:solidFill>
              <a:srgbClr val="173A62"/>
            </a:solidFill>
            <a:prstDash val="solid"/>
          </a:ln>
        </p:spPr>
        <p:txBody>
          <a:bodyPr/>
          <a:p/>
        </p:txBody>
      </p:sp>
      <p:pic>
        <p:nvPicPr>
          <p:cNvPr id="73" name="anim:1" descr="preencoded.png">    </p:cNvPr>
          <p:cNvPicPr>
            <a:picLocks noChangeAspect="1"/>
          </p:cNvPicPr>
          <p:nvPr/>
        </p:nvPicPr>
        <p:blipFill>
          <a:blip r:embed="rId8"/>
          <a:stretch>
            <a:fillRect/>
          </a:stretch>
        </p:blipFill>
        <p:spPr>
          <a:xfrm>
            <a:off x="3611880" y="6007608"/>
            <a:ext cx="182880" cy="182880"/>
          </a:xfrm>
          <a:prstGeom prst="rect">
            <a:avLst/>
          </a:prstGeom>
        </p:spPr>
      </p:pic>
      <p:sp>
        <p:nvSpPr>
          <p:cNvPr id="74" name="anim:1"/>
          <p:cNvSpPr txBox="1"/>
          <p:nvPr/>
        </p:nvSpPr>
        <p:spPr>
          <a:xfrm>
            <a:off x="3858768" y="5934456"/>
            <a:ext cx="1554480" cy="329184"/>
          </a:xfrm>
          <a:prstGeom prst="rect">
            <a:avLst/>
          </a:prstGeom>
          <a:noFill/>
          <a:ln/>
        </p:spPr>
        <p:txBody>
          <a:bodyPr wrap="square" lIns="0" tIns="0" rIns="0" bIns="0" rtlCol="0" anchor="ctr"/>
          <a:lstStyle/>
          <a:p>
            <a:pPr algn="l" indent="0" marL="0">
              <a:buNone/>
            </a:pPr>
            <a:r>
              <a:rPr lang="en-US" sz="750" dirty="0">
                <a:solidFill>
                  <a:srgbClr val="C9D6E4"/>
                </a:solidFill>
                <a:latin typeface="Courier New" pitchFamily="34" charset="0"/>
                <a:ea typeface="Courier New" pitchFamily="34" charset="-122"/>
                <a:cs typeface="Courier New" pitchFamily="34" charset="-120"/>
              </a:rPr>
              <a:t>Codespaces ready</a:t>
            </a:r>
            <a:endParaRPr lang="en-US" sz="750" dirty="0"/>
          </a:p>
        </p:txBody>
      </p:sp>
      <p:pic>
        <p:nvPicPr>
          <p:cNvPr id="75" name="anim:1" descr="preencoded.png">    </p:cNvPr>
          <p:cNvPicPr>
            <a:picLocks noChangeAspect="1"/>
          </p:cNvPicPr>
          <p:nvPr/>
        </p:nvPicPr>
        <p:blipFill>
          <a:blip r:embed="rId9"/>
          <a:stretch>
            <a:fillRect/>
          </a:stretch>
        </p:blipFill>
        <p:spPr>
          <a:xfrm>
            <a:off x="5303520" y="6007608"/>
            <a:ext cx="182880" cy="182880"/>
          </a:xfrm>
          <a:prstGeom prst="rect">
            <a:avLst/>
          </a:prstGeom>
        </p:spPr>
      </p:pic>
      <p:sp>
        <p:nvSpPr>
          <p:cNvPr id="76" name="anim:1"/>
          <p:cNvSpPr txBox="1"/>
          <p:nvPr/>
        </p:nvSpPr>
        <p:spPr>
          <a:xfrm>
            <a:off x="5550408" y="5934456"/>
            <a:ext cx="1554480" cy="329184"/>
          </a:xfrm>
          <a:prstGeom prst="rect">
            <a:avLst/>
          </a:prstGeom>
          <a:noFill/>
          <a:ln/>
        </p:spPr>
        <p:txBody>
          <a:bodyPr wrap="square" lIns="0" tIns="0" rIns="0" bIns="0" rtlCol="0" anchor="ctr"/>
          <a:lstStyle/>
          <a:p>
            <a:pPr algn="l" indent="0" marL="0">
              <a:buNone/>
            </a:pPr>
            <a:r>
              <a:rPr lang="en-US" sz="750" dirty="0">
                <a:solidFill>
                  <a:srgbClr val="C9D6E4"/>
                </a:solidFill>
                <a:latin typeface="Courier New" pitchFamily="34" charset="0"/>
                <a:ea typeface="Courier New" pitchFamily="34" charset="-122"/>
                <a:cs typeface="Courier New" pitchFamily="34" charset="-120"/>
              </a:rPr>
              <a:t>Postgres connected</a:t>
            </a:r>
            <a:endParaRPr lang="en-US" sz="750" dirty="0"/>
          </a:p>
        </p:txBody>
      </p:sp>
      <p:pic>
        <p:nvPicPr>
          <p:cNvPr id="77" name="anim:1" descr="preencoded.png">    </p:cNvPr>
          <p:cNvPicPr>
            <a:picLocks noChangeAspect="1"/>
          </p:cNvPicPr>
          <p:nvPr/>
        </p:nvPicPr>
        <p:blipFill>
          <a:blip r:embed="rId10"/>
          <a:stretch>
            <a:fillRect/>
          </a:stretch>
        </p:blipFill>
        <p:spPr>
          <a:xfrm>
            <a:off x="6995160" y="6007608"/>
            <a:ext cx="182880" cy="182880"/>
          </a:xfrm>
          <a:prstGeom prst="rect">
            <a:avLst/>
          </a:prstGeom>
        </p:spPr>
      </p:pic>
      <p:sp>
        <p:nvSpPr>
          <p:cNvPr id="78" name="anim:1"/>
          <p:cNvSpPr txBox="1"/>
          <p:nvPr/>
        </p:nvSpPr>
        <p:spPr>
          <a:xfrm>
            <a:off x="7242048" y="5934456"/>
            <a:ext cx="1554480" cy="329184"/>
          </a:xfrm>
          <a:prstGeom prst="rect">
            <a:avLst/>
          </a:prstGeom>
          <a:noFill/>
          <a:ln/>
        </p:spPr>
        <p:txBody>
          <a:bodyPr wrap="square" lIns="0" tIns="0" rIns="0" bIns="0" rtlCol="0" anchor="ctr"/>
          <a:lstStyle/>
          <a:p>
            <a:pPr algn="l" indent="0" marL="0">
              <a:buNone/>
            </a:pPr>
            <a:r>
              <a:rPr lang="en-US" sz="750" dirty="0">
                <a:solidFill>
                  <a:srgbClr val="C9D6E4"/>
                </a:solidFill>
                <a:latin typeface="Courier New" pitchFamily="34" charset="0"/>
                <a:ea typeface="Courier New" pitchFamily="34" charset="-122"/>
                <a:cs typeface="Courier New" pitchFamily="34" charset="-120"/>
              </a:rPr>
              <a:t>main</a:t>
            </a:r>
            <a:endParaRPr lang="en-US" sz="750" dirty="0"/>
          </a:p>
        </p:txBody>
      </p:sp>
      <p:sp>
        <p:nvSpPr>
          <p:cNvPr id="79" name="anim:2 grad:card"/>
          <p:cNvSpPr/>
          <p:nvPr/>
        </p:nvSpPr>
        <p:spPr>
          <a:xfrm>
            <a:off x="548640" y="1783080"/>
            <a:ext cx="2697480" cy="1371600"/>
          </a:xfrm>
          <a:prstGeom prst="roundRect">
            <a:avLst>
              <a:gd name="adj" fmla="val 666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80" name="anim:2"/>
          <p:cNvSpPr/>
          <p:nvPr/>
        </p:nvSpPr>
        <p:spPr>
          <a:xfrm>
            <a:off x="731520" y="1965960"/>
            <a:ext cx="457200" cy="457200"/>
          </a:xfrm>
          <a:prstGeom prst="ellipse">
            <a:avLst/>
          </a:prstGeom>
          <a:solidFill>
            <a:srgbClr val="E0F2EA"/>
          </a:solidFill>
          <a:ln w="9525">
            <a:solidFill>
              <a:srgbClr val="E0F2EA"/>
            </a:solidFill>
            <a:prstDash val="solid"/>
          </a:ln>
        </p:spPr>
        <p:txBody>
          <a:bodyPr/>
          <a:p/>
        </p:txBody>
      </p:sp>
      <p:pic>
        <p:nvPicPr>
          <p:cNvPr id="81" name="anim:2" descr="preencoded.png">    </p:cNvPr>
          <p:cNvPicPr>
            <a:picLocks noChangeAspect="1"/>
          </p:cNvPicPr>
          <p:nvPr/>
        </p:nvPicPr>
        <p:blipFill>
          <a:blip r:embed="rId11"/>
          <a:stretch>
            <a:fillRect/>
          </a:stretch>
        </p:blipFill>
        <p:spPr>
          <a:xfrm>
            <a:off x="841248" y="2075688"/>
            <a:ext cx="237744" cy="237744"/>
          </a:xfrm>
          <a:prstGeom prst="rect">
            <a:avLst/>
          </a:prstGeom>
        </p:spPr>
      </p:pic>
      <p:sp>
        <p:nvSpPr>
          <p:cNvPr id="82" name="anim:2"/>
          <p:cNvSpPr txBox="1"/>
          <p:nvPr/>
        </p:nvSpPr>
        <p:spPr>
          <a:xfrm>
            <a:off x="1325880" y="1965960"/>
            <a:ext cx="1783080" cy="457200"/>
          </a:xfrm>
          <a:prstGeom prst="rect">
            <a:avLst/>
          </a:prstGeom>
          <a:noFill/>
          <a:ln/>
        </p:spPr>
        <p:txBody>
          <a:bodyPr wrap="square" lIns="0" tIns="0" rIns="0" bIns="0" rtlCol="0" anchor="ctr"/>
          <a:lstStyle/>
          <a:p>
            <a:pPr algn="l" indent="0" marL="0">
              <a:buNone/>
            </a:pPr>
            <a:r>
              <a:rPr lang="en-US" sz="1250" b="1" dirty="0">
                <a:solidFill>
                  <a:srgbClr val="0A1E33"/>
                </a:solidFill>
                <a:latin typeface="Calibri" pitchFamily="34" charset="0"/>
                <a:ea typeface="Calibri" pitchFamily="34" charset="-122"/>
                <a:cs typeface="Calibri" pitchFamily="34" charset="-120"/>
              </a:rPr>
              <a:t>GitHub Codespaces</a:t>
            </a:r>
            <a:endParaRPr lang="en-US" sz="1250" dirty="0"/>
          </a:p>
        </p:txBody>
      </p:sp>
      <p:sp>
        <p:nvSpPr>
          <p:cNvPr id="83" name="anim:2"/>
          <p:cNvSpPr txBox="1"/>
          <p:nvPr/>
        </p:nvSpPr>
        <p:spPr>
          <a:xfrm>
            <a:off x="731520" y="2496312"/>
            <a:ext cx="2331720" cy="640080"/>
          </a:xfrm>
          <a:prstGeom prst="rect">
            <a:avLst/>
          </a:prstGeom>
          <a:noFill/>
          <a:ln/>
        </p:spPr>
        <p:txBody>
          <a:bodyPr wrap="square" lIns="0" tIns="0" rIns="0" bIns="0" rtlCol="0" anchor="t"/>
          <a:lstStyle/>
          <a:p>
            <a:pPr algn="l" indent="0" marL="0">
              <a:buNone/>
            </a:pPr>
            <a:r>
              <a:rPr lang="en-US" sz="900" dirty="0">
                <a:solidFill>
                  <a:srgbClr val="15243A"/>
                </a:solidFill>
                <a:latin typeface="Calibri" pitchFamily="34" charset="0"/>
                <a:ea typeface="Calibri" pitchFamily="34" charset="-122"/>
                <a:cs typeface="Calibri" pitchFamily="34" charset="-120"/>
              </a:rPr>
              <a:t>The whole environment runs in the browser from your GitHub account, so nothing installs on your machine and every laptop behaves the same.</a:t>
            </a:r>
            <a:endParaRPr lang="en-US" sz="900" dirty="0"/>
          </a:p>
        </p:txBody>
      </p:sp>
      <p:sp>
        <p:nvSpPr>
          <p:cNvPr id="84" name="anim:2"/>
          <p:cNvSpPr/>
          <p:nvPr/>
        </p:nvSpPr>
        <p:spPr>
          <a:xfrm>
            <a:off x="3246120" y="2194560"/>
            <a:ext cx="182880" cy="0"/>
          </a:xfrm>
          <a:prstGeom prst="line">
            <a:avLst/>
          </a:prstGeom>
          <a:noFill/>
          <a:ln w="12700">
            <a:solidFill>
              <a:srgbClr val="1F8A5B"/>
            </a:solidFill>
            <a:prstDash val="dash"/>
          </a:ln>
        </p:spPr>
        <p:txBody>
          <a:bodyPr/>
          <a:p/>
        </p:txBody>
      </p:sp>
      <p:sp>
        <p:nvSpPr>
          <p:cNvPr id="85" name="anim:2 grad:card"/>
          <p:cNvSpPr/>
          <p:nvPr/>
        </p:nvSpPr>
        <p:spPr>
          <a:xfrm>
            <a:off x="548640" y="3337560"/>
            <a:ext cx="2697480" cy="1371600"/>
          </a:xfrm>
          <a:prstGeom prst="roundRect">
            <a:avLst>
              <a:gd name="adj" fmla="val 666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86" name="anim:2"/>
          <p:cNvSpPr/>
          <p:nvPr/>
        </p:nvSpPr>
        <p:spPr>
          <a:xfrm>
            <a:off x="731520" y="3520440"/>
            <a:ext cx="457200" cy="457200"/>
          </a:xfrm>
          <a:prstGeom prst="ellipse">
            <a:avLst/>
          </a:prstGeom>
          <a:solidFill>
            <a:srgbClr val="E3F2FA"/>
          </a:solidFill>
          <a:ln w="9525">
            <a:solidFill>
              <a:srgbClr val="E3F2FA"/>
            </a:solidFill>
            <a:prstDash val="solid"/>
          </a:ln>
        </p:spPr>
        <p:txBody>
          <a:bodyPr/>
          <a:p/>
        </p:txBody>
      </p:sp>
      <p:pic>
        <p:nvPicPr>
          <p:cNvPr id="87" name="anim:2" descr="preencoded.png">    </p:cNvPr>
          <p:cNvPicPr>
            <a:picLocks noChangeAspect="1"/>
          </p:cNvPicPr>
          <p:nvPr/>
        </p:nvPicPr>
        <p:blipFill>
          <a:blip r:embed="rId12"/>
          <a:stretch>
            <a:fillRect/>
          </a:stretch>
        </p:blipFill>
        <p:spPr>
          <a:xfrm>
            <a:off x="841248" y="3630168"/>
            <a:ext cx="237744" cy="237744"/>
          </a:xfrm>
          <a:prstGeom prst="rect">
            <a:avLst/>
          </a:prstGeom>
        </p:spPr>
      </p:pic>
      <p:sp>
        <p:nvSpPr>
          <p:cNvPr id="88" name="anim:2"/>
          <p:cNvSpPr txBox="1"/>
          <p:nvPr/>
        </p:nvSpPr>
        <p:spPr>
          <a:xfrm>
            <a:off x="1325880" y="3520440"/>
            <a:ext cx="1783080" cy="457200"/>
          </a:xfrm>
          <a:prstGeom prst="rect">
            <a:avLst/>
          </a:prstGeom>
          <a:noFill/>
          <a:ln/>
        </p:spPr>
        <p:txBody>
          <a:bodyPr wrap="square" lIns="0" tIns="0" rIns="0" bIns="0" rtlCol="0" anchor="ctr"/>
          <a:lstStyle/>
          <a:p>
            <a:pPr algn="l" indent="0" marL="0">
              <a:buNone/>
            </a:pPr>
            <a:r>
              <a:rPr lang="en-US" sz="1250" b="1" dirty="0">
                <a:solidFill>
                  <a:srgbClr val="0A1E33"/>
                </a:solidFill>
                <a:latin typeface="Calibri" pitchFamily="34" charset="0"/>
                <a:ea typeface="Calibri" pitchFamily="34" charset="-122"/>
                <a:cs typeface="Calibri" pitchFamily="34" charset="-120"/>
              </a:rPr>
              <a:t>Notebooks (.ipynb)</a:t>
            </a:r>
            <a:endParaRPr lang="en-US" sz="1250" dirty="0"/>
          </a:p>
        </p:txBody>
      </p:sp>
      <p:sp>
        <p:nvSpPr>
          <p:cNvPr id="89" name="anim:2"/>
          <p:cNvSpPr txBox="1"/>
          <p:nvPr/>
        </p:nvSpPr>
        <p:spPr>
          <a:xfrm>
            <a:off x="731520" y="4050792"/>
            <a:ext cx="2331720" cy="640080"/>
          </a:xfrm>
          <a:prstGeom prst="rect">
            <a:avLst/>
          </a:prstGeom>
          <a:noFill/>
          <a:ln/>
        </p:spPr>
        <p:txBody>
          <a:bodyPr wrap="square" lIns="0" tIns="0" rIns="0" bIns="0" rtlCol="0" anchor="t"/>
          <a:lstStyle/>
          <a:p>
            <a:pPr algn="l" indent="0" marL="0">
              <a:buNone/>
            </a:pPr>
            <a:r>
              <a:rPr lang="en-US" sz="900" dirty="0">
                <a:solidFill>
                  <a:srgbClr val="15243A"/>
                </a:solidFill>
                <a:latin typeface="Calibri" pitchFamily="34" charset="0"/>
                <a:ea typeface="Calibri" pitchFamily="34" charset="-122"/>
                <a:cs typeface="Calibri" pitchFamily="34" charset="-120"/>
              </a:rPr>
              <a:t>Python, statistics and machine learning, cell by cell, in the editor. Demo notebooks ship with every day.</a:t>
            </a:r>
            <a:endParaRPr lang="en-US" sz="900" dirty="0"/>
          </a:p>
        </p:txBody>
      </p:sp>
      <p:sp>
        <p:nvSpPr>
          <p:cNvPr id="90" name="anim:2"/>
          <p:cNvSpPr/>
          <p:nvPr/>
        </p:nvSpPr>
        <p:spPr>
          <a:xfrm>
            <a:off x="3246120" y="3749040"/>
            <a:ext cx="182880" cy="0"/>
          </a:xfrm>
          <a:prstGeom prst="line">
            <a:avLst/>
          </a:prstGeom>
          <a:noFill/>
          <a:ln w="12700">
            <a:solidFill>
              <a:srgbClr val="007DB6"/>
            </a:solidFill>
            <a:prstDash val="dash"/>
          </a:ln>
        </p:spPr>
        <p:txBody>
          <a:bodyPr/>
          <a:p/>
        </p:txBody>
      </p:sp>
      <p:sp>
        <p:nvSpPr>
          <p:cNvPr id="91" name="anim:2 grad:card"/>
          <p:cNvSpPr/>
          <p:nvPr/>
        </p:nvSpPr>
        <p:spPr>
          <a:xfrm>
            <a:off x="548640" y="4892040"/>
            <a:ext cx="2697480" cy="1371600"/>
          </a:xfrm>
          <a:prstGeom prst="roundRect">
            <a:avLst>
              <a:gd name="adj" fmla="val 666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92" name="anim:2"/>
          <p:cNvSpPr/>
          <p:nvPr/>
        </p:nvSpPr>
        <p:spPr>
          <a:xfrm>
            <a:off x="731520" y="5074920"/>
            <a:ext cx="457200" cy="457200"/>
          </a:xfrm>
          <a:prstGeom prst="ellipse">
            <a:avLst/>
          </a:prstGeom>
          <a:solidFill>
            <a:srgbClr val="E3F2FA"/>
          </a:solidFill>
          <a:ln w="9525">
            <a:solidFill>
              <a:srgbClr val="E3F2FA"/>
            </a:solidFill>
            <a:prstDash val="solid"/>
          </a:ln>
        </p:spPr>
        <p:txBody>
          <a:bodyPr/>
          <a:p/>
        </p:txBody>
      </p:sp>
      <p:pic>
        <p:nvPicPr>
          <p:cNvPr id="93" name="anim:2" descr="preencoded.png">    </p:cNvPr>
          <p:cNvPicPr>
            <a:picLocks noChangeAspect="1"/>
          </p:cNvPicPr>
          <p:nvPr/>
        </p:nvPicPr>
        <p:blipFill>
          <a:blip r:embed="rId13"/>
          <a:stretch>
            <a:fillRect/>
          </a:stretch>
        </p:blipFill>
        <p:spPr>
          <a:xfrm>
            <a:off x="841248" y="5184648"/>
            <a:ext cx="237744" cy="237744"/>
          </a:xfrm>
          <a:prstGeom prst="rect">
            <a:avLst/>
          </a:prstGeom>
        </p:spPr>
      </p:pic>
      <p:sp>
        <p:nvSpPr>
          <p:cNvPr id="94" name="anim:2"/>
          <p:cNvSpPr txBox="1"/>
          <p:nvPr/>
        </p:nvSpPr>
        <p:spPr>
          <a:xfrm>
            <a:off x="1325880" y="5074920"/>
            <a:ext cx="1783080" cy="457200"/>
          </a:xfrm>
          <a:prstGeom prst="rect">
            <a:avLst/>
          </a:prstGeom>
          <a:noFill/>
          <a:ln/>
        </p:spPr>
        <p:txBody>
          <a:bodyPr wrap="square" lIns="0" tIns="0" rIns="0" bIns="0" rtlCol="0" anchor="ctr"/>
          <a:lstStyle/>
          <a:p>
            <a:pPr algn="l" indent="0" marL="0">
              <a:buNone/>
            </a:pPr>
            <a:r>
              <a:rPr lang="en-US" sz="1250" b="1" dirty="0">
                <a:solidFill>
                  <a:srgbClr val="0A1E33"/>
                </a:solidFill>
                <a:latin typeface="Calibri" pitchFamily="34" charset="0"/>
                <a:ea typeface="Calibri" pitchFamily="34" charset="-122"/>
                <a:cs typeface="Calibri" pitchFamily="34" charset="-120"/>
              </a:rPr>
              <a:t>SQL files (.sql)</a:t>
            </a:r>
            <a:endParaRPr lang="en-US" sz="1250" dirty="0"/>
          </a:p>
        </p:txBody>
      </p:sp>
      <p:sp>
        <p:nvSpPr>
          <p:cNvPr id="95" name="anim:2"/>
          <p:cNvSpPr txBox="1"/>
          <p:nvPr/>
        </p:nvSpPr>
        <p:spPr>
          <a:xfrm>
            <a:off x="731520" y="5605272"/>
            <a:ext cx="2331720" cy="640080"/>
          </a:xfrm>
          <a:prstGeom prst="rect">
            <a:avLst/>
          </a:prstGeom>
          <a:noFill/>
          <a:ln/>
        </p:spPr>
        <p:txBody>
          <a:bodyPr wrap="square" lIns="0" tIns="0" rIns="0" bIns="0" rtlCol="0" anchor="t"/>
          <a:lstStyle/>
          <a:p>
            <a:pPr algn="l" indent="0" marL="0">
              <a:buNone/>
            </a:pPr>
            <a:r>
              <a:rPr lang="en-US" sz="900" dirty="0">
                <a:solidFill>
                  <a:srgbClr val="15243A"/>
                </a:solidFill>
                <a:latin typeface="Calibri" pitchFamily="34" charset="0"/>
                <a:ea typeface="Calibri" pitchFamily="34" charset="-122"/>
                <a:cs typeface="Calibri" pitchFamily="34" charset="-120"/>
              </a:rPr>
              <a:t>Queries run against a live Postgres database with the course data, not against screenshots.</a:t>
            </a:r>
            <a:endParaRPr lang="en-US" sz="900" dirty="0"/>
          </a:p>
        </p:txBody>
      </p:sp>
      <p:sp>
        <p:nvSpPr>
          <p:cNvPr id="96" name="anim:2"/>
          <p:cNvSpPr/>
          <p:nvPr/>
        </p:nvSpPr>
        <p:spPr>
          <a:xfrm>
            <a:off x="3246120" y="5303520"/>
            <a:ext cx="182880" cy="0"/>
          </a:xfrm>
          <a:prstGeom prst="line">
            <a:avLst/>
          </a:prstGeom>
          <a:noFill/>
          <a:ln w="12700">
            <a:solidFill>
              <a:srgbClr val="007DB6"/>
            </a:solidFill>
            <a:prstDash val="dash"/>
          </a:ln>
        </p:spPr>
        <p:txBody>
          <a:bodyPr/>
          <a:p/>
        </p:txBody>
      </p:sp>
      <p:sp>
        <p:nvSpPr>
          <p:cNvPr id="97" name="anim:3 grad:card"/>
          <p:cNvSpPr/>
          <p:nvPr/>
        </p:nvSpPr>
        <p:spPr>
          <a:xfrm>
            <a:off x="8942832" y="1783080"/>
            <a:ext cx="2697480" cy="1371600"/>
          </a:xfrm>
          <a:prstGeom prst="roundRect">
            <a:avLst>
              <a:gd name="adj" fmla="val 666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98" name="anim:3"/>
          <p:cNvSpPr/>
          <p:nvPr/>
        </p:nvSpPr>
        <p:spPr>
          <a:xfrm>
            <a:off x="9125712" y="1965960"/>
            <a:ext cx="457200" cy="457200"/>
          </a:xfrm>
          <a:prstGeom prst="ellipse">
            <a:avLst/>
          </a:prstGeom>
          <a:solidFill>
            <a:srgbClr val="E4E9F0"/>
          </a:solidFill>
          <a:ln w="9525">
            <a:solidFill>
              <a:srgbClr val="E4E9F0"/>
            </a:solidFill>
            <a:prstDash val="solid"/>
          </a:ln>
        </p:spPr>
        <p:txBody>
          <a:bodyPr/>
          <a:p/>
        </p:txBody>
      </p:sp>
      <p:pic>
        <p:nvPicPr>
          <p:cNvPr id="99" name="anim:3" descr="preencoded.png">    </p:cNvPr>
          <p:cNvPicPr>
            <a:picLocks noChangeAspect="1"/>
          </p:cNvPicPr>
          <p:nvPr/>
        </p:nvPicPr>
        <p:blipFill>
          <a:blip r:embed="rId14"/>
          <a:stretch>
            <a:fillRect/>
          </a:stretch>
        </p:blipFill>
        <p:spPr>
          <a:xfrm>
            <a:off x="9235440" y="2075688"/>
            <a:ext cx="237744" cy="237744"/>
          </a:xfrm>
          <a:prstGeom prst="rect">
            <a:avLst/>
          </a:prstGeom>
        </p:spPr>
      </p:pic>
      <p:sp>
        <p:nvSpPr>
          <p:cNvPr id="100" name="anim:3"/>
          <p:cNvSpPr txBox="1"/>
          <p:nvPr/>
        </p:nvSpPr>
        <p:spPr>
          <a:xfrm>
            <a:off x="9720072" y="1965960"/>
            <a:ext cx="1783080" cy="457200"/>
          </a:xfrm>
          <a:prstGeom prst="rect">
            <a:avLst/>
          </a:prstGeom>
          <a:noFill/>
          <a:ln/>
        </p:spPr>
        <p:txBody>
          <a:bodyPr wrap="square" lIns="0" tIns="0" rIns="0" bIns="0" rtlCol="0" anchor="ctr"/>
          <a:lstStyle/>
          <a:p>
            <a:pPr algn="l" indent="0" marL="0">
              <a:buNone/>
            </a:pPr>
            <a:r>
              <a:rPr lang="en-US" sz="1250" b="1" dirty="0">
                <a:solidFill>
                  <a:srgbClr val="0A1E33"/>
                </a:solidFill>
                <a:latin typeface="Calibri" pitchFamily="34" charset="0"/>
                <a:ea typeface="Calibri" pitchFamily="34" charset="-122"/>
                <a:cs typeface="Calibri" pitchFamily="34" charset="-120"/>
              </a:rPr>
              <a:t>GitHub Discussions</a:t>
            </a:r>
            <a:endParaRPr lang="en-US" sz="1250" dirty="0"/>
          </a:p>
        </p:txBody>
      </p:sp>
      <p:sp>
        <p:nvSpPr>
          <p:cNvPr id="101" name="anim:3"/>
          <p:cNvSpPr txBox="1"/>
          <p:nvPr/>
        </p:nvSpPr>
        <p:spPr>
          <a:xfrm>
            <a:off x="9125712" y="2496312"/>
            <a:ext cx="2331720" cy="640080"/>
          </a:xfrm>
          <a:prstGeom prst="rect">
            <a:avLst/>
          </a:prstGeom>
          <a:noFill/>
          <a:ln/>
        </p:spPr>
        <p:txBody>
          <a:bodyPr wrap="square" lIns="0" tIns="0" rIns="0" bIns="0" rtlCol="0" anchor="t"/>
          <a:lstStyle/>
          <a:p>
            <a:pPr algn="l" indent="0" marL="0">
              <a:buNone/>
            </a:pPr>
            <a:r>
              <a:rPr lang="en-US" sz="900" dirty="0">
                <a:solidFill>
                  <a:srgbClr val="15243A"/>
                </a:solidFill>
                <a:latin typeface="Calibri" pitchFamily="34" charset="0"/>
                <a:ea typeface="Calibri" pitchFamily="34" charset="-122"/>
                <a:cs typeface="Calibri" pitchFamily="34" charset="-120"/>
              </a:rPr>
              <a:t>Exercises, submissions and questions between sessions, where the whole cohort sees the answer.</a:t>
            </a:r>
            <a:endParaRPr lang="en-US" sz="900" dirty="0"/>
          </a:p>
        </p:txBody>
      </p:sp>
      <p:sp>
        <p:nvSpPr>
          <p:cNvPr id="102" name="anim:3"/>
          <p:cNvSpPr/>
          <p:nvPr/>
        </p:nvSpPr>
        <p:spPr>
          <a:xfrm>
            <a:off x="8759952" y="2194560"/>
            <a:ext cx="182880" cy="0"/>
          </a:xfrm>
          <a:prstGeom prst="line">
            <a:avLst/>
          </a:prstGeom>
          <a:noFill/>
          <a:ln w="12700">
            <a:solidFill>
              <a:srgbClr val="0A1E33"/>
            </a:solidFill>
            <a:prstDash val="dash"/>
          </a:ln>
        </p:spPr>
        <p:txBody>
          <a:bodyPr/>
          <a:p/>
        </p:txBody>
      </p:sp>
      <p:sp>
        <p:nvSpPr>
          <p:cNvPr id="103" name="anim:3 grad:card"/>
          <p:cNvSpPr/>
          <p:nvPr/>
        </p:nvSpPr>
        <p:spPr>
          <a:xfrm>
            <a:off x="8942832" y="3337560"/>
            <a:ext cx="2697480" cy="1371600"/>
          </a:xfrm>
          <a:prstGeom prst="roundRect">
            <a:avLst>
              <a:gd name="adj" fmla="val 666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104" name="anim:3"/>
          <p:cNvSpPr/>
          <p:nvPr/>
        </p:nvSpPr>
        <p:spPr>
          <a:xfrm>
            <a:off x="9125712" y="3520440"/>
            <a:ext cx="457200" cy="457200"/>
          </a:xfrm>
          <a:prstGeom prst="ellipse">
            <a:avLst/>
          </a:prstGeom>
          <a:solidFill>
            <a:srgbClr val="FBF1D6"/>
          </a:solidFill>
          <a:ln w="9525">
            <a:solidFill>
              <a:srgbClr val="FBF1D6"/>
            </a:solidFill>
            <a:prstDash val="solid"/>
          </a:ln>
        </p:spPr>
        <p:txBody>
          <a:bodyPr/>
          <a:p/>
        </p:txBody>
      </p:sp>
      <p:pic>
        <p:nvPicPr>
          <p:cNvPr id="105" name="anim:3" descr="preencoded.png">    </p:cNvPr>
          <p:cNvPicPr>
            <a:picLocks noChangeAspect="1"/>
          </p:cNvPicPr>
          <p:nvPr/>
        </p:nvPicPr>
        <p:blipFill>
          <a:blip r:embed="rId15"/>
          <a:stretch>
            <a:fillRect/>
          </a:stretch>
        </p:blipFill>
        <p:spPr>
          <a:xfrm>
            <a:off x="9235440" y="3630168"/>
            <a:ext cx="237744" cy="237744"/>
          </a:xfrm>
          <a:prstGeom prst="rect">
            <a:avLst/>
          </a:prstGeom>
        </p:spPr>
      </p:pic>
      <p:sp>
        <p:nvSpPr>
          <p:cNvPr id="106" name="anim:3"/>
          <p:cNvSpPr txBox="1"/>
          <p:nvPr/>
        </p:nvSpPr>
        <p:spPr>
          <a:xfrm>
            <a:off x="9720072" y="3520440"/>
            <a:ext cx="1783080" cy="457200"/>
          </a:xfrm>
          <a:prstGeom prst="rect">
            <a:avLst/>
          </a:prstGeom>
          <a:noFill/>
          <a:ln/>
        </p:spPr>
        <p:txBody>
          <a:bodyPr wrap="square" lIns="0" tIns="0" rIns="0" bIns="0" rtlCol="0" anchor="ctr"/>
          <a:lstStyle/>
          <a:p>
            <a:pPr algn="l" indent="0" marL="0">
              <a:buNone/>
            </a:pPr>
            <a:r>
              <a:rPr lang="en-US" sz="1250" b="1" dirty="0">
                <a:solidFill>
                  <a:srgbClr val="0A1E33"/>
                </a:solidFill>
                <a:latin typeface="Calibri" pitchFamily="34" charset="0"/>
                <a:ea typeface="Calibri" pitchFamily="34" charset="-122"/>
                <a:cs typeface="Calibri" pitchFamily="34" charset="-120"/>
              </a:rPr>
              <a:t>The LMS</a:t>
            </a:r>
            <a:endParaRPr lang="en-US" sz="1250" dirty="0"/>
          </a:p>
        </p:txBody>
      </p:sp>
      <p:sp>
        <p:nvSpPr>
          <p:cNvPr id="107" name="anim:3"/>
          <p:cNvSpPr txBox="1"/>
          <p:nvPr/>
        </p:nvSpPr>
        <p:spPr>
          <a:xfrm>
            <a:off x="9125712" y="4050792"/>
            <a:ext cx="2331720" cy="640080"/>
          </a:xfrm>
          <a:prstGeom prst="rect">
            <a:avLst/>
          </a:prstGeom>
          <a:noFill/>
          <a:ln/>
        </p:spPr>
        <p:txBody>
          <a:bodyPr wrap="square" lIns="0" tIns="0" rIns="0" bIns="0" rtlCol="0" anchor="t"/>
          <a:lstStyle/>
          <a:p>
            <a:pPr algn="l" indent="0" marL="0">
              <a:buNone/>
            </a:pPr>
            <a:r>
              <a:rPr lang="en-US" sz="900" dirty="0">
                <a:solidFill>
                  <a:srgbClr val="15243A"/>
                </a:solidFill>
                <a:latin typeface="Calibri" pitchFamily="34" charset="0"/>
                <a:ea typeface="Calibri" pitchFamily="34" charset="-122"/>
                <a:cs typeface="Calibri" pitchFamily="34" charset="-120"/>
              </a:rPr>
              <a:t>Session recordings and your score sheet, updated as each build week closes.</a:t>
            </a:r>
            <a:endParaRPr lang="en-US" sz="900" dirty="0"/>
          </a:p>
        </p:txBody>
      </p:sp>
      <p:sp>
        <p:nvSpPr>
          <p:cNvPr id="108" name="anim:3"/>
          <p:cNvSpPr/>
          <p:nvPr/>
        </p:nvSpPr>
        <p:spPr>
          <a:xfrm>
            <a:off x="8759952" y="3749040"/>
            <a:ext cx="182880" cy="0"/>
          </a:xfrm>
          <a:prstGeom prst="line">
            <a:avLst/>
          </a:prstGeom>
          <a:noFill/>
          <a:ln w="12700">
            <a:solidFill>
              <a:srgbClr val="C48F0F"/>
            </a:solidFill>
            <a:prstDash val="dash"/>
          </a:ln>
        </p:spPr>
        <p:txBody>
          <a:bodyPr/>
          <a:p/>
        </p:txBody>
      </p:sp>
      <p:sp>
        <p:nvSpPr>
          <p:cNvPr id="109" name="anim:3 grad:card"/>
          <p:cNvSpPr/>
          <p:nvPr/>
        </p:nvSpPr>
        <p:spPr>
          <a:xfrm>
            <a:off x="8942832" y="4892040"/>
            <a:ext cx="2697480" cy="1371600"/>
          </a:xfrm>
          <a:prstGeom prst="roundRect">
            <a:avLst>
              <a:gd name="adj" fmla="val 666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110" name="anim:3"/>
          <p:cNvSpPr/>
          <p:nvPr/>
        </p:nvSpPr>
        <p:spPr>
          <a:xfrm>
            <a:off x="9125712" y="5074920"/>
            <a:ext cx="457200" cy="457200"/>
          </a:xfrm>
          <a:prstGeom prst="ellipse">
            <a:avLst/>
          </a:prstGeom>
          <a:solidFill>
            <a:srgbClr val="E4E9F0"/>
          </a:solidFill>
          <a:ln w="9525">
            <a:solidFill>
              <a:srgbClr val="E4E9F0"/>
            </a:solidFill>
            <a:prstDash val="solid"/>
          </a:ln>
        </p:spPr>
        <p:txBody>
          <a:bodyPr/>
          <a:p/>
        </p:txBody>
      </p:sp>
      <p:pic>
        <p:nvPicPr>
          <p:cNvPr id="111" name="anim:3" descr="preencoded.png">    </p:cNvPr>
          <p:cNvPicPr>
            <a:picLocks noChangeAspect="1"/>
          </p:cNvPicPr>
          <p:nvPr/>
        </p:nvPicPr>
        <p:blipFill>
          <a:blip r:embed="rId16"/>
          <a:stretch>
            <a:fillRect/>
          </a:stretch>
        </p:blipFill>
        <p:spPr>
          <a:xfrm>
            <a:off x="9235440" y="5184648"/>
            <a:ext cx="237744" cy="237744"/>
          </a:xfrm>
          <a:prstGeom prst="rect">
            <a:avLst/>
          </a:prstGeom>
        </p:spPr>
      </p:pic>
      <p:sp>
        <p:nvSpPr>
          <p:cNvPr id="112" name="anim:3"/>
          <p:cNvSpPr txBox="1"/>
          <p:nvPr/>
        </p:nvSpPr>
        <p:spPr>
          <a:xfrm>
            <a:off x="9720072" y="5074920"/>
            <a:ext cx="1783080" cy="457200"/>
          </a:xfrm>
          <a:prstGeom prst="rect">
            <a:avLst/>
          </a:prstGeom>
          <a:noFill/>
          <a:ln/>
        </p:spPr>
        <p:txBody>
          <a:bodyPr wrap="square" lIns="0" tIns="0" rIns="0" bIns="0" rtlCol="0" anchor="ctr"/>
          <a:lstStyle/>
          <a:p>
            <a:pPr algn="l" indent="0" marL="0">
              <a:buNone/>
            </a:pPr>
            <a:r>
              <a:rPr lang="en-US" sz="1250" b="1" dirty="0">
                <a:solidFill>
                  <a:srgbClr val="0A1E33"/>
                </a:solidFill>
                <a:latin typeface="Calibri" pitchFamily="34" charset="0"/>
                <a:ea typeface="Calibri" pitchFamily="34" charset="-122"/>
                <a:cs typeface="Calibri" pitchFamily="34" charset="-120"/>
              </a:rPr>
              <a:t>Kahoot</a:t>
            </a:r>
            <a:endParaRPr lang="en-US" sz="1250" dirty="0"/>
          </a:p>
        </p:txBody>
      </p:sp>
      <p:sp>
        <p:nvSpPr>
          <p:cNvPr id="113" name="anim:3"/>
          <p:cNvSpPr txBox="1"/>
          <p:nvPr/>
        </p:nvSpPr>
        <p:spPr>
          <a:xfrm>
            <a:off x="9125712" y="5605272"/>
            <a:ext cx="2331720" cy="640080"/>
          </a:xfrm>
          <a:prstGeom prst="rect">
            <a:avLst/>
          </a:prstGeom>
          <a:noFill/>
          <a:ln/>
        </p:spPr>
        <p:txBody>
          <a:bodyPr wrap="square" lIns="0" tIns="0" rIns="0" bIns="0" rtlCol="0" anchor="t"/>
          <a:lstStyle/>
          <a:p>
            <a:pPr algn="l" indent="0" marL="0">
              <a:buNone/>
            </a:pPr>
            <a:r>
              <a:rPr lang="en-US" sz="900" dirty="0">
                <a:solidFill>
                  <a:srgbClr val="15243A"/>
                </a:solidFill>
                <a:latin typeface="Calibri" pitchFamily="34" charset="0"/>
                <a:ea typeface="Calibri" pitchFamily="34" charset="-122"/>
                <a:cs typeface="Calibri" pitchFamily="34" charset="-120"/>
              </a:rPr>
              <a:t>The daily quiz at the end of each session, ungraded, read as a performance indicator.</a:t>
            </a:r>
            <a:endParaRPr lang="en-US" sz="900" dirty="0"/>
          </a:p>
        </p:txBody>
      </p:sp>
      <p:sp>
        <p:nvSpPr>
          <p:cNvPr id="114" name="anim:3"/>
          <p:cNvSpPr/>
          <p:nvPr/>
        </p:nvSpPr>
        <p:spPr>
          <a:xfrm>
            <a:off x="8759952" y="5303520"/>
            <a:ext cx="182880" cy="0"/>
          </a:xfrm>
          <a:prstGeom prst="line">
            <a:avLst/>
          </a:prstGeom>
          <a:noFill/>
          <a:ln w="12700">
            <a:solidFill>
              <a:srgbClr val="0A1E33"/>
            </a:solidFill>
            <a:prstDash val="dash"/>
          </a:ln>
        </p:spPr>
        <p:txBody>
          <a:body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177" fill="hold">
                      <p:stCondLst>
                        <p:cond delay="indefinite"/>
                      </p:stCondLst>
                      <p:childTnLst>
                        <p:par>
                          <p:cTn id="17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par>
                                <p:cTn id="51" presetID="10" presetClass="entr" presetSubtype="0" fill="hold" grpId="0" nodeType="withEffect">
                                  <p:stCondLst>
                                    <p:cond delay="90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400"/>
                                        <p:tgtEl>
                                          <p:spTgt spid="37"/>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400"/>
                                        <p:tgtEl>
                                          <p:spTgt spid="38"/>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400"/>
                                        <p:tgtEl>
                                          <p:spTgt spid="39"/>
                                        </p:tgtEl>
                                      </p:cBhvr>
                                    </p:animEffect>
                                  </p:childTnLst>
                                </p:cTn>
                              </p:par>
                              <p:par>
                                <p:cTn id="60" presetID="10" presetClass="entr" presetSubtype="0" fill="hold" grpId="0" nodeType="withEffect">
                                  <p:stCondLst>
                                    <p:cond delay="90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400"/>
                                        <p:tgtEl>
                                          <p:spTgt spid="40"/>
                                        </p:tgtEl>
                                      </p:cBhvr>
                                    </p:animEffect>
                                  </p:childTnLst>
                                </p:cTn>
                              </p:par>
                              <p:par>
                                <p:cTn id="63" presetID="10" presetClass="entr" presetSubtype="0" fill="hold" grpId="0" nodeType="withEffect">
                                  <p:stCondLst>
                                    <p:cond delay="90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400"/>
                                        <p:tgtEl>
                                          <p:spTgt spid="41"/>
                                        </p:tgtEl>
                                      </p:cBhvr>
                                    </p:animEffect>
                                  </p:childTnLst>
                                </p:cTn>
                              </p:par>
                              <p:par>
                                <p:cTn id="66" presetID="10" presetClass="entr" presetSubtype="0" fill="hold" grpId="0" nodeType="withEffect">
                                  <p:stCondLst>
                                    <p:cond delay="90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400"/>
                                        <p:tgtEl>
                                          <p:spTgt spid="42"/>
                                        </p:tgtEl>
                                      </p:cBhvr>
                                    </p:animEffect>
                                  </p:childTnLst>
                                </p:cTn>
                              </p:par>
                              <p:par>
                                <p:cTn id="69" presetID="10" presetClass="entr" presetSubtype="0" fill="hold" grpId="0" nodeType="withEffect">
                                  <p:stCondLst>
                                    <p:cond delay="90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400"/>
                                        <p:tgtEl>
                                          <p:spTgt spid="43"/>
                                        </p:tgtEl>
                                      </p:cBhvr>
                                    </p:animEffect>
                                  </p:childTnLst>
                                </p:cTn>
                              </p:par>
                              <p:par>
                                <p:cTn id="72" presetID="10" presetClass="entr" presetSubtype="0" fill="hold" grpId="0" nodeType="withEffect">
                                  <p:stCondLst>
                                    <p:cond delay="900"/>
                                  </p:stCondLst>
                                  <p:childTnLst>
                                    <p:set>
                                      <p:cBhvr>
                                        <p:cTn id="73" dur="1" fill="hold">
                                          <p:stCondLst>
                                            <p:cond delay="0"/>
                                          </p:stCondLst>
                                        </p:cTn>
                                        <p:tgtEl>
                                          <p:spTgt spid="44"/>
                                        </p:tgtEl>
                                        <p:attrNameLst>
                                          <p:attrName>style.visibility</p:attrName>
                                        </p:attrNameLst>
                                      </p:cBhvr>
                                      <p:to>
                                        <p:strVal val="visible"/>
                                      </p:to>
                                    </p:set>
                                    <p:animEffect transition="in" filter="fade">
                                      <p:cBhvr>
                                        <p:cTn id="74" dur="400"/>
                                        <p:tgtEl>
                                          <p:spTgt spid="44"/>
                                        </p:tgtEl>
                                      </p:cBhvr>
                                    </p:animEffect>
                                  </p:childTnLst>
                                </p:cTn>
                              </p:par>
                              <p:par>
                                <p:cTn id="75" presetID="10" presetClass="entr" presetSubtype="0" fill="hold" grpId="0" nodeType="withEffect">
                                  <p:stCondLst>
                                    <p:cond delay="900"/>
                                  </p:stCondLst>
                                  <p:childTnLst>
                                    <p:set>
                                      <p:cBhvr>
                                        <p:cTn id="76" dur="1" fill="hold">
                                          <p:stCondLst>
                                            <p:cond delay="0"/>
                                          </p:stCondLst>
                                        </p:cTn>
                                        <p:tgtEl>
                                          <p:spTgt spid="45"/>
                                        </p:tgtEl>
                                        <p:attrNameLst>
                                          <p:attrName>style.visibility</p:attrName>
                                        </p:attrNameLst>
                                      </p:cBhvr>
                                      <p:to>
                                        <p:strVal val="visible"/>
                                      </p:to>
                                    </p:set>
                                    <p:animEffect transition="in" filter="fade">
                                      <p:cBhvr>
                                        <p:cTn id="77" dur="400"/>
                                        <p:tgtEl>
                                          <p:spTgt spid="45"/>
                                        </p:tgtEl>
                                      </p:cBhvr>
                                    </p:animEffect>
                                  </p:childTnLst>
                                </p:cTn>
                              </p:par>
                              <p:par>
                                <p:cTn id="78" presetID="10" presetClass="entr" presetSubtype="0" fill="hold" grpId="0" nodeType="withEffect">
                                  <p:stCondLst>
                                    <p:cond delay="900"/>
                                  </p:stCondLst>
                                  <p:childTnLst>
                                    <p:set>
                                      <p:cBhvr>
                                        <p:cTn id="79" dur="1" fill="hold">
                                          <p:stCondLst>
                                            <p:cond delay="0"/>
                                          </p:stCondLst>
                                        </p:cTn>
                                        <p:tgtEl>
                                          <p:spTgt spid="46"/>
                                        </p:tgtEl>
                                        <p:attrNameLst>
                                          <p:attrName>style.visibility</p:attrName>
                                        </p:attrNameLst>
                                      </p:cBhvr>
                                      <p:to>
                                        <p:strVal val="visible"/>
                                      </p:to>
                                    </p:set>
                                    <p:animEffect transition="in" filter="fade">
                                      <p:cBhvr>
                                        <p:cTn id="80" dur="400"/>
                                        <p:tgtEl>
                                          <p:spTgt spid="46"/>
                                        </p:tgtEl>
                                      </p:cBhvr>
                                    </p:animEffect>
                                  </p:childTnLst>
                                </p:cTn>
                              </p:par>
                              <p:par>
                                <p:cTn id="81" presetID="10" presetClass="entr" presetSubtype="0" fill="hold" grpId="0" nodeType="withEffect">
                                  <p:stCondLst>
                                    <p:cond delay="900"/>
                                  </p:stCondLst>
                                  <p:childTnLst>
                                    <p:set>
                                      <p:cBhvr>
                                        <p:cTn id="82" dur="1" fill="hold">
                                          <p:stCondLst>
                                            <p:cond delay="0"/>
                                          </p:stCondLst>
                                        </p:cTn>
                                        <p:tgtEl>
                                          <p:spTgt spid="47"/>
                                        </p:tgtEl>
                                        <p:attrNameLst>
                                          <p:attrName>style.visibility</p:attrName>
                                        </p:attrNameLst>
                                      </p:cBhvr>
                                      <p:to>
                                        <p:strVal val="visible"/>
                                      </p:to>
                                    </p:set>
                                    <p:animEffect transition="in" filter="fade">
                                      <p:cBhvr>
                                        <p:cTn id="83" dur="400"/>
                                        <p:tgtEl>
                                          <p:spTgt spid="47"/>
                                        </p:tgtEl>
                                      </p:cBhvr>
                                    </p:animEffect>
                                  </p:childTnLst>
                                </p:cTn>
                              </p:par>
                              <p:par>
                                <p:cTn id="84" presetID="10" presetClass="entr" presetSubtype="0" fill="hold" grpId="0" nodeType="withEffect">
                                  <p:stCondLst>
                                    <p:cond delay="900"/>
                                  </p:stCondLst>
                                  <p:childTnLst>
                                    <p:set>
                                      <p:cBhvr>
                                        <p:cTn id="85" dur="1" fill="hold">
                                          <p:stCondLst>
                                            <p:cond delay="0"/>
                                          </p:stCondLst>
                                        </p:cTn>
                                        <p:tgtEl>
                                          <p:spTgt spid="48"/>
                                        </p:tgtEl>
                                        <p:attrNameLst>
                                          <p:attrName>style.visibility</p:attrName>
                                        </p:attrNameLst>
                                      </p:cBhvr>
                                      <p:to>
                                        <p:strVal val="visible"/>
                                      </p:to>
                                    </p:set>
                                    <p:animEffect transition="in" filter="fade">
                                      <p:cBhvr>
                                        <p:cTn id="86" dur="400"/>
                                        <p:tgtEl>
                                          <p:spTgt spid="48"/>
                                        </p:tgtEl>
                                      </p:cBhvr>
                                    </p:animEffect>
                                  </p:childTnLst>
                                </p:cTn>
                              </p:par>
                              <p:par>
                                <p:cTn id="87" presetID="10" presetClass="entr" presetSubtype="0" fill="hold" grpId="0" nodeType="withEffect">
                                  <p:stCondLst>
                                    <p:cond delay="900"/>
                                  </p:stCondLst>
                                  <p:childTnLst>
                                    <p:set>
                                      <p:cBhvr>
                                        <p:cTn id="88" dur="1" fill="hold">
                                          <p:stCondLst>
                                            <p:cond delay="0"/>
                                          </p:stCondLst>
                                        </p:cTn>
                                        <p:tgtEl>
                                          <p:spTgt spid="49"/>
                                        </p:tgtEl>
                                        <p:attrNameLst>
                                          <p:attrName>style.visibility</p:attrName>
                                        </p:attrNameLst>
                                      </p:cBhvr>
                                      <p:to>
                                        <p:strVal val="visible"/>
                                      </p:to>
                                    </p:set>
                                    <p:animEffect transition="in" filter="fade">
                                      <p:cBhvr>
                                        <p:cTn id="89" dur="400"/>
                                        <p:tgtEl>
                                          <p:spTgt spid="49"/>
                                        </p:tgtEl>
                                      </p:cBhvr>
                                    </p:animEffect>
                                  </p:childTnLst>
                                </p:cTn>
                              </p:par>
                              <p:par>
                                <p:cTn id="90" presetID="10" presetClass="entr" presetSubtype="0" fill="hold" grpId="0" nodeType="withEffect">
                                  <p:stCondLst>
                                    <p:cond delay="900"/>
                                  </p:stCondLst>
                                  <p:childTnLst>
                                    <p:set>
                                      <p:cBhvr>
                                        <p:cTn id="91" dur="1" fill="hold">
                                          <p:stCondLst>
                                            <p:cond delay="0"/>
                                          </p:stCondLst>
                                        </p:cTn>
                                        <p:tgtEl>
                                          <p:spTgt spid="50"/>
                                        </p:tgtEl>
                                        <p:attrNameLst>
                                          <p:attrName>style.visibility</p:attrName>
                                        </p:attrNameLst>
                                      </p:cBhvr>
                                      <p:to>
                                        <p:strVal val="visible"/>
                                      </p:to>
                                    </p:set>
                                    <p:animEffect transition="in" filter="fade">
                                      <p:cBhvr>
                                        <p:cTn id="92" dur="400"/>
                                        <p:tgtEl>
                                          <p:spTgt spid="50"/>
                                        </p:tgtEl>
                                      </p:cBhvr>
                                    </p:animEffect>
                                  </p:childTnLst>
                                </p:cTn>
                              </p:par>
                              <p:par>
                                <p:cTn id="93" presetID="10" presetClass="entr" presetSubtype="0" fill="hold" grpId="0" nodeType="withEffect">
                                  <p:stCondLst>
                                    <p:cond delay="900"/>
                                  </p:stCondLst>
                                  <p:childTnLst>
                                    <p:set>
                                      <p:cBhvr>
                                        <p:cTn id="94" dur="1" fill="hold">
                                          <p:stCondLst>
                                            <p:cond delay="0"/>
                                          </p:stCondLst>
                                        </p:cTn>
                                        <p:tgtEl>
                                          <p:spTgt spid="51"/>
                                        </p:tgtEl>
                                        <p:attrNameLst>
                                          <p:attrName>style.visibility</p:attrName>
                                        </p:attrNameLst>
                                      </p:cBhvr>
                                      <p:to>
                                        <p:strVal val="visible"/>
                                      </p:to>
                                    </p:set>
                                    <p:animEffect transition="in" filter="fade">
                                      <p:cBhvr>
                                        <p:cTn id="95" dur="400"/>
                                        <p:tgtEl>
                                          <p:spTgt spid="51"/>
                                        </p:tgtEl>
                                      </p:cBhvr>
                                    </p:animEffect>
                                  </p:childTnLst>
                                </p:cTn>
                              </p:par>
                              <p:par>
                                <p:cTn id="96" presetID="10" presetClass="entr" presetSubtype="0" fill="hold" grpId="0" nodeType="withEffect">
                                  <p:stCondLst>
                                    <p:cond delay="900"/>
                                  </p:stCondLst>
                                  <p:childTnLst>
                                    <p:set>
                                      <p:cBhvr>
                                        <p:cTn id="97" dur="1" fill="hold">
                                          <p:stCondLst>
                                            <p:cond delay="0"/>
                                          </p:stCondLst>
                                        </p:cTn>
                                        <p:tgtEl>
                                          <p:spTgt spid="52"/>
                                        </p:tgtEl>
                                        <p:attrNameLst>
                                          <p:attrName>style.visibility</p:attrName>
                                        </p:attrNameLst>
                                      </p:cBhvr>
                                      <p:to>
                                        <p:strVal val="visible"/>
                                      </p:to>
                                    </p:set>
                                    <p:animEffect transition="in" filter="fade">
                                      <p:cBhvr>
                                        <p:cTn id="98" dur="400"/>
                                        <p:tgtEl>
                                          <p:spTgt spid="52"/>
                                        </p:tgtEl>
                                      </p:cBhvr>
                                    </p:animEffect>
                                  </p:childTnLst>
                                </p:cTn>
                              </p:par>
                              <p:par>
                                <p:cTn id="99" presetID="10" presetClass="entr" presetSubtype="0" fill="hold" grpId="0" nodeType="withEffect">
                                  <p:stCondLst>
                                    <p:cond delay="90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400"/>
                                        <p:tgtEl>
                                          <p:spTgt spid="53"/>
                                        </p:tgtEl>
                                      </p:cBhvr>
                                    </p:animEffect>
                                  </p:childTnLst>
                                </p:cTn>
                              </p:par>
                              <p:par>
                                <p:cTn id="102" presetID="10" presetClass="entr" presetSubtype="0" fill="hold" grpId="0" nodeType="withEffect">
                                  <p:stCondLst>
                                    <p:cond delay="90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400"/>
                                        <p:tgtEl>
                                          <p:spTgt spid="54"/>
                                        </p:tgtEl>
                                      </p:cBhvr>
                                    </p:animEffect>
                                  </p:childTnLst>
                                </p:cTn>
                              </p:par>
                              <p:par>
                                <p:cTn id="105" presetID="10" presetClass="entr" presetSubtype="0" fill="hold" grpId="0" nodeType="withEffect">
                                  <p:stCondLst>
                                    <p:cond delay="900"/>
                                  </p:stCondLst>
                                  <p:childTnLst>
                                    <p:set>
                                      <p:cBhvr>
                                        <p:cTn id="106" dur="1" fill="hold">
                                          <p:stCondLst>
                                            <p:cond delay="0"/>
                                          </p:stCondLst>
                                        </p:cTn>
                                        <p:tgtEl>
                                          <p:spTgt spid="55"/>
                                        </p:tgtEl>
                                        <p:attrNameLst>
                                          <p:attrName>style.visibility</p:attrName>
                                        </p:attrNameLst>
                                      </p:cBhvr>
                                      <p:to>
                                        <p:strVal val="visible"/>
                                      </p:to>
                                    </p:set>
                                    <p:animEffect transition="in" filter="fade">
                                      <p:cBhvr>
                                        <p:cTn id="107" dur="400"/>
                                        <p:tgtEl>
                                          <p:spTgt spid="55"/>
                                        </p:tgtEl>
                                      </p:cBhvr>
                                    </p:animEffect>
                                  </p:childTnLst>
                                </p:cTn>
                              </p:par>
                              <p:par>
                                <p:cTn id="108" presetID="10" presetClass="entr" presetSubtype="0" fill="hold" grpId="0" nodeType="withEffect">
                                  <p:stCondLst>
                                    <p:cond delay="900"/>
                                  </p:stCondLst>
                                  <p:childTnLst>
                                    <p:set>
                                      <p:cBhvr>
                                        <p:cTn id="109" dur="1" fill="hold">
                                          <p:stCondLst>
                                            <p:cond delay="0"/>
                                          </p:stCondLst>
                                        </p:cTn>
                                        <p:tgtEl>
                                          <p:spTgt spid="56"/>
                                        </p:tgtEl>
                                        <p:attrNameLst>
                                          <p:attrName>style.visibility</p:attrName>
                                        </p:attrNameLst>
                                      </p:cBhvr>
                                      <p:to>
                                        <p:strVal val="visible"/>
                                      </p:to>
                                    </p:set>
                                    <p:animEffect transition="in" filter="fade">
                                      <p:cBhvr>
                                        <p:cTn id="110" dur="400"/>
                                        <p:tgtEl>
                                          <p:spTgt spid="56"/>
                                        </p:tgtEl>
                                      </p:cBhvr>
                                    </p:animEffect>
                                  </p:childTnLst>
                                </p:cTn>
                              </p:par>
                              <p:par>
                                <p:cTn id="111" presetID="10" presetClass="entr" presetSubtype="0" fill="hold" grpId="0" nodeType="withEffect">
                                  <p:stCondLst>
                                    <p:cond delay="900"/>
                                  </p:stCondLst>
                                  <p:childTnLst>
                                    <p:set>
                                      <p:cBhvr>
                                        <p:cTn id="112" dur="1" fill="hold">
                                          <p:stCondLst>
                                            <p:cond delay="0"/>
                                          </p:stCondLst>
                                        </p:cTn>
                                        <p:tgtEl>
                                          <p:spTgt spid="57"/>
                                        </p:tgtEl>
                                        <p:attrNameLst>
                                          <p:attrName>style.visibility</p:attrName>
                                        </p:attrNameLst>
                                      </p:cBhvr>
                                      <p:to>
                                        <p:strVal val="visible"/>
                                      </p:to>
                                    </p:set>
                                    <p:animEffect transition="in" filter="fade">
                                      <p:cBhvr>
                                        <p:cTn id="113" dur="400"/>
                                        <p:tgtEl>
                                          <p:spTgt spid="57"/>
                                        </p:tgtEl>
                                      </p:cBhvr>
                                    </p:animEffect>
                                  </p:childTnLst>
                                </p:cTn>
                              </p:par>
                              <p:par>
                                <p:cTn id="114" presetID="10" presetClass="entr" presetSubtype="0" fill="hold" grpId="0" nodeType="withEffect">
                                  <p:stCondLst>
                                    <p:cond delay="900"/>
                                  </p:stCondLst>
                                  <p:childTnLst>
                                    <p:set>
                                      <p:cBhvr>
                                        <p:cTn id="115" dur="1" fill="hold">
                                          <p:stCondLst>
                                            <p:cond delay="0"/>
                                          </p:stCondLst>
                                        </p:cTn>
                                        <p:tgtEl>
                                          <p:spTgt spid="58"/>
                                        </p:tgtEl>
                                        <p:attrNameLst>
                                          <p:attrName>style.visibility</p:attrName>
                                        </p:attrNameLst>
                                      </p:cBhvr>
                                      <p:to>
                                        <p:strVal val="visible"/>
                                      </p:to>
                                    </p:set>
                                    <p:animEffect transition="in" filter="fade">
                                      <p:cBhvr>
                                        <p:cTn id="116" dur="400"/>
                                        <p:tgtEl>
                                          <p:spTgt spid="58"/>
                                        </p:tgtEl>
                                      </p:cBhvr>
                                    </p:animEffect>
                                  </p:childTnLst>
                                </p:cTn>
                              </p:par>
                              <p:par>
                                <p:cTn id="117" presetID="10" presetClass="entr" presetSubtype="0" fill="hold" grpId="0" nodeType="withEffect">
                                  <p:stCondLst>
                                    <p:cond delay="900"/>
                                  </p:stCondLst>
                                  <p:childTnLst>
                                    <p:set>
                                      <p:cBhvr>
                                        <p:cTn id="118" dur="1" fill="hold">
                                          <p:stCondLst>
                                            <p:cond delay="0"/>
                                          </p:stCondLst>
                                        </p:cTn>
                                        <p:tgtEl>
                                          <p:spTgt spid="59"/>
                                        </p:tgtEl>
                                        <p:attrNameLst>
                                          <p:attrName>style.visibility</p:attrName>
                                        </p:attrNameLst>
                                      </p:cBhvr>
                                      <p:to>
                                        <p:strVal val="visible"/>
                                      </p:to>
                                    </p:set>
                                    <p:animEffect transition="in" filter="fade">
                                      <p:cBhvr>
                                        <p:cTn id="119" dur="400"/>
                                        <p:tgtEl>
                                          <p:spTgt spid="59"/>
                                        </p:tgtEl>
                                      </p:cBhvr>
                                    </p:animEffect>
                                  </p:childTnLst>
                                </p:cTn>
                              </p:par>
                              <p:par>
                                <p:cTn id="120" presetID="10" presetClass="entr" presetSubtype="0" fill="hold" grpId="0" nodeType="withEffect">
                                  <p:stCondLst>
                                    <p:cond delay="900"/>
                                  </p:stCondLst>
                                  <p:childTnLst>
                                    <p:set>
                                      <p:cBhvr>
                                        <p:cTn id="121" dur="1" fill="hold">
                                          <p:stCondLst>
                                            <p:cond delay="0"/>
                                          </p:stCondLst>
                                        </p:cTn>
                                        <p:tgtEl>
                                          <p:spTgt spid="60"/>
                                        </p:tgtEl>
                                        <p:attrNameLst>
                                          <p:attrName>style.visibility</p:attrName>
                                        </p:attrNameLst>
                                      </p:cBhvr>
                                      <p:to>
                                        <p:strVal val="visible"/>
                                      </p:to>
                                    </p:set>
                                    <p:animEffect transition="in" filter="fade">
                                      <p:cBhvr>
                                        <p:cTn id="122" dur="400"/>
                                        <p:tgtEl>
                                          <p:spTgt spid="60"/>
                                        </p:tgtEl>
                                      </p:cBhvr>
                                    </p:animEffect>
                                  </p:childTnLst>
                                </p:cTn>
                              </p:par>
                              <p:par>
                                <p:cTn id="123" presetID="10" presetClass="entr" presetSubtype="0" fill="hold" grpId="0" nodeType="withEffect">
                                  <p:stCondLst>
                                    <p:cond delay="900"/>
                                  </p:stCondLst>
                                  <p:childTnLst>
                                    <p:set>
                                      <p:cBhvr>
                                        <p:cTn id="124" dur="1" fill="hold">
                                          <p:stCondLst>
                                            <p:cond delay="0"/>
                                          </p:stCondLst>
                                        </p:cTn>
                                        <p:tgtEl>
                                          <p:spTgt spid="61"/>
                                        </p:tgtEl>
                                        <p:attrNameLst>
                                          <p:attrName>style.visibility</p:attrName>
                                        </p:attrNameLst>
                                      </p:cBhvr>
                                      <p:to>
                                        <p:strVal val="visible"/>
                                      </p:to>
                                    </p:set>
                                    <p:animEffect transition="in" filter="fade">
                                      <p:cBhvr>
                                        <p:cTn id="125" dur="400"/>
                                        <p:tgtEl>
                                          <p:spTgt spid="61"/>
                                        </p:tgtEl>
                                      </p:cBhvr>
                                    </p:animEffect>
                                  </p:childTnLst>
                                </p:cTn>
                              </p:par>
                              <p:par>
                                <p:cTn id="126" presetID="10" presetClass="entr" presetSubtype="0" fill="hold" grpId="0" nodeType="withEffect">
                                  <p:stCondLst>
                                    <p:cond delay="900"/>
                                  </p:stCondLst>
                                  <p:childTnLst>
                                    <p:set>
                                      <p:cBhvr>
                                        <p:cTn id="127" dur="1" fill="hold">
                                          <p:stCondLst>
                                            <p:cond delay="0"/>
                                          </p:stCondLst>
                                        </p:cTn>
                                        <p:tgtEl>
                                          <p:spTgt spid="62"/>
                                        </p:tgtEl>
                                        <p:attrNameLst>
                                          <p:attrName>style.visibility</p:attrName>
                                        </p:attrNameLst>
                                      </p:cBhvr>
                                      <p:to>
                                        <p:strVal val="visible"/>
                                      </p:to>
                                    </p:set>
                                    <p:animEffect transition="in" filter="fade">
                                      <p:cBhvr>
                                        <p:cTn id="128" dur="400"/>
                                        <p:tgtEl>
                                          <p:spTgt spid="62"/>
                                        </p:tgtEl>
                                      </p:cBhvr>
                                    </p:animEffect>
                                  </p:childTnLst>
                                </p:cTn>
                              </p:par>
                              <p:par>
                                <p:cTn id="129" presetID="10" presetClass="entr" presetSubtype="0" fill="hold" grpId="0" nodeType="withEffect">
                                  <p:stCondLst>
                                    <p:cond delay="900"/>
                                  </p:stCondLst>
                                  <p:childTnLst>
                                    <p:set>
                                      <p:cBhvr>
                                        <p:cTn id="130" dur="1" fill="hold">
                                          <p:stCondLst>
                                            <p:cond delay="0"/>
                                          </p:stCondLst>
                                        </p:cTn>
                                        <p:tgtEl>
                                          <p:spTgt spid="63"/>
                                        </p:tgtEl>
                                        <p:attrNameLst>
                                          <p:attrName>style.visibility</p:attrName>
                                        </p:attrNameLst>
                                      </p:cBhvr>
                                      <p:to>
                                        <p:strVal val="visible"/>
                                      </p:to>
                                    </p:set>
                                    <p:animEffect transition="in" filter="fade">
                                      <p:cBhvr>
                                        <p:cTn id="131" dur="400"/>
                                        <p:tgtEl>
                                          <p:spTgt spid="63"/>
                                        </p:tgtEl>
                                      </p:cBhvr>
                                    </p:animEffect>
                                  </p:childTnLst>
                                </p:cTn>
                              </p:par>
                              <p:par>
                                <p:cTn id="132" presetID="10" presetClass="entr" presetSubtype="0" fill="hold" grpId="0" nodeType="withEffect">
                                  <p:stCondLst>
                                    <p:cond delay="900"/>
                                  </p:stCondLst>
                                  <p:childTnLst>
                                    <p:set>
                                      <p:cBhvr>
                                        <p:cTn id="133" dur="1" fill="hold">
                                          <p:stCondLst>
                                            <p:cond delay="0"/>
                                          </p:stCondLst>
                                        </p:cTn>
                                        <p:tgtEl>
                                          <p:spTgt spid="64"/>
                                        </p:tgtEl>
                                        <p:attrNameLst>
                                          <p:attrName>style.visibility</p:attrName>
                                        </p:attrNameLst>
                                      </p:cBhvr>
                                      <p:to>
                                        <p:strVal val="visible"/>
                                      </p:to>
                                    </p:set>
                                    <p:animEffect transition="in" filter="fade">
                                      <p:cBhvr>
                                        <p:cTn id="134" dur="400"/>
                                        <p:tgtEl>
                                          <p:spTgt spid="64"/>
                                        </p:tgtEl>
                                      </p:cBhvr>
                                    </p:animEffect>
                                  </p:childTnLst>
                                </p:cTn>
                              </p:par>
                              <p:par>
                                <p:cTn id="135" presetID="10" presetClass="entr" presetSubtype="0" fill="hold" grpId="0" nodeType="withEffect">
                                  <p:stCondLst>
                                    <p:cond delay="900"/>
                                  </p:stCondLst>
                                  <p:childTnLst>
                                    <p:set>
                                      <p:cBhvr>
                                        <p:cTn id="136" dur="1" fill="hold">
                                          <p:stCondLst>
                                            <p:cond delay="0"/>
                                          </p:stCondLst>
                                        </p:cTn>
                                        <p:tgtEl>
                                          <p:spTgt spid="65"/>
                                        </p:tgtEl>
                                        <p:attrNameLst>
                                          <p:attrName>style.visibility</p:attrName>
                                        </p:attrNameLst>
                                      </p:cBhvr>
                                      <p:to>
                                        <p:strVal val="visible"/>
                                      </p:to>
                                    </p:set>
                                    <p:animEffect transition="in" filter="fade">
                                      <p:cBhvr>
                                        <p:cTn id="137" dur="400"/>
                                        <p:tgtEl>
                                          <p:spTgt spid="65"/>
                                        </p:tgtEl>
                                      </p:cBhvr>
                                    </p:animEffect>
                                  </p:childTnLst>
                                </p:cTn>
                              </p:par>
                              <p:par>
                                <p:cTn id="138" presetID="10" presetClass="entr" presetSubtype="0" fill="hold" grpId="0" nodeType="withEffect">
                                  <p:stCondLst>
                                    <p:cond delay="900"/>
                                  </p:stCondLst>
                                  <p:childTnLst>
                                    <p:set>
                                      <p:cBhvr>
                                        <p:cTn id="139" dur="1" fill="hold">
                                          <p:stCondLst>
                                            <p:cond delay="0"/>
                                          </p:stCondLst>
                                        </p:cTn>
                                        <p:tgtEl>
                                          <p:spTgt spid="66"/>
                                        </p:tgtEl>
                                        <p:attrNameLst>
                                          <p:attrName>style.visibility</p:attrName>
                                        </p:attrNameLst>
                                      </p:cBhvr>
                                      <p:to>
                                        <p:strVal val="visible"/>
                                      </p:to>
                                    </p:set>
                                    <p:animEffect transition="in" filter="fade">
                                      <p:cBhvr>
                                        <p:cTn id="140" dur="400"/>
                                        <p:tgtEl>
                                          <p:spTgt spid="66"/>
                                        </p:tgtEl>
                                      </p:cBhvr>
                                    </p:animEffect>
                                  </p:childTnLst>
                                </p:cTn>
                              </p:par>
                              <p:par>
                                <p:cTn id="141" presetID="10" presetClass="entr" presetSubtype="0" fill="hold" grpId="0" nodeType="withEffect">
                                  <p:stCondLst>
                                    <p:cond delay="900"/>
                                  </p:stCondLst>
                                  <p:childTnLst>
                                    <p:set>
                                      <p:cBhvr>
                                        <p:cTn id="142" dur="1" fill="hold">
                                          <p:stCondLst>
                                            <p:cond delay="0"/>
                                          </p:stCondLst>
                                        </p:cTn>
                                        <p:tgtEl>
                                          <p:spTgt spid="67"/>
                                        </p:tgtEl>
                                        <p:attrNameLst>
                                          <p:attrName>style.visibility</p:attrName>
                                        </p:attrNameLst>
                                      </p:cBhvr>
                                      <p:to>
                                        <p:strVal val="visible"/>
                                      </p:to>
                                    </p:set>
                                    <p:animEffect transition="in" filter="fade">
                                      <p:cBhvr>
                                        <p:cTn id="143" dur="400"/>
                                        <p:tgtEl>
                                          <p:spTgt spid="67"/>
                                        </p:tgtEl>
                                      </p:cBhvr>
                                    </p:animEffect>
                                  </p:childTnLst>
                                </p:cTn>
                              </p:par>
                              <p:par>
                                <p:cTn id="144" presetID="10" presetClass="entr" presetSubtype="0" fill="hold" grpId="0" nodeType="withEffect">
                                  <p:stCondLst>
                                    <p:cond delay="900"/>
                                  </p:stCondLst>
                                  <p:childTnLst>
                                    <p:set>
                                      <p:cBhvr>
                                        <p:cTn id="145" dur="1" fill="hold">
                                          <p:stCondLst>
                                            <p:cond delay="0"/>
                                          </p:stCondLst>
                                        </p:cTn>
                                        <p:tgtEl>
                                          <p:spTgt spid="68"/>
                                        </p:tgtEl>
                                        <p:attrNameLst>
                                          <p:attrName>style.visibility</p:attrName>
                                        </p:attrNameLst>
                                      </p:cBhvr>
                                      <p:to>
                                        <p:strVal val="visible"/>
                                      </p:to>
                                    </p:set>
                                    <p:animEffect transition="in" filter="fade">
                                      <p:cBhvr>
                                        <p:cTn id="146" dur="400"/>
                                        <p:tgtEl>
                                          <p:spTgt spid="68"/>
                                        </p:tgtEl>
                                      </p:cBhvr>
                                    </p:animEffect>
                                  </p:childTnLst>
                                </p:cTn>
                              </p:par>
                              <p:par>
                                <p:cTn id="147" presetID="10" presetClass="entr" presetSubtype="0" fill="hold" grpId="0" nodeType="withEffect">
                                  <p:stCondLst>
                                    <p:cond delay="900"/>
                                  </p:stCondLst>
                                  <p:childTnLst>
                                    <p:set>
                                      <p:cBhvr>
                                        <p:cTn id="148" dur="1" fill="hold">
                                          <p:stCondLst>
                                            <p:cond delay="0"/>
                                          </p:stCondLst>
                                        </p:cTn>
                                        <p:tgtEl>
                                          <p:spTgt spid="69"/>
                                        </p:tgtEl>
                                        <p:attrNameLst>
                                          <p:attrName>style.visibility</p:attrName>
                                        </p:attrNameLst>
                                      </p:cBhvr>
                                      <p:to>
                                        <p:strVal val="visible"/>
                                      </p:to>
                                    </p:set>
                                    <p:animEffect transition="in" filter="fade">
                                      <p:cBhvr>
                                        <p:cTn id="149" dur="400"/>
                                        <p:tgtEl>
                                          <p:spTgt spid="69"/>
                                        </p:tgtEl>
                                      </p:cBhvr>
                                    </p:animEffect>
                                  </p:childTnLst>
                                </p:cTn>
                              </p:par>
                              <p:par>
                                <p:cTn id="150" presetID="10" presetClass="entr" presetSubtype="0" fill="hold" grpId="0" nodeType="withEffect">
                                  <p:stCondLst>
                                    <p:cond delay="900"/>
                                  </p:stCondLst>
                                  <p:childTnLst>
                                    <p:set>
                                      <p:cBhvr>
                                        <p:cTn id="151" dur="1" fill="hold">
                                          <p:stCondLst>
                                            <p:cond delay="0"/>
                                          </p:stCondLst>
                                        </p:cTn>
                                        <p:tgtEl>
                                          <p:spTgt spid="70"/>
                                        </p:tgtEl>
                                        <p:attrNameLst>
                                          <p:attrName>style.visibility</p:attrName>
                                        </p:attrNameLst>
                                      </p:cBhvr>
                                      <p:to>
                                        <p:strVal val="visible"/>
                                      </p:to>
                                    </p:set>
                                    <p:animEffect transition="in" filter="fade">
                                      <p:cBhvr>
                                        <p:cTn id="152" dur="400"/>
                                        <p:tgtEl>
                                          <p:spTgt spid="70"/>
                                        </p:tgtEl>
                                      </p:cBhvr>
                                    </p:animEffect>
                                  </p:childTnLst>
                                </p:cTn>
                              </p:par>
                              <p:par>
                                <p:cTn id="153" presetID="10" presetClass="entr" presetSubtype="0" fill="hold" grpId="0" nodeType="withEffect">
                                  <p:stCondLst>
                                    <p:cond delay="900"/>
                                  </p:stCondLst>
                                  <p:childTnLst>
                                    <p:set>
                                      <p:cBhvr>
                                        <p:cTn id="154" dur="1" fill="hold">
                                          <p:stCondLst>
                                            <p:cond delay="0"/>
                                          </p:stCondLst>
                                        </p:cTn>
                                        <p:tgtEl>
                                          <p:spTgt spid="71"/>
                                        </p:tgtEl>
                                        <p:attrNameLst>
                                          <p:attrName>style.visibility</p:attrName>
                                        </p:attrNameLst>
                                      </p:cBhvr>
                                      <p:to>
                                        <p:strVal val="visible"/>
                                      </p:to>
                                    </p:set>
                                    <p:animEffect transition="in" filter="fade">
                                      <p:cBhvr>
                                        <p:cTn id="155" dur="400"/>
                                        <p:tgtEl>
                                          <p:spTgt spid="71"/>
                                        </p:tgtEl>
                                      </p:cBhvr>
                                    </p:animEffect>
                                  </p:childTnLst>
                                </p:cTn>
                              </p:par>
                              <p:par>
                                <p:cTn id="156" presetID="10" presetClass="entr" presetSubtype="0" fill="hold" grpId="0" nodeType="withEffect">
                                  <p:stCondLst>
                                    <p:cond delay="900"/>
                                  </p:stCondLst>
                                  <p:childTnLst>
                                    <p:set>
                                      <p:cBhvr>
                                        <p:cTn id="157" dur="1" fill="hold">
                                          <p:stCondLst>
                                            <p:cond delay="0"/>
                                          </p:stCondLst>
                                        </p:cTn>
                                        <p:tgtEl>
                                          <p:spTgt spid="72"/>
                                        </p:tgtEl>
                                        <p:attrNameLst>
                                          <p:attrName>style.visibility</p:attrName>
                                        </p:attrNameLst>
                                      </p:cBhvr>
                                      <p:to>
                                        <p:strVal val="visible"/>
                                      </p:to>
                                    </p:set>
                                    <p:animEffect transition="in" filter="fade">
                                      <p:cBhvr>
                                        <p:cTn id="158" dur="400"/>
                                        <p:tgtEl>
                                          <p:spTgt spid="72"/>
                                        </p:tgtEl>
                                      </p:cBhvr>
                                    </p:animEffect>
                                  </p:childTnLst>
                                </p:cTn>
                              </p:par>
                              <p:par>
                                <p:cTn id="159" presetID="10" presetClass="entr" presetSubtype="0" fill="hold" grpId="0" nodeType="withEffect">
                                  <p:stCondLst>
                                    <p:cond delay="900"/>
                                  </p:stCondLst>
                                  <p:childTnLst>
                                    <p:set>
                                      <p:cBhvr>
                                        <p:cTn id="160" dur="1" fill="hold">
                                          <p:stCondLst>
                                            <p:cond delay="0"/>
                                          </p:stCondLst>
                                        </p:cTn>
                                        <p:tgtEl>
                                          <p:spTgt spid="73"/>
                                        </p:tgtEl>
                                        <p:attrNameLst>
                                          <p:attrName>style.visibility</p:attrName>
                                        </p:attrNameLst>
                                      </p:cBhvr>
                                      <p:to>
                                        <p:strVal val="visible"/>
                                      </p:to>
                                    </p:set>
                                    <p:animEffect transition="in" filter="fade">
                                      <p:cBhvr>
                                        <p:cTn id="161" dur="400"/>
                                        <p:tgtEl>
                                          <p:spTgt spid="73"/>
                                        </p:tgtEl>
                                      </p:cBhvr>
                                    </p:animEffect>
                                  </p:childTnLst>
                                </p:cTn>
                              </p:par>
                              <p:par>
                                <p:cTn id="162" presetID="10" presetClass="entr" presetSubtype="0" fill="hold" grpId="0" nodeType="withEffect">
                                  <p:stCondLst>
                                    <p:cond delay="900"/>
                                  </p:stCondLst>
                                  <p:childTnLst>
                                    <p:set>
                                      <p:cBhvr>
                                        <p:cTn id="163" dur="1" fill="hold">
                                          <p:stCondLst>
                                            <p:cond delay="0"/>
                                          </p:stCondLst>
                                        </p:cTn>
                                        <p:tgtEl>
                                          <p:spTgt spid="74"/>
                                        </p:tgtEl>
                                        <p:attrNameLst>
                                          <p:attrName>style.visibility</p:attrName>
                                        </p:attrNameLst>
                                      </p:cBhvr>
                                      <p:to>
                                        <p:strVal val="visible"/>
                                      </p:to>
                                    </p:set>
                                    <p:animEffect transition="in" filter="fade">
                                      <p:cBhvr>
                                        <p:cTn id="164" dur="400"/>
                                        <p:tgtEl>
                                          <p:spTgt spid="74"/>
                                        </p:tgtEl>
                                      </p:cBhvr>
                                    </p:animEffect>
                                  </p:childTnLst>
                                </p:cTn>
                              </p:par>
                              <p:par>
                                <p:cTn id="165" presetID="10" presetClass="entr" presetSubtype="0" fill="hold" grpId="0" nodeType="withEffect">
                                  <p:stCondLst>
                                    <p:cond delay="900"/>
                                  </p:stCondLst>
                                  <p:childTnLst>
                                    <p:set>
                                      <p:cBhvr>
                                        <p:cTn id="166" dur="1" fill="hold">
                                          <p:stCondLst>
                                            <p:cond delay="0"/>
                                          </p:stCondLst>
                                        </p:cTn>
                                        <p:tgtEl>
                                          <p:spTgt spid="75"/>
                                        </p:tgtEl>
                                        <p:attrNameLst>
                                          <p:attrName>style.visibility</p:attrName>
                                        </p:attrNameLst>
                                      </p:cBhvr>
                                      <p:to>
                                        <p:strVal val="visible"/>
                                      </p:to>
                                    </p:set>
                                    <p:animEffect transition="in" filter="fade">
                                      <p:cBhvr>
                                        <p:cTn id="167" dur="400"/>
                                        <p:tgtEl>
                                          <p:spTgt spid="75"/>
                                        </p:tgtEl>
                                      </p:cBhvr>
                                    </p:animEffect>
                                  </p:childTnLst>
                                </p:cTn>
                              </p:par>
                              <p:par>
                                <p:cTn id="168" presetID="10" presetClass="entr" presetSubtype="0" fill="hold" grpId="0" nodeType="withEffect">
                                  <p:stCondLst>
                                    <p:cond delay="900"/>
                                  </p:stCondLst>
                                  <p:childTnLst>
                                    <p:set>
                                      <p:cBhvr>
                                        <p:cTn id="169" dur="1" fill="hold">
                                          <p:stCondLst>
                                            <p:cond delay="0"/>
                                          </p:stCondLst>
                                        </p:cTn>
                                        <p:tgtEl>
                                          <p:spTgt spid="76"/>
                                        </p:tgtEl>
                                        <p:attrNameLst>
                                          <p:attrName>style.visibility</p:attrName>
                                        </p:attrNameLst>
                                      </p:cBhvr>
                                      <p:to>
                                        <p:strVal val="visible"/>
                                      </p:to>
                                    </p:set>
                                    <p:animEffect transition="in" filter="fade">
                                      <p:cBhvr>
                                        <p:cTn id="170" dur="400"/>
                                        <p:tgtEl>
                                          <p:spTgt spid="76"/>
                                        </p:tgtEl>
                                      </p:cBhvr>
                                    </p:animEffect>
                                  </p:childTnLst>
                                </p:cTn>
                              </p:par>
                              <p:par>
                                <p:cTn id="171" presetID="10" presetClass="entr" presetSubtype="0" fill="hold" grpId="0" nodeType="withEffect">
                                  <p:stCondLst>
                                    <p:cond delay="900"/>
                                  </p:stCondLst>
                                  <p:childTnLst>
                                    <p:set>
                                      <p:cBhvr>
                                        <p:cTn id="172" dur="1" fill="hold">
                                          <p:stCondLst>
                                            <p:cond delay="0"/>
                                          </p:stCondLst>
                                        </p:cTn>
                                        <p:tgtEl>
                                          <p:spTgt spid="77"/>
                                        </p:tgtEl>
                                        <p:attrNameLst>
                                          <p:attrName>style.visibility</p:attrName>
                                        </p:attrNameLst>
                                      </p:cBhvr>
                                      <p:to>
                                        <p:strVal val="visible"/>
                                      </p:to>
                                    </p:set>
                                    <p:animEffect transition="in" filter="fade">
                                      <p:cBhvr>
                                        <p:cTn id="173" dur="400"/>
                                        <p:tgtEl>
                                          <p:spTgt spid="77"/>
                                        </p:tgtEl>
                                      </p:cBhvr>
                                    </p:animEffect>
                                  </p:childTnLst>
                                </p:cTn>
                              </p:par>
                              <p:par>
                                <p:cTn id="174" presetID="10" presetClass="entr" presetSubtype="0" fill="hold" grpId="0" nodeType="withEffect">
                                  <p:stCondLst>
                                    <p:cond delay="900"/>
                                  </p:stCondLst>
                                  <p:childTnLst>
                                    <p:set>
                                      <p:cBhvr>
                                        <p:cTn id="175" dur="1" fill="hold">
                                          <p:stCondLst>
                                            <p:cond delay="0"/>
                                          </p:stCondLst>
                                        </p:cTn>
                                        <p:tgtEl>
                                          <p:spTgt spid="78"/>
                                        </p:tgtEl>
                                        <p:attrNameLst>
                                          <p:attrName>style.visibility</p:attrName>
                                        </p:attrNameLst>
                                      </p:cBhvr>
                                      <p:to>
                                        <p:strVal val="visible"/>
                                      </p:to>
                                    </p:set>
                                    <p:animEffect transition="in" filter="fade">
                                      <p:cBhvr>
                                        <p:cTn id="176" dur="400"/>
                                        <p:tgtEl>
                                          <p:spTgt spid="78"/>
                                        </p:tgtEl>
                                      </p:cBhvr>
                                    </p:animEffect>
                                  </p:childTnLst>
                                </p:cTn>
                              </p:par>
                            </p:childTnLst>
                          </p:cTn>
                        </p:par>
                      </p:childTnLst>
                    </p:cTn>
                  </p:par>
                  <p:par>
                    <p:cTn id="233" fill="hold">
                      <p:stCondLst>
                        <p:cond delay="indefinite"/>
                      </p:stCondLst>
                      <p:childTnLst>
                        <p:par>
                          <p:cTn id="234"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79"/>
                                        </p:tgtEl>
                                        <p:attrNameLst>
                                          <p:attrName>style.visibility</p:attrName>
                                        </p:attrNameLst>
                                      </p:cBhvr>
                                      <p:to>
                                        <p:strVal val="visible"/>
                                      </p:to>
                                    </p:set>
                                    <p:animEffect transition="in" filter="fade">
                                      <p:cBhvr>
                                        <p:cTn id="181" dur="400"/>
                                        <p:tgtEl>
                                          <p:spTgt spid="79"/>
                                        </p:tgtEl>
                                      </p:cBhvr>
                                    </p:animEffect>
                                  </p:childTnLst>
                                </p:cTn>
                              </p:par>
                              <p:par>
                                <p:cTn id="182" presetID="10" presetClass="entr" presetSubtype="0" fill="hold" grpId="0" nodeType="withEffect">
                                  <p:stCondLst>
                                    <p:cond delay="90"/>
                                  </p:stCondLst>
                                  <p:childTnLst>
                                    <p:set>
                                      <p:cBhvr>
                                        <p:cTn id="183" dur="1" fill="hold">
                                          <p:stCondLst>
                                            <p:cond delay="0"/>
                                          </p:stCondLst>
                                        </p:cTn>
                                        <p:tgtEl>
                                          <p:spTgt spid="80"/>
                                        </p:tgtEl>
                                        <p:attrNameLst>
                                          <p:attrName>style.visibility</p:attrName>
                                        </p:attrNameLst>
                                      </p:cBhvr>
                                      <p:to>
                                        <p:strVal val="visible"/>
                                      </p:to>
                                    </p:set>
                                    <p:animEffect transition="in" filter="fade">
                                      <p:cBhvr>
                                        <p:cTn id="184" dur="400"/>
                                        <p:tgtEl>
                                          <p:spTgt spid="80"/>
                                        </p:tgtEl>
                                      </p:cBhvr>
                                    </p:animEffect>
                                  </p:childTnLst>
                                </p:cTn>
                              </p:par>
                              <p:par>
                                <p:cTn id="185" presetID="10" presetClass="entr" presetSubtype="0" fill="hold" grpId="0" nodeType="withEffect">
                                  <p:stCondLst>
                                    <p:cond delay="180"/>
                                  </p:stCondLst>
                                  <p:childTnLst>
                                    <p:set>
                                      <p:cBhvr>
                                        <p:cTn id="186" dur="1" fill="hold">
                                          <p:stCondLst>
                                            <p:cond delay="0"/>
                                          </p:stCondLst>
                                        </p:cTn>
                                        <p:tgtEl>
                                          <p:spTgt spid="81"/>
                                        </p:tgtEl>
                                        <p:attrNameLst>
                                          <p:attrName>style.visibility</p:attrName>
                                        </p:attrNameLst>
                                      </p:cBhvr>
                                      <p:to>
                                        <p:strVal val="visible"/>
                                      </p:to>
                                    </p:set>
                                    <p:animEffect transition="in" filter="fade">
                                      <p:cBhvr>
                                        <p:cTn id="187" dur="400"/>
                                        <p:tgtEl>
                                          <p:spTgt spid="81"/>
                                        </p:tgtEl>
                                      </p:cBhvr>
                                    </p:animEffect>
                                  </p:childTnLst>
                                </p:cTn>
                              </p:par>
                              <p:par>
                                <p:cTn id="188" presetID="10" presetClass="entr" presetSubtype="0" fill="hold" grpId="0" nodeType="withEffect">
                                  <p:stCondLst>
                                    <p:cond delay="270"/>
                                  </p:stCondLst>
                                  <p:childTnLst>
                                    <p:set>
                                      <p:cBhvr>
                                        <p:cTn id="189" dur="1" fill="hold">
                                          <p:stCondLst>
                                            <p:cond delay="0"/>
                                          </p:stCondLst>
                                        </p:cTn>
                                        <p:tgtEl>
                                          <p:spTgt spid="82"/>
                                        </p:tgtEl>
                                        <p:attrNameLst>
                                          <p:attrName>style.visibility</p:attrName>
                                        </p:attrNameLst>
                                      </p:cBhvr>
                                      <p:to>
                                        <p:strVal val="visible"/>
                                      </p:to>
                                    </p:set>
                                    <p:animEffect transition="in" filter="fade">
                                      <p:cBhvr>
                                        <p:cTn id="190" dur="400"/>
                                        <p:tgtEl>
                                          <p:spTgt spid="82"/>
                                        </p:tgtEl>
                                      </p:cBhvr>
                                    </p:animEffect>
                                  </p:childTnLst>
                                </p:cTn>
                              </p:par>
                              <p:par>
                                <p:cTn id="191" presetID="10" presetClass="entr" presetSubtype="0" fill="hold" grpId="0" nodeType="withEffect">
                                  <p:stCondLst>
                                    <p:cond delay="360"/>
                                  </p:stCondLst>
                                  <p:childTnLst>
                                    <p:set>
                                      <p:cBhvr>
                                        <p:cTn id="192" dur="1" fill="hold">
                                          <p:stCondLst>
                                            <p:cond delay="0"/>
                                          </p:stCondLst>
                                        </p:cTn>
                                        <p:tgtEl>
                                          <p:spTgt spid="83"/>
                                        </p:tgtEl>
                                        <p:attrNameLst>
                                          <p:attrName>style.visibility</p:attrName>
                                        </p:attrNameLst>
                                      </p:cBhvr>
                                      <p:to>
                                        <p:strVal val="visible"/>
                                      </p:to>
                                    </p:set>
                                    <p:animEffect transition="in" filter="fade">
                                      <p:cBhvr>
                                        <p:cTn id="193" dur="400"/>
                                        <p:tgtEl>
                                          <p:spTgt spid="83"/>
                                        </p:tgtEl>
                                      </p:cBhvr>
                                    </p:animEffect>
                                  </p:childTnLst>
                                </p:cTn>
                              </p:par>
                              <p:par>
                                <p:cTn id="194" presetID="10" presetClass="entr" presetSubtype="0" fill="hold" grpId="0" nodeType="withEffect">
                                  <p:stCondLst>
                                    <p:cond delay="450"/>
                                  </p:stCondLst>
                                  <p:childTnLst>
                                    <p:set>
                                      <p:cBhvr>
                                        <p:cTn id="195" dur="1" fill="hold">
                                          <p:stCondLst>
                                            <p:cond delay="0"/>
                                          </p:stCondLst>
                                        </p:cTn>
                                        <p:tgtEl>
                                          <p:spTgt spid="84"/>
                                        </p:tgtEl>
                                        <p:attrNameLst>
                                          <p:attrName>style.visibility</p:attrName>
                                        </p:attrNameLst>
                                      </p:cBhvr>
                                      <p:to>
                                        <p:strVal val="visible"/>
                                      </p:to>
                                    </p:set>
                                    <p:animEffect transition="in" filter="fade">
                                      <p:cBhvr>
                                        <p:cTn id="196" dur="400"/>
                                        <p:tgtEl>
                                          <p:spTgt spid="84"/>
                                        </p:tgtEl>
                                      </p:cBhvr>
                                    </p:animEffect>
                                  </p:childTnLst>
                                </p:cTn>
                              </p:par>
                              <p:par>
                                <p:cTn id="197" presetID="10" presetClass="entr" presetSubtype="0" fill="hold" grpId="0" nodeType="withEffect">
                                  <p:stCondLst>
                                    <p:cond delay="540"/>
                                  </p:stCondLst>
                                  <p:childTnLst>
                                    <p:set>
                                      <p:cBhvr>
                                        <p:cTn id="198" dur="1" fill="hold">
                                          <p:stCondLst>
                                            <p:cond delay="0"/>
                                          </p:stCondLst>
                                        </p:cTn>
                                        <p:tgtEl>
                                          <p:spTgt spid="85"/>
                                        </p:tgtEl>
                                        <p:attrNameLst>
                                          <p:attrName>style.visibility</p:attrName>
                                        </p:attrNameLst>
                                      </p:cBhvr>
                                      <p:to>
                                        <p:strVal val="visible"/>
                                      </p:to>
                                    </p:set>
                                    <p:animEffect transition="in" filter="fade">
                                      <p:cBhvr>
                                        <p:cTn id="199" dur="400"/>
                                        <p:tgtEl>
                                          <p:spTgt spid="85"/>
                                        </p:tgtEl>
                                      </p:cBhvr>
                                    </p:animEffect>
                                  </p:childTnLst>
                                </p:cTn>
                              </p:par>
                              <p:par>
                                <p:cTn id="200" presetID="10" presetClass="entr" presetSubtype="0" fill="hold" grpId="0" nodeType="withEffect">
                                  <p:stCondLst>
                                    <p:cond delay="630"/>
                                  </p:stCondLst>
                                  <p:childTnLst>
                                    <p:set>
                                      <p:cBhvr>
                                        <p:cTn id="201" dur="1" fill="hold">
                                          <p:stCondLst>
                                            <p:cond delay="0"/>
                                          </p:stCondLst>
                                        </p:cTn>
                                        <p:tgtEl>
                                          <p:spTgt spid="86"/>
                                        </p:tgtEl>
                                        <p:attrNameLst>
                                          <p:attrName>style.visibility</p:attrName>
                                        </p:attrNameLst>
                                      </p:cBhvr>
                                      <p:to>
                                        <p:strVal val="visible"/>
                                      </p:to>
                                    </p:set>
                                    <p:animEffect transition="in" filter="fade">
                                      <p:cBhvr>
                                        <p:cTn id="202" dur="400"/>
                                        <p:tgtEl>
                                          <p:spTgt spid="86"/>
                                        </p:tgtEl>
                                      </p:cBhvr>
                                    </p:animEffect>
                                  </p:childTnLst>
                                </p:cTn>
                              </p:par>
                              <p:par>
                                <p:cTn id="203" presetID="10" presetClass="entr" presetSubtype="0" fill="hold" grpId="0" nodeType="withEffect">
                                  <p:stCondLst>
                                    <p:cond delay="720"/>
                                  </p:stCondLst>
                                  <p:childTnLst>
                                    <p:set>
                                      <p:cBhvr>
                                        <p:cTn id="204" dur="1" fill="hold">
                                          <p:stCondLst>
                                            <p:cond delay="0"/>
                                          </p:stCondLst>
                                        </p:cTn>
                                        <p:tgtEl>
                                          <p:spTgt spid="87"/>
                                        </p:tgtEl>
                                        <p:attrNameLst>
                                          <p:attrName>style.visibility</p:attrName>
                                        </p:attrNameLst>
                                      </p:cBhvr>
                                      <p:to>
                                        <p:strVal val="visible"/>
                                      </p:to>
                                    </p:set>
                                    <p:animEffect transition="in" filter="fade">
                                      <p:cBhvr>
                                        <p:cTn id="205" dur="400"/>
                                        <p:tgtEl>
                                          <p:spTgt spid="87"/>
                                        </p:tgtEl>
                                      </p:cBhvr>
                                    </p:animEffect>
                                  </p:childTnLst>
                                </p:cTn>
                              </p:par>
                              <p:par>
                                <p:cTn id="206" presetID="10" presetClass="entr" presetSubtype="0" fill="hold" grpId="0" nodeType="withEffect">
                                  <p:stCondLst>
                                    <p:cond delay="810"/>
                                  </p:stCondLst>
                                  <p:childTnLst>
                                    <p:set>
                                      <p:cBhvr>
                                        <p:cTn id="207" dur="1" fill="hold">
                                          <p:stCondLst>
                                            <p:cond delay="0"/>
                                          </p:stCondLst>
                                        </p:cTn>
                                        <p:tgtEl>
                                          <p:spTgt spid="88"/>
                                        </p:tgtEl>
                                        <p:attrNameLst>
                                          <p:attrName>style.visibility</p:attrName>
                                        </p:attrNameLst>
                                      </p:cBhvr>
                                      <p:to>
                                        <p:strVal val="visible"/>
                                      </p:to>
                                    </p:set>
                                    <p:animEffect transition="in" filter="fade">
                                      <p:cBhvr>
                                        <p:cTn id="208" dur="400"/>
                                        <p:tgtEl>
                                          <p:spTgt spid="88"/>
                                        </p:tgtEl>
                                      </p:cBhvr>
                                    </p:animEffect>
                                  </p:childTnLst>
                                </p:cTn>
                              </p:par>
                              <p:par>
                                <p:cTn id="209" presetID="10" presetClass="entr" presetSubtype="0" fill="hold" grpId="0" nodeType="withEffect">
                                  <p:stCondLst>
                                    <p:cond delay="900"/>
                                  </p:stCondLst>
                                  <p:childTnLst>
                                    <p:set>
                                      <p:cBhvr>
                                        <p:cTn id="210" dur="1" fill="hold">
                                          <p:stCondLst>
                                            <p:cond delay="0"/>
                                          </p:stCondLst>
                                        </p:cTn>
                                        <p:tgtEl>
                                          <p:spTgt spid="89"/>
                                        </p:tgtEl>
                                        <p:attrNameLst>
                                          <p:attrName>style.visibility</p:attrName>
                                        </p:attrNameLst>
                                      </p:cBhvr>
                                      <p:to>
                                        <p:strVal val="visible"/>
                                      </p:to>
                                    </p:set>
                                    <p:animEffect transition="in" filter="fade">
                                      <p:cBhvr>
                                        <p:cTn id="211" dur="400"/>
                                        <p:tgtEl>
                                          <p:spTgt spid="89"/>
                                        </p:tgtEl>
                                      </p:cBhvr>
                                    </p:animEffect>
                                  </p:childTnLst>
                                </p:cTn>
                              </p:par>
                              <p:par>
                                <p:cTn id="212" presetID="10" presetClass="entr" presetSubtype="0" fill="hold" grpId="0" nodeType="withEffect">
                                  <p:stCondLst>
                                    <p:cond delay="900"/>
                                  </p:stCondLst>
                                  <p:childTnLst>
                                    <p:set>
                                      <p:cBhvr>
                                        <p:cTn id="213" dur="1" fill="hold">
                                          <p:stCondLst>
                                            <p:cond delay="0"/>
                                          </p:stCondLst>
                                        </p:cTn>
                                        <p:tgtEl>
                                          <p:spTgt spid="90"/>
                                        </p:tgtEl>
                                        <p:attrNameLst>
                                          <p:attrName>style.visibility</p:attrName>
                                        </p:attrNameLst>
                                      </p:cBhvr>
                                      <p:to>
                                        <p:strVal val="visible"/>
                                      </p:to>
                                    </p:set>
                                    <p:animEffect transition="in" filter="fade">
                                      <p:cBhvr>
                                        <p:cTn id="214" dur="400"/>
                                        <p:tgtEl>
                                          <p:spTgt spid="90"/>
                                        </p:tgtEl>
                                      </p:cBhvr>
                                    </p:animEffect>
                                  </p:childTnLst>
                                </p:cTn>
                              </p:par>
                              <p:par>
                                <p:cTn id="215" presetID="10" presetClass="entr" presetSubtype="0" fill="hold" grpId="0" nodeType="withEffect">
                                  <p:stCondLst>
                                    <p:cond delay="900"/>
                                  </p:stCondLst>
                                  <p:childTnLst>
                                    <p:set>
                                      <p:cBhvr>
                                        <p:cTn id="216" dur="1" fill="hold">
                                          <p:stCondLst>
                                            <p:cond delay="0"/>
                                          </p:stCondLst>
                                        </p:cTn>
                                        <p:tgtEl>
                                          <p:spTgt spid="91"/>
                                        </p:tgtEl>
                                        <p:attrNameLst>
                                          <p:attrName>style.visibility</p:attrName>
                                        </p:attrNameLst>
                                      </p:cBhvr>
                                      <p:to>
                                        <p:strVal val="visible"/>
                                      </p:to>
                                    </p:set>
                                    <p:animEffect transition="in" filter="fade">
                                      <p:cBhvr>
                                        <p:cTn id="217" dur="400"/>
                                        <p:tgtEl>
                                          <p:spTgt spid="91"/>
                                        </p:tgtEl>
                                      </p:cBhvr>
                                    </p:animEffect>
                                  </p:childTnLst>
                                </p:cTn>
                              </p:par>
                              <p:par>
                                <p:cTn id="218" presetID="10" presetClass="entr" presetSubtype="0" fill="hold" grpId="0" nodeType="withEffect">
                                  <p:stCondLst>
                                    <p:cond delay="900"/>
                                  </p:stCondLst>
                                  <p:childTnLst>
                                    <p:set>
                                      <p:cBhvr>
                                        <p:cTn id="219" dur="1" fill="hold">
                                          <p:stCondLst>
                                            <p:cond delay="0"/>
                                          </p:stCondLst>
                                        </p:cTn>
                                        <p:tgtEl>
                                          <p:spTgt spid="92"/>
                                        </p:tgtEl>
                                        <p:attrNameLst>
                                          <p:attrName>style.visibility</p:attrName>
                                        </p:attrNameLst>
                                      </p:cBhvr>
                                      <p:to>
                                        <p:strVal val="visible"/>
                                      </p:to>
                                    </p:set>
                                    <p:animEffect transition="in" filter="fade">
                                      <p:cBhvr>
                                        <p:cTn id="220" dur="400"/>
                                        <p:tgtEl>
                                          <p:spTgt spid="92"/>
                                        </p:tgtEl>
                                      </p:cBhvr>
                                    </p:animEffect>
                                  </p:childTnLst>
                                </p:cTn>
                              </p:par>
                              <p:par>
                                <p:cTn id="221" presetID="10" presetClass="entr" presetSubtype="0" fill="hold" grpId="0" nodeType="withEffect">
                                  <p:stCondLst>
                                    <p:cond delay="900"/>
                                  </p:stCondLst>
                                  <p:childTnLst>
                                    <p:set>
                                      <p:cBhvr>
                                        <p:cTn id="222" dur="1" fill="hold">
                                          <p:stCondLst>
                                            <p:cond delay="0"/>
                                          </p:stCondLst>
                                        </p:cTn>
                                        <p:tgtEl>
                                          <p:spTgt spid="93"/>
                                        </p:tgtEl>
                                        <p:attrNameLst>
                                          <p:attrName>style.visibility</p:attrName>
                                        </p:attrNameLst>
                                      </p:cBhvr>
                                      <p:to>
                                        <p:strVal val="visible"/>
                                      </p:to>
                                    </p:set>
                                    <p:animEffect transition="in" filter="fade">
                                      <p:cBhvr>
                                        <p:cTn id="223" dur="400"/>
                                        <p:tgtEl>
                                          <p:spTgt spid="93"/>
                                        </p:tgtEl>
                                      </p:cBhvr>
                                    </p:animEffect>
                                  </p:childTnLst>
                                </p:cTn>
                              </p:par>
                              <p:par>
                                <p:cTn id="224" presetID="10" presetClass="entr" presetSubtype="0" fill="hold" grpId="0" nodeType="withEffect">
                                  <p:stCondLst>
                                    <p:cond delay="900"/>
                                  </p:stCondLst>
                                  <p:childTnLst>
                                    <p:set>
                                      <p:cBhvr>
                                        <p:cTn id="225" dur="1" fill="hold">
                                          <p:stCondLst>
                                            <p:cond delay="0"/>
                                          </p:stCondLst>
                                        </p:cTn>
                                        <p:tgtEl>
                                          <p:spTgt spid="94"/>
                                        </p:tgtEl>
                                        <p:attrNameLst>
                                          <p:attrName>style.visibility</p:attrName>
                                        </p:attrNameLst>
                                      </p:cBhvr>
                                      <p:to>
                                        <p:strVal val="visible"/>
                                      </p:to>
                                    </p:set>
                                    <p:animEffect transition="in" filter="fade">
                                      <p:cBhvr>
                                        <p:cTn id="226" dur="400"/>
                                        <p:tgtEl>
                                          <p:spTgt spid="94"/>
                                        </p:tgtEl>
                                      </p:cBhvr>
                                    </p:animEffect>
                                  </p:childTnLst>
                                </p:cTn>
                              </p:par>
                              <p:par>
                                <p:cTn id="227" presetID="10" presetClass="entr" presetSubtype="0" fill="hold" grpId="0" nodeType="withEffect">
                                  <p:stCondLst>
                                    <p:cond delay="900"/>
                                  </p:stCondLst>
                                  <p:childTnLst>
                                    <p:set>
                                      <p:cBhvr>
                                        <p:cTn id="228" dur="1" fill="hold">
                                          <p:stCondLst>
                                            <p:cond delay="0"/>
                                          </p:stCondLst>
                                        </p:cTn>
                                        <p:tgtEl>
                                          <p:spTgt spid="95"/>
                                        </p:tgtEl>
                                        <p:attrNameLst>
                                          <p:attrName>style.visibility</p:attrName>
                                        </p:attrNameLst>
                                      </p:cBhvr>
                                      <p:to>
                                        <p:strVal val="visible"/>
                                      </p:to>
                                    </p:set>
                                    <p:animEffect transition="in" filter="fade">
                                      <p:cBhvr>
                                        <p:cTn id="229" dur="400"/>
                                        <p:tgtEl>
                                          <p:spTgt spid="95"/>
                                        </p:tgtEl>
                                      </p:cBhvr>
                                    </p:animEffect>
                                  </p:childTnLst>
                                </p:cTn>
                              </p:par>
                              <p:par>
                                <p:cTn id="230" presetID="10" presetClass="entr" presetSubtype="0" fill="hold" grpId="0" nodeType="withEffect">
                                  <p:stCondLst>
                                    <p:cond delay="900"/>
                                  </p:stCondLst>
                                  <p:childTnLst>
                                    <p:set>
                                      <p:cBhvr>
                                        <p:cTn id="231" dur="1" fill="hold">
                                          <p:stCondLst>
                                            <p:cond delay="0"/>
                                          </p:stCondLst>
                                        </p:cTn>
                                        <p:tgtEl>
                                          <p:spTgt spid="96"/>
                                        </p:tgtEl>
                                        <p:attrNameLst>
                                          <p:attrName>style.visibility</p:attrName>
                                        </p:attrNameLst>
                                      </p:cBhvr>
                                      <p:to>
                                        <p:strVal val="visible"/>
                                      </p:to>
                                    </p:set>
                                    <p:animEffect transition="in" filter="fade">
                                      <p:cBhvr>
                                        <p:cTn id="232" dur="400"/>
                                        <p:tgtEl>
                                          <p:spTgt spid="96"/>
                                        </p:tgtEl>
                                      </p:cBhvr>
                                    </p:animEffect>
                                  </p:childTnLst>
                                </p:cTn>
                              </p:par>
                            </p:childTnLst>
                          </p:cTn>
                        </p:par>
                      </p:childTnLst>
                    </p:cTn>
                  </p:par>
                  <p:par>
                    <p:cTn id="289" fill="hold">
                      <p:stCondLst>
                        <p:cond delay="indefinite"/>
                      </p:stCondLst>
                      <p:childTnLst>
                        <p:par>
                          <p:cTn id="290" fill="hold">
                            <p:stCondLst>
                              <p:cond delay="0"/>
                            </p:stCondLst>
                            <p:childTnLst>
                              <p:par>
                                <p:cTn id="235" presetID="10" presetClass="entr" presetSubtype="0" fill="hold" grpId="0" nodeType="clickEffect">
                                  <p:stCondLst>
                                    <p:cond delay="0"/>
                                  </p:stCondLst>
                                  <p:childTnLst>
                                    <p:set>
                                      <p:cBhvr>
                                        <p:cTn id="236" dur="1" fill="hold">
                                          <p:stCondLst>
                                            <p:cond delay="0"/>
                                          </p:stCondLst>
                                        </p:cTn>
                                        <p:tgtEl>
                                          <p:spTgt spid="97"/>
                                        </p:tgtEl>
                                        <p:attrNameLst>
                                          <p:attrName>style.visibility</p:attrName>
                                        </p:attrNameLst>
                                      </p:cBhvr>
                                      <p:to>
                                        <p:strVal val="visible"/>
                                      </p:to>
                                    </p:set>
                                    <p:animEffect transition="in" filter="fade">
                                      <p:cBhvr>
                                        <p:cTn id="237" dur="400"/>
                                        <p:tgtEl>
                                          <p:spTgt spid="97"/>
                                        </p:tgtEl>
                                      </p:cBhvr>
                                    </p:animEffect>
                                  </p:childTnLst>
                                </p:cTn>
                              </p:par>
                              <p:par>
                                <p:cTn id="238" presetID="10" presetClass="entr" presetSubtype="0" fill="hold" grpId="0" nodeType="withEffect">
                                  <p:stCondLst>
                                    <p:cond delay="90"/>
                                  </p:stCondLst>
                                  <p:childTnLst>
                                    <p:set>
                                      <p:cBhvr>
                                        <p:cTn id="239" dur="1" fill="hold">
                                          <p:stCondLst>
                                            <p:cond delay="0"/>
                                          </p:stCondLst>
                                        </p:cTn>
                                        <p:tgtEl>
                                          <p:spTgt spid="98"/>
                                        </p:tgtEl>
                                        <p:attrNameLst>
                                          <p:attrName>style.visibility</p:attrName>
                                        </p:attrNameLst>
                                      </p:cBhvr>
                                      <p:to>
                                        <p:strVal val="visible"/>
                                      </p:to>
                                    </p:set>
                                    <p:animEffect transition="in" filter="fade">
                                      <p:cBhvr>
                                        <p:cTn id="240" dur="400"/>
                                        <p:tgtEl>
                                          <p:spTgt spid="98"/>
                                        </p:tgtEl>
                                      </p:cBhvr>
                                    </p:animEffect>
                                  </p:childTnLst>
                                </p:cTn>
                              </p:par>
                              <p:par>
                                <p:cTn id="241" presetID="10" presetClass="entr" presetSubtype="0" fill="hold" grpId="0" nodeType="withEffect">
                                  <p:stCondLst>
                                    <p:cond delay="180"/>
                                  </p:stCondLst>
                                  <p:childTnLst>
                                    <p:set>
                                      <p:cBhvr>
                                        <p:cTn id="242" dur="1" fill="hold">
                                          <p:stCondLst>
                                            <p:cond delay="0"/>
                                          </p:stCondLst>
                                        </p:cTn>
                                        <p:tgtEl>
                                          <p:spTgt spid="99"/>
                                        </p:tgtEl>
                                        <p:attrNameLst>
                                          <p:attrName>style.visibility</p:attrName>
                                        </p:attrNameLst>
                                      </p:cBhvr>
                                      <p:to>
                                        <p:strVal val="visible"/>
                                      </p:to>
                                    </p:set>
                                    <p:animEffect transition="in" filter="fade">
                                      <p:cBhvr>
                                        <p:cTn id="243" dur="400"/>
                                        <p:tgtEl>
                                          <p:spTgt spid="99"/>
                                        </p:tgtEl>
                                      </p:cBhvr>
                                    </p:animEffect>
                                  </p:childTnLst>
                                </p:cTn>
                              </p:par>
                              <p:par>
                                <p:cTn id="244" presetID="10" presetClass="entr" presetSubtype="0" fill="hold" grpId="0" nodeType="withEffect">
                                  <p:stCondLst>
                                    <p:cond delay="270"/>
                                  </p:stCondLst>
                                  <p:childTnLst>
                                    <p:set>
                                      <p:cBhvr>
                                        <p:cTn id="245" dur="1" fill="hold">
                                          <p:stCondLst>
                                            <p:cond delay="0"/>
                                          </p:stCondLst>
                                        </p:cTn>
                                        <p:tgtEl>
                                          <p:spTgt spid="100"/>
                                        </p:tgtEl>
                                        <p:attrNameLst>
                                          <p:attrName>style.visibility</p:attrName>
                                        </p:attrNameLst>
                                      </p:cBhvr>
                                      <p:to>
                                        <p:strVal val="visible"/>
                                      </p:to>
                                    </p:set>
                                    <p:animEffect transition="in" filter="fade">
                                      <p:cBhvr>
                                        <p:cTn id="246" dur="400"/>
                                        <p:tgtEl>
                                          <p:spTgt spid="100"/>
                                        </p:tgtEl>
                                      </p:cBhvr>
                                    </p:animEffect>
                                  </p:childTnLst>
                                </p:cTn>
                              </p:par>
                              <p:par>
                                <p:cTn id="247" presetID="10" presetClass="entr" presetSubtype="0" fill="hold" grpId="0" nodeType="withEffect">
                                  <p:stCondLst>
                                    <p:cond delay="360"/>
                                  </p:stCondLst>
                                  <p:childTnLst>
                                    <p:set>
                                      <p:cBhvr>
                                        <p:cTn id="248" dur="1" fill="hold">
                                          <p:stCondLst>
                                            <p:cond delay="0"/>
                                          </p:stCondLst>
                                        </p:cTn>
                                        <p:tgtEl>
                                          <p:spTgt spid="101"/>
                                        </p:tgtEl>
                                        <p:attrNameLst>
                                          <p:attrName>style.visibility</p:attrName>
                                        </p:attrNameLst>
                                      </p:cBhvr>
                                      <p:to>
                                        <p:strVal val="visible"/>
                                      </p:to>
                                    </p:set>
                                    <p:animEffect transition="in" filter="fade">
                                      <p:cBhvr>
                                        <p:cTn id="249" dur="400"/>
                                        <p:tgtEl>
                                          <p:spTgt spid="101"/>
                                        </p:tgtEl>
                                      </p:cBhvr>
                                    </p:animEffect>
                                  </p:childTnLst>
                                </p:cTn>
                              </p:par>
                              <p:par>
                                <p:cTn id="250" presetID="10" presetClass="entr" presetSubtype="0" fill="hold" grpId="0" nodeType="withEffect">
                                  <p:stCondLst>
                                    <p:cond delay="450"/>
                                  </p:stCondLst>
                                  <p:childTnLst>
                                    <p:set>
                                      <p:cBhvr>
                                        <p:cTn id="251" dur="1" fill="hold">
                                          <p:stCondLst>
                                            <p:cond delay="0"/>
                                          </p:stCondLst>
                                        </p:cTn>
                                        <p:tgtEl>
                                          <p:spTgt spid="102"/>
                                        </p:tgtEl>
                                        <p:attrNameLst>
                                          <p:attrName>style.visibility</p:attrName>
                                        </p:attrNameLst>
                                      </p:cBhvr>
                                      <p:to>
                                        <p:strVal val="visible"/>
                                      </p:to>
                                    </p:set>
                                    <p:animEffect transition="in" filter="fade">
                                      <p:cBhvr>
                                        <p:cTn id="252" dur="400"/>
                                        <p:tgtEl>
                                          <p:spTgt spid="102"/>
                                        </p:tgtEl>
                                      </p:cBhvr>
                                    </p:animEffect>
                                  </p:childTnLst>
                                </p:cTn>
                              </p:par>
                              <p:par>
                                <p:cTn id="253" presetID="10" presetClass="entr" presetSubtype="0" fill="hold" grpId="0" nodeType="withEffect">
                                  <p:stCondLst>
                                    <p:cond delay="540"/>
                                  </p:stCondLst>
                                  <p:childTnLst>
                                    <p:set>
                                      <p:cBhvr>
                                        <p:cTn id="254" dur="1" fill="hold">
                                          <p:stCondLst>
                                            <p:cond delay="0"/>
                                          </p:stCondLst>
                                        </p:cTn>
                                        <p:tgtEl>
                                          <p:spTgt spid="103"/>
                                        </p:tgtEl>
                                        <p:attrNameLst>
                                          <p:attrName>style.visibility</p:attrName>
                                        </p:attrNameLst>
                                      </p:cBhvr>
                                      <p:to>
                                        <p:strVal val="visible"/>
                                      </p:to>
                                    </p:set>
                                    <p:animEffect transition="in" filter="fade">
                                      <p:cBhvr>
                                        <p:cTn id="255" dur="400"/>
                                        <p:tgtEl>
                                          <p:spTgt spid="103"/>
                                        </p:tgtEl>
                                      </p:cBhvr>
                                    </p:animEffect>
                                  </p:childTnLst>
                                </p:cTn>
                              </p:par>
                              <p:par>
                                <p:cTn id="256" presetID="10" presetClass="entr" presetSubtype="0" fill="hold" grpId="0" nodeType="withEffect">
                                  <p:stCondLst>
                                    <p:cond delay="630"/>
                                  </p:stCondLst>
                                  <p:childTnLst>
                                    <p:set>
                                      <p:cBhvr>
                                        <p:cTn id="257" dur="1" fill="hold">
                                          <p:stCondLst>
                                            <p:cond delay="0"/>
                                          </p:stCondLst>
                                        </p:cTn>
                                        <p:tgtEl>
                                          <p:spTgt spid="104"/>
                                        </p:tgtEl>
                                        <p:attrNameLst>
                                          <p:attrName>style.visibility</p:attrName>
                                        </p:attrNameLst>
                                      </p:cBhvr>
                                      <p:to>
                                        <p:strVal val="visible"/>
                                      </p:to>
                                    </p:set>
                                    <p:animEffect transition="in" filter="fade">
                                      <p:cBhvr>
                                        <p:cTn id="258" dur="400"/>
                                        <p:tgtEl>
                                          <p:spTgt spid="104"/>
                                        </p:tgtEl>
                                      </p:cBhvr>
                                    </p:animEffect>
                                  </p:childTnLst>
                                </p:cTn>
                              </p:par>
                              <p:par>
                                <p:cTn id="259" presetID="10" presetClass="entr" presetSubtype="0" fill="hold" grpId="0" nodeType="withEffect">
                                  <p:stCondLst>
                                    <p:cond delay="720"/>
                                  </p:stCondLst>
                                  <p:childTnLst>
                                    <p:set>
                                      <p:cBhvr>
                                        <p:cTn id="260" dur="1" fill="hold">
                                          <p:stCondLst>
                                            <p:cond delay="0"/>
                                          </p:stCondLst>
                                        </p:cTn>
                                        <p:tgtEl>
                                          <p:spTgt spid="105"/>
                                        </p:tgtEl>
                                        <p:attrNameLst>
                                          <p:attrName>style.visibility</p:attrName>
                                        </p:attrNameLst>
                                      </p:cBhvr>
                                      <p:to>
                                        <p:strVal val="visible"/>
                                      </p:to>
                                    </p:set>
                                    <p:animEffect transition="in" filter="fade">
                                      <p:cBhvr>
                                        <p:cTn id="261" dur="400"/>
                                        <p:tgtEl>
                                          <p:spTgt spid="105"/>
                                        </p:tgtEl>
                                      </p:cBhvr>
                                    </p:animEffect>
                                  </p:childTnLst>
                                </p:cTn>
                              </p:par>
                              <p:par>
                                <p:cTn id="262" presetID="10" presetClass="entr" presetSubtype="0" fill="hold" grpId="0" nodeType="withEffect">
                                  <p:stCondLst>
                                    <p:cond delay="810"/>
                                  </p:stCondLst>
                                  <p:childTnLst>
                                    <p:set>
                                      <p:cBhvr>
                                        <p:cTn id="263" dur="1" fill="hold">
                                          <p:stCondLst>
                                            <p:cond delay="0"/>
                                          </p:stCondLst>
                                        </p:cTn>
                                        <p:tgtEl>
                                          <p:spTgt spid="106"/>
                                        </p:tgtEl>
                                        <p:attrNameLst>
                                          <p:attrName>style.visibility</p:attrName>
                                        </p:attrNameLst>
                                      </p:cBhvr>
                                      <p:to>
                                        <p:strVal val="visible"/>
                                      </p:to>
                                    </p:set>
                                    <p:animEffect transition="in" filter="fade">
                                      <p:cBhvr>
                                        <p:cTn id="264" dur="400"/>
                                        <p:tgtEl>
                                          <p:spTgt spid="106"/>
                                        </p:tgtEl>
                                      </p:cBhvr>
                                    </p:animEffect>
                                  </p:childTnLst>
                                </p:cTn>
                              </p:par>
                              <p:par>
                                <p:cTn id="265" presetID="10" presetClass="entr" presetSubtype="0" fill="hold" grpId="0" nodeType="withEffect">
                                  <p:stCondLst>
                                    <p:cond delay="900"/>
                                  </p:stCondLst>
                                  <p:childTnLst>
                                    <p:set>
                                      <p:cBhvr>
                                        <p:cTn id="266" dur="1" fill="hold">
                                          <p:stCondLst>
                                            <p:cond delay="0"/>
                                          </p:stCondLst>
                                        </p:cTn>
                                        <p:tgtEl>
                                          <p:spTgt spid="107"/>
                                        </p:tgtEl>
                                        <p:attrNameLst>
                                          <p:attrName>style.visibility</p:attrName>
                                        </p:attrNameLst>
                                      </p:cBhvr>
                                      <p:to>
                                        <p:strVal val="visible"/>
                                      </p:to>
                                    </p:set>
                                    <p:animEffect transition="in" filter="fade">
                                      <p:cBhvr>
                                        <p:cTn id="267" dur="400"/>
                                        <p:tgtEl>
                                          <p:spTgt spid="107"/>
                                        </p:tgtEl>
                                      </p:cBhvr>
                                    </p:animEffect>
                                  </p:childTnLst>
                                </p:cTn>
                              </p:par>
                              <p:par>
                                <p:cTn id="268" presetID="10" presetClass="entr" presetSubtype="0" fill="hold" grpId="0" nodeType="withEffect">
                                  <p:stCondLst>
                                    <p:cond delay="900"/>
                                  </p:stCondLst>
                                  <p:childTnLst>
                                    <p:set>
                                      <p:cBhvr>
                                        <p:cTn id="269" dur="1" fill="hold">
                                          <p:stCondLst>
                                            <p:cond delay="0"/>
                                          </p:stCondLst>
                                        </p:cTn>
                                        <p:tgtEl>
                                          <p:spTgt spid="108"/>
                                        </p:tgtEl>
                                        <p:attrNameLst>
                                          <p:attrName>style.visibility</p:attrName>
                                        </p:attrNameLst>
                                      </p:cBhvr>
                                      <p:to>
                                        <p:strVal val="visible"/>
                                      </p:to>
                                    </p:set>
                                    <p:animEffect transition="in" filter="fade">
                                      <p:cBhvr>
                                        <p:cTn id="270" dur="400"/>
                                        <p:tgtEl>
                                          <p:spTgt spid="108"/>
                                        </p:tgtEl>
                                      </p:cBhvr>
                                    </p:animEffect>
                                  </p:childTnLst>
                                </p:cTn>
                              </p:par>
                              <p:par>
                                <p:cTn id="271" presetID="10" presetClass="entr" presetSubtype="0" fill="hold" grpId="0" nodeType="withEffect">
                                  <p:stCondLst>
                                    <p:cond delay="900"/>
                                  </p:stCondLst>
                                  <p:childTnLst>
                                    <p:set>
                                      <p:cBhvr>
                                        <p:cTn id="272" dur="1" fill="hold">
                                          <p:stCondLst>
                                            <p:cond delay="0"/>
                                          </p:stCondLst>
                                        </p:cTn>
                                        <p:tgtEl>
                                          <p:spTgt spid="109"/>
                                        </p:tgtEl>
                                        <p:attrNameLst>
                                          <p:attrName>style.visibility</p:attrName>
                                        </p:attrNameLst>
                                      </p:cBhvr>
                                      <p:to>
                                        <p:strVal val="visible"/>
                                      </p:to>
                                    </p:set>
                                    <p:animEffect transition="in" filter="fade">
                                      <p:cBhvr>
                                        <p:cTn id="273" dur="400"/>
                                        <p:tgtEl>
                                          <p:spTgt spid="109"/>
                                        </p:tgtEl>
                                      </p:cBhvr>
                                    </p:animEffect>
                                  </p:childTnLst>
                                </p:cTn>
                              </p:par>
                              <p:par>
                                <p:cTn id="274" presetID="10" presetClass="entr" presetSubtype="0" fill="hold" grpId="0" nodeType="withEffect">
                                  <p:stCondLst>
                                    <p:cond delay="900"/>
                                  </p:stCondLst>
                                  <p:childTnLst>
                                    <p:set>
                                      <p:cBhvr>
                                        <p:cTn id="275" dur="1" fill="hold">
                                          <p:stCondLst>
                                            <p:cond delay="0"/>
                                          </p:stCondLst>
                                        </p:cTn>
                                        <p:tgtEl>
                                          <p:spTgt spid="110"/>
                                        </p:tgtEl>
                                        <p:attrNameLst>
                                          <p:attrName>style.visibility</p:attrName>
                                        </p:attrNameLst>
                                      </p:cBhvr>
                                      <p:to>
                                        <p:strVal val="visible"/>
                                      </p:to>
                                    </p:set>
                                    <p:animEffect transition="in" filter="fade">
                                      <p:cBhvr>
                                        <p:cTn id="276" dur="400"/>
                                        <p:tgtEl>
                                          <p:spTgt spid="110"/>
                                        </p:tgtEl>
                                      </p:cBhvr>
                                    </p:animEffect>
                                  </p:childTnLst>
                                </p:cTn>
                              </p:par>
                              <p:par>
                                <p:cTn id="277" presetID="10" presetClass="entr" presetSubtype="0" fill="hold" grpId="0" nodeType="withEffect">
                                  <p:stCondLst>
                                    <p:cond delay="900"/>
                                  </p:stCondLst>
                                  <p:childTnLst>
                                    <p:set>
                                      <p:cBhvr>
                                        <p:cTn id="278" dur="1" fill="hold">
                                          <p:stCondLst>
                                            <p:cond delay="0"/>
                                          </p:stCondLst>
                                        </p:cTn>
                                        <p:tgtEl>
                                          <p:spTgt spid="111"/>
                                        </p:tgtEl>
                                        <p:attrNameLst>
                                          <p:attrName>style.visibility</p:attrName>
                                        </p:attrNameLst>
                                      </p:cBhvr>
                                      <p:to>
                                        <p:strVal val="visible"/>
                                      </p:to>
                                    </p:set>
                                    <p:animEffect transition="in" filter="fade">
                                      <p:cBhvr>
                                        <p:cTn id="279" dur="400"/>
                                        <p:tgtEl>
                                          <p:spTgt spid="111"/>
                                        </p:tgtEl>
                                      </p:cBhvr>
                                    </p:animEffect>
                                  </p:childTnLst>
                                </p:cTn>
                              </p:par>
                              <p:par>
                                <p:cTn id="280" presetID="10" presetClass="entr" presetSubtype="0" fill="hold" grpId="0" nodeType="withEffect">
                                  <p:stCondLst>
                                    <p:cond delay="900"/>
                                  </p:stCondLst>
                                  <p:childTnLst>
                                    <p:set>
                                      <p:cBhvr>
                                        <p:cTn id="281" dur="1" fill="hold">
                                          <p:stCondLst>
                                            <p:cond delay="0"/>
                                          </p:stCondLst>
                                        </p:cTn>
                                        <p:tgtEl>
                                          <p:spTgt spid="112"/>
                                        </p:tgtEl>
                                        <p:attrNameLst>
                                          <p:attrName>style.visibility</p:attrName>
                                        </p:attrNameLst>
                                      </p:cBhvr>
                                      <p:to>
                                        <p:strVal val="visible"/>
                                      </p:to>
                                    </p:set>
                                    <p:animEffect transition="in" filter="fade">
                                      <p:cBhvr>
                                        <p:cTn id="282" dur="400"/>
                                        <p:tgtEl>
                                          <p:spTgt spid="112"/>
                                        </p:tgtEl>
                                      </p:cBhvr>
                                    </p:animEffect>
                                  </p:childTnLst>
                                </p:cTn>
                              </p:par>
                              <p:par>
                                <p:cTn id="283" presetID="10" presetClass="entr" presetSubtype="0" fill="hold" grpId="0" nodeType="withEffect">
                                  <p:stCondLst>
                                    <p:cond delay="900"/>
                                  </p:stCondLst>
                                  <p:childTnLst>
                                    <p:set>
                                      <p:cBhvr>
                                        <p:cTn id="284" dur="1" fill="hold">
                                          <p:stCondLst>
                                            <p:cond delay="0"/>
                                          </p:stCondLst>
                                        </p:cTn>
                                        <p:tgtEl>
                                          <p:spTgt spid="113"/>
                                        </p:tgtEl>
                                        <p:attrNameLst>
                                          <p:attrName>style.visibility</p:attrName>
                                        </p:attrNameLst>
                                      </p:cBhvr>
                                      <p:to>
                                        <p:strVal val="visible"/>
                                      </p:to>
                                    </p:set>
                                    <p:animEffect transition="in" filter="fade">
                                      <p:cBhvr>
                                        <p:cTn id="285" dur="400"/>
                                        <p:tgtEl>
                                          <p:spTgt spid="113"/>
                                        </p:tgtEl>
                                      </p:cBhvr>
                                    </p:animEffect>
                                  </p:childTnLst>
                                </p:cTn>
                              </p:par>
                              <p:par>
                                <p:cTn id="286" presetID="10" presetClass="entr" presetSubtype="0" fill="hold" grpId="0" nodeType="withEffect">
                                  <p:stCondLst>
                                    <p:cond delay="900"/>
                                  </p:stCondLst>
                                  <p:childTnLst>
                                    <p:set>
                                      <p:cBhvr>
                                        <p:cTn id="287" dur="1" fill="hold">
                                          <p:stCondLst>
                                            <p:cond delay="0"/>
                                          </p:stCondLst>
                                        </p:cTn>
                                        <p:tgtEl>
                                          <p:spTgt spid="114"/>
                                        </p:tgtEl>
                                        <p:attrNameLst>
                                          <p:attrName>style.visibility</p:attrName>
                                        </p:attrNameLst>
                                      </p:cBhvr>
                                      <p:to>
                                        <p:strVal val="visible"/>
                                      </p:to>
                                    </p:set>
                                    <p:animEffect transition="in" filter="fade">
                                      <p:cBhvr>
                                        <p:cTn id="288" dur="4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17</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007DB6"/>
          </a:solidFill>
          <a:ln w="12700">
            <a:solidFill>
              <a:srgbClr val="007DB6"/>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What the programme provides, and what you bring</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The split is deliberate, and it is the same split you will meet on the job.</a:t>
            </a:r>
            <a:endParaRPr lang="en-US" sz="1250" dirty="0"/>
          </a:p>
        </p:txBody>
      </p:sp>
      <p:sp>
        <p:nvSpPr>
          <p:cNvPr id="21" name="anim:1 grad:navy"/>
          <p:cNvSpPr/>
          <p:nvPr/>
        </p:nvSpPr>
        <p:spPr>
          <a:xfrm>
            <a:off x="548640" y="1783080"/>
            <a:ext cx="5422392" cy="4526280"/>
          </a:xfrm>
          <a:prstGeom prst="roundRect">
            <a:avLst>
              <a:gd name="adj" fmla="val 2020"/>
            </a:avLst>
          </a:prstGeom>
          <a:gradFill rotWithShape="1">
            <a:gsLst>
              <a:gs pos="0">
                <a:srgbClr val="1B4170"/>
              </a:gs>
              <a:gs pos="100000">
                <a:srgbClr val="0A1E33"/>
              </a:gs>
            </a:gsLst>
            <a:lin ang="5400000" scaled="0"/>
          </a:gradFill>
          <a:ln w="9525">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22" name="anim:1 grad:sheen"/>
          <p:cNvSpPr/>
          <p:nvPr/>
        </p:nvSpPr>
        <p:spPr>
          <a:xfrm>
            <a:off x="548640" y="1783080"/>
            <a:ext cx="5422392" cy="4526280"/>
          </a:xfrm>
          <a:prstGeom prst="roundRect">
            <a:avLst>
              <a:gd name="adj" fmla="val 2020"/>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23" name="anim:1"/>
          <p:cNvSpPr txBox="1"/>
          <p:nvPr/>
        </p:nvSpPr>
        <p:spPr>
          <a:xfrm>
            <a:off x="914400" y="2103120"/>
            <a:ext cx="4572000" cy="201168"/>
          </a:xfrm>
          <a:prstGeom prst="rect">
            <a:avLst/>
          </a:prstGeom>
          <a:noFill/>
          <a:ln/>
        </p:spPr>
        <p:txBody>
          <a:bodyPr wrap="square" lIns="0" tIns="0" rIns="0" bIns="0" rtlCol="0" anchor="t"/>
          <a:lstStyle/>
          <a:p>
            <a:pPr algn="l" indent="0" marL="0">
              <a:buNone/>
            </a:pPr>
            <a:r>
              <a:rPr lang="en-US" sz="850" b="1" spc="200" kern="0" dirty="0">
                <a:solidFill>
                  <a:srgbClr val="E9B221"/>
                </a:solidFill>
                <a:latin typeface="Calibri" pitchFamily="34" charset="0"/>
                <a:ea typeface="Calibri" pitchFamily="34" charset="-122"/>
                <a:cs typeface="Calibri" pitchFamily="34" charset="-120"/>
              </a:rPr>
              <a:t>THE PROGRAMME PROVIDES</a:t>
            </a:r>
            <a:endParaRPr lang="en-US" sz="850" dirty="0"/>
          </a:p>
        </p:txBody>
      </p:sp>
      <p:sp>
        <p:nvSpPr>
          <p:cNvPr id="24" name="anim:1 grad:blue"/>
          <p:cNvSpPr/>
          <p:nvPr/>
        </p:nvSpPr>
        <p:spPr>
          <a:xfrm>
            <a:off x="914400" y="2514600"/>
            <a:ext cx="640080" cy="64008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25" name="anim:1" descr="preencoded.png">    </p:cNvPr>
          <p:cNvPicPr>
            <a:picLocks noChangeAspect="1"/>
          </p:cNvPicPr>
          <p:nvPr/>
        </p:nvPicPr>
        <p:blipFill>
          <a:blip r:embed="rId3"/>
          <a:stretch>
            <a:fillRect/>
          </a:stretch>
        </p:blipFill>
        <p:spPr>
          <a:xfrm>
            <a:off x="1068019" y="2668219"/>
            <a:ext cx="332842" cy="332842"/>
          </a:xfrm>
          <a:prstGeom prst="rect">
            <a:avLst/>
          </a:prstGeom>
        </p:spPr>
      </p:pic>
      <p:sp>
        <p:nvSpPr>
          <p:cNvPr id="26" name="anim:1"/>
          <p:cNvSpPr txBox="1"/>
          <p:nvPr/>
        </p:nvSpPr>
        <p:spPr>
          <a:xfrm>
            <a:off x="1737360" y="2514600"/>
            <a:ext cx="3931920" cy="32004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OpenRouter API credits</a:t>
            </a:r>
            <a:endParaRPr lang="en-US" sz="1500" dirty="0"/>
          </a:p>
        </p:txBody>
      </p:sp>
      <p:sp>
        <p:nvSpPr>
          <p:cNvPr id="27" name="anim:1"/>
          <p:cNvSpPr txBox="1"/>
          <p:nvPr/>
        </p:nvSpPr>
        <p:spPr>
          <a:xfrm>
            <a:off x="1737360" y="2862072"/>
            <a:ext cx="3931920" cy="594360"/>
          </a:xfrm>
          <a:prstGeom prst="rect">
            <a:avLst/>
          </a:prstGeom>
          <a:noFill/>
          <a:ln/>
        </p:spPr>
        <p:txBody>
          <a:bodyPr wrap="square" lIns="0" tIns="0" rIns="0" bIns="0" rtlCol="0" anchor="t"/>
          <a:lstStyle/>
          <a:p>
            <a:pPr algn="l" indent="0" marL="0">
              <a:buNone/>
            </a:pPr>
            <a:r>
              <a:rPr lang="en-US" sz="1050" dirty="0">
                <a:solidFill>
                  <a:srgbClr val="C9D6E4"/>
                </a:solidFill>
                <a:latin typeface="Calibri" pitchFamily="34" charset="0"/>
                <a:ea typeface="Calibri" pitchFamily="34" charset="-122"/>
                <a:cs typeface="Calibri" pitchFamily="34" charset="-120"/>
              </a:rPr>
              <a:t>switched on for the capstone phase, so your capstone can call frontier models through one key.</a:t>
            </a:r>
            <a:endParaRPr lang="en-US" sz="1050" dirty="0"/>
          </a:p>
        </p:txBody>
      </p:sp>
      <p:sp>
        <p:nvSpPr>
          <p:cNvPr id="28" name="anim:1 grad:blue"/>
          <p:cNvSpPr/>
          <p:nvPr/>
        </p:nvSpPr>
        <p:spPr>
          <a:xfrm>
            <a:off x="914400" y="3520440"/>
            <a:ext cx="640080" cy="64008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29" name="anim:1" descr="preencoded.png">    </p:cNvPr>
          <p:cNvPicPr>
            <a:picLocks noChangeAspect="1"/>
          </p:cNvPicPr>
          <p:nvPr/>
        </p:nvPicPr>
        <p:blipFill>
          <a:blip r:embed="rId4"/>
          <a:stretch>
            <a:fillRect/>
          </a:stretch>
        </p:blipFill>
        <p:spPr>
          <a:xfrm>
            <a:off x="1068019" y="3674059"/>
            <a:ext cx="332842" cy="332842"/>
          </a:xfrm>
          <a:prstGeom prst="rect">
            <a:avLst/>
          </a:prstGeom>
        </p:spPr>
      </p:pic>
      <p:sp>
        <p:nvSpPr>
          <p:cNvPr id="30" name="anim:1"/>
          <p:cNvSpPr txBox="1"/>
          <p:nvPr/>
        </p:nvSpPr>
        <p:spPr>
          <a:xfrm>
            <a:off x="1737360" y="3520440"/>
            <a:ext cx="3931920" cy="32004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Cloud credits for hosting</a:t>
            </a:r>
            <a:endParaRPr lang="en-US" sz="1500" dirty="0"/>
          </a:p>
        </p:txBody>
      </p:sp>
      <p:sp>
        <p:nvSpPr>
          <p:cNvPr id="31" name="anim:1"/>
          <p:cNvSpPr txBox="1"/>
          <p:nvPr/>
        </p:nvSpPr>
        <p:spPr>
          <a:xfrm>
            <a:off x="1737360" y="3867912"/>
            <a:ext cx="3931920" cy="594360"/>
          </a:xfrm>
          <a:prstGeom prst="rect">
            <a:avLst/>
          </a:prstGeom>
          <a:noFill/>
          <a:ln/>
        </p:spPr>
        <p:txBody>
          <a:bodyPr wrap="square" lIns="0" tIns="0" rIns="0" bIns="0" rtlCol="0" anchor="t"/>
          <a:lstStyle/>
          <a:p>
            <a:pPr algn="l" indent="0" marL="0">
              <a:buNone/>
            </a:pPr>
            <a:r>
              <a:rPr lang="en-US" sz="1050" dirty="0">
                <a:solidFill>
                  <a:srgbClr val="C9D6E4"/>
                </a:solidFill>
                <a:latin typeface="Calibri" pitchFamily="34" charset="0"/>
                <a:ea typeface="Calibri" pitchFamily="34" charset="-122"/>
                <a:cs typeface="Calibri" pitchFamily="34" charset="-120"/>
              </a:rPr>
              <a:t>so the capstone is deployed and monitored beyond localhost, as Sprint 2 requires.</a:t>
            </a:r>
            <a:endParaRPr lang="en-US" sz="1050" dirty="0"/>
          </a:p>
        </p:txBody>
      </p:sp>
      <p:sp>
        <p:nvSpPr>
          <p:cNvPr id="32" name="anim:1 grad:blue"/>
          <p:cNvSpPr/>
          <p:nvPr/>
        </p:nvSpPr>
        <p:spPr>
          <a:xfrm>
            <a:off x="914400" y="4526280"/>
            <a:ext cx="640080" cy="64008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33" name="anim:1" descr="preencoded.png">    </p:cNvPr>
          <p:cNvPicPr>
            <a:picLocks noChangeAspect="1"/>
          </p:cNvPicPr>
          <p:nvPr/>
        </p:nvPicPr>
        <p:blipFill>
          <a:blip r:embed="rId5"/>
          <a:stretch>
            <a:fillRect/>
          </a:stretch>
        </p:blipFill>
        <p:spPr>
          <a:xfrm>
            <a:off x="1068019" y="4679899"/>
            <a:ext cx="332842" cy="332842"/>
          </a:xfrm>
          <a:prstGeom prst="rect">
            <a:avLst/>
          </a:prstGeom>
        </p:spPr>
      </p:pic>
      <p:sp>
        <p:nvSpPr>
          <p:cNvPr id="34" name="anim:1"/>
          <p:cNvSpPr txBox="1"/>
          <p:nvPr/>
        </p:nvSpPr>
        <p:spPr>
          <a:xfrm>
            <a:off x="1737360" y="4526280"/>
            <a:ext cx="3931920" cy="32004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Repositories, recordings and scores</a:t>
            </a:r>
            <a:endParaRPr lang="en-US" sz="1500" dirty="0"/>
          </a:p>
        </p:txBody>
      </p:sp>
      <p:sp>
        <p:nvSpPr>
          <p:cNvPr id="35" name="anim:1"/>
          <p:cNvSpPr txBox="1"/>
          <p:nvPr/>
        </p:nvSpPr>
        <p:spPr>
          <a:xfrm>
            <a:off x="1737360" y="4873752"/>
            <a:ext cx="3931920" cy="594360"/>
          </a:xfrm>
          <a:prstGeom prst="rect">
            <a:avLst/>
          </a:prstGeom>
          <a:noFill/>
          <a:ln/>
        </p:spPr>
        <p:txBody>
          <a:bodyPr wrap="square" lIns="0" tIns="0" rIns="0" bIns="0" rtlCol="0" anchor="t"/>
          <a:lstStyle/>
          <a:p>
            <a:pPr algn="l" indent="0" marL="0">
              <a:buNone/>
            </a:pPr>
            <a:r>
              <a:rPr lang="en-US" sz="1050" dirty="0">
                <a:solidFill>
                  <a:srgbClr val="C9D6E4"/>
                </a:solidFill>
                <a:latin typeface="Calibri" pitchFamily="34" charset="0"/>
                <a:ea typeface="Calibri" pitchFamily="34" charset="-122"/>
                <a:cs typeface="Calibri" pitchFamily="34" charset="-120"/>
              </a:rPr>
              <a:t>the course repositories on GitHub, every session recording and your score sheet on the LMS.</a:t>
            </a:r>
            <a:endParaRPr lang="en-US" sz="1050" dirty="0"/>
          </a:p>
        </p:txBody>
      </p:sp>
      <p:sp>
        <p:nvSpPr>
          <p:cNvPr id="36" name="anim:1"/>
          <p:cNvSpPr/>
          <p:nvPr/>
        </p:nvSpPr>
        <p:spPr>
          <a:xfrm>
            <a:off x="914400" y="5486400"/>
            <a:ext cx="4690872" cy="603504"/>
          </a:xfrm>
          <a:prstGeom prst="roundRect">
            <a:avLst>
              <a:gd name="adj" fmla="val 15152"/>
            </a:avLst>
          </a:prstGeom>
          <a:solidFill>
            <a:srgbClr val="173A62"/>
          </a:solidFill>
          <a:ln w="9525">
            <a:solidFill>
              <a:srgbClr val="E9B221"/>
            </a:solidFill>
            <a:prstDash val="solid"/>
          </a:ln>
        </p:spPr>
        <p:txBody>
          <a:bodyPr/>
          <a:p/>
        </p:txBody>
      </p:sp>
      <p:sp>
        <p:nvSpPr>
          <p:cNvPr id="37" name="anim:1"/>
          <p:cNvSpPr txBox="1"/>
          <p:nvPr/>
        </p:nvSpPr>
        <p:spPr>
          <a:xfrm>
            <a:off x="1097280" y="5486400"/>
            <a:ext cx="4343400" cy="603504"/>
          </a:xfrm>
          <a:prstGeom prst="rect">
            <a:avLst/>
          </a:prstGeom>
          <a:noFill/>
          <a:ln/>
        </p:spPr>
        <p:txBody>
          <a:bodyPr wrap="square" lIns="0" tIns="0" rIns="0" bIns="0" rtlCol="0" anchor="ctr"/>
          <a:lstStyle/>
          <a:p>
            <a:pPr algn="l" indent="0" marL="0">
              <a:buNone/>
            </a:pPr>
            <a:r>
              <a:rPr lang="en-US" sz="1000" b="1" dirty="0">
                <a:solidFill>
                  <a:srgbClr val="E9B221"/>
                </a:solidFill>
                <a:latin typeface="Calibri" pitchFamily="34" charset="0"/>
                <a:ea typeface="Calibri" pitchFamily="34" charset="-122"/>
                <a:cs typeface="Calibri" pitchFamily="34" charset="-120"/>
              </a:rPr>
              <a:t>Credit amounts and terms are announced at the capstone kickoff, in Week 16, in writing.</a:t>
            </a:r>
            <a:endParaRPr lang="en-US" sz="1000" dirty="0"/>
          </a:p>
        </p:txBody>
      </p:sp>
      <p:sp>
        <p:nvSpPr>
          <p:cNvPr id="38" name="anim:2 grad:card"/>
          <p:cNvSpPr/>
          <p:nvPr/>
        </p:nvSpPr>
        <p:spPr>
          <a:xfrm>
            <a:off x="6217920" y="1783080"/>
            <a:ext cx="5422392" cy="4526280"/>
          </a:xfrm>
          <a:prstGeom prst="roundRect">
            <a:avLst>
              <a:gd name="adj" fmla="val 2020"/>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9" name="anim:2"/>
          <p:cNvSpPr txBox="1"/>
          <p:nvPr/>
        </p:nvSpPr>
        <p:spPr>
          <a:xfrm>
            <a:off x="6583680" y="2103120"/>
            <a:ext cx="457200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YOU BRING</a:t>
            </a:r>
            <a:endParaRPr lang="en-US" sz="850" dirty="0"/>
          </a:p>
        </p:txBody>
      </p:sp>
      <p:sp>
        <p:nvSpPr>
          <p:cNvPr id="40" name="anim:2"/>
          <p:cNvSpPr/>
          <p:nvPr/>
        </p:nvSpPr>
        <p:spPr>
          <a:xfrm>
            <a:off x="6583680" y="2514600"/>
            <a:ext cx="640080" cy="640080"/>
          </a:xfrm>
          <a:prstGeom prst="ellipse">
            <a:avLst/>
          </a:prstGeom>
          <a:solidFill>
            <a:srgbClr val="E3F2FA"/>
          </a:solidFill>
          <a:ln w="9525">
            <a:solidFill>
              <a:srgbClr val="E3F2FA"/>
            </a:solidFill>
            <a:prstDash val="solid"/>
          </a:ln>
        </p:spPr>
        <p:txBody>
          <a:bodyPr/>
          <a:p/>
        </p:txBody>
      </p:sp>
      <p:pic>
        <p:nvPicPr>
          <p:cNvPr id="41" name="anim:2" descr="preencoded.png">    </p:cNvPr>
          <p:cNvPicPr>
            <a:picLocks noChangeAspect="1"/>
          </p:cNvPicPr>
          <p:nvPr/>
        </p:nvPicPr>
        <p:blipFill>
          <a:blip r:embed="rId6"/>
          <a:stretch>
            <a:fillRect/>
          </a:stretch>
        </p:blipFill>
        <p:spPr>
          <a:xfrm>
            <a:off x="6737299" y="2668219"/>
            <a:ext cx="332842" cy="332842"/>
          </a:xfrm>
          <a:prstGeom prst="rect">
            <a:avLst/>
          </a:prstGeom>
        </p:spPr>
      </p:pic>
      <p:sp>
        <p:nvSpPr>
          <p:cNvPr id="42" name="anim:2"/>
          <p:cNvSpPr txBox="1"/>
          <p:nvPr/>
        </p:nvSpPr>
        <p:spPr>
          <a:xfrm>
            <a:off x="7406640" y="2514600"/>
            <a:ext cx="3931920" cy="320040"/>
          </a:xfrm>
          <a:prstGeom prst="rect">
            <a:avLst/>
          </a:prstGeom>
          <a:noFill/>
          <a:ln/>
        </p:spPr>
        <p:txBody>
          <a:bodyPr wrap="square" lIns="0" tIns="0" rIns="0" bIns="0" rtlCol="0" anchor="t"/>
          <a:lstStyle/>
          <a:p>
            <a:pPr algn="l" indent="0" marL="0">
              <a:buNone/>
            </a:pPr>
            <a:r>
              <a:rPr lang="en-US" sz="1500" b="1" dirty="0">
                <a:solidFill>
                  <a:srgbClr val="0A1E33"/>
                </a:solidFill>
                <a:latin typeface="Calibri" pitchFamily="34" charset="0"/>
                <a:ea typeface="Calibri" pitchFamily="34" charset="-122"/>
                <a:cs typeface="Calibri" pitchFamily="34" charset="-120"/>
              </a:rPr>
              <a:t>Your own laptop</a:t>
            </a:r>
            <a:endParaRPr lang="en-US" sz="1500" dirty="0"/>
          </a:p>
        </p:txBody>
      </p:sp>
      <p:sp>
        <p:nvSpPr>
          <p:cNvPr id="43" name="anim:2"/>
          <p:cNvSpPr txBox="1"/>
          <p:nvPr/>
        </p:nvSpPr>
        <p:spPr>
          <a:xfrm>
            <a:off x="7406640" y="2862072"/>
            <a:ext cx="3931920" cy="59436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with VS Code installed, and your own GitHub account for Codespaces and submissions.</a:t>
            </a:r>
            <a:endParaRPr lang="en-US" sz="1050" dirty="0"/>
          </a:p>
        </p:txBody>
      </p:sp>
      <p:sp>
        <p:nvSpPr>
          <p:cNvPr id="44" name="anim:2"/>
          <p:cNvSpPr/>
          <p:nvPr/>
        </p:nvSpPr>
        <p:spPr>
          <a:xfrm>
            <a:off x="6583680" y="3520440"/>
            <a:ext cx="640080" cy="640080"/>
          </a:xfrm>
          <a:prstGeom prst="ellipse">
            <a:avLst/>
          </a:prstGeom>
          <a:solidFill>
            <a:srgbClr val="E3F2FA"/>
          </a:solidFill>
          <a:ln w="9525">
            <a:solidFill>
              <a:srgbClr val="E3F2FA"/>
            </a:solidFill>
            <a:prstDash val="solid"/>
          </a:ln>
        </p:spPr>
        <p:txBody>
          <a:bodyPr/>
          <a:p/>
        </p:txBody>
      </p:sp>
      <p:pic>
        <p:nvPicPr>
          <p:cNvPr id="45" name="anim:2" descr="preencoded.png">    </p:cNvPr>
          <p:cNvPicPr>
            <a:picLocks noChangeAspect="1"/>
          </p:cNvPicPr>
          <p:nvPr/>
        </p:nvPicPr>
        <p:blipFill>
          <a:blip r:embed="rId7"/>
          <a:stretch>
            <a:fillRect/>
          </a:stretch>
        </p:blipFill>
        <p:spPr>
          <a:xfrm>
            <a:off x="6737299" y="3674059"/>
            <a:ext cx="332842" cy="332842"/>
          </a:xfrm>
          <a:prstGeom prst="rect">
            <a:avLst/>
          </a:prstGeom>
        </p:spPr>
      </p:pic>
      <p:sp>
        <p:nvSpPr>
          <p:cNvPr id="46" name="anim:2"/>
          <p:cNvSpPr txBox="1"/>
          <p:nvPr/>
        </p:nvSpPr>
        <p:spPr>
          <a:xfrm>
            <a:off x="7406640" y="3520440"/>
            <a:ext cx="3931920" cy="320040"/>
          </a:xfrm>
          <a:prstGeom prst="rect">
            <a:avLst/>
          </a:prstGeom>
          <a:noFill/>
          <a:ln/>
        </p:spPr>
        <p:txBody>
          <a:bodyPr wrap="square" lIns="0" tIns="0" rIns="0" bIns="0" rtlCol="0" anchor="t"/>
          <a:lstStyle/>
          <a:p>
            <a:pPr algn="l" indent="0" marL="0">
              <a:buNone/>
            </a:pPr>
            <a:r>
              <a:rPr lang="en-US" sz="1500" b="1" dirty="0">
                <a:solidFill>
                  <a:srgbClr val="0A1E33"/>
                </a:solidFill>
                <a:latin typeface="Calibri" pitchFamily="34" charset="0"/>
                <a:ea typeface="Calibri" pitchFamily="34" charset="-122"/>
                <a:cs typeface="Calibri" pitchFamily="34" charset="-120"/>
              </a:rPr>
              <a:t>Your own accounts and tools</a:t>
            </a:r>
            <a:endParaRPr lang="en-US" sz="1500" dirty="0"/>
          </a:p>
        </p:txBody>
      </p:sp>
      <p:sp>
        <p:nvSpPr>
          <p:cNvPr id="47" name="anim:2"/>
          <p:cNvSpPr txBox="1"/>
          <p:nvPr/>
        </p:nvSpPr>
        <p:spPr>
          <a:xfrm>
            <a:off x="7406640" y="3867912"/>
            <a:ext cx="3931920" cy="59436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for anything you choose to use outside the provided credits, including AI assistants where the ladder allows them.</a:t>
            </a:r>
            <a:endParaRPr lang="en-US" sz="1050" dirty="0"/>
          </a:p>
        </p:txBody>
      </p:sp>
      <p:sp>
        <p:nvSpPr>
          <p:cNvPr id="48" name="anim:2"/>
          <p:cNvSpPr/>
          <p:nvPr/>
        </p:nvSpPr>
        <p:spPr>
          <a:xfrm>
            <a:off x="6583680" y="4526280"/>
            <a:ext cx="640080" cy="640080"/>
          </a:xfrm>
          <a:prstGeom prst="ellipse">
            <a:avLst/>
          </a:prstGeom>
          <a:solidFill>
            <a:srgbClr val="E3F2FA"/>
          </a:solidFill>
          <a:ln w="9525">
            <a:solidFill>
              <a:srgbClr val="E3F2FA"/>
            </a:solidFill>
            <a:prstDash val="solid"/>
          </a:ln>
        </p:spPr>
        <p:txBody>
          <a:bodyPr/>
          <a:p/>
        </p:txBody>
      </p:sp>
      <p:pic>
        <p:nvPicPr>
          <p:cNvPr id="49" name="anim:2" descr="preencoded.png">    </p:cNvPr>
          <p:cNvPicPr>
            <a:picLocks noChangeAspect="1"/>
          </p:cNvPicPr>
          <p:nvPr/>
        </p:nvPicPr>
        <p:blipFill>
          <a:blip r:embed="rId8"/>
          <a:stretch>
            <a:fillRect/>
          </a:stretch>
        </p:blipFill>
        <p:spPr>
          <a:xfrm>
            <a:off x="6737299" y="4679899"/>
            <a:ext cx="332842" cy="332842"/>
          </a:xfrm>
          <a:prstGeom prst="rect">
            <a:avLst/>
          </a:prstGeom>
        </p:spPr>
      </p:pic>
      <p:sp>
        <p:nvSpPr>
          <p:cNvPr id="50" name="anim:2"/>
          <p:cNvSpPr txBox="1"/>
          <p:nvPr/>
        </p:nvSpPr>
        <p:spPr>
          <a:xfrm>
            <a:off x="7406640" y="4526280"/>
            <a:ext cx="3931920" cy="320040"/>
          </a:xfrm>
          <a:prstGeom prst="rect">
            <a:avLst/>
          </a:prstGeom>
          <a:noFill/>
          <a:ln/>
        </p:spPr>
        <p:txBody>
          <a:bodyPr wrap="square" lIns="0" tIns="0" rIns="0" bIns="0" rtlCol="0" anchor="t"/>
          <a:lstStyle/>
          <a:p>
            <a:pPr algn="l" indent="0" marL="0">
              <a:buNone/>
            </a:pPr>
            <a:r>
              <a:rPr lang="en-US" sz="1500" b="1" dirty="0">
                <a:solidFill>
                  <a:srgbClr val="0A1E33"/>
                </a:solidFill>
                <a:latin typeface="Calibri" pitchFamily="34" charset="0"/>
                <a:ea typeface="Calibri" pitchFamily="34" charset="-122"/>
                <a:cs typeface="Calibri" pitchFamily="34" charset="-120"/>
              </a:rPr>
              <a:t>Your own decisions</a:t>
            </a:r>
            <a:endParaRPr lang="en-US" sz="1500" dirty="0"/>
          </a:p>
        </p:txBody>
      </p:sp>
      <p:sp>
        <p:nvSpPr>
          <p:cNvPr id="51" name="anim:2"/>
          <p:cNvSpPr txBox="1"/>
          <p:nvPr/>
        </p:nvSpPr>
        <p:spPr>
          <a:xfrm>
            <a:off x="7406640" y="4873752"/>
            <a:ext cx="3931920" cy="59436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every tool choice in the capstone is yours, and is defended in the viva like every other decision.</a:t>
            </a:r>
            <a:endParaRPr lang="en-US" sz="1050" dirty="0"/>
          </a:p>
        </p:txBody>
      </p:sp>
      <p:sp>
        <p:nvSpPr>
          <p:cNvPr id="52" name="anim:2 grad:goldTint"/>
          <p:cNvSpPr/>
          <p:nvPr/>
        </p:nvSpPr>
        <p:spPr>
          <a:xfrm>
            <a:off x="6583680" y="5486400"/>
            <a:ext cx="4690872" cy="603504"/>
          </a:xfrm>
          <a:prstGeom prst="roundRect">
            <a:avLst>
              <a:gd name="adj" fmla="val 15152"/>
            </a:avLst>
          </a:prstGeom>
          <a:gradFill rotWithShape="1">
            <a:gsLst>
              <a:gs pos="0">
                <a:srgbClr val="FCF5E2"/>
              </a:gs>
              <a:gs pos="100000">
                <a:srgbClr val="F4E5B8"/>
              </a:gs>
            </a:gsLst>
            <a:lin ang="5400000" scaled="0"/>
          </a:gradFill>
          <a:ln w="9525">
            <a:solidFill>
              <a:srgbClr val="E9B221"/>
            </a:solidFill>
            <a:prstDash val="solid"/>
          </a:ln>
        </p:spPr>
        <p:txBody>
          <a:bodyPr/>
          <a:p/>
        </p:txBody>
      </p:sp>
      <p:sp>
        <p:nvSpPr>
          <p:cNvPr id="53" name="anim:2"/>
          <p:cNvSpPr txBox="1"/>
          <p:nvPr/>
        </p:nvSpPr>
        <p:spPr>
          <a:xfrm>
            <a:off x="6766560" y="5486400"/>
            <a:ext cx="4343400" cy="603504"/>
          </a:xfrm>
          <a:prstGeom prst="rect">
            <a:avLst/>
          </a:prstGeom>
          <a:noFill/>
          <a:ln/>
        </p:spPr>
        <p:txBody>
          <a:bodyPr wrap="square" lIns="0" tIns="0" rIns="0" bIns="0" rtlCol="0" anchor="ctr"/>
          <a:lstStyle/>
          <a:p>
            <a:pPr algn="l" indent="0" marL="0">
              <a:buNone/>
            </a:pPr>
            <a:r>
              <a:rPr lang="en-US" sz="1000" b="1" dirty="0">
                <a:solidFill>
                  <a:srgbClr val="0A1E33"/>
                </a:solidFill>
                <a:latin typeface="Calibri" pitchFamily="34" charset="0"/>
                <a:ea typeface="Calibri" pitchFamily="34" charset="-122"/>
                <a:cs typeface="Calibri" pitchFamily="34" charset="-120"/>
              </a:rPr>
              <a:t>By design: an engineer who can only work inside a sandbox someone else set up is not what this programme trains.</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par>
                                <p:cTn id="51" presetID="10" presetClass="entr" presetSubtype="0" fill="hold" grpId="0" nodeType="withEffect">
                                  <p:stCondLst>
                                    <p:cond delay="90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400"/>
                                        <p:tgtEl>
                                          <p:spTgt spid="37"/>
                                        </p:tgtEl>
                                      </p:cBhvr>
                                    </p:animEffect>
                                  </p:childTnLst>
                                </p:cTn>
                              </p:par>
                            </p:childTnLst>
                          </p:cTn>
                        </p:par>
                      </p:childTnLst>
                    </p:cTn>
                  </p:par>
                  <p:par>
                    <p:cTn id="104" fill="hold">
                      <p:stCondLst>
                        <p:cond delay="indefinite"/>
                      </p:stCondLst>
                      <p:childTnLst>
                        <p:par>
                          <p:cTn id="10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9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18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27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36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45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54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63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72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81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par>
                                <p:cTn id="92" presetID="10" presetClass="entr" presetSubtype="0" fill="hold" grpId="0" nodeType="withEffect">
                                  <p:stCondLst>
                                    <p:cond delay="90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400"/>
                                        <p:tgtEl>
                                          <p:spTgt spid="50"/>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00"/>
                                        <p:tgtEl>
                                          <p:spTgt spid="51"/>
                                        </p:tgtEl>
                                      </p:cBhvr>
                                    </p:animEffect>
                                  </p:childTnLst>
                                </p:cTn>
                              </p:par>
                              <p:par>
                                <p:cTn id="98" presetID="10" presetClass="entr" presetSubtype="0" fill="hold" grpId="0" nodeType="withEffect">
                                  <p:stCondLst>
                                    <p:cond delay="90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400"/>
                                        <p:tgtEl>
                                          <p:spTgt spid="52"/>
                                        </p:tgtEl>
                                      </p:cBhvr>
                                    </p:animEffect>
                                  </p:childTnLst>
                                </p:cTn>
                              </p:par>
                              <p:par>
                                <p:cTn id="101" presetID="10" presetClass="entr" presetSubtype="0" fill="hold" grpId="0" nodeType="withEffect">
                                  <p:stCondLst>
                                    <p:cond delay="90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683" y="175931"/>
            <a:ext cx="471099" cy="471099"/>
          </a:xfrm>
          <a:prstGeom prst="ellipse">
            <a:avLst/>
          </a:prstGeom>
          <a:solidFill>
            <a:srgbClr val="FFFFFF"/>
          </a:solidFill>
          <a:ln w="12700">
            <a:solidFill>
              <a:srgbClr val="FFFFFF"/>
            </a:solidFill>
            <a:prstDash val="solid"/>
          </a:ln>
        </p:spPr>
        <p:txBody>
          <a:bodyPr/>
          <a:p/>
        </p:txBody>
      </p:sp>
      <p:pic>
        <p:nvPicPr>
          <p:cNvPr id="3"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4" name="Text 1"/>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FFFFFF"/>
                </a:solidFill>
                <a:latin typeface="Calibri" pitchFamily="34" charset="0"/>
                <a:ea typeface="Calibri" pitchFamily="34" charset="-122"/>
                <a:cs typeface="Calibri" pitchFamily="34" charset="-120"/>
              </a:rPr>
              <a:t>IITGN CDF (CAA)</a:t>
            </a:r>
            <a:endParaRPr lang="en-US" sz="950" dirty="0"/>
          </a:p>
        </p:txBody>
      </p:sp>
      <p:sp>
        <p:nvSpPr>
          <p:cNvPr id="5" name="Text 2"/>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A9B8CA"/>
                </a:solidFill>
                <a:latin typeface="Calibri" pitchFamily="34" charset="0"/>
                <a:ea typeface="Calibri" pitchFamily="34" charset="-122"/>
                <a:cs typeface="Calibri" pitchFamily="34" charset="-120"/>
              </a:rPr>
              <a:t>COMPETENCY ADVANCEMENT ACADEMY  ·  IIT GANDHINAGAR</a:t>
            </a:r>
            <a:endParaRPr lang="en-US" sz="650" dirty="0"/>
          </a:p>
        </p:txBody>
      </p:sp>
      <p:sp>
        <p:nvSpPr>
          <p:cNvPr id="6" name="Text 3"/>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A9B8CA"/>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7" name="Text 4"/>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A9B8CA"/>
                </a:solidFill>
                <a:latin typeface="Calibri" pitchFamily="34" charset="0"/>
                <a:ea typeface="Calibri" pitchFamily="34" charset="-122"/>
                <a:cs typeface="Calibri" pitchFamily="34" charset="-120"/>
              </a:rPr>
              <a:t>18</a:t>
            </a:r>
            <a:endParaRPr lang="en-US" sz="850" dirty="0"/>
          </a:p>
        </p:txBody>
      </p:sp>
      <p:sp>
        <p:nvSpPr>
          <p:cNvPr id="8" name="Text 5"/>
          <p:cNvSpPr txBox="1"/>
          <p:nvPr/>
        </p:nvSpPr>
        <p:spPr>
          <a:xfrm>
            <a:off x="548640" y="6455664"/>
            <a:ext cx="3657600" cy="201168"/>
          </a:xfrm>
          <a:prstGeom prst="rect">
            <a:avLst/>
          </a:prstGeom>
          <a:noFill/>
          <a:ln/>
        </p:spPr>
        <p:txBody>
          <a:bodyPr wrap="square" lIns="0" tIns="0" rIns="0" bIns="0" rtlCol="0" anchor="t"/>
          <a:lstStyle/>
          <a:p>
            <a:pPr algn="l" indent="0" marL="0">
              <a:buNone/>
            </a:pPr>
            <a:r>
              <a:rPr lang="en-US" sz="850" dirty="0">
                <a:solidFill>
                  <a:srgbClr val="A9B8CA"/>
                </a:solidFill>
                <a:latin typeface="Calibri" pitchFamily="34" charset="0"/>
                <a:ea typeface="Calibri" pitchFamily="34" charset="-122"/>
                <a:cs typeface="Calibri" pitchFamily="34" charset="-120"/>
              </a:rPr>
              <a:t>Academic orientation</a:t>
            </a:r>
            <a:endParaRPr lang="en-US" sz="850" dirty="0"/>
          </a:p>
        </p:txBody>
      </p:sp>
      <p:sp>
        <p:nvSpPr>
          <p:cNvPr id="9" name="anim:1"/>
          <p:cNvSpPr txBox="1"/>
          <p:nvPr/>
        </p:nvSpPr>
        <p:spPr>
          <a:xfrm>
            <a:off x="731520" y="1371600"/>
            <a:ext cx="3657600" cy="1463040"/>
          </a:xfrm>
          <a:prstGeom prst="rect">
            <a:avLst/>
          </a:prstGeom>
          <a:noFill/>
          <a:ln/>
        </p:spPr>
        <p:txBody>
          <a:bodyPr wrap="square" lIns="0" tIns="0" rIns="0" bIns="0" rtlCol="0" anchor="t"/>
          <a:lstStyle/>
          <a:p>
            <a:pPr algn="l" indent="0" marL="0">
              <a:buNone/>
            </a:pPr>
            <a:r>
              <a:rPr lang="en-US" sz="9600" b="1" dirty="0">
                <a:solidFill>
                  <a:srgbClr val="E9B221"/>
                </a:solidFill>
                <a:latin typeface="Calibri" pitchFamily="34" charset="0"/>
                <a:ea typeface="Calibri" pitchFamily="34" charset="-122"/>
                <a:cs typeface="Calibri" pitchFamily="34" charset="-120"/>
              </a:rPr>
              <a:t>04</a:t>
            </a:r>
            <a:endParaRPr lang="en-US" sz="9600" dirty="0"/>
          </a:p>
        </p:txBody>
      </p:sp>
      <p:sp>
        <p:nvSpPr>
          <p:cNvPr id="10" name="anim:1"/>
          <p:cNvSpPr txBox="1"/>
          <p:nvPr/>
        </p:nvSpPr>
        <p:spPr>
          <a:xfrm>
            <a:off x="731520" y="288036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How you are evaluated</a:t>
            </a:r>
            <a:endParaRPr lang="en-US" sz="4000" dirty="0"/>
          </a:p>
        </p:txBody>
      </p:sp>
      <p:sp>
        <p:nvSpPr>
          <p:cNvPr id="11" name="anim:1"/>
          <p:cNvSpPr txBox="1"/>
          <p:nvPr/>
        </p:nvSpPr>
        <p:spPr>
          <a:xfrm>
            <a:off x="731520" y="3794760"/>
            <a:ext cx="9144000" cy="731520"/>
          </a:xfrm>
          <a:prstGeom prst="rect">
            <a:avLst/>
          </a:prstGeom>
          <a:noFill/>
          <a:ln/>
        </p:spPr>
        <p:txBody>
          <a:bodyPr wrap="square" lIns="0" tIns="0" rIns="0" bIns="0" rtlCol="0" anchor="t"/>
          <a:lstStyle/>
          <a:p>
            <a:pPr algn="l" indent="0" marL="0">
              <a:buNone/>
            </a:pPr>
            <a:r>
              <a:rPr lang="en-US" sz="1500" dirty="0">
                <a:solidFill>
                  <a:srgbClr val="C9D6E4"/>
                </a:solidFill>
                <a:latin typeface="Calibri" pitchFamily="34" charset="0"/>
                <a:ea typeface="Calibri" pitchFamily="34" charset="-122"/>
                <a:cs typeface="Calibri" pitchFamily="34" charset="-120"/>
              </a:rPr>
              <a:t>One thousand marks, five components, every mark earned in a named week. Then the rules you sign up to.</a:t>
            </a:r>
            <a:endParaRPr lang="en-US" sz="1500" dirty="0"/>
          </a:p>
        </p:txBody>
      </p:sp>
      <p:sp>
        <p:nvSpPr>
          <p:cNvPr id="12" name="anim:1"/>
          <p:cNvSpPr txBox="1"/>
          <p:nvPr/>
        </p:nvSpPr>
        <p:spPr>
          <a:xfrm>
            <a:off x="731520" y="5120640"/>
            <a:ext cx="18288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Where this takes you</a:t>
            </a:r>
            <a:endParaRPr lang="en-US" sz="900" dirty="0"/>
          </a:p>
        </p:txBody>
      </p:sp>
      <p:sp>
        <p:nvSpPr>
          <p:cNvPr id="13" name="anim:1"/>
          <p:cNvSpPr txBox="1"/>
          <p:nvPr/>
        </p:nvSpPr>
        <p:spPr>
          <a:xfrm>
            <a:off x="2670048" y="5120640"/>
            <a:ext cx="14859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it is built</a:t>
            </a:r>
            <a:endParaRPr lang="en-US" sz="900" dirty="0"/>
          </a:p>
        </p:txBody>
      </p:sp>
      <p:sp>
        <p:nvSpPr>
          <p:cNvPr id="14" name="anim:1"/>
          <p:cNvSpPr txBox="1"/>
          <p:nvPr/>
        </p:nvSpPr>
        <p:spPr>
          <a:xfrm>
            <a:off x="4265676" y="5120640"/>
            <a:ext cx="14859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a week runs</a:t>
            </a:r>
            <a:endParaRPr lang="en-US" sz="900" dirty="0"/>
          </a:p>
        </p:txBody>
      </p:sp>
      <p:sp>
        <p:nvSpPr>
          <p:cNvPr id="15" name="anim:1"/>
          <p:cNvSpPr txBox="1"/>
          <p:nvPr/>
        </p:nvSpPr>
        <p:spPr>
          <a:xfrm>
            <a:off x="5861304" y="5120640"/>
            <a:ext cx="1897380" cy="310896"/>
          </a:xfrm>
          <a:prstGeom prst="roundRect">
            <a:avLst>
              <a:gd name="adj" fmla="val 58824"/>
            </a:avLst>
          </a:prstGeom>
          <a:solidFill>
            <a:srgbClr val="E9B221"/>
          </a:solidFill>
          <a:ln w="9525">
            <a:solidFill>
              <a:srgbClr val="E9B221"/>
            </a:solidFill>
          </a:ln>
        </p:spPr>
        <p:txBody>
          <a:bodyPr wrap="square" lIns="0" tIns="76200" rIns="76200" bIns="0" rtlCol="0" anchor="ctr"/>
          <a:lstStyle/>
          <a:p>
            <a:pPr algn="ctr" indent="0" marL="0">
              <a:buNone/>
            </a:pPr>
            <a:r>
              <a:rPr lang="en-US" sz="900" b="1" dirty="0">
                <a:solidFill>
                  <a:srgbClr val="0A1E33"/>
                </a:solidFill>
                <a:latin typeface="Calibri" pitchFamily="34" charset="0"/>
                <a:ea typeface="Calibri" pitchFamily="34" charset="-122"/>
                <a:cs typeface="Calibri" pitchFamily="34" charset="-120"/>
              </a:rPr>
              <a:t>How you are evaluated</a:t>
            </a:r>
            <a:endParaRPr lang="en-US" sz="900" dirty="0"/>
          </a:p>
        </p:txBody>
      </p:sp>
      <p:sp>
        <p:nvSpPr>
          <p:cNvPr id="16" name="anim:1"/>
          <p:cNvSpPr txBox="1"/>
          <p:nvPr/>
        </p:nvSpPr>
        <p:spPr>
          <a:xfrm>
            <a:off x="7868412" y="5120640"/>
            <a:ext cx="196596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Placement and capstone</a:t>
            </a:r>
            <a:endParaRPr lang="en-US" sz="900" dirty="0"/>
          </a:p>
        </p:txBody>
      </p:sp>
      <p:sp>
        <p:nvSpPr>
          <p:cNvPr id="17" name="anim:1"/>
          <p:cNvSpPr txBox="1"/>
          <p:nvPr/>
        </p:nvSpPr>
        <p:spPr>
          <a:xfrm>
            <a:off x="9944100" y="5120640"/>
            <a:ext cx="169164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People and support</a:t>
            </a:r>
            <a:endParaRPr lang="en-US" sz="9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19</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007DB6"/>
          </a:solidFill>
          <a:ln w="12700">
            <a:solidFill>
              <a:srgbClr val="007DB6"/>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How you are evaluated: 1000 marks, five components</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Every mark is earned in a named week and posts to one module. Nothing else carries marks.</a:t>
            </a:r>
            <a:endParaRPr lang="en-US" sz="1250" dirty="0"/>
          </a:p>
        </p:txBody>
      </p:sp>
      <p:sp>
        <p:nvSpPr>
          <p:cNvPr id="21" name="anim:1 grad:navy"/>
          <p:cNvSpPr/>
          <p:nvPr/>
        </p:nvSpPr>
        <p:spPr>
          <a:xfrm>
            <a:off x="548640" y="1783080"/>
            <a:ext cx="3327502" cy="868680"/>
          </a:xfrm>
          <a:prstGeom prst="rect">
            <a:avLst/>
          </a:prstGeom>
          <a:gradFill rotWithShape="1">
            <a:gsLst>
              <a:gs pos="0">
                <a:srgbClr val="1B4170"/>
              </a:gs>
              <a:gs pos="100000">
                <a:srgbClr val="0A1E33"/>
              </a:gs>
            </a:gsLst>
            <a:lin ang="5400000" scaled="0"/>
          </a:gradFill>
          <a:ln w="19050">
            <a:solidFill>
              <a:srgbClr val="F4F6F9"/>
            </a:solidFill>
            <a:prstDash val="solid"/>
          </a:ln>
        </p:spPr>
        <p:txBody>
          <a:bodyPr/>
          <a:p/>
        </p:txBody>
      </p:sp>
      <p:sp>
        <p:nvSpPr>
          <p:cNvPr id="22" name="anim:1"/>
          <p:cNvSpPr txBox="1"/>
          <p:nvPr/>
        </p:nvSpPr>
        <p:spPr>
          <a:xfrm>
            <a:off x="548640" y="1874520"/>
            <a:ext cx="3327502" cy="457200"/>
          </a:xfrm>
          <a:prstGeom prst="rect">
            <a:avLst/>
          </a:prstGeom>
          <a:noFill/>
          <a:ln/>
        </p:spPr>
        <p:txBody>
          <a:bodyPr wrap="square" lIns="0" tIns="0" rIns="0" bIns="0" rtlCol="0" anchor="ctr"/>
          <a:lstStyle/>
          <a:p>
            <a:pPr algn="ctr" indent="0" marL="0">
              <a:buNone/>
            </a:pPr>
            <a:r>
              <a:rPr lang="en-US" sz="2400" b="1" dirty="0">
                <a:solidFill>
                  <a:srgbClr val="E9B221"/>
                </a:solidFill>
                <a:latin typeface="Calibri" pitchFamily="34" charset="0"/>
                <a:ea typeface="Calibri" pitchFamily="34" charset="-122"/>
                <a:cs typeface="Calibri" pitchFamily="34" charset="-120"/>
              </a:rPr>
              <a:t>300</a:t>
            </a:r>
            <a:endParaRPr lang="en-US" sz="2400" dirty="0"/>
          </a:p>
        </p:txBody>
      </p:sp>
      <p:sp>
        <p:nvSpPr>
          <p:cNvPr id="23" name="anim:1"/>
          <p:cNvSpPr txBox="1"/>
          <p:nvPr/>
        </p:nvSpPr>
        <p:spPr>
          <a:xfrm>
            <a:off x="548640" y="2331720"/>
            <a:ext cx="3327502" cy="228600"/>
          </a:xfrm>
          <a:prstGeom prst="rect">
            <a:avLst/>
          </a:prstGeom>
          <a:noFill/>
          <a:ln/>
        </p:spPr>
        <p:txBody>
          <a:bodyPr wrap="square" lIns="0" tIns="0" rIns="0" bIns="0" rtlCol="0" anchor="ctr"/>
          <a:lstStyle/>
          <a:p>
            <a:pPr algn="ctr" indent="0" marL="0">
              <a:buNone/>
            </a:pPr>
            <a:r>
              <a:rPr lang="en-US" sz="750" b="1" spc="100" kern="0" dirty="0">
                <a:solidFill>
                  <a:srgbClr val="E9B221"/>
                </a:solidFill>
                <a:latin typeface="Calibri" pitchFamily="34" charset="0"/>
                <a:ea typeface="Calibri" pitchFamily="34" charset="-122"/>
                <a:cs typeface="Calibri" pitchFamily="34" charset="-120"/>
              </a:rPr>
              <a:t>MAJOR EXAMS</a:t>
            </a:r>
            <a:endParaRPr lang="en-US" sz="750" dirty="0"/>
          </a:p>
        </p:txBody>
      </p:sp>
      <p:sp>
        <p:nvSpPr>
          <p:cNvPr id="24" name="anim:1 grad:blue"/>
          <p:cNvSpPr/>
          <p:nvPr/>
        </p:nvSpPr>
        <p:spPr>
          <a:xfrm>
            <a:off x="3876142" y="1783080"/>
            <a:ext cx="2218334" cy="868680"/>
          </a:xfrm>
          <a:prstGeom prst="rect">
            <a:avLst/>
          </a:prstGeom>
          <a:gradFill rotWithShape="1">
            <a:gsLst>
              <a:gs pos="0">
                <a:srgbClr val="2FA8E0"/>
              </a:gs>
              <a:gs pos="100000">
                <a:srgbClr val="007DB6"/>
              </a:gs>
            </a:gsLst>
            <a:lin ang="5400000" scaled="0"/>
          </a:gradFill>
          <a:ln w="19050">
            <a:solidFill>
              <a:srgbClr val="F4F6F9"/>
            </a:solidFill>
            <a:prstDash val="solid"/>
          </a:ln>
        </p:spPr>
        <p:txBody>
          <a:bodyPr/>
          <a:p/>
        </p:txBody>
      </p:sp>
      <p:sp>
        <p:nvSpPr>
          <p:cNvPr id="25" name="anim:1"/>
          <p:cNvSpPr txBox="1"/>
          <p:nvPr/>
        </p:nvSpPr>
        <p:spPr>
          <a:xfrm>
            <a:off x="3876142" y="1874520"/>
            <a:ext cx="2218334"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200</a:t>
            </a:r>
            <a:endParaRPr lang="en-US" sz="2400" dirty="0"/>
          </a:p>
        </p:txBody>
      </p:sp>
      <p:sp>
        <p:nvSpPr>
          <p:cNvPr id="26" name="anim:1"/>
          <p:cNvSpPr txBox="1"/>
          <p:nvPr/>
        </p:nvSpPr>
        <p:spPr>
          <a:xfrm>
            <a:off x="3876142" y="2331720"/>
            <a:ext cx="2218334" cy="228600"/>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MINI-PROJECTS</a:t>
            </a:r>
            <a:endParaRPr lang="en-US" sz="750" dirty="0"/>
          </a:p>
        </p:txBody>
      </p:sp>
      <p:sp>
        <p:nvSpPr>
          <p:cNvPr id="27" name="anim:1 grad:bluePop"/>
          <p:cNvSpPr/>
          <p:nvPr/>
        </p:nvSpPr>
        <p:spPr>
          <a:xfrm>
            <a:off x="6094476" y="1783080"/>
            <a:ext cx="1663751" cy="868680"/>
          </a:xfrm>
          <a:prstGeom prst="rect">
            <a:avLst/>
          </a:prstGeom>
          <a:gradFill rotWithShape="1">
            <a:gsLst>
              <a:gs pos="0">
                <a:srgbClr val="5CC0EE"/>
              </a:gs>
              <a:gs pos="100000">
                <a:srgbClr val="1E96CF"/>
              </a:gs>
            </a:gsLst>
            <a:lin ang="5400000" scaled="0"/>
          </a:gradFill>
          <a:ln w="19050">
            <a:solidFill>
              <a:srgbClr val="F4F6F9"/>
            </a:solidFill>
            <a:prstDash val="solid"/>
          </a:ln>
        </p:spPr>
        <p:txBody>
          <a:bodyPr/>
          <a:p/>
        </p:txBody>
      </p:sp>
      <p:sp>
        <p:nvSpPr>
          <p:cNvPr id="28" name="anim:1"/>
          <p:cNvSpPr txBox="1"/>
          <p:nvPr/>
        </p:nvSpPr>
        <p:spPr>
          <a:xfrm>
            <a:off x="6094476" y="1874520"/>
            <a:ext cx="1663751"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150</a:t>
            </a:r>
            <a:endParaRPr lang="en-US" sz="2400" dirty="0"/>
          </a:p>
        </p:txBody>
      </p:sp>
      <p:sp>
        <p:nvSpPr>
          <p:cNvPr id="29" name="anim:1"/>
          <p:cNvSpPr txBox="1"/>
          <p:nvPr/>
        </p:nvSpPr>
        <p:spPr>
          <a:xfrm>
            <a:off x="6094476" y="2331720"/>
            <a:ext cx="1663751" cy="228600"/>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MOCK INTERVIEWS</a:t>
            </a:r>
            <a:endParaRPr lang="en-US" sz="750" dirty="0"/>
          </a:p>
        </p:txBody>
      </p:sp>
      <p:sp>
        <p:nvSpPr>
          <p:cNvPr id="30" name="anim:1 grad:skyTint"/>
          <p:cNvSpPr/>
          <p:nvPr/>
        </p:nvSpPr>
        <p:spPr>
          <a:xfrm>
            <a:off x="7758227" y="1783080"/>
            <a:ext cx="1663751" cy="868680"/>
          </a:xfrm>
          <a:prstGeom prst="rect">
            <a:avLst/>
          </a:prstGeom>
          <a:gradFill rotWithShape="1">
            <a:gsLst>
              <a:gs pos="0">
                <a:srgbClr val="EEF7FC"/>
              </a:gs>
              <a:gs pos="100000">
                <a:srgbClr val="D8EBF6"/>
              </a:gs>
            </a:gsLst>
            <a:lin ang="5400000" scaled="0"/>
          </a:gradFill>
          <a:ln w="19050">
            <a:solidFill>
              <a:srgbClr val="F4F6F9"/>
            </a:solidFill>
            <a:prstDash val="solid"/>
          </a:ln>
        </p:spPr>
        <p:txBody>
          <a:bodyPr/>
          <a:p/>
        </p:txBody>
      </p:sp>
      <p:sp>
        <p:nvSpPr>
          <p:cNvPr id="31" name="anim:1"/>
          <p:cNvSpPr txBox="1"/>
          <p:nvPr/>
        </p:nvSpPr>
        <p:spPr>
          <a:xfrm>
            <a:off x="7758227" y="1874520"/>
            <a:ext cx="1663751" cy="457200"/>
          </a:xfrm>
          <a:prstGeom prst="rect">
            <a:avLst/>
          </a:prstGeom>
          <a:noFill/>
          <a:ln/>
        </p:spPr>
        <p:txBody>
          <a:bodyPr wrap="square" lIns="0" tIns="0" rIns="0" bIns="0" rtlCol="0" anchor="ctr"/>
          <a:lstStyle/>
          <a:p>
            <a:pPr algn="ctr" indent="0" marL="0">
              <a:buNone/>
            </a:pPr>
            <a:r>
              <a:rPr lang="en-US" sz="2400" b="1" dirty="0">
                <a:solidFill>
                  <a:srgbClr val="0A1E33"/>
                </a:solidFill>
                <a:latin typeface="Calibri" pitchFamily="34" charset="0"/>
                <a:ea typeface="Calibri" pitchFamily="34" charset="-122"/>
                <a:cs typeface="Calibri" pitchFamily="34" charset="-120"/>
              </a:rPr>
              <a:t>150</a:t>
            </a:r>
            <a:endParaRPr lang="en-US" sz="2400" dirty="0"/>
          </a:p>
        </p:txBody>
      </p:sp>
      <p:sp>
        <p:nvSpPr>
          <p:cNvPr id="32" name="anim:1"/>
          <p:cNvSpPr txBox="1"/>
          <p:nvPr/>
        </p:nvSpPr>
        <p:spPr>
          <a:xfrm>
            <a:off x="7758227" y="2331720"/>
            <a:ext cx="1663751" cy="228600"/>
          </a:xfrm>
          <a:prstGeom prst="rect">
            <a:avLst/>
          </a:prstGeom>
          <a:noFill/>
          <a:ln/>
        </p:spPr>
        <p:txBody>
          <a:bodyPr wrap="square" lIns="0" tIns="0" rIns="0" bIns="0" rtlCol="0" anchor="ctr"/>
          <a:lstStyle/>
          <a:p>
            <a:pPr algn="ctr" indent="0" marL="0">
              <a:buNone/>
            </a:pPr>
            <a:r>
              <a:rPr lang="en-US" sz="750" b="1" spc="100" kern="0" dirty="0">
                <a:solidFill>
                  <a:srgbClr val="0A1E33"/>
                </a:solidFill>
                <a:latin typeface="Calibri" pitchFamily="34" charset="0"/>
                <a:ea typeface="Calibri" pitchFamily="34" charset="-122"/>
                <a:cs typeface="Calibri" pitchFamily="34" charset="-120"/>
              </a:rPr>
              <a:t>GROUP DISCUSSIONS</a:t>
            </a:r>
            <a:endParaRPr lang="en-US" sz="750" dirty="0"/>
          </a:p>
        </p:txBody>
      </p:sp>
      <p:sp>
        <p:nvSpPr>
          <p:cNvPr id="33" name="anim:1 grad:gold"/>
          <p:cNvSpPr/>
          <p:nvPr/>
        </p:nvSpPr>
        <p:spPr>
          <a:xfrm>
            <a:off x="9421978" y="1783080"/>
            <a:ext cx="2218334" cy="868680"/>
          </a:xfrm>
          <a:prstGeom prst="rect">
            <a:avLst/>
          </a:prstGeom>
          <a:gradFill rotWithShape="1">
            <a:gsLst>
              <a:gs pos="0">
                <a:srgbClr val="F3C84A"/>
              </a:gs>
              <a:gs pos="100000">
                <a:srgbClr val="D9A21A"/>
              </a:gs>
            </a:gsLst>
            <a:lin ang="5400000" scaled="0"/>
          </a:gradFill>
          <a:ln w="19050">
            <a:solidFill>
              <a:srgbClr val="F4F6F9"/>
            </a:solidFill>
            <a:prstDash val="solid"/>
          </a:ln>
        </p:spPr>
        <p:txBody>
          <a:bodyPr/>
          <a:p/>
        </p:txBody>
      </p:sp>
      <p:sp>
        <p:nvSpPr>
          <p:cNvPr id="34" name="anim:1"/>
          <p:cNvSpPr txBox="1"/>
          <p:nvPr/>
        </p:nvSpPr>
        <p:spPr>
          <a:xfrm>
            <a:off x="9421978" y="1874520"/>
            <a:ext cx="2218334" cy="457200"/>
          </a:xfrm>
          <a:prstGeom prst="rect">
            <a:avLst/>
          </a:prstGeom>
          <a:noFill/>
          <a:ln/>
        </p:spPr>
        <p:txBody>
          <a:bodyPr wrap="square" lIns="0" tIns="0" rIns="0" bIns="0" rtlCol="0" anchor="ctr"/>
          <a:lstStyle/>
          <a:p>
            <a:pPr algn="ctr" indent="0" marL="0">
              <a:buNone/>
            </a:pPr>
            <a:r>
              <a:rPr lang="en-US" sz="2400" b="1" dirty="0">
                <a:solidFill>
                  <a:srgbClr val="0A1E33"/>
                </a:solidFill>
                <a:latin typeface="Calibri" pitchFamily="34" charset="0"/>
                <a:ea typeface="Calibri" pitchFamily="34" charset="-122"/>
                <a:cs typeface="Calibri" pitchFamily="34" charset="-120"/>
              </a:rPr>
              <a:t>200</a:t>
            </a:r>
            <a:endParaRPr lang="en-US" sz="2400" dirty="0"/>
          </a:p>
        </p:txBody>
      </p:sp>
      <p:sp>
        <p:nvSpPr>
          <p:cNvPr id="35" name="anim:1"/>
          <p:cNvSpPr txBox="1"/>
          <p:nvPr/>
        </p:nvSpPr>
        <p:spPr>
          <a:xfrm>
            <a:off x="9421978" y="2331720"/>
            <a:ext cx="2218334" cy="228600"/>
          </a:xfrm>
          <a:prstGeom prst="rect">
            <a:avLst/>
          </a:prstGeom>
          <a:noFill/>
          <a:ln/>
        </p:spPr>
        <p:txBody>
          <a:bodyPr wrap="square" lIns="0" tIns="0" rIns="0" bIns="0" rtlCol="0" anchor="ctr"/>
          <a:lstStyle/>
          <a:p>
            <a:pPr algn="ctr" indent="0" marL="0">
              <a:buNone/>
            </a:pPr>
            <a:r>
              <a:rPr lang="en-US" sz="750" b="1" spc="100" kern="0" dirty="0">
                <a:solidFill>
                  <a:srgbClr val="0A1E33"/>
                </a:solidFill>
                <a:latin typeface="Calibri" pitchFamily="34" charset="0"/>
                <a:ea typeface="Calibri" pitchFamily="34" charset="-122"/>
                <a:cs typeface="Calibri" pitchFamily="34" charset="-120"/>
              </a:rPr>
              <a:t>CAPSTONE</a:t>
            </a:r>
            <a:endParaRPr lang="en-US" sz="750" dirty="0"/>
          </a:p>
        </p:txBody>
      </p:sp>
      <p:sp>
        <p:nvSpPr>
          <p:cNvPr id="36" name="anim:2 grad:card"/>
          <p:cNvSpPr/>
          <p:nvPr/>
        </p:nvSpPr>
        <p:spPr>
          <a:xfrm>
            <a:off x="548640" y="2880360"/>
            <a:ext cx="2130552" cy="2240280"/>
          </a:xfrm>
          <a:prstGeom prst="roundRect">
            <a:avLst>
              <a:gd name="adj" fmla="val 4292"/>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7" name="anim:2 grad:navy"/>
          <p:cNvSpPr/>
          <p:nvPr/>
        </p:nvSpPr>
        <p:spPr>
          <a:xfrm>
            <a:off x="777240" y="3108960"/>
            <a:ext cx="548640" cy="548640"/>
          </a:xfrm>
          <a:prstGeom prst="ellipse">
            <a:avLst/>
          </a:prstGeom>
          <a:gradFill rotWithShape="1">
            <a:gsLst>
              <a:gs pos="0">
                <a:srgbClr val="1B4170"/>
              </a:gs>
              <a:gs pos="100000">
                <a:srgbClr val="0A1E33"/>
              </a:gs>
            </a:gsLst>
            <a:lin ang="5400000" scaled="0"/>
          </a:gradFill>
          <a:ln w="9525">
            <a:solidFill>
              <a:srgbClr val="0A1E33"/>
            </a:solidFill>
            <a:prstDash val="solid"/>
          </a:ln>
        </p:spPr>
        <p:txBody>
          <a:bodyPr/>
          <a:p/>
        </p:txBody>
      </p:sp>
      <p:pic>
        <p:nvPicPr>
          <p:cNvPr id="38" name="anim:2" descr="preencoded.png">    </p:cNvPr>
          <p:cNvPicPr>
            <a:picLocks noChangeAspect="1"/>
          </p:cNvPicPr>
          <p:nvPr/>
        </p:nvPicPr>
        <p:blipFill>
          <a:blip r:embed="rId3"/>
          <a:stretch>
            <a:fillRect/>
          </a:stretch>
        </p:blipFill>
        <p:spPr>
          <a:xfrm>
            <a:off x="908914" y="3240634"/>
            <a:ext cx="285293" cy="285293"/>
          </a:xfrm>
          <a:prstGeom prst="rect">
            <a:avLst/>
          </a:prstGeom>
        </p:spPr>
      </p:pic>
      <p:sp>
        <p:nvSpPr>
          <p:cNvPr id="39" name="anim:2"/>
          <p:cNvSpPr txBox="1"/>
          <p:nvPr/>
        </p:nvSpPr>
        <p:spPr>
          <a:xfrm>
            <a:off x="1463040" y="3108960"/>
            <a:ext cx="1097280" cy="548640"/>
          </a:xfrm>
          <a:prstGeom prst="rect">
            <a:avLst/>
          </a:prstGeom>
          <a:noFill/>
          <a:ln/>
        </p:spPr>
        <p:txBody>
          <a:bodyPr wrap="square" lIns="0" tIns="0" rIns="0" bIns="0" rtlCol="0" anchor="ctr"/>
          <a:lstStyle/>
          <a:p>
            <a:pPr algn="l" indent="0" marL="0">
              <a:buNone/>
            </a:pPr>
            <a:r>
              <a:rPr lang="en-US" sz="2400" b="1" dirty="0">
                <a:solidFill>
                  <a:srgbClr val="0A1E33"/>
                </a:solidFill>
                <a:latin typeface="Calibri" pitchFamily="34" charset="0"/>
                <a:ea typeface="Calibri" pitchFamily="34" charset="-122"/>
                <a:cs typeface="Calibri" pitchFamily="34" charset="-120"/>
              </a:rPr>
              <a:t>300</a:t>
            </a:r>
            <a:endParaRPr lang="en-US" sz="2400" dirty="0"/>
          </a:p>
        </p:txBody>
      </p:sp>
      <p:sp>
        <p:nvSpPr>
          <p:cNvPr id="40" name="anim:2"/>
          <p:cNvSpPr txBox="1"/>
          <p:nvPr/>
        </p:nvSpPr>
        <p:spPr>
          <a:xfrm>
            <a:off x="777240" y="3840480"/>
            <a:ext cx="1673352" cy="32004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Major exams</a:t>
            </a:r>
            <a:endParaRPr lang="en-US" sz="1300" dirty="0"/>
          </a:p>
        </p:txBody>
      </p:sp>
      <p:sp>
        <p:nvSpPr>
          <p:cNvPr id="41" name="anim:2"/>
          <p:cNvSpPr txBox="1"/>
          <p:nvPr/>
        </p:nvSpPr>
        <p:spPr>
          <a:xfrm>
            <a:off x="777240" y="4178808"/>
            <a:ext cx="1673352" cy="914400"/>
          </a:xfrm>
          <a:prstGeom prst="rect">
            <a:avLst/>
          </a:prstGeom>
          <a:noFill/>
          <a:ln/>
        </p:spPr>
        <p:txBody>
          <a:bodyPr wrap="square" lIns="0" tIns="0" rIns="0" bIns="0" rtlCol="0" anchor="t"/>
          <a:lstStyle/>
          <a:p>
            <a:pPr algn="l" indent="0" marL="0">
              <a:buNone/>
            </a:pPr>
            <a:r>
              <a:rPr lang="en-US" sz="1000" dirty="0">
                <a:solidFill>
                  <a:srgbClr val="15243A"/>
                </a:solidFill>
                <a:latin typeface="Calibri" pitchFamily="34" charset="0"/>
                <a:ea typeface="Calibri" pitchFamily="34" charset="-122"/>
                <a:cs typeface="Calibri" pitchFamily="34" charset="-120"/>
              </a:rPr>
              <a:t>Three, weighted so the later ones count more: 70 in Week 5, 100 in Week 10, 130 in Week 16. Written and offline.</a:t>
            </a:r>
            <a:endParaRPr lang="en-US" sz="1000" dirty="0"/>
          </a:p>
        </p:txBody>
      </p:sp>
      <p:sp>
        <p:nvSpPr>
          <p:cNvPr id="42" name="anim:2 grad:card"/>
          <p:cNvSpPr/>
          <p:nvPr/>
        </p:nvSpPr>
        <p:spPr>
          <a:xfrm>
            <a:off x="2788920" y="2880360"/>
            <a:ext cx="2130552" cy="2240280"/>
          </a:xfrm>
          <a:prstGeom prst="roundRect">
            <a:avLst>
              <a:gd name="adj" fmla="val 4292"/>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3" name="anim:2 grad:blue"/>
          <p:cNvSpPr/>
          <p:nvPr/>
        </p:nvSpPr>
        <p:spPr>
          <a:xfrm>
            <a:off x="3017520" y="3108960"/>
            <a:ext cx="548640" cy="54864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44" name="anim:2" descr="preencoded.png">    </p:cNvPr>
          <p:cNvPicPr>
            <a:picLocks noChangeAspect="1"/>
          </p:cNvPicPr>
          <p:nvPr/>
        </p:nvPicPr>
        <p:blipFill>
          <a:blip r:embed="rId4"/>
          <a:stretch>
            <a:fillRect/>
          </a:stretch>
        </p:blipFill>
        <p:spPr>
          <a:xfrm>
            <a:off x="3149194" y="3240634"/>
            <a:ext cx="285293" cy="285293"/>
          </a:xfrm>
          <a:prstGeom prst="rect">
            <a:avLst/>
          </a:prstGeom>
        </p:spPr>
      </p:pic>
      <p:sp>
        <p:nvSpPr>
          <p:cNvPr id="45" name="anim:2"/>
          <p:cNvSpPr txBox="1"/>
          <p:nvPr/>
        </p:nvSpPr>
        <p:spPr>
          <a:xfrm>
            <a:off x="3703320" y="3108960"/>
            <a:ext cx="1097280" cy="548640"/>
          </a:xfrm>
          <a:prstGeom prst="rect">
            <a:avLst/>
          </a:prstGeom>
          <a:noFill/>
          <a:ln/>
        </p:spPr>
        <p:txBody>
          <a:bodyPr wrap="square" lIns="0" tIns="0" rIns="0" bIns="0" rtlCol="0" anchor="ctr"/>
          <a:lstStyle/>
          <a:p>
            <a:pPr algn="l" indent="0" marL="0">
              <a:buNone/>
            </a:pPr>
            <a:r>
              <a:rPr lang="en-US" sz="2400" b="1" dirty="0">
                <a:solidFill>
                  <a:srgbClr val="0A1E33"/>
                </a:solidFill>
                <a:latin typeface="Calibri" pitchFamily="34" charset="0"/>
                <a:ea typeface="Calibri" pitchFamily="34" charset="-122"/>
                <a:cs typeface="Calibri" pitchFamily="34" charset="-120"/>
              </a:rPr>
              <a:t>200</a:t>
            </a:r>
            <a:endParaRPr lang="en-US" sz="2400" dirty="0"/>
          </a:p>
        </p:txBody>
      </p:sp>
      <p:sp>
        <p:nvSpPr>
          <p:cNvPr id="46" name="anim:2"/>
          <p:cNvSpPr txBox="1"/>
          <p:nvPr/>
        </p:nvSpPr>
        <p:spPr>
          <a:xfrm>
            <a:off x="3017520" y="3840480"/>
            <a:ext cx="1673352" cy="32004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Mini-projects</a:t>
            </a:r>
            <a:endParaRPr lang="en-US" sz="1300" dirty="0"/>
          </a:p>
        </p:txBody>
      </p:sp>
      <p:sp>
        <p:nvSpPr>
          <p:cNvPr id="47" name="anim:2"/>
          <p:cNvSpPr txBox="1"/>
          <p:nvPr/>
        </p:nvSpPr>
        <p:spPr>
          <a:xfrm>
            <a:off x="3017520" y="4178808"/>
            <a:ext cx="1673352" cy="914400"/>
          </a:xfrm>
          <a:prstGeom prst="rect">
            <a:avLst/>
          </a:prstGeom>
          <a:noFill/>
          <a:ln/>
        </p:spPr>
        <p:txBody>
          <a:bodyPr wrap="square" lIns="0" tIns="0" rIns="0" bIns="0" rtlCol="0" anchor="t"/>
          <a:lstStyle/>
          <a:p>
            <a:pPr algn="l" indent="0" marL="0">
              <a:buNone/>
            </a:pPr>
            <a:r>
              <a:rPr lang="en-US" sz="1000" dirty="0">
                <a:solidFill>
                  <a:srgbClr val="15243A"/>
                </a:solidFill>
                <a:latin typeface="Calibri" pitchFamily="34" charset="0"/>
                <a:ea typeface="Calibri" pitchFamily="34" charset="-122"/>
                <a:cs typeface="Calibri" pitchFamily="34" charset="-120"/>
              </a:rPr>
              <a:t>Five, 40 each, in Weeks 3, 6, 9, 12 and 15. Graded on the implementation and on how well you explain your approach.</a:t>
            </a:r>
            <a:endParaRPr lang="en-US" sz="1000" dirty="0"/>
          </a:p>
        </p:txBody>
      </p:sp>
      <p:sp>
        <p:nvSpPr>
          <p:cNvPr id="48" name="anim:2 grad:card"/>
          <p:cNvSpPr/>
          <p:nvPr/>
        </p:nvSpPr>
        <p:spPr>
          <a:xfrm>
            <a:off x="5029200" y="2880360"/>
            <a:ext cx="2130552" cy="2240280"/>
          </a:xfrm>
          <a:prstGeom prst="roundRect">
            <a:avLst>
              <a:gd name="adj" fmla="val 4292"/>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9" name="anim:2 grad:bluePop"/>
          <p:cNvSpPr/>
          <p:nvPr/>
        </p:nvSpPr>
        <p:spPr>
          <a:xfrm>
            <a:off x="5257800" y="3108960"/>
            <a:ext cx="548640" cy="548640"/>
          </a:xfrm>
          <a:prstGeom prst="ellipse">
            <a:avLst/>
          </a:prstGeom>
          <a:gradFill rotWithShape="1">
            <a:gsLst>
              <a:gs pos="0">
                <a:srgbClr val="5CC0EE"/>
              </a:gs>
              <a:gs pos="100000">
                <a:srgbClr val="1E96CF"/>
              </a:gs>
            </a:gsLst>
            <a:lin ang="5400000" scaled="0"/>
          </a:gradFill>
          <a:ln w="9525">
            <a:solidFill>
              <a:srgbClr val="2FA8E0"/>
            </a:solidFill>
            <a:prstDash val="solid"/>
          </a:ln>
        </p:spPr>
        <p:txBody>
          <a:bodyPr/>
          <a:p/>
        </p:txBody>
      </p:sp>
      <p:pic>
        <p:nvPicPr>
          <p:cNvPr id="50" name="anim:2" descr="preencoded.png">    </p:cNvPr>
          <p:cNvPicPr>
            <a:picLocks noChangeAspect="1"/>
          </p:cNvPicPr>
          <p:nvPr/>
        </p:nvPicPr>
        <p:blipFill>
          <a:blip r:embed="rId5"/>
          <a:stretch>
            <a:fillRect/>
          </a:stretch>
        </p:blipFill>
        <p:spPr>
          <a:xfrm>
            <a:off x="5389474" y="3240634"/>
            <a:ext cx="285293" cy="285293"/>
          </a:xfrm>
          <a:prstGeom prst="rect">
            <a:avLst/>
          </a:prstGeom>
        </p:spPr>
      </p:pic>
      <p:sp>
        <p:nvSpPr>
          <p:cNvPr id="51" name="anim:2"/>
          <p:cNvSpPr txBox="1"/>
          <p:nvPr/>
        </p:nvSpPr>
        <p:spPr>
          <a:xfrm>
            <a:off x="5943600" y="3108960"/>
            <a:ext cx="1097280" cy="548640"/>
          </a:xfrm>
          <a:prstGeom prst="rect">
            <a:avLst/>
          </a:prstGeom>
          <a:noFill/>
          <a:ln/>
        </p:spPr>
        <p:txBody>
          <a:bodyPr wrap="square" lIns="0" tIns="0" rIns="0" bIns="0" rtlCol="0" anchor="ctr"/>
          <a:lstStyle/>
          <a:p>
            <a:pPr algn="l" indent="0" marL="0">
              <a:buNone/>
            </a:pPr>
            <a:r>
              <a:rPr lang="en-US" sz="2400" b="1" dirty="0">
                <a:solidFill>
                  <a:srgbClr val="0A1E33"/>
                </a:solidFill>
                <a:latin typeface="Calibri" pitchFamily="34" charset="0"/>
                <a:ea typeface="Calibri" pitchFamily="34" charset="-122"/>
                <a:cs typeface="Calibri" pitchFamily="34" charset="-120"/>
              </a:rPr>
              <a:t>150</a:t>
            </a:r>
            <a:endParaRPr lang="en-US" sz="2400" dirty="0"/>
          </a:p>
        </p:txBody>
      </p:sp>
      <p:sp>
        <p:nvSpPr>
          <p:cNvPr id="52" name="anim:2"/>
          <p:cNvSpPr txBox="1"/>
          <p:nvPr/>
        </p:nvSpPr>
        <p:spPr>
          <a:xfrm>
            <a:off x="5257800" y="3840480"/>
            <a:ext cx="1673352" cy="32004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Mock interviews</a:t>
            </a:r>
            <a:endParaRPr lang="en-US" sz="1300" dirty="0"/>
          </a:p>
        </p:txBody>
      </p:sp>
      <p:sp>
        <p:nvSpPr>
          <p:cNvPr id="53" name="anim:2"/>
          <p:cNvSpPr txBox="1"/>
          <p:nvPr/>
        </p:nvSpPr>
        <p:spPr>
          <a:xfrm>
            <a:off x="5257800" y="4178808"/>
            <a:ext cx="1673352" cy="914400"/>
          </a:xfrm>
          <a:prstGeom prst="rect">
            <a:avLst/>
          </a:prstGeom>
          <a:noFill/>
          <a:ln/>
        </p:spPr>
        <p:txBody>
          <a:bodyPr wrap="square" lIns="0" tIns="0" rIns="0" bIns="0" rtlCol="0" anchor="t"/>
          <a:lstStyle/>
          <a:p>
            <a:pPr algn="l" indent="0" marL="0">
              <a:buNone/>
            </a:pPr>
            <a:r>
              <a:rPr lang="en-US" sz="1000" dirty="0">
                <a:solidFill>
                  <a:srgbClr val="15243A"/>
                </a:solidFill>
                <a:latin typeface="Calibri" pitchFamily="34" charset="0"/>
                <a:ea typeface="Calibri" pitchFamily="34" charset="-122"/>
                <a:cs typeface="Calibri" pitchFamily="34" charset="-120"/>
              </a:rPr>
              <a:t>Five, 30 each, one per build week, offline. Half technical, half a viva on your project.</a:t>
            </a:r>
            <a:endParaRPr lang="en-US" sz="1000" dirty="0"/>
          </a:p>
        </p:txBody>
      </p:sp>
      <p:sp>
        <p:nvSpPr>
          <p:cNvPr id="54" name="anim:2 grad:card"/>
          <p:cNvSpPr/>
          <p:nvPr/>
        </p:nvSpPr>
        <p:spPr>
          <a:xfrm>
            <a:off x="7269480" y="2880360"/>
            <a:ext cx="2130552" cy="2240280"/>
          </a:xfrm>
          <a:prstGeom prst="roundRect">
            <a:avLst>
              <a:gd name="adj" fmla="val 4292"/>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55" name="anim:2"/>
          <p:cNvSpPr/>
          <p:nvPr/>
        </p:nvSpPr>
        <p:spPr>
          <a:xfrm>
            <a:off x="7498080" y="3108960"/>
            <a:ext cx="548640" cy="548640"/>
          </a:xfrm>
          <a:prstGeom prst="ellipse">
            <a:avLst/>
          </a:prstGeom>
          <a:solidFill>
            <a:srgbClr val="E3F2FA"/>
          </a:solidFill>
          <a:ln w="9525">
            <a:solidFill>
              <a:srgbClr val="E3F2FA"/>
            </a:solidFill>
            <a:prstDash val="solid"/>
          </a:ln>
        </p:spPr>
        <p:txBody>
          <a:bodyPr/>
          <a:p/>
        </p:txBody>
      </p:sp>
      <p:pic>
        <p:nvPicPr>
          <p:cNvPr id="56" name="anim:2" descr="preencoded.png">    </p:cNvPr>
          <p:cNvPicPr>
            <a:picLocks noChangeAspect="1"/>
          </p:cNvPicPr>
          <p:nvPr/>
        </p:nvPicPr>
        <p:blipFill>
          <a:blip r:embed="rId6"/>
          <a:stretch>
            <a:fillRect/>
          </a:stretch>
        </p:blipFill>
        <p:spPr>
          <a:xfrm>
            <a:off x="7629754" y="3240634"/>
            <a:ext cx="285293" cy="285293"/>
          </a:xfrm>
          <a:prstGeom prst="rect">
            <a:avLst/>
          </a:prstGeom>
        </p:spPr>
      </p:pic>
      <p:sp>
        <p:nvSpPr>
          <p:cNvPr id="57" name="anim:2"/>
          <p:cNvSpPr txBox="1"/>
          <p:nvPr/>
        </p:nvSpPr>
        <p:spPr>
          <a:xfrm>
            <a:off x="8183880" y="3108960"/>
            <a:ext cx="1097280" cy="548640"/>
          </a:xfrm>
          <a:prstGeom prst="rect">
            <a:avLst/>
          </a:prstGeom>
          <a:noFill/>
          <a:ln/>
        </p:spPr>
        <p:txBody>
          <a:bodyPr wrap="square" lIns="0" tIns="0" rIns="0" bIns="0" rtlCol="0" anchor="ctr"/>
          <a:lstStyle/>
          <a:p>
            <a:pPr algn="l" indent="0" marL="0">
              <a:buNone/>
            </a:pPr>
            <a:r>
              <a:rPr lang="en-US" sz="2400" b="1" dirty="0">
                <a:solidFill>
                  <a:srgbClr val="0A1E33"/>
                </a:solidFill>
                <a:latin typeface="Calibri" pitchFamily="34" charset="0"/>
                <a:ea typeface="Calibri" pitchFamily="34" charset="-122"/>
                <a:cs typeface="Calibri" pitchFamily="34" charset="-120"/>
              </a:rPr>
              <a:t>150</a:t>
            </a:r>
            <a:endParaRPr lang="en-US" sz="2400" dirty="0"/>
          </a:p>
        </p:txBody>
      </p:sp>
      <p:sp>
        <p:nvSpPr>
          <p:cNvPr id="58" name="anim:2"/>
          <p:cNvSpPr txBox="1"/>
          <p:nvPr/>
        </p:nvSpPr>
        <p:spPr>
          <a:xfrm>
            <a:off x="7498080" y="3840480"/>
            <a:ext cx="1673352" cy="32004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Group discussions</a:t>
            </a:r>
            <a:endParaRPr lang="en-US" sz="1300" dirty="0"/>
          </a:p>
        </p:txBody>
      </p:sp>
      <p:sp>
        <p:nvSpPr>
          <p:cNvPr id="59" name="anim:2"/>
          <p:cNvSpPr txBox="1"/>
          <p:nvPr/>
        </p:nvSpPr>
        <p:spPr>
          <a:xfrm>
            <a:off x="7498080" y="4178808"/>
            <a:ext cx="1673352" cy="914400"/>
          </a:xfrm>
          <a:prstGeom prst="rect">
            <a:avLst/>
          </a:prstGeom>
          <a:noFill/>
          <a:ln/>
        </p:spPr>
        <p:txBody>
          <a:bodyPr wrap="square" lIns="0" tIns="0" rIns="0" bIns="0" rtlCol="0" anchor="t"/>
          <a:lstStyle/>
          <a:p>
            <a:pPr algn="l" indent="0" marL="0">
              <a:buNone/>
            </a:pPr>
            <a:r>
              <a:rPr lang="en-US" sz="1000" dirty="0">
                <a:solidFill>
                  <a:srgbClr val="15243A"/>
                </a:solidFill>
                <a:latin typeface="Calibri" pitchFamily="34" charset="0"/>
                <a:ea typeface="Calibri" pitchFamily="34" charset="-122"/>
                <a:cs typeface="Calibri" pitchFamily="34" charset="-120"/>
              </a:rPr>
              <a:t>Five, 30 each, one per build week, offline and impromptu, on the business problem you built for.</a:t>
            </a:r>
            <a:endParaRPr lang="en-US" sz="1000" dirty="0"/>
          </a:p>
        </p:txBody>
      </p:sp>
      <p:sp>
        <p:nvSpPr>
          <p:cNvPr id="60" name="anim:2 grad:card"/>
          <p:cNvSpPr/>
          <p:nvPr/>
        </p:nvSpPr>
        <p:spPr>
          <a:xfrm>
            <a:off x="9509760" y="2880360"/>
            <a:ext cx="2130552" cy="2240280"/>
          </a:xfrm>
          <a:prstGeom prst="roundRect">
            <a:avLst>
              <a:gd name="adj" fmla="val 4292"/>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61" name="anim:2 grad:gold"/>
          <p:cNvSpPr/>
          <p:nvPr/>
        </p:nvSpPr>
        <p:spPr>
          <a:xfrm>
            <a:off x="9738360" y="3108960"/>
            <a:ext cx="548640" cy="548640"/>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62" name="anim:2" descr="preencoded.png">    </p:cNvPr>
          <p:cNvPicPr>
            <a:picLocks noChangeAspect="1"/>
          </p:cNvPicPr>
          <p:nvPr/>
        </p:nvPicPr>
        <p:blipFill>
          <a:blip r:embed="rId7"/>
          <a:stretch>
            <a:fillRect/>
          </a:stretch>
        </p:blipFill>
        <p:spPr>
          <a:xfrm>
            <a:off x="9870034" y="3240634"/>
            <a:ext cx="285293" cy="285293"/>
          </a:xfrm>
          <a:prstGeom prst="rect">
            <a:avLst/>
          </a:prstGeom>
        </p:spPr>
      </p:pic>
      <p:sp>
        <p:nvSpPr>
          <p:cNvPr id="63" name="anim:2"/>
          <p:cNvSpPr txBox="1"/>
          <p:nvPr/>
        </p:nvSpPr>
        <p:spPr>
          <a:xfrm>
            <a:off x="10424160" y="3108960"/>
            <a:ext cx="1097280" cy="548640"/>
          </a:xfrm>
          <a:prstGeom prst="rect">
            <a:avLst/>
          </a:prstGeom>
          <a:noFill/>
          <a:ln/>
        </p:spPr>
        <p:txBody>
          <a:bodyPr wrap="square" lIns="0" tIns="0" rIns="0" bIns="0" rtlCol="0" anchor="ctr"/>
          <a:lstStyle/>
          <a:p>
            <a:pPr algn="l" indent="0" marL="0">
              <a:buNone/>
            </a:pPr>
            <a:r>
              <a:rPr lang="en-US" sz="2400" b="1" dirty="0">
                <a:solidFill>
                  <a:srgbClr val="0A1E33"/>
                </a:solidFill>
                <a:latin typeface="Calibri" pitchFamily="34" charset="0"/>
                <a:ea typeface="Calibri" pitchFamily="34" charset="-122"/>
                <a:cs typeface="Calibri" pitchFamily="34" charset="-120"/>
              </a:rPr>
              <a:t>200</a:t>
            </a:r>
            <a:endParaRPr lang="en-US" sz="2400" dirty="0"/>
          </a:p>
        </p:txBody>
      </p:sp>
      <p:sp>
        <p:nvSpPr>
          <p:cNvPr id="64" name="anim:2"/>
          <p:cNvSpPr txBox="1"/>
          <p:nvPr/>
        </p:nvSpPr>
        <p:spPr>
          <a:xfrm>
            <a:off x="9738360" y="3840480"/>
            <a:ext cx="1673352" cy="32004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Capstone</a:t>
            </a:r>
            <a:endParaRPr lang="en-US" sz="1300" dirty="0"/>
          </a:p>
        </p:txBody>
      </p:sp>
      <p:sp>
        <p:nvSpPr>
          <p:cNvPr id="65" name="anim:2"/>
          <p:cNvSpPr txBox="1"/>
          <p:nvPr/>
        </p:nvSpPr>
        <p:spPr>
          <a:xfrm>
            <a:off x="9738360" y="4178808"/>
            <a:ext cx="1673352" cy="914400"/>
          </a:xfrm>
          <a:prstGeom prst="rect">
            <a:avLst/>
          </a:prstGeom>
          <a:noFill/>
          <a:ln/>
        </p:spPr>
        <p:txBody>
          <a:bodyPr wrap="square" lIns="0" tIns="0" rIns="0" bIns="0" rtlCol="0" anchor="t"/>
          <a:lstStyle/>
          <a:p>
            <a:pPr algn="l" indent="0" marL="0">
              <a:buNone/>
            </a:pPr>
            <a:r>
              <a:rPr lang="en-US" sz="1000" dirty="0">
                <a:solidFill>
                  <a:srgbClr val="15243A"/>
                </a:solidFill>
                <a:latin typeface="Calibri" pitchFamily="34" charset="0"/>
                <a:ea typeface="Calibri" pitchFamily="34" charset="-122"/>
                <a:cs typeface="Calibri" pitchFamily="34" charset="-120"/>
              </a:rPr>
              <a:t>Weeks 17 to 20. The repository and code, plus the Demo Day presentation and defence before the panel.</a:t>
            </a:r>
            <a:endParaRPr lang="en-US" sz="1000" dirty="0"/>
          </a:p>
        </p:txBody>
      </p:sp>
      <p:sp>
        <p:nvSpPr>
          <p:cNvPr id="66" name="anim:3 grad:greenTint"/>
          <p:cNvSpPr/>
          <p:nvPr/>
        </p:nvSpPr>
        <p:spPr>
          <a:xfrm>
            <a:off x="548640" y="5303520"/>
            <a:ext cx="11091672" cy="658368"/>
          </a:xfrm>
          <a:prstGeom prst="roundRect">
            <a:avLst>
              <a:gd name="adj" fmla="val 13889"/>
            </a:avLst>
          </a:prstGeom>
          <a:gradFill rotWithShape="1">
            <a:gsLst>
              <a:gs pos="0">
                <a:srgbClr val="E8F5EE"/>
              </a:gs>
              <a:gs pos="100000">
                <a:srgbClr val="D3EBDD"/>
              </a:gs>
            </a:gsLst>
            <a:lin ang="5400000" scaled="0"/>
          </a:gradFill>
          <a:ln w="12700">
            <a:solidFill>
              <a:srgbClr val="E0F2EA"/>
            </a:solidFill>
            <a:prstDash val="solid"/>
          </a:ln>
        </p:spPr>
        <p:txBody>
          <a:bodyPr/>
          <a:p/>
        </p:txBody>
      </p:sp>
      <p:sp>
        <p:nvSpPr>
          <p:cNvPr id="67" name="anim:3"/>
          <p:cNvSpPr/>
          <p:nvPr/>
        </p:nvSpPr>
        <p:spPr>
          <a:xfrm>
            <a:off x="731520" y="5404104"/>
            <a:ext cx="457200" cy="457200"/>
          </a:xfrm>
          <a:prstGeom prst="ellipse">
            <a:avLst/>
          </a:prstGeom>
          <a:solidFill>
            <a:srgbClr val="1F8A5B"/>
          </a:solidFill>
          <a:ln w="9525">
            <a:solidFill>
              <a:srgbClr val="1F8A5B"/>
            </a:solidFill>
            <a:prstDash val="solid"/>
          </a:ln>
        </p:spPr>
        <p:txBody>
          <a:bodyPr/>
          <a:p/>
        </p:txBody>
      </p:sp>
      <p:pic>
        <p:nvPicPr>
          <p:cNvPr id="68" name="anim:3" descr="preencoded.png">    </p:cNvPr>
          <p:cNvPicPr>
            <a:picLocks noChangeAspect="1"/>
          </p:cNvPicPr>
          <p:nvPr/>
        </p:nvPicPr>
        <p:blipFill>
          <a:blip r:embed="rId8"/>
          <a:stretch>
            <a:fillRect/>
          </a:stretch>
        </p:blipFill>
        <p:spPr>
          <a:xfrm>
            <a:off x="841248" y="5513832"/>
            <a:ext cx="237744" cy="237744"/>
          </a:xfrm>
          <a:prstGeom prst="rect">
            <a:avLst/>
          </a:prstGeom>
        </p:spPr>
      </p:pic>
      <p:sp>
        <p:nvSpPr>
          <p:cNvPr id="69" name="anim:3"/>
          <p:cNvSpPr txBox="1"/>
          <p:nvPr/>
        </p:nvSpPr>
        <p:spPr>
          <a:xfrm>
            <a:off x="1371600" y="5367528"/>
            <a:ext cx="3657600" cy="201168"/>
          </a:xfrm>
          <a:prstGeom prst="rect">
            <a:avLst/>
          </a:prstGeom>
          <a:noFill/>
          <a:ln/>
        </p:spPr>
        <p:txBody>
          <a:bodyPr wrap="square" lIns="0" tIns="0" rIns="0" bIns="0" rtlCol="0" anchor="t"/>
          <a:lstStyle/>
          <a:p>
            <a:pPr algn="l" indent="0" marL="0">
              <a:buNone/>
            </a:pPr>
            <a:r>
              <a:rPr lang="en-US" sz="800" b="1" spc="200" kern="0" dirty="0">
                <a:solidFill>
                  <a:srgbClr val="1F8A5B"/>
                </a:solidFill>
                <a:latin typeface="Calibri" pitchFamily="34" charset="0"/>
                <a:ea typeface="Calibri" pitchFamily="34" charset="-122"/>
                <a:cs typeface="Calibri" pitchFamily="34" charset="-120"/>
              </a:rPr>
              <a:t>TRACKED, NEVER MARKED</a:t>
            </a:r>
            <a:endParaRPr lang="en-US" sz="800" dirty="0"/>
          </a:p>
        </p:txBody>
      </p:sp>
      <p:sp>
        <p:nvSpPr>
          <p:cNvPr id="70" name="anim:3"/>
          <p:cNvSpPr txBox="1"/>
          <p:nvPr/>
        </p:nvSpPr>
        <p:spPr>
          <a:xfrm>
            <a:off x="1371600" y="5568696"/>
            <a:ext cx="10058400" cy="365760"/>
          </a:xfrm>
          <a:prstGeom prst="rect">
            <a:avLst/>
          </a:prstGeom>
          <a:noFill/>
          <a:ln/>
        </p:spPr>
        <p:txBody>
          <a:bodyPr wrap="square" lIns="0" tIns="0" rIns="0" bIns="0" rtlCol="0" anchor="t"/>
          <a:lstStyle/>
          <a:p>
            <a:pPr algn="l" indent="0" marL="0">
              <a:buNone/>
            </a:pPr>
            <a:r>
              <a:rPr lang="en-US" sz="1000" dirty="0">
                <a:solidFill>
                  <a:srgbClr val="15243A"/>
                </a:solidFill>
                <a:latin typeface="Calibri" pitchFamily="34" charset="0"/>
                <a:ea typeface="Calibri" pitchFamily="34" charset="-122"/>
                <a:cs typeface="Calibri" pitchFamily="34" charset="-120"/>
              </a:rPr>
              <a:t>Attendance, the daily Kahoot, the Saturday recap paper, practice exercises and the weekly written assignment are recorded and fed back to you, and carry none of the 1000 marks.</a:t>
            </a:r>
            <a:endParaRPr lang="en-US" sz="1000" dirty="0"/>
          </a:p>
        </p:txBody>
      </p:sp>
      <p:sp>
        <p:nvSpPr>
          <p:cNvPr id="71" name="anim:3"/>
          <p:cNvSpPr txBox="1"/>
          <p:nvPr/>
        </p:nvSpPr>
        <p:spPr>
          <a:xfrm>
            <a:off x="548640" y="6053328"/>
            <a:ext cx="11091672" cy="274320"/>
          </a:xfrm>
          <a:prstGeom prst="rect">
            <a:avLst/>
          </a:prstGeom>
          <a:noFill/>
          <a:ln/>
        </p:spPr>
        <p:txBody>
          <a:bodyPr wrap="square" lIns="0" tIns="0" rIns="0" bIns="0" rtlCol="0" anchor="t"/>
          <a:lstStyle/>
          <a:p>
            <a:pPr algn="l" indent="0" marL="0">
              <a:buNone/>
            </a:pPr>
            <a:r>
              <a:rPr lang="en-US" sz="950" dirty="0">
                <a:solidFill>
                  <a:srgbClr val="5F7183"/>
                </a:solidFill>
                <a:latin typeface="Calibri" pitchFamily="34" charset="0"/>
                <a:ea typeface="Calibri" pitchFamily="34" charset="-122"/>
                <a:cs typeface="Calibri" pitchFamily="34" charset="-120"/>
              </a:rPr>
              <a:t>Component rubrics and the assessment calendar are published before the first graded event, in Week 3.</a:t>
            </a:r>
            <a:endParaRPr lang="en-US" sz="9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childTnLst>
                          </p:cTn>
                        </p:par>
                      </p:childTnLst>
                    </p:cTn>
                  </p:par>
                  <p:par>
                    <p:cTn id="140" fill="hold">
                      <p:stCondLst>
                        <p:cond delay="indefinite"/>
                      </p:stCondLst>
                      <p:childTnLst>
                        <p:par>
                          <p:cTn id="141"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9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18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27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36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45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54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63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72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81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90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par>
                                <p:cTn id="92" presetID="10" presetClass="entr" presetSubtype="0" fill="hold" grpId="0" nodeType="withEffect">
                                  <p:stCondLst>
                                    <p:cond delay="90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400"/>
                                        <p:tgtEl>
                                          <p:spTgt spid="50"/>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00"/>
                                        <p:tgtEl>
                                          <p:spTgt spid="51"/>
                                        </p:tgtEl>
                                      </p:cBhvr>
                                    </p:animEffect>
                                  </p:childTnLst>
                                </p:cTn>
                              </p:par>
                              <p:par>
                                <p:cTn id="98" presetID="10" presetClass="entr" presetSubtype="0" fill="hold" grpId="0" nodeType="withEffect">
                                  <p:stCondLst>
                                    <p:cond delay="90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400"/>
                                        <p:tgtEl>
                                          <p:spTgt spid="52"/>
                                        </p:tgtEl>
                                      </p:cBhvr>
                                    </p:animEffect>
                                  </p:childTnLst>
                                </p:cTn>
                              </p:par>
                              <p:par>
                                <p:cTn id="101" presetID="10" presetClass="entr" presetSubtype="0" fill="hold" grpId="0" nodeType="withEffect">
                                  <p:stCondLst>
                                    <p:cond delay="90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400"/>
                                        <p:tgtEl>
                                          <p:spTgt spid="53"/>
                                        </p:tgtEl>
                                      </p:cBhvr>
                                    </p:animEffect>
                                  </p:childTnLst>
                                </p:cTn>
                              </p:par>
                              <p:par>
                                <p:cTn id="104" presetID="10" presetClass="entr" presetSubtype="0" fill="hold" grpId="0" nodeType="withEffect">
                                  <p:stCondLst>
                                    <p:cond delay="900"/>
                                  </p:stCondLst>
                                  <p:childTnLst>
                                    <p:set>
                                      <p:cBhvr>
                                        <p:cTn id="105" dur="1" fill="hold">
                                          <p:stCondLst>
                                            <p:cond delay="0"/>
                                          </p:stCondLst>
                                        </p:cTn>
                                        <p:tgtEl>
                                          <p:spTgt spid="54"/>
                                        </p:tgtEl>
                                        <p:attrNameLst>
                                          <p:attrName>style.visibility</p:attrName>
                                        </p:attrNameLst>
                                      </p:cBhvr>
                                      <p:to>
                                        <p:strVal val="visible"/>
                                      </p:to>
                                    </p:set>
                                    <p:animEffect transition="in" filter="fade">
                                      <p:cBhvr>
                                        <p:cTn id="106" dur="400"/>
                                        <p:tgtEl>
                                          <p:spTgt spid="54"/>
                                        </p:tgtEl>
                                      </p:cBhvr>
                                    </p:animEffect>
                                  </p:childTnLst>
                                </p:cTn>
                              </p:par>
                              <p:par>
                                <p:cTn id="107" presetID="10" presetClass="entr" presetSubtype="0" fill="hold" grpId="0" nodeType="withEffect">
                                  <p:stCondLst>
                                    <p:cond delay="90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400"/>
                                        <p:tgtEl>
                                          <p:spTgt spid="55"/>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56"/>
                                        </p:tgtEl>
                                        <p:attrNameLst>
                                          <p:attrName>style.visibility</p:attrName>
                                        </p:attrNameLst>
                                      </p:cBhvr>
                                      <p:to>
                                        <p:strVal val="visible"/>
                                      </p:to>
                                    </p:set>
                                    <p:animEffect transition="in" filter="fade">
                                      <p:cBhvr>
                                        <p:cTn id="112" dur="400"/>
                                        <p:tgtEl>
                                          <p:spTgt spid="56"/>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400"/>
                                        <p:tgtEl>
                                          <p:spTgt spid="57"/>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58"/>
                                        </p:tgtEl>
                                        <p:attrNameLst>
                                          <p:attrName>style.visibility</p:attrName>
                                        </p:attrNameLst>
                                      </p:cBhvr>
                                      <p:to>
                                        <p:strVal val="visible"/>
                                      </p:to>
                                    </p:set>
                                    <p:animEffect transition="in" filter="fade">
                                      <p:cBhvr>
                                        <p:cTn id="118" dur="400"/>
                                        <p:tgtEl>
                                          <p:spTgt spid="58"/>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59"/>
                                        </p:tgtEl>
                                        <p:attrNameLst>
                                          <p:attrName>style.visibility</p:attrName>
                                        </p:attrNameLst>
                                      </p:cBhvr>
                                      <p:to>
                                        <p:strVal val="visible"/>
                                      </p:to>
                                    </p:set>
                                    <p:animEffect transition="in" filter="fade">
                                      <p:cBhvr>
                                        <p:cTn id="121" dur="400"/>
                                        <p:tgtEl>
                                          <p:spTgt spid="59"/>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60"/>
                                        </p:tgtEl>
                                        <p:attrNameLst>
                                          <p:attrName>style.visibility</p:attrName>
                                        </p:attrNameLst>
                                      </p:cBhvr>
                                      <p:to>
                                        <p:strVal val="visible"/>
                                      </p:to>
                                    </p:set>
                                    <p:animEffect transition="in" filter="fade">
                                      <p:cBhvr>
                                        <p:cTn id="124" dur="400"/>
                                        <p:tgtEl>
                                          <p:spTgt spid="60"/>
                                        </p:tgtEl>
                                      </p:cBhvr>
                                    </p:animEffect>
                                  </p:childTnLst>
                                </p:cTn>
                              </p:par>
                              <p:par>
                                <p:cTn id="125" presetID="10" presetClass="entr" presetSubtype="0" fill="hold" grpId="0" nodeType="withEffect">
                                  <p:stCondLst>
                                    <p:cond delay="900"/>
                                  </p:stCondLst>
                                  <p:childTnLst>
                                    <p:set>
                                      <p:cBhvr>
                                        <p:cTn id="126" dur="1" fill="hold">
                                          <p:stCondLst>
                                            <p:cond delay="0"/>
                                          </p:stCondLst>
                                        </p:cTn>
                                        <p:tgtEl>
                                          <p:spTgt spid="61"/>
                                        </p:tgtEl>
                                        <p:attrNameLst>
                                          <p:attrName>style.visibility</p:attrName>
                                        </p:attrNameLst>
                                      </p:cBhvr>
                                      <p:to>
                                        <p:strVal val="visible"/>
                                      </p:to>
                                    </p:set>
                                    <p:animEffect transition="in" filter="fade">
                                      <p:cBhvr>
                                        <p:cTn id="127" dur="400"/>
                                        <p:tgtEl>
                                          <p:spTgt spid="61"/>
                                        </p:tgtEl>
                                      </p:cBhvr>
                                    </p:animEffect>
                                  </p:childTnLst>
                                </p:cTn>
                              </p:par>
                              <p:par>
                                <p:cTn id="128" presetID="10" presetClass="entr" presetSubtype="0" fill="hold" grpId="0" nodeType="withEffect">
                                  <p:stCondLst>
                                    <p:cond delay="900"/>
                                  </p:stCondLst>
                                  <p:childTnLst>
                                    <p:set>
                                      <p:cBhvr>
                                        <p:cTn id="129" dur="1" fill="hold">
                                          <p:stCondLst>
                                            <p:cond delay="0"/>
                                          </p:stCondLst>
                                        </p:cTn>
                                        <p:tgtEl>
                                          <p:spTgt spid="62"/>
                                        </p:tgtEl>
                                        <p:attrNameLst>
                                          <p:attrName>style.visibility</p:attrName>
                                        </p:attrNameLst>
                                      </p:cBhvr>
                                      <p:to>
                                        <p:strVal val="visible"/>
                                      </p:to>
                                    </p:set>
                                    <p:animEffect transition="in" filter="fade">
                                      <p:cBhvr>
                                        <p:cTn id="130" dur="400"/>
                                        <p:tgtEl>
                                          <p:spTgt spid="62"/>
                                        </p:tgtEl>
                                      </p:cBhvr>
                                    </p:animEffect>
                                  </p:childTnLst>
                                </p:cTn>
                              </p:par>
                              <p:par>
                                <p:cTn id="131" presetID="10" presetClass="entr" presetSubtype="0" fill="hold" grpId="0" nodeType="withEffect">
                                  <p:stCondLst>
                                    <p:cond delay="900"/>
                                  </p:stCondLst>
                                  <p:childTnLst>
                                    <p:set>
                                      <p:cBhvr>
                                        <p:cTn id="132" dur="1" fill="hold">
                                          <p:stCondLst>
                                            <p:cond delay="0"/>
                                          </p:stCondLst>
                                        </p:cTn>
                                        <p:tgtEl>
                                          <p:spTgt spid="63"/>
                                        </p:tgtEl>
                                        <p:attrNameLst>
                                          <p:attrName>style.visibility</p:attrName>
                                        </p:attrNameLst>
                                      </p:cBhvr>
                                      <p:to>
                                        <p:strVal val="visible"/>
                                      </p:to>
                                    </p:set>
                                    <p:animEffect transition="in" filter="fade">
                                      <p:cBhvr>
                                        <p:cTn id="133" dur="400"/>
                                        <p:tgtEl>
                                          <p:spTgt spid="63"/>
                                        </p:tgtEl>
                                      </p:cBhvr>
                                    </p:animEffect>
                                  </p:childTnLst>
                                </p:cTn>
                              </p:par>
                              <p:par>
                                <p:cTn id="134" presetID="10" presetClass="entr" presetSubtype="0" fill="hold" grpId="0" nodeType="withEffect">
                                  <p:stCondLst>
                                    <p:cond delay="900"/>
                                  </p:stCondLst>
                                  <p:childTnLst>
                                    <p:set>
                                      <p:cBhvr>
                                        <p:cTn id="135" dur="1" fill="hold">
                                          <p:stCondLst>
                                            <p:cond delay="0"/>
                                          </p:stCondLst>
                                        </p:cTn>
                                        <p:tgtEl>
                                          <p:spTgt spid="64"/>
                                        </p:tgtEl>
                                        <p:attrNameLst>
                                          <p:attrName>style.visibility</p:attrName>
                                        </p:attrNameLst>
                                      </p:cBhvr>
                                      <p:to>
                                        <p:strVal val="visible"/>
                                      </p:to>
                                    </p:set>
                                    <p:animEffect transition="in" filter="fade">
                                      <p:cBhvr>
                                        <p:cTn id="136" dur="400"/>
                                        <p:tgtEl>
                                          <p:spTgt spid="64"/>
                                        </p:tgtEl>
                                      </p:cBhvr>
                                    </p:animEffect>
                                  </p:childTnLst>
                                </p:cTn>
                              </p:par>
                              <p:par>
                                <p:cTn id="137" presetID="10" presetClass="entr" presetSubtype="0" fill="hold" grpId="0" nodeType="withEffect">
                                  <p:stCondLst>
                                    <p:cond delay="900"/>
                                  </p:stCondLst>
                                  <p:childTnLst>
                                    <p:set>
                                      <p:cBhvr>
                                        <p:cTn id="138" dur="1" fill="hold">
                                          <p:stCondLst>
                                            <p:cond delay="0"/>
                                          </p:stCondLst>
                                        </p:cTn>
                                        <p:tgtEl>
                                          <p:spTgt spid="65"/>
                                        </p:tgtEl>
                                        <p:attrNameLst>
                                          <p:attrName>style.visibility</p:attrName>
                                        </p:attrNameLst>
                                      </p:cBhvr>
                                      <p:to>
                                        <p:strVal val="visible"/>
                                      </p:to>
                                    </p:set>
                                    <p:animEffect transition="in" filter="fade">
                                      <p:cBhvr>
                                        <p:cTn id="139" dur="400"/>
                                        <p:tgtEl>
                                          <p:spTgt spid="65"/>
                                        </p:tgtEl>
                                      </p:cBhvr>
                                    </p:animEffect>
                                  </p:childTnLst>
                                </p:cTn>
                              </p:par>
                            </p:childTnLst>
                          </p:cTn>
                        </p:par>
                      </p:childTnLst>
                    </p:cTn>
                  </p:par>
                  <p:par>
                    <p:cTn id="160" fill="hold">
                      <p:stCondLst>
                        <p:cond delay="indefinite"/>
                      </p:stCondLst>
                      <p:childTnLst>
                        <p:par>
                          <p:cTn id="16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66"/>
                                        </p:tgtEl>
                                        <p:attrNameLst>
                                          <p:attrName>style.visibility</p:attrName>
                                        </p:attrNameLst>
                                      </p:cBhvr>
                                      <p:to>
                                        <p:strVal val="visible"/>
                                      </p:to>
                                    </p:set>
                                    <p:animEffect transition="in" filter="fade">
                                      <p:cBhvr>
                                        <p:cTn id="144" dur="400"/>
                                        <p:tgtEl>
                                          <p:spTgt spid="66"/>
                                        </p:tgtEl>
                                      </p:cBhvr>
                                    </p:animEffect>
                                  </p:childTnLst>
                                </p:cTn>
                              </p:par>
                              <p:par>
                                <p:cTn id="145" presetID="10" presetClass="entr" presetSubtype="0" fill="hold" grpId="0" nodeType="withEffect">
                                  <p:stCondLst>
                                    <p:cond delay="90"/>
                                  </p:stCondLst>
                                  <p:childTnLst>
                                    <p:set>
                                      <p:cBhvr>
                                        <p:cTn id="146" dur="1" fill="hold">
                                          <p:stCondLst>
                                            <p:cond delay="0"/>
                                          </p:stCondLst>
                                        </p:cTn>
                                        <p:tgtEl>
                                          <p:spTgt spid="67"/>
                                        </p:tgtEl>
                                        <p:attrNameLst>
                                          <p:attrName>style.visibility</p:attrName>
                                        </p:attrNameLst>
                                      </p:cBhvr>
                                      <p:to>
                                        <p:strVal val="visible"/>
                                      </p:to>
                                    </p:set>
                                    <p:animEffect transition="in" filter="fade">
                                      <p:cBhvr>
                                        <p:cTn id="147" dur="400"/>
                                        <p:tgtEl>
                                          <p:spTgt spid="67"/>
                                        </p:tgtEl>
                                      </p:cBhvr>
                                    </p:animEffect>
                                  </p:childTnLst>
                                </p:cTn>
                              </p:par>
                              <p:par>
                                <p:cTn id="148" presetID="10" presetClass="entr" presetSubtype="0" fill="hold" grpId="0" nodeType="withEffect">
                                  <p:stCondLst>
                                    <p:cond delay="180"/>
                                  </p:stCondLst>
                                  <p:childTnLst>
                                    <p:set>
                                      <p:cBhvr>
                                        <p:cTn id="149" dur="1" fill="hold">
                                          <p:stCondLst>
                                            <p:cond delay="0"/>
                                          </p:stCondLst>
                                        </p:cTn>
                                        <p:tgtEl>
                                          <p:spTgt spid="68"/>
                                        </p:tgtEl>
                                        <p:attrNameLst>
                                          <p:attrName>style.visibility</p:attrName>
                                        </p:attrNameLst>
                                      </p:cBhvr>
                                      <p:to>
                                        <p:strVal val="visible"/>
                                      </p:to>
                                    </p:set>
                                    <p:animEffect transition="in" filter="fade">
                                      <p:cBhvr>
                                        <p:cTn id="150" dur="400"/>
                                        <p:tgtEl>
                                          <p:spTgt spid="68"/>
                                        </p:tgtEl>
                                      </p:cBhvr>
                                    </p:animEffect>
                                  </p:childTnLst>
                                </p:cTn>
                              </p:par>
                              <p:par>
                                <p:cTn id="151" presetID="10" presetClass="entr" presetSubtype="0" fill="hold" grpId="0" nodeType="withEffect">
                                  <p:stCondLst>
                                    <p:cond delay="270"/>
                                  </p:stCondLst>
                                  <p:childTnLst>
                                    <p:set>
                                      <p:cBhvr>
                                        <p:cTn id="152" dur="1" fill="hold">
                                          <p:stCondLst>
                                            <p:cond delay="0"/>
                                          </p:stCondLst>
                                        </p:cTn>
                                        <p:tgtEl>
                                          <p:spTgt spid="69"/>
                                        </p:tgtEl>
                                        <p:attrNameLst>
                                          <p:attrName>style.visibility</p:attrName>
                                        </p:attrNameLst>
                                      </p:cBhvr>
                                      <p:to>
                                        <p:strVal val="visible"/>
                                      </p:to>
                                    </p:set>
                                    <p:animEffect transition="in" filter="fade">
                                      <p:cBhvr>
                                        <p:cTn id="153" dur="400"/>
                                        <p:tgtEl>
                                          <p:spTgt spid="69"/>
                                        </p:tgtEl>
                                      </p:cBhvr>
                                    </p:animEffect>
                                  </p:childTnLst>
                                </p:cTn>
                              </p:par>
                              <p:par>
                                <p:cTn id="154" presetID="10" presetClass="entr" presetSubtype="0" fill="hold" grpId="0" nodeType="withEffect">
                                  <p:stCondLst>
                                    <p:cond delay="360"/>
                                  </p:stCondLst>
                                  <p:childTnLst>
                                    <p:set>
                                      <p:cBhvr>
                                        <p:cTn id="155" dur="1" fill="hold">
                                          <p:stCondLst>
                                            <p:cond delay="0"/>
                                          </p:stCondLst>
                                        </p:cTn>
                                        <p:tgtEl>
                                          <p:spTgt spid="70"/>
                                        </p:tgtEl>
                                        <p:attrNameLst>
                                          <p:attrName>style.visibility</p:attrName>
                                        </p:attrNameLst>
                                      </p:cBhvr>
                                      <p:to>
                                        <p:strVal val="visible"/>
                                      </p:to>
                                    </p:set>
                                    <p:animEffect transition="in" filter="fade">
                                      <p:cBhvr>
                                        <p:cTn id="156" dur="400"/>
                                        <p:tgtEl>
                                          <p:spTgt spid="70"/>
                                        </p:tgtEl>
                                      </p:cBhvr>
                                    </p:animEffect>
                                  </p:childTnLst>
                                </p:cTn>
                              </p:par>
                              <p:par>
                                <p:cTn id="157" presetID="10" presetClass="entr" presetSubtype="0" fill="hold" grpId="0" nodeType="withEffect">
                                  <p:stCondLst>
                                    <p:cond delay="450"/>
                                  </p:stCondLst>
                                  <p:childTnLst>
                                    <p:set>
                                      <p:cBhvr>
                                        <p:cTn id="158" dur="1" fill="hold">
                                          <p:stCondLst>
                                            <p:cond delay="0"/>
                                          </p:stCondLst>
                                        </p:cTn>
                                        <p:tgtEl>
                                          <p:spTgt spid="71"/>
                                        </p:tgtEl>
                                        <p:attrNameLst>
                                          <p:attrName>style.visibility</p:attrName>
                                        </p:attrNameLst>
                                      </p:cBhvr>
                                      <p:to>
                                        <p:strVal val="visible"/>
                                      </p:to>
                                    </p:set>
                                    <p:animEffect transition="in" filter="fade">
                                      <p:cBhvr>
                                        <p:cTn id="159"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20</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007DB6"/>
          </a:solidFill>
          <a:ln w="12700">
            <a:solidFill>
              <a:srgbClr val="007DB6"/>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When each mark is earned</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Read a column to see what a week holds. A filled dot carries marks; a hollow ring is tracked without marks.</a:t>
            </a:r>
            <a:endParaRPr lang="en-US" sz="1250" dirty="0"/>
          </a:p>
        </p:txBody>
      </p:sp>
      <p:sp>
        <p:nvSpPr>
          <p:cNvPr id="21" name="anim:1"/>
          <p:cNvSpPr txBox="1"/>
          <p:nvPr/>
        </p:nvSpPr>
        <p:spPr>
          <a:xfrm>
            <a:off x="2697480" y="1783080"/>
            <a:ext cx="429768" cy="320040"/>
          </a:xfrm>
          <a:prstGeom prst="rect">
            <a:avLst/>
          </a:prstGeom>
          <a:noFill/>
          <a:ln/>
        </p:spPr>
        <p:txBody>
          <a:bodyPr wrap="square" lIns="0" tIns="0" rIns="0" bIns="0" rtlCol="0" anchor="ctr"/>
          <a:lstStyle/>
          <a:p>
            <a:pPr algn="ctr" indent="0" marL="0">
              <a:buNone/>
            </a:pPr>
            <a:r>
              <a:rPr lang="en-US" sz="1050" b="1" dirty="0">
                <a:solidFill>
                  <a:srgbClr val="15243A"/>
                </a:solidFill>
                <a:latin typeface="Calibri" pitchFamily="34" charset="0"/>
                <a:ea typeface="Calibri" pitchFamily="34" charset="-122"/>
                <a:cs typeface="Calibri" pitchFamily="34" charset="-120"/>
              </a:rPr>
              <a:t>1</a:t>
            </a:r>
            <a:endParaRPr lang="en-US" sz="1050" dirty="0"/>
          </a:p>
        </p:txBody>
      </p:sp>
      <p:sp>
        <p:nvSpPr>
          <p:cNvPr id="22" name="anim:1"/>
          <p:cNvSpPr txBox="1"/>
          <p:nvPr/>
        </p:nvSpPr>
        <p:spPr>
          <a:xfrm>
            <a:off x="3154680" y="1783080"/>
            <a:ext cx="429768" cy="320040"/>
          </a:xfrm>
          <a:prstGeom prst="rect">
            <a:avLst/>
          </a:prstGeom>
          <a:noFill/>
          <a:ln/>
        </p:spPr>
        <p:txBody>
          <a:bodyPr wrap="square" lIns="0" tIns="0" rIns="0" bIns="0" rtlCol="0" anchor="ctr"/>
          <a:lstStyle/>
          <a:p>
            <a:pPr algn="ctr" indent="0" marL="0">
              <a:buNone/>
            </a:pPr>
            <a:r>
              <a:rPr lang="en-US" sz="1050" b="1" dirty="0">
                <a:solidFill>
                  <a:srgbClr val="15243A"/>
                </a:solidFill>
                <a:latin typeface="Calibri" pitchFamily="34" charset="0"/>
                <a:ea typeface="Calibri" pitchFamily="34" charset="-122"/>
                <a:cs typeface="Calibri" pitchFamily="34" charset="-120"/>
              </a:rPr>
              <a:t>2</a:t>
            </a:r>
            <a:endParaRPr lang="en-US" sz="1050" dirty="0"/>
          </a:p>
        </p:txBody>
      </p:sp>
      <p:sp>
        <p:nvSpPr>
          <p:cNvPr id="23" name="anim:1"/>
          <p:cNvSpPr/>
          <p:nvPr/>
        </p:nvSpPr>
        <p:spPr>
          <a:xfrm>
            <a:off x="3611880" y="2148840"/>
            <a:ext cx="429768" cy="3328416"/>
          </a:xfrm>
          <a:prstGeom prst="rect">
            <a:avLst/>
          </a:prstGeom>
          <a:solidFill>
            <a:srgbClr val="E3F2FA"/>
          </a:solidFill>
          <a:ln w="12700">
            <a:solidFill>
              <a:srgbClr val="E3F2FA"/>
            </a:solidFill>
            <a:prstDash val="solid"/>
          </a:ln>
        </p:spPr>
        <p:txBody>
          <a:bodyPr/>
          <a:p/>
        </p:txBody>
      </p:sp>
      <p:sp>
        <p:nvSpPr>
          <p:cNvPr id="24" name="anim:1"/>
          <p:cNvSpPr txBox="1"/>
          <p:nvPr/>
        </p:nvSpPr>
        <p:spPr>
          <a:xfrm>
            <a:off x="3611880" y="1783080"/>
            <a:ext cx="429768" cy="320040"/>
          </a:xfrm>
          <a:prstGeom prst="rect">
            <a:avLst/>
          </a:prstGeom>
          <a:noFill/>
          <a:ln/>
        </p:spPr>
        <p:txBody>
          <a:bodyPr wrap="square" lIns="0" tIns="0" rIns="0" bIns="0" rtlCol="0" anchor="ctr"/>
          <a:lstStyle/>
          <a:p>
            <a:pPr algn="ctr" indent="0" marL="0">
              <a:buNone/>
            </a:pPr>
            <a:r>
              <a:rPr lang="en-US" sz="1050" b="1" dirty="0">
                <a:solidFill>
                  <a:srgbClr val="007DB6"/>
                </a:solidFill>
                <a:latin typeface="Calibri" pitchFamily="34" charset="0"/>
                <a:ea typeface="Calibri" pitchFamily="34" charset="-122"/>
                <a:cs typeface="Calibri" pitchFamily="34" charset="-120"/>
              </a:rPr>
              <a:t>3</a:t>
            </a:r>
            <a:endParaRPr lang="en-US" sz="1050" dirty="0"/>
          </a:p>
        </p:txBody>
      </p:sp>
      <p:sp>
        <p:nvSpPr>
          <p:cNvPr id="25" name="anim:1"/>
          <p:cNvSpPr txBox="1"/>
          <p:nvPr/>
        </p:nvSpPr>
        <p:spPr>
          <a:xfrm>
            <a:off x="4069080" y="1783080"/>
            <a:ext cx="429768" cy="320040"/>
          </a:xfrm>
          <a:prstGeom prst="rect">
            <a:avLst/>
          </a:prstGeom>
          <a:noFill/>
          <a:ln/>
        </p:spPr>
        <p:txBody>
          <a:bodyPr wrap="square" lIns="0" tIns="0" rIns="0" bIns="0" rtlCol="0" anchor="ctr"/>
          <a:lstStyle/>
          <a:p>
            <a:pPr algn="ctr" indent="0" marL="0">
              <a:buNone/>
            </a:pPr>
            <a:r>
              <a:rPr lang="en-US" sz="1050" b="1" dirty="0">
                <a:solidFill>
                  <a:srgbClr val="15243A"/>
                </a:solidFill>
                <a:latin typeface="Calibri" pitchFamily="34" charset="0"/>
                <a:ea typeface="Calibri" pitchFamily="34" charset="-122"/>
                <a:cs typeface="Calibri" pitchFamily="34" charset="-120"/>
              </a:rPr>
              <a:t>4</a:t>
            </a:r>
            <a:endParaRPr lang="en-US" sz="1050" dirty="0"/>
          </a:p>
        </p:txBody>
      </p:sp>
      <p:sp>
        <p:nvSpPr>
          <p:cNvPr id="26" name="anim:1"/>
          <p:cNvSpPr txBox="1"/>
          <p:nvPr/>
        </p:nvSpPr>
        <p:spPr>
          <a:xfrm>
            <a:off x="4526280" y="1783080"/>
            <a:ext cx="429768" cy="320040"/>
          </a:xfrm>
          <a:prstGeom prst="rect">
            <a:avLst/>
          </a:prstGeom>
          <a:noFill/>
          <a:ln/>
        </p:spPr>
        <p:txBody>
          <a:bodyPr wrap="square" lIns="0" tIns="0" rIns="0" bIns="0" rtlCol="0" anchor="ctr"/>
          <a:lstStyle/>
          <a:p>
            <a:pPr algn="ctr" indent="0" marL="0">
              <a:buNone/>
            </a:pPr>
            <a:r>
              <a:rPr lang="en-US" sz="1050" b="1" dirty="0">
                <a:solidFill>
                  <a:srgbClr val="15243A"/>
                </a:solidFill>
                <a:latin typeface="Calibri" pitchFamily="34" charset="0"/>
                <a:ea typeface="Calibri" pitchFamily="34" charset="-122"/>
                <a:cs typeface="Calibri" pitchFamily="34" charset="-120"/>
              </a:rPr>
              <a:t>5</a:t>
            </a:r>
            <a:endParaRPr lang="en-US" sz="1050" dirty="0"/>
          </a:p>
        </p:txBody>
      </p:sp>
      <p:sp>
        <p:nvSpPr>
          <p:cNvPr id="27" name="anim:1"/>
          <p:cNvSpPr/>
          <p:nvPr/>
        </p:nvSpPr>
        <p:spPr>
          <a:xfrm>
            <a:off x="4983480" y="2148840"/>
            <a:ext cx="429768" cy="3328416"/>
          </a:xfrm>
          <a:prstGeom prst="rect">
            <a:avLst/>
          </a:prstGeom>
          <a:solidFill>
            <a:srgbClr val="E3F2FA"/>
          </a:solidFill>
          <a:ln w="12700">
            <a:solidFill>
              <a:srgbClr val="E3F2FA"/>
            </a:solidFill>
            <a:prstDash val="solid"/>
          </a:ln>
        </p:spPr>
        <p:txBody>
          <a:bodyPr/>
          <a:p/>
        </p:txBody>
      </p:sp>
      <p:sp>
        <p:nvSpPr>
          <p:cNvPr id="28" name="anim:1"/>
          <p:cNvSpPr txBox="1"/>
          <p:nvPr/>
        </p:nvSpPr>
        <p:spPr>
          <a:xfrm>
            <a:off x="4983480" y="1783080"/>
            <a:ext cx="429768" cy="320040"/>
          </a:xfrm>
          <a:prstGeom prst="rect">
            <a:avLst/>
          </a:prstGeom>
          <a:noFill/>
          <a:ln/>
        </p:spPr>
        <p:txBody>
          <a:bodyPr wrap="square" lIns="0" tIns="0" rIns="0" bIns="0" rtlCol="0" anchor="ctr"/>
          <a:lstStyle/>
          <a:p>
            <a:pPr algn="ctr" indent="0" marL="0">
              <a:buNone/>
            </a:pPr>
            <a:r>
              <a:rPr lang="en-US" sz="1050" b="1" dirty="0">
                <a:solidFill>
                  <a:srgbClr val="007DB6"/>
                </a:solidFill>
                <a:latin typeface="Calibri" pitchFamily="34" charset="0"/>
                <a:ea typeface="Calibri" pitchFamily="34" charset="-122"/>
                <a:cs typeface="Calibri" pitchFamily="34" charset="-120"/>
              </a:rPr>
              <a:t>6</a:t>
            </a:r>
            <a:endParaRPr lang="en-US" sz="1050" dirty="0"/>
          </a:p>
        </p:txBody>
      </p:sp>
      <p:sp>
        <p:nvSpPr>
          <p:cNvPr id="29" name="anim:1"/>
          <p:cNvSpPr txBox="1"/>
          <p:nvPr/>
        </p:nvSpPr>
        <p:spPr>
          <a:xfrm>
            <a:off x="5440680" y="1783080"/>
            <a:ext cx="429768" cy="320040"/>
          </a:xfrm>
          <a:prstGeom prst="rect">
            <a:avLst/>
          </a:prstGeom>
          <a:noFill/>
          <a:ln/>
        </p:spPr>
        <p:txBody>
          <a:bodyPr wrap="square" lIns="0" tIns="0" rIns="0" bIns="0" rtlCol="0" anchor="ctr"/>
          <a:lstStyle/>
          <a:p>
            <a:pPr algn="ctr" indent="0" marL="0">
              <a:buNone/>
            </a:pPr>
            <a:r>
              <a:rPr lang="en-US" sz="1050" b="1" dirty="0">
                <a:solidFill>
                  <a:srgbClr val="15243A"/>
                </a:solidFill>
                <a:latin typeface="Calibri" pitchFamily="34" charset="0"/>
                <a:ea typeface="Calibri" pitchFamily="34" charset="-122"/>
                <a:cs typeface="Calibri" pitchFamily="34" charset="-120"/>
              </a:rPr>
              <a:t>7</a:t>
            </a:r>
            <a:endParaRPr lang="en-US" sz="1050" dirty="0"/>
          </a:p>
        </p:txBody>
      </p:sp>
      <p:sp>
        <p:nvSpPr>
          <p:cNvPr id="30" name="anim:1"/>
          <p:cNvSpPr txBox="1"/>
          <p:nvPr/>
        </p:nvSpPr>
        <p:spPr>
          <a:xfrm>
            <a:off x="5897880" y="1783080"/>
            <a:ext cx="429768" cy="320040"/>
          </a:xfrm>
          <a:prstGeom prst="rect">
            <a:avLst/>
          </a:prstGeom>
          <a:noFill/>
          <a:ln/>
        </p:spPr>
        <p:txBody>
          <a:bodyPr wrap="square" lIns="0" tIns="0" rIns="0" bIns="0" rtlCol="0" anchor="ctr"/>
          <a:lstStyle/>
          <a:p>
            <a:pPr algn="ctr" indent="0" marL="0">
              <a:buNone/>
            </a:pPr>
            <a:r>
              <a:rPr lang="en-US" sz="1050" b="1" dirty="0">
                <a:solidFill>
                  <a:srgbClr val="15243A"/>
                </a:solidFill>
                <a:latin typeface="Calibri" pitchFamily="34" charset="0"/>
                <a:ea typeface="Calibri" pitchFamily="34" charset="-122"/>
                <a:cs typeface="Calibri" pitchFamily="34" charset="-120"/>
              </a:rPr>
              <a:t>8</a:t>
            </a:r>
            <a:endParaRPr lang="en-US" sz="1050" dirty="0"/>
          </a:p>
        </p:txBody>
      </p:sp>
      <p:sp>
        <p:nvSpPr>
          <p:cNvPr id="31" name="anim:1"/>
          <p:cNvSpPr/>
          <p:nvPr/>
        </p:nvSpPr>
        <p:spPr>
          <a:xfrm>
            <a:off x="6355080" y="2148840"/>
            <a:ext cx="429768" cy="3328416"/>
          </a:xfrm>
          <a:prstGeom prst="rect">
            <a:avLst/>
          </a:prstGeom>
          <a:solidFill>
            <a:srgbClr val="E3F2FA"/>
          </a:solidFill>
          <a:ln w="12700">
            <a:solidFill>
              <a:srgbClr val="E3F2FA"/>
            </a:solidFill>
            <a:prstDash val="solid"/>
          </a:ln>
        </p:spPr>
        <p:txBody>
          <a:bodyPr/>
          <a:p/>
        </p:txBody>
      </p:sp>
      <p:sp>
        <p:nvSpPr>
          <p:cNvPr id="32" name="anim:1"/>
          <p:cNvSpPr txBox="1"/>
          <p:nvPr/>
        </p:nvSpPr>
        <p:spPr>
          <a:xfrm>
            <a:off x="6355080" y="1783080"/>
            <a:ext cx="429768" cy="320040"/>
          </a:xfrm>
          <a:prstGeom prst="rect">
            <a:avLst/>
          </a:prstGeom>
          <a:noFill/>
          <a:ln/>
        </p:spPr>
        <p:txBody>
          <a:bodyPr wrap="square" lIns="0" tIns="0" rIns="0" bIns="0" rtlCol="0" anchor="ctr"/>
          <a:lstStyle/>
          <a:p>
            <a:pPr algn="ctr" indent="0" marL="0">
              <a:buNone/>
            </a:pPr>
            <a:r>
              <a:rPr lang="en-US" sz="1050" b="1" dirty="0">
                <a:solidFill>
                  <a:srgbClr val="007DB6"/>
                </a:solidFill>
                <a:latin typeface="Calibri" pitchFamily="34" charset="0"/>
                <a:ea typeface="Calibri" pitchFamily="34" charset="-122"/>
                <a:cs typeface="Calibri" pitchFamily="34" charset="-120"/>
              </a:rPr>
              <a:t>9</a:t>
            </a:r>
            <a:endParaRPr lang="en-US" sz="1050" dirty="0"/>
          </a:p>
        </p:txBody>
      </p:sp>
      <p:sp>
        <p:nvSpPr>
          <p:cNvPr id="33" name="anim:1"/>
          <p:cNvSpPr txBox="1"/>
          <p:nvPr/>
        </p:nvSpPr>
        <p:spPr>
          <a:xfrm>
            <a:off x="6812280" y="1783080"/>
            <a:ext cx="429768" cy="320040"/>
          </a:xfrm>
          <a:prstGeom prst="rect">
            <a:avLst/>
          </a:prstGeom>
          <a:noFill/>
          <a:ln/>
        </p:spPr>
        <p:txBody>
          <a:bodyPr wrap="square" lIns="0" tIns="0" rIns="0" bIns="0" rtlCol="0" anchor="ctr"/>
          <a:lstStyle/>
          <a:p>
            <a:pPr algn="ctr" indent="0" marL="0">
              <a:buNone/>
            </a:pPr>
            <a:r>
              <a:rPr lang="en-US" sz="1050" b="1" dirty="0">
                <a:solidFill>
                  <a:srgbClr val="15243A"/>
                </a:solidFill>
                <a:latin typeface="Calibri" pitchFamily="34" charset="0"/>
                <a:ea typeface="Calibri" pitchFamily="34" charset="-122"/>
                <a:cs typeface="Calibri" pitchFamily="34" charset="-120"/>
              </a:rPr>
              <a:t>10</a:t>
            </a:r>
            <a:endParaRPr lang="en-US" sz="1050" dirty="0"/>
          </a:p>
        </p:txBody>
      </p:sp>
      <p:sp>
        <p:nvSpPr>
          <p:cNvPr id="34" name="anim:1"/>
          <p:cNvSpPr txBox="1"/>
          <p:nvPr/>
        </p:nvSpPr>
        <p:spPr>
          <a:xfrm>
            <a:off x="7269480" y="1783080"/>
            <a:ext cx="429768" cy="320040"/>
          </a:xfrm>
          <a:prstGeom prst="rect">
            <a:avLst/>
          </a:prstGeom>
          <a:noFill/>
          <a:ln/>
        </p:spPr>
        <p:txBody>
          <a:bodyPr wrap="square" lIns="0" tIns="0" rIns="0" bIns="0" rtlCol="0" anchor="ctr"/>
          <a:lstStyle/>
          <a:p>
            <a:pPr algn="ctr" indent="0" marL="0">
              <a:buNone/>
            </a:pPr>
            <a:r>
              <a:rPr lang="en-US" sz="1050" b="1" dirty="0">
                <a:solidFill>
                  <a:srgbClr val="15243A"/>
                </a:solidFill>
                <a:latin typeface="Calibri" pitchFamily="34" charset="0"/>
                <a:ea typeface="Calibri" pitchFamily="34" charset="-122"/>
                <a:cs typeface="Calibri" pitchFamily="34" charset="-120"/>
              </a:rPr>
              <a:t>11</a:t>
            </a:r>
            <a:endParaRPr lang="en-US" sz="1050" dirty="0"/>
          </a:p>
        </p:txBody>
      </p:sp>
      <p:sp>
        <p:nvSpPr>
          <p:cNvPr id="35" name="anim:1"/>
          <p:cNvSpPr/>
          <p:nvPr/>
        </p:nvSpPr>
        <p:spPr>
          <a:xfrm>
            <a:off x="7726680" y="2148840"/>
            <a:ext cx="429768" cy="3328416"/>
          </a:xfrm>
          <a:prstGeom prst="rect">
            <a:avLst/>
          </a:prstGeom>
          <a:solidFill>
            <a:srgbClr val="E3F2FA"/>
          </a:solidFill>
          <a:ln w="12700">
            <a:solidFill>
              <a:srgbClr val="E3F2FA"/>
            </a:solidFill>
            <a:prstDash val="solid"/>
          </a:ln>
        </p:spPr>
        <p:txBody>
          <a:bodyPr/>
          <a:p/>
        </p:txBody>
      </p:sp>
      <p:sp>
        <p:nvSpPr>
          <p:cNvPr id="36" name="anim:1"/>
          <p:cNvSpPr txBox="1"/>
          <p:nvPr/>
        </p:nvSpPr>
        <p:spPr>
          <a:xfrm>
            <a:off x="7726680" y="1783080"/>
            <a:ext cx="429768" cy="320040"/>
          </a:xfrm>
          <a:prstGeom prst="rect">
            <a:avLst/>
          </a:prstGeom>
          <a:noFill/>
          <a:ln/>
        </p:spPr>
        <p:txBody>
          <a:bodyPr wrap="square" lIns="0" tIns="0" rIns="0" bIns="0" rtlCol="0" anchor="ctr"/>
          <a:lstStyle/>
          <a:p>
            <a:pPr algn="ctr" indent="0" marL="0">
              <a:buNone/>
            </a:pPr>
            <a:r>
              <a:rPr lang="en-US" sz="1050" b="1" dirty="0">
                <a:solidFill>
                  <a:srgbClr val="007DB6"/>
                </a:solidFill>
                <a:latin typeface="Calibri" pitchFamily="34" charset="0"/>
                <a:ea typeface="Calibri" pitchFamily="34" charset="-122"/>
                <a:cs typeface="Calibri" pitchFamily="34" charset="-120"/>
              </a:rPr>
              <a:t>12</a:t>
            </a:r>
            <a:endParaRPr lang="en-US" sz="1050" dirty="0"/>
          </a:p>
        </p:txBody>
      </p:sp>
      <p:sp>
        <p:nvSpPr>
          <p:cNvPr id="37" name="anim:1"/>
          <p:cNvSpPr txBox="1"/>
          <p:nvPr/>
        </p:nvSpPr>
        <p:spPr>
          <a:xfrm>
            <a:off x="8183880" y="1783080"/>
            <a:ext cx="429768" cy="320040"/>
          </a:xfrm>
          <a:prstGeom prst="rect">
            <a:avLst/>
          </a:prstGeom>
          <a:noFill/>
          <a:ln/>
        </p:spPr>
        <p:txBody>
          <a:bodyPr wrap="square" lIns="0" tIns="0" rIns="0" bIns="0" rtlCol="0" anchor="ctr"/>
          <a:lstStyle/>
          <a:p>
            <a:pPr algn="ctr" indent="0" marL="0">
              <a:buNone/>
            </a:pPr>
            <a:r>
              <a:rPr lang="en-US" sz="1050" b="1" dirty="0">
                <a:solidFill>
                  <a:srgbClr val="15243A"/>
                </a:solidFill>
                <a:latin typeface="Calibri" pitchFamily="34" charset="0"/>
                <a:ea typeface="Calibri" pitchFamily="34" charset="-122"/>
                <a:cs typeface="Calibri" pitchFamily="34" charset="-120"/>
              </a:rPr>
              <a:t>13</a:t>
            </a:r>
            <a:endParaRPr lang="en-US" sz="1050" dirty="0"/>
          </a:p>
        </p:txBody>
      </p:sp>
      <p:sp>
        <p:nvSpPr>
          <p:cNvPr id="38" name="anim:1"/>
          <p:cNvSpPr txBox="1"/>
          <p:nvPr/>
        </p:nvSpPr>
        <p:spPr>
          <a:xfrm>
            <a:off x="8641080" y="1783080"/>
            <a:ext cx="429768" cy="320040"/>
          </a:xfrm>
          <a:prstGeom prst="rect">
            <a:avLst/>
          </a:prstGeom>
          <a:noFill/>
          <a:ln/>
        </p:spPr>
        <p:txBody>
          <a:bodyPr wrap="square" lIns="0" tIns="0" rIns="0" bIns="0" rtlCol="0" anchor="ctr"/>
          <a:lstStyle/>
          <a:p>
            <a:pPr algn="ctr" indent="0" marL="0">
              <a:buNone/>
            </a:pPr>
            <a:r>
              <a:rPr lang="en-US" sz="1050" b="1" dirty="0">
                <a:solidFill>
                  <a:srgbClr val="15243A"/>
                </a:solidFill>
                <a:latin typeface="Calibri" pitchFamily="34" charset="0"/>
                <a:ea typeface="Calibri" pitchFamily="34" charset="-122"/>
                <a:cs typeface="Calibri" pitchFamily="34" charset="-120"/>
              </a:rPr>
              <a:t>14</a:t>
            </a:r>
            <a:endParaRPr lang="en-US" sz="1050" dirty="0"/>
          </a:p>
        </p:txBody>
      </p:sp>
      <p:sp>
        <p:nvSpPr>
          <p:cNvPr id="39" name="anim:1"/>
          <p:cNvSpPr/>
          <p:nvPr/>
        </p:nvSpPr>
        <p:spPr>
          <a:xfrm>
            <a:off x="9098280" y="2148840"/>
            <a:ext cx="429768" cy="3328416"/>
          </a:xfrm>
          <a:prstGeom prst="rect">
            <a:avLst/>
          </a:prstGeom>
          <a:solidFill>
            <a:srgbClr val="E3F2FA"/>
          </a:solidFill>
          <a:ln w="12700">
            <a:solidFill>
              <a:srgbClr val="E3F2FA"/>
            </a:solidFill>
            <a:prstDash val="solid"/>
          </a:ln>
        </p:spPr>
        <p:txBody>
          <a:bodyPr/>
          <a:p/>
        </p:txBody>
      </p:sp>
      <p:sp>
        <p:nvSpPr>
          <p:cNvPr id="40" name="anim:1"/>
          <p:cNvSpPr txBox="1"/>
          <p:nvPr/>
        </p:nvSpPr>
        <p:spPr>
          <a:xfrm>
            <a:off x="9098280" y="1783080"/>
            <a:ext cx="429768" cy="320040"/>
          </a:xfrm>
          <a:prstGeom prst="rect">
            <a:avLst/>
          </a:prstGeom>
          <a:noFill/>
          <a:ln/>
        </p:spPr>
        <p:txBody>
          <a:bodyPr wrap="square" lIns="0" tIns="0" rIns="0" bIns="0" rtlCol="0" anchor="ctr"/>
          <a:lstStyle/>
          <a:p>
            <a:pPr algn="ctr" indent="0" marL="0">
              <a:buNone/>
            </a:pPr>
            <a:r>
              <a:rPr lang="en-US" sz="1050" b="1" dirty="0">
                <a:solidFill>
                  <a:srgbClr val="007DB6"/>
                </a:solidFill>
                <a:latin typeface="Calibri" pitchFamily="34" charset="0"/>
                <a:ea typeface="Calibri" pitchFamily="34" charset="-122"/>
                <a:cs typeface="Calibri" pitchFamily="34" charset="-120"/>
              </a:rPr>
              <a:t>15</a:t>
            </a:r>
            <a:endParaRPr lang="en-US" sz="1050" dirty="0"/>
          </a:p>
        </p:txBody>
      </p:sp>
      <p:sp>
        <p:nvSpPr>
          <p:cNvPr id="41" name="anim:1"/>
          <p:cNvSpPr/>
          <p:nvPr/>
        </p:nvSpPr>
        <p:spPr>
          <a:xfrm>
            <a:off x="9555480" y="2148840"/>
            <a:ext cx="429768" cy="3328416"/>
          </a:xfrm>
          <a:prstGeom prst="rect">
            <a:avLst/>
          </a:prstGeom>
          <a:solidFill>
            <a:srgbClr val="FBF1D6"/>
          </a:solidFill>
          <a:ln w="12700">
            <a:solidFill>
              <a:srgbClr val="FBF1D6"/>
            </a:solidFill>
            <a:prstDash val="solid"/>
          </a:ln>
        </p:spPr>
        <p:txBody>
          <a:bodyPr/>
          <a:p/>
        </p:txBody>
      </p:sp>
      <p:sp>
        <p:nvSpPr>
          <p:cNvPr id="42" name="anim:1"/>
          <p:cNvSpPr txBox="1"/>
          <p:nvPr/>
        </p:nvSpPr>
        <p:spPr>
          <a:xfrm>
            <a:off x="9555480" y="1783080"/>
            <a:ext cx="429768" cy="320040"/>
          </a:xfrm>
          <a:prstGeom prst="rect">
            <a:avLst/>
          </a:prstGeom>
          <a:noFill/>
          <a:ln/>
        </p:spPr>
        <p:txBody>
          <a:bodyPr wrap="square" lIns="0" tIns="0" rIns="0" bIns="0" rtlCol="0" anchor="ctr"/>
          <a:lstStyle/>
          <a:p>
            <a:pPr algn="ctr" indent="0" marL="0">
              <a:buNone/>
            </a:pPr>
            <a:r>
              <a:rPr lang="en-US" sz="1050" b="1" dirty="0">
                <a:solidFill>
                  <a:srgbClr val="C48F0F"/>
                </a:solidFill>
                <a:latin typeface="Calibri" pitchFamily="34" charset="0"/>
                <a:ea typeface="Calibri" pitchFamily="34" charset="-122"/>
                <a:cs typeface="Calibri" pitchFamily="34" charset="-120"/>
              </a:rPr>
              <a:t>16</a:t>
            </a:r>
            <a:endParaRPr lang="en-US" sz="1050" dirty="0"/>
          </a:p>
        </p:txBody>
      </p:sp>
      <p:sp>
        <p:nvSpPr>
          <p:cNvPr id="43" name="anim:1"/>
          <p:cNvSpPr/>
          <p:nvPr/>
        </p:nvSpPr>
        <p:spPr>
          <a:xfrm>
            <a:off x="10012680" y="2148840"/>
            <a:ext cx="429768" cy="3328416"/>
          </a:xfrm>
          <a:prstGeom prst="rect">
            <a:avLst/>
          </a:prstGeom>
          <a:solidFill>
            <a:srgbClr val="E4E9F0"/>
          </a:solidFill>
          <a:ln w="12700">
            <a:solidFill>
              <a:srgbClr val="E4E9F0"/>
            </a:solidFill>
            <a:prstDash val="solid"/>
          </a:ln>
        </p:spPr>
        <p:txBody>
          <a:bodyPr/>
          <a:p/>
        </p:txBody>
      </p:sp>
      <p:sp>
        <p:nvSpPr>
          <p:cNvPr id="44" name="anim:1"/>
          <p:cNvSpPr txBox="1"/>
          <p:nvPr/>
        </p:nvSpPr>
        <p:spPr>
          <a:xfrm>
            <a:off x="10012680" y="1783080"/>
            <a:ext cx="429768" cy="320040"/>
          </a:xfrm>
          <a:prstGeom prst="rect">
            <a:avLst/>
          </a:prstGeom>
          <a:noFill/>
          <a:ln/>
        </p:spPr>
        <p:txBody>
          <a:bodyPr wrap="square" lIns="0" tIns="0" rIns="0" bIns="0" rtlCol="0" anchor="ctr"/>
          <a:lstStyle/>
          <a:p>
            <a:pPr algn="ctr" indent="0" marL="0">
              <a:buNone/>
            </a:pPr>
            <a:r>
              <a:rPr lang="en-US" sz="1050" b="1" dirty="0">
                <a:solidFill>
                  <a:srgbClr val="0A1E33"/>
                </a:solidFill>
                <a:latin typeface="Calibri" pitchFamily="34" charset="0"/>
                <a:ea typeface="Calibri" pitchFamily="34" charset="-122"/>
                <a:cs typeface="Calibri" pitchFamily="34" charset="-120"/>
              </a:rPr>
              <a:t>17</a:t>
            </a:r>
            <a:endParaRPr lang="en-US" sz="1050" dirty="0"/>
          </a:p>
        </p:txBody>
      </p:sp>
      <p:sp>
        <p:nvSpPr>
          <p:cNvPr id="45" name="anim:1"/>
          <p:cNvSpPr/>
          <p:nvPr/>
        </p:nvSpPr>
        <p:spPr>
          <a:xfrm>
            <a:off x="10469880" y="2148840"/>
            <a:ext cx="429768" cy="3328416"/>
          </a:xfrm>
          <a:prstGeom prst="rect">
            <a:avLst/>
          </a:prstGeom>
          <a:solidFill>
            <a:srgbClr val="E4E9F0"/>
          </a:solidFill>
          <a:ln w="12700">
            <a:solidFill>
              <a:srgbClr val="E4E9F0"/>
            </a:solidFill>
            <a:prstDash val="solid"/>
          </a:ln>
        </p:spPr>
        <p:txBody>
          <a:bodyPr/>
          <a:p/>
        </p:txBody>
      </p:sp>
      <p:sp>
        <p:nvSpPr>
          <p:cNvPr id="46" name="anim:1"/>
          <p:cNvSpPr txBox="1"/>
          <p:nvPr/>
        </p:nvSpPr>
        <p:spPr>
          <a:xfrm>
            <a:off x="10469880" y="1783080"/>
            <a:ext cx="429768" cy="320040"/>
          </a:xfrm>
          <a:prstGeom prst="rect">
            <a:avLst/>
          </a:prstGeom>
          <a:noFill/>
          <a:ln/>
        </p:spPr>
        <p:txBody>
          <a:bodyPr wrap="square" lIns="0" tIns="0" rIns="0" bIns="0" rtlCol="0" anchor="ctr"/>
          <a:lstStyle/>
          <a:p>
            <a:pPr algn="ctr" indent="0" marL="0">
              <a:buNone/>
            </a:pPr>
            <a:r>
              <a:rPr lang="en-US" sz="1050" b="1" dirty="0">
                <a:solidFill>
                  <a:srgbClr val="0A1E33"/>
                </a:solidFill>
                <a:latin typeface="Calibri" pitchFamily="34" charset="0"/>
                <a:ea typeface="Calibri" pitchFamily="34" charset="-122"/>
                <a:cs typeface="Calibri" pitchFamily="34" charset="-120"/>
              </a:rPr>
              <a:t>18</a:t>
            </a:r>
            <a:endParaRPr lang="en-US" sz="1050" dirty="0"/>
          </a:p>
        </p:txBody>
      </p:sp>
      <p:sp>
        <p:nvSpPr>
          <p:cNvPr id="47" name="anim:1"/>
          <p:cNvSpPr/>
          <p:nvPr/>
        </p:nvSpPr>
        <p:spPr>
          <a:xfrm>
            <a:off x="10927080" y="2148840"/>
            <a:ext cx="429768" cy="3328416"/>
          </a:xfrm>
          <a:prstGeom prst="rect">
            <a:avLst/>
          </a:prstGeom>
          <a:solidFill>
            <a:srgbClr val="E4E9F0"/>
          </a:solidFill>
          <a:ln w="12700">
            <a:solidFill>
              <a:srgbClr val="E4E9F0"/>
            </a:solidFill>
            <a:prstDash val="solid"/>
          </a:ln>
        </p:spPr>
        <p:txBody>
          <a:bodyPr/>
          <a:p/>
        </p:txBody>
      </p:sp>
      <p:sp>
        <p:nvSpPr>
          <p:cNvPr id="48" name="anim:1"/>
          <p:cNvSpPr txBox="1"/>
          <p:nvPr/>
        </p:nvSpPr>
        <p:spPr>
          <a:xfrm>
            <a:off x="10927080" y="1783080"/>
            <a:ext cx="429768" cy="320040"/>
          </a:xfrm>
          <a:prstGeom prst="rect">
            <a:avLst/>
          </a:prstGeom>
          <a:noFill/>
          <a:ln/>
        </p:spPr>
        <p:txBody>
          <a:bodyPr wrap="square" lIns="0" tIns="0" rIns="0" bIns="0" rtlCol="0" anchor="ctr"/>
          <a:lstStyle/>
          <a:p>
            <a:pPr algn="ctr" indent="0" marL="0">
              <a:buNone/>
            </a:pPr>
            <a:r>
              <a:rPr lang="en-US" sz="1050" b="1" dirty="0">
                <a:solidFill>
                  <a:srgbClr val="0A1E33"/>
                </a:solidFill>
                <a:latin typeface="Calibri" pitchFamily="34" charset="0"/>
                <a:ea typeface="Calibri" pitchFamily="34" charset="-122"/>
                <a:cs typeface="Calibri" pitchFamily="34" charset="-120"/>
              </a:rPr>
              <a:t>19</a:t>
            </a:r>
            <a:endParaRPr lang="en-US" sz="1050" dirty="0"/>
          </a:p>
        </p:txBody>
      </p:sp>
      <p:sp>
        <p:nvSpPr>
          <p:cNvPr id="49" name="anim:1"/>
          <p:cNvSpPr/>
          <p:nvPr/>
        </p:nvSpPr>
        <p:spPr>
          <a:xfrm>
            <a:off x="11384280" y="2148840"/>
            <a:ext cx="429768" cy="3328416"/>
          </a:xfrm>
          <a:prstGeom prst="rect">
            <a:avLst/>
          </a:prstGeom>
          <a:solidFill>
            <a:srgbClr val="E4E9F0"/>
          </a:solidFill>
          <a:ln w="12700">
            <a:solidFill>
              <a:srgbClr val="E4E9F0"/>
            </a:solidFill>
            <a:prstDash val="solid"/>
          </a:ln>
        </p:spPr>
        <p:txBody>
          <a:bodyPr/>
          <a:p/>
        </p:txBody>
      </p:sp>
      <p:sp>
        <p:nvSpPr>
          <p:cNvPr id="50" name="anim:1"/>
          <p:cNvSpPr txBox="1"/>
          <p:nvPr/>
        </p:nvSpPr>
        <p:spPr>
          <a:xfrm>
            <a:off x="11384280" y="1783080"/>
            <a:ext cx="429768" cy="320040"/>
          </a:xfrm>
          <a:prstGeom prst="rect">
            <a:avLst/>
          </a:prstGeom>
          <a:noFill/>
          <a:ln/>
        </p:spPr>
        <p:txBody>
          <a:bodyPr wrap="square" lIns="0" tIns="0" rIns="0" bIns="0" rtlCol="0" anchor="ctr"/>
          <a:lstStyle/>
          <a:p>
            <a:pPr algn="ctr" indent="0" marL="0">
              <a:buNone/>
            </a:pPr>
            <a:r>
              <a:rPr lang="en-US" sz="1050" b="1" dirty="0">
                <a:solidFill>
                  <a:srgbClr val="0A1E33"/>
                </a:solidFill>
                <a:latin typeface="Calibri" pitchFamily="34" charset="0"/>
                <a:ea typeface="Calibri" pitchFamily="34" charset="-122"/>
                <a:cs typeface="Calibri" pitchFamily="34" charset="-120"/>
              </a:rPr>
              <a:t>20</a:t>
            </a:r>
            <a:endParaRPr lang="en-US" sz="1050" dirty="0"/>
          </a:p>
        </p:txBody>
      </p:sp>
      <p:sp>
        <p:nvSpPr>
          <p:cNvPr id="51" name="anim:1"/>
          <p:cNvSpPr txBox="1"/>
          <p:nvPr/>
        </p:nvSpPr>
        <p:spPr>
          <a:xfrm>
            <a:off x="548640" y="1783080"/>
            <a:ext cx="2148840" cy="320040"/>
          </a:xfrm>
          <a:prstGeom prst="rect">
            <a:avLst/>
          </a:prstGeom>
          <a:noFill/>
          <a:ln/>
        </p:spPr>
        <p:txBody>
          <a:bodyPr wrap="square" lIns="0" tIns="0" rIns="0" bIns="0" rtlCol="0" anchor="ctr"/>
          <a:lstStyle/>
          <a:p>
            <a:pPr algn="l" indent="0" marL="0">
              <a:buNone/>
            </a:pPr>
            <a:r>
              <a:rPr lang="en-US" sz="800" b="1" spc="200" kern="0" dirty="0">
                <a:solidFill>
                  <a:srgbClr val="5F7183"/>
                </a:solidFill>
                <a:latin typeface="Calibri" pitchFamily="34" charset="0"/>
                <a:ea typeface="Calibri" pitchFamily="34" charset="-122"/>
                <a:cs typeface="Calibri" pitchFamily="34" charset="-120"/>
              </a:rPr>
              <a:t>WEEK</a:t>
            </a:r>
            <a:endParaRPr lang="en-US" sz="800" dirty="0"/>
          </a:p>
        </p:txBody>
      </p:sp>
      <p:sp>
        <p:nvSpPr>
          <p:cNvPr id="52" name="anim:1"/>
          <p:cNvSpPr txBox="1"/>
          <p:nvPr/>
        </p:nvSpPr>
        <p:spPr>
          <a:xfrm>
            <a:off x="548640" y="2148840"/>
            <a:ext cx="2057400" cy="475488"/>
          </a:xfrm>
          <a:prstGeom prst="rect">
            <a:avLst/>
          </a:prstGeom>
          <a:noFill/>
          <a:ln/>
        </p:spPr>
        <p:txBody>
          <a:bodyPr wrap="square" lIns="0" tIns="0" rIns="0" bIns="0" rtlCol="0" anchor="ctr"/>
          <a:lstStyle/>
          <a:p>
            <a:pPr algn="l" indent="0" marL="0">
              <a:buNone/>
            </a:pPr>
            <a:r>
              <a:rPr lang="en-US" sz="1050" dirty="0">
                <a:solidFill>
                  <a:srgbClr val="15243A"/>
                </a:solidFill>
                <a:latin typeface="Calibri" pitchFamily="34" charset="0"/>
                <a:ea typeface="Calibri" pitchFamily="34" charset="-122"/>
                <a:cs typeface="Calibri" pitchFamily="34" charset="-120"/>
              </a:rPr>
              <a:t>Major exam</a:t>
            </a:r>
            <a:endParaRPr lang="en-US" sz="1050" dirty="0"/>
          </a:p>
        </p:txBody>
      </p:sp>
      <p:sp>
        <p:nvSpPr>
          <p:cNvPr id="53" name="anim:1"/>
          <p:cNvSpPr/>
          <p:nvPr/>
        </p:nvSpPr>
        <p:spPr>
          <a:xfrm>
            <a:off x="548640" y="2624328"/>
            <a:ext cx="11265408" cy="0"/>
          </a:xfrm>
          <a:prstGeom prst="line">
            <a:avLst/>
          </a:prstGeom>
          <a:noFill/>
          <a:ln w="6350">
            <a:solidFill>
              <a:srgbClr val="E4E9F0"/>
            </a:solidFill>
            <a:prstDash val="solid"/>
          </a:ln>
        </p:spPr>
        <p:txBody>
          <a:bodyPr/>
          <a:p/>
        </p:txBody>
      </p:sp>
      <p:sp>
        <p:nvSpPr>
          <p:cNvPr id="54" name="anim:2 grad:navy"/>
          <p:cNvSpPr/>
          <p:nvPr/>
        </p:nvSpPr>
        <p:spPr>
          <a:xfrm>
            <a:off x="4576572" y="2221992"/>
            <a:ext cx="329184" cy="329184"/>
          </a:xfrm>
          <a:prstGeom prst="ellipse">
            <a:avLst/>
          </a:prstGeom>
          <a:gradFill rotWithShape="1">
            <a:gsLst>
              <a:gs pos="0">
                <a:srgbClr val="1B4170"/>
              </a:gs>
              <a:gs pos="100000">
                <a:srgbClr val="0A1E33"/>
              </a:gs>
            </a:gsLst>
            <a:lin ang="5400000" scaled="0"/>
          </a:gradFill>
          <a:ln w="12700">
            <a:solidFill>
              <a:srgbClr val="007DB6"/>
            </a:solidFill>
            <a:prstDash val="solid"/>
          </a:ln>
        </p:spPr>
        <p:txBody>
          <a:bodyPr/>
          <a:p/>
        </p:txBody>
      </p:sp>
      <p:sp>
        <p:nvSpPr>
          <p:cNvPr id="55" name="anim:2"/>
          <p:cNvSpPr txBox="1"/>
          <p:nvPr/>
        </p:nvSpPr>
        <p:spPr>
          <a:xfrm>
            <a:off x="4576572" y="2221992"/>
            <a:ext cx="329184" cy="329184"/>
          </a:xfrm>
          <a:prstGeom prst="rect">
            <a:avLst/>
          </a:prstGeom>
          <a:noFill/>
          <a:ln/>
        </p:spPr>
        <p:txBody>
          <a:bodyPr wrap="square" lIns="0" tIns="0" rIns="0" bIns="0" rtlCol="0" anchor="ctr"/>
          <a:lstStyle/>
          <a:p>
            <a:pPr algn="ctr" indent="0" marL="0">
              <a:buNone/>
            </a:pPr>
            <a:r>
              <a:rPr lang="en-US" sz="750" b="1" dirty="0">
                <a:solidFill>
                  <a:srgbClr val="E9B221"/>
                </a:solidFill>
                <a:latin typeface="Calibri" pitchFamily="34" charset="0"/>
                <a:ea typeface="Calibri" pitchFamily="34" charset="-122"/>
                <a:cs typeface="Calibri" pitchFamily="34" charset="-120"/>
              </a:rPr>
              <a:t>70</a:t>
            </a:r>
            <a:endParaRPr lang="en-US" sz="750" dirty="0"/>
          </a:p>
        </p:txBody>
      </p:sp>
      <p:sp>
        <p:nvSpPr>
          <p:cNvPr id="56" name="anim:2 grad:navy"/>
          <p:cNvSpPr/>
          <p:nvPr/>
        </p:nvSpPr>
        <p:spPr>
          <a:xfrm>
            <a:off x="6862572" y="2221992"/>
            <a:ext cx="329184" cy="329184"/>
          </a:xfrm>
          <a:prstGeom prst="ellipse">
            <a:avLst/>
          </a:prstGeom>
          <a:gradFill rotWithShape="1">
            <a:gsLst>
              <a:gs pos="0">
                <a:srgbClr val="1B4170"/>
              </a:gs>
              <a:gs pos="100000">
                <a:srgbClr val="0A1E33"/>
              </a:gs>
            </a:gsLst>
            <a:lin ang="5400000" scaled="0"/>
          </a:gradFill>
          <a:ln w="12700">
            <a:solidFill>
              <a:srgbClr val="007DB6"/>
            </a:solidFill>
            <a:prstDash val="solid"/>
          </a:ln>
        </p:spPr>
        <p:txBody>
          <a:bodyPr/>
          <a:p/>
        </p:txBody>
      </p:sp>
      <p:sp>
        <p:nvSpPr>
          <p:cNvPr id="57" name="anim:2"/>
          <p:cNvSpPr txBox="1"/>
          <p:nvPr/>
        </p:nvSpPr>
        <p:spPr>
          <a:xfrm>
            <a:off x="6862572" y="2221992"/>
            <a:ext cx="329184" cy="329184"/>
          </a:xfrm>
          <a:prstGeom prst="rect">
            <a:avLst/>
          </a:prstGeom>
          <a:noFill/>
          <a:ln/>
        </p:spPr>
        <p:txBody>
          <a:bodyPr wrap="square" lIns="0" tIns="0" rIns="0" bIns="0" rtlCol="0" anchor="ctr"/>
          <a:lstStyle/>
          <a:p>
            <a:pPr algn="ctr" indent="0" marL="0">
              <a:buNone/>
            </a:pPr>
            <a:r>
              <a:rPr lang="en-US" sz="750" b="1" dirty="0">
                <a:solidFill>
                  <a:srgbClr val="E9B221"/>
                </a:solidFill>
                <a:latin typeface="Calibri" pitchFamily="34" charset="0"/>
                <a:ea typeface="Calibri" pitchFamily="34" charset="-122"/>
                <a:cs typeface="Calibri" pitchFamily="34" charset="-120"/>
              </a:rPr>
              <a:t>100</a:t>
            </a:r>
            <a:endParaRPr lang="en-US" sz="750" dirty="0"/>
          </a:p>
        </p:txBody>
      </p:sp>
      <p:sp>
        <p:nvSpPr>
          <p:cNvPr id="58" name="anim:2 grad:navy"/>
          <p:cNvSpPr/>
          <p:nvPr/>
        </p:nvSpPr>
        <p:spPr>
          <a:xfrm>
            <a:off x="9605772" y="2221992"/>
            <a:ext cx="329184" cy="329184"/>
          </a:xfrm>
          <a:prstGeom prst="ellipse">
            <a:avLst/>
          </a:prstGeom>
          <a:gradFill rotWithShape="1">
            <a:gsLst>
              <a:gs pos="0">
                <a:srgbClr val="1B4170"/>
              </a:gs>
              <a:gs pos="100000">
                <a:srgbClr val="0A1E33"/>
              </a:gs>
            </a:gsLst>
            <a:lin ang="5400000" scaled="0"/>
          </a:gradFill>
          <a:ln w="12700">
            <a:solidFill>
              <a:srgbClr val="007DB6"/>
            </a:solidFill>
            <a:prstDash val="solid"/>
          </a:ln>
        </p:spPr>
        <p:txBody>
          <a:bodyPr/>
          <a:p/>
        </p:txBody>
      </p:sp>
      <p:sp>
        <p:nvSpPr>
          <p:cNvPr id="59" name="anim:2"/>
          <p:cNvSpPr txBox="1"/>
          <p:nvPr/>
        </p:nvSpPr>
        <p:spPr>
          <a:xfrm>
            <a:off x="9605772" y="2221992"/>
            <a:ext cx="329184" cy="329184"/>
          </a:xfrm>
          <a:prstGeom prst="rect">
            <a:avLst/>
          </a:prstGeom>
          <a:noFill/>
          <a:ln/>
        </p:spPr>
        <p:txBody>
          <a:bodyPr wrap="square" lIns="0" tIns="0" rIns="0" bIns="0" rtlCol="0" anchor="ctr"/>
          <a:lstStyle/>
          <a:p>
            <a:pPr algn="ctr" indent="0" marL="0">
              <a:buNone/>
            </a:pPr>
            <a:r>
              <a:rPr lang="en-US" sz="750" b="1" dirty="0">
                <a:solidFill>
                  <a:srgbClr val="E9B221"/>
                </a:solidFill>
                <a:latin typeface="Calibri" pitchFamily="34" charset="0"/>
                <a:ea typeface="Calibri" pitchFamily="34" charset="-122"/>
                <a:cs typeface="Calibri" pitchFamily="34" charset="-120"/>
              </a:rPr>
              <a:t>130</a:t>
            </a:r>
            <a:endParaRPr lang="en-US" sz="750" dirty="0"/>
          </a:p>
        </p:txBody>
      </p:sp>
      <p:sp>
        <p:nvSpPr>
          <p:cNvPr id="60" name="anim:1"/>
          <p:cNvSpPr txBox="1"/>
          <p:nvPr/>
        </p:nvSpPr>
        <p:spPr>
          <a:xfrm>
            <a:off x="548640" y="2624328"/>
            <a:ext cx="2057400" cy="475488"/>
          </a:xfrm>
          <a:prstGeom prst="rect">
            <a:avLst/>
          </a:prstGeom>
          <a:noFill/>
          <a:ln/>
        </p:spPr>
        <p:txBody>
          <a:bodyPr wrap="square" lIns="0" tIns="0" rIns="0" bIns="0" rtlCol="0" anchor="ctr"/>
          <a:lstStyle/>
          <a:p>
            <a:pPr algn="l" indent="0" marL="0">
              <a:buNone/>
            </a:pPr>
            <a:r>
              <a:rPr lang="en-US" sz="1050" dirty="0">
                <a:solidFill>
                  <a:srgbClr val="15243A"/>
                </a:solidFill>
                <a:latin typeface="Calibri" pitchFamily="34" charset="0"/>
                <a:ea typeface="Calibri" pitchFamily="34" charset="-122"/>
                <a:cs typeface="Calibri" pitchFamily="34" charset="-120"/>
              </a:rPr>
              <a:t>Mini-project</a:t>
            </a:r>
            <a:endParaRPr lang="en-US" sz="1050" dirty="0"/>
          </a:p>
        </p:txBody>
      </p:sp>
      <p:sp>
        <p:nvSpPr>
          <p:cNvPr id="61" name="anim:1"/>
          <p:cNvSpPr/>
          <p:nvPr/>
        </p:nvSpPr>
        <p:spPr>
          <a:xfrm>
            <a:off x="548640" y="3099816"/>
            <a:ext cx="11265408" cy="0"/>
          </a:xfrm>
          <a:prstGeom prst="line">
            <a:avLst/>
          </a:prstGeom>
          <a:noFill/>
          <a:ln w="6350">
            <a:solidFill>
              <a:srgbClr val="E4E9F0"/>
            </a:solidFill>
            <a:prstDash val="solid"/>
          </a:ln>
        </p:spPr>
        <p:txBody>
          <a:bodyPr/>
          <a:p/>
        </p:txBody>
      </p:sp>
      <p:sp>
        <p:nvSpPr>
          <p:cNvPr id="62" name="anim:2 grad:blue"/>
          <p:cNvSpPr/>
          <p:nvPr/>
        </p:nvSpPr>
        <p:spPr>
          <a:xfrm>
            <a:off x="3662172" y="2697480"/>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63" name="anim:2"/>
          <p:cNvSpPr txBox="1"/>
          <p:nvPr/>
        </p:nvSpPr>
        <p:spPr>
          <a:xfrm>
            <a:off x="3662172" y="2697480"/>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40</a:t>
            </a:r>
            <a:endParaRPr lang="en-US" sz="750" dirty="0"/>
          </a:p>
        </p:txBody>
      </p:sp>
      <p:sp>
        <p:nvSpPr>
          <p:cNvPr id="64" name="anim:2 grad:blue"/>
          <p:cNvSpPr/>
          <p:nvPr/>
        </p:nvSpPr>
        <p:spPr>
          <a:xfrm>
            <a:off x="5033772" y="2697480"/>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65" name="anim:2"/>
          <p:cNvSpPr txBox="1"/>
          <p:nvPr/>
        </p:nvSpPr>
        <p:spPr>
          <a:xfrm>
            <a:off x="5033772" y="2697480"/>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40</a:t>
            </a:r>
            <a:endParaRPr lang="en-US" sz="750" dirty="0"/>
          </a:p>
        </p:txBody>
      </p:sp>
      <p:sp>
        <p:nvSpPr>
          <p:cNvPr id="66" name="anim:2 grad:blue"/>
          <p:cNvSpPr/>
          <p:nvPr/>
        </p:nvSpPr>
        <p:spPr>
          <a:xfrm>
            <a:off x="6405372" y="2697480"/>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67" name="anim:2"/>
          <p:cNvSpPr txBox="1"/>
          <p:nvPr/>
        </p:nvSpPr>
        <p:spPr>
          <a:xfrm>
            <a:off x="6405372" y="2697480"/>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40</a:t>
            </a:r>
            <a:endParaRPr lang="en-US" sz="750" dirty="0"/>
          </a:p>
        </p:txBody>
      </p:sp>
      <p:sp>
        <p:nvSpPr>
          <p:cNvPr id="68" name="anim:2 grad:blue"/>
          <p:cNvSpPr/>
          <p:nvPr/>
        </p:nvSpPr>
        <p:spPr>
          <a:xfrm>
            <a:off x="7776972" y="2697480"/>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69" name="anim:2"/>
          <p:cNvSpPr txBox="1"/>
          <p:nvPr/>
        </p:nvSpPr>
        <p:spPr>
          <a:xfrm>
            <a:off x="7776972" y="2697480"/>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40</a:t>
            </a:r>
            <a:endParaRPr lang="en-US" sz="750" dirty="0"/>
          </a:p>
        </p:txBody>
      </p:sp>
      <p:sp>
        <p:nvSpPr>
          <p:cNvPr id="70" name="anim:2 grad:blue"/>
          <p:cNvSpPr/>
          <p:nvPr/>
        </p:nvSpPr>
        <p:spPr>
          <a:xfrm>
            <a:off x="9148572" y="2697480"/>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71" name="anim:2"/>
          <p:cNvSpPr txBox="1"/>
          <p:nvPr/>
        </p:nvSpPr>
        <p:spPr>
          <a:xfrm>
            <a:off x="9148572" y="2697480"/>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40</a:t>
            </a:r>
            <a:endParaRPr lang="en-US" sz="750" dirty="0"/>
          </a:p>
        </p:txBody>
      </p:sp>
      <p:sp>
        <p:nvSpPr>
          <p:cNvPr id="72" name="anim:1"/>
          <p:cNvSpPr txBox="1"/>
          <p:nvPr/>
        </p:nvSpPr>
        <p:spPr>
          <a:xfrm>
            <a:off x="548640" y="3099816"/>
            <a:ext cx="2057400" cy="475488"/>
          </a:xfrm>
          <a:prstGeom prst="rect">
            <a:avLst/>
          </a:prstGeom>
          <a:noFill/>
          <a:ln/>
        </p:spPr>
        <p:txBody>
          <a:bodyPr wrap="square" lIns="0" tIns="0" rIns="0" bIns="0" rtlCol="0" anchor="ctr"/>
          <a:lstStyle/>
          <a:p>
            <a:pPr algn="l" indent="0" marL="0">
              <a:buNone/>
            </a:pPr>
            <a:r>
              <a:rPr lang="en-US" sz="1050" dirty="0">
                <a:solidFill>
                  <a:srgbClr val="15243A"/>
                </a:solidFill>
                <a:latin typeface="Calibri" pitchFamily="34" charset="0"/>
                <a:ea typeface="Calibri" pitchFamily="34" charset="-122"/>
                <a:cs typeface="Calibri" pitchFamily="34" charset="-120"/>
              </a:rPr>
              <a:t>Mock interview</a:t>
            </a:r>
            <a:endParaRPr lang="en-US" sz="1050" dirty="0"/>
          </a:p>
        </p:txBody>
      </p:sp>
      <p:sp>
        <p:nvSpPr>
          <p:cNvPr id="73" name="anim:1"/>
          <p:cNvSpPr/>
          <p:nvPr/>
        </p:nvSpPr>
        <p:spPr>
          <a:xfrm>
            <a:off x="548640" y="3575304"/>
            <a:ext cx="11265408" cy="0"/>
          </a:xfrm>
          <a:prstGeom prst="line">
            <a:avLst/>
          </a:prstGeom>
          <a:noFill/>
          <a:ln w="6350">
            <a:solidFill>
              <a:srgbClr val="E4E9F0"/>
            </a:solidFill>
            <a:prstDash val="solid"/>
          </a:ln>
        </p:spPr>
        <p:txBody>
          <a:bodyPr/>
          <a:p/>
        </p:txBody>
      </p:sp>
      <p:sp>
        <p:nvSpPr>
          <p:cNvPr id="74" name="anim:2 grad:blue"/>
          <p:cNvSpPr/>
          <p:nvPr/>
        </p:nvSpPr>
        <p:spPr>
          <a:xfrm>
            <a:off x="3662172" y="3172968"/>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75" name="anim:2"/>
          <p:cNvSpPr txBox="1"/>
          <p:nvPr/>
        </p:nvSpPr>
        <p:spPr>
          <a:xfrm>
            <a:off x="3662172" y="3172968"/>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76" name="anim:2 grad:blue"/>
          <p:cNvSpPr/>
          <p:nvPr/>
        </p:nvSpPr>
        <p:spPr>
          <a:xfrm>
            <a:off x="5033772" y="3172968"/>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77" name="anim:2"/>
          <p:cNvSpPr txBox="1"/>
          <p:nvPr/>
        </p:nvSpPr>
        <p:spPr>
          <a:xfrm>
            <a:off x="5033772" y="3172968"/>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78" name="anim:2 grad:blue"/>
          <p:cNvSpPr/>
          <p:nvPr/>
        </p:nvSpPr>
        <p:spPr>
          <a:xfrm>
            <a:off x="6405372" y="3172968"/>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79" name="anim:2"/>
          <p:cNvSpPr txBox="1"/>
          <p:nvPr/>
        </p:nvSpPr>
        <p:spPr>
          <a:xfrm>
            <a:off x="6405372" y="3172968"/>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80" name="anim:2 grad:blue"/>
          <p:cNvSpPr/>
          <p:nvPr/>
        </p:nvSpPr>
        <p:spPr>
          <a:xfrm>
            <a:off x="7776972" y="3172968"/>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81" name="anim:2"/>
          <p:cNvSpPr txBox="1"/>
          <p:nvPr/>
        </p:nvSpPr>
        <p:spPr>
          <a:xfrm>
            <a:off x="7776972" y="3172968"/>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82" name="anim:2 grad:blue"/>
          <p:cNvSpPr/>
          <p:nvPr/>
        </p:nvSpPr>
        <p:spPr>
          <a:xfrm>
            <a:off x="9148572" y="3172968"/>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83" name="anim:2"/>
          <p:cNvSpPr txBox="1"/>
          <p:nvPr/>
        </p:nvSpPr>
        <p:spPr>
          <a:xfrm>
            <a:off x="9148572" y="3172968"/>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84" name="anim:1"/>
          <p:cNvSpPr txBox="1"/>
          <p:nvPr/>
        </p:nvSpPr>
        <p:spPr>
          <a:xfrm>
            <a:off x="548640" y="3575304"/>
            <a:ext cx="2057400" cy="475488"/>
          </a:xfrm>
          <a:prstGeom prst="rect">
            <a:avLst/>
          </a:prstGeom>
          <a:noFill/>
          <a:ln/>
        </p:spPr>
        <p:txBody>
          <a:bodyPr wrap="square" lIns="0" tIns="0" rIns="0" bIns="0" rtlCol="0" anchor="ctr"/>
          <a:lstStyle/>
          <a:p>
            <a:pPr algn="l" indent="0" marL="0">
              <a:buNone/>
            </a:pPr>
            <a:r>
              <a:rPr lang="en-US" sz="1050" dirty="0">
                <a:solidFill>
                  <a:srgbClr val="15243A"/>
                </a:solidFill>
                <a:latin typeface="Calibri" pitchFamily="34" charset="0"/>
                <a:ea typeface="Calibri" pitchFamily="34" charset="-122"/>
                <a:cs typeface="Calibri" pitchFamily="34" charset="-120"/>
              </a:rPr>
              <a:t>Group discussion</a:t>
            </a:r>
            <a:endParaRPr lang="en-US" sz="1050" dirty="0"/>
          </a:p>
        </p:txBody>
      </p:sp>
      <p:sp>
        <p:nvSpPr>
          <p:cNvPr id="85" name="anim:1"/>
          <p:cNvSpPr/>
          <p:nvPr/>
        </p:nvSpPr>
        <p:spPr>
          <a:xfrm>
            <a:off x="548640" y="4050792"/>
            <a:ext cx="11265408" cy="0"/>
          </a:xfrm>
          <a:prstGeom prst="line">
            <a:avLst/>
          </a:prstGeom>
          <a:noFill/>
          <a:ln w="6350">
            <a:solidFill>
              <a:srgbClr val="E4E9F0"/>
            </a:solidFill>
            <a:prstDash val="solid"/>
          </a:ln>
        </p:spPr>
        <p:txBody>
          <a:bodyPr/>
          <a:p/>
        </p:txBody>
      </p:sp>
      <p:sp>
        <p:nvSpPr>
          <p:cNvPr id="86" name="anim:2 grad:blue"/>
          <p:cNvSpPr/>
          <p:nvPr/>
        </p:nvSpPr>
        <p:spPr>
          <a:xfrm>
            <a:off x="3662172" y="3648456"/>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87" name="anim:2"/>
          <p:cNvSpPr txBox="1"/>
          <p:nvPr/>
        </p:nvSpPr>
        <p:spPr>
          <a:xfrm>
            <a:off x="3662172" y="3648456"/>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88" name="anim:2 grad:blue"/>
          <p:cNvSpPr/>
          <p:nvPr/>
        </p:nvSpPr>
        <p:spPr>
          <a:xfrm>
            <a:off x="5033772" y="3648456"/>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89" name="anim:2"/>
          <p:cNvSpPr txBox="1"/>
          <p:nvPr/>
        </p:nvSpPr>
        <p:spPr>
          <a:xfrm>
            <a:off x="5033772" y="3648456"/>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90" name="anim:2 grad:blue"/>
          <p:cNvSpPr/>
          <p:nvPr/>
        </p:nvSpPr>
        <p:spPr>
          <a:xfrm>
            <a:off x="6405372" y="3648456"/>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91" name="anim:2"/>
          <p:cNvSpPr txBox="1"/>
          <p:nvPr/>
        </p:nvSpPr>
        <p:spPr>
          <a:xfrm>
            <a:off x="6405372" y="3648456"/>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92" name="anim:2 grad:blue"/>
          <p:cNvSpPr/>
          <p:nvPr/>
        </p:nvSpPr>
        <p:spPr>
          <a:xfrm>
            <a:off x="7776972" y="3648456"/>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93" name="anim:2"/>
          <p:cNvSpPr txBox="1"/>
          <p:nvPr/>
        </p:nvSpPr>
        <p:spPr>
          <a:xfrm>
            <a:off x="7776972" y="3648456"/>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94" name="anim:2 grad:blue"/>
          <p:cNvSpPr/>
          <p:nvPr/>
        </p:nvSpPr>
        <p:spPr>
          <a:xfrm>
            <a:off x="9148572" y="3648456"/>
            <a:ext cx="329184" cy="329184"/>
          </a:xfrm>
          <a:prstGeom prst="ellipse">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95" name="anim:2"/>
          <p:cNvSpPr txBox="1"/>
          <p:nvPr/>
        </p:nvSpPr>
        <p:spPr>
          <a:xfrm>
            <a:off x="9148572" y="3648456"/>
            <a:ext cx="329184" cy="32918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96" name="anim:1"/>
          <p:cNvSpPr txBox="1"/>
          <p:nvPr/>
        </p:nvSpPr>
        <p:spPr>
          <a:xfrm>
            <a:off x="548640" y="4050792"/>
            <a:ext cx="2057400" cy="475488"/>
          </a:xfrm>
          <a:prstGeom prst="rect">
            <a:avLst/>
          </a:prstGeom>
          <a:noFill/>
          <a:ln/>
        </p:spPr>
        <p:txBody>
          <a:bodyPr wrap="square" lIns="0" tIns="0" rIns="0" bIns="0" rtlCol="0" anchor="ctr"/>
          <a:lstStyle/>
          <a:p>
            <a:pPr algn="l" indent="0" marL="0">
              <a:buNone/>
            </a:pPr>
            <a:r>
              <a:rPr lang="en-US" sz="1050" dirty="0">
                <a:solidFill>
                  <a:srgbClr val="15243A"/>
                </a:solidFill>
                <a:latin typeface="Calibri" pitchFamily="34" charset="0"/>
                <a:ea typeface="Calibri" pitchFamily="34" charset="-122"/>
                <a:cs typeface="Calibri" pitchFamily="34" charset="-120"/>
              </a:rPr>
              <a:t>Capstone</a:t>
            </a:r>
            <a:endParaRPr lang="en-US" sz="1050" dirty="0"/>
          </a:p>
        </p:txBody>
      </p:sp>
      <p:sp>
        <p:nvSpPr>
          <p:cNvPr id="97" name="anim:1"/>
          <p:cNvSpPr/>
          <p:nvPr/>
        </p:nvSpPr>
        <p:spPr>
          <a:xfrm>
            <a:off x="548640" y="4526280"/>
            <a:ext cx="11265408" cy="0"/>
          </a:xfrm>
          <a:prstGeom prst="line">
            <a:avLst/>
          </a:prstGeom>
          <a:noFill/>
          <a:ln w="6350">
            <a:solidFill>
              <a:srgbClr val="E4E9F0"/>
            </a:solidFill>
            <a:prstDash val="solid"/>
          </a:ln>
        </p:spPr>
        <p:txBody>
          <a:bodyPr/>
          <a:p/>
        </p:txBody>
      </p:sp>
      <p:sp>
        <p:nvSpPr>
          <p:cNvPr id="98" name="anim:2 grad:gold"/>
          <p:cNvSpPr/>
          <p:nvPr/>
        </p:nvSpPr>
        <p:spPr>
          <a:xfrm>
            <a:off x="10058400" y="4233672"/>
            <a:ext cx="338328" cy="109728"/>
          </a:xfrm>
          <a:prstGeom prst="rect">
            <a:avLst/>
          </a:prstGeom>
          <a:gradFill rotWithShape="1">
            <a:gsLst>
              <a:gs pos="0">
                <a:srgbClr val="F3C84A"/>
              </a:gs>
              <a:gs pos="100000">
                <a:srgbClr val="D9A21A"/>
              </a:gs>
            </a:gsLst>
            <a:lin ang="5400000" scaled="0"/>
          </a:gradFill>
          <a:ln w="12700">
            <a:solidFill>
              <a:srgbClr val="E9B221"/>
            </a:solidFill>
            <a:prstDash val="solid"/>
          </a:ln>
        </p:spPr>
        <p:txBody>
          <a:bodyPr/>
          <a:p/>
        </p:txBody>
      </p:sp>
      <p:sp>
        <p:nvSpPr>
          <p:cNvPr id="99" name="anim:2 grad:gold"/>
          <p:cNvSpPr/>
          <p:nvPr/>
        </p:nvSpPr>
        <p:spPr>
          <a:xfrm>
            <a:off x="10515600" y="4233672"/>
            <a:ext cx="338328" cy="109728"/>
          </a:xfrm>
          <a:prstGeom prst="rect">
            <a:avLst/>
          </a:prstGeom>
          <a:gradFill rotWithShape="1">
            <a:gsLst>
              <a:gs pos="0">
                <a:srgbClr val="F3C84A"/>
              </a:gs>
              <a:gs pos="100000">
                <a:srgbClr val="D9A21A"/>
              </a:gs>
            </a:gsLst>
            <a:lin ang="5400000" scaled="0"/>
          </a:gradFill>
          <a:ln w="12700">
            <a:solidFill>
              <a:srgbClr val="E9B221"/>
            </a:solidFill>
            <a:prstDash val="solid"/>
          </a:ln>
        </p:spPr>
        <p:txBody>
          <a:bodyPr/>
          <a:p/>
        </p:txBody>
      </p:sp>
      <p:sp>
        <p:nvSpPr>
          <p:cNvPr id="100" name="anim:2 grad:gold"/>
          <p:cNvSpPr/>
          <p:nvPr/>
        </p:nvSpPr>
        <p:spPr>
          <a:xfrm>
            <a:off x="10972800" y="4233672"/>
            <a:ext cx="338328" cy="109728"/>
          </a:xfrm>
          <a:prstGeom prst="rect">
            <a:avLst/>
          </a:prstGeom>
          <a:gradFill rotWithShape="1">
            <a:gsLst>
              <a:gs pos="0">
                <a:srgbClr val="F3C84A"/>
              </a:gs>
              <a:gs pos="100000">
                <a:srgbClr val="D9A21A"/>
              </a:gs>
            </a:gsLst>
            <a:lin ang="5400000" scaled="0"/>
          </a:gradFill>
          <a:ln w="12700">
            <a:solidFill>
              <a:srgbClr val="E9B221"/>
            </a:solidFill>
            <a:prstDash val="solid"/>
          </a:ln>
        </p:spPr>
        <p:txBody>
          <a:bodyPr/>
          <a:p/>
        </p:txBody>
      </p:sp>
      <p:sp>
        <p:nvSpPr>
          <p:cNvPr id="101" name="anim:2 grad:gold"/>
          <p:cNvSpPr/>
          <p:nvPr/>
        </p:nvSpPr>
        <p:spPr>
          <a:xfrm>
            <a:off x="11434572" y="4123944"/>
            <a:ext cx="329184" cy="329184"/>
          </a:xfrm>
          <a:prstGeom prst="ellipse">
            <a:avLst/>
          </a:prstGeom>
          <a:gradFill rotWithShape="1">
            <a:gsLst>
              <a:gs pos="0">
                <a:srgbClr val="F3C84A"/>
              </a:gs>
              <a:gs pos="100000">
                <a:srgbClr val="D9A21A"/>
              </a:gs>
            </a:gsLst>
            <a:lin ang="5400000" scaled="0"/>
          </a:gradFill>
          <a:ln w="12700">
            <a:solidFill>
              <a:srgbClr val="007DB6"/>
            </a:solidFill>
            <a:prstDash val="solid"/>
          </a:ln>
        </p:spPr>
        <p:txBody>
          <a:bodyPr/>
          <a:p/>
        </p:txBody>
      </p:sp>
      <p:sp>
        <p:nvSpPr>
          <p:cNvPr id="102" name="anim:2"/>
          <p:cNvSpPr txBox="1"/>
          <p:nvPr/>
        </p:nvSpPr>
        <p:spPr>
          <a:xfrm>
            <a:off x="11434572" y="4123944"/>
            <a:ext cx="329184" cy="329184"/>
          </a:xfrm>
          <a:prstGeom prst="rect">
            <a:avLst/>
          </a:prstGeom>
          <a:noFill/>
          <a:ln/>
        </p:spPr>
        <p:txBody>
          <a:bodyPr wrap="square" lIns="0" tIns="0" rIns="0" bIns="0" rtlCol="0" anchor="ctr"/>
          <a:lstStyle/>
          <a:p>
            <a:pPr algn="ctr" indent="0" marL="0">
              <a:buNone/>
            </a:pPr>
            <a:r>
              <a:rPr lang="en-US" sz="750" b="1" dirty="0">
                <a:solidFill>
                  <a:srgbClr val="0A1E33"/>
                </a:solidFill>
                <a:latin typeface="Calibri" pitchFamily="34" charset="0"/>
                <a:ea typeface="Calibri" pitchFamily="34" charset="-122"/>
                <a:cs typeface="Calibri" pitchFamily="34" charset="-120"/>
              </a:rPr>
              <a:t>200</a:t>
            </a:r>
            <a:endParaRPr lang="en-US" sz="750" dirty="0"/>
          </a:p>
        </p:txBody>
      </p:sp>
      <p:sp>
        <p:nvSpPr>
          <p:cNvPr id="103" name="anim:1"/>
          <p:cNvSpPr txBox="1"/>
          <p:nvPr/>
        </p:nvSpPr>
        <p:spPr>
          <a:xfrm>
            <a:off x="548640" y="4526280"/>
            <a:ext cx="2057400" cy="475488"/>
          </a:xfrm>
          <a:prstGeom prst="rect">
            <a:avLst/>
          </a:prstGeom>
          <a:noFill/>
          <a:ln/>
        </p:spPr>
        <p:txBody>
          <a:bodyPr wrap="square" lIns="0" tIns="0" rIns="0" bIns="0" rtlCol="0" anchor="ctr"/>
          <a:lstStyle/>
          <a:p>
            <a:pPr algn="l" indent="0" marL="0">
              <a:buNone/>
            </a:pPr>
            <a:r>
              <a:rPr lang="en-US" sz="1050" dirty="0">
                <a:solidFill>
                  <a:srgbClr val="15243A"/>
                </a:solidFill>
                <a:latin typeface="Calibri" pitchFamily="34" charset="0"/>
                <a:ea typeface="Calibri" pitchFamily="34" charset="-122"/>
                <a:cs typeface="Calibri" pitchFamily="34" charset="-120"/>
              </a:rPr>
              <a:t>Saturday recap paper</a:t>
            </a:r>
            <a:endParaRPr lang="en-US" sz="1050" dirty="0"/>
          </a:p>
        </p:txBody>
      </p:sp>
      <p:sp>
        <p:nvSpPr>
          <p:cNvPr id="104" name="anim:1"/>
          <p:cNvSpPr/>
          <p:nvPr/>
        </p:nvSpPr>
        <p:spPr>
          <a:xfrm>
            <a:off x="548640" y="5001768"/>
            <a:ext cx="11265408" cy="0"/>
          </a:xfrm>
          <a:prstGeom prst="line">
            <a:avLst/>
          </a:prstGeom>
          <a:noFill/>
          <a:ln w="6350">
            <a:solidFill>
              <a:srgbClr val="E4E9F0"/>
            </a:solidFill>
            <a:prstDash val="solid"/>
          </a:ln>
        </p:spPr>
        <p:txBody>
          <a:bodyPr/>
          <a:p/>
        </p:txBody>
      </p:sp>
      <p:sp>
        <p:nvSpPr>
          <p:cNvPr id="105" name="anim:3"/>
          <p:cNvSpPr/>
          <p:nvPr/>
        </p:nvSpPr>
        <p:spPr>
          <a:xfrm>
            <a:off x="2747772" y="4599432"/>
            <a:ext cx="329184" cy="329184"/>
          </a:xfrm>
          <a:prstGeom prst="ellipse">
            <a:avLst/>
          </a:prstGeom>
          <a:solidFill>
            <a:srgbClr val="FFFFFF"/>
          </a:solidFill>
          <a:ln w="12700">
            <a:solidFill>
              <a:srgbClr val="5F7183"/>
            </a:solidFill>
            <a:prstDash val="solid"/>
          </a:ln>
        </p:spPr>
        <p:txBody>
          <a:bodyPr/>
          <a:p/>
        </p:txBody>
      </p:sp>
      <p:sp>
        <p:nvSpPr>
          <p:cNvPr id="106" name="anim:3"/>
          <p:cNvSpPr/>
          <p:nvPr/>
        </p:nvSpPr>
        <p:spPr>
          <a:xfrm>
            <a:off x="3204972" y="4599432"/>
            <a:ext cx="329184" cy="329184"/>
          </a:xfrm>
          <a:prstGeom prst="ellipse">
            <a:avLst/>
          </a:prstGeom>
          <a:solidFill>
            <a:srgbClr val="FFFFFF"/>
          </a:solidFill>
          <a:ln w="12700">
            <a:solidFill>
              <a:srgbClr val="5F7183"/>
            </a:solidFill>
            <a:prstDash val="solid"/>
          </a:ln>
        </p:spPr>
        <p:txBody>
          <a:bodyPr/>
          <a:p/>
        </p:txBody>
      </p:sp>
      <p:sp>
        <p:nvSpPr>
          <p:cNvPr id="107" name="anim:3"/>
          <p:cNvSpPr/>
          <p:nvPr/>
        </p:nvSpPr>
        <p:spPr>
          <a:xfrm>
            <a:off x="4119372" y="4599432"/>
            <a:ext cx="329184" cy="329184"/>
          </a:xfrm>
          <a:prstGeom prst="ellipse">
            <a:avLst/>
          </a:prstGeom>
          <a:solidFill>
            <a:srgbClr val="FFFFFF"/>
          </a:solidFill>
          <a:ln w="12700">
            <a:solidFill>
              <a:srgbClr val="5F7183"/>
            </a:solidFill>
            <a:prstDash val="solid"/>
          </a:ln>
        </p:spPr>
        <p:txBody>
          <a:bodyPr/>
          <a:p/>
        </p:txBody>
      </p:sp>
      <p:sp>
        <p:nvSpPr>
          <p:cNvPr id="108" name="anim:3"/>
          <p:cNvSpPr/>
          <p:nvPr/>
        </p:nvSpPr>
        <p:spPr>
          <a:xfrm>
            <a:off x="5490972" y="4599432"/>
            <a:ext cx="329184" cy="329184"/>
          </a:xfrm>
          <a:prstGeom prst="ellipse">
            <a:avLst/>
          </a:prstGeom>
          <a:solidFill>
            <a:srgbClr val="FFFFFF"/>
          </a:solidFill>
          <a:ln w="12700">
            <a:solidFill>
              <a:srgbClr val="5F7183"/>
            </a:solidFill>
            <a:prstDash val="solid"/>
          </a:ln>
        </p:spPr>
        <p:txBody>
          <a:bodyPr/>
          <a:p/>
        </p:txBody>
      </p:sp>
      <p:sp>
        <p:nvSpPr>
          <p:cNvPr id="109" name="anim:3"/>
          <p:cNvSpPr/>
          <p:nvPr/>
        </p:nvSpPr>
        <p:spPr>
          <a:xfrm>
            <a:off x="5948172" y="4599432"/>
            <a:ext cx="329184" cy="329184"/>
          </a:xfrm>
          <a:prstGeom prst="ellipse">
            <a:avLst/>
          </a:prstGeom>
          <a:solidFill>
            <a:srgbClr val="FFFFFF"/>
          </a:solidFill>
          <a:ln w="12700">
            <a:solidFill>
              <a:srgbClr val="5F7183"/>
            </a:solidFill>
            <a:prstDash val="solid"/>
          </a:ln>
        </p:spPr>
        <p:txBody>
          <a:bodyPr/>
          <a:p/>
        </p:txBody>
      </p:sp>
      <p:sp>
        <p:nvSpPr>
          <p:cNvPr id="110" name="anim:3"/>
          <p:cNvSpPr/>
          <p:nvPr/>
        </p:nvSpPr>
        <p:spPr>
          <a:xfrm>
            <a:off x="7319772" y="4599432"/>
            <a:ext cx="329184" cy="329184"/>
          </a:xfrm>
          <a:prstGeom prst="ellipse">
            <a:avLst/>
          </a:prstGeom>
          <a:solidFill>
            <a:srgbClr val="FFFFFF"/>
          </a:solidFill>
          <a:ln w="12700">
            <a:solidFill>
              <a:srgbClr val="5F7183"/>
            </a:solidFill>
            <a:prstDash val="solid"/>
          </a:ln>
        </p:spPr>
        <p:txBody>
          <a:bodyPr/>
          <a:p/>
        </p:txBody>
      </p:sp>
      <p:sp>
        <p:nvSpPr>
          <p:cNvPr id="111" name="anim:3"/>
          <p:cNvSpPr/>
          <p:nvPr/>
        </p:nvSpPr>
        <p:spPr>
          <a:xfrm>
            <a:off x="8234172" y="4599432"/>
            <a:ext cx="329184" cy="329184"/>
          </a:xfrm>
          <a:prstGeom prst="ellipse">
            <a:avLst/>
          </a:prstGeom>
          <a:solidFill>
            <a:srgbClr val="FFFFFF"/>
          </a:solidFill>
          <a:ln w="12700">
            <a:solidFill>
              <a:srgbClr val="5F7183"/>
            </a:solidFill>
            <a:prstDash val="solid"/>
          </a:ln>
        </p:spPr>
        <p:txBody>
          <a:bodyPr/>
          <a:p/>
        </p:txBody>
      </p:sp>
      <p:sp>
        <p:nvSpPr>
          <p:cNvPr id="112" name="anim:3"/>
          <p:cNvSpPr/>
          <p:nvPr/>
        </p:nvSpPr>
        <p:spPr>
          <a:xfrm>
            <a:off x="8691372" y="4599432"/>
            <a:ext cx="329184" cy="329184"/>
          </a:xfrm>
          <a:prstGeom prst="ellipse">
            <a:avLst/>
          </a:prstGeom>
          <a:solidFill>
            <a:srgbClr val="FFFFFF"/>
          </a:solidFill>
          <a:ln w="12700">
            <a:solidFill>
              <a:srgbClr val="5F7183"/>
            </a:solidFill>
            <a:prstDash val="solid"/>
          </a:ln>
        </p:spPr>
        <p:txBody>
          <a:bodyPr/>
          <a:p/>
        </p:txBody>
      </p:sp>
      <p:sp>
        <p:nvSpPr>
          <p:cNvPr id="113" name="anim:1"/>
          <p:cNvSpPr txBox="1"/>
          <p:nvPr/>
        </p:nvSpPr>
        <p:spPr>
          <a:xfrm>
            <a:off x="548640" y="5001768"/>
            <a:ext cx="2057400" cy="475488"/>
          </a:xfrm>
          <a:prstGeom prst="rect">
            <a:avLst/>
          </a:prstGeom>
          <a:noFill/>
          <a:ln/>
        </p:spPr>
        <p:txBody>
          <a:bodyPr wrap="square" lIns="0" tIns="0" rIns="0" bIns="0" rtlCol="0" anchor="ctr"/>
          <a:lstStyle/>
          <a:p>
            <a:pPr algn="l" indent="0" marL="0">
              <a:buNone/>
            </a:pPr>
            <a:r>
              <a:rPr lang="en-US" sz="1050" dirty="0">
                <a:solidFill>
                  <a:srgbClr val="15243A"/>
                </a:solidFill>
                <a:latin typeface="Calibri" pitchFamily="34" charset="0"/>
                <a:ea typeface="Calibri" pitchFamily="34" charset="-122"/>
                <a:cs typeface="Calibri" pitchFamily="34" charset="-120"/>
              </a:rPr>
              <a:t>Daily Kahoot</a:t>
            </a:r>
            <a:endParaRPr lang="en-US" sz="1050" dirty="0"/>
          </a:p>
        </p:txBody>
      </p:sp>
      <p:sp>
        <p:nvSpPr>
          <p:cNvPr id="114" name="anim:1"/>
          <p:cNvSpPr/>
          <p:nvPr/>
        </p:nvSpPr>
        <p:spPr>
          <a:xfrm>
            <a:off x="548640" y="5477256"/>
            <a:ext cx="11265408" cy="0"/>
          </a:xfrm>
          <a:prstGeom prst="line">
            <a:avLst/>
          </a:prstGeom>
          <a:noFill/>
          <a:ln w="6350">
            <a:solidFill>
              <a:srgbClr val="E4E9F0"/>
            </a:solidFill>
            <a:prstDash val="solid"/>
          </a:ln>
        </p:spPr>
        <p:txBody>
          <a:bodyPr/>
          <a:p/>
        </p:txBody>
      </p:sp>
      <p:sp>
        <p:nvSpPr>
          <p:cNvPr id="115" name="anim:3"/>
          <p:cNvSpPr/>
          <p:nvPr/>
        </p:nvSpPr>
        <p:spPr>
          <a:xfrm>
            <a:off x="2747772" y="5074920"/>
            <a:ext cx="329184" cy="329184"/>
          </a:xfrm>
          <a:prstGeom prst="ellipse">
            <a:avLst/>
          </a:prstGeom>
          <a:solidFill>
            <a:srgbClr val="FFFFFF"/>
          </a:solidFill>
          <a:ln w="12700">
            <a:solidFill>
              <a:srgbClr val="5F7183"/>
            </a:solidFill>
            <a:prstDash val="solid"/>
          </a:ln>
        </p:spPr>
        <p:txBody>
          <a:bodyPr/>
          <a:p/>
        </p:txBody>
      </p:sp>
      <p:sp>
        <p:nvSpPr>
          <p:cNvPr id="116" name="anim:3"/>
          <p:cNvSpPr/>
          <p:nvPr/>
        </p:nvSpPr>
        <p:spPr>
          <a:xfrm>
            <a:off x="3204972" y="5074920"/>
            <a:ext cx="329184" cy="329184"/>
          </a:xfrm>
          <a:prstGeom prst="ellipse">
            <a:avLst/>
          </a:prstGeom>
          <a:solidFill>
            <a:srgbClr val="FFFFFF"/>
          </a:solidFill>
          <a:ln w="12700">
            <a:solidFill>
              <a:srgbClr val="5F7183"/>
            </a:solidFill>
            <a:prstDash val="solid"/>
          </a:ln>
        </p:spPr>
        <p:txBody>
          <a:bodyPr/>
          <a:p/>
        </p:txBody>
      </p:sp>
      <p:sp>
        <p:nvSpPr>
          <p:cNvPr id="117" name="anim:3"/>
          <p:cNvSpPr/>
          <p:nvPr/>
        </p:nvSpPr>
        <p:spPr>
          <a:xfrm>
            <a:off x="4119372" y="5074920"/>
            <a:ext cx="329184" cy="329184"/>
          </a:xfrm>
          <a:prstGeom prst="ellipse">
            <a:avLst/>
          </a:prstGeom>
          <a:solidFill>
            <a:srgbClr val="FFFFFF"/>
          </a:solidFill>
          <a:ln w="12700">
            <a:solidFill>
              <a:srgbClr val="5F7183"/>
            </a:solidFill>
            <a:prstDash val="solid"/>
          </a:ln>
        </p:spPr>
        <p:txBody>
          <a:bodyPr/>
          <a:p/>
        </p:txBody>
      </p:sp>
      <p:sp>
        <p:nvSpPr>
          <p:cNvPr id="118" name="anim:3"/>
          <p:cNvSpPr/>
          <p:nvPr/>
        </p:nvSpPr>
        <p:spPr>
          <a:xfrm>
            <a:off x="4576572" y="5074920"/>
            <a:ext cx="329184" cy="329184"/>
          </a:xfrm>
          <a:prstGeom prst="ellipse">
            <a:avLst/>
          </a:prstGeom>
          <a:solidFill>
            <a:srgbClr val="FFFFFF"/>
          </a:solidFill>
          <a:ln w="12700">
            <a:solidFill>
              <a:srgbClr val="5F7183"/>
            </a:solidFill>
            <a:prstDash val="solid"/>
          </a:ln>
        </p:spPr>
        <p:txBody>
          <a:bodyPr/>
          <a:p/>
        </p:txBody>
      </p:sp>
      <p:sp>
        <p:nvSpPr>
          <p:cNvPr id="119" name="anim:3"/>
          <p:cNvSpPr/>
          <p:nvPr/>
        </p:nvSpPr>
        <p:spPr>
          <a:xfrm>
            <a:off x="5490972" y="5074920"/>
            <a:ext cx="329184" cy="329184"/>
          </a:xfrm>
          <a:prstGeom prst="ellipse">
            <a:avLst/>
          </a:prstGeom>
          <a:solidFill>
            <a:srgbClr val="FFFFFF"/>
          </a:solidFill>
          <a:ln w="12700">
            <a:solidFill>
              <a:srgbClr val="5F7183"/>
            </a:solidFill>
            <a:prstDash val="solid"/>
          </a:ln>
        </p:spPr>
        <p:txBody>
          <a:bodyPr/>
          <a:p/>
        </p:txBody>
      </p:sp>
      <p:sp>
        <p:nvSpPr>
          <p:cNvPr id="120" name="anim:3"/>
          <p:cNvSpPr/>
          <p:nvPr/>
        </p:nvSpPr>
        <p:spPr>
          <a:xfrm>
            <a:off x="5948172" y="5074920"/>
            <a:ext cx="329184" cy="329184"/>
          </a:xfrm>
          <a:prstGeom prst="ellipse">
            <a:avLst/>
          </a:prstGeom>
          <a:solidFill>
            <a:srgbClr val="FFFFFF"/>
          </a:solidFill>
          <a:ln w="12700">
            <a:solidFill>
              <a:srgbClr val="5F7183"/>
            </a:solidFill>
            <a:prstDash val="solid"/>
          </a:ln>
        </p:spPr>
        <p:txBody>
          <a:bodyPr/>
          <a:p/>
        </p:txBody>
      </p:sp>
      <p:sp>
        <p:nvSpPr>
          <p:cNvPr id="121" name="anim:3"/>
          <p:cNvSpPr/>
          <p:nvPr/>
        </p:nvSpPr>
        <p:spPr>
          <a:xfrm>
            <a:off x="6862572" y="5074920"/>
            <a:ext cx="329184" cy="329184"/>
          </a:xfrm>
          <a:prstGeom prst="ellipse">
            <a:avLst/>
          </a:prstGeom>
          <a:solidFill>
            <a:srgbClr val="FFFFFF"/>
          </a:solidFill>
          <a:ln w="12700">
            <a:solidFill>
              <a:srgbClr val="5F7183"/>
            </a:solidFill>
            <a:prstDash val="solid"/>
          </a:ln>
        </p:spPr>
        <p:txBody>
          <a:bodyPr/>
          <a:p/>
        </p:txBody>
      </p:sp>
      <p:sp>
        <p:nvSpPr>
          <p:cNvPr id="122" name="anim:3"/>
          <p:cNvSpPr/>
          <p:nvPr/>
        </p:nvSpPr>
        <p:spPr>
          <a:xfrm>
            <a:off x="7319772" y="5074920"/>
            <a:ext cx="329184" cy="329184"/>
          </a:xfrm>
          <a:prstGeom prst="ellipse">
            <a:avLst/>
          </a:prstGeom>
          <a:solidFill>
            <a:srgbClr val="FFFFFF"/>
          </a:solidFill>
          <a:ln w="12700">
            <a:solidFill>
              <a:srgbClr val="5F7183"/>
            </a:solidFill>
            <a:prstDash val="solid"/>
          </a:ln>
        </p:spPr>
        <p:txBody>
          <a:bodyPr/>
          <a:p/>
        </p:txBody>
      </p:sp>
      <p:sp>
        <p:nvSpPr>
          <p:cNvPr id="123" name="anim:3"/>
          <p:cNvSpPr/>
          <p:nvPr/>
        </p:nvSpPr>
        <p:spPr>
          <a:xfrm>
            <a:off x="8234172" y="5074920"/>
            <a:ext cx="329184" cy="329184"/>
          </a:xfrm>
          <a:prstGeom prst="ellipse">
            <a:avLst/>
          </a:prstGeom>
          <a:solidFill>
            <a:srgbClr val="FFFFFF"/>
          </a:solidFill>
          <a:ln w="12700">
            <a:solidFill>
              <a:srgbClr val="5F7183"/>
            </a:solidFill>
            <a:prstDash val="solid"/>
          </a:ln>
        </p:spPr>
        <p:txBody>
          <a:bodyPr/>
          <a:p/>
        </p:txBody>
      </p:sp>
      <p:sp>
        <p:nvSpPr>
          <p:cNvPr id="124" name="anim:3"/>
          <p:cNvSpPr/>
          <p:nvPr/>
        </p:nvSpPr>
        <p:spPr>
          <a:xfrm>
            <a:off x="8691372" y="5074920"/>
            <a:ext cx="329184" cy="329184"/>
          </a:xfrm>
          <a:prstGeom prst="ellipse">
            <a:avLst/>
          </a:prstGeom>
          <a:solidFill>
            <a:srgbClr val="FFFFFF"/>
          </a:solidFill>
          <a:ln w="12700">
            <a:solidFill>
              <a:srgbClr val="5F7183"/>
            </a:solidFill>
            <a:prstDash val="solid"/>
          </a:ln>
        </p:spPr>
        <p:txBody>
          <a:bodyPr/>
          <a:p/>
        </p:txBody>
      </p:sp>
      <p:sp>
        <p:nvSpPr>
          <p:cNvPr id="125" name="anim:4"/>
          <p:cNvSpPr txBox="1"/>
          <p:nvPr/>
        </p:nvSpPr>
        <p:spPr>
          <a:xfrm>
            <a:off x="548640" y="5705856"/>
            <a:ext cx="2171700" cy="329184"/>
          </a:xfrm>
          <a:prstGeom prst="roundRect">
            <a:avLst>
              <a:gd name="adj" fmla="val 55556"/>
            </a:avLst>
          </a:prstGeom>
          <a:solidFill>
            <a:srgbClr val="FFFFFF"/>
          </a:solidFill>
          <a:ln w="9525">
            <a:solidFill>
              <a:srgbClr val="E4E9F0"/>
            </a:solidFill>
          </a:ln>
        </p:spPr>
        <p:txBody>
          <a:bodyPr wrap="square" lIns="0" tIns="76200" rIns="76200" bIns="0" rtlCol="0" anchor="ctr"/>
          <a:lstStyle/>
          <a:p>
            <a:pPr algn="ctr" indent="0" marL="0">
              <a:buNone/>
            </a:pPr>
            <a:r>
              <a:rPr lang="en-US" sz="950" dirty="0">
                <a:solidFill>
                  <a:srgbClr val="0A1E33"/>
                </a:solidFill>
                <a:latin typeface="Calibri" pitchFamily="34" charset="0"/>
                <a:ea typeface="Calibri" pitchFamily="34" charset="-122"/>
                <a:cs typeface="Calibri" pitchFamily="34" charset="-120"/>
              </a:rPr>
              <a:t>5 build weeks × 100 = 500</a:t>
            </a:r>
            <a:endParaRPr lang="en-US" sz="950" dirty="0"/>
          </a:p>
        </p:txBody>
      </p:sp>
      <p:sp>
        <p:nvSpPr>
          <p:cNvPr id="126" name="anim:4"/>
          <p:cNvSpPr txBox="1"/>
          <p:nvPr/>
        </p:nvSpPr>
        <p:spPr>
          <a:xfrm>
            <a:off x="2857500" y="5705856"/>
            <a:ext cx="1760220" cy="329184"/>
          </a:xfrm>
          <a:prstGeom prst="roundRect">
            <a:avLst>
              <a:gd name="adj" fmla="val 55556"/>
            </a:avLst>
          </a:prstGeom>
          <a:solidFill>
            <a:srgbClr val="FFFFFF"/>
          </a:solidFill>
          <a:ln w="9525">
            <a:solidFill>
              <a:srgbClr val="E4E9F0"/>
            </a:solidFill>
          </a:ln>
        </p:spPr>
        <p:txBody>
          <a:bodyPr wrap="square" lIns="0" tIns="76200" rIns="76200" bIns="0" rtlCol="0" anchor="ctr"/>
          <a:lstStyle/>
          <a:p>
            <a:pPr algn="ctr" indent="0" marL="0">
              <a:buNone/>
            </a:pPr>
            <a:r>
              <a:rPr lang="en-US" sz="950" dirty="0">
                <a:solidFill>
                  <a:srgbClr val="0A1E33"/>
                </a:solidFill>
                <a:latin typeface="Calibri" pitchFamily="34" charset="0"/>
                <a:ea typeface="Calibri" pitchFamily="34" charset="-122"/>
                <a:cs typeface="Calibri" pitchFamily="34" charset="-120"/>
              </a:rPr>
              <a:t>3 major exams = 300</a:t>
            </a:r>
            <a:endParaRPr lang="en-US" sz="950" dirty="0"/>
          </a:p>
        </p:txBody>
      </p:sp>
      <p:sp>
        <p:nvSpPr>
          <p:cNvPr id="127" name="anim:4"/>
          <p:cNvSpPr txBox="1"/>
          <p:nvPr/>
        </p:nvSpPr>
        <p:spPr>
          <a:xfrm>
            <a:off x="4754880" y="5705856"/>
            <a:ext cx="1417320" cy="329184"/>
          </a:xfrm>
          <a:prstGeom prst="roundRect">
            <a:avLst>
              <a:gd name="adj" fmla="val 55556"/>
            </a:avLst>
          </a:prstGeom>
          <a:solidFill>
            <a:srgbClr val="FFFFFF"/>
          </a:solidFill>
          <a:ln w="9525">
            <a:solidFill>
              <a:srgbClr val="E4E9F0"/>
            </a:solidFill>
          </a:ln>
        </p:spPr>
        <p:txBody>
          <a:bodyPr wrap="square" lIns="0" tIns="76200" rIns="76200" bIns="0" rtlCol="0" anchor="ctr"/>
          <a:lstStyle/>
          <a:p>
            <a:pPr algn="ctr" indent="0" marL="0">
              <a:buNone/>
            </a:pPr>
            <a:r>
              <a:rPr lang="en-US" sz="950" dirty="0">
                <a:solidFill>
                  <a:srgbClr val="0A1E33"/>
                </a:solidFill>
                <a:latin typeface="Calibri" pitchFamily="34" charset="0"/>
                <a:ea typeface="Calibri" pitchFamily="34" charset="-122"/>
                <a:cs typeface="Calibri" pitchFamily="34" charset="-120"/>
              </a:rPr>
              <a:t>Capstone = 200</a:t>
            </a:r>
            <a:endParaRPr lang="en-US" sz="950" dirty="0"/>
          </a:p>
        </p:txBody>
      </p:sp>
      <p:sp>
        <p:nvSpPr>
          <p:cNvPr id="128" name="anim:4"/>
          <p:cNvSpPr txBox="1"/>
          <p:nvPr/>
        </p:nvSpPr>
        <p:spPr>
          <a:xfrm>
            <a:off x="6309360" y="5705856"/>
            <a:ext cx="1143000" cy="329184"/>
          </a:xfrm>
          <a:prstGeom prst="roundRect">
            <a:avLst>
              <a:gd name="adj" fmla="val 55556"/>
            </a:avLst>
          </a:prstGeom>
          <a:solidFill>
            <a:srgbClr val="0A1E33"/>
          </a:solidFill>
          <a:ln w="9525">
            <a:solidFill>
              <a:srgbClr val="0A1E33"/>
            </a:solidFill>
          </a:ln>
        </p:spPr>
        <p:txBody>
          <a:bodyPr wrap="square" lIns="0" tIns="76200" rIns="76200" bIns="0" rtlCol="0" anchor="ctr"/>
          <a:lstStyle/>
          <a:p>
            <a:pPr algn="ctr" indent="0" marL="0">
              <a:buNone/>
            </a:pPr>
            <a:r>
              <a:rPr lang="en-US" sz="950" b="1" dirty="0">
                <a:solidFill>
                  <a:srgbClr val="E9B221"/>
                </a:solidFill>
                <a:latin typeface="Calibri" pitchFamily="34" charset="0"/>
                <a:ea typeface="Calibri" pitchFamily="34" charset="-122"/>
                <a:cs typeface="Calibri" pitchFamily="34" charset="-120"/>
              </a:rPr>
              <a:t>Total 1000</a:t>
            </a:r>
            <a:endParaRPr lang="en-US" sz="950" dirty="0"/>
          </a:p>
        </p:txBody>
      </p:sp>
      <p:sp>
        <p:nvSpPr>
          <p:cNvPr id="129" name="anim:4"/>
          <p:cNvSpPr txBox="1"/>
          <p:nvPr/>
        </p:nvSpPr>
        <p:spPr>
          <a:xfrm>
            <a:off x="548640" y="6163056"/>
            <a:ext cx="11091672" cy="274320"/>
          </a:xfrm>
          <a:prstGeom prst="rect">
            <a:avLst/>
          </a:prstGeom>
          <a:noFill/>
          <a:ln/>
        </p:spPr>
        <p:txBody>
          <a:bodyPr wrap="square" lIns="0" tIns="0" rIns="0" bIns="0" rtlCol="0" anchor="t"/>
          <a:lstStyle/>
          <a:p>
            <a:pPr algn="l" indent="0" marL="0">
              <a:buNone/>
            </a:pPr>
            <a:r>
              <a:rPr lang="en-US" sz="950" dirty="0">
                <a:solidFill>
                  <a:srgbClr val="5F7183"/>
                </a:solidFill>
                <a:latin typeface="Calibri" pitchFamily="34" charset="0"/>
                <a:ea typeface="Calibri" pitchFamily="34" charset="-122"/>
                <a:cs typeface="Calibri" pitchFamily="34" charset="-120"/>
              </a:rPr>
              <a:t>The recap paper runs in regular teaching weeks; whether it also runs in an exam week is announced with the assessment calendar.</a:t>
            </a:r>
            <a:endParaRPr lang="en-US" sz="9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138" fill="hold">
                      <p:stCondLst>
                        <p:cond delay="indefinite"/>
                      </p:stCondLst>
                      <p:childTnLst>
                        <p:par>
                          <p:cTn id="13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par>
                                <p:cTn id="51" presetID="10" presetClass="entr" presetSubtype="0" fill="hold" grpId="0" nodeType="withEffect">
                                  <p:stCondLst>
                                    <p:cond delay="90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400"/>
                                        <p:tgtEl>
                                          <p:spTgt spid="37"/>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400"/>
                                        <p:tgtEl>
                                          <p:spTgt spid="38"/>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400"/>
                                        <p:tgtEl>
                                          <p:spTgt spid="39"/>
                                        </p:tgtEl>
                                      </p:cBhvr>
                                    </p:animEffect>
                                  </p:childTnLst>
                                </p:cTn>
                              </p:par>
                              <p:par>
                                <p:cTn id="60" presetID="10" presetClass="entr" presetSubtype="0" fill="hold" grpId="0" nodeType="withEffect">
                                  <p:stCondLst>
                                    <p:cond delay="90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400"/>
                                        <p:tgtEl>
                                          <p:spTgt spid="40"/>
                                        </p:tgtEl>
                                      </p:cBhvr>
                                    </p:animEffect>
                                  </p:childTnLst>
                                </p:cTn>
                              </p:par>
                              <p:par>
                                <p:cTn id="63" presetID="10" presetClass="entr" presetSubtype="0" fill="hold" grpId="0" nodeType="withEffect">
                                  <p:stCondLst>
                                    <p:cond delay="90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400"/>
                                        <p:tgtEl>
                                          <p:spTgt spid="41"/>
                                        </p:tgtEl>
                                      </p:cBhvr>
                                    </p:animEffect>
                                  </p:childTnLst>
                                </p:cTn>
                              </p:par>
                              <p:par>
                                <p:cTn id="66" presetID="10" presetClass="entr" presetSubtype="0" fill="hold" grpId="0" nodeType="withEffect">
                                  <p:stCondLst>
                                    <p:cond delay="90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400"/>
                                        <p:tgtEl>
                                          <p:spTgt spid="42"/>
                                        </p:tgtEl>
                                      </p:cBhvr>
                                    </p:animEffect>
                                  </p:childTnLst>
                                </p:cTn>
                              </p:par>
                              <p:par>
                                <p:cTn id="69" presetID="10" presetClass="entr" presetSubtype="0" fill="hold" grpId="0" nodeType="withEffect">
                                  <p:stCondLst>
                                    <p:cond delay="90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400"/>
                                        <p:tgtEl>
                                          <p:spTgt spid="43"/>
                                        </p:tgtEl>
                                      </p:cBhvr>
                                    </p:animEffect>
                                  </p:childTnLst>
                                </p:cTn>
                              </p:par>
                              <p:par>
                                <p:cTn id="72" presetID="10" presetClass="entr" presetSubtype="0" fill="hold" grpId="0" nodeType="withEffect">
                                  <p:stCondLst>
                                    <p:cond delay="900"/>
                                  </p:stCondLst>
                                  <p:childTnLst>
                                    <p:set>
                                      <p:cBhvr>
                                        <p:cTn id="73" dur="1" fill="hold">
                                          <p:stCondLst>
                                            <p:cond delay="0"/>
                                          </p:stCondLst>
                                        </p:cTn>
                                        <p:tgtEl>
                                          <p:spTgt spid="44"/>
                                        </p:tgtEl>
                                        <p:attrNameLst>
                                          <p:attrName>style.visibility</p:attrName>
                                        </p:attrNameLst>
                                      </p:cBhvr>
                                      <p:to>
                                        <p:strVal val="visible"/>
                                      </p:to>
                                    </p:set>
                                    <p:animEffect transition="in" filter="fade">
                                      <p:cBhvr>
                                        <p:cTn id="74" dur="400"/>
                                        <p:tgtEl>
                                          <p:spTgt spid="44"/>
                                        </p:tgtEl>
                                      </p:cBhvr>
                                    </p:animEffect>
                                  </p:childTnLst>
                                </p:cTn>
                              </p:par>
                              <p:par>
                                <p:cTn id="75" presetID="10" presetClass="entr" presetSubtype="0" fill="hold" grpId="0" nodeType="withEffect">
                                  <p:stCondLst>
                                    <p:cond delay="900"/>
                                  </p:stCondLst>
                                  <p:childTnLst>
                                    <p:set>
                                      <p:cBhvr>
                                        <p:cTn id="76" dur="1" fill="hold">
                                          <p:stCondLst>
                                            <p:cond delay="0"/>
                                          </p:stCondLst>
                                        </p:cTn>
                                        <p:tgtEl>
                                          <p:spTgt spid="45"/>
                                        </p:tgtEl>
                                        <p:attrNameLst>
                                          <p:attrName>style.visibility</p:attrName>
                                        </p:attrNameLst>
                                      </p:cBhvr>
                                      <p:to>
                                        <p:strVal val="visible"/>
                                      </p:to>
                                    </p:set>
                                    <p:animEffect transition="in" filter="fade">
                                      <p:cBhvr>
                                        <p:cTn id="77" dur="400"/>
                                        <p:tgtEl>
                                          <p:spTgt spid="45"/>
                                        </p:tgtEl>
                                      </p:cBhvr>
                                    </p:animEffect>
                                  </p:childTnLst>
                                </p:cTn>
                              </p:par>
                              <p:par>
                                <p:cTn id="78" presetID="10" presetClass="entr" presetSubtype="0" fill="hold" grpId="0" nodeType="withEffect">
                                  <p:stCondLst>
                                    <p:cond delay="900"/>
                                  </p:stCondLst>
                                  <p:childTnLst>
                                    <p:set>
                                      <p:cBhvr>
                                        <p:cTn id="79" dur="1" fill="hold">
                                          <p:stCondLst>
                                            <p:cond delay="0"/>
                                          </p:stCondLst>
                                        </p:cTn>
                                        <p:tgtEl>
                                          <p:spTgt spid="46"/>
                                        </p:tgtEl>
                                        <p:attrNameLst>
                                          <p:attrName>style.visibility</p:attrName>
                                        </p:attrNameLst>
                                      </p:cBhvr>
                                      <p:to>
                                        <p:strVal val="visible"/>
                                      </p:to>
                                    </p:set>
                                    <p:animEffect transition="in" filter="fade">
                                      <p:cBhvr>
                                        <p:cTn id="80" dur="400"/>
                                        <p:tgtEl>
                                          <p:spTgt spid="46"/>
                                        </p:tgtEl>
                                      </p:cBhvr>
                                    </p:animEffect>
                                  </p:childTnLst>
                                </p:cTn>
                              </p:par>
                              <p:par>
                                <p:cTn id="81" presetID="10" presetClass="entr" presetSubtype="0" fill="hold" grpId="0" nodeType="withEffect">
                                  <p:stCondLst>
                                    <p:cond delay="900"/>
                                  </p:stCondLst>
                                  <p:childTnLst>
                                    <p:set>
                                      <p:cBhvr>
                                        <p:cTn id="82" dur="1" fill="hold">
                                          <p:stCondLst>
                                            <p:cond delay="0"/>
                                          </p:stCondLst>
                                        </p:cTn>
                                        <p:tgtEl>
                                          <p:spTgt spid="47"/>
                                        </p:tgtEl>
                                        <p:attrNameLst>
                                          <p:attrName>style.visibility</p:attrName>
                                        </p:attrNameLst>
                                      </p:cBhvr>
                                      <p:to>
                                        <p:strVal val="visible"/>
                                      </p:to>
                                    </p:set>
                                    <p:animEffect transition="in" filter="fade">
                                      <p:cBhvr>
                                        <p:cTn id="83" dur="400"/>
                                        <p:tgtEl>
                                          <p:spTgt spid="47"/>
                                        </p:tgtEl>
                                      </p:cBhvr>
                                    </p:animEffect>
                                  </p:childTnLst>
                                </p:cTn>
                              </p:par>
                              <p:par>
                                <p:cTn id="84" presetID="10" presetClass="entr" presetSubtype="0" fill="hold" grpId="0" nodeType="withEffect">
                                  <p:stCondLst>
                                    <p:cond delay="900"/>
                                  </p:stCondLst>
                                  <p:childTnLst>
                                    <p:set>
                                      <p:cBhvr>
                                        <p:cTn id="85" dur="1" fill="hold">
                                          <p:stCondLst>
                                            <p:cond delay="0"/>
                                          </p:stCondLst>
                                        </p:cTn>
                                        <p:tgtEl>
                                          <p:spTgt spid="48"/>
                                        </p:tgtEl>
                                        <p:attrNameLst>
                                          <p:attrName>style.visibility</p:attrName>
                                        </p:attrNameLst>
                                      </p:cBhvr>
                                      <p:to>
                                        <p:strVal val="visible"/>
                                      </p:to>
                                    </p:set>
                                    <p:animEffect transition="in" filter="fade">
                                      <p:cBhvr>
                                        <p:cTn id="86" dur="400"/>
                                        <p:tgtEl>
                                          <p:spTgt spid="48"/>
                                        </p:tgtEl>
                                      </p:cBhvr>
                                    </p:animEffect>
                                  </p:childTnLst>
                                </p:cTn>
                              </p:par>
                              <p:par>
                                <p:cTn id="87" presetID="10" presetClass="entr" presetSubtype="0" fill="hold" grpId="0" nodeType="withEffect">
                                  <p:stCondLst>
                                    <p:cond delay="900"/>
                                  </p:stCondLst>
                                  <p:childTnLst>
                                    <p:set>
                                      <p:cBhvr>
                                        <p:cTn id="88" dur="1" fill="hold">
                                          <p:stCondLst>
                                            <p:cond delay="0"/>
                                          </p:stCondLst>
                                        </p:cTn>
                                        <p:tgtEl>
                                          <p:spTgt spid="49"/>
                                        </p:tgtEl>
                                        <p:attrNameLst>
                                          <p:attrName>style.visibility</p:attrName>
                                        </p:attrNameLst>
                                      </p:cBhvr>
                                      <p:to>
                                        <p:strVal val="visible"/>
                                      </p:to>
                                    </p:set>
                                    <p:animEffect transition="in" filter="fade">
                                      <p:cBhvr>
                                        <p:cTn id="89" dur="400"/>
                                        <p:tgtEl>
                                          <p:spTgt spid="49"/>
                                        </p:tgtEl>
                                      </p:cBhvr>
                                    </p:animEffect>
                                  </p:childTnLst>
                                </p:cTn>
                              </p:par>
                              <p:par>
                                <p:cTn id="90" presetID="10" presetClass="entr" presetSubtype="0" fill="hold" grpId="0" nodeType="withEffect">
                                  <p:stCondLst>
                                    <p:cond delay="900"/>
                                  </p:stCondLst>
                                  <p:childTnLst>
                                    <p:set>
                                      <p:cBhvr>
                                        <p:cTn id="91" dur="1" fill="hold">
                                          <p:stCondLst>
                                            <p:cond delay="0"/>
                                          </p:stCondLst>
                                        </p:cTn>
                                        <p:tgtEl>
                                          <p:spTgt spid="50"/>
                                        </p:tgtEl>
                                        <p:attrNameLst>
                                          <p:attrName>style.visibility</p:attrName>
                                        </p:attrNameLst>
                                      </p:cBhvr>
                                      <p:to>
                                        <p:strVal val="visible"/>
                                      </p:to>
                                    </p:set>
                                    <p:animEffect transition="in" filter="fade">
                                      <p:cBhvr>
                                        <p:cTn id="92" dur="400"/>
                                        <p:tgtEl>
                                          <p:spTgt spid="50"/>
                                        </p:tgtEl>
                                      </p:cBhvr>
                                    </p:animEffect>
                                  </p:childTnLst>
                                </p:cTn>
                              </p:par>
                              <p:par>
                                <p:cTn id="93" presetID="10" presetClass="entr" presetSubtype="0" fill="hold" grpId="0" nodeType="withEffect">
                                  <p:stCondLst>
                                    <p:cond delay="900"/>
                                  </p:stCondLst>
                                  <p:childTnLst>
                                    <p:set>
                                      <p:cBhvr>
                                        <p:cTn id="94" dur="1" fill="hold">
                                          <p:stCondLst>
                                            <p:cond delay="0"/>
                                          </p:stCondLst>
                                        </p:cTn>
                                        <p:tgtEl>
                                          <p:spTgt spid="51"/>
                                        </p:tgtEl>
                                        <p:attrNameLst>
                                          <p:attrName>style.visibility</p:attrName>
                                        </p:attrNameLst>
                                      </p:cBhvr>
                                      <p:to>
                                        <p:strVal val="visible"/>
                                      </p:to>
                                    </p:set>
                                    <p:animEffect transition="in" filter="fade">
                                      <p:cBhvr>
                                        <p:cTn id="95" dur="400"/>
                                        <p:tgtEl>
                                          <p:spTgt spid="51"/>
                                        </p:tgtEl>
                                      </p:cBhvr>
                                    </p:animEffect>
                                  </p:childTnLst>
                                </p:cTn>
                              </p:par>
                              <p:par>
                                <p:cTn id="96" presetID="10" presetClass="entr" presetSubtype="0" fill="hold" grpId="0" nodeType="withEffect">
                                  <p:stCondLst>
                                    <p:cond delay="900"/>
                                  </p:stCondLst>
                                  <p:childTnLst>
                                    <p:set>
                                      <p:cBhvr>
                                        <p:cTn id="97" dur="1" fill="hold">
                                          <p:stCondLst>
                                            <p:cond delay="0"/>
                                          </p:stCondLst>
                                        </p:cTn>
                                        <p:tgtEl>
                                          <p:spTgt spid="52"/>
                                        </p:tgtEl>
                                        <p:attrNameLst>
                                          <p:attrName>style.visibility</p:attrName>
                                        </p:attrNameLst>
                                      </p:cBhvr>
                                      <p:to>
                                        <p:strVal val="visible"/>
                                      </p:to>
                                    </p:set>
                                    <p:animEffect transition="in" filter="fade">
                                      <p:cBhvr>
                                        <p:cTn id="98" dur="400"/>
                                        <p:tgtEl>
                                          <p:spTgt spid="52"/>
                                        </p:tgtEl>
                                      </p:cBhvr>
                                    </p:animEffect>
                                  </p:childTnLst>
                                </p:cTn>
                              </p:par>
                              <p:par>
                                <p:cTn id="99" presetID="10" presetClass="entr" presetSubtype="0" fill="hold" grpId="0" nodeType="withEffect">
                                  <p:stCondLst>
                                    <p:cond delay="90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400"/>
                                        <p:tgtEl>
                                          <p:spTgt spid="53"/>
                                        </p:tgtEl>
                                      </p:cBhvr>
                                    </p:animEffect>
                                  </p:childTnLst>
                                </p:cTn>
                              </p:par>
                              <p:par>
                                <p:cTn id="102" presetID="10" presetClass="entr" presetSubtype="0" fill="hold" grpId="0" nodeType="withEffect">
                                  <p:stCondLst>
                                    <p:cond delay="900"/>
                                  </p:stCondLst>
                                  <p:childTnLst>
                                    <p:set>
                                      <p:cBhvr>
                                        <p:cTn id="103" dur="1" fill="hold">
                                          <p:stCondLst>
                                            <p:cond delay="0"/>
                                          </p:stCondLst>
                                        </p:cTn>
                                        <p:tgtEl>
                                          <p:spTgt spid="60"/>
                                        </p:tgtEl>
                                        <p:attrNameLst>
                                          <p:attrName>style.visibility</p:attrName>
                                        </p:attrNameLst>
                                      </p:cBhvr>
                                      <p:to>
                                        <p:strVal val="visible"/>
                                      </p:to>
                                    </p:set>
                                    <p:animEffect transition="in" filter="fade">
                                      <p:cBhvr>
                                        <p:cTn id="104" dur="400"/>
                                        <p:tgtEl>
                                          <p:spTgt spid="60"/>
                                        </p:tgtEl>
                                      </p:cBhvr>
                                    </p:animEffect>
                                  </p:childTnLst>
                                </p:cTn>
                              </p:par>
                              <p:par>
                                <p:cTn id="105" presetID="10" presetClass="entr" presetSubtype="0" fill="hold" grpId="0" nodeType="withEffect">
                                  <p:stCondLst>
                                    <p:cond delay="90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400"/>
                                        <p:tgtEl>
                                          <p:spTgt spid="61"/>
                                        </p:tgtEl>
                                      </p:cBhvr>
                                    </p:animEffect>
                                  </p:childTnLst>
                                </p:cTn>
                              </p:par>
                              <p:par>
                                <p:cTn id="108" presetID="10" presetClass="entr" presetSubtype="0" fill="hold" grpId="0" nodeType="withEffect">
                                  <p:stCondLst>
                                    <p:cond delay="900"/>
                                  </p:stCondLst>
                                  <p:childTnLst>
                                    <p:set>
                                      <p:cBhvr>
                                        <p:cTn id="109" dur="1" fill="hold">
                                          <p:stCondLst>
                                            <p:cond delay="0"/>
                                          </p:stCondLst>
                                        </p:cTn>
                                        <p:tgtEl>
                                          <p:spTgt spid="72"/>
                                        </p:tgtEl>
                                        <p:attrNameLst>
                                          <p:attrName>style.visibility</p:attrName>
                                        </p:attrNameLst>
                                      </p:cBhvr>
                                      <p:to>
                                        <p:strVal val="visible"/>
                                      </p:to>
                                    </p:set>
                                    <p:animEffect transition="in" filter="fade">
                                      <p:cBhvr>
                                        <p:cTn id="110" dur="400"/>
                                        <p:tgtEl>
                                          <p:spTgt spid="72"/>
                                        </p:tgtEl>
                                      </p:cBhvr>
                                    </p:animEffect>
                                  </p:childTnLst>
                                </p:cTn>
                              </p:par>
                              <p:par>
                                <p:cTn id="111" presetID="10" presetClass="entr" presetSubtype="0" fill="hold" grpId="0" nodeType="withEffect">
                                  <p:stCondLst>
                                    <p:cond delay="900"/>
                                  </p:stCondLst>
                                  <p:childTnLst>
                                    <p:set>
                                      <p:cBhvr>
                                        <p:cTn id="112" dur="1" fill="hold">
                                          <p:stCondLst>
                                            <p:cond delay="0"/>
                                          </p:stCondLst>
                                        </p:cTn>
                                        <p:tgtEl>
                                          <p:spTgt spid="73"/>
                                        </p:tgtEl>
                                        <p:attrNameLst>
                                          <p:attrName>style.visibility</p:attrName>
                                        </p:attrNameLst>
                                      </p:cBhvr>
                                      <p:to>
                                        <p:strVal val="visible"/>
                                      </p:to>
                                    </p:set>
                                    <p:animEffect transition="in" filter="fade">
                                      <p:cBhvr>
                                        <p:cTn id="113" dur="400"/>
                                        <p:tgtEl>
                                          <p:spTgt spid="73"/>
                                        </p:tgtEl>
                                      </p:cBhvr>
                                    </p:animEffect>
                                  </p:childTnLst>
                                </p:cTn>
                              </p:par>
                              <p:par>
                                <p:cTn id="114" presetID="10" presetClass="entr" presetSubtype="0" fill="hold" grpId="0" nodeType="withEffect">
                                  <p:stCondLst>
                                    <p:cond delay="900"/>
                                  </p:stCondLst>
                                  <p:childTnLst>
                                    <p:set>
                                      <p:cBhvr>
                                        <p:cTn id="115" dur="1" fill="hold">
                                          <p:stCondLst>
                                            <p:cond delay="0"/>
                                          </p:stCondLst>
                                        </p:cTn>
                                        <p:tgtEl>
                                          <p:spTgt spid="84"/>
                                        </p:tgtEl>
                                        <p:attrNameLst>
                                          <p:attrName>style.visibility</p:attrName>
                                        </p:attrNameLst>
                                      </p:cBhvr>
                                      <p:to>
                                        <p:strVal val="visible"/>
                                      </p:to>
                                    </p:set>
                                    <p:animEffect transition="in" filter="fade">
                                      <p:cBhvr>
                                        <p:cTn id="116" dur="400"/>
                                        <p:tgtEl>
                                          <p:spTgt spid="84"/>
                                        </p:tgtEl>
                                      </p:cBhvr>
                                    </p:animEffect>
                                  </p:childTnLst>
                                </p:cTn>
                              </p:par>
                              <p:par>
                                <p:cTn id="117" presetID="10" presetClass="entr" presetSubtype="0" fill="hold" grpId="0" nodeType="withEffect">
                                  <p:stCondLst>
                                    <p:cond delay="900"/>
                                  </p:stCondLst>
                                  <p:childTnLst>
                                    <p:set>
                                      <p:cBhvr>
                                        <p:cTn id="118" dur="1" fill="hold">
                                          <p:stCondLst>
                                            <p:cond delay="0"/>
                                          </p:stCondLst>
                                        </p:cTn>
                                        <p:tgtEl>
                                          <p:spTgt spid="85"/>
                                        </p:tgtEl>
                                        <p:attrNameLst>
                                          <p:attrName>style.visibility</p:attrName>
                                        </p:attrNameLst>
                                      </p:cBhvr>
                                      <p:to>
                                        <p:strVal val="visible"/>
                                      </p:to>
                                    </p:set>
                                    <p:animEffect transition="in" filter="fade">
                                      <p:cBhvr>
                                        <p:cTn id="119" dur="400"/>
                                        <p:tgtEl>
                                          <p:spTgt spid="85"/>
                                        </p:tgtEl>
                                      </p:cBhvr>
                                    </p:animEffect>
                                  </p:childTnLst>
                                </p:cTn>
                              </p:par>
                              <p:par>
                                <p:cTn id="120" presetID="10" presetClass="entr" presetSubtype="0" fill="hold" grpId="0" nodeType="withEffect">
                                  <p:stCondLst>
                                    <p:cond delay="900"/>
                                  </p:stCondLst>
                                  <p:childTnLst>
                                    <p:set>
                                      <p:cBhvr>
                                        <p:cTn id="121" dur="1" fill="hold">
                                          <p:stCondLst>
                                            <p:cond delay="0"/>
                                          </p:stCondLst>
                                        </p:cTn>
                                        <p:tgtEl>
                                          <p:spTgt spid="96"/>
                                        </p:tgtEl>
                                        <p:attrNameLst>
                                          <p:attrName>style.visibility</p:attrName>
                                        </p:attrNameLst>
                                      </p:cBhvr>
                                      <p:to>
                                        <p:strVal val="visible"/>
                                      </p:to>
                                    </p:set>
                                    <p:animEffect transition="in" filter="fade">
                                      <p:cBhvr>
                                        <p:cTn id="122" dur="400"/>
                                        <p:tgtEl>
                                          <p:spTgt spid="96"/>
                                        </p:tgtEl>
                                      </p:cBhvr>
                                    </p:animEffect>
                                  </p:childTnLst>
                                </p:cTn>
                              </p:par>
                              <p:par>
                                <p:cTn id="123" presetID="10" presetClass="entr" presetSubtype="0" fill="hold" grpId="0" nodeType="withEffect">
                                  <p:stCondLst>
                                    <p:cond delay="900"/>
                                  </p:stCondLst>
                                  <p:childTnLst>
                                    <p:set>
                                      <p:cBhvr>
                                        <p:cTn id="124" dur="1" fill="hold">
                                          <p:stCondLst>
                                            <p:cond delay="0"/>
                                          </p:stCondLst>
                                        </p:cTn>
                                        <p:tgtEl>
                                          <p:spTgt spid="97"/>
                                        </p:tgtEl>
                                        <p:attrNameLst>
                                          <p:attrName>style.visibility</p:attrName>
                                        </p:attrNameLst>
                                      </p:cBhvr>
                                      <p:to>
                                        <p:strVal val="visible"/>
                                      </p:to>
                                    </p:set>
                                    <p:animEffect transition="in" filter="fade">
                                      <p:cBhvr>
                                        <p:cTn id="125" dur="400"/>
                                        <p:tgtEl>
                                          <p:spTgt spid="97"/>
                                        </p:tgtEl>
                                      </p:cBhvr>
                                    </p:animEffect>
                                  </p:childTnLst>
                                </p:cTn>
                              </p:par>
                              <p:par>
                                <p:cTn id="126" presetID="10" presetClass="entr" presetSubtype="0" fill="hold" grpId="0" nodeType="withEffect">
                                  <p:stCondLst>
                                    <p:cond delay="900"/>
                                  </p:stCondLst>
                                  <p:childTnLst>
                                    <p:set>
                                      <p:cBhvr>
                                        <p:cTn id="127" dur="1" fill="hold">
                                          <p:stCondLst>
                                            <p:cond delay="0"/>
                                          </p:stCondLst>
                                        </p:cTn>
                                        <p:tgtEl>
                                          <p:spTgt spid="103"/>
                                        </p:tgtEl>
                                        <p:attrNameLst>
                                          <p:attrName>style.visibility</p:attrName>
                                        </p:attrNameLst>
                                      </p:cBhvr>
                                      <p:to>
                                        <p:strVal val="visible"/>
                                      </p:to>
                                    </p:set>
                                    <p:animEffect transition="in" filter="fade">
                                      <p:cBhvr>
                                        <p:cTn id="128" dur="400"/>
                                        <p:tgtEl>
                                          <p:spTgt spid="103"/>
                                        </p:tgtEl>
                                      </p:cBhvr>
                                    </p:animEffect>
                                  </p:childTnLst>
                                </p:cTn>
                              </p:par>
                              <p:par>
                                <p:cTn id="129" presetID="10" presetClass="entr" presetSubtype="0" fill="hold" grpId="0" nodeType="withEffect">
                                  <p:stCondLst>
                                    <p:cond delay="900"/>
                                  </p:stCondLst>
                                  <p:childTnLst>
                                    <p:set>
                                      <p:cBhvr>
                                        <p:cTn id="130" dur="1" fill="hold">
                                          <p:stCondLst>
                                            <p:cond delay="0"/>
                                          </p:stCondLst>
                                        </p:cTn>
                                        <p:tgtEl>
                                          <p:spTgt spid="104"/>
                                        </p:tgtEl>
                                        <p:attrNameLst>
                                          <p:attrName>style.visibility</p:attrName>
                                        </p:attrNameLst>
                                      </p:cBhvr>
                                      <p:to>
                                        <p:strVal val="visible"/>
                                      </p:to>
                                    </p:set>
                                    <p:animEffect transition="in" filter="fade">
                                      <p:cBhvr>
                                        <p:cTn id="131" dur="400"/>
                                        <p:tgtEl>
                                          <p:spTgt spid="104"/>
                                        </p:tgtEl>
                                      </p:cBhvr>
                                    </p:animEffect>
                                  </p:childTnLst>
                                </p:cTn>
                              </p:par>
                              <p:par>
                                <p:cTn id="132" presetID="10" presetClass="entr" presetSubtype="0" fill="hold" grpId="0" nodeType="withEffect">
                                  <p:stCondLst>
                                    <p:cond delay="900"/>
                                  </p:stCondLst>
                                  <p:childTnLst>
                                    <p:set>
                                      <p:cBhvr>
                                        <p:cTn id="133" dur="1" fill="hold">
                                          <p:stCondLst>
                                            <p:cond delay="0"/>
                                          </p:stCondLst>
                                        </p:cTn>
                                        <p:tgtEl>
                                          <p:spTgt spid="113"/>
                                        </p:tgtEl>
                                        <p:attrNameLst>
                                          <p:attrName>style.visibility</p:attrName>
                                        </p:attrNameLst>
                                      </p:cBhvr>
                                      <p:to>
                                        <p:strVal val="visible"/>
                                      </p:to>
                                    </p:set>
                                    <p:animEffect transition="in" filter="fade">
                                      <p:cBhvr>
                                        <p:cTn id="134" dur="400"/>
                                        <p:tgtEl>
                                          <p:spTgt spid="113"/>
                                        </p:tgtEl>
                                      </p:cBhvr>
                                    </p:animEffect>
                                  </p:childTnLst>
                                </p:cTn>
                              </p:par>
                              <p:par>
                                <p:cTn id="135" presetID="10" presetClass="entr" presetSubtype="0" fill="hold" grpId="0" nodeType="withEffect">
                                  <p:stCondLst>
                                    <p:cond delay="900"/>
                                  </p:stCondLst>
                                  <p:childTnLst>
                                    <p:set>
                                      <p:cBhvr>
                                        <p:cTn id="136" dur="1" fill="hold">
                                          <p:stCondLst>
                                            <p:cond delay="0"/>
                                          </p:stCondLst>
                                        </p:cTn>
                                        <p:tgtEl>
                                          <p:spTgt spid="114"/>
                                        </p:tgtEl>
                                        <p:attrNameLst>
                                          <p:attrName>style.visibility</p:attrName>
                                        </p:attrNameLst>
                                      </p:cBhvr>
                                      <p:to>
                                        <p:strVal val="visible"/>
                                      </p:to>
                                    </p:set>
                                    <p:animEffect transition="in" filter="fade">
                                      <p:cBhvr>
                                        <p:cTn id="137" dur="400"/>
                                        <p:tgtEl>
                                          <p:spTgt spid="114"/>
                                        </p:tgtEl>
                                      </p:cBhvr>
                                    </p:animEffect>
                                  </p:childTnLst>
                                </p:cTn>
                              </p:par>
                            </p:childTnLst>
                          </p:cTn>
                        </p:par>
                      </p:childTnLst>
                    </p:cTn>
                  </p:par>
                  <p:par>
                    <p:cTn id="263" fill="hold">
                      <p:stCondLst>
                        <p:cond delay="indefinite"/>
                      </p:stCondLst>
                      <p:childTnLst>
                        <p:par>
                          <p:cTn id="264"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54"/>
                                        </p:tgtEl>
                                        <p:attrNameLst>
                                          <p:attrName>style.visibility</p:attrName>
                                        </p:attrNameLst>
                                      </p:cBhvr>
                                      <p:to>
                                        <p:strVal val="visible"/>
                                      </p:to>
                                    </p:set>
                                    <p:animEffect transition="in" filter="fade">
                                      <p:cBhvr>
                                        <p:cTn id="142" dur="400"/>
                                        <p:tgtEl>
                                          <p:spTgt spid="54"/>
                                        </p:tgtEl>
                                      </p:cBhvr>
                                    </p:animEffect>
                                  </p:childTnLst>
                                </p:cTn>
                              </p:par>
                              <p:par>
                                <p:cTn id="143" presetID="10" presetClass="entr" presetSubtype="0" fill="hold" grpId="0" nodeType="withEffect">
                                  <p:stCondLst>
                                    <p:cond delay="90"/>
                                  </p:stCondLst>
                                  <p:childTnLst>
                                    <p:set>
                                      <p:cBhvr>
                                        <p:cTn id="144" dur="1" fill="hold">
                                          <p:stCondLst>
                                            <p:cond delay="0"/>
                                          </p:stCondLst>
                                        </p:cTn>
                                        <p:tgtEl>
                                          <p:spTgt spid="55"/>
                                        </p:tgtEl>
                                        <p:attrNameLst>
                                          <p:attrName>style.visibility</p:attrName>
                                        </p:attrNameLst>
                                      </p:cBhvr>
                                      <p:to>
                                        <p:strVal val="visible"/>
                                      </p:to>
                                    </p:set>
                                    <p:animEffect transition="in" filter="fade">
                                      <p:cBhvr>
                                        <p:cTn id="145" dur="400"/>
                                        <p:tgtEl>
                                          <p:spTgt spid="55"/>
                                        </p:tgtEl>
                                      </p:cBhvr>
                                    </p:animEffect>
                                  </p:childTnLst>
                                </p:cTn>
                              </p:par>
                              <p:par>
                                <p:cTn id="146" presetID="10" presetClass="entr" presetSubtype="0" fill="hold" grpId="0" nodeType="withEffect">
                                  <p:stCondLst>
                                    <p:cond delay="180"/>
                                  </p:stCondLst>
                                  <p:childTnLst>
                                    <p:set>
                                      <p:cBhvr>
                                        <p:cTn id="147" dur="1" fill="hold">
                                          <p:stCondLst>
                                            <p:cond delay="0"/>
                                          </p:stCondLst>
                                        </p:cTn>
                                        <p:tgtEl>
                                          <p:spTgt spid="56"/>
                                        </p:tgtEl>
                                        <p:attrNameLst>
                                          <p:attrName>style.visibility</p:attrName>
                                        </p:attrNameLst>
                                      </p:cBhvr>
                                      <p:to>
                                        <p:strVal val="visible"/>
                                      </p:to>
                                    </p:set>
                                    <p:animEffect transition="in" filter="fade">
                                      <p:cBhvr>
                                        <p:cTn id="148" dur="400"/>
                                        <p:tgtEl>
                                          <p:spTgt spid="56"/>
                                        </p:tgtEl>
                                      </p:cBhvr>
                                    </p:animEffect>
                                  </p:childTnLst>
                                </p:cTn>
                              </p:par>
                              <p:par>
                                <p:cTn id="149" presetID="10" presetClass="entr" presetSubtype="0" fill="hold" grpId="0" nodeType="withEffect">
                                  <p:stCondLst>
                                    <p:cond delay="270"/>
                                  </p:stCondLst>
                                  <p:childTnLst>
                                    <p:set>
                                      <p:cBhvr>
                                        <p:cTn id="150" dur="1" fill="hold">
                                          <p:stCondLst>
                                            <p:cond delay="0"/>
                                          </p:stCondLst>
                                        </p:cTn>
                                        <p:tgtEl>
                                          <p:spTgt spid="57"/>
                                        </p:tgtEl>
                                        <p:attrNameLst>
                                          <p:attrName>style.visibility</p:attrName>
                                        </p:attrNameLst>
                                      </p:cBhvr>
                                      <p:to>
                                        <p:strVal val="visible"/>
                                      </p:to>
                                    </p:set>
                                    <p:animEffect transition="in" filter="fade">
                                      <p:cBhvr>
                                        <p:cTn id="151" dur="400"/>
                                        <p:tgtEl>
                                          <p:spTgt spid="57"/>
                                        </p:tgtEl>
                                      </p:cBhvr>
                                    </p:animEffect>
                                  </p:childTnLst>
                                </p:cTn>
                              </p:par>
                              <p:par>
                                <p:cTn id="152" presetID="10" presetClass="entr" presetSubtype="0" fill="hold" grpId="0" nodeType="withEffect">
                                  <p:stCondLst>
                                    <p:cond delay="360"/>
                                  </p:stCondLst>
                                  <p:childTnLst>
                                    <p:set>
                                      <p:cBhvr>
                                        <p:cTn id="153" dur="1" fill="hold">
                                          <p:stCondLst>
                                            <p:cond delay="0"/>
                                          </p:stCondLst>
                                        </p:cTn>
                                        <p:tgtEl>
                                          <p:spTgt spid="58"/>
                                        </p:tgtEl>
                                        <p:attrNameLst>
                                          <p:attrName>style.visibility</p:attrName>
                                        </p:attrNameLst>
                                      </p:cBhvr>
                                      <p:to>
                                        <p:strVal val="visible"/>
                                      </p:to>
                                    </p:set>
                                    <p:animEffect transition="in" filter="fade">
                                      <p:cBhvr>
                                        <p:cTn id="154" dur="400"/>
                                        <p:tgtEl>
                                          <p:spTgt spid="58"/>
                                        </p:tgtEl>
                                      </p:cBhvr>
                                    </p:animEffect>
                                  </p:childTnLst>
                                </p:cTn>
                              </p:par>
                              <p:par>
                                <p:cTn id="155" presetID="10" presetClass="entr" presetSubtype="0" fill="hold" grpId="0" nodeType="withEffect">
                                  <p:stCondLst>
                                    <p:cond delay="450"/>
                                  </p:stCondLst>
                                  <p:childTnLst>
                                    <p:set>
                                      <p:cBhvr>
                                        <p:cTn id="156" dur="1" fill="hold">
                                          <p:stCondLst>
                                            <p:cond delay="0"/>
                                          </p:stCondLst>
                                        </p:cTn>
                                        <p:tgtEl>
                                          <p:spTgt spid="59"/>
                                        </p:tgtEl>
                                        <p:attrNameLst>
                                          <p:attrName>style.visibility</p:attrName>
                                        </p:attrNameLst>
                                      </p:cBhvr>
                                      <p:to>
                                        <p:strVal val="visible"/>
                                      </p:to>
                                    </p:set>
                                    <p:animEffect transition="in" filter="fade">
                                      <p:cBhvr>
                                        <p:cTn id="157" dur="400"/>
                                        <p:tgtEl>
                                          <p:spTgt spid="59"/>
                                        </p:tgtEl>
                                      </p:cBhvr>
                                    </p:animEffect>
                                  </p:childTnLst>
                                </p:cTn>
                              </p:par>
                              <p:par>
                                <p:cTn id="158" presetID="10" presetClass="entr" presetSubtype="0" fill="hold" grpId="0" nodeType="withEffect">
                                  <p:stCondLst>
                                    <p:cond delay="540"/>
                                  </p:stCondLst>
                                  <p:childTnLst>
                                    <p:set>
                                      <p:cBhvr>
                                        <p:cTn id="159" dur="1" fill="hold">
                                          <p:stCondLst>
                                            <p:cond delay="0"/>
                                          </p:stCondLst>
                                        </p:cTn>
                                        <p:tgtEl>
                                          <p:spTgt spid="62"/>
                                        </p:tgtEl>
                                        <p:attrNameLst>
                                          <p:attrName>style.visibility</p:attrName>
                                        </p:attrNameLst>
                                      </p:cBhvr>
                                      <p:to>
                                        <p:strVal val="visible"/>
                                      </p:to>
                                    </p:set>
                                    <p:animEffect transition="in" filter="fade">
                                      <p:cBhvr>
                                        <p:cTn id="160" dur="400"/>
                                        <p:tgtEl>
                                          <p:spTgt spid="62"/>
                                        </p:tgtEl>
                                      </p:cBhvr>
                                    </p:animEffect>
                                  </p:childTnLst>
                                </p:cTn>
                              </p:par>
                              <p:par>
                                <p:cTn id="161" presetID="10" presetClass="entr" presetSubtype="0" fill="hold" grpId="0" nodeType="withEffect">
                                  <p:stCondLst>
                                    <p:cond delay="630"/>
                                  </p:stCondLst>
                                  <p:childTnLst>
                                    <p:set>
                                      <p:cBhvr>
                                        <p:cTn id="162" dur="1" fill="hold">
                                          <p:stCondLst>
                                            <p:cond delay="0"/>
                                          </p:stCondLst>
                                        </p:cTn>
                                        <p:tgtEl>
                                          <p:spTgt spid="63"/>
                                        </p:tgtEl>
                                        <p:attrNameLst>
                                          <p:attrName>style.visibility</p:attrName>
                                        </p:attrNameLst>
                                      </p:cBhvr>
                                      <p:to>
                                        <p:strVal val="visible"/>
                                      </p:to>
                                    </p:set>
                                    <p:animEffect transition="in" filter="fade">
                                      <p:cBhvr>
                                        <p:cTn id="163" dur="400"/>
                                        <p:tgtEl>
                                          <p:spTgt spid="63"/>
                                        </p:tgtEl>
                                      </p:cBhvr>
                                    </p:animEffect>
                                  </p:childTnLst>
                                </p:cTn>
                              </p:par>
                              <p:par>
                                <p:cTn id="164" presetID="10" presetClass="entr" presetSubtype="0" fill="hold" grpId="0" nodeType="withEffect">
                                  <p:stCondLst>
                                    <p:cond delay="720"/>
                                  </p:stCondLst>
                                  <p:childTnLst>
                                    <p:set>
                                      <p:cBhvr>
                                        <p:cTn id="165" dur="1" fill="hold">
                                          <p:stCondLst>
                                            <p:cond delay="0"/>
                                          </p:stCondLst>
                                        </p:cTn>
                                        <p:tgtEl>
                                          <p:spTgt spid="64"/>
                                        </p:tgtEl>
                                        <p:attrNameLst>
                                          <p:attrName>style.visibility</p:attrName>
                                        </p:attrNameLst>
                                      </p:cBhvr>
                                      <p:to>
                                        <p:strVal val="visible"/>
                                      </p:to>
                                    </p:set>
                                    <p:animEffect transition="in" filter="fade">
                                      <p:cBhvr>
                                        <p:cTn id="166" dur="400"/>
                                        <p:tgtEl>
                                          <p:spTgt spid="64"/>
                                        </p:tgtEl>
                                      </p:cBhvr>
                                    </p:animEffect>
                                  </p:childTnLst>
                                </p:cTn>
                              </p:par>
                              <p:par>
                                <p:cTn id="167" presetID="10" presetClass="entr" presetSubtype="0" fill="hold" grpId="0" nodeType="withEffect">
                                  <p:stCondLst>
                                    <p:cond delay="810"/>
                                  </p:stCondLst>
                                  <p:childTnLst>
                                    <p:set>
                                      <p:cBhvr>
                                        <p:cTn id="168" dur="1" fill="hold">
                                          <p:stCondLst>
                                            <p:cond delay="0"/>
                                          </p:stCondLst>
                                        </p:cTn>
                                        <p:tgtEl>
                                          <p:spTgt spid="65"/>
                                        </p:tgtEl>
                                        <p:attrNameLst>
                                          <p:attrName>style.visibility</p:attrName>
                                        </p:attrNameLst>
                                      </p:cBhvr>
                                      <p:to>
                                        <p:strVal val="visible"/>
                                      </p:to>
                                    </p:set>
                                    <p:animEffect transition="in" filter="fade">
                                      <p:cBhvr>
                                        <p:cTn id="169" dur="400"/>
                                        <p:tgtEl>
                                          <p:spTgt spid="65"/>
                                        </p:tgtEl>
                                      </p:cBhvr>
                                    </p:animEffect>
                                  </p:childTnLst>
                                </p:cTn>
                              </p:par>
                              <p:par>
                                <p:cTn id="170" presetID="10" presetClass="entr" presetSubtype="0" fill="hold" grpId="0" nodeType="withEffect">
                                  <p:stCondLst>
                                    <p:cond delay="900"/>
                                  </p:stCondLst>
                                  <p:childTnLst>
                                    <p:set>
                                      <p:cBhvr>
                                        <p:cTn id="171" dur="1" fill="hold">
                                          <p:stCondLst>
                                            <p:cond delay="0"/>
                                          </p:stCondLst>
                                        </p:cTn>
                                        <p:tgtEl>
                                          <p:spTgt spid="66"/>
                                        </p:tgtEl>
                                        <p:attrNameLst>
                                          <p:attrName>style.visibility</p:attrName>
                                        </p:attrNameLst>
                                      </p:cBhvr>
                                      <p:to>
                                        <p:strVal val="visible"/>
                                      </p:to>
                                    </p:set>
                                    <p:animEffect transition="in" filter="fade">
                                      <p:cBhvr>
                                        <p:cTn id="172" dur="400"/>
                                        <p:tgtEl>
                                          <p:spTgt spid="66"/>
                                        </p:tgtEl>
                                      </p:cBhvr>
                                    </p:animEffect>
                                  </p:childTnLst>
                                </p:cTn>
                              </p:par>
                              <p:par>
                                <p:cTn id="173" presetID="10" presetClass="entr" presetSubtype="0" fill="hold" grpId="0" nodeType="withEffect">
                                  <p:stCondLst>
                                    <p:cond delay="900"/>
                                  </p:stCondLst>
                                  <p:childTnLst>
                                    <p:set>
                                      <p:cBhvr>
                                        <p:cTn id="174" dur="1" fill="hold">
                                          <p:stCondLst>
                                            <p:cond delay="0"/>
                                          </p:stCondLst>
                                        </p:cTn>
                                        <p:tgtEl>
                                          <p:spTgt spid="67"/>
                                        </p:tgtEl>
                                        <p:attrNameLst>
                                          <p:attrName>style.visibility</p:attrName>
                                        </p:attrNameLst>
                                      </p:cBhvr>
                                      <p:to>
                                        <p:strVal val="visible"/>
                                      </p:to>
                                    </p:set>
                                    <p:animEffect transition="in" filter="fade">
                                      <p:cBhvr>
                                        <p:cTn id="175" dur="400"/>
                                        <p:tgtEl>
                                          <p:spTgt spid="67"/>
                                        </p:tgtEl>
                                      </p:cBhvr>
                                    </p:animEffect>
                                  </p:childTnLst>
                                </p:cTn>
                              </p:par>
                              <p:par>
                                <p:cTn id="176" presetID="10" presetClass="entr" presetSubtype="0" fill="hold" grpId="0" nodeType="withEffect">
                                  <p:stCondLst>
                                    <p:cond delay="900"/>
                                  </p:stCondLst>
                                  <p:childTnLst>
                                    <p:set>
                                      <p:cBhvr>
                                        <p:cTn id="177" dur="1" fill="hold">
                                          <p:stCondLst>
                                            <p:cond delay="0"/>
                                          </p:stCondLst>
                                        </p:cTn>
                                        <p:tgtEl>
                                          <p:spTgt spid="68"/>
                                        </p:tgtEl>
                                        <p:attrNameLst>
                                          <p:attrName>style.visibility</p:attrName>
                                        </p:attrNameLst>
                                      </p:cBhvr>
                                      <p:to>
                                        <p:strVal val="visible"/>
                                      </p:to>
                                    </p:set>
                                    <p:animEffect transition="in" filter="fade">
                                      <p:cBhvr>
                                        <p:cTn id="178" dur="400"/>
                                        <p:tgtEl>
                                          <p:spTgt spid="68"/>
                                        </p:tgtEl>
                                      </p:cBhvr>
                                    </p:animEffect>
                                  </p:childTnLst>
                                </p:cTn>
                              </p:par>
                              <p:par>
                                <p:cTn id="179" presetID="10" presetClass="entr" presetSubtype="0" fill="hold" grpId="0" nodeType="withEffect">
                                  <p:stCondLst>
                                    <p:cond delay="900"/>
                                  </p:stCondLst>
                                  <p:childTnLst>
                                    <p:set>
                                      <p:cBhvr>
                                        <p:cTn id="180" dur="1" fill="hold">
                                          <p:stCondLst>
                                            <p:cond delay="0"/>
                                          </p:stCondLst>
                                        </p:cTn>
                                        <p:tgtEl>
                                          <p:spTgt spid="69"/>
                                        </p:tgtEl>
                                        <p:attrNameLst>
                                          <p:attrName>style.visibility</p:attrName>
                                        </p:attrNameLst>
                                      </p:cBhvr>
                                      <p:to>
                                        <p:strVal val="visible"/>
                                      </p:to>
                                    </p:set>
                                    <p:animEffect transition="in" filter="fade">
                                      <p:cBhvr>
                                        <p:cTn id="181" dur="400"/>
                                        <p:tgtEl>
                                          <p:spTgt spid="69"/>
                                        </p:tgtEl>
                                      </p:cBhvr>
                                    </p:animEffect>
                                  </p:childTnLst>
                                </p:cTn>
                              </p:par>
                              <p:par>
                                <p:cTn id="182" presetID="10" presetClass="entr" presetSubtype="0" fill="hold" grpId="0" nodeType="withEffect">
                                  <p:stCondLst>
                                    <p:cond delay="900"/>
                                  </p:stCondLst>
                                  <p:childTnLst>
                                    <p:set>
                                      <p:cBhvr>
                                        <p:cTn id="183" dur="1" fill="hold">
                                          <p:stCondLst>
                                            <p:cond delay="0"/>
                                          </p:stCondLst>
                                        </p:cTn>
                                        <p:tgtEl>
                                          <p:spTgt spid="70"/>
                                        </p:tgtEl>
                                        <p:attrNameLst>
                                          <p:attrName>style.visibility</p:attrName>
                                        </p:attrNameLst>
                                      </p:cBhvr>
                                      <p:to>
                                        <p:strVal val="visible"/>
                                      </p:to>
                                    </p:set>
                                    <p:animEffect transition="in" filter="fade">
                                      <p:cBhvr>
                                        <p:cTn id="184" dur="400"/>
                                        <p:tgtEl>
                                          <p:spTgt spid="70"/>
                                        </p:tgtEl>
                                      </p:cBhvr>
                                    </p:animEffect>
                                  </p:childTnLst>
                                </p:cTn>
                              </p:par>
                              <p:par>
                                <p:cTn id="185" presetID="10" presetClass="entr" presetSubtype="0" fill="hold" grpId="0" nodeType="withEffect">
                                  <p:stCondLst>
                                    <p:cond delay="900"/>
                                  </p:stCondLst>
                                  <p:childTnLst>
                                    <p:set>
                                      <p:cBhvr>
                                        <p:cTn id="186" dur="1" fill="hold">
                                          <p:stCondLst>
                                            <p:cond delay="0"/>
                                          </p:stCondLst>
                                        </p:cTn>
                                        <p:tgtEl>
                                          <p:spTgt spid="71"/>
                                        </p:tgtEl>
                                        <p:attrNameLst>
                                          <p:attrName>style.visibility</p:attrName>
                                        </p:attrNameLst>
                                      </p:cBhvr>
                                      <p:to>
                                        <p:strVal val="visible"/>
                                      </p:to>
                                    </p:set>
                                    <p:animEffect transition="in" filter="fade">
                                      <p:cBhvr>
                                        <p:cTn id="187" dur="400"/>
                                        <p:tgtEl>
                                          <p:spTgt spid="71"/>
                                        </p:tgtEl>
                                      </p:cBhvr>
                                    </p:animEffect>
                                  </p:childTnLst>
                                </p:cTn>
                              </p:par>
                              <p:par>
                                <p:cTn id="188" presetID="10" presetClass="entr" presetSubtype="0" fill="hold" grpId="0" nodeType="withEffect">
                                  <p:stCondLst>
                                    <p:cond delay="900"/>
                                  </p:stCondLst>
                                  <p:childTnLst>
                                    <p:set>
                                      <p:cBhvr>
                                        <p:cTn id="189" dur="1" fill="hold">
                                          <p:stCondLst>
                                            <p:cond delay="0"/>
                                          </p:stCondLst>
                                        </p:cTn>
                                        <p:tgtEl>
                                          <p:spTgt spid="74"/>
                                        </p:tgtEl>
                                        <p:attrNameLst>
                                          <p:attrName>style.visibility</p:attrName>
                                        </p:attrNameLst>
                                      </p:cBhvr>
                                      <p:to>
                                        <p:strVal val="visible"/>
                                      </p:to>
                                    </p:set>
                                    <p:animEffect transition="in" filter="fade">
                                      <p:cBhvr>
                                        <p:cTn id="190" dur="400"/>
                                        <p:tgtEl>
                                          <p:spTgt spid="74"/>
                                        </p:tgtEl>
                                      </p:cBhvr>
                                    </p:animEffect>
                                  </p:childTnLst>
                                </p:cTn>
                              </p:par>
                              <p:par>
                                <p:cTn id="191" presetID="10" presetClass="entr" presetSubtype="0" fill="hold" grpId="0" nodeType="withEffect">
                                  <p:stCondLst>
                                    <p:cond delay="900"/>
                                  </p:stCondLst>
                                  <p:childTnLst>
                                    <p:set>
                                      <p:cBhvr>
                                        <p:cTn id="192" dur="1" fill="hold">
                                          <p:stCondLst>
                                            <p:cond delay="0"/>
                                          </p:stCondLst>
                                        </p:cTn>
                                        <p:tgtEl>
                                          <p:spTgt spid="75"/>
                                        </p:tgtEl>
                                        <p:attrNameLst>
                                          <p:attrName>style.visibility</p:attrName>
                                        </p:attrNameLst>
                                      </p:cBhvr>
                                      <p:to>
                                        <p:strVal val="visible"/>
                                      </p:to>
                                    </p:set>
                                    <p:animEffect transition="in" filter="fade">
                                      <p:cBhvr>
                                        <p:cTn id="193" dur="400"/>
                                        <p:tgtEl>
                                          <p:spTgt spid="75"/>
                                        </p:tgtEl>
                                      </p:cBhvr>
                                    </p:animEffect>
                                  </p:childTnLst>
                                </p:cTn>
                              </p:par>
                              <p:par>
                                <p:cTn id="194" presetID="10" presetClass="entr" presetSubtype="0" fill="hold" grpId="0" nodeType="withEffect">
                                  <p:stCondLst>
                                    <p:cond delay="900"/>
                                  </p:stCondLst>
                                  <p:childTnLst>
                                    <p:set>
                                      <p:cBhvr>
                                        <p:cTn id="195" dur="1" fill="hold">
                                          <p:stCondLst>
                                            <p:cond delay="0"/>
                                          </p:stCondLst>
                                        </p:cTn>
                                        <p:tgtEl>
                                          <p:spTgt spid="76"/>
                                        </p:tgtEl>
                                        <p:attrNameLst>
                                          <p:attrName>style.visibility</p:attrName>
                                        </p:attrNameLst>
                                      </p:cBhvr>
                                      <p:to>
                                        <p:strVal val="visible"/>
                                      </p:to>
                                    </p:set>
                                    <p:animEffect transition="in" filter="fade">
                                      <p:cBhvr>
                                        <p:cTn id="196" dur="400"/>
                                        <p:tgtEl>
                                          <p:spTgt spid="76"/>
                                        </p:tgtEl>
                                      </p:cBhvr>
                                    </p:animEffect>
                                  </p:childTnLst>
                                </p:cTn>
                              </p:par>
                              <p:par>
                                <p:cTn id="197" presetID="10" presetClass="entr" presetSubtype="0" fill="hold" grpId="0" nodeType="withEffect">
                                  <p:stCondLst>
                                    <p:cond delay="900"/>
                                  </p:stCondLst>
                                  <p:childTnLst>
                                    <p:set>
                                      <p:cBhvr>
                                        <p:cTn id="198" dur="1" fill="hold">
                                          <p:stCondLst>
                                            <p:cond delay="0"/>
                                          </p:stCondLst>
                                        </p:cTn>
                                        <p:tgtEl>
                                          <p:spTgt spid="77"/>
                                        </p:tgtEl>
                                        <p:attrNameLst>
                                          <p:attrName>style.visibility</p:attrName>
                                        </p:attrNameLst>
                                      </p:cBhvr>
                                      <p:to>
                                        <p:strVal val="visible"/>
                                      </p:to>
                                    </p:set>
                                    <p:animEffect transition="in" filter="fade">
                                      <p:cBhvr>
                                        <p:cTn id="199" dur="400"/>
                                        <p:tgtEl>
                                          <p:spTgt spid="77"/>
                                        </p:tgtEl>
                                      </p:cBhvr>
                                    </p:animEffect>
                                  </p:childTnLst>
                                </p:cTn>
                              </p:par>
                              <p:par>
                                <p:cTn id="200" presetID="10" presetClass="entr" presetSubtype="0" fill="hold" grpId="0" nodeType="withEffect">
                                  <p:stCondLst>
                                    <p:cond delay="900"/>
                                  </p:stCondLst>
                                  <p:childTnLst>
                                    <p:set>
                                      <p:cBhvr>
                                        <p:cTn id="201" dur="1" fill="hold">
                                          <p:stCondLst>
                                            <p:cond delay="0"/>
                                          </p:stCondLst>
                                        </p:cTn>
                                        <p:tgtEl>
                                          <p:spTgt spid="78"/>
                                        </p:tgtEl>
                                        <p:attrNameLst>
                                          <p:attrName>style.visibility</p:attrName>
                                        </p:attrNameLst>
                                      </p:cBhvr>
                                      <p:to>
                                        <p:strVal val="visible"/>
                                      </p:to>
                                    </p:set>
                                    <p:animEffect transition="in" filter="fade">
                                      <p:cBhvr>
                                        <p:cTn id="202" dur="400"/>
                                        <p:tgtEl>
                                          <p:spTgt spid="78"/>
                                        </p:tgtEl>
                                      </p:cBhvr>
                                    </p:animEffect>
                                  </p:childTnLst>
                                </p:cTn>
                              </p:par>
                              <p:par>
                                <p:cTn id="203" presetID="10" presetClass="entr" presetSubtype="0" fill="hold" grpId="0" nodeType="withEffect">
                                  <p:stCondLst>
                                    <p:cond delay="900"/>
                                  </p:stCondLst>
                                  <p:childTnLst>
                                    <p:set>
                                      <p:cBhvr>
                                        <p:cTn id="204" dur="1" fill="hold">
                                          <p:stCondLst>
                                            <p:cond delay="0"/>
                                          </p:stCondLst>
                                        </p:cTn>
                                        <p:tgtEl>
                                          <p:spTgt spid="79"/>
                                        </p:tgtEl>
                                        <p:attrNameLst>
                                          <p:attrName>style.visibility</p:attrName>
                                        </p:attrNameLst>
                                      </p:cBhvr>
                                      <p:to>
                                        <p:strVal val="visible"/>
                                      </p:to>
                                    </p:set>
                                    <p:animEffect transition="in" filter="fade">
                                      <p:cBhvr>
                                        <p:cTn id="205" dur="400"/>
                                        <p:tgtEl>
                                          <p:spTgt spid="79"/>
                                        </p:tgtEl>
                                      </p:cBhvr>
                                    </p:animEffect>
                                  </p:childTnLst>
                                </p:cTn>
                              </p:par>
                              <p:par>
                                <p:cTn id="206" presetID="10" presetClass="entr" presetSubtype="0" fill="hold" grpId="0" nodeType="withEffect">
                                  <p:stCondLst>
                                    <p:cond delay="900"/>
                                  </p:stCondLst>
                                  <p:childTnLst>
                                    <p:set>
                                      <p:cBhvr>
                                        <p:cTn id="207" dur="1" fill="hold">
                                          <p:stCondLst>
                                            <p:cond delay="0"/>
                                          </p:stCondLst>
                                        </p:cTn>
                                        <p:tgtEl>
                                          <p:spTgt spid="80"/>
                                        </p:tgtEl>
                                        <p:attrNameLst>
                                          <p:attrName>style.visibility</p:attrName>
                                        </p:attrNameLst>
                                      </p:cBhvr>
                                      <p:to>
                                        <p:strVal val="visible"/>
                                      </p:to>
                                    </p:set>
                                    <p:animEffect transition="in" filter="fade">
                                      <p:cBhvr>
                                        <p:cTn id="208" dur="400"/>
                                        <p:tgtEl>
                                          <p:spTgt spid="80"/>
                                        </p:tgtEl>
                                      </p:cBhvr>
                                    </p:animEffect>
                                  </p:childTnLst>
                                </p:cTn>
                              </p:par>
                              <p:par>
                                <p:cTn id="209" presetID="10" presetClass="entr" presetSubtype="0" fill="hold" grpId="0" nodeType="withEffect">
                                  <p:stCondLst>
                                    <p:cond delay="900"/>
                                  </p:stCondLst>
                                  <p:childTnLst>
                                    <p:set>
                                      <p:cBhvr>
                                        <p:cTn id="210" dur="1" fill="hold">
                                          <p:stCondLst>
                                            <p:cond delay="0"/>
                                          </p:stCondLst>
                                        </p:cTn>
                                        <p:tgtEl>
                                          <p:spTgt spid="81"/>
                                        </p:tgtEl>
                                        <p:attrNameLst>
                                          <p:attrName>style.visibility</p:attrName>
                                        </p:attrNameLst>
                                      </p:cBhvr>
                                      <p:to>
                                        <p:strVal val="visible"/>
                                      </p:to>
                                    </p:set>
                                    <p:animEffect transition="in" filter="fade">
                                      <p:cBhvr>
                                        <p:cTn id="211" dur="400"/>
                                        <p:tgtEl>
                                          <p:spTgt spid="81"/>
                                        </p:tgtEl>
                                      </p:cBhvr>
                                    </p:animEffect>
                                  </p:childTnLst>
                                </p:cTn>
                              </p:par>
                              <p:par>
                                <p:cTn id="212" presetID="10" presetClass="entr" presetSubtype="0" fill="hold" grpId="0" nodeType="withEffect">
                                  <p:stCondLst>
                                    <p:cond delay="900"/>
                                  </p:stCondLst>
                                  <p:childTnLst>
                                    <p:set>
                                      <p:cBhvr>
                                        <p:cTn id="213" dur="1" fill="hold">
                                          <p:stCondLst>
                                            <p:cond delay="0"/>
                                          </p:stCondLst>
                                        </p:cTn>
                                        <p:tgtEl>
                                          <p:spTgt spid="82"/>
                                        </p:tgtEl>
                                        <p:attrNameLst>
                                          <p:attrName>style.visibility</p:attrName>
                                        </p:attrNameLst>
                                      </p:cBhvr>
                                      <p:to>
                                        <p:strVal val="visible"/>
                                      </p:to>
                                    </p:set>
                                    <p:animEffect transition="in" filter="fade">
                                      <p:cBhvr>
                                        <p:cTn id="214" dur="400"/>
                                        <p:tgtEl>
                                          <p:spTgt spid="82"/>
                                        </p:tgtEl>
                                      </p:cBhvr>
                                    </p:animEffect>
                                  </p:childTnLst>
                                </p:cTn>
                              </p:par>
                              <p:par>
                                <p:cTn id="215" presetID="10" presetClass="entr" presetSubtype="0" fill="hold" grpId="0" nodeType="withEffect">
                                  <p:stCondLst>
                                    <p:cond delay="900"/>
                                  </p:stCondLst>
                                  <p:childTnLst>
                                    <p:set>
                                      <p:cBhvr>
                                        <p:cTn id="216" dur="1" fill="hold">
                                          <p:stCondLst>
                                            <p:cond delay="0"/>
                                          </p:stCondLst>
                                        </p:cTn>
                                        <p:tgtEl>
                                          <p:spTgt spid="83"/>
                                        </p:tgtEl>
                                        <p:attrNameLst>
                                          <p:attrName>style.visibility</p:attrName>
                                        </p:attrNameLst>
                                      </p:cBhvr>
                                      <p:to>
                                        <p:strVal val="visible"/>
                                      </p:to>
                                    </p:set>
                                    <p:animEffect transition="in" filter="fade">
                                      <p:cBhvr>
                                        <p:cTn id="217" dur="400"/>
                                        <p:tgtEl>
                                          <p:spTgt spid="83"/>
                                        </p:tgtEl>
                                      </p:cBhvr>
                                    </p:animEffect>
                                  </p:childTnLst>
                                </p:cTn>
                              </p:par>
                              <p:par>
                                <p:cTn id="218" presetID="10" presetClass="entr" presetSubtype="0" fill="hold" grpId="0" nodeType="withEffect">
                                  <p:stCondLst>
                                    <p:cond delay="900"/>
                                  </p:stCondLst>
                                  <p:childTnLst>
                                    <p:set>
                                      <p:cBhvr>
                                        <p:cTn id="219" dur="1" fill="hold">
                                          <p:stCondLst>
                                            <p:cond delay="0"/>
                                          </p:stCondLst>
                                        </p:cTn>
                                        <p:tgtEl>
                                          <p:spTgt spid="86"/>
                                        </p:tgtEl>
                                        <p:attrNameLst>
                                          <p:attrName>style.visibility</p:attrName>
                                        </p:attrNameLst>
                                      </p:cBhvr>
                                      <p:to>
                                        <p:strVal val="visible"/>
                                      </p:to>
                                    </p:set>
                                    <p:animEffect transition="in" filter="fade">
                                      <p:cBhvr>
                                        <p:cTn id="220" dur="400"/>
                                        <p:tgtEl>
                                          <p:spTgt spid="86"/>
                                        </p:tgtEl>
                                      </p:cBhvr>
                                    </p:animEffect>
                                  </p:childTnLst>
                                </p:cTn>
                              </p:par>
                              <p:par>
                                <p:cTn id="221" presetID="10" presetClass="entr" presetSubtype="0" fill="hold" grpId="0" nodeType="withEffect">
                                  <p:stCondLst>
                                    <p:cond delay="900"/>
                                  </p:stCondLst>
                                  <p:childTnLst>
                                    <p:set>
                                      <p:cBhvr>
                                        <p:cTn id="222" dur="1" fill="hold">
                                          <p:stCondLst>
                                            <p:cond delay="0"/>
                                          </p:stCondLst>
                                        </p:cTn>
                                        <p:tgtEl>
                                          <p:spTgt spid="87"/>
                                        </p:tgtEl>
                                        <p:attrNameLst>
                                          <p:attrName>style.visibility</p:attrName>
                                        </p:attrNameLst>
                                      </p:cBhvr>
                                      <p:to>
                                        <p:strVal val="visible"/>
                                      </p:to>
                                    </p:set>
                                    <p:animEffect transition="in" filter="fade">
                                      <p:cBhvr>
                                        <p:cTn id="223" dur="400"/>
                                        <p:tgtEl>
                                          <p:spTgt spid="87"/>
                                        </p:tgtEl>
                                      </p:cBhvr>
                                    </p:animEffect>
                                  </p:childTnLst>
                                </p:cTn>
                              </p:par>
                              <p:par>
                                <p:cTn id="224" presetID="10" presetClass="entr" presetSubtype="0" fill="hold" grpId="0" nodeType="withEffect">
                                  <p:stCondLst>
                                    <p:cond delay="900"/>
                                  </p:stCondLst>
                                  <p:childTnLst>
                                    <p:set>
                                      <p:cBhvr>
                                        <p:cTn id="225" dur="1" fill="hold">
                                          <p:stCondLst>
                                            <p:cond delay="0"/>
                                          </p:stCondLst>
                                        </p:cTn>
                                        <p:tgtEl>
                                          <p:spTgt spid="88"/>
                                        </p:tgtEl>
                                        <p:attrNameLst>
                                          <p:attrName>style.visibility</p:attrName>
                                        </p:attrNameLst>
                                      </p:cBhvr>
                                      <p:to>
                                        <p:strVal val="visible"/>
                                      </p:to>
                                    </p:set>
                                    <p:animEffect transition="in" filter="fade">
                                      <p:cBhvr>
                                        <p:cTn id="226" dur="400"/>
                                        <p:tgtEl>
                                          <p:spTgt spid="88"/>
                                        </p:tgtEl>
                                      </p:cBhvr>
                                    </p:animEffect>
                                  </p:childTnLst>
                                </p:cTn>
                              </p:par>
                              <p:par>
                                <p:cTn id="227" presetID="10" presetClass="entr" presetSubtype="0" fill="hold" grpId="0" nodeType="withEffect">
                                  <p:stCondLst>
                                    <p:cond delay="900"/>
                                  </p:stCondLst>
                                  <p:childTnLst>
                                    <p:set>
                                      <p:cBhvr>
                                        <p:cTn id="228" dur="1" fill="hold">
                                          <p:stCondLst>
                                            <p:cond delay="0"/>
                                          </p:stCondLst>
                                        </p:cTn>
                                        <p:tgtEl>
                                          <p:spTgt spid="89"/>
                                        </p:tgtEl>
                                        <p:attrNameLst>
                                          <p:attrName>style.visibility</p:attrName>
                                        </p:attrNameLst>
                                      </p:cBhvr>
                                      <p:to>
                                        <p:strVal val="visible"/>
                                      </p:to>
                                    </p:set>
                                    <p:animEffect transition="in" filter="fade">
                                      <p:cBhvr>
                                        <p:cTn id="229" dur="400"/>
                                        <p:tgtEl>
                                          <p:spTgt spid="89"/>
                                        </p:tgtEl>
                                      </p:cBhvr>
                                    </p:animEffect>
                                  </p:childTnLst>
                                </p:cTn>
                              </p:par>
                              <p:par>
                                <p:cTn id="230" presetID="10" presetClass="entr" presetSubtype="0" fill="hold" grpId="0" nodeType="withEffect">
                                  <p:stCondLst>
                                    <p:cond delay="900"/>
                                  </p:stCondLst>
                                  <p:childTnLst>
                                    <p:set>
                                      <p:cBhvr>
                                        <p:cTn id="231" dur="1" fill="hold">
                                          <p:stCondLst>
                                            <p:cond delay="0"/>
                                          </p:stCondLst>
                                        </p:cTn>
                                        <p:tgtEl>
                                          <p:spTgt spid="90"/>
                                        </p:tgtEl>
                                        <p:attrNameLst>
                                          <p:attrName>style.visibility</p:attrName>
                                        </p:attrNameLst>
                                      </p:cBhvr>
                                      <p:to>
                                        <p:strVal val="visible"/>
                                      </p:to>
                                    </p:set>
                                    <p:animEffect transition="in" filter="fade">
                                      <p:cBhvr>
                                        <p:cTn id="232" dur="400"/>
                                        <p:tgtEl>
                                          <p:spTgt spid="90"/>
                                        </p:tgtEl>
                                      </p:cBhvr>
                                    </p:animEffect>
                                  </p:childTnLst>
                                </p:cTn>
                              </p:par>
                              <p:par>
                                <p:cTn id="233" presetID="10" presetClass="entr" presetSubtype="0" fill="hold" grpId="0" nodeType="withEffect">
                                  <p:stCondLst>
                                    <p:cond delay="900"/>
                                  </p:stCondLst>
                                  <p:childTnLst>
                                    <p:set>
                                      <p:cBhvr>
                                        <p:cTn id="234" dur="1" fill="hold">
                                          <p:stCondLst>
                                            <p:cond delay="0"/>
                                          </p:stCondLst>
                                        </p:cTn>
                                        <p:tgtEl>
                                          <p:spTgt spid="91"/>
                                        </p:tgtEl>
                                        <p:attrNameLst>
                                          <p:attrName>style.visibility</p:attrName>
                                        </p:attrNameLst>
                                      </p:cBhvr>
                                      <p:to>
                                        <p:strVal val="visible"/>
                                      </p:to>
                                    </p:set>
                                    <p:animEffect transition="in" filter="fade">
                                      <p:cBhvr>
                                        <p:cTn id="235" dur="400"/>
                                        <p:tgtEl>
                                          <p:spTgt spid="91"/>
                                        </p:tgtEl>
                                      </p:cBhvr>
                                    </p:animEffect>
                                  </p:childTnLst>
                                </p:cTn>
                              </p:par>
                              <p:par>
                                <p:cTn id="236" presetID="10" presetClass="entr" presetSubtype="0" fill="hold" grpId="0" nodeType="withEffect">
                                  <p:stCondLst>
                                    <p:cond delay="900"/>
                                  </p:stCondLst>
                                  <p:childTnLst>
                                    <p:set>
                                      <p:cBhvr>
                                        <p:cTn id="237" dur="1" fill="hold">
                                          <p:stCondLst>
                                            <p:cond delay="0"/>
                                          </p:stCondLst>
                                        </p:cTn>
                                        <p:tgtEl>
                                          <p:spTgt spid="92"/>
                                        </p:tgtEl>
                                        <p:attrNameLst>
                                          <p:attrName>style.visibility</p:attrName>
                                        </p:attrNameLst>
                                      </p:cBhvr>
                                      <p:to>
                                        <p:strVal val="visible"/>
                                      </p:to>
                                    </p:set>
                                    <p:animEffect transition="in" filter="fade">
                                      <p:cBhvr>
                                        <p:cTn id="238" dur="400"/>
                                        <p:tgtEl>
                                          <p:spTgt spid="92"/>
                                        </p:tgtEl>
                                      </p:cBhvr>
                                    </p:animEffect>
                                  </p:childTnLst>
                                </p:cTn>
                              </p:par>
                              <p:par>
                                <p:cTn id="239" presetID="10" presetClass="entr" presetSubtype="0" fill="hold" grpId="0" nodeType="withEffect">
                                  <p:stCondLst>
                                    <p:cond delay="900"/>
                                  </p:stCondLst>
                                  <p:childTnLst>
                                    <p:set>
                                      <p:cBhvr>
                                        <p:cTn id="240" dur="1" fill="hold">
                                          <p:stCondLst>
                                            <p:cond delay="0"/>
                                          </p:stCondLst>
                                        </p:cTn>
                                        <p:tgtEl>
                                          <p:spTgt spid="93"/>
                                        </p:tgtEl>
                                        <p:attrNameLst>
                                          <p:attrName>style.visibility</p:attrName>
                                        </p:attrNameLst>
                                      </p:cBhvr>
                                      <p:to>
                                        <p:strVal val="visible"/>
                                      </p:to>
                                    </p:set>
                                    <p:animEffect transition="in" filter="fade">
                                      <p:cBhvr>
                                        <p:cTn id="241" dur="400"/>
                                        <p:tgtEl>
                                          <p:spTgt spid="93"/>
                                        </p:tgtEl>
                                      </p:cBhvr>
                                    </p:animEffect>
                                  </p:childTnLst>
                                </p:cTn>
                              </p:par>
                              <p:par>
                                <p:cTn id="242" presetID="10" presetClass="entr" presetSubtype="0" fill="hold" grpId="0" nodeType="withEffect">
                                  <p:stCondLst>
                                    <p:cond delay="900"/>
                                  </p:stCondLst>
                                  <p:childTnLst>
                                    <p:set>
                                      <p:cBhvr>
                                        <p:cTn id="243" dur="1" fill="hold">
                                          <p:stCondLst>
                                            <p:cond delay="0"/>
                                          </p:stCondLst>
                                        </p:cTn>
                                        <p:tgtEl>
                                          <p:spTgt spid="94"/>
                                        </p:tgtEl>
                                        <p:attrNameLst>
                                          <p:attrName>style.visibility</p:attrName>
                                        </p:attrNameLst>
                                      </p:cBhvr>
                                      <p:to>
                                        <p:strVal val="visible"/>
                                      </p:to>
                                    </p:set>
                                    <p:animEffect transition="in" filter="fade">
                                      <p:cBhvr>
                                        <p:cTn id="244" dur="400"/>
                                        <p:tgtEl>
                                          <p:spTgt spid="94"/>
                                        </p:tgtEl>
                                      </p:cBhvr>
                                    </p:animEffect>
                                  </p:childTnLst>
                                </p:cTn>
                              </p:par>
                              <p:par>
                                <p:cTn id="245" presetID="10" presetClass="entr" presetSubtype="0" fill="hold" grpId="0" nodeType="withEffect">
                                  <p:stCondLst>
                                    <p:cond delay="900"/>
                                  </p:stCondLst>
                                  <p:childTnLst>
                                    <p:set>
                                      <p:cBhvr>
                                        <p:cTn id="246" dur="1" fill="hold">
                                          <p:stCondLst>
                                            <p:cond delay="0"/>
                                          </p:stCondLst>
                                        </p:cTn>
                                        <p:tgtEl>
                                          <p:spTgt spid="95"/>
                                        </p:tgtEl>
                                        <p:attrNameLst>
                                          <p:attrName>style.visibility</p:attrName>
                                        </p:attrNameLst>
                                      </p:cBhvr>
                                      <p:to>
                                        <p:strVal val="visible"/>
                                      </p:to>
                                    </p:set>
                                    <p:animEffect transition="in" filter="fade">
                                      <p:cBhvr>
                                        <p:cTn id="247" dur="400"/>
                                        <p:tgtEl>
                                          <p:spTgt spid="95"/>
                                        </p:tgtEl>
                                      </p:cBhvr>
                                    </p:animEffect>
                                  </p:childTnLst>
                                </p:cTn>
                              </p:par>
                              <p:par>
                                <p:cTn id="248" presetID="10" presetClass="entr" presetSubtype="0" fill="hold" grpId="0" nodeType="withEffect">
                                  <p:stCondLst>
                                    <p:cond delay="900"/>
                                  </p:stCondLst>
                                  <p:childTnLst>
                                    <p:set>
                                      <p:cBhvr>
                                        <p:cTn id="249" dur="1" fill="hold">
                                          <p:stCondLst>
                                            <p:cond delay="0"/>
                                          </p:stCondLst>
                                        </p:cTn>
                                        <p:tgtEl>
                                          <p:spTgt spid="98"/>
                                        </p:tgtEl>
                                        <p:attrNameLst>
                                          <p:attrName>style.visibility</p:attrName>
                                        </p:attrNameLst>
                                      </p:cBhvr>
                                      <p:to>
                                        <p:strVal val="visible"/>
                                      </p:to>
                                    </p:set>
                                    <p:animEffect transition="in" filter="fade">
                                      <p:cBhvr>
                                        <p:cTn id="250" dur="400"/>
                                        <p:tgtEl>
                                          <p:spTgt spid="98"/>
                                        </p:tgtEl>
                                      </p:cBhvr>
                                    </p:animEffect>
                                  </p:childTnLst>
                                </p:cTn>
                              </p:par>
                              <p:par>
                                <p:cTn id="251" presetID="10" presetClass="entr" presetSubtype="0" fill="hold" grpId="0" nodeType="withEffect">
                                  <p:stCondLst>
                                    <p:cond delay="900"/>
                                  </p:stCondLst>
                                  <p:childTnLst>
                                    <p:set>
                                      <p:cBhvr>
                                        <p:cTn id="252" dur="1" fill="hold">
                                          <p:stCondLst>
                                            <p:cond delay="0"/>
                                          </p:stCondLst>
                                        </p:cTn>
                                        <p:tgtEl>
                                          <p:spTgt spid="99"/>
                                        </p:tgtEl>
                                        <p:attrNameLst>
                                          <p:attrName>style.visibility</p:attrName>
                                        </p:attrNameLst>
                                      </p:cBhvr>
                                      <p:to>
                                        <p:strVal val="visible"/>
                                      </p:to>
                                    </p:set>
                                    <p:animEffect transition="in" filter="fade">
                                      <p:cBhvr>
                                        <p:cTn id="253" dur="400"/>
                                        <p:tgtEl>
                                          <p:spTgt spid="99"/>
                                        </p:tgtEl>
                                      </p:cBhvr>
                                    </p:animEffect>
                                  </p:childTnLst>
                                </p:cTn>
                              </p:par>
                              <p:par>
                                <p:cTn id="254" presetID="10" presetClass="entr" presetSubtype="0" fill="hold" grpId="0" nodeType="withEffect">
                                  <p:stCondLst>
                                    <p:cond delay="900"/>
                                  </p:stCondLst>
                                  <p:childTnLst>
                                    <p:set>
                                      <p:cBhvr>
                                        <p:cTn id="255" dur="1" fill="hold">
                                          <p:stCondLst>
                                            <p:cond delay="0"/>
                                          </p:stCondLst>
                                        </p:cTn>
                                        <p:tgtEl>
                                          <p:spTgt spid="100"/>
                                        </p:tgtEl>
                                        <p:attrNameLst>
                                          <p:attrName>style.visibility</p:attrName>
                                        </p:attrNameLst>
                                      </p:cBhvr>
                                      <p:to>
                                        <p:strVal val="visible"/>
                                      </p:to>
                                    </p:set>
                                    <p:animEffect transition="in" filter="fade">
                                      <p:cBhvr>
                                        <p:cTn id="256" dur="400"/>
                                        <p:tgtEl>
                                          <p:spTgt spid="100"/>
                                        </p:tgtEl>
                                      </p:cBhvr>
                                    </p:animEffect>
                                  </p:childTnLst>
                                </p:cTn>
                              </p:par>
                              <p:par>
                                <p:cTn id="257" presetID="10" presetClass="entr" presetSubtype="0" fill="hold" grpId="0" nodeType="withEffect">
                                  <p:stCondLst>
                                    <p:cond delay="900"/>
                                  </p:stCondLst>
                                  <p:childTnLst>
                                    <p:set>
                                      <p:cBhvr>
                                        <p:cTn id="258" dur="1" fill="hold">
                                          <p:stCondLst>
                                            <p:cond delay="0"/>
                                          </p:stCondLst>
                                        </p:cTn>
                                        <p:tgtEl>
                                          <p:spTgt spid="101"/>
                                        </p:tgtEl>
                                        <p:attrNameLst>
                                          <p:attrName>style.visibility</p:attrName>
                                        </p:attrNameLst>
                                      </p:cBhvr>
                                      <p:to>
                                        <p:strVal val="visible"/>
                                      </p:to>
                                    </p:set>
                                    <p:animEffect transition="in" filter="fade">
                                      <p:cBhvr>
                                        <p:cTn id="259" dur="400"/>
                                        <p:tgtEl>
                                          <p:spTgt spid="101"/>
                                        </p:tgtEl>
                                      </p:cBhvr>
                                    </p:animEffect>
                                  </p:childTnLst>
                                </p:cTn>
                              </p:par>
                              <p:par>
                                <p:cTn id="260" presetID="10" presetClass="entr" presetSubtype="0" fill="hold" grpId="0" nodeType="withEffect">
                                  <p:stCondLst>
                                    <p:cond delay="900"/>
                                  </p:stCondLst>
                                  <p:childTnLst>
                                    <p:set>
                                      <p:cBhvr>
                                        <p:cTn id="261" dur="1" fill="hold">
                                          <p:stCondLst>
                                            <p:cond delay="0"/>
                                          </p:stCondLst>
                                        </p:cTn>
                                        <p:tgtEl>
                                          <p:spTgt spid="102"/>
                                        </p:tgtEl>
                                        <p:attrNameLst>
                                          <p:attrName>style.visibility</p:attrName>
                                        </p:attrNameLst>
                                      </p:cBhvr>
                                      <p:to>
                                        <p:strVal val="visible"/>
                                      </p:to>
                                    </p:set>
                                    <p:animEffect transition="in" filter="fade">
                                      <p:cBhvr>
                                        <p:cTn id="262" dur="400"/>
                                        <p:tgtEl>
                                          <p:spTgt spid="102"/>
                                        </p:tgtEl>
                                      </p:cBhvr>
                                    </p:animEffect>
                                  </p:childTnLst>
                                </p:cTn>
                              </p:par>
                            </p:childTnLst>
                          </p:cTn>
                        </p:par>
                      </p:childTnLst>
                    </p:cTn>
                  </p:par>
                  <p:par>
                    <p:cTn id="319" fill="hold">
                      <p:stCondLst>
                        <p:cond delay="indefinite"/>
                      </p:stCondLst>
                      <p:childTnLst>
                        <p:par>
                          <p:cTn id="320" fill="hold">
                            <p:stCondLst>
                              <p:cond delay="0"/>
                            </p:stCondLst>
                            <p:childTnLst>
                              <p:par>
                                <p:cTn id="265" presetID="10" presetClass="entr" presetSubtype="0" fill="hold" grpId="0" nodeType="clickEffect">
                                  <p:stCondLst>
                                    <p:cond delay="0"/>
                                  </p:stCondLst>
                                  <p:childTnLst>
                                    <p:set>
                                      <p:cBhvr>
                                        <p:cTn id="266" dur="1" fill="hold">
                                          <p:stCondLst>
                                            <p:cond delay="0"/>
                                          </p:stCondLst>
                                        </p:cTn>
                                        <p:tgtEl>
                                          <p:spTgt spid="105"/>
                                        </p:tgtEl>
                                        <p:attrNameLst>
                                          <p:attrName>style.visibility</p:attrName>
                                        </p:attrNameLst>
                                      </p:cBhvr>
                                      <p:to>
                                        <p:strVal val="visible"/>
                                      </p:to>
                                    </p:set>
                                    <p:animEffect transition="in" filter="fade">
                                      <p:cBhvr>
                                        <p:cTn id="267" dur="400"/>
                                        <p:tgtEl>
                                          <p:spTgt spid="105"/>
                                        </p:tgtEl>
                                      </p:cBhvr>
                                    </p:animEffect>
                                  </p:childTnLst>
                                </p:cTn>
                              </p:par>
                              <p:par>
                                <p:cTn id="268" presetID="10" presetClass="entr" presetSubtype="0" fill="hold" grpId="0" nodeType="withEffect">
                                  <p:stCondLst>
                                    <p:cond delay="90"/>
                                  </p:stCondLst>
                                  <p:childTnLst>
                                    <p:set>
                                      <p:cBhvr>
                                        <p:cTn id="269" dur="1" fill="hold">
                                          <p:stCondLst>
                                            <p:cond delay="0"/>
                                          </p:stCondLst>
                                        </p:cTn>
                                        <p:tgtEl>
                                          <p:spTgt spid="106"/>
                                        </p:tgtEl>
                                        <p:attrNameLst>
                                          <p:attrName>style.visibility</p:attrName>
                                        </p:attrNameLst>
                                      </p:cBhvr>
                                      <p:to>
                                        <p:strVal val="visible"/>
                                      </p:to>
                                    </p:set>
                                    <p:animEffect transition="in" filter="fade">
                                      <p:cBhvr>
                                        <p:cTn id="270" dur="400"/>
                                        <p:tgtEl>
                                          <p:spTgt spid="106"/>
                                        </p:tgtEl>
                                      </p:cBhvr>
                                    </p:animEffect>
                                  </p:childTnLst>
                                </p:cTn>
                              </p:par>
                              <p:par>
                                <p:cTn id="271" presetID="10" presetClass="entr" presetSubtype="0" fill="hold" grpId="0" nodeType="withEffect">
                                  <p:stCondLst>
                                    <p:cond delay="180"/>
                                  </p:stCondLst>
                                  <p:childTnLst>
                                    <p:set>
                                      <p:cBhvr>
                                        <p:cTn id="272" dur="1" fill="hold">
                                          <p:stCondLst>
                                            <p:cond delay="0"/>
                                          </p:stCondLst>
                                        </p:cTn>
                                        <p:tgtEl>
                                          <p:spTgt spid="107"/>
                                        </p:tgtEl>
                                        <p:attrNameLst>
                                          <p:attrName>style.visibility</p:attrName>
                                        </p:attrNameLst>
                                      </p:cBhvr>
                                      <p:to>
                                        <p:strVal val="visible"/>
                                      </p:to>
                                    </p:set>
                                    <p:animEffect transition="in" filter="fade">
                                      <p:cBhvr>
                                        <p:cTn id="273" dur="400"/>
                                        <p:tgtEl>
                                          <p:spTgt spid="107"/>
                                        </p:tgtEl>
                                      </p:cBhvr>
                                    </p:animEffect>
                                  </p:childTnLst>
                                </p:cTn>
                              </p:par>
                              <p:par>
                                <p:cTn id="274" presetID="10" presetClass="entr" presetSubtype="0" fill="hold" grpId="0" nodeType="withEffect">
                                  <p:stCondLst>
                                    <p:cond delay="270"/>
                                  </p:stCondLst>
                                  <p:childTnLst>
                                    <p:set>
                                      <p:cBhvr>
                                        <p:cTn id="275" dur="1" fill="hold">
                                          <p:stCondLst>
                                            <p:cond delay="0"/>
                                          </p:stCondLst>
                                        </p:cTn>
                                        <p:tgtEl>
                                          <p:spTgt spid="108"/>
                                        </p:tgtEl>
                                        <p:attrNameLst>
                                          <p:attrName>style.visibility</p:attrName>
                                        </p:attrNameLst>
                                      </p:cBhvr>
                                      <p:to>
                                        <p:strVal val="visible"/>
                                      </p:to>
                                    </p:set>
                                    <p:animEffect transition="in" filter="fade">
                                      <p:cBhvr>
                                        <p:cTn id="276" dur="400"/>
                                        <p:tgtEl>
                                          <p:spTgt spid="108"/>
                                        </p:tgtEl>
                                      </p:cBhvr>
                                    </p:animEffect>
                                  </p:childTnLst>
                                </p:cTn>
                              </p:par>
                              <p:par>
                                <p:cTn id="277" presetID="10" presetClass="entr" presetSubtype="0" fill="hold" grpId="0" nodeType="withEffect">
                                  <p:stCondLst>
                                    <p:cond delay="360"/>
                                  </p:stCondLst>
                                  <p:childTnLst>
                                    <p:set>
                                      <p:cBhvr>
                                        <p:cTn id="278" dur="1" fill="hold">
                                          <p:stCondLst>
                                            <p:cond delay="0"/>
                                          </p:stCondLst>
                                        </p:cTn>
                                        <p:tgtEl>
                                          <p:spTgt spid="109"/>
                                        </p:tgtEl>
                                        <p:attrNameLst>
                                          <p:attrName>style.visibility</p:attrName>
                                        </p:attrNameLst>
                                      </p:cBhvr>
                                      <p:to>
                                        <p:strVal val="visible"/>
                                      </p:to>
                                    </p:set>
                                    <p:animEffect transition="in" filter="fade">
                                      <p:cBhvr>
                                        <p:cTn id="279" dur="400"/>
                                        <p:tgtEl>
                                          <p:spTgt spid="109"/>
                                        </p:tgtEl>
                                      </p:cBhvr>
                                    </p:animEffect>
                                  </p:childTnLst>
                                </p:cTn>
                              </p:par>
                              <p:par>
                                <p:cTn id="280" presetID="10" presetClass="entr" presetSubtype="0" fill="hold" grpId="0" nodeType="withEffect">
                                  <p:stCondLst>
                                    <p:cond delay="450"/>
                                  </p:stCondLst>
                                  <p:childTnLst>
                                    <p:set>
                                      <p:cBhvr>
                                        <p:cTn id="281" dur="1" fill="hold">
                                          <p:stCondLst>
                                            <p:cond delay="0"/>
                                          </p:stCondLst>
                                        </p:cTn>
                                        <p:tgtEl>
                                          <p:spTgt spid="110"/>
                                        </p:tgtEl>
                                        <p:attrNameLst>
                                          <p:attrName>style.visibility</p:attrName>
                                        </p:attrNameLst>
                                      </p:cBhvr>
                                      <p:to>
                                        <p:strVal val="visible"/>
                                      </p:to>
                                    </p:set>
                                    <p:animEffect transition="in" filter="fade">
                                      <p:cBhvr>
                                        <p:cTn id="282" dur="400"/>
                                        <p:tgtEl>
                                          <p:spTgt spid="110"/>
                                        </p:tgtEl>
                                      </p:cBhvr>
                                    </p:animEffect>
                                  </p:childTnLst>
                                </p:cTn>
                              </p:par>
                              <p:par>
                                <p:cTn id="283" presetID="10" presetClass="entr" presetSubtype="0" fill="hold" grpId="0" nodeType="withEffect">
                                  <p:stCondLst>
                                    <p:cond delay="540"/>
                                  </p:stCondLst>
                                  <p:childTnLst>
                                    <p:set>
                                      <p:cBhvr>
                                        <p:cTn id="284" dur="1" fill="hold">
                                          <p:stCondLst>
                                            <p:cond delay="0"/>
                                          </p:stCondLst>
                                        </p:cTn>
                                        <p:tgtEl>
                                          <p:spTgt spid="111"/>
                                        </p:tgtEl>
                                        <p:attrNameLst>
                                          <p:attrName>style.visibility</p:attrName>
                                        </p:attrNameLst>
                                      </p:cBhvr>
                                      <p:to>
                                        <p:strVal val="visible"/>
                                      </p:to>
                                    </p:set>
                                    <p:animEffect transition="in" filter="fade">
                                      <p:cBhvr>
                                        <p:cTn id="285" dur="400"/>
                                        <p:tgtEl>
                                          <p:spTgt spid="111"/>
                                        </p:tgtEl>
                                      </p:cBhvr>
                                    </p:animEffect>
                                  </p:childTnLst>
                                </p:cTn>
                              </p:par>
                              <p:par>
                                <p:cTn id="286" presetID="10" presetClass="entr" presetSubtype="0" fill="hold" grpId="0" nodeType="withEffect">
                                  <p:stCondLst>
                                    <p:cond delay="630"/>
                                  </p:stCondLst>
                                  <p:childTnLst>
                                    <p:set>
                                      <p:cBhvr>
                                        <p:cTn id="287" dur="1" fill="hold">
                                          <p:stCondLst>
                                            <p:cond delay="0"/>
                                          </p:stCondLst>
                                        </p:cTn>
                                        <p:tgtEl>
                                          <p:spTgt spid="112"/>
                                        </p:tgtEl>
                                        <p:attrNameLst>
                                          <p:attrName>style.visibility</p:attrName>
                                        </p:attrNameLst>
                                      </p:cBhvr>
                                      <p:to>
                                        <p:strVal val="visible"/>
                                      </p:to>
                                    </p:set>
                                    <p:animEffect transition="in" filter="fade">
                                      <p:cBhvr>
                                        <p:cTn id="288" dur="400"/>
                                        <p:tgtEl>
                                          <p:spTgt spid="112"/>
                                        </p:tgtEl>
                                      </p:cBhvr>
                                    </p:animEffect>
                                  </p:childTnLst>
                                </p:cTn>
                              </p:par>
                              <p:par>
                                <p:cTn id="289" presetID="10" presetClass="entr" presetSubtype="0" fill="hold" grpId="0" nodeType="withEffect">
                                  <p:stCondLst>
                                    <p:cond delay="720"/>
                                  </p:stCondLst>
                                  <p:childTnLst>
                                    <p:set>
                                      <p:cBhvr>
                                        <p:cTn id="290" dur="1" fill="hold">
                                          <p:stCondLst>
                                            <p:cond delay="0"/>
                                          </p:stCondLst>
                                        </p:cTn>
                                        <p:tgtEl>
                                          <p:spTgt spid="115"/>
                                        </p:tgtEl>
                                        <p:attrNameLst>
                                          <p:attrName>style.visibility</p:attrName>
                                        </p:attrNameLst>
                                      </p:cBhvr>
                                      <p:to>
                                        <p:strVal val="visible"/>
                                      </p:to>
                                    </p:set>
                                    <p:animEffect transition="in" filter="fade">
                                      <p:cBhvr>
                                        <p:cTn id="291" dur="400"/>
                                        <p:tgtEl>
                                          <p:spTgt spid="115"/>
                                        </p:tgtEl>
                                      </p:cBhvr>
                                    </p:animEffect>
                                  </p:childTnLst>
                                </p:cTn>
                              </p:par>
                              <p:par>
                                <p:cTn id="292" presetID="10" presetClass="entr" presetSubtype="0" fill="hold" grpId="0" nodeType="withEffect">
                                  <p:stCondLst>
                                    <p:cond delay="810"/>
                                  </p:stCondLst>
                                  <p:childTnLst>
                                    <p:set>
                                      <p:cBhvr>
                                        <p:cTn id="293" dur="1" fill="hold">
                                          <p:stCondLst>
                                            <p:cond delay="0"/>
                                          </p:stCondLst>
                                        </p:cTn>
                                        <p:tgtEl>
                                          <p:spTgt spid="116"/>
                                        </p:tgtEl>
                                        <p:attrNameLst>
                                          <p:attrName>style.visibility</p:attrName>
                                        </p:attrNameLst>
                                      </p:cBhvr>
                                      <p:to>
                                        <p:strVal val="visible"/>
                                      </p:to>
                                    </p:set>
                                    <p:animEffect transition="in" filter="fade">
                                      <p:cBhvr>
                                        <p:cTn id="294" dur="400"/>
                                        <p:tgtEl>
                                          <p:spTgt spid="116"/>
                                        </p:tgtEl>
                                      </p:cBhvr>
                                    </p:animEffect>
                                  </p:childTnLst>
                                </p:cTn>
                              </p:par>
                              <p:par>
                                <p:cTn id="295" presetID="10" presetClass="entr" presetSubtype="0" fill="hold" grpId="0" nodeType="withEffect">
                                  <p:stCondLst>
                                    <p:cond delay="900"/>
                                  </p:stCondLst>
                                  <p:childTnLst>
                                    <p:set>
                                      <p:cBhvr>
                                        <p:cTn id="296" dur="1" fill="hold">
                                          <p:stCondLst>
                                            <p:cond delay="0"/>
                                          </p:stCondLst>
                                        </p:cTn>
                                        <p:tgtEl>
                                          <p:spTgt spid="117"/>
                                        </p:tgtEl>
                                        <p:attrNameLst>
                                          <p:attrName>style.visibility</p:attrName>
                                        </p:attrNameLst>
                                      </p:cBhvr>
                                      <p:to>
                                        <p:strVal val="visible"/>
                                      </p:to>
                                    </p:set>
                                    <p:animEffect transition="in" filter="fade">
                                      <p:cBhvr>
                                        <p:cTn id="297" dur="400"/>
                                        <p:tgtEl>
                                          <p:spTgt spid="117"/>
                                        </p:tgtEl>
                                      </p:cBhvr>
                                    </p:animEffect>
                                  </p:childTnLst>
                                </p:cTn>
                              </p:par>
                              <p:par>
                                <p:cTn id="298" presetID="10" presetClass="entr" presetSubtype="0" fill="hold" grpId="0" nodeType="withEffect">
                                  <p:stCondLst>
                                    <p:cond delay="900"/>
                                  </p:stCondLst>
                                  <p:childTnLst>
                                    <p:set>
                                      <p:cBhvr>
                                        <p:cTn id="299" dur="1" fill="hold">
                                          <p:stCondLst>
                                            <p:cond delay="0"/>
                                          </p:stCondLst>
                                        </p:cTn>
                                        <p:tgtEl>
                                          <p:spTgt spid="118"/>
                                        </p:tgtEl>
                                        <p:attrNameLst>
                                          <p:attrName>style.visibility</p:attrName>
                                        </p:attrNameLst>
                                      </p:cBhvr>
                                      <p:to>
                                        <p:strVal val="visible"/>
                                      </p:to>
                                    </p:set>
                                    <p:animEffect transition="in" filter="fade">
                                      <p:cBhvr>
                                        <p:cTn id="300" dur="400"/>
                                        <p:tgtEl>
                                          <p:spTgt spid="118"/>
                                        </p:tgtEl>
                                      </p:cBhvr>
                                    </p:animEffect>
                                  </p:childTnLst>
                                </p:cTn>
                              </p:par>
                              <p:par>
                                <p:cTn id="301" presetID="10" presetClass="entr" presetSubtype="0" fill="hold" grpId="0" nodeType="withEffect">
                                  <p:stCondLst>
                                    <p:cond delay="900"/>
                                  </p:stCondLst>
                                  <p:childTnLst>
                                    <p:set>
                                      <p:cBhvr>
                                        <p:cTn id="302" dur="1" fill="hold">
                                          <p:stCondLst>
                                            <p:cond delay="0"/>
                                          </p:stCondLst>
                                        </p:cTn>
                                        <p:tgtEl>
                                          <p:spTgt spid="119"/>
                                        </p:tgtEl>
                                        <p:attrNameLst>
                                          <p:attrName>style.visibility</p:attrName>
                                        </p:attrNameLst>
                                      </p:cBhvr>
                                      <p:to>
                                        <p:strVal val="visible"/>
                                      </p:to>
                                    </p:set>
                                    <p:animEffect transition="in" filter="fade">
                                      <p:cBhvr>
                                        <p:cTn id="303" dur="400"/>
                                        <p:tgtEl>
                                          <p:spTgt spid="119"/>
                                        </p:tgtEl>
                                      </p:cBhvr>
                                    </p:animEffect>
                                  </p:childTnLst>
                                </p:cTn>
                              </p:par>
                              <p:par>
                                <p:cTn id="304" presetID="10" presetClass="entr" presetSubtype="0" fill="hold" grpId="0" nodeType="withEffect">
                                  <p:stCondLst>
                                    <p:cond delay="900"/>
                                  </p:stCondLst>
                                  <p:childTnLst>
                                    <p:set>
                                      <p:cBhvr>
                                        <p:cTn id="305" dur="1" fill="hold">
                                          <p:stCondLst>
                                            <p:cond delay="0"/>
                                          </p:stCondLst>
                                        </p:cTn>
                                        <p:tgtEl>
                                          <p:spTgt spid="120"/>
                                        </p:tgtEl>
                                        <p:attrNameLst>
                                          <p:attrName>style.visibility</p:attrName>
                                        </p:attrNameLst>
                                      </p:cBhvr>
                                      <p:to>
                                        <p:strVal val="visible"/>
                                      </p:to>
                                    </p:set>
                                    <p:animEffect transition="in" filter="fade">
                                      <p:cBhvr>
                                        <p:cTn id="306" dur="400"/>
                                        <p:tgtEl>
                                          <p:spTgt spid="120"/>
                                        </p:tgtEl>
                                      </p:cBhvr>
                                    </p:animEffect>
                                  </p:childTnLst>
                                </p:cTn>
                              </p:par>
                              <p:par>
                                <p:cTn id="307" presetID="10" presetClass="entr" presetSubtype="0" fill="hold" grpId="0" nodeType="withEffect">
                                  <p:stCondLst>
                                    <p:cond delay="900"/>
                                  </p:stCondLst>
                                  <p:childTnLst>
                                    <p:set>
                                      <p:cBhvr>
                                        <p:cTn id="308" dur="1" fill="hold">
                                          <p:stCondLst>
                                            <p:cond delay="0"/>
                                          </p:stCondLst>
                                        </p:cTn>
                                        <p:tgtEl>
                                          <p:spTgt spid="121"/>
                                        </p:tgtEl>
                                        <p:attrNameLst>
                                          <p:attrName>style.visibility</p:attrName>
                                        </p:attrNameLst>
                                      </p:cBhvr>
                                      <p:to>
                                        <p:strVal val="visible"/>
                                      </p:to>
                                    </p:set>
                                    <p:animEffect transition="in" filter="fade">
                                      <p:cBhvr>
                                        <p:cTn id="309" dur="400"/>
                                        <p:tgtEl>
                                          <p:spTgt spid="121"/>
                                        </p:tgtEl>
                                      </p:cBhvr>
                                    </p:animEffect>
                                  </p:childTnLst>
                                </p:cTn>
                              </p:par>
                              <p:par>
                                <p:cTn id="310" presetID="10" presetClass="entr" presetSubtype="0" fill="hold" grpId="0" nodeType="withEffect">
                                  <p:stCondLst>
                                    <p:cond delay="900"/>
                                  </p:stCondLst>
                                  <p:childTnLst>
                                    <p:set>
                                      <p:cBhvr>
                                        <p:cTn id="311" dur="1" fill="hold">
                                          <p:stCondLst>
                                            <p:cond delay="0"/>
                                          </p:stCondLst>
                                        </p:cTn>
                                        <p:tgtEl>
                                          <p:spTgt spid="122"/>
                                        </p:tgtEl>
                                        <p:attrNameLst>
                                          <p:attrName>style.visibility</p:attrName>
                                        </p:attrNameLst>
                                      </p:cBhvr>
                                      <p:to>
                                        <p:strVal val="visible"/>
                                      </p:to>
                                    </p:set>
                                    <p:animEffect transition="in" filter="fade">
                                      <p:cBhvr>
                                        <p:cTn id="312" dur="400"/>
                                        <p:tgtEl>
                                          <p:spTgt spid="122"/>
                                        </p:tgtEl>
                                      </p:cBhvr>
                                    </p:animEffect>
                                  </p:childTnLst>
                                </p:cTn>
                              </p:par>
                              <p:par>
                                <p:cTn id="313" presetID="10" presetClass="entr" presetSubtype="0" fill="hold" grpId="0" nodeType="withEffect">
                                  <p:stCondLst>
                                    <p:cond delay="900"/>
                                  </p:stCondLst>
                                  <p:childTnLst>
                                    <p:set>
                                      <p:cBhvr>
                                        <p:cTn id="314" dur="1" fill="hold">
                                          <p:stCondLst>
                                            <p:cond delay="0"/>
                                          </p:stCondLst>
                                        </p:cTn>
                                        <p:tgtEl>
                                          <p:spTgt spid="123"/>
                                        </p:tgtEl>
                                        <p:attrNameLst>
                                          <p:attrName>style.visibility</p:attrName>
                                        </p:attrNameLst>
                                      </p:cBhvr>
                                      <p:to>
                                        <p:strVal val="visible"/>
                                      </p:to>
                                    </p:set>
                                    <p:animEffect transition="in" filter="fade">
                                      <p:cBhvr>
                                        <p:cTn id="315" dur="400"/>
                                        <p:tgtEl>
                                          <p:spTgt spid="123"/>
                                        </p:tgtEl>
                                      </p:cBhvr>
                                    </p:animEffect>
                                  </p:childTnLst>
                                </p:cTn>
                              </p:par>
                              <p:par>
                                <p:cTn id="316" presetID="10" presetClass="entr" presetSubtype="0" fill="hold" grpId="0" nodeType="withEffect">
                                  <p:stCondLst>
                                    <p:cond delay="900"/>
                                  </p:stCondLst>
                                  <p:childTnLst>
                                    <p:set>
                                      <p:cBhvr>
                                        <p:cTn id="317" dur="1" fill="hold">
                                          <p:stCondLst>
                                            <p:cond delay="0"/>
                                          </p:stCondLst>
                                        </p:cTn>
                                        <p:tgtEl>
                                          <p:spTgt spid="124"/>
                                        </p:tgtEl>
                                        <p:attrNameLst>
                                          <p:attrName>style.visibility</p:attrName>
                                        </p:attrNameLst>
                                      </p:cBhvr>
                                      <p:to>
                                        <p:strVal val="visible"/>
                                      </p:to>
                                    </p:set>
                                    <p:animEffect transition="in" filter="fade">
                                      <p:cBhvr>
                                        <p:cTn id="318" dur="400"/>
                                        <p:tgtEl>
                                          <p:spTgt spid="124"/>
                                        </p:tgtEl>
                                      </p:cBhvr>
                                    </p:animEffect>
                                  </p:childTnLst>
                                </p:cTn>
                              </p:par>
                            </p:childTnLst>
                          </p:cTn>
                        </p:par>
                      </p:childTnLst>
                    </p:cTn>
                  </p:par>
                  <p:par>
                    <p:cTn id="336" fill="hold">
                      <p:stCondLst>
                        <p:cond delay="indefinite"/>
                      </p:stCondLst>
                      <p:childTnLst>
                        <p:par>
                          <p:cTn id="337" fill="hold">
                            <p:stCondLst>
                              <p:cond delay="0"/>
                            </p:stCondLst>
                            <p:childTnLst>
                              <p:par>
                                <p:cTn id="321" presetID="10" presetClass="entr" presetSubtype="0" fill="hold" grpId="0" nodeType="clickEffect">
                                  <p:stCondLst>
                                    <p:cond delay="0"/>
                                  </p:stCondLst>
                                  <p:childTnLst>
                                    <p:set>
                                      <p:cBhvr>
                                        <p:cTn id="322" dur="1" fill="hold">
                                          <p:stCondLst>
                                            <p:cond delay="0"/>
                                          </p:stCondLst>
                                        </p:cTn>
                                        <p:tgtEl>
                                          <p:spTgt spid="125"/>
                                        </p:tgtEl>
                                        <p:attrNameLst>
                                          <p:attrName>style.visibility</p:attrName>
                                        </p:attrNameLst>
                                      </p:cBhvr>
                                      <p:to>
                                        <p:strVal val="visible"/>
                                      </p:to>
                                    </p:set>
                                    <p:animEffect transition="in" filter="fade">
                                      <p:cBhvr>
                                        <p:cTn id="323" dur="400"/>
                                        <p:tgtEl>
                                          <p:spTgt spid="125"/>
                                        </p:tgtEl>
                                      </p:cBhvr>
                                    </p:animEffect>
                                  </p:childTnLst>
                                </p:cTn>
                              </p:par>
                              <p:par>
                                <p:cTn id="324" presetID="10" presetClass="entr" presetSubtype="0" fill="hold" grpId="0" nodeType="withEffect">
                                  <p:stCondLst>
                                    <p:cond delay="90"/>
                                  </p:stCondLst>
                                  <p:childTnLst>
                                    <p:set>
                                      <p:cBhvr>
                                        <p:cTn id="325" dur="1" fill="hold">
                                          <p:stCondLst>
                                            <p:cond delay="0"/>
                                          </p:stCondLst>
                                        </p:cTn>
                                        <p:tgtEl>
                                          <p:spTgt spid="126"/>
                                        </p:tgtEl>
                                        <p:attrNameLst>
                                          <p:attrName>style.visibility</p:attrName>
                                        </p:attrNameLst>
                                      </p:cBhvr>
                                      <p:to>
                                        <p:strVal val="visible"/>
                                      </p:to>
                                    </p:set>
                                    <p:animEffect transition="in" filter="fade">
                                      <p:cBhvr>
                                        <p:cTn id="326" dur="400"/>
                                        <p:tgtEl>
                                          <p:spTgt spid="126"/>
                                        </p:tgtEl>
                                      </p:cBhvr>
                                    </p:animEffect>
                                  </p:childTnLst>
                                </p:cTn>
                              </p:par>
                              <p:par>
                                <p:cTn id="327" presetID="10" presetClass="entr" presetSubtype="0" fill="hold" grpId="0" nodeType="withEffect">
                                  <p:stCondLst>
                                    <p:cond delay="180"/>
                                  </p:stCondLst>
                                  <p:childTnLst>
                                    <p:set>
                                      <p:cBhvr>
                                        <p:cTn id="328" dur="1" fill="hold">
                                          <p:stCondLst>
                                            <p:cond delay="0"/>
                                          </p:stCondLst>
                                        </p:cTn>
                                        <p:tgtEl>
                                          <p:spTgt spid="127"/>
                                        </p:tgtEl>
                                        <p:attrNameLst>
                                          <p:attrName>style.visibility</p:attrName>
                                        </p:attrNameLst>
                                      </p:cBhvr>
                                      <p:to>
                                        <p:strVal val="visible"/>
                                      </p:to>
                                    </p:set>
                                    <p:animEffect transition="in" filter="fade">
                                      <p:cBhvr>
                                        <p:cTn id="329" dur="400"/>
                                        <p:tgtEl>
                                          <p:spTgt spid="127"/>
                                        </p:tgtEl>
                                      </p:cBhvr>
                                    </p:animEffect>
                                  </p:childTnLst>
                                </p:cTn>
                              </p:par>
                              <p:par>
                                <p:cTn id="330" presetID="10" presetClass="entr" presetSubtype="0" fill="hold" grpId="0" nodeType="withEffect">
                                  <p:stCondLst>
                                    <p:cond delay="270"/>
                                  </p:stCondLst>
                                  <p:childTnLst>
                                    <p:set>
                                      <p:cBhvr>
                                        <p:cTn id="331" dur="1" fill="hold">
                                          <p:stCondLst>
                                            <p:cond delay="0"/>
                                          </p:stCondLst>
                                        </p:cTn>
                                        <p:tgtEl>
                                          <p:spTgt spid="128"/>
                                        </p:tgtEl>
                                        <p:attrNameLst>
                                          <p:attrName>style.visibility</p:attrName>
                                        </p:attrNameLst>
                                      </p:cBhvr>
                                      <p:to>
                                        <p:strVal val="visible"/>
                                      </p:to>
                                    </p:set>
                                    <p:animEffect transition="in" filter="fade">
                                      <p:cBhvr>
                                        <p:cTn id="332" dur="400"/>
                                        <p:tgtEl>
                                          <p:spTgt spid="128"/>
                                        </p:tgtEl>
                                      </p:cBhvr>
                                    </p:animEffect>
                                  </p:childTnLst>
                                </p:cTn>
                              </p:par>
                              <p:par>
                                <p:cTn id="333" presetID="10" presetClass="entr" presetSubtype="0" fill="hold" grpId="0" nodeType="withEffect">
                                  <p:stCondLst>
                                    <p:cond delay="360"/>
                                  </p:stCondLst>
                                  <p:childTnLst>
                                    <p:set>
                                      <p:cBhvr>
                                        <p:cTn id="334" dur="1" fill="hold">
                                          <p:stCondLst>
                                            <p:cond delay="0"/>
                                          </p:stCondLst>
                                        </p:cTn>
                                        <p:tgtEl>
                                          <p:spTgt spid="129"/>
                                        </p:tgtEl>
                                        <p:attrNameLst>
                                          <p:attrName>style.visibility</p:attrName>
                                        </p:attrNameLst>
                                      </p:cBhvr>
                                      <p:to>
                                        <p:strVal val="visible"/>
                                      </p:to>
                                    </p:set>
                                    <p:animEffect transition="in" filter="fade">
                                      <p:cBhvr>
                                        <p:cTn id="335" dur="4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60" grpId="0" animBg="1"/>
      <p:bldP spid="61" grpId="0" animBg="1"/>
      <p:bldP spid="72" grpId="0" animBg="1"/>
      <p:bldP spid="73" grpId="0" animBg="1"/>
      <p:bldP spid="84" grpId="0" animBg="1"/>
      <p:bldP spid="85" grpId="0" animBg="1"/>
      <p:bldP spid="96" grpId="0" animBg="1"/>
      <p:bldP spid="97" grpId="0" animBg="1"/>
      <p:bldP spid="103" grpId="0" animBg="1"/>
      <p:bldP spid="104" grpId="0" animBg="1"/>
      <p:bldP spid="113" grpId="0" animBg="1"/>
      <p:bldP spid="114" grpId="0" animBg="1"/>
      <p:bldP spid="54" grpId="0" animBg="1"/>
      <p:bldP spid="55" grpId="0" animBg="1"/>
      <p:bldP spid="56" grpId="0" animBg="1"/>
      <p:bldP spid="57" grpId="0" animBg="1"/>
      <p:bldP spid="58" grpId="0" animBg="1"/>
      <p:bldP spid="59"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8" grpId="0" animBg="1"/>
      <p:bldP spid="99" grpId="0" animBg="1"/>
      <p:bldP spid="100" grpId="0" animBg="1"/>
      <p:bldP spid="101" grpId="0" animBg="1"/>
      <p:bldP spid="102" grpId="0" animBg="1"/>
      <p:bldP spid="105" grpId="0" animBg="1"/>
      <p:bldP spid="106" grpId="0" animBg="1"/>
      <p:bldP spid="107" grpId="0" animBg="1"/>
      <p:bldP spid="108" grpId="0" animBg="1"/>
      <p:bldP spid="109" grpId="0" animBg="1"/>
      <p:bldP spid="110" grpId="0" animBg="1"/>
      <p:bldP spid="111" grpId="0" animBg="1"/>
      <p:bldP spid="112"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21</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007DB6"/>
          </a:solidFill>
          <a:ln w="12700">
            <a:solidFill>
              <a:srgbClr val="007DB6"/>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From a mark to the diploma</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How every score travels. Nothing is split, so every credit can be traced back to the marks behind it.</a:t>
            </a:r>
            <a:endParaRPr lang="en-US" sz="1250" dirty="0"/>
          </a:p>
        </p:txBody>
      </p:sp>
      <p:sp>
        <p:nvSpPr>
          <p:cNvPr id="21" name="anim:1 grad:card"/>
          <p:cNvSpPr/>
          <p:nvPr/>
        </p:nvSpPr>
        <p:spPr>
          <a:xfrm>
            <a:off x="548640" y="1783080"/>
            <a:ext cx="2103120" cy="260604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2" name="anim:1"/>
          <p:cNvSpPr/>
          <p:nvPr/>
        </p:nvSpPr>
        <p:spPr>
          <a:xfrm>
            <a:off x="777240" y="2011680"/>
            <a:ext cx="548640" cy="548640"/>
          </a:xfrm>
          <a:prstGeom prst="ellipse">
            <a:avLst/>
          </a:prstGeom>
          <a:solidFill>
            <a:srgbClr val="E3F2FA"/>
          </a:solidFill>
          <a:ln w="9525">
            <a:solidFill>
              <a:srgbClr val="E3F2FA"/>
            </a:solidFill>
            <a:prstDash val="solid"/>
          </a:ln>
        </p:spPr>
        <p:txBody>
          <a:bodyPr/>
          <a:p/>
        </p:txBody>
      </p:sp>
      <p:pic>
        <p:nvPicPr>
          <p:cNvPr id="23" name="anim:1" descr="preencoded.png">    </p:cNvPr>
          <p:cNvPicPr>
            <a:picLocks noChangeAspect="1"/>
          </p:cNvPicPr>
          <p:nvPr/>
        </p:nvPicPr>
        <p:blipFill>
          <a:blip r:embed="rId3"/>
          <a:stretch>
            <a:fillRect/>
          </a:stretch>
        </p:blipFill>
        <p:spPr>
          <a:xfrm>
            <a:off x="908914" y="2143354"/>
            <a:ext cx="285293" cy="285293"/>
          </a:xfrm>
          <a:prstGeom prst="rect">
            <a:avLst/>
          </a:prstGeom>
        </p:spPr>
      </p:pic>
      <p:sp>
        <p:nvSpPr>
          <p:cNvPr id="24" name="anim:1"/>
          <p:cNvSpPr txBox="1"/>
          <p:nvPr/>
        </p:nvSpPr>
        <p:spPr>
          <a:xfrm>
            <a:off x="777240" y="2651760"/>
            <a:ext cx="1645920" cy="685800"/>
          </a:xfrm>
          <a:prstGeom prst="rect">
            <a:avLst/>
          </a:prstGeom>
          <a:noFill/>
          <a:ln/>
        </p:spPr>
        <p:txBody>
          <a:bodyPr wrap="square" lIns="0" tIns="0" rIns="0" bIns="0" rtlCol="0" anchor="t"/>
          <a:lstStyle/>
          <a:p>
            <a:pPr algn="l" indent="0" marL="0">
              <a:buNone/>
            </a:pPr>
            <a:r>
              <a:rPr lang="en-US" sz="3600" b="1" dirty="0">
                <a:solidFill>
                  <a:srgbClr val="007DB6"/>
                </a:solidFill>
                <a:latin typeface="Calibri" pitchFamily="34" charset="0"/>
                <a:ea typeface="Calibri" pitchFamily="34" charset="-122"/>
                <a:cs typeface="Calibri" pitchFamily="34" charset="-120"/>
              </a:rPr>
              <a:t>5</a:t>
            </a:r>
            <a:endParaRPr lang="en-US" sz="3600" dirty="0"/>
          </a:p>
        </p:txBody>
      </p:sp>
      <p:sp>
        <p:nvSpPr>
          <p:cNvPr id="25" name="anim:1"/>
          <p:cNvSpPr txBox="1"/>
          <p:nvPr/>
        </p:nvSpPr>
        <p:spPr>
          <a:xfrm>
            <a:off x="777240" y="3337560"/>
            <a:ext cx="1645920" cy="320040"/>
          </a:xfrm>
          <a:prstGeom prst="rect">
            <a:avLst/>
          </a:prstGeom>
          <a:noFill/>
          <a:ln/>
        </p:spPr>
        <p:txBody>
          <a:bodyPr wrap="square" lIns="0" tIns="0" rIns="0" bIns="0" rtlCol="0" anchor="t"/>
          <a:lstStyle/>
          <a:p>
            <a:pPr algn="l" indent="0" marL="0">
              <a:buNone/>
            </a:pPr>
            <a:r>
              <a:rPr lang="en-US" sz="1250" b="1" dirty="0">
                <a:solidFill>
                  <a:srgbClr val="0A1E33"/>
                </a:solidFill>
                <a:latin typeface="Calibri" pitchFamily="34" charset="0"/>
                <a:ea typeface="Calibri" pitchFamily="34" charset="-122"/>
                <a:cs typeface="Calibri" pitchFamily="34" charset="-120"/>
              </a:rPr>
              <a:t>graded components</a:t>
            </a:r>
            <a:endParaRPr lang="en-US" sz="1250" dirty="0"/>
          </a:p>
        </p:txBody>
      </p:sp>
      <p:sp>
        <p:nvSpPr>
          <p:cNvPr id="26" name="anim:1"/>
          <p:cNvSpPr txBox="1"/>
          <p:nvPr/>
        </p:nvSpPr>
        <p:spPr>
          <a:xfrm>
            <a:off x="777240" y="3685032"/>
            <a:ext cx="1645920" cy="68580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Exams, mini-projects, mocks, group discussions, capstone.</a:t>
            </a:r>
            <a:endParaRPr lang="en-US" sz="950" dirty="0"/>
          </a:p>
        </p:txBody>
      </p:sp>
      <p:sp>
        <p:nvSpPr>
          <p:cNvPr id="27" name="anim:1"/>
          <p:cNvSpPr/>
          <p:nvPr/>
        </p:nvSpPr>
        <p:spPr>
          <a:xfrm>
            <a:off x="2633472" y="2926080"/>
            <a:ext cx="182880" cy="329184"/>
          </a:xfrm>
          <a:prstGeom prst="chevron">
            <a:avLst/>
          </a:prstGeom>
          <a:solidFill>
            <a:srgbClr val="BFDDEE"/>
          </a:solidFill>
          <a:ln w="12700">
            <a:solidFill>
              <a:srgbClr val="BFDDEE"/>
            </a:solidFill>
            <a:prstDash val="solid"/>
          </a:ln>
        </p:spPr>
        <p:txBody>
          <a:bodyPr/>
          <a:p/>
        </p:txBody>
      </p:sp>
      <p:sp>
        <p:nvSpPr>
          <p:cNvPr id="28" name="anim:1 grad:card"/>
          <p:cNvSpPr/>
          <p:nvPr/>
        </p:nvSpPr>
        <p:spPr>
          <a:xfrm>
            <a:off x="2816352" y="1783080"/>
            <a:ext cx="2103120" cy="260604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9" name="anim:1"/>
          <p:cNvSpPr/>
          <p:nvPr/>
        </p:nvSpPr>
        <p:spPr>
          <a:xfrm>
            <a:off x="3044952" y="2011680"/>
            <a:ext cx="548640" cy="548640"/>
          </a:xfrm>
          <a:prstGeom prst="ellipse">
            <a:avLst/>
          </a:prstGeom>
          <a:solidFill>
            <a:srgbClr val="E3F2FA"/>
          </a:solidFill>
          <a:ln w="9525">
            <a:solidFill>
              <a:srgbClr val="E3F2FA"/>
            </a:solidFill>
            <a:prstDash val="solid"/>
          </a:ln>
        </p:spPr>
        <p:txBody>
          <a:bodyPr/>
          <a:p/>
        </p:txBody>
      </p:sp>
      <p:pic>
        <p:nvPicPr>
          <p:cNvPr id="30" name="anim:1" descr="preencoded.png">    </p:cNvPr>
          <p:cNvPicPr>
            <a:picLocks noChangeAspect="1"/>
          </p:cNvPicPr>
          <p:nvPr/>
        </p:nvPicPr>
        <p:blipFill>
          <a:blip r:embed="rId4"/>
          <a:stretch>
            <a:fillRect/>
          </a:stretch>
        </p:blipFill>
        <p:spPr>
          <a:xfrm>
            <a:off x="3176626" y="2143354"/>
            <a:ext cx="285293" cy="285293"/>
          </a:xfrm>
          <a:prstGeom prst="rect">
            <a:avLst/>
          </a:prstGeom>
        </p:spPr>
      </p:pic>
      <p:sp>
        <p:nvSpPr>
          <p:cNvPr id="31" name="anim:1"/>
          <p:cNvSpPr txBox="1"/>
          <p:nvPr/>
        </p:nvSpPr>
        <p:spPr>
          <a:xfrm>
            <a:off x="3044952" y="2651760"/>
            <a:ext cx="1645920" cy="685800"/>
          </a:xfrm>
          <a:prstGeom prst="rect">
            <a:avLst/>
          </a:prstGeom>
          <a:noFill/>
          <a:ln/>
        </p:spPr>
        <p:txBody>
          <a:bodyPr wrap="square" lIns="0" tIns="0" rIns="0" bIns="0" rtlCol="0" anchor="t"/>
          <a:lstStyle/>
          <a:p>
            <a:pPr algn="l" indent="0" marL="0">
              <a:buNone/>
            </a:pPr>
            <a:r>
              <a:rPr lang="en-US" sz="3600" b="1" dirty="0">
                <a:solidFill>
                  <a:srgbClr val="007DB6"/>
                </a:solidFill>
                <a:latin typeface="Calibri" pitchFamily="34" charset="0"/>
                <a:ea typeface="Calibri" pitchFamily="34" charset="-122"/>
                <a:cs typeface="Calibri" pitchFamily="34" charset="-120"/>
              </a:rPr>
              <a:t>1</a:t>
            </a:r>
            <a:endParaRPr lang="en-US" sz="3600" dirty="0"/>
          </a:p>
        </p:txBody>
      </p:sp>
      <p:sp>
        <p:nvSpPr>
          <p:cNvPr id="32" name="anim:1"/>
          <p:cNvSpPr txBox="1"/>
          <p:nvPr/>
        </p:nvSpPr>
        <p:spPr>
          <a:xfrm>
            <a:off x="3044952" y="3337560"/>
            <a:ext cx="1645920" cy="320040"/>
          </a:xfrm>
          <a:prstGeom prst="rect">
            <a:avLst/>
          </a:prstGeom>
          <a:noFill/>
          <a:ln/>
        </p:spPr>
        <p:txBody>
          <a:bodyPr wrap="square" lIns="0" tIns="0" rIns="0" bIns="0" rtlCol="0" anchor="t"/>
          <a:lstStyle/>
          <a:p>
            <a:pPr algn="l" indent="0" marL="0">
              <a:buNone/>
            </a:pPr>
            <a:r>
              <a:rPr lang="en-US" sz="1250" b="1" dirty="0">
                <a:solidFill>
                  <a:srgbClr val="0A1E33"/>
                </a:solidFill>
                <a:latin typeface="Calibri" pitchFamily="34" charset="0"/>
                <a:ea typeface="Calibri" pitchFamily="34" charset="-122"/>
                <a:cs typeface="Calibri" pitchFamily="34" charset="-120"/>
              </a:rPr>
              <a:t>module each</a:t>
            </a:r>
            <a:endParaRPr lang="en-US" sz="1250" dirty="0"/>
          </a:p>
        </p:txBody>
      </p:sp>
      <p:sp>
        <p:nvSpPr>
          <p:cNvPr id="33" name="anim:1"/>
          <p:cNvSpPr txBox="1"/>
          <p:nvPr/>
        </p:nvSpPr>
        <p:spPr>
          <a:xfrm>
            <a:off x="3044952" y="3685032"/>
            <a:ext cx="1645920" cy="68580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Each graded instrument posts in full to one of the ten modules.</a:t>
            </a:r>
            <a:endParaRPr lang="en-US" sz="950" dirty="0"/>
          </a:p>
        </p:txBody>
      </p:sp>
      <p:sp>
        <p:nvSpPr>
          <p:cNvPr id="34" name="anim:1"/>
          <p:cNvSpPr/>
          <p:nvPr/>
        </p:nvSpPr>
        <p:spPr>
          <a:xfrm>
            <a:off x="4901184" y="2926080"/>
            <a:ext cx="182880" cy="329184"/>
          </a:xfrm>
          <a:prstGeom prst="chevron">
            <a:avLst/>
          </a:prstGeom>
          <a:solidFill>
            <a:srgbClr val="BFDDEE"/>
          </a:solidFill>
          <a:ln w="12700">
            <a:solidFill>
              <a:srgbClr val="BFDDEE"/>
            </a:solidFill>
            <a:prstDash val="solid"/>
          </a:ln>
        </p:spPr>
        <p:txBody>
          <a:bodyPr/>
          <a:p/>
        </p:txBody>
      </p:sp>
      <p:sp>
        <p:nvSpPr>
          <p:cNvPr id="35" name="anim:2 grad:card"/>
          <p:cNvSpPr/>
          <p:nvPr/>
        </p:nvSpPr>
        <p:spPr>
          <a:xfrm>
            <a:off x="5084064" y="1783080"/>
            <a:ext cx="2103120" cy="260604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6" name="anim:2"/>
          <p:cNvSpPr/>
          <p:nvPr/>
        </p:nvSpPr>
        <p:spPr>
          <a:xfrm>
            <a:off x="5312664" y="2011680"/>
            <a:ext cx="548640" cy="548640"/>
          </a:xfrm>
          <a:prstGeom prst="ellipse">
            <a:avLst/>
          </a:prstGeom>
          <a:solidFill>
            <a:srgbClr val="E3F2FA"/>
          </a:solidFill>
          <a:ln w="9525">
            <a:solidFill>
              <a:srgbClr val="E3F2FA"/>
            </a:solidFill>
            <a:prstDash val="solid"/>
          </a:ln>
        </p:spPr>
        <p:txBody>
          <a:bodyPr/>
          <a:p/>
        </p:txBody>
      </p:sp>
      <p:pic>
        <p:nvPicPr>
          <p:cNvPr id="37" name="anim:2" descr="preencoded.png">    </p:cNvPr>
          <p:cNvPicPr>
            <a:picLocks noChangeAspect="1"/>
          </p:cNvPicPr>
          <p:nvPr/>
        </p:nvPicPr>
        <p:blipFill>
          <a:blip r:embed="rId5"/>
          <a:stretch>
            <a:fillRect/>
          </a:stretch>
        </p:blipFill>
        <p:spPr>
          <a:xfrm>
            <a:off x="5444338" y="2143354"/>
            <a:ext cx="285293" cy="285293"/>
          </a:xfrm>
          <a:prstGeom prst="rect">
            <a:avLst/>
          </a:prstGeom>
        </p:spPr>
      </p:pic>
      <p:sp>
        <p:nvSpPr>
          <p:cNvPr id="38" name="anim:2"/>
          <p:cNvSpPr txBox="1"/>
          <p:nvPr/>
        </p:nvSpPr>
        <p:spPr>
          <a:xfrm>
            <a:off x="5312664" y="2651760"/>
            <a:ext cx="1645920" cy="685800"/>
          </a:xfrm>
          <a:prstGeom prst="rect">
            <a:avLst/>
          </a:prstGeom>
          <a:noFill/>
          <a:ln/>
        </p:spPr>
        <p:txBody>
          <a:bodyPr wrap="square" lIns="0" tIns="0" rIns="0" bIns="0" rtlCol="0" anchor="t"/>
          <a:lstStyle/>
          <a:p>
            <a:pPr algn="l" indent="0" marL="0">
              <a:buNone/>
            </a:pPr>
            <a:r>
              <a:rPr lang="en-US" sz="3600" b="1" dirty="0">
                <a:solidFill>
                  <a:srgbClr val="007DB6"/>
                </a:solidFill>
                <a:latin typeface="Calibri" pitchFamily="34" charset="0"/>
                <a:ea typeface="Calibri" pitchFamily="34" charset="-122"/>
                <a:cs typeface="Calibri" pitchFamily="34" charset="-120"/>
              </a:rPr>
              <a:t>33</a:t>
            </a:r>
            <a:endParaRPr lang="en-US" sz="3600" dirty="0"/>
          </a:p>
        </p:txBody>
      </p:sp>
      <p:sp>
        <p:nvSpPr>
          <p:cNvPr id="39" name="anim:2"/>
          <p:cNvSpPr txBox="1"/>
          <p:nvPr/>
        </p:nvSpPr>
        <p:spPr>
          <a:xfrm>
            <a:off x="5312664" y="3337560"/>
            <a:ext cx="1645920" cy="320040"/>
          </a:xfrm>
          <a:prstGeom prst="rect">
            <a:avLst/>
          </a:prstGeom>
          <a:noFill/>
          <a:ln/>
        </p:spPr>
        <p:txBody>
          <a:bodyPr wrap="square" lIns="0" tIns="0" rIns="0" bIns="0" rtlCol="0" anchor="t"/>
          <a:lstStyle/>
          <a:p>
            <a:pPr algn="l" indent="0" marL="0">
              <a:buNone/>
            </a:pPr>
            <a:r>
              <a:rPr lang="en-US" sz="1250" b="1" dirty="0">
                <a:solidFill>
                  <a:srgbClr val="0A1E33"/>
                </a:solidFill>
                <a:latin typeface="Calibri" pitchFamily="34" charset="0"/>
                <a:ea typeface="Calibri" pitchFamily="34" charset="-122"/>
                <a:cs typeface="Calibri" pitchFamily="34" charset="-120"/>
              </a:rPr>
              <a:t>credits</a:t>
            </a:r>
            <a:endParaRPr lang="en-US" sz="1250" dirty="0"/>
          </a:p>
        </p:txBody>
      </p:sp>
      <p:sp>
        <p:nvSpPr>
          <p:cNvPr id="40" name="anim:2"/>
          <p:cNvSpPr txBox="1"/>
          <p:nvPr/>
        </p:nvSpPr>
        <p:spPr>
          <a:xfrm>
            <a:off x="5312664" y="3685032"/>
            <a:ext cx="1645920" cy="68580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Module grades weighted by their credits.</a:t>
            </a:r>
            <a:endParaRPr lang="en-US" sz="950" dirty="0"/>
          </a:p>
        </p:txBody>
      </p:sp>
      <p:sp>
        <p:nvSpPr>
          <p:cNvPr id="41" name="anim:2"/>
          <p:cNvSpPr/>
          <p:nvPr/>
        </p:nvSpPr>
        <p:spPr>
          <a:xfrm>
            <a:off x="7168896" y="2926080"/>
            <a:ext cx="182880" cy="329184"/>
          </a:xfrm>
          <a:prstGeom prst="chevron">
            <a:avLst/>
          </a:prstGeom>
          <a:solidFill>
            <a:srgbClr val="BFDDEE"/>
          </a:solidFill>
          <a:ln w="12700">
            <a:solidFill>
              <a:srgbClr val="BFDDEE"/>
            </a:solidFill>
            <a:prstDash val="solid"/>
          </a:ln>
        </p:spPr>
        <p:txBody>
          <a:bodyPr/>
          <a:p/>
        </p:txBody>
      </p:sp>
      <p:sp>
        <p:nvSpPr>
          <p:cNvPr id="42" name="anim:2 grad:card"/>
          <p:cNvSpPr/>
          <p:nvPr/>
        </p:nvSpPr>
        <p:spPr>
          <a:xfrm>
            <a:off x="7351776" y="1783080"/>
            <a:ext cx="2103120" cy="260604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3" name="anim:2"/>
          <p:cNvSpPr/>
          <p:nvPr/>
        </p:nvSpPr>
        <p:spPr>
          <a:xfrm>
            <a:off x="7580376" y="2011680"/>
            <a:ext cx="548640" cy="548640"/>
          </a:xfrm>
          <a:prstGeom prst="ellipse">
            <a:avLst/>
          </a:prstGeom>
          <a:solidFill>
            <a:srgbClr val="E3F2FA"/>
          </a:solidFill>
          <a:ln w="9525">
            <a:solidFill>
              <a:srgbClr val="E3F2FA"/>
            </a:solidFill>
            <a:prstDash val="solid"/>
          </a:ln>
        </p:spPr>
        <p:txBody>
          <a:bodyPr/>
          <a:p/>
        </p:txBody>
      </p:sp>
      <p:pic>
        <p:nvPicPr>
          <p:cNvPr id="44" name="anim:2" descr="preencoded.png">    </p:cNvPr>
          <p:cNvPicPr>
            <a:picLocks noChangeAspect="1"/>
          </p:cNvPicPr>
          <p:nvPr/>
        </p:nvPicPr>
        <p:blipFill>
          <a:blip r:embed="rId6"/>
          <a:stretch>
            <a:fillRect/>
          </a:stretch>
        </p:blipFill>
        <p:spPr>
          <a:xfrm>
            <a:off x="7712050" y="2143354"/>
            <a:ext cx="285293" cy="285293"/>
          </a:xfrm>
          <a:prstGeom prst="rect">
            <a:avLst/>
          </a:prstGeom>
        </p:spPr>
      </p:pic>
      <p:sp>
        <p:nvSpPr>
          <p:cNvPr id="45" name="anim:2"/>
          <p:cNvSpPr txBox="1"/>
          <p:nvPr/>
        </p:nvSpPr>
        <p:spPr>
          <a:xfrm>
            <a:off x="7580376" y="2651760"/>
            <a:ext cx="1645920" cy="685800"/>
          </a:xfrm>
          <a:prstGeom prst="rect">
            <a:avLst/>
          </a:prstGeom>
          <a:noFill/>
          <a:ln/>
        </p:spPr>
        <p:txBody>
          <a:bodyPr wrap="square" lIns="0" tIns="0" rIns="0" bIns="0" rtlCol="0" anchor="t"/>
          <a:lstStyle/>
          <a:p>
            <a:pPr algn="l" indent="0" marL="0">
              <a:buNone/>
            </a:pPr>
            <a:r>
              <a:rPr lang="en-US" sz="3600" b="1" dirty="0">
                <a:solidFill>
                  <a:srgbClr val="007DB6"/>
                </a:solidFill>
                <a:latin typeface="Calibri" pitchFamily="34" charset="0"/>
                <a:ea typeface="Calibri" pitchFamily="34" charset="-122"/>
                <a:cs typeface="Calibri" pitchFamily="34" charset="-120"/>
              </a:rPr>
              <a:t>10</a:t>
            </a:r>
            <a:endParaRPr lang="en-US" sz="3600" dirty="0"/>
          </a:p>
        </p:txBody>
      </p:sp>
      <p:sp>
        <p:nvSpPr>
          <p:cNvPr id="46" name="anim:2"/>
          <p:cNvSpPr txBox="1"/>
          <p:nvPr/>
        </p:nvSpPr>
        <p:spPr>
          <a:xfrm>
            <a:off x="7580376" y="3337560"/>
            <a:ext cx="1645920" cy="320040"/>
          </a:xfrm>
          <a:prstGeom prst="rect">
            <a:avLst/>
          </a:prstGeom>
          <a:noFill/>
          <a:ln/>
        </p:spPr>
        <p:txBody>
          <a:bodyPr wrap="square" lIns="0" tIns="0" rIns="0" bIns="0" rtlCol="0" anchor="t"/>
          <a:lstStyle/>
          <a:p>
            <a:pPr algn="l" indent="0" marL="0">
              <a:buNone/>
            </a:pPr>
            <a:r>
              <a:rPr lang="en-US" sz="1250" b="1" dirty="0">
                <a:solidFill>
                  <a:srgbClr val="0A1E33"/>
                </a:solidFill>
                <a:latin typeface="Calibri" pitchFamily="34" charset="0"/>
                <a:ea typeface="Calibri" pitchFamily="34" charset="-122"/>
                <a:cs typeface="Calibri" pitchFamily="34" charset="-120"/>
              </a:rPr>
              <a:t>point scale</a:t>
            </a:r>
            <a:endParaRPr lang="en-US" sz="1250" dirty="0"/>
          </a:p>
        </p:txBody>
      </p:sp>
      <p:sp>
        <p:nvSpPr>
          <p:cNvPr id="47" name="anim:2"/>
          <p:cNvSpPr txBox="1"/>
          <p:nvPr/>
        </p:nvSpPr>
        <p:spPr>
          <a:xfrm>
            <a:off x="7580376" y="3685032"/>
            <a:ext cx="1645920" cy="68580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IIT Gandhinagar reports a credit-weighted grade-point index on a ten-point scale: SPI per term, CPI cumulative.</a:t>
            </a:r>
            <a:endParaRPr lang="en-US" sz="950" dirty="0"/>
          </a:p>
        </p:txBody>
      </p:sp>
      <p:sp>
        <p:nvSpPr>
          <p:cNvPr id="48" name="anim:2"/>
          <p:cNvSpPr/>
          <p:nvPr/>
        </p:nvSpPr>
        <p:spPr>
          <a:xfrm>
            <a:off x="9436608" y="2926080"/>
            <a:ext cx="182880" cy="329184"/>
          </a:xfrm>
          <a:prstGeom prst="chevron">
            <a:avLst/>
          </a:prstGeom>
          <a:solidFill>
            <a:srgbClr val="BFDDEE"/>
          </a:solidFill>
          <a:ln w="12700">
            <a:solidFill>
              <a:srgbClr val="BFDDEE"/>
            </a:solidFill>
            <a:prstDash val="solid"/>
          </a:ln>
        </p:spPr>
        <p:txBody>
          <a:bodyPr/>
          <a:p/>
        </p:txBody>
      </p:sp>
      <p:sp>
        <p:nvSpPr>
          <p:cNvPr id="49" name="anim:3 grad:navy"/>
          <p:cNvSpPr/>
          <p:nvPr/>
        </p:nvSpPr>
        <p:spPr>
          <a:xfrm>
            <a:off x="9619488" y="1783080"/>
            <a:ext cx="2103120" cy="2606040"/>
          </a:xfrm>
          <a:prstGeom prst="roundRect">
            <a:avLst>
              <a:gd name="adj" fmla="val 4348"/>
            </a:avLst>
          </a:prstGeom>
          <a:gradFill rotWithShape="1">
            <a:gsLst>
              <a:gs pos="0">
                <a:srgbClr val="1B4170"/>
              </a:gs>
              <a:gs pos="100000">
                <a:srgbClr val="0A1E33"/>
              </a:gs>
            </a:gsLst>
            <a:lin ang="5400000" scaled="0"/>
          </a:gradFill>
          <a:ln w="9525">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50" name="anim:3 grad:sheen"/>
          <p:cNvSpPr/>
          <p:nvPr/>
        </p:nvSpPr>
        <p:spPr>
          <a:xfrm>
            <a:off x="9619488" y="1783080"/>
            <a:ext cx="2103120" cy="2606040"/>
          </a:xfrm>
          <a:prstGeom prst="roundRect">
            <a:avLst>
              <a:gd name="adj" fmla="val 4348"/>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51" name="anim:3 grad:gold"/>
          <p:cNvSpPr/>
          <p:nvPr/>
        </p:nvSpPr>
        <p:spPr>
          <a:xfrm>
            <a:off x="9848088" y="2011680"/>
            <a:ext cx="548640" cy="548640"/>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52" name="anim:3" descr="preencoded.png">    </p:cNvPr>
          <p:cNvPicPr>
            <a:picLocks noChangeAspect="1"/>
          </p:cNvPicPr>
          <p:nvPr/>
        </p:nvPicPr>
        <p:blipFill>
          <a:blip r:embed="rId7"/>
          <a:stretch>
            <a:fillRect/>
          </a:stretch>
        </p:blipFill>
        <p:spPr>
          <a:xfrm>
            <a:off x="9979762" y="2143354"/>
            <a:ext cx="285293" cy="285293"/>
          </a:xfrm>
          <a:prstGeom prst="rect">
            <a:avLst/>
          </a:prstGeom>
        </p:spPr>
      </p:pic>
      <p:sp>
        <p:nvSpPr>
          <p:cNvPr id="53" name="anim:3"/>
          <p:cNvSpPr txBox="1"/>
          <p:nvPr/>
        </p:nvSpPr>
        <p:spPr>
          <a:xfrm>
            <a:off x="9848088" y="2651760"/>
            <a:ext cx="1645920" cy="685800"/>
          </a:xfrm>
          <a:prstGeom prst="rect">
            <a:avLst/>
          </a:prstGeom>
          <a:noFill/>
          <a:ln/>
        </p:spPr>
        <p:txBody>
          <a:bodyPr wrap="square" lIns="0" tIns="0" rIns="0" bIns="0" rtlCol="0" anchor="t"/>
          <a:lstStyle/>
          <a:p>
            <a:pPr algn="l" indent="0" marL="0">
              <a:buNone/>
            </a:pPr>
            <a:r>
              <a:rPr lang="en-US" sz="3600" b="1" dirty="0">
                <a:solidFill>
                  <a:srgbClr val="E9B221"/>
                </a:solidFill>
                <a:latin typeface="Calibri" pitchFamily="34" charset="0"/>
                <a:ea typeface="Calibri" pitchFamily="34" charset="-122"/>
                <a:cs typeface="Calibri" pitchFamily="34" charset="-120"/>
              </a:rPr>
              <a:t>1</a:t>
            </a:r>
            <a:endParaRPr lang="en-US" sz="3600" dirty="0"/>
          </a:p>
        </p:txBody>
      </p:sp>
      <p:sp>
        <p:nvSpPr>
          <p:cNvPr id="54" name="anim:3"/>
          <p:cNvSpPr txBox="1"/>
          <p:nvPr/>
        </p:nvSpPr>
        <p:spPr>
          <a:xfrm>
            <a:off x="9848088" y="3337560"/>
            <a:ext cx="1645920" cy="320040"/>
          </a:xfrm>
          <a:prstGeom prst="rect">
            <a:avLst/>
          </a:prstGeom>
          <a:noFill/>
          <a:ln/>
        </p:spPr>
        <p:txBody>
          <a:bodyPr wrap="square" lIns="0" tIns="0" rIns="0" bIns="0" rtlCol="0" anchor="t"/>
          <a:lstStyle/>
          <a:p>
            <a:pPr algn="l" indent="0" marL="0">
              <a:buNone/>
            </a:pPr>
            <a:r>
              <a:rPr lang="en-US" sz="1250" b="1" dirty="0">
                <a:solidFill>
                  <a:srgbClr val="FFFFFF"/>
                </a:solidFill>
                <a:latin typeface="Calibri" pitchFamily="34" charset="0"/>
                <a:ea typeface="Calibri" pitchFamily="34" charset="-122"/>
                <a:cs typeface="Calibri" pitchFamily="34" charset="-120"/>
              </a:rPr>
              <a:t>PG Diploma</a:t>
            </a:r>
            <a:endParaRPr lang="en-US" sz="1250" dirty="0"/>
          </a:p>
        </p:txBody>
      </p:sp>
      <p:sp>
        <p:nvSpPr>
          <p:cNvPr id="55" name="anim:3"/>
          <p:cNvSpPr txBox="1"/>
          <p:nvPr/>
        </p:nvSpPr>
        <p:spPr>
          <a:xfrm>
            <a:off x="9848088" y="3685032"/>
            <a:ext cx="1645920" cy="685800"/>
          </a:xfrm>
          <a:prstGeom prst="rect">
            <a:avLst/>
          </a:prstGeom>
          <a:noFill/>
          <a:ln/>
        </p:spPr>
        <p:txBody>
          <a:bodyPr wrap="square" lIns="0" tIns="0" rIns="0" bIns="0" rtlCol="0" anchor="t"/>
          <a:lstStyle/>
          <a:p>
            <a:pPr algn="l" indent="0" marL="0">
              <a:buNone/>
            </a:pPr>
            <a:r>
              <a:rPr lang="en-US" sz="950" dirty="0">
                <a:solidFill>
                  <a:srgbClr val="C9D6E4"/>
                </a:solidFill>
                <a:latin typeface="Calibri" pitchFamily="34" charset="0"/>
                <a:ea typeface="Calibri" pitchFamily="34" charset="-122"/>
                <a:cs typeface="Calibri" pitchFamily="34" charset="-120"/>
              </a:rPr>
              <a:t>Awarded by IIT Gandhinagar on meeting the programme requirements.</a:t>
            </a:r>
            <a:endParaRPr lang="en-US" sz="950" dirty="0"/>
          </a:p>
        </p:txBody>
      </p:sp>
      <p:sp>
        <p:nvSpPr>
          <p:cNvPr id="56" name="anim:4 grad:goldTint"/>
          <p:cNvSpPr/>
          <p:nvPr/>
        </p:nvSpPr>
        <p:spPr>
          <a:xfrm>
            <a:off x="548640" y="4663440"/>
            <a:ext cx="11091672" cy="1600200"/>
          </a:xfrm>
          <a:prstGeom prst="roundRect">
            <a:avLst>
              <a:gd name="adj" fmla="val 5714"/>
            </a:avLst>
          </a:prstGeom>
          <a:gradFill rotWithShape="1">
            <a:gsLst>
              <a:gs pos="0">
                <a:srgbClr val="FCF5E2"/>
              </a:gs>
              <a:gs pos="100000">
                <a:srgbClr val="F4E5B8"/>
              </a:gs>
            </a:gsLst>
            <a:lin ang="5400000" scaled="0"/>
          </a:gradFill>
          <a:ln w="12700">
            <a:solidFill>
              <a:srgbClr val="FBF1D6"/>
            </a:solidFill>
            <a:prstDash val="solid"/>
          </a:ln>
          <a:effectLst>
            <a:outerShdw sx="100000" sy="100000" kx="0" ky="0" algn="bl" rotWithShape="0" blurRad="76200" dist="19050" dir="5400000">
              <a:srgbClr val="0A1E33">
                <a:alpha val="10000"/>
              </a:srgbClr>
            </a:outerShdw>
          </a:effectLst>
        </p:spPr>
        <p:txBody>
          <a:bodyPr/>
          <a:p/>
        </p:txBody>
      </p:sp>
      <p:sp>
        <p:nvSpPr>
          <p:cNvPr id="57" name="anim:4 grad:gold"/>
          <p:cNvSpPr/>
          <p:nvPr/>
        </p:nvSpPr>
        <p:spPr>
          <a:xfrm>
            <a:off x="822960" y="4937760"/>
            <a:ext cx="640080" cy="640080"/>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58" name="anim:4" descr="preencoded.png">    </p:cNvPr>
          <p:cNvPicPr>
            <a:picLocks noChangeAspect="1"/>
          </p:cNvPicPr>
          <p:nvPr/>
        </p:nvPicPr>
        <p:blipFill>
          <a:blip r:embed="rId8"/>
          <a:stretch>
            <a:fillRect/>
          </a:stretch>
        </p:blipFill>
        <p:spPr>
          <a:xfrm>
            <a:off x="976579" y="5091379"/>
            <a:ext cx="332842" cy="332842"/>
          </a:xfrm>
          <a:prstGeom prst="rect">
            <a:avLst/>
          </a:prstGeom>
        </p:spPr>
      </p:pic>
      <p:sp>
        <p:nvSpPr>
          <p:cNvPr id="59" name="anim:4"/>
          <p:cNvSpPr txBox="1"/>
          <p:nvPr/>
        </p:nvSpPr>
        <p:spPr>
          <a:xfrm>
            <a:off x="1691640" y="4892040"/>
            <a:ext cx="9601200" cy="201168"/>
          </a:xfrm>
          <a:prstGeom prst="rect">
            <a:avLst/>
          </a:prstGeom>
          <a:noFill/>
          <a:ln/>
        </p:spPr>
        <p:txBody>
          <a:bodyPr wrap="square" lIns="0" tIns="0" rIns="0" bIns="0" rtlCol="0" anchor="t"/>
          <a:lstStyle/>
          <a:p>
            <a:pPr algn="l" indent="0" marL="0">
              <a:buNone/>
            </a:pPr>
            <a:r>
              <a:rPr lang="en-US" sz="800" b="1" spc="200" kern="0" dirty="0">
                <a:solidFill>
                  <a:srgbClr val="C48F0F"/>
                </a:solidFill>
                <a:latin typeface="Calibri" pitchFamily="34" charset="0"/>
                <a:ea typeface="Calibri" pitchFamily="34" charset="-122"/>
                <a:cs typeface="Calibri" pitchFamily="34" charset="-120"/>
              </a:rPr>
              <a:t>IN THE PROGRAMME HANDBOOK, BEFORE THE FIRST GRADED EVENT</a:t>
            </a:r>
            <a:endParaRPr lang="en-US" sz="800" dirty="0"/>
          </a:p>
        </p:txBody>
      </p:sp>
      <p:sp>
        <p:nvSpPr>
          <p:cNvPr id="60" name="anim:4"/>
          <p:cNvSpPr/>
          <p:nvPr/>
        </p:nvSpPr>
        <p:spPr>
          <a:xfrm>
            <a:off x="1691640" y="5285232"/>
            <a:ext cx="128016" cy="128016"/>
          </a:xfrm>
          <a:prstGeom prst="ellipse">
            <a:avLst/>
          </a:prstGeom>
          <a:solidFill>
            <a:srgbClr val="C48F0F"/>
          </a:solidFill>
          <a:ln w="12700">
            <a:solidFill>
              <a:srgbClr val="C48F0F"/>
            </a:solidFill>
            <a:prstDash val="solid"/>
          </a:ln>
        </p:spPr>
        <p:txBody>
          <a:bodyPr/>
          <a:p/>
        </p:txBody>
      </p:sp>
      <p:sp>
        <p:nvSpPr>
          <p:cNvPr id="61" name="anim:4"/>
          <p:cNvSpPr txBox="1"/>
          <p:nvPr/>
        </p:nvSpPr>
        <p:spPr>
          <a:xfrm>
            <a:off x="1911096" y="5212080"/>
            <a:ext cx="2971800" cy="82296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The pass requirements for the diploma.</a:t>
            </a:r>
            <a:endParaRPr lang="en-US" sz="1050" dirty="0"/>
          </a:p>
        </p:txBody>
      </p:sp>
      <p:sp>
        <p:nvSpPr>
          <p:cNvPr id="62" name="anim:4"/>
          <p:cNvSpPr/>
          <p:nvPr/>
        </p:nvSpPr>
        <p:spPr>
          <a:xfrm>
            <a:off x="4983480" y="5285232"/>
            <a:ext cx="128016" cy="128016"/>
          </a:xfrm>
          <a:prstGeom prst="ellipse">
            <a:avLst/>
          </a:prstGeom>
          <a:solidFill>
            <a:srgbClr val="C48F0F"/>
          </a:solidFill>
          <a:ln w="12700">
            <a:solidFill>
              <a:srgbClr val="C48F0F"/>
            </a:solidFill>
            <a:prstDash val="solid"/>
          </a:ln>
        </p:spPr>
        <p:txBody>
          <a:bodyPr/>
          <a:p/>
        </p:txBody>
      </p:sp>
      <p:sp>
        <p:nvSpPr>
          <p:cNvPr id="63" name="anim:4"/>
          <p:cNvSpPr txBox="1"/>
          <p:nvPr/>
        </p:nvSpPr>
        <p:spPr>
          <a:xfrm>
            <a:off x="5202936" y="5212080"/>
            <a:ext cx="2971800" cy="82296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Every component rubric, and how scores consolidate across twenty weeks.</a:t>
            </a:r>
            <a:endParaRPr lang="en-US" sz="1050" dirty="0"/>
          </a:p>
        </p:txBody>
      </p:sp>
      <p:sp>
        <p:nvSpPr>
          <p:cNvPr id="64" name="anim:4"/>
          <p:cNvSpPr/>
          <p:nvPr/>
        </p:nvSpPr>
        <p:spPr>
          <a:xfrm>
            <a:off x="8275320" y="5285232"/>
            <a:ext cx="128016" cy="128016"/>
          </a:xfrm>
          <a:prstGeom prst="ellipse">
            <a:avLst/>
          </a:prstGeom>
          <a:solidFill>
            <a:srgbClr val="C48F0F"/>
          </a:solidFill>
          <a:ln w="12700">
            <a:solidFill>
              <a:srgbClr val="C48F0F"/>
            </a:solidFill>
            <a:prstDash val="solid"/>
          </a:ln>
        </p:spPr>
        <p:txBody>
          <a:bodyPr/>
          <a:p/>
        </p:txBody>
      </p:sp>
      <p:sp>
        <p:nvSpPr>
          <p:cNvPr id="65" name="anim:4"/>
          <p:cNvSpPr txBox="1"/>
          <p:nvPr/>
        </p:nvSpPr>
        <p:spPr>
          <a:xfrm>
            <a:off x="8494776" y="5212080"/>
            <a:ext cx="2971800" cy="82296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The full assessment calendar, with the day of each graded event.</a:t>
            </a:r>
            <a:endParaRPr lang="en-US" sz="10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45" fill="hold">
                      <p:stCondLst>
                        <p:cond delay="indefinite"/>
                      </p:stCondLst>
                      <p:childTnLst>
                        <p:par>
                          <p:cTn id="4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childTnLst>
                          </p:cTn>
                        </p:par>
                      </p:childTnLst>
                    </p:cTn>
                  </p:par>
                  <p:par>
                    <p:cTn id="89" fill="hold">
                      <p:stCondLst>
                        <p:cond delay="indefinite"/>
                      </p:stCondLst>
                      <p:childTnLst>
                        <p:par>
                          <p:cTn id="90"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9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18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27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36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45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54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63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72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81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90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90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childTnLst>
                          </p:cTn>
                        </p:par>
                      </p:childTnLst>
                    </p:cTn>
                  </p:par>
                  <p:par>
                    <p:cTn id="112" fill="hold">
                      <p:stCondLst>
                        <p:cond delay="indefinite"/>
                      </p:stCondLst>
                      <p:childTnLst>
                        <p:par>
                          <p:cTn id="113"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49"/>
                                        </p:tgtEl>
                                        <p:attrNameLst>
                                          <p:attrName>style.visibility</p:attrName>
                                        </p:attrNameLst>
                                      </p:cBhvr>
                                      <p:to>
                                        <p:strVal val="visible"/>
                                      </p:to>
                                    </p:set>
                                    <p:animEffect transition="in" filter="fade">
                                      <p:cBhvr>
                                        <p:cTn id="93" dur="400"/>
                                        <p:tgtEl>
                                          <p:spTgt spid="49"/>
                                        </p:tgtEl>
                                      </p:cBhvr>
                                    </p:animEffect>
                                  </p:childTnLst>
                                </p:cTn>
                              </p:par>
                              <p:par>
                                <p:cTn id="94" presetID="10" presetClass="entr" presetSubtype="0" fill="hold" grpId="0" nodeType="withEffect">
                                  <p:stCondLst>
                                    <p:cond delay="90"/>
                                  </p:stCondLst>
                                  <p:childTnLst>
                                    <p:set>
                                      <p:cBhvr>
                                        <p:cTn id="95" dur="1" fill="hold">
                                          <p:stCondLst>
                                            <p:cond delay="0"/>
                                          </p:stCondLst>
                                        </p:cTn>
                                        <p:tgtEl>
                                          <p:spTgt spid="50"/>
                                        </p:tgtEl>
                                        <p:attrNameLst>
                                          <p:attrName>style.visibility</p:attrName>
                                        </p:attrNameLst>
                                      </p:cBhvr>
                                      <p:to>
                                        <p:strVal val="visible"/>
                                      </p:to>
                                    </p:set>
                                    <p:animEffect transition="in" filter="fade">
                                      <p:cBhvr>
                                        <p:cTn id="96" dur="400"/>
                                        <p:tgtEl>
                                          <p:spTgt spid="50"/>
                                        </p:tgtEl>
                                      </p:cBhvr>
                                    </p:animEffect>
                                  </p:childTnLst>
                                </p:cTn>
                              </p:par>
                              <p:par>
                                <p:cTn id="97" presetID="10" presetClass="entr" presetSubtype="0" fill="hold" grpId="0" nodeType="withEffect">
                                  <p:stCondLst>
                                    <p:cond delay="180"/>
                                  </p:stCondLst>
                                  <p:childTnLst>
                                    <p:set>
                                      <p:cBhvr>
                                        <p:cTn id="98" dur="1" fill="hold">
                                          <p:stCondLst>
                                            <p:cond delay="0"/>
                                          </p:stCondLst>
                                        </p:cTn>
                                        <p:tgtEl>
                                          <p:spTgt spid="51"/>
                                        </p:tgtEl>
                                        <p:attrNameLst>
                                          <p:attrName>style.visibility</p:attrName>
                                        </p:attrNameLst>
                                      </p:cBhvr>
                                      <p:to>
                                        <p:strVal val="visible"/>
                                      </p:to>
                                    </p:set>
                                    <p:animEffect transition="in" filter="fade">
                                      <p:cBhvr>
                                        <p:cTn id="99" dur="400"/>
                                        <p:tgtEl>
                                          <p:spTgt spid="51"/>
                                        </p:tgtEl>
                                      </p:cBhvr>
                                    </p:animEffect>
                                  </p:childTnLst>
                                </p:cTn>
                              </p:par>
                              <p:par>
                                <p:cTn id="100" presetID="10" presetClass="entr" presetSubtype="0" fill="hold" grpId="0" nodeType="withEffect">
                                  <p:stCondLst>
                                    <p:cond delay="270"/>
                                  </p:stCondLst>
                                  <p:childTnLst>
                                    <p:set>
                                      <p:cBhvr>
                                        <p:cTn id="101" dur="1" fill="hold">
                                          <p:stCondLst>
                                            <p:cond delay="0"/>
                                          </p:stCondLst>
                                        </p:cTn>
                                        <p:tgtEl>
                                          <p:spTgt spid="52"/>
                                        </p:tgtEl>
                                        <p:attrNameLst>
                                          <p:attrName>style.visibility</p:attrName>
                                        </p:attrNameLst>
                                      </p:cBhvr>
                                      <p:to>
                                        <p:strVal val="visible"/>
                                      </p:to>
                                    </p:set>
                                    <p:animEffect transition="in" filter="fade">
                                      <p:cBhvr>
                                        <p:cTn id="102" dur="400"/>
                                        <p:tgtEl>
                                          <p:spTgt spid="52"/>
                                        </p:tgtEl>
                                      </p:cBhvr>
                                    </p:animEffect>
                                  </p:childTnLst>
                                </p:cTn>
                              </p:par>
                              <p:par>
                                <p:cTn id="103" presetID="10" presetClass="entr" presetSubtype="0" fill="hold" grpId="0" nodeType="withEffect">
                                  <p:stCondLst>
                                    <p:cond delay="360"/>
                                  </p:stCondLst>
                                  <p:childTnLst>
                                    <p:set>
                                      <p:cBhvr>
                                        <p:cTn id="104" dur="1" fill="hold">
                                          <p:stCondLst>
                                            <p:cond delay="0"/>
                                          </p:stCondLst>
                                        </p:cTn>
                                        <p:tgtEl>
                                          <p:spTgt spid="53"/>
                                        </p:tgtEl>
                                        <p:attrNameLst>
                                          <p:attrName>style.visibility</p:attrName>
                                        </p:attrNameLst>
                                      </p:cBhvr>
                                      <p:to>
                                        <p:strVal val="visible"/>
                                      </p:to>
                                    </p:set>
                                    <p:animEffect transition="in" filter="fade">
                                      <p:cBhvr>
                                        <p:cTn id="105" dur="400"/>
                                        <p:tgtEl>
                                          <p:spTgt spid="53"/>
                                        </p:tgtEl>
                                      </p:cBhvr>
                                    </p:animEffect>
                                  </p:childTnLst>
                                </p:cTn>
                              </p:par>
                              <p:par>
                                <p:cTn id="106" presetID="10" presetClass="entr" presetSubtype="0" fill="hold" grpId="0" nodeType="withEffect">
                                  <p:stCondLst>
                                    <p:cond delay="45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400"/>
                                        <p:tgtEl>
                                          <p:spTgt spid="54"/>
                                        </p:tgtEl>
                                      </p:cBhvr>
                                    </p:animEffect>
                                  </p:childTnLst>
                                </p:cTn>
                              </p:par>
                              <p:par>
                                <p:cTn id="109" presetID="10" presetClass="entr" presetSubtype="0" fill="hold" grpId="0" nodeType="withEffect">
                                  <p:stCondLst>
                                    <p:cond delay="54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400"/>
                                        <p:tgtEl>
                                          <p:spTgt spid="55"/>
                                        </p:tgtEl>
                                      </p:cBhvr>
                                    </p:animEffect>
                                  </p:childTnLst>
                                </p:cTn>
                              </p:par>
                            </p:childTnLst>
                          </p:cTn>
                        </p:par>
                      </p:childTnLst>
                    </p:cTn>
                  </p:par>
                  <p:par>
                    <p:cTn id="144" fill="hold">
                      <p:stCondLst>
                        <p:cond delay="indefinite"/>
                      </p:stCondLst>
                      <p:childTnLst>
                        <p:par>
                          <p:cTn id="145"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par>
                                <p:cTn id="117" presetID="10" presetClass="entr" presetSubtype="0" fill="hold" grpId="0" nodeType="withEffect">
                                  <p:stCondLst>
                                    <p:cond delay="90"/>
                                  </p:stCondLst>
                                  <p:childTnLst>
                                    <p:set>
                                      <p:cBhvr>
                                        <p:cTn id="118" dur="1" fill="hold">
                                          <p:stCondLst>
                                            <p:cond delay="0"/>
                                          </p:stCondLst>
                                        </p:cTn>
                                        <p:tgtEl>
                                          <p:spTgt spid="57"/>
                                        </p:tgtEl>
                                        <p:attrNameLst>
                                          <p:attrName>style.visibility</p:attrName>
                                        </p:attrNameLst>
                                      </p:cBhvr>
                                      <p:to>
                                        <p:strVal val="visible"/>
                                      </p:to>
                                    </p:set>
                                    <p:animEffect transition="in" filter="fade">
                                      <p:cBhvr>
                                        <p:cTn id="119" dur="400"/>
                                        <p:tgtEl>
                                          <p:spTgt spid="57"/>
                                        </p:tgtEl>
                                      </p:cBhvr>
                                    </p:animEffect>
                                  </p:childTnLst>
                                </p:cTn>
                              </p:par>
                              <p:par>
                                <p:cTn id="120" presetID="10" presetClass="entr" presetSubtype="0" fill="hold" grpId="0" nodeType="withEffect">
                                  <p:stCondLst>
                                    <p:cond delay="180"/>
                                  </p:stCondLst>
                                  <p:childTnLst>
                                    <p:set>
                                      <p:cBhvr>
                                        <p:cTn id="121" dur="1" fill="hold">
                                          <p:stCondLst>
                                            <p:cond delay="0"/>
                                          </p:stCondLst>
                                        </p:cTn>
                                        <p:tgtEl>
                                          <p:spTgt spid="58"/>
                                        </p:tgtEl>
                                        <p:attrNameLst>
                                          <p:attrName>style.visibility</p:attrName>
                                        </p:attrNameLst>
                                      </p:cBhvr>
                                      <p:to>
                                        <p:strVal val="visible"/>
                                      </p:to>
                                    </p:set>
                                    <p:animEffect transition="in" filter="fade">
                                      <p:cBhvr>
                                        <p:cTn id="122" dur="400"/>
                                        <p:tgtEl>
                                          <p:spTgt spid="58"/>
                                        </p:tgtEl>
                                      </p:cBhvr>
                                    </p:animEffect>
                                  </p:childTnLst>
                                </p:cTn>
                              </p:par>
                              <p:par>
                                <p:cTn id="123" presetID="10" presetClass="entr" presetSubtype="0" fill="hold" grpId="0" nodeType="withEffect">
                                  <p:stCondLst>
                                    <p:cond delay="270"/>
                                  </p:stCondLst>
                                  <p:childTnLst>
                                    <p:set>
                                      <p:cBhvr>
                                        <p:cTn id="124" dur="1" fill="hold">
                                          <p:stCondLst>
                                            <p:cond delay="0"/>
                                          </p:stCondLst>
                                        </p:cTn>
                                        <p:tgtEl>
                                          <p:spTgt spid="59"/>
                                        </p:tgtEl>
                                        <p:attrNameLst>
                                          <p:attrName>style.visibility</p:attrName>
                                        </p:attrNameLst>
                                      </p:cBhvr>
                                      <p:to>
                                        <p:strVal val="visible"/>
                                      </p:to>
                                    </p:set>
                                    <p:animEffect transition="in" filter="fade">
                                      <p:cBhvr>
                                        <p:cTn id="125" dur="400"/>
                                        <p:tgtEl>
                                          <p:spTgt spid="59"/>
                                        </p:tgtEl>
                                      </p:cBhvr>
                                    </p:animEffect>
                                  </p:childTnLst>
                                </p:cTn>
                              </p:par>
                              <p:par>
                                <p:cTn id="126" presetID="10" presetClass="entr" presetSubtype="0" fill="hold" grpId="0" nodeType="withEffect">
                                  <p:stCondLst>
                                    <p:cond delay="360"/>
                                  </p:stCondLst>
                                  <p:childTnLst>
                                    <p:set>
                                      <p:cBhvr>
                                        <p:cTn id="127" dur="1" fill="hold">
                                          <p:stCondLst>
                                            <p:cond delay="0"/>
                                          </p:stCondLst>
                                        </p:cTn>
                                        <p:tgtEl>
                                          <p:spTgt spid="60"/>
                                        </p:tgtEl>
                                        <p:attrNameLst>
                                          <p:attrName>style.visibility</p:attrName>
                                        </p:attrNameLst>
                                      </p:cBhvr>
                                      <p:to>
                                        <p:strVal val="visible"/>
                                      </p:to>
                                    </p:set>
                                    <p:animEffect transition="in" filter="fade">
                                      <p:cBhvr>
                                        <p:cTn id="128" dur="400"/>
                                        <p:tgtEl>
                                          <p:spTgt spid="60"/>
                                        </p:tgtEl>
                                      </p:cBhvr>
                                    </p:animEffect>
                                  </p:childTnLst>
                                </p:cTn>
                              </p:par>
                              <p:par>
                                <p:cTn id="129" presetID="10" presetClass="entr" presetSubtype="0" fill="hold" grpId="0" nodeType="withEffect">
                                  <p:stCondLst>
                                    <p:cond delay="450"/>
                                  </p:stCondLst>
                                  <p:childTnLst>
                                    <p:set>
                                      <p:cBhvr>
                                        <p:cTn id="130" dur="1" fill="hold">
                                          <p:stCondLst>
                                            <p:cond delay="0"/>
                                          </p:stCondLst>
                                        </p:cTn>
                                        <p:tgtEl>
                                          <p:spTgt spid="61"/>
                                        </p:tgtEl>
                                        <p:attrNameLst>
                                          <p:attrName>style.visibility</p:attrName>
                                        </p:attrNameLst>
                                      </p:cBhvr>
                                      <p:to>
                                        <p:strVal val="visible"/>
                                      </p:to>
                                    </p:set>
                                    <p:animEffect transition="in" filter="fade">
                                      <p:cBhvr>
                                        <p:cTn id="131" dur="400"/>
                                        <p:tgtEl>
                                          <p:spTgt spid="61"/>
                                        </p:tgtEl>
                                      </p:cBhvr>
                                    </p:animEffect>
                                  </p:childTnLst>
                                </p:cTn>
                              </p:par>
                              <p:par>
                                <p:cTn id="132" presetID="10" presetClass="entr" presetSubtype="0" fill="hold" grpId="0" nodeType="withEffect">
                                  <p:stCondLst>
                                    <p:cond delay="540"/>
                                  </p:stCondLst>
                                  <p:childTnLst>
                                    <p:set>
                                      <p:cBhvr>
                                        <p:cTn id="133" dur="1" fill="hold">
                                          <p:stCondLst>
                                            <p:cond delay="0"/>
                                          </p:stCondLst>
                                        </p:cTn>
                                        <p:tgtEl>
                                          <p:spTgt spid="62"/>
                                        </p:tgtEl>
                                        <p:attrNameLst>
                                          <p:attrName>style.visibility</p:attrName>
                                        </p:attrNameLst>
                                      </p:cBhvr>
                                      <p:to>
                                        <p:strVal val="visible"/>
                                      </p:to>
                                    </p:set>
                                    <p:animEffect transition="in" filter="fade">
                                      <p:cBhvr>
                                        <p:cTn id="134" dur="400"/>
                                        <p:tgtEl>
                                          <p:spTgt spid="62"/>
                                        </p:tgtEl>
                                      </p:cBhvr>
                                    </p:animEffect>
                                  </p:childTnLst>
                                </p:cTn>
                              </p:par>
                              <p:par>
                                <p:cTn id="135" presetID="10" presetClass="entr" presetSubtype="0" fill="hold" grpId="0" nodeType="withEffect">
                                  <p:stCondLst>
                                    <p:cond delay="630"/>
                                  </p:stCondLst>
                                  <p:childTnLst>
                                    <p:set>
                                      <p:cBhvr>
                                        <p:cTn id="136" dur="1" fill="hold">
                                          <p:stCondLst>
                                            <p:cond delay="0"/>
                                          </p:stCondLst>
                                        </p:cTn>
                                        <p:tgtEl>
                                          <p:spTgt spid="63"/>
                                        </p:tgtEl>
                                        <p:attrNameLst>
                                          <p:attrName>style.visibility</p:attrName>
                                        </p:attrNameLst>
                                      </p:cBhvr>
                                      <p:to>
                                        <p:strVal val="visible"/>
                                      </p:to>
                                    </p:set>
                                    <p:animEffect transition="in" filter="fade">
                                      <p:cBhvr>
                                        <p:cTn id="137" dur="400"/>
                                        <p:tgtEl>
                                          <p:spTgt spid="63"/>
                                        </p:tgtEl>
                                      </p:cBhvr>
                                    </p:animEffect>
                                  </p:childTnLst>
                                </p:cTn>
                              </p:par>
                              <p:par>
                                <p:cTn id="138" presetID="10" presetClass="entr" presetSubtype="0" fill="hold" grpId="0" nodeType="withEffect">
                                  <p:stCondLst>
                                    <p:cond delay="720"/>
                                  </p:stCondLst>
                                  <p:childTnLst>
                                    <p:set>
                                      <p:cBhvr>
                                        <p:cTn id="139" dur="1" fill="hold">
                                          <p:stCondLst>
                                            <p:cond delay="0"/>
                                          </p:stCondLst>
                                        </p:cTn>
                                        <p:tgtEl>
                                          <p:spTgt spid="64"/>
                                        </p:tgtEl>
                                        <p:attrNameLst>
                                          <p:attrName>style.visibility</p:attrName>
                                        </p:attrNameLst>
                                      </p:cBhvr>
                                      <p:to>
                                        <p:strVal val="visible"/>
                                      </p:to>
                                    </p:set>
                                    <p:animEffect transition="in" filter="fade">
                                      <p:cBhvr>
                                        <p:cTn id="140" dur="400"/>
                                        <p:tgtEl>
                                          <p:spTgt spid="64"/>
                                        </p:tgtEl>
                                      </p:cBhvr>
                                    </p:animEffect>
                                  </p:childTnLst>
                                </p:cTn>
                              </p:par>
                              <p:par>
                                <p:cTn id="141" presetID="10" presetClass="entr" presetSubtype="0" fill="hold" grpId="0" nodeType="withEffect">
                                  <p:stCondLst>
                                    <p:cond delay="810"/>
                                  </p:stCondLst>
                                  <p:childTnLst>
                                    <p:set>
                                      <p:cBhvr>
                                        <p:cTn id="142" dur="1" fill="hold">
                                          <p:stCondLst>
                                            <p:cond delay="0"/>
                                          </p:stCondLst>
                                        </p:cTn>
                                        <p:tgtEl>
                                          <p:spTgt spid="65"/>
                                        </p:tgtEl>
                                        <p:attrNameLst>
                                          <p:attrName>style.visibility</p:attrName>
                                        </p:attrNameLst>
                                      </p:cBhvr>
                                      <p:to>
                                        <p:strVal val="visible"/>
                                      </p:to>
                                    </p:set>
                                    <p:animEffect transition="in" filter="fade">
                                      <p:cBhvr>
                                        <p:cTn id="143"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22</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007DB6"/>
          </a:solidFill>
          <a:ln w="12700">
            <a:solidFill>
              <a:srgbClr val="007DB6"/>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The AI-use ladder</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Three steps that rise with the programme. One thing never changes.</a:t>
            </a:r>
            <a:endParaRPr lang="en-US" sz="1250" dirty="0"/>
          </a:p>
        </p:txBody>
      </p:sp>
      <p:sp>
        <p:nvSpPr>
          <p:cNvPr id="21" name="anim:1 grad:greenTint"/>
          <p:cNvSpPr/>
          <p:nvPr/>
        </p:nvSpPr>
        <p:spPr>
          <a:xfrm>
            <a:off x="548640" y="1783080"/>
            <a:ext cx="3566160" cy="1600200"/>
          </a:xfrm>
          <a:prstGeom prst="roundRect">
            <a:avLst>
              <a:gd name="adj" fmla="val 5714"/>
            </a:avLst>
          </a:prstGeom>
          <a:gradFill rotWithShape="1">
            <a:gsLst>
              <a:gs pos="0">
                <a:srgbClr val="E8F5EE"/>
              </a:gs>
              <a:gs pos="100000">
                <a:srgbClr val="D3EBDD"/>
              </a:gs>
            </a:gsLst>
            <a:lin ang="5400000" scaled="0"/>
          </a:gradFill>
          <a:ln w="12700">
            <a:solidFill>
              <a:srgbClr val="E0F2EA"/>
            </a:solidFill>
            <a:prstDash val="solid"/>
          </a:ln>
          <a:effectLst>
            <a:outerShdw sx="100000" sy="100000" kx="0" ky="0" algn="bl" rotWithShape="0" blurRad="76200" dist="19050" dir="5400000">
              <a:srgbClr val="0A1E33">
                <a:alpha val="10000"/>
              </a:srgbClr>
            </a:outerShdw>
          </a:effectLst>
        </p:spPr>
        <p:txBody>
          <a:bodyPr/>
          <a:p/>
        </p:txBody>
      </p:sp>
      <p:sp>
        <p:nvSpPr>
          <p:cNvPr id="22" name="anim:1"/>
          <p:cNvSpPr/>
          <p:nvPr/>
        </p:nvSpPr>
        <p:spPr>
          <a:xfrm>
            <a:off x="822960" y="2011680"/>
            <a:ext cx="548640" cy="548640"/>
          </a:xfrm>
          <a:prstGeom prst="ellipse">
            <a:avLst/>
          </a:prstGeom>
          <a:solidFill>
            <a:srgbClr val="1F8A5B"/>
          </a:solidFill>
          <a:ln w="9525">
            <a:solidFill>
              <a:srgbClr val="1F8A5B"/>
            </a:solidFill>
            <a:prstDash val="solid"/>
          </a:ln>
        </p:spPr>
        <p:txBody>
          <a:bodyPr/>
          <a:p/>
        </p:txBody>
      </p:sp>
      <p:pic>
        <p:nvPicPr>
          <p:cNvPr id="23" name="anim:1" descr="preencoded.png">    </p:cNvPr>
          <p:cNvPicPr>
            <a:picLocks noChangeAspect="1"/>
          </p:cNvPicPr>
          <p:nvPr/>
        </p:nvPicPr>
        <p:blipFill>
          <a:blip r:embed="rId3"/>
          <a:stretch>
            <a:fillRect/>
          </a:stretch>
        </p:blipFill>
        <p:spPr>
          <a:xfrm>
            <a:off x="954634" y="2143354"/>
            <a:ext cx="285293" cy="285293"/>
          </a:xfrm>
          <a:prstGeom prst="rect">
            <a:avLst/>
          </a:prstGeom>
        </p:spPr>
      </p:pic>
      <p:sp>
        <p:nvSpPr>
          <p:cNvPr id="24" name="anim:1"/>
          <p:cNvSpPr txBox="1"/>
          <p:nvPr/>
        </p:nvSpPr>
        <p:spPr>
          <a:xfrm>
            <a:off x="1554480" y="2057400"/>
            <a:ext cx="2377440" cy="201168"/>
          </a:xfrm>
          <a:prstGeom prst="rect">
            <a:avLst/>
          </a:prstGeom>
          <a:noFill/>
          <a:ln/>
        </p:spPr>
        <p:txBody>
          <a:bodyPr wrap="square" lIns="0" tIns="0" rIns="0" bIns="0" rtlCol="0" anchor="t"/>
          <a:lstStyle/>
          <a:p>
            <a:pPr algn="l" indent="0" marL="0">
              <a:buNone/>
            </a:pPr>
            <a:r>
              <a:rPr lang="en-US" sz="850" b="1" spc="200" kern="0" dirty="0">
                <a:solidFill>
                  <a:srgbClr val="1F8A5B"/>
                </a:solidFill>
                <a:latin typeface="Calibri" pitchFamily="34" charset="0"/>
                <a:ea typeface="Calibri" pitchFamily="34" charset="-122"/>
                <a:cs typeface="Calibri" pitchFamily="34" charset="-120"/>
              </a:rPr>
              <a:t>IN EVERY WEEK</a:t>
            </a:r>
            <a:endParaRPr lang="en-US" sz="850" dirty="0"/>
          </a:p>
        </p:txBody>
      </p:sp>
      <p:sp>
        <p:nvSpPr>
          <p:cNvPr id="25" name="anim:1"/>
          <p:cNvSpPr txBox="1"/>
          <p:nvPr/>
        </p:nvSpPr>
        <p:spPr>
          <a:xfrm>
            <a:off x="1554480" y="2286000"/>
            <a:ext cx="2377440" cy="100584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Graded coding and case studies are assistant-free and observed.</a:t>
            </a:r>
            <a:endParaRPr lang="en-US" sz="1300" dirty="0"/>
          </a:p>
        </p:txBody>
      </p:sp>
      <p:sp>
        <p:nvSpPr>
          <p:cNvPr id="26" name="anim:1 grad:card"/>
          <p:cNvSpPr/>
          <p:nvPr/>
        </p:nvSpPr>
        <p:spPr>
          <a:xfrm>
            <a:off x="548640" y="3657600"/>
            <a:ext cx="3566160" cy="2651760"/>
          </a:xfrm>
          <a:prstGeom prst="roundRect">
            <a:avLst>
              <a:gd name="adj" fmla="val 34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7" name="anim:1"/>
          <p:cNvSpPr/>
          <p:nvPr/>
        </p:nvSpPr>
        <p:spPr>
          <a:xfrm>
            <a:off x="822960" y="3931920"/>
            <a:ext cx="640080" cy="640080"/>
          </a:xfrm>
          <a:prstGeom prst="ellipse">
            <a:avLst/>
          </a:prstGeom>
          <a:solidFill>
            <a:srgbClr val="E3F2FA"/>
          </a:solidFill>
          <a:ln w="9525">
            <a:solidFill>
              <a:srgbClr val="E3F2FA"/>
            </a:solidFill>
            <a:prstDash val="solid"/>
          </a:ln>
        </p:spPr>
        <p:txBody>
          <a:bodyPr/>
          <a:p/>
        </p:txBody>
      </p:sp>
      <p:pic>
        <p:nvPicPr>
          <p:cNvPr id="28" name="anim:1" descr="preencoded.png">    </p:cNvPr>
          <p:cNvPicPr>
            <a:picLocks noChangeAspect="1"/>
          </p:cNvPicPr>
          <p:nvPr/>
        </p:nvPicPr>
        <p:blipFill>
          <a:blip r:embed="rId4"/>
          <a:stretch>
            <a:fillRect/>
          </a:stretch>
        </p:blipFill>
        <p:spPr>
          <a:xfrm>
            <a:off x="976579" y="4085539"/>
            <a:ext cx="332842" cy="332842"/>
          </a:xfrm>
          <a:prstGeom prst="rect">
            <a:avLst/>
          </a:prstGeom>
        </p:spPr>
      </p:pic>
      <p:sp>
        <p:nvSpPr>
          <p:cNvPr id="29" name="anim:1"/>
          <p:cNvSpPr txBox="1"/>
          <p:nvPr/>
        </p:nvSpPr>
        <p:spPr>
          <a:xfrm>
            <a:off x="1645920" y="3977640"/>
            <a:ext cx="228600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WEEKS 1 TO 6</a:t>
            </a:r>
            <a:endParaRPr lang="en-US" sz="850" dirty="0"/>
          </a:p>
        </p:txBody>
      </p:sp>
      <p:sp>
        <p:nvSpPr>
          <p:cNvPr id="30" name="anim:1"/>
          <p:cNvSpPr txBox="1"/>
          <p:nvPr/>
        </p:nvSpPr>
        <p:spPr>
          <a:xfrm>
            <a:off x="1645920" y="4206240"/>
            <a:ext cx="2286000" cy="201168"/>
          </a:xfrm>
          <a:prstGeom prst="rect">
            <a:avLst/>
          </a:prstGeom>
          <a:noFill/>
          <a:ln/>
        </p:spPr>
        <p:txBody>
          <a:bodyPr wrap="square" lIns="0" tIns="0" rIns="0" bIns="0" rtlCol="0" anchor="t"/>
          <a:lstStyle/>
          <a:p>
            <a:pPr algn="l" indent="0" marL="0">
              <a:buNone/>
            </a:pPr>
            <a:r>
              <a:rPr lang="en-US" sz="850" b="1" spc="200" kern="0" dirty="0">
                <a:solidFill>
                  <a:srgbClr val="5F7183"/>
                </a:solidFill>
                <a:latin typeface="Calibri" pitchFamily="34" charset="0"/>
                <a:ea typeface="Calibri" pitchFamily="34" charset="-122"/>
                <a:cs typeface="Calibri" pitchFamily="34" charset="-120"/>
              </a:rPr>
              <a:t>STEP 1</a:t>
            </a:r>
            <a:endParaRPr lang="en-US" sz="850" dirty="0"/>
          </a:p>
        </p:txBody>
      </p:sp>
      <p:sp>
        <p:nvSpPr>
          <p:cNvPr id="31" name="anim:1"/>
          <p:cNvSpPr txBox="1"/>
          <p:nvPr/>
        </p:nvSpPr>
        <p:spPr>
          <a:xfrm>
            <a:off x="822960" y="4800600"/>
            <a:ext cx="3017520" cy="777240"/>
          </a:xfrm>
          <a:prstGeom prst="rect">
            <a:avLst/>
          </a:prstGeom>
          <a:noFill/>
          <a:ln/>
        </p:spPr>
        <p:txBody>
          <a:bodyPr wrap="square" lIns="0" tIns="0" rIns="0" bIns="0" rtlCol="0" anchor="t"/>
          <a:lstStyle/>
          <a:p>
            <a:pPr algn="l" indent="0" marL="0">
              <a:buNone/>
            </a:pPr>
            <a:r>
              <a:rPr lang="en-US" sz="1800" b="1" dirty="0">
                <a:solidFill>
                  <a:srgbClr val="0A1E33"/>
                </a:solidFill>
                <a:latin typeface="Calibri" pitchFamily="34" charset="0"/>
                <a:ea typeface="Calibri" pitchFamily="34" charset="-122"/>
                <a:cs typeface="Calibri" pitchFamily="34" charset="-120"/>
              </a:rPr>
              <a:t>Assistant-free</a:t>
            </a:r>
            <a:endParaRPr lang="en-US" sz="1800" dirty="0"/>
          </a:p>
        </p:txBody>
      </p:sp>
      <p:sp>
        <p:nvSpPr>
          <p:cNvPr id="32" name="anim:1"/>
          <p:cNvSpPr txBox="1"/>
          <p:nvPr/>
        </p:nvSpPr>
        <p:spPr>
          <a:xfrm>
            <a:off x="822960" y="5623560"/>
            <a:ext cx="3017520" cy="548640"/>
          </a:xfrm>
          <a:prstGeom prst="rect">
            <a:avLst/>
          </a:prstGeom>
          <a:noFill/>
          <a:ln/>
        </p:spPr>
        <p:txBody>
          <a:bodyPr wrap="square" lIns="0" tIns="0" rIns="0" bIns="0" rtlCol="0" anchor="t"/>
          <a:lstStyle/>
          <a:p>
            <a:pPr algn="l" indent="0" marL="0">
              <a:buNone/>
            </a:pPr>
            <a:r>
              <a:rPr lang="en-US" sz="1100" dirty="0">
                <a:solidFill>
                  <a:srgbClr val="15243A"/>
                </a:solidFill>
                <a:latin typeface="Calibri" pitchFamily="34" charset="0"/>
                <a:ea typeface="Calibri" pitchFamily="34" charset="-122"/>
                <a:cs typeface="Calibri" pitchFamily="34" charset="-120"/>
              </a:rPr>
              <a:t>Core exercises and every assessment run without AI assistants. The habit of thinking first is built before any tool is allowed.</a:t>
            </a:r>
            <a:endParaRPr lang="en-US" sz="1100" dirty="0"/>
          </a:p>
        </p:txBody>
      </p:sp>
      <p:sp>
        <p:nvSpPr>
          <p:cNvPr id="33" name="anim:2 grad:skyTint"/>
          <p:cNvSpPr/>
          <p:nvPr/>
        </p:nvSpPr>
        <p:spPr>
          <a:xfrm>
            <a:off x="4306824" y="3108960"/>
            <a:ext cx="3566160" cy="3200400"/>
          </a:xfrm>
          <a:prstGeom prst="roundRect">
            <a:avLst>
              <a:gd name="adj" fmla="val 2857"/>
            </a:avLst>
          </a:prstGeom>
          <a:gradFill rotWithShape="1">
            <a:gsLst>
              <a:gs pos="0">
                <a:srgbClr val="EEF7FC"/>
              </a:gs>
              <a:gs pos="100000">
                <a:srgbClr val="D8EBF6"/>
              </a:gs>
            </a:gsLst>
            <a:lin ang="5400000" scaled="0"/>
          </a:gradFill>
          <a:ln w="9525">
            <a:solidFill>
              <a:srgbClr val="BFDDEE"/>
            </a:solidFill>
            <a:prstDash val="solid"/>
          </a:ln>
          <a:effectLst>
            <a:outerShdw sx="100000" sy="100000" kx="0" ky="0" algn="bl" rotWithShape="0" blurRad="76200" dist="19050" dir="5400000">
              <a:srgbClr val="0A1E33">
                <a:alpha val="10000"/>
              </a:srgbClr>
            </a:outerShdw>
          </a:effectLst>
        </p:spPr>
        <p:txBody>
          <a:bodyPr/>
          <a:p/>
        </p:txBody>
      </p:sp>
      <p:sp>
        <p:nvSpPr>
          <p:cNvPr id="34" name="anim:2 grad:blue"/>
          <p:cNvSpPr/>
          <p:nvPr/>
        </p:nvSpPr>
        <p:spPr>
          <a:xfrm>
            <a:off x="4581144" y="3383280"/>
            <a:ext cx="640080" cy="64008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35" name="anim:2" descr="preencoded.png">    </p:cNvPr>
          <p:cNvPicPr>
            <a:picLocks noChangeAspect="1"/>
          </p:cNvPicPr>
          <p:nvPr/>
        </p:nvPicPr>
        <p:blipFill>
          <a:blip r:embed="rId5"/>
          <a:stretch>
            <a:fillRect/>
          </a:stretch>
        </p:blipFill>
        <p:spPr>
          <a:xfrm>
            <a:off x="4734763" y="3536899"/>
            <a:ext cx="332842" cy="332842"/>
          </a:xfrm>
          <a:prstGeom prst="rect">
            <a:avLst/>
          </a:prstGeom>
        </p:spPr>
      </p:pic>
      <p:sp>
        <p:nvSpPr>
          <p:cNvPr id="36" name="anim:2"/>
          <p:cNvSpPr txBox="1"/>
          <p:nvPr/>
        </p:nvSpPr>
        <p:spPr>
          <a:xfrm>
            <a:off x="5404104" y="3429000"/>
            <a:ext cx="228600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WEEKS 7 TO 15</a:t>
            </a:r>
            <a:endParaRPr lang="en-US" sz="850" dirty="0"/>
          </a:p>
        </p:txBody>
      </p:sp>
      <p:sp>
        <p:nvSpPr>
          <p:cNvPr id="37" name="anim:2"/>
          <p:cNvSpPr txBox="1"/>
          <p:nvPr/>
        </p:nvSpPr>
        <p:spPr>
          <a:xfrm>
            <a:off x="5404104" y="3657600"/>
            <a:ext cx="2286000" cy="201168"/>
          </a:xfrm>
          <a:prstGeom prst="rect">
            <a:avLst/>
          </a:prstGeom>
          <a:noFill/>
          <a:ln/>
        </p:spPr>
        <p:txBody>
          <a:bodyPr wrap="square" lIns="0" tIns="0" rIns="0" bIns="0" rtlCol="0" anchor="t"/>
          <a:lstStyle/>
          <a:p>
            <a:pPr algn="l" indent="0" marL="0">
              <a:buNone/>
            </a:pPr>
            <a:r>
              <a:rPr lang="en-US" sz="850" b="1" spc="200" kern="0" dirty="0">
                <a:solidFill>
                  <a:srgbClr val="5F7183"/>
                </a:solidFill>
                <a:latin typeface="Calibri" pitchFamily="34" charset="0"/>
                <a:ea typeface="Calibri" pitchFamily="34" charset="-122"/>
                <a:cs typeface="Calibri" pitchFamily="34" charset="-120"/>
              </a:rPr>
              <a:t>STEP 2</a:t>
            </a:r>
            <a:endParaRPr lang="en-US" sz="850" dirty="0"/>
          </a:p>
        </p:txBody>
      </p:sp>
      <p:sp>
        <p:nvSpPr>
          <p:cNvPr id="38" name="anim:2"/>
          <p:cNvSpPr txBox="1"/>
          <p:nvPr/>
        </p:nvSpPr>
        <p:spPr>
          <a:xfrm>
            <a:off x="4581144" y="4251960"/>
            <a:ext cx="3017520" cy="777240"/>
          </a:xfrm>
          <a:prstGeom prst="rect">
            <a:avLst/>
          </a:prstGeom>
          <a:noFill/>
          <a:ln/>
        </p:spPr>
        <p:txBody>
          <a:bodyPr wrap="square" lIns="0" tIns="0" rIns="0" bIns="0" rtlCol="0" anchor="t"/>
          <a:lstStyle/>
          <a:p>
            <a:pPr algn="l" indent="0" marL="0">
              <a:buNone/>
            </a:pPr>
            <a:r>
              <a:rPr lang="en-US" sz="1800" b="1" dirty="0">
                <a:solidFill>
                  <a:srgbClr val="0A1E33"/>
                </a:solidFill>
                <a:latin typeface="Calibri" pitchFamily="34" charset="0"/>
                <a:ea typeface="Calibri" pitchFamily="34" charset="-122"/>
                <a:cs typeface="Calibri" pitchFamily="34" charset="-120"/>
              </a:rPr>
              <a:t>Allowed on build work, defended in the viva</a:t>
            </a:r>
            <a:endParaRPr lang="en-US" sz="1800" dirty="0"/>
          </a:p>
        </p:txBody>
      </p:sp>
      <p:sp>
        <p:nvSpPr>
          <p:cNvPr id="39" name="anim:2"/>
          <p:cNvSpPr txBox="1"/>
          <p:nvPr/>
        </p:nvSpPr>
        <p:spPr>
          <a:xfrm>
            <a:off x="4581144" y="5074920"/>
            <a:ext cx="3017520" cy="1097280"/>
          </a:xfrm>
          <a:prstGeom prst="rect">
            <a:avLst/>
          </a:prstGeom>
          <a:noFill/>
          <a:ln/>
        </p:spPr>
        <p:txBody>
          <a:bodyPr wrap="square" lIns="0" tIns="0" rIns="0" bIns="0" rtlCol="0" anchor="t"/>
          <a:lstStyle/>
          <a:p>
            <a:pPr algn="l" indent="0" marL="0">
              <a:buNone/>
            </a:pPr>
            <a:r>
              <a:rPr lang="en-US" sz="1100" dirty="0">
                <a:solidFill>
                  <a:srgbClr val="15243A"/>
                </a:solidFill>
                <a:latin typeface="Calibri" pitchFamily="34" charset="0"/>
                <a:ea typeface="Calibri" pitchFamily="34" charset="-122"/>
                <a:cs typeface="Calibri" pitchFamily="34" charset="-120"/>
              </a:rPr>
              <a:t>Assistants are permitted on build work, and every line you ship is one you can explain and defend in the viva.</a:t>
            </a:r>
            <a:endParaRPr lang="en-US" sz="1100" dirty="0"/>
          </a:p>
        </p:txBody>
      </p:sp>
      <p:sp>
        <p:nvSpPr>
          <p:cNvPr id="40" name="anim:3 grad:navy"/>
          <p:cNvSpPr/>
          <p:nvPr/>
        </p:nvSpPr>
        <p:spPr>
          <a:xfrm>
            <a:off x="8065008" y="2560320"/>
            <a:ext cx="3566160" cy="3749040"/>
          </a:xfrm>
          <a:prstGeom prst="roundRect">
            <a:avLst>
              <a:gd name="adj" fmla="val 2564"/>
            </a:avLst>
          </a:prstGeom>
          <a:gradFill rotWithShape="1">
            <a:gsLst>
              <a:gs pos="0">
                <a:srgbClr val="1B4170"/>
              </a:gs>
              <a:gs pos="100000">
                <a:srgbClr val="0A1E33"/>
              </a:gs>
            </a:gsLst>
            <a:lin ang="5400000" scaled="0"/>
          </a:gradFill>
          <a:ln w="9525">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41" name="anim:3 grad:sheen"/>
          <p:cNvSpPr/>
          <p:nvPr/>
        </p:nvSpPr>
        <p:spPr>
          <a:xfrm>
            <a:off x="8065008" y="2560320"/>
            <a:ext cx="3566160" cy="3749040"/>
          </a:xfrm>
          <a:prstGeom prst="roundRect">
            <a:avLst>
              <a:gd name="adj" fmla="val 2564"/>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42" name="anim:3 grad:gold"/>
          <p:cNvSpPr/>
          <p:nvPr/>
        </p:nvSpPr>
        <p:spPr>
          <a:xfrm>
            <a:off x="8339328" y="2834640"/>
            <a:ext cx="640080" cy="640080"/>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43" name="anim:3" descr="preencoded.png">    </p:cNvPr>
          <p:cNvPicPr>
            <a:picLocks noChangeAspect="1"/>
          </p:cNvPicPr>
          <p:nvPr/>
        </p:nvPicPr>
        <p:blipFill>
          <a:blip r:embed="rId6"/>
          <a:stretch>
            <a:fillRect/>
          </a:stretch>
        </p:blipFill>
        <p:spPr>
          <a:xfrm>
            <a:off x="8492947" y="2988259"/>
            <a:ext cx="332842" cy="332842"/>
          </a:xfrm>
          <a:prstGeom prst="rect">
            <a:avLst/>
          </a:prstGeom>
        </p:spPr>
      </p:pic>
      <p:sp>
        <p:nvSpPr>
          <p:cNvPr id="44" name="anim:3"/>
          <p:cNvSpPr txBox="1"/>
          <p:nvPr/>
        </p:nvSpPr>
        <p:spPr>
          <a:xfrm>
            <a:off x="9162288" y="2880360"/>
            <a:ext cx="2286000" cy="201168"/>
          </a:xfrm>
          <a:prstGeom prst="rect">
            <a:avLst/>
          </a:prstGeom>
          <a:noFill/>
          <a:ln/>
        </p:spPr>
        <p:txBody>
          <a:bodyPr wrap="square" lIns="0" tIns="0" rIns="0" bIns="0" rtlCol="0" anchor="t"/>
          <a:lstStyle/>
          <a:p>
            <a:pPr algn="l" indent="0" marL="0">
              <a:buNone/>
            </a:pPr>
            <a:r>
              <a:rPr lang="en-US" sz="850" b="1" spc="200" kern="0" dirty="0">
                <a:solidFill>
                  <a:srgbClr val="E9B221"/>
                </a:solidFill>
                <a:latin typeface="Calibri" pitchFamily="34" charset="0"/>
                <a:ea typeface="Calibri" pitchFamily="34" charset="-122"/>
                <a:cs typeface="Calibri" pitchFamily="34" charset="-120"/>
              </a:rPr>
              <a:t>WEEKS 16 TO 20</a:t>
            </a:r>
            <a:endParaRPr lang="en-US" sz="850" dirty="0"/>
          </a:p>
        </p:txBody>
      </p:sp>
      <p:sp>
        <p:nvSpPr>
          <p:cNvPr id="45" name="anim:3"/>
          <p:cNvSpPr txBox="1"/>
          <p:nvPr/>
        </p:nvSpPr>
        <p:spPr>
          <a:xfrm>
            <a:off x="9162288" y="3108960"/>
            <a:ext cx="2286000" cy="201168"/>
          </a:xfrm>
          <a:prstGeom prst="rect">
            <a:avLst/>
          </a:prstGeom>
          <a:noFill/>
          <a:ln/>
        </p:spPr>
        <p:txBody>
          <a:bodyPr wrap="square" lIns="0" tIns="0" rIns="0" bIns="0" rtlCol="0" anchor="t"/>
          <a:lstStyle/>
          <a:p>
            <a:pPr algn="l" indent="0" marL="0">
              <a:buNone/>
            </a:pPr>
            <a:r>
              <a:rPr lang="en-US" sz="850" b="1" spc="200" kern="0" dirty="0">
                <a:solidFill>
                  <a:srgbClr val="C9D6E4"/>
                </a:solidFill>
                <a:latin typeface="Calibri" pitchFamily="34" charset="0"/>
                <a:ea typeface="Calibri" pitchFamily="34" charset="-122"/>
                <a:cs typeface="Calibri" pitchFamily="34" charset="-120"/>
              </a:rPr>
              <a:t>STEP 3</a:t>
            </a:r>
            <a:endParaRPr lang="en-US" sz="850" dirty="0"/>
          </a:p>
        </p:txBody>
      </p:sp>
      <p:sp>
        <p:nvSpPr>
          <p:cNvPr id="46" name="anim:3"/>
          <p:cNvSpPr txBox="1"/>
          <p:nvPr/>
        </p:nvSpPr>
        <p:spPr>
          <a:xfrm>
            <a:off x="8339328" y="3703320"/>
            <a:ext cx="3017520" cy="777240"/>
          </a:xfrm>
          <a:prstGeom prst="rect">
            <a:avLst/>
          </a:prstGeom>
          <a:noFill/>
          <a:ln/>
        </p:spPr>
        <p:txBody>
          <a:bodyPr wrap="square" lIns="0" tIns="0" rIns="0" bIns="0" rtlCol="0" anchor="t"/>
          <a:lstStyle/>
          <a:p>
            <a:pPr algn="l" indent="0" marL="0">
              <a:buNone/>
            </a:pPr>
            <a:r>
              <a:rPr lang="en-US" sz="1800" b="1" dirty="0">
                <a:solidFill>
                  <a:srgbClr val="FFFFFF"/>
                </a:solidFill>
                <a:latin typeface="Calibri" pitchFamily="34" charset="0"/>
                <a:ea typeface="Calibri" pitchFamily="34" charset="-122"/>
                <a:cs typeface="Calibri" pitchFamily="34" charset="-120"/>
              </a:rPr>
              <a:t>Accelerators, with disclosure</a:t>
            </a:r>
            <a:endParaRPr lang="en-US" sz="1800" dirty="0"/>
          </a:p>
        </p:txBody>
      </p:sp>
      <p:sp>
        <p:nvSpPr>
          <p:cNvPr id="47" name="anim:3"/>
          <p:cNvSpPr txBox="1"/>
          <p:nvPr/>
        </p:nvSpPr>
        <p:spPr>
          <a:xfrm>
            <a:off x="8339328" y="4526280"/>
            <a:ext cx="3017520" cy="1645920"/>
          </a:xfrm>
          <a:prstGeom prst="rect">
            <a:avLst/>
          </a:prstGeom>
          <a:noFill/>
          <a:ln/>
        </p:spPr>
        <p:txBody>
          <a:bodyPr wrap="square" lIns="0" tIns="0" rIns="0" bIns="0" rtlCol="0" anchor="t"/>
          <a:lstStyle/>
          <a:p>
            <a:pPr algn="l" indent="0" marL="0">
              <a:buNone/>
            </a:pPr>
            <a:r>
              <a:rPr lang="en-US" sz="1100" dirty="0">
                <a:solidFill>
                  <a:srgbClr val="C9D6E4"/>
                </a:solidFill>
                <a:latin typeface="Calibri" pitchFamily="34" charset="0"/>
                <a:ea typeface="Calibri" pitchFamily="34" charset="-122"/>
                <a:cs typeface="Calibri" pitchFamily="34" charset="-120"/>
              </a:rPr>
              <a:t>You use assistants as accelerators and disclose where you did. The capstone defence assumes you can justify every decision without help.</a:t>
            </a:r>
            <a:endParaRPr lang="en-US" sz="11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childTnLst>
                          </p:cTn>
                        </p:par>
                      </p:childTnLst>
                    </p:cTn>
                  </p:par>
                  <p:par>
                    <p:cTn id="62" fill="hold">
                      <p:stCondLst>
                        <p:cond delay="indefinite"/>
                      </p:stCondLst>
                      <p:childTnLst>
                        <p:par>
                          <p:cTn id="63"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9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18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27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45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54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childTnLst>
                          </p:cTn>
                        </p:par>
                      </p:childTnLst>
                    </p:cTn>
                  </p:par>
                  <p:par>
                    <p:cTn id="88" fill="hold">
                      <p:stCondLst>
                        <p:cond delay="indefinite"/>
                      </p:stCondLst>
                      <p:childTnLst>
                        <p:par>
                          <p:cTn id="89"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9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18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27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36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45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54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63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23</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007DB6"/>
          </a:solidFill>
          <a:ln w="12700">
            <a:solidFill>
              <a:srgbClr val="007DB6"/>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Four rules from day one</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Short, checkable, and applied from this week.</a:t>
            </a:r>
            <a:endParaRPr lang="en-US" sz="1250" dirty="0"/>
          </a:p>
        </p:txBody>
      </p:sp>
      <p:sp>
        <p:nvSpPr>
          <p:cNvPr id="21" name="anim:1 grad:card"/>
          <p:cNvSpPr/>
          <p:nvPr/>
        </p:nvSpPr>
        <p:spPr>
          <a:xfrm>
            <a:off x="548640" y="1783080"/>
            <a:ext cx="2606040" cy="4480560"/>
          </a:xfrm>
          <a:prstGeom prst="roundRect">
            <a:avLst>
              <a:gd name="adj" fmla="val 350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2" name="anim:1 grad:gold"/>
          <p:cNvSpPr/>
          <p:nvPr/>
        </p:nvSpPr>
        <p:spPr>
          <a:xfrm>
            <a:off x="822960" y="2103120"/>
            <a:ext cx="822960" cy="822960"/>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23" name="anim:1" descr="preencoded.png">    </p:cNvPr>
          <p:cNvPicPr>
            <a:picLocks noChangeAspect="1"/>
          </p:cNvPicPr>
          <p:nvPr/>
        </p:nvPicPr>
        <p:blipFill>
          <a:blip r:embed="rId3"/>
          <a:stretch>
            <a:fillRect/>
          </a:stretch>
        </p:blipFill>
        <p:spPr>
          <a:xfrm>
            <a:off x="1020470" y="2300630"/>
            <a:ext cx="427939" cy="427939"/>
          </a:xfrm>
          <a:prstGeom prst="rect">
            <a:avLst/>
          </a:prstGeom>
        </p:spPr>
      </p:pic>
      <p:sp>
        <p:nvSpPr>
          <p:cNvPr id="24" name="anim:1"/>
          <p:cNvSpPr txBox="1"/>
          <p:nvPr/>
        </p:nvSpPr>
        <p:spPr>
          <a:xfrm>
            <a:off x="822960" y="3154680"/>
            <a:ext cx="210312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ATTENDANCE</a:t>
            </a:r>
            <a:endParaRPr lang="en-US" sz="850" dirty="0"/>
          </a:p>
        </p:txBody>
      </p:sp>
      <p:sp>
        <p:nvSpPr>
          <p:cNvPr id="25" name="anim:1"/>
          <p:cNvSpPr txBox="1"/>
          <p:nvPr/>
        </p:nvSpPr>
        <p:spPr>
          <a:xfrm>
            <a:off x="822960" y="3429000"/>
            <a:ext cx="2103120" cy="914400"/>
          </a:xfrm>
          <a:prstGeom prst="rect">
            <a:avLst/>
          </a:prstGeom>
          <a:noFill/>
          <a:ln/>
        </p:spPr>
        <p:txBody>
          <a:bodyPr wrap="square" lIns="0" tIns="0" rIns="0" bIns="0" rtlCol="0" anchor="t"/>
          <a:lstStyle/>
          <a:p>
            <a:pPr algn="l" indent="0" marL="0">
              <a:buNone/>
            </a:pPr>
            <a:r>
              <a:rPr lang="en-US" sz="2000" b="1" dirty="0">
                <a:solidFill>
                  <a:srgbClr val="0A1E33"/>
                </a:solidFill>
                <a:latin typeface="Calibri" pitchFamily="34" charset="0"/>
                <a:ea typeface="Calibri" pitchFamily="34" charset="-122"/>
                <a:cs typeface="Calibri" pitchFamily="34" charset="-120"/>
              </a:rPr>
              <a:t>90 percent minimum</a:t>
            </a:r>
            <a:endParaRPr lang="en-US" sz="2000" dirty="0"/>
          </a:p>
        </p:txBody>
      </p:sp>
      <p:sp>
        <p:nvSpPr>
          <p:cNvPr id="26" name="anim:1"/>
          <p:cNvSpPr txBox="1"/>
          <p:nvPr/>
        </p:nvSpPr>
        <p:spPr>
          <a:xfrm>
            <a:off x="822960" y="4480560"/>
            <a:ext cx="2103120" cy="169164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Recorded in every session, teaching and build weeks alike. The 90 percent applies to the programme as a whole, so a missed day is recoverable and a missed month is not.</a:t>
            </a:r>
            <a:endParaRPr lang="en-US" sz="1050" dirty="0"/>
          </a:p>
        </p:txBody>
      </p:sp>
      <p:sp>
        <p:nvSpPr>
          <p:cNvPr id="27" name="anim:2 grad:card"/>
          <p:cNvSpPr/>
          <p:nvPr/>
        </p:nvSpPr>
        <p:spPr>
          <a:xfrm>
            <a:off x="3364992" y="1783080"/>
            <a:ext cx="2606040" cy="4480560"/>
          </a:xfrm>
          <a:prstGeom prst="roundRect">
            <a:avLst>
              <a:gd name="adj" fmla="val 350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8" name="anim:2"/>
          <p:cNvSpPr/>
          <p:nvPr/>
        </p:nvSpPr>
        <p:spPr>
          <a:xfrm>
            <a:off x="3639312" y="2103120"/>
            <a:ext cx="822960" cy="822960"/>
          </a:xfrm>
          <a:prstGeom prst="ellipse">
            <a:avLst/>
          </a:prstGeom>
          <a:solidFill>
            <a:srgbClr val="E3F2FA"/>
          </a:solidFill>
          <a:ln w="9525">
            <a:solidFill>
              <a:srgbClr val="E3F2FA"/>
            </a:solidFill>
            <a:prstDash val="solid"/>
          </a:ln>
        </p:spPr>
        <p:txBody>
          <a:bodyPr/>
          <a:p/>
        </p:txBody>
      </p:sp>
      <p:pic>
        <p:nvPicPr>
          <p:cNvPr id="29" name="anim:2" descr="preencoded.png">    </p:cNvPr>
          <p:cNvPicPr>
            <a:picLocks noChangeAspect="1"/>
          </p:cNvPicPr>
          <p:nvPr/>
        </p:nvPicPr>
        <p:blipFill>
          <a:blip r:embed="rId4"/>
          <a:stretch>
            <a:fillRect/>
          </a:stretch>
        </p:blipFill>
        <p:spPr>
          <a:xfrm>
            <a:off x="3836822" y="2300630"/>
            <a:ext cx="427939" cy="427939"/>
          </a:xfrm>
          <a:prstGeom prst="rect">
            <a:avLst/>
          </a:prstGeom>
        </p:spPr>
      </p:pic>
      <p:sp>
        <p:nvSpPr>
          <p:cNvPr id="30" name="anim:2"/>
          <p:cNvSpPr txBox="1"/>
          <p:nvPr/>
        </p:nvSpPr>
        <p:spPr>
          <a:xfrm>
            <a:off x="3639312" y="3154680"/>
            <a:ext cx="210312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ASSESSMENTS</a:t>
            </a:r>
            <a:endParaRPr lang="en-US" sz="850" dirty="0"/>
          </a:p>
        </p:txBody>
      </p:sp>
      <p:sp>
        <p:nvSpPr>
          <p:cNvPr id="31" name="anim:2"/>
          <p:cNvSpPr txBox="1"/>
          <p:nvPr/>
        </p:nvSpPr>
        <p:spPr>
          <a:xfrm>
            <a:off x="3639312" y="3429000"/>
            <a:ext cx="2103120" cy="914400"/>
          </a:xfrm>
          <a:prstGeom prst="rect">
            <a:avLst/>
          </a:prstGeom>
          <a:noFill/>
          <a:ln/>
        </p:spPr>
        <p:txBody>
          <a:bodyPr wrap="square" lIns="0" tIns="0" rIns="0" bIns="0" rtlCol="0" anchor="t"/>
          <a:lstStyle/>
          <a:p>
            <a:pPr algn="l" indent="0" marL="0">
              <a:buNone/>
            </a:pPr>
            <a:r>
              <a:rPr lang="en-US" sz="2000" b="1" dirty="0">
                <a:solidFill>
                  <a:srgbClr val="0A1E33"/>
                </a:solidFill>
                <a:latin typeface="Calibri" pitchFamily="34" charset="0"/>
                <a:ea typeface="Calibri" pitchFamily="34" charset="-122"/>
                <a:cs typeface="Calibri" pitchFamily="34" charset="-120"/>
              </a:rPr>
              <a:t>Offline and observed</a:t>
            </a:r>
            <a:endParaRPr lang="en-US" sz="2000" dirty="0"/>
          </a:p>
        </p:txBody>
      </p:sp>
      <p:sp>
        <p:nvSpPr>
          <p:cNvPr id="32" name="anim:2"/>
          <p:cNvSpPr txBox="1"/>
          <p:nvPr/>
        </p:nvSpPr>
        <p:spPr>
          <a:xfrm>
            <a:off x="3639312" y="4480560"/>
            <a:ext cx="2103120" cy="169164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Major exams, mock interviews and group discussions run offline and observed. The Saturday paper is pen and paper with no assistant, and you see your own score.</a:t>
            </a:r>
            <a:endParaRPr lang="en-US" sz="1050" dirty="0"/>
          </a:p>
        </p:txBody>
      </p:sp>
      <p:sp>
        <p:nvSpPr>
          <p:cNvPr id="33" name="anim:3 grad:card"/>
          <p:cNvSpPr/>
          <p:nvPr/>
        </p:nvSpPr>
        <p:spPr>
          <a:xfrm>
            <a:off x="6181344" y="1783080"/>
            <a:ext cx="2606040" cy="4480560"/>
          </a:xfrm>
          <a:prstGeom prst="roundRect">
            <a:avLst>
              <a:gd name="adj" fmla="val 350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4" name="anim:3 grad:blue"/>
          <p:cNvSpPr/>
          <p:nvPr/>
        </p:nvSpPr>
        <p:spPr>
          <a:xfrm>
            <a:off x="6455664" y="2103120"/>
            <a:ext cx="822960" cy="82296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35" name="anim:3" descr="preencoded.png">    </p:cNvPr>
          <p:cNvPicPr>
            <a:picLocks noChangeAspect="1"/>
          </p:cNvPicPr>
          <p:nvPr/>
        </p:nvPicPr>
        <p:blipFill>
          <a:blip r:embed="rId5"/>
          <a:stretch>
            <a:fillRect/>
          </a:stretch>
        </p:blipFill>
        <p:spPr>
          <a:xfrm>
            <a:off x="6653174" y="2300630"/>
            <a:ext cx="427939" cy="427939"/>
          </a:xfrm>
          <a:prstGeom prst="rect">
            <a:avLst/>
          </a:prstGeom>
        </p:spPr>
      </p:pic>
      <p:sp>
        <p:nvSpPr>
          <p:cNvPr id="36" name="anim:3"/>
          <p:cNvSpPr txBox="1"/>
          <p:nvPr/>
        </p:nvSpPr>
        <p:spPr>
          <a:xfrm>
            <a:off x="6455664" y="3154680"/>
            <a:ext cx="210312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SUBMISSIONS</a:t>
            </a:r>
            <a:endParaRPr lang="en-US" sz="850" dirty="0"/>
          </a:p>
        </p:txBody>
      </p:sp>
      <p:sp>
        <p:nvSpPr>
          <p:cNvPr id="37" name="anim:3"/>
          <p:cNvSpPr txBox="1"/>
          <p:nvPr/>
        </p:nvSpPr>
        <p:spPr>
          <a:xfrm>
            <a:off x="6455664" y="3429000"/>
            <a:ext cx="2103120" cy="914400"/>
          </a:xfrm>
          <a:prstGeom prst="rect">
            <a:avLst/>
          </a:prstGeom>
          <a:noFill/>
          <a:ln/>
        </p:spPr>
        <p:txBody>
          <a:bodyPr wrap="square" lIns="0" tIns="0" rIns="0" bIns="0" rtlCol="0" anchor="t"/>
          <a:lstStyle/>
          <a:p>
            <a:pPr algn="l" indent="0" marL="0">
              <a:buNone/>
            </a:pPr>
            <a:r>
              <a:rPr lang="en-US" sz="2000" b="1" dirty="0">
                <a:solidFill>
                  <a:srgbClr val="0A1E33"/>
                </a:solidFill>
                <a:latin typeface="Calibri" pitchFamily="34" charset="0"/>
                <a:ea typeface="Calibri" pitchFamily="34" charset="-122"/>
                <a:cs typeface="Calibri" pitchFamily="34" charset="-120"/>
              </a:rPr>
              <a:t>GitHub and the LMS</a:t>
            </a:r>
            <a:endParaRPr lang="en-US" sz="2000" dirty="0"/>
          </a:p>
        </p:txBody>
      </p:sp>
      <p:sp>
        <p:nvSpPr>
          <p:cNvPr id="38" name="anim:3"/>
          <p:cNvSpPr txBox="1"/>
          <p:nvPr/>
        </p:nvSpPr>
        <p:spPr>
          <a:xfrm>
            <a:off x="6455664" y="4480560"/>
            <a:ext cx="2103120" cy="169164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Exercises and projects go on GitHub Discussions and the LMS by the stated deadline. What is not submitted there is not submitted.</a:t>
            </a:r>
            <a:endParaRPr lang="en-US" sz="1050" dirty="0"/>
          </a:p>
        </p:txBody>
      </p:sp>
      <p:sp>
        <p:nvSpPr>
          <p:cNvPr id="39" name="anim:4 grad:card"/>
          <p:cNvSpPr/>
          <p:nvPr/>
        </p:nvSpPr>
        <p:spPr>
          <a:xfrm>
            <a:off x="8997696" y="1783080"/>
            <a:ext cx="2606040" cy="4480560"/>
          </a:xfrm>
          <a:prstGeom prst="roundRect">
            <a:avLst>
              <a:gd name="adj" fmla="val 3509"/>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0" name="anim:4"/>
          <p:cNvSpPr/>
          <p:nvPr/>
        </p:nvSpPr>
        <p:spPr>
          <a:xfrm>
            <a:off x="9272016" y="2103120"/>
            <a:ext cx="822960" cy="822960"/>
          </a:xfrm>
          <a:prstGeom prst="ellipse">
            <a:avLst/>
          </a:prstGeom>
          <a:solidFill>
            <a:srgbClr val="F8E1E3"/>
          </a:solidFill>
          <a:ln w="9525">
            <a:solidFill>
              <a:srgbClr val="F8E1E3"/>
            </a:solidFill>
            <a:prstDash val="solid"/>
          </a:ln>
        </p:spPr>
        <p:txBody>
          <a:bodyPr/>
          <a:p/>
        </p:txBody>
      </p:sp>
      <p:pic>
        <p:nvPicPr>
          <p:cNvPr id="41" name="anim:4" descr="preencoded.png">    </p:cNvPr>
          <p:cNvPicPr>
            <a:picLocks noChangeAspect="1"/>
          </p:cNvPicPr>
          <p:nvPr/>
        </p:nvPicPr>
        <p:blipFill>
          <a:blip r:embed="rId6"/>
          <a:stretch>
            <a:fillRect/>
          </a:stretch>
        </p:blipFill>
        <p:spPr>
          <a:xfrm>
            <a:off x="9469526" y="2300630"/>
            <a:ext cx="427939" cy="427939"/>
          </a:xfrm>
          <a:prstGeom prst="rect">
            <a:avLst/>
          </a:prstGeom>
        </p:spPr>
      </p:pic>
      <p:sp>
        <p:nvSpPr>
          <p:cNvPr id="42" name="anim:4"/>
          <p:cNvSpPr txBox="1"/>
          <p:nvPr/>
        </p:nvSpPr>
        <p:spPr>
          <a:xfrm>
            <a:off x="9272016" y="3154680"/>
            <a:ext cx="210312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YOUR OWN WORK</a:t>
            </a:r>
            <a:endParaRPr lang="en-US" sz="850" dirty="0"/>
          </a:p>
        </p:txBody>
      </p:sp>
      <p:sp>
        <p:nvSpPr>
          <p:cNvPr id="43" name="anim:4"/>
          <p:cNvSpPr txBox="1"/>
          <p:nvPr/>
        </p:nvSpPr>
        <p:spPr>
          <a:xfrm>
            <a:off x="9272016" y="3429000"/>
            <a:ext cx="2103120" cy="914400"/>
          </a:xfrm>
          <a:prstGeom prst="rect">
            <a:avLst/>
          </a:prstGeom>
          <a:noFill/>
          <a:ln/>
        </p:spPr>
        <p:txBody>
          <a:bodyPr wrap="square" lIns="0" tIns="0" rIns="0" bIns="0" rtlCol="0" anchor="t"/>
          <a:lstStyle/>
          <a:p>
            <a:pPr algn="l" indent="0" marL="0">
              <a:buNone/>
            </a:pPr>
            <a:r>
              <a:rPr lang="en-US" sz="2000" b="1" dirty="0">
                <a:solidFill>
                  <a:srgbClr val="0A1E33"/>
                </a:solidFill>
                <a:latin typeface="Calibri" pitchFamily="34" charset="0"/>
                <a:ea typeface="Calibri" pitchFamily="34" charset="-122"/>
                <a:cs typeface="Calibri" pitchFamily="34" charset="-120"/>
              </a:rPr>
              <a:t>Defensible, line by line</a:t>
            </a:r>
            <a:endParaRPr lang="en-US" sz="2000" dirty="0"/>
          </a:p>
        </p:txBody>
      </p:sp>
      <p:sp>
        <p:nvSpPr>
          <p:cNvPr id="44" name="anim:4"/>
          <p:cNvSpPr txBox="1"/>
          <p:nvPr/>
        </p:nvSpPr>
        <p:spPr>
          <a:xfrm>
            <a:off x="9272016" y="4480560"/>
            <a:ext cx="2103120" cy="1691640"/>
          </a:xfrm>
          <a:prstGeom prst="rect">
            <a:avLst/>
          </a:prstGeom>
          <a:noFill/>
          <a:ln/>
        </p:spPr>
        <p:txBody>
          <a:bodyPr wrap="square" lIns="0" tIns="0" rIns="0" bIns="0" rtlCol="0" anchor="t"/>
          <a:lstStyle/>
          <a:p>
            <a:pPr algn="l" indent="0" marL="0">
              <a:buNone/>
            </a:pPr>
            <a:r>
              <a:rPr lang="en-US" sz="1050" dirty="0">
                <a:solidFill>
                  <a:srgbClr val="15243A"/>
                </a:solidFill>
                <a:latin typeface="Calibri" pitchFamily="34" charset="0"/>
                <a:ea typeface="Calibri" pitchFamily="34" charset="-122"/>
                <a:cs typeface="Calibri" pitchFamily="34" charset="-120"/>
              </a:rPr>
              <a:t>A challenges log kept live during every build, never written afterwards, and every decision you submit is one you can defend in a viva.</a:t>
            </a:r>
            <a:endParaRPr lang="en-US" sz="10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grpId="0" nodeType="withEffect">
                                  <p:stCondLst>
                                    <p:cond delay="9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00"/>
                                        <p:tgtEl>
                                          <p:spTgt spid="28"/>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grpId="0" nodeType="withEffect">
                                  <p:stCondLst>
                                    <p:cond delay="27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45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400"/>
                                        <p:tgtEl>
                                          <p:spTgt spid="33"/>
                                        </p:tgtEl>
                                      </p:cBhvr>
                                    </p:animEffect>
                                  </p:childTnLst>
                                </p:cTn>
                              </p:par>
                              <p:par>
                                <p:cTn id="46" presetID="10" presetClass="entr" presetSubtype="0" fill="hold" grpId="0" nodeType="withEffect">
                                  <p:stCondLst>
                                    <p:cond delay="9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400"/>
                                        <p:tgtEl>
                                          <p:spTgt spid="34"/>
                                        </p:tgtEl>
                                      </p:cBhvr>
                                    </p:animEffect>
                                  </p:childTnLst>
                                </p:cTn>
                              </p:par>
                              <p:par>
                                <p:cTn id="49" presetID="10" presetClass="entr" presetSubtype="0" fill="hold" grpId="0" nodeType="withEffect">
                                  <p:stCondLst>
                                    <p:cond delay="18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00"/>
                                        <p:tgtEl>
                                          <p:spTgt spid="35"/>
                                        </p:tgtEl>
                                      </p:cBhvr>
                                    </p:animEffect>
                                  </p:childTnLst>
                                </p:cTn>
                              </p:par>
                              <p:par>
                                <p:cTn id="52" presetID="10" presetClass="entr" presetSubtype="0" fill="hold" grpId="0" nodeType="withEffect">
                                  <p:stCondLst>
                                    <p:cond delay="27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00"/>
                                        <p:tgtEl>
                                          <p:spTgt spid="36"/>
                                        </p:tgtEl>
                                      </p:cBhvr>
                                    </p:animEffect>
                                  </p:childTnLst>
                                </p:cTn>
                              </p:par>
                              <p:par>
                                <p:cTn id="55" presetID="10" presetClass="entr" presetSubtype="0" fill="hold" grpId="0" nodeType="withEffect">
                                  <p:stCondLst>
                                    <p:cond delay="36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400"/>
                                        <p:tgtEl>
                                          <p:spTgt spid="37"/>
                                        </p:tgtEl>
                                      </p:cBhvr>
                                    </p:animEffect>
                                  </p:childTnLst>
                                </p:cTn>
                              </p:par>
                              <p:par>
                                <p:cTn id="58" presetID="10" presetClass="entr" presetSubtype="0" fill="hold" grpId="0" nodeType="withEffect">
                                  <p:stCondLst>
                                    <p:cond delay="45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400"/>
                                        <p:tgtEl>
                                          <p:spTgt spid="38"/>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400"/>
                                        <p:tgtEl>
                                          <p:spTgt spid="39"/>
                                        </p:tgtEl>
                                      </p:cBhvr>
                                    </p:animEffect>
                                  </p:childTnLst>
                                </p:cTn>
                              </p:par>
                              <p:par>
                                <p:cTn id="66" presetID="10" presetClass="entr" presetSubtype="0" fill="hold" grpId="0" nodeType="withEffect">
                                  <p:stCondLst>
                                    <p:cond delay="9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400"/>
                                        <p:tgtEl>
                                          <p:spTgt spid="40"/>
                                        </p:tgtEl>
                                      </p:cBhvr>
                                    </p:animEffect>
                                  </p:childTnLst>
                                </p:cTn>
                              </p:par>
                              <p:par>
                                <p:cTn id="69" presetID="10" presetClass="entr" presetSubtype="0" fill="hold" grpId="0" nodeType="withEffect">
                                  <p:stCondLst>
                                    <p:cond delay="18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400"/>
                                        <p:tgtEl>
                                          <p:spTgt spid="41"/>
                                        </p:tgtEl>
                                      </p:cBhvr>
                                    </p:animEffect>
                                  </p:childTnLst>
                                </p:cTn>
                              </p:par>
                              <p:par>
                                <p:cTn id="72" presetID="10" presetClass="entr" presetSubtype="0" fill="hold" grpId="0" nodeType="withEffect">
                                  <p:stCondLst>
                                    <p:cond delay="27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400"/>
                                        <p:tgtEl>
                                          <p:spTgt spid="42"/>
                                        </p:tgtEl>
                                      </p:cBhvr>
                                    </p:animEffect>
                                  </p:childTnLst>
                                </p:cTn>
                              </p:par>
                              <p:par>
                                <p:cTn id="75" presetID="10" presetClass="entr" presetSubtype="0" fill="hold" grpId="0" nodeType="withEffect">
                                  <p:stCondLst>
                                    <p:cond delay="36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400"/>
                                        <p:tgtEl>
                                          <p:spTgt spid="43"/>
                                        </p:tgtEl>
                                      </p:cBhvr>
                                    </p:animEffect>
                                  </p:childTnLst>
                                </p:cTn>
                              </p:par>
                              <p:par>
                                <p:cTn id="78" presetID="10" presetClass="entr" presetSubtype="0" fill="hold" grpId="0" nodeType="withEffect">
                                  <p:stCondLst>
                                    <p:cond delay="45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683" y="175931"/>
            <a:ext cx="471099" cy="471099"/>
          </a:xfrm>
          <a:prstGeom prst="ellipse">
            <a:avLst/>
          </a:prstGeom>
          <a:solidFill>
            <a:srgbClr val="FFFFFF"/>
          </a:solidFill>
          <a:ln w="12700">
            <a:solidFill>
              <a:srgbClr val="FFFFFF"/>
            </a:solidFill>
            <a:prstDash val="solid"/>
          </a:ln>
        </p:spPr>
        <p:txBody>
          <a:bodyPr/>
          <a:p/>
        </p:txBody>
      </p:sp>
      <p:pic>
        <p:nvPicPr>
          <p:cNvPr id="3"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4" name="Text 1"/>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FFFFFF"/>
                </a:solidFill>
                <a:latin typeface="Calibri" pitchFamily="34" charset="0"/>
                <a:ea typeface="Calibri" pitchFamily="34" charset="-122"/>
                <a:cs typeface="Calibri" pitchFamily="34" charset="-120"/>
              </a:rPr>
              <a:t>IITGN CDF (CAA)</a:t>
            </a:r>
            <a:endParaRPr lang="en-US" sz="950" dirty="0"/>
          </a:p>
        </p:txBody>
      </p:sp>
      <p:sp>
        <p:nvSpPr>
          <p:cNvPr id="5" name="Text 2"/>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A9B8CA"/>
                </a:solidFill>
                <a:latin typeface="Calibri" pitchFamily="34" charset="0"/>
                <a:ea typeface="Calibri" pitchFamily="34" charset="-122"/>
                <a:cs typeface="Calibri" pitchFamily="34" charset="-120"/>
              </a:rPr>
              <a:t>COMPETENCY ADVANCEMENT ACADEMY  ·  IIT GANDHINAGAR</a:t>
            </a:r>
            <a:endParaRPr lang="en-US" sz="650" dirty="0"/>
          </a:p>
        </p:txBody>
      </p:sp>
      <p:sp>
        <p:nvSpPr>
          <p:cNvPr id="6" name="Text 3"/>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A9B8CA"/>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7" name="Text 4"/>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A9B8CA"/>
                </a:solidFill>
                <a:latin typeface="Calibri" pitchFamily="34" charset="0"/>
                <a:ea typeface="Calibri" pitchFamily="34" charset="-122"/>
                <a:cs typeface="Calibri" pitchFamily="34" charset="-120"/>
              </a:rPr>
              <a:t>24</a:t>
            </a:r>
            <a:endParaRPr lang="en-US" sz="850" dirty="0"/>
          </a:p>
        </p:txBody>
      </p:sp>
      <p:sp>
        <p:nvSpPr>
          <p:cNvPr id="8" name="Text 5"/>
          <p:cNvSpPr txBox="1"/>
          <p:nvPr/>
        </p:nvSpPr>
        <p:spPr>
          <a:xfrm>
            <a:off x="548640" y="6455664"/>
            <a:ext cx="3657600" cy="201168"/>
          </a:xfrm>
          <a:prstGeom prst="rect">
            <a:avLst/>
          </a:prstGeom>
          <a:noFill/>
          <a:ln/>
        </p:spPr>
        <p:txBody>
          <a:bodyPr wrap="square" lIns="0" tIns="0" rIns="0" bIns="0" rtlCol="0" anchor="t"/>
          <a:lstStyle/>
          <a:p>
            <a:pPr algn="l" indent="0" marL="0">
              <a:buNone/>
            </a:pPr>
            <a:r>
              <a:rPr lang="en-US" sz="850" dirty="0">
                <a:solidFill>
                  <a:srgbClr val="A9B8CA"/>
                </a:solidFill>
                <a:latin typeface="Calibri" pitchFamily="34" charset="0"/>
                <a:ea typeface="Calibri" pitchFamily="34" charset="-122"/>
                <a:cs typeface="Calibri" pitchFamily="34" charset="-120"/>
              </a:rPr>
              <a:t>Academic orientation</a:t>
            </a:r>
            <a:endParaRPr lang="en-US" sz="850" dirty="0"/>
          </a:p>
        </p:txBody>
      </p:sp>
      <p:sp>
        <p:nvSpPr>
          <p:cNvPr id="9" name="anim:1"/>
          <p:cNvSpPr txBox="1"/>
          <p:nvPr/>
        </p:nvSpPr>
        <p:spPr>
          <a:xfrm>
            <a:off x="731520" y="1371600"/>
            <a:ext cx="3657600" cy="1463040"/>
          </a:xfrm>
          <a:prstGeom prst="rect">
            <a:avLst/>
          </a:prstGeom>
          <a:noFill/>
          <a:ln/>
        </p:spPr>
        <p:txBody>
          <a:bodyPr wrap="square" lIns="0" tIns="0" rIns="0" bIns="0" rtlCol="0" anchor="t"/>
          <a:lstStyle/>
          <a:p>
            <a:pPr algn="l" indent="0" marL="0">
              <a:buNone/>
            </a:pPr>
            <a:r>
              <a:rPr lang="en-US" sz="9600" b="1" dirty="0">
                <a:solidFill>
                  <a:srgbClr val="E9B221"/>
                </a:solidFill>
                <a:latin typeface="Calibri" pitchFamily="34" charset="0"/>
                <a:ea typeface="Calibri" pitchFamily="34" charset="-122"/>
                <a:cs typeface="Calibri" pitchFamily="34" charset="-120"/>
              </a:rPr>
              <a:t>05</a:t>
            </a:r>
            <a:endParaRPr lang="en-US" sz="9600" dirty="0"/>
          </a:p>
        </p:txBody>
      </p:sp>
      <p:sp>
        <p:nvSpPr>
          <p:cNvPr id="10" name="anim:1"/>
          <p:cNvSpPr txBox="1"/>
          <p:nvPr/>
        </p:nvSpPr>
        <p:spPr>
          <a:xfrm>
            <a:off x="731520" y="288036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Placement and capstone</a:t>
            </a:r>
            <a:endParaRPr lang="en-US" sz="4000" dirty="0"/>
          </a:p>
        </p:txBody>
      </p:sp>
      <p:sp>
        <p:nvSpPr>
          <p:cNvPr id="11" name="anim:1"/>
          <p:cNvSpPr txBox="1"/>
          <p:nvPr/>
        </p:nvSpPr>
        <p:spPr>
          <a:xfrm>
            <a:off x="731520" y="3794760"/>
            <a:ext cx="9144000" cy="731520"/>
          </a:xfrm>
          <a:prstGeom prst="rect">
            <a:avLst/>
          </a:prstGeom>
          <a:noFill/>
          <a:ln/>
        </p:spPr>
        <p:txBody>
          <a:bodyPr wrap="square" lIns="0" tIns="0" rIns="0" bIns="0" rtlCol="0" anchor="t"/>
          <a:lstStyle/>
          <a:p>
            <a:pPr algn="l" indent="0" marL="0">
              <a:buNone/>
            </a:pPr>
            <a:r>
              <a:rPr lang="en-US" sz="1500" dirty="0">
                <a:solidFill>
                  <a:srgbClr val="C9D6E4"/>
                </a:solidFill>
                <a:latin typeface="Calibri" pitchFamily="34" charset="0"/>
                <a:ea typeface="Calibri" pitchFamily="34" charset="-122"/>
                <a:cs typeface="Calibri" pitchFamily="34" charset="-120"/>
              </a:rPr>
              <a:t>Preparation that starts in Week 1, and a capstone you scope, build, deploy and defend.</a:t>
            </a:r>
            <a:endParaRPr lang="en-US" sz="1500" dirty="0"/>
          </a:p>
        </p:txBody>
      </p:sp>
      <p:sp>
        <p:nvSpPr>
          <p:cNvPr id="12" name="anim:1"/>
          <p:cNvSpPr txBox="1"/>
          <p:nvPr/>
        </p:nvSpPr>
        <p:spPr>
          <a:xfrm>
            <a:off x="731520" y="5120640"/>
            <a:ext cx="18288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Where this takes you</a:t>
            </a:r>
            <a:endParaRPr lang="en-US" sz="900" dirty="0"/>
          </a:p>
        </p:txBody>
      </p:sp>
      <p:sp>
        <p:nvSpPr>
          <p:cNvPr id="13" name="anim:1"/>
          <p:cNvSpPr txBox="1"/>
          <p:nvPr/>
        </p:nvSpPr>
        <p:spPr>
          <a:xfrm>
            <a:off x="2670048" y="5120640"/>
            <a:ext cx="14859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it is built</a:t>
            </a:r>
            <a:endParaRPr lang="en-US" sz="900" dirty="0"/>
          </a:p>
        </p:txBody>
      </p:sp>
      <p:sp>
        <p:nvSpPr>
          <p:cNvPr id="14" name="anim:1"/>
          <p:cNvSpPr txBox="1"/>
          <p:nvPr/>
        </p:nvSpPr>
        <p:spPr>
          <a:xfrm>
            <a:off x="4265676" y="5120640"/>
            <a:ext cx="14859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a week runs</a:t>
            </a:r>
            <a:endParaRPr lang="en-US" sz="900" dirty="0"/>
          </a:p>
        </p:txBody>
      </p:sp>
      <p:sp>
        <p:nvSpPr>
          <p:cNvPr id="15" name="anim:1"/>
          <p:cNvSpPr txBox="1"/>
          <p:nvPr/>
        </p:nvSpPr>
        <p:spPr>
          <a:xfrm>
            <a:off x="5861304" y="5120640"/>
            <a:ext cx="189738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you are evaluated</a:t>
            </a:r>
            <a:endParaRPr lang="en-US" sz="900" dirty="0"/>
          </a:p>
        </p:txBody>
      </p:sp>
      <p:sp>
        <p:nvSpPr>
          <p:cNvPr id="16" name="anim:1"/>
          <p:cNvSpPr txBox="1"/>
          <p:nvPr/>
        </p:nvSpPr>
        <p:spPr>
          <a:xfrm>
            <a:off x="7868412" y="5120640"/>
            <a:ext cx="1965960" cy="310896"/>
          </a:xfrm>
          <a:prstGeom prst="roundRect">
            <a:avLst>
              <a:gd name="adj" fmla="val 58824"/>
            </a:avLst>
          </a:prstGeom>
          <a:solidFill>
            <a:srgbClr val="E9B221"/>
          </a:solidFill>
          <a:ln w="9525">
            <a:solidFill>
              <a:srgbClr val="E9B221"/>
            </a:solidFill>
          </a:ln>
        </p:spPr>
        <p:txBody>
          <a:bodyPr wrap="square" lIns="0" tIns="76200" rIns="76200" bIns="0" rtlCol="0" anchor="ctr"/>
          <a:lstStyle/>
          <a:p>
            <a:pPr algn="ctr" indent="0" marL="0">
              <a:buNone/>
            </a:pPr>
            <a:r>
              <a:rPr lang="en-US" sz="900" b="1" dirty="0">
                <a:solidFill>
                  <a:srgbClr val="0A1E33"/>
                </a:solidFill>
                <a:latin typeface="Calibri" pitchFamily="34" charset="0"/>
                <a:ea typeface="Calibri" pitchFamily="34" charset="-122"/>
                <a:cs typeface="Calibri" pitchFamily="34" charset="-120"/>
              </a:rPr>
              <a:t>Placement and capstone</a:t>
            </a:r>
            <a:endParaRPr lang="en-US" sz="900" dirty="0"/>
          </a:p>
        </p:txBody>
      </p:sp>
      <p:sp>
        <p:nvSpPr>
          <p:cNvPr id="17" name="anim:1"/>
          <p:cNvSpPr txBox="1"/>
          <p:nvPr/>
        </p:nvSpPr>
        <p:spPr>
          <a:xfrm>
            <a:off x="9944100" y="5120640"/>
            <a:ext cx="169164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People and support</a:t>
            </a:r>
            <a:endParaRPr lang="en-US" sz="9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25</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007DB6"/>
          </a:solidFill>
          <a:ln w="12700">
            <a:solidFill>
              <a:srgbClr val="007DB6"/>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Placement preparation starts in Week 1, not Week 19</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Five layers, each switched on at a different point on the road, and none switched off again.</a:t>
            </a:r>
            <a:endParaRPr lang="en-US" sz="1250" dirty="0"/>
          </a:p>
        </p:txBody>
      </p:sp>
      <p:sp>
        <p:nvSpPr>
          <p:cNvPr id="21" name="anim:1 grad:card"/>
          <p:cNvSpPr txBox="1"/>
          <p:nvPr/>
        </p:nvSpPr>
        <p:spPr>
          <a:xfrm>
            <a:off x="4343400" y="1783080"/>
            <a:ext cx="330098" cy="384048"/>
          </a:xfrm>
          <a:prstGeom prst="roundRect">
            <a:avLst>
              <a:gd name="adj" fmla="val 16621"/>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1</a:t>
            </a:r>
            <a:endParaRPr lang="en-US" sz="850" dirty="0"/>
          </a:p>
        </p:txBody>
      </p:sp>
      <p:sp>
        <p:nvSpPr>
          <p:cNvPr id="22" name="anim:1 grad:card"/>
          <p:cNvSpPr txBox="1"/>
          <p:nvPr/>
        </p:nvSpPr>
        <p:spPr>
          <a:xfrm>
            <a:off x="4710074" y="1783080"/>
            <a:ext cx="330098" cy="384048"/>
          </a:xfrm>
          <a:prstGeom prst="roundRect">
            <a:avLst>
              <a:gd name="adj" fmla="val 16621"/>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2</a:t>
            </a:r>
            <a:endParaRPr lang="en-US" sz="850" dirty="0"/>
          </a:p>
        </p:txBody>
      </p:sp>
      <p:sp>
        <p:nvSpPr>
          <p:cNvPr id="23" name="anim:1 grad:blue"/>
          <p:cNvSpPr txBox="1"/>
          <p:nvPr/>
        </p:nvSpPr>
        <p:spPr>
          <a:xfrm>
            <a:off x="5076749" y="1783080"/>
            <a:ext cx="330098" cy="384048"/>
          </a:xfrm>
          <a:prstGeom prst="roundRect">
            <a:avLst>
              <a:gd name="adj" fmla="val 16621"/>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24" name="anim:1 grad:card"/>
          <p:cNvSpPr txBox="1"/>
          <p:nvPr/>
        </p:nvSpPr>
        <p:spPr>
          <a:xfrm>
            <a:off x="5443423" y="1783080"/>
            <a:ext cx="330098" cy="384048"/>
          </a:xfrm>
          <a:prstGeom prst="roundRect">
            <a:avLst>
              <a:gd name="adj" fmla="val 16621"/>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4</a:t>
            </a:r>
            <a:endParaRPr lang="en-US" sz="850" dirty="0"/>
          </a:p>
        </p:txBody>
      </p:sp>
      <p:sp>
        <p:nvSpPr>
          <p:cNvPr id="25" name="anim:1 grad:card"/>
          <p:cNvSpPr txBox="1"/>
          <p:nvPr/>
        </p:nvSpPr>
        <p:spPr>
          <a:xfrm>
            <a:off x="5810098" y="1783080"/>
            <a:ext cx="330098" cy="384048"/>
          </a:xfrm>
          <a:prstGeom prst="roundRect">
            <a:avLst>
              <a:gd name="adj" fmla="val 16621"/>
            </a:avLst>
          </a:prstGeom>
          <a:gradFill rotWithShape="1">
            <a:gsLst>
              <a:gs pos="0">
                <a:srgbClr val="FFFFFF"/>
              </a:gs>
              <a:gs pos="100000">
                <a:srgbClr val="F3F6FA"/>
              </a:gs>
            </a:gsLst>
            <a:lin ang="5400000" scaled="0"/>
          </a:gradFill>
          <a:ln w="19050">
            <a:solidFill>
              <a:srgbClr val="E9B221"/>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5</a:t>
            </a:r>
            <a:endParaRPr lang="en-US" sz="850" dirty="0"/>
          </a:p>
        </p:txBody>
      </p:sp>
      <p:sp>
        <p:nvSpPr>
          <p:cNvPr id="26" name="anim:1"/>
          <p:cNvSpPr/>
          <p:nvPr/>
        </p:nvSpPr>
        <p:spPr>
          <a:xfrm>
            <a:off x="5920283" y="2011680"/>
            <a:ext cx="109728" cy="109728"/>
          </a:xfrm>
          <a:prstGeom prst="ellipse">
            <a:avLst/>
          </a:prstGeom>
          <a:solidFill>
            <a:srgbClr val="E9B221"/>
          </a:solidFill>
          <a:ln w="12700">
            <a:solidFill>
              <a:srgbClr val="E9B221"/>
            </a:solidFill>
            <a:prstDash val="solid"/>
          </a:ln>
        </p:spPr>
        <p:txBody>
          <a:bodyPr/>
          <a:p/>
        </p:txBody>
      </p:sp>
      <p:sp>
        <p:nvSpPr>
          <p:cNvPr id="27" name="anim:1 grad:blue"/>
          <p:cNvSpPr txBox="1"/>
          <p:nvPr/>
        </p:nvSpPr>
        <p:spPr>
          <a:xfrm>
            <a:off x="6176772" y="1783080"/>
            <a:ext cx="330098" cy="384048"/>
          </a:xfrm>
          <a:prstGeom prst="roundRect">
            <a:avLst>
              <a:gd name="adj" fmla="val 16621"/>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6</a:t>
            </a:r>
            <a:endParaRPr lang="en-US" sz="850" dirty="0"/>
          </a:p>
        </p:txBody>
      </p:sp>
      <p:sp>
        <p:nvSpPr>
          <p:cNvPr id="28" name="anim:1 grad:card"/>
          <p:cNvSpPr txBox="1"/>
          <p:nvPr/>
        </p:nvSpPr>
        <p:spPr>
          <a:xfrm>
            <a:off x="6543446" y="1783080"/>
            <a:ext cx="330098" cy="384048"/>
          </a:xfrm>
          <a:prstGeom prst="roundRect">
            <a:avLst>
              <a:gd name="adj" fmla="val 16621"/>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7</a:t>
            </a:r>
            <a:endParaRPr lang="en-US" sz="850" dirty="0"/>
          </a:p>
        </p:txBody>
      </p:sp>
      <p:sp>
        <p:nvSpPr>
          <p:cNvPr id="29" name="anim:1 grad:card"/>
          <p:cNvSpPr txBox="1"/>
          <p:nvPr/>
        </p:nvSpPr>
        <p:spPr>
          <a:xfrm>
            <a:off x="6910121" y="1783080"/>
            <a:ext cx="330098" cy="384048"/>
          </a:xfrm>
          <a:prstGeom prst="roundRect">
            <a:avLst>
              <a:gd name="adj" fmla="val 16621"/>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8</a:t>
            </a:r>
            <a:endParaRPr lang="en-US" sz="850" dirty="0"/>
          </a:p>
        </p:txBody>
      </p:sp>
      <p:sp>
        <p:nvSpPr>
          <p:cNvPr id="30" name="anim:1 grad:blue"/>
          <p:cNvSpPr txBox="1"/>
          <p:nvPr/>
        </p:nvSpPr>
        <p:spPr>
          <a:xfrm>
            <a:off x="7276795" y="1783080"/>
            <a:ext cx="330098" cy="384048"/>
          </a:xfrm>
          <a:prstGeom prst="roundRect">
            <a:avLst>
              <a:gd name="adj" fmla="val 16621"/>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9</a:t>
            </a:r>
            <a:endParaRPr lang="en-US" sz="850" dirty="0"/>
          </a:p>
        </p:txBody>
      </p:sp>
      <p:sp>
        <p:nvSpPr>
          <p:cNvPr id="31" name="anim:1 grad:card"/>
          <p:cNvSpPr txBox="1"/>
          <p:nvPr/>
        </p:nvSpPr>
        <p:spPr>
          <a:xfrm>
            <a:off x="7643470" y="1783080"/>
            <a:ext cx="330098" cy="384048"/>
          </a:xfrm>
          <a:prstGeom prst="roundRect">
            <a:avLst>
              <a:gd name="adj" fmla="val 16621"/>
            </a:avLst>
          </a:prstGeom>
          <a:gradFill rotWithShape="1">
            <a:gsLst>
              <a:gs pos="0">
                <a:srgbClr val="FFFFFF"/>
              </a:gs>
              <a:gs pos="100000">
                <a:srgbClr val="F3F6FA"/>
              </a:gs>
            </a:gsLst>
            <a:lin ang="5400000" scaled="0"/>
          </a:gradFill>
          <a:ln w="19050">
            <a:solidFill>
              <a:srgbClr val="E9B221"/>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10</a:t>
            </a:r>
            <a:endParaRPr lang="en-US" sz="850" dirty="0"/>
          </a:p>
        </p:txBody>
      </p:sp>
      <p:sp>
        <p:nvSpPr>
          <p:cNvPr id="32" name="anim:1"/>
          <p:cNvSpPr/>
          <p:nvPr/>
        </p:nvSpPr>
        <p:spPr>
          <a:xfrm>
            <a:off x="7753655" y="2011680"/>
            <a:ext cx="109728" cy="109728"/>
          </a:xfrm>
          <a:prstGeom prst="ellipse">
            <a:avLst/>
          </a:prstGeom>
          <a:solidFill>
            <a:srgbClr val="E9B221"/>
          </a:solidFill>
          <a:ln w="12700">
            <a:solidFill>
              <a:srgbClr val="E9B221"/>
            </a:solidFill>
            <a:prstDash val="solid"/>
          </a:ln>
        </p:spPr>
        <p:txBody>
          <a:bodyPr/>
          <a:p/>
        </p:txBody>
      </p:sp>
      <p:sp>
        <p:nvSpPr>
          <p:cNvPr id="33" name="anim:1 grad:card"/>
          <p:cNvSpPr txBox="1"/>
          <p:nvPr/>
        </p:nvSpPr>
        <p:spPr>
          <a:xfrm>
            <a:off x="8010144" y="1783080"/>
            <a:ext cx="330098" cy="384048"/>
          </a:xfrm>
          <a:prstGeom prst="roundRect">
            <a:avLst>
              <a:gd name="adj" fmla="val 16621"/>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11</a:t>
            </a:r>
            <a:endParaRPr lang="en-US" sz="850" dirty="0"/>
          </a:p>
        </p:txBody>
      </p:sp>
      <p:sp>
        <p:nvSpPr>
          <p:cNvPr id="34" name="anim:1 grad:blue"/>
          <p:cNvSpPr txBox="1"/>
          <p:nvPr/>
        </p:nvSpPr>
        <p:spPr>
          <a:xfrm>
            <a:off x="8376818" y="1783080"/>
            <a:ext cx="330098" cy="384048"/>
          </a:xfrm>
          <a:prstGeom prst="roundRect">
            <a:avLst>
              <a:gd name="adj" fmla="val 16621"/>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12</a:t>
            </a:r>
            <a:endParaRPr lang="en-US" sz="850" dirty="0"/>
          </a:p>
        </p:txBody>
      </p:sp>
      <p:sp>
        <p:nvSpPr>
          <p:cNvPr id="35" name="anim:1 grad:card"/>
          <p:cNvSpPr txBox="1"/>
          <p:nvPr/>
        </p:nvSpPr>
        <p:spPr>
          <a:xfrm>
            <a:off x="8743493" y="1783080"/>
            <a:ext cx="330098" cy="384048"/>
          </a:xfrm>
          <a:prstGeom prst="roundRect">
            <a:avLst>
              <a:gd name="adj" fmla="val 16621"/>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13</a:t>
            </a:r>
            <a:endParaRPr lang="en-US" sz="850" dirty="0"/>
          </a:p>
        </p:txBody>
      </p:sp>
      <p:sp>
        <p:nvSpPr>
          <p:cNvPr id="36" name="anim:1 grad:card"/>
          <p:cNvSpPr txBox="1"/>
          <p:nvPr/>
        </p:nvSpPr>
        <p:spPr>
          <a:xfrm>
            <a:off x="9110167" y="1783080"/>
            <a:ext cx="330098" cy="384048"/>
          </a:xfrm>
          <a:prstGeom prst="roundRect">
            <a:avLst>
              <a:gd name="adj" fmla="val 16621"/>
            </a:avLst>
          </a:prstGeom>
          <a:gradFill rotWithShape="1">
            <a:gsLst>
              <a:gs pos="0">
                <a:srgbClr val="FFFFFF"/>
              </a:gs>
              <a:gs pos="100000">
                <a:srgbClr val="F3F6FA"/>
              </a:gs>
            </a:gsLst>
            <a:lin ang="5400000" scaled="0"/>
          </a:gradFill>
          <a:ln w="9525">
            <a:solidFill>
              <a:srgbClr val="E4E9F0"/>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14</a:t>
            </a:r>
            <a:endParaRPr lang="en-US" sz="850" dirty="0"/>
          </a:p>
        </p:txBody>
      </p:sp>
      <p:sp>
        <p:nvSpPr>
          <p:cNvPr id="37" name="anim:1 grad:blue"/>
          <p:cNvSpPr txBox="1"/>
          <p:nvPr/>
        </p:nvSpPr>
        <p:spPr>
          <a:xfrm>
            <a:off x="9476842" y="1783080"/>
            <a:ext cx="330098" cy="384048"/>
          </a:xfrm>
          <a:prstGeom prst="roundRect">
            <a:avLst>
              <a:gd name="adj" fmla="val 16621"/>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15</a:t>
            </a:r>
            <a:endParaRPr lang="en-US" sz="850" dirty="0"/>
          </a:p>
        </p:txBody>
      </p:sp>
      <p:sp>
        <p:nvSpPr>
          <p:cNvPr id="38" name="anim:1 grad:goldTint"/>
          <p:cNvSpPr txBox="1"/>
          <p:nvPr/>
        </p:nvSpPr>
        <p:spPr>
          <a:xfrm>
            <a:off x="9843516" y="1783080"/>
            <a:ext cx="330098" cy="384048"/>
          </a:xfrm>
          <a:prstGeom prst="roundRect">
            <a:avLst>
              <a:gd name="adj" fmla="val 16621"/>
            </a:avLst>
          </a:prstGeom>
          <a:gradFill rotWithShape="1">
            <a:gsLst>
              <a:gs pos="0">
                <a:srgbClr val="FCF5E2"/>
              </a:gs>
              <a:gs pos="100000">
                <a:srgbClr val="F4E5B8"/>
              </a:gs>
            </a:gsLst>
            <a:lin ang="5400000" scaled="0"/>
          </a:gradFill>
          <a:ln w="19050">
            <a:solidFill>
              <a:srgbClr val="E9B221"/>
            </a:solidFill>
          </a:ln>
        </p:spPr>
        <p:txBody>
          <a:bodyPr wrap="square" lIns="0" tIns="0" rIns="0" bIns="0" rtlCol="0" anchor="ctr"/>
          <a:lstStyle/>
          <a:p>
            <a:pPr algn="ctr" indent="0" marL="0">
              <a:buNone/>
            </a:pPr>
            <a:r>
              <a:rPr lang="en-US" sz="850" b="1" dirty="0">
                <a:solidFill>
                  <a:srgbClr val="0A1E33"/>
                </a:solidFill>
                <a:latin typeface="Calibri" pitchFamily="34" charset="0"/>
                <a:ea typeface="Calibri" pitchFamily="34" charset="-122"/>
                <a:cs typeface="Calibri" pitchFamily="34" charset="-120"/>
              </a:rPr>
              <a:t>16</a:t>
            </a:r>
            <a:endParaRPr lang="en-US" sz="850" dirty="0"/>
          </a:p>
        </p:txBody>
      </p:sp>
      <p:sp>
        <p:nvSpPr>
          <p:cNvPr id="39" name="anim:1"/>
          <p:cNvSpPr/>
          <p:nvPr/>
        </p:nvSpPr>
        <p:spPr>
          <a:xfrm>
            <a:off x="9953701" y="2011680"/>
            <a:ext cx="109728" cy="109728"/>
          </a:xfrm>
          <a:prstGeom prst="ellipse">
            <a:avLst/>
          </a:prstGeom>
          <a:solidFill>
            <a:srgbClr val="E9B221"/>
          </a:solidFill>
          <a:ln w="12700">
            <a:solidFill>
              <a:srgbClr val="E9B221"/>
            </a:solidFill>
            <a:prstDash val="solid"/>
          </a:ln>
        </p:spPr>
        <p:txBody>
          <a:bodyPr/>
          <a:p/>
        </p:txBody>
      </p:sp>
      <p:sp>
        <p:nvSpPr>
          <p:cNvPr id="40" name="anim:1 grad:navyCard"/>
          <p:cNvSpPr txBox="1"/>
          <p:nvPr/>
        </p:nvSpPr>
        <p:spPr>
          <a:xfrm>
            <a:off x="10210190" y="1783080"/>
            <a:ext cx="330098" cy="384048"/>
          </a:xfrm>
          <a:prstGeom prst="roundRect">
            <a:avLst>
              <a:gd name="adj" fmla="val 16621"/>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850" b="1" dirty="0">
                <a:solidFill>
                  <a:srgbClr val="E9B221"/>
                </a:solidFill>
                <a:latin typeface="Calibri" pitchFamily="34" charset="0"/>
                <a:ea typeface="Calibri" pitchFamily="34" charset="-122"/>
                <a:cs typeface="Calibri" pitchFamily="34" charset="-120"/>
              </a:rPr>
              <a:t>17</a:t>
            </a:r>
            <a:endParaRPr lang="en-US" sz="850" dirty="0"/>
          </a:p>
        </p:txBody>
      </p:sp>
      <p:sp>
        <p:nvSpPr>
          <p:cNvPr id="41" name="anim:1 grad:navyCard"/>
          <p:cNvSpPr txBox="1"/>
          <p:nvPr/>
        </p:nvSpPr>
        <p:spPr>
          <a:xfrm>
            <a:off x="10576865" y="1783080"/>
            <a:ext cx="330098" cy="384048"/>
          </a:xfrm>
          <a:prstGeom prst="roundRect">
            <a:avLst>
              <a:gd name="adj" fmla="val 16621"/>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850" b="1" dirty="0">
                <a:solidFill>
                  <a:srgbClr val="E9B221"/>
                </a:solidFill>
                <a:latin typeface="Calibri" pitchFamily="34" charset="0"/>
                <a:ea typeface="Calibri" pitchFamily="34" charset="-122"/>
                <a:cs typeface="Calibri" pitchFamily="34" charset="-120"/>
              </a:rPr>
              <a:t>18</a:t>
            </a:r>
            <a:endParaRPr lang="en-US" sz="850" dirty="0"/>
          </a:p>
        </p:txBody>
      </p:sp>
      <p:sp>
        <p:nvSpPr>
          <p:cNvPr id="42" name="anim:1 grad:navyCard"/>
          <p:cNvSpPr txBox="1"/>
          <p:nvPr/>
        </p:nvSpPr>
        <p:spPr>
          <a:xfrm>
            <a:off x="10943539" y="1783080"/>
            <a:ext cx="330098" cy="384048"/>
          </a:xfrm>
          <a:prstGeom prst="roundRect">
            <a:avLst>
              <a:gd name="adj" fmla="val 16621"/>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850" b="1" dirty="0">
                <a:solidFill>
                  <a:srgbClr val="E9B221"/>
                </a:solidFill>
                <a:latin typeface="Calibri" pitchFamily="34" charset="0"/>
                <a:ea typeface="Calibri" pitchFamily="34" charset="-122"/>
                <a:cs typeface="Calibri" pitchFamily="34" charset="-120"/>
              </a:rPr>
              <a:t>19</a:t>
            </a:r>
            <a:endParaRPr lang="en-US" sz="850" dirty="0"/>
          </a:p>
        </p:txBody>
      </p:sp>
      <p:sp>
        <p:nvSpPr>
          <p:cNvPr id="43" name="anim:1 grad:navyCard"/>
          <p:cNvSpPr txBox="1"/>
          <p:nvPr/>
        </p:nvSpPr>
        <p:spPr>
          <a:xfrm>
            <a:off x="11310214" y="1783080"/>
            <a:ext cx="330098" cy="384048"/>
          </a:xfrm>
          <a:prstGeom prst="roundRect">
            <a:avLst>
              <a:gd name="adj" fmla="val 16621"/>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850" b="1" dirty="0">
                <a:solidFill>
                  <a:srgbClr val="E9B221"/>
                </a:solidFill>
                <a:latin typeface="Calibri" pitchFamily="34" charset="0"/>
                <a:ea typeface="Calibri" pitchFamily="34" charset="-122"/>
                <a:cs typeface="Calibri" pitchFamily="34" charset="-120"/>
              </a:rPr>
              <a:t>20</a:t>
            </a:r>
            <a:endParaRPr lang="en-US" sz="850" dirty="0"/>
          </a:p>
        </p:txBody>
      </p:sp>
      <p:sp>
        <p:nvSpPr>
          <p:cNvPr id="44" name="anim:2"/>
          <p:cNvSpPr/>
          <p:nvPr/>
        </p:nvSpPr>
        <p:spPr>
          <a:xfrm>
            <a:off x="548640" y="3026664"/>
            <a:ext cx="11091672" cy="0"/>
          </a:xfrm>
          <a:prstGeom prst="line">
            <a:avLst/>
          </a:prstGeom>
          <a:noFill/>
          <a:ln w="6350">
            <a:solidFill>
              <a:srgbClr val="E4E9F0"/>
            </a:solidFill>
            <a:prstDash val="solid"/>
          </a:ln>
        </p:spPr>
        <p:txBody>
          <a:bodyPr/>
          <a:p/>
        </p:txBody>
      </p:sp>
      <p:sp>
        <p:nvSpPr>
          <p:cNvPr id="45" name="anim:2"/>
          <p:cNvSpPr txBox="1"/>
          <p:nvPr/>
        </p:nvSpPr>
        <p:spPr>
          <a:xfrm>
            <a:off x="548640" y="2350008"/>
            <a:ext cx="3611880" cy="256032"/>
          </a:xfrm>
          <a:prstGeom prst="rect">
            <a:avLst/>
          </a:prstGeom>
          <a:noFill/>
          <a:ln/>
        </p:spPr>
        <p:txBody>
          <a:bodyPr wrap="square" lIns="0" tIns="0" rIns="0" bIns="0" rtlCol="0" anchor="t"/>
          <a:lstStyle/>
          <a:p>
            <a:pPr algn="l" indent="0" marL="0">
              <a:buNone/>
            </a:pPr>
            <a:r>
              <a:rPr lang="en-US" sz="1150" b="1" dirty="0">
                <a:solidFill>
                  <a:srgbClr val="0A1E33"/>
                </a:solidFill>
                <a:latin typeface="Calibri" pitchFamily="34" charset="0"/>
                <a:ea typeface="Calibri" pitchFamily="34" charset="-122"/>
                <a:cs typeface="Calibri" pitchFamily="34" charset="-120"/>
              </a:rPr>
              <a:t>Every teaching week, from Week 1</a:t>
            </a:r>
            <a:endParaRPr lang="en-US" sz="1150" dirty="0"/>
          </a:p>
        </p:txBody>
      </p:sp>
      <p:sp>
        <p:nvSpPr>
          <p:cNvPr id="46" name="anim:2"/>
          <p:cNvSpPr txBox="1"/>
          <p:nvPr/>
        </p:nvSpPr>
        <p:spPr>
          <a:xfrm>
            <a:off x="548640" y="2606040"/>
            <a:ext cx="3611880" cy="402336"/>
          </a:xfrm>
          <a:prstGeom prst="rect">
            <a:avLst/>
          </a:prstGeom>
          <a:noFill/>
          <a:ln/>
        </p:spPr>
        <p:txBody>
          <a:bodyPr wrap="square" lIns="0" tIns="0" rIns="0" bIns="0" rtlCol="0" anchor="t"/>
          <a:lstStyle/>
          <a:p>
            <a:pPr algn="l" indent="0" marL="0">
              <a:buNone/>
            </a:pPr>
            <a:r>
              <a:rPr lang="en-US" sz="850" dirty="0">
                <a:solidFill>
                  <a:srgbClr val="15243A"/>
                </a:solidFill>
                <a:latin typeface="Calibri" pitchFamily="34" charset="0"/>
                <a:ea typeface="Calibri" pitchFamily="34" charset="-122"/>
                <a:cs typeface="Calibri" pitchFamily="34" charset="-120"/>
              </a:rPr>
              <a:t>A weekly interview question set, tagged by where each question is asked, and the Saturday paper built from it.</a:t>
            </a:r>
            <a:endParaRPr lang="en-US" sz="850" dirty="0"/>
          </a:p>
        </p:txBody>
      </p:sp>
      <p:sp>
        <p:nvSpPr>
          <p:cNvPr id="47" name="anim:2 grad:navy"/>
          <p:cNvSpPr/>
          <p:nvPr/>
        </p:nvSpPr>
        <p:spPr>
          <a:xfrm>
            <a:off x="4343400" y="2532888"/>
            <a:ext cx="7296912" cy="274320"/>
          </a:xfrm>
          <a:prstGeom prst="roundRect">
            <a:avLst>
              <a:gd name="adj" fmla="val 50000"/>
            </a:avLst>
          </a:prstGeom>
          <a:gradFill rotWithShape="1">
            <a:gsLst>
              <a:gs pos="0">
                <a:srgbClr val="1B4170"/>
              </a:gs>
              <a:gs pos="100000">
                <a:srgbClr val="0A1E33"/>
              </a:gs>
            </a:gsLst>
            <a:lin ang="5400000" scaled="0"/>
          </a:gradFill>
          <a:ln w="12700">
            <a:solidFill>
              <a:srgbClr val="0A1E33"/>
            </a:solidFill>
            <a:prstDash val="solid"/>
          </a:ln>
        </p:spPr>
        <p:txBody>
          <a:bodyPr/>
          <a:p/>
        </p:txBody>
      </p:sp>
      <p:sp>
        <p:nvSpPr>
          <p:cNvPr id="48" name="anim:2"/>
          <p:cNvSpPr txBox="1"/>
          <p:nvPr/>
        </p:nvSpPr>
        <p:spPr>
          <a:xfrm>
            <a:off x="4480560" y="2532888"/>
            <a:ext cx="7022592"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from Week 1</a:t>
            </a:r>
            <a:endParaRPr lang="en-US" sz="800" dirty="0"/>
          </a:p>
        </p:txBody>
      </p:sp>
      <p:sp>
        <p:nvSpPr>
          <p:cNvPr id="49" name="anim:2"/>
          <p:cNvSpPr/>
          <p:nvPr/>
        </p:nvSpPr>
        <p:spPr>
          <a:xfrm>
            <a:off x="548640" y="3758184"/>
            <a:ext cx="11091672" cy="0"/>
          </a:xfrm>
          <a:prstGeom prst="line">
            <a:avLst/>
          </a:prstGeom>
          <a:noFill/>
          <a:ln w="6350">
            <a:solidFill>
              <a:srgbClr val="E4E9F0"/>
            </a:solidFill>
            <a:prstDash val="solid"/>
          </a:ln>
        </p:spPr>
        <p:txBody>
          <a:bodyPr/>
          <a:p/>
        </p:txBody>
      </p:sp>
      <p:sp>
        <p:nvSpPr>
          <p:cNvPr id="50" name="anim:2"/>
          <p:cNvSpPr txBox="1"/>
          <p:nvPr/>
        </p:nvSpPr>
        <p:spPr>
          <a:xfrm>
            <a:off x="548640" y="3081528"/>
            <a:ext cx="3611880" cy="256032"/>
          </a:xfrm>
          <a:prstGeom prst="rect">
            <a:avLst/>
          </a:prstGeom>
          <a:noFill/>
          <a:ln/>
        </p:spPr>
        <p:txBody>
          <a:bodyPr wrap="square" lIns="0" tIns="0" rIns="0" bIns="0" rtlCol="0" anchor="t"/>
          <a:lstStyle/>
          <a:p>
            <a:pPr algn="l" indent="0" marL="0">
              <a:buNone/>
            </a:pPr>
            <a:r>
              <a:rPr lang="en-US" sz="1150" b="1" dirty="0">
                <a:solidFill>
                  <a:srgbClr val="0A1E33"/>
                </a:solidFill>
                <a:latin typeface="Calibri" pitchFamily="34" charset="0"/>
                <a:ea typeface="Calibri" pitchFamily="34" charset="-122"/>
                <a:cs typeface="Calibri" pitchFamily="34" charset="-120"/>
              </a:rPr>
              <a:t>Every build week: Rounds 1 to 5</a:t>
            </a:r>
            <a:endParaRPr lang="en-US" sz="1150" dirty="0"/>
          </a:p>
        </p:txBody>
      </p:sp>
      <p:sp>
        <p:nvSpPr>
          <p:cNvPr id="51" name="anim:2"/>
          <p:cNvSpPr txBox="1"/>
          <p:nvPr/>
        </p:nvSpPr>
        <p:spPr>
          <a:xfrm>
            <a:off x="548640" y="3337560"/>
            <a:ext cx="3611880" cy="402336"/>
          </a:xfrm>
          <a:prstGeom prst="rect">
            <a:avLst/>
          </a:prstGeom>
          <a:noFill/>
          <a:ln/>
        </p:spPr>
        <p:txBody>
          <a:bodyPr wrap="square" lIns="0" tIns="0" rIns="0" bIns="0" rtlCol="0" anchor="t"/>
          <a:lstStyle/>
          <a:p>
            <a:pPr algn="l" indent="0" marL="0">
              <a:buNone/>
            </a:pPr>
            <a:r>
              <a:rPr lang="en-US" sz="850" dirty="0">
                <a:solidFill>
                  <a:srgbClr val="15243A"/>
                </a:solidFill>
                <a:latin typeface="Calibri" pitchFamily="34" charset="0"/>
                <a:ea typeface="Calibri" pitchFamily="34" charset="-122"/>
                <a:cs typeface="Calibri" pitchFamily="34" charset="-120"/>
              </a:rPr>
              <a:t>A mock interview, a live demo you defend, a group discussion, and a challenges log. HR and behavioural questions from Round 3.</a:t>
            </a:r>
            <a:endParaRPr lang="en-US" sz="850" dirty="0"/>
          </a:p>
        </p:txBody>
      </p:sp>
      <p:sp>
        <p:nvSpPr>
          <p:cNvPr id="52" name="anim:2 grad:blue"/>
          <p:cNvSpPr/>
          <p:nvPr/>
        </p:nvSpPr>
        <p:spPr>
          <a:xfrm>
            <a:off x="5076749" y="3264408"/>
            <a:ext cx="6563563" cy="274320"/>
          </a:xfrm>
          <a:prstGeom prst="roundRect">
            <a:avLst>
              <a:gd name="adj" fmla="val 50000"/>
            </a:avLst>
          </a:prstGeom>
          <a:gradFill rotWithShape="1">
            <a:gsLst>
              <a:gs pos="0">
                <a:srgbClr val="2FA8E0"/>
              </a:gs>
              <a:gs pos="100000">
                <a:srgbClr val="007DB6"/>
              </a:gs>
            </a:gsLst>
            <a:lin ang="5400000" scaled="0"/>
          </a:gradFill>
          <a:ln w="12700">
            <a:solidFill>
              <a:srgbClr val="007DB6"/>
            </a:solidFill>
            <a:prstDash val="solid"/>
          </a:ln>
        </p:spPr>
        <p:txBody>
          <a:bodyPr/>
          <a:p/>
        </p:txBody>
      </p:sp>
      <p:sp>
        <p:nvSpPr>
          <p:cNvPr id="53" name="anim:2"/>
          <p:cNvSpPr/>
          <p:nvPr/>
        </p:nvSpPr>
        <p:spPr>
          <a:xfrm>
            <a:off x="5141214" y="3310128"/>
            <a:ext cx="201168" cy="201168"/>
          </a:xfrm>
          <a:prstGeom prst="ellipse">
            <a:avLst/>
          </a:prstGeom>
          <a:solidFill>
            <a:srgbClr val="FFFFFF"/>
          </a:solidFill>
          <a:ln w="12700">
            <a:solidFill>
              <a:srgbClr val="007DB6"/>
            </a:solidFill>
            <a:prstDash val="solid"/>
          </a:ln>
        </p:spPr>
        <p:txBody>
          <a:bodyPr/>
          <a:p/>
        </p:txBody>
      </p:sp>
      <p:sp>
        <p:nvSpPr>
          <p:cNvPr id="54" name="anim:2"/>
          <p:cNvSpPr txBox="1"/>
          <p:nvPr/>
        </p:nvSpPr>
        <p:spPr>
          <a:xfrm>
            <a:off x="5058918" y="3538728"/>
            <a:ext cx="365760" cy="182880"/>
          </a:xfrm>
          <a:prstGeom prst="rect">
            <a:avLst/>
          </a:prstGeom>
          <a:noFill/>
          <a:ln/>
        </p:spPr>
        <p:txBody>
          <a:bodyPr wrap="square" lIns="0" tIns="0" rIns="0" bIns="0" rtlCol="0" anchor="t"/>
          <a:lstStyle/>
          <a:p>
            <a:pPr algn="ctr" indent="0" marL="0">
              <a:buNone/>
            </a:pPr>
            <a:r>
              <a:rPr lang="en-US" sz="700" b="1" dirty="0">
                <a:solidFill>
                  <a:srgbClr val="007DB6"/>
                </a:solidFill>
                <a:latin typeface="Calibri" pitchFamily="34" charset="0"/>
                <a:ea typeface="Calibri" pitchFamily="34" charset="-122"/>
                <a:cs typeface="Calibri" pitchFamily="34" charset="-120"/>
              </a:rPr>
              <a:t>R1</a:t>
            </a:r>
            <a:endParaRPr lang="en-US" sz="700" dirty="0"/>
          </a:p>
        </p:txBody>
      </p:sp>
      <p:sp>
        <p:nvSpPr>
          <p:cNvPr id="55" name="anim:2"/>
          <p:cNvSpPr/>
          <p:nvPr/>
        </p:nvSpPr>
        <p:spPr>
          <a:xfrm>
            <a:off x="6241237" y="3310128"/>
            <a:ext cx="201168" cy="201168"/>
          </a:xfrm>
          <a:prstGeom prst="ellipse">
            <a:avLst/>
          </a:prstGeom>
          <a:solidFill>
            <a:srgbClr val="FFFFFF"/>
          </a:solidFill>
          <a:ln w="12700">
            <a:solidFill>
              <a:srgbClr val="007DB6"/>
            </a:solidFill>
            <a:prstDash val="solid"/>
          </a:ln>
        </p:spPr>
        <p:txBody>
          <a:bodyPr/>
          <a:p/>
        </p:txBody>
      </p:sp>
      <p:sp>
        <p:nvSpPr>
          <p:cNvPr id="56" name="anim:2"/>
          <p:cNvSpPr txBox="1"/>
          <p:nvPr/>
        </p:nvSpPr>
        <p:spPr>
          <a:xfrm>
            <a:off x="6158941" y="3538728"/>
            <a:ext cx="365760" cy="182880"/>
          </a:xfrm>
          <a:prstGeom prst="rect">
            <a:avLst/>
          </a:prstGeom>
          <a:noFill/>
          <a:ln/>
        </p:spPr>
        <p:txBody>
          <a:bodyPr wrap="square" lIns="0" tIns="0" rIns="0" bIns="0" rtlCol="0" anchor="t"/>
          <a:lstStyle/>
          <a:p>
            <a:pPr algn="ctr" indent="0" marL="0">
              <a:buNone/>
            </a:pPr>
            <a:r>
              <a:rPr lang="en-US" sz="700" b="1" dirty="0">
                <a:solidFill>
                  <a:srgbClr val="007DB6"/>
                </a:solidFill>
                <a:latin typeface="Calibri" pitchFamily="34" charset="0"/>
                <a:ea typeface="Calibri" pitchFamily="34" charset="-122"/>
                <a:cs typeface="Calibri" pitchFamily="34" charset="-120"/>
              </a:rPr>
              <a:t>R2</a:t>
            </a:r>
            <a:endParaRPr lang="en-US" sz="700" dirty="0"/>
          </a:p>
        </p:txBody>
      </p:sp>
      <p:sp>
        <p:nvSpPr>
          <p:cNvPr id="57" name="anim:2"/>
          <p:cNvSpPr/>
          <p:nvPr/>
        </p:nvSpPr>
        <p:spPr>
          <a:xfrm>
            <a:off x="7341260" y="3310128"/>
            <a:ext cx="201168" cy="201168"/>
          </a:xfrm>
          <a:prstGeom prst="ellipse">
            <a:avLst/>
          </a:prstGeom>
          <a:solidFill>
            <a:srgbClr val="FFFFFF"/>
          </a:solidFill>
          <a:ln w="12700">
            <a:solidFill>
              <a:srgbClr val="007DB6"/>
            </a:solidFill>
            <a:prstDash val="solid"/>
          </a:ln>
        </p:spPr>
        <p:txBody>
          <a:bodyPr/>
          <a:p/>
        </p:txBody>
      </p:sp>
      <p:sp>
        <p:nvSpPr>
          <p:cNvPr id="58" name="anim:2"/>
          <p:cNvSpPr txBox="1"/>
          <p:nvPr/>
        </p:nvSpPr>
        <p:spPr>
          <a:xfrm>
            <a:off x="7258964" y="3538728"/>
            <a:ext cx="365760" cy="182880"/>
          </a:xfrm>
          <a:prstGeom prst="rect">
            <a:avLst/>
          </a:prstGeom>
          <a:noFill/>
          <a:ln/>
        </p:spPr>
        <p:txBody>
          <a:bodyPr wrap="square" lIns="0" tIns="0" rIns="0" bIns="0" rtlCol="0" anchor="t"/>
          <a:lstStyle/>
          <a:p>
            <a:pPr algn="ctr" indent="0" marL="0">
              <a:buNone/>
            </a:pPr>
            <a:r>
              <a:rPr lang="en-US" sz="700" b="1" dirty="0">
                <a:solidFill>
                  <a:srgbClr val="007DB6"/>
                </a:solidFill>
                <a:latin typeface="Calibri" pitchFamily="34" charset="0"/>
                <a:ea typeface="Calibri" pitchFamily="34" charset="-122"/>
                <a:cs typeface="Calibri" pitchFamily="34" charset="-120"/>
              </a:rPr>
              <a:t>R3</a:t>
            </a:r>
            <a:endParaRPr lang="en-US" sz="700" dirty="0"/>
          </a:p>
        </p:txBody>
      </p:sp>
      <p:sp>
        <p:nvSpPr>
          <p:cNvPr id="59" name="anim:2"/>
          <p:cNvSpPr/>
          <p:nvPr/>
        </p:nvSpPr>
        <p:spPr>
          <a:xfrm>
            <a:off x="8441284" y="3310128"/>
            <a:ext cx="201168" cy="201168"/>
          </a:xfrm>
          <a:prstGeom prst="ellipse">
            <a:avLst/>
          </a:prstGeom>
          <a:solidFill>
            <a:srgbClr val="FFFFFF"/>
          </a:solidFill>
          <a:ln w="12700">
            <a:solidFill>
              <a:srgbClr val="007DB6"/>
            </a:solidFill>
            <a:prstDash val="solid"/>
          </a:ln>
        </p:spPr>
        <p:txBody>
          <a:bodyPr/>
          <a:p/>
        </p:txBody>
      </p:sp>
      <p:sp>
        <p:nvSpPr>
          <p:cNvPr id="60" name="anim:2"/>
          <p:cNvSpPr txBox="1"/>
          <p:nvPr/>
        </p:nvSpPr>
        <p:spPr>
          <a:xfrm>
            <a:off x="8358988" y="3538728"/>
            <a:ext cx="365760" cy="182880"/>
          </a:xfrm>
          <a:prstGeom prst="rect">
            <a:avLst/>
          </a:prstGeom>
          <a:noFill/>
          <a:ln/>
        </p:spPr>
        <p:txBody>
          <a:bodyPr wrap="square" lIns="0" tIns="0" rIns="0" bIns="0" rtlCol="0" anchor="t"/>
          <a:lstStyle/>
          <a:p>
            <a:pPr algn="ctr" indent="0" marL="0">
              <a:buNone/>
            </a:pPr>
            <a:r>
              <a:rPr lang="en-US" sz="700" b="1" dirty="0">
                <a:solidFill>
                  <a:srgbClr val="007DB6"/>
                </a:solidFill>
                <a:latin typeface="Calibri" pitchFamily="34" charset="0"/>
                <a:ea typeface="Calibri" pitchFamily="34" charset="-122"/>
                <a:cs typeface="Calibri" pitchFamily="34" charset="-120"/>
              </a:rPr>
              <a:t>R4</a:t>
            </a:r>
            <a:endParaRPr lang="en-US" sz="700" dirty="0"/>
          </a:p>
        </p:txBody>
      </p:sp>
      <p:sp>
        <p:nvSpPr>
          <p:cNvPr id="61" name="anim:2"/>
          <p:cNvSpPr/>
          <p:nvPr/>
        </p:nvSpPr>
        <p:spPr>
          <a:xfrm>
            <a:off x="9541307" y="3310128"/>
            <a:ext cx="201168" cy="201168"/>
          </a:xfrm>
          <a:prstGeom prst="ellipse">
            <a:avLst/>
          </a:prstGeom>
          <a:solidFill>
            <a:srgbClr val="FFFFFF"/>
          </a:solidFill>
          <a:ln w="12700">
            <a:solidFill>
              <a:srgbClr val="007DB6"/>
            </a:solidFill>
            <a:prstDash val="solid"/>
          </a:ln>
        </p:spPr>
        <p:txBody>
          <a:bodyPr/>
          <a:p/>
        </p:txBody>
      </p:sp>
      <p:sp>
        <p:nvSpPr>
          <p:cNvPr id="62" name="anim:2"/>
          <p:cNvSpPr txBox="1"/>
          <p:nvPr/>
        </p:nvSpPr>
        <p:spPr>
          <a:xfrm>
            <a:off x="9459011" y="3538728"/>
            <a:ext cx="365760" cy="182880"/>
          </a:xfrm>
          <a:prstGeom prst="rect">
            <a:avLst/>
          </a:prstGeom>
          <a:noFill/>
          <a:ln/>
        </p:spPr>
        <p:txBody>
          <a:bodyPr wrap="square" lIns="0" tIns="0" rIns="0" bIns="0" rtlCol="0" anchor="t"/>
          <a:lstStyle/>
          <a:p>
            <a:pPr algn="ctr" indent="0" marL="0">
              <a:buNone/>
            </a:pPr>
            <a:r>
              <a:rPr lang="en-US" sz="700" b="1" dirty="0">
                <a:solidFill>
                  <a:srgbClr val="007DB6"/>
                </a:solidFill>
                <a:latin typeface="Calibri" pitchFamily="34" charset="0"/>
                <a:ea typeface="Calibri" pitchFamily="34" charset="-122"/>
                <a:cs typeface="Calibri" pitchFamily="34" charset="-120"/>
              </a:rPr>
              <a:t>R5</a:t>
            </a:r>
            <a:endParaRPr lang="en-US" sz="700" dirty="0"/>
          </a:p>
        </p:txBody>
      </p:sp>
      <p:sp>
        <p:nvSpPr>
          <p:cNvPr id="63" name="anim:3"/>
          <p:cNvSpPr/>
          <p:nvPr/>
        </p:nvSpPr>
        <p:spPr>
          <a:xfrm>
            <a:off x="548640" y="4489704"/>
            <a:ext cx="11091672" cy="0"/>
          </a:xfrm>
          <a:prstGeom prst="line">
            <a:avLst/>
          </a:prstGeom>
          <a:noFill/>
          <a:ln w="6350">
            <a:solidFill>
              <a:srgbClr val="E4E9F0"/>
            </a:solidFill>
            <a:prstDash val="solid"/>
          </a:ln>
        </p:spPr>
        <p:txBody>
          <a:bodyPr/>
          <a:p/>
        </p:txBody>
      </p:sp>
      <p:sp>
        <p:nvSpPr>
          <p:cNvPr id="64" name="anim:3"/>
          <p:cNvSpPr txBox="1"/>
          <p:nvPr/>
        </p:nvSpPr>
        <p:spPr>
          <a:xfrm>
            <a:off x="548640" y="3813048"/>
            <a:ext cx="3611880" cy="256032"/>
          </a:xfrm>
          <a:prstGeom prst="rect">
            <a:avLst/>
          </a:prstGeom>
          <a:noFill/>
          <a:ln/>
        </p:spPr>
        <p:txBody>
          <a:bodyPr wrap="square" lIns="0" tIns="0" rIns="0" bIns="0" rtlCol="0" anchor="t"/>
          <a:lstStyle/>
          <a:p>
            <a:pPr algn="l" indent="0" marL="0">
              <a:buNone/>
            </a:pPr>
            <a:r>
              <a:rPr lang="en-US" sz="1150" b="1" dirty="0">
                <a:solidFill>
                  <a:srgbClr val="0A1E33"/>
                </a:solidFill>
                <a:latin typeface="Calibri" pitchFamily="34" charset="0"/>
                <a:ea typeface="Calibri" pitchFamily="34" charset="-122"/>
                <a:cs typeface="Calibri" pitchFamily="34" charset="-120"/>
              </a:rPr>
              <a:t>Week 4: the cross-domain drill</a:t>
            </a:r>
            <a:endParaRPr lang="en-US" sz="1150" dirty="0"/>
          </a:p>
        </p:txBody>
      </p:sp>
      <p:sp>
        <p:nvSpPr>
          <p:cNvPr id="65" name="anim:3"/>
          <p:cNvSpPr txBox="1"/>
          <p:nvPr/>
        </p:nvSpPr>
        <p:spPr>
          <a:xfrm>
            <a:off x="548640" y="4069080"/>
            <a:ext cx="3611880" cy="402336"/>
          </a:xfrm>
          <a:prstGeom prst="rect">
            <a:avLst/>
          </a:prstGeom>
          <a:noFill/>
          <a:ln/>
        </p:spPr>
        <p:txBody>
          <a:bodyPr wrap="square" lIns="0" tIns="0" rIns="0" bIns="0" rtlCol="0" anchor="t"/>
          <a:lstStyle/>
          <a:p>
            <a:pPr algn="l" indent="0" marL="0">
              <a:buNone/>
            </a:pPr>
            <a:r>
              <a:rPr lang="en-US" sz="850" dirty="0">
                <a:solidFill>
                  <a:srgbClr val="15243A"/>
                </a:solidFill>
                <a:latin typeface="Calibri" pitchFamily="34" charset="0"/>
                <a:ea typeface="Calibri" pitchFamily="34" charset="-122"/>
                <a:cs typeface="Calibri" pitchFamily="34" charset="-120"/>
              </a:rPr>
              <a:t>One technique across four industries: the metric, the constraint and the cost of an error change.</a:t>
            </a:r>
            <a:endParaRPr lang="en-US" sz="850" dirty="0"/>
          </a:p>
        </p:txBody>
      </p:sp>
      <p:sp>
        <p:nvSpPr>
          <p:cNvPr id="66" name="anim:3 grad:gold"/>
          <p:cNvSpPr/>
          <p:nvPr/>
        </p:nvSpPr>
        <p:spPr>
          <a:xfrm>
            <a:off x="5453024" y="3977640"/>
            <a:ext cx="310896" cy="310896"/>
          </a:xfrm>
          <a:prstGeom prst="ellipse">
            <a:avLst/>
          </a:prstGeom>
          <a:gradFill rotWithShape="1">
            <a:gsLst>
              <a:gs pos="0">
                <a:srgbClr val="F3C84A"/>
              </a:gs>
              <a:gs pos="100000">
                <a:srgbClr val="D9A21A"/>
              </a:gs>
            </a:gsLst>
            <a:lin ang="5400000" scaled="0"/>
          </a:gradFill>
          <a:ln w="12700">
            <a:solidFill>
              <a:srgbClr val="E9B221"/>
            </a:solidFill>
            <a:prstDash val="solid"/>
          </a:ln>
        </p:spPr>
        <p:txBody>
          <a:bodyPr/>
          <a:p/>
        </p:txBody>
      </p:sp>
      <p:sp>
        <p:nvSpPr>
          <p:cNvPr id="67" name="anim:3"/>
          <p:cNvSpPr/>
          <p:nvPr/>
        </p:nvSpPr>
        <p:spPr>
          <a:xfrm>
            <a:off x="548640" y="5221224"/>
            <a:ext cx="11091672" cy="0"/>
          </a:xfrm>
          <a:prstGeom prst="line">
            <a:avLst/>
          </a:prstGeom>
          <a:noFill/>
          <a:ln w="6350">
            <a:solidFill>
              <a:srgbClr val="E4E9F0"/>
            </a:solidFill>
            <a:prstDash val="solid"/>
          </a:ln>
        </p:spPr>
        <p:txBody>
          <a:bodyPr/>
          <a:p/>
        </p:txBody>
      </p:sp>
      <p:sp>
        <p:nvSpPr>
          <p:cNvPr id="68" name="anim:3"/>
          <p:cNvSpPr txBox="1"/>
          <p:nvPr/>
        </p:nvSpPr>
        <p:spPr>
          <a:xfrm>
            <a:off x="548640" y="4544568"/>
            <a:ext cx="3611880" cy="256032"/>
          </a:xfrm>
          <a:prstGeom prst="rect">
            <a:avLst/>
          </a:prstGeom>
          <a:noFill/>
          <a:ln/>
        </p:spPr>
        <p:txBody>
          <a:bodyPr wrap="square" lIns="0" tIns="0" rIns="0" bIns="0" rtlCol="0" anchor="t"/>
          <a:lstStyle/>
          <a:p>
            <a:pPr algn="l" indent="0" marL="0">
              <a:buNone/>
            </a:pPr>
            <a:r>
              <a:rPr lang="en-US" sz="1150" b="1" dirty="0">
                <a:solidFill>
                  <a:srgbClr val="0A1E33"/>
                </a:solidFill>
                <a:latin typeface="Calibri" pitchFamily="34" charset="0"/>
                <a:ea typeface="Calibri" pitchFamily="34" charset="-122"/>
                <a:cs typeface="Calibri" pitchFamily="34" charset="-120"/>
              </a:rPr>
              <a:t>Week 16: the FDE block</a:t>
            </a:r>
            <a:endParaRPr lang="en-US" sz="1150" dirty="0"/>
          </a:p>
        </p:txBody>
      </p:sp>
      <p:sp>
        <p:nvSpPr>
          <p:cNvPr id="69" name="anim:3"/>
          <p:cNvSpPr txBox="1"/>
          <p:nvPr/>
        </p:nvSpPr>
        <p:spPr>
          <a:xfrm>
            <a:off x="548640" y="4800600"/>
            <a:ext cx="3611880" cy="402336"/>
          </a:xfrm>
          <a:prstGeom prst="rect">
            <a:avLst/>
          </a:prstGeom>
          <a:noFill/>
          <a:ln/>
        </p:spPr>
        <p:txBody>
          <a:bodyPr wrap="square" lIns="0" tIns="0" rIns="0" bIns="0" rtlCol="0" anchor="t"/>
          <a:lstStyle/>
          <a:p>
            <a:pPr algn="l" indent="0" marL="0">
              <a:buNone/>
            </a:pPr>
            <a:r>
              <a:rPr lang="en-US" sz="850" dirty="0">
                <a:solidFill>
                  <a:srgbClr val="15243A"/>
                </a:solidFill>
                <a:latin typeface="Calibri" pitchFamily="34" charset="0"/>
                <a:ea typeface="Calibri" pitchFamily="34" charset="-122"/>
                <a:cs typeface="Calibri" pitchFamily="34" charset="-120"/>
              </a:rPr>
              <a:t>Problem framing, an option shortlist, trade-offs, a quantified recommendation, the pitch.</a:t>
            </a:r>
            <a:endParaRPr lang="en-US" sz="850" dirty="0"/>
          </a:p>
        </p:txBody>
      </p:sp>
      <p:sp>
        <p:nvSpPr>
          <p:cNvPr id="70" name="anim:3 grad:gold"/>
          <p:cNvSpPr/>
          <p:nvPr/>
        </p:nvSpPr>
        <p:spPr>
          <a:xfrm>
            <a:off x="9843516" y="4727448"/>
            <a:ext cx="1796796" cy="274320"/>
          </a:xfrm>
          <a:prstGeom prst="roundRect">
            <a:avLst>
              <a:gd name="adj" fmla="val 50000"/>
            </a:avLst>
          </a:prstGeom>
          <a:gradFill rotWithShape="1">
            <a:gsLst>
              <a:gs pos="0">
                <a:srgbClr val="F3C84A"/>
              </a:gs>
              <a:gs pos="100000">
                <a:srgbClr val="D9A21A"/>
              </a:gs>
            </a:gsLst>
            <a:lin ang="5400000" scaled="0"/>
          </a:gradFill>
          <a:ln w="12700">
            <a:solidFill>
              <a:srgbClr val="E9B221"/>
            </a:solidFill>
            <a:prstDash val="solid"/>
          </a:ln>
        </p:spPr>
        <p:txBody>
          <a:bodyPr/>
          <a:p/>
        </p:txBody>
      </p:sp>
      <p:sp>
        <p:nvSpPr>
          <p:cNvPr id="71" name="anim:4"/>
          <p:cNvSpPr/>
          <p:nvPr/>
        </p:nvSpPr>
        <p:spPr>
          <a:xfrm>
            <a:off x="548640" y="5952744"/>
            <a:ext cx="11091672" cy="0"/>
          </a:xfrm>
          <a:prstGeom prst="line">
            <a:avLst/>
          </a:prstGeom>
          <a:noFill/>
          <a:ln w="6350">
            <a:solidFill>
              <a:srgbClr val="E4E9F0"/>
            </a:solidFill>
            <a:prstDash val="solid"/>
          </a:ln>
        </p:spPr>
        <p:txBody>
          <a:bodyPr/>
          <a:p/>
        </p:txBody>
      </p:sp>
      <p:sp>
        <p:nvSpPr>
          <p:cNvPr id="72" name="anim:4"/>
          <p:cNvSpPr txBox="1"/>
          <p:nvPr/>
        </p:nvSpPr>
        <p:spPr>
          <a:xfrm>
            <a:off x="548640" y="5276088"/>
            <a:ext cx="3611880" cy="256032"/>
          </a:xfrm>
          <a:prstGeom prst="rect">
            <a:avLst/>
          </a:prstGeom>
          <a:noFill/>
          <a:ln/>
        </p:spPr>
        <p:txBody>
          <a:bodyPr wrap="square" lIns="0" tIns="0" rIns="0" bIns="0" rtlCol="0" anchor="t"/>
          <a:lstStyle/>
          <a:p>
            <a:pPr algn="l" indent="0" marL="0">
              <a:buNone/>
            </a:pPr>
            <a:r>
              <a:rPr lang="en-US" sz="1150" b="1" dirty="0">
                <a:solidFill>
                  <a:srgbClr val="0A1E33"/>
                </a:solidFill>
                <a:latin typeface="Calibri" pitchFamily="34" charset="0"/>
                <a:ea typeface="Calibri" pitchFamily="34" charset="-122"/>
                <a:cs typeface="Calibri" pitchFamily="34" charset="-120"/>
              </a:rPr>
              <a:t>Weeks 19 and 20</a:t>
            </a:r>
            <a:endParaRPr lang="en-US" sz="1150" dirty="0"/>
          </a:p>
        </p:txBody>
      </p:sp>
      <p:sp>
        <p:nvSpPr>
          <p:cNvPr id="73" name="anim:4"/>
          <p:cNvSpPr txBox="1"/>
          <p:nvPr/>
        </p:nvSpPr>
        <p:spPr>
          <a:xfrm>
            <a:off x="548640" y="5532120"/>
            <a:ext cx="3611880" cy="402336"/>
          </a:xfrm>
          <a:prstGeom prst="rect">
            <a:avLst/>
          </a:prstGeom>
          <a:noFill/>
          <a:ln/>
        </p:spPr>
        <p:txBody>
          <a:bodyPr wrap="square" lIns="0" tIns="0" rIns="0" bIns="0" rtlCol="0" anchor="t"/>
          <a:lstStyle/>
          <a:p>
            <a:pPr algn="l" indent="0" marL="0">
              <a:buNone/>
            </a:pPr>
            <a:r>
              <a:rPr lang="en-US" sz="850" dirty="0">
                <a:solidFill>
                  <a:srgbClr val="15243A"/>
                </a:solidFill>
                <a:latin typeface="Calibri" pitchFamily="34" charset="0"/>
                <a:ea typeface="Calibri" pitchFamily="34" charset="-122"/>
                <a:cs typeface="Calibri" pitchFamily="34" charset="-120"/>
              </a:rPr>
              <a:t>Preparation against actual job descriptions, HR and behavioural coaching, final mocks with external panels.</a:t>
            </a:r>
            <a:endParaRPr lang="en-US" sz="850" dirty="0"/>
          </a:p>
        </p:txBody>
      </p:sp>
      <p:sp>
        <p:nvSpPr>
          <p:cNvPr id="74" name="anim:4 grad:green"/>
          <p:cNvSpPr/>
          <p:nvPr/>
        </p:nvSpPr>
        <p:spPr>
          <a:xfrm>
            <a:off x="10943539" y="5458968"/>
            <a:ext cx="696773" cy="274320"/>
          </a:xfrm>
          <a:prstGeom prst="roundRect">
            <a:avLst>
              <a:gd name="adj" fmla="val 50000"/>
            </a:avLst>
          </a:prstGeom>
          <a:gradFill rotWithShape="1">
            <a:gsLst>
              <a:gs pos="0">
                <a:srgbClr val="3DA97A"/>
              </a:gs>
              <a:gs pos="100000">
                <a:srgbClr val="1F8A5B"/>
              </a:gs>
            </a:gsLst>
            <a:lin ang="5400000" scaled="0"/>
          </a:gradFill>
          <a:ln w="12700">
            <a:solidFill>
              <a:srgbClr val="1F8A5B"/>
            </a:solidFill>
            <a:prstDash val="solid"/>
          </a:ln>
        </p:spPr>
        <p:txBody>
          <a:bodyPr/>
          <a:p/>
        </p:txBody>
      </p:sp>
      <p:sp>
        <p:nvSpPr>
          <p:cNvPr id="75" name="anim:5 grad:greenTint"/>
          <p:cNvSpPr/>
          <p:nvPr/>
        </p:nvSpPr>
        <p:spPr>
          <a:xfrm>
            <a:off x="548640" y="6035040"/>
            <a:ext cx="11091672" cy="365760"/>
          </a:xfrm>
          <a:prstGeom prst="roundRect">
            <a:avLst>
              <a:gd name="adj" fmla="val 25000"/>
            </a:avLst>
          </a:prstGeom>
          <a:gradFill rotWithShape="1">
            <a:gsLst>
              <a:gs pos="0">
                <a:srgbClr val="E8F5EE"/>
              </a:gs>
              <a:gs pos="100000">
                <a:srgbClr val="D3EBDD"/>
              </a:gs>
            </a:gsLst>
            <a:lin ang="5400000" scaled="0"/>
          </a:gradFill>
          <a:ln w="12700">
            <a:solidFill>
              <a:srgbClr val="E0F2EA"/>
            </a:solidFill>
            <a:prstDash val="solid"/>
          </a:ln>
        </p:spPr>
        <p:txBody>
          <a:bodyPr/>
          <a:p/>
        </p:txBody>
      </p:sp>
      <p:sp>
        <p:nvSpPr>
          <p:cNvPr id="76" name="anim:5"/>
          <p:cNvSpPr/>
          <p:nvPr/>
        </p:nvSpPr>
        <p:spPr>
          <a:xfrm>
            <a:off x="685800" y="6062472"/>
            <a:ext cx="310896" cy="310896"/>
          </a:xfrm>
          <a:prstGeom prst="ellipse">
            <a:avLst/>
          </a:prstGeom>
          <a:solidFill>
            <a:srgbClr val="1F8A5B"/>
          </a:solidFill>
          <a:ln w="9525">
            <a:solidFill>
              <a:srgbClr val="1F8A5B"/>
            </a:solidFill>
            <a:prstDash val="solid"/>
          </a:ln>
        </p:spPr>
        <p:txBody>
          <a:bodyPr/>
          <a:p/>
        </p:txBody>
      </p:sp>
      <p:pic>
        <p:nvPicPr>
          <p:cNvPr id="77" name="anim:5" descr="preencoded.png">    </p:cNvPr>
          <p:cNvPicPr>
            <a:picLocks noChangeAspect="1"/>
          </p:cNvPicPr>
          <p:nvPr/>
        </p:nvPicPr>
        <p:blipFill>
          <a:blip r:embed="rId3"/>
          <a:stretch>
            <a:fillRect/>
          </a:stretch>
        </p:blipFill>
        <p:spPr>
          <a:xfrm>
            <a:off x="760415" y="6137087"/>
            <a:ext cx="161666" cy="161666"/>
          </a:xfrm>
          <a:prstGeom prst="rect">
            <a:avLst/>
          </a:prstGeom>
        </p:spPr>
      </p:pic>
      <p:sp>
        <p:nvSpPr>
          <p:cNvPr id="78" name="anim:5"/>
          <p:cNvSpPr txBox="1"/>
          <p:nvPr/>
        </p:nvSpPr>
        <p:spPr>
          <a:xfrm>
            <a:off x="1097280" y="6035040"/>
            <a:ext cx="10424160" cy="365760"/>
          </a:xfrm>
          <a:prstGeom prst="rect">
            <a:avLst/>
          </a:prstGeom>
          <a:noFill/>
          <a:ln/>
        </p:spPr>
        <p:txBody>
          <a:bodyPr wrap="square" lIns="0" tIns="0" rIns="0" bIns="0" rtlCol="0" anchor="ctr"/>
          <a:lstStyle/>
          <a:p>
            <a:pPr algn="l" indent="0" marL="0">
              <a:buNone/>
            </a:pPr>
            <a:r>
              <a:rPr lang="en-US" sz="1000" b="1" dirty="0">
                <a:solidFill>
                  <a:srgbClr val="1F8A5B"/>
                </a:solidFill>
                <a:latin typeface="Calibri" pitchFamily="34" charset="0"/>
                <a:ea typeface="Calibri" pitchFamily="34" charset="-122"/>
                <a:cs typeface="Calibri" pitchFamily="34" charset="-120"/>
              </a:rPr>
              <a:t>There is no placement guarantee, and nobody on the programme will imply one. The commitment is to make you interview-ready and to bring opportunities to you.</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72" fill="hold">
                      <p:stCondLst>
                        <p:cond delay="indefinite"/>
                      </p:stCondLst>
                      <p:childTnLst>
                        <p:par>
                          <p:cTn id="7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par>
                                <p:cTn id="51" presetID="10" presetClass="entr" presetSubtype="0" fill="hold" grpId="0" nodeType="withEffect">
                                  <p:stCondLst>
                                    <p:cond delay="90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400"/>
                                        <p:tgtEl>
                                          <p:spTgt spid="37"/>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400"/>
                                        <p:tgtEl>
                                          <p:spTgt spid="38"/>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400"/>
                                        <p:tgtEl>
                                          <p:spTgt spid="39"/>
                                        </p:tgtEl>
                                      </p:cBhvr>
                                    </p:animEffect>
                                  </p:childTnLst>
                                </p:cTn>
                              </p:par>
                              <p:par>
                                <p:cTn id="60" presetID="10" presetClass="entr" presetSubtype="0" fill="hold" grpId="0" nodeType="withEffect">
                                  <p:stCondLst>
                                    <p:cond delay="90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400"/>
                                        <p:tgtEl>
                                          <p:spTgt spid="40"/>
                                        </p:tgtEl>
                                      </p:cBhvr>
                                    </p:animEffect>
                                  </p:childTnLst>
                                </p:cTn>
                              </p:par>
                              <p:par>
                                <p:cTn id="63" presetID="10" presetClass="entr" presetSubtype="0" fill="hold" grpId="0" nodeType="withEffect">
                                  <p:stCondLst>
                                    <p:cond delay="90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400"/>
                                        <p:tgtEl>
                                          <p:spTgt spid="41"/>
                                        </p:tgtEl>
                                      </p:cBhvr>
                                    </p:animEffect>
                                  </p:childTnLst>
                                </p:cTn>
                              </p:par>
                              <p:par>
                                <p:cTn id="66" presetID="10" presetClass="entr" presetSubtype="0" fill="hold" grpId="0" nodeType="withEffect">
                                  <p:stCondLst>
                                    <p:cond delay="90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400"/>
                                        <p:tgtEl>
                                          <p:spTgt spid="42"/>
                                        </p:tgtEl>
                                      </p:cBhvr>
                                    </p:animEffect>
                                  </p:childTnLst>
                                </p:cTn>
                              </p:par>
                              <p:par>
                                <p:cTn id="69" presetID="10" presetClass="entr" presetSubtype="0" fill="hold" grpId="0" nodeType="withEffect">
                                  <p:stCondLst>
                                    <p:cond delay="90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400"/>
                                        <p:tgtEl>
                                          <p:spTgt spid="43"/>
                                        </p:tgtEl>
                                      </p:cBhvr>
                                    </p:animEffect>
                                  </p:childTnLst>
                                </p:cTn>
                              </p:par>
                            </p:childTnLst>
                          </p:cTn>
                        </p:par>
                      </p:childTnLst>
                    </p:cTn>
                  </p:par>
                  <p:par>
                    <p:cTn id="131" fill="hold">
                      <p:stCondLst>
                        <p:cond delay="indefinite"/>
                      </p:stCondLst>
                      <p:childTnLst>
                        <p:par>
                          <p:cTn id="132"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9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18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27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36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45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par>
                                <p:cTn id="92" presetID="10" presetClass="entr" presetSubtype="0" fill="hold" grpId="0" nodeType="withEffect">
                                  <p:stCondLst>
                                    <p:cond delay="54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400"/>
                                        <p:tgtEl>
                                          <p:spTgt spid="50"/>
                                        </p:tgtEl>
                                      </p:cBhvr>
                                    </p:animEffect>
                                  </p:childTnLst>
                                </p:cTn>
                              </p:par>
                              <p:par>
                                <p:cTn id="95" presetID="10" presetClass="entr" presetSubtype="0" fill="hold" grpId="0" nodeType="withEffect">
                                  <p:stCondLst>
                                    <p:cond delay="63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00"/>
                                        <p:tgtEl>
                                          <p:spTgt spid="51"/>
                                        </p:tgtEl>
                                      </p:cBhvr>
                                    </p:animEffect>
                                  </p:childTnLst>
                                </p:cTn>
                              </p:par>
                              <p:par>
                                <p:cTn id="98" presetID="10" presetClass="entr" presetSubtype="0" fill="hold" grpId="0" nodeType="withEffect">
                                  <p:stCondLst>
                                    <p:cond delay="72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400"/>
                                        <p:tgtEl>
                                          <p:spTgt spid="52"/>
                                        </p:tgtEl>
                                      </p:cBhvr>
                                    </p:animEffect>
                                  </p:childTnLst>
                                </p:cTn>
                              </p:par>
                              <p:par>
                                <p:cTn id="101" presetID="10" presetClass="entr" presetSubtype="0" fill="hold" grpId="0" nodeType="withEffect">
                                  <p:stCondLst>
                                    <p:cond delay="81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400"/>
                                        <p:tgtEl>
                                          <p:spTgt spid="53"/>
                                        </p:tgtEl>
                                      </p:cBhvr>
                                    </p:animEffect>
                                  </p:childTnLst>
                                </p:cTn>
                              </p:par>
                              <p:par>
                                <p:cTn id="104" presetID="10" presetClass="entr" presetSubtype="0" fill="hold" grpId="0" nodeType="withEffect">
                                  <p:stCondLst>
                                    <p:cond delay="900"/>
                                  </p:stCondLst>
                                  <p:childTnLst>
                                    <p:set>
                                      <p:cBhvr>
                                        <p:cTn id="105" dur="1" fill="hold">
                                          <p:stCondLst>
                                            <p:cond delay="0"/>
                                          </p:stCondLst>
                                        </p:cTn>
                                        <p:tgtEl>
                                          <p:spTgt spid="54"/>
                                        </p:tgtEl>
                                        <p:attrNameLst>
                                          <p:attrName>style.visibility</p:attrName>
                                        </p:attrNameLst>
                                      </p:cBhvr>
                                      <p:to>
                                        <p:strVal val="visible"/>
                                      </p:to>
                                    </p:set>
                                    <p:animEffect transition="in" filter="fade">
                                      <p:cBhvr>
                                        <p:cTn id="106" dur="400"/>
                                        <p:tgtEl>
                                          <p:spTgt spid="54"/>
                                        </p:tgtEl>
                                      </p:cBhvr>
                                    </p:animEffect>
                                  </p:childTnLst>
                                </p:cTn>
                              </p:par>
                              <p:par>
                                <p:cTn id="107" presetID="10" presetClass="entr" presetSubtype="0" fill="hold" grpId="0" nodeType="withEffect">
                                  <p:stCondLst>
                                    <p:cond delay="90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400"/>
                                        <p:tgtEl>
                                          <p:spTgt spid="55"/>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56"/>
                                        </p:tgtEl>
                                        <p:attrNameLst>
                                          <p:attrName>style.visibility</p:attrName>
                                        </p:attrNameLst>
                                      </p:cBhvr>
                                      <p:to>
                                        <p:strVal val="visible"/>
                                      </p:to>
                                    </p:set>
                                    <p:animEffect transition="in" filter="fade">
                                      <p:cBhvr>
                                        <p:cTn id="112" dur="400"/>
                                        <p:tgtEl>
                                          <p:spTgt spid="56"/>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400"/>
                                        <p:tgtEl>
                                          <p:spTgt spid="57"/>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58"/>
                                        </p:tgtEl>
                                        <p:attrNameLst>
                                          <p:attrName>style.visibility</p:attrName>
                                        </p:attrNameLst>
                                      </p:cBhvr>
                                      <p:to>
                                        <p:strVal val="visible"/>
                                      </p:to>
                                    </p:set>
                                    <p:animEffect transition="in" filter="fade">
                                      <p:cBhvr>
                                        <p:cTn id="118" dur="400"/>
                                        <p:tgtEl>
                                          <p:spTgt spid="58"/>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59"/>
                                        </p:tgtEl>
                                        <p:attrNameLst>
                                          <p:attrName>style.visibility</p:attrName>
                                        </p:attrNameLst>
                                      </p:cBhvr>
                                      <p:to>
                                        <p:strVal val="visible"/>
                                      </p:to>
                                    </p:set>
                                    <p:animEffect transition="in" filter="fade">
                                      <p:cBhvr>
                                        <p:cTn id="121" dur="400"/>
                                        <p:tgtEl>
                                          <p:spTgt spid="59"/>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60"/>
                                        </p:tgtEl>
                                        <p:attrNameLst>
                                          <p:attrName>style.visibility</p:attrName>
                                        </p:attrNameLst>
                                      </p:cBhvr>
                                      <p:to>
                                        <p:strVal val="visible"/>
                                      </p:to>
                                    </p:set>
                                    <p:animEffect transition="in" filter="fade">
                                      <p:cBhvr>
                                        <p:cTn id="124" dur="400"/>
                                        <p:tgtEl>
                                          <p:spTgt spid="60"/>
                                        </p:tgtEl>
                                      </p:cBhvr>
                                    </p:animEffect>
                                  </p:childTnLst>
                                </p:cTn>
                              </p:par>
                              <p:par>
                                <p:cTn id="125" presetID="10" presetClass="entr" presetSubtype="0" fill="hold" grpId="0" nodeType="withEffect">
                                  <p:stCondLst>
                                    <p:cond delay="900"/>
                                  </p:stCondLst>
                                  <p:childTnLst>
                                    <p:set>
                                      <p:cBhvr>
                                        <p:cTn id="126" dur="1" fill="hold">
                                          <p:stCondLst>
                                            <p:cond delay="0"/>
                                          </p:stCondLst>
                                        </p:cTn>
                                        <p:tgtEl>
                                          <p:spTgt spid="61"/>
                                        </p:tgtEl>
                                        <p:attrNameLst>
                                          <p:attrName>style.visibility</p:attrName>
                                        </p:attrNameLst>
                                      </p:cBhvr>
                                      <p:to>
                                        <p:strVal val="visible"/>
                                      </p:to>
                                    </p:set>
                                    <p:animEffect transition="in" filter="fade">
                                      <p:cBhvr>
                                        <p:cTn id="127" dur="400"/>
                                        <p:tgtEl>
                                          <p:spTgt spid="61"/>
                                        </p:tgtEl>
                                      </p:cBhvr>
                                    </p:animEffect>
                                  </p:childTnLst>
                                </p:cTn>
                              </p:par>
                              <p:par>
                                <p:cTn id="128" presetID="10" presetClass="entr" presetSubtype="0" fill="hold" grpId="0" nodeType="withEffect">
                                  <p:stCondLst>
                                    <p:cond delay="900"/>
                                  </p:stCondLst>
                                  <p:childTnLst>
                                    <p:set>
                                      <p:cBhvr>
                                        <p:cTn id="129" dur="1" fill="hold">
                                          <p:stCondLst>
                                            <p:cond delay="0"/>
                                          </p:stCondLst>
                                        </p:cTn>
                                        <p:tgtEl>
                                          <p:spTgt spid="62"/>
                                        </p:tgtEl>
                                        <p:attrNameLst>
                                          <p:attrName>style.visibility</p:attrName>
                                        </p:attrNameLst>
                                      </p:cBhvr>
                                      <p:to>
                                        <p:strVal val="visible"/>
                                      </p:to>
                                    </p:set>
                                    <p:animEffect transition="in" filter="fade">
                                      <p:cBhvr>
                                        <p:cTn id="130" dur="400"/>
                                        <p:tgtEl>
                                          <p:spTgt spid="62"/>
                                        </p:tgtEl>
                                      </p:cBhvr>
                                    </p:animEffect>
                                  </p:childTnLst>
                                </p:cTn>
                              </p:par>
                            </p:childTnLst>
                          </p:cTn>
                        </p:par>
                      </p:childTnLst>
                    </p:cTn>
                  </p:par>
                  <p:par>
                    <p:cTn id="157" fill="hold">
                      <p:stCondLst>
                        <p:cond delay="indefinite"/>
                      </p:stCondLst>
                      <p:childTnLst>
                        <p:par>
                          <p:cTn id="158"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63"/>
                                        </p:tgtEl>
                                        <p:attrNameLst>
                                          <p:attrName>style.visibility</p:attrName>
                                        </p:attrNameLst>
                                      </p:cBhvr>
                                      <p:to>
                                        <p:strVal val="visible"/>
                                      </p:to>
                                    </p:set>
                                    <p:animEffect transition="in" filter="fade">
                                      <p:cBhvr>
                                        <p:cTn id="135" dur="400"/>
                                        <p:tgtEl>
                                          <p:spTgt spid="63"/>
                                        </p:tgtEl>
                                      </p:cBhvr>
                                    </p:animEffect>
                                  </p:childTnLst>
                                </p:cTn>
                              </p:par>
                              <p:par>
                                <p:cTn id="136" presetID="10" presetClass="entr" presetSubtype="0" fill="hold" grpId="0" nodeType="withEffect">
                                  <p:stCondLst>
                                    <p:cond delay="90"/>
                                  </p:stCondLst>
                                  <p:childTnLst>
                                    <p:set>
                                      <p:cBhvr>
                                        <p:cTn id="137" dur="1" fill="hold">
                                          <p:stCondLst>
                                            <p:cond delay="0"/>
                                          </p:stCondLst>
                                        </p:cTn>
                                        <p:tgtEl>
                                          <p:spTgt spid="64"/>
                                        </p:tgtEl>
                                        <p:attrNameLst>
                                          <p:attrName>style.visibility</p:attrName>
                                        </p:attrNameLst>
                                      </p:cBhvr>
                                      <p:to>
                                        <p:strVal val="visible"/>
                                      </p:to>
                                    </p:set>
                                    <p:animEffect transition="in" filter="fade">
                                      <p:cBhvr>
                                        <p:cTn id="138" dur="400"/>
                                        <p:tgtEl>
                                          <p:spTgt spid="64"/>
                                        </p:tgtEl>
                                      </p:cBhvr>
                                    </p:animEffect>
                                  </p:childTnLst>
                                </p:cTn>
                              </p:par>
                              <p:par>
                                <p:cTn id="139" presetID="10" presetClass="entr" presetSubtype="0" fill="hold" grpId="0" nodeType="withEffect">
                                  <p:stCondLst>
                                    <p:cond delay="180"/>
                                  </p:stCondLst>
                                  <p:childTnLst>
                                    <p:set>
                                      <p:cBhvr>
                                        <p:cTn id="140" dur="1" fill="hold">
                                          <p:stCondLst>
                                            <p:cond delay="0"/>
                                          </p:stCondLst>
                                        </p:cTn>
                                        <p:tgtEl>
                                          <p:spTgt spid="65"/>
                                        </p:tgtEl>
                                        <p:attrNameLst>
                                          <p:attrName>style.visibility</p:attrName>
                                        </p:attrNameLst>
                                      </p:cBhvr>
                                      <p:to>
                                        <p:strVal val="visible"/>
                                      </p:to>
                                    </p:set>
                                    <p:animEffect transition="in" filter="fade">
                                      <p:cBhvr>
                                        <p:cTn id="141" dur="400"/>
                                        <p:tgtEl>
                                          <p:spTgt spid="65"/>
                                        </p:tgtEl>
                                      </p:cBhvr>
                                    </p:animEffect>
                                  </p:childTnLst>
                                </p:cTn>
                              </p:par>
                              <p:par>
                                <p:cTn id="142" presetID="10" presetClass="entr" presetSubtype="0" fill="hold" grpId="0" nodeType="withEffect">
                                  <p:stCondLst>
                                    <p:cond delay="270"/>
                                  </p:stCondLst>
                                  <p:childTnLst>
                                    <p:set>
                                      <p:cBhvr>
                                        <p:cTn id="143" dur="1" fill="hold">
                                          <p:stCondLst>
                                            <p:cond delay="0"/>
                                          </p:stCondLst>
                                        </p:cTn>
                                        <p:tgtEl>
                                          <p:spTgt spid="66"/>
                                        </p:tgtEl>
                                        <p:attrNameLst>
                                          <p:attrName>style.visibility</p:attrName>
                                        </p:attrNameLst>
                                      </p:cBhvr>
                                      <p:to>
                                        <p:strVal val="visible"/>
                                      </p:to>
                                    </p:set>
                                    <p:animEffect transition="in" filter="fade">
                                      <p:cBhvr>
                                        <p:cTn id="144" dur="400"/>
                                        <p:tgtEl>
                                          <p:spTgt spid="66"/>
                                        </p:tgtEl>
                                      </p:cBhvr>
                                    </p:animEffect>
                                  </p:childTnLst>
                                </p:cTn>
                              </p:par>
                              <p:par>
                                <p:cTn id="145" presetID="10" presetClass="entr" presetSubtype="0" fill="hold" grpId="0" nodeType="withEffect">
                                  <p:stCondLst>
                                    <p:cond delay="360"/>
                                  </p:stCondLst>
                                  <p:childTnLst>
                                    <p:set>
                                      <p:cBhvr>
                                        <p:cTn id="146" dur="1" fill="hold">
                                          <p:stCondLst>
                                            <p:cond delay="0"/>
                                          </p:stCondLst>
                                        </p:cTn>
                                        <p:tgtEl>
                                          <p:spTgt spid="67"/>
                                        </p:tgtEl>
                                        <p:attrNameLst>
                                          <p:attrName>style.visibility</p:attrName>
                                        </p:attrNameLst>
                                      </p:cBhvr>
                                      <p:to>
                                        <p:strVal val="visible"/>
                                      </p:to>
                                    </p:set>
                                    <p:animEffect transition="in" filter="fade">
                                      <p:cBhvr>
                                        <p:cTn id="147" dur="400"/>
                                        <p:tgtEl>
                                          <p:spTgt spid="67"/>
                                        </p:tgtEl>
                                      </p:cBhvr>
                                    </p:animEffect>
                                  </p:childTnLst>
                                </p:cTn>
                              </p:par>
                              <p:par>
                                <p:cTn id="148" presetID="10" presetClass="entr" presetSubtype="0" fill="hold" grpId="0" nodeType="withEffect">
                                  <p:stCondLst>
                                    <p:cond delay="450"/>
                                  </p:stCondLst>
                                  <p:childTnLst>
                                    <p:set>
                                      <p:cBhvr>
                                        <p:cTn id="149" dur="1" fill="hold">
                                          <p:stCondLst>
                                            <p:cond delay="0"/>
                                          </p:stCondLst>
                                        </p:cTn>
                                        <p:tgtEl>
                                          <p:spTgt spid="68"/>
                                        </p:tgtEl>
                                        <p:attrNameLst>
                                          <p:attrName>style.visibility</p:attrName>
                                        </p:attrNameLst>
                                      </p:cBhvr>
                                      <p:to>
                                        <p:strVal val="visible"/>
                                      </p:to>
                                    </p:set>
                                    <p:animEffect transition="in" filter="fade">
                                      <p:cBhvr>
                                        <p:cTn id="150" dur="400"/>
                                        <p:tgtEl>
                                          <p:spTgt spid="68"/>
                                        </p:tgtEl>
                                      </p:cBhvr>
                                    </p:animEffect>
                                  </p:childTnLst>
                                </p:cTn>
                              </p:par>
                              <p:par>
                                <p:cTn id="151" presetID="10" presetClass="entr" presetSubtype="0" fill="hold" grpId="0" nodeType="withEffect">
                                  <p:stCondLst>
                                    <p:cond delay="540"/>
                                  </p:stCondLst>
                                  <p:childTnLst>
                                    <p:set>
                                      <p:cBhvr>
                                        <p:cTn id="152" dur="1" fill="hold">
                                          <p:stCondLst>
                                            <p:cond delay="0"/>
                                          </p:stCondLst>
                                        </p:cTn>
                                        <p:tgtEl>
                                          <p:spTgt spid="69"/>
                                        </p:tgtEl>
                                        <p:attrNameLst>
                                          <p:attrName>style.visibility</p:attrName>
                                        </p:attrNameLst>
                                      </p:cBhvr>
                                      <p:to>
                                        <p:strVal val="visible"/>
                                      </p:to>
                                    </p:set>
                                    <p:animEffect transition="in" filter="fade">
                                      <p:cBhvr>
                                        <p:cTn id="153" dur="400"/>
                                        <p:tgtEl>
                                          <p:spTgt spid="69"/>
                                        </p:tgtEl>
                                      </p:cBhvr>
                                    </p:animEffect>
                                  </p:childTnLst>
                                </p:cTn>
                              </p:par>
                              <p:par>
                                <p:cTn id="154" presetID="10" presetClass="entr" presetSubtype="0" fill="hold" grpId="0" nodeType="withEffect">
                                  <p:stCondLst>
                                    <p:cond delay="630"/>
                                  </p:stCondLst>
                                  <p:childTnLst>
                                    <p:set>
                                      <p:cBhvr>
                                        <p:cTn id="155" dur="1" fill="hold">
                                          <p:stCondLst>
                                            <p:cond delay="0"/>
                                          </p:stCondLst>
                                        </p:cTn>
                                        <p:tgtEl>
                                          <p:spTgt spid="70"/>
                                        </p:tgtEl>
                                        <p:attrNameLst>
                                          <p:attrName>style.visibility</p:attrName>
                                        </p:attrNameLst>
                                      </p:cBhvr>
                                      <p:to>
                                        <p:strVal val="visible"/>
                                      </p:to>
                                    </p:set>
                                    <p:animEffect transition="in" filter="fade">
                                      <p:cBhvr>
                                        <p:cTn id="156" dur="400"/>
                                        <p:tgtEl>
                                          <p:spTgt spid="70"/>
                                        </p:tgtEl>
                                      </p:cBhvr>
                                    </p:animEffect>
                                  </p:childTnLst>
                                </p:cTn>
                              </p:par>
                            </p:childTnLst>
                          </p:cTn>
                        </p:par>
                      </p:childTnLst>
                    </p:cTn>
                  </p:par>
                  <p:par>
                    <p:cTn id="171" fill="hold">
                      <p:stCondLst>
                        <p:cond delay="indefinite"/>
                      </p:stCondLst>
                      <p:childTnLst>
                        <p:par>
                          <p:cTn id="172"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71"/>
                                        </p:tgtEl>
                                        <p:attrNameLst>
                                          <p:attrName>style.visibility</p:attrName>
                                        </p:attrNameLst>
                                      </p:cBhvr>
                                      <p:to>
                                        <p:strVal val="visible"/>
                                      </p:to>
                                    </p:set>
                                    <p:animEffect transition="in" filter="fade">
                                      <p:cBhvr>
                                        <p:cTn id="161" dur="400"/>
                                        <p:tgtEl>
                                          <p:spTgt spid="71"/>
                                        </p:tgtEl>
                                      </p:cBhvr>
                                    </p:animEffect>
                                  </p:childTnLst>
                                </p:cTn>
                              </p:par>
                              <p:par>
                                <p:cTn id="162" presetID="10" presetClass="entr" presetSubtype="0" fill="hold" grpId="0" nodeType="withEffect">
                                  <p:stCondLst>
                                    <p:cond delay="90"/>
                                  </p:stCondLst>
                                  <p:childTnLst>
                                    <p:set>
                                      <p:cBhvr>
                                        <p:cTn id="163" dur="1" fill="hold">
                                          <p:stCondLst>
                                            <p:cond delay="0"/>
                                          </p:stCondLst>
                                        </p:cTn>
                                        <p:tgtEl>
                                          <p:spTgt spid="72"/>
                                        </p:tgtEl>
                                        <p:attrNameLst>
                                          <p:attrName>style.visibility</p:attrName>
                                        </p:attrNameLst>
                                      </p:cBhvr>
                                      <p:to>
                                        <p:strVal val="visible"/>
                                      </p:to>
                                    </p:set>
                                    <p:animEffect transition="in" filter="fade">
                                      <p:cBhvr>
                                        <p:cTn id="164" dur="400"/>
                                        <p:tgtEl>
                                          <p:spTgt spid="72"/>
                                        </p:tgtEl>
                                      </p:cBhvr>
                                    </p:animEffect>
                                  </p:childTnLst>
                                </p:cTn>
                              </p:par>
                              <p:par>
                                <p:cTn id="165" presetID="10" presetClass="entr" presetSubtype="0" fill="hold" grpId="0" nodeType="withEffect">
                                  <p:stCondLst>
                                    <p:cond delay="180"/>
                                  </p:stCondLst>
                                  <p:childTnLst>
                                    <p:set>
                                      <p:cBhvr>
                                        <p:cTn id="166" dur="1" fill="hold">
                                          <p:stCondLst>
                                            <p:cond delay="0"/>
                                          </p:stCondLst>
                                        </p:cTn>
                                        <p:tgtEl>
                                          <p:spTgt spid="73"/>
                                        </p:tgtEl>
                                        <p:attrNameLst>
                                          <p:attrName>style.visibility</p:attrName>
                                        </p:attrNameLst>
                                      </p:cBhvr>
                                      <p:to>
                                        <p:strVal val="visible"/>
                                      </p:to>
                                    </p:set>
                                    <p:animEffect transition="in" filter="fade">
                                      <p:cBhvr>
                                        <p:cTn id="167" dur="400"/>
                                        <p:tgtEl>
                                          <p:spTgt spid="73"/>
                                        </p:tgtEl>
                                      </p:cBhvr>
                                    </p:animEffect>
                                  </p:childTnLst>
                                </p:cTn>
                              </p:par>
                              <p:par>
                                <p:cTn id="168" presetID="10" presetClass="entr" presetSubtype="0" fill="hold" grpId="0" nodeType="withEffect">
                                  <p:stCondLst>
                                    <p:cond delay="270"/>
                                  </p:stCondLst>
                                  <p:childTnLst>
                                    <p:set>
                                      <p:cBhvr>
                                        <p:cTn id="169" dur="1" fill="hold">
                                          <p:stCondLst>
                                            <p:cond delay="0"/>
                                          </p:stCondLst>
                                        </p:cTn>
                                        <p:tgtEl>
                                          <p:spTgt spid="74"/>
                                        </p:tgtEl>
                                        <p:attrNameLst>
                                          <p:attrName>style.visibility</p:attrName>
                                        </p:attrNameLst>
                                      </p:cBhvr>
                                      <p:to>
                                        <p:strVal val="visible"/>
                                      </p:to>
                                    </p:set>
                                    <p:animEffect transition="in" filter="fade">
                                      <p:cBhvr>
                                        <p:cTn id="170" dur="400"/>
                                        <p:tgtEl>
                                          <p:spTgt spid="74"/>
                                        </p:tgtEl>
                                      </p:cBhvr>
                                    </p:animEffect>
                                  </p:childTnLst>
                                </p:cTn>
                              </p:par>
                            </p:childTnLst>
                          </p:cTn>
                        </p:par>
                      </p:childTnLst>
                    </p:cTn>
                  </p:par>
                  <p:par>
                    <p:cTn id="185" fill="hold">
                      <p:stCondLst>
                        <p:cond delay="indefinite"/>
                      </p:stCondLst>
                      <p:childTnLst>
                        <p:par>
                          <p:cTn id="186"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75"/>
                                        </p:tgtEl>
                                        <p:attrNameLst>
                                          <p:attrName>style.visibility</p:attrName>
                                        </p:attrNameLst>
                                      </p:cBhvr>
                                      <p:to>
                                        <p:strVal val="visible"/>
                                      </p:to>
                                    </p:set>
                                    <p:animEffect transition="in" filter="fade">
                                      <p:cBhvr>
                                        <p:cTn id="175" dur="400"/>
                                        <p:tgtEl>
                                          <p:spTgt spid="75"/>
                                        </p:tgtEl>
                                      </p:cBhvr>
                                    </p:animEffect>
                                  </p:childTnLst>
                                </p:cTn>
                              </p:par>
                              <p:par>
                                <p:cTn id="176" presetID="10" presetClass="entr" presetSubtype="0" fill="hold" grpId="0" nodeType="withEffect">
                                  <p:stCondLst>
                                    <p:cond delay="90"/>
                                  </p:stCondLst>
                                  <p:childTnLst>
                                    <p:set>
                                      <p:cBhvr>
                                        <p:cTn id="177" dur="1" fill="hold">
                                          <p:stCondLst>
                                            <p:cond delay="0"/>
                                          </p:stCondLst>
                                        </p:cTn>
                                        <p:tgtEl>
                                          <p:spTgt spid="76"/>
                                        </p:tgtEl>
                                        <p:attrNameLst>
                                          <p:attrName>style.visibility</p:attrName>
                                        </p:attrNameLst>
                                      </p:cBhvr>
                                      <p:to>
                                        <p:strVal val="visible"/>
                                      </p:to>
                                    </p:set>
                                    <p:animEffect transition="in" filter="fade">
                                      <p:cBhvr>
                                        <p:cTn id="178" dur="400"/>
                                        <p:tgtEl>
                                          <p:spTgt spid="76"/>
                                        </p:tgtEl>
                                      </p:cBhvr>
                                    </p:animEffect>
                                  </p:childTnLst>
                                </p:cTn>
                              </p:par>
                              <p:par>
                                <p:cTn id="179" presetID="10" presetClass="entr" presetSubtype="0" fill="hold" grpId="0" nodeType="withEffect">
                                  <p:stCondLst>
                                    <p:cond delay="180"/>
                                  </p:stCondLst>
                                  <p:childTnLst>
                                    <p:set>
                                      <p:cBhvr>
                                        <p:cTn id="180" dur="1" fill="hold">
                                          <p:stCondLst>
                                            <p:cond delay="0"/>
                                          </p:stCondLst>
                                        </p:cTn>
                                        <p:tgtEl>
                                          <p:spTgt spid="77"/>
                                        </p:tgtEl>
                                        <p:attrNameLst>
                                          <p:attrName>style.visibility</p:attrName>
                                        </p:attrNameLst>
                                      </p:cBhvr>
                                      <p:to>
                                        <p:strVal val="visible"/>
                                      </p:to>
                                    </p:set>
                                    <p:animEffect transition="in" filter="fade">
                                      <p:cBhvr>
                                        <p:cTn id="181" dur="400"/>
                                        <p:tgtEl>
                                          <p:spTgt spid="77"/>
                                        </p:tgtEl>
                                      </p:cBhvr>
                                    </p:animEffect>
                                  </p:childTnLst>
                                </p:cTn>
                              </p:par>
                              <p:par>
                                <p:cTn id="182" presetID="10" presetClass="entr" presetSubtype="0" fill="hold" grpId="0" nodeType="withEffect">
                                  <p:stCondLst>
                                    <p:cond delay="270"/>
                                  </p:stCondLst>
                                  <p:childTnLst>
                                    <p:set>
                                      <p:cBhvr>
                                        <p:cTn id="183" dur="1" fill="hold">
                                          <p:stCondLst>
                                            <p:cond delay="0"/>
                                          </p:stCondLst>
                                        </p:cTn>
                                        <p:tgtEl>
                                          <p:spTgt spid="78"/>
                                        </p:tgtEl>
                                        <p:attrNameLst>
                                          <p:attrName>style.visibility</p:attrName>
                                        </p:attrNameLst>
                                      </p:cBhvr>
                                      <p:to>
                                        <p:strVal val="visible"/>
                                      </p:to>
                                    </p:set>
                                    <p:animEffect transition="in" filter="fade">
                                      <p:cBhvr>
                                        <p:cTn id="184" dur="4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26</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007DB6"/>
          </a:solidFill>
          <a:ln w="12700">
            <a:solidFill>
              <a:srgbClr val="007DB6"/>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E4E9F0"/>
          </a:solidFill>
          <a:ln w="12700">
            <a:solidFill>
              <a:srgbClr val="E4E9F0"/>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The capstone: Weeks 16 to 20</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Scoped in forward deployed mode, built in three sprints, defended before an industry panel. Module 10, 60 hours, 200 marks.</a:t>
            </a:r>
            <a:endParaRPr lang="en-US" sz="1250" dirty="0"/>
          </a:p>
        </p:txBody>
      </p:sp>
      <p:sp>
        <p:nvSpPr>
          <p:cNvPr id="21" name="anim:1"/>
          <p:cNvSpPr/>
          <p:nvPr/>
        </p:nvSpPr>
        <p:spPr>
          <a:xfrm>
            <a:off x="1600200" y="2331720"/>
            <a:ext cx="9070848" cy="0"/>
          </a:xfrm>
          <a:prstGeom prst="line">
            <a:avLst/>
          </a:prstGeom>
          <a:noFill/>
          <a:ln w="19050">
            <a:solidFill>
              <a:srgbClr val="BFDDEE"/>
            </a:solidFill>
            <a:prstDash val="solid"/>
          </a:ln>
        </p:spPr>
        <p:txBody>
          <a:bodyPr/>
          <a:p/>
        </p:txBody>
      </p:sp>
      <p:sp>
        <p:nvSpPr>
          <p:cNvPr id="22" name="anim:1 grad:blue"/>
          <p:cNvSpPr/>
          <p:nvPr/>
        </p:nvSpPr>
        <p:spPr>
          <a:xfrm>
            <a:off x="1463040" y="2194560"/>
            <a:ext cx="274320" cy="274320"/>
          </a:xfrm>
          <a:prstGeom prst="ellipse">
            <a:avLst/>
          </a:prstGeom>
          <a:gradFill rotWithShape="1">
            <a:gsLst>
              <a:gs pos="0">
                <a:srgbClr val="2FA8E0"/>
              </a:gs>
              <a:gs pos="100000">
                <a:srgbClr val="007DB6"/>
              </a:gs>
            </a:gsLst>
            <a:lin ang="5400000" scaled="0"/>
          </a:gradFill>
          <a:ln w="25400">
            <a:solidFill>
              <a:srgbClr val="F4F6F9"/>
            </a:solidFill>
            <a:prstDash val="solid"/>
          </a:ln>
        </p:spPr>
        <p:txBody>
          <a:bodyPr/>
          <a:p/>
        </p:txBody>
      </p:sp>
      <p:sp>
        <p:nvSpPr>
          <p:cNvPr id="23" name="anim:1"/>
          <p:cNvSpPr txBox="1"/>
          <p:nvPr/>
        </p:nvSpPr>
        <p:spPr>
          <a:xfrm>
            <a:off x="548640" y="1783080"/>
            <a:ext cx="2103120" cy="274320"/>
          </a:xfrm>
          <a:prstGeom prst="rect">
            <a:avLst/>
          </a:prstGeom>
          <a:noFill/>
          <a:ln/>
        </p:spPr>
        <p:txBody>
          <a:bodyPr wrap="square" lIns="0" tIns="0" rIns="0" bIns="0" rtlCol="0" anchor="ctr"/>
          <a:lstStyle/>
          <a:p>
            <a:pPr algn="ctr" indent="0" marL="0">
              <a:buNone/>
            </a:pPr>
            <a:r>
              <a:rPr lang="en-US" sz="850" b="1" spc="200" kern="0" dirty="0">
                <a:solidFill>
                  <a:srgbClr val="5F7183"/>
                </a:solidFill>
                <a:latin typeface="Calibri" pitchFamily="34" charset="0"/>
                <a:ea typeface="Calibri" pitchFamily="34" charset="-122"/>
                <a:cs typeface="Calibri" pitchFamily="34" charset="-120"/>
              </a:rPr>
              <a:t>WEEK 16</a:t>
            </a:r>
            <a:endParaRPr lang="en-US" sz="850" dirty="0"/>
          </a:p>
        </p:txBody>
      </p:sp>
      <p:sp>
        <p:nvSpPr>
          <p:cNvPr id="24" name="anim:1 grad:card"/>
          <p:cNvSpPr/>
          <p:nvPr/>
        </p:nvSpPr>
        <p:spPr>
          <a:xfrm>
            <a:off x="548640" y="2697480"/>
            <a:ext cx="2103120" cy="237744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5" name="anim:1"/>
          <p:cNvSpPr/>
          <p:nvPr/>
        </p:nvSpPr>
        <p:spPr>
          <a:xfrm>
            <a:off x="777240" y="2926080"/>
            <a:ext cx="548640" cy="548640"/>
          </a:xfrm>
          <a:prstGeom prst="ellipse">
            <a:avLst/>
          </a:prstGeom>
          <a:solidFill>
            <a:srgbClr val="E3F2FA"/>
          </a:solidFill>
          <a:ln w="9525">
            <a:solidFill>
              <a:srgbClr val="E3F2FA"/>
            </a:solidFill>
            <a:prstDash val="solid"/>
          </a:ln>
        </p:spPr>
        <p:txBody>
          <a:bodyPr/>
          <a:p/>
        </p:txBody>
      </p:sp>
      <p:pic>
        <p:nvPicPr>
          <p:cNvPr id="26" name="anim:1" descr="preencoded.png">    </p:cNvPr>
          <p:cNvPicPr>
            <a:picLocks noChangeAspect="1"/>
          </p:cNvPicPr>
          <p:nvPr/>
        </p:nvPicPr>
        <p:blipFill>
          <a:blip r:embed="rId3"/>
          <a:stretch>
            <a:fillRect/>
          </a:stretch>
        </p:blipFill>
        <p:spPr>
          <a:xfrm>
            <a:off x="908914" y="3057754"/>
            <a:ext cx="285293" cy="285293"/>
          </a:xfrm>
          <a:prstGeom prst="rect">
            <a:avLst/>
          </a:prstGeom>
        </p:spPr>
      </p:pic>
      <p:sp>
        <p:nvSpPr>
          <p:cNvPr id="27" name="anim:1"/>
          <p:cNvSpPr txBox="1"/>
          <p:nvPr/>
        </p:nvSpPr>
        <p:spPr>
          <a:xfrm>
            <a:off x="1417320" y="2926080"/>
            <a:ext cx="1143000" cy="548640"/>
          </a:xfrm>
          <a:prstGeom prst="rect">
            <a:avLst/>
          </a:prstGeom>
          <a:noFill/>
          <a:ln/>
        </p:spPr>
        <p:txBody>
          <a:bodyPr wrap="square" lIns="0" tIns="0" rIns="0" bIns="0" rtlCol="0" anchor="ctr"/>
          <a:lstStyle/>
          <a:p>
            <a:pPr algn="l" indent="0" marL="0">
              <a:buNone/>
            </a:pPr>
            <a:r>
              <a:rPr lang="en-US" sz="1450" b="1" dirty="0">
                <a:solidFill>
                  <a:srgbClr val="0A1E33"/>
                </a:solidFill>
                <a:latin typeface="Calibri" pitchFamily="34" charset="0"/>
                <a:ea typeface="Calibri" pitchFamily="34" charset="-122"/>
                <a:cs typeface="Calibri" pitchFamily="34" charset="-120"/>
              </a:rPr>
              <a:t>Kickoff</a:t>
            </a:r>
            <a:endParaRPr lang="en-US" sz="1450" dirty="0"/>
          </a:p>
        </p:txBody>
      </p:sp>
      <p:sp>
        <p:nvSpPr>
          <p:cNvPr id="28" name="anim:1"/>
          <p:cNvSpPr txBox="1"/>
          <p:nvPr/>
        </p:nvSpPr>
        <p:spPr>
          <a:xfrm>
            <a:off x="777240" y="3611880"/>
            <a:ext cx="1691640" cy="1417320"/>
          </a:xfrm>
          <a:prstGeom prst="rect">
            <a:avLst/>
          </a:prstGeom>
          <a:noFill/>
          <a:ln/>
        </p:spPr>
        <p:txBody>
          <a:bodyPr wrap="square" lIns="0" tIns="0" rIns="0" bIns="0" rtlCol="0" anchor="t"/>
          <a:lstStyle/>
          <a:p>
            <a:pPr algn="l" indent="0" marL="0">
              <a:buNone/>
            </a:pPr>
            <a:r>
              <a:rPr lang="en-US" sz="1000" dirty="0">
                <a:solidFill>
                  <a:srgbClr val="15243A"/>
                </a:solidFill>
                <a:latin typeface="Calibri" pitchFamily="34" charset="0"/>
                <a:ea typeface="Calibri" pitchFamily="34" charset="-122"/>
                <a:cs typeface="Calibri" pitchFamily="34" charset="-120"/>
              </a:rPr>
              <a:t>The brief is issued and scoped in FDE mode; the architecture is proposed as options with trade-offs.</a:t>
            </a:r>
            <a:endParaRPr lang="en-US" sz="1000" dirty="0"/>
          </a:p>
        </p:txBody>
      </p:sp>
      <p:sp>
        <p:nvSpPr>
          <p:cNvPr id="29" name="anim:1 grad:blue"/>
          <p:cNvSpPr/>
          <p:nvPr/>
        </p:nvSpPr>
        <p:spPr>
          <a:xfrm>
            <a:off x="3730752" y="2194560"/>
            <a:ext cx="274320" cy="274320"/>
          </a:xfrm>
          <a:prstGeom prst="ellipse">
            <a:avLst/>
          </a:prstGeom>
          <a:gradFill rotWithShape="1">
            <a:gsLst>
              <a:gs pos="0">
                <a:srgbClr val="2FA8E0"/>
              </a:gs>
              <a:gs pos="100000">
                <a:srgbClr val="007DB6"/>
              </a:gs>
            </a:gsLst>
            <a:lin ang="5400000" scaled="0"/>
          </a:gradFill>
          <a:ln w="25400">
            <a:solidFill>
              <a:srgbClr val="F4F6F9"/>
            </a:solidFill>
            <a:prstDash val="solid"/>
          </a:ln>
        </p:spPr>
        <p:txBody>
          <a:bodyPr/>
          <a:p/>
        </p:txBody>
      </p:sp>
      <p:sp>
        <p:nvSpPr>
          <p:cNvPr id="30" name="anim:1"/>
          <p:cNvSpPr txBox="1"/>
          <p:nvPr/>
        </p:nvSpPr>
        <p:spPr>
          <a:xfrm>
            <a:off x="2816352" y="1783080"/>
            <a:ext cx="2103120" cy="274320"/>
          </a:xfrm>
          <a:prstGeom prst="rect">
            <a:avLst/>
          </a:prstGeom>
          <a:noFill/>
          <a:ln/>
        </p:spPr>
        <p:txBody>
          <a:bodyPr wrap="square" lIns="0" tIns="0" rIns="0" bIns="0" rtlCol="0" anchor="ctr"/>
          <a:lstStyle/>
          <a:p>
            <a:pPr algn="ctr" indent="0" marL="0">
              <a:buNone/>
            </a:pPr>
            <a:r>
              <a:rPr lang="en-US" sz="850" b="1" spc="200" kern="0" dirty="0">
                <a:solidFill>
                  <a:srgbClr val="5F7183"/>
                </a:solidFill>
                <a:latin typeface="Calibri" pitchFamily="34" charset="0"/>
                <a:ea typeface="Calibri" pitchFamily="34" charset="-122"/>
                <a:cs typeface="Calibri" pitchFamily="34" charset="-120"/>
              </a:rPr>
              <a:t>WEEK 17</a:t>
            </a:r>
            <a:endParaRPr lang="en-US" sz="850" dirty="0"/>
          </a:p>
        </p:txBody>
      </p:sp>
      <p:sp>
        <p:nvSpPr>
          <p:cNvPr id="31" name="anim:1 grad:card"/>
          <p:cNvSpPr/>
          <p:nvPr/>
        </p:nvSpPr>
        <p:spPr>
          <a:xfrm>
            <a:off x="2816352" y="2697480"/>
            <a:ext cx="2103120" cy="237744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2" name="anim:1"/>
          <p:cNvSpPr/>
          <p:nvPr/>
        </p:nvSpPr>
        <p:spPr>
          <a:xfrm>
            <a:off x="3044952" y="2926080"/>
            <a:ext cx="548640" cy="548640"/>
          </a:xfrm>
          <a:prstGeom prst="ellipse">
            <a:avLst/>
          </a:prstGeom>
          <a:solidFill>
            <a:srgbClr val="E3F2FA"/>
          </a:solidFill>
          <a:ln w="9525">
            <a:solidFill>
              <a:srgbClr val="E3F2FA"/>
            </a:solidFill>
            <a:prstDash val="solid"/>
          </a:ln>
        </p:spPr>
        <p:txBody>
          <a:bodyPr/>
          <a:p/>
        </p:txBody>
      </p:sp>
      <p:pic>
        <p:nvPicPr>
          <p:cNvPr id="33" name="anim:1" descr="preencoded.png">    </p:cNvPr>
          <p:cNvPicPr>
            <a:picLocks noChangeAspect="1"/>
          </p:cNvPicPr>
          <p:nvPr/>
        </p:nvPicPr>
        <p:blipFill>
          <a:blip r:embed="rId4"/>
          <a:stretch>
            <a:fillRect/>
          </a:stretch>
        </p:blipFill>
        <p:spPr>
          <a:xfrm>
            <a:off x="3176626" y="3057754"/>
            <a:ext cx="285293" cy="285293"/>
          </a:xfrm>
          <a:prstGeom prst="rect">
            <a:avLst/>
          </a:prstGeom>
        </p:spPr>
      </p:pic>
      <p:sp>
        <p:nvSpPr>
          <p:cNvPr id="34" name="anim:1"/>
          <p:cNvSpPr txBox="1"/>
          <p:nvPr/>
        </p:nvSpPr>
        <p:spPr>
          <a:xfrm>
            <a:off x="3685032" y="2926080"/>
            <a:ext cx="1143000" cy="548640"/>
          </a:xfrm>
          <a:prstGeom prst="rect">
            <a:avLst/>
          </a:prstGeom>
          <a:noFill/>
          <a:ln/>
        </p:spPr>
        <p:txBody>
          <a:bodyPr wrap="square" lIns="0" tIns="0" rIns="0" bIns="0" rtlCol="0" anchor="ctr"/>
          <a:lstStyle/>
          <a:p>
            <a:pPr algn="l" indent="0" marL="0">
              <a:buNone/>
            </a:pPr>
            <a:r>
              <a:rPr lang="en-US" sz="1450" b="1" dirty="0">
                <a:solidFill>
                  <a:srgbClr val="0A1E33"/>
                </a:solidFill>
                <a:latin typeface="Calibri" pitchFamily="34" charset="0"/>
                <a:ea typeface="Calibri" pitchFamily="34" charset="-122"/>
                <a:cs typeface="Calibri" pitchFamily="34" charset="-120"/>
              </a:rPr>
              <a:t>Sprint 1</a:t>
            </a:r>
            <a:endParaRPr lang="en-US" sz="1450" dirty="0"/>
          </a:p>
        </p:txBody>
      </p:sp>
      <p:sp>
        <p:nvSpPr>
          <p:cNvPr id="35" name="anim:1"/>
          <p:cNvSpPr txBox="1"/>
          <p:nvPr/>
        </p:nvSpPr>
        <p:spPr>
          <a:xfrm>
            <a:off x="3044952" y="3611880"/>
            <a:ext cx="1691640" cy="1417320"/>
          </a:xfrm>
          <a:prstGeom prst="rect">
            <a:avLst/>
          </a:prstGeom>
          <a:noFill/>
          <a:ln/>
        </p:spPr>
        <p:txBody>
          <a:bodyPr wrap="square" lIns="0" tIns="0" rIns="0" bIns="0" rtlCol="0" anchor="t"/>
          <a:lstStyle/>
          <a:p>
            <a:pPr algn="l" indent="0" marL="0">
              <a:buNone/>
            </a:pPr>
            <a:r>
              <a:rPr lang="en-US" sz="1000" dirty="0">
                <a:solidFill>
                  <a:srgbClr val="15243A"/>
                </a:solidFill>
                <a:latin typeface="Calibri" pitchFamily="34" charset="0"/>
                <a:ea typeface="Calibri" pitchFamily="34" charset="-122"/>
                <a:cs typeface="Calibri" pitchFamily="34" charset="-120"/>
              </a:rPr>
              <a:t>Architecture and the core build, with the evaluation harness designed in from the first commit, and a checkpoint review at the end of the week.</a:t>
            </a:r>
            <a:endParaRPr lang="en-US" sz="1000" dirty="0"/>
          </a:p>
        </p:txBody>
      </p:sp>
      <p:sp>
        <p:nvSpPr>
          <p:cNvPr id="36" name="anim:2 grad:blue"/>
          <p:cNvSpPr/>
          <p:nvPr/>
        </p:nvSpPr>
        <p:spPr>
          <a:xfrm>
            <a:off x="5998464" y="2194560"/>
            <a:ext cx="274320" cy="274320"/>
          </a:xfrm>
          <a:prstGeom prst="ellipse">
            <a:avLst/>
          </a:prstGeom>
          <a:gradFill rotWithShape="1">
            <a:gsLst>
              <a:gs pos="0">
                <a:srgbClr val="2FA8E0"/>
              </a:gs>
              <a:gs pos="100000">
                <a:srgbClr val="007DB6"/>
              </a:gs>
            </a:gsLst>
            <a:lin ang="5400000" scaled="0"/>
          </a:gradFill>
          <a:ln w="25400">
            <a:solidFill>
              <a:srgbClr val="F4F6F9"/>
            </a:solidFill>
            <a:prstDash val="solid"/>
          </a:ln>
        </p:spPr>
        <p:txBody>
          <a:bodyPr/>
          <a:p/>
        </p:txBody>
      </p:sp>
      <p:sp>
        <p:nvSpPr>
          <p:cNvPr id="37" name="anim:2"/>
          <p:cNvSpPr txBox="1"/>
          <p:nvPr/>
        </p:nvSpPr>
        <p:spPr>
          <a:xfrm>
            <a:off x="5084064" y="1783080"/>
            <a:ext cx="2103120" cy="274320"/>
          </a:xfrm>
          <a:prstGeom prst="rect">
            <a:avLst/>
          </a:prstGeom>
          <a:noFill/>
          <a:ln/>
        </p:spPr>
        <p:txBody>
          <a:bodyPr wrap="square" lIns="0" tIns="0" rIns="0" bIns="0" rtlCol="0" anchor="ctr"/>
          <a:lstStyle/>
          <a:p>
            <a:pPr algn="ctr" indent="0" marL="0">
              <a:buNone/>
            </a:pPr>
            <a:r>
              <a:rPr lang="en-US" sz="850" b="1" spc="200" kern="0" dirty="0">
                <a:solidFill>
                  <a:srgbClr val="5F7183"/>
                </a:solidFill>
                <a:latin typeface="Calibri" pitchFamily="34" charset="0"/>
                <a:ea typeface="Calibri" pitchFamily="34" charset="-122"/>
                <a:cs typeface="Calibri" pitchFamily="34" charset="-120"/>
              </a:rPr>
              <a:t>WEEK 18</a:t>
            </a:r>
            <a:endParaRPr lang="en-US" sz="850" dirty="0"/>
          </a:p>
        </p:txBody>
      </p:sp>
      <p:sp>
        <p:nvSpPr>
          <p:cNvPr id="38" name="anim:2 grad:card"/>
          <p:cNvSpPr/>
          <p:nvPr/>
        </p:nvSpPr>
        <p:spPr>
          <a:xfrm>
            <a:off x="5084064" y="2697480"/>
            <a:ext cx="2103120" cy="237744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9" name="anim:2"/>
          <p:cNvSpPr/>
          <p:nvPr/>
        </p:nvSpPr>
        <p:spPr>
          <a:xfrm>
            <a:off x="5312664" y="2926080"/>
            <a:ext cx="548640" cy="548640"/>
          </a:xfrm>
          <a:prstGeom prst="ellipse">
            <a:avLst/>
          </a:prstGeom>
          <a:solidFill>
            <a:srgbClr val="E3F2FA"/>
          </a:solidFill>
          <a:ln w="9525">
            <a:solidFill>
              <a:srgbClr val="E3F2FA"/>
            </a:solidFill>
            <a:prstDash val="solid"/>
          </a:ln>
        </p:spPr>
        <p:txBody>
          <a:bodyPr/>
          <a:p/>
        </p:txBody>
      </p:sp>
      <p:pic>
        <p:nvPicPr>
          <p:cNvPr id="40" name="anim:2" descr="preencoded.png">    </p:cNvPr>
          <p:cNvPicPr>
            <a:picLocks noChangeAspect="1"/>
          </p:cNvPicPr>
          <p:nvPr/>
        </p:nvPicPr>
        <p:blipFill>
          <a:blip r:embed="rId5"/>
          <a:stretch>
            <a:fillRect/>
          </a:stretch>
        </p:blipFill>
        <p:spPr>
          <a:xfrm>
            <a:off x="5444338" y="3057754"/>
            <a:ext cx="285293" cy="285293"/>
          </a:xfrm>
          <a:prstGeom prst="rect">
            <a:avLst/>
          </a:prstGeom>
        </p:spPr>
      </p:pic>
      <p:sp>
        <p:nvSpPr>
          <p:cNvPr id="41" name="anim:2"/>
          <p:cNvSpPr txBox="1"/>
          <p:nvPr/>
        </p:nvSpPr>
        <p:spPr>
          <a:xfrm>
            <a:off x="5952744" y="2926080"/>
            <a:ext cx="1143000" cy="548640"/>
          </a:xfrm>
          <a:prstGeom prst="rect">
            <a:avLst/>
          </a:prstGeom>
          <a:noFill/>
          <a:ln/>
        </p:spPr>
        <p:txBody>
          <a:bodyPr wrap="square" lIns="0" tIns="0" rIns="0" bIns="0" rtlCol="0" anchor="ctr"/>
          <a:lstStyle/>
          <a:p>
            <a:pPr algn="l" indent="0" marL="0">
              <a:buNone/>
            </a:pPr>
            <a:r>
              <a:rPr lang="en-US" sz="1450" b="1" dirty="0">
                <a:solidFill>
                  <a:srgbClr val="0A1E33"/>
                </a:solidFill>
                <a:latin typeface="Calibri" pitchFamily="34" charset="0"/>
                <a:ea typeface="Calibri" pitchFamily="34" charset="-122"/>
                <a:cs typeface="Calibri" pitchFamily="34" charset="-120"/>
              </a:rPr>
              <a:t>Sprint 2</a:t>
            </a:r>
            <a:endParaRPr lang="en-US" sz="1450" dirty="0"/>
          </a:p>
        </p:txBody>
      </p:sp>
      <p:sp>
        <p:nvSpPr>
          <p:cNvPr id="42" name="anim:2"/>
          <p:cNvSpPr txBox="1"/>
          <p:nvPr/>
        </p:nvSpPr>
        <p:spPr>
          <a:xfrm>
            <a:off x="5312664" y="3611880"/>
            <a:ext cx="1691640" cy="1417320"/>
          </a:xfrm>
          <a:prstGeom prst="rect">
            <a:avLst/>
          </a:prstGeom>
          <a:noFill/>
          <a:ln/>
        </p:spPr>
        <p:txBody>
          <a:bodyPr wrap="square" lIns="0" tIns="0" rIns="0" bIns="0" rtlCol="0" anchor="t"/>
          <a:lstStyle/>
          <a:p>
            <a:pPr algn="l" indent="0" marL="0">
              <a:buNone/>
            </a:pPr>
            <a:r>
              <a:rPr lang="en-US" sz="1000" dirty="0">
                <a:solidFill>
                  <a:srgbClr val="15243A"/>
                </a:solidFill>
                <a:latin typeface="Calibri" pitchFamily="34" charset="0"/>
                <a:ea typeface="Calibri" pitchFamily="34" charset="-122"/>
                <a:cs typeface="Calibri" pitchFamily="34" charset="-120"/>
              </a:rPr>
              <a:t>Feature completion, deployment beyond localhost, monitoring and documentation.</a:t>
            </a:r>
            <a:endParaRPr lang="en-US" sz="1000" dirty="0"/>
          </a:p>
        </p:txBody>
      </p:sp>
      <p:sp>
        <p:nvSpPr>
          <p:cNvPr id="43" name="anim:2 grad:blue"/>
          <p:cNvSpPr/>
          <p:nvPr/>
        </p:nvSpPr>
        <p:spPr>
          <a:xfrm>
            <a:off x="8266176" y="2194560"/>
            <a:ext cx="274320" cy="274320"/>
          </a:xfrm>
          <a:prstGeom prst="ellipse">
            <a:avLst/>
          </a:prstGeom>
          <a:gradFill rotWithShape="1">
            <a:gsLst>
              <a:gs pos="0">
                <a:srgbClr val="2FA8E0"/>
              </a:gs>
              <a:gs pos="100000">
                <a:srgbClr val="007DB6"/>
              </a:gs>
            </a:gsLst>
            <a:lin ang="5400000" scaled="0"/>
          </a:gradFill>
          <a:ln w="25400">
            <a:solidFill>
              <a:srgbClr val="F4F6F9"/>
            </a:solidFill>
            <a:prstDash val="solid"/>
          </a:ln>
        </p:spPr>
        <p:txBody>
          <a:bodyPr/>
          <a:p/>
        </p:txBody>
      </p:sp>
      <p:sp>
        <p:nvSpPr>
          <p:cNvPr id="44" name="anim:2"/>
          <p:cNvSpPr txBox="1"/>
          <p:nvPr/>
        </p:nvSpPr>
        <p:spPr>
          <a:xfrm>
            <a:off x="7351776" y="1783080"/>
            <a:ext cx="2103120" cy="274320"/>
          </a:xfrm>
          <a:prstGeom prst="rect">
            <a:avLst/>
          </a:prstGeom>
          <a:noFill/>
          <a:ln/>
        </p:spPr>
        <p:txBody>
          <a:bodyPr wrap="square" lIns="0" tIns="0" rIns="0" bIns="0" rtlCol="0" anchor="ctr"/>
          <a:lstStyle/>
          <a:p>
            <a:pPr algn="ctr" indent="0" marL="0">
              <a:buNone/>
            </a:pPr>
            <a:r>
              <a:rPr lang="en-US" sz="850" b="1" spc="200" kern="0" dirty="0">
                <a:solidFill>
                  <a:srgbClr val="5F7183"/>
                </a:solidFill>
                <a:latin typeface="Calibri" pitchFamily="34" charset="0"/>
                <a:ea typeface="Calibri" pitchFamily="34" charset="-122"/>
                <a:cs typeface="Calibri" pitchFamily="34" charset="-120"/>
              </a:rPr>
              <a:t>WEEK 19</a:t>
            </a:r>
            <a:endParaRPr lang="en-US" sz="850" dirty="0"/>
          </a:p>
        </p:txBody>
      </p:sp>
      <p:sp>
        <p:nvSpPr>
          <p:cNvPr id="45" name="anim:2 grad:card"/>
          <p:cNvSpPr/>
          <p:nvPr/>
        </p:nvSpPr>
        <p:spPr>
          <a:xfrm>
            <a:off x="7351776" y="2697480"/>
            <a:ext cx="2103120" cy="237744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6" name="anim:2"/>
          <p:cNvSpPr/>
          <p:nvPr/>
        </p:nvSpPr>
        <p:spPr>
          <a:xfrm>
            <a:off x="7580376" y="2926080"/>
            <a:ext cx="548640" cy="548640"/>
          </a:xfrm>
          <a:prstGeom prst="ellipse">
            <a:avLst/>
          </a:prstGeom>
          <a:solidFill>
            <a:srgbClr val="E3F2FA"/>
          </a:solidFill>
          <a:ln w="9525">
            <a:solidFill>
              <a:srgbClr val="E3F2FA"/>
            </a:solidFill>
            <a:prstDash val="solid"/>
          </a:ln>
        </p:spPr>
        <p:txBody>
          <a:bodyPr/>
          <a:p/>
        </p:txBody>
      </p:sp>
      <p:pic>
        <p:nvPicPr>
          <p:cNvPr id="47" name="anim:2" descr="preencoded.png">    </p:cNvPr>
          <p:cNvPicPr>
            <a:picLocks noChangeAspect="1"/>
          </p:cNvPicPr>
          <p:nvPr/>
        </p:nvPicPr>
        <p:blipFill>
          <a:blip r:embed="rId6"/>
          <a:stretch>
            <a:fillRect/>
          </a:stretch>
        </p:blipFill>
        <p:spPr>
          <a:xfrm>
            <a:off x="7712050" y="3057754"/>
            <a:ext cx="285293" cy="285293"/>
          </a:xfrm>
          <a:prstGeom prst="rect">
            <a:avLst/>
          </a:prstGeom>
        </p:spPr>
      </p:pic>
      <p:sp>
        <p:nvSpPr>
          <p:cNvPr id="48" name="anim:2"/>
          <p:cNvSpPr txBox="1"/>
          <p:nvPr/>
        </p:nvSpPr>
        <p:spPr>
          <a:xfrm>
            <a:off x="8220456" y="2926080"/>
            <a:ext cx="1143000" cy="548640"/>
          </a:xfrm>
          <a:prstGeom prst="rect">
            <a:avLst/>
          </a:prstGeom>
          <a:noFill/>
          <a:ln/>
        </p:spPr>
        <p:txBody>
          <a:bodyPr wrap="square" lIns="0" tIns="0" rIns="0" bIns="0" rtlCol="0" anchor="ctr"/>
          <a:lstStyle/>
          <a:p>
            <a:pPr algn="l" indent="0" marL="0">
              <a:buNone/>
            </a:pPr>
            <a:r>
              <a:rPr lang="en-US" sz="1450" b="1" dirty="0">
                <a:solidFill>
                  <a:srgbClr val="0A1E33"/>
                </a:solidFill>
                <a:latin typeface="Calibri" pitchFamily="34" charset="0"/>
                <a:ea typeface="Calibri" pitchFamily="34" charset="-122"/>
                <a:cs typeface="Calibri" pitchFamily="34" charset="-120"/>
              </a:rPr>
              <a:t>Sprint 3</a:t>
            </a:r>
            <a:endParaRPr lang="en-US" sz="1450" dirty="0"/>
          </a:p>
        </p:txBody>
      </p:sp>
      <p:sp>
        <p:nvSpPr>
          <p:cNvPr id="49" name="anim:2"/>
          <p:cNvSpPr txBox="1"/>
          <p:nvPr/>
        </p:nvSpPr>
        <p:spPr>
          <a:xfrm>
            <a:off x="7580376" y="3611880"/>
            <a:ext cx="1691640" cy="1417320"/>
          </a:xfrm>
          <a:prstGeom prst="rect">
            <a:avLst/>
          </a:prstGeom>
          <a:noFill/>
          <a:ln/>
        </p:spPr>
        <p:txBody>
          <a:bodyPr wrap="square" lIns="0" tIns="0" rIns="0" bIns="0" rtlCol="0" anchor="t"/>
          <a:lstStyle/>
          <a:p>
            <a:pPr algn="l" indent="0" marL="0">
              <a:buNone/>
            </a:pPr>
            <a:r>
              <a:rPr lang="en-US" sz="1000" dirty="0">
                <a:solidFill>
                  <a:srgbClr val="15243A"/>
                </a:solidFill>
                <a:latin typeface="Calibri" pitchFamily="34" charset="0"/>
                <a:ea typeface="Calibri" pitchFamily="34" charset="-122"/>
                <a:cs typeface="Calibri" pitchFamily="34" charset="-120"/>
              </a:rPr>
              <a:t>A rehearsed live demo, defence drills where every decision is challenged, portfolio and README polish.</a:t>
            </a:r>
            <a:endParaRPr lang="en-US" sz="1000" dirty="0"/>
          </a:p>
        </p:txBody>
      </p:sp>
      <p:sp>
        <p:nvSpPr>
          <p:cNvPr id="50" name="anim:3 grad:gold"/>
          <p:cNvSpPr/>
          <p:nvPr/>
        </p:nvSpPr>
        <p:spPr>
          <a:xfrm>
            <a:off x="10533888" y="2194560"/>
            <a:ext cx="274320" cy="274320"/>
          </a:xfrm>
          <a:prstGeom prst="ellipse">
            <a:avLst/>
          </a:prstGeom>
          <a:gradFill rotWithShape="1">
            <a:gsLst>
              <a:gs pos="0">
                <a:srgbClr val="F3C84A"/>
              </a:gs>
              <a:gs pos="100000">
                <a:srgbClr val="D9A21A"/>
              </a:gs>
            </a:gsLst>
            <a:lin ang="5400000" scaled="0"/>
          </a:gradFill>
          <a:ln w="25400">
            <a:solidFill>
              <a:srgbClr val="F4F6F9"/>
            </a:solidFill>
            <a:prstDash val="solid"/>
          </a:ln>
        </p:spPr>
        <p:txBody>
          <a:bodyPr/>
          <a:p/>
        </p:txBody>
      </p:sp>
      <p:sp>
        <p:nvSpPr>
          <p:cNvPr id="51" name="anim:3"/>
          <p:cNvSpPr txBox="1"/>
          <p:nvPr/>
        </p:nvSpPr>
        <p:spPr>
          <a:xfrm>
            <a:off x="9619488" y="1783080"/>
            <a:ext cx="2103120" cy="274320"/>
          </a:xfrm>
          <a:prstGeom prst="rect">
            <a:avLst/>
          </a:prstGeom>
          <a:noFill/>
          <a:ln/>
        </p:spPr>
        <p:txBody>
          <a:bodyPr wrap="square" lIns="0" tIns="0" rIns="0" bIns="0" rtlCol="0" anchor="ctr"/>
          <a:lstStyle/>
          <a:p>
            <a:pPr algn="ctr" indent="0" marL="0">
              <a:buNone/>
            </a:pPr>
            <a:r>
              <a:rPr lang="en-US" sz="850" b="1" spc="200" kern="0" dirty="0">
                <a:solidFill>
                  <a:srgbClr val="5F7183"/>
                </a:solidFill>
                <a:latin typeface="Calibri" pitchFamily="34" charset="0"/>
                <a:ea typeface="Calibri" pitchFamily="34" charset="-122"/>
                <a:cs typeface="Calibri" pitchFamily="34" charset="-120"/>
              </a:rPr>
              <a:t>WEEK 20</a:t>
            </a:r>
            <a:endParaRPr lang="en-US" sz="850" dirty="0"/>
          </a:p>
        </p:txBody>
      </p:sp>
      <p:sp>
        <p:nvSpPr>
          <p:cNvPr id="52" name="anim:3 grad:navy"/>
          <p:cNvSpPr/>
          <p:nvPr/>
        </p:nvSpPr>
        <p:spPr>
          <a:xfrm>
            <a:off x="9619488" y="2697480"/>
            <a:ext cx="2103120" cy="2377440"/>
          </a:xfrm>
          <a:prstGeom prst="roundRect">
            <a:avLst>
              <a:gd name="adj" fmla="val 4348"/>
            </a:avLst>
          </a:prstGeom>
          <a:gradFill rotWithShape="1">
            <a:gsLst>
              <a:gs pos="0">
                <a:srgbClr val="1B4170"/>
              </a:gs>
              <a:gs pos="100000">
                <a:srgbClr val="0A1E33"/>
              </a:gs>
            </a:gsLst>
            <a:lin ang="5400000" scaled="0"/>
          </a:gradFill>
          <a:ln w="9525">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53" name="anim:3 grad:sheen"/>
          <p:cNvSpPr/>
          <p:nvPr/>
        </p:nvSpPr>
        <p:spPr>
          <a:xfrm>
            <a:off x="9619488" y="2697480"/>
            <a:ext cx="2103120" cy="2377440"/>
          </a:xfrm>
          <a:prstGeom prst="roundRect">
            <a:avLst>
              <a:gd name="adj" fmla="val 4348"/>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54" name="anim:3 grad:gold"/>
          <p:cNvSpPr/>
          <p:nvPr/>
        </p:nvSpPr>
        <p:spPr>
          <a:xfrm>
            <a:off x="9848088" y="2926080"/>
            <a:ext cx="548640" cy="548640"/>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55" name="anim:3" descr="preencoded.png">    </p:cNvPr>
          <p:cNvPicPr>
            <a:picLocks noChangeAspect="1"/>
          </p:cNvPicPr>
          <p:nvPr/>
        </p:nvPicPr>
        <p:blipFill>
          <a:blip r:embed="rId7"/>
          <a:stretch>
            <a:fillRect/>
          </a:stretch>
        </p:blipFill>
        <p:spPr>
          <a:xfrm>
            <a:off x="9979762" y="3057754"/>
            <a:ext cx="285293" cy="285293"/>
          </a:xfrm>
          <a:prstGeom prst="rect">
            <a:avLst/>
          </a:prstGeom>
        </p:spPr>
      </p:pic>
      <p:sp>
        <p:nvSpPr>
          <p:cNvPr id="56" name="anim:3"/>
          <p:cNvSpPr txBox="1"/>
          <p:nvPr/>
        </p:nvSpPr>
        <p:spPr>
          <a:xfrm>
            <a:off x="10488168" y="2926080"/>
            <a:ext cx="1143000" cy="548640"/>
          </a:xfrm>
          <a:prstGeom prst="rect">
            <a:avLst/>
          </a:prstGeom>
          <a:noFill/>
          <a:ln/>
        </p:spPr>
        <p:txBody>
          <a:bodyPr wrap="square" lIns="0" tIns="0" rIns="0" bIns="0" rtlCol="0" anchor="ctr"/>
          <a:lstStyle/>
          <a:p>
            <a:pPr algn="l" indent="0" marL="0">
              <a:buNone/>
            </a:pPr>
            <a:r>
              <a:rPr lang="en-US" sz="1450" b="1" dirty="0">
                <a:solidFill>
                  <a:srgbClr val="FFFFFF"/>
                </a:solidFill>
                <a:latin typeface="Calibri" pitchFamily="34" charset="0"/>
                <a:ea typeface="Calibri" pitchFamily="34" charset="-122"/>
                <a:cs typeface="Calibri" pitchFamily="34" charset="-120"/>
              </a:rPr>
              <a:t>Demo Day</a:t>
            </a:r>
            <a:endParaRPr lang="en-US" sz="1450" dirty="0"/>
          </a:p>
        </p:txBody>
      </p:sp>
      <p:sp>
        <p:nvSpPr>
          <p:cNvPr id="57" name="anim:3"/>
          <p:cNvSpPr txBox="1"/>
          <p:nvPr/>
        </p:nvSpPr>
        <p:spPr>
          <a:xfrm>
            <a:off x="9848088" y="3611880"/>
            <a:ext cx="1691640" cy="1417320"/>
          </a:xfrm>
          <a:prstGeom prst="rect">
            <a:avLst/>
          </a:prstGeom>
          <a:noFill/>
          <a:ln/>
        </p:spPr>
        <p:txBody>
          <a:bodyPr wrap="square" lIns="0" tIns="0" rIns="0" bIns="0" rtlCol="0" anchor="t"/>
          <a:lstStyle/>
          <a:p>
            <a:pPr algn="l" indent="0" marL="0">
              <a:buNone/>
            </a:pPr>
            <a:r>
              <a:rPr lang="en-US" sz="1000" dirty="0">
                <a:solidFill>
                  <a:srgbClr val="C9D6E4"/>
                </a:solidFill>
                <a:latin typeface="Calibri" pitchFamily="34" charset="0"/>
                <a:ea typeface="Calibri" pitchFamily="34" charset="-122"/>
                <a:cs typeface="Calibri" pitchFamily="34" charset="-120"/>
              </a:rPr>
              <a:t>Demo and defence before an industry panel. Graded on the repository and code, and on the presentation and defence.</a:t>
            </a:r>
            <a:endParaRPr lang="en-US" sz="1000" dirty="0"/>
          </a:p>
        </p:txBody>
      </p:sp>
      <p:sp>
        <p:nvSpPr>
          <p:cNvPr id="58" name="anim:4 grad:skyTint"/>
          <p:cNvSpPr/>
          <p:nvPr/>
        </p:nvSpPr>
        <p:spPr>
          <a:xfrm>
            <a:off x="548640" y="5303520"/>
            <a:ext cx="5422392" cy="457200"/>
          </a:xfrm>
          <a:prstGeom prst="roundRect">
            <a:avLst>
              <a:gd name="adj" fmla="val 20000"/>
            </a:avLst>
          </a:prstGeom>
          <a:gradFill rotWithShape="1">
            <a:gsLst>
              <a:gs pos="0">
                <a:srgbClr val="EEF7FC"/>
              </a:gs>
              <a:gs pos="100000">
                <a:srgbClr val="D8EBF6"/>
              </a:gs>
            </a:gsLst>
            <a:lin ang="5400000" scaled="0"/>
          </a:gradFill>
          <a:ln w="12700">
            <a:solidFill>
              <a:srgbClr val="E3F2FA"/>
            </a:solidFill>
            <a:prstDash val="solid"/>
          </a:ln>
        </p:spPr>
        <p:txBody>
          <a:bodyPr/>
          <a:p/>
        </p:txBody>
      </p:sp>
      <p:sp>
        <p:nvSpPr>
          <p:cNvPr id="59" name="anim:4"/>
          <p:cNvSpPr/>
          <p:nvPr/>
        </p:nvSpPr>
        <p:spPr>
          <a:xfrm>
            <a:off x="640080" y="5376672"/>
            <a:ext cx="310896" cy="310896"/>
          </a:xfrm>
          <a:prstGeom prst="ellipse">
            <a:avLst/>
          </a:prstGeom>
          <a:solidFill>
            <a:srgbClr val="FFFFFF"/>
          </a:solidFill>
          <a:ln w="9525">
            <a:solidFill>
              <a:srgbClr val="FFFFFF"/>
            </a:solidFill>
            <a:prstDash val="solid"/>
          </a:ln>
        </p:spPr>
        <p:txBody>
          <a:bodyPr/>
          <a:p/>
        </p:txBody>
      </p:sp>
      <p:pic>
        <p:nvPicPr>
          <p:cNvPr id="60" name="anim:4" descr="preencoded.png">    </p:cNvPr>
          <p:cNvPicPr>
            <a:picLocks noChangeAspect="1"/>
          </p:cNvPicPr>
          <p:nvPr/>
        </p:nvPicPr>
        <p:blipFill>
          <a:blip r:embed="rId8"/>
          <a:stretch>
            <a:fillRect/>
          </a:stretch>
        </p:blipFill>
        <p:spPr>
          <a:xfrm>
            <a:off x="714695" y="5451287"/>
            <a:ext cx="161666" cy="161666"/>
          </a:xfrm>
          <a:prstGeom prst="rect">
            <a:avLst/>
          </a:prstGeom>
        </p:spPr>
      </p:pic>
      <p:sp>
        <p:nvSpPr>
          <p:cNvPr id="61" name="anim:4"/>
          <p:cNvSpPr txBox="1"/>
          <p:nvPr/>
        </p:nvSpPr>
        <p:spPr>
          <a:xfrm>
            <a:off x="1051560" y="5303520"/>
            <a:ext cx="4846320" cy="457200"/>
          </a:xfrm>
          <a:prstGeom prst="rect">
            <a:avLst/>
          </a:prstGeom>
          <a:noFill/>
          <a:ln/>
        </p:spPr>
        <p:txBody>
          <a:bodyPr wrap="square" lIns="0" tIns="0" rIns="0" bIns="0" rtlCol="0" anchor="ctr"/>
          <a:lstStyle/>
          <a:p>
            <a:pPr algn="l" indent="0" marL="0">
              <a:buNone/>
            </a:pPr>
            <a:r>
              <a:rPr lang="en-US" sz="1000" dirty="0">
                <a:solidFill>
                  <a:srgbClr val="15243A"/>
                </a:solidFill>
                <a:latin typeface="Calibri" pitchFamily="34" charset="0"/>
                <a:ea typeface="Calibri" pitchFamily="34" charset="-122"/>
                <a:cs typeface="Calibri" pitchFamily="34" charset="-120"/>
              </a:rPr>
              <a:t>Groups, with a different project for each group by theme area</a:t>
            </a:r>
            <a:endParaRPr lang="en-US" sz="1000" dirty="0"/>
          </a:p>
        </p:txBody>
      </p:sp>
      <p:sp>
        <p:nvSpPr>
          <p:cNvPr id="62" name="anim:4 grad:skyTint"/>
          <p:cNvSpPr/>
          <p:nvPr/>
        </p:nvSpPr>
        <p:spPr>
          <a:xfrm>
            <a:off x="6217920" y="5303520"/>
            <a:ext cx="5422392" cy="457200"/>
          </a:xfrm>
          <a:prstGeom prst="roundRect">
            <a:avLst>
              <a:gd name="adj" fmla="val 20000"/>
            </a:avLst>
          </a:prstGeom>
          <a:gradFill rotWithShape="1">
            <a:gsLst>
              <a:gs pos="0">
                <a:srgbClr val="EEF7FC"/>
              </a:gs>
              <a:gs pos="100000">
                <a:srgbClr val="D8EBF6"/>
              </a:gs>
            </a:gsLst>
            <a:lin ang="5400000" scaled="0"/>
          </a:gradFill>
          <a:ln w="12700">
            <a:solidFill>
              <a:srgbClr val="E3F2FA"/>
            </a:solidFill>
            <a:prstDash val="solid"/>
          </a:ln>
        </p:spPr>
        <p:txBody>
          <a:bodyPr/>
          <a:p/>
        </p:txBody>
      </p:sp>
      <p:sp>
        <p:nvSpPr>
          <p:cNvPr id="63" name="anim:4"/>
          <p:cNvSpPr/>
          <p:nvPr/>
        </p:nvSpPr>
        <p:spPr>
          <a:xfrm>
            <a:off x="6309360" y="5376672"/>
            <a:ext cx="310896" cy="310896"/>
          </a:xfrm>
          <a:prstGeom prst="ellipse">
            <a:avLst/>
          </a:prstGeom>
          <a:solidFill>
            <a:srgbClr val="FFFFFF"/>
          </a:solidFill>
          <a:ln w="9525">
            <a:solidFill>
              <a:srgbClr val="FFFFFF"/>
            </a:solidFill>
            <a:prstDash val="solid"/>
          </a:ln>
        </p:spPr>
        <p:txBody>
          <a:bodyPr/>
          <a:p/>
        </p:txBody>
      </p:sp>
      <p:pic>
        <p:nvPicPr>
          <p:cNvPr id="64" name="anim:4" descr="preencoded.png">    </p:cNvPr>
          <p:cNvPicPr>
            <a:picLocks noChangeAspect="1"/>
          </p:cNvPicPr>
          <p:nvPr/>
        </p:nvPicPr>
        <p:blipFill>
          <a:blip r:embed="rId9"/>
          <a:stretch>
            <a:fillRect/>
          </a:stretch>
        </p:blipFill>
        <p:spPr>
          <a:xfrm>
            <a:off x="6383975" y="5451287"/>
            <a:ext cx="161666" cy="161666"/>
          </a:xfrm>
          <a:prstGeom prst="rect">
            <a:avLst/>
          </a:prstGeom>
        </p:spPr>
      </p:pic>
      <p:sp>
        <p:nvSpPr>
          <p:cNvPr id="65" name="anim:4"/>
          <p:cNvSpPr txBox="1"/>
          <p:nvPr/>
        </p:nvSpPr>
        <p:spPr>
          <a:xfrm>
            <a:off x="6720840" y="5303520"/>
            <a:ext cx="4846320" cy="457200"/>
          </a:xfrm>
          <a:prstGeom prst="rect">
            <a:avLst/>
          </a:prstGeom>
          <a:noFill/>
          <a:ln/>
        </p:spPr>
        <p:txBody>
          <a:bodyPr wrap="square" lIns="0" tIns="0" rIns="0" bIns="0" rtlCol="0" anchor="ctr"/>
          <a:lstStyle/>
          <a:p>
            <a:pPr algn="l" indent="0" marL="0">
              <a:buNone/>
            </a:pPr>
            <a:r>
              <a:rPr lang="en-US" sz="1000" dirty="0">
                <a:solidFill>
                  <a:srgbClr val="15243A"/>
                </a:solidFill>
                <a:latin typeface="Calibri" pitchFamily="34" charset="0"/>
                <a:ea typeface="Calibri" pitchFamily="34" charset="-122"/>
                <a:cs typeface="Calibri" pitchFamily="34" charset="-120"/>
              </a:rPr>
              <a:t>OpenRouter API credits and cloud hosting credits switch on for this phase</a:t>
            </a:r>
            <a:endParaRPr lang="en-US" sz="1000" dirty="0"/>
          </a:p>
        </p:txBody>
      </p:sp>
      <p:sp>
        <p:nvSpPr>
          <p:cNvPr id="66" name="anim:4 grad:skyTint"/>
          <p:cNvSpPr/>
          <p:nvPr/>
        </p:nvSpPr>
        <p:spPr>
          <a:xfrm>
            <a:off x="548640" y="5852160"/>
            <a:ext cx="5422392" cy="457200"/>
          </a:xfrm>
          <a:prstGeom prst="roundRect">
            <a:avLst>
              <a:gd name="adj" fmla="val 20000"/>
            </a:avLst>
          </a:prstGeom>
          <a:gradFill rotWithShape="1">
            <a:gsLst>
              <a:gs pos="0">
                <a:srgbClr val="EEF7FC"/>
              </a:gs>
              <a:gs pos="100000">
                <a:srgbClr val="D8EBF6"/>
              </a:gs>
            </a:gsLst>
            <a:lin ang="5400000" scaled="0"/>
          </a:gradFill>
          <a:ln w="12700">
            <a:solidFill>
              <a:srgbClr val="E3F2FA"/>
            </a:solidFill>
            <a:prstDash val="solid"/>
          </a:ln>
        </p:spPr>
        <p:txBody>
          <a:bodyPr/>
          <a:p/>
        </p:txBody>
      </p:sp>
      <p:sp>
        <p:nvSpPr>
          <p:cNvPr id="67" name="anim:4"/>
          <p:cNvSpPr/>
          <p:nvPr/>
        </p:nvSpPr>
        <p:spPr>
          <a:xfrm>
            <a:off x="640080" y="5925312"/>
            <a:ext cx="310896" cy="310896"/>
          </a:xfrm>
          <a:prstGeom prst="ellipse">
            <a:avLst/>
          </a:prstGeom>
          <a:solidFill>
            <a:srgbClr val="FFFFFF"/>
          </a:solidFill>
          <a:ln w="9525">
            <a:solidFill>
              <a:srgbClr val="FFFFFF"/>
            </a:solidFill>
            <a:prstDash val="solid"/>
          </a:ln>
        </p:spPr>
        <p:txBody>
          <a:bodyPr/>
          <a:p/>
        </p:txBody>
      </p:sp>
      <p:pic>
        <p:nvPicPr>
          <p:cNvPr id="68" name="anim:4" descr="preencoded.png">    </p:cNvPr>
          <p:cNvPicPr>
            <a:picLocks noChangeAspect="1"/>
          </p:cNvPicPr>
          <p:nvPr/>
        </p:nvPicPr>
        <p:blipFill>
          <a:blip r:embed="rId10"/>
          <a:stretch>
            <a:fillRect/>
          </a:stretch>
        </p:blipFill>
        <p:spPr>
          <a:xfrm>
            <a:off x="714695" y="5999927"/>
            <a:ext cx="161666" cy="161666"/>
          </a:xfrm>
          <a:prstGeom prst="rect">
            <a:avLst/>
          </a:prstGeom>
        </p:spPr>
      </p:pic>
      <p:sp>
        <p:nvSpPr>
          <p:cNvPr id="69" name="anim:4"/>
          <p:cNvSpPr txBox="1"/>
          <p:nvPr/>
        </p:nvSpPr>
        <p:spPr>
          <a:xfrm>
            <a:off x="1051560" y="5852160"/>
            <a:ext cx="4846320" cy="457200"/>
          </a:xfrm>
          <a:prstGeom prst="rect">
            <a:avLst/>
          </a:prstGeom>
          <a:noFill/>
          <a:ln/>
        </p:spPr>
        <p:txBody>
          <a:bodyPr wrap="square" lIns="0" tIns="0" rIns="0" bIns="0" rtlCol="0" anchor="ctr"/>
          <a:lstStyle/>
          <a:p>
            <a:pPr algn="l" indent="0" marL="0">
              <a:buNone/>
            </a:pPr>
            <a:r>
              <a:rPr lang="en-US" sz="1000" dirty="0">
                <a:solidFill>
                  <a:srgbClr val="15243A"/>
                </a:solidFill>
                <a:latin typeface="Calibri" pitchFamily="34" charset="0"/>
                <a:ea typeface="Calibri" pitchFamily="34" charset="-122"/>
                <a:cs typeface="Calibri" pitchFamily="34" charset="-120"/>
              </a:rPr>
              <a:t>Your challenges log runs through all five weeks and becomes interview material</a:t>
            </a:r>
            <a:endParaRPr lang="en-US" sz="1000" dirty="0"/>
          </a:p>
        </p:txBody>
      </p:sp>
      <p:sp>
        <p:nvSpPr>
          <p:cNvPr id="70" name="anim:4 grad:skyTint"/>
          <p:cNvSpPr/>
          <p:nvPr/>
        </p:nvSpPr>
        <p:spPr>
          <a:xfrm>
            <a:off x="6217920" y="5852160"/>
            <a:ext cx="5422392" cy="457200"/>
          </a:xfrm>
          <a:prstGeom prst="roundRect">
            <a:avLst>
              <a:gd name="adj" fmla="val 20000"/>
            </a:avLst>
          </a:prstGeom>
          <a:gradFill rotWithShape="1">
            <a:gsLst>
              <a:gs pos="0">
                <a:srgbClr val="EEF7FC"/>
              </a:gs>
              <a:gs pos="100000">
                <a:srgbClr val="D8EBF6"/>
              </a:gs>
            </a:gsLst>
            <a:lin ang="5400000" scaled="0"/>
          </a:gradFill>
          <a:ln w="12700">
            <a:solidFill>
              <a:srgbClr val="E3F2FA"/>
            </a:solidFill>
            <a:prstDash val="solid"/>
          </a:ln>
        </p:spPr>
        <p:txBody>
          <a:bodyPr/>
          <a:p/>
        </p:txBody>
      </p:sp>
      <p:sp>
        <p:nvSpPr>
          <p:cNvPr id="71" name="anim:4"/>
          <p:cNvSpPr/>
          <p:nvPr/>
        </p:nvSpPr>
        <p:spPr>
          <a:xfrm>
            <a:off x="6309360" y="5925312"/>
            <a:ext cx="310896" cy="310896"/>
          </a:xfrm>
          <a:prstGeom prst="ellipse">
            <a:avLst/>
          </a:prstGeom>
          <a:solidFill>
            <a:srgbClr val="FFFFFF"/>
          </a:solidFill>
          <a:ln w="9525">
            <a:solidFill>
              <a:srgbClr val="FFFFFF"/>
            </a:solidFill>
            <a:prstDash val="solid"/>
          </a:ln>
        </p:spPr>
        <p:txBody>
          <a:bodyPr/>
          <a:p/>
        </p:txBody>
      </p:sp>
      <p:pic>
        <p:nvPicPr>
          <p:cNvPr id="72" name="anim:4" descr="preencoded.png">    </p:cNvPr>
          <p:cNvPicPr>
            <a:picLocks noChangeAspect="1"/>
          </p:cNvPicPr>
          <p:nvPr/>
        </p:nvPicPr>
        <p:blipFill>
          <a:blip r:embed="rId11"/>
          <a:stretch>
            <a:fillRect/>
          </a:stretch>
        </p:blipFill>
        <p:spPr>
          <a:xfrm>
            <a:off x="6383975" y="5999927"/>
            <a:ext cx="161666" cy="161666"/>
          </a:xfrm>
          <a:prstGeom prst="rect">
            <a:avLst/>
          </a:prstGeom>
        </p:spPr>
      </p:pic>
      <p:sp>
        <p:nvSpPr>
          <p:cNvPr id="73" name="anim:4"/>
          <p:cNvSpPr txBox="1"/>
          <p:nvPr/>
        </p:nvSpPr>
        <p:spPr>
          <a:xfrm>
            <a:off x="6720840" y="5852160"/>
            <a:ext cx="4846320" cy="457200"/>
          </a:xfrm>
          <a:prstGeom prst="rect">
            <a:avLst/>
          </a:prstGeom>
          <a:noFill/>
          <a:ln/>
        </p:spPr>
        <p:txBody>
          <a:bodyPr wrap="square" lIns="0" tIns="0" rIns="0" bIns="0" rtlCol="0" anchor="ctr"/>
          <a:lstStyle/>
          <a:p>
            <a:pPr algn="l" indent="0" marL="0">
              <a:buNone/>
            </a:pPr>
            <a:r>
              <a:rPr lang="en-US" sz="1000" dirty="0">
                <a:solidFill>
                  <a:srgbClr val="15243A"/>
                </a:solidFill>
                <a:latin typeface="Calibri" pitchFamily="34" charset="0"/>
                <a:ea typeface="Calibri" pitchFamily="34" charset="-122"/>
                <a:cs typeface="Calibri" pitchFamily="34" charset="-120"/>
              </a:rPr>
              <a:t>Evaluation is designed in from Sprint 1, never bolted on at the end</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childTnLst>
                          </p:cTn>
                        </p:par>
                      </p:childTnLst>
                    </p:cTn>
                  </p:par>
                  <p:par>
                    <p:cTn id="92" fill="hold">
                      <p:stCondLst>
                        <p:cond delay="indefinite"/>
                      </p:stCondLst>
                      <p:childTnLst>
                        <p:par>
                          <p:cTn id="93"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9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18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27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36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45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54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63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72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81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90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childTnLst>
                          </p:cTn>
                        </p:par>
                      </p:childTnLst>
                    </p:cTn>
                  </p:par>
                  <p:par>
                    <p:cTn id="118" fill="hold">
                      <p:stCondLst>
                        <p:cond delay="indefinite"/>
                      </p:stCondLst>
                      <p:childTnLst>
                        <p:par>
                          <p:cTn id="119"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50"/>
                                        </p:tgtEl>
                                        <p:attrNameLst>
                                          <p:attrName>style.visibility</p:attrName>
                                        </p:attrNameLst>
                                      </p:cBhvr>
                                      <p:to>
                                        <p:strVal val="visible"/>
                                      </p:to>
                                    </p:set>
                                    <p:animEffect transition="in" filter="fade">
                                      <p:cBhvr>
                                        <p:cTn id="96" dur="400"/>
                                        <p:tgtEl>
                                          <p:spTgt spid="50"/>
                                        </p:tgtEl>
                                      </p:cBhvr>
                                    </p:animEffect>
                                  </p:childTnLst>
                                </p:cTn>
                              </p:par>
                              <p:par>
                                <p:cTn id="97" presetID="10" presetClass="entr" presetSubtype="0" fill="hold" grpId="0" nodeType="withEffect">
                                  <p:stCondLst>
                                    <p:cond delay="90"/>
                                  </p:stCondLst>
                                  <p:childTnLst>
                                    <p:set>
                                      <p:cBhvr>
                                        <p:cTn id="98" dur="1" fill="hold">
                                          <p:stCondLst>
                                            <p:cond delay="0"/>
                                          </p:stCondLst>
                                        </p:cTn>
                                        <p:tgtEl>
                                          <p:spTgt spid="51"/>
                                        </p:tgtEl>
                                        <p:attrNameLst>
                                          <p:attrName>style.visibility</p:attrName>
                                        </p:attrNameLst>
                                      </p:cBhvr>
                                      <p:to>
                                        <p:strVal val="visible"/>
                                      </p:to>
                                    </p:set>
                                    <p:animEffect transition="in" filter="fade">
                                      <p:cBhvr>
                                        <p:cTn id="99" dur="400"/>
                                        <p:tgtEl>
                                          <p:spTgt spid="51"/>
                                        </p:tgtEl>
                                      </p:cBhvr>
                                    </p:animEffect>
                                  </p:childTnLst>
                                </p:cTn>
                              </p:par>
                              <p:par>
                                <p:cTn id="100" presetID="10" presetClass="entr" presetSubtype="0" fill="hold" grpId="0" nodeType="withEffect">
                                  <p:stCondLst>
                                    <p:cond delay="180"/>
                                  </p:stCondLst>
                                  <p:childTnLst>
                                    <p:set>
                                      <p:cBhvr>
                                        <p:cTn id="101" dur="1" fill="hold">
                                          <p:stCondLst>
                                            <p:cond delay="0"/>
                                          </p:stCondLst>
                                        </p:cTn>
                                        <p:tgtEl>
                                          <p:spTgt spid="52"/>
                                        </p:tgtEl>
                                        <p:attrNameLst>
                                          <p:attrName>style.visibility</p:attrName>
                                        </p:attrNameLst>
                                      </p:cBhvr>
                                      <p:to>
                                        <p:strVal val="visible"/>
                                      </p:to>
                                    </p:set>
                                    <p:animEffect transition="in" filter="fade">
                                      <p:cBhvr>
                                        <p:cTn id="102" dur="400"/>
                                        <p:tgtEl>
                                          <p:spTgt spid="52"/>
                                        </p:tgtEl>
                                      </p:cBhvr>
                                    </p:animEffect>
                                  </p:childTnLst>
                                </p:cTn>
                              </p:par>
                              <p:par>
                                <p:cTn id="103" presetID="10" presetClass="entr" presetSubtype="0" fill="hold" grpId="0" nodeType="withEffect">
                                  <p:stCondLst>
                                    <p:cond delay="270"/>
                                  </p:stCondLst>
                                  <p:childTnLst>
                                    <p:set>
                                      <p:cBhvr>
                                        <p:cTn id="104" dur="1" fill="hold">
                                          <p:stCondLst>
                                            <p:cond delay="0"/>
                                          </p:stCondLst>
                                        </p:cTn>
                                        <p:tgtEl>
                                          <p:spTgt spid="53"/>
                                        </p:tgtEl>
                                        <p:attrNameLst>
                                          <p:attrName>style.visibility</p:attrName>
                                        </p:attrNameLst>
                                      </p:cBhvr>
                                      <p:to>
                                        <p:strVal val="visible"/>
                                      </p:to>
                                    </p:set>
                                    <p:animEffect transition="in" filter="fade">
                                      <p:cBhvr>
                                        <p:cTn id="105" dur="400"/>
                                        <p:tgtEl>
                                          <p:spTgt spid="53"/>
                                        </p:tgtEl>
                                      </p:cBhvr>
                                    </p:animEffect>
                                  </p:childTnLst>
                                </p:cTn>
                              </p:par>
                              <p:par>
                                <p:cTn id="106" presetID="10" presetClass="entr" presetSubtype="0" fill="hold" grpId="0" nodeType="withEffect">
                                  <p:stCondLst>
                                    <p:cond delay="36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400"/>
                                        <p:tgtEl>
                                          <p:spTgt spid="54"/>
                                        </p:tgtEl>
                                      </p:cBhvr>
                                    </p:animEffect>
                                  </p:childTnLst>
                                </p:cTn>
                              </p:par>
                              <p:par>
                                <p:cTn id="109" presetID="10" presetClass="entr" presetSubtype="0" fill="hold" grpId="0" nodeType="withEffect">
                                  <p:stCondLst>
                                    <p:cond delay="45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400"/>
                                        <p:tgtEl>
                                          <p:spTgt spid="55"/>
                                        </p:tgtEl>
                                      </p:cBhvr>
                                    </p:animEffect>
                                  </p:childTnLst>
                                </p:cTn>
                              </p:par>
                              <p:par>
                                <p:cTn id="112" presetID="10" presetClass="entr" presetSubtype="0" fill="hold" grpId="0" nodeType="withEffect">
                                  <p:stCondLst>
                                    <p:cond delay="540"/>
                                  </p:stCondLst>
                                  <p:childTnLst>
                                    <p:set>
                                      <p:cBhvr>
                                        <p:cTn id="113" dur="1" fill="hold">
                                          <p:stCondLst>
                                            <p:cond delay="0"/>
                                          </p:stCondLst>
                                        </p:cTn>
                                        <p:tgtEl>
                                          <p:spTgt spid="56"/>
                                        </p:tgtEl>
                                        <p:attrNameLst>
                                          <p:attrName>style.visibility</p:attrName>
                                        </p:attrNameLst>
                                      </p:cBhvr>
                                      <p:to>
                                        <p:strVal val="visible"/>
                                      </p:to>
                                    </p:set>
                                    <p:animEffect transition="in" filter="fade">
                                      <p:cBhvr>
                                        <p:cTn id="114" dur="400"/>
                                        <p:tgtEl>
                                          <p:spTgt spid="56"/>
                                        </p:tgtEl>
                                      </p:cBhvr>
                                    </p:animEffect>
                                  </p:childTnLst>
                                </p:cTn>
                              </p:par>
                              <p:par>
                                <p:cTn id="115" presetID="10" presetClass="entr" presetSubtype="0" fill="hold" grpId="0" nodeType="withEffect">
                                  <p:stCondLst>
                                    <p:cond delay="630"/>
                                  </p:stCondLst>
                                  <p:childTnLst>
                                    <p:set>
                                      <p:cBhvr>
                                        <p:cTn id="116" dur="1" fill="hold">
                                          <p:stCondLst>
                                            <p:cond delay="0"/>
                                          </p:stCondLst>
                                        </p:cTn>
                                        <p:tgtEl>
                                          <p:spTgt spid="57"/>
                                        </p:tgtEl>
                                        <p:attrNameLst>
                                          <p:attrName>style.visibility</p:attrName>
                                        </p:attrNameLst>
                                      </p:cBhvr>
                                      <p:to>
                                        <p:strVal val="visible"/>
                                      </p:to>
                                    </p:set>
                                    <p:animEffect transition="in" filter="fade">
                                      <p:cBhvr>
                                        <p:cTn id="117" dur="400"/>
                                        <p:tgtEl>
                                          <p:spTgt spid="57"/>
                                        </p:tgtEl>
                                      </p:cBhvr>
                                    </p:animEffect>
                                  </p:childTnLst>
                                </p:cTn>
                              </p:par>
                            </p:childTnLst>
                          </p:cTn>
                        </p:par>
                      </p:childTnLst>
                    </p:cTn>
                  </p:par>
                  <p:par>
                    <p:cTn id="168" fill="hold">
                      <p:stCondLst>
                        <p:cond delay="indefinite"/>
                      </p:stCondLst>
                      <p:childTnLst>
                        <p:par>
                          <p:cTn id="16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58"/>
                                        </p:tgtEl>
                                        <p:attrNameLst>
                                          <p:attrName>style.visibility</p:attrName>
                                        </p:attrNameLst>
                                      </p:cBhvr>
                                      <p:to>
                                        <p:strVal val="visible"/>
                                      </p:to>
                                    </p:set>
                                    <p:animEffect transition="in" filter="fade">
                                      <p:cBhvr>
                                        <p:cTn id="122" dur="400"/>
                                        <p:tgtEl>
                                          <p:spTgt spid="58"/>
                                        </p:tgtEl>
                                      </p:cBhvr>
                                    </p:animEffect>
                                  </p:childTnLst>
                                </p:cTn>
                              </p:par>
                              <p:par>
                                <p:cTn id="123" presetID="10" presetClass="entr" presetSubtype="0" fill="hold" grpId="0" nodeType="withEffect">
                                  <p:stCondLst>
                                    <p:cond delay="90"/>
                                  </p:stCondLst>
                                  <p:childTnLst>
                                    <p:set>
                                      <p:cBhvr>
                                        <p:cTn id="124" dur="1" fill="hold">
                                          <p:stCondLst>
                                            <p:cond delay="0"/>
                                          </p:stCondLst>
                                        </p:cTn>
                                        <p:tgtEl>
                                          <p:spTgt spid="59"/>
                                        </p:tgtEl>
                                        <p:attrNameLst>
                                          <p:attrName>style.visibility</p:attrName>
                                        </p:attrNameLst>
                                      </p:cBhvr>
                                      <p:to>
                                        <p:strVal val="visible"/>
                                      </p:to>
                                    </p:set>
                                    <p:animEffect transition="in" filter="fade">
                                      <p:cBhvr>
                                        <p:cTn id="125" dur="400"/>
                                        <p:tgtEl>
                                          <p:spTgt spid="59"/>
                                        </p:tgtEl>
                                      </p:cBhvr>
                                    </p:animEffect>
                                  </p:childTnLst>
                                </p:cTn>
                              </p:par>
                              <p:par>
                                <p:cTn id="126" presetID="10" presetClass="entr" presetSubtype="0" fill="hold" grpId="0" nodeType="withEffect">
                                  <p:stCondLst>
                                    <p:cond delay="180"/>
                                  </p:stCondLst>
                                  <p:childTnLst>
                                    <p:set>
                                      <p:cBhvr>
                                        <p:cTn id="127" dur="1" fill="hold">
                                          <p:stCondLst>
                                            <p:cond delay="0"/>
                                          </p:stCondLst>
                                        </p:cTn>
                                        <p:tgtEl>
                                          <p:spTgt spid="60"/>
                                        </p:tgtEl>
                                        <p:attrNameLst>
                                          <p:attrName>style.visibility</p:attrName>
                                        </p:attrNameLst>
                                      </p:cBhvr>
                                      <p:to>
                                        <p:strVal val="visible"/>
                                      </p:to>
                                    </p:set>
                                    <p:animEffect transition="in" filter="fade">
                                      <p:cBhvr>
                                        <p:cTn id="128" dur="400"/>
                                        <p:tgtEl>
                                          <p:spTgt spid="60"/>
                                        </p:tgtEl>
                                      </p:cBhvr>
                                    </p:animEffect>
                                  </p:childTnLst>
                                </p:cTn>
                              </p:par>
                              <p:par>
                                <p:cTn id="129" presetID="10" presetClass="entr" presetSubtype="0" fill="hold" grpId="0" nodeType="withEffect">
                                  <p:stCondLst>
                                    <p:cond delay="270"/>
                                  </p:stCondLst>
                                  <p:childTnLst>
                                    <p:set>
                                      <p:cBhvr>
                                        <p:cTn id="130" dur="1" fill="hold">
                                          <p:stCondLst>
                                            <p:cond delay="0"/>
                                          </p:stCondLst>
                                        </p:cTn>
                                        <p:tgtEl>
                                          <p:spTgt spid="61"/>
                                        </p:tgtEl>
                                        <p:attrNameLst>
                                          <p:attrName>style.visibility</p:attrName>
                                        </p:attrNameLst>
                                      </p:cBhvr>
                                      <p:to>
                                        <p:strVal val="visible"/>
                                      </p:to>
                                    </p:set>
                                    <p:animEffect transition="in" filter="fade">
                                      <p:cBhvr>
                                        <p:cTn id="131" dur="400"/>
                                        <p:tgtEl>
                                          <p:spTgt spid="61"/>
                                        </p:tgtEl>
                                      </p:cBhvr>
                                    </p:animEffect>
                                  </p:childTnLst>
                                </p:cTn>
                              </p:par>
                              <p:par>
                                <p:cTn id="132" presetID="10" presetClass="entr" presetSubtype="0" fill="hold" grpId="0" nodeType="withEffect">
                                  <p:stCondLst>
                                    <p:cond delay="360"/>
                                  </p:stCondLst>
                                  <p:childTnLst>
                                    <p:set>
                                      <p:cBhvr>
                                        <p:cTn id="133" dur="1" fill="hold">
                                          <p:stCondLst>
                                            <p:cond delay="0"/>
                                          </p:stCondLst>
                                        </p:cTn>
                                        <p:tgtEl>
                                          <p:spTgt spid="62"/>
                                        </p:tgtEl>
                                        <p:attrNameLst>
                                          <p:attrName>style.visibility</p:attrName>
                                        </p:attrNameLst>
                                      </p:cBhvr>
                                      <p:to>
                                        <p:strVal val="visible"/>
                                      </p:to>
                                    </p:set>
                                    <p:animEffect transition="in" filter="fade">
                                      <p:cBhvr>
                                        <p:cTn id="134" dur="400"/>
                                        <p:tgtEl>
                                          <p:spTgt spid="62"/>
                                        </p:tgtEl>
                                      </p:cBhvr>
                                    </p:animEffect>
                                  </p:childTnLst>
                                </p:cTn>
                              </p:par>
                              <p:par>
                                <p:cTn id="135" presetID="10" presetClass="entr" presetSubtype="0" fill="hold" grpId="0" nodeType="withEffect">
                                  <p:stCondLst>
                                    <p:cond delay="450"/>
                                  </p:stCondLst>
                                  <p:childTnLst>
                                    <p:set>
                                      <p:cBhvr>
                                        <p:cTn id="136" dur="1" fill="hold">
                                          <p:stCondLst>
                                            <p:cond delay="0"/>
                                          </p:stCondLst>
                                        </p:cTn>
                                        <p:tgtEl>
                                          <p:spTgt spid="63"/>
                                        </p:tgtEl>
                                        <p:attrNameLst>
                                          <p:attrName>style.visibility</p:attrName>
                                        </p:attrNameLst>
                                      </p:cBhvr>
                                      <p:to>
                                        <p:strVal val="visible"/>
                                      </p:to>
                                    </p:set>
                                    <p:animEffect transition="in" filter="fade">
                                      <p:cBhvr>
                                        <p:cTn id="137" dur="400"/>
                                        <p:tgtEl>
                                          <p:spTgt spid="63"/>
                                        </p:tgtEl>
                                      </p:cBhvr>
                                    </p:animEffect>
                                  </p:childTnLst>
                                </p:cTn>
                              </p:par>
                              <p:par>
                                <p:cTn id="138" presetID="10" presetClass="entr" presetSubtype="0" fill="hold" grpId="0" nodeType="withEffect">
                                  <p:stCondLst>
                                    <p:cond delay="540"/>
                                  </p:stCondLst>
                                  <p:childTnLst>
                                    <p:set>
                                      <p:cBhvr>
                                        <p:cTn id="139" dur="1" fill="hold">
                                          <p:stCondLst>
                                            <p:cond delay="0"/>
                                          </p:stCondLst>
                                        </p:cTn>
                                        <p:tgtEl>
                                          <p:spTgt spid="64"/>
                                        </p:tgtEl>
                                        <p:attrNameLst>
                                          <p:attrName>style.visibility</p:attrName>
                                        </p:attrNameLst>
                                      </p:cBhvr>
                                      <p:to>
                                        <p:strVal val="visible"/>
                                      </p:to>
                                    </p:set>
                                    <p:animEffect transition="in" filter="fade">
                                      <p:cBhvr>
                                        <p:cTn id="140" dur="400"/>
                                        <p:tgtEl>
                                          <p:spTgt spid="64"/>
                                        </p:tgtEl>
                                      </p:cBhvr>
                                    </p:animEffect>
                                  </p:childTnLst>
                                </p:cTn>
                              </p:par>
                              <p:par>
                                <p:cTn id="141" presetID="10" presetClass="entr" presetSubtype="0" fill="hold" grpId="0" nodeType="withEffect">
                                  <p:stCondLst>
                                    <p:cond delay="630"/>
                                  </p:stCondLst>
                                  <p:childTnLst>
                                    <p:set>
                                      <p:cBhvr>
                                        <p:cTn id="142" dur="1" fill="hold">
                                          <p:stCondLst>
                                            <p:cond delay="0"/>
                                          </p:stCondLst>
                                        </p:cTn>
                                        <p:tgtEl>
                                          <p:spTgt spid="65"/>
                                        </p:tgtEl>
                                        <p:attrNameLst>
                                          <p:attrName>style.visibility</p:attrName>
                                        </p:attrNameLst>
                                      </p:cBhvr>
                                      <p:to>
                                        <p:strVal val="visible"/>
                                      </p:to>
                                    </p:set>
                                    <p:animEffect transition="in" filter="fade">
                                      <p:cBhvr>
                                        <p:cTn id="143" dur="400"/>
                                        <p:tgtEl>
                                          <p:spTgt spid="65"/>
                                        </p:tgtEl>
                                      </p:cBhvr>
                                    </p:animEffect>
                                  </p:childTnLst>
                                </p:cTn>
                              </p:par>
                              <p:par>
                                <p:cTn id="144" presetID="10" presetClass="entr" presetSubtype="0" fill="hold" grpId="0" nodeType="withEffect">
                                  <p:stCondLst>
                                    <p:cond delay="720"/>
                                  </p:stCondLst>
                                  <p:childTnLst>
                                    <p:set>
                                      <p:cBhvr>
                                        <p:cTn id="145" dur="1" fill="hold">
                                          <p:stCondLst>
                                            <p:cond delay="0"/>
                                          </p:stCondLst>
                                        </p:cTn>
                                        <p:tgtEl>
                                          <p:spTgt spid="66"/>
                                        </p:tgtEl>
                                        <p:attrNameLst>
                                          <p:attrName>style.visibility</p:attrName>
                                        </p:attrNameLst>
                                      </p:cBhvr>
                                      <p:to>
                                        <p:strVal val="visible"/>
                                      </p:to>
                                    </p:set>
                                    <p:animEffect transition="in" filter="fade">
                                      <p:cBhvr>
                                        <p:cTn id="146" dur="400"/>
                                        <p:tgtEl>
                                          <p:spTgt spid="66"/>
                                        </p:tgtEl>
                                      </p:cBhvr>
                                    </p:animEffect>
                                  </p:childTnLst>
                                </p:cTn>
                              </p:par>
                              <p:par>
                                <p:cTn id="147" presetID="10" presetClass="entr" presetSubtype="0" fill="hold" grpId="0" nodeType="withEffect">
                                  <p:stCondLst>
                                    <p:cond delay="810"/>
                                  </p:stCondLst>
                                  <p:childTnLst>
                                    <p:set>
                                      <p:cBhvr>
                                        <p:cTn id="148" dur="1" fill="hold">
                                          <p:stCondLst>
                                            <p:cond delay="0"/>
                                          </p:stCondLst>
                                        </p:cTn>
                                        <p:tgtEl>
                                          <p:spTgt spid="67"/>
                                        </p:tgtEl>
                                        <p:attrNameLst>
                                          <p:attrName>style.visibility</p:attrName>
                                        </p:attrNameLst>
                                      </p:cBhvr>
                                      <p:to>
                                        <p:strVal val="visible"/>
                                      </p:to>
                                    </p:set>
                                    <p:animEffect transition="in" filter="fade">
                                      <p:cBhvr>
                                        <p:cTn id="149" dur="400"/>
                                        <p:tgtEl>
                                          <p:spTgt spid="67"/>
                                        </p:tgtEl>
                                      </p:cBhvr>
                                    </p:animEffect>
                                  </p:childTnLst>
                                </p:cTn>
                              </p:par>
                              <p:par>
                                <p:cTn id="150" presetID="10" presetClass="entr" presetSubtype="0" fill="hold" grpId="0" nodeType="withEffect">
                                  <p:stCondLst>
                                    <p:cond delay="900"/>
                                  </p:stCondLst>
                                  <p:childTnLst>
                                    <p:set>
                                      <p:cBhvr>
                                        <p:cTn id="151" dur="1" fill="hold">
                                          <p:stCondLst>
                                            <p:cond delay="0"/>
                                          </p:stCondLst>
                                        </p:cTn>
                                        <p:tgtEl>
                                          <p:spTgt spid="68"/>
                                        </p:tgtEl>
                                        <p:attrNameLst>
                                          <p:attrName>style.visibility</p:attrName>
                                        </p:attrNameLst>
                                      </p:cBhvr>
                                      <p:to>
                                        <p:strVal val="visible"/>
                                      </p:to>
                                    </p:set>
                                    <p:animEffect transition="in" filter="fade">
                                      <p:cBhvr>
                                        <p:cTn id="152" dur="400"/>
                                        <p:tgtEl>
                                          <p:spTgt spid="68"/>
                                        </p:tgtEl>
                                      </p:cBhvr>
                                    </p:animEffect>
                                  </p:childTnLst>
                                </p:cTn>
                              </p:par>
                              <p:par>
                                <p:cTn id="153" presetID="10" presetClass="entr" presetSubtype="0" fill="hold" grpId="0" nodeType="withEffect">
                                  <p:stCondLst>
                                    <p:cond delay="900"/>
                                  </p:stCondLst>
                                  <p:childTnLst>
                                    <p:set>
                                      <p:cBhvr>
                                        <p:cTn id="154" dur="1" fill="hold">
                                          <p:stCondLst>
                                            <p:cond delay="0"/>
                                          </p:stCondLst>
                                        </p:cTn>
                                        <p:tgtEl>
                                          <p:spTgt spid="69"/>
                                        </p:tgtEl>
                                        <p:attrNameLst>
                                          <p:attrName>style.visibility</p:attrName>
                                        </p:attrNameLst>
                                      </p:cBhvr>
                                      <p:to>
                                        <p:strVal val="visible"/>
                                      </p:to>
                                    </p:set>
                                    <p:animEffect transition="in" filter="fade">
                                      <p:cBhvr>
                                        <p:cTn id="155" dur="400"/>
                                        <p:tgtEl>
                                          <p:spTgt spid="69"/>
                                        </p:tgtEl>
                                      </p:cBhvr>
                                    </p:animEffect>
                                  </p:childTnLst>
                                </p:cTn>
                              </p:par>
                              <p:par>
                                <p:cTn id="156" presetID="10" presetClass="entr" presetSubtype="0" fill="hold" grpId="0" nodeType="withEffect">
                                  <p:stCondLst>
                                    <p:cond delay="900"/>
                                  </p:stCondLst>
                                  <p:childTnLst>
                                    <p:set>
                                      <p:cBhvr>
                                        <p:cTn id="157" dur="1" fill="hold">
                                          <p:stCondLst>
                                            <p:cond delay="0"/>
                                          </p:stCondLst>
                                        </p:cTn>
                                        <p:tgtEl>
                                          <p:spTgt spid="70"/>
                                        </p:tgtEl>
                                        <p:attrNameLst>
                                          <p:attrName>style.visibility</p:attrName>
                                        </p:attrNameLst>
                                      </p:cBhvr>
                                      <p:to>
                                        <p:strVal val="visible"/>
                                      </p:to>
                                    </p:set>
                                    <p:animEffect transition="in" filter="fade">
                                      <p:cBhvr>
                                        <p:cTn id="158" dur="400"/>
                                        <p:tgtEl>
                                          <p:spTgt spid="70"/>
                                        </p:tgtEl>
                                      </p:cBhvr>
                                    </p:animEffect>
                                  </p:childTnLst>
                                </p:cTn>
                              </p:par>
                              <p:par>
                                <p:cTn id="159" presetID="10" presetClass="entr" presetSubtype="0" fill="hold" grpId="0" nodeType="withEffect">
                                  <p:stCondLst>
                                    <p:cond delay="900"/>
                                  </p:stCondLst>
                                  <p:childTnLst>
                                    <p:set>
                                      <p:cBhvr>
                                        <p:cTn id="160" dur="1" fill="hold">
                                          <p:stCondLst>
                                            <p:cond delay="0"/>
                                          </p:stCondLst>
                                        </p:cTn>
                                        <p:tgtEl>
                                          <p:spTgt spid="71"/>
                                        </p:tgtEl>
                                        <p:attrNameLst>
                                          <p:attrName>style.visibility</p:attrName>
                                        </p:attrNameLst>
                                      </p:cBhvr>
                                      <p:to>
                                        <p:strVal val="visible"/>
                                      </p:to>
                                    </p:set>
                                    <p:animEffect transition="in" filter="fade">
                                      <p:cBhvr>
                                        <p:cTn id="161" dur="400"/>
                                        <p:tgtEl>
                                          <p:spTgt spid="71"/>
                                        </p:tgtEl>
                                      </p:cBhvr>
                                    </p:animEffect>
                                  </p:childTnLst>
                                </p:cTn>
                              </p:par>
                              <p:par>
                                <p:cTn id="162" presetID="10" presetClass="entr" presetSubtype="0" fill="hold" grpId="0" nodeType="withEffect">
                                  <p:stCondLst>
                                    <p:cond delay="900"/>
                                  </p:stCondLst>
                                  <p:childTnLst>
                                    <p:set>
                                      <p:cBhvr>
                                        <p:cTn id="163" dur="1" fill="hold">
                                          <p:stCondLst>
                                            <p:cond delay="0"/>
                                          </p:stCondLst>
                                        </p:cTn>
                                        <p:tgtEl>
                                          <p:spTgt spid="72"/>
                                        </p:tgtEl>
                                        <p:attrNameLst>
                                          <p:attrName>style.visibility</p:attrName>
                                        </p:attrNameLst>
                                      </p:cBhvr>
                                      <p:to>
                                        <p:strVal val="visible"/>
                                      </p:to>
                                    </p:set>
                                    <p:animEffect transition="in" filter="fade">
                                      <p:cBhvr>
                                        <p:cTn id="164" dur="400"/>
                                        <p:tgtEl>
                                          <p:spTgt spid="72"/>
                                        </p:tgtEl>
                                      </p:cBhvr>
                                    </p:animEffect>
                                  </p:childTnLst>
                                </p:cTn>
                              </p:par>
                              <p:par>
                                <p:cTn id="165" presetID="10" presetClass="entr" presetSubtype="0" fill="hold" grpId="0" nodeType="withEffect">
                                  <p:stCondLst>
                                    <p:cond delay="900"/>
                                  </p:stCondLst>
                                  <p:childTnLst>
                                    <p:set>
                                      <p:cBhvr>
                                        <p:cTn id="166" dur="1" fill="hold">
                                          <p:stCondLst>
                                            <p:cond delay="0"/>
                                          </p:stCondLst>
                                        </p:cTn>
                                        <p:tgtEl>
                                          <p:spTgt spid="73"/>
                                        </p:tgtEl>
                                        <p:attrNameLst>
                                          <p:attrName>style.visibility</p:attrName>
                                        </p:attrNameLst>
                                      </p:cBhvr>
                                      <p:to>
                                        <p:strVal val="visible"/>
                                      </p:to>
                                    </p:set>
                                    <p:animEffect transition="in" filter="fade">
                                      <p:cBhvr>
                                        <p:cTn id="167"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683" y="175931"/>
            <a:ext cx="471099" cy="471099"/>
          </a:xfrm>
          <a:prstGeom prst="ellipse">
            <a:avLst/>
          </a:prstGeom>
          <a:solidFill>
            <a:srgbClr val="FFFFFF"/>
          </a:solidFill>
          <a:ln w="12700">
            <a:solidFill>
              <a:srgbClr val="FFFFFF"/>
            </a:solidFill>
            <a:prstDash val="solid"/>
          </a:ln>
        </p:spPr>
        <p:txBody>
          <a:bodyPr/>
          <a:p/>
        </p:txBody>
      </p:sp>
      <p:pic>
        <p:nvPicPr>
          <p:cNvPr id="3"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4" name="Text 1"/>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FFFFFF"/>
                </a:solidFill>
                <a:latin typeface="Calibri" pitchFamily="34" charset="0"/>
                <a:ea typeface="Calibri" pitchFamily="34" charset="-122"/>
                <a:cs typeface="Calibri" pitchFamily="34" charset="-120"/>
              </a:rPr>
              <a:t>IITGN CDF (CAA)</a:t>
            </a:r>
            <a:endParaRPr lang="en-US" sz="950" dirty="0"/>
          </a:p>
        </p:txBody>
      </p:sp>
      <p:sp>
        <p:nvSpPr>
          <p:cNvPr id="5" name="Text 2"/>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A9B8CA"/>
                </a:solidFill>
                <a:latin typeface="Calibri" pitchFamily="34" charset="0"/>
                <a:ea typeface="Calibri" pitchFamily="34" charset="-122"/>
                <a:cs typeface="Calibri" pitchFamily="34" charset="-120"/>
              </a:rPr>
              <a:t>COMPETENCY ADVANCEMENT ACADEMY  ·  IIT GANDHINAGAR</a:t>
            </a:r>
            <a:endParaRPr lang="en-US" sz="650" dirty="0"/>
          </a:p>
        </p:txBody>
      </p:sp>
      <p:sp>
        <p:nvSpPr>
          <p:cNvPr id="6" name="Text 3"/>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A9B8CA"/>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7" name="Text 4"/>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A9B8CA"/>
                </a:solidFill>
                <a:latin typeface="Calibri" pitchFamily="34" charset="0"/>
                <a:ea typeface="Calibri" pitchFamily="34" charset="-122"/>
                <a:cs typeface="Calibri" pitchFamily="34" charset="-120"/>
              </a:rPr>
              <a:t>27</a:t>
            </a:r>
            <a:endParaRPr lang="en-US" sz="850" dirty="0"/>
          </a:p>
        </p:txBody>
      </p:sp>
      <p:sp>
        <p:nvSpPr>
          <p:cNvPr id="8" name="Text 5"/>
          <p:cNvSpPr txBox="1"/>
          <p:nvPr/>
        </p:nvSpPr>
        <p:spPr>
          <a:xfrm>
            <a:off x="548640" y="6455664"/>
            <a:ext cx="3657600" cy="201168"/>
          </a:xfrm>
          <a:prstGeom prst="rect">
            <a:avLst/>
          </a:prstGeom>
          <a:noFill/>
          <a:ln/>
        </p:spPr>
        <p:txBody>
          <a:bodyPr wrap="square" lIns="0" tIns="0" rIns="0" bIns="0" rtlCol="0" anchor="t"/>
          <a:lstStyle/>
          <a:p>
            <a:pPr algn="l" indent="0" marL="0">
              <a:buNone/>
            </a:pPr>
            <a:r>
              <a:rPr lang="en-US" sz="850" dirty="0">
                <a:solidFill>
                  <a:srgbClr val="A9B8CA"/>
                </a:solidFill>
                <a:latin typeface="Calibri" pitchFamily="34" charset="0"/>
                <a:ea typeface="Calibri" pitchFamily="34" charset="-122"/>
                <a:cs typeface="Calibri" pitchFamily="34" charset="-120"/>
              </a:rPr>
              <a:t>Academic orientation</a:t>
            </a:r>
            <a:endParaRPr lang="en-US" sz="850" dirty="0"/>
          </a:p>
        </p:txBody>
      </p:sp>
      <p:sp>
        <p:nvSpPr>
          <p:cNvPr id="9" name="anim:1"/>
          <p:cNvSpPr txBox="1"/>
          <p:nvPr/>
        </p:nvSpPr>
        <p:spPr>
          <a:xfrm>
            <a:off x="731520" y="1371600"/>
            <a:ext cx="3657600" cy="1463040"/>
          </a:xfrm>
          <a:prstGeom prst="rect">
            <a:avLst/>
          </a:prstGeom>
          <a:noFill/>
          <a:ln/>
        </p:spPr>
        <p:txBody>
          <a:bodyPr wrap="square" lIns="0" tIns="0" rIns="0" bIns="0" rtlCol="0" anchor="t"/>
          <a:lstStyle/>
          <a:p>
            <a:pPr algn="l" indent="0" marL="0">
              <a:buNone/>
            </a:pPr>
            <a:r>
              <a:rPr lang="en-US" sz="9600" b="1" dirty="0">
                <a:solidFill>
                  <a:srgbClr val="E9B221"/>
                </a:solidFill>
                <a:latin typeface="Calibri" pitchFamily="34" charset="0"/>
                <a:ea typeface="Calibri" pitchFamily="34" charset="-122"/>
                <a:cs typeface="Calibri" pitchFamily="34" charset="-120"/>
              </a:rPr>
              <a:t>06</a:t>
            </a:r>
            <a:endParaRPr lang="en-US" sz="9600" dirty="0"/>
          </a:p>
        </p:txBody>
      </p:sp>
      <p:sp>
        <p:nvSpPr>
          <p:cNvPr id="10" name="anim:1"/>
          <p:cNvSpPr txBox="1"/>
          <p:nvPr/>
        </p:nvSpPr>
        <p:spPr>
          <a:xfrm>
            <a:off x="731520" y="288036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People and support</a:t>
            </a:r>
            <a:endParaRPr lang="en-US" sz="4000" dirty="0"/>
          </a:p>
        </p:txBody>
      </p:sp>
      <p:sp>
        <p:nvSpPr>
          <p:cNvPr id="11" name="anim:1"/>
          <p:cNvSpPr txBox="1"/>
          <p:nvPr/>
        </p:nvSpPr>
        <p:spPr>
          <a:xfrm>
            <a:off x="731520" y="3794760"/>
            <a:ext cx="9144000" cy="731520"/>
          </a:xfrm>
          <a:prstGeom prst="rect">
            <a:avLst/>
          </a:prstGeom>
          <a:noFill/>
          <a:ln/>
        </p:spPr>
        <p:txBody>
          <a:bodyPr wrap="square" lIns="0" tIns="0" rIns="0" bIns="0" rtlCol="0" anchor="t"/>
          <a:lstStyle/>
          <a:p>
            <a:pPr algn="l" indent="0" marL="0">
              <a:buNone/>
            </a:pPr>
            <a:r>
              <a:rPr lang="en-US" sz="1500" dirty="0">
                <a:solidFill>
                  <a:srgbClr val="C9D6E4"/>
                </a:solidFill>
                <a:latin typeface="Calibri" pitchFamily="34" charset="0"/>
                <a:ea typeface="Calibri" pitchFamily="34" charset="-122"/>
                <a:cs typeface="Calibri" pitchFamily="34" charset="-120"/>
              </a:rPr>
              <a:t>Who runs what, who you will see every day, where to go when something is wrong, and what happens this week.</a:t>
            </a:r>
            <a:endParaRPr lang="en-US" sz="1500" dirty="0"/>
          </a:p>
        </p:txBody>
      </p:sp>
      <p:sp>
        <p:nvSpPr>
          <p:cNvPr id="12" name="anim:1"/>
          <p:cNvSpPr txBox="1"/>
          <p:nvPr/>
        </p:nvSpPr>
        <p:spPr>
          <a:xfrm>
            <a:off x="731520" y="5120640"/>
            <a:ext cx="18288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Where this takes you</a:t>
            </a:r>
            <a:endParaRPr lang="en-US" sz="900" dirty="0"/>
          </a:p>
        </p:txBody>
      </p:sp>
      <p:sp>
        <p:nvSpPr>
          <p:cNvPr id="13" name="anim:1"/>
          <p:cNvSpPr txBox="1"/>
          <p:nvPr/>
        </p:nvSpPr>
        <p:spPr>
          <a:xfrm>
            <a:off x="2670048" y="5120640"/>
            <a:ext cx="14859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it is built</a:t>
            </a:r>
            <a:endParaRPr lang="en-US" sz="900" dirty="0"/>
          </a:p>
        </p:txBody>
      </p:sp>
      <p:sp>
        <p:nvSpPr>
          <p:cNvPr id="14" name="anim:1"/>
          <p:cNvSpPr txBox="1"/>
          <p:nvPr/>
        </p:nvSpPr>
        <p:spPr>
          <a:xfrm>
            <a:off x="4265676" y="5120640"/>
            <a:ext cx="148590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a week runs</a:t>
            </a:r>
            <a:endParaRPr lang="en-US" sz="900" dirty="0"/>
          </a:p>
        </p:txBody>
      </p:sp>
      <p:sp>
        <p:nvSpPr>
          <p:cNvPr id="15" name="anim:1"/>
          <p:cNvSpPr txBox="1"/>
          <p:nvPr/>
        </p:nvSpPr>
        <p:spPr>
          <a:xfrm>
            <a:off x="5861304" y="5120640"/>
            <a:ext cx="189738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How you are evaluated</a:t>
            </a:r>
            <a:endParaRPr lang="en-US" sz="900" dirty="0"/>
          </a:p>
        </p:txBody>
      </p:sp>
      <p:sp>
        <p:nvSpPr>
          <p:cNvPr id="16" name="anim:1"/>
          <p:cNvSpPr txBox="1"/>
          <p:nvPr/>
        </p:nvSpPr>
        <p:spPr>
          <a:xfrm>
            <a:off x="7868412" y="5120640"/>
            <a:ext cx="1965960" cy="310896"/>
          </a:xfrm>
          <a:prstGeom prst="roundRect">
            <a:avLst>
              <a:gd name="adj" fmla="val 58824"/>
            </a:avLst>
          </a:prstGeom>
          <a:solidFill>
            <a:srgbClr val="10294A"/>
          </a:solidFill>
          <a:ln w="9525">
            <a:solidFill>
              <a:srgbClr val="25467A"/>
            </a:solidFill>
          </a:ln>
        </p:spPr>
        <p:txBody>
          <a:bodyPr wrap="square" lIns="0" tIns="76200" rIns="76200" bIns="0" rtlCol="0" anchor="ctr"/>
          <a:lstStyle/>
          <a:p>
            <a:pPr algn="ctr" indent="0" marL="0">
              <a:buNone/>
            </a:pPr>
            <a:r>
              <a:rPr lang="en-US" sz="900" dirty="0">
                <a:solidFill>
                  <a:srgbClr val="A9B8CA"/>
                </a:solidFill>
                <a:latin typeface="Calibri" pitchFamily="34" charset="0"/>
                <a:ea typeface="Calibri" pitchFamily="34" charset="-122"/>
                <a:cs typeface="Calibri" pitchFamily="34" charset="-120"/>
              </a:rPr>
              <a:t>Placement and capstone</a:t>
            </a:r>
            <a:endParaRPr lang="en-US" sz="900" dirty="0"/>
          </a:p>
        </p:txBody>
      </p:sp>
      <p:sp>
        <p:nvSpPr>
          <p:cNvPr id="17" name="anim:1"/>
          <p:cNvSpPr txBox="1"/>
          <p:nvPr/>
        </p:nvSpPr>
        <p:spPr>
          <a:xfrm>
            <a:off x="9944100" y="5120640"/>
            <a:ext cx="1691640" cy="310896"/>
          </a:xfrm>
          <a:prstGeom prst="roundRect">
            <a:avLst>
              <a:gd name="adj" fmla="val 58824"/>
            </a:avLst>
          </a:prstGeom>
          <a:solidFill>
            <a:srgbClr val="E9B221"/>
          </a:solidFill>
          <a:ln w="9525">
            <a:solidFill>
              <a:srgbClr val="E9B221"/>
            </a:solidFill>
          </a:ln>
        </p:spPr>
        <p:txBody>
          <a:bodyPr wrap="square" lIns="0" tIns="76200" rIns="76200" bIns="0" rtlCol="0" anchor="ctr"/>
          <a:lstStyle/>
          <a:p>
            <a:pPr algn="ctr" indent="0" marL="0">
              <a:buNone/>
            </a:pPr>
            <a:r>
              <a:rPr lang="en-US" sz="900" b="1" dirty="0">
                <a:solidFill>
                  <a:srgbClr val="0A1E33"/>
                </a:solidFill>
                <a:latin typeface="Calibri" pitchFamily="34" charset="0"/>
                <a:ea typeface="Calibri" pitchFamily="34" charset="-122"/>
                <a:cs typeface="Calibri" pitchFamily="34" charset="-120"/>
              </a:rPr>
              <a:t>People and support</a:t>
            </a:r>
            <a:endParaRPr lang="en-US" sz="9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28</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007DB6"/>
          </a:solidFill>
          <a:ln w="12700">
            <a:solidFill>
              <a:srgbClr val="007DB6"/>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Who runs what</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Three bodies around one programme. You sit where they overlap.</a:t>
            </a:r>
            <a:endParaRPr lang="en-US" sz="1250" dirty="0"/>
          </a:p>
        </p:txBody>
      </p:sp>
      <p:sp>
        <p:nvSpPr>
          <p:cNvPr id="21" name="anim:1"/>
          <p:cNvSpPr/>
          <p:nvPr/>
        </p:nvSpPr>
        <p:spPr>
          <a:xfrm>
            <a:off x="1280160" y="1965960"/>
            <a:ext cx="2926080" cy="2926080"/>
          </a:xfrm>
          <a:prstGeom prst="ellipse">
            <a:avLst/>
          </a:prstGeom>
          <a:solidFill>
            <a:srgbClr val="0A1E33">
              <a:alpha val="40000"/>
            </a:srgbClr>
          </a:solidFill>
          <a:ln w="12700">
            <a:solidFill>
              <a:srgbClr val="0A1E33"/>
            </a:solidFill>
            <a:prstDash val="solid"/>
          </a:ln>
        </p:spPr>
        <p:txBody>
          <a:bodyPr/>
          <a:p/>
        </p:txBody>
      </p:sp>
      <p:sp>
        <p:nvSpPr>
          <p:cNvPr id="22" name="anim:1"/>
          <p:cNvSpPr/>
          <p:nvPr/>
        </p:nvSpPr>
        <p:spPr>
          <a:xfrm>
            <a:off x="3108960" y="1965960"/>
            <a:ext cx="2926080" cy="2926080"/>
          </a:xfrm>
          <a:prstGeom prst="ellipse">
            <a:avLst/>
          </a:prstGeom>
          <a:solidFill>
            <a:srgbClr val="007DB6">
              <a:alpha val="40000"/>
            </a:srgbClr>
          </a:solidFill>
          <a:ln w="12700">
            <a:solidFill>
              <a:srgbClr val="007DB6"/>
            </a:solidFill>
            <a:prstDash val="solid"/>
          </a:ln>
        </p:spPr>
        <p:txBody>
          <a:bodyPr/>
          <a:p/>
        </p:txBody>
      </p:sp>
      <p:sp>
        <p:nvSpPr>
          <p:cNvPr id="23" name="anim:1"/>
          <p:cNvSpPr/>
          <p:nvPr/>
        </p:nvSpPr>
        <p:spPr>
          <a:xfrm>
            <a:off x="2194560" y="3474720"/>
            <a:ext cx="2926080" cy="2926080"/>
          </a:xfrm>
          <a:prstGeom prst="ellipse">
            <a:avLst/>
          </a:prstGeom>
          <a:solidFill>
            <a:srgbClr val="E9B221">
              <a:alpha val="40000"/>
            </a:srgbClr>
          </a:solidFill>
          <a:ln w="12700">
            <a:solidFill>
              <a:srgbClr val="E9B221"/>
            </a:solidFill>
            <a:prstDash val="solid"/>
          </a:ln>
        </p:spPr>
        <p:txBody>
          <a:bodyPr/>
          <a:p/>
        </p:txBody>
      </p:sp>
      <p:sp>
        <p:nvSpPr>
          <p:cNvPr id="24" name="anim:1"/>
          <p:cNvSpPr txBox="1"/>
          <p:nvPr/>
        </p:nvSpPr>
        <p:spPr>
          <a:xfrm>
            <a:off x="1417320" y="2468880"/>
            <a:ext cx="1463040" cy="640080"/>
          </a:xfrm>
          <a:prstGeom prst="rect">
            <a:avLst/>
          </a:prstGeom>
          <a:noFill/>
          <a:ln/>
        </p:spPr>
        <p:txBody>
          <a:bodyPr wrap="square" lIns="0" tIns="0" rIns="0" bIns="0" rtlCol="0" anchor="ctr"/>
          <a:lstStyle/>
          <a:p>
            <a:pPr algn="ctr" indent="0" marL="0">
              <a:buNone/>
            </a:pPr>
            <a:r>
              <a:rPr lang="en-US" sz="1250" b="1" dirty="0">
                <a:solidFill>
                  <a:srgbClr val="0A1E33"/>
                </a:solidFill>
                <a:latin typeface="Calibri" pitchFamily="34" charset="0"/>
                <a:ea typeface="Calibri" pitchFamily="34" charset="-122"/>
                <a:cs typeface="Calibri" pitchFamily="34" charset="-120"/>
              </a:rPr>
              <a:t>IIT</a:t>
            </a:r>
            <a:endParaRPr lang="en-US" sz="1250" dirty="0"/>
          </a:p>
          <a:p>
            <a:pPr algn="ctr" indent="0" marL="0">
              <a:buNone/>
            </a:pPr>
            <a:r>
              <a:rPr lang="en-US" sz="1250" b="1" dirty="0">
                <a:solidFill>
                  <a:srgbClr val="0A1E33"/>
                </a:solidFill>
                <a:latin typeface="Calibri" pitchFamily="34" charset="0"/>
                <a:ea typeface="Calibri" pitchFamily="34" charset="-122"/>
                <a:cs typeface="Calibri" pitchFamily="34" charset="-120"/>
              </a:rPr>
              <a:t>Gandhinagar</a:t>
            </a:r>
            <a:endParaRPr lang="en-US" sz="1250" dirty="0"/>
          </a:p>
        </p:txBody>
      </p:sp>
      <p:sp>
        <p:nvSpPr>
          <p:cNvPr id="25" name="anim:1"/>
          <p:cNvSpPr txBox="1"/>
          <p:nvPr/>
        </p:nvSpPr>
        <p:spPr>
          <a:xfrm>
            <a:off x="4617720" y="2468880"/>
            <a:ext cx="1371600" cy="640080"/>
          </a:xfrm>
          <a:prstGeom prst="rect">
            <a:avLst/>
          </a:prstGeom>
          <a:noFill/>
          <a:ln/>
        </p:spPr>
        <p:txBody>
          <a:bodyPr wrap="square" lIns="0" tIns="0" rIns="0" bIns="0" rtlCol="0" anchor="ctr"/>
          <a:lstStyle/>
          <a:p>
            <a:pPr algn="ctr" indent="0" marL="0">
              <a:buNone/>
            </a:pPr>
            <a:r>
              <a:rPr lang="en-US" sz="1250" b="1" dirty="0">
                <a:solidFill>
                  <a:srgbClr val="0A1E33"/>
                </a:solidFill>
                <a:latin typeface="Calibri" pitchFamily="34" charset="0"/>
                <a:ea typeface="Calibri" pitchFamily="34" charset="-122"/>
                <a:cs typeface="Calibri" pitchFamily="34" charset="-120"/>
              </a:rPr>
              <a:t>IITGN CDF</a:t>
            </a:r>
            <a:endParaRPr lang="en-US" sz="1250" dirty="0"/>
          </a:p>
          <a:p>
            <a:pPr algn="ctr" indent="0" marL="0">
              <a:buNone/>
            </a:pPr>
            <a:r>
              <a:rPr lang="en-US" sz="1250" b="1" dirty="0">
                <a:solidFill>
                  <a:srgbClr val="0A1E33"/>
                </a:solidFill>
                <a:latin typeface="Calibri" pitchFamily="34" charset="0"/>
                <a:ea typeface="Calibri" pitchFamily="34" charset="-122"/>
                <a:cs typeface="Calibri" pitchFamily="34" charset="-120"/>
              </a:rPr>
              <a:t>(CAA)</a:t>
            </a:r>
            <a:endParaRPr lang="en-US" sz="1250" dirty="0"/>
          </a:p>
        </p:txBody>
      </p:sp>
      <p:sp>
        <p:nvSpPr>
          <p:cNvPr id="26" name="anim:1"/>
          <p:cNvSpPr txBox="1"/>
          <p:nvPr/>
        </p:nvSpPr>
        <p:spPr>
          <a:xfrm>
            <a:off x="2834640" y="5257800"/>
            <a:ext cx="1645920" cy="868680"/>
          </a:xfrm>
          <a:prstGeom prst="rect">
            <a:avLst/>
          </a:prstGeom>
          <a:noFill/>
          <a:ln/>
        </p:spPr>
        <p:txBody>
          <a:bodyPr wrap="square" lIns="0" tIns="0" rIns="0" bIns="0" rtlCol="0" anchor="ctr"/>
          <a:lstStyle/>
          <a:p>
            <a:pPr algn="ctr" indent="0" marL="0">
              <a:buNone/>
            </a:pPr>
            <a:r>
              <a:rPr lang="en-US" sz="1150" b="1" dirty="0">
                <a:solidFill>
                  <a:srgbClr val="0A1E33"/>
                </a:solidFill>
                <a:latin typeface="Calibri" pitchFamily="34" charset="0"/>
                <a:ea typeface="Calibri" pitchFamily="34" charset="-122"/>
                <a:cs typeface="Calibri" pitchFamily="34" charset="-120"/>
              </a:rPr>
              <a:t>Academic</a:t>
            </a:r>
            <a:endParaRPr lang="en-US" sz="1150" dirty="0"/>
          </a:p>
          <a:p>
            <a:pPr algn="ctr" indent="0" marL="0">
              <a:buNone/>
            </a:pPr>
            <a:r>
              <a:rPr lang="en-US" sz="1150" b="1" dirty="0">
                <a:solidFill>
                  <a:srgbClr val="0A1E33"/>
                </a:solidFill>
                <a:latin typeface="Calibri" pitchFamily="34" charset="0"/>
                <a:ea typeface="Calibri" pitchFamily="34" charset="-122"/>
                <a:cs typeface="Calibri" pitchFamily="34" charset="-120"/>
              </a:rPr>
              <a:t>Oversight</a:t>
            </a:r>
            <a:endParaRPr lang="en-US" sz="1150" dirty="0"/>
          </a:p>
          <a:p>
            <a:pPr algn="ctr" indent="0" marL="0">
              <a:buNone/>
            </a:pPr>
            <a:r>
              <a:rPr lang="en-US" sz="1150" b="1" dirty="0">
                <a:solidFill>
                  <a:srgbClr val="0A1E33"/>
                </a:solidFill>
                <a:latin typeface="Calibri" pitchFamily="34" charset="0"/>
                <a:ea typeface="Calibri" pitchFamily="34" charset="-122"/>
                <a:cs typeface="Calibri" pitchFamily="34" charset="-120"/>
              </a:rPr>
              <a:t>Committee</a:t>
            </a:r>
            <a:endParaRPr lang="en-US" sz="1150" dirty="0"/>
          </a:p>
        </p:txBody>
      </p:sp>
      <p:sp>
        <p:nvSpPr>
          <p:cNvPr id="27" name="anim:1"/>
          <p:cNvSpPr/>
          <p:nvPr/>
        </p:nvSpPr>
        <p:spPr>
          <a:xfrm>
            <a:off x="3200400" y="3703320"/>
            <a:ext cx="914400" cy="658368"/>
          </a:xfrm>
          <a:prstGeom prst="ellipse">
            <a:avLst/>
          </a:prstGeom>
          <a:solidFill>
            <a:srgbClr val="FFFFFF"/>
          </a:solidFill>
          <a:ln w="9525">
            <a:solidFill>
              <a:srgbClr val="0A1E33"/>
            </a:solidFill>
            <a:prstDash val="solid"/>
          </a:ln>
        </p:spPr>
        <p:txBody>
          <a:bodyPr/>
          <a:p/>
        </p:txBody>
      </p:sp>
      <p:sp>
        <p:nvSpPr>
          <p:cNvPr id="28" name="anim:1"/>
          <p:cNvSpPr txBox="1"/>
          <p:nvPr/>
        </p:nvSpPr>
        <p:spPr>
          <a:xfrm>
            <a:off x="3200400" y="3703320"/>
            <a:ext cx="914400" cy="658368"/>
          </a:xfrm>
          <a:prstGeom prst="rect">
            <a:avLst/>
          </a:prstGeom>
          <a:noFill/>
          <a:ln/>
        </p:spPr>
        <p:txBody>
          <a:bodyPr wrap="square" lIns="0" tIns="0" rIns="0" bIns="0" rtlCol="0" anchor="ctr"/>
          <a:lstStyle/>
          <a:p>
            <a:pPr algn="ctr" indent="0" marL="0">
              <a:buNone/>
            </a:pPr>
            <a:r>
              <a:rPr lang="en-US" sz="950" b="1" dirty="0">
                <a:solidFill>
                  <a:srgbClr val="0A1E33"/>
                </a:solidFill>
                <a:latin typeface="Calibri" pitchFamily="34" charset="0"/>
                <a:ea typeface="Calibri" pitchFamily="34" charset="-122"/>
                <a:cs typeface="Calibri" pitchFamily="34" charset="-120"/>
              </a:rPr>
              <a:t>Cohort 2</a:t>
            </a:r>
            <a:endParaRPr lang="en-US" sz="950" dirty="0"/>
          </a:p>
        </p:txBody>
      </p:sp>
      <p:sp>
        <p:nvSpPr>
          <p:cNvPr id="29" name="anim:2 grad:card"/>
          <p:cNvSpPr/>
          <p:nvPr/>
        </p:nvSpPr>
        <p:spPr>
          <a:xfrm>
            <a:off x="6492240" y="1783080"/>
            <a:ext cx="5148072" cy="1325880"/>
          </a:xfrm>
          <a:prstGeom prst="roundRect">
            <a:avLst>
              <a:gd name="adj" fmla="val 689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0" name="anim:2 grad:navy"/>
          <p:cNvSpPr/>
          <p:nvPr/>
        </p:nvSpPr>
        <p:spPr>
          <a:xfrm>
            <a:off x="6720840" y="2039112"/>
            <a:ext cx="548640" cy="548640"/>
          </a:xfrm>
          <a:prstGeom prst="ellipse">
            <a:avLst/>
          </a:prstGeom>
          <a:gradFill rotWithShape="1">
            <a:gsLst>
              <a:gs pos="0">
                <a:srgbClr val="1B4170"/>
              </a:gs>
              <a:gs pos="100000">
                <a:srgbClr val="0A1E33"/>
              </a:gs>
            </a:gsLst>
            <a:lin ang="5400000" scaled="0"/>
          </a:gradFill>
          <a:ln w="9525">
            <a:solidFill>
              <a:srgbClr val="0A1E33"/>
            </a:solidFill>
            <a:prstDash val="solid"/>
          </a:ln>
        </p:spPr>
        <p:txBody>
          <a:bodyPr/>
          <a:p/>
        </p:txBody>
      </p:sp>
      <p:pic>
        <p:nvPicPr>
          <p:cNvPr id="31" name="anim:2" descr="preencoded.png">    </p:cNvPr>
          <p:cNvPicPr>
            <a:picLocks noChangeAspect="1"/>
          </p:cNvPicPr>
          <p:nvPr/>
        </p:nvPicPr>
        <p:blipFill>
          <a:blip r:embed="rId3"/>
          <a:stretch>
            <a:fillRect/>
          </a:stretch>
        </p:blipFill>
        <p:spPr>
          <a:xfrm>
            <a:off x="6852514" y="2170786"/>
            <a:ext cx="285293" cy="285293"/>
          </a:xfrm>
          <a:prstGeom prst="rect">
            <a:avLst/>
          </a:prstGeom>
        </p:spPr>
      </p:pic>
      <p:sp>
        <p:nvSpPr>
          <p:cNvPr id="32" name="anim:2"/>
          <p:cNvSpPr txBox="1"/>
          <p:nvPr/>
        </p:nvSpPr>
        <p:spPr>
          <a:xfrm>
            <a:off x="7452360" y="1984248"/>
            <a:ext cx="4023360" cy="201168"/>
          </a:xfrm>
          <a:prstGeom prst="rect">
            <a:avLst/>
          </a:prstGeom>
          <a:noFill/>
          <a:ln/>
        </p:spPr>
        <p:txBody>
          <a:bodyPr wrap="square" lIns="0" tIns="0" rIns="0" bIns="0" rtlCol="0" anchor="t"/>
          <a:lstStyle/>
          <a:p>
            <a:pPr algn="l" indent="0" marL="0">
              <a:buNone/>
            </a:pPr>
            <a:r>
              <a:rPr lang="en-US" sz="850" b="1" spc="200" kern="0" dirty="0">
                <a:solidFill>
                  <a:srgbClr val="0A1E33"/>
                </a:solidFill>
                <a:latin typeface="Calibri" pitchFamily="34" charset="0"/>
                <a:ea typeface="Calibri" pitchFamily="34" charset="-122"/>
                <a:cs typeface="Calibri" pitchFamily="34" charset="-120"/>
              </a:rPr>
              <a:t>IIT GANDHINAGAR</a:t>
            </a:r>
            <a:endParaRPr lang="en-US" sz="850" dirty="0"/>
          </a:p>
        </p:txBody>
      </p:sp>
      <p:sp>
        <p:nvSpPr>
          <p:cNvPr id="33" name="anim:2"/>
          <p:cNvSpPr txBox="1"/>
          <p:nvPr/>
        </p:nvSpPr>
        <p:spPr>
          <a:xfrm>
            <a:off x="7452360" y="2221992"/>
            <a:ext cx="4023360" cy="86868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The academic authority. Its Senate approved the curriculum, its faculty teach sessions through the programme, and the institute awards the PG Diploma and alumni status.</a:t>
            </a:r>
            <a:endParaRPr lang="en-US" sz="950" dirty="0"/>
          </a:p>
        </p:txBody>
      </p:sp>
      <p:sp>
        <p:nvSpPr>
          <p:cNvPr id="34" name="anim:3 grad:card"/>
          <p:cNvSpPr/>
          <p:nvPr/>
        </p:nvSpPr>
        <p:spPr>
          <a:xfrm>
            <a:off x="6492240" y="3264408"/>
            <a:ext cx="5148072" cy="1325880"/>
          </a:xfrm>
          <a:prstGeom prst="roundRect">
            <a:avLst>
              <a:gd name="adj" fmla="val 689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5" name="anim:3 grad:blue"/>
          <p:cNvSpPr/>
          <p:nvPr/>
        </p:nvSpPr>
        <p:spPr>
          <a:xfrm>
            <a:off x="6720840" y="3520440"/>
            <a:ext cx="548640" cy="54864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36" name="anim:3" descr="preencoded.png">    </p:cNvPr>
          <p:cNvPicPr>
            <a:picLocks noChangeAspect="1"/>
          </p:cNvPicPr>
          <p:nvPr/>
        </p:nvPicPr>
        <p:blipFill>
          <a:blip r:embed="rId4"/>
          <a:stretch>
            <a:fillRect/>
          </a:stretch>
        </p:blipFill>
        <p:spPr>
          <a:xfrm>
            <a:off x="6852514" y="3652114"/>
            <a:ext cx="285293" cy="285293"/>
          </a:xfrm>
          <a:prstGeom prst="rect">
            <a:avLst/>
          </a:prstGeom>
        </p:spPr>
      </p:pic>
      <p:sp>
        <p:nvSpPr>
          <p:cNvPr id="37" name="anim:3"/>
          <p:cNvSpPr txBox="1"/>
          <p:nvPr/>
        </p:nvSpPr>
        <p:spPr>
          <a:xfrm>
            <a:off x="7452360" y="3465576"/>
            <a:ext cx="402336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IITGN CDF (CAA)</a:t>
            </a:r>
            <a:endParaRPr lang="en-US" sz="850" dirty="0"/>
          </a:p>
        </p:txBody>
      </p:sp>
      <p:sp>
        <p:nvSpPr>
          <p:cNvPr id="38" name="anim:3"/>
          <p:cNvSpPr txBox="1"/>
          <p:nvPr/>
        </p:nvSpPr>
        <p:spPr>
          <a:xfrm>
            <a:off x="7452360" y="3703320"/>
            <a:ext cx="4023360" cy="86868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The IIT Gandhinagar Competency Development Foundation, also called the Competency Advancement Academy: the institute's Section 8 company that runs the programme, and your bridge to the institute. Your contact at CDF is shared with you separately.</a:t>
            </a:r>
            <a:endParaRPr lang="en-US" sz="950" dirty="0"/>
          </a:p>
        </p:txBody>
      </p:sp>
      <p:sp>
        <p:nvSpPr>
          <p:cNvPr id="39" name="anim:4 grad:card"/>
          <p:cNvSpPr/>
          <p:nvPr/>
        </p:nvSpPr>
        <p:spPr>
          <a:xfrm>
            <a:off x="6492240" y="4745736"/>
            <a:ext cx="5148072" cy="1325880"/>
          </a:xfrm>
          <a:prstGeom prst="roundRect">
            <a:avLst>
              <a:gd name="adj" fmla="val 689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0" name="anim:4 grad:gold"/>
          <p:cNvSpPr/>
          <p:nvPr/>
        </p:nvSpPr>
        <p:spPr>
          <a:xfrm>
            <a:off x="6720840" y="5001768"/>
            <a:ext cx="548640" cy="548640"/>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41" name="anim:4" descr="preencoded.png">    </p:cNvPr>
          <p:cNvPicPr>
            <a:picLocks noChangeAspect="1"/>
          </p:cNvPicPr>
          <p:nvPr/>
        </p:nvPicPr>
        <p:blipFill>
          <a:blip r:embed="rId5"/>
          <a:stretch>
            <a:fillRect/>
          </a:stretch>
        </p:blipFill>
        <p:spPr>
          <a:xfrm>
            <a:off x="6852514" y="5133442"/>
            <a:ext cx="285293" cy="285293"/>
          </a:xfrm>
          <a:prstGeom prst="rect">
            <a:avLst/>
          </a:prstGeom>
        </p:spPr>
      </p:pic>
      <p:sp>
        <p:nvSpPr>
          <p:cNvPr id="42" name="anim:4"/>
          <p:cNvSpPr txBox="1"/>
          <p:nvPr/>
        </p:nvSpPr>
        <p:spPr>
          <a:xfrm>
            <a:off x="7452360" y="4946904"/>
            <a:ext cx="4023360" cy="201168"/>
          </a:xfrm>
          <a:prstGeom prst="rect">
            <a:avLst/>
          </a:prstGeom>
          <a:noFill/>
          <a:ln/>
        </p:spPr>
        <p:txBody>
          <a:bodyPr wrap="square" lIns="0" tIns="0" rIns="0" bIns="0" rtlCol="0" anchor="t"/>
          <a:lstStyle/>
          <a:p>
            <a:pPr algn="l" indent="0" marL="0">
              <a:buNone/>
            </a:pPr>
            <a:r>
              <a:rPr lang="en-US" sz="850" b="1" spc="200" kern="0" dirty="0">
                <a:solidFill>
                  <a:srgbClr val="C48F0F"/>
                </a:solidFill>
                <a:latin typeface="Calibri" pitchFamily="34" charset="0"/>
                <a:ea typeface="Calibri" pitchFamily="34" charset="-122"/>
                <a:cs typeface="Calibri" pitchFamily="34" charset="-120"/>
              </a:rPr>
              <a:t>ACADEMIC OVERSIGHT COMMITTEE</a:t>
            </a:r>
            <a:endParaRPr lang="en-US" sz="850" dirty="0"/>
          </a:p>
        </p:txBody>
      </p:sp>
      <p:sp>
        <p:nvSpPr>
          <p:cNvPr id="43" name="anim:4"/>
          <p:cNvSpPr txBox="1"/>
          <p:nvPr/>
        </p:nvSpPr>
        <p:spPr>
          <a:xfrm>
            <a:off x="7452360" y="5184648"/>
            <a:ext cx="4023360" cy="86868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Three IIT Gandhinagar faculty who oversee academic quality and approve the evaluation framework. You meet them on the next slide.</a:t>
            </a:r>
            <a:endParaRPr lang="en-US" sz="9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childTnLst>
                          </p:cTn>
                        </p:par>
                      </p:childTnLst>
                    </p:cTn>
                  </p:par>
                  <p:par>
                    <p:cTn id="44" fill="hold">
                      <p:stCondLst>
                        <p:cond delay="indefinite"/>
                      </p:stCondLst>
                      <p:childTnLst>
                        <p:par>
                          <p:cTn id="45"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grpId="0" nodeType="withEffect">
                                  <p:stCondLst>
                                    <p:cond delay="9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27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400"/>
                                        <p:tgtEl>
                                          <p:spTgt spid="34"/>
                                        </p:tgtEl>
                                      </p:cBhvr>
                                    </p:animEffect>
                                  </p:childTnLst>
                                </p:cTn>
                              </p:par>
                              <p:par>
                                <p:cTn id="49" presetID="10" presetClass="entr" presetSubtype="0" fill="hold" grpId="0" nodeType="withEffect">
                                  <p:stCondLst>
                                    <p:cond delay="9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00"/>
                                        <p:tgtEl>
                                          <p:spTgt spid="35"/>
                                        </p:tgtEl>
                                      </p:cBhvr>
                                    </p:animEffect>
                                  </p:childTnLst>
                                </p:cTn>
                              </p:par>
                              <p:par>
                                <p:cTn id="52" presetID="10" presetClass="entr" presetSubtype="0" fill="hold" grpId="0" nodeType="withEffect">
                                  <p:stCondLst>
                                    <p:cond delay="18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00"/>
                                        <p:tgtEl>
                                          <p:spTgt spid="36"/>
                                        </p:tgtEl>
                                      </p:cBhvr>
                                    </p:animEffect>
                                  </p:childTnLst>
                                </p:cTn>
                              </p:par>
                              <p:par>
                                <p:cTn id="55" presetID="10" presetClass="entr" presetSubtype="0" fill="hold" grpId="0" nodeType="withEffect">
                                  <p:stCondLst>
                                    <p:cond delay="27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400"/>
                                        <p:tgtEl>
                                          <p:spTgt spid="37"/>
                                        </p:tgtEl>
                                      </p:cBhvr>
                                    </p:animEffect>
                                  </p:childTnLst>
                                </p:cTn>
                              </p:par>
                              <p:par>
                                <p:cTn id="58" presetID="10" presetClass="entr" presetSubtype="0" fill="hold" grpId="0" nodeType="withEffect">
                                  <p:stCondLst>
                                    <p:cond delay="36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400"/>
                                        <p:tgtEl>
                                          <p:spTgt spid="38"/>
                                        </p:tgtEl>
                                      </p:cBhvr>
                                    </p:animEffect>
                                  </p:childTnLst>
                                </p:cTn>
                              </p:par>
                            </p:childTnLst>
                          </p:cTn>
                        </p:par>
                      </p:childTnLst>
                    </p:cTn>
                  </p:par>
                  <p:par>
                    <p:cTn id="78" fill="hold">
                      <p:stCondLst>
                        <p:cond delay="indefinite"/>
                      </p:stCondLst>
                      <p:childTnLst>
                        <p:par>
                          <p:cTn id="79"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400"/>
                                        <p:tgtEl>
                                          <p:spTgt spid="39"/>
                                        </p:tgtEl>
                                      </p:cBhvr>
                                    </p:animEffect>
                                  </p:childTnLst>
                                </p:cTn>
                              </p:par>
                              <p:par>
                                <p:cTn id="66" presetID="10" presetClass="entr" presetSubtype="0" fill="hold" grpId="0" nodeType="withEffect">
                                  <p:stCondLst>
                                    <p:cond delay="9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400"/>
                                        <p:tgtEl>
                                          <p:spTgt spid="40"/>
                                        </p:tgtEl>
                                      </p:cBhvr>
                                    </p:animEffect>
                                  </p:childTnLst>
                                </p:cTn>
                              </p:par>
                              <p:par>
                                <p:cTn id="69" presetID="10" presetClass="entr" presetSubtype="0" fill="hold" grpId="0" nodeType="withEffect">
                                  <p:stCondLst>
                                    <p:cond delay="18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400"/>
                                        <p:tgtEl>
                                          <p:spTgt spid="41"/>
                                        </p:tgtEl>
                                      </p:cBhvr>
                                    </p:animEffect>
                                  </p:childTnLst>
                                </p:cTn>
                              </p:par>
                              <p:par>
                                <p:cTn id="72" presetID="10" presetClass="entr" presetSubtype="0" fill="hold" grpId="0" nodeType="withEffect">
                                  <p:stCondLst>
                                    <p:cond delay="27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400"/>
                                        <p:tgtEl>
                                          <p:spTgt spid="42"/>
                                        </p:tgtEl>
                                      </p:cBhvr>
                                    </p:animEffect>
                                  </p:childTnLst>
                                </p:cTn>
                              </p:par>
                              <p:par>
                                <p:cTn id="75" presetID="10" presetClass="entr" presetSubtype="0" fill="hold" grpId="0" nodeType="withEffect">
                                  <p:stCondLst>
                                    <p:cond delay="36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29</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007DB6"/>
          </a:solidFill>
          <a:ln w="12700">
            <a:solidFill>
              <a:srgbClr val="007DB6"/>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The people</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The committee that oversees the programme, and the team you will see every day.</a:t>
            </a:r>
            <a:endParaRPr lang="en-US" sz="1250" dirty="0"/>
          </a:p>
        </p:txBody>
      </p:sp>
      <p:sp>
        <p:nvSpPr>
          <p:cNvPr id="21" name="anim:1"/>
          <p:cNvSpPr txBox="1"/>
          <p:nvPr/>
        </p:nvSpPr>
        <p:spPr>
          <a:xfrm>
            <a:off x="548640" y="1783080"/>
            <a:ext cx="5486400" cy="201168"/>
          </a:xfrm>
          <a:prstGeom prst="rect">
            <a:avLst/>
          </a:prstGeom>
          <a:noFill/>
          <a:ln/>
        </p:spPr>
        <p:txBody>
          <a:bodyPr wrap="square" lIns="0" tIns="0" rIns="0" bIns="0" rtlCol="0" anchor="t"/>
          <a:lstStyle/>
          <a:p>
            <a:pPr algn="l" indent="0" marL="0">
              <a:buNone/>
            </a:pPr>
            <a:r>
              <a:rPr lang="en-US" sz="850" b="1" spc="200" kern="0" dirty="0">
                <a:solidFill>
                  <a:srgbClr val="C48F0F"/>
                </a:solidFill>
                <a:latin typeface="Calibri" pitchFamily="34" charset="0"/>
                <a:ea typeface="Calibri" pitchFamily="34" charset="-122"/>
                <a:cs typeface="Calibri" pitchFamily="34" charset="-120"/>
              </a:rPr>
              <a:t>ACADEMIC OVERSIGHT COMMITTEE</a:t>
            </a:r>
            <a:endParaRPr lang="en-US" sz="850" dirty="0"/>
          </a:p>
        </p:txBody>
      </p:sp>
      <p:sp>
        <p:nvSpPr>
          <p:cNvPr id="22" name="anim:1 grad:card"/>
          <p:cNvSpPr/>
          <p:nvPr/>
        </p:nvSpPr>
        <p:spPr>
          <a:xfrm>
            <a:off x="548640" y="2103120"/>
            <a:ext cx="3566160" cy="1371600"/>
          </a:xfrm>
          <a:prstGeom prst="roundRect">
            <a:avLst>
              <a:gd name="adj" fmla="val 666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3" name="anim:1 grad:navy"/>
          <p:cNvSpPr/>
          <p:nvPr/>
        </p:nvSpPr>
        <p:spPr>
          <a:xfrm>
            <a:off x="822960" y="2423160"/>
            <a:ext cx="731520" cy="731520"/>
          </a:xfrm>
          <a:prstGeom prst="ellipse">
            <a:avLst/>
          </a:prstGeom>
          <a:gradFill rotWithShape="1">
            <a:gsLst>
              <a:gs pos="0">
                <a:srgbClr val="1B4170"/>
              </a:gs>
              <a:gs pos="100000">
                <a:srgbClr val="0A1E33"/>
              </a:gs>
            </a:gsLst>
            <a:lin ang="5400000" scaled="0"/>
          </a:gradFill>
          <a:ln w="12700">
            <a:solidFill>
              <a:srgbClr val="0A1E33"/>
            </a:solidFill>
            <a:prstDash val="solid"/>
          </a:ln>
        </p:spPr>
        <p:txBody>
          <a:bodyPr/>
          <a:p/>
        </p:txBody>
      </p:sp>
      <p:sp>
        <p:nvSpPr>
          <p:cNvPr id="24" name="anim:1"/>
          <p:cNvSpPr txBox="1"/>
          <p:nvPr/>
        </p:nvSpPr>
        <p:spPr>
          <a:xfrm>
            <a:off x="822960" y="2423160"/>
            <a:ext cx="731520" cy="731520"/>
          </a:xfrm>
          <a:prstGeom prst="rect">
            <a:avLst/>
          </a:prstGeom>
          <a:noFill/>
          <a:ln/>
        </p:spPr>
        <p:txBody>
          <a:bodyPr wrap="square" lIns="0" tIns="0" rIns="0" bIns="0" rtlCol="0" anchor="ctr"/>
          <a:lstStyle/>
          <a:p>
            <a:pPr algn="ctr" indent="0" marL="0">
              <a:buNone/>
            </a:pPr>
            <a:r>
              <a:rPr lang="en-US" sz="1600" b="1" dirty="0">
                <a:solidFill>
                  <a:srgbClr val="E9B221"/>
                </a:solidFill>
                <a:latin typeface="Calibri" pitchFamily="34" charset="0"/>
                <a:ea typeface="Calibri" pitchFamily="34" charset="-122"/>
                <a:cs typeface="Calibri" pitchFamily="34" charset="-120"/>
              </a:rPr>
              <a:t>AOC</a:t>
            </a:r>
            <a:endParaRPr lang="en-US" sz="1600" dirty="0"/>
          </a:p>
        </p:txBody>
      </p:sp>
      <p:sp>
        <p:nvSpPr>
          <p:cNvPr id="25" name="anim:1"/>
          <p:cNvSpPr txBox="1"/>
          <p:nvPr/>
        </p:nvSpPr>
        <p:spPr>
          <a:xfrm>
            <a:off x="1737360" y="2423160"/>
            <a:ext cx="2286000" cy="320040"/>
          </a:xfrm>
          <a:prstGeom prst="rect">
            <a:avLst/>
          </a:prstGeom>
          <a:noFill/>
          <a:ln/>
        </p:spPr>
        <p:txBody>
          <a:bodyPr wrap="square" lIns="0" tIns="0" rIns="0" bIns="0" rtlCol="0" anchor="t"/>
          <a:lstStyle/>
          <a:p>
            <a:pPr algn="l" indent="0" marL="0">
              <a:buNone/>
            </a:pPr>
            <a:r>
              <a:rPr lang="en-US" sz="1400" b="1" dirty="0">
                <a:solidFill>
                  <a:srgbClr val="0A1E33"/>
                </a:solidFill>
                <a:latin typeface="Calibri" pitchFamily="34" charset="0"/>
                <a:ea typeface="Calibri" pitchFamily="34" charset="-122"/>
                <a:cs typeface="Calibri" pitchFamily="34" charset="-120"/>
              </a:rPr>
              <a:t>AOC member</a:t>
            </a:r>
            <a:endParaRPr lang="en-US" sz="1400" dirty="0"/>
          </a:p>
        </p:txBody>
      </p:sp>
      <p:sp>
        <p:nvSpPr>
          <p:cNvPr id="26" name="anim:1"/>
          <p:cNvSpPr txBox="1"/>
          <p:nvPr/>
        </p:nvSpPr>
        <p:spPr>
          <a:xfrm>
            <a:off x="1737360" y="2761488"/>
            <a:ext cx="2286000" cy="548640"/>
          </a:xfrm>
          <a:prstGeom prst="rect">
            <a:avLst/>
          </a:prstGeom>
          <a:noFill/>
          <a:ln/>
        </p:spPr>
        <p:txBody>
          <a:bodyPr wrap="square" lIns="0" tIns="0" rIns="0" bIns="0" rtlCol="0" anchor="t"/>
          <a:lstStyle/>
          <a:p>
            <a:pPr algn="l" indent="0" marL="0">
              <a:buNone/>
            </a:pPr>
            <a:r>
              <a:rPr lang="en-US" sz="1000" dirty="0">
                <a:solidFill>
                  <a:srgbClr val="5F7183"/>
                </a:solidFill>
                <a:latin typeface="Calibri" pitchFamily="34" charset="0"/>
                <a:ea typeface="Calibri" pitchFamily="34" charset="-122"/>
                <a:cs typeface="Calibri" pitchFamily="34" charset="-120"/>
              </a:rPr>
              <a:t>Assistant Professor, Civil Engineering</a:t>
            </a:r>
            <a:endParaRPr lang="en-US" sz="1000" dirty="0"/>
          </a:p>
        </p:txBody>
      </p:sp>
      <p:sp>
        <p:nvSpPr>
          <p:cNvPr id="27" name="anim:1 grad:card"/>
          <p:cNvSpPr/>
          <p:nvPr/>
        </p:nvSpPr>
        <p:spPr>
          <a:xfrm>
            <a:off x="4306824" y="2103120"/>
            <a:ext cx="3566160" cy="1371600"/>
          </a:xfrm>
          <a:prstGeom prst="roundRect">
            <a:avLst>
              <a:gd name="adj" fmla="val 666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8" name="anim:1 grad:navy"/>
          <p:cNvSpPr/>
          <p:nvPr/>
        </p:nvSpPr>
        <p:spPr>
          <a:xfrm>
            <a:off x="4581144" y="2423160"/>
            <a:ext cx="731520" cy="731520"/>
          </a:xfrm>
          <a:prstGeom prst="ellipse">
            <a:avLst/>
          </a:prstGeom>
          <a:gradFill rotWithShape="1">
            <a:gsLst>
              <a:gs pos="0">
                <a:srgbClr val="1B4170"/>
              </a:gs>
              <a:gs pos="100000">
                <a:srgbClr val="0A1E33"/>
              </a:gs>
            </a:gsLst>
            <a:lin ang="5400000" scaled="0"/>
          </a:gradFill>
          <a:ln w="12700">
            <a:solidFill>
              <a:srgbClr val="0A1E33"/>
            </a:solidFill>
            <a:prstDash val="solid"/>
          </a:ln>
        </p:spPr>
        <p:txBody>
          <a:bodyPr/>
          <a:p/>
        </p:txBody>
      </p:sp>
      <p:sp>
        <p:nvSpPr>
          <p:cNvPr id="29" name="anim:1"/>
          <p:cNvSpPr txBox="1"/>
          <p:nvPr/>
        </p:nvSpPr>
        <p:spPr>
          <a:xfrm>
            <a:off x="4581144" y="2423160"/>
            <a:ext cx="731520" cy="731520"/>
          </a:xfrm>
          <a:prstGeom prst="rect">
            <a:avLst/>
          </a:prstGeom>
          <a:noFill/>
          <a:ln/>
        </p:spPr>
        <p:txBody>
          <a:bodyPr wrap="square" lIns="0" tIns="0" rIns="0" bIns="0" rtlCol="0" anchor="ctr"/>
          <a:lstStyle/>
          <a:p>
            <a:pPr algn="ctr" indent="0" marL="0">
              <a:buNone/>
            </a:pPr>
            <a:r>
              <a:rPr lang="en-US" sz="1600" b="1" dirty="0">
                <a:solidFill>
                  <a:srgbClr val="E9B221"/>
                </a:solidFill>
                <a:latin typeface="Calibri" pitchFamily="34" charset="0"/>
                <a:ea typeface="Calibri" pitchFamily="34" charset="-122"/>
                <a:cs typeface="Calibri" pitchFamily="34" charset="-120"/>
              </a:rPr>
              <a:t>AOC</a:t>
            </a:r>
            <a:endParaRPr lang="en-US" sz="1600" dirty="0"/>
          </a:p>
        </p:txBody>
      </p:sp>
      <p:sp>
        <p:nvSpPr>
          <p:cNvPr id="30" name="anim:1"/>
          <p:cNvSpPr txBox="1"/>
          <p:nvPr/>
        </p:nvSpPr>
        <p:spPr>
          <a:xfrm>
            <a:off x="5495544" y="2423160"/>
            <a:ext cx="2286000" cy="320040"/>
          </a:xfrm>
          <a:prstGeom prst="rect">
            <a:avLst/>
          </a:prstGeom>
          <a:noFill/>
          <a:ln/>
        </p:spPr>
        <p:txBody>
          <a:bodyPr wrap="square" lIns="0" tIns="0" rIns="0" bIns="0" rtlCol="0" anchor="t"/>
          <a:lstStyle/>
          <a:p>
            <a:pPr algn="l" indent="0" marL="0">
              <a:buNone/>
            </a:pPr>
            <a:r>
              <a:rPr lang="en-US" sz="1400" b="1" dirty="0">
                <a:solidFill>
                  <a:srgbClr val="0A1E33"/>
                </a:solidFill>
                <a:latin typeface="Calibri" pitchFamily="34" charset="0"/>
                <a:ea typeface="Calibri" pitchFamily="34" charset="-122"/>
                <a:cs typeface="Calibri" pitchFamily="34" charset="-120"/>
              </a:rPr>
              <a:t>AOC member</a:t>
            </a:r>
            <a:endParaRPr lang="en-US" sz="1400" dirty="0"/>
          </a:p>
        </p:txBody>
      </p:sp>
      <p:sp>
        <p:nvSpPr>
          <p:cNvPr id="31" name="anim:1"/>
          <p:cNvSpPr txBox="1"/>
          <p:nvPr/>
        </p:nvSpPr>
        <p:spPr>
          <a:xfrm>
            <a:off x="5495544" y="2761488"/>
            <a:ext cx="2286000" cy="548640"/>
          </a:xfrm>
          <a:prstGeom prst="rect">
            <a:avLst/>
          </a:prstGeom>
          <a:noFill/>
          <a:ln/>
        </p:spPr>
        <p:txBody>
          <a:bodyPr wrap="square" lIns="0" tIns="0" rIns="0" bIns="0" rtlCol="0" anchor="t"/>
          <a:lstStyle/>
          <a:p>
            <a:pPr algn="l" indent="0" marL="0">
              <a:buNone/>
            </a:pPr>
            <a:r>
              <a:rPr lang="en-US" sz="1000" dirty="0">
                <a:solidFill>
                  <a:srgbClr val="5F7183"/>
                </a:solidFill>
                <a:latin typeface="Calibri" pitchFamily="34" charset="0"/>
                <a:ea typeface="Calibri" pitchFamily="34" charset="-122"/>
                <a:cs typeface="Calibri" pitchFamily="34" charset="-120"/>
              </a:rPr>
              <a:t>Assistant Professor, Computer Science and Engineering</a:t>
            </a:r>
            <a:endParaRPr lang="en-US" sz="1000" dirty="0"/>
          </a:p>
        </p:txBody>
      </p:sp>
      <p:sp>
        <p:nvSpPr>
          <p:cNvPr id="32" name="anim:1 grad:card"/>
          <p:cNvSpPr/>
          <p:nvPr/>
        </p:nvSpPr>
        <p:spPr>
          <a:xfrm>
            <a:off x="8065008" y="2103120"/>
            <a:ext cx="3566160" cy="1371600"/>
          </a:xfrm>
          <a:prstGeom prst="roundRect">
            <a:avLst>
              <a:gd name="adj" fmla="val 6667"/>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3" name="anim:1 grad:navy"/>
          <p:cNvSpPr/>
          <p:nvPr/>
        </p:nvSpPr>
        <p:spPr>
          <a:xfrm>
            <a:off x="8339328" y="2423160"/>
            <a:ext cx="731520" cy="731520"/>
          </a:xfrm>
          <a:prstGeom prst="ellipse">
            <a:avLst/>
          </a:prstGeom>
          <a:gradFill rotWithShape="1">
            <a:gsLst>
              <a:gs pos="0">
                <a:srgbClr val="1B4170"/>
              </a:gs>
              <a:gs pos="100000">
                <a:srgbClr val="0A1E33"/>
              </a:gs>
            </a:gsLst>
            <a:lin ang="5400000" scaled="0"/>
          </a:gradFill>
          <a:ln w="12700">
            <a:solidFill>
              <a:srgbClr val="0A1E33"/>
            </a:solidFill>
            <a:prstDash val="solid"/>
          </a:ln>
        </p:spPr>
        <p:txBody>
          <a:bodyPr/>
          <a:p/>
        </p:txBody>
      </p:sp>
      <p:sp>
        <p:nvSpPr>
          <p:cNvPr id="34" name="anim:1"/>
          <p:cNvSpPr txBox="1"/>
          <p:nvPr/>
        </p:nvSpPr>
        <p:spPr>
          <a:xfrm>
            <a:off x="8339328" y="2423160"/>
            <a:ext cx="731520" cy="731520"/>
          </a:xfrm>
          <a:prstGeom prst="rect">
            <a:avLst/>
          </a:prstGeom>
          <a:noFill/>
          <a:ln/>
        </p:spPr>
        <p:txBody>
          <a:bodyPr wrap="square" lIns="0" tIns="0" rIns="0" bIns="0" rtlCol="0" anchor="ctr"/>
          <a:lstStyle/>
          <a:p>
            <a:pPr algn="ctr" indent="0" marL="0">
              <a:buNone/>
            </a:pPr>
            <a:r>
              <a:rPr lang="en-US" sz="1600" b="1" dirty="0">
                <a:solidFill>
                  <a:srgbClr val="E9B221"/>
                </a:solidFill>
                <a:latin typeface="Calibri" pitchFamily="34" charset="0"/>
                <a:ea typeface="Calibri" pitchFamily="34" charset="-122"/>
                <a:cs typeface="Calibri" pitchFamily="34" charset="-120"/>
              </a:rPr>
              <a:t>AOC</a:t>
            </a:r>
            <a:endParaRPr lang="en-US" sz="1600" dirty="0"/>
          </a:p>
        </p:txBody>
      </p:sp>
      <p:sp>
        <p:nvSpPr>
          <p:cNvPr id="35" name="anim:1"/>
          <p:cNvSpPr txBox="1"/>
          <p:nvPr/>
        </p:nvSpPr>
        <p:spPr>
          <a:xfrm>
            <a:off x="9253728" y="2423160"/>
            <a:ext cx="2286000" cy="320040"/>
          </a:xfrm>
          <a:prstGeom prst="rect">
            <a:avLst/>
          </a:prstGeom>
          <a:noFill/>
          <a:ln/>
        </p:spPr>
        <p:txBody>
          <a:bodyPr wrap="square" lIns="0" tIns="0" rIns="0" bIns="0" rtlCol="0" anchor="t"/>
          <a:lstStyle/>
          <a:p>
            <a:pPr algn="l" indent="0" marL="0">
              <a:buNone/>
            </a:pPr>
            <a:r>
              <a:rPr lang="en-US" sz="1400" b="1" dirty="0">
                <a:solidFill>
                  <a:srgbClr val="0A1E33"/>
                </a:solidFill>
                <a:latin typeface="Calibri" pitchFamily="34" charset="0"/>
                <a:ea typeface="Calibri" pitchFamily="34" charset="-122"/>
                <a:cs typeface="Calibri" pitchFamily="34" charset="-120"/>
              </a:rPr>
              <a:t>AOC member</a:t>
            </a:r>
            <a:endParaRPr lang="en-US" sz="1400" dirty="0"/>
          </a:p>
        </p:txBody>
      </p:sp>
      <p:sp>
        <p:nvSpPr>
          <p:cNvPr id="36" name="anim:1"/>
          <p:cNvSpPr txBox="1"/>
          <p:nvPr/>
        </p:nvSpPr>
        <p:spPr>
          <a:xfrm>
            <a:off x="9253728" y="2761488"/>
            <a:ext cx="2286000" cy="548640"/>
          </a:xfrm>
          <a:prstGeom prst="rect">
            <a:avLst/>
          </a:prstGeom>
          <a:noFill/>
          <a:ln/>
        </p:spPr>
        <p:txBody>
          <a:bodyPr wrap="square" lIns="0" tIns="0" rIns="0" bIns="0" rtlCol="0" anchor="t"/>
          <a:lstStyle/>
          <a:p>
            <a:pPr algn="l" indent="0" marL="0">
              <a:buNone/>
            </a:pPr>
            <a:r>
              <a:rPr lang="en-US" sz="1000" dirty="0">
                <a:solidFill>
                  <a:srgbClr val="5F7183"/>
                </a:solidFill>
                <a:latin typeface="Calibri" pitchFamily="34" charset="0"/>
                <a:ea typeface="Calibri" pitchFamily="34" charset="-122"/>
                <a:cs typeface="Calibri" pitchFamily="34" charset="-120"/>
              </a:rPr>
              <a:t>Assistant Professor, Computer Science and Engineering</a:t>
            </a:r>
            <a:endParaRPr lang="en-US" sz="1000" dirty="0"/>
          </a:p>
        </p:txBody>
      </p:sp>
      <p:sp>
        <p:nvSpPr>
          <p:cNvPr id="37" name="anim:2"/>
          <p:cNvSpPr txBox="1"/>
          <p:nvPr/>
        </p:nvSpPr>
        <p:spPr>
          <a:xfrm>
            <a:off x="548640" y="3749040"/>
            <a:ext cx="548640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THE PROGRAMME TEAM</a:t>
            </a:r>
            <a:endParaRPr lang="en-US" sz="850" dirty="0"/>
          </a:p>
        </p:txBody>
      </p:sp>
      <p:sp>
        <p:nvSpPr>
          <p:cNvPr id="38" name="anim:2 grad:card"/>
          <p:cNvSpPr/>
          <p:nvPr/>
        </p:nvSpPr>
        <p:spPr>
          <a:xfrm>
            <a:off x="548640" y="4069080"/>
            <a:ext cx="2130552" cy="2240280"/>
          </a:xfrm>
          <a:prstGeom prst="roundRect">
            <a:avLst>
              <a:gd name="adj" fmla="val 4292"/>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9" name="anim:2 grad:blue"/>
          <p:cNvSpPr/>
          <p:nvPr/>
        </p:nvSpPr>
        <p:spPr>
          <a:xfrm>
            <a:off x="777240" y="4297680"/>
            <a:ext cx="548640" cy="54864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40" name="anim:2" descr="preencoded.png">    </p:cNvPr>
          <p:cNvPicPr>
            <a:picLocks noChangeAspect="1"/>
          </p:cNvPicPr>
          <p:nvPr/>
        </p:nvPicPr>
        <p:blipFill>
          <a:blip r:embed="rId3"/>
          <a:stretch>
            <a:fillRect/>
          </a:stretch>
        </p:blipFill>
        <p:spPr>
          <a:xfrm>
            <a:off x="908914" y="4429354"/>
            <a:ext cx="285293" cy="285293"/>
          </a:xfrm>
          <a:prstGeom prst="rect">
            <a:avLst/>
          </a:prstGeom>
        </p:spPr>
      </p:pic>
      <p:sp>
        <p:nvSpPr>
          <p:cNvPr id="41" name="anim:2"/>
          <p:cNvSpPr txBox="1"/>
          <p:nvPr/>
        </p:nvSpPr>
        <p:spPr>
          <a:xfrm>
            <a:off x="777240" y="4983480"/>
            <a:ext cx="1673352" cy="365760"/>
          </a:xfrm>
          <a:prstGeom prst="rect">
            <a:avLst/>
          </a:prstGeom>
          <a:noFill/>
          <a:ln/>
        </p:spPr>
        <p:txBody>
          <a:bodyPr wrap="square" lIns="0" tIns="0" rIns="0" bIns="0" rtlCol="0" anchor="t"/>
          <a:lstStyle/>
          <a:p>
            <a:pPr algn="l" indent="0" marL="0">
              <a:buNone/>
            </a:pPr>
            <a:r>
              <a:rPr lang="en-US" sz="850" b="1" spc="100" kern="0" dirty="0">
                <a:solidFill>
                  <a:srgbClr val="007DB6"/>
                </a:solidFill>
                <a:latin typeface="Calibri" pitchFamily="34" charset="0"/>
                <a:ea typeface="Calibri" pitchFamily="34" charset="-122"/>
                <a:cs typeface="Calibri" pitchFamily="34" charset="-120"/>
              </a:rPr>
              <a:t>Programme Head, Academics</a:t>
            </a:r>
            <a:endParaRPr lang="en-US" sz="850" dirty="0"/>
          </a:p>
        </p:txBody>
      </p:sp>
      <p:sp>
        <p:nvSpPr>
          <p:cNvPr id="42" name="anim:2"/>
          <p:cNvSpPr txBox="1"/>
          <p:nvPr/>
        </p:nvSpPr>
        <p:spPr>
          <a:xfrm>
            <a:off x="777240" y="5367528"/>
            <a:ext cx="1673352" cy="320040"/>
          </a:xfrm>
          <a:prstGeom prst="rect">
            <a:avLst/>
          </a:prstGeom>
          <a:noFill/>
          <a:ln/>
        </p:spPr>
        <p:txBody>
          <a:bodyPr wrap="square" lIns="0" tIns="0" rIns="0" bIns="0" rtlCol="0" anchor="t"/>
          <a:lstStyle/>
          <a:p>
            <a:pPr algn="l" indent="0" marL="0">
              <a:buNone/>
            </a:pPr>
            <a:r>
              <a:rPr lang="en-US" sz="1400" b="1" dirty="0">
                <a:solidFill>
                  <a:srgbClr val="0A1E33"/>
                </a:solidFill>
                <a:latin typeface="Calibri" pitchFamily="34" charset="0"/>
                <a:ea typeface="Calibri" pitchFamily="34" charset="-122"/>
                <a:cs typeface="Calibri" pitchFamily="34" charset="-120"/>
              </a:rPr>
              <a:t/>
            </a:r>
            <a:endParaRPr lang="en-US" sz="1400" dirty="0"/>
          </a:p>
        </p:txBody>
      </p:sp>
      <p:sp>
        <p:nvSpPr>
          <p:cNvPr id="43" name="anim:2"/>
          <p:cNvSpPr txBox="1"/>
          <p:nvPr/>
        </p:nvSpPr>
        <p:spPr>
          <a:xfrm>
            <a:off x="777240" y="5715000"/>
            <a:ext cx="1673352" cy="54864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Curriculum, trainers and outcomes.</a:t>
            </a:r>
            <a:endParaRPr lang="en-US" sz="950" dirty="0"/>
          </a:p>
        </p:txBody>
      </p:sp>
      <p:sp>
        <p:nvSpPr>
          <p:cNvPr id="44" name="anim:2 grad:card"/>
          <p:cNvSpPr/>
          <p:nvPr/>
        </p:nvSpPr>
        <p:spPr>
          <a:xfrm>
            <a:off x="2788920" y="4069080"/>
            <a:ext cx="2130552" cy="2240280"/>
          </a:xfrm>
          <a:prstGeom prst="roundRect">
            <a:avLst>
              <a:gd name="adj" fmla="val 4292"/>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5" name="anim:2 grad:blue"/>
          <p:cNvSpPr/>
          <p:nvPr/>
        </p:nvSpPr>
        <p:spPr>
          <a:xfrm>
            <a:off x="3017520" y="4297680"/>
            <a:ext cx="548640" cy="54864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46" name="anim:2" descr="preencoded.png">    </p:cNvPr>
          <p:cNvPicPr>
            <a:picLocks noChangeAspect="1"/>
          </p:cNvPicPr>
          <p:nvPr/>
        </p:nvPicPr>
        <p:blipFill>
          <a:blip r:embed="rId4"/>
          <a:stretch>
            <a:fillRect/>
          </a:stretch>
        </p:blipFill>
        <p:spPr>
          <a:xfrm>
            <a:off x="3149194" y="4429354"/>
            <a:ext cx="285293" cy="285293"/>
          </a:xfrm>
          <a:prstGeom prst="rect">
            <a:avLst/>
          </a:prstGeom>
        </p:spPr>
      </p:pic>
      <p:sp>
        <p:nvSpPr>
          <p:cNvPr id="47" name="anim:2"/>
          <p:cNvSpPr txBox="1"/>
          <p:nvPr/>
        </p:nvSpPr>
        <p:spPr>
          <a:xfrm>
            <a:off x="3017520" y="4983480"/>
            <a:ext cx="1673352" cy="365760"/>
          </a:xfrm>
          <a:prstGeom prst="rect">
            <a:avLst/>
          </a:prstGeom>
          <a:noFill/>
          <a:ln/>
        </p:spPr>
        <p:txBody>
          <a:bodyPr wrap="square" lIns="0" tIns="0" rIns="0" bIns="0" rtlCol="0" anchor="t"/>
          <a:lstStyle/>
          <a:p>
            <a:pPr algn="l" indent="0" marL="0">
              <a:buNone/>
            </a:pPr>
            <a:r>
              <a:rPr lang="en-US" sz="850" b="1" spc="100" kern="0" dirty="0">
                <a:solidFill>
                  <a:srgbClr val="007DB6"/>
                </a:solidFill>
                <a:latin typeface="Calibri" pitchFamily="34" charset="0"/>
                <a:ea typeface="Calibri" pitchFamily="34" charset="-122"/>
                <a:cs typeface="Calibri" pitchFamily="34" charset="-120"/>
              </a:rPr>
              <a:t>Programme Head, Operations</a:t>
            </a:r>
            <a:endParaRPr lang="en-US" sz="850" dirty="0"/>
          </a:p>
        </p:txBody>
      </p:sp>
      <p:sp>
        <p:nvSpPr>
          <p:cNvPr id="48" name="anim:2"/>
          <p:cNvSpPr txBox="1"/>
          <p:nvPr/>
        </p:nvSpPr>
        <p:spPr>
          <a:xfrm>
            <a:off x="3017520" y="5367528"/>
            <a:ext cx="1673352" cy="320040"/>
          </a:xfrm>
          <a:prstGeom prst="rect">
            <a:avLst/>
          </a:prstGeom>
          <a:noFill/>
          <a:ln/>
        </p:spPr>
        <p:txBody>
          <a:bodyPr wrap="square" lIns="0" tIns="0" rIns="0" bIns="0" rtlCol="0" anchor="t"/>
          <a:lstStyle/>
          <a:p>
            <a:pPr algn="l" indent="0" marL="0">
              <a:buNone/>
            </a:pPr>
            <a:r>
              <a:rPr lang="en-US" sz="1400" b="1" dirty="0">
                <a:solidFill>
                  <a:srgbClr val="0A1E33"/>
                </a:solidFill>
                <a:latin typeface="Calibri" pitchFamily="34" charset="0"/>
                <a:ea typeface="Calibri" pitchFamily="34" charset="-122"/>
                <a:cs typeface="Calibri" pitchFamily="34" charset="-120"/>
              </a:rPr>
              <a:t/>
            </a:r>
            <a:endParaRPr lang="en-US" sz="1400" dirty="0"/>
          </a:p>
        </p:txBody>
      </p:sp>
      <p:sp>
        <p:nvSpPr>
          <p:cNvPr id="49" name="anim:2"/>
          <p:cNvSpPr txBox="1"/>
          <p:nvPr/>
        </p:nvSpPr>
        <p:spPr>
          <a:xfrm>
            <a:off x="3017520" y="5715000"/>
            <a:ext cx="1673352" cy="54864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Operations, reporting and careers support.</a:t>
            </a:r>
            <a:endParaRPr lang="en-US" sz="950" dirty="0"/>
          </a:p>
        </p:txBody>
      </p:sp>
      <p:sp>
        <p:nvSpPr>
          <p:cNvPr id="50" name="anim:2 grad:card"/>
          <p:cNvSpPr/>
          <p:nvPr/>
        </p:nvSpPr>
        <p:spPr>
          <a:xfrm>
            <a:off x="5029200" y="4069080"/>
            <a:ext cx="2130552" cy="2240280"/>
          </a:xfrm>
          <a:prstGeom prst="roundRect">
            <a:avLst>
              <a:gd name="adj" fmla="val 4292"/>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51" name="anim:2 grad:gold"/>
          <p:cNvSpPr/>
          <p:nvPr/>
        </p:nvSpPr>
        <p:spPr>
          <a:xfrm>
            <a:off x="5257800" y="4297680"/>
            <a:ext cx="548640" cy="548640"/>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52" name="anim:2" descr="preencoded.png">    </p:cNvPr>
          <p:cNvPicPr>
            <a:picLocks noChangeAspect="1"/>
          </p:cNvPicPr>
          <p:nvPr/>
        </p:nvPicPr>
        <p:blipFill>
          <a:blip r:embed="rId5"/>
          <a:stretch>
            <a:fillRect/>
          </a:stretch>
        </p:blipFill>
        <p:spPr>
          <a:xfrm>
            <a:off x="5389474" y="4429354"/>
            <a:ext cx="285293" cy="285293"/>
          </a:xfrm>
          <a:prstGeom prst="rect">
            <a:avLst/>
          </a:prstGeom>
        </p:spPr>
      </p:pic>
      <p:sp>
        <p:nvSpPr>
          <p:cNvPr id="53" name="anim:2"/>
          <p:cNvSpPr txBox="1"/>
          <p:nvPr/>
        </p:nvSpPr>
        <p:spPr>
          <a:xfrm>
            <a:off x="5257800" y="4983480"/>
            <a:ext cx="1673352" cy="365760"/>
          </a:xfrm>
          <a:prstGeom prst="rect">
            <a:avLst/>
          </a:prstGeom>
          <a:noFill/>
          <a:ln/>
        </p:spPr>
        <p:txBody>
          <a:bodyPr wrap="square" lIns="0" tIns="0" rIns="0" bIns="0" rtlCol="0" anchor="t"/>
          <a:lstStyle/>
          <a:p>
            <a:pPr algn="l" indent="0" marL="0">
              <a:buNone/>
            </a:pPr>
            <a:r>
              <a:rPr lang="en-US" sz="850" b="1" spc="100" kern="0" dirty="0">
                <a:solidFill>
                  <a:srgbClr val="007DB6"/>
                </a:solidFill>
                <a:latin typeface="Calibri" pitchFamily="34" charset="0"/>
                <a:ea typeface="Calibri" pitchFamily="34" charset="-122"/>
                <a:cs typeface="Calibri" pitchFamily="34" charset="-120"/>
              </a:rPr>
              <a:t>On-ground Manager</a:t>
            </a:r>
            <a:endParaRPr lang="en-US" sz="850" dirty="0"/>
          </a:p>
        </p:txBody>
      </p:sp>
      <p:sp>
        <p:nvSpPr>
          <p:cNvPr id="54" name="anim:2"/>
          <p:cNvSpPr txBox="1"/>
          <p:nvPr/>
        </p:nvSpPr>
        <p:spPr>
          <a:xfrm>
            <a:off x="5257800" y="5367528"/>
            <a:ext cx="1673352" cy="320040"/>
          </a:xfrm>
          <a:prstGeom prst="rect">
            <a:avLst/>
          </a:prstGeom>
          <a:noFill/>
          <a:ln/>
        </p:spPr>
        <p:txBody>
          <a:bodyPr wrap="square" lIns="0" tIns="0" rIns="0" bIns="0" rtlCol="0" anchor="t"/>
          <a:lstStyle/>
          <a:p>
            <a:pPr algn="l" indent="0" marL="0">
              <a:buNone/>
            </a:pPr>
            <a:r>
              <a:rPr lang="en-US" sz="1400" b="1" dirty="0">
                <a:solidFill>
                  <a:srgbClr val="0A1E33"/>
                </a:solidFill>
                <a:latin typeface="Calibri" pitchFamily="34" charset="0"/>
                <a:ea typeface="Calibri" pitchFamily="34" charset="-122"/>
                <a:cs typeface="Calibri" pitchFamily="34" charset="-120"/>
              </a:rPr>
              <a:t/>
            </a:r>
            <a:endParaRPr lang="en-US" sz="1400" dirty="0"/>
          </a:p>
        </p:txBody>
      </p:sp>
      <p:sp>
        <p:nvSpPr>
          <p:cNvPr id="55" name="anim:2"/>
          <p:cNvSpPr txBox="1"/>
          <p:nvPr/>
        </p:nvSpPr>
        <p:spPr>
          <a:xfrm>
            <a:off x="5257800" y="5715000"/>
            <a:ext cx="1673352" cy="54864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On campus with you throughout; your first stop for any issue.</a:t>
            </a:r>
            <a:endParaRPr lang="en-US" sz="950" dirty="0"/>
          </a:p>
        </p:txBody>
      </p:sp>
      <p:sp>
        <p:nvSpPr>
          <p:cNvPr id="56" name="anim:2 grad:card"/>
          <p:cNvSpPr/>
          <p:nvPr/>
        </p:nvSpPr>
        <p:spPr>
          <a:xfrm>
            <a:off x="7269480" y="4069080"/>
            <a:ext cx="2130552" cy="2240280"/>
          </a:xfrm>
          <a:prstGeom prst="roundRect">
            <a:avLst>
              <a:gd name="adj" fmla="val 4292"/>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57" name="anim:2"/>
          <p:cNvSpPr/>
          <p:nvPr/>
        </p:nvSpPr>
        <p:spPr>
          <a:xfrm>
            <a:off x="7498080" y="4297680"/>
            <a:ext cx="548640" cy="548640"/>
          </a:xfrm>
          <a:prstGeom prst="ellipse">
            <a:avLst/>
          </a:prstGeom>
          <a:solidFill>
            <a:srgbClr val="E3F2FA"/>
          </a:solidFill>
          <a:ln w="9525">
            <a:solidFill>
              <a:srgbClr val="E3F2FA"/>
            </a:solidFill>
            <a:prstDash val="solid"/>
          </a:ln>
        </p:spPr>
        <p:txBody>
          <a:bodyPr/>
          <a:p/>
        </p:txBody>
      </p:sp>
      <p:pic>
        <p:nvPicPr>
          <p:cNvPr id="58" name="anim:2" descr="preencoded.png">    </p:cNvPr>
          <p:cNvPicPr>
            <a:picLocks noChangeAspect="1"/>
          </p:cNvPicPr>
          <p:nvPr/>
        </p:nvPicPr>
        <p:blipFill>
          <a:blip r:embed="rId6"/>
          <a:stretch>
            <a:fillRect/>
          </a:stretch>
        </p:blipFill>
        <p:spPr>
          <a:xfrm>
            <a:off x="7629754" y="4429354"/>
            <a:ext cx="285293" cy="285293"/>
          </a:xfrm>
          <a:prstGeom prst="rect">
            <a:avLst/>
          </a:prstGeom>
        </p:spPr>
      </p:pic>
      <p:sp>
        <p:nvSpPr>
          <p:cNvPr id="59" name="anim:2"/>
          <p:cNvSpPr txBox="1"/>
          <p:nvPr/>
        </p:nvSpPr>
        <p:spPr>
          <a:xfrm>
            <a:off x="7498080" y="4983480"/>
            <a:ext cx="1673352" cy="365760"/>
          </a:xfrm>
          <a:prstGeom prst="rect">
            <a:avLst/>
          </a:prstGeom>
          <a:noFill/>
          <a:ln/>
        </p:spPr>
        <p:txBody>
          <a:bodyPr wrap="square" lIns="0" tIns="0" rIns="0" bIns="0" rtlCol="0" anchor="t"/>
          <a:lstStyle/>
          <a:p>
            <a:pPr algn="l" indent="0" marL="0">
              <a:buNone/>
            </a:pPr>
            <a:r>
              <a:rPr lang="en-US" sz="850" b="1" spc="100" kern="0" dirty="0">
                <a:solidFill>
                  <a:srgbClr val="007DB6"/>
                </a:solidFill>
                <a:latin typeface="Calibri" pitchFamily="34" charset="0"/>
                <a:ea typeface="Calibri" pitchFamily="34" charset="-122"/>
                <a:cs typeface="Calibri" pitchFamily="34" charset="-120"/>
              </a:rPr>
              <a:t>Academic TA</a:t>
            </a:r>
            <a:endParaRPr lang="en-US" sz="850" dirty="0"/>
          </a:p>
        </p:txBody>
      </p:sp>
      <p:sp>
        <p:nvSpPr>
          <p:cNvPr id="60" name="anim:2"/>
          <p:cNvSpPr txBox="1"/>
          <p:nvPr/>
        </p:nvSpPr>
        <p:spPr>
          <a:xfrm>
            <a:off x="7498080" y="5367528"/>
            <a:ext cx="1673352" cy="320040"/>
          </a:xfrm>
          <a:prstGeom prst="rect">
            <a:avLst/>
          </a:prstGeom>
          <a:noFill/>
          <a:ln/>
        </p:spPr>
        <p:txBody>
          <a:bodyPr wrap="square" lIns="0" tIns="0" rIns="0" bIns="0" rtlCol="0" anchor="t"/>
          <a:lstStyle/>
          <a:p>
            <a:pPr algn="l" indent="0" marL="0">
              <a:buNone/>
            </a:pPr>
            <a:r>
              <a:rPr lang="en-US" sz="1400" b="1" dirty="0">
                <a:solidFill>
                  <a:srgbClr val="0A1E33"/>
                </a:solidFill>
                <a:latin typeface="Calibri" pitchFamily="34" charset="0"/>
                <a:ea typeface="Calibri" pitchFamily="34" charset="-122"/>
                <a:cs typeface="Calibri" pitchFamily="34" charset="-120"/>
              </a:rPr>
              <a:t/>
            </a:r>
            <a:endParaRPr lang="en-US" sz="1400" dirty="0"/>
          </a:p>
        </p:txBody>
      </p:sp>
      <p:sp>
        <p:nvSpPr>
          <p:cNvPr id="61" name="anim:2"/>
          <p:cNvSpPr txBox="1"/>
          <p:nvPr/>
        </p:nvSpPr>
        <p:spPr>
          <a:xfrm>
            <a:off x="7498080" y="5715000"/>
            <a:ext cx="1673352" cy="54864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First route for content doubts; leads the Saturday discussion.</a:t>
            </a:r>
            <a:endParaRPr lang="en-US" sz="950" dirty="0"/>
          </a:p>
        </p:txBody>
      </p:sp>
      <p:sp>
        <p:nvSpPr>
          <p:cNvPr id="62" name="anim:2 grad:card"/>
          <p:cNvSpPr/>
          <p:nvPr/>
        </p:nvSpPr>
        <p:spPr>
          <a:xfrm>
            <a:off x="9509760" y="4069080"/>
            <a:ext cx="2130552" cy="2240280"/>
          </a:xfrm>
          <a:prstGeom prst="roundRect">
            <a:avLst>
              <a:gd name="adj" fmla="val 4292"/>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63" name="anim:2"/>
          <p:cNvSpPr/>
          <p:nvPr/>
        </p:nvSpPr>
        <p:spPr>
          <a:xfrm>
            <a:off x="9738360" y="4297680"/>
            <a:ext cx="548640" cy="548640"/>
          </a:xfrm>
          <a:prstGeom prst="ellipse">
            <a:avLst/>
          </a:prstGeom>
          <a:solidFill>
            <a:srgbClr val="E3F2FA"/>
          </a:solidFill>
          <a:ln w="9525">
            <a:solidFill>
              <a:srgbClr val="E3F2FA"/>
            </a:solidFill>
            <a:prstDash val="solid"/>
          </a:ln>
        </p:spPr>
        <p:txBody>
          <a:bodyPr/>
          <a:p/>
        </p:txBody>
      </p:sp>
      <p:pic>
        <p:nvPicPr>
          <p:cNvPr id="64" name="anim:2" descr="preencoded.png">    </p:cNvPr>
          <p:cNvPicPr>
            <a:picLocks noChangeAspect="1"/>
          </p:cNvPicPr>
          <p:nvPr/>
        </p:nvPicPr>
        <p:blipFill>
          <a:blip r:embed="rId7"/>
          <a:stretch>
            <a:fillRect/>
          </a:stretch>
        </p:blipFill>
        <p:spPr>
          <a:xfrm>
            <a:off x="9870034" y="4429354"/>
            <a:ext cx="285293" cy="285293"/>
          </a:xfrm>
          <a:prstGeom prst="rect">
            <a:avLst/>
          </a:prstGeom>
        </p:spPr>
      </p:pic>
      <p:sp>
        <p:nvSpPr>
          <p:cNvPr id="65" name="anim:2"/>
          <p:cNvSpPr txBox="1"/>
          <p:nvPr/>
        </p:nvSpPr>
        <p:spPr>
          <a:xfrm>
            <a:off x="9738360" y="4983480"/>
            <a:ext cx="1673352" cy="365760"/>
          </a:xfrm>
          <a:prstGeom prst="rect">
            <a:avLst/>
          </a:prstGeom>
          <a:noFill/>
          <a:ln/>
        </p:spPr>
        <p:txBody>
          <a:bodyPr wrap="square" lIns="0" tIns="0" rIns="0" bIns="0" rtlCol="0" anchor="t"/>
          <a:lstStyle/>
          <a:p>
            <a:pPr algn="l" indent="0" marL="0">
              <a:buNone/>
            </a:pPr>
            <a:r>
              <a:rPr lang="en-US" sz="850" b="1" spc="100" kern="0" dirty="0">
                <a:solidFill>
                  <a:srgbClr val="007DB6"/>
                </a:solidFill>
                <a:latin typeface="Calibri" pitchFamily="34" charset="0"/>
                <a:ea typeface="Calibri" pitchFamily="34" charset="-122"/>
                <a:cs typeface="Calibri" pitchFamily="34" charset="-120"/>
              </a:rPr>
              <a:t>Support TA</a:t>
            </a:r>
            <a:endParaRPr lang="en-US" sz="850" dirty="0"/>
          </a:p>
        </p:txBody>
      </p:sp>
      <p:sp>
        <p:nvSpPr>
          <p:cNvPr id="66" name="anim:2"/>
          <p:cNvSpPr txBox="1"/>
          <p:nvPr/>
        </p:nvSpPr>
        <p:spPr>
          <a:xfrm>
            <a:off x="9738360" y="5367528"/>
            <a:ext cx="1673352" cy="320040"/>
          </a:xfrm>
          <a:prstGeom prst="rect">
            <a:avLst/>
          </a:prstGeom>
          <a:noFill/>
          <a:ln/>
        </p:spPr>
        <p:txBody>
          <a:bodyPr wrap="square" lIns="0" tIns="0" rIns="0" bIns="0" rtlCol="0" anchor="t"/>
          <a:lstStyle/>
          <a:p>
            <a:pPr algn="l" indent="0" marL="0">
              <a:buNone/>
            </a:pPr>
            <a:r>
              <a:rPr lang="en-US" sz="1400" b="1" dirty="0">
                <a:solidFill>
                  <a:srgbClr val="0A1E33"/>
                </a:solidFill>
                <a:latin typeface="Calibri" pitchFamily="34" charset="0"/>
                <a:ea typeface="Calibri" pitchFamily="34" charset="-122"/>
                <a:cs typeface="Calibri" pitchFamily="34" charset="-120"/>
              </a:rPr>
              <a:t/>
            </a:r>
            <a:endParaRPr lang="en-US" sz="1400" dirty="0"/>
          </a:p>
        </p:txBody>
      </p:sp>
      <p:sp>
        <p:nvSpPr>
          <p:cNvPr id="67" name="anim:2"/>
          <p:cNvSpPr txBox="1"/>
          <p:nvPr/>
        </p:nvSpPr>
        <p:spPr>
          <a:xfrm>
            <a:off x="9738360" y="5715000"/>
            <a:ext cx="1673352" cy="54864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Sessions, submissions and day-to-day support.</a:t>
            </a:r>
            <a:endParaRPr lang="en-US" sz="9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childTnLst>
                          </p:cTn>
                        </p:par>
                      </p:childTnLst>
                    </p:cTn>
                  </p:par>
                  <p:par>
                    <p:cTn id="146" fill="hold">
                      <p:stCondLst>
                        <p:cond delay="indefinite"/>
                      </p:stCondLst>
                      <p:childTnLst>
                        <p:par>
                          <p:cTn id="147"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9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18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27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36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45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54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63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72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81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par>
                                <p:cTn id="92" presetID="10" presetClass="entr" presetSubtype="0" fill="hold" grpId="0" nodeType="withEffect">
                                  <p:stCondLst>
                                    <p:cond delay="90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400"/>
                                        <p:tgtEl>
                                          <p:spTgt spid="50"/>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00"/>
                                        <p:tgtEl>
                                          <p:spTgt spid="51"/>
                                        </p:tgtEl>
                                      </p:cBhvr>
                                    </p:animEffect>
                                  </p:childTnLst>
                                </p:cTn>
                              </p:par>
                              <p:par>
                                <p:cTn id="98" presetID="10" presetClass="entr" presetSubtype="0" fill="hold" grpId="0" nodeType="withEffect">
                                  <p:stCondLst>
                                    <p:cond delay="90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400"/>
                                        <p:tgtEl>
                                          <p:spTgt spid="52"/>
                                        </p:tgtEl>
                                      </p:cBhvr>
                                    </p:animEffect>
                                  </p:childTnLst>
                                </p:cTn>
                              </p:par>
                              <p:par>
                                <p:cTn id="101" presetID="10" presetClass="entr" presetSubtype="0" fill="hold" grpId="0" nodeType="withEffect">
                                  <p:stCondLst>
                                    <p:cond delay="90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400"/>
                                        <p:tgtEl>
                                          <p:spTgt spid="53"/>
                                        </p:tgtEl>
                                      </p:cBhvr>
                                    </p:animEffect>
                                  </p:childTnLst>
                                </p:cTn>
                              </p:par>
                              <p:par>
                                <p:cTn id="104" presetID="10" presetClass="entr" presetSubtype="0" fill="hold" grpId="0" nodeType="withEffect">
                                  <p:stCondLst>
                                    <p:cond delay="900"/>
                                  </p:stCondLst>
                                  <p:childTnLst>
                                    <p:set>
                                      <p:cBhvr>
                                        <p:cTn id="105" dur="1" fill="hold">
                                          <p:stCondLst>
                                            <p:cond delay="0"/>
                                          </p:stCondLst>
                                        </p:cTn>
                                        <p:tgtEl>
                                          <p:spTgt spid="54"/>
                                        </p:tgtEl>
                                        <p:attrNameLst>
                                          <p:attrName>style.visibility</p:attrName>
                                        </p:attrNameLst>
                                      </p:cBhvr>
                                      <p:to>
                                        <p:strVal val="visible"/>
                                      </p:to>
                                    </p:set>
                                    <p:animEffect transition="in" filter="fade">
                                      <p:cBhvr>
                                        <p:cTn id="106" dur="400"/>
                                        <p:tgtEl>
                                          <p:spTgt spid="54"/>
                                        </p:tgtEl>
                                      </p:cBhvr>
                                    </p:animEffect>
                                  </p:childTnLst>
                                </p:cTn>
                              </p:par>
                              <p:par>
                                <p:cTn id="107" presetID="10" presetClass="entr" presetSubtype="0" fill="hold" grpId="0" nodeType="withEffect">
                                  <p:stCondLst>
                                    <p:cond delay="90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400"/>
                                        <p:tgtEl>
                                          <p:spTgt spid="55"/>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56"/>
                                        </p:tgtEl>
                                        <p:attrNameLst>
                                          <p:attrName>style.visibility</p:attrName>
                                        </p:attrNameLst>
                                      </p:cBhvr>
                                      <p:to>
                                        <p:strVal val="visible"/>
                                      </p:to>
                                    </p:set>
                                    <p:animEffect transition="in" filter="fade">
                                      <p:cBhvr>
                                        <p:cTn id="112" dur="400"/>
                                        <p:tgtEl>
                                          <p:spTgt spid="56"/>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400"/>
                                        <p:tgtEl>
                                          <p:spTgt spid="57"/>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58"/>
                                        </p:tgtEl>
                                        <p:attrNameLst>
                                          <p:attrName>style.visibility</p:attrName>
                                        </p:attrNameLst>
                                      </p:cBhvr>
                                      <p:to>
                                        <p:strVal val="visible"/>
                                      </p:to>
                                    </p:set>
                                    <p:animEffect transition="in" filter="fade">
                                      <p:cBhvr>
                                        <p:cTn id="118" dur="400"/>
                                        <p:tgtEl>
                                          <p:spTgt spid="58"/>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59"/>
                                        </p:tgtEl>
                                        <p:attrNameLst>
                                          <p:attrName>style.visibility</p:attrName>
                                        </p:attrNameLst>
                                      </p:cBhvr>
                                      <p:to>
                                        <p:strVal val="visible"/>
                                      </p:to>
                                    </p:set>
                                    <p:animEffect transition="in" filter="fade">
                                      <p:cBhvr>
                                        <p:cTn id="121" dur="400"/>
                                        <p:tgtEl>
                                          <p:spTgt spid="59"/>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60"/>
                                        </p:tgtEl>
                                        <p:attrNameLst>
                                          <p:attrName>style.visibility</p:attrName>
                                        </p:attrNameLst>
                                      </p:cBhvr>
                                      <p:to>
                                        <p:strVal val="visible"/>
                                      </p:to>
                                    </p:set>
                                    <p:animEffect transition="in" filter="fade">
                                      <p:cBhvr>
                                        <p:cTn id="124" dur="400"/>
                                        <p:tgtEl>
                                          <p:spTgt spid="60"/>
                                        </p:tgtEl>
                                      </p:cBhvr>
                                    </p:animEffect>
                                  </p:childTnLst>
                                </p:cTn>
                              </p:par>
                              <p:par>
                                <p:cTn id="125" presetID="10" presetClass="entr" presetSubtype="0" fill="hold" grpId="0" nodeType="withEffect">
                                  <p:stCondLst>
                                    <p:cond delay="900"/>
                                  </p:stCondLst>
                                  <p:childTnLst>
                                    <p:set>
                                      <p:cBhvr>
                                        <p:cTn id="126" dur="1" fill="hold">
                                          <p:stCondLst>
                                            <p:cond delay="0"/>
                                          </p:stCondLst>
                                        </p:cTn>
                                        <p:tgtEl>
                                          <p:spTgt spid="61"/>
                                        </p:tgtEl>
                                        <p:attrNameLst>
                                          <p:attrName>style.visibility</p:attrName>
                                        </p:attrNameLst>
                                      </p:cBhvr>
                                      <p:to>
                                        <p:strVal val="visible"/>
                                      </p:to>
                                    </p:set>
                                    <p:animEffect transition="in" filter="fade">
                                      <p:cBhvr>
                                        <p:cTn id="127" dur="400"/>
                                        <p:tgtEl>
                                          <p:spTgt spid="61"/>
                                        </p:tgtEl>
                                      </p:cBhvr>
                                    </p:animEffect>
                                  </p:childTnLst>
                                </p:cTn>
                              </p:par>
                              <p:par>
                                <p:cTn id="128" presetID="10" presetClass="entr" presetSubtype="0" fill="hold" grpId="0" nodeType="withEffect">
                                  <p:stCondLst>
                                    <p:cond delay="900"/>
                                  </p:stCondLst>
                                  <p:childTnLst>
                                    <p:set>
                                      <p:cBhvr>
                                        <p:cTn id="129" dur="1" fill="hold">
                                          <p:stCondLst>
                                            <p:cond delay="0"/>
                                          </p:stCondLst>
                                        </p:cTn>
                                        <p:tgtEl>
                                          <p:spTgt spid="62"/>
                                        </p:tgtEl>
                                        <p:attrNameLst>
                                          <p:attrName>style.visibility</p:attrName>
                                        </p:attrNameLst>
                                      </p:cBhvr>
                                      <p:to>
                                        <p:strVal val="visible"/>
                                      </p:to>
                                    </p:set>
                                    <p:animEffect transition="in" filter="fade">
                                      <p:cBhvr>
                                        <p:cTn id="130" dur="400"/>
                                        <p:tgtEl>
                                          <p:spTgt spid="62"/>
                                        </p:tgtEl>
                                      </p:cBhvr>
                                    </p:animEffect>
                                  </p:childTnLst>
                                </p:cTn>
                              </p:par>
                              <p:par>
                                <p:cTn id="131" presetID="10" presetClass="entr" presetSubtype="0" fill="hold" grpId="0" nodeType="withEffect">
                                  <p:stCondLst>
                                    <p:cond delay="900"/>
                                  </p:stCondLst>
                                  <p:childTnLst>
                                    <p:set>
                                      <p:cBhvr>
                                        <p:cTn id="132" dur="1" fill="hold">
                                          <p:stCondLst>
                                            <p:cond delay="0"/>
                                          </p:stCondLst>
                                        </p:cTn>
                                        <p:tgtEl>
                                          <p:spTgt spid="63"/>
                                        </p:tgtEl>
                                        <p:attrNameLst>
                                          <p:attrName>style.visibility</p:attrName>
                                        </p:attrNameLst>
                                      </p:cBhvr>
                                      <p:to>
                                        <p:strVal val="visible"/>
                                      </p:to>
                                    </p:set>
                                    <p:animEffect transition="in" filter="fade">
                                      <p:cBhvr>
                                        <p:cTn id="133" dur="400"/>
                                        <p:tgtEl>
                                          <p:spTgt spid="63"/>
                                        </p:tgtEl>
                                      </p:cBhvr>
                                    </p:animEffect>
                                  </p:childTnLst>
                                </p:cTn>
                              </p:par>
                              <p:par>
                                <p:cTn id="134" presetID="10" presetClass="entr" presetSubtype="0" fill="hold" grpId="0" nodeType="withEffect">
                                  <p:stCondLst>
                                    <p:cond delay="900"/>
                                  </p:stCondLst>
                                  <p:childTnLst>
                                    <p:set>
                                      <p:cBhvr>
                                        <p:cTn id="135" dur="1" fill="hold">
                                          <p:stCondLst>
                                            <p:cond delay="0"/>
                                          </p:stCondLst>
                                        </p:cTn>
                                        <p:tgtEl>
                                          <p:spTgt spid="64"/>
                                        </p:tgtEl>
                                        <p:attrNameLst>
                                          <p:attrName>style.visibility</p:attrName>
                                        </p:attrNameLst>
                                      </p:cBhvr>
                                      <p:to>
                                        <p:strVal val="visible"/>
                                      </p:to>
                                    </p:set>
                                    <p:animEffect transition="in" filter="fade">
                                      <p:cBhvr>
                                        <p:cTn id="136" dur="400"/>
                                        <p:tgtEl>
                                          <p:spTgt spid="64"/>
                                        </p:tgtEl>
                                      </p:cBhvr>
                                    </p:animEffect>
                                  </p:childTnLst>
                                </p:cTn>
                              </p:par>
                              <p:par>
                                <p:cTn id="137" presetID="10" presetClass="entr" presetSubtype="0" fill="hold" grpId="0" nodeType="withEffect">
                                  <p:stCondLst>
                                    <p:cond delay="900"/>
                                  </p:stCondLst>
                                  <p:childTnLst>
                                    <p:set>
                                      <p:cBhvr>
                                        <p:cTn id="138" dur="1" fill="hold">
                                          <p:stCondLst>
                                            <p:cond delay="0"/>
                                          </p:stCondLst>
                                        </p:cTn>
                                        <p:tgtEl>
                                          <p:spTgt spid="65"/>
                                        </p:tgtEl>
                                        <p:attrNameLst>
                                          <p:attrName>style.visibility</p:attrName>
                                        </p:attrNameLst>
                                      </p:cBhvr>
                                      <p:to>
                                        <p:strVal val="visible"/>
                                      </p:to>
                                    </p:set>
                                    <p:animEffect transition="in" filter="fade">
                                      <p:cBhvr>
                                        <p:cTn id="139" dur="400"/>
                                        <p:tgtEl>
                                          <p:spTgt spid="65"/>
                                        </p:tgtEl>
                                      </p:cBhvr>
                                    </p:animEffect>
                                  </p:childTnLst>
                                </p:cTn>
                              </p:par>
                              <p:par>
                                <p:cTn id="140" presetID="10" presetClass="entr" presetSubtype="0" fill="hold" grpId="0" nodeType="withEffect">
                                  <p:stCondLst>
                                    <p:cond delay="900"/>
                                  </p:stCondLst>
                                  <p:childTnLst>
                                    <p:set>
                                      <p:cBhvr>
                                        <p:cTn id="141" dur="1" fill="hold">
                                          <p:stCondLst>
                                            <p:cond delay="0"/>
                                          </p:stCondLst>
                                        </p:cTn>
                                        <p:tgtEl>
                                          <p:spTgt spid="66"/>
                                        </p:tgtEl>
                                        <p:attrNameLst>
                                          <p:attrName>style.visibility</p:attrName>
                                        </p:attrNameLst>
                                      </p:cBhvr>
                                      <p:to>
                                        <p:strVal val="visible"/>
                                      </p:to>
                                    </p:set>
                                    <p:animEffect transition="in" filter="fade">
                                      <p:cBhvr>
                                        <p:cTn id="142" dur="400"/>
                                        <p:tgtEl>
                                          <p:spTgt spid="66"/>
                                        </p:tgtEl>
                                      </p:cBhvr>
                                    </p:animEffect>
                                  </p:childTnLst>
                                </p:cTn>
                              </p:par>
                              <p:par>
                                <p:cTn id="143" presetID="10" presetClass="entr" presetSubtype="0" fill="hold" grpId="0" nodeType="withEffect">
                                  <p:stCondLst>
                                    <p:cond delay="900"/>
                                  </p:stCondLst>
                                  <p:childTnLst>
                                    <p:set>
                                      <p:cBhvr>
                                        <p:cTn id="144" dur="1" fill="hold">
                                          <p:stCondLst>
                                            <p:cond delay="0"/>
                                          </p:stCondLst>
                                        </p:cTn>
                                        <p:tgtEl>
                                          <p:spTgt spid="67"/>
                                        </p:tgtEl>
                                        <p:attrNameLst>
                                          <p:attrName>style.visibility</p:attrName>
                                        </p:attrNameLst>
                                      </p:cBhvr>
                                      <p:to>
                                        <p:strVal val="visible"/>
                                      </p:to>
                                    </p:set>
                                    <p:animEffect transition="in" filter="fade">
                                      <p:cBhvr>
                                        <p:cTn id="145"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30</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007DB6"/>
          </a:solidFill>
          <a:ln w="12700">
            <a:solidFill>
              <a:srgbClr val="007DB6"/>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When something is wrong: the escalation ladder</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Content doubts have their own short route. Everything else starts with the On-ground Manager and rises only if unanswered.</a:t>
            </a:r>
            <a:endParaRPr lang="en-US" sz="1250" dirty="0"/>
          </a:p>
        </p:txBody>
      </p:sp>
      <p:sp>
        <p:nvSpPr>
          <p:cNvPr id="21" name="anim:1 grad:skyTint"/>
          <p:cNvSpPr/>
          <p:nvPr/>
        </p:nvSpPr>
        <p:spPr>
          <a:xfrm>
            <a:off x="548640" y="1783080"/>
            <a:ext cx="3246120" cy="4526280"/>
          </a:xfrm>
          <a:prstGeom prst="roundRect">
            <a:avLst>
              <a:gd name="adj" fmla="val 2817"/>
            </a:avLst>
          </a:prstGeom>
          <a:gradFill rotWithShape="1">
            <a:gsLst>
              <a:gs pos="0">
                <a:srgbClr val="EEF7FC"/>
              </a:gs>
              <a:gs pos="100000">
                <a:srgbClr val="D8EBF6"/>
              </a:gs>
            </a:gsLst>
            <a:lin ang="5400000" scaled="0"/>
          </a:gradFill>
          <a:ln w="12700">
            <a:solidFill>
              <a:srgbClr val="E3F2FA"/>
            </a:solidFill>
            <a:prstDash val="solid"/>
          </a:ln>
          <a:effectLst>
            <a:outerShdw sx="100000" sy="100000" kx="0" ky="0" algn="bl" rotWithShape="0" blurRad="76200" dist="19050" dir="5400000">
              <a:srgbClr val="0A1E33">
                <a:alpha val="10000"/>
              </a:srgbClr>
            </a:outerShdw>
          </a:effectLst>
        </p:spPr>
        <p:txBody>
          <a:bodyPr/>
          <a:p/>
        </p:txBody>
      </p:sp>
      <p:sp>
        <p:nvSpPr>
          <p:cNvPr id="22" name="anim:1"/>
          <p:cNvSpPr txBox="1"/>
          <p:nvPr/>
        </p:nvSpPr>
        <p:spPr>
          <a:xfrm>
            <a:off x="777240" y="1965960"/>
            <a:ext cx="2834640" cy="201168"/>
          </a:xfrm>
          <a:prstGeom prst="rect">
            <a:avLst/>
          </a:prstGeom>
          <a:noFill/>
          <a:ln/>
        </p:spPr>
        <p:txBody>
          <a:bodyPr wrap="square" lIns="0" tIns="0" rIns="0" bIns="0" rtlCol="0" anchor="t"/>
          <a:lstStyle/>
          <a:p>
            <a:pPr algn="l" indent="0" marL="0">
              <a:buNone/>
            </a:pPr>
            <a:r>
              <a:rPr lang="en-US" sz="800" b="1" spc="200" kern="0" dirty="0">
                <a:solidFill>
                  <a:srgbClr val="007DB6"/>
                </a:solidFill>
                <a:latin typeface="Calibri" pitchFamily="34" charset="0"/>
                <a:ea typeface="Calibri" pitchFamily="34" charset="-122"/>
                <a:cs typeface="Calibri" pitchFamily="34" charset="-120"/>
              </a:rPr>
              <a:t>ACADEMIC DOUBTS</a:t>
            </a:r>
            <a:endParaRPr lang="en-US" sz="800" dirty="0"/>
          </a:p>
        </p:txBody>
      </p:sp>
      <p:sp>
        <p:nvSpPr>
          <p:cNvPr id="23" name="anim:1 grad:blue"/>
          <p:cNvSpPr/>
          <p:nvPr/>
        </p:nvSpPr>
        <p:spPr>
          <a:xfrm>
            <a:off x="777240" y="2331720"/>
            <a:ext cx="502920" cy="50292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24" name="anim:1" descr="preencoded.png">    </p:cNvPr>
          <p:cNvPicPr>
            <a:picLocks noChangeAspect="1"/>
          </p:cNvPicPr>
          <p:nvPr/>
        </p:nvPicPr>
        <p:blipFill>
          <a:blip r:embed="rId3"/>
          <a:stretch>
            <a:fillRect/>
          </a:stretch>
        </p:blipFill>
        <p:spPr>
          <a:xfrm>
            <a:off x="897941" y="2452421"/>
            <a:ext cx="261518" cy="261518"/>
          </a:xfrm>
          <a:prstGeom prst="rect">
            <a:avLst/>
          </a:prstGeom>
        </p:spPr>
      </p:pic>
      <p:sp>
        <p:nvSpPr>
          <p:cNvPr id="25" name="anim:1"/>
          <p:cNvSpPr txBox="1"/>
          <p:nvPr/>
        </p:nvSpPr>
        <p:spPr>
          <a:xfrm>
            <a:off x="1417320" y="2313432"/>
            <a:ext cx="2240280" cy="502920"/>
          </a:xfrm>
          <a:prstGeom prst="rect">
            <a:avLst/>
          </a:prstGeom>
          <a:noFill/>
          <a:ln/>
        </p:spPr>
        <p:txBody>
          <a:bodyPr wrap="square" lIns="0" tIns="0" rIns="0" bIns="0" rtlCol="0" anchor="t"/>
          <a:lstStyle/>
          <a:p>
            <a:pPr algn="l" indent="0" marL="0">
              <a:buNone/>
            </a:pPr>
            <a:r>
              <a:rPr lang="en-US" sz="1250" b="1" dirty="0">
                <a:solidFill>
                  <a:srgbClr val="0A1E33"/>
                </a:solidFill>
                <a:latin typeface="Calibri" pitchFamily="34" charset="0"/>
                <a:ea typeface="Calibri" pitchFamily="34" charset="-122"/>
                <a:cs typeface="Calibri" pitchFamily="34" charset="-120"/>
              </a:rPr>
              <a:t>The Academic TA</a:t>
            </a:r>
            <a:endParaRPr lang="en-US" sz="1250" dirty="0"/>
          </a:p>
        </p:txBody>
      </p:sp>
      <p:sp>
        <p:nvSpPr>
          <p:cNvPr id="26" name="anim:1"/>
          <p:cNvSpPr txBox="1"/>
          <p:nvPr/>
        </p:nvSpPr>
        <p:spPr>
          <a:xfrm>
            <a:off x="1417320" y="2880360"/>
            <a:ext cx="2240280" cy="73152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In the room and on GitHub Discussions.</a:t>
            </a:r>
            <a:endParaRPr lang="en-US" sz="950" dirty="0"/>
          </a:p>
        </p:txBody>
      </p:sp>
      <p:sp>
        <p:nvSpPr>
          <p:cNvPr id="27" name="anim:1 grad:blue"/>
          <p:cNvSpPr/>
          <p:nvPr/>
        </p:nvSpPr>
        <p:spPr>
          <a:xfrm>
            <a:off x="777240" y="3840480"/>
            <a:ext cx="502920" cy="502920"/>
          </a:xfrm>
          <a:prstGeom prst="ellipse">
            <a:avLst/>
          </a:prstGeom>
          <a:gradFill rotWithShape="1">
            <a:gsLst>
              <a:gs pos="0">
                <a:srgbClr val="2FA8E0"/>
              </a:gs>
              <a:gs pos="100000">
                <a:srgbClr val="007DB6"/>
              </a:gs>
            </a:gsLst>
            <a:lin ang="5400000" scaled="0"/>
          </a:gradFill>
          <a:ln w="9525">
            <a:solidFill>
              <a:srgbClr val="007DB6"/>
            </a:solidFill>
            <a:prstDash val="solid"/>
          </a:ln>
        </p:spPr>
        <p:txBody>
          <a:bodyPr/>
          <a:p/>
        </p:txBody>
      </p:sp>
      <p:pic>
        <p:nvPicPr>
          <p:cNvPr id="28" name="anim:1" descr="preencoded.png">    </p:cNvPr>
          <p:cNvPicPr>
            <a:picLocks noChangeAspect="1"/>
          </p:cNvPicPr>
          <p:nvPr/>
        </p:nvPicPr>
        <p:blipFill>
          <a:blip r:embed="rId4"/>
          <a:stretch>
            <a:fillRect/>
          </a:stretch>
        </p:blipFill>
        <p:spPr>
          <a:xfrm>
            <a:off x="897941" y="3961181"/>
            <a:ext cx="261518" cy="261518"/>
          </a:xfrm>
          <a:prstGeom prst="rect">
            <a:avLst/>
          </a:prstGeom>
        </p:spPr>
      </p:pic>
      <p:sp>
        <p:nvSpPr>
          <p:cNvPr id="29" name="anim:1"/>
          <p:cNvSpPr txBox="1"/>
          <p:nvPr/>
        </p:nvSpPr>
        <p:spPr>
          <a:xfrm>
            <a:off x="1417320" y="3822192"/>
            <a:ext cx="2240280" cy="502920"/>
          </a:xfrm>
          <a:prstGeom prst="rect">
            <a:avLst/>
          </a:prstGeom>
          <a:noFill/>
          <a:ln/>
        </p:spPr>
        <p:txBody>
          <a:bodyPr wrap="square" lIns="0" tIns="0" rIns="0" bIns="0" rtlCol="0" anchor="t"/>
          <a:lstStyle/>
          <a:p>
            <a:pPr algn="l" indent="0" marL="0">
              <a:buNone/>
            </a:pPr>
            <a:r>
              <a:rPr lang="en-US" sz="1250" b="1" dirty="0">
                <a:solidFill>
                  <a:srgbClr val="0A1E33"/>
                </a:solidFill>
                <a:latin typeface="Calibri" pitchFamily="34" charset="0"/>
                <a:ea typeface="Calibri" pitchFamily="34" charset="-122"/>
                <a:cs typeface="Calibri" pitchFamily="34" charset="-120"/>
              </a:rPr>
              <a:t>The Programme Head, Academics</a:t>
            </a:r>
            <a:endParaRPr lang="en-US" sz="1250" dirty="0"/>
          </a:p>
        </p:txBody>
      </p:sp>
      <p:sp>
        <p:nvSpPr>
          <p:cNvPr id="30" name="anim:1"/>
          <p:cNvSpPr txBox="1"/>
          <p:nvPr/>
        </p:nvSpPr>
        <p:spPr>
          <a:xfrm>
            <a:off x="1417320" y="4389120"/>
            <a:ext cx="2240280" cy="73152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For anything the TA cannot settle.</a:t>
            </a:r>
            <a:endParaRPr lang="en-US" sz="950" dirty="0"/>
          </a:p>
        </p:txBody>
      </p:sp>
      <p:sp>
        <p:nvSpPr>
          <p:cNvPr id="31" name="anim:1"/>
          <p:cNvSpPr txBox="1"/>
          <p:nvPr/>
        </p:nvSpPr>
        <p:spPr>
          <a:xfrm>
            <a:off x="777240" y="5440680"/>
            <a:ext cx="2834640" cy="731520"/>
          </a:xfrm>
          <a:prstGeom prst="rect">
            <a:avLst/>
          </a:prstGeom>
          <a:noFill/>
          <a:ln/>
        </p:spPr>
        <p:txBody>
          <a:bodyPr wrap="square" lIns="0" tIns="0" rIns="0" bIns="0" rtlCol="0" anchor="t"/>
          <a:lstStyle/>
          <a:p>
            <a:pPr algn="l" indent="0" marL="0">
              <a:buNone/>
            </a:pPr>
            <a:r>
              <a:rPr lang="en-US" sz="950" dirty="0">
                <a:solidFill>
                  <a:srgbClr val="5F7183"/>
                </a:solidFill>
                <a:latin typeface="Calibri" pitchFamily="34" charset="0"/>
                <a:ea typeface="Calibri" pitchFamily="34" charset="-122"/>
                <a:cs typeface="Calibri" pitchFamily="34" charset="-120"/>
              </a:rPr>
              <a:t>Between sessions, GitHub Discussions is the place to ask, so the whole cohort sees the answer.</a:t>
            </a:r>
            <a:endParaRPr lang="en-US" sz="950" dirty="0"/>
          </a:p>
        </p:txBody>
      </p:sp>
      <p:sp>
        <p:nvSpPr>
          <p:cNvPr id="32" name="anim:2 grad:card"/>
          <p:cNvSpPr/>
          <p:nvPr/>
        </p:nvSpPr>
        <p:spPr>
          <a:xfrm>
            <a:off x="4069080" y="1783080"/>
            <a:ext cx="7571232" cy="950976"/>
          </a:xfrm>
          <a:prstGeom prst="roundRect">
            <a:avLst>
              <a:gd name="adj" fmla="val 9615"/>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3" name="anim:2"/>
          <p:cNvSpPr/>
          <p:nvPr/>
        </p:nvSpPr>
        <p:spPr>
          <a:xfrm>
            <a:off x="4297680" y="2057400"/>
            <a:ext cx="402336" cy="402336"/>
          </a:xfrm>
          <a:prstGeom prst="ellipse">
            <a:avLst/>
          </a:prstGeom>
          <a:solidFill>
            <a:srgbClr val="E3F2FA"/>
          </a:solidFill>
          <a:ln w="12700">
            <a:solidFill>
              <a:srgbClr val="E3F2FA"/>
            </a:solidFill>
            <a:prstDash val="solid"/>
          </a:ln>
        </p:spPr>
        <p:txBody>
          <a:bodyPr/>
          <a:p/>
        </p:txBody>
      </p:sp>
      <p:sp>
        <p:nvSpPr>
          <p:cNvPr id="34" name="anim:2"/>
          <p:cNvSpPr txBox="1"/>
          <p:nvPr/>
        </p:nvSpPr>
        <p:spPr>
          <a:xfrm>
            <a:off x="4297680" y="2057400"/>
            <a:ext cx="402336" cy="402336"/>
          </a:xfrm>
          <a:prstGeom prst="rect">
            <a:avLst/>
          </a:prstGeom>
          <a:noFill/>
          <a:ln/>
        </p:spPr>
        <p:txBody>
          <a:bodyPr wrap="square" lIns="0" tIns="0" rIns="0" bIns="0" rtlCol="0" anchor="ctr"/>
          <a:lstStyle/>
          <a:p>
            <a:pPr algn="ctr" indent="0" marL="0">
              <a:buNone/>
            </a:pPr>
            <a:r>
              <a:rPr lang="en-US" sz="1400" b="1" dirty="0">
                <a:solidFill>
                  <a:srgbClr val="007DB6"/>
                </a:solidFill>
                <a:latin typeface="Calibri" pitchFamily="34" charset="0"/>
                <a:ea typeface="Calibri" pitchFamily="34" charset="-122"/>
                <a:cs typeface="Calibri" pitchFamily="34" charset="-120"/>
              </a:rPr>
              <a:t>1</a:t>
            </a:r>
            <a:endParaRPr lang="en-US" sz="1400" dirty="0"/>
          </a:p>
        </p:txBody>
      </p:sp>
      <p:sp>
        <p:nvSpPr>
          <p:cNvPr id="35" name="anim:2"/>
          <p:cNvSpPr txBox="1"/>
          <p:nvPr/>
        </p:nvSpPr>
        <p:spPr>
          <a:xfrm>
            <a:off x="4892040" y="1911096"/>
            <a:ext cx="1097280" cy="201168"/>
          </a:xfrm>
          <a:prstGeom prst="rect">
            <a:avLst/>
          </a:prstGeom>
          <a:noFill/>
          <a:ln/>
        </p:spPr>
        <p:txBody>
          <a:bodyPr wrap="square" lIns="0" tIns="0" rIns="0" bIns="0" rtlCol="0" anchor="t"/>
          <a:lstStyle/>
          <a:p>
            <a:pPr algn="l" indent="0" marL="0">
              <a:buNone/>
            </a:pPr>
            <a:r>
              <a:rPr lang="en-US" sz="800" b="1" spc="200" kern="0" dirty="0">
                <a:solidFill>
                  <a:srgbClr val="007DB6"/>
                </a:solidFill>
                <a:latin typeface="Calibri" pitchFamily="34" charset="0"/>
                <a:ea typeface="Calibri" pitchFamily="34" charset="-122"/>
                <a:cs typeface="Calibri" pitchFamily="34" charset="-120"/>
              </a:rPr>
              <a:t>LEVEL 1</a:t>
            </a:r>
            <a:endParaRPr lang="en-US" sz="800" dirty="0"/>
          </a:p>
        </p:txBody>
      </p:sp>
      <p:sp>
        <p:nvSpPr>
          <p:cNvPr id="36" name="anim:2"/>
          <p:cNvSpPr txBox="1"/>
          <p:nvPr/>
        </p:nvSpPr>
        <p:spPr>
          <a:xfrm>
            <a:off x="4892040" y="2112264"/>
            <a:ext cx="6519672" cy="292608"/>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Raise it with the On-ground Manager</a:t>
            </a:r>
            <a:endParaRPr lang="en-US" sz="1300" dirty="0"/>
          </a:p>
        </p:txBody>
      </p:sp>
      <p:sp>
        <p:nvSpPr>
          <p:cNvPr id="37" name="anim:2"/>
          <p:cNvSpPr txBox="1"/>
          <p:nvPr/>
        </p:nvSpPr>
        <p:spPr>
          <a:xfrm>
            <a:off x="4892040" y="2404872"/>
            <a:ext cx="6519672" cy="36576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The On-ground Manager routes institute matters to the CDF contact, operations to the Programme Head for operations, training and trainer matters to the Programme Head for academics, and comes back to you.</a:t>
            </a:r>
            <a:endParaRPr lang="en-US" sz="950" dirty="0"/>
          </a:p>
        </p:txBody>
      </p:sp>
      <p:sp>
        <p:nvSpPr>
          <p:cNvPr id="38" name="anim:2 grad:card"/>
          <p:cNvSpPr/>
          <p:nvPr/>
        </p:nvSpPr>
        <p:spPr>
          <a:xfrm>
            <a:off x="4572000" y="2843784"/>
            <a:ext cx="7068312" cy="950976"/>
          </a:xfrm>
          <a:prstGeom prst="roundRect">
            <a:avLst>
              <a:gd name="adj" fmla="val 9615"/>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9" name="anim:2"/>
          <p:cNvSpPr/>
          <p:nvPr/>
        </p:nvSpPr>
        <p:spPr>
          <a:xfrm>
            <a:off x="4800600" y="3118104"/>
            <a:ext cx="402336" cy="402336"/>
          </a:xfrm>
          <a:prstGeom prst="ellipse">
            <a:avLst/>
          </a:prstGeom>
          <a:solidFill>
            <a:srgbClr val="E3F2FA"/>
          </a:solidFill>
          <a:ln w="12700">
            <a:solidFill>
              <a:srgbClr val="E3F2FA"/>
            </a:solidFill>
            <a:prstDash val="solid"/>
          </a:ln>
        </p:spPr>
        <p:txBody>
          <a:bodyPr/>
          <a:p/>
        </p:txBody>
      </p:sp>
      <p:sp>
        <p:nvSpPr>
          <p:cNvPr id="40" name="anim:2"/>
          <p:cNvSpPr txBox="1"/>
          <p:nvPr/>
        </p:nvSpPr>
        <p:spPr>
          <a:xfrm>
            <a:off x="4800600" y="3118104"/>
            <a:ext cx="402336" cy="402336"/>
          </a:xfrm>
          <a:prstGeom prst="rect">
            <a:avLst/>
          </a:prstGeom>
          <a:noFill/>
          <a:ln/>
        </p:spPr>
        <p:txBody>
          <a:bodyPr wrap="square" lIns="0" tIns="0" rIns="0" bIns="0" rtlCol="0" anchor="ctr"/>
          <a:lstStyle/>
          <a:p>
            <a:pPr algn="ctr" indent="0" marL="0">
              <a:buNone/>
            </a:pPr>
            <a:r>
              <a:rPr lang="en-US" sz="1400" b="1" dirty="0">
                <a:solidFill>
                  <a:srgbClr val="007DB6"/>
                </a:solidFill>
                <a:latin typeface="Calibri" pitchFamily="34" charset="0"/>
                <a:ea typeface="Calibri" pitchFamily="34" charset="-122"/>
                <a:cs typeface="Calibri" pitchFamily="34" charset="-120"/>
              </a:rPr>
              <a:t>2</a:t>
            </a:r>
            <a:endParaRPr lang="en-US" sz="1400" dirty="0"/>
          </a:p>
        </p:txBody>
      </p:sp>
      <p:sp>
        <p:nvSpPr>
          <p:cNvPr id="41" name="anim:2"/>
          <p:cNvSpPr txBox="1"/>
          <p:nvPr/>
        </p:nvSpPr>
        <p:spPr>
          <a:xfrm>
            <a:off x="5394960" y="2971800"/>
            <a:ext cx="1097280" cy="201168"/>
          </a:xfrm>
          <a:prstGeom prst="rect">
            <a:avLst/>
          </a:prstGeom>
          <a:noFill/>
          <a:ln/>
        </p:spPr>
        <p:txBody>
          <a:bodyPr wrap="square" lIns="0" tIns="0" rIns="0" bIns="0" rtlCol="0" anchor="t"/>
          <a:lstStyle/>
          <a:p>
            <a:pPr algn="l" indent="0" marL="0">
              <a:buNone/>
            </a:pPr>
            <a:r>
              <a:rPr lang="en-US" sz="800" b="1" spc="200" kern="0" dirty="0">
                <a:solidFill>
                  <a:srgbClr val="007DB6"/>
                </a:solidFill>
                <a:latin typeface="Calibri" pitchFamily="34" charset="0"/>
                <a:ea typeface="Calibri" pitchFamily="34" charset="-122"/>
                <a:cs typeface="Calibri" pitchFamily="34" charset="-120"/>
              </a:rPr>
              <a:t>LEVEL 2</a:t>
            </a:r>
            <a:endParaRPr lang="en-US" sz="800" dirty="0"/>
          </a:p>
        </p:txBody>
      </p:sp>
      <p:sp>
        <p:nvSpPr>
          <p:cNvPr id="42" name="anim:2"/>
          <p:cNvSpPr txBox="1"/>
          <p:nvPr/>
        </p:nvSpPr>
        <p:spPr>
          <a:xfrm>
            <a:off x="5394960" y="3172968"/>
            <a:ext cx="6016752" cy="292608"/>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No response within two working days?</a:t>
            </a:r>
            <a:endParaRPr lang="en-US" sz="1300" dirty="0"/>
          </a:p>
        </p:txBody>
      </p:sp>
      <p:sp>
        <p:nvSpPr>
          <p:cNvPr id="43" name="anim:2"/>
          <p:cNvSpPr txBox="1"/>
          <p:nvPr/>
        </p:nvSpPr>
        <p:spPr>
          <a:xfrm>
            <a:off x="5394960" y="3465576"/>
            <a:ext cx="6016752" cy="36576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Write directly to the CDF contact, the Programme Head for operations or the Programme Head for academics, whichever the matter belongs to.</a:t>
            </a:r>
            <a:endParaRPr lang="en-US" sz="950" dirty="0"/>
          </a:p>
        </p:txBody>
      </p:sp>
      <p:sp>
        <p:nvSpPr>
          <p:cNvPr id="44" name="anim:3 grad:card"/>
          <p:cNvSpPr/>
          <p:nvPr/>
        </p:nvSpPr>
        <p:spPr>
          <a:xfrm>
            <a:off x="5074920" y="3904488"/>
            <a:ext cx="6565392" cy="950976"/>
          </a:xfrm>
          <a:prstGeom prst="roundRect">
            <a:avLst>
              <a:gd name="adj" fmla="val 9615"/>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5" name="anim:3"/>
          <p:cNvSpPr/>
          <p:nvPr/>
        </p:nvSpPr>
        <p:spPr>
          <a:xfrm>
            <a:off x="5303520" y="4178808"/>
            <a:ext cx="402336" cy="402336"/>
          </a:xfrm>
          <a:prstGeom prst="ellipse">
            <a:avLst/>
          </a:prstGeom>
          <a:solidFill>
            <a:srgbClr val="E3F2FA"/>
          </a:solidFill>
          <a:ln w="12700">
            <a:solidFill>
              <a:srgbClr val="E3F2FA"/>
            </a:solidFill>
            <a:prstDash val="solid"/>
          </a:ln>
        </p:spPr>
        <p:txBody>
          <a:bodyPr/>
          <a:p/>
        </p:txBody>
      </p:sp>
      <p:sp>
        <p:nvSpPr>
          <p:cNvPr id="46" name="anim:3"/>
          <p:cNvSpPr txBox="1"/>
          <p:nvPr/>
        </p:nvSpPr>
        <p:spPr>
          <a:xfrm>
            <a:off x="5303520" y="4178808"/>
            <a:ext cx="402336" cy="402336"/>
          </a:xfrm>
          <a:prstGeom prst="rect">
            <a:avLst/>
          </a:prstGeom>
          <a:noFill/>
          <a:ln/>
        </p:spPr>
        <p:txBody>
          <a:bodyPr wrap="square" lIns="0" tIns="0" rIns="0" bIns="0" rtlCol="0" anchor="ctr"/>
          <a:lstStyle/>
          <a:p>
            <a:pPr algn="ctr" indent="0" marL="0">
              <a:buNone/>
            </a:pPr>
            <a:r>
              <a:rPr lang="en-US" sz="1400" b="1" dirty="0">
                <a:solidFill>
                  <a:srgbClr val="007DB6"/>
                </a:solidFill>
                <a:latin typeface="Calibri" pitchFamily="34" charset="0"/>
                <a:ea typeface="Calibri" pitchFamily="34" charset="-122"/>
                <a:cs typeface="Calibri" pitchFamily="34" charset="-120"/>
              </a:rPr>
              <a:t>3</a:t>
            </a:r>
            <a:endParaRPr lang="en-US" sz="1400" dirty="0"/>
          </a:p>
        </p:txBody>
      </p:sp>
      <p:sp>
        <p:nvSpPr>
          <p:cNvPr id="47" name="anim:3"/>
          <p:cNvSpPr txBox="1"/>
          <p:nvPr/>
        </p:nvSpPr>
        <p:spPr>
          <a:xfrm>
            <a:off x="5897880" y="4032504"/>
            <a:ext cx="1097280" cy="201168"/>
          </a:xfrm>
          <a:prstGeom prst="rect">
            <a:avLst/>
          </a:prstGeom>
          <a:noFill/>
          <a:ln/>
        </p:spPr>
        <p:txBody>
          <a:bodyPr wrap="square" lIns="0" tIns="0" rIns="0" bIns="0" rtlCol="0" anchor="t"/>
          <a:lstStyle/>
          <a:p>
            <a:pPr algn="l" indent="0" marL="0">
              <a:buNone/>
            </a:pPr>
            <a:r>
              <a:rPr lang="en-US" sz="800" b="1" spc="200" kern="0" dirty="0">
                <a:solidFill>
                  <a:srgbClr val="007DB6"/>
                </a:solidFill>
                <a:latin typeface="Calibri" pitchFamily="34" charset="0"/>
                <a:ea typeface="Calibri" pitchFamily="34" charset="-122"/>
                <a:cs typeface="Calibri" pitchFamily="34" charset="-120"/>
              </a:rPr>
              <a:t>LEVEL 3</a:t>
            </a:r>
            <a:endParaRPr lang="en-US" sz="800" dirty="0"/>
          </a:p>
        </p:txBody>
      </p:sp>
      <p:sp>
        <p:nvSpPr>
          <p:cNvPr id="48" name="anim:3"/>
          <p:cNvSpPr txBox="1"/>
          <p:nvPr/>
        </p:nvSpPr>
        <p:spPr>
          <a:xfrm>
            <a:off x="5897880" y="4233672"/>
            <a:ext cx="5513832" cy="292608"/>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Still unresolved?</a:t>
            </a:r>
            <a:endParaRPr lang="en-US" sz="1300" dirty="0"/>
          </a:p>
        </p:txBody>
      </p:sp>
      <p:sp>
        <p:nvSpPr>
          <p:cNvPr id="49" name="anim:3"/>
          <p:cNvSpPr txBox="1"/>
          <p:nvPr/>
        </p:nvSpPr>
        <p:spPr>
          <a:xfrm>
            <a:off x="5897880" y="4526280"/>
            <a:ext cx="5513832" cy="36576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A written mail to the IITGN CDF (CAA) programme delivery email ID.</a:t>
            </a:r>
            <a:endParaRPr lang="en-US" sz="950" dirty="0"/>
          </a:p>
        </p:txBody>
      </p:sp>
      <p:sp>
        <p:nvSpPr>
          <p:cNvPr id="50" name="anim:3 grad:navy"/>
          <p:cNvSpPr/>
          <p:nvPr/>
        </p:nvSpPr>
        <p:spPr>
          <a:xfrm>
            <a:off x="5577840" y="4965192"/>
            <a:ext cx="6062472" cy="950976"/>
          </a:xfrm>
          <a:prstGeom prst="roundRect">
            <a:avLst>
              <a:gd name="adj" fmla="val 9615"/>
            </a:avLst>
          </a:prstGeom>
          <a:gradFill rotWithShape="1">
            <a:gsLst>
              <a:gs pos="0">
                <a:srgbClr val="1B4170"/>
              </a:gs>
              <a:gs pos="100000">
                <a:srgbClr val="0A1E33"/>
              </a:gs>
            </a:gsLst>
            <a:lin ang="5400000" scaled="0"/>
          </a:gradFill>
          <a:ln w="9525">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51" name="anim:3 grad:sheen"/>
          <p:cNvSpPr/>
          <p:nvPr/>
        </p:nvSpPr>
        <p:spPr>
          <a:xfrm>
            <a:off x="5577840" y="4965192"/>
            <a:ext cx="6062472" cy="950976"/>
          </a:xfrm>
          <a:prstGeom prst="roundRect">
            <a:avLst>
              <a:gd name="adj" fmla="val 9615"/>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52" name="anim:3 grad:gold"/>
          <p:cNvSpPr/>
          <p:nvPr/>
        </p:nvSpPr>
        <p:spPr>
          <a:xfrm>
            <a:off x="5806440" y="5239512"/>
            <a:ext cx="402336" cy="402336"/>
          </a:xfrm>
          <a:prstGeom prst="ellipse">
            <a:avLst/>
          </a:prstGeom>
          <a:gradFill rotWithShape="1">
            <a:gsLst>
              <a:gs pos="0">
                <a:srgbClr val="F3C84A"/>
              </a:gs>
              <a:gs pos="100000">
                <a:srgbClr val="D9A21A"/>
              </a:gs>
            </a:gsLst>
            <a:lin ang="5400000" scaled="0"/>
          </a:gradFill>
          <a:ln w="12700">
            <a:solidFill>
              <a:srgbClr val="E9B221"/>
            </a:solidFill>
            <a:prstDash val="solid"/>
          </a:ln>
        </p:spPr>
        <p:txBody>
          <a:bodyPr/>
          <a:p/>
        </p:txBody>
      </p:sp>
      <p:sp>
        <p:nvSpPr>
          <p:cNvPr id="53" name="anim:3"/>
          <p:cNvSpPr txBox="1"/>
          <p:nvPr/>
        </p:nvSpPr>
        <p:spPr>
          <a:xfrm>
            <a:off x="5806440" y="5239512"/>
            <a:ext cx="402336" cy="402336"/>
          </a:xfrm>
          <a:prstGeom prst="rect">
            <a:avLst/>
          </a:prstGeom>
          <a:noFill/>
          <a:ln/>
        </p:spPr>
        <p:txBody>
          <a:bodyPr wrap="square" lIns="0" tIns="0" rIns="0" bIns="0" rtlCol="0" anchor="ctr"/>
          <a:lstStyle/>
          <a:p>
            <a:pPr algn="ctr" indent="0" marL="0">
              <a:buNone/>
            </a:pPr>
            <a:r>
              <a:rPr lang="en-US" sz="1400" b="1" dirty="0">
                <a:solidFill>
                  <a:srgbClr val="0A1E33"/>
                </a:solidFill>
                <a:latin typeface="Calibri" pitchFamily="34" charset="0"/>
                <a:ea typeface="Calibri" pitchFamily="34" charset="-122"/>
                <a:cs typeface="Calibri" pitchFamily="34" charset="-120"/>
              </a:rPr>
              <a:t>4</a:t>
            </a:r>
            <a:endParaRPr lang="en-US" sz="1400" dirty="0"/>
          </a:p>
        </p:txBody>
      </p:sp>
      <p:sp>
        <p:nvSpPr>
          <p:cNvPr id="54" name="anim:3"/>
          <p:cNvSpPr txBox="1"/>
          <p:nvPr/>
        </p:nvSpPr>
        <p:spPr>
          <a:xfrm>
            <a:off x="6400800" y="5093208"/>
            <a:ext cx="1097280" cy="201168"/>
          </a:xfrm>
          <a:prstGeom prst="rect">
            <a:avLst/>
          </a:prstGeom>
          <a:noFill/>
          <a:ln/>
        </p:spPr>
        <p:txBody>
          <a:bodyPr wrap="square" lIns="0" tIns="0" rIns="0" bIns="0" rtlCol="0" anchor="t"/>
          <a:lstStyle/>
          <a:p>
            <a:pPr algn="l" indent="0" marL="0">
              <a:buNone/>
            </a:pPr>
            <a:r>
              <a:rPr lang="en-US" sz="800" b="1" spc="200" kern="0" dirty="0">
                <a:solidFill>
                  <a:srgbClr val="E9B221"/>
                </a:solidFill>
                <a:latin typeface="Calibri" pitchFamily="34" charset="0"/>
                <a:ea typeface="Calibri" pitchFamily="34" charset="-122"/>
                <a:cs typeface="Calibri" pitchFamily="34" charset="-120"/>
              </a:rPr>
              <a:t>LEVEL 4</a:t>
            </a:r>
            <a:endParaRPr lang="en-US" sz="800" dirty="0"/>
          </a:p>
        </p:txBody>
      </p:sp>
      <p:sp>
        <p:nvSpPr>
          <p:cNvPr id="55" name="anim:3"/>
          <p:cNvSpPr txBox="1"/>
          <p:nvPr/>
        </p:nvSpPr>
        <p:spPr>
          <a:xfrm>
            <a:off x="6400800" y="5294376"/>
            <a:ext cx="5010912" cy="292608"/>
          </a:xfrm>
          <a:prstGeom prst="rect">
            <a:avLst/>
          </a:prstGeom>
          <a:noFill/>
          <a:ln/>
        </p:spPr>
        <p:txBody>
          <a:bodyPr wrap="square" lIns="0" tIns="0" rIns="0" bIns="0" rtlCol="0" anchor="t"/>
          <a:lstStyle/>
          <a:p>
            <a:pPr algn="l" indent="0" marL="0">
              <a:buNone/>
            </a:pPr>
            <a:r>
              <a:rPr lang="en-US" sz="1300" b="1" dirty="0">
                <a:solidFill>
                  <a:srgbClr val="FFFFFF"/>
                </a:solidFill>
                <a:latin typeface="Calibri" pitchFamily="34" charset="0"/>
                <a:ea typeface="Calibri" pitchFamily="34" charset="-122"/>
                <a:cs typeface="Calibri" pitchFamily="34" charset="-120"/>
              </a:rPr>
              <a:t>Final escalation</a:t>
            </a:r>
            <a:endParaRPr lang="en-US" sz="1300" dirty="0"/>
          </a:p>
        </p:txBody>
      </p:sp>
      <p:sp>
        <p:nvSpPr>
          <p:cNvPr id="56" name="anim:3"/>
          <p:cNvSpPr txBox="1"/>
          <p:nvPr/>
        </p:nvSpPr>
        <p:spPr>
          <a:xfrm>
            <a:off x="6400800" y="5586984"/>
            <a:ext cx="5010912" cy="365760"/>
          </a:xfrm>
          <a:prstGeom prst="rect">
            <a:avLst/>
          </a:prstGeom>
          <a:noFill/>
          <a:ln/>
        </p:spPr>
        <p:txBody>
          <a:bodyPr wrap="square" lIns="0" tIns="0" rIns="0" bIns="0" rtlCol="0" anchor="t"/>
          <a:lstStyle/>
          <a:p>
            <a:pPr algn="l" indent="0" marL="0">
              <a:buNone/>
            </a:pPr>
            <a:r>
              <a:rPr lang="en-US" sz="950" dirty="0">
                <a:solidFill>
                  <a:srgbClr val="C9D6E4"/>
                </a:solidFill>
                <a:latin typeface="Calibri" pitchFamily="34" charset="0"/>
                <a:ea typeface="Calibri" pitchFamily="34" charset="-122"/>
                <a:cs typeface="Calibri" pitchFamily="34" charset="-120"/>
              </a:rPr>
              <a:t>A mail to the CDF contact.</a:t>
            </a:r>
            <a:endParaRPr lang="en-US" sz="950" dirty="0"/>
          </a:p>
        </p:txBody>
      </p:sp>
      <p:sp>
        <p:nvSpPr>
          <p:cNvPr id="57" name="anim:3"/>
          <p:cNvSpPr txBox="1"/>
          <p:nvPr/>
        </p:nvSpPr>
        <p:spPr>
          <a:xfrm>
            <a:off x="4069080" y="6080760"/>
            <a:ext cx="7571232" cy="274320"/>
          </a:xfrm>
          <a:prstGeom prst="rect">
            <a:avLst/>
          </a:prstGeom>
          <a:noFill/>
          <a:ln/>
        </p:spPr>
        <p:txBody>
          <a:bodyPr wrap="square" lIns="0" tIns="0" rIns="0" bIns="0" rtlCol="0" anchor="t"/>
          <a:lstStyle/>
          <a:p>
            <a:pPr algn="l" indent="0" marL="0">
              <a:buNone/>
            </a:pPr>
            <a:r>
              <a:rPr lang="en-US" sz="950" dirty="0">
                <a:solidFill>
                  <a:srgbClr val="5F7183"/>
                </a:solidFill>
                <a:latin typeface="Calibri" pitchFamily="34" charset="0"/>
                <a:ea typeface="Calibri" pitchFamily="34" charset="-122"/>
                <a:cs typeface="Calibri" pitchFamily="34" charset="-120"/>
              </a:rPr>
              <a:t>Contact details for every role on this slide are shared with you separately.</a:t>
            </a:r>
            <a:endParaRPr lang="en-US" sz="9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childTnLst>
                          </p:cTn>
                        </p:par>
                      </p:childTnLst>
                    </p:cTn>
                  </p:par>
                  <p:par>
                    <p:cTn id="74" fill="hold">
                      <p:stCondLst>
                        <p:cond delay="indefinite"/>
                      </p:stCondLst>
                      <p:childTnLst>
                        <p:par>
                          <p:cTn id="75"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9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18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27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36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45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54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63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72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81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90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childTnLst>
                          </p:cTn>
                        </p:par>
                      </p:childTnLst>
                    </p:cTn>
                  </p:par>
                  <p:par>
                    <p:cTn id="118" fill="hold">
                      <p:stCondLst>
                        <p:cond delay="indefinite"/>
                      </p:stCondLst>
                      <p:childTnLst>
                        <p:par>
                          <p:cTn id="119"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9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18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27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par>
                                <p:cTn id="88" presetID="10" presetClass="entr" presetSubtype="0" fill="hold" grpId="0" nodeType="withEffect">
                                  <p:stCondLst>
                                    <p:cond delay="36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400"/>
                                        <p:tgtEl>
                                          <p:spTgt spid="48"/>
                                        </p:tgtEl>
                                      </p:cBhvr>
                                    </p:animEffect>
                                  </p:childTnLst>
                                </p:cTn>
                              </p:par>
                              <p:par>
                                <p:cTn id="91" presetID="10" presetClass="entr" presetSubtype="0" fill="hold" grpId="0" nodeType="withEffect">
                                  <p:stCondLst>
                                    <p:cond delay="450"/>
                                  </p:stCondLst>
                                  <p:childTnLst>
                                    <p:set>
                                      <p:cBhvr>
                                        <p:cTn id="92" dur="1" fill="hold">
                                          <p:stCondLst>
                                            <p:cond delay="0"/>
                                          </p:stCondLst>
                                        </p:cTn>
                                        <p:tgtEl>
                                          <p:spTgt spid="49"/>
                                        </p:tgtEl>
                                        <p:attrNameLst>
                                          <p:attrName>style.visibility</p:attrName>
                                        </p:attrNameLst>
                                      </p:cBhvr>
                                      <p:to>
                                        <p:strVal val="visible"/>
                                      </p:to>
                                    </p:set>
                                    <p:animEffect transition="in" filter="fade">
                                      <p:cBhvr>
                                        <p:cTn id="93" dur="400"/>
                                        <p:tgtEl>
                                          <p:spTgt spid="49"/>
                                        </p:tgtEl>
                                      </p:cBhvr>
                                    </p:animEffect>
                                  </p:childTnLst>
                                </p:cTn>
                              </p:par>
                              <p:par>
                                <p:cTn id="94" presetID="10" presetClass="entr" presetSubtype="0" fill="hold" grpId="0" nodeType="withEffect">
                                  <p:stCondLst>
                                    <p:cond delay="540"/>
                                  </p:stCondLst>
                                  <p:childTnLst>
                                    <p:set>
                                      <p:cBhvr>
                                        <p:cTn id="95" dur="1" fill="hold">
                                          <p:stCondLst>
                                            <p:cond delay="0"/>
                                          </p:stCondLst>
                                        </p:cTn>
                                        <p:tgtEl>
                                          <p:spTgt spid="50"/>
                                        </p:tgtEl>
                                        <p:attrNameLst>
                                          <p:attrName>style.visibility</p:attrName>
                                        </p:attrNameLst>
                                      </p:cBhvr>
                                      <p:to>
                                        <p:strVal val="visible"/>
                                      </p:to>
                                    </p:set>
                                    <p:animEffect transition="in" filter="fade">
                                      <p:cBhvr>
                                        <p:cTn id="96" dur="400"/>
                                        <p:tgtEl>
                                          <p:spTgt spid="50"/>
                                        </p:tgtEl>
                                      </p:cBhvr>
                                    </p:animEffect>
                                  </p:childTnLst>
                                </p:cTn>
                              </p:par>
                              <p:par>
                                <p:cTn id="97" presetID="10" presetClass="entr" presetSubtype="0" fill="hold" grpId="0" nodeType="withEffect">
                                  <p:stCondLst>
                                    <p:cond delay="630"/>
                                  </p:stCondLst>
                                  <p:childTnLst>
                                    <p:set>
                                      <p:cBhvr>
                                        <p:cTn id="98" dur="1" fill="hold">
                                          <p:stCondLst>
                                            <p:cond delay="0"/>
                                          </p:stCondLst>
                                        </p:cTn>
                                        <p:tgtEl>
                                          <p:spTgt spid="51"/>
                                        </p:tgtEl>
                                        <p:attrNameLst>
                                          <p:attrName>style.visibility</p:attrName>
                                        </p:attrNameLst>
                                      </p:cBhvr>
                                      <p:to>
                                        <p:strVal val="visible"/>
                                      </p:to>
                                    </p:set>
                                    <p:animEffect transition="in" filter="fade">
                                      <p:cBhvr>
                                        <p:cTn id="99" dur="400"/>
                                        <p:tgtEl>
                                          <p:spTgt spid="51"/>
                                        </p:tgtEl>
                                      </p:cBhvr>
                                    </p:animEffect>
                                  </p:childTnLst>
                                </p:cTn>
                              </p:par>
                              <p:par>
                                <p:cTn id="100" presetID="10" presetClass="entr" presetSubtype="0" fill="hold" grpId="0" nodeType="withEffect">
                                  <p:stCondLst>
                                    <p:cond delay="720"/>
                                  </p:stCondLst>
                                  <p:childTnLst>
                                    <p:set>
                                      <p:cBhvr>
                                        <p:cTn id="101" dur="1" fill="hold">
                                          <p:stCondLst>
                                            <p:cond delay="0"/>
                                          </p:stCondLst>
                                        </p:cTn>
                                        <p:tgtEl>
                                          <p:spTgt spid="52"/>
                                        </p:tgtEl>
                                        <p:attrNameLst>
                                          <p:attrName>style.visibility</p:attrName>
                                        </p:attrNameLst>
                                      </p:cBhvr>
                                      <p:to>
                                        <p:strVal val="visible"/>
                                      </p:to>
                                    </p:set>
                                    <p:animEffect transition="in" filter="fade">
                                      <p:cBhvr>
                                        <p:cTn id="102" dur="400"/>
                                        <p:tgtEl>
                                          <p:spTgt spid="52"/>
                                        </p:tgtEl>
                                      </p:cBhvr>
                                    </p:animEffect>
                                  </p:childTnLst>
                                </p:cTn>
                              </p:par>
                              <p:par>
                                <p:cTn id="103" presetID="10" presetClass="entr" presetSubtype="0" fill="hold" grpId="0" nodeType="withEffect">
                                  <p:stCondLst>
                                    <p:cond delay="810"/>
                                  </p:stCondLst>
                                  <p:childTnLst>
                                    <p:set>
                                      <p:cBhvr>
                                        <p:cTn id="104" dur="1" fill="hold">
                                          <p:stCondLst>
                                            <p:cond delay="0"/>
                                          </p:stCondLst>
                                        </p:cTn>
                                        <p:tgtEl>
                                          <p:spTgt spid="53"/>
                                        </p:tgtEl>
                                        <p:attrNameLst>
                                          <p:attrName>style.visibility</p:attrName>
                                        </p:attrNameLst>
                                      </p:cBhvr>
                                      <p:to>
                                        <p:strVal val="visible"/>
                                      </p:to>
                                    </p:set>
                                    <p:animEffect transition="in" filter="fade">
                                      <p:cBhvr>
                                        <p:cTn id="105" dur="400"/>
                                        <p:tgtEl>
                                          <p:spTgt spid="53"/>
                                        </p:tgtEl>
                                      </p:cBhvr>
                                    </p:animEffect>
                                  </p:childTnLst>
                                </p:cTn>
                              </p:par>
                              <p:par>
                                <p:cTn id="106" presetID="10" presetClass="entr" presetSubtype="0" fill="hold" grpId="0" nodeType="withEffect">
                                  <p:stCondLst>
                                    <p:cond delay="90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400"/>
                                        <p:tgtEl>
                                          <p:spTgt spid="54"/>
                                        </p:tgtEl>
                                      </p:cBhvr>
                                    </p:animEffect>
                                  </p:childTnLst>
                                </p:cTn>
                              </p:par>
                              <p:par>
                                <p:cTn id="109" presetID="10" presetClass="entr" presetSubtype="0" fill="hold" grpId="0" nodeType="withEffect">
                                  <p:stCondLst>
                                    <p:cond delay="90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400"/>
                                        <p:tgtEl>
                                          <p:spTgt spid="55"/>
                                        </p:tgtEl>
                                      </p:cBhvr>
                                    </p:animEffect>
                                  </p:childTnLst>
                                </p:cTn>
                              </p:par>
                              <p:par>
                                <p:cTn id="112" presetID="10" presetClass="entr" presetSubtype="0" fill="hold" grpId="0" nodeType="withEffect">
                                  <p:stCondLst>
                                    <p:cond delay="900"/>
                                  </p:stCondLst>
                                  <p:childTnLst>
                                    <p:set>
                                      <p:cBhvr>
                                        <p:cTn id="113" dur="1" fill="hold">
                                          <p:stCondLst>
                                            <p:cond delay="0"/>
                                          </p:stCondLst>
                                        </p:cTn>
                                        <p:tgtEl>
                                          <p:spTgt spid="56"/>
                                        </p:tgtEl>
                                        <p:attrNameLst>
                                          <p:attrName>style.visibility</p:attrName>
                                        </p:attrNameLst>
                                      </p:cBhvr>
                                      <p:to>
                                        <p:strVal val="visible"/>
                                      </p:to>
                                    </p:set>
                                    <p:animEffect transition="in" filter="fade">
                                      <p:cBhvr>
                                        <p:cTn id="114" dur="400"/>
                                        <p:tgtEl>
                                          <p:spTgt spid="56"/>
                                        </p:tgtEl>
                                      </p:cBhvr>
                                    </p:animEffect>
                                  </p:childTnLst>
                                </p:cTn>
                              </p:par>
                              <p:par>
                                <p:cTn id="115" presetID="10" presetClass="entr" presetSubtype="0" fill="hold" grpId="0" nodeType="withEffect">
                                  <p:stCondLst>
                                    <p:cond delay="900"/>
                                  </p:stCondLst>
                                  <p:childTnLst>
                                    <p:set>
                                      <p:cBhvr>
                                        <p:cTn id="116" dur="1" fill="hold">
                                          <p:stCondLst>
                                            <p:cond delay="0"/>
                                          </p:stCondLst>
                                        </p:cTn>
                                        <p:tgtEl>
                                          <p:spTgt spid="57"/>
                                        </p:tgtEl>
                                        <p:attrNameLst>
                                          <p:attrName>style.visibility</p:attrName>
                                        </p:attrNameLst>
                                      </p:cBhvr>
                                      <p:to>
                                        <p:strVal val="visible"/>
                                      </p:to>
                                    </p:set>
                                    <p:animEffect transition="in" filter="fade">
                                      <p:cBhvr>
                                        <p:cTn id="117"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31</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007DB6"/>
          </a:solidFill>
          <a:ln w="12700">
            <a:solidFill>
              <a:srgbClr val="007DB6"/>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This week: Week 0</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A baseline week before teaching begins, so Week 1 starts from what you actually know.</a:t>
            </a:r>
            <a:endParaRPr lang="en-US" sz="1250" dirty="0"/>
          </a:p>
        </p:txBody>
      </p:sp>
      <p:sp>
        <p:nvSpPr>
          <p:cNvPr id="21" name="anim:1"/>
          <p:cNvSpPr/>
          <p:nvPr/>
        </p:nvSpPr>
        <p:spPr>
          <a:xfrm>
            <a:off x="1600200" y="2331720"/>
            <a:ext cx="9070848" cy="0"/>
          </a:xfrm>
          <a:prstGeom prst="line">
            <a:avLst/>
          </a:prstGeom>
          <a:noFill/>
          <a:ln w="19050">
            <a:solidFill>
              <a:srgbClr val="BFDDEE"/>
            </a:solidFill>
            <a:prstDash val="solid"/>
          </a:ln>
        </p:spPr>
        <p:txBody>
          <a:bodyPr/>
          <a:p/>
        </p:txBody>
      </p:sp>
      <p:sp>
        <p:nvSpPr>
          <p:cNvPr id="22" name="anim:1 grad:blue"/>
          <p:cNvSpPr/>
          <p:nvPr/>
        </p:nvSpPr>
        <p:spPr>
          <a:xfrm>
            <a:off x="1463040" y="2194560"/>
            <a:ext cx="274320" cy="274320"/>
          </a:xfrm>
          <a:prstGeom prst="ellipse">
            <a:avLst/>
          </a:prstGeom>
          <a:gradFill rotWithShape="1">
            <a:gsLst>
              <a:gs pos="0">
                <a:srgbClr val="2FA8E0"/>
              </a:gs>
              <a:gs pos="100000">
                <a:srgbClr val="007DB6"/>
              </a:gs>
            </a:gsLst>
            <a:lin ang="5400000" scaled="0"/>
          </a:gradFill>
          <a:ln w="25400">
            <a:solidFill>
              <a:srgbClr val="F4F6F9"/>
            </a:solidFill>
            <a:prstDash val="solid"/>
          </a:ln>
        </p:spPr>
        <p:txBody>
          <a:bodyPr/>
          <a:p/>
        </p:txBody>
      </p:sp>
      <p:sp>
        <p:nvSpPr>
          <p:cNvPr id="23" name="anim:1"/>
          <p:cNvSpPr txBox="1"/>
          <p:nvPr/>
        </p:nvSpPr>
        <p:spPr>
          <a:xfrm>
            <a:off x="548640" y="1783080"/>
            <a:ext cx="2103120" cy="274320"/>
          </a:xfrm>
          <a:prstGeom prst="rect">
            <a:avLst/>
          </a:prstGeom>
          <a:noFill/>
          <a:ln/>
        </p:spPr>
        <p:txBody>
          <a:bodyPr wrap="square" lIns="0" tIns="0" rIns="0" bIns="0" rtlCol="0" anchor="ctr"/>
          <a:lstStyle/>
          <a:p>
            <a:pPr algn="ctr" indent="0" marL="0">
              <a:buNone/>
            </a:pPr>
            <a:r>
              <a:rPr lang="en-US" sz="1200" b="1" dirty="0">
                <a:solidFill>
                  <a:srgbClr val="007DB6"/>
                </a:solidFill>
                <a:latin typeface="Calibri" pitchFamily="34" charset="0"/>
                <a:ea typeface="Calibri" pitchFamily="34" charset="-122"/>
                <a:cs typeface="Calibri" pitchFamily="34" charset="-120"/>
              </a:rPr>
              <a:t>01</a:t>
            </a:r>
            <a:endParaRPr lang="en-US" sz="1200" dirty="0"/>
          </a:p>
        </p:txBody>
      </p:sp>
      <p:sp>
        <p:nvSpPr>
          <p:cNvPr id="24" name="anim:1 grad:card"/>
          <p:cNvSpPr/>
          <p:nvPr/>
        </p:nvSpPr>
        <p:spPr>
          <a:xfrm>
            <a:off x="548640" y="2697480"/>
            <a:ext cx="2103120" cy="224028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25" name="anim:1"/>
          <p:cNvSpPr/>
          <p:nvPr/>
        </p:nvSpPr>
        <p:spPr>
          <a:xfrm>
            <a:off x="777240" y="2926080"/>
            <a:ext cx="548640" cy="548640"/>
          </a:xfrm>
          <a:prstGeom prst="ellipse">
            <a:avLst/>
          </a:prstGeom>
          <a:solidFill>
            <a:srgbClr val="E3F2FA"/>
          </a:solidFill>
          <a:ln w="9525">
            <a:solidFill>
              <a:srgbClr val="E3F2FA"/>
            </a:solidFill>
            <a:prstDash val="solid"/>
          </a:ln>
        </p:spPr>
        <p:txBody>
          <a:bodyPr/>
          <a:p/>
        </p:txBody>
      </p:sp>
      <p:pic>
        <p:nvPicPr>
          <p:cNvPr id="26" name="anim:1" descr="preencoded.png">    </p:cNvPr>
          <p:cNvPicPr>
            <a:picLocks noChangeAspect="1"/>
          </p:cNvPicPr>
          <p:nvPr/>
        </p:nvPicPr>
        <p:blipFill>
          <a:blip r:embed="rId3"/>
          <a:stretch>
            <a:fillRect/>
          </a:stretch>
        </p:blipFill>
        <p:spPr>
          <a:xfrm>
            <a:off x="908914" y="3057754"/>
            <a:ext cx="285293" cy="285293"/>
          </a:xfrm>
          <a:prstGeom prst="rect">
            <a:avLst/>
          </a:prstGeom>
        </p:spPr>
      </p:pic>
      <p:sp>
        <p:nvSpPr>
          <p:cNvPr id="27" name="anim:1"/>
          <p:cNvSpPr txBox="1"/>
          <p:nvPr/>
        </p:nvSpPr>
        <p:spPr>
          <a:xfrm>
            <a:off x="777240" y="3566160"/>
            <a:ext cx="1691640" cy="64008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Orientation and verification</a:t>
            </a:r>
            <a:endParaRPr lang="en-US" sz="1300" dirty="0"/>
          </a:p>
        </p:txBody>
      </p:sp>
      <p:sp>
        <p:nvSpPr>
          <p:cNvPr id="28" name="anim:1"/>
          <p:cNvSpPr txBox="1"/>
          <p:nvPr/>
        </p:nvSpPr>
        <p:spPr>
          <a:xfrm>
            <a:off x="777240" y="4206240"/>
            <a:ext cx="1691640" cy="73152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Tonight's academic orientation and document verification.</a:t>
            </a:r>
            <a:endParaRPr lang="en-US" sz="950" dirty="0"/>
          </a:p>
        </p:txBody>
      </p:sp>
      <p:sp>
        <p:nvSpPr>
          <p:cNvPr id="29" name="anim:1 grad:blue"/>
          <p:cNvSpPr/>
          <p:nvPr/>
        </p:nvSpPr>
        <p:spPr>
          <a:xfrm>
            <a:off x="3730752" y="2194560"/>
            <a:ext cx="274320" cy="274320"/>
          </a:xfrm>
          <a:prstGeom prst="ellipse">
            <a:avLst/>
          </a:prstGeom>
          <a:gradFill rotWithShape="1">
            <a:gsLst>
              <a:gs pos="0">
                <a:srgbClr val="2FA8E0"/>
              </a:gs>
              <a:gs pos="100000">
                <a:srgbClr val="007DB6"/>
              </a:gs>
            </a:gsLst>
            <a:lin ang="5400000" scaled="0"/>
          </a:gradFill>
          <a:ln w="25400">
            <a:solidFill>
              <a:srgbClr val="F4F6F9"/>
            </a:solidFill>
            <a:prstDash val="solid"/>
          </a:ln>
        </p:spPr>
        <p:txBody>
          <a:bodyPr/>
          <a:p/>
        </p:txBody>
      </p:sp>
      <p:sp>
        <p:nvSpPr>
          <p:cNvPr id="30" name="anim:1"/>
          <p:cNvSpPr txBox="1"/>
          <p:nvPr/>
        </p:nvSpPr>
        <p:spPr>
          <a:xfrm>
            <a:off x="2816352" y="1783080"/>
            <a:ext cx="2103120" cy="274320"/>
          </a:xfrm>
          <a:prstGeom prst="rect">
            <a:avLst/>
          </a:prstGeom>
          <a:noFill/>
          <a:ln/>
        </p:spPr>
        <p:txBody>
          <a:bodyPr wrap="square" lIns="0" tIns="0" rIns="0" bIns="0" rtlCol="0" anchor="ctr"/>
          <a:lstStyle/>
          <a:p>
            <a:pPr algn="ctr" indent="0" marL="0">
              <a:buNone/>
            </a:pPr>
            <a:r>
              <a:rPr lang="en-US" sz="1200" b="1" dirty="0">
                <a:solidFill>
                  <a:srgbClr val="007DB6"/>
                </a:solidFill>
                <a:latin typeface="Calibri" pitchFamily="34" charset="0"/>
                <a:ea typeface="Calibri" pitchFamily="34" charset="-122"/>
                <a:cs typeface="Calibri" pitchFamily="34" charset="-120"/>
              </a:rPr>
              <a:t>02</a:t>
            </a:r>
            <a:endParaRPr lang="en-US" sz="1200" dirty="0"/>
          </a:p>
        </p:txBody>
      </p:sp>
      <p:sp>
        <p:nvSpPr>
          <p:cNvPr id="31" name="anim:1 grad:card"/>
          <p:cNvSpPr/>
          <p:nvPr/>
        </p:nvSpPr>
        <p:spPr>
          <a:xfrm>
            <a:off x="2816352" y="2697480"/>
            <a:ext cx="2103120" cy="224028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2" name="anim:1"/>
          <p:cNvSpPr/>
          <p:nvPr/>
        </p:nvSpPr>
        <p:spPr>
          <a:xfrm>
            <a:off x="3044952" y="2926080"/>
            <a:ext cx="548640" cy="548640"/>
          </a:xfrm>
          <a:prstGeom prst="ellipse">
            <a:avLst/>
          </a:prstGeom>
          <a:solidFill>
            <a:srgbClr val="FBF1D6"/>
          </a:solidFill>
          <a:ln w="9525">
            <a:solidFill>
              <a:srgbClr val="FBF1D6"/>
            </a:solidFill>
            <a:prstDash val="solid"/>
          </a:ln>
        </p:spPr>
        <p:txBody>
          <a:bodyPr/>
          <a:p/>
        </p:txBody>
      </p:sp>
      <p:pic>
        <p:nvPicPr>
          <p:cNvPr id="33" name="anim:1" descr="preencoded.png">    </p:cNvPr>
          <p:cNvPicPr>
            <a:picLocks noChangeAspect="1"/>
          </p:cNvPicPr>
          <p:nvPr/>
        </p:nvPicPr>
        <p:blipFill>
          <a:blip r:embed="rId4"/>
          <a:stretch>
            <a:fillRect/>
          </a:stretch>
        </p:blipFill>
        <p:spPr>
          <a:xfrm>
            <a:off x="3176626" y="3057754"/>
            <a:ext cx="285293" cy="285293"/>
          </a:xfrm>
          <a:prstGeom prst="rect">
            <a:avLst/>
          </a:prstGeom>
        </p:spPr>
      </p:pic>
      <p:sp>
        <p:nvSpPr>
          <p:cNvPr id="34" name="anim:1"/>
          <p:cNvSpPr txBox="1"/>
          <p:nvPr/>
        </p:nvSpPr>
        <p:spPr>
          <a:xfrm>
            <a:off x="3044952" y="3566160"/>
            <a:ext cx="1691640" cy="64008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Baseline diagnostic</a:t>
            </a:r>
            <a:endParaRPr lang="en-US" sz="1300" dirty="0"/>
          </a:p>
        </p:txBody>
      </p:sp>
      <p:sp>
        <p:nvSpPr>
          <p:cNvPr id="35" name="anim:1"/>
          <p:cNvSpPr txBox="1"/>
          <p:nvPr/>
        </p:nvSpPr>
        <p:spPr>
          <a:xfrm>
            <a:off x="3044952" y="4206240"/>
            <a:ext cx="1691640" cy="73152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After the institute address: a diagnostic by topic that places you rather than ranks you. The score is yours to see.</a:t>
            </a:r>
            <a:endParaRPr lang="en-US" sz="950" dirty="0"/>
          </a:p>
        </p:txBody>
      </p:sp>
      <p:sp>
        <p:nvSpPr>
          <p:cNvPr id="36" name="anim:2 grad:blue"/>
          <p:cNvSpPr/>
          <p:nvPr/>
        </p:nvSpPr>
        <p:spPr>
          <a:xfrm>
            <a:off x="5998464" y="2194560"/>
            <a:ext cx="274320" cy="274320"/>
          </a:xfrm>
          <a:prstGeom prst="ellipse">
            <a:avLst/>
          </a:prstGeom>
          <a:gradFill rotWithShape="1">
            <a:gsLst>
              <a:gs pos="0">
                <a:srgbClr val="2FA8E0"/>
              </a:gs>
              <a:gs pos="100000">
                <a:srgbClr val="007DB6"/>
              </a:gs>
            </a:gsLst>
            <a:lin ang="5400000" scaled="0"/>
          </a:gradFill>
          <a:ln w="25400">
            <a:solidFill>
              <a:srgbClr val="F4F6F9"/>
            </a:solidFill>
            <a:prstDash val="solid"/>
          </a:ln>
        </p:spPr>
        <p:txBody>
          <a:bodyPr/>
          <a:p/>
        </p:txBody>
      </p:sp>
      <p:sp>
        <p:nvSpPr>
          <p:cNvPr id="37" name="anim:2"/>
          <p:cNvSpPr txBox="1"/>
          <p:nvPr/>
        </p:nvSpPr>
        <p:spPr>
          <a:xfrm>
            <a:off x="5084064" y="1783080"/>
            <a:ext cx="2103120" cy="274320"/>
          </a:xfrm>
          <a:prstGeom prst="rect">
            <a:avLst/>
          </a:prstGeom>
          <a:noFill/>
          <a:ln/>
        </p:spPr>
        <p:txBody>
          <a:bodyPr wrap="square" lIns="0" tIns="0" rIns="0" bIns="0" rtlCol="0" anchor="ctr"/>
          <a:lstStyle/>
          <a:p>
            <a:pPr algn="ctr" indent="0" marL="0">
              <a:buNone/>
            </a:pPr>
            <a:r>
              <a:rPr lang="en-US" sz="1200" b="1" dirty="0">
                <a:solidFill>
                  <a:srgbClr val="007DB6"/>
                </a:solidFill>
                <a:latin typeface="Calibri" pitchFamily="34" charset="0"/>
                <a:ea typeface="Calibri" pitchFamily="34" charset="-122"/>
                <a:cs typeface="Calibri" pitchFamily="34" charset="-120"/>
              </a:rPr>
              <a:t>03</a:t>
            </a:r>
            <a:endParaRPr lang="en-US" sz="1200" dirty="0"/>
          </a:p>
        </p:txBody>
      </p:sp>
      <p:sp>
        <p:nvSpPr>
          <p:cNvPr id="38" name="anim:2 grad:card"/>
          <p:cNvSpPr/>
          <p:nvPr/>
        </p:nvSpPr>
        <p:spPr>
          <a:xfrm>
            <a:off x="5084064" y="2697480"/>
            <a:ext cx="2103120" cy="224028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39" name="anim:2"/>
          <p:cNvSpPr/>
          <p:nvPr/>
        </p:nvSpPr>
        <p:spPr>
          <a:xfrm>
            <a:off x="5312664" y="2926080"/>
            <a:ext cx="548640" cy="548640"/>
          </a:xfrm>
          <a:prstGeom prst="ellipse">
            <a:avLst/>
          </a:prstGeom>
          <a:solidFill>
            <a:srgbClr val="E3F2FA"/>
          </a:solidFill>
          <a:ln w="9525">
            <a:solidFill>
              <a:srgbClr val="E3F2FA"/>
            </a:solidFill>
            <a:prstDash val="solid"/>
          </a:ln>
        </p:spPr>
        <p:txBody>
          <a:bodyPr/>
          <a:p/>
        </p:txBody>
      </p:sp>
      <p:pic>
        <p:nvPicPr>
          <p:cNvPr id="40" name="anim:2" descr="preencoded.png">    </p:cNvPr>
          <p:cNvPicPr>
            <a:picLocks noChangeAspect="1"/>
          </p:cNvPicPr>
          <p:nvPr/>
        </p:nvPicPr>
        <p:blipFill>
          <a:blip r:embed="rId5"/>
          <a:stretch>
            <a:fillRect/>
          </a:stretch>
        </p:blipFill>
        <p:spPr>
          <a:xfrm>
            <a:off x="5444338" y="3057754"/>
            <a:ext cx="285293" cy="285293"/>
          </a:xfrm>
          <a:prstGeom prst="rect">
            <a:avLst/>
          </a:prstGeom>
        </p:spPr>
      </p:pic>
      <p:sp>
        <p:nvSpPr>
          <p:cNvPr id="41" name="anim:2"/>
          <p:cNvSpPr txBox="1"/>
          <p:nvPr/>
        </p:nvSpPr>
        <p:spPr>
          <a:xfrm>
            <a:off x="5312664" y="3566160"/>
            <a:ext cx="1691640" cy="64008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Project introductions</a:t>
            </a:r>
            <a:endParaRPr lang="en-US" sz="1300" dirty="0"/>
          </a:p>
        </p:txBody>
      </p:sp>
      <p:sp>
        <p:nvSpPr>
          <p:cNvPr id="42" name="anim:2"/>
          <p:cNvSpPr txBox="1"/>
          <p:nvPr/>
        </p:nvSpPr>
        <p:spPr>
          <a:xfrm>
            <a:off x="5312664" y="4206240"/>
            <a:ext cx="1691640" cy="73152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You introduce yourself to the cohort by presenting a project you have built, in groups.</a:t>
            </a:r>
            <a:endParaRPr lang="en-US" sz="950" dirty="0"/>
          </a:p>
        </p:txBody>
      </p:sp>
      <p:sp>
        <p:nvSpPr>
          <p:cNvPr id="43" name="anim:2 grad:blue"/>
          <p:cNvSpPr/>
          <p:nvPr/>
        </p:nvSpPr>
        <p:spPr>
          <a:xfrm>
            <a:off x="8266176" y="2194560"/>
            <a:ext cx="274320" cy="274320"/>
          </a:xfrm>
          <a:prstGeom prst="ellipse">
            <a:avLst/>
          </a:prstGeom>
          <a:gradFill rotWithShape="1">
            <a:gsLst>
              <a:gs pos="0">
                <a:srgbClr val="2FA8E0"/>
              </a:gs>
              <a:gs pos="100000">
                <a:srgbClr val="007DB6"/>
              </a:gs>
            </a:gsLst>
            <a:lin ang="5400000" scaled="0"/>
          </a:gradFill>
          <a:ln w="25400">
            <a:solidFill>
              <a:srgbClr val="F4F6F9"/>
            </a:solidFill>
            <a:prstDash val="solid"/>
          </a:ln>
        </p:spPr>
        <p:txBody>
          <a:bodyPr/>
          <a:p/>
        </p:txBody>
      </p:sp>
      <p:sp>
        <p:nvSpPr>
          <p:cNvPr id="44" name="anim:2"/>
          <p:cNvSpPr txBox="1"/>
          <p:nvPr/>
        </p:nvSpPr>
        <p:spPr>
          <a:xfrm>
            <a:off x="7351776" y="1783080"/>
            <a:ext cx="2103120" cy="274320"/>
          </a:xfrm>
          <a:prstGeom prst="rect">
            <a:avLst/>
          </a:prstGeom>
          <a:noFill/>
          <a:ln/>
        </p:spPr>
        <p:txBody>
          <a:bodyPr wrap="square" lIns="0" tIns="0" rIns="0" bIns="0" rtlCol="0" anchor="ctr"/>
          <a:lstStyle/>
          <a:p>
            <a:pPr algn="ctr" indent="0" marL="0">
              <a:buNone/>
            </a:pPr>
            <a:r>
              <a:rPr lang="en-US" sz="1200" b="1" dirty="0">
                <a:solidFill>
                  <a:srgbClr val="007DB6"/>
                </a:solidFill>
                <a:latin typeface="Calibri" pitchFamily="34" charset="0"/>
                <a:ea typeface="Calibri" pitchFamily="34" charset="-122"/>
                <a:cs typeface="Calibri" pitchFamily="34" charset="-120"/>
              </a:rPr>
              <a:t>04</a:t>
            </a:r>
            <a:endParaRPr lang="en-US" sz="1200" dirty="0"/>
          </a:p>
        </p:txBody>
      </p:sp>
      <p:sp>
        <p:nvSpPr>
          <p:cNvPr id="45" name="anim:2 grad:card"/>
          <p:cNvSpPr/>
          <p:nvPr/>
        </p:nvSpPr>
        <p:spPr>
          <a:xfrm>
            <a:off x="7351776" y="2697480"/>
            <a:ext cx="2103120" cy="224028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6" name="anim:2"/>
          <p:cNvSpPr/>
          <p:nvPr/>
        </p:nvSpPr>
        <p:spPr>
          <a:xfrm>
            <a:off x="7580376" y="2926080"/>
            <a:ext cx="548640" cy="548640"/>
          </a:xfrm>
          <a:prstGeom prst="ellipse">
            <a:avLst/>
          </a:prstGeom>
          <a:solidFill>
            <a:srgbClr val="E3F2FA"/>
          </a:solidFill>
          <a:ln w="9525">
            <a:solidFill>
              <a:srgbClr val="E3F2FA"/>
            </a:solidFill>
            <a:prstDash val="solid"/>
          </a:ln>
        </p:spPr>
        <p:txBody>
          <a:bodyPr/>
          <a:p/>
        </p:txBody>
      </p:sp>
      <p:pic>
        <p:nvPicPr>
          <p:cNvPr id="47" name="anim:2" descr="preencoded.png">    </p:cNvPr>
          <p:cNvPicPr>
            <a:picLocks noChangeAspect="1"/>
          </p:cNvPicPr>
          <p:nvPr/>
        </p:nvPicPr>
        <p:blipFill>
          <a:blip r:embed="rId6"/>
          <a:stretch>
            <a:fillRect/>
          </a:stretch>
        </p:blipFill>
        <p:spPr>
          <a:xfrm>
            <a:off x="7712050" y="3057754"/>
            <a:ext cx="285293" cy="285293"/>
          </a:xfrm>
          <a:prstGeom prst="rect">
            <a:avLst/>
          </a:prstGeom>
        </p:spPr>
      </p:pic>
      <p:sp>
        <p:nvSpPr>
          <p:cNvPr id="48" name="anim:2"/>
          <p:cNvSpPr txBox="1"/>
          <p:nvPr/>
        </p:nvSpPr>
        <p:spPr>
          <a:xfrm>
            <a:off x="7580376" y="3566160"/>
            <a:ext cx="1691640" cy="64008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Python and SQL brush-up</a:t>
            </a:r>
            <a:endParaRPr lang="en-US" sz="1300" dirty="0"/>
          </a:p>
        </p:txBody>
      </p:sp>
      <p:sp>
        <p:nvSpPr>
          <p:cNvPr id="49" name="anim:2"/>
          <p:cNvSpPr txBox="1"/>
          <p:nvPr/>
        </p:nvSpPr>
        <p:spPr>
          <a:xfrm>
            <a:off x="7580376" y="4206240"/>
            <a:ext cx="1691640" cy="73152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Both are in class from Week 1, so both are refreshed now, with a class on articulating a problem.</a:t>
            </a:r>
            <a:endParaRPr lang="en-US" sz="950" dirty="0"/>
          </a:p>
        </p:txBody>
      </p:sp>
      <p:sp>
        <p:nvSpPr>
          <p:cNvPr id="50" name="anim:3 grad:blue"/>
          <p:cNvSpPr/>
          <p:nvPr/>
        </p:nvSpPr>
        <p:spPr>
          <a:xfrm>
            <a:off x="10533888" y="2194560"/>
            <a:ext cx="274320" cy="274320"/>
          </a:xfrm>
          <a:prstGeom prst="ellipse">
            <a:avLst/>
          </a:prstGeom>
          <a:gradFill rotWithShape="1">
            <a:gsLst>
              <a:gs pos="0">
                <a:srgbClr val="2FA8E0"/>
              </a:gs>
              <a:gs pos="100000">
                <a:srgbClr val="007DB6"/>
              </a:gs>
            </a:gsLst>
            <a:lin ang="5400000" scaled="0"/>
          </a:gradFill>
          <a:ln w="25400">
            <a:solidFill>
              <a:srgbClr val="F4F6F9"/>
            </a:solidFill>
            <a:prstDash val="solid"/>
          </a:ln>
        </p:spPr>
        <p:txBody>
          <a:bodyPr/>
          <a:p/>
        </p:txBody>
      </p:sp>
      <p:sp>
        <p:nvSpPr>
          <p:cNvPr id="51" name="anim:3"/>
          <p:cNvSpPr txBox="1"/>
          <p:nvPr/>
        </p:nvSpPr>
        <p:spPr>
          <a:xfrm>
            <a:off x="9619488" y="1783080"/>
            <a:ext cx="2103120" cy="274320"/>
          </a:xfrm>
          <a:prstGeom prst="rect">
            <a:avLst/>
          </a:prstGeom>
          <a:noFill/>
          <a:ln/>
        </p:spPr>
        <p:txBody>
          <a:bodyPr wrap="square" lIns="0" tIns="0" rIns="0" bIns="0" rtlCol="0" anchor="ctr"/>
          <a:lstStyle/>
          <a:p>
            <a:pPr algn="ctr" indent="0" marL="0">
              <a:buNone/>
            </a:pPr>
            <a:r>
              <a:rPr lang="en-US" sz="1200" b="1" dirty="0">
                <a:solidFill>
                  <a:srgbClr val="007DB6"/>
                </a:solidFill>
                <a:latin typeface="Calibri" pitchFamily="34" charset="0"/>
                <a:ea typeface="Calibri" pitchFamily="34" charset="-122"/>
                <a:cs typeface="Calibri" pitchFamily="34" charset="-120"/>
              </a:rPr>
              <a:t>05</a:t>
            </a:r>
            <a:endParaRPr lang="en-US" sz="1200" dirty="0"/>
          </a:p>
        </p:txBody>
      </p:sp>
      <p:sp>
        <p:nvSpPr>
          <p:cNvPr id="52" name="anim:3 grad:card"/>
          <p:cNvSpPr/>
          <p:nvPr/>
        </p:nvSpPr>
        <p:spPr>
          <a:xfrm>
            <a:off x="9619488" y="2697480"/>
            <a:ext cx="2103120" cy="2240280"/>
          </a:xfrm>
          <a:prstGeom prst="roundRect">
            <a:avLst>
              <a:gd name="adj" fmla="val 4348"/>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53" name="anim:3"/>
          <p:cNvSpPr/>
          <p:nvPr/>
        </p:nvSpPr>
        <p:spPr>
          <a:xfrm>
            <a:off x="9848088" y="2926080"/>
            <a:ext cx="548640" cy="548640"/>
          </a:xfrm>
          <a:prstGeom prst="ellipse">
            <a:avLst/>
          </a:prstGeom>
          <a:solidFill>
            <a:srgbClr val="E0F2EA"/>
          </a:solidFill>
          <a:ln w="9525">
            <a:solidFill>
              <a:srgbClr val="E0F2EA"/>
            </a:solidFill>
            <a:prstDash val="solid"/>
          </a:ln>
        </p:spPr>
        <p:txBody>
          <a:bodyPr/>
          <a:p/>
        </p:txBody>
      </p:sp>
      <p:pic>
        <p:nvPicPr>
          <p:cNvPr id="54" name="anim:3" descr="preencoded.png">    </p:cNvPr>
          <p:cNvPicPr>
            <a:picLocks noChangeAspect="1"/>
          </p:cNvPicPr>
          <p:nvPr/>
        </p:nvPicPr>
        <p:blipFill>
          <a:blip r:embed="rId7"/>
          <a:stretch>
            <a:fillRect/>
          </a:stretch>
        </p:blipFill>
        <p:spPr>
          <a:xfrm>
            <a:off x="9979762" y="3057754"/>
            <a:ext cx="285293" cy="285293"/>
          </a:xfrm>
          <a:prstGeom prst="rect">
            <a:avLst/>
          </a:prstGeom>
        </p:spPr>
      </p:pic>
      <p:sp>
        <p:nvSpPr>
          <p:cNvPr id="55" name="anim:3"/>
          <p:cNvSpPr txBox="1"/>
          <p:nvPr/>
        </p:nvSpPr>
        <p:spPr>
          <a:xfrm>
            <a:off x="9848088" y="3566160"/>
            <a:ext cx="1691640" cy="640080"/>
          </a:xfrm>
          <a:prstGeom prst="rect">
            <a:avLst/>
          </a:prstGeom>
          <a:noFill/>
          <a:ln/>
        </p:spPr>
        <p:txBody>
          <a:bodyPr wrap="square" lIns="0" tIns="0" rIns="0" bIns="0" rtlCol="0" anchor="t"/>
          <a:lstStyle/>
          <a:p>
            <a:pPr algn="l" indent="0" marL="0">
              <a:buNone/>
            </a:pPr>
            <a:r>
              <a:rPr lang="en-US" sz="1300" b="1" dirty="0">
                <a:solidFill>
                  <a:srgbClr val="0A1E33"/>
                </a:solidFill>
                <a:latin typeface="Calibri" pitchFamily="34" charset="0"/>
                <a:ea typeface="Calibri" pitchFamily="34" charset="-122"/>
                <a:cs typeface="Calibri" pitchFamily="34" charset="-120"/>
              </a:rPr>
              <a:t>Saturday: an FDE session</a:t>
            </a:r>
            <a:endParaRPr lang="en-US" sz="1300" dirty="0"/>
          </a:p>
        </p:txBody>
      </p:sp>
      <p:sp>
        <p:nvSpPr>
          <p:cNvPr id="56" name="anim:3"/>
          <p:cNvSpPr txBox="1"/>
          <p:nvPr/>
        </p:nvSpPr>
        <p:spPr>
          <a:xfrm>
            <a:off x="9848088" y="4206240"/>
            <a:ext cx="1691640" cy="731520"/>
          </a:xfrm>
          <a:prstGeom prst="rect">
            <a:avLst/>
          </a:prstGeom>
          <a:noFill/>
          <a:ln/>
        </p:spPr>
        <p:txBody>
          <a:bodyPr wrap="square" lIns="0" tIns="0" rIns="0" bIns="0" rtlCol="0" anchor="t"/>
          <a:lstStyle/>
          <a:p>
            <a:pPr algn="l" indent="0" marL="0">
              <a:buNone/>
            </a:pPr>
            <a:r>
              <a:rPr lang="en-US" sz="950" dirty="0">
                <a:solidFill>
                  <a:srgbClr val="15243A"/>
                </a:solidFill>
                <a:latin typeface="Calibri" pitchFamily="34" charset="0"/>
                <a:ea typeface="Calibri" pitchFamily="34" charset="-122"/>
                <a:cs typeface="Calibri" pitchFamily="34" charset="-120"/>
              </a:rPr>
              <a:t>About half a day with a forward deployed engineer on how the job is actually done.</a:t>
            </a:r>
            <a:endParaRPr lang="en-US" sz="950" dirty="0"/>
          </a:p>
        </p:txBody>
      </p:sp>
      <p:sp>
        <p:nvSpPr>
          <p:cNvPr id="57" name="anim:4 grad:navy"/>
          <p:cNvSpPr/>
          <p:nvPr/>
        </p:nvSpPr>
        <p:spPr>
          <a:xfrm>
            <a:off x="548640" y="5166360"/>
            <a:ext cx="11091672" cy="1188720"/>
          </a:xfrm>
          <a:prstGeom prst="roundRect">
            <a:avLst>
              <a:gd name="adj" fmla="val 7692"/>
            </a:avLst>
          </a:prstGeom>
          <a:gradFill rotWithShape="1">
            <a:gsLst>
              <a:gs pos="0">
                <a:srgbClr val="1B4170"/>
              </a:gs>
              <a:gs pos="100000">
                <a:srgbClr val="0A1E33"/>
              </a:gs>
            </a:gsLst>
            <a:lin ang="5400000" scaled="0"/>
          </a:gradFill>
          <a:ln w="12700">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58" name="anim:4 grad:sheen"/>
          <p:cNvSpPr/>
          <p:nvPr/>
        </p:nvSpPr>
        <p:spPr>
          <a:xfrm>
            <a:off x="548640" y="5166360"/>
            <a:ext cx="11091672" cy="1188720"/>
          </a:xfrm>
          <a:prstGeom prst="roundRect">
            <a:avLst>
              <a:gd name="adj" fmla="val 7692"/>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59" name="anim:4"/>
          <p:cNvSpPr txBox="1"/>
          <p:nvPr/>
        </p:nvSpPr>
        <p:spPr>
          <a:xfrm>
            <a:off x="822960" y="5330952"/>
            <a:ext cx="1828800" cy="201168"/>
          </a:xfrm>
          <a:prstGeom prst="rect">
            <a:avLst/>
          </a:prstGeom>
          <a:noFill/>
          <a:ln/>
        </p:spPr>
        <p:txBody>
          <a:bodyPr wrap="square" lIns="0" tIns="0" rIns="0" bIns="0" rtlCol="0" anchor="t"/>
          <a:lstStyle/>
          <a:p>
            <a:pPr algn="l" indent="0" marL="0">
              <a:buNone/>
            </a:pPr>
            <a:r>
              <a:rPr lang="en-US" sz="800" b="1" spc="200" kern="0" dirty="0">
                <a:solidFill>
                  <a:srgbClr val="E9B221"/>
                </a:solidFill>
                <a:latin typeface="Calibri" pitchFamily="34" charset="0"/>
                <a:ea typeface="Calibri" pitchFamily="34" charset="-122"/>
                <a:cs typeface="Calibri" pitchFamily="34" charset="-120"/>
              </a:rPr>
              <a:t>THEN</a:t>
            </a:r>
            <a:endParaRPr lang="en-US" sz="800" dirty="0"/>
          </a:p>
        </p:txBody>
      </p:sp>
      <p:sp>
        <p:nvSpPr>
          <p:cNvPr id="60" name="anim:4"/>
          <p:cNvSpPr txBox="1"/>
          <p:nvPr/>
        </p:nvSpPr>
        <p:spPr>
          <a:xfrm>
            <a:off x="822960" y="5532120"/>
            <a:ext cx="7772400" cy="457200"/>
          </a:xfrm>
          <a:prstGeom prst="rect">
            <a:avLst/>
          </a:prstGeom>
          <a:noFill/>
          <a:ln/>
        </p:spPr>
        <p:txBody>
          <a:bodyPr wrap="square" lIns="0" tIns="0" rIns="0" bIns="0" rtlCol="0" anchor="t"/>
          <a:lstStyle/>
          <a:p>
            <a:pPr algn="l" indent="0" marL="0">
              <a:buNone/>
            </a:pPr>
            <a:r>
              <a:rPr lang="en-US" sz="2200" b="1" dirty="0">
                <a:solidFill>
                  <a:srgbClr val="FFFFFF"/>
                </a:solidFill>
                <a:latin typeface="Calibri" pitchFamily="34" charset="0"/>
                <a:ea typeface="Calibri" pitchFamily="34" charset="-122"/>
                <a:cs typeface="Calibri" pitchFamily="34" charset="-120"/>
              </a:rPr>
              <a:t>Week 1 begins Monday 5 October 2026</a:t>
            </a:r>
            <a:endParaRPr lang="en-US" sz="2200" dirty="0"/>
          </a:p>
        </p:txBody>
      </p:sp>
      <p:sp>
        <p:nvSpPr>
          <p:cNvPr id="61" name="anim:4"/>
          <p:cNvSpPr txBox="1"/>
          <p:nvPr/>
        </p:nvSpPr>
        <p:spPr>
          <a:xfrm>
            <a:off x="822960" y="5989320"/>
            <a:ext cx="7772400" cy="320040"/>
          </a:xfrm>
          <a:prstGeom prst="rect">
            <a:avLst/>
          </a:prstGeom>
          <a:noFill/>
          <a:ln/>
        </p:spPr>
        <p:txBody>
          <a:bodyPr wrap="square" lIns="0" tIns="0" rIns="0" bIns="0" rtlCol="0" anchor="t"/>
          <a:lstStyle/>
          <a:p>
            <a:pPr algn="l" indent="0" marL="0">
              <a:buNone/>
            </a:pPr>
            <a:r>
              <a:rPr lang="en-US" sz="1100" dirty="0">
                <a:solidFill>
                  <a:srgbClr val="C9D6E4"/>
                </a:solidFill>
                <a:latin typeface="Calibri" pitchFamily="34" charset="0"/>
                <a:ea typeface="Calibri" pitchFamily="34" charset="-122"/>
                <a:cs typeface="Calibri" pitchFamily="34" charset="-120"/>
              </a:rPr>
              <a:t>Data analysis foundations, opening on your first business question.</a:t>
            </a:r>
            <a:endParaRPr lang="en-US" sz="1100" dirty="0"/>
          </a:p>
        </p:txBody>
      </p:sp>
      <p:sp>
        <p:nvSpPr>
          <p:cNvPr id="62" name="anim:4 grad:gold"/>
          <p:cNvSpPr/>
          <p:nvPr/>
        </p:nvSpPr>
        <p:spPr>
          <a:xfrm>
            <a:off x="10607040" y="5486400"/>
            <a:ext cx="457200" cy="548640"/>
          </a:xfrm>
          <a:prstGeom prst="chevron">
            <a:avLst/>
          </a:prstGeom>
          <a:gradFill rotWithShape="1">
            <a:gsLst>
              <a:gs pos="0">
                <a:srgbClr val="F3C84A"/>
              </a:gs>
              <a:gs pos="100000">
                <a:srgbClr val="D9A21A"/>
              </a:gs>
            </a:gsLst>
            <a:lin ang="5400000" scaled="0"/>
          </a:gradFill>
          <a:ln w="12700">
            <a:solidFill>
              <a:srgbClr val="E9B221"/>
            </a:solidFill>
            <a:prstDash val="solid"/>
          </a:ln>
        </p:spPr>
        <p:txBody>
          <a:body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childTnLst>
                          </p:cTn>
                        </p:par>
                      </p:childTnLst>
                    </p:cTn>
                  </p:par>
                  <p:par>
                    <p:cTn id="92" fill="hold">
                      <p:stCondLst>
                        <p:cond delay="indefinite"/>
                      </p:stCondLst>
                      <p:childTnLst>
                        <p:par>
                          <p:cTn id="93"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9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18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par>
                                <p:cTn id="59" presetID="10" presetClass="entr" presetSubtype="0" fill="hold" grpId="0" nodeType="withEffect">
                                  <p:stCondLst>
                                    <p:cond delay="27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00"/>
                                        <p:tgtEl>
                                          <p:spTgt spid="39"/>
                                        </p:tgtEl>
                                      </p:cBhvr>
                                    </p:animEffect>
                                  </p:childTnLst>
                                </p:cTn>
                              </p:par>
                              <p:par>
                                <p:cTn id="62" presetID="10" presetClass="entr" presetSubtype="0" fill="hold" grpId="0" nodeType="withEffect">
                                  <p:stCondLst>
                                    <p:cond delay="36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00"/>
                                        <p:tgtEl>
                                          <p:spTgt spid="40"/>
                                        </p:tgtEl>
                                      </p:cBhvr>
                                    </p:animEffect>
                                  </p:childTnLst>
                                </p:cTn>
                              </p:par>
                              <p:par>
                                <p:cTn id="65" presetID="10" presetClass="entr" presetSubtype="0" fill="hold" grpId="0" nodeType="withEffect">
                                  <p:stCondLst>
                                    <p:cond delay="45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00"/>
                                        <p:tgtEl>
                                          <p:spTgt spid="41"/>
                                        </p:tgtEl>
                                      </p:cBhvr>
                                    </p:animEffect>
                                  </p:childTnLst>
                                </p:cTn>
                              </p:par>
                              <p:par>
                                <p:cTn id="68" presetID="10" presetClass="entr" presetSubtype="0" fill="hold" grpId="0" nodeType="withEffect">
                                  <p:stCondLst>
                                    <p:cond delay="54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63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72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81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90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childTnLst>
                          </p:cTn>
                        </p:par>
                      </p:childTnLst>
                    </p:cTn>
                  </p:par>
                  <p:par>
                    <p:cTn id="115" fill="hold">
                      <p:stCondLst>
                        <p:cond delay="indefinite"/>
                      </p:stCondLst>
                      <p:childTnLst>
                        <p:par>
                          <p:cTn id="116"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50"/>
                                        </p:tgtEl>
                                        <p:attrNameLst>
                                          <p:attrName>style.visibility</p:attrName>
                                        </p:attrNameLst>
                                      </p:cBhvr>
                                      <p:to>
                                        <p:strVal val="visible"/>
                                      </p:to>
                                    </p:set>
                                    <p:animEffect transition="in" filter="fade">
                                      <p:cBhvr>
                                        <p:cTn id="96" dur="400"/>
                                        <p:tgtEl>
                                          <p:spTgt spid="50"/>
                                        </p:tgtEl>
                                      </p:cBhvr>
                                    </p:animEffect>
                                  </p:childTnLst>
                                </p:cTn>
                              </p:par>
                              <p:par>
                                <p:cTn id="97" presetID="10" presetClass="entr" presetSubtype="0" fill="hold" grpId="0" nodeType="withEffect">
                                  <p:stCondLst>
                                    <p:cond delay="90"/>
                                  </p:stCondLst>
                                  <p:childTnLst>
                                    <p:set>
                                      <p:cBhvr>
                                        <p:cTn id="98" dur="1" fill="hold">
                                          <p:stCondLst>
                                            <p:cond delay="0"/>
                                          </p:stCondLst>
                                        </p:cTn>
                                        <p:tgtEl>
                                          <p:spTgt spid="51"/>
                                        </p:tgtEl>
                                        <p:attrNameLst>
                                          <p:attrName>style.visibility</p:attrName>
                                        </p:attrNameLst>
                                      </p:cBhvr>
                                      <p:to>
                                        <p:strVal val="visible"/>
                                      </p:to>
                                    </p:set>
                                    <p:animEffect transition="in" filter="fade">
                                      <p:cBhvr>
                                        <p:cTn id="99" dur="400"/>
                                        <p:tgtEl>
                                          <p:spTgt spid="51"/>
                                        </p:tgtEl>
                                      </p:cBhvr>
                                    </p:animEffect>
                                  </p:childTnLst>
                                </p:cTn>
                              </p:par>
                              <p:par>
                                <p:cTn id="100" presetID="10" presetClass="entr" presetSubtype="0" fill="hold" grpId="0" nodeType="withEffect">
                                  <p:stCondLst>
                                    <p:cond delay="180"/>
                                  </p:stCondLst>
                                  <p:childTnLst>
                                    <p:set>
                                      <p:cBhvr>
                                        <p:cTn id="101" dur="1" fill="hold">
                                          <p:stCondLst>
                                            <p:cond delay="0"/>
                                          </p:stCondLst>
                                        </p:cTn>
                                        <p:tgtEl>
                                          <p:spTgt spid="52"/>
                                        </p:tgtEl>
                                        <p:attrNameLst>
                                          <p:attrName>style.visibility</p:attrName>
                                        </p:attrNameLst>
                                      </p:cBhvr>
                                      <p:to>
                                        <p:strVal val="visible"/>
                                      </p:to>
                                    </p:set>
                                    <p:animEffect transition="in" filter="fade">
                                      <p:cBhvr>
                                        <p:cTn id="102" dur="400"/>
                                        <p:tgtEl>
                                          <p:spTgt spid="52"/>
                                        </p:tgtEl>
                                      </p:cBhvr>
                                    </p:animEffect>
                                  </p:childTnLst>
                                </p:cTn>
                              </p:par>
                              <p:par>
                                <p:cTn id="103" presetID="10" presetClass="entr" presetSubtype="0" fill="hold" grpId="0" nodeType="withEffect">
                                  <p:stCondLst>
                                    <p:cond delay="270"/>
                                  </p:stCondLst>
                                  <p:childTnLst>
                                    <p:set>
                                      <p:cBhvr>
                                        <p:cTn id="104" dur="1" fill="hold">
                                          <p:stCondLst>
                                            <p:cond delay="0"/>
                                          </p:stCondLst>
                                        </p:cTn>
                                        <p:tgtEl>
                                          <p:spTgt spid="53"/>
                                        </p:tgtEl>
                                        <p:attrNameLst>
                                          <p:attrName>style.visibility</p:attrName>
                                        </p:attrNameLst>
                                      </p:cBhvr>
                                      <p:to>
                                        <p:strVal val="visible"/>
                                      </p:to>
                                    </p:set>
                                    <p:animEffect transition="in" filter="fade">
                                      <p:cBhvr>
                                        <p:cTn id="105" dur="400"/>
                                        <p:tgtEl>
                                          <p:spTgt spid="53"/>
                                        </p:tgtEl>
                                      </p:cBhvr>
                                    </p:animEffect>
                                  </p:childTnLst>
                                </p:cTn>
                              </p:par>
                              <p:par>
                                <p:cTn id="106" presetID="10" presetClass="entr" presetSubtype="0" fill="hold" grpId="0" nodeType="withEffect">
                                  <p:stCondLst>
                                    <p:cond delay="36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400"/>
                                        <p:tgtEl>
                                          <p:spTgt spid="54"/>
                                        </p:tgtEl>
                                      </p:cBhvr>
                                    </p:animEffect>
                                  </p:childTnLst>
                                </p:cTn>
                              </p:par>
                              <p:par>
                                <p:cTn id="109" presetID="10" presetClass="entr" presetSubtype="0" fill="hold" grpId="0" nodeType="withEffect">
                                  <p:stCondLst>
                                    <p:cond delay="45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400"/>
                                        <p:tgtEl>
                                          <p:spTgt spid="55"/>
                                        </p:tgtEl>
                                      </p:cBhvr>
                                    </p:animEffect>
                                  </p:childTnLst>
                                </p:cTn>
                              </p:par>
                              <p:par>
                                <p:cTn id="112" presetID="10" presetClass="entr" presetSubtype="0" fill="hold" grpId="0" nodeType="withEffect">
                                  <p:stCondLst>
                                    <p:cond delay="540"/>
                                  </p:stCondLst>
                                  <p:childTnLst>
                                    <p:set>
                                      <p:cBhvr>
                                        <p:cTn id="113" dur="1" fill="hold">
                                          <p:stCondLst>
                                            <p:cond delay="0"/>
                                          </p:stCondLst>
                                        </p:cTn>
                                        <p:tgtEl>
                                          <p:spTgt spid="56"/>
                                        </p:tgtEl>
                                        <p:attrNameLst>
                                          <p:attrName>style.visibility</p:attrName>
                                        </p:attrNameLst>
                                      </p:cBhvr>
                                      <p:to>
                                        <p:strVal val="visible"/>
                                      </p:to>
                                    </p:set>
                                    <p:animEffect transition="in" filter="fade">
                                      <p:cBhvr>
                                        <p:cTn id="114" dur="400"/>
                                        <p:tgtEl>
                                          <p:spTgt spid="56"/>
                                        </p:tgtEl>
                                      </p:cBhvr>
                                    </p:animEffect>
                                  </p:childTnLst>
                                </p:cTn>
                              </p:par>
                            </p:childTnLst>
                          </p:cTn>
                        </p:par>
                      </p:childTnLst>
                    </p:cTn>
                  </p:par>
                  <p:par>
                    <p:cTn id="135" fill="hold">
                      <p:stCondLst>
                        <p:cond delay="indefinite"/>
                      </p:stCondLst>
                      <p:childTnLst>
                        <p:par>
                          <p:cTn id="13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57"/>
                                        </p:tgtEl>
                                        <p:attrNameLst>
                                          <p:attrName>style.visibility</p:attrName>
                                        </p:attrNameLst>
                                      </p:cBhvr>
                                      <p:to>
                                        <p:strVal val="visible"/>
                                      </p:to>
                                    </p:set>
                                    <p:animEffect transition="in" filter="fade">
                                      <p:cBhvr>
                                        <p:cTn id="119" dur="400"/>
                                        <p:tgtEl>
                                          <p:spTgt spid="57"/>
                                        </p:tgtEl>
                                      </p:cBhvr>
                                    </p:animEffect>
                                  </p:childTnLst>
                                </p:cTn>
                              </p:par>
                              <p:par>
                                <p:cTn id="120" presetID="10" presetClass="entr" presetSubtype="0" fill="hold" grpId="0" nodeType="withEffect">
                                  <p:stCondLst>
                                    <p:cond delay="90"/>
                                  </p:stCondLst>
                                  <p:childTnLst>
                                    <p:set>
                                      <p:cBhvr>
                                        <p:cTn id="121" dur="1" fill="hold">
                                          <p:stCondLst>
                                            <p:cond delay="0"/>
                                          </p:stCondLst>
                                        </p:cTn>
                                        <p:tgtEl>
                                          <p:spTgt spid="58"/>
                                        </p:tgtEl>
                                        <p:attrNameLst>
                                          <p:attrName>style.visibility</p:attrName>
                                        </p:attrNameLst>
                                      </p:cBhvr>
                                      <p:to>
                                        <p:strVal val="visible"/>
                                      </p:to>
                                    </p:set>
                                    <p:animEffect transition="in" filter="fade">
                                      <p:cBhvr>
                                        <p:cTn id="122" dur="400"/>
                                        <p:tgtEl>
                                          <p:spTgt spid="58"/>
                                        </p:tgtEl>
                                      </p:cBhvr>
                                    </p:animEffect>
                                  </p:childTnLst>
                                </p:cTn>
                              </p:par>
                              <p:par>
                                <p:cTn id="123" presetID="10" presetClass="entr" presetSubtype="0" fill="hold" grpId="0" nodeType="withEffect">
                                  <p:stCondLst>
                                    <p:cond delay="180"/>
                                  </p:stCondLst>
                                  <p:childTnLst>
                                    <p:set>
                                      <p:cBhvr>
                                        <p:cTn id="124" dur="1" fill="hold">
                                          <p:stCondLst>
                                            <p:cond delay="0"/>
                                          </p:stCondLst>
                                        </p:cTn>
                                        <p:tgtEl>
                                          <p:spTgt spid="59"/>
                                        </p:tgtEl>
                                        <p:attrNameLst>
                                          <p:attrName>style.visibility</p:attrName>
                                        </p:attrNameLst>
                                      </p:cBhvr>
                                      <p:to>
                                        <p:strVal val="visible"/>
                                      </p:to>
                                    </p:set>
                                    <p:animEffect transition="in" filter="fade">
                                      <p:cBhvr>
                                        <p:cTn id="125" dur="400"/>
                                        <p:tgtEl>
                                          <p:spTgt spid="59"/>
                                        </p:tgtEl>
                                      </p:cBhvr>
                                    </p:animEffect>
                                  </p:childTnLst>
                                </p:cTn>
                              </p:par>
                              <p:par>
                                <p:cTn id="126" presetID="10" presetClass="entr" presetSubtype="0" fill="hold" grpId="0" nodeType="withEffect">
                                  <p:stCondLst>
                                    <p:cond delay="270"/>
                                  </p:stCondLst>
                                  <p:childTnLst>
                                    <p:set>
                                      <p:cBhvr>
                                        <p:cTn id="127" dur="1" fill="hold">
                                          <p:stCondLst>
                                            <p:cond delay="0"/>
                                          </p:stCondLst>
                                        </p:cTn>
                                        <p:tgtEl>
                                          <p:spTgt spid="60"/>
                                        </p:tgtEl>
                                        <p:attrNameLst>
                                          <p:attrName>style.visibility</p:attrName>
                                        </p:attrNameLst>
                                      </p:cBhvr>
                                      <p:to>
                                        <p:strVal val="visible"/>
                                      </p:to>
                                    </p:set>
                                    <p:animEffect transition="in" filter="fade">
                                      <p:cBhvr>
                                        <p:cTn id="128" dur="400"/>
                                        <p:tgtEl>
                                          <p:spTgt spid="60"/>
                                        </p:tgtEl>
                                      </p:cBhvr>
                                    </p:animEffect>
                                  </p:childTnLst>
                                </p:cTn>
                              </p:par>
                              <p:par>
                                <p:cTn id="129" presetID="10" presetClass="entr" presetSubtype="0" fill="hold" grpId="0" nodeType="withEffect">
                                  <p:stCondLst>
                                    <p:cond delay="360"/>
                                  </p:stCondLst>
                                  <p:childTnLst>
                                    <p:set>
                                      <p:cBhvr>
                                        <p:cTn id="130" dur="1" fill="hold">
                                          <p:stCondLst>
                                            <p:cond delay="0"/>
                                          </p:stCondLst>
                                        </p:cTn>
                                        <p:tgtEl>
                                          <p:spTgt spid="61"/>
                                        </p:tgtEl>
                                        <p:attrNameLst>
                                          <p:attrName>style.visibility</p:attrName>
                                        </p:attrNameLst>
                                      </p:cBhvr>
                                      <p:to>
                                        <p:strVal val="visible"/>
                                      </p:to>
                                    </p:set>
                                    <p:animEffect transition="in" filter="fade">
                                      <p:cBhvr>
                                        <p:cTn id="131" dur="400"/>
                                        <p:tgtEl>
                                          <p:spTgt spid="61"/>
                                        </p:tgtEl>
                                      </p:cBhvr>
                                    </p:animEffect>
                                  </p:childTnLst>
                                </p:cTn>
                              </p:par>
                              <p:par>
                                <p:cTn id="132" presetID="10" presetClass="entr" presetSubtype="0" fill="hold" grpId="0" nodeType="withEffect">
                                  <p:stCondLst>
                                    <p:cond delay="450"/>
                                  </p:stCondLst>
                                  <p:childTnLst>
                                    <p:set>
                                      <p:cBhvr>
                                        <p:cTn id="133" dur="1" fill="hold">
                                          <p:stCondLst>
                                            <p:cond delay="0"/>
                                          </p:stCondLst>
                                        </p:cTn>
                                        <p:tgtEl>
                                          <p:spTgt spid="62"/>
                                        </p:tgtEl>
                                        <p:attrNameLst>
                                          <p:attrName>style.visibility</p:attrName>
                                        </p:attrNameLst>
                                      </p:cBhvr>
                                      <p:to>
                                        <p:strVal val="visible"/>
                                      </p:to>
                                    </p:set>
                                    <p:animEffect transition="in" filter="fade">
                                      <p:cBhvr>
                                        <p:cTn id="134"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3" name="Text 0"/>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0A1E33"/>
                </a:solidFill>
                <a:latin typeface="Calibri" pitchFamily="34" charset="0"/>
                <a:ea typeface="Calibri" pitchFamily="34" charset="-122"/>
                <a:cs typeface="Calibri" pitchFamily="34" charset="-120"/>
              </a:rPr>
              <a:t>IITGN CDF (CAA)</a:t>
            </a:r>
            <a:endParaRPr lang="en-US" sz="950" dirty="0"/>
          </a:p>
        </p:txBody>
      </p:sp>
      <p:sp>
        <p:nvSpPr>
          <p:cNvPr id="4" name="Text 1"/>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5F7183"/>
                </a:solidFill>
                <a:latin typeface="Calibri" pitchFamily="34" charset="0"/>
                <a:ea typeface="Calibri" pitchFamily="34" charset="-122"/>
                <a:cs typeface="Calibri" pitchFamily="34" charset="-120"/>
              </a:rPr>
              <a:t>COMPETENCY ADVANCEMENT ACADEMY  ·  IIT GANDHINAGAR</a:t>
            </a:r>
            <a:endParaRPr lang="en-US" sz="650" dirty="0"/>
          </a:p>
        </p:txBody>
      </p:sp>
      <p:sp>
        <p:nvSpPr>
          <p:cNvPr id="5" name="Text 2"/>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5F7183"/>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6" name="Text 3"/>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5F7183"/>
                </a:solidFill>
                <a:latin typeface="Calibri" pitchFamily="34" charset="0"/>
                <a:ea typeface="Calibri" pitchFamily="34" charset="-122"/>
                <a:cs typeface="Calibri" pitchFamily="34" charset="-120"/>
              </a:rPr>
              <a:t>32</a:t>
            </a:r>
            <a:endParaRPr lang="en-US" sz="850" dirty="0"/>
          </a:p>
        </p:txBody>
      </p:sp>
      <p:sp>
        <p:nvSpPr>
          <p:cNvPr id="7" name="Shape 4"/>
          <p:cNvSpPr/>
          <p:nvPr/>
        </p:nvSpPr>
        <p:spPr>
          <a:xfrm>
            <a:off x="548640" y="6519672"/>
            <a:ext cx="73152" cy="73152"/>
          </a:xfrm>
          <a:prstGeom prst="ellipse">
            <a:avLst/>
          </a:prstGeom>
          <a:solidFill>
            <a:srgbClr val="E4E9F0"/>
          </a:solidFill>
          <a:ln w="12700">
            <a:solidFill>
              <a:srgbClr val="E4E9F0"/>
            </a:solidFill>
            <a:prstDash val="solid"/>
          </a:ln>
        </p:spPr>
        <p:txBody>
          <a:bodyPr/>
          <a:p/>
        </p:txBody>
      </p:sp>
      <p:sp>
        <p:nvSpPr>
          <p:cNvPr id="8" name="Text 5"/>
          <p:cNvSpPr txBox="1"/>
          <p:nvPr/>
        </p:nvSpPr>
        <p:spPr>
          <a:xfrm>
            <a:off x="676656" y="6455664"/>
            <a:ext cx="138988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Where this takes you</a:t>
            </a:r>
            <a:endParaRPr lang="en-US" sz="800" dirty="0"/>
          </a:p>
        </p:txBody>
      </p:sp>
      <p:sp>
        <p:nvSpPr>
          <p:cNvPr id="9" name="Shape 6"/>
          <p:cNvSpPr/>
          <p:nvPr/>
        </p:nvSpPr>
        <p:spPr>
          <a:xfrm>
            <a:off x="2139696" y="6519672"/>
            <a:ext cx="73152" cy="73152"/>
          </a:xfrm>
          <a:prstGeom prst="ellipse">
            <a:avLst/>
          </a:prstGeom>
          <a:solidFill>
            <a:srgbClr val="E4E9F0"/>
          </a:solidFill>
          <a:ln w="12700">
            <a:solidFill>
              <a:srgbClr val="E4E9F0"/>
            </a:solidFill>
            <a:prstDash val="solid"/>
          </a:ln>
        </p:spPr>
        <p:txBody>
          <a:bodyPr/>
          <a:p/>
        </p:txBody>
      </p:sp>
      <p:sp>
        <p:nvSpPr>
          <p:cNvPr id="10" name="Text 7"/>
          <p:cNvSpPr txBox="1"/>
          <p:nvPr/>
        </p:nvSpPr>
        <p:spPr>
          <a:xfrm>
            <a:off x="2267712"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it is built</a:t>
            </a:r>
            <a:endParaRPr lang="en-US" sz="800" dirty="0"/>
          </a:p>
        </p:txBody>
      </p:sp>
      <p:sp>
        <p:nvSpPr>
          <p:cNvPr id="11" name="Shape 8"/>
          <p:cNvSpPr/>
          <p:nvPr/>
        </p:nvSpPr>
        <p:spPr>
          <a:xfrm>
            <a:off x="3456432" y="6519672"/>
            <a:ext cx="73152" cy="73152"/>
          </a:xfrm>
          <a:prstGeom prst="ellipse">
            <a:avLst/>
          </a:prstGeom>
          <a:solidFill>
            <a:srgbClr val="E4E9F0"/>
          </a:solidFill>
          <a:ln w="12700">
            <a:solidFill>
              <a:srgbClr val="E4E9F0"/>
            </a:solidFill>
            <a:prstDash val="solid"/>
          </a:ln>
        </p:spPr>
        <p:txBody>
          <a:bodyPr/>
          <a:p/>
        </p:txBody>
      </p:sp>
      <p:sp>
        <p:nvSpPr>
          <p:cNvPr id="12" name="Text 9"/>
          <p:cNvSpPr txBox="1"/>
          <p:nvPr/>
        </p:nvSpPr>
        <p:spPr>
          <a:xfrm>
            <a:off x="3584448" y="6455664"/>
            <a:ext cx="1115568"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a week runs</a:t>
            </a:r>
            <a:endParaRPr lang="en-US" sz="800" dirty="0"/>
          </a:p>
        </p:txBody>
      </p:sp>
      <p:sp>
        <p:nvSpPr>
          <p:cNvPr id="13" name="Shape 10"/>
          <p:cNvSpPr/>
          <p:nvPr/>
        </p:nvSpPr>
        <p:spPr>
          <a:xfrm>
            <a:off x="4773168" y="6519672"/>
            <a:ext cx="73152" cy="73152"/>
          </a:xfrm>
          <a:prstGeom prst="ellipse">
            <a:avLst/>
          </a:prstGeom>
          <a:solidFill>
            <a:srgbClr val="E4E9F0"/>
          </a:solidFill>
          <a:ln w="12700">
            <a:solidFill>
              <a:srgbClr val="E4E9F0"/>
            </a:solidFill>
            <a:prstDash val="solid"/>
          </a:ln>
        </p:spPr>
        <p:txBody>
          <a:bodyPr/>
          <a:p/>
        </p:txBody>
      </p:sp>
      <p:sp>
        <p:nvSpPr>
          <p:cNvPr id="14" name="Text 11"/>
          <p:cNvSpPr txBox="1"/>
          <p:nvPr/>
        </p:nvSpPr>
        <p:spPr>
          <a:xfrm>
            <a:off x="4901184" y="6455664"/>
            <a:ext cx="1444752"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How you are evaluated</a:t>
            </a:r>
            <a:endParaRPr lang="en-US" sz="800" dirty="0"/>
          </a:p>
        </p:txBody>
      </p:sp>
      <p:sp>
        <p:nvSpPr>
          <p:cNvPr id="15" name="Shape 12"/>
          <p:cNvSpPr/>
          <p:nvPr/>
        </p:nvSpPr>
        <p:spPr>
          <a:xfrm>
            <a:off x="6419088" y="6519672"/>
            <a:ext cx="73152" cy="73152"/>
          </a:xfrm>
          <a:prstGeom prst="ellipse">
            <a:avLst/>
          </a:prstGeom>
          <a:solidFill>
            <a:srgbClr val="E4E9F0"/>
          </a:solidFill>
          <a:ln w="12700">
            <a:solidFill>
              <a:srgbClr val="E4E9F0"/>
            </a:solidFill>
            <a:prstDash val="solid"/>
          </a:ln>
        </p:spPr>
        <p:txBody>
          <a:bodyPr/>
          <a:p/>
        </p:txBody>
      </p:sp>
      <p:sp>
        <p:nvSpPr>
          <p:cNvPr id="16" name="Text 13"/>
          <p:cNvSpPr txBox="1"/>
          <p:nvPr/>
        </p:nvSpPr>
        <p:spPr>
          <a:xfrm>
            <a:off x="6547104" y="6455664"/>
            <a:ext cx="1499616" cy="201168"/>
          </a:xfrm>
          <a:prstGeom prst="rect">
            <a:avLst/>
          </a:prstGeom>
          <a:noFill/>
          <a:ln/>
        </p:spPr>
        <p:txBody>
          <a:bodyPr wrap="square" lIns="0" tIns="0" rIns="0" bIns="0" rtlCol="0" anchor="t"/>
          <a:lstStyle/>
          <a:p>
            <a:pPr algn="l" indent="0" marL="0">
              <a:buNone/>
            </a:pPr>
            <a:r>
              <a:rPr lang="en-US" sz="800" dirty="0">
                <a:solidFill>
                  <a:srgbClr val="5F7183"/>
                </a:solidFill>
                <a:latin typeface="Calibri" pitchFamily="34" charset="0"/>
                <a:ea typeface="Calibri" pitchFamily="34" charset="-122"/>
                <a:cs typeface="Calibri" pitchFamily="34" charset="-120"/>
              </a:rPr>
              <a:t>Placement and capstone</a:t>
            </a:r>
            <a:endParaRPr lang="en-US" sz="800" dirty="0"/>
          </a:p>
        </p:txBody>
      </p:sp>
      <p:sp>
        <p:nvSpPr>
          <p:cNvPr id="17" name="Shape 14"/>
          <p:cNvSpPr/>
          <p:nvPr/>
        </p:nvSpPr>
        <p:spPr>
          <a:xfrm>
            <a:off x="8119872" y="6519672"/>
            <a:ext cx="73152" cy="73152"/>
          </a:xfrm>
          <a:prstGeom prst="ellipse">
            <a:avLst/>
          </a:prstGeom>
          <a:solidFill>
            <a:srgbClr val="007DB6"/>
          </a:solidFill>
          <a:ln w="12700">
            <a:solidFill>
              <a:srgbClr val="007DB6"/>
            </a:solidFill>
            <a:prstDash val="solid"/>
          </a:ln>
        </p:spPr>
        <p:txBody>
          <a:bodyPr/>
          <a:p/>
        </p:txBody>
      </p:sp>
      <p:sp>
        <p:nvSpPr>
          <p:cNvPr id="18" name="Text 15"/>
          <p:cNvSpPr txBox="1"/>
          <p:nvPr/>
        </p:nvSpPr>
        <p:spPr>
          <a:xfrm>
            <a:off x="8247888" y="6455664"/>
            <a:ext cx="1280160" cy="201168"/>
          </a:xfrm>
          <a:prstGeom prst="rect">
            <a:avLst/>
          </a:prstGeom>
          <a:noFill/>
          <a:ln/>
        </p:spPr>
        <p:txBody>
          <a:bodyPr wrap="square" lIns="0" tIns="0" rIns="0" bIns="0" rtlCol="0" anchor="t"/>
          <a:lstStyle/>
          <a:p>
            <a:pPr algn="l" indent="0" marL="0">
              <a:buNone/>
            </a:pPr>
            <a:r>
              <a:rPr lang="en-US" sz="800" b="1" dirty="0">
                <a:solidFill>
                  <a:srgbClr val="007DB6"/>
                </a:solidFill>
                <a:latin typeface="Calibri" pitchFamily="34" charset="0"/>
                <a:ea typeface="Calibri" pitchFamily="34" charset="-122"/>
                <a:cs typeface="Calibri" pitchFamily="34" charset="-120"/>
              </a:rPr>
              <a:t>People and support</a:t>
            </a:r>
            <a:endParaRPr lang="en-US" sz="800" dirty="0"/>
          </a:p>
        </p:txBody>
      </p:sp>
      <p:sp>
        <p:nvSpPr>
          <p:cNvPr id="19" name="Text 16"/>
          <p:cNvSpPr txBox="1"/>
          <p:nvPr/>
        </p:nvSpPr>
        <p:spPr>
          <a:xfrm>
            <a:off x="548640" y="777240"/>
            <a:ext cx="11064240" cy="566928"/>
          </a:xfrm>
          <a:prstGeom prst="rect">
            <a:avLst/>
          </a:prstGeom>
          <a:noFill/>
          <a:ln/>
        </p:spPr>
        <p:txBody>
          <a:bodyPr wrap="square" lIns="0" tIns="0" rIns="0" bIns="0" rtlCol="0" anchor="t"/>
          <a:lstStyle/>
          <a:p>
            <a:pPr algn="l" indent="0" marL="0">
              <a:buNone/>
            </a:pPr>
            <a:r>
              <a:rPr lang="en-US" sz="2800" b="1" dirty="0">
                <a:solidFill>
                  <a:srgbClr val="0A1E33"/>
                </a:solidFill>
                <a:latin typeface="Calibri" pitchFamily="34" charset="0"/>
                <a:ea typeface="Calibri" pitchFamily="34" charset="-122"/>
                <a:cs typeface="Calibri" pitchFamily="34" charset="-120"/>
              </a:rPr>
              <a:t>What we commit to you, and what we ask of you</a:t>
            </a:r>
            <a:endParaRPr lang="en-US" sz="2800" dirty="0"/>
          </a:p>
        </p:txBody>
      </p:sp>
      <p:sp>
        <p:nvSpPr>
          <p:cNvPr id="20" name="Text 17"/>
          <p:cNvSpPr txBox="1"/>
          <p:nvPr/>
        </p:nvSpPr>
        <p:spPr>
          <a:xfrm>
            <a:off x="548640" y="1325880"/>
            <a:ext cx="11064240" cy="310896"/>
          </a:xfrm>
          <a:prstGeom prst="rect">
            <a:avLst/>
          </a:prstGeom>
          <a:noFill/>
          <a:ln/>
        </p:spPr>
        <p:txBody>
          <a:bodyPr wrap="square" lIns="0" tIns="0" rIns="0" bIns="0" rtlCol="0" anchor="t"/>
          <a:lstStyle/>
          <a:p>
            <a:pPr algn="l" indent="0" marL="0">
              <a:buNone/>
            </a:pPr>
            <a:r>
              <a:rPr lang="en-US" sz="1250" dirty="0">
                <a:solidFill>
                  <a:srgbClr val="5F7183"/>
                </a:solidFill>
                <a:latin typeface="Calibri" pitchFamily="34" charset="0"/>
                <a:ea typeface="Calibri" pitchFamily="34" charset="-122"/>
                <a:cs typeface="Calibri" pitchFamily="34" charset="-120"/>
              </a:rPr>
              <a:t>Both columns are things you can check. Hold us to the left one.</a:t>
            </a:r>
            <a:endParaRPr lang="en-US" sz="1250" dirty="0"/>
          </a:p>
        </p:txBody>
      </p:sp>
      <p:sp>
        <p:nvSpPr>
          <p:cNvPr id="21" name="anim:1 grad:navy"/>
          <p:cNvSpPr/>
          <p:nvPr/>
        </p:nvSpPr>
        <p:spPr>
          <a:xfrm>
            <a:off x="548640" y="1783080"/>
            <a:ext cx="5422392" cy="4526280"/>
          </a:xfrm>
          <a:prstGeom prst="roundRect">
            <a:avLst>
              <a:gd name="adj" fmla="val 2020"/>
            </a:avLst>
          </a:prstGeom>
          <a:gradFill rotWithShape="1">
            <a:gsLst>
              <a:gs pos="0">
                <a:srgbClr val="1B4170"/>
              </a:gs>
              <a:gs pos="100000">
                <a:srgbClr val="0A1E33"/>
              </a:gs>
            </a:gsLst>
            <a:lin ang="5400000" scaled="0"/>
          </a:gradFill>
          <a:ln w="9525">
            <a:solidFill>
              <a:srgbClr val="0A1E33"/>
            </a:solidFill>
            <a:prstDash val="solid"/>
          </a:ln>
          <a:effectLst>
            <a:outerShdw sx="100000" sy="100000" kx="0" ky="0" algn="bl" rotWithShape="0" blurRad="76200" dist="19050" dir="5400000">
              <a:srgbClr val="0A1E33">
                <a:alpha val="10000"/>
              </a:srgbClr>
            </a:outerShdw>
          </a:effectLst>
        </p:spPr>
        <p:txBody>
          <a:bodyPr/>
          <a:p/>
        </p:txBody>
      </p:sp>
      <p:sp>
        <p:nvSpPr>
          <p:cNvPr id="22" name="anim:1 grad:sheen"/>
          <p:cNvSpPr/>
          <p:nvPr/>
        </p:nvSpPr>
        <p:spPr>
          <a:xfrm>
            <a:off x="548640" y="1783080"/>
            <a:ext cx="5422392" cy="4526280"/>
          </a:xfrm>
          <a:prstGeom prst="roundRect">
            <a:avLst>
              <a:gd name="adj" fmla="val 2020"/>
            </a:avLst>
          </a:prstGeom>
          <a:gradFill rotWithShape="1">
            <a:gsLst>
              <a:gs pos="0">
                <a:srgbClr val="FFFFFF">
                  <a:alpha val="22000"/>
                </a:srgbClr>
              </a:gs>
              <a:gs pos="55000">
                <a:srgbClr val="FFFFFF">
                  <a:alpha val="4000"/>
                </a:srgbClr>
              </a:gs>
              <a:gs pos="100000">
                <a:srgbClr val="FFFFFF">
                  <a:alpha val="0"/>
                </a:srgbClr>
              </a:gs>
            </a:gsLst>
            <a:lin ang="5400000" scaled="0"/>
          </a:gradFill>
          <a:ln w="12700">
            <a:solidFill>
              <a:srgbClr val="FFFFFF"/>
            </a:solidFill>
            <a:prstDash val="solid"/>
          </a:ln>
        </p:spPr>
        <p:txBody>
          <a:bodyPr/>
          <a:p/>
        </p:txBody>
      </p:sp>
      <p:sp>
        <p:nvSpPr>
          <p:cNvPr id="23" name="anim:1"/>
          <p:cNvSpPr txBox="1"/>
          <p:nvPr/>
        </p:nvSpPr>
        <p:spPr>
          <a:xfrm>
            <a:off x="914400" y="2039112"/>
            <a:ext cx="2743200" cy="201168"/>
          </a:xfrm>
          <a:prstGeom prst="rect">
            <a:avLst/>
          </a:prstGeom>
          <a:noFill/>
          <a:ln/>
        </p:spPr>
        <p:txBody>
          <a:bodyPr wrap="square" lIns="0" tIns="0" rIns="0" bIns="0" rtlCol="0" anchor="t"/>
          <a:lstStyle/>
          <a:p>
            <a:pPr algn="l" indent="0" marL="0">
              <a:buNone/>
            </a:pPr>
            <a:r>
              <a:rPr lang="en-US" sz="850" b="1" spc="200" kern="0" dirty="0">
                <a:solidFill>
                  <a:srgbClr val="E9B221"/>
                </a:solidFill>
                <a:latin typeface="Calibri" pitchFamily="34" charset="0"/>
                <a:ea typeface="Calibri" pitchFamily="34" charset="-122"/>
                <a:cs typeface="Calibri" pitchFamily="34" charset="-120"/>
              </a:rPr>
              <a:t>WE COMMIT</a:t>
            </a:r>
            <a:endParaRPr lang="en-US" sz="850" dirty="0"/>
          </a:p>
        </p:txBody>
      </p:sp>
      <p:sp>
        <p:nvSpPr>
          <p:cNvPr id="24" name="anim:1 grad:gold"/>
          <p:cNvSpPr/>
          <p:nvPr/>
        </p:nvSpPr>
        <p:spPr>
          <a:xfrm>
            <a:off x="914400" y="2478024"/>
            <a:ext cx="329184" cy="329184"/>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25" name="anim:1" descr="preencoded.png">    </p:cNvPr>
          <p:cNvPicPr>
            <a:picLocks noChangeAspect="1"/>
          </p:cNvPicPr>
          <p:nvPr/>
        </p:nvPicPr>
        <p:blipFill>
          <a:blip r:embed="rId3"/>
          <a:stretch>
            <a:fillRect/>
          </a:stretch>
        </p:blipFill>
        <p:spPr>
          <a:xfrm>
            <a:off x="993404" y="2557028"/>
            <a:ext cx="171176" cy="171176"/>
          </a:xfrm>
          <a:prstGeom prst="rect">
            <a:avLst/>
          </a:prstGeom>
        </p:spPr>
      </p:pic>
      <p:sp>
        <p:nvSpPr>
          <p:cNvPr id="26" name="anim:1"/>
          <p:cNvSpPr txBox="1"/>
          <p:nvPr/>
        </p:nvSpPr>
        <p:spPr>
          <a:xfrm>
            <a:off x="1417320" y="2423160"/>
            <a:ext cx="4343400" cy="5029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Every session opens on a real business question and states what it assumes you know.</a:t>
            </a:r>
            <a:endParaRPr lang="en-US" sz="1100" dirty="0"/>
          </a:p>
        </p:txBody>
      </p:sp>
      <p:sp>
        <p:nvSpPr>
          <p:cNvPr id="27" name="anim:1 grad:gold"/>
          <p:cNvSpPr/>
          <p:nvPr/>
        </p:nvSpPr>
        <p:spPr>
          <a:xfrm>
            <a:off x="914400" y="3099816"/>
            <a:ext cx="329184" cy="329184"/>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28" name="anim:1" descr="preencoded.png">    </p:cNvPr>
          <p:cNvPicPr>
            <a:picLocks noChangeAspect="1"/>
          </p:cNvPicPr>
          <p:nvPr/>
        </p:nvPicPr>
        <p:blipFill>
          <a:blip r:embed="rId4"/>
          <a:stretch>
            <a:fillRect/>
          </a:stretch>
        </p:blipFill>
        <p:spPr>
          <a:xfrm>
            <a:off x="993404" y="3178820"/>
            <a:ext cx="171176" cy="171176"/>
          </a:xfrm>
          <a:prstGeom prst="rect">
            <a:avLst/>
          </a:prstGeom>
        </p:spPr>
      </p:pic>
      <p:sp>
        <p:nvSpPr>
          <p:cNvPr id="29" name="anim:1"/>
          <p:cNvSpPr txBox="1"/>
          <p:nvPr/>
        </p:nvSpPr>
        <p:spPr>
          <a:xfrm>
            <a:off x="1417320" y="3044952"/>
            <a:ext cx="4343400" cy="5029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Setup instructions for the next day reach you the evening before.</a:t>
            </a:r>
            <a:endParaRPr lang="en-US" sz="1100" dirty="0"/>
          </a:p>
        </p:txBody>
      </p:sp>
      <p:sp>
        <p:nvSpPr>
          <p:cNvPr id="30" name="anim:1 grad:gold"/>
          <p:cNvSpPr/>
          <p:nvPr/>
        </p:nvSpPr>
        <p:spPr>
          <a:xfrm>
            <a:off x="914400" y="3721608"/>
            <a:ext cx="329184" cy="329184"/>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31" name="anim:1" descr="preencoded.png">    </p:cNvPr>
          <p:cNvPicPr>
            <a:picLocks noChangeAspect="1"/>
          </p:cNvPicPr>
          <p:nvPr/>
        </p:nvPicPr>
        <p:blipFill>
          <a:blip r:embed="rId5"/>
          <a:stretch>
            <a:fillRect/>
          </a:stretch>
        </p:blipFill>
        <p:spPr>
          <a:xfrm>
            <a:off x="993404" y="3800612"/>
            <a:ext cx="171176" cy="171176"/>
          </a:xfrm>
          <a:prstGeom prst="rect">
            <a:avLst/>
          </a:prstGeom>
        </p:spPr>
      </p:pic>
      <p:sp>
        <p:nvSpPr>
          <p:cNvPr id="32" name="anim:1"/>
          <p:cNvSpPr txBox="1"/>
          <p:nvPr/>
        </p:nvSpPr>
        <p:spPr>
          <a:xfrm>
            <a:off x="1417320" y="3666744"/>
            <a:ext cx="4343400" cy="5029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Rubrics and the assessment calendar are published before the first graded event.</a:t>
            </a:r>
            <a:endParaRPr lang="en-US" sz="1100" dirty="0"/>
          </a:p>
        </p:txBody>
      </p:sp>
      <p:sp>
        <p:nvSpPr>
          <p:cNvPr id="33" name="anim:1 grad:gold"/>
          <p:cNvSpPr/>
          <p:nvPr/>
        </p:nvSpPr>
        <p:spPr>
          <a:xfrm>
            <a:off x="914400" y="4343400"/>
            <a:ext cx="329184" cy="329184"/>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34" name="anim:1" descr="preencoded.png">    </p:cNvPr>
          <p:cNvPicPr>
            <a:picLocks noChangeAspect="1"/>
          </p:cNvPicPr>
          <p:nvPr/>
        </p:nvPicPr>
        <p:blipFill>
          <a:blip r:embed="rId6"/>
          <a:stretch>
            <a:fillRect/>
          </a:stretch>
        </p:blipFill>
        <p:spPr>
          <a:xfrm>
            <a:off x="993404" y="4422404"/>
            <a:ext cx="171176" cy="171176"/>
          </a:xfrm>
          <a:prstGeom prst="rect">
            <a:avLst/>
          </a:prstGeom>
        </p:spPr>
      </p:pic>
      <p:sp>
        <p:nvSpPr>
          <p:cNvPr id="35" name="anim:1"/>
          <p:cNvSpPr txBox="1"/>
          <p:nvPr/>
        </p:nvSpPr>
        <p:spPr>
          <a:xfrm>
            <a:off x="1417320" y="4288536"/>
            <a:ext cx="4343400" cy="5029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Every build-week grade closes within that week on a fixed rubric.</a:t>
            </a:r>
            <a:endParaRPr lang="en-US" sz="1100" dirty="0"/>
          </a:p>
        </p:txBody>
      </p:sp>
      <p:sp>
        <p:nvSpPr>
          <p:cNvPr id="36" name="anim:1 grad:gold"/>
          <p:cNvSpPr/>
          <p:nvPr/>
        </p:nvSpPr>
        <p:spPr>
          <a:xfrm>
            <a:off x="914400" y="4965192"/>
            <a:ext cx="329184" cy="329184"/>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37" name="anim:1" descr="preencoded.png">    </p:cNvPr>
          <p:cNvPicPr>
            <a:picLocks noChangeAspect="1"/>
          </p:cNvPicPr>
          <p:nvPr/>
        </p:nvPicPr>
        <p:blipFill>
          <a:blip r:embed="rId7"/>
          <a:stretch>
            <a:fillRect/>
          </a:stretch>
        </p:blipFill>
        <p:spPr>
          <a:xfrm>
            <a:off x="993404" y="5044196"/>
            <a:ext cx="171176" cy="171176"/>
          </a:xfrm>
          <a:prstGeom prst="rect">
            <a:avLst/>
          </a:prstGeom>
        </p:spPr>
      </p:pic>
      <p:sp>
        <p:nvSpPr>
          <p:cNvPr id="38" name="anim:1"/>
          <p:cNvSpPr txBox="1"/>
          <p:nvPr/>
        </p:nvSpPr>
        <p:spPr>
          <a:xfrm>
            <a:off x="1417320" y="4910328"/>
            <a:ext cx="4343400" cy="5029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Session recordings and your score sheet are on the LMS.</a:t>
            </a:r>
            <a:endParaRPr lang="en-US" sz="1100" dirty="0"/>
          </a:p>
        </p:txBody>
      </p:sp>
      <p:sp>
        <p:nvSpPr>
          <p:cNvPr id="39" name="anim:1 grad:gold"/>
          <p:cNvSpPr/>
          <p:nvPr/>
        </p:nvSpPr>
        <p:spPr>
          <a:xfrm>
            <a:off x="914400" y="5586984"/>
            <a:ext cx="329184" cy="329184"/>
          </a:xfrm>
          <a:prstGeom prst="ellipse">
            <a:avLst/>
          </a:prstGeom>
          <a:gradFill rotWithShape="1">
            <a:gsLst>
              <a:gs pos="0">
                <a:srgbClr val="F3C84A"/>
              </a:gs>
              <a:gs pos="100000">
                <a:srgbClr val="D9A21A"/>
              </a:gs>
            </a:gsLst>
            <a:lin ang="5400000" scaled="0"/>
          </a:gradFill>
          <a:ln w="9525">
            <a:solidFill>
              <a:srgbClr val="E9B221"/>
            </a:solidFill>
            <a:prstDash val="solid"/>
          </a:ln>
        </p:spPr>
        <p:txBody>
          <a:bodyPr/>
          <a:p/>
        </p:txBody>
      </p:sp>
      <p:pic>
        <p:nvPicPr>
          <p:cNvPr id="40" name="anim:1" descr="preencoded.png">    </p:cNvPr>
          <p:cNvPicPr>
            <a:picLocks noChangeAspect="1"/>
          </p:cNvPicPr>
          <p:nvPr/>
        </p:nvPicPr>
        <p:blipFill>
          <a:blip r:embed="rId8"/>
          <a:stretch>
            <a:fillRect/>
          </a:stretch>
        </p:blipFill>
        <p:spPr>
          <a:xfrm>
            <a:off x="993404" y="5665988"/>
            <a:ext cx="171176" cy="171176"/>
          </a:xfrm>
          <a:prstGeom prst="rect">
            <a:avLst/>
          </a:prstGeom>
        </p:spPr>
      </p:pic>
      <p:sp>
        <p:nvSpPr>
          <p:cNvPr id="41" name="anim:1"/>
          <p:cNvSpPr txBox="1"/>
          <p:nvPr/>
        </p:nvSpPr>
        <p:spPr>
          <a:xfrm>
            <a:off x="1417320" y="5532120"/>
            <a:ext cx="4343400" cy="5029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Every escalation gets a response within two working days.</a:t>
            </a:r>
            <a:endParaRPr lang="en-US" sz="1100" dirty="0"/>
          </a:p>
        </p:txBody>
      </p:sp>
      <p:sp>
        <p:nvSpPr>
          <p:cNvPr id="42" name="anim:2 grad:card"/>
          <p:cNvSpPr/>
          <p:nvPr/>
        </p:nvSpPr>
        <p:spPr>
          <a:xfrm>
            <a:off x="6217920" y="1783080"/>
            <a:ext cx="5422392" cy="4526280"/>
          </a:xfrm>
          <a:prstGeom prst="roundRect">
            <a:avLst>
              <a:gd name="adj" fmla="val 2020"/>
            </a:avLst>
          </a:prstGeom>
          <a:gradFill rotWithShape="1">
            <a:gsLst>
              <a:gs pos="0">
                <a:srgbClr val="FFFFFF"/>
              </a:gs>
              <a:gs pos="100000">
                <a:srgbClr val="F3F6FA"/>
              </a:gs>
            </a:gsLst>
            <a:lin ang="5400000" scaled="0"/>
          </a:gradFill>
          <a:ln w="9525">
            <a:solidFill>
              <a:srgbClr val="E4E9F0"/>
            </a:solidFill>
            <a:prstDash val="solid"/>
          </a:ln>
          <a:effectLst>
            <a:outerShdw sx="100000" sy="100000" kx="0" ky="0" algn="bl" rotWithShape="0" blurRad="76200" dist="19050" dir="5400000">
              <a:srgbClr val="0A1E33">
                <a:alpha val="10000"/>
              </a:srgbClr>
            </a:outerShdw>
          </a:effectLst>
        </p:spPr>
        <p:txBody>
          <a:bodyPr/>
          <a:p/>
        </p:txBody>
      </p:sp>
      <p:sp>
        <p:nvSpPr>
          <p:cNvPr id="43" name="anim:2"/>
          <p:cNvSpPr txBox="1"/>
          <p:nvPr/>
        </p:nvSpPr>
        <p:spPr>
          <a:xfrm>
            <a:off x="6583680" y="2039112"/>
            <a:ext cx="2743200" cy="201168"/>
          </a:xfrm>
          <a:prstGeom prst="rect">
            <a:avLst/>
          </a:prstGeom>
          <a:noFill/>
          <a:ln/>
        </p:spPr>
        <p:txBody>
          <a:bodyPr wrap="square" lIns="0" tIns="0" rIns="0" bIns="0" rtlCol="0" anchor="t"/>
          <a:lstStyle/>
          <a:p>
            <a:pPr algn="l" indent="0" marL="0">
              <a:buNone/>
            </a:pPr>
            <a:r>
              <a:rPr lang="en-US" sz="850" b="1" spc="200" kern="0" dirty="0">
                <a:solidFill>
                  <a:srgbClr val="007DB6"/>
                </a:solidFill>
                <a:latin typeface="Calibri" pitchFamily="34" charset="0"/>
                <a:ea typeface="Calibri" pitchFamily="34" charset="-122"/>
                <a:cs typeface="Calibri" pitchFamily="34" charset="-120"/>
              </a:rPr>
              <a:t>WE ASK</a:t>
            </a:r>
            <a:endParaRPr lang="en-US" sz="850" dirty="0"/>
          </a:p>
        </p:txBody>
      </p:sp>
      <p:sp>
        <p:nvSpPr>
          <p:cNvPr id="44" name="anim:2"/>
          <p:cNvSpPr/>
          <p:nvPr/>
        </p:nvSpPr>
        <p:spPr>
          <a:xfrm>
            <a:off x="6583680" y="2478024"/>
            <a:ext cx="329184" cy="329184"/>
          </a:xfrm>
          <a:prstGeom prst="ellipse">
            <a:avLst/>
          </a:prstGeom>
          <a:solidFill>
            <a:srgbClr val="E3F2FA"/>
          </a:solidFill>
          <a:ln w="9525">
            <a:solidFill>
              <a:srgbClr val="E3F2FA"/>
            </a:solidFill>
            <a:prstDash val="solid"/>
          </a:ln>
        </p:spPr>
        <p:txBody>
          <a:bodyPr/>
          <a:p/>
        </p:txBody>
      </p:sp>
      <p:pic>
        <p:nvPicPr>
          <p:cNvPr id="45" name="anim:2" descr="preencoded.png">    </p:cNvPr>
          <p:cNvPicPr>
            <a:picLocks noChangeAspect="1"/>
          </p:cNvPicPr>
          <p:nvPr/>
        </p:nvPicPr>
        <p:blipFill>
          <a:blip r:embed="rId9"/>
          <a:stretch>
            <a:fillRect/>
          </a:stretch>
        </p:blipFill>
        <p:spPr>
          <a:xfrm>
            <a:off x="6662684" y="2557028"/>
            <a:ext cx="171176" cy="171176"/>
          </a:xfrm>
          <a:prstGeom prst="rect">
            <a:avLst/>
          </a:prstGeom>
        </p:spPr>
      </p:pic>
      <p:sp>
        <p:nvSpPr>
          <p:cNvPr id="46" name="anim:2"/>
          <p:cNvSpPr txBox="1"/>
          <p:nvPr/>
        </p:nvSpPr>
        <p:spPr>
          <a:xfrm>
            <a:off x="7086600" y="2423160"/>
            <a:ext cx="4343400" cy="502920"/>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Be in the room for every session; attendance is recorded, 90 percent minimum.</a:t>
            </a:r>
            <a:endParaRPr lang="en-US" sz="1100" dirty="0"/>
          </a:p>
        </p:txBody>
      </p:sp>
      <p:sp>
        <p:nvSpPr>
          <p:cNvPr id="47" name="anim:2"/>
          <p:cNvSpPr/>
          <p:nvPr/>
        </p:nvSpPr>
        <p:spPr>
          <a:xfrm>
            <a:off x="6583680" y="3099816"/>
            <a:ext cx="329184" cy="329184"/>
          </a:xfrm>
          <a:prstGeom prst="ellipse">
            <a:avLst/>
          </a:prstGeom>
          <a:solidFill>
            <a:srgbClr val="E3F2FA"/>
          </a:solidFill>
          <a:ln w="9525">
            <a:solidFill>
              <a:srgbClr val="E3F2FA"/>
            </a:solidFill>
            <a:prstDash val="solid"/>
          </a:ln>
        </p:spPr>
        <p:txBody>
          <a:bodyPr/>
          <a:p/>
        </p:txBody>
      </p:sp>
      <p:pic>
        <p:nvPicPr>
          <p:cNvPr id="48" name="anim:2" descr="preencoded.png">    </p:cNvPr>
          <p:cNvPicPr>
            <a:picLocks noChangeAspect="1"/>
          </p:cNvPicPr>
          <p:nvPr/>
        </p:nvPicPr>
        <p:blipFill>
          <a:blip r:embed="rId10"/>
          <a:stretch>
            <a:fillRect/>
          </a:stretch>
        </p:blipFill>
        <p:spPr>
          <a:xfrm>
            <a:off x="6662684" y="3178820"/>
            <a:ext cx="171176" cy="171176"/>
          </a:xfrm>
          <a:prstGeom prst="rect">
            <a:avLst/>
          </a:prstGeom>
        </p:spPr>
      </p:pic>
      <p:sp>
        <p:nvSpPr>
          <p:cNvPr id="49" name="anim:2"/>
          <p:cNvSpPr txBox="1"/>
          <p:nvPr/>
        </p:nvSpPr>
        <p:spPr>
          <a:xfrm>
            <a:off x="7086600" y="3044952"/>
            <a:ext cx="4343400" cy="502920"/>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Think before you reach for a tool, and keep AI out of AI-free work.</a:t>
            </a:r>
            <a:endParaRPr lang="en-US" sz="1100" dirty="0"/>
          </a:p>
        </p:txBody>
      </p:sp>
      <p:sp>
        <p:nvSpPr>
          <p:cNvPr id="50" name="anim:2"/>
          <p:cNvSpPr/>
          <p:nvPr/>
        </p:nvSpPr>
        <p:spPr>
          <a:xfrm>
            <a:off x="6583680" y="3721608"/>
            <a:ext cx="329184" cy="329184"/>
          </a:xfrm>
          <a:prstGeom prst="ellipse">
            <a:avLst/>
          </a:prstGeom>
          <a:solidFill>
            <a:srgbClr val="E3F2FA"/>
          </a:solidFill>
          <a:ln w="9525">
            <a:solidFill>
              <a:srgbClr val="E3F2FA"/>
            </a:solidFill>
            <a:prstDash val="solid"/>
          </a:ln>
        </p:spPr>
        <p:txBody>
          <a:bodyPr/>
          <a:p/>
        </p:txBody>
      </p:sp>
      <p:pic>
        <p:nvPicPr>
          <p:cNvPr id="51" name="anim:2" descr="preencoded.png">    </p:cNvPr>
          <p:cNvPicPr>
            <a:picLocks noChangeAspect="1"/>
          </p:cNvPicPr>
          <p:nvPr/>
        </p:nvPicPr>
        <p:blipFill>
          <a:blip r:embed="rId11"/>
          <a:stretch>
            <a:fillRect/>
          </a:stretch>
        </p:blipFill>
        <p:spPr>
          <a:xfrm>
            <a:off x="6662684" y="3800612"/>
            <a:ext cx="171176" cy="171176"/>
          </a:xfrm>
          <a:prstGeom prst="rect">
            <a:avLst/>
          </a:prstGeom>
        </p:spPr>
      </p:pic>
      <p:sp>
        <p:nvSpPr>
          <p:cNvPr id="52" name="anim:2"/>
          <p:cNvSpPr txBox="1"/>
          <p:nvPr/>
        </p:nvSpPr>
        <p:spPr>
          <a:xfrm>
            <a:off x="7086600" y="3666744"/>
            <a:ext cx="4343400" cy="502920"/>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Keep your challenges log live during every build, never written afterwards.</a:t>
            </a:r>
            <a:endParaRPr lang="en-US" sz="1100" dirty="0"/>
          </a:p>
        </p:txBody>
      </p:sp>
      <p:sp>
        <p:nvSpPr>
          <p:cNvPr id="53" name="anim:2"/>
          <p:cNvSpPr/>
          <p:nvPr/>
        </p:nvSpPr>
        <p:spPr>
          <a:xfrm>
            <a:off x="6583680" y="4343400"/>
            <a:ext cx="329184" cy="329184"/>
          </a:xfrm>
          <a:prstGeom prst="ellipse">
            <a:avLst/>
          </a:prstGeom>
          <a:solidFill>
            <a:srgbClr val="E3F2FA"/>
          </a:solidFill>
          <a:ln w="9525">
            <a:solidFill>
              <a:srgbClr val="E3F2FA"/>
            </a:solidFill>
            <a:prstDash val="solid"/>
          </a:ln>
        </p:spPr>
        <p:txBody>
          <a:bodyPr/>
          <a:p/>
        </p:txBody>
      </p:sp>
      <p:pic>
        <p:nvPicPr>
          <p:cNvPr id="54" name="anim:2" descr="preencoded.png">    </p:cNvPr>
          <p:cNvPicPr>
            <a:picLocks noChangeAspect="1"/>
          </p:cNvPicPr>
          <p:nvPr/>
        </p:nvPicPr>
        <p:blipFill>
          <a:blip r:embed="rId12"/>
          <a:stretch>
            <a:fillRect/>
          </a:stretch>
        </p:blipFill>
        <p:spPr>
          <a:xfrm>
            <a:off x="6662684" y="4422404"/>
            <a:ext cx="171176" cy="171176"/>
          </a:xfrm>
          <a:prstGeom prst="rect">
            <a:avLst/>
          </a:prstGeom>
        </p:spPr>
      </p:pic>
      <p:sp>
        <p:nvSpPr>
          <p:cNvPr id="55" name="anim:2"/>
          <p:cNvSpPr txBox="1"/>
          <p:nvPr/>
        </p:nvSpPr>
        <p:spPr>
          <a:xfrm>
            <a:off x="7086600" y="4288536"/>
            <a:ext cx="4343400" cy="502920"/>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Submit on GitHub Discussions and the LMS by the stated deadline.</a:t>
            </a:r>
            <a:endParaRPr lang="en-US" sz="1100" dirty="0"/>
          </a:p>
        </p:txBody>
      </p:sp>
      <p:sp>
        <p:nvSpPr>
          <p:cNvPr id="56" name="anim:2"/>
          <p:cNvSpPr/>
          <p:nvPr/>
        </p:nvSpPr>
        <p:spPr>
          <a:xfrm>
            <a:off x="6583680" y="4965192"/>
            <a:ext cx="329184" cy="329184"/>
          </a:xfrm>
          <a:prstGeom prst="ellipse">
            <a:avLst/>
          </a:prstGeom>
          <a:solidFill>
            <a:srgbClr val="E3F2FA"/>
          </a:solidFill>
          <a:ln w="9525">
            <a:solidFill>
              <a:srgbClr val="E3F2FA"/>
            </a:solidFill>
            <a:prstDash val="solid"/>
          </a:ln>
        </p:spPr>
        <p:txBody>
          <a:bodyPr/>
          <a:p/>
        </p:txBody>
      </p:sp>
      <p:pic>
        <p:nvPicPr>
          <p:cNvPr id="57" name="anim:2" descr="preencoded.png">    </p:cNvPr>
          <p:cNvPicPr>
            <a:picLocks noChangeAspect="1"/>
          </p:cNvPicPr>
          <p:nvPr/>
        </p:nvPicPr>
        <p:blipFill>
          <a:blip r:embed="rId13"/>
          <a:stretch>
            <a:fillRect/>
          </a:stretch>
        </p:blipFill>
        <p:spPr>
          <a:xfrm>
            <a:off x="6662684" y="5044196"/>
            <a:ext cx="171176" cy="171176"/>
          </a:xfrm>
          <a:prstGeom prst="rect">
            <a:avLst/>
          </a:prstGeom>
        </p:spPr>
      </p:pic>
      <p:sp>
        <p:nvSpPr>
          <p:cNvPr id="58" name="anim:2"/>
          <p:cNvSpPr txBox="1"/>
          <p:nvPr/>
        </p:nvSpPr>
        <p:spPr>
          <a:xfrm>
            <a:off x="7086600" y="4910328"/>
            <a:ext cx="4343400" cy="502920"/>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Own your setup: your laptop, your accounts, your tools.</a:t>
            </a:r>
            <a:endParaRPr lang="en-US" sz="1100" dirty="0"/>
          </a:p>
        </p:txBody>
      </p:sp>
      <p:sp>
        <p:nvSpPr>
          <p:cNvPr id="59" name="anim:2"/>
          <p:cNvSpPr/>
          <p:nvPr/>
        </p:nvSpPr>
        <p:spPr>
          <a:xfrm>
            <a:off x="6583680" y="5586984"/>
            <a:ext cx="329184" cy="329184"/>
          </a:xfrm>
          <a:prstGeom prst="ellipse">
            <a:avLst/>
          </a:prstGeom>
          <a:solidFill>
            <a:srgbClr val="E3F2FA"/>
          </a:solidFill>
          <a:ln w="9525">
            <a:solidFill>
              <a:srgbClr val="E3F2FA"/>
            </a:solidFill>
            <a:prstDash val="solid"/>
          </a:ln>
        </p:spPr>
        <p:txBody>
          <a:bodyPr/>
          <a:p/>
        </p:txBody>
      </p:sp>
      <p:pic>
        <p:nvPicPr>
          <p:cNvPr id="60" name="anim:2" descr="preencoded.png">    </p:cNvPr>
          <p:cNvPicPr>
            <a:picLocks noChangeAspect="1"/>
          </p:cNvPicPr>
          <p:nvPr/>
        </p:nvPicPr>
        <p:blipFill>
          <a:blip r:embed="rId14"/>
          <a:stretch>
            <a:fillRect/>
          </a:stretch>
        </p:blipFill>
        <p:spPr>
          <a:xfrm>
            <a:off x="6662684" y="5665988"/>
            <a:ext cx="171176" cy="171176"/>
          </a:xfrm>
          <a:prstGeom prst="rect">
            <a:avLst/>
          </a:prstGeom>
        </p:spPr>
      </p:pic>
      <p:sp>
        <p:nvSpPr>
          <p:cNvPr id="61" name="anim:2"/>
          <p:cNvSpPr txBox="1"/>
          <p:nvPr/>
        </p:nvSpPr>
        <p:spPr>
          <a:xfrm>
            <a:off x="7086600" y="5532120"/>
            <a:ext cx="4343400" cy="502920"/>
          </a:xfrm>
          <a:prstGeom prst="rect">
            <a:avLst/>
          </a:prstGeom>
          <a:noFill/>
          <a:ln/>
        </p:spPr>
        <p:txBody>
          <a:bodyPr wrap="square" lIns="0" tIns="0" rIns="0" bIns="0" rtlCol="0" anchor="ctr"/>
          <a:lstStyle/>
          <a:p>
            <a:pPr algn="l" indent="0" marL="0">
              <a:buNone/>
            </a:pPr>
            <a:r>
              <a:rPr lang="en-US" sz="1100" dirty="0">
                <a:solidFill>
                  <a:srgbClr val="15243A"/>
                </a:solidFill>
                <a:latin typeface="Calibri" pitchFamily="34" charset="0"/>
                <a:ea typeface="Calibri" pitchFamily="34" charset="-122"/>
                <a:cs typeface="Calibri" pitchFamily="34" charset="-120"/>
              </a:rPr>
              <a:t>Be ready to defend every line you ship and every decision you make.</a:t>
            </a:r>
            <a:endParaRPr lang="en-US" sz="11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66" fill="hold">
                      <p:stCondLst>
                        <p:cond delay="indefinite"/>
                      </p:stCondLst>
                      <p:childTnLst>
                        <p:par>
                          <p:cTn id="6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18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27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36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54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63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72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par>
                                <p:cTn id="30" presetID="10" presetClass="entr" presetSubtype="0" fill="hold" grpId="0" nodeType="withEffect">
                                  <p:stCondLst>
                                    <p:cond delay="81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400"/>
                                        <p:tgtEl>
                                          <p:spTgt spid="31"/>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400"/>
                                        <p:tgtEl>
                                          <p:spTgt spid="32"/>
                                        </p:tgtEl>
                                      </p:cBhvr>
                                    </p:animEffect>
                                  </p:childTnLst>
                                </p:cTn>
                              </p:par>
                              <p:par>
                                <p:cTn id="39" presetID="10" presetClass="entr" presetSubtype="0" fill="hold" grpId="0" nodeType="withEffect">
                                  <p:stCondLst>
                                    <p:cond delay="90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400"/>
                                        <p:tgtEl>
                                          <p:spTgt spid="33"/>
                                        </p:tgtEl>
                                      </p:cBhvr>
                                    </p:animEffect>
                                  </p:childTnLst>
                                </p:cTn>
                              </p:par>
                              <p:par>
                                <p:cTn id="42" presetID="10" presetClass="entr" presetSubtype="0" fill="hold" grpId="0" nodeType="withEffect">
                                  <p:stCondLst>
                                    <p:cond delay="9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400"/>
                                        <p:tgtEl>
                                          <p:spTgt spid="34"/>
                                        </p:tgtEl>
                                      </p:cBhvr>
                                    </p:animEffect>
                                  </p:childTnLst>
                                </p:cTn>
                              </p:par>
                              <p:par>
                                <p:cTn id="45" presetID="10" presetClass="entr" presetSubtype="0" fill="hold" grpId="0"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par>
                                <p:cTn id="51" presetID="10" presetClass="entr" presetSubtype="0" fill="hold" grpId="0" nodeType="withEffect">
                                  <p:stCondLst>
                                    <p:cond delay="90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400"/>
                                        <p:tgtEl>
                                          <p:spTgt spid="37"/>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400"/>
                                        <p:tgtEl>
                                          <p:spTgt spid="38"/>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400"/>
                                        <p:tgtEl>
                                          <p:spTgt spid="39"/>
                                        </p:tgtEl>
                                      </p:cBhvr>
                                    </p:animEffect>
                                  </p:childTnLst>
                                </p:cTn>
                              </p:par>
                              <p:par>
                                <p:cTn id="60" presetID="10" presetClass="entr" presetSubtype="0" fill="hold" grpId="0" nodeType="withEffect">
                                  <p:stCondLst>
                                    <p:cond delay="90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400"/>
                                        <p:tgtEl>
                                          <p:spTgt spid="40"/>
                                        </p:tgtEl>
                                      </p:cBhvr>
                                    </p:animEffect>
                                  </p:childTnLst>
                                </p:cTn>
                              </p:par>
                              <p:par>
                                <p:cTn id="63" presetID="10" presetClass="entr" presetSubtype="0" fill="hold" grpId="0" nodeType="withEffect">
                                  <p:stCondLst>
                                    <p:cond delay="900"/>
                                  </p:stCondLst>
                                  <p:childTnLst>
                                    <p:set>
                                      <p:cBhvr>
                                        <p:cTn id="64" dur="1" fill="hold">
                                          <p:stCondLst>
                                            <p:cond delay="0"/>
                                          </p:stCondLst>
                                        </p:cTn>
                                        <p:tgtEl>
                                          <p:spTgt spid="41"/>
                                        </p:tgtEl>
                                        <p:attrNameLst>
                                          <p:attrName>style.visibility</p:attrName>
                                        </p:attrNameLst>
                                      </p:cBhvr>
                                      <p:to>
                                        <p:strVal val="visible"/>
                                      </p:to>
                                    </p:set>
                                    <p:animEffect transition="in" filter="fade">
                                      <p:cBhvr>
                                        <p:cTn id="65" dur="400"/>
                                        <p:tgtEl>
                                          <p:spTgt spid="41"/>
                                        </p:tgtEl>
                                      </p:cBhvr>
                                    </p:animEffect>
                                  </p:childTnLst>
                                </p:cTn>
                              </p:par>
                            </p:childTnLst>
                          </p:cTn>
                        </p:par>
                      </p:childTnLst>
                    </p:cTn>
                  </p:par>
                  <p:par>
                    <p:cTn id="128" fill="hold">
                      <p:stCondLst>
                        <p:cond delay="indefinite"/>
                      </p:stCondLst>
                      <p:childTnLst>
                        <p:par>
                          <p:cTn id="129"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400"/>
                                        <p:tgtEl>
                                          <p:spTgt spid="42"/>
                                        </p:tgtEl>
                                      </p:cBhvr>
                                    </p:animEffect>
                                  </p:childTnLst>
                                </p:cTn>
                              </p:par>
                              <p:par>
                                <p:cTn id="71" presetID="10" presetClass="entr" presetSubtype="0" fill="hold" grpId="0" nodeType="withEffect">
                                  <p:stCondLst>
                                    <p:cond delay="9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400"/>
                                        <p:tgtEl>
                                          <p:spTgt spid="43"/>
                                        </p:tgtEl>
                                      </p:cBhvr>
                                    </p:animEffect>
                                  </p:childTnLst>
                                </p:cTn>
                              </p:par>
                              <p:par>
                                <p:cTn id="74" presetID="10" presetClass="entr" presetSubtype="0" fill="hold" grpId="0" nodeType="withEffect">
                                  <p:stCondLst>
                                    <p:cond delay="18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400"/>
                                        <p:tgtEl>
                                          <p:spTgt spid="44"/>
                                        </p:tgtEl>
                                      </p:cBhvr>
                                    </p:animEffect>
                                  </p:childTnLst>
                                </p:cTn>
                              </p:par>
                              <p:par>
                                <p:cTn id="77" presetID="10" presetClass="entr" presetSubtype="0" fill="hold" grpId="0" nodeType="withEffect">
                                  <p:stCondLst>
                                    <p:cond delay="27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400"/>
                                        <p:tgtEl>
                                          <p:spTgt spid="45"/>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400"/>
                                        <p:tgtEl>
                                          <p:spTgt spid="46"/>
                                        </p:tgtEl>
                                      </p:cBhvr>
                                    </p:animEffect>
                                  </p:childTnLst>
                                </p:cTn>
                              </p:par>
                              <p:par>
                                <p:cTn id="83" presetID="10" presetClass="entr" presetSubtype="0" fill="hold" grpId="0" nodeType="withEffect">
                                  <p:stCondLst>
                                    <p:cond delay="45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400"/>
                                        <p:tgtEl>
                                          <p:spTgt spid="47"/>
                                        </p:tgtEl>
                                      </p:cBhvr>
                                    </p:animEffect>
                                  </p:childTnLst>
                                </p:cTn>
                              </p:par>
                              <p:par>
                                <p:cTn id="86" presetID="10" presetClass="entr" presetSubtype="0" fill="hold" grpId="0" nodeType="withEffect">
                                  <p:stCondLst>
                                    <p:cond delay="54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400"/>
                                        <p:tgtEl>
                                          <p:spTgt spid="48"/>
                                        </p:tgtEl>
                                      </p:cBhvr>
                                    </p:animEffect>
                                  </p:childTnLst>
                                </p:cTn>
                              </p:par>
                              <p:par>
                                <p:cTn id="89" presetID="10" presetClass="entr" presetSubtype="0" fill="hold" grpId="0" nodeType="withEffect">
                                  <p:stCondLst>
                                    <p:cond delay="630"/>
                                  </p:stCondLst>
                                  <p:childTnLst>
                                    <p:set>
                                      <p:cBhvr>
                                        <p:cTn id="90" dur="1" fill="hold">
                                          <p:stCondLst>
                                            <p:cond delay="0"/>
                                          </p:stCondLst>
                                        </p:cTn>
                                        <p:tgtEl>
                                          <p:spTgt spid="49"/>
                                        </p:tgtEl>
                                        <p:attrNameLst>
                                          <p:attrName>style.visibility</p:attrName>
                                        </p:attrNameLst>
                                      </p:cBhvr>
                                      <p:to>
                                        <p:strVal val="visible"/>
                                      </p:to>
                                    </p:set>
                                    <p:animEffect transition="in" filter="fade">
                                      <p:cBhvr>
                                        <p:cTn id="91" dur="400"/>
                                        <p:tgtEl>
                                          <p:spTgt spid="49"/>
                                        </p:tgtEl>
                                      </p:cBhvr>
                                    </p:animEffect>
                                  </p:childTnLst>
                                </p:cTn>
                              </p:par>
                              <p:par>
                                <p:cTn id="92" presetID="10" presetClass="entr" presetSubtype="0" fill="hold" grpId="0" nodeType="withEffect">
                                  <p:stCondLst>
                                    <p:cond delay="720"/>
                                  </p:stCondLst>
                                  <p:childTnLst>
                                    <p:set>
                                      <p:cBhvr>
                                        <p:cTn id="93" dur="1" fill="hold">
                                          <p:stCondLst>
                                            <p:cond delay="0"/>
                                          </p:stCondLst>
                                        </p:cTn>
                                        <p:tgtEl>
                                          <p:spTgt spid="50"/>
                                        </p:tgtEl>
                                        <p:attrNameLst>
                                          <p:attrName>style.visibility</p:attrName>
                                        </p:attrNameLst>
                                      </p:cBhvr>
                                      <p:to>
                                        <p:strVal val="visible"/>
                                      </p:to>
                                    </p:set>
                                    <p:animEffect transition="in" filter="fade">
                                      <p:cBhvr>
                                        <p:cTn id="94" dur="400"/>
                                        <p:tgtEl>
                                          <p:spTgt spid="50"/>
                                        </p:tgtEl>
                                      </p:cBhvr>
                                    </p:animEffect>
                                  </p:childTnLst>
                                </p:cTn>
                              </p:par>
                              <p:par>
                                <p:cTn id="95" presetID="10" presetClass="entr" presetSubtype="0" fill="hold" grpId="0" nodeType="withEffect">
                                  <p:stCondLst>
                                    <p:cond delay="81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400"/>
                                        <p:tgtEl>
                                          <p:spTgt spid="51"/>
                                        </p:tgtEl>
                                      </p:cBhvr>
                                    </p:animEffect>
                                  </p:childTnLst>
                                </p:cTn>
                              </p:par>
                              <p:par>
                                <p:cTn id="98" presetID="10" presetClass="entr" presetSubtype="0" fill="hold" grpId="0" nodeType="withEffect">
                                  <p:stCondLst>
                                    <p:cond delay="90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400"/>
                                        <p:tgtEl>
                                          <p:spTgt spid="52"/>
                                        </p:tgtEl>
                                      </p:cBhvr>
                                    </p:animEffect>
                                  </p:childTnLst>
                                </p:cTn>
                              </p:par>
                              <p:par>
                                <p:cTn id="101" presetID="10" presetClass="entr" presetSubtype="0" fill="hold" grpId="0" nodeType="withEffect">
                                  <p:stCondLst>
                                    <p:cond delay="90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400"/>
                                        <p:tgtEl>
                                          <p:spTgt spid="53"/>
                                        </p:tgtEl>
                                      </p:cBhvr>
                                    </p:animEffect>
                                  </p:childTnLst>
                                </p:cTn>
                              </p:par>
                              <p:par>
                                <p:cTn id="104" presetID="10" presetClass="entr" presetSubtype="0" fill="hold" grpId="0" nodeType="withEffect">
                                  <p:stCondLst>
                                    <p:cond delay="900"/>
                                  </p:stCondLst>
                                  <p:childTnLst>
                                    <p:set>
                                      <p:cBhvr>
                                        <p:cTn id="105" dur="1" fill="hold">
                                          <p:stCondLst>
                                            <p:cond delay="0"/>
                                          </p:stCondLst>
                                        </p:cTn>
                                        <p:tgtEl>
                                          <p:spTgt spid="54"/>
                                        </p:tgtEl>
                                        <p:attrNameLst>
                                          <p:attrName>style.visibility</p:attrName>
                                        </p:attrNameLst>
                                      </p:cBhvr>
                                      <p:to>
                                        <p:strVal val="visible"/>
                                      </p:to>
                                    </p:set>
                                    <p:animEffect transition="in" filter="fade">
                                      <p:cBhvr>
                                        <p:cTn id="106" dur="400"/>
                                        <p:tgtEl>
                                          <p:spTgt spid="54"/>
                                        </p:tgtEl>
                                      </p:cBhvr>
                                    </p:animEffect>
                                  </p:childTnLst>
                                </p:cTn>
                              </p:par>
                              <p:par>
                                <p:cTn id="107" presetID="10" presetClass="entr" presetSubtype="0" fill="hold" grpId="0" nodeType="withEffect">
                                  <p:stCondLst>
                                    <p:cond delay="90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400"/>
                                        <p:tgtEl>
                                          <p:spTgt spid="55"/>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56"/>
                                        </p:tgtEl>
                                        <p:attrNameLst>
                                          <p:attrName>style.visibility</p:attrName>
                                        </p:attrNameLst>
                                      </p:cBhvr>
                                      <p:to>
                                        <p:strVal val="visible"/>
                                      </p:to>
                                    </p:set>
                                    <p:animEffect transition="in" filter="fade">
                                      <p:cBhvr>
                                        <p:cTn id="112" dur="400"/>
                                        <p:tgtEl>
                                          <p:spTgt spid="56"/>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400"/>
                                        <p:tgtEl>
                                          <p:spTgt spid="57"/>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58"/>
                                        </p:tgtEl>
                                        <p:attrNameLst>
                                          <p:attrName>style.visibility</p:attrName>
                                        </p:attrNameLst>
                                      </p:cBhvr>
                                      <p:to>
                                        <p:strVal val="visible"/>
                                      </p:to>
                                    </p:set>
                                    <p:animEffect transition="in" filter="fade">
                                      <p:cBhvr>
                                        <p:cTn id="118" dur="400"/>
                                        <p:tgtEl>
                                          <p:spTgt spid="58"/>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59"/>
                                        </p:tgtEl>
                                        <p:attrNameLst>
                                          <p:attrName>style.visibility</p:attrName>
                                        </p:attrNameLst>
                                      </p:cBhvr>
                                      <p:to>
                                        <p:strVal val="visible"/>
                                      </p:to>
                                    </p:set>
                                    <p:animEffect transition="in" filter="fade">
                                      <p:cBhvr>
                                        <p:cTn id="121" dur="400"/>
                                        <p:tgtEl>
                                          <p:spTgt spid="59"/>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60"/>
                                        </p:tgtEl>
                                        <p:attrNameLst>
                                          <p:attrName>style.visibility</p:attrName>
                                        </p:attrNameLst>
                                      </p:cBhvr>
                                      <p:to>
                                        <p:strVal val="visible"/>
                                      </p:to>
                                    </p:set>
                                    <p:animEffect transition="in" filter="fade">
                                      <p:cBhvr>
                                        <p:cTn id="124" dur="400"/>
                                        <p:tgtEl>
                                          <p:spTgt spid="60"/>
                                        </p:tgtEl>
                                      </p:cBhvr>
                                    </p:animEffect>
                                  </p:childTnLst>
                                </p:cTn>
                              </p:par>
                              <p:par>
                                <p:cTn id="125" presetID="10" presetClass="entr" presetSubtype="0" fill="hold" grpId="0" nodeType="withEffect">
                                  <p:stCondLst>
                                    <p:cond delay="900"/>
                                  </p:stCondLst>
                                  <p:childTnLst>
                                    <p:set>
                                      <p:cBhvr>
                                        <p:cTn id="126" dur="1" fill="hold">
                                          <p:stCondLst>
                                            <p:cond delay="0"/>
                                          </p:stCondLst>
                                        </p:cTn>
                                        <p:tgtEl>
                                          <p:spTgt spid="61"/>
                                        </p:tgtEl>
                                        <p:attrNameLst>
                                          <p:attrName>style.visibility</p:attrName>
                                        </p:attrNameLst>
                                      </p:cBhvr>
                                      <p:to>
                                        <p:strVal val="visible"/>
                                      </p:to>
                                    </p:set>
                                    <p:animEffect transition="in" filter="fade">
                                      <p:cBhvr>
                                        <p:cTn id="127"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7683" y="175931"/>
            <a:ext cx="471099" cy="471099"/>
          </a:xfrm>
          <a:prstGeom prst="ellipse">
            <a:avLst/>
          </a:prstGeom>
          <a:solidFill>
            <a:srgbClr val="FFFFFF"/>
          </a:solidFill>
          <a:ln w="12700">
            <a:solidFill>
              <a:srgbClr val="FFFFFF"/>
            </a:solidFill>
            <a:prstDash val="solid"/>
          </a:ln>
        </p:spPr>
        <p:txBody>
          <a:bodyPr/>
          <a:p/>
        </p:txBody>
      </p:sp>
      <p:pic>
        <p:nvPicPr>
          <p:cNvPr id="3" name="Image 0" descr="preencoded.png">    </p:cNvPr>
          <p:cNvPicPr>
            <a:picLocks noChangeAspect="1"/>
          </p:cNvPicPr>
          <p:nvPr/>
        </p:nvPicPr>
        <p:blipFill>
          <a:blip r:embed="rId2"/>
          <a:stretch>
            <a:fillRect/>
          </a:stretch>
        </p:blipFill>
        <p:spPr>
          <a:xfrm>
            <a:off x="502920" y="201168"/>
            <a:ext cx="420624" cy="420624"/>
          </a:xfrm>
          <a:prstGeom prst="rect">
            <a:avLst/>
          </a:prstGeom>
        </p:spPr>
      </p:pic>
      <p:sp>
        <p:nvSpPr>
          <p:cNvPr id="4" name="Text 1"/>
          <p:cNvSpPr txBox="1"/>
          <p:nvPr/>
        </p:nvSpPr>
        <p:spPr>
          <a:xfrm>
            <a:off x="1024128" y="219456"/>
            <a:ext cx="2743200" cy="201168"/>
          </a:xfrm>
          <a:prstGeom prst="rect">
            <a:avLst/>
          </a:prstGeom>
          <a:noFill/>
          <a:ln/>
        </p:spPr>
        <p:txBody>
          <a:bodyPr wrap="square" lIns="0" tIns="0" rIns="0" bIns="0" rtlCol="0" anchor="t"/>
          <a:lstStyle/>
          <a:p>
            <a:pPr algn="l" indent="0" marL="0">
              <a:buNone/>
            </a:pPr>
            <a:r>
              <a:rPr lang="en-US" sz="950" b="1" dirty="0">
                <a:solidFill>
                  <a:srgbClr val="FFFFFF"/>
                </a:solidFill>
                <a:latin typeface="Calibri" pitchFamily="34" charset="0"/>
                <a:ea typeface="Calibri" pitchFamily="34" charset="-122"/>
                <a:cs typeface="Calibri" pitchFamily="34" charset="-120"/>
              </a:rPr>
              <a:t>IITGN CDF (CAA)</a:t>
            </a:r>
            <a:endParaRPr lang="en-US" sz="950" dirty="0"/>
          </a:p>
        </p:txBody>
      </p:sp>
      <p:sp>
        <p:nvSpPr>
          <p:cNvPr id="5" name="Text 2"/>
          <p:cNvSpPr txBox="1"/>
          <p:nvPr/>
        </p:nvSpPr>
        <p:spPr>
          <a:xfrm>
            <a:off x="1024128" y="420624"/>
            <a:ext cx="5486400" cy="182880"/>
          </a:xfrm>
          <a:prstGeom prst="rect">
            <a:avLst/>
          </a:prstGeom>
          <a:noFill/>
          <a:ln/>
        </p:spPr>
        <p:txBody>
          <a:bodyPr wrap="square" lIns="0" tIns="0" rIns="0" bIns="0" rtlCol="0" anchor="t"/>
          <a:lstStyle/>
          <a:p>
            <a:pPr algn="l" indent="0" marL="0">
              <a:buNone/>
            </a:pPr>
            <a:r>
              <a:rPr lang="en-US" sz="650" b="1" spc="200" kern="0" dirty="0">
                <a:solidFill>
                  <a:srgbClr val="A9B8CA"/>
                </a:solidFill>
                <a:latin typeface="Calibri" pitchFamily="34" charset="0"/>
                <a:ea typeface="Calibri" pitchFamily="34" charset="-122"/>
                <a:cs typeface="Calibri" pitchFamily="34" charset="-120"/>
              </a:rPr>
              <a:t>COMPETENCY ADVANCEMENT ACADEMY  ·  IIT GANDHINAGAR</a:t>
            </a:r>
            <a:endParaRPr lang="en-US" sz="650" dirty="0"/>
          </a:p>
        </p:txBody>
      </p:sp>
      <p:sp>
        <p:nvSpPr>
          <p:cNvPr id="6" name="Text 3"/>
          <p:cNvSpPr txBox="1"/>
          <p:nvPr/>
        </p:nvSpPr>
        <p:spPr>
          <a:xfrm>
            <a:off x="5486400" y="301752"/>
            <a:ext cx="6153912" cy="201168"/>
          </a:xfrm>
          <a:prstGeom prst="rect">
            <a:avLst/>
          </a:prstGeom>
          <a:noFill/>
          <a:ln/>
        </p:spPr>
        <p:txBody>
          <a:bodyPr wrap="square" lIns="0" tIns="0" rIns="0" bIns="0" rtlCol="0" anchor="t"/>
          <a:lstStyle/>
          <a:p>
            <a:pPr algn="r" indent="0" marL="0">
              <a:buNone/>
            </a:pPr>
            <a:r>
              <a:rPr lang="en-US" sz="700" b="1" spc="200" kern="0" dirty="0">
                <a:solidFill>
                  <a:srgbClr val="A9B8CA"/>
                </a:solidFill>
                <a:latin typeface="Calibri" pitchFamily="34" charset="0"/>
                <a:ea typeface="Calibri" pitchFamily="34" charset="-122"/>
                <a:cs typeface="Calibri" pitchFamily="34" charset="-120"/>
              </a:rPr>
              <a:t>PG DIPLOMA IN AI-ML AND AGENTIC AI ENGINEERING   ·   COHORT 2</a:t>
            </a:r>
            <a:endParaRPr lang="en-US" sz="700" dirty="0"/>
          </a:p>
        </p:txBody>
      </p:sp>
      <p:sp>
        <p:nvSpPr>
          <p:cNvPr id="7" name="Text 4"/>
          <p:cNvSpPr txBox="1"/>
          <p:nvPr/>
        </p:nvSpPr>
        <p:spPr>
          <a:xfrm>
            <a:off x="11091672" y="6455664"/>
            <a:ext cx="548640" cy="201168"/>
          </a:xfrm>
          <a:prstGeom prst="rect">
            <a:avLst/>
          </a:prstGeom>
          <a:noFill/>
          <a:ln/>
        </p:spPr>
        <p:txBody>
          <a:bodyPr wrap="square" lIns="0" tIns="0" rIns="0" bIns="0" rtlCol="0" anchor="t"/>
          <a:lstStyle/>
          <a:p>
            <a:pPr algn="r" indent="0" marL="0">
              <a:buNone/>
            </a:pPr>
            <a:r>
              <a:rPr lang="en-US" sz="850" dirty="0">
                <a:solidFill>
                  <a:srgbClr val="A9B8CA"/>
                </a:solidFill>
                <a:latin typeface="Calibri" pitchFamily="34" charset="0"/>
                <a:ea typeface="Calibri" pitchFamily="34" charset="-122"/>
                <a:cs typeface="Calibri" pitchFamily="34" charset="-120"/>
              </a:rPr>
              <a:t>33</a:t>
            </a:r>
            <a:endParaRPr lang="en-US" sz="850" dirty="0"/>
          </a:p>
        </p:txBody>
      </p:sp>
      <p:sp>
        <p:nvSpPr>
          <p:cNvPr id="8" name="Text 5"/>
          <p:cNvSpPr txBox="1"/>
          <p:nvPr/>
        </p:nvSpPr>
        <p:spPr>
          <a:xfrm>
            <a:off x="548640" y="6455664"/>
            <a:ext cx="3657600" cy="201168"/>
          </a:xfrm>
          <a:prstGeom prst="rect">
            <a:avLst/>
          </a:prstGeom>
          <a:noFill/>
          <a:ln/>
        </p:spPr>
        <p:txBody>
          <a:bodyPr wrap="square" lIns="0" tIns="0" rIns="0" bIns="0" rtlCol="0" anchor="t"/>
          <a:lstStyle/>
          <a:p>
            <a:pPr algn="l" indent="0" marL="0">
              <a:buNone/>
            </a:pPr>
            <a:r>
              <a:rPr lang="en-US" sz="850" dirty="0">
                <a:solidFill>
                  <a:srgbClr val="A9B8CA"/>
                </a:solidFill>
                <a:latin typeface="Calibri" pitchFamily="34" charset="0"/>
                <a:ea typeface="Calibri" pitchFamily="34" charset="-122"/>
                <a:cs typeface="Calibri" pitchFamily="34" charset="-120"/>
              </a:rPr>
              <a:t>Academic orientation</a:t>
            </a:r>
            <a:endParaRPr lang="en-US" sz="850" dirty="0"/>
          </a:p>
        </p:txBody>
      </p:sp>
      <p:sp>
        <p:nvSpPr>
          <p:cNvPr id="9" name="Shape 6"/>
          <p:cNvSpPr/>
          <p:nvPr/>
        </p:nvSpPr>
        <p:spPr>
          <a:xfrm>
            <a:off x="682142" y="1002182"/>
            <a:ext cx="921715" cy="921715"/>
          </a:xfrm>
          <a:prstGeom prst="ellipse">
            <a:avLst/>
          </a:prstGeom>
          <a:solidFill>
            <a:srgbClr val="FFFFFF"/>
          </a:solidFill>
          <a:ln w="12700">
            <a:solidFill>
              <a:srgbClr val="FFFFFF"/>
            </a:solidFill>
            <a:prstDash val="solid"/>
          </a:ln>
        </p:spPr>
        <p:txBody>
          <a:bodyPr/>
          <a:p/>
        </p:txBody>
      </p:sp>
      <p:pic>
        <p:nvPicPr>
          <p:cNvPr id="10" name="Image 1" descr="preencoded.png">    </p:cNvPr>
          <p:cNvPicPr>
            <a:picLocks noChangeAspect="1"/>
          </p:cNvPicPr>
          <p:nvPr/>
        </p:nvPicPr>
        <p:blipFill>
          <a:blip r:embed="rId3"/>
          <a:stretch>
            <a:fillRect/>
          </a:stretch>
        </p:blipFill>
        <p:spPr>
          <a:xfrm>
            <a:off x="731520" y="1051560"/>
            <a:ext cx="822960" cy="822960"/>
          </a:xfrm>
          <a:prstGeom prst="rect">
            <a:avLst/>
          </a:prstGeom>
        </p:spPr>
      </p:pic>
      <p:sp>
        <p:nvSpPr>
          <p:cNvPr id="11" name="Text 7"/>
          <p:cNvSpPr txBox="1"/>
          <p:nvPr/>
        </p:nvSpPr>
        <p:spPr>
          <a:xfrm>
            <a:off x="1783080" y="1280160"/>
            <a:ext cx="5486400" cy="228600"/>
          </a:xfrm>
          <a:prstGeom prst="rect">
            <a:avLst/>
          </a:prstGeom>
          <a:noFill/>
          <a:ln/>
        </p:spPr>
        <p:txBody>
          <a:bodyPr wrap="square" lIns="0" tIns="0" rIns="0" bIns="0" rtlCol="0" anchor="t"/>
          <a:lstStyle/>
          <a:p>
            <a:pPr algn="l" indent="0" marL="0">
              <a:buNone/>
            </a:pPr>
            <a:r>
              <a:rPr lang="en-US" sz="900" b="1" spc="250" kern="0" dirty="0">
                <a:solidFill>
                  <a:srgbClr val="E9B221"/>
                </a:solidFill>
                <a:latin typeface="Calibri" pitchFamily="34" charset="0"/>
                <a:ea typeface="Calibri" pitchFamily="34" charset="-122"/>
                <a:cs typeface="Calibri" pitchFamily="34" charset="-120"/>
              </a:rPr>
              <a:t>TEACHING BEGINS</a:t>
            </a:r>
            <a:endParaRPr lang="en-US" sz="900" dirty="0"/>
          </a:p>
        </p:txBody>
      </p:sp>
      <p:sp>
        <p:nvSpPr>
          <p:cNvPr id="12" name="Text 8"/>
          <p:cNvSpPr txBox="1"/>
          <p:nvPr/>
        </p:nvSpPr>
        <p:spPr>
          <a:xfrm>
            <a:off x="731520" y="2103120"/>
            <a:ext cx="10058400" cy="164592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Week 1 begins</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Monday 5 October 2026</a:t>
            </a:r>
            <a:endParaRPr lang="en-US" sz="4000" dirty="0"/>
          </a:p>
        </p:txBody>
      </p:sp>
      <p:sp>
        <p:nvSpPr>
          <p:cNvPr id="13" name="Shape 9"/>
          <p:cNvSpPr/>
          <p:nvPr/>
        </p:nvSpPr>
        <p:spPr>
          <a:xfrm>
            <a:off x="731520" y="3931920"/>
            <a:ext cx="2286000" cy="0"/>
          </a:xfrm>
          <a:prstGeom prst="line">
            <a:avLst/>
          </a:prstGeom>
          <a:noFill/>
          <a:ln w="19050">
            <a:solidFill>
              <a:srgbClr val="E9B221"/>
            </a:solidFill>
            <a:prstDash val="solid"/>
          </a:ln>
        </p:spPr>
        <p:txBody>
          <a:bodyPr/>
          <a:p/>
        </p:txBody>
      </p:sp>
      <p:sp>
        <p:nvSpPr>
          <p:cNvPr id="14" name="anim:1"/>
          <p:cNvSpPr txBox="1"/>
          <p:nvPr/>
        </p:nvSpPr>
        <p:spPr>
          <a:xfrm>
            <a:off x="731520" y="4069080"/>
            <a:ext cx="10058400" cy="731520"/>
          </a:xfrm>
          <a:prstGeom prst="rect">
            <a:avLst/>
          </a:prstGeom>
          <a:noFill/>
          <a:ln/>
        </p:spPr>
        <p:txBody>
          <a:bodyPr wrap="square" lIns="0" tIns="0" rIns="0" bIns="0" rtlCol="0" anchor="t"/>
          <a:lstStyle/>
          <a:p>
            <a:pPr algn="l" indent="0" marL="0">
              <a:buNone/>
            </a:pPr>
            <a:r>
              <a:rPr lang="en-US" sz="2000" i="1" dirty="0">
                <a:solidFill>
                  <a:srgbClr val="E9B221"/>
                </a:solidFill>
                <a:latin typeface="Calibri" pitchFamily="34" charset="0"/>
                <a:ea typeface="Calibri" pitchFamily="34" charset="-122"/>
                <a:cs typeface="Calibri" pitchFamily="34" charset="-120"/>
              </a:rPr>
              <a:t>"Where does our growth actually come from, and where is it leaking?"</a:t>
            </a:r>
            <a:endParaRPr lang="en-US" sz="2000" dirty="0"/>
          </a:p>
        </p:txBody>
      </p:sp>
      <p:sp>
        <p:nvSpPr>
          <p:cNvPr id="15" name="anim:1"/>
          <p:cNvSpPr txBox="1"/>
          <p:nvPr/>
        </p:nvSpPr>
        <p:spPr>
          <a:xfrm>
            <a:off x="731520" y="4754880"/>
            <a:ext cx="10058400" cy="365760"/>
          </a:xfrm>
          <a:prstGeom prst="rect">
            <a:avLst/>
          </a:prstGeom>
          <a:noFill/>
          <a:ln/>
        </p:spPr>
        <p:txBody>
          <a:bodyPr wrap="square" lIns="0" tIns="0" rIns="0" bIns="0" rtlCol="0" anchor="t"/>
          <a:lstStyle/>
          <a:p>
            <a:pPr algn="l" indent="0" marL="0">
              <a:buNone/>
            </a:pPr>
            <a:r>
              <a:rPr lang="en-US" sz="1200" dirty="0">
                <a:solidFill>
                  <a:srgbClr val="C9D6E4"/>
                </a:solidFill>
                <a:latin typeface="Calibri" pitchFamily="34" charset="0"/>
                <a:ea typeface="Calibri" pitchFamily="34" charset="-122"/>
                <a:cs typeface="Calibri" pitchFamily="34" charset="-120"/>
              </a:rPr>
              <a:t>Your first client's first question. You answer it with data in Week 1, and harder versions of it for twenty weeks.</a:t>
            </a:r>
            <a:endParaRPr lang="en-US" sz="1200" dirty="0"/>
          </a:p>
        </p:txBody>
      </p:sp>
      <p:sp>
        <p:nvSpPr>
          <p:cNvPr id="16" name="Text 12"/>
          <p:cNvSpPr txBox="1"/>
          <p:nvPr/>
        </p:nvSpPr>
        <p:spPr>
          <a:xfrm>
            <a:off x="731520" y="525780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7" name="Text 13"/>
          <p:cNvSpPr txBox="1"/>
          <p:nvPr/>
        </p:nvSpPr>
        <p:spPr>
          <a:xfrm>
            <a:off x="1270102" y="525780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8" name="grad:blue"/>
          <p:cNvSpPr txBox="1"/>
          <p:nvPr/>
        </p:nvSpPr>
        <p:spPr>
          <a:xfrm>
            <a:off x="1808683" y="5257800"/>
            <a:ext cx="492862" cy="530352"/>
          </a:xfrm>
          <a:prstGeom prst="roundRect">
            <a:avLst>
              <a:gd name="adj" fmla="val 11132"/>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5"/>
          <p:cNvSpPr txBox="1"/>
          <p:nvPr/>
        </p:nvSpPr>
        <p:spPr>
          <a:xfrm>
            <a:off x="2347265" y="525780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6"/>
          <p:cNvSpPr txBox="1"/>
          <p:nvPr/>
        </p:nvSpPr>
        <p:spPr>
          <a:xfrm>
            <a:off x="2885846" y="5257800"/>
            <a:ext cx="492862" cy="530352"/>
          </a:xfrm>
          <a:prstGeom prst="roundRect">
            <a:avLst>
              <a:gd name="adj" fmla="val 11132"/>
            </a:avLst>
          </a:prstGeom>
          <a:solidFill>
            <a:srgbClr val="10294A"/>
          </a:solidFill>
          <a:ln w="19050">
            <a:solidFill>
              <a:srgbClr val="E9B221"/>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1" name="Shape 17"/>
          <p:cNvSpPr/>
          <p:nvPr/>
        </p:nvSpPr>
        <p:spPr>
          <a:xfrm>
            <a:off x="3077413" y="5632704"/>
            <a:ext cx="109728" cy="109728"/>
          </a:xfrm>
          <a:prstGeom prst="ellipse">
            <a:avLst/>
          </a:prstGeom>
          <a:solidFill>
            <a:srgbClr val="E9B221"/>
          </a:solidFill>
          <a:ln w="12700">
            <a:solidFill>
              <a:srgbClr val="E9B221"/>
            </a:solidFill>
            <a:prstDash val="solid"/>
          </a:ln>
        </p:spPr>
        <p:txBody>
          <a:bodyPr/>
          <a:p/>
        </p:txBody>
      </p:sp>
      <p:sp>
        <p:nvSpPr>
          <p:cNvPr id="22" name="grad:blue"/>
          <p:cNvSpPr txBox="1"/>
          <p:nvPr/>
        </p:nvSpPr>
        <p:spPr>
          <a:xfrm>
            <a:off x="3424428" y="5257800"/>
            <a:ext cx="492862" cy="530352"/>
          </a:xfrm>
          <a:prstGeom prst="roundRect">
            <a:avLst>
              <a:gd name="adj" fmla="val 11132"/>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3" name="Text 19"/>
          <p:cNvSpPr txBox="1"/>
          <p:nvPr/>
        </p:nvSpPr>
        <p:spPr>
          <a:xfrm>
            <a:off x="3963010" y="525780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4" name="Text 20"/>
          <p:cNvSpPr txBox="1"/>
          <p:nvPr/>
        </p:nvSpPr>
        <p:spPr>
          <a:xfrm>
            <a:off x="4501591" y="525780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5" name="grad:blue"/>
          <p:cNvSpPr txBox="1"/>
          <p:nvPr/>
        </p:nvSpPr>
        <p:spPr>
          <a:xfrm>
            <a:off x="5040173" y="5257800"/>
            <a:ext cx="492862" cy="530352"/>
          </a:xfrm>
          <a:prstGeom prst="roundRect">
            <a:avLst>
              <a:gd name="adj" fmla="val 11132"/>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26" name="Text 22"/>
          <p:cNvSpPr txBox="1"/>
          <p:nvPr/>
        </p:nvSpPr>
        <p:spPr>
          <a:xfrm>
            <a:off x="5578754" y="5257800"/>
            <a:ext cx="492862" cy="530352"/>
          </a:xfrm>
          <a:prstGeom prst="roundRect">
            <a:avLst>
              <a:gd name="adj" fmla="val 11132"/>
            </a:avLst>
          </a:prstGeom>
          <a:solidFill>
            <a:srgbClr val="10294A"/>
          </a:solidFill>
          <a:ln w="19050">
            <a:solidFill>
              <a:srgbClr val="E9B221"/>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27" name="Shape 23"/>
          <p:cNvSpPr/>
          <p:nvPr/>
        </p:nvSpPr>
        <p:spPr>
          <a:xfrm>
            <a:off x="5770321" y="5632704"/>
            <a:ext cx="109728" cy="109728"/>
          </a:xfrm>
          <a:prstGeom prst="ellipse">
            <a:avLst/>
          </a:prstGeom>
          <a:solidFill>
            <a:srgbClr val="E9B221"/>
          </a:solidFill>
          <a:ln w="12700">
            <a:solidFill>
              <a:srgbClr val="E9B221"/>
            </a:solidFill>
            <a:prstDash val="solid"/>
          </a:ln>
        </p:spPr>
        <p:txBody>
          <a:bodyPr/>
          <a:p/>
        </p:txBody>
      </p:sp>
      <p:sp>
        <p:nvSpPr>
          <p:cNvPr id="28" name="Text 24"/>
          <p:cNvSpPr txBox="1"/>
          <p:nvPr/>
        </p:nvSpPr>
        <p:spPr>
          <a:xfrm>
            <a:off x="6117336" y="525780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29" name="grad:blue"/>
          <p:cNvSpPr txBox="1"/>
          <p:nvPr/>
        </p:nvSpPr>
        <p:spPr>
          <a:xfrm>
            <a:off x="6655918" y="5257800"/>
            <a:ext cx="492862" cy="530352"/>
          </a:xfrm>
          <a:prstGeom prst="roundRect">
            <a:avLst>
              <a:gd name="adj" fmla="val 11132"/>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30" name="Text 26"/>
          <p:cNvSpPr txBox="1"/>
          <p:nvPr/>
        </p:nvSpPr>
        <p:spPr>
          <a:xfrm>
            <a:off x="7194499" y="525780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31" name="Text 27"/>
          <p:cNvSpPr txBox="1"/>
          <p:nvPr/>
        </p:nvSpPr>
        <p:spPr>
          <a:xfrm>
            <a:off x="7733081" y="5257800"/>
            <a:ext cx="492862" cy="530352"/>
          </a:xfrm>
          <a:prstGeom prst="roundRect">
            <a:avLst>
              <a:gd name="adj" fmla="val 11132"/>
            </a:avLst>
          </a:prstGeom>
          <a:solidFill>
            <a:srgbClr val="10294A"/>
          </a:solidFill>
          <a:ln w="9525">
            <a:solidFill>
              <a:srgbClr val="25467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32" name="grad:blue"/>
          <p:cNvSpPr txBox="1"/>
          <p:nvPr/>
        </p:nvSpPr>
        <p:spPr>
          <a:xfrm>
            <a:off x="8271662" y="5257800"/>
            <a:ext cx="492862" cy="530352"/>
          </a:xfrm>
          <a:prstGeom prst="roundRect">
            <a:avLst>
              <a:gd name="adj" fmla="val 11132"/>
            </a:avLst>
          </a:prstGeom>
          <a:gradFill rotWithShape="1">
            <a:gsLst>
              <a:gs pos="0">
                <a:srgbClr val="2FA8E0"/>
              </a:gs>
              <a:gs pos="100000">
                <a:srgbClr val="007DB6"/>
              </a:gs>
            </a:gsLst>
            <a:lin ang="5400000" scaled="0"/>
          </a:gradFill>
          <a:ln w="9525">
            <a:solidFill>
              <a:srgbClr val="007DB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33" name="grad:goldTint"/>
          <p:cNvSpPr txBox="1"/>
          <p:nvPr/>
        </p:nvSpPr>
        <p:spPr>
          <a:xfrm>
            <a:off x="8810244" y="5257800"/>
            <a:ext cx="492862" cy="530352"/>
          </a:xfrm>
          <a:prstGeom prst="roundRect">
            <a:avLst>
              <a:gd name="adj" fmla="val 11132"/>
            </a:avLst>
          </a:prstGeom>
          <a:gradFill rotWithShape="1">
            <a:gsLst>
              <a:gs pos="0">
                <a:srgbClr val="FCF5E2"/>
              </a:gs>
              <a:gs pos="100000">
                <a:srgbClr val="F4E5B8"/>
              </a:gs>
            </a:gsLst>
            <a:lin ang="5400000" scaled="0"/>
          </a:gradFill>
          <a:ln w="19050">
            <a:solidFill>
              <a:srgbClr val="E9B221"/>
            </a:solidFill>
          </a:ln>
        </p:spPr>
        <p:txBody>
          <a:bodyPr wrap="square" lIns="0" tIns="0" rIns="0" bIns="0" rtlCol="0" anchor="ctr"/>
          <a:lstStyle/>
          <a:p>
            <a:pPr algn="ctr" indent="0" marL="0">
              <a:buNone/>
            </a:pPr>
            <a:r>
              <a:rPr lang="en-US" sz="1000" b="1" dirty="0">
                <a:solidFill>
                  <a:srgbClr val="0A1E33"/>
                </a:solidFill>
                <a:latin typeface="Calibri" pitchFamily="34" charset="0"/>
                <a:ea typeface="Calibri" pitchFamily="34" charset="-122"/>
                <a:cs typeface="Calibri" pitchFamily="34" charset="-120"/>
              </a:rPr>
              <a:t>16</a:t>
            </a:r>
            <a:endParaRPr lang="en-US" sz="1000" dirty="0"/>
          </a:p>
        </p:txBody>
      </p:sp>
      <p:sp>
        <p:nvSpPr>
          <p:cNvPr id="34" name="Shape 30"/>
          <p:cNvSpPr/>
          <p:nvPr/>
        </p:nvSpPr>
        <p:spPr>
          <a:xfrm>
            <a:off x="9001811" y="5632704"/>
            <a:ext cx="109728" cy="109728"/>
          </a:xfrm>
          <a:prstGeom prst="ellipse">
            <a:avLst/>
          </a:prstGeom>
          <a:solidFill>
            <a:srgbClr val="E9B221"/>
          </a:solidFill>
          <a:ln w="12700">
            <a:solidFill>
              <a:srgbClr val="E9B221"/>
            </a:solidFill>
            <a:prstDash val="solid"/>
          </a:ln>
        </p:spPr>
        <p:txBody>
          <a:bodyPr/>
          <a:p/>
        </p:txBody>
      </p:sp>
      <p:sp>
        <p:nvSpPr>
          <p:cNvPr id="35" name="grad:navyCard"/>
          <p:cNvSpPr txBox="1"/>
          <p:nvPr/>
        </p:nvSpPr>
        <p:spPr>
          <a:xfrm>
            <a:off x="9348826" y="5257800"/>
            <a:ext cx="492862" cy="530352"/>
          </a:xfrm>
          <a:prstGeom prst="roundRect">
            <a:avLst>
              <a:gd name="adj" fmla="val 11132"/>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000" b="1" dirty="0">
                <a:solidFill>
                  <a:srgbClr val="E9B221"/>
                </a:solidFill>
                <a:latin typeface="Calibri" pitchFamily="34" charset="0"/>
                <a:ea typeface="Calibri" pitchFamily="34" charset="-122"/>
                <a:cs typeface="Calibri" pitchFamily="34" charset="-120"/>
              </a:rPr>
              <a:t>17</a:t>
            </a:r>
            <a:endParaRPr lang="en-US" sz="1000" dirty="0"/>
          </a:p>
        </p:txBody>
      </p:sp>
      <p:sp>
        <p:nvSpPr>
          <p:cNvPr id="36" name="grad:navyCard"/>
          <p:cNvSpPr txBox="1"/>
          <p:nvPr/>
        </p:nvSpPr>
        <p:spPr>
          <a:xfrm>
            <a:off x="9887407" y="5257800"/>
            <a:ext cx="492862" cy="530352"/>
          </a:xfrm>
          <a:prstGeom prst="roundRect">
            <a:avLst>
              <a:gd name="adj" fmla="val 11132"/>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000" b="1" dirty="0">
                <a:solidFill>
                  <a:srgbClr val="E9B221"/>
                </a:solidFill>
                <a:latin typeface="Calibri" pitchFamily="34" charset="0"/>
                <a:ea typeface="Calibri" pitchFamily="34" charset="-122"/>
                <a:cs typeface="Calibri" pitchFamily="34" charset="-120"/>
              </a:rPr>
              <a:t>18</a:t>
            </a:r>
            <a:endParaRPr lang="en-US" sz="1000" dirty="0"/>
          </a:p>
        </p:txBody>
      </p:sp>
      <p:sp>
        <p:nvSpPr>
          <p:cNvPr id="37" name="grad:navyCard"/>
          <p:cNvSpPr txBox="1"/>
          <p:nvPr/>
        </p:nvSpPr>
        <p:spPr>
          <a:xfrm>
            <a:off x="10425989" y="5257800"/>
            <a:ext cx="492862" cy="530352"/>
          </a:xfrm>
          <a:prstGeom prst="roundRect">
            <a:avLst>
              <a:gd name="adj" fmla="val 11132"/>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000" b="1" dirty="0">
                <a:solidFill>
                  <a:srgbClr val="E9B221"/>
                </a:solidFill>
                <a:latin typeface="Calibri" pitchFamily="34" charset="0"/>
                <a:ea typeface="Calibri" pitchFamily="34" charset="-122"/>
                <a:cs typeface="Calibri" pitchFamily="34" charset="-120"/>
              </a:rPr>
              <a:t>19</a:t>
            </a:r>
            <a:endParaRPr lang="en-US" sz="1000" dirty="0"/>
          </a:p>
        </p:txBody>
      </p:sp>
      <p:sp>
        <p:nvSpPr>
          <p:cNvPr id="38" name="grad:navyCard"/>
          <p:cNvSpPr txBox="1"/>
          <p:nvPr/>
        </p:nvSpPr>
        <p:spPr>
          <a:xfrm>
            <a:off x="10964570" y="5257800"/>
            <a:ext cx="492862" cy="530352"/>
          </a:xfrm>
          <a:prstGeom prst="roundRect">
            <a:avLst>
              <a:gd name="adj" fmla="val 11132"/>
            </a:avLst>
          </a:prstGeom>
          <a:gradFill rotWithShape="1">
            <a:gsLst>
              <a:gs pos="0">
                <a:srgbClr val="1E4A7E"/>
              </a:gs>
              <a:gs pos="100000">
                <a:srgbClr val="12325A"/>
              </a:gs>
            </a:gsLst>
            <a:lin ang="5400000" scaled="0"/>
          </a:gradFill>
          <a:ln w="9525">
            <a:solidFill>
              <a:srgbClr val="173A62"/>
            </a:solidFill>
          </a:ln>
        </p:spPr>
        <p:txBody>
          <a:bodyPr wrap="square" lIns="0" tIns="0" rIns="0" bIns="0" rtlCol="0" anchor="ctr"/>
          <a:lstStyle/>
          <a:p>
            <a:pPr algn="ctr" indent="0" marL="0">
              <a:buNone/>
            </a:pPr>
            <a:r>
              <a:rPr lang="en-US" sz="1000" b="1" dirty="0">
                <a:solidFill>
                  <a:srgbClr val="E9B221"/>
                </a:solidFill>
                <a:latin typeface="Calibri" pitchFamily="34" charset="0"/>
                <a:ea typeface="Calibri" pitchFamily="34" charset="-122"/>
                <a:cs typeface="Calibri" pitchFamily="34" charset="-120"/>
              </a:rPr>
              <a:t>20</a:t>
            </a:r>
            <a:endParaRPr lang="en-US" sz="1000" dirty="0"/>
          </a:p>
        </p:txBody>
      </p:sp>
      <p:sp>
        <p:nvSpPr>
          <p:cNvPr id="39" name="Shape 35"/>
          <p:cNvSpPr/>
          <p:nvPr/>
        </p:nvSpPr>
        <p:spPr>
          <a:xfrm>
            <a:off x="731520" y="5943600"/>
            <a:ext cx="201168" cy="164592"/>
          </a:xfrm>
          <a:prstGeom prst="roundRect">
            <a:avLst>
              <a:gd name="adj" fmla="val 16667"/>
            </a:avLst>
          </a:prstGeom>
          <a:solidFill>
            <a:srgbClr val="10294A"/>
          </a:solidFill>
          <a:ln w="9525">
            <a:solidFill>
              <a:srgbClr val="25467A"/>
            </a:solidFill>
            <a:prstDash val="solid"/>
          </a:ln>
        </p:spPr>
        <p:txBody>
          <a:bodyPr/>
          <a:p/>
        </p:txBody>
      </p:sp>
      <p:sp>
        <p:nvSpPr>
          <p:cNvPr id="40" name="Text 36"/>
          <p:cNvSpPr txBox="1"/>
          <p:nvPr/>
        </p:nvSpPr>
        <p:spPr>
          <a:xfrm>
            <a:off x="1005840" y="5897880"/>
            <a:ext cx="1371600" cy="256032"/>
          </a:xfrm>
          <a:prstGeom prst="rect">
            <a:avLst/>
          </a:prstGeom>
          <a:noFill/>
          <a:ln/>
        </p:spPr>
        <p:txBody>
          <a:bodyPr wrap="square" lIns="0" tIns="0" rIns="0" bIns="0" rtlCol="0" anchor="ctr"/>
          <a:lstStyle/>
          <a:p>
            <a:pPr algn="l" indent="0" marL="0">
              <a:buNone/>
            </a:pPr>
            <a:r>
              <a:rPr lang="en-US" sz="950" dirty="0">
                <a:solidFill>
                  <a:srgbClr val="A9B8CA"/>
                </a:solidFill>
                <a:latin typeface="Calibri" pitchFamily="34" charset="0"/>
                <a:ea typeface="Calibri" pitchFamily="34" charset="-122"/>
                <a:cs typeface="Calibri" pitchFamily="34" charset="-120"/>
              </a:rPr>
              <a:t>Teaching week</a:t>
            </a:r>
            <a:endParaRPr lang="en-US" sz="950" dirty="0"/>
          </a:p>
        </p:txBody>
      </p:sp>
      <p:sp>
        <p:nvSpPr>
          <p:cNvPr id="41" name="Shape 37"/>
          <p:cNvSpPr/>
          <p:nvPr/>
        </p:nvSpPr>
        <p:spPr>
          <a:xfrm>
            <a:off x="2148840" y="5943600"/>
            <a:ext cx="201168" cy="164592"/>
          </a:xfrm>
          <a:prstGeom prst="roundRect">
            <a:avLst>
              <a:gd name="adj" fmla="val 16667"/>
            </a:avLst>
          </a:prstGeom>
          <a:solidFill>
            <a:srgbClr val="007DB6"/>
          </a:solidFill>
          <a:ln w="9525">
            <a:solidFill>
              <a:srgbClr val="007DB6"/>
            </a:solidFill>
            <a:prstDash val="solid"/>
          </a:ln>
        </p:spPr>
        <p:txBody>
          <a:bodyPr/>
          <a:p/>
        </p:txBody>
      </p:sp>
      <p:sp>
        <p:nvSpPr>
          <p:cNvPr id="42" name="Text 38"/>
          <p:cNvSpPr txBox="1"/>
          <p:nvPr/>
        </p:nvSpPr>
        <p:spPr>
          <a:xfrm>
            <a:off x="2423160" y="5897880"/>
            <a:ext cx="1371600" cy="256032"/>
          </a:xfrm>
          <a:prstGeom prst="rect">
            <a:avLst/>
          </a:prstGeom>
          <a:noFill/>
          <a:ln/>
        </p:spPr>
        <p:txBody>
          <a:bodyPr wrap="square" lIns="0" tIns="0" rIns="0" bIns="0" rtlCol="0" anchor="ctr"/>
          <a:lstStyle/>
          <a:p>
            <a:pPr algn="l" indent="0" marL="0">
              <a:buNone/>
            </a:pPr>
            <a:r>
              <a:rPr lang="en-US" sz="950" dirty="0">
                <a:solidFill>
                  <a:srgbClr val="A9B8CA"/>
                </a:solidFill>
                <a:latin typeface="Calibri" pitchFamily="34" charset="0"/>
                <a:ea typeface="Calibri" pitchFamily="34" charset="-122"/>
                <a:cs typeface="Calibri" pitchFamily="34" charset="-120"/>
              </a:rPr>
              <a:t>Build week</a:t>
            </a:r>
            <a:endParaRPr lang="en-US" sz="950" dirty="0"/>
          </a:p>
        </p:txBody>
      </p:sp>
      <p:sp>
        <p:nvSpPr>
          <p:cNvPr id="43" name="Shape 39"/>
          <p:cNvSpPr/>
          <p:nvPr/>
        </p:nvSpPr>
        <p:spPr>
          <a:xfrm>
            <a:off x="3566160" y="5943600"/>
            <a:ext cx="201168" cy="164592"/>
          </a:xfrm>
          <a:prstGeom prst="roundRect">
            <a:avLst>
              <a:gd name="adj" fmla="val 16667"/>
            </a:avLst>
          </a:prstGeom>
          <a:solidFill>
            <a:srgbClr val="FBF1D6"/>
          </a:solidFill>
          <a:ln w="9525">
            <a:solidFill>
              <a:srgbClr val="E9B221"/>
            </a:solidFill>
            <a:prstDash val="solid"/>
          </a:ln>
        </p:spPr>
        <p:txBody>
          <a:bodyPr/>
          <a:p/>
        </p:txBody>
      </p:sp>
      <p:sp>
        <p:nvSpPr>
          <p:cNvPr id="44" name="Text 40"/>
          <p:cNvSpPr txBox="1"/>
          <p:nvPr/>
        </p:nvSpPr>
        <p:spPr>
          <a:xfrm>
            <a:off x="3840480" y="5897880"/>
            <a:ext cx="1371600" cy="256032"/>
          </a:xfrm>
          <a:prstGeom prst="rect">
            <a:avLst/>
          </a:prstGeom>
          <a:noFill/>
          <a:ln/>
        </p:spPr>
        <p:txBody>
          <a:bodyPr wrap="square" lIns="0" tIns="0" rIns="0" bIns="0" rtlCol="0" anchor="ctr"/>
          <a:lstStyle/>
          <a:p>
            <a:pPr algn="l" indent="0" marL="0">
              <a:buNone/>
            </a:pPr>
            <a:r>
              <a:rPr lang="en-US" sz="950" dirty="0">
                <a:solidFill>
                  <a:srgbClr val="A9B8CA"/>
                </a:solidFill>
                <a:latin typeface="Calibri" pitchFamily="34" charset="0"/>
                <a:ea typeface="Calibri" pitchFamily="34" charset="-122"/>
                <a:cs typeface="Calibri" pitchFamily="34" charset="-120"/>
              </a:rPr>
              <a:t>FDE block</a:t>
            </a:r>
            <a:endParaRPr lang="en-US" sz="950" dirty="0"/>
          </a:p>
        </p:txBody>
      </p:sp>
      <p:sp>
        <p:nvSpPr>
          <p:cNvPr id="45" name="Shape 41"/>
          <p:cNvSpPr/>
          <p:nvPr/>
        </p:nvSpPr>
        <p:spPr>
          <a:xfrm>
            <a:off x="4983480" y="5943600"/>
            <a:ext cx="201168" cy="164592"/>
          </a:xfrm>
          <a:prstGeom prst="roundRect">
            <a:avLst>
              <a:gd name="adj" fmla="val 16667"/>
            </a:avLst>
          </a:prstGeom>
          <a:solidFill>
            <a:srgbClr val="173A62"/>
          </a:solidFill>
          <a:ln w="9525">
            <a:solidFill>
              <a:srgbClr val="173A62"/>
            </a:solidFill>
            <a:prstDash val="solid"/>
          </a:ln>
        </p:spPr>
        <p:txBody>
          <a:bodyPr/>
          <a:p/>
        </p:txBody>
      </p:sp>
      <p:sp>
        <p:nvSpPr>
          <p:cNvPr id="46" name="Text 42"/>
          <p:cNvSpPr txBox="1"/>
          <p:nvPr/>
        </p:nvSpPr>
        <p:spPr>
          <a:xfrm>
            <a:off x="5257800" y="5897880"/>
            <a:ext cx="1371600" cy="256032"/>
          </a:xfrm>
          <a:prstGeom prst="rect">
            <a:avLst/>
          </a:prstGeom>
          <a:noFill/>
          <a:ln/>
        </p:spPr>
        <p:txBody>
          <a:bodyPr wrap="square" lIns="0" tIns="0" rIns="0" bIns="0" rtlCol="0" anchor="ctr"/>
          <a:lstStyle/>
          <a:p>
            <a:pPr algn="l" indent="0" marL="0">
              <a:buNone/>
            </a:pPr>
            <a:r>
              <a:rPr lang="en-US" sz="950" dirty="0">
                <a:solidFill>
                  <a:srgbClr val="A9B8CA"/>
                </a:solidFill>
                <a:latin typeface="Calibri" pitchFamily="34" charset="0"/>
                <a:ea typeface="Calibri" pitchFamily="34" charset="-122"/>
                <a:cs typeface="Calibri" pitchFamily="34" charset="-120"/>
              </a:rPr>
              <a:t>Capstone</a:t>
            </a:r>
            <a:endParaRPr lang="en-US" sz="950" dirty="0"/>
          </a:p>
        </p:txBody>
      </p:sp>
      <p:sp>
        <p:nvSpPr>
          <p:cNvPr id="47" name="Shape 43"/>
          <p:cNvSpPr/>
          <p:nvPr/>
        </p:nvSpPr>
        <p:spPr>
          <a:xfrm>
            <a:off x="6446520" y="5971032"/>
            <a:ext cx="109728" cy="109728"/>
          </a:xfrm>
          <a:prstGeom prst="ellipse">
            <a:avLst/>
          </a:prstGeom>
          <a:solidFill>
            <a:srgbClr val="E9B221"/>
          </a:solidFill>
          <a:ln w="12700">
            <a:solidFill>
              <a:srgbClr val="E9B221"/>
            </a:solidFill>
            <a:prstDash val="solid"/>
          </a:ln>
        </p:spPr>
        <p:txBody>
          <a:bodyPr/>
          <a:p/>
        </p:txBody>
      </p:sp>
      <p:sp>
        <p:nvSpPr>
          <p:cNvPr id="48" name="Text 44"/>
          <p:cNvSpPr txBox="1"/>
          <p:nvPr/>
        </p:nvSpPr>
        <p:spPr>
          <a:xfrm>
            <a:off x="6675120" y="5897880"/>
            <a:ext cx="1828800" cy="256032"/>
          </a:xfrm>
          <a:prstGeom prst="rect">
            <a:avLst/>
          </a:prstGeom>
          <a:noFill/>
          <a:ln/>
        </p:spPr>
        <p:txBody>
          <a:bodyPr wrap="square" lIns="0" tIns="0" rIns="0" bIns="0" rtlCol="0" anchor="ctr"/>
          <a:lstStyle/>
          <a:p>
            <a:pPr algn="l" indent="0" marL="0">
              <a:buNone/>
            </a:pPr>
            <a:r>
              <a:rPr lang="en-US" sz="950" dirty="0">
                <a:solidFill>
                  <a:srgbClr val="A9B8CA"/>
                </a:solidFill>
                <a:latin typeface="Calibri" pitchFamily="34" charset="0"/>
                <a:ea typeface="Calibri" pitchFamily="34" charset="-122"/>
                <a:cs typeface="Calibri" pitchFamily="34" charset="-120"/>
              </a:rPr>
              <a:t>Major exam in this week</a:t>
            </a:r>
            <a:endParaRPr lang="en-US" sz="95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9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PG Diploma in AI-ML and Agentic AI Engineering · Cohort 2 · Academic Orientation</dc:title>
  <dc:subject>PptxGenJS Presentation</dc:subject>
  <dc:creator>Programme Office</dc:creator>
  <cp:lastModifiedBy>Programme Office</cp:lastModifiedBy>
  <cp:revision>1</cp:revision>
  <dcterms:created xsi:type="dcterms:W3CDTF">2026-09-27T21:04:12Z</dcterms:created>
  <dcterms:modified xsi:type="dcterms:W3CDTF">2026-09-27T21:04:12Z</dcterms:modified>
</cp:coreProperties>
</file>