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lIns="0" rIns="0" tIns="0" bIns="0">
            <a:spAutoFit/>
          </a:bodyPr>
          <a:lstStyle/>
          <a:p>
            <a:pPr algn="ctr"/>
            <a:r>
              <a:rPr sz="4000" b="1">
                <a:solidFill>
                  <a:srgbClr val="FFFFFF"/>
                </a:solidFill>
                <a:latin typeface="Calibri"/>
              </a:rPr>
              <a:t>SECTION A. The twenty weeks</a:t>
            </a:r>
          </a:p>
        </p:txBody>
      </p:sp>
      <p:sp>
        <p:nvSpPr>
          <p:cNvPr id="4" name="Rectangle 3"/>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6391656"/>
            <a:ext cx="9722815" cy="292608"/>
          </a:xfrm>
          <a:prstGeom prst="rect">
            <a:avLst/>
          </a:prstGeom>
          <a:noFill/>
        </p:spPr>
        <p:txBody>
          <a:bodyPr wrap="square" anchor="t" lIns="0" rIns="0" tIns="0" bIns="0">
            <a:spAutoFit/>
          </a:bodyPr>
          <a:lstStyle/>
          <a:p>
            <a:r>
              <a:rPr sz="1000">
                <a:solidFill>
                  <a:srgbClr val="FFFFFF"/>
                </a:solidFill>
                <a:latin typeface="Calibri"/>
              </a:rPr>
              <a:t>Week 0 Day 1: arrive and set up</a:t>
            </a:r>
          </a:p>
        </p:txBody>
      </p:sp>
      <p:sp>
        <p:nvSpPr>
          <p:cNvPr id="6" name="TextBox 5"/>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FFFFFF"/>
                </a:solidFill>
                <a:latin typeface="Calibri"/>
              </a:rPr>
              <a:t>1 / 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Twenty weeks, one goal after them</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757424"/>
            <a:ext cx="10820095" cy="2166112"/>
          </a:xfrm>
          <a:prstGeom prst="rect">
            <a:avLst/>
          </a:prstGeom>
          <a:noFill/>
        </p:spPr>
        <p:txBody>
          <a:bodyPr wrap="square" anchor="t" lIns="0" rIns="0" tIns="0" bIns="0">
            <a:spAutoFit/>
          </a:bodyPr>
          <a:lstStyle/>
          <a:p>
            <a:pPr>
              <a:spcAft>
                <a:spcPts val="900"/>
              </a:spcAft>
            </a:pPr>
            <a:r>
              <a:rPr sz="2000" b="0">
                <a:solidFill>
                  <a:srgbClr val="1C1C1A"/>
                </a:solidFill>
                <a:latin typeface="Calibri"/>
              </a:rPr>
              <a:t>Teaching runs from Monday 5 October 2026 to Saturday 20 February 2027, six days a week, on campus.</a:t>
            </a:r>
          </a:p>
          <a:p>
            <a:pPr>
              <a:spcAft>
                <a:spcPts val="900"/>
              </a:spcAft>
            </a:pPr>
            <a:r>
              <a:rPr sz="2000" b="0">
                <a:solidFill>
                  <a:srgbClr val="1C1C1A"/>
                </a:solidFill>
                <a:latin typeface="Calibri"/>
              </a:rPr>
              <a:t>This week, Week 0, comes before it and is not graded.</a:t>
            </a:r>
          </a:p>
          <a:p>
            <a:pPr>
              <a:spcAft>
                <a:spcPts val="900"/>
              </a:spcAft>
            </a:pPr>
            <a:r>
              <a:rPr sz="2000" b="0">
                <a:solidFill>
                  <a:srgbClr val="1C1C1A"/>
                </a:solidFill>
                <a:latin typeface="Calibri"/>
              </a:rPr>
              <a:t>After it comes the interview you sit for your first role: 510 hours across ten modules and 33 credits, all of it aimed at the roles on the next slide.</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Six steps, each with a role you can interview for</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685800" y="2485644"/>
          <a:ext cx="10820094" cy="2709672"/>
        </p:xfrm>
        <a:graphic>
          <a:graphicData uri="http://schemas.openxmlformats.org/drawingml/2006/table">
            <a:tbl>
              <a:tblPr firstRow="0" bandRow="0">
                <a:tableStyleId>{2D5ABB26-0587-4C30-8999-92F81FD0307C}</a:tableStyleId>
              </a:tblPr>
              <a:tblGrid>
                <a:gridCol w="1388675"/>
                <a:gridCol w="5055203"/>
                <a:gridCol w="4376216"/>
              </a:tblGrid>
              <a:tr h="387096">
                <a:tc>
                  <a:txBody>
                    <a:bodyPr/>
                    <a:lstStyle/>
                    <a:p>
                      <a:r>
                        <a:rPr sz="1600" b="1">
                          <a:solidFill>
                            <a:srgbClr val="FFFFFF"/>
                          </a:solidFill>
                          <a:latin typeface="Calibri"/>
                        </a:rPr>
                        <a:t>Weeks</a:t>
                      </a:r>
                    </a:p>
                  </a:txBody>
                  <a:tcPr marL="101600" marR="101600" marT="38100" marB="38100" anchor="ctr">
                    <a:solidFill>
                      <a:srgbClr val="2B4A7D"/>
                    </a:solidFill>
                  </a:tcPr>
                </a:tc>
                <a:tc>
                  <a:txBody>
                    <a:bodyPr/>
                    <a:lstStyle/>
                    <a:p>
                      <a:r>
                        <a:rPr sz="1600" b="1">
                          <a:solidFill>
                            <a:srgbClr val="FFFFFF"/>
                          </a:solidFill>
                          <a:latin typeface="Calibri"/>
                        </a:rPr>
                        <a:t>You learn to</a:t>
                      </a:r>
                    </a:p>
                  </a:txBody>
                  <a:tcPr marL="101600" marR="101600" marT="38100" marB="38100" anchor="ctr">
                    <a:solidFill>
                      <a:srgbClr val="2B4A7D"/>
                    </a:solidFill>
                  </a:tcPr>
                </a:tc>
                <a:tc>
                  <a:txBody>
                    <a:bodyPr/>
                    <a:lstStyle/>
                    <a:p>
                      <a:r>
                        <a:rPr sz="1600" b="1">
                          <a:solidFill>
                            <a:srgbClr val="FFFFFF"/>
                          </a:solidFill>
                          <a:latin typeface="Calibri"/>
                        </a:rPr>
                        <a:t>The role it opens</a:t>
                      </a:r>
                    </a:p>
                  </a:txBody>
                  <a:tcPr marL="101600" marR="101600" marT="38100" marB="38100" anchor="ctr">
                    <a:solidFill>
                      <a:srgbClr val="2B4A7D"/>
                    </a:solidFill>
                  </a:tcPr>
                </a:tc>
              </a:tr>
              <a:tr h="387096">
                <a:tc>
                  <a:txBody>
                    <a:bodyPr/>
                    <a:lstStyle/>
                    <a:p>
                      <a:r>
                        <a:rPr sz="1500" b="0">
                          <a:solidFill>
                            <a:srgbClr val="1C1C1A"/>
                          </a:solidFill>
                          <a:latin typeface="Calibri"/>
                        </a:rPr>
                        <a:t>1 to 4</a:t>
                      </a:r>
                    </a:p>
                  </a:txBody>
                  <a:tcPr marL="101600" marR="101600" marT="38100" marB="38100" anchor="ctr">
                    <a:solidFill>
                      <a:srgbClr val="FFFFFF"/>
                    </a:solidFill>
                  </a:tcPr>
                </a:tc>
                <a:tc>
                  <a:txBody>
                    <a:bodyPr/>
                    <a:lstStyle/>
                    <a:p>
                      <a:r>
                        <a:rPr sz="1500" b="0">
                          <a:solidFill>
                            <a:srgbClr val="1C1C1A"/>
                          </a:solidFill>
                          <a:latin typeface="Calibri"/>
                        </a:rPr>
                        <a:t>Read, question and explain data</a:t>
                      </a:r>
                    </a:p>
                  </a:txBody>
                  <a:tcPr marL="101600" marR="101600" marT="38100" marB="38100" anchor="ctr">
                    <a:solidFill>
                      <a:srgbClr val="FFFFFF"/>
                    </a:solidFill>
                  </a:tcPr>
                </a:tc>
                <a:tc>
                  <a:txBody>
                    <a:bodyPr/>
                    <a:lstStyle/>
                    <a:p>
                      <a:r>
                        <a:rPr sz="1500" b="0">
                          <a:solidFill>
                            <a:srgbClr val="1C1C1A"/>
                          </a:solidFill>
                          <a:latin typeface="Calibri"/>
                        </a:rPr>
                        <a:t>Data or Business Analyst</a:t>
                      </a:r>
                    </a:p>
                  </a:txBody>
                  <a:tcPr marL="101600" marR="101600" marT="38100" marB="38100" anchor="ctr">
                    <a:solidFill>
                      <a:srgbClr val="FFFFFF"/>
                    </a:solidFill>
                  </a:tcPr>
                </a:tc>
              </a:tr>
              <a:tr h="387096">
                <a:tc>
                  <a:txBody>
                    <a:bodyPr/>
                    <a:lstStyle/>
                    <a:p>
                      <a:r>
                        <a:rPr sz="1500" b="0">
                          <a:solidFill>
                            <a:srgbClr val="1C1C1A"/>
                          </a:solidFill>
                          <a:latin typeface="Calibri"/>
                        </a:rPr>
                        <a:t>5 and 6</a:t>
                      </a:r>
                    </a:p>
                  </a:txBody>
                  <a:tcPr marL="101600" marR="101600" marT="38100" marB="38100" anchor="ctr">
                    <a:solidFill>
                      <a:srgbClr val="F7F7F5"/>
                    </a:solidFill>
                  </a:tcPr>
                </a:tc>
                <a:tc>
                  <a:txBody>
                    <a:bodyPr/>
                    <a:lstStyle/>
                    <a:p>
                      <a:r>
                        <a:rPr sz="1500" b="0">
                          <a:solidFill>
                            <a:srgbClr val="1C1C1A"/>
                          </a:solidFill>
                          <a:latin typeface="Calibri"/>
                        </a:rPr>
                        <a:t>Predict and evaluate honestly</a:t>
                      </a:r>
                    </a:p>
                  </a:txBody>
                  <a:tcPr marL="101600" marR="101600" marT="38100" marB="38100" anchor="ctr">
                    <a:solidFill>
                      <a:srgbClr val="F7F7F5"/>
                    </a:solidFill>
                  </a:tcPr>
                </a:tc>
                <a:tc>
                  <a:txBody>
                    <a:bodyPr/>
                    <a:lstStyle/>
                    <a:p>
                      <a:r>
                        <a:rPr sz="1500" b="0">
                          <a:solidFill>
                            <a:srgbClr val="1C1C1A"/>
                          </a:solidFill>
                          <a:latin typeface="Calibri"/>
                        </a:rPr>
                        <a:t>Entry-level Data Scientist</a:t>
                      </a:r>
                    </a:p>
                  </a:txBody>
                  <a:tcPr marL="101600" marR="101600" marT="38100" marB="38100" anchor="ctr">
                    <a:solidFill>
                      <a:srgbClr val="F7F7F5"/>
                    </a:solidFill>
                  </a:tcPr>
                </a:tc>
              </a:tr>
              <a:tr h="387096">
                <a:tc>
                  <a:txBody>
                    <a:bodyPr/>
                    <a:lstStyle/>
                    <a:p>
                      <a:r>
                        <a:rPr sz="1500" b="0">
                          <a:solidFill>
                            <a:srgbClr val="1C1C1A"/>
                          </a:solidFill>
                          <a:latin typeface="Calibri"/>
                        </a:rPr>
                        <a:t>7 to 9</a:t>
                      </a:r>
                    </a:p>
                  </a:txBody>
                  <a:tcPr marL="101600" marR="101600" marT="38100" marB="38100" anchor="ctr">
                    <a:solidFill>
                      <a:srgbClr val="FFFFFF"/>
                    </a:solidFill>
                  </a:tcPr>
                </a:tc>
                <a:tc>
                  <a:txBody>
                    <a:bodyPr/>
                    <a:lstStyle/>
                    <a:p>
                      <a:r>
                        <a:rPr sz="1500" b="0">
                          <a:solidFill>
                            <a:srgbClr val="1C1C1A"/>
                          </a:solidFill>
                          <a:latin typeface="Calibri"/>
                        </a:rPr>
                        <a:t>Know what a language model is doing</a:t>
                      </a:r>
                    </a:p>
                  </a:txBody>
                  <a:tcPr marL="101600" marR="101600" marT="38100" marB="38100" anchor="ctr">
                    <a:solidFill>
                      <a:srgbClr val="FFFFFF"/>
                    </a:solidFill>
                  </a:tcPr>
                </a:tc>
                <a:tc>
                  <a:txBody>
                    <a:bodyPr/>
                    <a:lstStyle/>
                    <a:p>
                      <a:r>
                        <a:rPr sz="1500" b="0">
                          <a:solidFill>
                            <a:srgbClr val="1C1C1A"/>
                          </a:solidFill>
                          <a:latin typeface="Calibri"/>
                        </a:rPr>
                        <a:t>The foundation for AI Engineer</a:t>
                      </a:r>
                    </a:p>
                  </a:txBody>
                  <a:tcPr marL="101600" marR="101600" marT="38100" marB="38100" anchor="ctr">
                    <a:solidFill>
                      <a:srgbClr val="FFFFFF"/>
                    </a:solidFill>
                  </a:tcPr>
                </a:tc>
              </a:tr>
              <a:tr h="387096">
                <a:tc>
                  <a:txBody>
                    <a:bodyPr/>
                    <a:lstStyle/>
                    <a:p>
                      <a:r>
                        <a:rPr sz="1500" b="0">
                          <a:solidFill>
                            <a:srgbClr val="1C1C1A"/>
                          </a:solidFill>
                          <a:latin typeface="Calibri"/>
                        </a:rPr>
                        <a:t>10 to 12</a:t>
                      </a:r>
                    </a:p>
                  </a:txBody>
                  <a:tcPr marL="101600" marR="101600" marT="38100" marB="38100" anchor="ctr">
                    <a:solidFill>
                      <a:srgbClr val="F7F7F5"/>
                    </a:solidFill>
                  </a:tcPr>
                </a:tc>
                <a:tc>
                  <a:txBody>
                    <a:bodyPr/>
                    <a:lstStyle/>
                    <a:p>
                      <a:r>
                        <a:rPr sz="1500" b="0">
                          <a:solidFill>
                            <a:srgbClr val="1C1C1A"/>
                          </a:solidFill>
                          <a:latin typeface="Calibri"/>
                        </a:rPr>
                        <a:t>Build a grounded assistant</a:t>
                      </a:r>
                    </a:p>
                  </a:txBody>
                  <a:tcPr marL="101600" marR="101600" marT="38100" marB="38100" anchor="ctr">
                    <a:solidFill>
                      <a:srgbClr val="F7F7F5"/>
                    </a:solidFill>
                  </a:tcPr>
                </a:tc>
                <a:tc>
                  <a:txBody>
                    <a:bodyPr/>
                    <a:lstStyle/>
                    <a:p>
                      <a:r>
                        <a:rPr sz="1500" b="0">
                          <a:solidFill>
                            <a:srgbClr val="1C1C1A"/>
                          </a:solidFill>
                          <a:latin typeface="Calibri"/>
                        </a:rPr>
                        <a:t>GenAI or AI Engineer</a:t>
                      </a:r>
                    </a:p>
                  </a:txBody>
                  <a:tcPr marL="101600" marR="101600" marT="38100" marB="38100" anchor="ctr">
                    <a:solidFill>
                      <a:srgbClr val="F7F7F5"/>
                    </a:solidFill>
                  </a:tcPr>
                </a:tc>
              </a:tr>
              <a:tr h="387096">
                <a:tc>
                  <a:txBody>
                    <a:bodyPr/>
                    <a:lstStyle/>
                    <a:p>
                      <a:r>
                        <a:rPr sz="1500" b="0">
                          <a:solidFill>
                            <a:srgbClr val="1C1C1A"/>
                          </a:solidFill>
                          <a:latin typeface="Calibri"/>
                        </a:rPr>
                        <a:t>13 to 15</a:t>
                      </a:r>
                    </a:p>
                  </a:txBody>
                  <a:tcPr marL="101600" marR="101600" marT="38100" marB="38100" anchor="ctr">
                    <a:solidFill>
                      <a:srgbClr val="FFFFFF"/>
                    </a:solidFill>
                  </a:tcPr>
                </a:tc>
                <a:tc>
                  <a:txBody>
                    <a:bodyPr/>
                    <a:lstStyle/>
                    <a:p>
                      <a:r>
                        <a:rPr sz="1500" b="0">
                          <a:solidFill>
                            <a:srgbClr val="1C1C1A"/>
                          </a:solidFill>
                          <a:latin typeface="Calibri"/>
                        </a:rPr>
                        <a:t>Make it act, safely, in production</a:t>
                      </a:r>
                    </a:p>
                  </a:txBody>
                  <a:tcPr marL="101600" marR="101600" marT="38100" marB="38100" anchor="ctr">
                    <a:solidFill>
                      <a:srgbClr val="FFFFFF"/>
                    </a:solidFill>
                  </a:tcPr>
                </a:tc>
                <a:tc>
                  <a:txBody>
                    <a:bodyPr/>
                    <a:lstStyle/>
                    <a:p>
                      <a:r>
                        <a:rPr sz="1500" b="0">
                          <a:solidFill>
                            <a:srgbClr val="1C1C1A"/>
                          </a:solidFill>
                          <a:latin typeface="Calibri"/>
                        </a:rPr>
                        <a:t>Agentic AI Engineer</a:t>
                      </a:r>
                    </a:p>
                  </a:txBody>
                  <a:tcPr marL="101600" marR="101600" marT="38100" marB="38100" anchor="ctr">
                    <a:solidFill>
                      <a:srgbClr val="FFFFFF"/>
                    </a:solidFill>
                  </a:tcPr>
                </a:tc>
              </a:tr>
              <a:tr h="387096">
                <a:tc>
                  <a:txBody>
                    <a:bodyPr/>
                    <a:lstStyle/>
                    <a:p>
                      <a:r>
                        <a:rPr sz="1500" b="0">
                          <a:solidFill>
                            <a:srgbClr val="1C1C1A"/>
                          </a:solidFill>
                          <a:latin typeface="Calibri"/>
                        </a:rPr>
                        <a:t>16 to 20</a:t>
                      </a:r>
                    </a:p>
                  </a:txBody>
                  <a:tcPr marL="101600" marR="101600" marT="38100" marB="38100" anchor="ctr">
                    <a:solidFill>
                      <a:srgbClr val="F7F7F5"/>
                    </a:solidFill>
                  </a:tcPr>
                </a:tc>
                <a:tc>
                  <a:txBody>
                    <a:bodyPr/>
                    <a:lstStyle/>
                    <a:p>
                      <a:r>
                        <a:rPr sz="1500" b="0">
                          <a:solidFill>
                            <a:srgbClr val="1C1C1A"/>
                          </a:solidFill>
                          <a:latin typeface="Calibri"/>
                        </a:rPr>
                        <a:t>Frame, propose, build and defend</a:t>
                      </a:r>
                    </a:p>
                  </a:txBody>
                  <a:tcPr marL="101600" marR="101600" marT="38100" marB="38100" anchor="ctr">
                    <a:solidFill>
                      <a:srgbClr val="F7F7F5"/>
                    </a:solidFill>
                  </a:tcPr>
                </a:tc>
                <a:tc>
                  <a:txBody>
                    <a:bodyPr/>
                    <a:lstStyle/>
                    <a:p>
                      <a:r>
                        <a:rPr sz="1500" b="0">
                          <a:solidFill>
                            <a:srgbClr val="1C1C1A"/>
                          </a:solidFill>
                          <a:latin typeface="Calibri"/>
                        </a:rPr>
                        <a:t>Forward Deployed Engineer</a:t>
                      </a:r>
                    </a:p>
                  </a:txBody>
                  <a:tcPr marL="101600" marR="101600" marT="38100" marB="38100" anchor="ctr">
                    <a:solidFill>
                      <a:srgbClr val="F7F7F5"/>
                    </a:solidFill>
                  </a:tcPr>
                </a:tc>
              </a:tr>
            </a:tbl>
          </a:graphicData>
        </a:graphic>
      </p:graphicFrame>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S3</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The rhythm: two weeks of teaching, then a build</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ddca26dabafbc27d.png"/>
          <p:cNvPicPr>
            <a:picLocks noChangeAspect="1"/>
          </p:cNvPicPr>
          <p:nvPr/>
        </p:nvPicPr>
        <p:blipFill>
          <a:blip r:embed="rId2"/>
          <a:stretch>
            <a:fillRect/>
          </a:stretch>
        </p:blipFill>
        <p:spPr>
          <a:xfrm>
            <a:off x="685800" y="2838601"/>
            <a:ext cx="10820095" cy="947117"/>
          </a:xfrm>
          <a:prstGeom prst="rect">
            <a:avLst/>
          </a:prstGeom>
        </p:spPr>
      </p:pic>
      <p:sp>
        <p:nvSpPr>
          <p:cNvPr id="7" name="TextBox 6"/>
          <p:cNvSpPr txBox="1"/>
          <p:nvPr/>
        </p:nvSpPr>
        <p:spPr>
          <a:xfrm>
            <a:off x="685800" y="3932022"/>
            <a:ext cx="10820095" cy="910336"/>
          </a:xfrm>
          <a:prstGeom prst="rect">
            <a:avLst/>
          </a:prstGeom>
          <a:noFill/>
        </p:spPr>
        <p:txBody>
          <a:bodyPr wrap="square" anchor="t" lIns="0" rIns="0" tIns="0" bIns="0">
            <a:spAutoFit/>
          </a:bodyPr>
          <a:lstStyle/>
          <a:p>
            <a:pPr>
              <a:spcAft>
                <a:spcPts val="900"/>
              </a:spcAft>
            </a:pPr>
            <a:r>
              <a:rPr sz="2000" b="0">
                <a:solidFill>
                  <a:srgbClr val="1C1C1A"/>
                </a:solidFill>
                <a:latin typeface="Calibri"/>
              </a:rPr>
              <a:t>Build weeks fall in Weeks 3, 6, 9, 12 and 15. Major exams sit in Weeks 5, 10 and 16.</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The days off</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985008"/>
            <a:ext cx="10820095" cy="1710944"/>
          </a:xfrm>
          <a:prstGeom prst="rect">
            <a:avLst/>
          </a:prstGeom>
          <a:noFill/>
        </p:spPr>
        <p:txBody>
          <a:bodyPr wrap="square" anchor="t" lIns="0" rIns="0" tIns="0" bIns="0">
            <a:spAutoFit/>
          </a:bodyPr>
          <a:lstStyle/>
          <a:p>
            <a:pPr>
              <a:spcAft>
                <a:spcPts val="900"/>
              </a:spcAft>
            </a:pPr>
            <a:r>
              <a:rPr sz="2000" b="0">
                <a:solidFill>
                  <a:srgbClr val="1C1C1A"/>
                </a:solidFill>
                <a:latin typeface="Calibri"/>
              </a:rPr>
              <a:t>Gandhi Jayanti on Friday 2 October, this week. Dussehra on Tuesday 20 October. The Monday after Diwali, 9 November. Guru Nanak Jayanti on Tuesday 24 November. Christmas Day on Friday 25 December. Republic Day on Tuesday 26 January 2027.</a:t>
            </a:r>
          </a:p>
          <a:p>
            <a:pPr>
              <a:spcAft>
                <a:spcPts val="900"/>
              </a:spcAft>
            </a:pPr>
            <a:r>
              <a:rPr sz="2000" b="0">
                <a:solidFill>
                  <a:srgbClr val="1C1C1A"/>
                </a:solidFill>
                <a:latin typeface="Calibri"/>
              </a:rPr>
              <a:t>A week with a day off keeps its shape and loses that day.</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lIns="0" rIns="0" tIns="0" bIns="0">
            <a:spAutoFit/>
          </a:bodyPr>
          <a:lstStyle/>
          <a:p>
            <a:pPr algn="ctr"/>
            <a:r>
              <a:rPr sz="4000" b="1">
                <a:solidFill>
                  <a:srgbClr val="FFFFFF"/>
                </a:solidFill>
                <a:latin typeface="Calibri"/>
              </a:rPr>
              <a:t>SECTION B. The shape of a week</a:t>
            </a:r>
          </a:p>
        </p:txBody>
      </p:sp>
      <p:sp>
        <p:nvSpPr>
          <p:cNvPr id="4" name="Rectangle 3"/>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6391656"/>
            <a:ext cx="9722815" cy="292608"/>
          </a:xfrm>
          <a:prstGeom prst="rect">
            <a:avLst/>
          </a:prstGeom>
          <a:noFill/>
        </p:spPr>
        <p:txBody>
          <a:bodyPr wrap="square" anchor="t" lIns="0" rIns="0" tIns="0" bIns="0">
            <a:spAutoFit/>
          </a:bodyPr>
          <a:lstStyle/>
          <a:p>
            <a:r>
              <a:rPr sz="1000">
                <a:solidFill>
                  <a:srgbClr val="FFFFFF"/>
                </a:solidFill>
                <a:latin typeface="Calibri"/>
              </a:rPr>
              <a:t>Week 0 Day 1: arrive and set up</a:t>
            </a:r>
          </a:p>
        </p:txBody>
      </p:sp>
      <p:sp>
        <p:nvSpPr>
          <p:cNvPr id="6" name="TextBox 5"/>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FFFFFF"/>
                </a:solidFill>
                <a:latin typeface="Calibri"/>
              </a:rPr>
              <a:t>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S5</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A teaching day, in the order it runs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b043371502fe66ba.png"/>
          <p:cNvPicPr>
            <a:picLocks noChangeAspect="1"/>
          </p:cNvPicPr>
          <p:nvPr/>
        </p:nvPicPr>
        <p:blipFill>
          <a:blip r:embed="rId2"/>
          <a:stretch>
            <a:fillRect/>
          </a:stretch>
        </p:blipFill>
        <p:spPr>
          <a:xfrm>
            <a:off x="685800" y="2833880"/>
            <a:ext cx="10820095" cy="956559"/>
          </a:xfrm>
          <a:prstGeom prst="rect">
            <a:avLst/>
          </a:prstGeom>
        </p:spPr>
      </p:pic>
      <p:sp>
        <p:nvSpPr>
          <p:cNvPr id="7" name="TextBox 6"/>
          <p:cNvSpPr txBox="1"/>
          <p:nvPr/>
        </p:nvSpPr>
        <p:spPr>
          <a:xfrm>
            <a:off x="685800" y="3936743"/>
            <a:ext cx="10820095" cy="910336"/>
          </a:xfrm>
          <a:prstGeom prst="rect">
            <a:avLst/>
          </a:prstGeom>
          <a:noFill/>
        </p:spPr>
        <p:txBody>
          <a:bodyPr wrap="square" anchor="t" lIns="0" rIns="0" tIns="0" bIns="0">
            <a:spAutoFit/>
          </a:bodyPr>
          <a:lstStyle/>
          <a:p>
            <a:pPr>
              <a:spcAft>
                <a:spcPts val="900"/>
              </a:spcAft>
            </a:pPr>
            <a:r>
              <a:rPr sz="2000" b="0">
                <a:solidFill>
                  <a:srgbClr val="1C1C1A"/>
                </a:solidFill>
                <a:latin typeface="Calibri"/>
              </a:rPr>
              <a:t>Every day opens on a question someone in a business is asking, in their words. The technique arrives third, because it exists to answer the question.</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S6</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600" b="1">
                <a:solidFill>
                  <a:srgbClr val="1C1C1A"/>
                </a:solidFill>
                <a:latin typeface="Calibri"/>
              </a:rPr>
              <a:t>What a day leaves you with</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584704"/>
            <a:ext cx="10820095" cy="2511552"/>
          </a:xfrm>
          <a:prstGeom prst="rect">
            <a:avLst/>
          </a:prstGeom>
          <a:noFill/>
        </p:spPr>
        <p:txBody>
          <a:bodyPr wrap="square" anchor="t" lIns="0" rIns="0" tIns="0" bIns="0">
            <a:spAutoFit/>
          </a:bodyPr>
          <a:lstStyle/>
          <a:p>
            <a:pPr>
              <a:spcAft>
                <a:spcPts val="900"/>
              </a:spcAft>
            </a:pPr>
            <a:r>
              <a:rPr sz="2000" b="0">
                <a:solidFill>
                  <a:srgbClr val="1C1C1A"/>
                </a:solidFill>
                <a:latin typeface="Calibri"/>
              </a:rPr>
              <a:t>Every day breaks something on purpose, with the exact error on the screen, because reading an error is half of the job.</a:t>
            </a:r>
          </a:p>
          <a:p>
            <a:pPr>
              <a:spcAft>
                <a:spcPts val="900"/>
              </a:spcAft>
            </a:pPr>
            <a:r>
              <a:rPr sz="2000" b="0">
                <a:solidFill>
                  <a:srgbClr val="1C1C1A"/>
                </a:solidFill>
                <a:latin typeface="Calibri"/>
              </a:rPr>
              <a:t>The Kahoot at the close takes a few minutes and is not graded. It shows you, and us, what landed.</a:t>
            </a:r>
          </a:p>
          <a:p>
            <a:pPr>
              <a:spcAft>
                <a:spcPts val="900"/>
              </a:spcAft>
            </a:pPr>
            <a:r>
              <a:rPr sz="2000" b="0">
                <a:solidFill>
                  <a:srgbClr val="1C1C1A"/>
                </a:solidFill>
                <a:latin typeface="Calibri"/>
              </a:rPr>
              <a:t>After the session: exercises posted on GitHub Discussions, a take-home with a check you can run yourself, and the setup for tomorrow, shipped the evening before.</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S7</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Saturday: a paper, then the discussion</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b7e86d46f2582025.png"/>
          <p:cNvPicPr>
            <a:picLocks noChangeAspect="1"/>
          </p:cNvPicPr>
          <p:nvPr/>
        </p:nvPicPr>
        <p:blipFill>
          <a:blip r:embed="rId2"/>
          <a:stretch>
            <a:fillRect/>
          </a:stretch>
        </p:blipFill>
        <p:spPr>
          <a:xfrm>
            <a:off x="685799" y="2345227"/>
            <a:ext cx="10820095" cy="1242986"/>
          </a:xfrm>
          <a:prstGeom prst="rect">
            <a:avLst/>
          </a:prstGeom>
        </p:spPr>
      </p:pic>
      <p:sp>
        <p:nvSpPr>
          <p:cNvPr id="7" name="TextBox 6"/>
          <p:cNvSpPr txBox="1"/>
          <p:nvPr/>
        </p:nvSpPr>
        <p:spPr>
          <a:xfrm>
            <a:off x="685800" y="3734517"/>
            <a:ext cx="10820095" cy="1601216"/>
          </a:xfrm>
          <a:prstGeom prst="rect">
            <a:avLst/>
          </a:prstGeom>
          <a:noFill/>
        </p:spPr>
        <p:txBody>
          <a:bodyPr wrap="square" anchor="t" lIns="0" rIns="0" tIns="0" bIns="0">
            <a:spAutoFit/>
          </a:bodyPr>
          <a:lstStyle/>
          <a:p>
            <a:pPr>
              <a:spcAft>
                <a:spcPts val="900"/>
              </a:spcAft>
            </a:pPr>
            <a:r>
              <a:rPr sz="2000" b="0">
                <a:solidFill>
                  <a:srgbClr val="1C1C1A"/>
                </a:solidFill>
                <a:latin typeface="Calibri"/>
              </a:rPr>
              <a:t>About two hours of objective questions on paper: fill in the blank, true or false, choose one or several, short scenarios, a little arithmetic, and steps put in order. Every question is one an interviewer asks. It is not graded and it is never a ranking: your score by topic tells you what to fix on Monday.</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S8</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A build week: one brief, one live defence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27c5ab67d4c11f01.png"/>
          <p:cNvPicPr>
            <a:picLocks noChangeAspect="1"/>
          </p:cNvPicPr>
          <p:nvPr/>
        </p:nvPicPr>
        <p:blipFill>
          <a:blip r:embed="rId2"/>
          <a:stretch>
            <a:fillRect/>
          </a:stretch>
        </p:blipFill>
        <p:spPr>
          <a:xfrm>
            <a:off x="685800" y="2618093"/>
            <a:ext cx="10820095" cy="1042694"/>
          </a:xfrm>
          <a:prstGeom prst="rect">
            <a:avLst/>
          </a:prstGeom>
        </p:spPr>
      </p:pic>
      <p:sp>
        <p:nvSpPr>
          <p:cNvPr id="7" name="TextBox 6"/>
          <p:cNvSpPr txBox="1"/>
          <p:nvPr/>
        </p:nvSpPr>
        <p:spPr>
          <a:xfrm>
            <a:off x="685800" y="3807091"/>
            <a:ext cx="10820095" cy="1255776"/>
          </a:xfrm>
          <a:prstGeom prst="rect">
            <a:avLst/>
          </a:prstGeom>
          <a:noFill/>
        </p:spPr>
        <p:txBody>
          <a:bodyPr wrap="square" anchor="t" lIns="0" rIns="0" tIns="0" bIns="0">
            <a:spAutoFit/>
          </a:bodyPr>
          <a:lstStyle/>
          <a:p>
            <a:pPr>
              <a:spcAft>
                <a:spcPts val="900"/>
              </a:spcAft>
            </a:pPr>
            <a:r>
              <a:rPr sz="2000" b="0">
                <a:solidFill>
                  <a:srgbClr val="1C1C1A"/>
                </a:solidFill>
                <a:latin typeface="Calibri"/>
              </a:rPr>
              <a:t>Groups of four, a new business and a new brief each time, and no new teaching. Half of the mock interview is about your own project. An industry expert and a senior industry leader join at the end of the week.</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S9</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After Week 16: the capstone, and interviews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639568"/>
            <a:ext cx="10820095" cy="2401824"/>
          </a:xfrm>
          <a:prstGeom prst="rect">
            <a:avLst/>
          </a:prstGeom>
          <a:noFill/>
        </p:spPr>
        <p:txBody>
          <a:bodyPr wrap="square" anchor="t" lIns="0" rIns="0" tIns="0" bIns="0">
            <a:spAutoFit/>
          </a:bodyPr>
          <a:lstStyle/>
          <a:p>
            <a:pPr>
              <a:spcAft>
                <a:spcPts val="900"/>
              </a:spcAft>
            </a:pPr>
            <a:r>
              <a:rPr sz="2000" b="0">
                <a:solidFill>
                  <a:srgbClr val="1C1C1A"/>
                </a:solidFill>
                <a:latin typeface="Calibri"/>
              </a:rPr>
              <a:t>Weeks 17 to 20 are your group's capstone, built in three sprints with a checkpoint each, then a live demo and a panel defence.</a:t>
            </a:r>
          </a:p>
          <a:p>
            <a:pPr>
              <a:spcAft>
                <a:spcPts val="900"/>
              </a:spcAft>
            </a:pPr>
            <a:r>
              <a:rPr sz="2000" b="0">
                <a:solidFill>
                  <a:srgbClr val="1C1C1A"/>
                </a:solidFill>
                <a:latin typeface="Calibri"/>
              </a:rPr>
              <a:t>Placement preparation runs through the whole programme. Every mock interview is practice against a fixed rubric, behavioural questions join from the third, the challenges log on every project becomes your interview material, and company interviews come in the final weeks with preparation against each job description.</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lIns="0" rIns="0" tIns="0" bIns="0">
            <a:spAutoFit/>
          </a:bodyPr>
          <a:lstStyle/>
          <a:p>
            <a:pPr algn="ctr"/>
            <a:r>
              <a:rPr sz="4000" b="1">
                <a:solidFill>
                  <a:srgbClr val="FFFFFF"/>
                </a:solidFill>
                <a:latin typeface="Calibri"/>
              </a:rPr>
              <a:t>SECTION C. The three seats</a:t>
            </a:r>
          </a:p>
        </p:txBody>
      </p:sp>
      <p:sp>
        <p:nvSpPr>
          <p:cNvPr id="4" name="Rectangle 3"/>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6391656"/>
            <a:ext cx="9722815" cy="292608"/>
          </a:xfrm>
          <a:prstGeom prst="rect">
            <a:avLst/>
          </a:prstGeom>
          <a:noFill/>
        </p:spPr>
        <p:txBody>
          <a:bodyPr wrap="square" anchor="t" lIns="0" rIns="0" tIns="0" bIns="0">
            <a:spAutoFit/>
          </a:bodyPr>
          <a:lstStyle/>
          <a:p>
            <a:r>
              <a:rPr sz="1000">
                <a:solidFill>
                  <a:srgbClr val="FFFFFF"/>
                </a:solidFill>
                <a:latin typeface="Calibri"/>
              </a:rPr>
              <a:t>Week 0 Day 1: arrive and set up</a:t>
            </a:r>
          </a:p>
        </p:txBody>
      </p:sp>
      <p:sp>
        <p:nvSpPr>
          <p:cNvPr id="6" name="TextBox 5"/>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FFFFFF"/>
                </a:solidFill>
                <a:latin typeface="Calibri"/>
              </a:rP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S10</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600" b="1">
                <a:solidFill>
                  <a:srgbClr val="1C1C1A"/>
                </a:solidFill>
                <a:latin typeface="Calibri"/>
              </a:rPr>
              <a:t>Three seats at every table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84563890b11d357b.png"/>
          <p:cNvPicPr>
            <a:picLocks noChangeAspect="1"/>
          </p:cNvPicPr>
          <p:nvPr/>
        </p:nvPicPr>
        <p:blipFill>
          <a:blip r:embed="rId2"/>
          <a:stretch>
            <a:fillRect/>
          </a:stretch>
        </p:blipFill>
        <p:spPr>
          <a:xfrm>
            <a:off x="685800" y="2565505"/>
            <a:ext cx="10820095" cy="1147870"/>
          </a:xfrm>
          <a:prstGeom prst="rect">
            <a:avLst/>
          </a:prstGeom>
        </p:spPr>
      </p:pic>
      <p:sp>
        <p:nvSpPr>
          <p:cNvPr id="7" name="TextBox 6"/>
          <p:cNvSpPr txBox="1"/>
          <p:nvPr/>
        </p:nvSpPr>
        <p:spPr>
          <a:xfrm>
            <a:off x="685800" y="3859679"/>
            <a:ext cx="10820095" cy="1255776"/>
          </a:xfrm>
          <a:prstGeom prst="rect">
            <a:avLst/>
          </a:prstGeom>
          <a:noFill/>
        </p:spPr>
        <p:txBody>
          <a:bodyPr wrap="square" anchor="t" lIns="0" rIns="0" tIns="0" bIns="0">
            <a:spAutoFit/>
          </a:bodyPr>
          <a:lstStyle/>
          <a:p>
            <a:pPr>
              <a:spcAft>
                <a:spcPts val="900"/>
              </a:spcAft>
            </a:pPr>
            <a:r>
              <a:rPr sz="2000" b="0">
                <a:solidFill>
                  <a:srgbClr val="1C1C1A"/>
                </a:solidFill>
                <a:latin typeface="Calibri"/>
              </a:rPr>
              <a:t>The forward deployed engineer makes the answer work inside the client's own systems. The three seats are this programme's own way of seeing a project, and in every build week your group sits all three.</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S11</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Why the seats come before any tool</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547112"/>
            <a:ext cx="10820095" cy="910336"/>
          </a:xfrm>
          <a:prstGeom prst="rect">
            <a:avLst/>
          </a:prstGeom>
          <a:noFill/>
        </p:spPr>
        <p:txBody>
          <a:bodyPr wrap="square" anchor="t" lIns="0" rIns="0" tIns="0" bIns="0">
            <a:spAutoFit/>
          </a:bodyPr>
          <a:lstStyle/>
          <a:p>
            <a:pPr>
              <a:spcAft>
                <a:spcPts val="900"/>
              </a:spcAft>
            </a:pPr>
            <a:r>
              <a:rPr sz="2000" b="0">
                <a:solidFill>
                  <a:srgbClr val="1C1C1A"/>
                </a:solidFill>
                <a:latin typeface="Calibri"/>
              </a:rPr>
              <a:t>A technique is worth learning when some business owner needs its answer, some engineer has to build it, and someone has to make it run where the client works.</a:t>
            </a:r>
          </a:p>
        </p:txBody>
      </p:sp>
      <p:graphicFrame>
        <p:nvGraphicFramePr>
          <p:cNvPr id="7" name="Table 6"/>
          <p:cNvGraphicFramePr>
            <a:graphicFrameLocks noGrp="1"/>
          </p:cNvGraphicFramePr>
          <p:nvPr/>
        </p:nvGraphicFramePr>
        <p:xfrm>
          <a:off x="685800" y="3585464"/>
          <a:ext cx="10820094" cy="1548384"/>
        </p:xfrm>
        <a:graphic>
          <a:graphicData uri="http://schemas.openxmlformats.org/drawingml/2006/table">
            <a:tbl>
              <a:tblPr firstRow="0" bandRow="0">
                <a:tableStyleId>{2D5ABB26-0587-4C30-8999-92F81FD0307C}</a:tableStyleId>
              </a:tblPr>
              <a:tblGrid>
                <a:gridCol w="3588006"/>
                <a:gridCol w="7232088"/>
              </a:tblGrid>
              <a:tr h="387096">
                <a:tc>
                  <a:txBody>
                    <a:bodyPr/>
                    <a:lstStyle/>
                    <a:p>
                      <a:r>
                        <a:rPr sz="1600" b="1">
                          <a:solidFill>
                            <a:srgbClr val="FFFFFF"/>
                          </a:solidFill>
                          <a:latin typeface="Calibri"/>
                        </a:rPr>
                        <a:t>Seat</a:t>
                      </a:r>
                    </a:p>
                  </a:txBody>
                  <a:tcPr marL="101600" marR="101600" marT="38100" marB="38100" anchor="ctr">
                    <a:solidFill>
                      <a:srgbClr val="2B4A7D"/>
                    </a:solidFill>
                  </a:tcPr>
                </a:tc>
                <a:tc>
                  <a:txBody>
                    <a:bodyPr/>
                    <a:lstStyle/>
                    <a:p>
                      <a:r>
                        <a:rPr sz="1600" b="1">
                          <a:solidFill>
                            <a:srgbClr val="FFFFFF"/>
                          </a:solidFill>
                          <a:latin typeface="Calibri"/>
                        </a:rPr>
                        <a:t>Its first question</a:t>
                      </a:r>
                    </a:p>
                  </a:txBody>
                  <a:tcPr marL="101600" marR="101600" marT="38100" marB="38100" anchor="ctr">
                    <a:solidFill>
                      <a:srgbClr val="2B4A7D"/>
                    </a:solidFill>
                  </a:tcPr>
                </a:tc>
              </a:tr>
              <a:tr h="387096">
                <a:tc>
                  <a:txBody>
                    <a:bodyPr/>
                    <a:lstStyle/>
                    <a:p>
                      <a:r>
                        <a:rPr sz="1500" b="0">
                          <a:solidFill>
                            <a:srgbClr val="1C1C1A"/>
                          </a:solidFill>
                          <a:latin typeface="Calibri"/>
                        </a:rPr>
                        <a:t>Business owner</a:t>
                      </a:r>
                    </a:p>
                  </a:txBody>
                  <a:tcPr marL="101600" marR="101600" marT="38100" marB="38100" anchor="ctr">
                    <a:solidFill>
                      <a:srgbClr val="FFFFFF"/>
                    </a:solidFill>
                  </a:tcPr>
                </a:tc>
                <a:tc>
                  <a:txBody>
                    <a:bodyPr/>
                    <a:lstStyle/>
                    <a:p>
                      <a:r>
                        <a:rPr sz="1500" b="0">
                          <a:solidFill>
                            <a:srgbClr val="1C1C1A"/>
                          </a:solidFill>
                          <a:latin typeface="Calibri"/>
                        </a:rPr>
                        <a:t>What decision does this change, and by when?</a:t>
                      </a:r>
                    </a:p>
                  </a:txBody>
                  <a:tcPr marL="101600" marR="101600" marT="38100" marB="38100" anchor="ctr">
                    <a:solidFill>
                      <a:srgbClr val="FFFFFF"/>
                    </a:solidFill>
                  </a:tcPr>
                </a:tc>
              </a:tr>
              <a:tr h="387096">
                <a:tc>
                  <a:txBody>
                    <a:bodyPr/>
                    <a:lstStyle/>
                    <a:p>
                      <a:r>
                        <a:rPr sz="1500" b="0">
                          <a:solidFill>
                            <a:srgbClr val="1C1C1A"/>
                          </a:solidFill>
                          <a:latin typeface="Calibri"/>
                        </a:rPr>
                        <a:t>AI engineer</a:t>
                      </a:r>
                    </a:p>
                  </a:txBody>
                  <a:tcPr marL="101600" marR="101600" marT="38100" marB="38100" anchor="ctr">
                    <a:solidFill>
                      <a:srgbClr val="F7F7F5"/>
                    </a:solidFill>
                  </a:tcPr>
                </a:tc>
                <a:tc>
                  <a:txBody>
                    <a:bodyPr/>
                    <a:lstStyle/>
                    <a:p>
                      <a:r>
                        <a:rPr sz="1500" b="0">
                          <a:solidFill>
                            <a:srgbClr val="1C1C1A"/>
                          </a:solidFill>
                          <a:latin typeface="Calibri"/>
                        </a:rPr>
                        <a:t>What will it take to build, and how will we know it works?</a:t>
                      </a:r>
                    </a:p>
                  </a:txBody>
                  <a:tcPr marL="101600" marR="101600" marT="38100" marB="38100" anchor="ctr">
                    <a:solidFill>
                      <a:srgbClr val="F7F7F5"/>
                    </a:solidFill>
                  </a:tcPr>
                </a:tc>
              </a:tr>
              <a:tr h="387096">
                <a:tc>
                  <a:txBody>
                    <a:bodyPr/>
                    <a:lstStyle/>
                    <a:p>
                      <a:r>
                        <a:rPr sz="1500" b="0">
                          <a:solidFill>
                            <a:srgbClr val="1C1C1A"/>
                          </a:solidFill>
                          <a:latin typeface="Calibri"/>
                        </a:rPr>
                        <a:t>Forward deployed engineer</a:t>
                      </a:r>
                    </a:p>
                  </a:txBody>
                  <a:tcPr marL="101600" marR="101600" marT="38100" marB="38100" anchor="ctr">
                    <a:solidFill>
                      <a:srgbClr val="FFFFFF"/>
                    </a:solidFill>
                  </a:tcPr>
                </a:tc>
                <a:tc>
                  <a:txBody>
                    <a:bodyPr/>
                    <a:lstStyle/>
                    <a:p>
                      <a:r>
                        <a:rPr sz="1500" b="0">
                          <a:solidFill>
                            <a:srgbClr val="1C1C1A"/>
                          </a:solidFill>
                          <a:latin typeface="Calibri"/>
                        </a:rPr>
                        <a:t>Will it run where the client works, and who keeps it running?</a:t>
                      </a:r>
                    </a:p>
                  </a:txBody>
                  <a:tcPr marL="101600" marR="101600" marT="38100" marB="38100" anchor="ctr">
                    <a:solidFill>
                      <a:srgbClr val="FFFFFF"/>
                    </a:solidFill>
                  </a:tcPr>
                </a:tc>
              </a:tr>
            </a:tbl>
          </a:graphicData>
        </a:graphic>
      </p:graphicFrame>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lIns="0" rIns="0" tIns="0" bIns="0">
            <a:spAutoFit/>
          </a:bodyPr>
          <a:lstStyle/>
          <a:p>
            <a:pPr algn="ctr"/>
            <a:r>
              <a:rPr sz="4000" b="1">
                <a:solidFill>
                  <a:srgbClr val="FFFFFF"/>
                </a:solidFill>
                <a:latin typeface="Calibri"/>
              </a:rPr>
              <a:t>SECTION D. This week</a:t>
            </a:r>
          </a:p>
        </p:txBody>
      </p:sp>
      <p:sp>
        <p:nvSpPr>
          <p:cNvPr id="4" name="Rectangle 3"/>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6391656"/>
            <a:ext cx="9722815" cy="292608"/>
          </a:xfrm>
          <a:prstGeom prst="rect">
            <a:avLst/>
          </a:prstGeom>
          <a:noFill/>
        </p:spPr>
        <p:txBody>
          <a:bodyPr wrap="square" anchor="t" lIns="0" rIns="0" tIns="0" bIns="0">
            <a:spAutoFit/>
          </a:bodyPr>
          <a:lstStyle/>
          <a:p>
            <a:r>
              <a:rPr sz="1000">
                <a:solidFill>
                  <a:srgbClr val="FFFFFF"/>
                </a:solidFill>
                <a:latin typeface="Calibri"/>
              </a:rPr>
              <a:t>Week 0 Day 1: arrive and set up</a:t>
            </a:r>
          </a:p>
        </p:txBody>
      </p:sp>
      <p:sp>
        <p:nvSpPr>
          <p:cNvPr id="6" name="TextBox 5"/>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FFFFFF"/>
                </a:solidFill>
                <a:latin typeface="Calibri"/>
              </a:rP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S12</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Week 0, day by day</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685800" y="2356104"/>
          <a:ext cx="10820095" cy="2968752"/>
        </p:xfrm>
        <a:graphic>
          <a:graphicData uri="http://schemas.openxmlformats.org/drawingml/2006/table">
            <a:tbl>
              <a:tblPr firstRow="0" bandRow="0">
                <a:tableStyleId>{2D5ABB26-0587-4C30-8999-92F81FD0307C}</a:tableStyleId>
              </a:tblPr>
              <a:tblGrid>
                <a:gridCol w="1837525"/>
                <a:gridCol w="8982570"/>
              </a:tblGrid>
              <a:tr h="387096">
                <a:tc>
                  <a:txBody>
                    <a:bodyPr/>
                    <a:lstStyle/>
                    <a:p>
                      <a:r>
                        <a:rPr sz="1600" b="1">
                          <a:solidFill>
                            <a:srgbClr val="FFFFFF"/>
                          </a:solidFill>
                          <a:latin typeface="Calibri"/>
                        </a:rPr>
                        <a:t>Day</a:t>
                      </a:r>
                    </a:p>
                  </a:txBody>
                  <a:tcPr marL="101600" marR="101600" marT="38100" marB="38100" anchor="ctr">
                    <a:solidFill>
                      <a:srgbClr val="2B4A7D"/>
                    </a:solidFill>
                  </a:tcPr>
                </a:tc>
                <a:tc>
                  <a:txBody>
                    <a:bodyPr/>
                    <a:lstStyle/>
                    <a:p>
                      <a:r>
                        <a:rPr sz="1600" b="1">
                          <a:solidFill>
                            <a:srgbClr val="FFFFFF"/>
                          </a:solidFill>
                          <a:latin typeface="Calibri"/>
                        </a:rPr>
                        <a:t>What happens</a:t>
                      </a:r>
                    </a:p>
                  </a:txBody>
                  <a:tcPr marL="101600" marR="101600" marT="38100" marB="38100" anchor="ctr">
                    <a:solidFill>
                      <a:srgbClr val="2B4A7D"/>
                    </a:solidFill>
                  </a:tcPr>
                </a:tc>
              </a:tr>
              <a:tr h="387096">
                <a:tc>
                  <a:txBody>
                    <a:bodyPr/>
                    <a:lstStyle/>
                    <a:p>
                      <a:r>
                        <a:rPr sz="1500" b="0">
                          <a:solidFill>
                            <a:srgbClr val="1C1C1A"/>
                          </a:solidFill>
                          <a:latin typeface="Calibri"/>
                        </a:rPr>
                        <a:t>Monday</a:t>
                      </a:r>
                    </a:p>
                  </a:txBody>
                  <a:tcPr marL="101600" marR="101600" marT="38100" marB="38100" anchor="ctr">
                    <a:solidFill>
                      <a:srgbClr val="FFFFFF"/>
                    </a:solidFill>
                  </a:tcPr>
                </a:tc>
                <a:tc>
                  <a:txBody>
                    <a:bodyPr/>
                    <a:lstStyle/>
                    <a:p>
                      <a:r>
                        <a:rPr sz="1500" b="0">
                          <a:solidFill>
                            <a:srgbClr val="1C1C1A"/>
                          </a:solidFill>
                          <a:latin typeface="Calibri"/>
                        </a:rPr>
                        <a:t>Orientation, setup, and your self-rating</a:t>
                      </a:r>
                    </a:p>
                  </a:txBody>
                  <a:tcPr marL="101600" marR="101600" marT="38100" marB="38100" anchor="ctr">
                    <a:solidFill>
                      <a:srgbClr val="FFFFFF"/>
                    </a:solidFill>
                  </a:tcPr>
                </a:tc>
              </a:tr>
              <a:tr h="387096">
                <a:tc>
                  <a:txBody>
                    <a:bodyPr/>
                    <a:lstStyle/>
                    <a:p>
                      <a:r>
                        <a:rPr sz="1500" b="0">
                          <a:solidFill>
                            <a:srgbClr val="1C1C1A"/>
                          </a:solidFill>
                          <a:latin typeface="Calibri"/>
                        </a:rPr>
                        <a:t>Tuesday</a:t>
                      </a:r>
                    </a:p>
                  </a:txBody>
                  <a:tcPr marL="101600" marR="101600" marT="38100" marB="38100" anchor="ctr">
                    <a:solidFill>
                      <a:srgbClr val="F7F7F5"/>
                    </a:solidFill>
                  </a:tcPr>
                </a:tc>
                <a:tc>
                  <a:txBody>
                    <a:bodyPr/>
                    <a:lstStyle/>
                    <a:p>
                      <a:r>
                        <a:rPr sz="1500" b="0">
                          <a:solidFill>
                            <a:srgbClr val="1C1C1A"/>
                          </a:solidFill>
                          <a:latin typeface="Calibri"/>
                        </a:rPr>
                        <a:t>The institute's address, then the baseline check on paper, about two hours, no assistant</a:t>
                      </a:r>
                    </a:p>
                  </a:txBody>
                  <a:tcPr marL="101600" marR="101600" marT="38100" marB="38100" anchor="ctr">
                    <a:solidFill>
                      <a:srgbClr val="F7F7F5"/>
                    </a:solidFill>
                  </a:tcPr>
                </a:tc>
              </a:tr>
              <a:tr h="646176">
                <a:tc>
                  <a:txBody>
                    <a:bodyPr/>
                    <a:lstStyle/>
                    <a:p>
                      <a:r>
                        <a:rPr sz="1500" b="0">
                          <a:solidFill>
                            <a:srgbClr val="1C1C1A"/>
                          </a:solidFill>
                          <a:latin typeface="Calibri"/>
                        </a:rPr>
                        <a:t>Wednesday</a:t>
                      </a:r>
                    </a:p>
                  </a:txBody>
                  <a:tcPr marL="101600" marR="101600" marT="38100" marB="38100" anchor="ctr">
                    <a:solidFill>
                      <a:srgbClr val="FFFFFF"/>
                    </a:solidFill>
                  </a:tcPr>
                </a:tc>
                <a:tc>
                  <a:txBody>
                    <a:bodyPr/>
                    <a:lstStyle/>
                    <a:p>
                      <a:r>
                        <a:rPr sz="1500" b="0">
                          <a:solidFill>
                            <a:srgbClr val="1C1C1A"/>
                          </a:solidFill>
                          <a:latin typeface="Calibri"/>
                        </a:rPr>
                        <a:t>Python brush-up, then introductions: four minutes each, two on you and two on something you built and what broke</a:t>
                      </a:r>
                    </a:p>
                  </a:txBody>
                  <a:tcPr marL="101600" marR="101600" marT="38100" marB="38100" anchor="ctr">
                    <a:solidFill>
                      <a:srgbClr val="FFFFFF"/>
                    </a:solidFill>
                  </a:tcPr>
                </a:tc>
              </a:tr>
              <a:tr h="387096">
                <a:tc>
                  <a:txBody>
                    <a:bodyPr/>
                    <a:lstStyle/>
                    <a:p>
                      <a:r>
                        <a:rPr sz="1500" b="0">
                          <a:solidFill>
                            <a:srgbClr val="1C1C1A"/>
                          </a:solidFill>
                          <a:latin typeface="Calibri"/>
                        </a:rPr>
                        <a:t>Thursday</a:t>
                      </a:r>
                    </a:p>
                  </a:txBody>
                  <a:tcPr marL="101600" marR="101600" marT="38100" marB="38100" anchor="ctr">
                    <a:solidFill>
                      <a:srgbClr val="F7F7F5"/>
                    </a:solidFill>
                  </a:tcPr>
                </a:tc>
                <a:tc>
                  <a:txBody>
                    <a:bodyPr/>
                    <a:lstStyle/>
                    <a:p>
                      <a:r>
                        <a:rPr sz="1500" b="0">
                          <a:solidFill>
                            <a:srgbClr val="1C1C1A"/>
                          </a:solidFill>
                          <a:latin typeface="Calibri"/>
                        </a:rPr>
                        <a:t>Python into SQL, a class on stating a problem before solving it, then the SQL brush-up</a:t>
                      </a:r>
                    </a:p>
                  </a:txBody>
                  <a:tcPr marL="101600" marR="101600" marT="38100" marB="38100" anchor="ctr">
                    <a:solidFill>
                      <a:srgbClr val="F7F7F5"/>
                    </a:solidFill>
                  </a:tcPr>
                </a:tc>
              </a:tr>
              <a:tr h="387096">
                <a:tc>
                  <a:txBody>
                    <a:bodyPr/>
                    <a:lstStyle/>
                    <a:p>
                      <a:r>
                        <a:rPr sz="1500" b="0">
                          <a:solidFill>
                            <a:srgbClr val="1C1C1A"/>
                          </a:solidFill>
                          <a:latin typeface="Calibri"/>
                        </a:rPr>
                        <a:t>Friday</a:t>
                      </a:r>
                    </a:p>
                  </a:txBody>
                  <a:tcPr marL="101600" marR="101600" marT="38100" marB="38100" anchor="ctr">
                    <a:solidFill>
                      <a:srgbClr val="FFFFFF"/>
                    </a:solidFill>
                  </a:tcPr>
                </a:tc>
                <a:tc>
                  <a:txBody>
                    <a:bodyPr/>
                    <a:lstStyle/>
                    <a:p>
                      <a:r>
                        <a:rPr sz="1500" b="0">
                          <a:solidFill>
                            <a:srgbClr val="1C1C1A"/>
                          </a:solidFill>
                          <a:latin typeface="Calibri"/>
                        </a:rPr>
                        <a:t>Gandhi Jayanti, no session, with an optional practice set</a:t>
                      </a:r>
                    </a:p>
                  </a:txBody>
                  <a:tcPr marL="101600" marR="101600" marT="38100" marB="38100" anchor="ctr">
                    <a:solidFill>
                      <a:srgbClr val="FFFFFF"/>
                    </a:solidFill>
                  </a:tcPr>
                </a:tc>
              </a:tr>
              <a:tr h="387096">
                <a:tc>
                  <a:txBody>
                    <a:bodyPr/>
                    <a:lstStyle/>
                    <a:p>
                      <a:r>
                        <a:rPr sz="1500" b="0">
                          <a:solidFill>
                            <a:srgbClr val="1C1C1A"/>
                          </a:solidFill>
                          <a:latin typeface="Calibri"/>
                        </a:rPr>
                        <a:t>Saturday</a:t>
                      </a:r>
                    </a:p>
                  </a:txBody>
                  <a:tcPr marL="101600" marR="101600" marT="38100" marB="38100" anchor="ctr">
                    <a:solidFill>
                      <a:srgbClr val="F7F7F5"/>
                    </a:solidFill>
                  </a:tcPr>
                </a:tc>
                <a:tc>
                  <a:txBody>
                    <a:bodyPr/>
                    <a:lstStyle/>
                    <a:p>
                      <a:r>
                        <a:rPr sz="1500" b="0">
                          <a:solidFill>
                            <a:srgbClr val="1C1C1A"/>
                          </a:solidFill>
                          <a:latin typeface="Calibri"/>
                        </a:rPr>
                        <a:t>A session with a working forward deployed engineer</a:t>
                      </a:r>
                    </a:p>
                  </a:txBody>
                  <a:tcPr marL="101600" marR="101600" marT="38100" marB="38100" anchor="ctr">
                    <a:solidFill>
                      <a:srgbClr val="F7F7F5"/>
                    </a:solidFill>
                  </a:tcPr>
                </a:tc>
              </a:tr>
            </a:tbl>
          </a:graphicData>
        </a:graphic>
      </p:graphicFrame>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S13</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600" b="1">
                <a:solidFill>
                  <a:srgbClr val="1C1C1A"/>
                </a:solidFill>
                <a:latin typeface="Calibri"/>
              </a:rPr>
              <a:t>Claimed, measured, agreed</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bb8c052c1704c229.png"/>
          <p:cNvPicPr>
            <a:picLocks noChangeAspect="1"/>
          </p:cNvPicPr>
          <p:nvPr/>
        </p:nvPicPr>
        <p:blipFill>
          <a:blip r:embed="rId2"/>
          <a:stretch>
            <a:fillRect/>
          </a:stretch>
        </p:blipFill>
        <p:spPr>
          <a:xfrm>
            <a:off x="685800" y="2594864"/>
            <a:ext cx="10820095" cy="1089151"/>
          </a:xfrm>
          <a:prstGeom prst="rect">
            <a:avLst/>
          </a:prstGeom>
        </p:spPr>
      </p:pic>
      <p:sp>
        <p:nvSpPr>
          <p:cNvPr id="7" name="TextBox 6"/>
          <p:cNvSpPr txBox="1"/>
          <p:nvPr/>
        </p:nvSpPr>
        <p:spPr>
          <a:xfrm>
            <a:off x="685800" y="3830319"/>
            <a:ext cx="10820095" cy="1255776"/>
          </a:xfrm>
          <a:prstGeom prst="rect">
            <a:avLst/>
          </a:prstGeom>
          <a:noFill/>
        </p:spPr>
        <p:txBody>
          <a:bodyPr wrap="square" anchor="t" lIns="0" rIns="0" tIns="0" bIns="0">
            <a:spAutoFit/>
          </a:bodyPr>
          <a:lstStyle/>
          <a:p>
            <a:pPr>
              <a:spcAft>
                <a:spcPts val="900"/>
              </a:spcAft>
            </a:pPr>
            <a:r>
              <a:rPr sz="2000" b="0">
                <a:solidFill>
                  <a:srgbClr val="1C1C1A"/>
                </a:solidFill>
                <a:latin typeface="Calibri"/>
              </a:rPr>
              <a:t>The one-to-one with a TA runs on Wednesday or Thursday. None of it is graded. The gap between what you claimed and what the paper found belongs to you, and it decides what you fix first.</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D14</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lIns="0" rIns="0" tIns="0" bIns="0">
            <a:spAutoFit/>
          </a:bodyPr>
          <a:lstStyle/>
          <a:p>
            <a:r>
              <a:rPr sz="2300" b="1">
                <a:solidFill>
                  <a:srgbClr val="1C1C1A"/>
                </a:solidFill>
                <a:latin typeface="Calibri"/>
              </a:rPr>
              <a:t>Rate your Python out of ten. What does a seven do?</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2823464"/>
            <a:ext cx="10820095" cy="959104"/>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85800" y="2823464"/>
            <a:ext cx="50292" cy="9591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41832" y="2914904"/>
            <a:ext cx="10362895" cy="812800"/>
          </a:xfrm>
          <a:prstGeom prst="rect">
            <a:avLst/>
          </a:prstGeom>
          <a:noFill/>
        </p:spPr>
        <p:txBody>
          <a:bodyPr wrap="square" anchor="ctr" lIns="0" rIns="0" tIns="0" bIns="0">
            <a:spAutoFit/>
          </a:bodyPr>
          <a:lstStyle/>
          <a:p>
            <a:r>
              <a:rPr sz="2000" b="1">
                <a:solidFill>
                  <a:srgbClr val="2B4A7D"/>
                </a:solidFill>
                <a:latin typeface="Calibri"/>
              </a:rPr>
              <a:t>Question. </a:t>
            </a:r>
            <a:r>
              <a:rPr sz="2000" b="0">
                <a:solidFill>
                  <a:srgbClr val="1C1C1A"/>
                </a:solidFill>
                <a:latin typeface="Calibri"/>
              </a:rPr>
              <a:t>Say the number first. Then say what that number lets you do, in tasks rather than adjectives.</a:t>
            </a:r>
          </a:p>
        </p:txBody>
      </p:sp>
      <p:sp>
        <p:nvSpPr>
          <p:cNvPr id="10" name="TextBox 9"/>
          <p:cNvSpPr txBox="1"/>
          <p:nvPr/>
        </p:nvSpPr>
        <p:spPr>
          <a:xfrm>
            <a:off x="685800" y="3947160"/>
            <a:ext cx="10820095" cy="910336"/>
          </a:xfrm>
          <a:prstGeom prst="rect">
            <a:avLst/>
          </a:prstGeom>
          <a:noFill/>
        </p:spPr>
        <p:txBody>
          <a:bodyPr wrap="square" anchor="t" lIns="0" rIns="0" tIns="0" bIns="0">
            <a:spAutoFit/>
          </a:bodyPr>
          <a:lstStyle/>
          <a:p>
            <a:pPr>
              <a:spcAft>
                <a:spcPts val="900"/>
              </a:spcAft>
            </a:pPr>
            <a:r>
              <a:rPr sz="2000" b="0">
                <a:solidFill>
                  <a:srgbClr val="1C1C1A"/>
                </a:solidFill>
                <a:latin typeface="Calibri"/>
              </a:rPr>
              <a:t>[S] Rate yourself in Python out of ten, and tell me what you would expect a seven to be able to do.</a:t>
            </a:r>
          </a:p>
        </p:txBody>
      </p:sp>
      <p:sp>
        <p:nvSpPr>
          <p:cNvPr id="11" name="Rectangle 10"/>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13" name="TextBox 12"/>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D15</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lIns="0" rIns="0" tIns="0" bIns="0">
            <a:spAutoFit/>
          </a:bodyPr>
          <a:lstStyle/>
          <a:p>
            <a:r>
              <a:rPr sz="2300" b="1">
                <a:solidFill>
                  <a:srgbClr val="1C1C1A"/>
                </a:solidFill>
                <a:latin typeface="Calibri"/>
              </a:rPr>
              <a:t>Answer: a number means nothing without a task</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7" name="Table 6"/>
          <p:cNvGraphicFramePr>
            <a:graphicFrameLocks noGrp="1"/>
          </p:cNvGraphicFramePr>
          <p:nvPr/>
        </p:nvGraphicFramePr>
        <p:xfrm>
          <a:off x="685800" y="1944116"/>
          <a:ext cx="10820095" cy="1935480"/>
        </p:xfrm>
        <a:graphic>
          <a:graphicData uri="http://schemas.openxmlformats.org/drawingml/2006/table">
            <a:tbl>
              <a:tblPr firstRow="0" bandRow="0">
                <a:tableStyleId>{2D5ABB26-0587-4C30-8999-92F81FD0307C}</a:tableStyleId>
              </a:tblPr>
              <a:tblGrid>
                <a:gridCol w="777240"/>
                <a:gridCol w="10042855"/>
              </a:tblGrid>
              <a:tr h="387096">
                <a:tc>
                  <a:txBody>
                    <a:bodyPr/>
                    <a:lstStyle/>
                    <a:p>
                      <a:r>
                        <a:rPr sz="1600" b="1">
                          <a:solidFill>
                            <a:srgbClr val="FFFFFF"/>
                          </a:solidFill>
                          <a:latin typeface="Calibri"/>
                        </a:rPr>
                        <a:t>Level</a:t>
                      </a:r>
                    </a:p>
                  </a:txBody>
                  <a:tcPr marL="101600" marR="101600" marT="38100" marB="38100" anchor="ctr">
                    <a:solidFill>
                      <a:srgbClr val="2B4A7D"/>
                    </a:solidFill>
                  </a:tcPr>
                </a:tc>
                <a:tc>
                  <a:txBody>
                    <a:bodyPr/>
                    <a:lstStyle/>
                    <a:p>
                      <a:r>
                        <a:rPr sz="1600" b="1">
                          <a:solidFill>
                            <a:srgbClr val="FFFFFF"/>
                          </a:solidFill>
                          <a:latin typeface="Calibri"/>
                        </a:rPr>
                        <a:t>What you can do alone, today</a:t>
                      </a:r>
                    </a:p>
                  </a:txBody>
                  <a:tcPr marL="101600" marR="101600" marT="38100" marB="38100" anchor="ctr">
                    <a:solidFill>
                      <a:srgbClr val="2B4A7D"/>
                    </a:solidFill>
                  </a:tcPr>
                </a:tc>
              </a:tr>
              <a:tr h="387096">
                <a:tc>
                  <a:txBody>
                    <a:bodyPr/>
                    <a:lstStyle/>
                    <a:p>
                      <a:r>
                        <a:rPr sz="1500" b="0">
                          <a:solidFill>
                            <a:srgbClr val="1C1C1A"/>
                          </a:solidFill>
                          <a:latin typeface="Calibri"/>
                        </a:rPr>
                        <a:t>A</a:t>
                      </a:r>
                    </a:p>
                  </a:txBody>
                  <a:tcPr marL="101600" marR="101600" marT="38100" marB="38100" anchor="ctr">
                    <a:solidFill>
                      <a:srgbClr val="FFFFFF"/>
                    </a:solidFill>
                  </a:tcPr>
                </a:tc>
                <a:tc>
                  <a:txBody>
                    <a:bodyPr/>
                    <a:lstStyle/>
                    <a:p>
                      <a:r>
                        <a:rPr sz="1500" b="0">
                          <a:solidFill>
                            <a:srgbClr val="1C1C1A"/>
                          </a:solidFill>
                          <a:latin typeface="Calibri"/>
                        </a:rPr>
                        <a:t>All of it, and you could explain it to someone else</a:t>
                      </a:r>
                    </a:p>
                  </a:txBody>
                  <a:tcPr marL="101600" marR="101600" marT="38100" marB="38100" anchor="ctr">
                    <a:solidFill>
                      <a:srgbClr val="FFFFFF"/>
                    </a:solidFill>
                  </a:tcPr>
                </a:tc>
              </a:tr>
              <a:tr h="387096">
                <a:tc>
                  <a:txBody>
                    <a:bodyPr/>
                    <a:lstStyle/>
                    <a:p>
                      <a:r>
                        <a:rPr sz="1500" b="0">
                          <a:solidFill>
                            <a:srgbClr val="1C1C1A"/>
                          </a:solidFill>
                          <a:latin typeface="Calibri"/>
                        </a:rPr>
                        <a:t>B</a:t>
                      </a:r>
                    </a:p>
                  </a:txBody>
                  <a:tcPr marL="101600" marR="101600" marT="38100" marB="38100" anchor="ctr">
                    <a:solidFill>
                      <a:srgbClr val="F7F7F5"/>
                    </a:solidFill>
                  </a:tcPr>
                </a:tc>
                <a:tc>
                  <a:txBody>
                    <a:bodyPr/>
                    <a:lstStyle/>
                    <a:p>
                      <a:r>
                        <a:rPr sz="1500" b="0">
                          <a:solidFill>
                            <a:srgbClr val="1C1C1A"/>
                          </a:solidFill>
                          <a:latin typeface="Calibri"/>
                        </a:rPr>
                        <a:t>Most of it, looking up syntax now and then</a:t>
                      </a:r>
                    </a:p>
                  </a:txBody>
                  <a:tcPr marL="101600" marR="101600" marT="38100" marB="38100" anchor="ctr">
                    <a:solidFill>
                      <a:srgbClr val="F7F7F5"/>
                    </a:solidFill>
                  </a:tcPr>
                </a:tc>
              </a:tr>
              <a:tr h="387096">
                <a:tc>
                  <a:txBody>
                    <a:bodyPr/>
                    <a:lstStyle/>
                    <a:p>
                      <a:r>
                        <a:rPr sz="1500" b="0">
                          <a:solidFill>
                            <a:srgbClr val="1C1C1A"/>
                          </a:solidFill>
                          <a:latin typeface="Calibri"/>
                        </a:rPr>
                        <a:t>C</a:t>
                      </a:r>
                    </a:p>
                  </a:txBody>
                  <a:tcPr marL="101600" marR="101600" marT="38100" marB="38100" anchor="ctr">
                    <a:solidFill>
                      <a:srgbClr val="FFFFFF"/>
                    </a:solidFill>
                  </a:tcPr>
                </a:tc>
                <a:tc>
                  <a:txBody>
                    <a:bodyPr/>
                    <a:lstStyle/>
                    <a:p>
                      <a:r>
                        <a:rPr sz="1500" b="0">
                          <a:solidFill>
                            <a:srgbClr val="1C1C1A"/>
                          </a:solidFill>
                          <a:latin typeface="Calibri"/>
                        </a:rPr>
                        <a:t>Some of it, with an example open beside you</a:t>
                      </a:r>
                    </a:p>
                  </a:txBody>
                  <a:tcPr marL="101600" marR="101600" marT="38100" marB="38100" anchor="ctr">
                    <a:solidFill>
                      <a:srgbClr val="FFFFFF"/>
                    </a:solidFill>
                  </a:tcPr>
                </a:tc>
              </a:tr>
              <a:tr h="387096">
                <a:tc>
                  <a:txBody>
                    <a:bodyPr/>
                    <a:lstStyle/>
                    <a:p>
                      <a:r>
                        <a:rPr sz="1500" b="0">
                          <a:solidFill>
                            <a:srgbClr val="1C1C1A"/>
                          </a:solidFill>
                          <a:latin typeface="Calibri"/>
                        </a:rPr>
                        <a:t>D</a:t>
                      </a:r>
                    </a:p>
                  </a:txBody>
                  <a:tcPr marL="101600" marR="101600" marT="38100" marB="38100" anchor="ctr">
                    <a:solidFill>
                      <a:srgbClr val="F7F7F5"/>
                    </a:solidFill>
                  </a:tcPr>
                </a:tc>
                <a:tc>
                  <a:txBody>
                    <a:bodyPr/>
                    <a:lstStyle/>
                    <a:p>
                      <a:r>
                        <a:rPr sz="1500" b="0">
                          <a:solidFill>
                            <a:srgbClr val="1C1C1A"/>
                          </a:solidFill>
                          <a:latin typeface="Calibri"/>
                        </a:rPr>
                        <a:t>Not yet, or not in the last year</a:t>
                      </a:r>
                    </a:p>
                  </a:txBody>
                  <a:tcPr marL="101600" marR="101600" marT="38100" marB="38100" anchor="ctr">
                    <a:solidFill>
                      <a:srgbClr val="F7F7F5"/>
                    </a:solidFill>
                  </a:tcPr>
                </a:tc>
              </a:tr>
            </a:tbl>
          </a:graphicData>
        </a:graphic>
      </p:graphicFrame>
      <p:sp>
        <p:nvSpPr>
          <p:cNvPr id="8" name="TextBox 7"/>
          <p:cNvSpPr txBox="1"/>
          <p:nvPr/>
        </p:nvSpPr>
        <p:spPr>
          <a:xfrm>
            <a:off x="685800" y="4135628"/>
            <a:ext cx="10820095" cy="1601216"/>
          </a:xfrm>
          <a:prstGeom prst="rect">
            <a:avLst/>
          </a:prstGeom>
          <a:noFill/>
        </p:spPr>
        <p:txBody>
          <a:bodyPr wrap="square" anchor="t" lIns="0" rIns="0" tIns="0" bIns="0">
            <a:spAutoFit/>
          </a:bodyPr>
          <a:lstStyle/>
          <a:p>
            <a:pPr>
              <a:spcAft>
                <a:spcPts val="900"/>
              </a:spcAft>
            </a:pPr>
            <a:r>
              <a:rPr sz="2000" b="0">
                <a:solidFill>
                  <a:srgbClr val="1C1C1A"/>
                </a:solidFill>
                <a:latin typeface="Calibri"/>
              </a:rPr>
              <a:t>"It" is the Python Week 1 uses: values, loops, records as dictionaries, functions that return, files, reading a traceback, and count, sum, mean and median. The self-rating form this afternoon uses the same four levels for Python, SQL, statistics and stating a problem.</a:t>
            </a:r>
          </a:p>
        </p:txBody>
      </p:sp>
      <p:sp>
        <p:nvSpPr>
          <p:cNvPr id="9" name="Rectangle 8"/>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11" name="TextBox 10"/>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lIns="0" rIns="0" tIns="0" bIns="0">
            <a:spAutoFit/>
          </a:bodyPr>
          <a:lstStyle/>
          <a:p>
            <a:pPr algn="ctr"/>
            <a:r>
              <a:rPr sz="4000" b="1">
                <a:solidFill>
                  <a:srgbClr val="FFFFFF"/>
                </a:solidFill>
                <a:latin typeface="Calibri"/>
              </a:rPr>
              <a:t>SECTION E. Today</a:t>
            </a:r>
          </a:p>
        </p:txBody>
      </p:sp>
      <p:sp>
        <p:nvSpPr>
          <p:cNvPr id="4" name="Rectangle 3"/>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85800" y="6391656"/>
            <a:ext cx="9722815" cy="292608"/>
          </a:xfrm>
          <a:prstGeom prst="rect">
            <a:avLst/>
          </a:prstGeom>
          <a:noFill/>
        </p:spPr>
        <p:txBody>
          <a:bodyPr wrap="square" anchor="t" lIns="0" rIns="0" tIns="0" bIns="0">
            <a:spAutoFit/>
          </a:bodyPr>
          <a:lstStyle/>
          <a:p>
            <a:r>
              <a:rPr sz="1000">
                <a:solidFill>
                  <a:srgbClr val="FFFFFF"/>
                </a:solidFill>
                <a:latin typeface="Calibri"/>
              </a:rPr>
              <a:t>Week 0 Day 1: arrive and set up</a:t>
            </a:r>
          </a:p>
        </p:txBody>
      </p:sp>
      <p:sp>
        <p:nvSpPr>
          <p:cNvPr id="6" name="TextBox 5"/>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FFFFFF"/>
                </a:solidFill>
                <a:latin typeface="Calibri"/>
              </a:rP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S16</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Setup, in five ticks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685800" y="2268728"/>
          <a:ext cx="10820095" cy="2322576"/>
        </p:xfrm>
        <a:graphic>
          <a:graphicData uri="http://schemas.openxmlformats.org/drawingml/2006/table">
            <a:tbl>
              <a:tblPr firstRow="0" bandRow="0">
                <a:tableStyleId>{2D5ABB26-0587-4C30-8999-92F81FD0307C}</a:tableStyleId>
              </a:tblPr>
              <a:tblGrid>
                <a:gridCol w="777240"/>
                <a:gridCol w="10042855"/>
              </a:tblGrid>
              <a:tr h="387096">
                <a:tc>
                  <a:txBody>
                    <a:bodyPr/>
                    <a:lstStyle/>
                    <a:p>
                      <a:r>
                        <a:rPr sz="1600" b="1">
                          <a:solidFill>
                            <a:srgbClr val="FFFFFF"/>
                          </a:solidFill>
                          <a:latin typeface="Calibri"/>
                        </a:rPr>
                        <a:t>Tick</a:t>
                      </a:r>
                    </a:p>
                  </a:txBody>
                  <a:tcPr marL="101600" marR="101600" marT="38100" marB="38100" anchor="ctr">
                    <a:solidFill>
                      <a:srgbClr val="2B4A7D"/>
                    </a:solidFill>
                  </a:tcPr>
                </a:tc>
                <a:tc>
                  <a:txBody>
                    <a:bodyPr/>
                    <a:lstStyle/>
                    <a:p>
                      <a:r>
                        <a:rPr sz="1600" b="1">
                          <a:solidFill>
                            <a:srgbClr val="FFFFFF"/>
                          </a:solidFill>
                          <a:latin typeface="Calibri"/>
                        </a:rPr>
                        <a:t>Done when</a:t>
                      </a:r>
                    </a:p>
                  </a:txBody>
                  <a:tcPr marL="101600" marR="101600" marT="38100" marB="38100" anchor="ctr">
                    <a:solidFill>
                      <a:srgbClr val="2B4A7D"/>
                    </a:solidFill>
                  </a:tcPr>
                </a:tc>
              </a:tr>
              <a:tr h="387096">
                <a:tc>
                  <a:txBody>
                    <a:bodyPr/>
                    <a:lstStyle/>
                    <a:p>
                      <a:r>
                        <a:rPr sz="1500" b="0">
                          <a:solidFill>
                            <a:srgbClr val="1C1C1A"/>
                          </a:solidFill>
                          <a:latin typeface="Calibri"/>
                        </a:rPr>
                        <a:t>1</a:t>
                      </a:r>
                    </a:p>
                  </a:txBody>
                  <a:tcPr marL="101600" marR="101600" marT="38100" marB="38100" anchor="ctr">
                    <a:solidFill>
                      <a:srgbClr val="FFFFFF"/>
                    </a:solidFill>
                  </a:tcPr>
                </a:tc>
                <a:tc>
                  <a:txBody>
                    <a:bodyPr/>
                    <a:lstStyle/>
                    <a:p>
                      <a:r>
                        <a:rPr sz="1500" b="0">
                          <a:solidFill>
                            <a:srgbClr val="1C1C1A"/>
                          </a:solidFill>
                          <a:latin typeface="Calibri"/>
                        </a:rPr>
                        <a:t>Your GitHub account exists and its email is verified</a:t>
                      </a:r>
                    </a:p>
                  </a:txBody>
                  <a:tcPr marL="101600" marR="101600" marT="38100" marB="38100" anchor="ctr">
                    <a:solidFill>
                      <a:srgbClr val="FFFFFF"/>
                    </a:solidFill>
                  </a:tcPr>
                </a:tc>
              </a:tr>
              <a:tr h="387096">
                <a:tc>
                  <a:txBody>
                    <a:bodyPr/>
                    <a:lstStyle/>
                    <a:p>
                      <a:r>
                        <a:rPr sz="1500" b="0">
                          <a:solidFill>
                            <a:srgbClr val="1C1C1A"/>
                          </a:solidFill>
                          <a:latin typeface="Calibri"/>
                        </a:rPr>
                        <a:t>2</a:t>
                      </a:r>
                    </a:p>
                  </a:txBody>
                  <a:tcPr marL="101600" marR="101600" marT="38100" marB="38100" anchor="ctr">
                    <a:solidFill>
                      <a:srgbClr val="F7F7F5"/>
                    </a:solidFill>
                  </a:tcPr>
                </a:tc>
                <a:tc>
                  <a:txBody>
                    <a:bodyPr/>
                    <a:lstStyle/>
                    <a:p>
                      <a:r>
                        <a:rPr sz="1500" b="0">
                          <a:solidFill>
                            <a:srgbClr val="1C1C1A"/>
                          </a:solidFill>
                          <a:latin typeface="Calibri"/>
                        </a:rPr>
                        <a:t>A codespace from GitHub's Jupyter starter is open</a:t>
                      </a:r>
                    </a:p>
                  </a:txBody>
                  <a:tcPr marL="101600" marR="101600" marT="38100" marB="38100" anchor="ctr">
                    <a:solidFill>
                      <a:srgbClr val="F7F7F5"/>
                    </a:solidFill>
                  </a:tcPr>
                </a:tc>
              </a:tr>
              <a:tr h="387096">
                <a:tc>
                  <a:txBody>
                    <a:bodyPr/>
                    <a:lstStyle/>
                    <a:p>
                      <a:r>
                        <a:rPr sz="1500" b="0">
                          <a:solidFill>
                            <a:srgbClr val="1C1C1A"/>
                          </a:solidFill>
                          <a:latin typeface="Calibri"/>
                        </a:rPr>
                        <a:t>3</a:t>
                      </a:r>
                    </a:p>
                  </a:txBody>
                  <a:tcPr marL="101600" marR="101600" marT="38100" marB="38100" anchor="ctr">
                    <a:solidFill>
                      <a:srgbClr val="FFFFFF"/>
                    </a:solidFill>
                  </a:tcPr>
                </a:tc>
                <a:tc>
                  <a:txBody>
                    <a:bodyPr/>
                    <a:lstStyle/>
                    <a:p>
                      <a:r>
                        <a:rPr sz="1500" b="0">
                          <a:solidFill>
                            <a:srgbClr val="1C1C1A"/>
                          </a:solidFill>
                          <a:latin typeface="Calibri"/>
                        </a:rPr>
                        <a:t>One notebook cell has run and drawn its chart</a:t>
                      </a:r>
                    </a:p>
                  </a:txBody>
                  <a:tcPr marL="101600" marR="101600" marT="38100" marB="38100" anchor="ctr">
                    <a:solidFill>
                      <a:srgbClr val="FFFFFF"/>
                    </a:solidFill>
                  </a:tcPr>
                </a:tc>
              </a:tr>
              <a:tr h="387096">
                <a:tc>
                  <a:txBody>
                    <a:bodyPr/>
                    <a:lstStyle/>
                    <a:p>
                      <a:r>
                        <a:rPr sz="1500" b="0">
                          <a:solidFill>
                            <a:srgbClr val="1C1C1A"/>
                          </a:solidFill>
                          <a:latin typeface="Calibri"/>
                        </a:rPr>
                        <a:t>4</a:t>
                      </a:r>
                    </a:p>
                  </a:txBody>
                  <a:tcPr marL="101600" marR="101600" marT="38100" marB="38100" anchor="ctr">
                    <a:solidFill>
                      <a:srgbClr val="F7F7F5"/>
                    </a:solidFill>
                  </a:tcPr>
                </a:tc>
                <a:tc>
                  <a:txBody>
                    <a:bodyPr/>
                    <a:lstStyle/>
                    <a:p>
                      <a:r>
                        <a:rPr sz="1500" b="0">
                          <a:solidFill>
                            <a:srgbClr val="1C1C1A"/>
                          </a:solidFill>
                          <a:latin typeface="Calibri"/>
                        </a:rPr>
                        <a:t>Your LMS login works</a:t>
                      </a:r>
                    </a:p>
                  </a:txBody>
                  <a:tcPr marL="101600" marR="101600" marT="38100" marB="38100" anchor="ctr">
                    <a:solidFill>
                      <a:srgbClr val="F7F7F5"/>
                    </a:solidFill>
                  </a:tcPr>
                </a:tc>
              </a:tr>
              <a:tr h="387096">
                <a:tc>
                  <a:txBody>
                    <a:bodyPr/>
                    <a:lstStyle/>
                    <a:p>
                      <a:r>
                        <a:rPr sz="1500" b="0">
                          <a:solidFill>
                            <a:srgbClr val="1C1C1A"/>
                          </a:solidFill>
                          <a:latin typeface="Calibri"/>
                        </a:rPr>
                        <a:t>5</a:t>
                      </a:r>
                    </a:p>
                  </a:txBody>
                  <a:tcPr marL="101600" marR="101600" marT="38100" marB="38100" anchor="ctr">
                    <a:solidFill>
                      <a:srgbClr val="FFFFFF"/>
                    </a:solidFill>
                  </a:tcPr>
                </a:tc>
                <a:tc>
                  <a:txBody>
                    <a:bodyPr/>
                    <a:lstStyle/>
                    <a:p>
                      <a:r>
                        <a:rPr sz="1500" b="0">
                          <a:solidFill>
                            <a:srgbClr val="1C1C1A"/>
                          </a:solidFill>
                          <a:latin typeface="Calibri"/>
                        </a:rPr>
                        <a:t>Your GitHub Education application is in, or noted as pending</a:t>
                      </a:r>
                    </a:p>
                  </a:txBody>
                  <a:tcPr marL="101600" marR="101600" marT="38100" marB="38100" anchor="ctr">
                    <a:solidFill>
                      <a:srgbClr val="FFFFFF"/>
                    </a:solidFill>
                  </a:tcPr>
                </a:tc>
              </a:tr>
            </a:tbl>
          </a:graphicData>
        </a:graphic>
      </p:graphicFrame>
      <p:sp>
        <p:nvSpPr>
          <p:cNvPr id="7" name="TextBox 6"/>
          <p:cNvSpPr txBox="1"/>
          <p:nvPr/>
        </p:nvSpPr>
        <p:spPr>
          <a:xfrm>
            <a:off x="685800" y="4847336"/>
            <a:ext cx="10820095" cy="564896"/>
          </a:xfrm>
          <a:prstGeom prst="rect">
            <a:avLst/>
          </a:prstGeom>
          <a:noFill/>
        </p:spPr>
        <p:txBody>
          <a:bodyPr wrap="square" anchor="t" lIns="0" rIns="0" tIns="0" bIns="0">
            <a:spAutoFit/>
          </a:bodyPr>
          <a:lstStyle/>
          <a:p>
            <a:pPr>
              <a:spcAft>
                <a:spcPts val="900"/>
              </a:spcAft>
            </a:pPr>
            <a:r>
              <a:rPr sz="2000" b="0">
                <a:solidFill>
                  <a:srgbClr val="1C1C1A"/>
                </a:solidFill>
                <a:latin typeface="Calibri"/>
              </a:rPr>
              <a:t>The help desk takes anything that does not work within two minutes.</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S17</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3000" b="1">
                <a:solidFill>
                  <a:srgbClr val="1C1C1A"/>
                </a:solidFill>
                <a:latin typeface="Calibri"/>
              </a:rPr>
              <a:t>Stop it when you leave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9c37d0293b049812.png"/>
          <p:cNvPicPr>
            <a:picLocks noChangeAspect="1"/>
          </p:cNvPicPr>
          <p:nvPr/>
        </p:nvPicPr>
        <p:blipFill>
          <a:blip r:embed="rId2"/>
          <a:stretch>
            <a:fillRect/>
          </a:stretch>
        </p:blipFill>
        <p:spPr>
          <a:xfrm>
            <a:off x="685800" y="1935430"/>
            <a:ext cx="10820095" cy="2062580"/>
          </a:xfrm>
          <a:prstGeom prst="rect">
            <a:avLst/>
          </a:prstGeom>
        </p:spPr>
      </p:pic>
      <p:sp>
        <p:nvSpPr>
          <p:cNvPr id="7" name="TextBox 6"/>
          <p:cNvSpPr txBox="1"/>
          <p:nvPr/>
        </p:nvSpPr>
        <p:spPr>
          <a:xfrm>
            <a:off x="685800" y="4144314"/>
            <a:ext cx="10820095" cy="1601216"/>
          </a:xfrm>
          <a:prstGeom prst="rect">
            <a:avLst/>
          </a:prstGeom>
          <a:noFill/>
        </p:spPr>
        <p:txBody>
          <a:bodyPr wrap="square" anchor="t" lIns="0" rIns="0" tIns="0" bIns="0">
            <a:spAutoFit/>
          </a:bodyPr>
          <a:lstStyle/>
          <a:p>
            <a:pPr>
              <a:spcAft>
                <a:spcPts val="900"/>
              </a:spcAft>
            </a:pPr>
            <a:r>
              <a:rPr sz="2000" b="0">
                <a:solidFill>
                  <a:srgbClr val="1C1C1A"/>
                </a:solidFill>
                <a:latin typeface="Calibri"/>
              </a:rPr>
              <a:t>Closing the browser tab does not stop a codespace: it runs until 30 idle minutes pass. The free plan gives 120 core hours a month and this starter runs on four cores, which is about 30 hours of use. Stop it from github.com/codespaces when you finish. A codespace left stopped and untouched for 30 days is deleted.</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10" name="TextBox 9"/>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S18</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600" b="1">
                <a:solidFill>
                  <a:srgbClr val="1C1C1A"/>
                </a:solidFill>
                <a:latin typeface="Calibri"/>
              </a:rPr>
              <a:t>Your client for twenty weeks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3330448"/>
            <a:ext cx="10820095" cy="1020064"/>
          </a:xfrm>
          <a:prstGeom prst="rect">
            <a:avLst/>
          </a:prstGeom>
          <a:noFill/>
        </p:spPr>
        <p:txBody>
          <a:bodyPr wrap="square" anchor="t" lIns="0" rIns="0" tIns="0" bIns="0">
            <a:spAutoFit/>
          </a:bodyPr>
          <a:lstStyle/>
          <a:p>
            <a:pPr>
              <a:spcAft>
                <a:spcPts val="900"/>
              </a:spcAft>
            </a:pPr>
            <a:r>
              <a:rPr sz="2000" b="0">
                <a:solidFill>
                  <a:srgbClr val="1C1C1A"/>
                </a:solidFill>
                <a:latin typeface="Calibri"/>
              </a:rPr>
              <a:t>Kalpa Group, a fictional conglomerate.</a:t>
            </a:r>
          </a:p>
          <a:p>
            <a:pPr>
              <a:spcAft>
                <a:spcPts val="900"/>
              </a:spcAft>
            </a:pPr>
            <a:r>
              <a:rPr sz="2000" b="0">
                <a:solidFill>
                  <a:srgbClr val="1C1C1A"/>
                </a:solidFill>
                <a:latin typeface="Calibri"/>
              </a:rPr>
              <a:t>You meet it, and its first question, on Monday 5 October.</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S19</a:t>
            </a:r>
          </a:p>
        </p:txBody>
      </p:sp>
      <p:sp>
        <p:nvSpPr>
          <p:cNvPr id="4" name="TextBox 3"/>
          <p:cNvSpPr txBox="1"/>
          <p:nvPr/>
        </p:nvSpPr>
        <p:spPr>
          <a:xfrm>
            <a:off x="1618488" y="493776"/>
            <a:ext cx="9704527" cy="786384"/>
          </a:xfrm>
          <a:prstGeom prst="rect">
            <a:avLst/>
          </a:prstGeom>
          <a:noFill/>
        </p:spPr>
        <p:txBody>
          <a:bodyPr wrap="square" anchor="ctr" lIns="0" rIns="0" tIns="0" bIns="0">
            <a:spAutoFit/>
          </a:bodyPr>
          <a:lstStyle/>
          <a:p>
            <a:r>
              <a:rPr sz="2300" b="1">
                <a:solidFill>
                  <a:srgbClr val="1C1C1A"/>
                </a:solidFill>
                <a:latin typeface="Calibri"/>
              </a:rPr>
              <a:t>Tomorrow: the paper, taken cold</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3157728"/>
            <a:ext cx="10820095" cy="1365504"/>
          </a:xfrm>
          <a:prstGeom prst="rect">
            <a:avLst/>
          </a:prstGeom>
          <a:noFill/>
        </p:spPr>
        <p:txBody>
          <a:bodyPr wrap="square" anchor="t" lIns="0" rIns="0" tIns="0" bIns="0">
            <a:spAutoFit/>
          </a:bodyPr>
          <a:lstStyle/>
          <a:p>
            <a:pPr>
              <a:spcAft>
                <a:spcPts val="900"/>
              </a:spcAft>
            </a:pPr>
            <a:r>
              <a:rPr sz="2000" b="0">
                <a:solidFill>
                  <a:srgbClr val="1C1C1A"/>
                </a:solidFill>
                <a:latin typeface="Calibri"/>
              </a:rPr>
              <a:t>On paper, about two hours, no assistant and no notes, and it is not graded.</a:t>
            </a:r>
          </a:p>
          <a:p>
            <a:pPr>
              <a:spcAft>
                <a:spcPts val="900"/>
              </a:spcAft>
            </a:pPr>
            <a:r>
              <a:rPr sz="2000" b="0">
                <a:solidFill>
                  <a:srgbClr val="1C1C1A"/>
                </a:solidFill>
                <a:latin typeface="Calibri"/>
              </a:rPr>
              <a:t>Nothing to read tonight: the paper finds out where you are, not how well you prepared. Anything that failed in setup goes to the help desk before the paper starts.</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lIns="0" rIns="0" tIns="0" bIns="0">
            <a:spAutoFit/>
          </a:bodyPr>
          <a:lstStyle/>
          <a:p>
            <a:r>
              <a:rPr sz="1000">
                <a:solidFill>
                  <a:srgbClr val="5F6360"/>
                </a:solidFill>
                <a:latin typeface="Calibri"/>
              </a:rPr>
              <a:t>Week 0 Day 1: arrive and set up</a:t>
            </a:r>
          </a:p>
        </p:txBody>
      </p:sp>
      <p:sp>
        <p:nvSpPr>
          <p:cNvPr id="9" name="TextBox 8"/>
          <p:cNvSpPr txBox="1"/>
          <p:nvPr/>
        </p:nvSpPr>
        <p:spPr>
          <a:xfrm>
            <a:off x="10408615" y="6391656"/>
            <a:ext cx="1097280" cy="292608"/>
          </a:xfrm>
          <a:prstGeom prst="rect">
            <a:avLst/>
          </a:prstGeom>
          <a:noFill/>
        </p:spPr>
        <p:txBody>
          <a:bodyPr wrap="square" anchor="t" lIns="0" rIns="0" tIns="0" bIns="0">
            <a:spAutoFit/>
          </a:bodyPr>
          <a:lstStyle/>
          <a:p>
            <a:pPr algn="r"/>
            <a:r>
              <a:rPr sz="1000">
                <a:solidFill>
                  <a:srgbClr val="5F6360"/>
                </a:solidFill>
                <a:latin typeface="Calibri"/>
              </a:rP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