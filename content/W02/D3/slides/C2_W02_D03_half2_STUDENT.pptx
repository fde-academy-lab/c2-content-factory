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head of Retail-Plus's words aloud. The morning built the protect lists,</a:t>
            </a:r>
          </a:p>
          <a:p>
            <a:r>
              <a:t>the falling flag and the plan line; the afternoon decides who Marketing rings first and hands the</a:t>
            </a:r>
          </a:p>
          <a:p>
            <a:r>
              <a:t>room a case to run alone. The trainer's part of the afternoon is 60 minutes: chapter 6 (30), the</a:t>
            </a:r>
          </a:p>
          <a:p>
            <a:r>
              <a:t>escalated case's first two parts (20) and the Kahoot (10). The tentative IITGN block follows. Then</a:t>
            </a:r>
          </a:p>
          <a:p>
            <a:r>
              <a:t>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as one story. Q2 is July to September 2026; revenue is</a:t>
            </a:r>
          </a:p>
          <a:p>
            <a:r>
              <a:t>booked revenue, every order at its amount whatever its status, Rs 9,84,00,000 for the quarter.</a:t>
            </a:r>
          </a:p>
          <a:p>
            <a:r>
              <a:t>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(5), the list and</a:t>
            </a:r>
          </a:p>
          <a:p>
            <a:r>
              <a:t>the member on holiday (6), the trap, its check and its fix (8, never cut), the second route (3),</a:t>
            </a:r>
          </a:p>
          <a:p>
            <a:r>
              <a:t>the calls (2) and the close (2). Notebook 6 and sql/C2_W02_D03_06_call_first_STUDENT.sql run</a:t>
            </a:r>
          </a:p>
          <a:p>
            <a:r>
              <a:t>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member is C-0216 of Retail-Plus. Monthly spend is a member's booked revenue in</a:t>
            </a:r>
          </a:p>
          <a:p>
            <a:r>
              <a:t>one calendar month; a month with no order has no row in the monthly table. Then a data team that</a:t>
            </a:r>
          </a:p>
          <a:p>
            <a:r>
              <a:t>warned about gaps, and hotels that read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Cam Davidson-Pilon, "How Shopify Merchants can Measure Retention", Shopify</a:t>
            </a:r>
          </a:p>
          <a:p>
            <a:r>
              <a:t>Engineering, 14 November 2017, checked 1 October 2026. Marriott extended elite status earned in</a:t>
            </a:r>
          </a:p>
          <a:p>
            <a:r>
              <a:t>2019 until February 2022 (release of 14 April 2020), and Hilton extended status to 31 March 2022</a:t>
            </a:r>
          </a:p>
          <a:p>
            <a:r>
              <a:t>for members set to downgrade in 2020 or 2021 (release of 27 October 2020). Then four readings of</a:t>
            </a:r>
          </a:p>
          <a:p>
            <a:r>
              <a:t>"last month".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Members buy in 2.5 of the six months on average, 752 member-months for 301</a:t>
            </a:r>
          </a:p>
          <a:p>
            <a:r>
              <a:t>members, so a month with no order is the usual state. A zero-filled calendar flags 26 members, 17</a:t>
            </a:r>
          </a:p>
          <a:p>
            <a:r>
              <a:t>of whom simply placed no September order. 1,806 is 301 members times six months. Then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Two readings of "the month before": the calendar's, and the row LAG reads. They</a:t>
            </a:r>
          </a:p>
          <a:p>
            <a:r>
              <a:t>agree only when no month is empty. Then the list meets the flag.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a. Then the member on holiday.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his row aloud: three months with orders and three without. Letters in chat.</a:t>
            </a:r>
          </a:p>
          <a:p>
            <a:r>
              <a:t>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hurried reply to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section 3. Ask the room whether they would defend the flag as it</a:t>
            </a:r>
          </a:p>
          <a:p>
            <a:r>
              <a:t>stands.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Marketing asked about calendar months, and LAG counts rows. Wherever a member</a:t>
            </a:r>
          </a:p>
          <a:p>
            <a:r>
              <a:t>skipped a month, LAG steps over the gap, so a holiday reads as a fall.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missing month has no row to join to, so a gap breaks the run here by</a:t>
            </a:r>
          </a:p>
          <a:p>
            <a:r>
              <a:t>construction. The two routes share no window and agree because both read calendar months. Then the</a:t>
            </a:r>
          </a:p>
          <a:p>
            <a:r>
              <a:t>calls.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C-0010 is a fall that holds up: three consecutive months, each lower. The nine are</a:t>
            </a:r>
          </a:p>
          <a:p>
            <a:r>
              <a:t>the room's to read in notebook 06's last your-turn cell: their segments, their places and how far</a:t>
            </a:r>
          </a:p>
          <a:p>
            <a:r>
              <a:t>each fell. Do not read the list aloud.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 month with no order breaks the run, checked by reading the months LAG</a:t>
            </a:r>
          </a:p>
          <a:p>
            <a:r>
              <a:t>read; zeros would read a quiet month as a fall, and Kalpa's members buy in 2.5 of six months, so</a:t>
            </a:r>
          </a:p>
          <a:p>
            <a:r>
              <a:t>zeros flag 26 here, 17 of them for a quiet September. Then 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alone: parts 1 and 2 of the escalated case. Parts 3 to 5 run in the TA-led</a:t>
            </a:r>
          </a:p>
          <a:p>
            <a:r>
              <a:t>practice lab. The notebook is notebooks/C2_W02_D03_ex1_escalated_case_STUDENT.ipynb and the brief</a:t>
            </a:r>
          </a:p>
          <a:p>
            <a:r>
              <a:t>exercises/unguided/C2_W02_D03_escalated_case_STUDENT.md.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marketing lead's message. Each part holds two lettered markers; each</a:t>
            </a:r>
          </a:p>
          <a:p>
            <a:r>
              <a:t>marker is a choice the learner writes into the code, and the check cell after it says whether the</a:t>
            </a:r>
          </a:p>
          <a:p>
            <a:r>
              <a:t>part behaves. Seventeen minutes alone;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the morning's rules, not the case's answers. Then go: seventeen</a:t>
            </a:r>
          </a:p>
          <a:p>
            <a:r>
              <a:t>minutes, parts 1 and 2. After the case, the 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(2), the six lines (1), the Kahoot (6) and tomorrow (1).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read their own line first, including the Retail-Plus count</a:t>
            </a:r>
          </a:p>
          <a:p>
            <a:r>
              <a:t>their run gave and its reason; then read this one. Then the six lines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them together. The cheat sheet prints these six lines word for word. Then the</a:t>
            </a:r>
          </a:p>
          <a:p>
            <a:r>
              <a:t>Kahoot.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kahoot/C2_W02_D03_quiz_STUDENT.md. Twenty seconds an item; after each, one learner</a:t>
            </a:r>
          </a:p>
          <a:p>
            <a:r>
              <a:t>says why the right answer holds. Item 8 is Tuesday's return question. Then tomorrow's ask, left open.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and the practice lab's drill. [S] is a staple asked everywhere, [F] frequent at global</a:t>
            </a:r>
          </a:p>
          <a:p>
            <a:r>
              <a:t>capability centres and product companies, [D] a differentiator. Each question is answered in full in</a:t>
            </a:r>
          </a:p>
          <a:p>
            <a:r>
              <a:t>its chapter's notebook and in the study notes; in the lab, pairs ask each other aloud.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pairs or alone, about forty minutes. The notebook is</a:t>
            </a:r>
          </a:p>
          <a:p>
            <a:r>
              <a:t>notebooks/C2_W02_D03_ex2_second_case_STUDENT.ipynb and the brief</a:t>
            </a:r>
          </a:p>
          <a:p>
            <a:r>
              <a:t>exercises/unguided/C2_W02_D03_second_case_STUDENT.md.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and the lab's debrief of the room's wrong answers. Each line is a trap the day staged on</a:t>
            </a:r>
          </a:p>
          <a:p>
            <a:r>
              <a:t>purpose; the room met each one before its name.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and leave it open: today's flag becomes a column of tomorrow's table. The</a:t>
            </a:r>
          </a:p>
          <a:p>
            <a:r>
              <a:t>pre-read for Thursday ships tonight. Then the tentative IITGN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 Id="rId6"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9.xml"/><Relationship Id="rId6"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66847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does Marketing call first?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“Before we ring anyone: one of your flagged members rang our help line to say he was travelling in August and has not stopped buying. Is your flag wrong about him, and how many others?”</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Who does Marketing call?</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108067"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do we tell Marketing?</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answered five questions with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Who are the top fifty?</a:t>
                      </a:r>
                    </a:p>
                  </a:txBody>
                  <a:tcPr marL="101600" marR="101600" marT="38100" marB="38100" anchor="ctr">
                    <a:solidFill>
                      <a:srgbClr val="FFFFFF"/>
                    </a:solidFill>
                  </a:tcPr>
                </a:tc>
                <a:tc>
                  <a:txBody>
                    <a:bodyPr/>
                    <a:lstStyle/>
                    <a:p>
                      <a:r>
                        <a:rPr sz="1400" b="0" i="0">
                          <a:solidFill>
                            <a:srgbClr val="1A1440"/>
                          </a:solidFill>
                          <a:latin typeface="Calibri"/>
                        </a:rPr>
                        <a:t>One list across the book: 35 Business, 11 Retail-Plus, 4 Retail-Core, no Student</a:t>
                      </a:r>
                    </a:p>
                  </a:txBody>
                  <a:tcPr marL="101600" marR="101600" marT="38100" marB="38100" anchor="ctr">
                    <a:solidFill>
                      <a:srgbClr val="FFFFFF"/>
                    </a:solidFill>
                  </a:tcPr>
                </a:tc>
              </a:tr>
              <a:tr h="369824">
                <a:tc>
                  <a:txBody>
                    <a:bodyPr/>
                    <a:lstStyle/>
                    <a:p>
                      <a:r>
                        <a:rPr sz="1400" b="0" i="0">
                          <a:solidFill>
                            <a:srgbClr val="1A1440"/>
                          </a:solidFill>
                          <a:latin typeface="Calibri"/>
                        </a:rPr>
                        <a:t>2. Top fifty per segment?</a:t>
                      </a:r>
                    </a:p>
                  </a:txBody>
                  <a:tcPr marL="101600" marR="101600" marT="38100" marB="38100" anchor="ctr">
                    <a:solidFill>
                      <a:srgbClr val="F4F2FA"/>
                    </a:solidFill>
                  </a:tcPr>
                </a:tc>
                <a:tc>
                  <a:txBody>
                    <a:bodyPr/>
                    <a:lstStyle/>
                    <a:p>
                      <a:r>
                        <a:rPr sz="1400" b="0" i="0">
                          <a:solidFill>
                            <a:srgbClr val="1A1440"/>
                          </a:solidFill>
                          <a:latin typeface="Calibri"/>
                        </a:rPr>
                        <a:t>PARTITION BY segment: fifty, or every buyer, in each segment</a:t>
                      </a:r>
                    </a:p>
                  </a:txBody>
                  <a:tcPr marL="101600" marR="101600" marT="38100" marB="38100" anchor="ctr">
                    <a:solidFill>
                      <a:srgbClr val="F4F2FA"/>
                    </a:solidFill>
                  </a:tcPr>
                </a:tc>
              </a:tr>
              <a:tr h="369824">
                <a:tc>
                  <a:txBody>
                    <a:bodyPr/>
                    <a:lstStyle/>
                    <a:p>
                      <a:r>
                        <a:rPr sz="1400" b="0" i="0">
                          <a:solidFill>
                            <a:srgbClr val="1A1440"/>
                          </a:solidFill>
                          <a:latin typeface="Calibri"/>
                        </a:rPr>
                        <a:t>3. Who makes it at a tie?</a:t>
                      </a:r>
                    </a:p>
                  </a:txBody>
                  <a:tcPr marL="101600" marR="101600" marT="38100" marB="38100" anchor="ctr">
                    <a:solidFill>
                      <a:srgbClr val="FFFFFF"/>
                    </a:solidFill>
                  </a:tcPr>
                </a:tc>
                <a:tc>
                  <a:txBody>
                    <a:bodyPr/>
                    <a:lstStyle/>
                    <a:p>
                      <a:r>
                        <a:rPr sz="1400" b="0" i="0">
                          <a:solidFill>
                            <a:srgbClr val="1A1440"/>
                          </a:solidFill>
                          <a:latin typeface="Calibri"/>
                        </a:rPr>
                        <a:t>RANK, with the count and its reason; DENSE_RANK can run past the line</a:t>
                      </a:r>
                    </a:p>
                  </a:txBody>
                  <a:tcPr marL="101600" marR="101600" marT="38100" marB="38100" anchor="ctr">
                    <a:solidFill>
                      <a:srgbClr val="FFFFFF"/>
                    </a:solidFill>
                  </a:tcPr>
                </a:tc>
              </a:tr>
              <a:tr h="369824">
                <a:tc>
                  <a:txBody>
                    <a:bodyPr/>
                    <a:lstStyle/>
                    <a:p>
                      <a:r>
                        <a:rPr sz="1400" b="0" i="0">
                          <a:solidFill>
                            <a:srgbClr val="1A1440"/>
                          </a:solidFill>
                          <a:latin typeface="Calibri"/>
                        </a:rPr>
                        <a:t>4. Whose spend is falling?</a:t>
                      </a:r>
                    </a:p>
                  </a:txBody>
                  <a:tcPr marL="101600" marR="101600" marT="38100" marB="38100" anchor="ctr">
                    <a:solidFill>
                      <a:srgbClr val="F4F2FA"/>
                    </a:solidFill>
                  </a:tcPr>
                </a:tc>
                <a:tc>
                  <a:txBody>
                    <a:bodyPr/>
                    <a:lstStyle/>
                    <a:p>
                      <a:r>
                        <a:rPr sz="1400" b="0" i="0">
                          <a:solidFill>
                            <a:srgbClr val="1A1440"/>
                          </a:solidFill>
                          <a:latin typeface="Calibri"/>
                        </a:rPr>
                        <a:t>16 members, with each member's months kept apart; 20 without</a:t>
                      </a:r>
                    </a:p>
                  </a:txBody>
                  <a:tcPr marL="101600" marR="101600" marT="38100" marB="38100" anchor="ctr">
                    <a:solidFill>
                      <a:srgbClr val="F4F2FA"/>
                    </a:solidFill>
                  </a:tcPr>
                </a:tc>
              </a:tr>
              <a:tr h="369824">
                <a:tc>
                  <a:txBody>
                    <a:bodyPr/>
                    <a:lstStyle/>
                    <a:p>
                      <a:r>
                        <a:rPr sz="1400" b="0" i="0">
                          <a:solidFill>
                            <a:srgbClr val="1A1440"/>
                          </a:solidFill>
                          <a:latin typeface="Calibri"/>
                        </a:rPr>
                        <a:t>5. On track against plan?</a:t>
                      </a:r>
                    </a:p>
                  </a:txBody>
                  <a:tcPr marL="101600" marR="101600" marT="38100" marB="38100" anchor="ctr">
                    <a:solidFill>
                      <a:srgbClr val="FFFFFF"/>
                    </a:solidFill>
                  </a:tcPr>
                </a:tc>
                <a:tc>
                  <a:txBody>
                    <a:bodyPr/>
                    <a:lstStyle/>
                    <a:p>
                      <a:r>
                        <a:rPr sz="1400" b="0" i="0">
                          <a:solidFill>
                            <a:srgbClr val="1A1440"/>
                          </a:solidFill>
                          <a:latin typeface="Calibri"/>
                        </a:rPr>
                        <a:t>Q2 closed Rs 10 ahead; Rs 1.58 crore ahead at mid-quarter, from one July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does Marketing call?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listed members does Marketing call first, and does each flag hold up when a member says he was on holiday?</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first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 team rings the flagged members on the protect lists this week, and the head of Retail-Plus answers to his members for every call. A call that tells a loyal member his spend is falling when he was away costs his goodwill and maybe his renewal.</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reading of last month?</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flagged are listed?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 meets the flag</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LAG compare?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member on holiday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flags skip a month?</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check on all sixteen</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a calendar join agree?</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No window at all</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Who goes first?</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calls Marketing makes</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member team rings flagged members this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Answers to his members for every call the member team makes.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falling flag</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September below August, and August below July: three calendar months, each lower.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His goodwill, maybe his renewal, and a week of calls spent on false alarms.</a:t>
            </a:r>
          </a:p>
        </p:txBody>
      </p:sp>
      <p:sp>
        <p:nvSpPr>
          <p:cNvPr id="27" name="Rounded Rectangle 26"/>
          <p:cNvSpPr/>
          <p:nvPr/>
        </p:nvSpPr>
        <p:spPr>
          <a:xfrm>
            <a:off x="530352" y="410413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FFFFFF"/>
                </a:solidFill>
                <a:latin typeface="Calibri"/>
              </a:rPr>
              <a:t>"Is your flag wrong about him, and how many others?"</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34" name="Oval 3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warned against a fixed gap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what a gap in a customer's buying means?</a:t>
            </a:r>
          </a:p>
        </p:txBody>
      </p:sp>
      <p:pic>
        <p:nvPicPr>
          <p:cNvPr id="9" name="mermaid diagram" descr="42125c35229b1109.png"/>
          <p:cNvPicPr>
            <a:picLocks noChangeAspect="1"/>
          </p:cNvPicPr>
          <p:nvPr/>
        </p:nvPicPr>
        <p:blipFill>
          <a:blip r:embed="rId6"/>
          <a:stretch>
            <a:fillRect/>
          </a:stretch>
        </p:blipFill>
        <p:spPr>
          <a:xfrm>
            <a:off x="854597" y="1682496"/>
            <a:ext cx="4137834"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Shopify's data team wrote that "far too often businesses define churn as no purchases after N days"; a gap has to be read against the customer's own history.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with a calendar check: 752 rows, no zeros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ways could the flag read "last month", and what would each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99509"/>
                <a:gridCol w="3726878"/>
                <a:gridCol w="914400"/>
                <a:gridCol w="29902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"Last month" is</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A month with no order</a:t>
                      </a:r>
                    </a:p>
                  </a:txBody>
                  <a:tcPr marL="101600" marR="101600" marT="38100" marB="38100" anchor="ctr">
                    <a:solidFill>
                      <a:srgbClr val="1A0F5C"/>
                    </a:solidFill>
                  </a:tcPr>
                </a:tc>
              </a:tr>
              <a:tr h="335280">
                <a:tc>
                  <a:txBody>
                    <a:bodyPr/>
                    <a:lstStyle/>
                    <a:p>
                      <a:r>
                        <a:rPr sz="1200" b="0" i="0">
                          <a:solidFill>
                            <a:srgbClr val="1A1440"/>
                          </a:solidFill>
                          <a:latin typeface="Calibri"/>
                        </a:rPr>
                        <a:t>A. LAG over own months</a:t>
                      </a:r>
                    </a:p>
                  </a:txBody>
                  <a:tcPr marL="101600" marR="101600" marT="38100" marB="38100" anchor="ctr">
                    <a:solidFill>
                      <a:srgbClr val="FFFFFF"/>
                    </a:solidFill>
                  </a:tcPr>
                </a:tc>
                <a:tc>
                  <a:txBody>
                    <a:bodyPr/>
                    <a:lstStyle/>
                    <a:p>
                      <a:r>
                        <a:rPr sz="1200" b="0" i="0">
                          <a:solidFill>
                            <a:srgbClr val="1A1440"/>
                          </a:solidFill>
                          <a:latin typeface="Calibri"/>
                        </a:rPr>
                        <a:t>the member's last buying month</a:t>
                      </a:r>
                    </a:p>
                  </a:txBody>
                  <a:tcPr marL="101600" marR="101600" marT="38100" marB="38100" anchor="ctr">
                    <a:solidFill>
                      <a:srgbClr val="FFFFFF"/>
                    </a:solidFill>
                  </a:tcPr>
                </a:tc>
                <a:tc>
                  <a:txBody>
                    <a:bodyPr/>
                    <a:lstStyle/>
                    <a:p>
                      <a:r>
                        <a:rPr sz="1200" b="0" i="0">
                          <a:solidFill>
                            <a:srgbClr val="1A1440"/>
                          </a:solidFill>
                          <a:latin typeface="Calibri"/>
                        </a:rPr>
                        <a:t>752</a:t>
                      </a:r>
                    </a:p>
                  </a:txBody>
                  <a:tcPr marL="101600" marR="101600" marT="38100" marB="38100" anchor="ctr">
                    <a:solidFill>
                      <a:srgbClr val="FFFFFF"/>
                    </a:solidFill>
                  </a:tcPr>
                </a:tc>
                <a:tc>
                  <a:txBody>
                    <a:bodyPr/>
                    <a:lstStyle/>
                    <a:p>
                      <a:r>
                        <a:rPr sz="1200" b="0" i="0">
                          <a:solidFill>
                            <a:srgbClr val="1A1440"/>
                          </a:solidFill>
                          <a:latin typeface="Calibri"/>
                        </a:rPr>
                        <a:t>stepped over</a:t>
                      </a:r>
                    </a:p>
                  </a:txBody>
                  <a:tcPr marL="101600" marR="101600" marT="38100" marB="38100" anchor="ctr">
                    <a:solidFill>
                      <a:srgbClr val="FFFFFF"/>
                    </a:solidFill>
                  </a:tcPr>
                </a:tc>
              </a:tr>
              <a:tr h="335280">
                <a:tc>
                  <a:txBody>
                    <a:bodyPr/>
                    <a:lstStyle/>
                    <a:p>
                      <a:r>
                        <a:rPr sz="1200" b="0" i="0">
                          <a:solidFill>
                            <a:srgbClr val="1A1440"/>
                          </a:solidFill>
                          <a:latin typeface="Calibri"/>
                        </a:rPr>
                        <a:t>B. LAG with a calendar check</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752</a:t>
                      </a:r>
                    </a:p>
                  </a:txBody>
                  <a:tcPr marL="101600" marR="101600" marT="38100" marB="38100" anchor="ctr">
                    <a:solidFill>
                      <a:srgbClr val="F4F2FA"/>
                    </a:solidFill>
                  </a:tcPr>
                </a:tc>
                <a:tc>
                  <a:txBody>
                    <a:bodyPr/>
                    <a:lstStyle/>
                    <a:p>
                      <a:r>
                        <a:rPr sz="1200" b="0" i="0">
                          <a:solidFill>
                            <a:srgbClr val="1A1440"/>
                          </a:solidFill>
                          <a:latin typeface="Calibri"/>
                        </a:rPr>
                        <a:t>breaks the run</a:t>
                      </a:r>
                    </a:p>
                  </a:txBody>
                  <a:tcPr marL="101600" marR="101600" marT="38100" marB="38100" anchor="ctr">
                    <a:solidFill>
                      <a:srgbClr val="F4F2FA"/>
                    </a:solidFill>
                  </a:tcPr>
                </a:tc>
              </a:tr>
              <a:tr h="335280">
                <a:tc>
                  <a:txBody>
                    <a:bodyPr/>
                    <a:lstStyle/>
                    <a:p>
                      <a:r>
                        <a:rPr sz="1200" b="0" i="0">
                          <a:solidFill>
                            <a:srgbClr val="1A1440"/>
                          </a:solidFill>
                          <a:latin typeface="Calibri"/>
                        </a:rPr>
                        <a:t>C. Calendar, zero-filled</a:t>
                      </a:r>
                    </a:p>
                  </a:txBody>
                  <a:tcPr marL="101600" marR="101600" marT="38100" marB="38100" anchor="ctr">
                    <a:solidFill>
                      <a:srgbClr val="FFFFFF"/>
                    </a:solidFill>
                  </a:tcPr>
                </a:tc>
                <a:tc>
                  <a:txBody>
                    <a:bodyPr/>
                    <a:lstStyle/>
                    <a:p>
                      <a:r>
                        <a:rPr sz="1200" b="0" i="0">
                          <a:solidFill>
                            <a:srgbClr val="1A1440"/>
                          </a:solidFill>
                          <a:latin typeface="Calibri"/>
                        </a:rPr>
                        <a:t>the calendar month before</a:t>
                      </a:r>
                    </a:p>
                  </a:txBody>
                  <a:tcPr marL="101600" marR="101600" marT="38100" marB="38100" anchor="ctr">
                    <a:solidFill>
                      <a:srgbClr val="FFFFFF"/>
                    </a:solidFill>
                  </a:tcPr>
                </a:tc>
                <a:tc>
                  <a:txBody>
                    <a:bodyPr/>
                    <a:lstStyle/>
                    <a:p>
                      <a:r>
                        <a:rPr sz="1200" b="0" i="0">
                          <a:solidFill>
                            <a:srgbClr val="1A1440"/>
                          </a:solidFill>
                          <a:latin typeface="Calibri"/>
                        </a:rPr>
                        <a:t>1,806</a:t>
                      </a:r>
                    </a:p>
                  </a:txBody>
                  <a:tcPr marL="101600" marR="101600" marT="38100" marB="38100" anchor="ctr">
                    <a:solidFill>
                      <a:srgbClr val="FFFFFF"/>
                    </a:solidFill>
                  </a:tcPr>
                </a:tc>
                <a:tc>
                  <a:txBody>
                    <a:bodyPr/>
                    <a:lstStyle/>
                    <a:p>
                      <a:r>
                        <a:rPr sz="1200" b="0" i="0">
                          <a:solidFill>
                            <a:srgbClr val="1A1440"/>
                          </a:solidFill>
                          <a:latin typeface="Calibri"/>
                        </a:rPr>
                        <a:t>a fall to zero</a:t>
                      </a:r>
                    </a:p>
                  </a:txBody>
                  <a:tcPr marL="101600" marR="101600" marT="38100" marB="38100" anchor="ctr">
                    <a:solidFill>
                      <a:srgbClr val="FFFFFF"/>
                    </a:solidFill>
                  </a:tcPr>
                </a:tc>
              </a:tr>
              <a:tr h="335280">
                <a:tc>
                  <a:txBody>
                    <a:bodyPr/>
                    <a:lstStyle/>
                    <a:p>
                      <a:r>
                        <a:rPr sz="1200" b="0" i="0">
                          <a:solidFill>
                            <a:srgbClr val="1A1440"/>
                          </a:solidFill>
                          <a:latin typeface="Calibri"/>
                        </a:rPr>
                        <a:t>D. Calendar, left empty</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1,806</a:t>
                      </a:r>
                    </a:p>
                  </a:txBody>
                  <a:tcPr marL="101600" marR="101600" marT="38100" marB="38100" anchor="ctr">
                    <a:solidFill>
                      <a:srgbClr val="F4F2FA"/>
                    </a:solidFill>
                  </a:tcPr>
                </a:tc>
                <a:tc>
                  <a:txBody>
                    <a:bodyPr/>
                    <a:lstStyle/>
                    <a:p>
                      <a:r>
                        <a:rPr sz="1200" b="0" i="0">
                          <a:solidFill>
                            <a:srgbClr val="1A1440"/>
                          </a:solidFill>
                          <a:latin typeface="Calibri"/>
                        </a:rPr>
                        <a:t>no reading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rows that exist, plus two columns. What would switch it: Marketing also wanting "went quiet" as its own signal, which D's calendar makes into rows a query can 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two readings agree only with no empty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month before" mean for a member who skipped a month?</a:t>
            </a:r>
          </a:p>
        </p:txBody>
      </p:sp>
      <p:pic>
        <p:nvPicPr>
          <p:cNvPr id="9" name="mermaid diagram" descr="9bd98ac1668d421c.png"/>
          <p:cNvPicPr>
            <a:picLocks noChangeAspect="1"/>
          </p:cNvPicPr>
          <p:nvPr/>
        </p:nvPicPr>
        <p:blipFill>
          <a:blip r:embed="rId5"/>
          <a:stretch>
            <a:fillRect/>
          </a:stretch>
        </p:blipFill>
        <p:spPr>
          <a:xfrm>
            <a:off x="2395385" y="1956816"/>
            <a:ext cx="7400925" cy="304323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flagged members are listed?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pic>
        <p:nvPicPr>
          <p:cNvPr id="9" name="mermaid diagram" descr="8c7b1f5da3100c69.png"/>
          <p:cNvPicPr>
            <a:picLocks noChangeAspect="1"/>
          </p:cNvPicPr>
          <p:nvPr/>
        </p:nvPicPr>
        <p:blipFill>
          <a:blip r:embed="rId5"/>
          <a:stretch>
            <a:fillRect/>
          </a:stretch>
        </p:blipFill>
        <p:spPr>
          <a:xfrm>
            <a:off x="3762689" y="1664208"/>
            <a:ext cx="4666315"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chapter 4's 16 flagged members are on a protect list, as a letter? a) all 16; b) about half; c) none, since the list is about spend and the flag about falls; d) it cannot be known without the tie rule.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16, so the call sheet reads 16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4's partitioned LAG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A PROTECT LIST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segment's top fifty under RANK</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member whose spend can fall twice from a high month is a member who spent a lot, so the flag sits inside the lists.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month did LAG call last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he was on holiday?</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C-0216, Rs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6,440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4,300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2,540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C-0216 of Retail-Plus stands at place 23 on his segment's list. Which month did LAG treat as "last month" for his September, as a letter? a) August; b) July; c) June; d) none, since his August is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four months from May to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he was on holiday?</a:t>
            </a:r>
          </a:p>
        </p:txBody>
      </p:sp>
      <p:pic>
        <p:nvPicPr>
          <p:cNvPr id="9" name="mermaid diagram" descr="d7920b8c8aeac347.png"/>
          <p:cNvPicPr>
            <a:picLocks noChangeAspect="1"/>
          </p:cNvPicPr>
          <p:nvPr/>
        </p:nvPicPr>
        <p:blipFill>
          <a:blip r:embed="rId5"/>
          <a:stretch>
            <a:fillRect/>
          </a:stretch>
        </p:blipFill>
        <p:spPr>
          <a:xfrm>
            <a:off x="1409547" y="1956816"/>
            <a:ext cx="9372600" cy="2000250"/>
          </a:xfrm>
          <a:prstGeom prst="rect">
            <a:avLst/>
          </a:prstGeom>
        </p:spPr>
      </p:pic>
      <p:sp>
        <p:nvSpPr>
          <p:cNvPr id="10" name="Rounded Rectangle 9"/>
          <p:cNvSpPr/>
          <p:nvPr/>
        </p:nvSpPr>
        <p:spPr>
          <a:xfrm>
            <a:off x="530352" y="410337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3138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2224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There is no August row, so LAG compared September with July and July with May. Chapter 4's flag called that two months of falls; his rows say August is simply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sixteen calls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get if chapter 4's flag ships as it stands?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told their spend fell two months running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others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hurried reply to the head of Retail-Plus is that C-0216 did spend less each time he ordered, and every one of the sixteen gets the same call.</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7 of 16 flags skip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sixteen flags step over a month with no order?</a:t>
            </a:r>
          </a:p>
        </p:txBody>
      </p:sp>
      <p:pic>
        <p:nvPicPr>
          <p:cNvPr id="9" name="mermaid diagram" descr="6eea9dc41337f1ff.png"/>
          <p:cNvPicPr>
            <a:picLocks noChangeAspect="1"/>
          </p:cNvPicPr>
          <p:nvPr/>
        </p:nvPicPr>
        <p:blipFill>
          <a:blip r:embed="rId5"/>
          <a:stretch>
            <a:fillRect/>
          </a:stretch>
        </p:blipFill>
        <p:spPr>
          <a:xfrm>
            <a:off x="1866747" y="1956816"/>
            <a:ext cx="8458200" cy="2771775"/>
          </a:xfrm>
          <a:prstGeom prst="rect">
            <a:avLst/>
          </a:prstGeom>
        </p:spPr>
      </p:pic>
      <p:sp>
        <p:nvSpPr>
          <p:cNvPr id="10" name="Rounded Rectangle 9"/>
          <p:cNvSpPr/>
          <p:nvPr/>
        </p:nvSpPr>
        <p:spPr>
          <a:xfrm>
            <a:off x="530352" y="48748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29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376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lag(month) beside lag(spend) and count the flags whose two rows before September are not August and July: seven, C-0216 among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nine members, three months each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flag checks the calendar?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AND month_1_back = DATE '2026-08-01'</a:t>
            </a:r>
          </a:p>
          <a:p>
            <a:pPr>
              <a:spcAft>
                <a:spcPts val="200"/>
              </a:spcAft>
            </a:pPr>
            <a:r>
              <a:rPr sz="1400" b="0" i="0">
                <a:solidFill>
                  <a:srgbClr val="E4E1F1"/>
                </a:solidFill>
                <a:latin typeface="Consolas"/>
              </a:rPr>
              <a:t>AND month_2_back = DATE '2026-07-01'</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three consecutive months, each lower</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 NOT MADE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them</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Every call that goes out now describes three consecutive months that each fell, months the member can check on his own statement.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7" name="Oval 2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calendar join keeps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join on calendar months find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sep.customer_id</a:t>
            </a:r>
          </a:p>
          <a:p>
            <a:pPr>
              <a:spcAft>
                <a:spcPts val="200"/>
              </a:spcAft>
            </a:pPr>
            <a:r>
              <a:rPr sz="1400" b="0" i="0">
                <a:solidFill>
                  <a:srgbClr val="E4E1F1"/>
                </a:solidFill>
                <a:latin typeface="Consolas"/>
              </a:rPr>
              <a:t>FROM   monthly sep</a:t>
            </a:r>
          </a:p>
          <a:p>
            <a:pPr>
              <a:spcAft>
                <a:spcPts val="200"/>
              </a:spcAft>
            </a:pPr>
            <a:r>
              <a:rPr sz="1400" b="0" i="0">
                <a:solidFill>
                  <a:srgbClr val="E4E1F1"/>
                </a:solidFill>
                <a:latin typeface="Consolas"/>
              </a:rPr>
              <a:t>JOIN   monthly aug ON aug.customer_id = sep.customer_id AND aug.month = DATE '2026-08-01'</a:t>
            </a:r>
          </a:p>
          <a:p>
            <a:pPr>
              <a:spcAft>
                <a:spcPts val="200"/>
              </a:spcAft>
            </a:pPr>
            <a:r>
              <a:rPr sz="1400" b="0" i="0">
                <a:solidFill>
                  <a:srgbClr val="E4E1F1"/>
                </a:solidFill>
                <a:latin typeface="Consolas"/>
              </a:rPr>
              <a:t>JOIN   monthly jul ON jul.customer_id = sep.customer_id AND jul.month = DATE '2026-07-01'</a:t>
            </a:r>
          </a:p>
          <a:p>
            <a:pPr>
              <a:spcAft>
                <a:spcPts val="200"/>
              </a:spcAft>
            </a:pPr>
            <a:r>
              <a:rPr sz="1400" b="0" i="0">
                <a:solidFill>
                  <a:srgbClr val="E4E1F1"/>
                </a:solidFill>
                <a:latin typeface="Consolas"/>
              </a:rPr>
              <a:t>WHERE  sep.month = DATE '2026-09-01' AND sep.spend &lt; aug.spend AND aug.spend &lt; jul.spend;</a:t>
            </a:r>
          </a:p>
        </p:txBody>
      </p:sp>
      <p:sp>
        <p:nvSpPr>
          <p:cNvPr id="14" name="TextBox 13"/>
          <p:cNvSpPr txBox="1"/>
          <p:nvPr/>
        </p:nvSpPr>
        <p:spPr>
          <a:xfrm>
            <a:off x="530352" y="3840988"/>
            <a:ext cx="11130991" cy="698500"/>
          </a:xfrm>
          <a:prstGeom prst="rect">
            <a:avLst/>
          </a:prstGeom>
          <a:noFill/>
        </p:spPr>
        <p:txBody>
          <a:bodyPr wrap="square" anchor="t" lIns="0" rIns="0" tIns="0" bIns="0">
            <a:spAutoFit/>
          </a:bodyPr>
          <a:lstStyle/>
          <a:p>
            <a:pPr algn="l"/>
            <a:r>
              <a:rPr sz="4400" b="0" i="0">
                <a:solidFill>
                  <a:srgbClr val="5B3FD6"/>
                </a:solidFill>
                <a:latin typeface="Georgia"/>
              </a:rPr>
              <a:t>9 = 9</a:t>
            </a:r>
          </a:p>
        </p:txBody>
      </p:sp>
      <p:sp>
        <p:nvSpPr>
          <p:cNvPr id="15" name="TextBox 14"/>
          <p:cNvSpPr txBox="1"/>
          <p:nvPr/>
        </p:nvSpPr>
        <p:spPr>
          <a:xfrm>
            <a:off x="530352" y="4576064"/>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ones as the checked LAG</a:t>
            </a:r>
          </a:p>
        </p:txBody>
      </p:sp>
      <p:sp>
        <p:nvSpPr>
          <p:cNvPr id="17" name="Rectangle 16"/>
          <p:cNvSpPr/>
          <p:nvPr/>
        </p:nvSpPr>
        <p:spPr>
          <a:xfrm>
            <a:off x="530352" y="5029708"/>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the nine; C-0010 shows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does Marketing call first?</a:t>
            </a:r>
          </a:p>
        </p:txBody>
      </p:sp>
      <p:graphicFrame>
        <p:nvGraphicFramePr>
          <p:cNvPr id="9" name="Table 8"/>
          <p:cNvGraphicFramePr>
            <a:graphicFrameLocks noGrp="1"/>
          </p:cNvGraphicFramePr>
          <p:nvPr/>
        </p:nvGraphicFramePr>
        <p:xfrm>
          <a:off x="530352" y="1956816"/>
          <a:ext cx="11130990" cy="670560"/>
        </p:xfrm>
        <a:graphic>
          <a:graphicData uri="http://schemas.openxmlformats.org/drawingml/2006/table">
            <a:tbl>
              <a:tblPr firstRow="0" bandRow="0">
                <a:tableStyleId>{2D5ABB26-0587-4C30-8999-92F81FD0307C}</a:tableStyleId>
              </a:tblPr>
              <a:tblGrid>
                <a:gridCol w="6756719"/>
                <a:gridCol w="914400"/>
                <a:gridCol w="914400"/>
                <a:gridCol w="2545471"/>
              </a:tblGrid>
              <a:tr h="335280">
                <a:tc>
                  <a:txBody>
                    <a:bodyPr/>
                    <a:lstStyle/>
                    <a:p>
                      <a:r>
                        <a:rPr sz="1250" b="1" i="0">
                          <a:solidFill>
                            <a:srgbClr val="FFFFFF"/>
                          </a:solidFill>
                          <a:latin typeface="Calibri"/>
                        </a:rPr>
                        <a:t>C-0010, Retail-Core, place 1</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Monthly spend</a:t>
                      </a:r>
                    </a:p>
                  </a:txBody>
                  <a:tcPr marL="101600" marR="101600" marT="38100" marB="38100" anchor="ctr">
                    <a:solidFill>
                      <a:srgbClr val="FFFFFF"/>
                    </a:solidFill>
                  </a:tcPr>
                </a:tc>
                <a:tc>
                  <a:txBody>
                    <a:bodyPr/>
                    <a:lstStyle/>
                    <a:p>
                      <a:r>
                        <a:rPr sz="1200" b="0" i="0">
                          <a:solidFill>
                            <a:srgbClr val="1A1440"/>
                          </a:solidFill>
                          <a:latin typeface="Calibri"/>
                        </a:rPr>
                        <a:t>Rs 7,840</a:t>
                      </a:r>
                    </a:p>
                  </a:txBody>
                  <a:tcPr marL="101600" marR="101600" marT="38100" marB="38100" anchor="ctr">
                    <a:solidFill>
                      <a:srgbClr val="FFFFFF"/>
                    </a:solidFill>
                  </a:tcPr>
                </a:tc>
                <a:tc>
                  <a:txBody>
                    <a:bodyPr/>
                    <a:lstStyle/>
                    <a:p>
                      <a:r>
                        <a:rPr sz="1200" b="0" i="0">
                          <a:solidFill>
                            <a:srgbClr val="1A1440"/>
                          </a:solidFill>
                          <a:latin typeface="Calibri"/>
                        </a:rPr>
                        <a:t>Rs 4,080</a:t>
                      </a:r>
                    </a:p>
                  </a:txBody>
                  <a:tcPr marL="101600" marR="101600" marT="38100" marB="38100" anchor="ctr">
                    <a:solidFill>
                      <a:srgbClr val="FFFFFF"/>
                    </a:solidFill>
                  </a:tcPr>
                </a:tc>
                <a:tc>
                  <a:txBody>
                    <a:bodyPr/>
                    <a:lstStyle/>
                    <a:p>
                      <a:r>
                        <a:rPr sz="1200" b="0" i="0">
                          <a:solidFill>
                            <a:srgbClr val="1A1440"/>
                          </a:solidFill>
                          <a:latin typeface="Calibri"/>
                        </a:rPr>
                        <a:t>Rs 1,990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156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3325368"/>
            <a:ext cx="237744" cy="237744"/>
          </a:xfrm>
          <a:prstGeom prst="rect">
            <a:avLst/>
          </a:prstGeom>
        </p:spPr>
      </p:pic>
      <p:sp>
        <p:nvSpPr>
          <p:cNvPr id="13" name="TextBox 12"/>
          <p:cNvSpPr txBox="1"/>
          <p:nvPr/>
        </p:nvSpPr>
        <p:spPr>
          <a:xfrm>
            <a:off x="1399031" y="302971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3249168"/>
            <a:ext cx="9987991" cy="682752"/>
          </a:xfrm>
          <a:prstGeom prst="rect">
            <a:avLst/>
          </a:prstGeom>
          <a:noFill/>
        </p:spPr>
        <p:txBody>
          <a:bodyPr wrap="square" anchor="t" lIns="0" rIns="0" tIns="0" bIns="0">
            <a:spAutoFit/>
          </a:bodyPr>
          <a:lstStyle/>
          <a:p>
            <a:r>
              <a:rPr sz="1500" b="0" i="0">
                <a:solidFill>
                  <a:srgbClr val="FFFFFF"/>
                </a:solidFill>
                <a:latin typeface="Calibri"/>
              </a:rPr>
              <a:t>"Who do we ring first?" All nine flagged members are on a protect list. Run block c6_call_list in your own notebook and read the nine before you write the line to Marketing.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calls, and a month with no order is no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listed members does Marketing call first, and does each flag hold up?</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reading of last month?</a:t>
                      </a:r>
                    </a:p>
                  </a:txBody>
                  <a:tcPr marL="101600" marR="101600" marT="38100" marB="38100" anchor="ctr">
                    <a:solidFill>
                      <a:srgbClr val="FFFFFF"/>
                    </a:solidFill>
                  </a:tcPr>
                </a:tc>
                <a:tc>
                  <a:txBody>
                    <a:bodyPr/>
                    <a:lstStyle/>
                    <a:p>
                      <a:r>
                        <a:rPr sz="900" b="0" i="0">
                          <a:solidFill>
                            <a:srgbClr val="1A1440"/>
                          </a:solidFill>
                          <a:latin typeface="Calibri"/>
                        </a:rPr>
                        <a:t>LAG with a calendar check: 752 rows, no zeros</a:t>
                      </a:r>
                    </a:p>
                  </a:txBody>
                  <a:tcPr marL="101600" marR="101600" marT="38100" marB="38100" anchor="ctr">
                    <a:solidFill>
                      <a:srgbClr val="FFFFFF"/>
                    </a:solidFill>
                  </a:tcPr>
                </a:tc>
              </a:tr>
              <a:tr h="310896">
                <a:tc>
                  <a:txBody>
                    <a:bodyPr/>
                    <a:lstStyle/>
                    <a:p>
                      <a:r>
                        <a:rPr sz="900" b="0" i="0">
                          <a:solidFill>
                            <a:srgbClr val="1A1440"/>
                          </a:solidFill>
                          <a:latin typeface="Calibri"/>
                        </a:rPr>
                        <a:t>2. How many flagged are listed?</a:t>
                      </a:r>
                    </a:p>
                  </a:txBody>
                  <a:tcPr marL="101600" marR="101600" marT="38100" marB="38100" anchor="ctr">
                    <a:solidFill>
                      <a:srgbClr val="F4F2FA"/>
                    </a:solidFill>
                  </a:tcPr>
                </a:tc>
                <a:tc>
                  <a:txBody>
                    <a:bodyPr/>
                    <a:lstStyle/>
                    <a:p>
                      <a:r>
                        <a:rPr sz="900" b="0" i="0">
                          <a:solidFill>
                            <a:srgbClr val="1A1440"/>
                          </a:solidFill>
                          <a:latin typeface="Calibri"/>
                        </a:rPr>
                        <a:t>All 16 of chapter 4's flag</a:t>
                      </a:r>
                    </a:p>
                  </a:txBody>
                  <a:tcPr marL="101600" marR="101600" marT="38100" marB="38100" anchor="ctr">
                    <a:solidFill>
                      <a:srgbClr val="F4F2FA"/>
                    </a:solidFill>
                  </a:tcPr>
                </a:tc>
              </a:tr>
              <a:tr h="310896">
                <a:tc>
                  <a:txBody>
                    <a:bodyPr/>
                    <a:lstStyle/>
                    <a:p>
                      <a:r>
                        <a:rPr sz="900" b="0" i="0">
                          <a:solidFill>
                            <a:srgbClr val="1A1440"/>
                          </a:solidFill>
                          <a:latin typeface="Calibri"/>
                        </a:rPr>
                        <a:t>3. What did LAG compare?</a:t>
                      </a:r>
                    </a:p>
                  </a:txBody>
                  <a:tcPr marL="101600" marR="101600" marT="38100" marB="38100" anchor="ctr">
                    <a:solidFill>
                      <a:srgbClr val="FFFFFF"/>
                    </a:solidFill>
                  </a:tcPr>
                </a:tc>
                <a:tc>
                  <a:txBody>
                    <a:bodyPr/>
                    <a:lstStyle/>
                    <a:p>
                      <a:r>
                        <a:rPr sz="900" b="0" i="0">
                          <a:solidFill>
                            <a:srgbClr val="1A1440"/>
                          </a:solidFill>
                          <a:latin typeface="Calibri"/>
                        </a:rPr>
                        <a:t>September with July and July with May</a:t>
                      </a:r>
                    </a:p>
                  </a:txBody>
                  <a:tcPr marL="101600" marR="101600" marT="38100" marB="38100" anchor="ctr">
                    <a:solidFill>
                      <a:srgbClr val="FFFFFF"/>
                    </a:solidFill>
                  </a:tcPr>
                </a:tc>
              </a:tr>
              <a:tr h="310896">
                <a:tc>
                  <a:txBody>
                    <a:bodyPr/>
                    <a:lstStyle/>
                    <a:p>
                      <a:r>
                        <a:rPr sz="900" b="0" i="0">
                          <a:solidFill>
                            <a:srgbClr val="1A1440"/>
                          </a:solidFill>
                          <a:latin typeface="Calibri"/>
                        </a:rPr>
                        <a:t>4. How many flags skip a month?</a:t>
                      </a:r>
                    </a:p>
                  </a:txBody>
                  <a:tcPr marL="101600" marR="101600" marT="38100" marB="38100" anchor="ctr">
                    <a:solidFill>
                      <a:srgbClr val="F4F2FA"/>
                    </a:solidFill>
                  </a:tcPr>
                </a:tc>
                <a:tc>
                  <a:txBody>
                    <a:bodyPr/>
                    <a:lstStyle/>
                    <a:p>
                      <a:r>
                        <a:rPr sz="900" b="0" i="0">
                          <a:solidFill>
                            <a:srgbClr val="1A1440"/>
                          </a:solidFill>
                          <a:latin typeface="Calibri"/>
                        </a:rPr>
                        <a:t>7 of 16; the check keeps 9</a:t>
                      </a:r>
                    </a:p>
                  </a:txBody>
                  <a:tcPr marL="101600" marR="101600" marT="38100" marB="38100" anchor="ctr">
                    <a:solidFill>
                      <a:srgbClr val="F4F2FA"/>
                    </a:solidFill>
                  </a:tcPr>
                </a:tc>
              </a:tr>
              <a:tr h="310896">
                <a:tc>
                  <a:txBody>
                    <a:bodyPr/>
                    <a:lstStyle/>
                    <a:p>
                      <a:r>
                        <a:rPr sz="900" b="0" i="0">
                          <a:solidFill>
                            <a:srgbClr val="1A1440"/>
                          </a:solidFill>
                          <a:latin typeface="Calibri"/>
                        </a:rPr>
                        <a:t>5. Does a calendar join agree?</a:t>
                      </a:r>
                    </a:p>
                  </a:txBody>
                  <a:tcPr marL="101600" marR="101600" marT="38100" marB="38100" anchor="ctr">
                    <a:solidFill>
                      <a:srgbClr val="FFFFFF"/>
                    </a:solidFill>
                  </a:tcPr>
                </a:tc>
                <a:tc>
                  <a:txBody>
                    <a:bodyPr/>
                    <a:lstStyle/>
                    <a:p>
                      <a:r>
                        <a:rPr sz="900" b="0" i="0">
                          <a:solidFill>
                            <a:srgbClr val="1A1440"/>
                          </a:solidFill>
                          <a:latin typeface="Calibri"/>
                        </a:rPr>
                        <a:t>Yes, the same nine</a:t>
                      </a:r>
                    </a:p>
                  </a:txBody>
                  <a:tcPr marL="101600" marR="101600" marT="38100" marB="38100" anchor="ctr">
                    <a:solidFill>
                      <a:srgbClr val="FFFFFF"/>
                    </a:solidFill>
                  </a:tcPr>
                </a:tc>
              </a:tr>
              <a:tr h="310896">
                <a:tc>
                  <a:txBody>
                    <a:bodyPr/>
                    <a:lstStyle/>
                    <a:p>
                      <a:r>
                        <a:rPr sz="900" b="0" i="0">
                          <a:solidFill>
                            <a:srgbClr val="1A1440"/>
                          </a:solidFill>
                          <a:latin typeface="Calibri"/>
                        </a:rPr>
                        <a:t>6. Who goes first?</a:t>
                      </a:r>
                    </a:p>
                  </a:txBody>
                  <a:tcPr marL="101600" marR="101600" marT="38100" marB="38100" anchor="ctr">
                    <a:solidFill>
                      <a:srgbClr val="F4F2FA"/>
                    </a:solidFill>
                  </a:tcPr>
                </a:tc>
                <a:tc>
                  <a:txBody>
                    <a:bodyPr/>
                    <a:lstStyle/>
                    <a:p>
                      <a:r>
                        <a:rPr sz="900" b="0" i="0">
                          <a:solidFill>
                            <a:srgbClr val="1A1440"/>
                          </a:solidFill>
                          <a:latin typeface="Calibri"/>
                        </a:rPr>
                        <a:t>The nine; the member on holiday is not one</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month with no order is no reading. Write that into the flag's definition, and read the rows behind a flag before a call goes out."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[D] A member says he was on holiday and should not be flagged: how does your definition treat a month with no orders, and why not fill it with zero?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Marketing get on Monday: each segment's list with its count, the members to ring first, the share of revenue the lists carry, and Q2 against plan?</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"We start calling on Monday. Send me each segment's protect list under the head of Retail-Plus's rule, with its count; the members we ring first; how much of each segment's Q2 revenue the lists cover; and one line Meera can take into the leadership meeting on whether Q2 is on track."</a:t>
            </a:r>
          </a:p>
        </p:txBody>
      </p:sp>
      <p:sp>
        <p:nvSpPr>
          <p:cNvPr id="14" name="Rectangle 13"/>
          <p:cNvSpPr/>
          <p:nvPr/>
        </p:nvSpPr>
        <p:spPr>
          <a:xfrm>
            <a:off x="1570299" y="40690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 NOW</a:t>
            </a:r>
          </a:p>
        </p:txBody>
      </p:sp>
      <p:sp>
        <p:nvSpPr>
          <p:cNvPr id="16" name="Oval 15"/>
          <p:cNvSpPr/>
          <p:nvPr/>
        </p:nvSpPr>
        <p:spPr>
          <a:xfrm>
            <a:off x="1469715"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Each segment's list</a:t>
            </a:r>
          </a:p>
        </p:txBody>
      </p:sp>
      <p:sp>
        <p:nvSpPr>
          <p:cNvPr id="19" name="TextBox 18"/>
          <p:cNvSpPr txBox="1"/>
          <p:nvPr/>
        </p:nvSpPr>
        <p:spPr>
          <a:xfrm>
            <a:off x="694944"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The head's rule and each count</a:t>
            </a:r>
          </a:p>
        </p:txBody>
      </p:sp>
      <p:sp>
        <p:nvSpPr>
          <p:cNvPr id="20" name="TextBox 19"/>
          <p:cNvSpPr txBox="1"/>
          <p:nvPr/>
        </p:nvSpPr>
        <p:spPr>
          <a:xfrm>
            <a:off x="2793126"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 NOW</a:t>
            </a:r>
          </a:p>
        </p:txBody>
      </p:sp>
      <p:sp>
        <p:nvSpPr>
          <p:cNvPr id="21" name="Oval 20"/>
          <p:cNvSpPr/>
          <p:nvPr/>
        </p:nvSpPr>
        <p:spPr>
          <a:xfrm>
            <a:off x="3732489"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members to ring</a:t>
            </a:r>
          </a:p>
        </p:txBody>
      </p:sp>
      <p:sp>
        <p:nvSpPr>
          <p:cNvPr id="24" name="TextBox 23"/>
          <p:cNvSpPr txBox="1"/>
          <p:nvPr/>
        </p:nvSpPr>
        <p:spPr>
          <a:xfrm>
            <a:off x="2957718"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calendar months, each lower</a:t>
            </a:r>
          </a:p>
        </p:txBody>
      </p:sp>
      <p:sp>
        <p:nvSpPr>
          <p:cNvPr id="25" name="TextBox 24"/>
          <p:cNvSpPr txBox="1"/>
          <p:nvPr/>
        </p:nvSpPr>
        <p:spPr>
          <a:xfrm>
            <a:off x="5055900"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 LAB</a:t>
            </a:r>
          </a:p>
        </p:txBody>
      </p:sp>
      <p:sp>
        <p:nvSpPr>
          <p:cNvPr id="26" name="Oval 25"/>
          <p:cNvSpPr/>
          <p:nvPr/>
        </p:nvSpPr>
        <p:spPr>
          <a:xfrm>
            <a:off x="5995263"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53542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share each list carries</a:t>
            </a:r>
          </a:p>
        </p:txBody>
      </p:sp>
      <p:sp>
        <p:nvSpPr>
          <p:cNvPr id="29" name="TextBox 28"/>
          <p:cNvSpPr txBox="1"/>
          <p:nvPr/>
        </p:nvSpPr>
        <p:spPr>
          <a:xfrm>
            <a:off x="5220492" y="5037836"/>
            <a:ext cx="1750710" cy="366776"/>
          </a:xfrm>
          <a:prstGeom prst="rect">
            <a:avLst/>
          </a:prstGeom>
          <a:noFill/>
        </p:spPr>
        <p:txBody>
          <a:bodyPr wrap="square" anchor="t" lIns="0" rIns="0" tIns="0" bIns="0">
            <a:spAutoFit/>
          </a:bodyPr>
          <a:lstStyle/>
          <a:p>
            <a:pPr algn="l"/>
            <a:r>
              <a:rPr sz="1000" b="0" i="0">
                <a:solidFill>
                  <a:srgbClr val="6B6690"/>
                </a:solidFill>
                <a:latin typeface="Calibri"/>
              </a:rPr>
              <a:t>Of its own segment's revenue</a:t>
            </a:r>
          </a:p>
        </p:txBody>
      </p:sp>
      <p:sp>
        <p:nvSpPr>
          <p:cNvPr id="30" name="TextBox 29"/>
          <p:cNvSpPr txBox="1"/>
          <p:nvPr/>
        </p:nvSpPr>
        <p:spPr>
          <a:xfrm>
            <a:off x="7318674"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 LAB</a:t>
            </a:r>
          </a:p>
        </p:txBody>
      </p:sp>
      <p:sp>
        <p:nvSpPr>
          <p:cNvPr id="31" name="Oval 30"/>
          <p:cNvSpPr/>
          <p:nvPr/>
        </p:nvSpPr>
        <p:spPr>
          <a:xfrm>
            <a:off x="8258037"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Q2 against plan</a:t>
            </a:r>
          </a:p>
        </p:txBody>
      </p:sp>
      <p:sp>
        <p:nvSpPr>
          <p:cNvPr id="34" name="TextBox 33"/>
          <p:cNvSpPr txBox="1"/>
          <p:nvPr/>
        </p:nvSpPr>
        <p:spPr>
          <a:xfrm>
            <a:off x="7483266"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By the total and week by week</a:t>
            </a:r>
          </a:p>
        </p:txBody>
      </p:sp>
      <p:sp>
        <p:nvSpPr>
          <p:cNvPr id="35" name="TextBox 34"/>
          <p:cNvSpPr txBox="1"/>
          <p:nvPr/>
        </p:nvSpPr>
        <p:spPr>
          <a:xfrm>
            <a:off x="9581448"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 LAB</a:t>
            </a:r>
          </a:p>
        </p:txBody>
      </p:sp>
      <p:sp>
        <p:nvSpPr>
          <p:cNvPr id="36" name="Oval 35"/>
          <p:cNvSpPr/>
          <p:nvPr/>
        </p:nvSpPr>
        <p:spPr>
          <a:xfrm>
            <a:off x="10520812" y="39776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3891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535424"/>
            <a:ext cx="1750710" cy="251205"/>
          </a:xfrm>
          <a:prstGeom prst="rect">
            <a:avLst/>
          </a:prstGeom>
          <a:noFill/>
        </p:spPr>
        <p:txBody>
          <a:bodyPr wrap="square" anchor="t" lIns="0" rIns="0" tIns="0" bIns="0">
            <a:spAutoFit/>
          </a:bodyPr>
          <a:lstStyle/>
          <a:p>
            <a:pPr algn="l"/>
            <a:r>
              <a:rPr sz="1300" b="1" i="0">
                <a:solidFill>
                  <a:srgbClr val="FFFFFF"/>
                </a:solidFill>
                <a:latin typeface="Calibri"/>
              </a:rPr>
              <a:t>The lines to send</a:t>
            </a:r>
          </a:p>
        </p:txBody>
      </p:sp>
      <p:sp>
        <p:nvSpPr>
          <p:cNvPr id="39" name="TextBox 38"/>
          <p:cNvSpPr txBox="1"/>
          <p:nvPr/>
        </p:nvSpPr>
        <p:spPr>
          <a:xfrm>
            <a:off x="9746040" y="4823206"/>
            <a:ext cx="1750710" cy="201676"/>
          </a:xfrm>
          <a:prstGeom prst="rect">
            <a:avLst/>
          </a:prstGeom>
          <a:noFill/>
        </p:spPr>
        <p:txBody>
          <a:bodyPr wrap="square" anchor="t" lIns="0" rIns="0" tIns="0" bIns="0">
            <a:spAutoFit/>
          </a:bodyPr>
          <a:lstStyle/>
          <a:p>
            <a:pPr algn="l"/>
            <a:r>
              <a:rPr sz="1000" b="0" i="0">
                <a:solidFill>
                  <a:srgbClr val="CFC9EE"/>
                </a:solidFill>
                <a:latin typeface="Calibri"/>
              </a:rPr>
              <a:t>To Marketing and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42" name="Oval 4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choice is yours, and the checks read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case have to keep, whatever the numbers turn out to be?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head's rule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who spent the same share a place, and each list's count is said with its reason.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Calendar months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flag reads July, August and September, each lower; a month with no order breaks the run.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9dd99c81814d.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EVERY PART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Close every loop</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Counts against buyers, flags against their own months, the running total against the quarter.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9" name="Oval 2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Marketing?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the growth team ask next?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lists, nine calls,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"Who do we protect, who do we ring first, and are we on track?"</a:t>
            </a:r>
          </a:p>
        </p:txBody>
      </p:sp>
      <p:sp>
        <p:nvSpPr>
          <p:cNvPr id="14" name="Rounded Rectangle 13"/>
          <p:cNvSpPr/>
          <p:nvPr/>
        </p:nvSpPr>
        <p:spPr>
          <a:xfrm>
            <a:off x="530352" y="2983992"/>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1605279"/>
          </a:xfrm>
          <a:prstGeom prst="rect">
            <a:avLst/>
          </a:prstGeom>
          <a:noFill/>
        </p:spPr>
        <p:txBody>
          <a:bodyPr wrap="square" anchor="t" lIns="0" rIns="0" tIns="0" bIns="0">
            <a:spAutoFit/>
          </a:bodyPr>
          <a:lstStyle/>
          <a:p>
            <a:r>
              <a:rPr sz="1600" b="0" i="1">
                <a:solidFill>
                  <a:srgbClr val="1A0F5C"/>
                </a:solidFill>
                <a:latin typeface="Georgia"/>
              </a:rPr>
              <a:t>"Each segment's list is its top fifty by Q2 revenue under RANK, so members who spent the same share a place, with every list's count and its reason. Ring the nine members whose spend fell in August and again in September first. Q2 closed on plan, Rs 10 ahead, and the Rs 1.58 crore lead at mid-quarter came from one July week, so the weekly run rate has sat below plan since 10 August."</a:t>
            </a:r>
          </a:p>
        </p:txBody>
      </p:sp>
      <p:sp>
        <p:nvSpPr>
          <p:cNvPr id="16" name="Rounded Rectangle 15"/>
          <p:cNvSpPr/>
          <p:nvPr/>
        </p:nvSpPr>
        <p:spPr>
          <a:xfrm>
            <a:off x="530352" y="473557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735576"/>
            <a:ext cx="10820095" cy="467359"/>
          </a:xfrm>
          <a:prstGeom prst="rect">
            <a:avLst/>
          </a:prstGeom>
          <a:noFill/>
        </p:spPr>
        <p:txBody>
          <a:bodyPr wrap="square" anchor="t" lIns="0" rIns="0" tIns="0" bIns="0">
            <a:spAutoFit/>
          </a:bodyPr>
          <a:lstStyle/>
          <a:p>
            <a:r>
              <a:rPr sz="1600" b="0" i="1">
                <a:solidFill>
                  <a:srgbClr val="1A0F5C"/>
                </a:solidFill>
                <a:latin typeface="Georgia"/>
              </a:rPr>
              <a:t>The day's answer, to Marketing and the head of Retail-Plus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does each chapter leave Marketing's list with?</a:t>
            </a:r>
          </a:p>
        </p:txBody>
      </p:sp>
      <p:pic>
        <p:nvPicPr>
          <p:cNvPr id="9" name="mermaid diagram" descr="a69f3fbfe7bc78a4.png"/>
          <p:cNvPicPr>
            <a:picLocks noChangeAspect="1"/>
          </p:cNvPicPr>
          <p:nvPr/>
        </p:nvPicPr>
        <p:blipFill>
          <a:blip r:embed="rId5"/>
          <a:stretch>
            <a:fillRect/>
          </a:stretch>
        </p:blipFill>
        <p:spPr>
          <a:xfrm>
            <a:off x="530352" y="1956816"/>
            <a:ext cx="11130991" cy="1105204"/>
          </a:xfrm>
          <a:prstGeom prst="rect">
            <a:avLst/>
          </a:prstGeom>
        </p:spPr>
      </p:pic>
      <p:sp>
        <p:nvSpPr>
          <p:cNvPr id="10" name="TextBox 9"/>
          <p:cNvSpPr txBox="1"/>
          <p:nvPr/>
        </p:nvSpPr>
        <p:spPr>
          <a:xfrm>
            <a:off x="530352" y="3171748"/>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1" name="TextBox 10"/>
          <p:cNvSpPr txBox="1"/>
          <p:nvPr/>
        </p:nvSpPr>
        <p:spPr>
          <a:xfrm>
            <a:off x="1097280" y="3208324"/>
            <a:ext cx="10564063" cy="368808"/>
          </a:xfrm>
          <a:prstGeom prst="rect">
            <a:avLst/>
          </a:prstGeom>
          <a:noFill/>
        </p:spPr>
        <p:txBody>
          <a:bodyPr wrap="square" anchor="t" lIns="0" rIns="0" tIns="0" bIns="0">
            <a:spAutoFit/>
          </a:bodyPr>
          <a:lstStyle/>
          <a:p>
            <a:r>
              <a:rPr sz="1500" b="0" i="0">
                <a:solidFill>
                  <a:srgbClr val="1A1440"/>
                </a:solidFill>
                <a:latin typeface="Calibri"/>
              </a:rPr>
              <a:t>Say what one row of the list is before you rank it: fifty orders named only 28 members.</a:t>
            </a:r>
          </a:p>
        </p:txBody>
      </p:sp>
      <p:sp>
        <p:nvSpPr>
          <p:cNvPr id="12" name="TextBox 11"/>
          <p:cNvSpPr txBox="1"/>
          <p:nvPr/>
        </p:nvSpPr>
        <p:spPr>
          <a:xfrm>
            <a:off x="530352" y="3613708"/>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3" name="TextBox 12"/>
          <p:cNvSpPr txBox="1"/>
          <p:nvPr/>
        </p:nvSpPr>
        <p:spPr>
          <a:xfrm>
            <a:off x="1097280" y="3650284"/>
            <a:ext cx="10564063" cy="368808"/>
          </a:xfrm>
          <a:prstGeom prst="rect">
            <a:avLst/>
          </a:prstGeom>
          <a:noFill/>
        </p:spPr>
        <p:txBody>
          <a:bodyPr wrap="square" anchor="t" lIns="0" rIns="0" tIns="0" bIns="0">
            <a:spAutoFit/>
          </a:bodyPr>
          <a:lstStyle/>
          <a:p>
            <a:r>
              <a:rPr sz="1500" b="0" i="0">
                <a:solidFill>
                  <a:srgbClr val="1A1440"/>
                </a:solidFill>
                <a:latin typeface="Calibri"/>
              </a:rPr>
              <a:t>"In each segment" is a PARTITION BY: fifty, or every buyer, in each segment.</a:t>
            </a:r>
          </a:p>
        </p:txBody>
      </p:sp>
      <p:sp>
        <p:nvSpPr>
          <p:cNvPr id="14" name="TextBox 13"/>
          <p:cNvSpPr txBox="1"/>
          <p:nvPr/>
        </p:nvSpPr>
        <p:spPr>
          <a:xfrm>
            <a:off x="530352" y="4055668"/>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5" name="TextBox 14"/>
          <p:cNvSpPr txBox="1"/>
          <p:nvPr/>
        </p:nvSpPr>
        <p:spPr>
          <a:xfrm>
            <a:off x="1097280" y="4092244"/>
            <a:ext cx="10564063" cy="368808"/>
          </a:xfrm>
          <a:prstGeom prst="rect">
            <a:avLst/>
          </a:prstGeom>
          <a:noFill/>
        </p:spPr>
        <p:txBody>
          <a:bodyPr wrap="square" anchor="t" lIns="0" rIns="0" tIns="0" bIns="0">
            <a:spAutoFit/>
          </a:bodyPr>
          <a:lstStyle/>
          <a:p>
            <a:r>
              <a:rPr sz="1500" b="0" i="0">
                <a:solidFill>
                  <a:srgbClr val="1A1440"/>
                </a:solidFill>
                <a:latin typeface="Calibri"/>
              </a:rPr>
              <a:t>RANK keeps a tie at the line and says the count; DENSE_RANK can run past the line with no tie at it.</a:t>
            </a:r>
          </a:p>
        </p:txBody>
      </p:sp>
      <p:sp>
        <p:nvSpPr>
          <p:cNvPr id="16" name="TextBox 15"/>
          <p:cNvSpPr txBox="1"/>
          <p:nvPr/>
        </p:nvSpPr>
        <p:spPr>
          <a:xfrm>
            <a:off x="530352" y="4497628"/>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7" name="TextBox 16"/>
          <p:cNvSpPr txBox="1"/>
          <p:nvPr/>
        </p:nvSpPr>
        <p:spPr>
          <a:xfrm>
            <a:off x="1097280" y="4534204"/>
            <a:ext cx="10564063" cy="368808"/>
          </a:xfrm>
          <a:prstGeom prst="rect">
            <a:avLst/>
          </a:prstGeom>
          <a:noFill/>
        </p:spPr>
        <p:txBody>
          <a:bodyPr wrap="square" anchor="t" lIns="0" rIns="0" tIns="0" bIns="0">
            <a:spAutoFit/>
          </a:bodyPr>
          <a:lstStyle/>
          <a:p>
            <a:r>
              <a:rPr sz="1500" b="0" i="0">
                <a:solidFill>
                  <a:srgbClr val="1A1440"/>
                </a:solidFill>
                <a:latin typeface="Calibri"/>
              </a:rPr>
              <a:t>Tell the window whose rows belong together, or LAG reads another member's month.</a:t>
            </a:r>
          </a:p>
        </p:txBody>
      </p:sp>
      <p:sp>
        <p:nvSpPr>
          <p:cNvPr id="18" name="TextBox 17"/>
          <p:cNvSpPr txBox="1"/>
          <p:nvPr/>
        </p:nvSpPr>
        <p:spPr>
          <a:xfrm>
            <a:off x="530352" y="4939588"/>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9" name="TextBox 18"/>
          <p:cNvSpPr txBox="1"/>
          <p:nvPr/>
        </p:nvSpPr>
        <p:spPr>
          <a:xfrm>
            <a:off x="1097280" y="4976164"/>
            <a:ext cx="10564063" cy="368808"/>
          </a:xfrm>
          <a:prstGeom prst="rect">
            <a:avLst/>
          </a:prstGeom>
          <a:noFill/>
        </p:spPr>
        <p:txBody>
          <a:bodyPr wrap="square" anchor="t" lIns="0" rIns="0" tIns="0" bIns="0">
            <a:spAutoFit/>
          </a:bodyPr>
          <a:lstStyle/>
          <a:p>
            <a:r>
              <a:rPr sz="1500" b="0" i="0">
                <a:solidFill>
                  <a:srgbClr val="1A1440"/>
                </a:solidFill>
                <a:latin typeface="Calibri"/>
              </a:rPr>
              <a:t>A running total is done when its last value equals the quarter's total.</a:t>
            </a:r>
          </a:p>
        </p:txBody>
      </p:sp>
      <p:sp>
        <p:nvSpPr>
          <p:cNvPr id="20" name="TextBox 19"/>
          <p:cNvSpPr txBox="1"/>
          <p:nvPr/>
        </p:nvSpPr>
        <p:spPr>
          <a:xfrm>
            <a:off x="530352" y="5381548"/>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1" name="TextBox 20"/>
          <p:cNvSpPr txBox="1"/>
          <p:nvPr/>
        </p:nvSpPr>
        <p:spPr>
          <a:xfrm>
            <a:off x="1097280" y="5418124"/>
            <a:ext cx="10564063" cy="368808"/>
          </a:xfrm>
          <a:prstGeom prst="rect">
            <a:avLst/>
          </a:prstGeom>
          <a:noFill/>
        </p:spPr>
        <p:txBody>
          <a:bodyPr wrap="square" anchor="t" lIns="0" rIns="0" tIns="0" bIns="0">
            <a:spAutoFit/>
          </a:bodyPr>
          <a:lstStyle/>
          <a:p>
            <a:r>
              <a:rPr sz="1500" b="0" i="0">
                <a:solidFill>
                  <a:srgbClr val="1A1440"/>
                </a:solidFill>
                <a:latin typeface="Calibri"/>
              </a:rPr>
              <a:t>A month with no order is no reading: check that LAG read the calendar months before.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none of them 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ROW_NUMBER, RANK and DENSE_RANK on a two-way tie</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What PARTITION BY restarts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What LAG returns on a member's first month</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ORDER BY makes a running total repeatable</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What ROW_NUMBER does to a tie at the line</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The function for "ties ranked the same"</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A month with no order, read by LAG</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Tuesday, one level up: a LEFT join grew the rows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twelve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does today equip you to answer, and how are they tagged?</a:t>
            </a:r>
          </a:p>
        </p:txBody>
      </p:sp>
      <p:graphicFrame>
        <p:nvGraphicFramePr>
          <p:cNvPr id="10" name="Table 9"/>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Tag</a:t>
                      </a:r>
                    </a:p>
                  </a:txBody>
                  <a:tcPr marL="101600" marR="101600" marT="38100" marB="38100" anchor="ctr">
                    <a:solidFill>
                      <a:srgbClr val="1A0F5C"/>
                    </a:solidFill>
                  </a:tcPr>
                </a:tc>
                <a:tc>
                  <a:txBody>
                    <a:bodyPr/>
                    <a:lstStyle/>
                    <a:p>
                      <a:r>
                        <a:rPr sz="1150" b="1" i="0">
                          <a:solidFill>
                            <a:srgbClr val="FFFFFF"/>
                          </a:solidFill>
                          <a:latin typeface="Calibri"/>
                        </a:rPr>
                        <a:t>Question</a:t>
                      </a:r>
                    </a:p>
                  </a:txBody>
                  <a:tcPr marL="101600" marR="101600" marT="38100" marB="38100" anchor="ctr">
                    <a:solidFill>
                      <a:srgbClr val="1A0F5C"/>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RANK, DENSE_RANK and ROW_NUMBER on a tie.</a:t>
                      </a:r>
                    </a:p>
                  </a:txBody>
                  <a:tcPr marL="101600" marR="101600" marT="38100" marB="38100" anchor="ctr">
                    <a:solidFill>
                      <a:srgbClr val="FFFFFF"/>
                    </a:solidFill>
                  </a:tcPr>
                </a:tc>
              </a:tr>
              <a:tr h="318008">
                <a:tc>
                  <a:txBody>
                    <a:bodyPr/>
                    <a:lstStyle/>
                    <a:p>
                      <a:r>
                        <a:rPr sz="1100" b="0" i="0">
                          <a:solidFill>
                            <a:srgbClr val="1A1440"/>
                          </a:solidFill>
                          <a:latin typeface="Calibri"/>
                        </a:rPr>
                        <a:t>[S]</a:t>
                      </a:r>
                    </a:p>
                  </a:txBody>
                  <a:tcPr marL="101600" marR="101600" marT="38100" marB="38100" anchor="ctr">
                    <a:solidFill>
                      <a:srgbClr val="F4F2FA"/>
                    </a:solidFill>
                  </a:tcPr>
                </a:tc>
                <a:tc>
                  <a:txBody>
                    <a:bodyPr/>
                    <a:lstStyle/>
                    <a:p>
                      <a:r>
                        <a:rPr sz="1100" b="0" i="0">
                          <a:solidFill>
                            <a:srgbClr val="1A1440"/>
                          </a:solidFill>
                          <a:latin typeface="Calibri"/>
                        </a:rPr>
                        <a:t>Top-3 per group: GROUP BY or a window, and why?</a:t>
                      </a:r>
                    </a:p>
                  </a:txBody>
                  <a:tcPr marL="101600" marR="101600" marT="38100" marB="38100" anchor="ctr">
                    <a:solidFill>
                      <a:srgbClr val="F4F2FA"/>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What is the difference between GROUP BY and a window function?</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How would you find customers whose spend fell two months in a row?</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Why can a window function not sit inside WHERE, and what do you do instead?</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A top-fifty list has fifty rows but twenty-eight names: what happened?</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Your top-ten list came back with eleven rows: is it a bug?</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LAG returned a value for a customer's very first month: what went wrong?</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What makes a running total deterministic, and how would you notice one that was not?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Revenue to date is nine times the plan by week seven: what is the likely mistake?</a:t>
                      </a:r>
                    </a:p>
                  </a:txBody>
                  <a:tcPr marL="101600" marR="101600" marT="38100" marB="38100" anchor="ctr">
                    <a:solidFill>
                      <a:srgbClr val="F4F2FA"/>
                    </a:solidFill>
                  </a:tcPr>
                </a:tc>
              </a:tr>
              <a:tr h="318008">
                <a:tc>
                  <a:txBody>
                    <a:bodyPr/>
                    <a:lstStyle/>
                    <a:p>
                      <a:r>
                        <a:rPr sz="1100" b="0" i="0">
                          <a:solidFill>
                            <a:srgbClr val="1A1440"/>
                          </a:solidFill>
                          <a:latin typeface="Calibri"/>
                        </a:rPr>
                        <a:t>[D]</a:t>
                      </a:r>
                    </a:p>
                  </a:txBody>
                  <a:tcPr marL="101600" marR="101600" marT="38100" marB="38100" anchor="ctr">
                    <a:solidFill>
                      <a:srgbClr val="FFFFFF"/>
                    </a:solidFill>
                  </a:tcPr>
                </a:tc>
                <a:tc>
                  <a:txBody>
                    <a:bodyPr/>
                    <a:lstStyle/>
                    <a:p>
                      <a:r>
                        <a:rPr sz="1100" b="0" i="0">
                          <a:solidFill>
                            <a:srgbClr val="1A1440"/>
                          </a:solidFill>
                          <a:latin typeface="Calibri"/>
                        </a:rPr>
                        <a:t>The business says ties rank the same: which function, and how many rows might the top-N report ship?</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member was on holiday: how does your flag treat a month with no orders, and why not zero?</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Retail-Core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Retail-Core's protect list rank members by how often they ordered in Q2, instead of by how much they spent?</a:t>
            </a:r>
          </a:p>
        </p:txBody>
      </p:sp>
      <p:sp>
        <p:nvSpPr>
          <p:cNvPr id="10" name="Rounded Rectangle 9"/>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3" name="TextBox 12"/>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"Frequency is what fell in Retail-Plus. Before it spreads, I want Retail-Core's top fifty ranked by how often members ordered in Q2. Same rule as the head of Retail-Plus: ties ranked the same, and tell me how many made it."</a:t>
            </a:r>
          </a:p>
        </p:txBody>
      </p:sp>
      <p:pic>
        <p:nvPicPr>
          <p:cNvPr id="15" name="mermaid diagram" descr="74b5f738e2ac4f9c.png"/>
          <p:cNvPicPr>
            <a:picLocks noChangeAspect="1"/>
          </p:cNvPicPr>
          <p:nvPr/>
        </p:nvPicPr>
        <p:blipFill>
          <a:blip r:embed="rId6"/>
          <a:stretch>
            <a:fillRect/>
          </a:stretch>
        </p:blipFill>
        <p:spPr>
          <a:xfrm>
            <a:off x="780897" y="3502152"/>
            <a:ext cx="10629900" cy="1600200"/>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278892"/>
                <a:gridCol w="4175605"/>
                <a:gridCol w="567649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50 rows naming 28 members</a:t>
                      </a:r>
                    </a:p>
                  </a:txBody>
                  <a:tcPr marL="101600" marR="101600" marT="38100" marB="38100" anchor="ctr">
                    <a:solidFill>
                      <a:srgbClr val="FFFFFF"/>
                    </a:solidFill>
                  </a:tcPr>
                </a:tc>
                <a:tc>
                  <a:txBody>
                    <a:bodyPr/>
                    <a:lstStyle/>
                    <a:p>
                      <a:r>
                        <a:rPr sz="1400" b="0" i="0">
                          <a:solidFill>
                            <a:srgbClr val="1A1440"/>
                          </a:solidFill>
                          <a:latin typeface="Calibri"/>
                        </a:rPr>
                        <a:t>Count members beside rows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Retail-Plus 11, Student none</a:t>
                      </a:r>
                    </a:p>
                  </a:txBody>
                  <a:tcPr marL="101600" marR="101600" marT="38100" marB="38100" anchor="ctr">
                    <a:solidFill>
                      <a:srgbClr val="F4F2FA"/>
                    </a:solidFill>
                  </a:tcPr>
                </a:tc>
                <a:tc>
                  <a:txBody>
                    <a:bodyPr/>
                    <a:lstStyle/>
                    <a:p>
                      <a:r>
                        <a:rPr sz="1400" b="0" i="0">
                          <a:solidFill>
                            <a:srgbClr val="1A1440"/>
                          </a:solidFill>
                          <a:latin typeface="Calibri"/>
                        </a:rPr>
                        <a:t>Fifty, or every buyer, per segment</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Retail-Core's "top fifty" of 52</a:t>
                      </a:r>
                    </a:p>
                  </a:txBody>
                  <a:tcPr marL="101600" marR="101600" marT="38100" marB="38100" anchor="ctr">
                    <a:solidFill>
                      <a:srgbClr val="FFFFFF"/>
                    </a:solidFill>
                  </a:tcPr>
                </a:tc>
                <a:tc>
                  <a:txBody>
                    <a:bodyPr/>
                    <a:lstStyle/>
                    <a:p>
                      <a:r>
                        <a:rPr sz="1400" b="0" i="0">
                          <a:solidFill>
                            <a:srgbClr val="1A1440"/>
                          </a:solidFill>
                          <a:latin typeface="Calibri"/>
                        </a:rPr>
                        <a:t>Read the functions side by side at the line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20 flagged, 4 borrowed</a:t>
                      </a:r>
                    </a:p>
                  </a:txBody>
                  <a:tcPr marL="101600" marR="101600" marT="38100" marB="38100" anchor="ctr">
                    <a:solidFill>
                      <a:srgbClr val="F4F2FA"/>
                    </a:solidFill>
                  </a:tcPr>
                </a:tc>
                <a:tc>
                  <a:txBody>
                    <a:bodyPr/>
                    <a:lstStyle/>
                    <a:p>
                      <a:r>
                        <a:rPr sz="1400" b="0" i="0">
                          <a:solidFill>
                            <a:srgbClr val="1A1440"/>
                          </a:solidFill>
                          <a:latin typeface="Calibri"/>
                        </a:rPr>
                        <a:t>Carry the id LAG read</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Q2 Rs 15,39,810 short of plan</a:t>
                      </a:r>
                    </a:p>
                  </a:txBody>
                  <a:tcPr marL="101600" marR="101600" marT="38100" marB="38100" anchor="ctr">
                    <a:solidFill>
                      <a:srgbClr val="FFFFFF"/>
                    </a:solidFill>
                  </a:tcPr>
                </a:tc>
                <a:tc>
                  <a:txBody>
                    <a:bodyPr/>
                    <a:lstStyle/>
                    <a:p>
                      <a:r>
                        <a:rPr sz="1400" b="0" i="0">
                          <a:solidFill>
                            <a:srgbClr val="1A1440"/>
                          </a:solidFill>
                          <a:latin typeface="Calibri"/>
                        </a:rPr>
                        <a:t>The last to-date against Monday's total</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16 calls, 7 over an empty month</a:t>
                      </a:r>
                    </a:p>
                  </a:txBody>
                  <a:tcPr marL="101600" marR="101600" marT="38100" marB="38100" anchor="ctr">
                    <a:solidFill>
                      <a:srgbClr val="F4F2FA"/>
                    </a:solidFill>
                  </a:tcPr>
                </a:tc>
                <a:tc>
                  <a:txBody>
                    <a:bodyPr/>
                    <a:lstStyle/>
                    <a:p>
                      <a:r>
                        <a:rPr sz="1400" b="0" i="0">
                          <a:solidFill>
                            <a:srgbClr val="1A1440"/>
                          </a:solidFill>
                          <a:latin typeface="Calibri"/>
                        </a:rPr>
                        <a:t>Carry the month LAG read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one table per customer,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growth team asks the next question: what does Marketing's own table look like?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"We want one table with one row per customer, refreshed every Monday: how recently they bought, how often, how much, their segment, whether the monsoon sale reached them, and last week's flags."</a:t>
            </a:r>
          </a:p>
        </p:txBody>
      </p:sp>
      <p:pic>
        <p:nvPicPr>
          <p:cNvPr id="14" name="mermaid diagram" descr="7c7d2ba252e30238.png"/>
          <p:cNvPicPr>
            <a:picLocks noChangeAspect="1"/>
          </p:cNvPicPr>
          <p:nvPr/>
        </p:nvPicPr>
        <p:blipFill>
          <a:blip r:embed="rId6"/>
          <a:stretch>
            <a:fillRect/>
          </a:stretch>
        </p:blipFill>
        <p:spPr>
          <a:xfrm>
            <a:off x="2152497" y="3243072"/>
            <a:ext cx="7886700" cy="185737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