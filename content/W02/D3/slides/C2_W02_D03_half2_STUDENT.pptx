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head of Retail-Plus's words aloud. The morning built the protect lists,</a:t>
            </a:r>
          </a:p>
          <a:p>
            <a:r>
              <a:t>the falling flag and the plan line; the afternoon decides who Marketing rings first and hands the</a:t>
            </a:r>
          </a:p>
          <a:p>
            <a:r>
              <a:t>room a case to run alone. The trainer's part of the afternoon is 60 minutes: chapter 6 (30), the</a:t>
            </a:r>
          </a:p>
          <a:p>
            <a:r>
              <a:t>escalated case's first two parts (20) and the Kahoot (10). The tentative IITGN block follows. Then</a:t>
            </a:r>
          </a:p>
          <a:p>
            <a:r>
              <a:t>what the morning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answers as one story. Q2 is July to September 2026; revenue is</a:t>
            </a:r>
          </a:p>
          <a:p>
            <a:r>
              <a:t>booked revenue, every order at its amount whatever its status, Rs 9,84,00,000 for the quarter.</a:t>
            </a:r>
          </a:p>
          <a:p>
            <a:r>
              <a:t>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(5), the list and</a:t>
            </a:r>
          </a:p>
          <a:p>
            <a:r>
              <a:t>the member on holiday (6), the trap, its check and its fix (8, never cut), the second route (3),</a:t>
            </a:r>
          </a:p>
          <a:p>
            <a:r>
              <a:t>the calls (2) and the close (2). Notebook 6 and sql/C2_W02_D03_06_call_first_STUDENT.sql run</a:t>
            </a:r>
          </a:p>
          <a:p>
            <a:r>
              <a:t>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member is C-0216 of Retail-Plus. Monthly spend is a member's booked revenue in</a:t>
            </a:r>
          </a:p>
          <a:p>
            <a:r>
              <a:t>one calendar month; a month with no order has no row in the monthly table. Then a data team that</a:t>
            </a:r>
          </a:p>
          <a:p>
            <a:r>
              <a:t>warned about gaps, and hotels that read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Cam Davidson-Pilon, "How Shopify Merchants can Measure Retention", Shopify</a:t>
            </a:r>
          </a:p>
          <a:p>
            <a:r>
              <a:t>Engineering, 14 November 2017, checked 1 October 2026. Marriott extended elite status earned in</a:t>
            </a:r>
          </a:p>
          <a:p>
            <a:r>
              <a:t>2019 until February 2022 (release of 14 April 2020), and Hilton extended status to 31 March 2022</a:t>
            </a:r>
          </a:p>
          <a:p>
            <a:r>
              <a:t>for members set to downgrade in 2020 or 2021 (release of 27 October 2020). Then four readings of</a:t>
            </a:r>
          </a:p>
          <a:p>
            <a:r>
              <a:t>"last month".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Members buy in 2.5 of the six months on average, 752 member-months for 301</a:t>
            </a:r>
          </a:p>
          <a:p>
            <a:r>
              <a:t>members, so a month with no order is the usual state. A zero-filled calendar flags 26 members, 17</a:t>
            </a:r>
          </a:p>
          <a:p>
            <a:r>
              <a:t>of whom simply placed no September order. 1,806 is 301 members times six months. Then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month before" has two readings: the calendar's, and the row LAG reads. They</a:t>
            </a:r>
          </a:p>
          <a:p>
            <a:r>
              <a:t>agree only when no month is empty. Then the list meets the flag.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a. Then the member on holiday.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C-0216's row aloud: three months with orders and three without. Letters in chat.</a:t>
            </a:r>
          </a:p>
          <a:p>
            <a:r>
              <a:t>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Then the hurried reply to the head of Retail-Plus.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section 3. Ask the room whether they would defend the flag as it</a:t>
            </a:r>
          </a:p>
          <a:p>
            <a:r>
              <a:t>stands.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Marketing asked about calendar months, and LAG counts rows. Wherever a member</a:t>
            </a:r>
          </a:p>
          <a:p>
            <a:r>
              <a:t>skipped a month, LAG steps over the gap, so a holiday reads as a fall.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a second route that shares no window.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missing month has no row to join to, so a gap breaks the run here by</a:t>
            </a:r>
          </a:p>
          <a:p>
            <a:r>
              <a:t>construction. The two routes share no window and agree because both read calendar months. Then the</a:t>
            </a:r>
          </a:p>
          <a:p>
            <a:r>
              <a:t>calls.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C-0010 is a fall that holds up: three consecutive months, each lower. The nine are</a:t>
            </a:r>
          </a:p>
          <a:p>
            <a:r>
              <a:t>the room's to read in notebook 06's last your-turn cell: their segments, their places and how far</a:t>
            </a:r>
          </a:p>
          <a:p>
            <a:r>
              <a:t>each fell. Do not read the list aloud.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a month with no order breaks the run, checked by reading the months LAG</a:t>
            </a:r>
          </a:p>
          <a:p>
            <a:r>
              <a:t>read; zeros would read a quiet month as a fall, and Kalpa's members buy in 2.5 of six months, so</a:t>
            </a:r>
          </a:p>
          <a:p>
            <a:r>
              <a:t>zeros flag 26 here, 17 of them for a quiet September. Then the case the room runs alone.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alone: parts 1 and 2 of the escalated case. Parts 3 to 5 run in the TA-led</a:t>
            </a:r>
          </a:p>
          <a:p>
            <a:r>
              <a:t>practice lab. The notebook is notebooks/C2_W02_D03_ex1_escalated_case_STUDENT.ipynb and the brief</a:t>
            </a:r>
          </a:p>
          <a:p>
            <a:r>
              <a:t>exercises/unguided/C2_W02_D03_escalated_case_STUDENT.md.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marketing lead's message. Each part holds two lettered markers; each</a:t>
            </a:r>
          </a:p>
          <a:p>
            <a:r>
              <a:t>marker is a choice the learner writes into the code, and the check cell after it says whether the</a:t>
            </a:r>
          </a:p>
          <a:p>
            <a:r>
              <a:t>part behaves. Seventeen minutes alone; the support TA answers environment problems only.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cards repeat the morning's rules and give away none of the case's answers.</a:t>
            </a:r>
          </a:p>
          <a:p>
            <a:r>
              <a:t>Then go: seventeen minutes, parts 1 and 2. After the case, the close.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the day's answer (2), the six lines (1), the Kahoot (6) and tomorrow (1).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read their own line first, including the Retail-Plus count</a:t>
            </a:r>
          </a:p>
          <a:p>
            <a:r>
              <a:t>their run gave and its reason; then read this one. Then the six lines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them together. The cheat sheet prints these six lines word for word. Then the</a:t>
            </a:r>
          </a:p>
          <a:p>
            <a:r>
              <a:t>Kahoot.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kahoot/C2_W02_D03_quiz_STUDENT.md. Twenty seconds an item; after each, one learner</a:t>
            </a:r>
          </a:p>
          <a:p>
            <a:r>
              <a:t>says why the right answer holds. Item 8 is Tuesday's return question. Then tomorrow's ask, left open.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and the practice lab's drill. [S] is a staple asked everywhere and [F] frequent at global</a:t>
            </a:r>
          </a:p>
          <a:p>
            <a:r>
              <a:t>capability centres and product companies; D23 carries the three differentiators. Each question is</a:t>
            </a:r>
          </a:p>
          <a:p>
            <a:r>
              <a:t>answered in full in its chapter's notebook and in the study notes; in the lab, pairs ask each other</a:t>
            </a:r>
          </a:p>
          <a:p>
            <a:r>
              <a:t>aloud.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and the practice lab's drill, asked last. [D] marks a differentiator. The answers are in</a:t>
            </a:r>
          </a:p>
          <a:p>
            <a:r>
              <a:t>chapter 3's, chapter 6's and chapter 5's notebooks and in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pairs or alone, about forty minutes. The notebook is</a:t>
            </a:r>
          </a:p>
          <a:p>
            <a:r>
              <a:t>notebooks/C2_W02_D03_ex2_second_case_STUDENT.ipynb and the brief</a:t>
            </a:r>
          </a:p>
          <a:p>
            <a:r>
              <a:t>exercises/unguided/C2_W02_D03_second_case_STUDENT.md.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and the lab's debrief of the room's wrong answers. Each line is a trap the day staged on</a:t>
            </a:r>
          </a:p>
          <a:p>
            <a:r>
              <a:t>purpose, and the room met each wrong number before anyone named the mistake.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and leave it open: today's flag becomes a column of tomorrow's table. The</a:t>
            </a:r>
          </a:p>
          <a:p>
            <a:r>
              <a:t>pre-read for Thursday ships tonight. Then the tentative IITGN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9.png"/><Relationship Id="rId6"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8.xml"/><Relationship Id="rId6"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0.xml"/><Relationship Id="rId6"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66847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Who does Marketing call first?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“Before we ring anyone: one of your flagged members rang our help line to say they were travelling in August and have not stopped buying. Is your flag wrong about them, and how many others?”</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head of Retail-Plus,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Who does Marketing call?</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175254"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Can you do it alone?</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108067"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What do we tell Marketing?</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answered five questions with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five chapters establish, with their numbers?</a:t>
            </a:r>
          </a:p>
        </p:txBody>
      </p:sp>
      <p:graphicFrame>
        <p:nvGraphicFramePr>
          <p:cNvPr id="9" name="Table 8"/>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answered</a:t>
                      </a:r>
                    </a:p>
                  </a:txBody>
                  <a:tcPr marL="101600" marR="101600" marT="38100" marB="38100" anchor="ctr">
                    <a:solidFill>
                      <a:srgbClr val="1A0F5C"/>
                    </a:solidFill>
                  </a:tcPr>
                </a:tc>
              </a:tr>
              <a:tr h="611632">
                <a:tc>
                  <a:txBody>
                    <a:bodyPr/>
                    <a:lstStyle/>
                    <a:p>
                      <a:r>
                        <a:rPr sz="1400" b="0" i="0">
                          <a:solidFill>
                            <a:srgbClr val="1A1440"/>
                          </a:solidFill>
                          <a:latin typeface="Calibri"/>
                        </a:rPr>
                        <a:t>1. Who are the top fifty?</a:t>
                      </a:r>
                    </a:p>
                  </a:txBody>
                  <a:tcPr marL="101600" marR="101600" marT="38100" marB="38100" anchor="ctr">
                    <a:solidFill>
                      <a:srgbClr val="FFFFFF"/>
                    </a:solidFill>
                  </a:tcPr>
                </a:tc>
                <a:tc>
                  <a:txBody>
                    <a:bodyPr/>
                    <a:lstStyle/>
                    <a:p>
                      <a:r>
                        <a:rPr sz="1400" b="0" i="0">
                          <a:solidFill>
                            <a:srgbClr val="1A1440"/>
                          </a:solidFill>
                          <a:latin typeface="Calibri"/>
                        </a:rPr>
                        <a:t>One list across the book: 35 Business, 11 Retail-Plus, 4 Retail-Core, no Student</a:t>
                      </a:r>
                    </a:p>
                  </a:txBody>
                  <a:tcPr marL="101600" marR="101600" marT="38100" marB="38100" anchor="ctr">
                    <a:solidFill>
                      <a:srgbClr val="FFFFFF"/>
                    </a:solidFill>
                  </a:tcPr>
                </a:tc>
              </a:tr>
              <a:tr h="369824">
                <a:tc>
                  <a:txBody>
                    <a:bodyPr/>
                    <a:lstStyle/>
                    <a:p>
                      <a:r>
                        <a:rPr sz="1400" b="0" i="0">
                          <a:solidFill>
                            <a:srgbClr val="1A1440"/>
                          </a:solidFill>
                          <a:latin typeface="Calibri"/>
                        </a:rPr>
                        <a:t>2. Top fifty per segment?</a:t>
                      </a:r>
                    </a:p>
                  </a:txBody>
                  <a:tcPr marL="101600" marR="101600" marT="38100" marB="38100" anchor="ctr">
                    <a:solidFill>
                      <a:srgbClr val="F4F2FA"/>
                    </a:solidFill>
                  </a:tcPr>
                </a:tc>
                <a:tc>
                  <a:txBody>
                    <a:bodyPr/>
                    <a:lstStyle/>
                    <a:p>
                      <a:r>
                        <a:rPr sz="1400" b="0" i="0">
                          <a:solidFill>
                            <a:srgbClr val="1A1440"/>
                          </a:solidFill>
                          <a:latin typeface="Calibri"/>
                        </a:rPr>
                        <a:t>PARTITION BY segment: fifty, or every buyer, in each segment</a:t>
                      </a:r>
                    </a:p>
                  </a:txBody>
                  <a:tcPr marL="101600" marR="101600" marT="38100" marB="38100" anchor="ctr">
                    <a:solidFill>
                      <a:srgbClr val="F4F2FA"/>
                    </a:solidFill>
                  </a:tcPr>
                </a:tc>
              </a:tr>
              <a:tr h="369824">
                <a:tc>
                  <a:txBody>
                    <a:bodyPr/>
                    <a:lstStyle/>
                    <a:p>
                      <a:r>
                        <a:rPr sz="1400" b="0" i="0">
                          <a:solidFill>
                            <a:srgbClr val="1A1440"/>
                          </a:solidFill>
                          <a:latin typeface="Calibri"/>
                        </a:rPr>
                        <a:t>3. Who makes it at a tie?</a:t>
                      </a:r>
                    </a:p>
                  </a:txBody>
                  <a:tcPr marL="101600" marR="101600" marT="38100" marB="38100" anchor="ctr">
                    <a:solidFill>
                      <a:srgbClr val="FFFFFF"/>
                    </a:solidFill>
                  </a:tcPr>
                </a:tc>
                <a:tc>
                  <a:txBody>
                    <a:bodyPr/>
                    <a:lstStyle/>
                    <a:p>
                      <a:r>
                        <a:rPr sz="1400" b="0" i="0">
                          <a:solidFill>
                            <a:srgbClr val="1A1440"/>
                          </a:solidFill>
                          <a:latin typeface="Calibri"/>
                        </a:rPr>
                        <a:t>RANK, with the count and its reason; DENSE_RANK can run past the line</a:t>
                      </a:r>
                    </a:p>
                  </a:txBody>
                  <a:tcPr marL="101600" marR="101600" marT="38100" marB="38100" anchor="ctr">
                    <a:solidFill>
                      <a:srgbClr val="FFFFFF"/>
                    </a:solidFill>
                  </a:tcPr>
                </a:tc>
              </a:tr>
              <a:tr h="369824">
                <a:tc>
                  <a:txBody>
                    <a:bodyPr/>
                    <a:lstStyle/>
                    <a:p>
                      <a:r>
                        <a:rPr sz="1400" b="0" i="0">
                          <a:solidFill>
                            <a:srgbClr val="1A1440"/>
                          </a:solidFill>
                          <a:latin typeface="Calibri"/>
                        </a:rPr>
                        <a:t>4. Whose spend is falling?</a:t>
                      </a:r>
                    </a:p>
                  </a:txBody>
                  <a:tcPr marL="101600" marR="101600" marT="38100" marB="38100" anchor="ctr">
                    <a:solidFill>
                      <a:srgbClr val="F4F2FA"/>
                    </a:solidFill>
                  </a:tcPr>
                </a:tc>
                <a:tc>
                  <a:txBody>
                    <a:bodyPr/>
                    <a:lstStyle/>
                    <a:p>
                      <a:r>
                        <a:rPr sz="1400" b="0" i="0">
                          <a:solidFill>
                            <a:srgbClr val="1A1440"/>
                          </a:solidFill>
                          <a:latin typeface="Calibri"/>
                        </a:rPr>
                        <a:t>16 members, with each member's months kept apart; 20 without</a:t>
                      </a:r>
                    </a:p>
                  </a:txBody>
                  <a:tcPr marL="101600" marR="101600" marT="38100" marB="38100" anchor="ctr">
                    <a:solidFill>
                      <a:srgbClr val="F4F2FA"/>
                    </a:solidFill>
                  </a:tcPr>
                </a:tc>
              </a:tr>
              <a:tr h="369824">
                <a:tc>
                  <a:txBody>
                    <a:bodyPr/>
                    <a:lstStyle/>
                    <a:p>
                      <a:r>
                        <a:rPr sz="1400" b="0" i="0">
                          <a:solidFill>
                            <a:srgbClr val="1A1440"/>
                          </a:solidFill>
                          <a:latin typeface="Calibri"/>
                        </a:rPr>
                        <a:t>5. On track against plan?</a:t>
                      </a:r>
                    </a:p>
                  </a:txBody>
                  <a:tcPr marL="101600" marR="101600" marT="38100" marB="38100" anchor="ctr">
                    <a:solidFill>
                      <a:srgbClr val="FFFFFF"/>
                    </a:solidFill>
                  </a:tcPr>
                </a:tc>
                <a:tc>
                  <a:txBody>
                    <a:bodyPr/>
                    <a:lstStyle/>
                    <a:p>
                      <a:r>
                        <a:rPr sz="1400" b="0" i="0">
                          <a:solidFill>
                            <a:srgbClr val="1A1440"/>
                          </a:solidFill>
                          <a:latin typeface="Calibri"/>
                        </a:rPr>
                        <a:t>Q2 closed Rs 10 ahead; Rs 1.58 crore ahead at mid-quarter, from one July week</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does Marketing call?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listed members does Marketing call first, and does each flag hold up when a member says they were on holiday?</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first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 team rings the flagged members on the protect lists this week, and the head of Retail-Plus answers to the tier's members for every call. A call that tells a loyal member their spend is falling when they were away costs their goodwill and maybe their renewal.</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reading of last month?</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flagged are listed?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list meets the flag</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LAG compare?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member on holiday</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flags skip a month?</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check on all sixteen</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a calendar join agree?</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No window at all</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Who goes first?</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calls Marketing makes</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member team rings flagged members this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call cost?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Answers to the tier's members for every call the member team makes.</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falling flag</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September below August, and August below July: three calendar months, each lower.</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loyal member accused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Their goodwill, maybe their renewal, and a week of calls spent on false alarms.</a:t>
            </a:r>
          </a:p>
        </p:txBody>
      </p:sp>
      <p:sp>
        <p:nvSpPr>
          <p:cNvPr id="27" name="Rounded Rectangle 26"/>
          <p:cNvSpPr/>
          <p:nvPr/>
        </p:nvSpPr>
        <p:spPr>
          <a:xfrm>
            <a:off x="530352" y="410413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FFFFFF"/>
                </a:solidFill>
                <a:latin typeface="Calibri"/>
              </a:rPr>
              <a:t>"Is your flag wrong about them, and how many others?"</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34" name="Oval 3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Shopify warned against a fixed gap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decide what a gap in a customer's buying means?</a:t>
            </a:r>
          </a:p>
        </p:txBody>
      </p:sp>
      <p:pic>
        <p:nvPicPr>
          <p:cNvPr id="9" name="mermaid diagram" descr="85128bbef259f1ec.png"/>
          <p:cNvPicPr>
            <a:picLocks noChangeAspect="1"/>
          </p:cNvPicPr>
          <p:nvPr/>
        </p:nvPicPr>
        <p:blipFill>
          <a:blip r:embed="rId6"/>
          <a:stretch>
            <a:fillRect/>
          </a:stretch>
        </p:blipFill>
        <p:spPr>
          <a:xfrm>
            <a:off x="3186733" y="1664208"/>
            <a:ext cx="5818228"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Shopify's data team wrote that "far too often businesses define churn as no purchases after N days"; a gap has to be read against the customer's own history.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with a calendar check: 752 rows, no zeros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ways could the flag read "last month", and what would each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99509"/>
                <a:gridCol w="3726878"/>
                <a:gridCol w="914400"/>
                <a:gridCol w="299020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"Last month" is</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A month with no order</a:t>
                      </a:r>
                    </a:p>
                  </a:txBody>
                  <a:tcPr marL="101600" marR="101600" marT="38100" marB="38100" anchor="ctr">
                    <a:solidFill>
                      <a:srgbClr val="1A0F5C"/>
                    </a:solidFill>
                  </a:tcPr>
                </a:tc>
              </a:tr>
              <a:tr h="335280">
                <a:tc>
                  <a:txBody>
                    <a:bodyPr/>
                    <a:lstStyle/>
                    <a:p>
                      <a:r>
                        <a:rPr sz="1200" b="0" i="0">
                          <a:solidFill>
                            <a:srgbClr val="1A1440"/>
                          </a:solidFill>
                          <a:latin typeface="Calibri"/>
                        </a:rPr>
                        <a:t>A. LAG over own months</a:t>
                      </a:r>
                    </a:p>
                  </a:txBody>
                  <a:tcPr marL="101600" marR="101600" marT="38100" marB="38100" anchor="ctr">
                    <a:solidFill>
                      <a:srgbClr val="FFFFFF"/>
                    </a:solidFill>
                  </a:tcPr>
                </a:tc>
                <a:tc>
                  <a:txBody>
                    <a:bodyPr/>
                    <a:lstStyle/>
                    <a:p>
                      <a:r>
                        <a:rPr sz="1200" b="0" i="0">
                          <a:solidFill>
                            <a:srgbClr val="1A1440"/>
                          </a:solidFill>
                          <a:latin typeface="Calibri"/>
                        </a:rPr>
                        <a:t>the member's last buying month</a:t>
                      </a:r>
                    </a:p>
                  </a:txBody>
                  <a:tcPr marL="101600" marR="101600" marT="38100" marB="38100" anchor="ctr">
                    <a:solidFill>
                      <a:srgbClr val="FFFFFF"/>
                    </a:solidFill>
                  </a:tcPr>
                </a:tc>
                <a:tc>
                  <a:txBody>
                    <a:bodyPr/>
                    <a:lstStyle/>
                    <a:p>
                      <a:r>
                        <a:rPr sz="1200" b="0" i="0">
                          <a:solidFill>
                            <a:srgbClr val="1A1440"/>
                          </a:solidFill>
                          <a:latin typeface="Calibri"/>
                        </a:rPr>
                        <a:t>752</a:t>
                      </a:r>
                    </a:p>
                  </a:txBody>
                  <a:tcPr marL="101600" marR="101600" marT="38100" marB="38100" anchor="ctr">
                    <a:solidFill>
                      <a:srgbClr val="FFFFFF"/>
                    </a:solidFill>
                  </a:tcPr>
                </a:tc>
                <a:tc>
                  <a:txBody>
                    <a:bodyPr/>
                    <a:lstStyle/>
                    <a:p>
                      <a:r>
                        <a:rPr sz="1200" b="0" i="0">
                          <a:solidFill>
                            <a:srgbClr val="1A1440"/>
                          </a:solidFill>
                          <a:latin typeface="Calibri"/>
                        </a:rPr>
                        <a:t>stepped over</a:t>
                      </a:r>
                    </a:p>
                  </a:txBody>
                  <a:tcPr marL="101600" marR="101600" marT="38100" marB="38100" anchor="ctr">
                    <a:solidFill>
                      <a:srgbClr val="FFFFFF"/>
                    </a:solidFill>
                  </a:tcPr>
                </a:tc>
              </a:tr>
              <a:tr h="335280">
                <a:tc>
                  <a:txBody>
                    <a:bodyPr/>
                    <a:lstStyle/>
                    <a:p>
                      <a:r>
                        <a:rPr sz="1200" b="0" i="0">
                          <a:solidFill>
                            <a:srgbClr val="1A1440"/>
                          </a:solidFill>
                          <a:latin typeface="Calibri"/>
                        </a:rPr>
                        <a:t>B. LAG with a calendar check</a:t>
                      </a:r>
                    </a:p>
                  </a:txBody>
                  <a:tcPr marL="101600" marR="101600" marT="38100" marB="38100" anchor="ctr">
                    <a:solidFill>
                      <a:srgbClr val="F4F2FA"/>
                    </a:solidFill>
                  </a:tcPr>
                </a:tc>
                <a:tc>
                  <a:txBody>
                    <a:bodyPr/>
                    <a:lstStyle/>
                    <a:p>
                      <a:r>
                        <a:rPr sz="1200" b="0" i="0">
                          <a:solidFill>
                            <a:srgbClr val="1A1440"/>
                          </a:solidFill>
                          <a:latin typeface="Calibri"/>
                        </a:rPr>
                        <a:t>the calendar month before</a:t>
                      </a:r>
                    </a:p>
                  </a:txBody>
                  <a:tcPr marL="101600" marR="101600" marT="38100" marB="38100" anchor="ctr">
                    <a:solidFill>
                      <a:srgbClr val="F4F2FA"/>
                    </a:solidFill>
                  </a:tcPr>
                </a:tc>
                <a:tc>
                  <a:txBody>
                    <a:bodyPr/>
                    <a:lstStyle/>
                    <a:p>
                      <a:r>
                        <a:rPr sz="1200" b="0" i="0">
                          <a:solidFill>
                            <a:srgbClr val="1A1440"/>
                          </a:solidFill>
                          <a:latin typeface="Calibri"/>
                        </a:rPr>
                        <a:t>752</a:t>
                      </a:r>
                    </a:p>
                  </a:txBody>
                  <a:tcPr marL="101600" marR="101600" marT="38100" marB="38100" anchor="ctr">
                    <a:solidFill>
                      <a:srgbClr val="F4F2FA"/>
                    </a:solidFill>
                  </a:tcPr>
                </a:tc>
                <a:tc>
                  <a:txBody>
                    <a:bodyPr/>
                    <a:lstStyle/>
                    <a:p>
                      <a:r>
                        <a:rPr sz="1200" b="0" i="0">
                          <a:solidFill>
                            <a:srgbClr val="1A1440"/>
                          </a:solidFill>
                          <a:latin typeface="Calibri"/>
                        </a:rPr>
                        <a:t>breaks the run</a:t>
                      </a:r>
                    </a:p>
                  </a:txBody>
                  <a:tcPr marL="101600" marR="101600" marT="38100" marB="38100" anchor="ctr">
                    <a:solidFill>
                      <a:srgbClr val="F4F2FA"/>
                    </a:solidFill>
                  </a:tcPr>
                </a:tc>
              </a:tr>
              <a:tr h="335280">
                <a:tc>
                  <a:txBody>
                    <a:bodyPr/>
                    <a:lstStyle/>
                    <a:p>
                      <a:r>
                        <a:rPr sz="1200" b="0" i="0">
                          <a:solidFill>
                            <a:srgbClr val="1A1440"/>
                          </a:solidFill>
                          <a:latin typeface="Calibri"/>
                        </a:rPr>
                        <a:t>C. Calendar, zero-filled</a:t>
                      </a:r>
                    </a:p>
                  </a:txBody>
                  <a:tcPr marL="101600" marR="101600" marT="38100" marB="38100" anchor="ctr">
                    <a:solidFill>
                      <a:srgbClr val="FFFFFF"/>
                    </a:solidFill>
                  </a:tcPr>
                </a:tc>
                <a:tc>
                  <a:txBody>
                    <a:bodyPr/>
                    <a:lstStyle/>
                    <a:p>
                      <a:r>
                        <a:rPr sz="1200" b="0" i="0">
                          <a:solidFill>
                            <a:srgbClr val="1A1440"/>
                          </a:solidFill>
                          <a:latin typeface="Calibri"/>
                        </a:rPr>
                        <a:t>the calendar month before</a:t>
                      </a:r>
                    </a:p>
                  </a:txBody>
                  <a:tcPr marL="101600" marR="101600" marT="38100" marB="38100" anchor="ctr">
                    <a:solidFill>
                      <a:srgbClr val="FFFFFF"/>
                    </a:solidFill>
                  </a:tcPr>
                </a:tc>
                <a:tc>
                  <a:txBody>
                    <a:bodyPr/>
                    <a:lstStyle/>
                    <a:p>
                      <a:r>
                        <a:rPr sz="1200" b="0" i="0">
                          <a:solidFill>
                            <a:srgbClr val="1A1440"/>
                          </a:solidFill>
                          <a:latin typeface="Calibri"/>
                        </a:rPr>
                        <a:t>1,806</a:t>
                      </a:r>
                    </a:p>
                  </a:txBody>
                  <a:tcPr marL="101600" marR="101600" marT="38100" marB="38100" anchor="ctr">
                    <a:solidFill>
                      <a:srgbClr val="FFFFFF"/>
                    </a:solidFill>
                  </a:tcPr>
                </a:tc>
                <a:tc>
                  <a:txBody>
                    <a:bodyPr/>
                    <a:lstStyle/>
                    <a:p>
                      <a:r>
                        <a:rPr sz="1200" b="0" i="0">
                          <a:solidFill>
                            <a:srgbClr val="1A1440"/>
                          </a:solidFill>
                          <a:latin typeface="Calibri"/>
                        </a:rPr>
                        <a:t>a fall to zero</a:t>
                      </a:r>
                    </a:p>
                  </a:txBody>
                  <a:tcPr marL="101600" marR="101600" marT="38100" marB="38100" anchor="ctr">
                    <a:solidFill>
                      <a:srgbClr val="FFFFFF"/>
                    </a:solidFill>
                  </a:tcPr>
                </a:tc>
              </a:tr>
              <a:tr h="335280">
                <a:tc>
                  <a:txBody>
                    <a:bodyPr/>
                    <a:lstStyle/>
                    <a:p>
                      <a:r>
                        <a:rPr sz="1200" b="0" i="0">
                          <a:solidFill>
                            <a:srgbClr val="1A1440"/>
                          </a:solidFill>
                          <a:latin typeface="Calibri"/>
                        </a:rPr>
                        <a:t>D. Calendar, left empty</a:t>
                      </a:r>
                    </a:p>
                  </a:txBody>
                  <a:tcPr marL="101600" marR="101600" marT="38100" marB="38100" anchor="ctr">
                    <a:solidFill>
                      <a:srgbClr val="F4F2FA"/>
                    </a:solidFill>
                  </a:tcPr>
                </a:tc>
                <a:tc>
                  <a:txBody>
                    <a:bodyPr/>
                    <a:lstStyle/>
                    <a:p>
                      <a:r>
                        <a:rPr sz="1200" b="0" i="0">
                          <a:solidFill>
                            <a:srgbClr val="1A1440"/>
                          </a:solidFill>
                          <a:latin typeface="Calibri"/>
                        </a:rPr>
                        <a:t>the calendar month before</a:t>
                      </a:r>
                    </a:p>
                  </a:txBody>
                  <a:tcPr marL="101600" marR="101600" marT="38100" marB="38100" anchor="ctr">
                    <a:solidFill>
                      <a:srgbClr val="F4F2FA"/>
                    </a:solidFill>
                  </a:tcPr>
                </a:tc>
                <a:tc>
                  <a:txBody>
                    <a:bodyPr/>
                    <a:lstStyle/>
                    <a:p>
                      <a:r>
                        <a:rPr sz="1200" b="0" i="0">
                          <a:solidFill>
                            <a:srgbClr val="1A1440"/>
                          </a:solidFill>
                          <a:latin typeface="Calibri"/>
                        </a:rPr>
                        <a:t>1,806</a:t>
                      </a:r>
                    </a:p>
                  </a:txBody>
                  <a:tcPr marL="101600" marR="101600" marT="38100" marB="38100" anchor="ctr">
                    <a:solidFill>
                      <a:srgbClr val="F4F2FA"/>
                    </a:solidFill>
                  </a:tcPr>
                </a:tc>
                <a:tc>
                  <a:txBody>
                    <a:bodyPr/>
                    <a:lstStyle/>
                    <a:p>
                      <a:r>
                        <a:rPr sz="1200" b="0" i="0">
                          <a:solidFill>
                            <a:srgbClr val="1A1440"/>
                          </a:solidFill>
                          <a:latin typeface="Calibri"/>
                        </a:rPr>
                        <a:t>no reading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rows that exist, plus two columns. What would switch it: Marketing also wanting "went quiet" as its own signal, which D's calendar makes into rows a query can 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two readings agree only with no empty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month before" mean for a member who skipped a month?</a:t>
            </a:r>
          </a:p>
        </p:txBody>
      </p:sp>
      <p:pic>
        <p:nvPicPr>
          <p:cNvPr id="9" name="mermaid diagram" descr="054ebe97ce9d4699.png"/>
          <p:cNvPicPr>
            <a:picLocks noChangeAspect="1"/>
          </p:cNvPicPr>
          <p:nvPr/>
        </p:nvPicPr>
        <p:blipFill>
          <a:blip r:embed="rId5"/>
          <a:stretch>
            <a:fillRect/>
          </a:stretch>
        </p:blipFill>
        <p:spPr>
          <a:xfrm>
            <a:off x="3459803" y="1956816"/>
            <a:ext cx="5272087" cy="230028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flagged members are listed?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flagged members are on the protect list?</a:t>
            </a:r>
          </a:p>
        </p:txBody>
      </p:sp>
      <p:pic>
        <p:nvPicPr>
          <p:cNvPr id="9" name="mermaid diagram" descr="be445e52615d0647.png"/>
          <p:cNvPicPr>
            <a:picLocks noChangeAspect="1"/>
          </p:cNvPicPr>
          <p:nvPr/>
        </p:nvPicPr>
        <p:blipFill>
          <a:blip r:embed="rId5"/>
          <a:stretch>
            <a:fillRect/>
          </a:stretch>
        </p:blipFill>
        <p:spPr>
          <a:xfrm>
            <a:off x="3731266" y="1956816"/>
            <a:ext cx="4729162" cy="2043112"/>
          </a:xfrm>
          <a:prstGeom prst="rect">
            <a:avLst/>
          </a:prstGeom>
        </p:spPr>
      </p:pic>
      <p:sp>
        <p:nvSpPr>
          <p:cNvPr id="10" name="Rounded Rectangle 9"/>
          <p:cNvSpPr/>
          <p:nvPr/>
        </p:nvSpPr>
        <p:spPr>
          <a:xfrm>
            <a:off x="530352" y="41462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742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651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chapter 4's 16 flagged members are on a protect list, as a letter? a) all 16; b) about half; c) none, since the list is about spend and the flag about falls; d) it cannot be known without the tie rule.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16, so the call sheet reads 16 names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flagged members are on the protect list?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chapter 4's partitioned LAG</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A PROTECT LIST</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each segment's top fifty under RANK</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member whose spend can fall twice from a high month is a member who spent a lot, so the flag sits inside the lists.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month did LAG call last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LAG compare for the member who says they were on holiday?</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C-0216, Rs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6,440</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4,300</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2,540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C-0216 of Retail-Plus stands at place 23 on the Retail-Plus list. Which month did LAG treat as "last month" for C-0216's September, as a letter? a) August; b) July; c) June; d) none, since their August is empty.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July, four months from May to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LAG compare for the member who says they were on holiday?</a:t>
            </a:r>
          </a:p>
        </p:txBody>
      </p:sp>
      <p:pic>
        <p:nvPicPr>
          <p:cNvPr id="9" name="mermaid diagram" descr="cae16322f66e6210.png"/>
          <p:cNvPicPr>
            <a:picLocks noChangeAspect="1"/>
          </p:cNvPicPr>
          <p:nvPr/>
        </p:nvPicPr>
        <p:blipFill>
          <a:blip r:embed="rId5"/>
          <a:stretch>
            <a:fillRect/>
          </a:stretch>
        </p:blipFill>
        <p:spPr>
          <a:xfrm>
            <a:off x="3352647" y="1956816"/>
            <a:ext cx="5486400" cy="1557337"/>
          </a:xfrm>
          <a:prstGeom prst="rect">
            <a:avLst/>
          </a:prstGeom>
        </p:spPr>
      </p:pic>
      <p:sp>
        <p:nvSpPr>
          <p:cNvPr id="10" name="Rounded Rectangle 9"/>
          <p:cNvSpPr/>
          <p:nvPr/>
        </p:nvSpPr>
        <p:spPr>
          <a:xfrm>
            <a:off x="530352" y="36604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884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7932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There is no August row, so LAG compared September with July and July with May. Chapter 4's flag called that two months of falls; C-0216's rows say August is simply empty.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sixteen calls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get if chapter 4's flag ships as it stands?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CALLS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each told their spend fell two months running</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THEM</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member on holiday, among others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hurried reply to the head of Retail-Plus is that C-0216 did spend less with each order, and every one of the sixteen gets the same call.</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7 of 16 flags skip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sixteen flags step over a month with no order?</a:t>
            </a:r>
          </a:p>
        </p:txBody>
      </p:sp>
      <p:pic>
        <p:nvPicPr>
          <p:cNvPr id="9" name="mermaid diagram" descr="c8994adb0d915e8d.png"/>
          <p:cNvPicPr>
            <a:picLocks noChangeAspect="1"/>
          </p:cNvPicPr>
          <p:nvPr/>
        </p:nvPicPr>
        <p:blipFill>
          <a:blip r:embed="rId5"/>
          <a:stretch>
            <a:fillRect/>
          </a:stretch>
        </p:blipFill>
        <p:spPr>
          <a:xfrm>
            <a:off x="1909610" y="1956816"/>
            <a:ext cx="8372475"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Carry lag(month) beside lag(spend) and count the flags whose two rows before September are not August and July: seven, C-0216 among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nine members, three months each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flag checks the calendar?</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AND month_1_back = DATE '2026-08-01'</a:t>
            </a:r>
          </a:p>
          <a:p>
            <a:pPr>
              <a:spcAft>
                <a:spcPts val="200"/>
              </a:spcAft>
            </a:pPr>
            <a:r>
              <a:rPr sz="1400" b="0" i="0">
                <a:solidFill>
                  <a:srgbClr val="E4E1F1"/>
                </a:solidFill>
                <a:latin typeface="Consolas"/>
              </a:rPr>
              <a:t>AND month_2_back = DATE '2026-07-01'</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three consecutive months, each lower</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CALLS NOT MADE</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member on holiday among them</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546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674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66547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Every call that goes out now describes three consecutive months that each fell, months the member can check on their own statement.</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7" name="Oval 2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9" name="Oval 2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calendar join keeps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join on calendar months find the same members?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sep.customer_id</a:t>
            </a:r>
          </a:p>
          <a:p>
            <a:pPr>
              <a:spcAft>
                <a:spcPts val="200"/>
              </a:spcAft>
            </a:pPr>
            <a:r>
              <a:rPr sz="1400" b="0" i="0">
                <a:solidFill>
                  <a:srgbClr val="E4E1F1"/>
                </a:solidFill>
                <a:latin typeface="Consolas"/>
              </a:rPr>
              <a:t>FROM   monthly sep</a:t>
            </a:r>
          </a:p>
          <a:p>
            <a:pPr>
              <a:spcAft>
                <a:spcPts val="200"/>
              </a:spcAft>
            </a:pPr>
            <a:r>
              <a:rPr sz="1400" b="0" i="0">
                <a:solidFill>
                  <a:srgbClr val="E4E1F1"/>
                </a:solidFill>
                <a:latin typeface="Consolas"/>
              </a:rPr>
              <a:t>JOIN   monthly aug ON aug.customer_id = sep.customer_id AND aug.month = DATE '2026-08-01'</a:t>
            </a:r>
          </a:p>
          <a:p>
            <a:pPr>
              <a:spcAft>
                <a:spcPts val="200"/>
              </a:spcAft>
            </a:pPr>
            <a:r>
              <a:rPr sz="1400" b="0" i="0">
                <a:solidFill>
                  <a:srgbClr val="E4E1F1"/>
                </a:solidFill>
                <a:latin typeface="Consolas"/>
              </a:rPr>
              <a:t>JOIN   monthly jul ON jul.customer_id = sep.customer_id AND jul.month = DATE '2026-07-01'</a:t>
            </a:r>
          </a:p>
          <a:p>
            <a:pPr>
              <a:spcAft>
                <a:spcPts val="200"/>
              </a:spcAft>
            </a:pPr>
            <a:r>
              <a:rPr sz="1400" b="0" i="0">
                <a:solidFill>
                  <a:srgbClr val="E4E1F1"/>
                </a:solidFill>
                <a:latin typeface="Consolas"/>
              </a:rPr>
              <a:t>WHERE  sep.month = DATE '2026-09-01' AND sep.spend &lt; aug.spend AND aug.spend &lt; jul.spend;</a:t>
            </a:r>
          </a:p>
        </p:txBody>
      </p:sp>
      <p:sp>
        <p:nvSpPr>
          <p:cNvPr id="14" name="TextBox 13"/>
          <p:cNvSpPr txBox="1"/>
          <p:nvPr/>
        </p:nvSpPr>
        <p:spPr>
          <a:xfrm>
            <a:off x="530352" y="3840988"/>
            <a:ext cx="11130991" cy="698500"/>
          </a:xfrm>
          <a:prstGeom prst="rect">
            <a:avLst/>
          </a:prstGeom>
          <a:noFill/>
        </p:spPr>
        <p:txBody>
          <a:bodyPr wrap="square" anchor="t" lIns="0" rIns="0" tIns="0" bIns="0">
            <a:spAutoFit/>
          </a:bodyPr>
          <a:lstStyle/>
          <a:p>
            <a:pPr algn="l"/>
            <a:r>
              <a:rPr sz="4400" b="0" i="0">
                <a:solidFill>
                  <a:srgbClr val="5B3FD6"/>
                </a:solidFill>
                <a:latin typeface="Georgia"/>
              </a:rPr>
              <a:t>9 = 9</a:t>
            </a:r>
          </a:p>
        </p:txBody>
      </p:sp>
      <p:sp>
        <p:nvSpPr>
          <p:cNvPr id="15" name="TextBox 14"/>
          <p:cNvSpPr txBox="1"/>
          <p:nvPr/>
        </p:nvSpPr>
        <p:spPr>
          <a:xfrm>
            <a:off x="530352" y="4576064"/>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777232"/>
            <a:ext cx="11130991" cy="193421"/>
          </a:xfrm>
          <a:prstGeom prst="rect">
            <a:avLst/>
          </a:prstGeom>
          <a:noFill/>
        </p:spPr>
        <p:txBody>
          <a:bodyPr wrap="square" anchor="t" lIns="0" rIns="0" tIns="0" bIns="0">
            <a:spAutoFit/>
          </a:bodyPr>
          <a:lstStyle/>
          <a:p>
            <a:pPr algn="l"/>
            <a:r>
              <a:rPr sz="950" b="0" i="0">
                <a:solidFill>
                  <a:srgbClr val="6B6690"/>
                </a:solidFill>
                <a:latin typeface="Calibri"/>
              </a:rPr>
              <a:t>the same ones as the checked LAG</a:t>
            </a:r>
          </a:p>
        </p:txBody>
      </p:sp>
      <p:sp>
        <p:nvSpPr>
          <p:cNvPr id="17" name="Rectangle 16"/>
          <p:cNvSpPr/>
          <p:nvPr/>
        </p:nvSpPr>
        <p:spPr>
          <a:xfrm>
            <a:off x="530352" y="5029708"/>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rings the nine; C-0010 shows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does Marketing call first?</a:t>
            </a:r>
          </a:p>
        </p:txBody>
      </p:sp>
      <p:graphicFrame>
        <p:nvGraphicFramePr>
          <p:cNvPr id="9" name="Table 8"/>
          <p:cNvGraphicFramePr>
            <a:graphicFrameLocks noGrp="1"/>
          </p:cNvGraphicFramePr>
          <p:nvPr/>
        </p:nvGraphicFramePr>
        <p:xfrm>
          <a:off x="530352" y="1956816"/>
          <a:ext cx="11130990" cy="670560"/>
        </p:xfrm>
        <a:graphic>
          <a:graphicData uri="http://schemas.openxmlformats.org/drawingml/2006/table">
            <a:tbl>
              <a:tblPr firstRow="0" bandRow="0">
                <a:tableStyleId>{2D5ABB26-0587-4C30-8999-92F81FD0307C}</a:tableStyleId>
              </a:tblPr>
              <a:tblGrid>
                <a:gridCol w="6756719"/>
                <a:gridCol w="914400"/>
                <a:gridCol w="914400"/>
                <a:gridCol w="2545471"/>
              </a:tblGrid>
              <a:tr h="335280">
                <a:tc>
                  <a:txBody>
                    <a:bodyPr/>
                    <a:lstStyle/>
                    <a:p>
                      <a:r>
                        <a:rPr sz="1250" b="1" i="0">
                          <a:solidFill>
                            <a:srgbClr val="FFFFFF"/>
                          </a:solidFill>
                          <a:latin typeface="Calibri"/>
                        </a:rPr>
                        <a:t>C-0010, Retail-Core, place 1</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Monthly spend</a:t>
                      </a:r>
                    </a:p>
                  </a:txBody>
                  <a:tcPr marL="101600" marR="101600" marT="38100" marB="38100" anchor="ctr">
                    <a:solidFill>
                      <a:srgbClr val="FFFFFF"/>
                    </a:solidFill>
                  </a:tcPr>
                </a:tc>
                <a:tc>
                  <a:txBody>
                    <a:bodyPr/>
                    <a:lstStyle/>
                    <a:p>
                      <a:r>
                        <a:rPr sz="1200" b="0" i="0">
                          <a:solidFill>
                            <a:srgbClr val="1A1440"/>
                          </a:solidFill>
                          <a:latin typeface="Calibri"/>
                        </a:rPr>
                        <a:t>Rs 7,840</a:t>
                      </a:r>
                    </a:p>
                  </a:txBody>
                  <a:tcPr marL="101600" marR="101600" marT="38100" marB="38100" anchor="ctr">
                    <a:solidFill>
                      <a:srgbClr val="FFFFFF"/>
                    </a:solidFill>
                  </a:tcPr>
                </a:tc>
                <a:tc>
                  <a:txBody>
                    <a:bodyPr/>
                    <a:lstStyle/>
                    <a:p>
                      <a:r>
                        <a:rPr sz="1200" b="0" i="0">
                          <a:solidFill>
                            <a:srgbClr val="1A1440"/>
                          </a:solidFill>
                          <a:latin typeface="Calibri"/>
                        </a:rPr>
                        <a:t>Rs 4,080</a:t>
                      </a:r>
                    </a:p>
                  </a:txBody>
                  <a:tcPr marL="101600" marR="101600" marT="38100" marB="38100" anchor="ctr">
                    <a:solidFill>
                      <a:srgbClr val="FFFFFF"/>
                    </a:solidFill>
                  </a:tcPr>
                </a:tc>
                <a:tc>
                  <a:txBody>
                    <a:bodyPr/>
                    <a:lstStyle/>
                    <a:p>
                      <a:r>
                        <a:rPr sz="1200" b="0" i="0">
                          <a:solidFill>
                            <a:srgbClr val="1A1440"/>
                          </a:solidFill>
                          <a:latin typeface="Calibri"/>
                        </a:rPr>
                        <a:t>Rs 1,990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2156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3325368"/>
            <a:ext cx="237744" cy="237744"/>
          </a:xfrm>
          <a:prstGeom prst="rect">
            <a:avLst/>
          </a:prstGeom>
        </p:spPr>
      </p:pic>
      <p:sp>
        <p:nvSpPr>
          <p:cNvPr id="13" name="TextBox 12"/>
          <p:cNvSpPr txBox="1"/>
          <p:nvPr/>
        </p:nvSpPr>
        <p:spPr>
          <a:xfrm>
            <a:off x="1399031" y="302971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3249168"/>
            <a:ext cx="9987991" cy="682752"/>
          </a:xfrm>
          <a:prstGeom prst="rect">
            <a:avLst/>
          </a:prstGeom>
          <a:noFill/>
        </p:spPr>
        <p:txBody>
          <a:bodyPr wrap="square" anchor="t" lIns="0" rIns="0" tIns="0" bIns="0">
            <a:spAutoFit/>
          </a:bodyPr>
          <a:lstStyle/>
          <a:p>
            <a:r>
              <a:rPr sz="1500" b="0" i="0">
                <a:solidFill>
                  <a:srgbClr val="FFFFFF"/>
                </a:solidFill>
                <a:latin typeface="Calibri"/>
              </a:rPr>
              <a:t>"Who do we ring first?" All nine flagged members are on a protect list. Run block c6_call_list in your own notebook and read the nine before you write the line to Marketing.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calls, and a month with no order is no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listed members does Marketing call first, and does each flag hold up?</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4631466"/>
                <a:gridCol w="649952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reading of last month?</a:t>
                      </a:r>
                    </a:p>
                  </a:txBody>
                  <a:tcPr marL="101600" marR="101600" marT="38100" marB="38100" anchor="ctr">
                    <a:solidFill>
                      <a:srgbClr val="FFFFFF"/>
                    </a:solidFill>
                  </a:tcPr>
                </a:tc>
                <a:tc>
                  <a:txBody>
                    <a:bodyPr/>
                    <a:lstStyle/>
                    <a:p>
                      <a:r>
                        <a:rPr sz="900" b="0" i="0">
                          <a:solidFill>
                            <a:srgbClr val="1A1440"/>
                          </a:solidFill>
                          <a:latin typeface="Calibri"/>
                        </a:rPr>
                        <a:t>LAG with a calendar check: 752 rows, no zeros</a:t>
                      </a:r>
                    </a:p>
                  </a:txBody>
                  <a:tcPr marL="101600" marR="101600" marT="38100" marB="38100" anchor="ctr">
                    <a:solidFill>
                      <a:srgbClr val="FFFFFF"/>
                    </a:solidFill>
                  </a:tcPr>
                </a:tc>
              </a:tr>
              <a:tr h="310896">
                <a:tc>
                  <a:txBody>
                    <a:bodyPr/>
                    <a:lstStyle/>
                    <a:p>
                      <a:r>
                        <a:rPr sz="900" b="0" i="0">
                          <a:solidFill>
                            <a:srgbClr val="1A1440"/>
                          </a:solidFill>
                          <a:latin typeface="Calibri"/>
                        </a:rPr>
                        <a:t>2. How many flagged are listed?</a:t>
                      </a:r>
                    </a:p>
                  </a:txBody>
                  <a:tcPr marL="101600" marR="101600" marT="38100" marB="38100" anchor="ctr">
                    <a:solidFill>
                      <a:srgbClr val="F4F2FA"/>
                    </a:solidFill>
                  </a:tcPr>
                </a:tc>
                <a:tc>
                  <a:txBody>
                    <a:bodyPr/>
                    <a:lstStyle/>
                    <a:p>
                      <a:r>
                        <a:rPr sz="900" b="0" i="0">
                          <a:solidFill>
                            <a:srgbClr val="1A1440"/>
                          </a:solidFill>
                          <a:latin typeface="Calibri"/>
                        </a:rPr>
                        <a:t>All 16 of chapter 4's flag</a:t>
                      </a:r>
                    </a:p>
                  </a:txBody>
                  <a:tcPr marL="101600" marR="101600" marT="38100" marB="38100" anchor="ctr">
                    <a:solidFill>
                      <a:srgbClr val="F4F2FA"/>
                    </a:solidFill>
                  </a:tcPr>
                </a:tc>
              </a:tr>
              <a:tr h="310896">
                <a:tc>
                  <a:txBody>
                    <a:bodyPr/>
                    <a:lstStyle/>
                    <a:p>
                      <a:r>
                        <a:rPr sz="900" b="0" i="0">
                          <a:solidFill>
                            <a:srgbClr val="1A1440"/>
                          </a:solidFill>
                          <a:latin typeface="Calibri"/>
                        </a:rPr>
                        <a:t>3. What did LAG compare?</a:t>
                      </a:r>
                    </a:p>
                  </a:txBody>
                  <a:tcPr marL="101600" marR="101600" marT="38100" marB="38100" anchor="ctr">
                    <a:solidFill>
                      <a:srgbClr val="FFFFFF"/>
                    </a:solidFill>
                  </a:tcPr>
                </a:tc>
                <a:tc>
                  <a:txBody>
                    <a:bodyPr/>
                    <a:lstStyle/>
                    <a:p>
                      <a:r>
                        <a:rPr sz="900" b="0" i="0">
                          <a:solidFill>
                            <a:srgbClr val="1A1440"/>
                          </a:solidFill>
                          <a:latin typeface="Calibri"/>
                        </a:rPr>
                        <a:t>September with July and July with May</a:t>
                      </a:r>
                    </a:p>
                  </a:txBody>
                  <a:tcPr marL="101600" marR="101600" marT="38100" marB="38100" anchor="ctr">
                    <a:solidFill>
                      <a:srgbClr val="FFFFFF"/>
                    </a:solidFill>
                  </a:tcPr>
                </a:tc>
              </a:tr>
              <a:tr h="310896">
                <a:tc>
                  <a:txBody>
                    <a:bodyPr/>
                    <a:lstStyle/>
                    <a:p>
                      <a:r>
                        <a:rPr sz="900" b="0" i="0">
                          <a:solidFill>
                            <a:srgbClr val="1A1440"/>
                          </a:solidFill>
                          <a:latin typeface="Calibri"/>
                        </a:rPr>
                        <a:t>4. How many flags skip a month?</a:t>
                      </a:r>
                    </a:p>
                  </a:txBody>
                  <a:tcPr marL="101600" marR="101600" marT="38100" marB="38100" anchor="ctr">
                    <a:solidFill>
                      <a:srgbClr val="F4F2FA"/>
                    </a:solidFill>
                  </a:tcPr>
                </a:tc>
                <a:tc>
                  <a:txBody>
                    <a:bodyPr/>
                    <a:lstStyle/>
                    <a:p>
                      <a:r>
                        <a:rPr sz="900" b="0" i="0">
                          <a:solidFill>
                            <a:srgbClr val="1A1440"/>
                          </a:solidFill>
                          <a:latin typeface="Calibri"/>
                        </a:rPr>
                        <a:t>7 of 16; the check keeps 9</a:t>
                      </a:r>
                    </a:p>
                  </a:txBody>
                  <a:tcPr marL="101600" marR="101600" marT="38100" marB="38100" anchor="ctr">
                    <a:solidFill>
                      <a:srgbClr val="F4F2FA"/>
                    </a:solidFill>
                  </a:tcPr>
                </a:tc>
              </a:tr>
              <a:tr h="310896">
                <a:tc>
                  <a:txBody>
                    <a:bodyPr/>
                    <a:lstStyle/>
                    <a:p>
                      <a:r>
                        <a:rPr sz="900" b="0" i="0">
                          <a:solidFill>
                            <a:srgbClr val="1A1440"/>
                          </a:solidFill>
                          <a:latin typeface="Calibri"/>
                        </a:rPr>
                        <a:t>5. Does a calendar join agree?</a:t>
                      </a:r>
                    </a:p>
                  </a:txBody>
                  <a:tcPr marL="101600" marR="101600" marT="38100" marB="38100" anchor="ctr">
                    <a:solidFill>
                      <a:srgbClr val="FFFFFF"/>
                    </a:solidFill>
                  </a:tcPr>
                </a:tc>
                <a:tc>
                  <a:txBody>
                    <a:bodyPr/>
                    <a:lstStyle/>
                    <a:p>
                      <a:r>
                        <a:rPr sz="900" b="0" i="0">
                          <a:solidFill>
                            <a:srgbClr val="1A1440"/>
                          </a:solidFill>
                          <a:latin typeface="Calibri"/>
                        </a:rPr>
                        <a:t>Yes, the same nine</a:t>
                      </a:r>
                    </a:p>
                  </a:txBody>
                  <a:tcPr marL="101600" marR="101600" marT="38100" marB="38100" anchor="ctr">
                    <a:solidFill>
                      <a:srgbClr val="FFFFFF"/>
                    </a:solidFill>
                  </a:tcPr>
                </a:tc>
              </a:tr>
              <a:tr h="310896">
                <a:tc>
                  <a:txBody>
                    <a:bodyPr/>
                    <a:lstStyle/>
                    <a:p>
                      <a:r>
                        <a:rPr sz="900" b="0" i="0">
                          <a:solidFill>
                            <a:srgbClr val="1A1440"/>
                          </a:solidFill>
                          <a:latin typeface="Calibri"/>
                        </a:rPr>
                        <a:t>6. Who goes first?</a:t>
                      </a:r>
                    </a:p>
                  </a:txBody>
                  <a:tcPr marL="101600" marR="101600" marT="38100" marB="38100" anchor="ctr">
                    <a:solidFill>
                      <a:srgbClr val="F4F2FA"/>
                    </a:solidFill>
                  </a:tcPr>
                </a:tc>
                <a:tc>
                  <a:txBody>
                    <a:bodyPr/>
                    <a:lstStyle/>
                    <a:p>
                      <a:r>
                        <a:rPr sz="900" b="0" i="0">
                          <a:solidFill>
                            <a:srgbClr val="1A1440"/>
                          </a:solidFill>
                          <a:latin typeface="Calibri"/>
                        </a:rPr>
                        <a:t>The nine; the member on holiday is not one</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"A month with no order is no reading. Write that into the flag's definition, and read the rows behind a flag before a call goes out."</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[D] A member says they were on holiday and should not be flagged: how does your definition treat a month with no orders, and why not fill it with zero?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do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Marketing get on Monday: each segment's list with its count, the members to ring first, the share of revenue the lists carry, and Q2 against plan?</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two now, three in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does the case ask for, and which runs where?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"We start calling on Monday. Send me each segment's protect list under the head of Retail-Plus's rule, with its count; the members we ring first; how much of each segment's Q2 revenue the lists cover; and one line Meera can take into the leadership meeting on whether Q2 is on track."</a:t>
            </a:r>
          </a:p>
        </p:txBody>
      </p:sp>
      <p:sp>
        <p:nvSpPr>
          <p:cNvPr id="14" name="Rectangle 13"/>
          <p:cNvSpPr/>
          <p:nvPr/>
        </p:nvSpPr>
        <p:spPr>
          <a:xfrm>
            <a:off x="1570299" y="406908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 NOW</a:t>
            </a:r>
          </a:p>
        </p:txBody>
      </p:sp>
      <p:sp>
        <p:nvSpPr>
          <p:cNvPr id="16" name="Oval 15"/>
          <p:cNvSpPr/>
          <p:nvPr/>
        </p:nvSpPr>
        <p:spPr>
          <a:xfrm>
            <a:off x="1469715"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Each segment's list</a:t>
            </a:r>
          </a:p>
        </p:txBody>
      </p:sp>
      <p:sp>
        <p:nvSpPr>
          <p:cNvPr id="19" name="TextBox 18"/>
          <p:cNvSpPr txBox="1"/>
          <p:nvPr/>
        </p:nvSpPr>
        <p:spPr>
          <a:xfrm>
            <a:off x="694944"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The head's rule and each count</a:t>
            </a:r>
          </a:p>
        </p:txBody>
      </p:sp>
      <p:sp>
        <p:nvSpPr>
          <p:cNvPr id="20" name="TextBox 19"/>
          <p:cNvSpPr txBox="1"/>
          <p:nvPr/>
        </p:nvSpPr>
        <p:spPr>
          <a:xfrm>
            <a:off x="2793126"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 NOW</a:t>
            </a:r>
          </a:p>
        </p:txBody>
      </p:sp>
      <p:sp>
        <p:nvSpPr>
          <p:cNvPr id="21" name="Oval 20"/>
          <p:cNvSpPr/>
          <p:nvPr/>
        </p:nvSpPr>
        <p:spPr>
          <a:xfrm>
            <a:off x="3732489"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members to ring</a:t>
            </a:r>
          </a:p>
        </p:txBody>
      </p:sp>
      <p:sp>
        <p:nvSpPr>
          <p:cNvPr id="24" name="TextBox 23"/>
          <p:cNvSpPr txBox="1"/>
          <p:nvPr/>
        </p:nvSpPr>
        <p:spPr>
          <a:xfrm>
            <a:off x="2957718"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calendar months, each lower</a:t>
            </a:r>
          </a:p>
        </p:txBody>
      </p:sp>
      <p:sp>
        <p:nvSpPr>
          <p:cNvPr id="25" name="TextBox 24"/>
          <p:cNvSpPr txBox="1"/>
          <p:nvPr/>
        </p:nvSpPr>
        <p:spPr>
          <a:xfrm>
            <a:off x="5055900"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 LAB</a:t>
            </a:r>
          </a:p>
        </p:txBody>
      </p:sp>
      <p:sp>
        <p:nvSpPr>
          <p:cNvPr id="26" name="Oval 25"/>
          <p:cNvSpPr/>
          <p:nvPr/>
        </p:nvSpPr>
        <p:spPr>
          <a:xfrm>
            <a:off x="5995263"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535424"/>
            <a:ext cx="1750710" cy="465836"/>
          </a:xfrm>
          <a:prstGeom prst="rect">
            <a:avLst/>
          </a:prstGeom>
          <a:noFill/>
        </p:spPr>
        <p:txBody>
          <a:bodyPr wrap="square" anchor="t" lIns="0" rIns="0" tIns="0" bIns="0">
            <a:spAutoFit/>
          </a:bodyPr>
          <a:lstStyle/>
          <a:p>
            <a:pPr algn="l"/>
            <a:r>
              <a:rPr sz="1300" b="1" i="0">
                <a:solidFill>
                  <a:srgbClr val="1A0F5C"/>
                </a:solidFill>
                <a:latin typeface="Calibri"/>
              </a:rPr>
              <a:t>The share each list carries</a:t>
            </a:r>
          </a:p>
        </p:txBody>
      </p:sp>
      <p:sp>
        <p:nvSpPr>
          <p:cNvPr id="29" name="TextBox 28"/>
          <p:cNvSpPr txBox="1"/>
          <p:nvPr/>
        </p:nvSpPr>
        <p:spPr>
          <a:xfrm>
            <a:off x="5220492" y="5037836"/>
            <a:ext cx="1750710" cy="366776"/>
          </a:xfrm>
          <a:prstGeom prst="rect">
            <a:avLst/>
          </a:prstGeom>
          <a:noFill/>
        </p:spPr>
        <p:txBody>
          <a:bodyPr wrap="square" anchor="t" lIns="0" rIns="0" tIns="0" bIns="0">
            <a:spAutoFit/>
          </a:bodyPr>
          <a:lstStyle/>
          <a:p>
            <a:pPr algn="l"/>
            <a:r>
              <a:rPr sz="1000" b="0" i="0">
                <a:solidFill>
                  <a:srgbClr val="6B6690"/>
                </a:solidFill>
                <a:latin typeface="Calibri"/>
              </a:rPr>
              <a:t>Of its own segment's revenue</a:t>
            </a:r>
          </a:p>
        </p:txBody>
      </p:sp>
      <p:sp>
        <p:nvSpPr>
          <p:cNvPr id="30" name="TextBox 29"/>
          <p:cNvSpPr txBox="1"/>
          <p:nvPr/>
        </p:nvSpPr>
        <p:spPr>
          <a:xfrm>
            <a:off x="7318674"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 LAB</a:t>
            </a:r>
          </a:p>
        </p:txBody>
      </p:sp>
      <p:sp>
        <p:nvSpPr>
          <p:cNvPr id="31" name="Oval 30"/>
          <p:cNvSpPr/>
          <p:nvPr/>
        </p:nvSpPr>
        <p:spPr>
          <a:xfrm>
            <a:off x="8258037"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Q2 against plan</a:t>
            </a:r>
          </a:p>
        </p:txBody>
      </p:sp>
      <p:sp>
        <p:nvSpPr>
          <p:cNvPr id="34" name="TextBox 33"/>
          <p:cNvSpPr txBox="1"/>
          <p:nvPr/>
        </p:nvSpPr>
        <p:spPr>
          <a:xfrm>
            <a:off x="7483266"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By the total and week by week</a:t>
            </a:r>
          </a:p>
        </p:txBody>
      </p:sp>
      <p:sp>
        <p:nvSpPr>
          <p:cNvPr id="35" name="TextBox 34"/>
          <p:cNvSpPr txBox="1"/>
          <p:nvPr/>
        </p:nvSpPr>
        <p:spPr>
          <a:xfrm>
            <a:off x="9581448"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 LAB</a:t>
            </a:r>
          </a:p>
        </p:txBody>
      </p:sp>
      <p:sp>
        <p:nvSpPr>
          <p:cNvPr id="36" name="Oval 35"/>
          <p:cNvSpPr/>
          <p:nvPr/>
        </p:nvSpPr>
        <p:spPr>
          <a:xfrm>
            <a:off x="10520812" y="39776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389120"/>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535424"/>
            <a:ext cx="1750710" cy="251205"/>
          </a:xfrm>
          <a:prstGeom prst="rect">
            <a:avLst/>
          </a:prstGeom>
          <a:noFill/>
        </p:spPr>
        <p:txBody>
          <a:bodyPr wrap="square" anchor="t" lIns="0" rIns="0" tIns="0" bIns="0">
            <a:spAutoFit/>
          </a:bodyPr>
          <a:lstStyle/>
          <a:p>
            <a:pPr algn="l"/>
            <a:r>
              <a:rPr sz="1300" b="1" i="0">
                <a:solidFill>
                  <a:srgbClr val="FFFFFF"/>
                </a:solidFill>
                <a:latin typeface="Calibri"/>
              </a:rPr>
              <a:t>The lines to send</a:t>
            </a:r>
          </a:p>
        </p:txBody>
      </p:sp>
      <p:sp>
        <p:nvSpPr>
          <p:cNvPr id="39" name="TextBox 38"/>
          <p:cNvSpPr txBox="1"/>
          <p:nvPr/>
        </p:nvSpPr>
        <p:spPr>
          <a:xfrm>
            <a:off x="9746040" y="4823206"/>
            <a:ext cx="1750710" cy="201676"/>
          </a:xfrm>
          <a:prstGeom prst="rect">
            <a:avLst/>
          </a:prstGeom>
          <a:noFill/>
        </p:spPr>
        <p:txBody>
          <a:bodyPr wrap="square" anchor="t" lIns="0" rIns="0" tIns="0" bIns="0">
            <a:spAutoFit/>
          </a:bodyPr>
          <a:lstStyle/>
          <a:p>
            <a:pPr algn="l"/>
            <a:r>
              <a:rPr sz="1000" b="0" i="0">
                <a:solidFill>
                  <a:srgbClr val="CFC9EE"/>
                </a:solidFill>
                <a:latin typeface="Calibri"/>
              </a:rPr>
              <a:t>To Marketing and to Meera</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42" name="Oval 4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1970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choice is yours, and the checks read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case have to keep, whatever the numbers turn out to be?</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head's rule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Members who spent the same share a place, and each list's count is said with its reason.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Calendar months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flag reads July, August and September, each lower; a month with no order breaks the run.</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9dd99c81814d.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EVERY PART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Close every loop</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Counts against buyers, flags against their own months, the running total against the quarter.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9" name="Oval 28"/>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Marketing?</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day answer, and what does the growth team ask next?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lists, nine calls, Q2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members should Marketing protect before they drift, and is Q2 on track against the plan line?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"Who do we protect, who do we ring first, and are we on track?"</a:t>
            </a:r>
          </a:p>
        </p:txBody>
      </p:sp>
      <p:sp>
        <p:nvSpPr>
          <p:cNvPr id="14" name="Rounded Rectangle 13"/>
          <p:cNvSpPr/>
          <p:nvPr/>
        </p:nvSpPr>
        <p:spPr>
          <a:xfrm>
            <a:off x="530352" y="2983992"/>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983992"/>
            <a:ext cx="10820095" cy="1605279"/>
          </a:xfrm>
          <a:prstGeom prst="rect">
            <a:avLst/>
          </a:prstGeom>
          <a:noFill/>
        </p:spPr>
        <p:txBody>
          <a:bodyPr wrap="square" anchor="t" lIns="0" rIns="0" tIns="0" bIns="0">
            <a:spAutoFit/>
          </a:bodyPr>
          <a:lstStyle/>
          <a:p>
            <a:r>
              <a:rPr sz="1600" b="0" i="1">
                <a:solidFill>
                  <a:srgbClr val="1A0F5C"/>
                </a:solidFill>
                <a:latin typeface="Georgia"/>
              </a:rPr>
              <a:t>"Each segment's list is its top fifty by Q2 revenue under RANK, so members who spent the same share a place, with every list's count and its reason. Ring the nine members whose spend fell in August and again in September first. Q2 closed on plan, Rs 10 ahead, and the Rs 1.58 crore lead at mid-quarter came from one July week, so the weekly run rate has sat below plan since 10 August."</a:t>
            </a:r>
          </a:p>
        </p:txBody>
      </p:sp>
      <p:sp>
        <p:nvSpPr>
          <p:cNvPr id="16" name="Rounded Rectangle 15"/>
          <p:cNvSpPr/>
          <p:nvPr/>
        </p:nvSpPr>
        <p:spPr>
          <a:xfrm>
            <a:off x="530352" y="473557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4735576"/>
            <a:ext cx="10820095" cy="467359"/>
          </a:xfrm>
          <a:prstGeom prst="rect">
            <a:avLst/>
          </a:prstGeom>
          <a:noFill/>
        </p:spPr>
        <p:txBody>
          <a:bodyPr wrap="square" anchor="t" lIns="0" rIns="0" tIns="0" bIns="0">
            <a:spAutoFit/>
          </a:bodyPr>
          <a:lstStyle/>
          <a:p>
            <a:r>
              <a:rPr sz="1600" b="0" i="1">
                <a:solidFill>
                  <a:srgbClr val="1A0F5C"/>
                </a:solidFill>
                <a:latin typeface="Georgia"/>
              </a:rPr>
              <a:t>The day's answer, to Marketing and the head of Retail-Plus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2" name="Oval 2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does each chapter leave Marketing's list with?</a:t>
            </a:r>
          </a:p>
        </p:txBody>
      </p:sp>
      <p:pic>
        <p:nvPicPr>
          <p:cNvPr id="9" name="mermaid diagram" descr="11811dd0a6b07bd4.png"/>
          <p:cNvPicPr>
            <a:picLocks noChangeAspect="1"/>
          </p:cNvPicPr>
          <p:nvPr/>
        </p:nvPicPr>
        <p:blipFill>
          <a:blip r:embed="rId5"/>
          <a:stretch>
            <a:fillRect/>
          </a:stretch>
        </p:blipFill>
        <p:spPr>
          <a:xfrm>
            <a:off x="530352" y="1956816"/>
            <a:ext cx="11130991" cy="822589"/>
          </a:xfrm>
          <a:prstGeom prst="rect">
            <a:avLst/>
          </a:prstGeom>
        </p:spPr>
      </p:pic>
      <p:sp>
        <p:nvSpPr>
          <p:cNvPr id="10" name="TextBox 9"/>
          <p:cNvSpPr txBox="1"/>
          <p:nvPr/>
        </p:nvSpPr>
        <p:spPr>
          <a:xfrm>
            <a:off x="530352" y="2889133"/>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1" name="TextBox 10"/>
          <p:cNvSpPr txBox="1"/>
          <p:nvPr/>
        </p:nvSpPr>
        <p:spPr>
          <a:xfrm>
            <a:off x="1097280" y="2925709"/>
            <a:ext cx="10564063" cy="368808"/>
          </a:xfrm>
          <a:prstGeom prst="rect">
            <a:avLst/>
          </a:prstGeom>
          <a:noFill/>
        </p:spPr>
        <p:txBody>
          <a:bodyPr wrap="square" anchor="t" lIns="0" rIns="0" tIns="0" bIns="0">
            <a:spAutoFit/>
          </a:bodyPr>
          <a:lstStyle/>
          <a:p>
            <a:r>
              <a:rPr sz="1500" b="0" i="0">
                <a:solidFill>
                  <a:srgbClr val="1A1440"/>
                </a:solidFill>
                <a:latin typeface="Calibri"/>
              </a:rPr>
              <a:t>Say what one row of the list is before you rank it: fifty orders named only 28 members.</a:t>
            </a:r>
          </a:p>
        </p:txBody>
      </p:sp>
      <p:sp>
        <p:nvSpPr>
          <p:cNvPr id="12" name="TextBox 11"/>
          <p:cNvSpPr txBox="1"/>
          <p:nvPr/>
        </p:nvSpPr>
        <p:spPr>
          <a:xfrm>
            <a:off x="530352" y="3331093"/>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3" name="TextBox 12"/>
          <p:cNvSpPr txBox="1"/>
          <p:nvPr/>
        </p:nvSpPr>
        <p:spPr>
          <a:xfrm>
            <a:off x="1097280" y="3367669"/>
            <a:ext cx="10564063" cy="368808"/>
          </a:xfrm>
          <a:prstGeom prst="rect">
            <a:avLst/>
          </a:prstGeom>
          <a:noFill/>
        </p:spPr>
        <p:txBody>
          <a:bodyPr wrap="square" anchor="t" lIns="0" rIns="0" tIns="0" bIns="0">
            <a:spAutoFit/>
          </a:bodyPr>
          <a:lstStyle/>
          <a:p>
            <a:r>
              <a:rPr sz="1500" b="0" i="0">
                <a:solidFill>
                  <a:srgbClr val="1A1440"/>
                </a:solidFill>
                <a:latin typeface="Calibri"/>
              </a:rPr>
              <a:t>"In each segment" is a PARTITION BY: fifty, or every buyer, in each segment.</a:t>
            </a:r>
          </a:p>
        </p:txBody>
      </p:sp>
      <p:sp>
        <p:nvSpPr>
          <p:cNvPr id="14" name="TextBox 13"/>
          <p:cNvSpPr txBox="1"/>
          <p:nvPr/>
        </p:nvSpPr>
        <p:spPr>
          <a:xfrm>
            <a:off x="530352" y="3773053"/>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5" name="TextBox 14"/>
          <p:cNvSpPr txBox="1"/>
          <p:nvPr/>
        </p:nvSpPr>
        <p:spPr>
          <a:xfrm>
            <a:off x="1097280" y="3809629"/>
            <a:ext cx="10564063" cy="368808"/>
          </a:xfrm>
          <a:prstGeom prst="rect">
            <a:avLst/>
          </a:prstGeom>
          <a:noFill/>
        </p:spPr>
        <p:txBody>
          <a:bodyPr wrap="square" anchor="t" lIns="0" rIns="0" tIns="0" bIns="0">
            <a:spAutoFit/>
          </a:bodyPr>
          <a:lstStyle/>
          <a:p>
            <a:r>
              <a:rPr sz="1500" b="0" i="0">
                <a:solidFill>
                  <a:srgbClr val="1A1440"/>
                </a:solidFill>
                <a:latin typeface="Calibri"/>
              </a:rPr>
              <a:t>RANK keeps a tie at the line and says the count; DENSE_RANK can run past the line with no tie at it.</a:t>
            </a:r>
          </a:p>
        </p:txBody>
      </p:sp>
      <p:sp>
        <p:nvSpPr>
          <p:cNvPr id="16" name="TextBox 15"/>
          <p:cNvSpPr txBox="1"/>
          <p:nvPr/>
        </p:nvSpPr>
        <p:spPr>
          <a:xfrm>
            <a:off x="530352" y="4215013"/>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7" name="TextBox 16"/>
          <p:cNvSpPr txBox="1"/>
          <p:nvPr/>
        </p:nvSpPr>
        <p:spPr>
          <a:xfrm>
            <a:off x="1097280" y="4251589"/>
            <a:ext cx="10564063" cy="368808"/>
          </a:xfrm>
          <a:prstGeom prst="rect">
            <a:avLst/>
          </a:prstGeom>
          <a:noFill/>
        </p:spPr>
        <p:txBody>
          <a:bodyPr wrap="square" anchor="t" lIns="0" rIns="0" tIns="0" bIns="0">
            <a:spAutoFit/>
          </a:bodyPr>
          <a:lstStyle/>
          <a:p>
            <a:r>
              <a:rPr sz="1500" b="0" i="0">
                <a:solidFill>
                  <a:srgbClr val="1A1440"/>
                </a:solidFill>
                <a:latin typeface="Calibri"/>
              </a:rPr>
              <a:t>Tell the window whose rows belong together, or LAG reads another member's month.</a:t>
            </a:r>
          </a:p>
        </p:txBody>
      </p:sp>
      <p:sp>
        <p:nvSpPr>
          <p:cNvPr id="18" name="TextBox 17"/>
          <p:cNvSpPr txBox="1"/>
          <p:nvPr/>
        </p:nvSpPr>
        <p:spPr>
          <a:xfrm>
            <a:off x="530352" y="4656973"/>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9" name="TextBox 18"/>
          <p:cNvSpPr txBox="1"/>
          <p:nvPr/>
        </p:nvSpPr>
        <p:spPr>
          <a:xfrm>
            <a:off x="1097280" y="4693549"/>
            <a:ext cx="10564063" cy="368808"/>
          </a:xfrm>
          <a:prstGeom prst="rect">
            <a:avLst/>
          </a:prstGeom>
          <a:noFill/>
        </p:spPr>
        <p:txBody>
          <a:bodyPr wrap="square" anchor="t" lIns="0" rIns="0" tIns="0" bIns="0">
            <a:spAutoFit/>
          </a:bodyPr>
          <a:lstStyle/>
          <a:p>
            <a:r>
              <a:rPr sz="1500" b="0" i="0">
                <a:solidFill>
                  <a:srgbClr val="1A1440"/>
                </a:solidFill>
                <a:latin typeface="Calibri"/>
              </a:rPr>
              <a:t>A running total is done when its last value equals the quarter's total.</a:t>
            </a:r>
          </a:p>
        </p:txBody>
      </p:sp>
      <p:sp>
        <p:nvSpPr>
          <p:cNvPr id="20" name="TextBox 19"/>
          <p:cNvSpPr txBox="1"/>
          <p:nvPr/>
        </p:nvSpPr>
        <p:spPr>
          <a:xfrm>
            <a:off x="530352" y="5098933"/>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1" name="TextBox 20"/>
          <p:cNvSpPr txBox="1"/>
          <p:nvPr/>
        </p:nvSpPr>
        <p:spPr>
          <a:xfrm>
            <a:off x="1097280" y="5135509"/>
            <a:ext cx="10564063" cy="368808"/>
          </a:xfrm>
          <a:prstGeom prst="rect">
            <a:avLst/>
          </a:prstGeom>
          <a:noFill/>
        </p:spPr>
        <p:txBody>
          <a:bodyPr wrap="square" anchor="t" lIns="0" rIns="0" tIns="0" bIns="0">
            <a:spAutoFit/>
          </a:bodyPr>
          <a:lstStyle/>
          <a:p>
            <a:r>
              <a:rPr sz="1500" b="0" i="0">
                <a:solidFill>
                  <a:srgbClr val="1A1440"/>
                </a:solidFill>
                <a:latin typeface="Calibri"/>
              </a:rPr>
              <a:t>A month with no order is no reading: check that LAG read the calendar months before.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none of them 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decisions can the room make in twenty seconds each?</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ROW_NUMBER, RANK and DENSE_RANK on a two-way tie</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What PARTITION BY restarts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What LAG returns on a member's first month</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Which ORDER BY makes a running total repeatable</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What ROW_NUMBER does to a tie at the line</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The function for "ties ranked the same"</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A month with no order, read by LAG</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Tuesday, one level up: a LEFT join grew the rows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ten questions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staple and frequent interview questions does today equip you to answer?</a:t>
            </a:r>
          </a:p>
        </p:txBody>
      </p:sp>
      <p:graphicFrame>
        <p:nvGraphicFramePr>
          <p:cNvPr id="10" name="Table 9"/>
          <p:cNvGraphicFramePr>
            <a:graphicFrameLocks noGrp="1"/>
          </p:cNvGraphicFramePr>
          <p:nvPr/>
        </p:nvGraphicFramePr>
        <p:xfrm>
          <a:off x="530352" y="1907032"/>
          <a:ext cx="11130991" cy="406806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RANK, DENSE_RANK and ROW_NUMBER on a tie.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Top-3 per group: GROUP BY or a window, and why?</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is the difference between GROUP BY and a window function?</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How would you find customers whose spend fell two months in a row?</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Why can a window function not sit inside WHERE, and what do you do instead?</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top-fifty list has fifty rows but twenty-eight names: what happened?</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top-ten list came back with eleven rows: is it a bug?</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LAG returned a value for a customer's very first month: what went wrong?</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makes a running total deterministic, and how would you notice one that was not?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Revenue to date is nine times the plan by week seven: what is the likely mistake?</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three to finish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differentiator questions close the drill?</a:t>
            </a:r>
          </a:p>
        </p:txBody>
      </p:sp>
      <p:graphicFrame>
        <p:nvGraphicFramePr>
          <p:cNvPr id="10" name="Table 9"/>
          <p:cNvGraphicFramePr>
            <a:graphicFrameLocks noGrp="1"/>
          </p:cNvGraphicFramePr>
          <p:nvPr/>
        </p:nvGraphicFramePr>
        <p:xfrm>
          <a:off x="530352" y="1956816"/>
          <a:ext cx="11130991" cy="147929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The business says ties rank the same: which function, and how many rows might the top-N report ship?</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 member was on holiday: how does your flag treat a month with no orders, and why not zero?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Your running total closes below the quarter's total: what do you check first?</a:t>
                      </a:r>
                    </a:p>
                  </a:txBody>
                  <a:tcPr marL="101600" marR="101600" marT="38100" marB="38100" anchor="ctr">
                    <a:solidFill>
                      <a:srgbClr val="FFFFFF"/>
                    </a:solidFill>
                  </a:tcPr>
                </a:tc>
              </a:tr>
            </a:tbl>
          </a:graphicData>
        </a:graphic>
      </p:graphicFrame>
      <p:sp>
        <p:nvSpPr>
          <p:cNvPr id="11" name="TextBox 10"/>
          <p:cNvSpPr txBox="1"/>
          <p:nvPr/>
        </p:nvSpPr>
        <p:spPr>
          <a:xfrm>
            <a:off x="530352" y="3692144"/>
            <a:ext cx="11130991" cy="88188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one asks for a judgment the day's numbers support: the count a tie rule ships, the month with no</a:t>
            </a:r>
          </a:p>
          <a:p>
            <a:pPr>
              <a:spcAft>
                <a:spcPts val="800"/>
              </a:spcAft>
            </a:pPr>
            <a:r>
              <a:rPr sz="1600" b="0" i="0">
                <a:solidFill>
                  <a:srgbClr val="1A1440"/>
                </a:solidFill>
                <a:latin typeface="Calibri"/>
              </a:rPr>
              <a:t>order, and the running total that has to close on the quarter's own total.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6" name="Oval 1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for the take-home: Retail-Core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Retail-Core's protect list rank members by how often they ordered in Q2, instead of by how much they spent?</a:t>
            </a:r>
          </a:p>
        </p:txBody>
      </p:sp>
      <p:sp>
        <p:nvSpPr>
          <p:cNvPr id="10" name="Rounded Rectangle 9"/>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3" name="TextBox 12"/>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"Frequency is what fell in Retail-Plus. Before it spreads, I want Retail-Core's top fifty ranked by how often members ordered in Q2. Same rule as the head of Retail-Plus: ties ranked the same, and tell me how many made it."</a:t>
            </a:r>
          </a:p>
        </p:txBody>
      </p:sp>
      <p:pic>
        <p:nvPicPr>
          <p:cNvPr id="15" name="mermaid diagram" descr="f626be52d68ee89f.png"/>
          <p:cNvPicPr>
            <a:picLocks noChangeAspect="1"/>
          </p:cNvPicPr>
          <p:nvPr/>
        </p:nvPicPr>
        <p:blipFill>
          <a:blip r:embed="rId6"/>
          <a:stretch>
            <a:fillRect/>
          </a:stretch>
        </p:blipFill>
        <p:spPr>
          <a:xfrm>
            <a:off x="530352" y="3502152"/>
            <a:ext cx="11130991" cy="858395"/>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0" name="Oval 19"/>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day's wrong numbers, each with its check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plausible wrong numbers did the day stage, and what caught each?</a:t>
            </a:r>
          </a:p>
        </p:txBody>
      </p:sp>
      <p:graphicFrame>
        <p:nvGraphicFramePr>
          <p:cNvPr id="10" name="Table 9"/>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1278892"/>
                <a:gridCol w="4175605"/>
                <a:gridCol w="567649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caught it</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50 rows naming 28 members</a:t>
                      </a:r>
                    </a:p>
                  </a:txBody>
                  <a:tcPr marL="101600" marR="101600" marT="38100" marB="38100" anchor="ctr">
                    <a:solidFill>
                      <a:srgbClr val="FFFFFF"/>
                    </a:solidFill>
                  </a:tcPr>
                </a:tc>
                <a:tc>
                  <a:txBody>
                    <a:bodyPr/>
                    <a:lstStyle/>
                    <a:p>
                      <a:r>
                        <a:rPr sz="1400" b="0" i="0">
                          <a:solidFill>
                            <a:srgbClr val="1A1440"/>
                          </a:solidFill>
                          <a:latin typeface="Calibri"/>
                        </a:rPr>
                        <a:t>Count members beside rows</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Retail-Plus 11, Student none</a:t>
                      </a:r>
                    </a:p>
                  </a:txBody>
                  <a:tcPr marL="101600" marR="101600" marT="38100" marB="38100" anchor="ctr">
                    <a:solidFill>
                      <a:srgbClr val="F4F2FA"/>
                    </a:solidFill>
                  </a:tcPr>
                </a:tc>
                <a:tc>
                  <a:txBody>
                    <a:bodyPr/>
                    <a:lstStyle/>
                    <a:p>
                      <a:r>
                        <a:rPr sz="1400" b="0" i="0">
                          <a:solidFill>
                            <a:srgbClr val="1A1440"/>
                          </a:solidFill>
                          <a:latin typeface="Calibri"/>
                        </a:rPr>
                        <a:t>Fifty, or every buyer, per segment</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Retail-Core's "top fifty" of 52</a:t>
                      </a:r>
                    </a:p>
                  </a:txBody>
                  <a:tcPr marL="101600" marR="101600" marT="38100" marB="38100" anchor="ctr">
                    <a:solidFill>
                      <a:srgbClr val="FFFFFF"/>
                    </a:solidFill>
                  </a:tcPr>
                </a:tc>
                <a:tc>
                  <a:txBody>
                    <a:bodyPr/>
                    <a:lstStyle/>
                    <a:p>
                      <a:r>
                        <a:rPr sz="1400" b="0" i="0">
                          <a:solidFill>
                            <a:srgbClr val="1A1440"/>
                          </a:solidFill>
                          <a:latin typeface="Calibri"/>
                        </a:rPr>
                        <a:t>Read the functions side by side at the line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20 flagged, 4 borrowed</a:t>
                      </a:r>
                    </a:p>
                  </a:txBody>
                  <a:tcPr marL="101600" marR="101600" marT="38100" marB="38100" anchor="ctr">
                    <a:solidFill>
                      <a:srgbClr val="F4F2FA"/>
                    </a:solidFill>
                  </a:tcPr>
                </a:tc>
                <a:tc>
                  <a:txBody>
                    <a:bodyPr/>
                    <a:lstStyle/>
                    <a:p>
                      <a:r>
                        <a:rPr sz="1400" b="0" i="0">
                          <a:solidFill>
                            <a:srgbClr val="1A1440"/>
                          </a:solidFill>
                          <a:latin typeface="Calibri"/>
                        </a:rPr>
                        <a:t>Carry the id LAG read</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Q2 Rs 15,39,810 short of plan</a:t>
                      </a:r>
                    </a:p>
                  </a:txBody>
                  <a:tcPr marL="101600" marR="101600" marT="38100" marB="38100" anchor="ctr">
                    <a:solidFill>
                      <a:srgbClr val="FFFFFF"/>
                    </a:solidFill>
                  </a:tcPr>
                </a:tc>
                <a:tc>
                  <a:txBody>
                    <a:bodyPr/>
                    <a:lstStyle/>
                    <a:p>
                      <a:r>
                        <a:rPr sz="1400" b="0" i="0">
                          <a:solidFill>
                            <a:srgbClr val="1A1440"/>
                          </a:solidFill>
                          <a:latin typeface="Calibri"/>
                        </a:rPr>
                        <a:t>The last to-date against Monday's total</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16 calls, 7 over an empty month</a:t>
                      </a:r>
                    </a:p>
                  </a:txBody>
                  <a:tcPr marL="101600" marR="101600" marT="38100" marB="38100" anchor="ctr">
                    <a:solidFill>
                      <a:srgbClr val="F4F2FA"/>
                    </a:solidFill>
                  </a:tcPr>
                </a:tc>
                <a:tc>
                  <a:txBody>
                    <a:bodyPr/>
                    <a:lstStyle/>
                    <a:p>
                      <a:r>
                        <a:rPr sz="1400" b="0" i="0">
                          <a:solidFill>
                            <a:srgbClr val="1A1440"/>
                          </a:solidFill>
                          <a:latin typeface="Calibri"/>
                        </a:rPr>
                        <a:t>Carry the month LAG read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one table per customer,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growth team asks the next question: what does Marketing's own table look like?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"We want one table with one row per customer, refreshed every Monday: how recently they bought, how often, how much, their segment, whether the monsoon sale reached them, and last week's flags."</a:t>
            </a:r>
          </a:p>
        </p:txBody>
      </p:sp>
      <p:pic>
        <p:nvPicPr>
          <p:cNvPr id="14" name="mermaid diagram" descr="a8ecfae2913fb977.png"/>
          <p:cNvPicPr>
            <a:picLocks noChangeAspect="1"/>
          </p:cNvPicPr>
          <p:nvPr/>
        </p:nvPicPr>
        <p:blipFill>
          <a:blip r:embed="rId6"/>
          <a:stretch>
            <a:fillRect/>
          </a:stretch>
        </p:blipFill>
        <p:spPr>
          <a:xfrm>
            <a:off x="2102491" y="3243072"/>
            <a:ext cx="7986712" cy="112871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