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with this</a:t>
            </a:r>
          </a:p>
          <a:p>
            <a:r>
              <a:t>cover and the morning's answers (30), the escalated case's first two parts (20) and the close with</a:t>
            </a:r>
          </a:p>
          <a:p>
            <a:r>
              <a:t>the Kahoot (10). The tentative IITGN block follows.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Twenty-eight minutes after the cover and the morning's answers: the map, the need and the</a:t>
            </a:r>
          </a:p>
          <a:p>
            <a:r>
              <a:t>company (5), the options and the picture (4), the list and the member on holiday (7), the trap, its</a:t>
            </a:r>
          </a:p>
          <a:p>
            <a:r>
              <a:t>check and its fix (6, never cut), the second route (2), the calls (2) and the close (2). Notebook 06</a:t>
            </a:r>
          </a:p>
          <a:p>
            <a:r>
              <a:t>and sql/C2_W02_D03_06_call_first_STUDENT.sql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 asked about calendar months, and LAG counts rows. Wherever a member</a:t>
            </a:r>
          </a:p>
          <a:p>
            <a:r>
              <a:t>skipped a month, LAG steps over the gap, so a holiday reads as a fall. C-0216 is one of the seven.</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 Then the</a:t>
            </a:r>
          </a:p>
          <a:p>
            <a:r>
              <a:t>rules the case keeps.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rules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sentence first, including the Retail-Plus count</a:t>
            </a:r>
          </a:p>
          <a:p>
            <a:r>
              <a:t>their run gave and its reason; then read this one. Then the six rules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rules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None of the eight is graded. Twenty seconds an</a:t>
            </a:r>
          </a:p>
          <a:p>
            <a:r>
              <a:t>item; after each, one learner says why the right answer holds. Item 8 is Tuesday's return question.</a:t>
            </a:r>
          </a:p>
          <a:p>
            <a:r>
              <a:t>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of the practice lab's fifteen-minute drill. [S] is a staple asked everywhere</a:t>
            </a:r>
          </a:p>
          <a:p>
            <a:r>
              <a:t>and [F] frequent at global capability centres and product companies; D23 carries the three</a:t>
            </a:r>
          </a:p>
          <a:p>
            <a:r>
              <a:t>differentiators. In the lab, pairs ask each other aloud. The answers in one breath, in order:</a:t>
            </a:r>
          </a:p>
          <a:p>
            <a:r>
              <a:t>ROW_NUMBER numbers every row, breaking a tie by the rest of its ORDER BY or arbitrarily; RANK shares</a:t>
            </a:r>
          </a:p>
          <a:p>
            <a:r>
              <a:t>the number and skips, 1, 1, 3; DENSE_RANK shares it and skips nothing, 1, 1, 2. A window partitioned</a:t>
            </a:r>
          </a:p>
          <a:p>
            <a:r>
              <a:t>by the group, numbered in a CTE and filtered outside, since GROUP BY collapses each group and LIMIT</a:t>
            </a:r>
          </a:p>
          <a:p>
            <a:r>
              <a:t>counts across the result. GROUP BY returns one row per group; a window keeps every row and adds a</a:t>
            </a:r>
          </a:p>
          <a:p>
            <a:r>
              <a:t>column. One row per customer per month, lag 1 and lag 2 partitioned by customer and ordered by</a:t>
            </a:r>
          </a:p>
          <a:p>
            <a:r>
              <a:t>month, a check that the lagged months are the calendar months before, and the rows that fall twice.</a:t>
            </a:r>
          </a:p>
          <a:p>
            <a:r>
              <a:t>WHERE filters before the window is computed, so compute it in a CTE and filter outside. It ranked</a:t>
            </a:r>
          </a:p>
          <a:p>
            <a:r>
              <a:t>order rows; check distinct customers against rows and rank customers after adding up their orders.</a:t>
            </a:r>
          </a:p>
          <a:p>
            <a:r>
              <a:t>Find out first: RANK with a tie at tenth is the rule working, DENSE_RANK can run past ten with ties</a:t>
            </a:r>
          </a:p>
          <a:p>
            <a:r>
              <a:t>above, and ROW_NUMBER cannot ship eleven, so a repeated id there is a fanned-out join. Most often the</a:t>
            </a:r>
          </a:p>
          <a:p>
            <a:r>
              <a:t>window has no PARTITION BY; a default argument in lag() or a descending ORDER BY gives the same</a:t>
            </a:r>
          </a:p>
          <a:p>
            <a:r>
              <a:t>symptom. Under the default frame a date-only running total repeats on every run but gives peers one</a:t>
            </a:r>
          </a:p>
          <a:p>
            <a:r>
              <a:t>figure; a ROWS frame over a non-unique order can change between runs; the date plus the order id</a:t>
            </a:r>
          </a:p>
          <a:p>
            <a:r>
              <a:t>gives every row its own step. A cumulative actual beside one week's plan; compare to date with to</a:t>
            </a:r>
          </a:p>
          <a:p>
            <a:r>
              <a:t>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last five minutes of the practice lab's drill. [D] is the tag for a differentiator. The</a:t>
            </a:r>
          </a:p>
          <a:p>
            <a:r>
              <a:t>answers in one breath: RANK, and the report can ship more than N when a tie straddles the line, so it</a:t>
            </a:r>
          </a:p>
          <a:p>
            <a:r>
              <a:t>states the count; DENSE_RANK can ship more even with no tie at the line; ROW_NUMBER always ships N and</a:t>
            </a:r>
          </a:p>
          <a:p>
            <a:r>
              <a:t>hides the tie. A month with no order is no reading, so it breaks the run; a zero would read a quiet</a:t>
            </a:r>
          </a:p>
          <a:p>
            <a:r>
              <a:t>month as a fall, and here zeros flag 26 members, 17 of them for a quiet September alone. Whether</a:t>
            </a:r>
          </a:p>
          <a:p>
            <a:r>
              <a:t>every row made it in: the last cumulative value against the independent total, then rows outside</a:t>
            </a:r>
          </a:p>
          <a:p>
            <a:r>
              <a:t>the join's calendar, here 25 orders of 1 to 5 July, Rs 15,39,820.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and the lab's debrief of the room's wrong answers. Each row is a trap the</a:t>
            </a:r>
          </a:p>
          <a:p>
            <a:r>
              <a:t>day staged on 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8.xml"/><Relationship Id="rId6"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C-0216,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list per segment, RANK, 16 flags,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fifty</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call list,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"C-0216 rang our help line to say they were travelling in August and have not stopped buying. 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85128bbef259f1ec.png"/>
          <p:cNvPicPr>
            <a:picLocks noChangeAspect="1"/>
          </p:cNvPicPr>
          <p:nvPr/>
        </p:nvPicPr>
        <p:blipFill>
          <a:blip r:embed="rId6"/>
          <a:stretch>
            <a:fillRect/>
          </a:stretch>
        </p:blipFill>
        <p:spPr>
          <a:xfrm>
            <a:off x="3186733" y="1664208"/>
            <a:ext cx="581822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because it reads only the rows that exist and adds two columns. What would switch it: a monthly dashboard with a row for every member in every month, quiet months shown as blanks, which only D's calendar gives.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054ebe97ce9d4699.png"/>
          <p:cNvPicPr>
            <a:picLocks noChangeAspect="1"/>
          </p:cNvPicPr>
          <p:nvPr/>
        </p:nvPicPr>
        <p:blipFill>
          <a:blip r:embed="rId5"/>
          <a:stretch>
            <a:fillRect/>
          </a:stretch>
        </p:blipFill>
        <p:spPr>
          <a:xfrm>
            <a:off x="3459803" y="1956816"/>
            <a:ext cx="5272087" cy="23002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be445e52615d0647.png"/>
          <p:cNvPicPr>
            <a:picLocks noChangeAspect="1"/>
          </p:cNvPicPr>
          <p:nvPr/>
        </p:nvPicPr>
        <p:blipFill>
          <a:blip r:embed="rId5"/>
          <a:stretch>
            <a:fillRect/>
          </a:stretch>
        </p:blipFill>
        <p:spPr>
          <a:xfrm>
            <a:off x="3731266" y="1956816"/>
            <a:ext cx="4729162"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All 16 sit inside the lists this quarter, two of them in the last three places of their list, so the overlap is read from the data every time, never assumed.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cae16322f66e6210.png"/>
          <p:cNvPicPr>
            <a:picLocks noChangeAspect="1"/>
          </p:cNvPicPr>
          <p:nvPr/>
        </p:nvPicPr>
        <p:blipFill>
          <a:blip r:embed="rId5"/>
          <a:stretch>
            <a:fillRect/>
          </a:stretch>
        </p:blipFill>
        <p:spPr>
          <a:xfrm>
            <a:off x="3352647" y="1956816"/>
            <a:ext cx="5486400" cy="1557337"/>
          </a:xfrm>
          <a:prstGeom prst="rect">
            <a:avLst/>
          </a:prstGeom>
        </p:spPr>
      </p:pic>
      <p:sp>
        <p:nvSpPr>
          <p:cNvPr id="10" name="Rounded Rectangle 9"/>
          <p:cNvSpPr/>
          <p:nvPr/>
        </p:nvSpPr>
        <p:spPr>
          <a:xfrm>
            <a:off x="530352" y="36604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884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793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0880f8b546cd4842.png"/>
          <p:cNvPicPr>
            <a:picLocks noChangeAspect="1"/>
          </p:cNvPicPr>
          <p:nvPr/>
        </p:nvPicPr>
        <p:blipFill>
          <a:blip r:embed="rId5"/>
          <a:stretch>
            <a:fillRect/>
          </a:stretch>
        </p:blipFill>
        <p:spPr>
          <a:xfrm>
            <a:off x="3016891" y="1956816"/>
            <a:ext cx="6157912"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The member on holiday is one of the seven.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0861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19582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423672"/>
          </a:xfrm>
          <a:prstGeom prst="rect">
            <a:avLst/>
          </a:prstGeom>
          <a:noFill/>
        </p:spPr>
        <p:txBody>
          <a:bodyPr wrap="square" anchor="t" lIns="0" rIns="0" tIns="0" bIns="0">
            <a:spAutoFit/>
          </a:bodyPr>
          <a:lstStyle/>
          <a:p>
            <a:r>
              <a:rPr sz="1500" b="0" i="0">
                <a:solidFill>
                  <a:srgbClr val="FFFFFF"/>
                </a:solidFill>
                <a:latin typeface="Calibri"/>
              </a:rPr>
              <a:t>"Who do we ring first?"</a:t>
            </a:r>
          </a:p>
        </p:txBody>
      </p:sp>
      <p:sp>
        <p:nvSpPr>
          <p:cNvPr id="15" name="TextBox 14"/>
          <p:cNvSpPr txBox="1"/>
          <p:nvPr/>
        </p:nvSpPr>
        <p:spPr>
          <a:xfrm>
            <a:off x="530352" y="3910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nine flagged members are on a protect list. Run block c6_call_list in your own notebook and read the nine before you write the sentence to Marketing.</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sentence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465836"/>
          </a:xfrm>
          <a:prstGeom prst="rect">
            <a:avLst/>
          </a:prstGeom>
          <a:noFill/>
        </p:spPr>
        <p:txBody>
          <a:bodyPr wrap="square" anchor="t" lIns="0" rIns="0" tIns="0" bIns="0">
            <a:spAutoFit/>
          </a:bodyPr>
          <a:lstStyle/>
          <a:p>
            <a:pPr algn="l"/>
            <a:r>
              <a:rPr sz="1300" b="1" i="0">
                <a:solidFill>
                  <a:srgbClr val="FFFFFF"/>
                </a:solidFill>
                <a:latin typeface="Calibri"/>
              </a:rPr>
              <a:t>The sentences to send</a:t>
            </a:r>
          </a:p>
        </p:txBody>
      </p:sp>
      <p:sp>
        <p:nvSpPr>
          <p:cNvPr id="39" name="TextBox 38"/>
          <p:cNvSpPr txBox="1"/>
          <p:nvPr/>
        </p:nvSpPr>
        <p:spPr>
          <a:xfrm>
            <a:off x="9746040" y="503783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 the head's rule, calendar months, closed loops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six of the seven full weeks from 10 August booked below plan."</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rules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does each chapter leave Marketing's list with?</a:t>
            </a:r>
          </a:p>
        </p:txBody>
      </p:sp>
      <p:pic>
        <p:nvPicPr>
          <p:cNvPr id="9" name="mermaid diagram" descr="11811dd0a6b07bd4.png"/>
          <p:cNvPicPr>
            <a:picLocks noChangeAspect="1"/>
          </p:cNvPicPr>
          <p:nvPr/>
        </p:nvPicPr>
        <p:blipFill>
          <a:blip r:embed="rId5"/>
          <a:stretch>
            <a:fillRect/>
          </a:stretch>
        </p:blipFill>
        <p:spPr>
          <a:xfrm>
            <a:off x="530352" y="1956816"/>
            <a:ext cx="11130991" cy="822589"/>
          </a:xfrm>
          <a:prstGeom prst="rect">
            <a:avLst/>
          </a:prstGeom>
        </p:spPr>
      </p:pic>
      <p:sp>
        <p:nvSpPr>
          <p:cNvPr id="10" name="TextBox 9"/>
          <p:cNvSpPr txBox="1"/>
          <p:nvPr/>
        </p:nvSpPr>
        <p:spPr>
          <a:xfrm>
            <a:off x="530352" y="2889133"/>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2925709"/>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331093"/>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367669"/>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773053"/>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3809629"/>
            <a:ext cx="10564063" cy="627888"/>
          </a:xfrm>
          <a:prstGeom prst="rect">
            <a:avLst/>
          </a:prstGeom>
          <a:noFill/>
        </p:spPr>
        <p:txBody>
          <a:bodyPr wrap="square" anchor="t" lIns="0" rIns="0" tIns="0" bIns="0">
            <a:spAutoFit/>
          </a:bodyPr>
          <a:lstStyle/>
          <a:p>
            <a:r>
              <a:rPr sz="1500" b="0" i="0">
                <a:solidFill>
                  <a:srgbClr val="1A1440"/>
                </a:solidFill>
                <a:latin typeface="Calibri"/>
              </a:rPr>
              <a:t>RANK keeps a tie at the line, the last place a list keeps, and says the count; DENSE_RANK can run past the line with no tie at it.</a:t>
            </a:r>
          </a:p>
        </p:txBody>
      </p:sp>
      <p:sp>
        <p:nvSpPr>
          <p:cNvPr id="16" name="TextBox 15"/>
          <p:cNvSpPr txBox="1"/>
          <p:nvPr/>
        </p:nvSpPr>
        <p:spPr>
          <a:xfrm>
            <a:off x="530352" y="4474093"/>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510669"/>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916053"/>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952629"/>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358013"/>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394589"/>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decisions, from tie rules to Tuesday's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makes a running total repeatable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when the fourth and fifth tie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 RANK, DENSE_RANK and ROW_NUMBER give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f626be52d68ee89f.png"/>
          <p:cNvPicPr>
            <a:picLocks noChangeAspect="1"/>
          </p:cNvPicPr>
          <p:nvPr/>
        </p:nvPicPr>
        <p:blipFill>
          <a:blip r:embed="rId6"/>
          <a:stretch>
            <a:fillRect/>
          </a:stretch>
        </p:blipFill>
        <p:spPr>
          <a:xfrm>
            <a:off x="530352" y="3502152"/>
            <a:ext cx="11130991" cy="858395"/>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a8ecfae2913fb977.png"/>
          <p:cNvPicPr>
            <a:picLocks noChangeAspect="1"/>
          </p:cNvPicPr>
          <p:nvPr/>
        </p:nvPicPr>
        <p:blipFill>
          <a:blip r:embed="rId6"/>
          <a:stretch>
            <a:fillRect/>
          </a:stretch>
        </p:blipFill>
        <p:spPr>
          <a:xfrm>
            <a:off x="2102491" y="3243072"/>
            <a:ext cx="7986712"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