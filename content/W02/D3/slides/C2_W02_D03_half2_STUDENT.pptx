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The morning ran the three</a:t>
            </a:r>
          </a:p>
          <a:p>
            <a:r>
              <a:t>rounds one at a time; the afternoon puts them into one file Marketing acts on. The trainer's part</a:t>
            </a:r>
          </a:p>
          <a:p>
            <a:r>
              <a:t>of the afternoon is 60 minutes: the case with its debrief folded in (45), then the Kahoot and</a:t>
            </a:r>
          </a:p>
          <a:p>
            <a:r>
              <a:t>Thursday's ask (15).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case runs 45 minutes, unguided, with the debrief folded into its last ten. The brief is</a:t>
            </a:r>
          </a:p>
          <a:p>
            <a:r>
              <a:t>exercises/unguided/C2_W02_D03_marketing_case_STUDENT.md and the file the room fills is</a:t>
            </a:r>
          </a:p>
          <a:p>
            <a:r>
              <a:t>sql/C2_W02_D03_04_marketing_case_STUDENT.sql, which runs as it ships because every placeholder is</a:t>
            </a:r>
          </a:p>
          <a:p>
            <a:r>
              <a:t>a comment.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message aloud. Point out that it asks for two things the morning never</a:t>
            </a:r>
          </a:p>
          <a:p>
            <a:r>
              <a:t>produced on one screen: the flag joined to the list, and the check on the running total. The</a:t>
            </a:r>
          </a:p>
          <a:p>
            <a:r>
              <a:t>learner's role is unchanged: state the tie rule and why, and defend the flag against the member</a:t>
            </a:r>
          </a:p>
          <a:p>
            <a:r>
              <a:t>who was on holiday. Transition: the five parts.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parts once. The comment line above each step is the line Anand's</a:t>
            </a:r>
          </a:p>
          <a:p>
            <a:r>
              <a:t>analyst reads first, so it is part of the answer. Part 4 is the one hurried rooms skip.</a:t>
            </a:r>
          </a:p>
          <a:p>
            <a:r>
              <a:t>Transition: what done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on screen while the room starts. The right-hand column is what Kavya</a:t>
            </a:r>
          </a:p>
          <a:p>
            <a:r>
              <a:t>reads first. Transition: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31 minutes of unguided work, then the debrief on the next slides. Walk the room from the</a:t>
            </a:r>
          </a:p>
          <a:p>
            <a:r>
              <a:t>fifteenth minute and watch for four things, which are the debrief's four slides: a plan-first</a:t>
            </a:r>
          </a:p>
          <a:p>
            <a:r>
              <a:t>join, a count of 49, 50 or 52 in Retail-Plus, a flag that includes a member with no August order,</a:t>
            </a:r>
          </a:p>
          <a:p>
            <a:r>
              <a:t>and LAG with no PARTITION BY. Note which pairs hit which, without naming them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about 10 minutes inside the case's 45. Take each wrong answer as a number</a:t>
            </a:r>
          </a:p>
          <a:p>
            <a:r>
              <a:t>first, then the check. Nobody is named; the numbers are what the room saw.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Expect a and d: the join keeps all thirteen plan weeks, so it feels</a:t>
            </a:r>
          </a:p>
          <a:p>
            <a:r>
              <a:t>complete. The query is the hurried Part 3 several pairs wrote.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fix: accumulate the actual by day from the first Q2 order</a:t>
            </a:r>
          </a:p>
          <a:p>
            <a:r>
              <a:t>and read it at each plan week's last day, week_start + 6. Then Q2 closes at Rs 9,84,00,000 against</a:t>
            </a:r>
          </a:p>
          <a:p>
            <a:r>
              <a:t>Rs 9,83,99,990, Rs 10 ahead. The Rs 15,39,810 and Rs 15,39,820 differ by the plan's own Rs 10</a:t>
            </a:r>
          </a:p>
          <a:p>
            <a:r>
              <a:t>rounding; say so if anyone asks. Transition: what Meera reads once the total is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reading for Meera, and it is two sentences: on track by the total,</a:t>
            </a:r>
          </a:p>
          <a:p>
            <a:r>
              <a:t>off track by the run rate. Mid-quarter is the end of the seventh plan week, the week of 17 August,</a:t>
            </a:r>
          </a:p>
          <a:p>
            <a:r>
              <a:t>where Q2 had booked Rs 6,87,36,590 against a plan to date of Rs 5,29,84,610.</a:t>
            </a:r>
          </a:p>
          <a:p>
            <a:r>
              <a:t>Transition: the protect list's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one answer per count. Push each pair for the rule behind its number before</a:t>
            </a:r>
          </a:p>
          <a:p>
            <a:r>
              <a:t>revealing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RANK is the rule the head of Retail-Plus asked for. ROW_NUMBER's fifty looks</a:t>
            </a:r>
          </a:p>
          <a:p>
            <a:r>
              <a:t>right and is the dangerous one: which member at the line ships depends on the tiebreaker, so a</a:t>
            </a:r>
          </a:p>
          <a:p>
            <a:r>
              <a:t>member can be on Monday's list and off Tuesday's with the same spend. Interview [F] follow-up: your</a:t>
            </a:r>
          </a:p>
          <a:p>
            <a:r>
              <a:t>top ten came back with eleven rows; it is no bug, and the stakeholder is told the tie and the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C-0216 is the example: May, July and September, and LAG called July last month.</a:t>
            </a:r>
          </a:p>
          <a:p>
            <a:r>
              <a:t>Interview [D] for the notes: why not fill August with zero? Because every holiday month would then</a:t>
            </a:r>
          </a:p>
          <a:p>
            <a:r>
              <a:t>read as a fall to zero, accusing every member who skipped a month. Transition: the other LAG slip.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Quick, since the morning covered it. The check works on ten thousand rows as well</a:t>
            </a:r>
          </a:p>
          <a:p>
            <a:r>
              <a:t>as on ten: count rows where the lagged customer_id differs from the row's own.</a:t>
            </a:r>
          </a:p>
          <a:p>
            <a:r>
              <a:t>Transition: the sentence that goes to Marketing and Meera.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once, slowly, and ask each learner to compare it with their own Part 5:</a:t>
            </a:r>
          </a:p>
          <a:p>
            <a:r>
              <a:t>which of the three numbers did theirs carry, and which meaning did it leave out? The solution file</a:t>
            </a:r>
          </a:p>
          <a:p>
            <a:r>
              <a:t>is released now. Transition: the four lines the day comes down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the crux lines (3), the Kahoot (8), Thursday's ask (3) and the</a:t>
            </a:r>
          </a:p>
          <a:p>
            <a:r>
              <a:t>hand-over to the IITGN session, which is tentative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aloud. Ask two learners to say one each without the slide.</a:t>
            </a:r>
          </a:p>
          <a:p>
            <a:r>
              <a:t>These are the lines Saturday's paper leans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the eight items from the kahoot file. After each item, one sentence on why</a:t>
            </a:r>
          </a:p>
          <a:p>
            <a:r>
              <a:t>the popular wrong option was wrong. The Tuesday item: a LEFT join grew rows because the right side</a:t>
            </a:r>
          </a:p>
          <a:p>
            <a:r>
              <a:t>had more than one match per key; the check is the row count before and after.</a:t>
            </a:r>
          </a:p>
          <a:p>
            <a:r>
              <a:t>Transition: Thursday's 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speaker is Kalpa's platform lead. Leave the question open; do not answer it.</a:t>
            </a:r>
          </a:p>
          <a:p>
            <a:r>
              <a:t>Thursday's pre-read is preread/C2_W02_D03_preread_STUDENT.md. Point out that today's ranks and LAG</a:t>
            </a:r>
          </a:p>
          <a:p>
            <a:r>
              <a:t>return tomorrow as groupby transforms, and that today's flag becomes one of the table's columns.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trainer's row stops here, where the tentative IITGN block starts. Everything about the</a:t>
            </a:r>
          </a:p>
          <a:p>
            <a:r>
              <a:t>block is tentative, so say only what the slide says: the tentative session W2-3, 120 minutes, on</a:t>
            </a:r>
          </a:p>
          <a:p>
            <a:r>
              <a:t>errors, power and sample size. The TA-led practice lab runs after it from the practice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4.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 Id="rId6"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Marketing's Monday file, and the sentence on it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“We act on this list on Monday. Tell us the tie rule and the number of members it ships.”</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556758"/>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556758"/>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file with five named steps: the list, the flag, the plan, the check and the sentence.</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Monday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morning built, in one file, read by the people who act on it.</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"We act on this list on Monday. One file: the top fifty members by Q2 revenue in every segment, ranked the way the head of Retail-Plus asked, a column that says whether each one's spend fell in August and again in September, and the running total against the plan so Meera can see where the quarter stood at mid-quarter and where it closed. Tell us the tie rule and the number of members it ships."</a:t>
            </a:r>
          </a:p>
        </p:txBody>
      </p:sp>
      <p:sp>
        <p:nvSpPr>
          <p:cNvPr id="14" name="TextBox 13"/>
          <p:cNvSpPr txBox="1"/>
          <p:nvPr/>
        </p:nvSpPr>
        <p:spPr>
          <a:xfrm>
            <a:off x="53035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6" name="TextBox 15"/>
          <p:cNvSpPr txBox="1"/>
          <p:nvPr/>
        </p:nvSpPr>
        <p:spPr>
          <a:xfrm>
            <a:off x="53035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each ranked on its own</a:t>
            </a:r>
          </a:p>
        </p:txBody>
      </p:sp>
      <p:sp>
        <p:nvSpPr>
          <p:cNvPr id="17" name="Rectangle 16"/>
          <p:cNvSpPr/>
          <p:nvPr/>
        </p:nvSpPr>
        <p:spPr>
          <a:xfrm>
            <a:off x="53035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9" name="TextBox 18"/>
          <p:cNvSpPr txBox="1"/>
          <p:nvPr/>
        </p:nvSpPr>
        <p:spPr>
          <a:xfrm>
            <a:off x="433212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a:t>
            </a:r>
          </a:p>
        </p:txBody>
      </p:sp>
      <p:sp>
        <p:nvSpPr>
          <p:cNvPr id="20" name="TextBox 19"/>
          <p:cNvSpPr txBox="1"/>
          <p:nvPr/>
        </p:nvSpPr>
        <p:spPr>
          <a:xfrm>
            <a:off x="433212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July, August, September</a:t>
            </a:r>
          </a:p>
        </p:txBody>
      </p:sp>
      <p:sp>
        <p:nvSpPr>
          <p:cNvPr id="21" name="Rectangle 20"/>
          <p:cNvSpPr/>
          <p:nvPr/>
        </p:nvSpPr>
        <p:spPr>
          <a:xfrm>
            <a:off x="433212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13</a:t>
            </a:r>
          </a:p>
        </p:txBody>
      </p:sp>
      <p:sp>
        <p:nvSpPr>
          <p:cNvPr id="23" name="TextBox 22"/>
          <p:cNvSpPr txBox="1"/>
          <p:nvPr/>
        </p:nvSpPr>
        <p:spPr>
          <a:xfrm>
            <a:off x="813389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24" name="TextBox 23"/>
          <p:cNvSpPr txBox="1"/>
          <p:nvPr/>
        </p:nvSpPr>
        <p:spPr>
          <a:xfrm>
            <a:off x="813389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25" name="Rectangle 24"/>
          <p:cNvSpPr/>
          <p:nvPr/>
        </p:nvSpPr>
        <p:spPr>
          <a:xfrm>
            <a:off x="813389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0" name="Oval 29"/>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each a named step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a CTE with one comment line above it: the question it answers and its denominator.</a:t>
            </a:r>
          </a:p>
        </p:txBody>
      </p:sp>
      <p:sp>
        <p:nvSpPr>
          <p:cNvPr id="9" name="Rounded Rectangle 8"/>
          <p:cNvSpPr/>
          <p:nvPr/>
        </p:nvSpPr>
        <p:spPr>
          <a:xfrm>
            <a:off x="530352"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741566"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4" name="TextBox 13"/>
          <p:cNvSpPr txBox="1"/>
          <p:nvPr/>
        </p:nvSpPr>
        <p:spPr>
          <a:xfrm>
            <a:off x="731519"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protect list</a:t>
            </a:r>
          </a:p>
        </p:txBody>
      </p:sp>
      <p:sp>
        <p:nvSpPr>
          <p:cNvPr id="15" name="TextBox 14"/>
          <p:cNvSpPr txBox="1"/>
          <p:nvPr/>
        </p:nvSpPr>
        <p:spPr>
          <a:xfrm>
            <a:off x="731519"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The top fifty by Q2 booked revenue in each segment, ties ranked the same.</a:t>
            </a:r>
          </a:p>
        </p:txBody>
      </p:sp>
      <p:sp>
        <p:nvSpPr>
          <p:cNvPr id="16" name="Rounded Rectangle 15"/>
          <p:cNvSpPr/>
          <p:nvPr/>
        </p:nvSpPr>
        <p:spPr>
          <a:xfrm>
            <a:off x="2793126"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4340"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ending-down_69bb86911a18.png"/>
          <p:cNvPicPr>
            <a:picLocks noChangeAspect="1"/>
          </p:cNvPicPr>
          <p:nvPr/>
        </p:nvPicPr>
        <p:blipFill>
          <a:blip r:embed="rId5"/>
          <a:stretch>
            <a:fillRect/>
          </a:stretch>
        </p:blipFill>
        <p:spPr>
          <a:xfrm>
            <a:off x="3104022" y="2267712"/>
            <a:ext cx="237744" cy="237744"/>
          </a:xfrm>
          <a:prstGeom prst="rect">
            <a:avLst/>
          </a:prstGeom>
        </p:spPr>
      </p:pic>
      <p:sp>
        <p:nvSpPr>
          <p:cNvPr id="20" name="TextBox 19"/>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1" name="TextBox 20"/>
          <p:cNvSpPr txBox="1"/>
          <p:nvPr/>
        </p:nvSpPr>
        <p:spPr>
          <a:xfrm>
            <a:off x="2994294"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22" name="TextBox 21"/>
          <p:cNvSpPr txBox="1"/>
          <p:nvPr/>
        </p:nvSpPr>
        <p:spPr>
          <a:xfrm>
            <a:off x="2994294"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Listed members who spent less in August than July, and less again in September.</a:t>
            </a:r>
          </a:p>
        </p:txBody>
      </p:sp>
      <p:sp>
        <p:nvSpPr>
          <p:cNvPr id="23" name="Rounded Rectangle 22"/>
          <p:cNvSpPr/>
          <p:nvPr/>
        </p:nvSpPr>
        <p:spPr>
          <a:xfrm>
            <a:off x="5055900"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7114"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target_975d45d39ce7.png"/>
          <p:cNvPicPr>
            <a:picLocks noChangeAspect="1"/>
          </p:cNvPicPr>
          <p:nvPr/>
        </p:nvPicPr>
        <p:blipFill>
          <a:blip r:embed="rId6"/>
          <a:stretch>
            <a:fillRect/>
          </a:stretch>
        </p:blipFill>
        <p:spPr>
          <a:xfrm>
            <a:off x="5366796" y="2267712"/>
            <a:ext cx="237744" cy="237744"/>
          </a:xfrm>
          <a:prstGeom prst="rect">
            <a:avLst/>
          </a:prstGeom>
        </p:spPr>
      </p:pic>
      <p:sp>
        <p:nvSpPr>
          <p:cNvPr id="27" name="TextBox 26"/>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28" name="TextBox 27"/>
          <p:cNvSpPr txBox="1"/>
          <p:nvPr/>
        </p:nvSpPr>
        <p:spPr>
          <a:xfrm>
            <a:off x="5257068"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Against plan</a:t>
            </a:r>
          </a:p>
        </p:txBody>
      </p:sp>
      <p:sp>
        <p:nvSpPr>
          <p:cNvPr id="29" name="TextBox 28"/>
          <p:cNvSpPr txBox="1"/>
          <p:nvPr/>
        </p:nvSpPr>
        <p:spPr>
          <a:xfrm>
            <a:off x="5257068"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Booked to date against plan to date, at the end of each plan week.</a:t>
            </a:r>
          </a:p>
        </p:txBody>
      </p:sp>
      <p:sp>
        <p:nvSpPr>
          <p:cNvPr id="30" name="Rounded Rectangle 29"/>
          <p:cNvSpPr/>
          <p:nvPr/>
        </p:nvSpPr>
        <p:spPr>
          <a:xfrm>
            <a:off x="7318674"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52988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32" name="Oval 31"/>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cale_b0ee069e815e.png"/>
          <p:cNvPicPr>
            <a:picLocks noChangeAspect="1"/>
          </p:cNvPicPr>
          <p:nvPr/>
        </p:nvPicPr>
        <p:blipFill>
          <a:blip r:embed="rId7"/>
          <a:stretch>
            <a:fillRect/>
          </a:stretch>
        </p:blipFill>
        <p:spPr>
          <a:xfrm>
            <a:off x="7629570" y="2267712"/>
            <a:ext cx="237744" cy="237744"/>
          </a:xfrm>
          <a:prstGeom prst="rect">
            <a:avLst/>
          </a:prstGeom>
        </p:spPr>
      </p:pic>
      <p:sp>
        <p:nvSpPr>
          <p:cNvPr id="34" name="TextBox 33"/>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5" name="TextBox 34"/>
          <p:cNvSpPr txBox="1"/>
          <p:nvPr/>
        </p:nvSpPr>
        <p:spPr>
          <a:xfrm>
            <a:off x="7519842"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check</a:t>
            </a:r>
          </a:p>
        </p:txBody>
      </p:sp>
      <p:sp>
        <p:nvSpPr>
          <p:cNvPr id="36" name="TextBox 35"/>
          <p:cNvSpPr txBox="1"/>
          <p:nvPr/>
        </p:nvSpPr>
        <p:spPr>
          <a:xfrm>
            <a:off x="7519842"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The last booked-to-date against Monday's Q2 total of Rs 9,84,00,000.</a:t>
            </a:r>
          </a:p>
        </p:txBody>
      </p:sp>
      <p:sp>
        <p:nvSpPr>
          <p:cNvPr id="37" name="Rounded Rectangle 36"/>
          <p:cNvSpPr/>
          <p:nvPr/>
        </p:nvSpPr>
        <p:spPr>
          <a:xfrm>
            <a:off x="9581448" y="1956816"/>
            <a:ext cx="2079894"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5</a:t>
            </a:r>
          </a:p>
        </p:txBody>
      </p:sp>
      <p:sp>
        <p:nvSpPr>
          <p:cNvPr id="39" name="Oval 38"/>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8"/>
          <a:stretch>
            <a:fillRect/>
          </a:stretch>
        </p:blipFill>
        <p:spPr>
          <a:xfrm>
            <a:off x="9892344" y="2267712"/>
            <a:ext cx="237744" cy="237744"/>
          </a:xfrm>
          <a:prstGeom prst="rect">
            <a:avLst/>
          </a:prstGeom>
        </p:spPr>
      </p:pic>
      <p:sp>
        <p:nvSpPr>
          <p:cNvPr id="41" name="TextBox 40"/>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Three sentences for Marketing and Meera: the rule, the flag, the plan.</a:t>
            </a:r>
          </a:p>
        </p:txBody>
      </p:sp>
      <p:sp>
        <p:nvSpPr>
          <p:cNvPr id="44" name="Oval 4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8" name="Oval 4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done when its result carries the check that proves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914400"/>
                <a:gridCol w="5265039"/>
                <a:gridCol w="4951551"/>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it returns</a:t>
                      </a:r>
                    </a:p>
                  </a:txBody>
                  <a:tcPr marL="101600" marR="101600" marT="38100" marB="38100" anchor="ctr">
                    <a:solidFill>
                      <a:srgbClr val="1A0F5C"/>
                    </a:solidFill>
                  </a:tcPr>
                </a:tc>
                <a:tc>
                  <a:txBody>
                    <a:bodyPr/>
                    <a:lstStyle/>
                    <a:p>
                      <a:r>
                        <a:rPr sz="1450" b="1" i="0">
                          <a:solidFill>
                            <a:srgbClr val="FFFFFF"/>
                          </a:solidFill>
                          <a:latin typeface="Calibri"/>
                        </a:rPr>
                        <a:t>The check it carries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Members per segment and the last position</a:t>
                      </a:r>
                    </a:p>
                  </a:txBody>
                  <a:tcPr marL="101600" marR="101600" marT="38100" marB="38100" anchor="ctr">
                    <a:solidFill>
                      <a:srgbClr val="FFFFFF"/>
                    </a:solidFill>
                  </a:tcPr>
                </a:tc>
                <a:tc>
                  <a:txBody>
                    <a:bodyPr/>
                    <a:lstStyle/>
                    <a:p>
                      <a:r>
                        <a:rPr sz="1400" b="0" i="0">
                          <a:solidFill>
                            <a:srgbClr val="1A1440"/>
                          </a:solidFill>
                          <a:latin typeface="Calibri"/>
                        </a:rPr>
                        <a:t>The count per segment, stated with its reason</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flagged members with segment and position</a:t>
                      </a:r>
                    </a:p>
                  </a:txBody>
                  <a:tcPr marL="101600" marR="101600" marT="38100" marB="38100" anchor="ctr">
                    <a:solidFill>
                      <a:srgbClr val="F4F2FA"/>
                    </a:solidFill>
                  </a:tcPr>
                </a:tc>
                <a:tc>
                  <a:txBody>
                    <a:bodyPr/>
                    <a:lstStyle/>
                    <a:p>
                      <a:r>
                        <a:rPr sz="1400" b="0" i="0">
                          <a:solidFill>
                            <a:srgbClr val="1A1440"/>
                          </a:solidFill>
                          <a:latin typeface="Calibri"/>
                        </a:rPr>
                        <a:t>A member with a skipped month is off the flag</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Thirteen rows of plan to date and booked to date</a:t>
                      </a:r>
                    </a:p>
                  </a:txBody>
                  <a:tcPr marL="101600" marR="101600" marT="38100" marB="38100" anchor="ctr">
                    <a:solidFill>
                      <a:srgbClr val="FFFFFF"/>
                    </a:solidFill>
                  </a:tcPr>
                </a:tc>
                <a:tc>
                  <a:txBody>
                    <a:bodyPr/>
                    <a:lstStyle/>
                    <a:p>
                      <a:r>
                        <a:rPr sz="1400" b="0" i="0">
                          <a:solidFill>
                            <a:srgbClr val="1A1440"/>
                          </a:solidFill>
                          <a:latin typeface="Calibri"/>
                        </a:rPr>
                        <a:t>Both columns accumulate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close against Monday's total</a:t>
                      </a:r>
                    </a:p>
                  </a:txBody>
                  <a:tcPr marL="101600" marR="101600" marT="38100" marB="38100" anchor="ctr">
                    <a:solidFill>
                      <a:srgbClr val="F4F2FA"/>
                    </a:solidFill>
                  </a:tcPr>
                </a:tc>
                <a:tc>
                  <a:txBody>
                    <a:bodyPr/>
                    <a:lstStyle/>
                    <a:p>
                      <a:r>
                        <a:rPr sz="1400" b="0" i="0">
                          <a:solidFill>
                            <a:srgbClr val="1A1440"/>
                          </a:solidFill>
                          <a:latin typeface="Calibri"/>
                        </a:rPr>
                        <a:t>The two numbers are equal to the rupee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Three sentences in a comment</a:t>
                      </a:r>
                    </a:p>
                  </a:txBody>
                  <a:tcPr marL="101600" marR="101600" marT="38100" marB="38100" anchor="ctr">
                    <a:solidFill>
                      <a:srgbClr val="FFFFFF"/>
                    </a:solidFill>
                  </a:tcPr>
                </a:tc>
                <a:tc>
                  <a:txBody>
                    <a:bodyPr/>
                    <a:lstStyle/>
                    <a:p>
                      <a:r>
                        <a:rPr sz="1400" b="0" i="0">
                          <a:solidFill>
                            <a:srgbClr val="1A1440"/>
                          </a:solidFill>
                          <a:latin typeface="Calibri"/>
                        </a:rPr>
                        <a:t>Each carries a number and what it means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Forty-five minutes, parts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four-minute brief, thirty-one minutes on the five parts, then ten minutes of debrief on what the room found.</a:t>
            </a:r>
          </a:p>
        </p:txBody>
      </p:sp>
      <p:sp>
        <p:nvSpPr>
          <p:cNvPr id="9" name="Rectangle 8"/>
          <p:cNvSpPr/>
          <p:nvPr/>
        </p:nvSpPr>
        <p:spPr>
          <a:xfrm>
            <a:off x="530352" y="1956816"/>
            <a:ext cx="989421"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Brief</a:t>
            </a:r>
          </a:p>
        </p:txBody>
      </p:sp>
      <p:sp>
        <p:nvSpPr>
          <p:cNvPr id="10" name="TextBox 9"/>
          <p:cNvSpPr txBox="1"/>
          <p:nvPr/>
        </p:nvSpPr>
        <p:spPr>
          <a:xfrm>
            <a:off x="530352" y="2487168"/>
            <a:ext cx="989421"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11" name="Rectangle 10"/>
          <p:cNvSpPr/>
          <p:nvPr/>
        </p:nvSpPr>
        <p:spPr>
          <a:xfrm>
            <a:off x="1519773" y="1956816"/>
            <a:ext cx="3215619"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1 and 2</a:t>
            </a:r>
          </a:p>
        </p:txBody>
      </p:sp>
      <p:sp>
        <p:nvSpPr>
          <p:cNvPr id="12" name="TextBox 11"/>
          <p:cNvSpPr txBox="1"/>
          <p:nvPr/>
        </p:nvSpPr>
        <p:spPr>
          <a:xfrm>
            <a:off x="1519773" y="2487168"/>
            <a:ext cx="3215619" cy="176911"/>
          </a:xfrm>
          <a:prstGeom prst="rect">
            <a:avLst/>
          </a:prstGeom>
          <a:noFill/>
        </p:spPr>
        <p:txBody>
          <a:bodyPr wrap="square" anchor="t" lIns="0" rIns="0" tIns="0" bIns="0">
            <a:spAutoFit/>
          </a:bodyPr>
          <a:lstStyle/>
          <a:p>
            <a:pPr algn="ctr"/>
            <a:r>
              <a:rPr sz="850" b="0" i="0">
                <a:solidFill>
                  <a:srgbClr val="6B6690"/>
                </a:solidFill>
                <a:latin typeface="Calibri"/>
              </a:rPr>
              <a:t>13 minutes</a:t>
            </a:r>
          </a:p>
        </p:txBody>
      </p:sp>
      <p:sp>
        <p:nvSpPr>
          <p:cNvPr id="13" name="Rectangle 12"/>
          <p:cNvSpPr/>
          <p:nvPr/>
        </p:nvSpPr>
        <p:spPr>
          <a:xfrm>
            <a:off x="4735393" y="1956816"/>
            <a:ext cx="2226198"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 3</a:t>
            </a:r>
          </a:p>
        </p:txBody>
      </p:sp>
      <p:sp>
        <p:nvSpPr>
          <p:cNvPr id="14" name="TextBox 13"/>
          <p:cNvSpPr txBox="1"/>
          <p:nvPr/>
        </p:nvSpPr>
        <p:spPr>
          <a:xfrm>
            <a:off x="4735393"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5" name="Rectangle 14"/>
          <p:cNvSpPr/>
          <p:nvPr/>
        </p:nvSpPr>
        <p:spPr>
          <a:xfrm>
            <a:off x="6961591" y="1956816"/>
            <a:ext cx="2226198"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4 and 5</a:t>
            </a:r>
          </a:p>
        </p:txBody>
      </p:sp>
      <p:sp>
        <p:nvSpPr>
          <p:cNvPr id="16" name="TextBox 15"/>
          <p:cNvSpPr txBox="1"/>
          <p:nvPr/>
        </p:nvSpPr>
        <p:spPr>
          <a:xfrm>
            <a:off x="6961591"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7" name="Rectangle 16"/>
          <p:cNvSpPr/>
          <p:nvPr/>
        </p:nvSpPr>
        <p:spPr>
          <a:xfrm>
            <a:off x="9187789" y="1956816"/>
            <a:ext cx="2473553" cy="457200"/>
          </a:xfrm>
          <a:prstGeom prst="rect">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Debrief</a:t>
            </a:r>
          </a:p>
        </p:txBody>
      </p:sp>
      <p:sp>
        <p:nvSpPr>
          <p:cNvPr id="18" name="TextBox 17"/>
          <p:cNvSpPr txBox="1"/>
          <p:nvPr/>
        </p:nvSpPr>
        <p:spPr>
          <a:xfrm>
            <a:off x="9187789" y="2487168"/>
            <a:ext cx="2473553" cy="176911"/>
          </a:xfrm>
          <a:prstGeom prst="rect">
            <a:avLst/>
          </a:prstGeom>
          <a:noFill/>
        </p:spPr>
        <p:txBody>
          <a:bodyPr wrap="square" anchor="t" lIns="0" rIns="0" tIns="0" bIns="0">
            <a:spAutoFit/>
          </a:bodyPr>
          <a:lstStyle/>
          <a:p>
            <a:pPr algn="ctr"/>
            <a:r>
              <a:rPr sz="850" b="0" i="0">
                <a:solidFill>
                  <a:srgbClr val="6B6690"/>
                </a:solidFill>
                <a:latin typeface="Calibri"/>
              </a:rPr>
              <a:t>10 minutes</a:t>
            </a:r>
          </a:p>
        </p:txBody>
      </p:sp>
      <p:sp>
        <p:nvSpPr>
          <p:cNvPr id="19" name="TextBox 18"/>
          <p:cNvSpPr txBox="1"/>
          <p:nvPr/>
        </p:nvSpPr>
        <p:spPr>
          <a:xfrm>
            <a:off x="530352" y="29169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The morning's three SQL files and notebooks are open to you, and the solution is released at the close.</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4" name="Oval 2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is likely to ship, each with the number it produces and the check.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plan-first running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from plan_line, LEFT JOIN weekly revenue on date_trunc('week'), and accumulate both sides.</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hurried AS (</a:t>
            </a:r>
          </a:p>
          <a:p>
            <a:pPr>
              <a:spcAft>
                <a:spcPts val="200"/>
              </a:spcAft>
            </a:pPr>
            <a:r>
              <a:rPr sz="1400" b="0" i="0">
                <a:solidFill>
                  <a:srgbClr val="E4E1F1"/>
                </a:solidFill>
                <a:latin typeface="Consolas"/>
              </a:rPr>
              <a:t>    SELECT p.week_start,</a:t>
            </a:r>
          </a:p>
          <a:p>
            <a:pPr>
              <a:spcAft>
                <a:spcPts val="200"/>
              </a:spcAft>
            </a:pPr>
            <a:r>
              <a:rPr sz="1400" b="0" i="0">
                <a:solidFill>
                  <a:srgbClr val="E4E1F1"/>
                </a:solidFill>
                <a:latin typeface="Consolas"/>
              </a:rPr>
              <a:t>           sum(w.booked)       OVER (ORDER BY p.week_start) AS booked_to_date,</a:t>
            </a:r>
          </a:p>
          <a:p>
            <a:pPr>
              <a:spcAft>
                <a:spcPts val="200"/>
              </a:spcAft>
            </a:pPr>
            <a:r>
              <a:rPr sz="1400" b="0" i="0">
                <a:solidFill>
                  <a:srgbClr val="E4E1F1"/>
                </a:solidFill>
                <a:latin typeface="Consolas"/>
              </a:rPr>
              <a:t>           sum(p.plan_revenue) OVER (ORDER BY p.week_start) AS plan_to_date</a:t>
            </a:r>
          </a:p>
          <a:p>
            <a:pPr>
              <a:spcAft>
                <a:spcPts val="200"/>
              </a:spcAft>
            </a:pPr>
            <a:r>
              <a:rPr sz="1400" b="0" i="0">
                <a:solidFill>
                  <a:srgbClr val="E4E1F1"/>
                </a:solidFill>
                <a:latin typeface="Consolas"/>
              </a:rPr>
              <a:t>    FROM   plan_line p</a:t>
            </a:r>
          </a:p>
          <a:p>
            <a:pPr>
              <a:spcAft>
                <a:spcPts val="200"/>
              </a:spcAft>
            </a:pPr>
            <a:r>
              <a:rPr sz="1400" b="0" i="0">
                <a:solidFill>
                  <a:srgbClr val="E4E1F1"/>
                </a:solidFill>
                <a:latin typeface="Consolas"/>
              </a:rPr>
              <a:t>    LEFT JOIN weekly w ON w.week_start = p.week_start</a:t>
            </a:r>
          </a:p>
          <a:p>
            <a:pPr>
              <a:spcAft>
                <a:spcPts val="200"/>
              </a:spcAft>
            </a:pPr>
            <a:r>
              <a:rPr sz="1400" b="0" i="0">
                <a:solidFill>
                  <a:srgbClr val="E4E1F1"/>
                </a:solidFill>
                <a:latin typeface="Consolas"/>
              </a:rPr>
              <a: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Thirteen rows, thirteen numbers. Where does booked to date close? a) Rs 9,84,00,000, Monday's total; b) Rs 9,68,60,180; c) Rs 9,83,99,990, the plan; d) it cannot close, a LEFT JOIN drops no rows.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15,39,820 fell out before week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orders start on 1 July and the plan starts on 6 July, so the week of 29 June has no plan row.</a:t>
            </a:r>
          </a:p>
        </p:txBody>
      </p:sp>
      <p:pic>
        <p:nvPicPr>
          <p:cNvPr id="9" name="mermaid diagram" descr="73d24c5273fe3b87.png"/>
          <p:cNvPicPr>
            <a:picLocks noChangeAspect="1"/>
          </p:cNvPicPr>
          <p:nvPr/>
        </p:nvPicPr>
        <p:blipFill>
          <a:blip r:embed="rId6"/>
          <a:stretch>
            <a:fillRect/>
          </a:stretch>
        </p:blipFill>
        <p:spPr>
          <a:xfrm>
            <a:off x="1166660" y="1956816"/>
            <a:ext cx="9858375"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Meera would be told Q2 missed plan by Rs 15,39,810 when it landed on it. The check is Part 4: the last booked-to-date must equal Monday's Rs 9,84,00,000, and this one is Rs 15,39,820 short.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run rate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quarter closed Rs 10 ahead, and its lead came from one week in July.</a:t>
            </a:r>
          </a:p>
        </p:txBody>
      </p:sp>
      <p:pic>
        <p:nvPicPr>
          <p:cNvPr id="9" name="mermaid diagram" descr="33720ee511043066.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2,16,69,660</a:t>
            </a:r>
          </a:p>
        </p:txBody>
      </p:sp>
      <p:sp>
        <p:nvSpPr>
          <p:cNvPr id="11" name="TextBox 10"/>
          <p:cNvSpPr txBox="1"/>
          <p:nvPr/>
        </p:nvSpPr>
        <p:spPr>
          <a:xfrm>
            <a:off x="53035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PEAK LEAD</a:t>
            </a:r>
          </a:p>
        </p:txBody>
      </p:sp>
      <p:sp>
        <p:nvSpPr>
          <p:cNvPr id="12" name="TextBox 11"/>
          <p:cNvSpPr txBox="1"/>
          <p:nvPr/>
        </p:nvSpPr>
        <p:spPr>
          <a:xfrm>
            <a:off x="53035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week of 3 August</a:t>
            </a:r>
          </a:p>
        </p:txBody>
      </p:sp>
      <p:sp>
        <p:nvSpPr>
          <p:cNvPr id="13" name="Rectangle 12"/>
          <p:cNvSpPr/>
          <p:nvPr/>
        </p:nvSpPr>
        <p:spPr>
          <a:xfrm>
            <a:off x="53035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5" name="TextBox 14"/>
          <p:cNvSpPr txBox="1"/>
          <p:nvPr/>
        </p:nvSpPr>
        <p:spPr>
          <a:xfrm>
            <a:off x="433212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MID-QUARTER LEAD</a:t>
            </a:r>
          </a:p>
        </p:txBody>
      </p:sp>
      <p:sp>
        <p:nvSpPr>
          <p:cNvPr id="16" name="TextBox 15"/>
          <p:cNvSpPr txBox="1"/>
          <p:nvPr/>
        </p:nvSpPr>
        <p:spPr>
          <a:xfrm>
            <a:off x="433212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seventh plan week</a:t>
            </a:r>
          </a:p>
        </p:txBody>
      </p:sp>
      <p:sp>
        <p:nvSpPr>
          <p:cNvPr id="17" name="Rectangle 16"/>
          <p:cNvSpPr/>
          <p:nvPr/>
        </p:nvSpPr>
        <p:spPr>
          <a:xfrm>
            <a:off x="433212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9" name="TextBox 18"/>
          <p:cNvSpPr txBox="1"/>
          <p:nvPr/>
        </p:nvSpPr>
        <p:spPr>
          <a:xfrm>
            <a:off x="813389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WEEKS BELOW PLAN</a:t>
            </a:r>
          </a:p>
        </p:txBody>
      </p:sp>
      <p:sp>
        <p:nvSpPr>
          <p:cNvPr id="20" name="TextBox 19"/>
          <p:cNvSpPr txBox="1"/>
          <p:nvPr/>
        </p:nvSpPr>
        <p:spPr>
          <a:xfrm>
            <a:off x="813389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from 10 August, against Rs 75,69,230 a week</a:t>
            </a:r>
          </a:p>
        </p:txBody>
      </p:sp>
      <p:sp>
        <p:nvSpPr>
          <p:cNvPr id="21" name="Rectangle 20"/>
          <p:cNvSpPr/>
          <p:nvPr/>
        </p:nvSpPr>
        <p:spPr>
          <a:xfrm>
            <a:off x="813389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members ship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counts came back from the room for the same segment and the same fifty.</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49</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ONE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one pair's file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TWO</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51</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THREE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FOUR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count answers the head of Retail-Plus, and which rule produced each of the others?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32" name="Oval 3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RANK's count, and the line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four counts came from four rules, and the one to ship is the count RANK returned.</a:t>
            </a:r>
          </a:p>
        </p:txBody>
      </p:sp>
      <p:graphicFrame>
        <p:nvGraphicFramePr>
          <p:cNvPr id="9" name="Table 8"/>
          <p:cNvGraphicFramePr>
            <a:graphicFrameLocks noGrp="1"/>
          </p:cNvGraphicFramePr>
          <p:nvPr/>
        </p:nvGraphicFramePr>
        <p:xfrm>
          <a:off x="530352" y="1956816"/>
          <a:ext cx="11130989" cy="2574544"/>
        </p:xfrm>
        <a:graphic>
          <a:graphicData uri="http://schemas.openxmlformats.org/drawingml/2006/table">
            <a:tbl>
              <a:tblPr firstRow="0" bandRow="0">
                <a:tableStyleId>{2D5ABB26-0587-4C30-8999-92F81FD0307C}</a:tableStyleId>
              </a:tblPr>
              <a:tblGrid>
                <a:gridCol w="2498621"/>
                <a:gridCol w="2169533"/>
                <a:gridCol w="6462835"/>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The room's count</a:t>
                      </a:r>
                    </a:p>
                  </a:txBody>
                  <a:tcPr marL="101600" marR="101600" marT="38100" marB="38100" anchor="ctr">
                    <a:solidFill>
                      <a:srgbClr val="1A0F5C"/>
                    </a:solidFill>
                  </a:tcPr>
                </a:tc>
                <a:tc>
                  <a:txBody>
                    <a:bodyPr/>
                    <a:lstStyle/>
                    <a:p>
                      <a:r>
                        <a:rPr sz="1450" b="1" i="0">
                          <a:solidFill>
                            <a:srgbClr val="FFFFFF"/>
                          </a:solidFill>
                          <a:latin typeface="Calibri"/>
                        </a:rPr>
                        <a:t>What the rule did at the line, in the room's files</a:t>
                      </a:r>
                    </a:p>
                  </a:txBody>
                  <a:tcPr marL="101600" marR="101600" marT="38100" marB="38100" anchor="ctr">
                    <a:solidFill>
                      <a:srgbClr val="1A0F5C"/>
                    </a:solidFill>
                  </a:tcPr>
                </a:tc>
              </a:tr>
              <a:tr h="611632">
                <a:tc>
                  <a:txBody>
                    <a:bodyPr/>
                    <a:lstStyle/>
                    <a:p>
                      <a:r>
                        <a:rPr sz="1400" b="0" i="0">
                          <a:solidFill>
                            <a:srgbClr val="1A1440"/>
                          </a:solidFill>
                          <a:latin typeface="Calibri"/>
                        </a:rPr>
                        <a:t>RANK at most 50</a:t>
                      </a:r>
                    </a:p>
                  </a:txBody>
                  <a:tcPr marL="101600" marR="101600" marT="38100" marB="38100" anchor="ctr">
                    <a:solidFill>
                      <a:srgbClr val="FFFFFF"/>
                    </a:solidFill>
                  </a:tcPr>
                </a:tc>
                <a:tc>
                  <a:txBody>
                    <a:bodyPr/>
                    <a:lstStyle/>
                    <a:p>
                      <a:r>
                        <a:rPr sz="1400" b="0" i="0">
                          <a:solidFill>
                            <a:srgbClr val="1A1440"/>
                          </a:solidFill>
                          <a:latin typeface="Calibri"/>
                        </a:rPr>
                        <a:t>51</a:t>
                      </a:r>
                    </a:p>
                  </a:txBody>
                  <a:tcPr marL="101600" marR="101600" marT="38100" marB="38100" anchor="ctr">
                    <a:solidFill>
                      <a:srgbClr val="FFFFFF"/>
                    </a:solidFill>
                  </a:tcPr>
                </a:tc>
                <a:tc>
                  <a:txBody>
                    <a:bodyPr/>
                    <a:lstStyle/>
                    <a:p>
                      <a:r>
                        <a:rPr sz="1400" b="0" i="0">
                          <a:solidFill>
                            <a:srgbClr val="1A1440"/>
                          </a:solidFill>
                          <a:latin typeface="Calibri"/>
                        </a:rPr>
                        <a:t>Every member sharing the last position kept, which is what the head asked</a:t>
                      </a:r>
                    </a:p>
                  </a:txBody>
                  <a:tcPr marL="101600" marR="101600" marT="38100" marB="38100" anchor="ctr">
                    <a:solidFill>
                      <a:srgbClr val="FFFFFF"/>
                    </a:solidFill>
                  </a:tcPr>
                </a:tc>
              </a:tr>
              <a:tr h="611632">
                <a:tc>
                  <a:txBody>
                    <a:bodyPr/>
                    <a:lstStyle/>
                    <a:p>
                      <a:r>
                        <a:rPr sz="1400" b="0" i="0">
                          <a:solidFill>
                            <a:srgbClr val="1A1440"/>
                          </a:solidFill>
                          <a:latin typeface="Calibri"/>
                        </a:rPr>
                        <a:t>Whole ties only</a:t>
                      </a:r>
                    </a:p>
                  </a:txBody>
                  <a:tcPr marL="101600" marR="101600" marT="38100" marB="38100" anchor="ctr">
                    <a:solidFill>
                      <a:srgbClr val="F4F2FA"/>
                    </a:solidFill>
                  </a:tcPr>
                </a:tc>
                <a:tc>
                  <a:txBody>
                    <a:bodyPr/>
                    <a:lstStyle/>
                    <a:p>
                      <a:r>
                        <a:rPr sz="1400" b="0" i="0">
                          <a:solidFill>
                            <a:srgbClr val="1A1440"/>
                          </a:solidFill>
                          <a:latin typeface="Calibri"/>
                        </a:rPr>
                        <a:t>49</a:t>
                      </a:r>
                    </a:p>
                  </a:txBody>
                  <a:tcPr marL="101600" marR="101600" marT="38100" marB="38100" anchor="ctr">
                    <a:solidFill>
                      <a:srgbClr val="F4F2FA"/>
                    </a:solidFill>
                  </a:tcPr>
                </a:tc>
                <a:tc>
                  <a:txBody>
                    <a:bodyPr/>
                    <a:lstStyle/>
                    <a:p>
                      <a:r>
                        <a:rPr sz="1400" b="0" i="0">
                          <a:solidFill>
                            <a:srgbClr val="1A1440"/>
                          </a:solidFill>
                          <a:latin typeface="Calibri"/>
                        </a:rPr>
                        <a:t>The members sharing the last position all dropped, the forty-nine he forbade</a:t>
                      </a:r>
                    </a:p>
                  </a:txBody>
                  <a:tcPr marL="101600" marR="101600" marT="38100" marB="38100" anchor="ctr">
                    <a:solidFill>
                      <a:srgbClr val="F4F2FA"/>
                    </a:solidFill>
                  </a:tcPr>
                </a:tc>
              </a:tr>
              <a:tr h="369824">
                <a:tc>
                  <a:txBody>
                    <a:bodyPr/>
                    <a:lstStyle/>
                    <a:p>
                      <a:r>
                        <a:rPr sz="1400" b="0" i="0">
                          <a:solidFill>
                            <a:srgbClr val="1A1440"/>
                          </a:solidFill>
                          <a:latin typeface="Calibri"/>
                        </a:rPr>
                        <a:t>ROW_NUMBER at most 50</a:t>
                      </a:r>
                    </a:p>
                  </a:txBody>
                  <a:tcPr marL="101600" marR="101600" marT="38100" marB="38100" anchor="ctr">
                    <a:solidFill>
                      <a:srgbClr val="FFFFFF"/>
                    </a:solidFill>
                  </a:tcPr>
                </a:tc>
                <a:tc>
                  <a:txBody>
                    <a:bodyPr/>
                    <a:lstStyle/>
                    <a:p>
                      <a:r>
                        <a:rPr sz="1400" b="0" i="0">
                          <a:solidFill>
                            <a:srgbClr val="1A1440"/>
                          </a:solidFill>
                          <a:latin typeface="Calibri"/>
                        </a:rPr>
                        <a:t>50</a:t>
                      </a:r>
                    </a:p>
                  </a:txBody>
                  <a:tcPr marL="101600" marR="101600" marT="38100" marB="38100" anchor="ctr">
                    <a:solidFill>
                      <a:srgbClr val="FFFFFF"/>
                    </a:solidFill>
                  </a:tcPr>
                </a:tc>
                <a:tc>
                  <a:txBody>
                    <a:bodyPr/>
                    <a:lstStyle/>
                    <a:p>
                      <a:r>
                        <a:rPr sz="1400" b="0" i="0">
                          <a:solidFill>
                            <a:srgbClr val="1A1440"/>
                          </a:solidFill>
                          <a:latin typeface="Calibri"/>
                        </a:rPr>
                        <a:t>One member at the last position dropped by the database's choice</a:t>
                      </a:r>
                    </a:p>
                  </a:txBody>
                  <a:tcPr marL="101600" marR="101600" marT="38100" marB="38100" anchor="ctr">
                    <a:solidFill>
                      <a:srgbClr val="FFFFFF"/>
                    </a:solidFill>
                  </a:tcPr>
                </a:tc>
              </a:tr>
              <a:tr h="611632">
                <a:tc>
                  <a:txBody>
                    <a:bodyPr/>
                    <a:lstStyle/>
                    <a:p>
                      <a:r>
                        <a:rPr sz="1400" b="0" i="0">
                          <a:solidFill>
                            <a:srgbClr val="1A1440"/>
                          </a:solidFill>
                          <a:latin typeface="Calibri"/>
                        </a:rPr>
                        <a:t>DENSE_RANK at most 50</a:t>
                      </a:r>
                    </a:p>
                  </a:txBody>
                  <a:tcPr marL="101600" marR="101600" marT="38100" marB="38100" anchor="ctr">
                    <a:solidFill>
                      <a:srgbClr val="F4F2FA"/>
                    </a:solidFill>
                  </a:tcPr>
                </a:tc>
                <a:tc>
                  <a:txBody>
                    <a:bodyPr/>
                    <a:lstStyle/>
                    <a:p>
                      <a:r>
                        <a:rPr sz="1400" b="0" i="0">
                          <a:solidFill>
                            <a:srgbClr val="1A1440"/>
                          </a:solidFill>
                          <a:latin typeface="Calibri"/>
                        </a:rPr>
                        <a:t>52</a:t>
                      </a:r>
                    </a:p>
                  </a:txBody>
                  <a:tcPr marL="101600" marR="101600" marT="38100" marB="38100" anchor="ctr">
                    <a:solidFill>
                      <a:srgbClr val="F4F2FA"/>
                    </a:solidFill>
                  </a:tcPr>
                </a:tc>
                <a:tc>
                  <a:txBody>
                    <a:bodyPr/>
                    <a:lstStyle/>
                    <a:p>
                      <a:r>
                        <a:rPr sz="1400" b="0" i="0">
                          <a:solidFill>
                            <a:srgbClr val="1A1440"/>
                          </a:solidFill>
                          <a:latin typeface="Calibri"/>
                        </a:rPr>
                        <a:t>A shared position higher up saved a number, so a member past the line ships</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96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29352"/>
            <a:ext cx="237744" cy="237744"/>
          </a:xfrm>
          <a:prstGeom prst="rect">
            <a:avLst/>
          </a:prstGeom>
        </p:spPr>
      </p:pic>
      <p:sp>
        <p:nvSpPr>
          <p:cNvPr id="13" name="TextBox 12"/>
          <p:cNvSpPr txBox="1"/>
          <p:nvPr/>
        </p:nvSpPr>
        <p:spPr>
          <a:xfrm>
            <a:off x="1399031" y="49336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53152"/>
            <a:ext cx="9987991" cy="682752"/>
          </a:xfrm>
          <a:prstGeom prst="rect">
            <a:avLst/>
          </a:prstGeom>
          <a:noFill/>
        </p:spPr>
        <p:txBody>
          <a:bodyPr wrap="square" anchor="t" lIns="0" rIns="0" tIns="0" bIns="0">
            <a:spAutoFit/>
          </a:bodyPr>
          <a:lstStyle/>
          <a:p>
            <a:r>
              <a:rPr sz="1500" b="0" i="0">
                <a:solidFill>
                  <a:srgbClr val="1A1440"/>
                </a:solidFill>
                <a:latin typeface="Calibri"/>
              </a:rPr>
              <a:t>The RANK count is correct, and it is only defensible with its reason beside it, read from your own file: count the members at the last position and say it in the same line as the count.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holiday member, flagged by LAG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flagged is seven too many, because a skipped month was read as last month.</a:t>
            </a:r>
          </a:p>
        </p:txBody>
      </p:sp>
      <p:pic>
        <p:nvPicPr>
          <p:cNvPr id="9" name="mermaid diagram" descr="60880d5d1c33dfe7.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A month with no order is no reading, so it breaks the run. Nine listed members spent less in August than July and less again in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across members: 20 flagged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 reads the last month of the member sorted before.</a:t>
            </a:r>
          </a:p>
        </p:txBody>
      </p:sp>
      <p:pic>
        <p:nvPicPr>
          <p:cNvPr id="9" name="mermaid diagram" descr="216612f11ed8aadc.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Count the first months that carry a previous value. The count must be zero, and any other number means the partition is missing.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Marketing and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sentences, each carrying its number and what it means for the decision.</a:t>
            </a:r>
          </a:p>
        </p:txBody>
      </p:sp>
      <p:sp>
        <p:nvSpPr>
          <p:cNvPr id="9" name="Rounded Rectangle 8"/>
          <p:cNvSpPr/>
          <p:nvPr/>
        </p:nvSpPr>
        <p:spPr>
          <a:xfrm>
            <a:off x="530352" y="1956816"/>
            <a:ext cx="45720" cy="2174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174240"/>
          </a:xfrm>
          <a:prstGeom prst="rect">
            <a:avLst/>
          </a:prstGeom>
          <a:noFill/>
        </p:spPr>
        <p:txBody>
          <a:bodyPr wrap="square" anchor="t" lIns="0" rIns="0" tIns="0" bIns="0">
            <a:spAutoFit/>
          </a:bodyPr>
          <a:lstStyle/>
          <a:p>
            <a:r>
              <a:rPr sz="1600" b="0" i="1">
                <a:solidFill>
                  <a:srgbClr val="1A0F5C"/>
                </a:solidFill>
                <a:latin typeface="Georgia"/>
              </a:rPr>
              <a:t>"We ranked with RANK inside each segment, so tied members share a place and nobody at the line is dropped by a coin toss: the list carries 35 Business and 20 Student members, which is every Q2 buyer there, 50 Retail-Core and 51 Retail-Plus, where our RANK file shows two members sharing the fiftieth place. Nine listed members spent less in August than July and less again in September; a member with no August order is not flagged, because a month without an order is no reading. Q2 closed on plan, Rs 9,84,00,000 against Rs 9,83,99,990, and the Rs 1.58 crore lead at mid-quarter came from one week in July, so the weekly run rate has been below plan since 10 August."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lines to keep, eight Kahoot questions, and Thursday's question left open.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and the study notes carry these four lines word for word.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307259"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yers_f8ca12c3f27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WINDOW</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row stays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GROUP BY answers how much per group; a window keeps every row and says where each row stands.</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dal_096199426a51.png"/>
          <p:cNvPicPr>
            <a:picLocks noChangeAspect="1"/>
          </p:cNvPicPr>
          <p:nvPr/>
        </p:nvPicPr>
        <p:blipFill>
          <a:blip r:embed="rId5"/>
          <a:stretch>
            <a:fillRect/>
          </a:stretch>
        </p:blipFill>
        <p:spPr>
          <a:xfrm>
            <a:off x="3669715" y="2267712"/>
            <a:ext cx="237744" cy="237744"/>
          </a:xfrm>
          <a:prstGeom prst="rect">
            <a:avLst/>
          </a:prstGeom>
        </p:spPr>
      </p:pic>
      <p:sp>
        <p:nvSpPr>
          <p:cNvPr id="20" name="TextBox 19"/>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TIES</a:t>
            </a:r>
          </a:p>
        </p:txBody>
      </p:sp>
      <p:sp>
        <p:nvSpPr>
          <p:cNvPr id="21" name="TextBox 20"/>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business decision</a:t>
            </a:r>
          </a:p>
        </p:txBody>
      </p:sp>
      <p:sp>
        <p:nvSpPr>
          <p:cNvPr id="22" name="TextBox 21"/>
          <p:cNvSpPr txBox="1"/>
          <p:nvPr/>
        </p:nvSpPr>
        <p:spPr>
          <a:xfrm>
            <a:off x="3559987"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The tie rule is a business decision written as a function name: RANK keeps everyone at the line, and the report says how many.</a:t>
            </a:r>
          </a:p>
        </p:txBody>
      </p:sp>
      <p:sp>
        <p:nvSpPr>
          <p:cNvPr id="23" name="Rounded Rectangle 22"/>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64195"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history_ba8b3aae5b8d.png"/>
          <p:cNvPicPr>
            <a:picLocks noChangeAspect="1"/>
          </p:cNvPicPr>
          <p:nvPr/>
        </p:nvPicPr>
        <p:blipFill>
          <a:blip r:embed="rId6"/>
          <a:stretch>
            <a:fillRect/>
          </a:stretch>
        </p:blipFill>
        <p:spPr>
          <a:xfrm>
            <a:off x="6498183" y="2267712"/>
            <a:ext cx="237744" cy="237744"/>
          </a:xfrm>
          <a:prstGeom prst="rect">
            <a:avLst/>
          </a:prstGeom>
        </p:spPr>
      </p:pic>
      <p:sp>
        <p:nvSpPr>
          <p:cNvPr id="27" name="TextBox 26"/>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LAG</a:t>
            </a:r>
          </a:p>
        </p:txBody>
      </p:sp>
      <p:sp>
        <p:nvSpPr>
          <p:cNvPr id="28" name="TextBox 27"/>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Last month, same member</a:t>
            </a:r>
          </a:p>
        </p:txBody>
      </p:sp>
      <p:sp>
        <p:nvSpPr>
          <p:cNvPr id="29" name="TextBox 28"/>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LAG reads the previous row, so partition by the member and check the previous row is last month.</a:t>
            </a:r>
          </a:p>
        </p:txBody>
      </p:sp>
      <p:sp>
        <p:nvSpPr>
          <p:cNvPr id="30" name="Rounded Rectangle 29"/>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4</a:t>
            </a:r>
          </a:p>
        </p:txBody>
      </p:sp>
      <p:sp>
        <p:nvSpPr>
          <p:cNvPr id="32" name="Oval 31"/>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igma_3699bd30d7e9.png"/>
          <p:cNvPicPr>
            <a:picLocks noChangeAspect="1"/>
          </p:cNvPicPr>
          <p:nvPr/>
        </p:nvPicPr>
        <p:blipFill>
          <a:blip r:embed="rId7"/>
          <a:stretch>
            <a:fillRect/>
          </a:stretch>
        </p:blipFill>
        <p:spPr>
          <a:xfrm>
            <a:off x="9326651" y="2267712"/>
            <a:ext cx="237744" cy="237744"/>
          </a:xfrm>
          <a:prstGeom prst="rect">
            <a:avLst/>
          </a:prstGeom>
        </p:spPr>
      </p:pic>
      <p:sp>
        <p:nvSpPr>
          <p:cNvPr id="34" name="TextBox 33"/>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RUNNING TOTAL</a:t>
            </a:r>
          </a:p>
        </p:txBody>
      </p:sp>
      <p:sp>
        <p:nvSpPr>
          <p:cNvPr id="35" name="TextBox 34"/>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Order and start</a:t>
            </a:r>
          </a:p>
        </p:txBody>
      </p:sp>
      <p:sp>
        <p:nvSpPr>
          <p:cNvPr id="36" name="TextBox 35"/>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A running total is only as true as its order and its start; check it closes on the quarter's total.</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9" name="Oval 3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1" name="Oval 40"/>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questions on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Eight questions, played for practice, with Tuesday's join question returning one level up.</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TIES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three rules, and the business choice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WINDOWS</a:t>
            </a:r>
          </a:p>
        </p:txBody>
      </p:sp>
      <p:sp>
        <p:nvSpPr>
          <p:cNvPr id="15" name="TextBox 14"/>
          <p:cNvSpPr txBox="1"/>
          <p:nvPr/>
        </p:nvSpPr>
        <p:spPr>
          <a:xfrm>
            <a:off x="3381679"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PARTITION BY, and ROW_NUMBER's cut at a tie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LAG</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first month, and the missing month</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RUNNING TOTAL AND TUESDAY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 full order, a join that grew</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9" name="Oval 28"/>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one table per customer,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left open: when SQL, plain Python and pandas can each answer it, which tool do you pick, and why?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warehouse queries are fine for Finance, but Marketing's analysts live in Python. Build them the table in pandas, from the warehouse, and make it refreshable in one run."</a:t>
            </a:r>
          </a:p>
        </p:txBody>
      </p:sp>
      <p:sp>
        <p:nvSpPr>
          <p:cNvPr id="14" name="Rounded Rectangle 13"/>
          <p:cNvSpPr/>
          <p:nvPr/>
        </p:nvSpPr>
        <p:spPr>
          <a:xfrm>
            <a:off x="53035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user_c13406686cbb.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 ROW EACH</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Per customer</a:t>
            </a:r>
          </a:p>
        </p:txBody>
      </p:sp>
      <p:sp>
        <p:nvSpPr>
          <p:cNvPr id="19" name="TextBox 18"/>
          <p:cNvSpPr txBox="1"/>
          <p:nvPr/>
        </p:nvSpPr>
        <p:spPr>
          <a:xfrm>
            <a:off x="731519" y="4589780"/>
            <a:ext cx="3186074" cy="399796"/>
          </a:xfrm>
          <a:prstGeom prst="rect">
            <a:avLst/>
          </a:prstGeom>
          <a:noFill/>
        </p:spPr>
        <p:txBody>
          <a:bodyPr wrap="square" anchor="t" lIns="0" rIns="0" tIns="0" bIns="0">
            <a:spAutoFit/>
          </a:bodyPr>
          <a:lstStyle/>
          <a:p>
            <a:pPr algn="l"/>
            <a:r>
              <a:rPr sz="1100" b="0" i="0">
                <a:solidFill>
                  <a:srgbClr val="6B6690"/>
                </a:solidFill>
                <a:latin typeface="Calibri"/>
              </a:rPr>
              <a:t>How recently, how often and how much, with the segment.</a:t>
            </a:r>
          </a:p>
        </p:txBody>
      </p:sp>
      <p:sp>
        <p:nvSpPr>
          <p:cNvPr id="20" name="Rounded Rectangle 19"/>
          <p:cNvSpPr/>
          <p:nvPr/>
        </p:nvSpPr>
        <p:spPr>
          <a:xfrm>
            <a:off x="430164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megaphone_df6318bcf2f9.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FROM CAMPAIGNS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monsoon sale</a:t>
            </a:r>
          </a:p>
        </p:txBody>
      </p:sp>
      <p:sp>
        <p:nvSpPr>
          <p:cNvPr id="25" name="TextBox 24"/>
          <p:cNvSpPr txBox="1"/>
          <p:nvPr/>
        </p:nvSpPr>
        <p:spPr>
          <a:xfrm>
            <a:off x="4502810" y="4589780"/>
            <a:ext cx="3186074" cy="218186"/>
          </a:xfrm>
          <a:prstGeom prst="rect">
            <a:avLst/>
          </a:prstGeom>
          <a:noFill/>
        </p:spPr>
        <p:txBody>
          <a:bodyPr wrap="square" anchor="t" lIns="0" rIns="0" tIns="0" bIns="0">
            <a:spAutoFit/>
          </a:bodyPr>
          <a:lstStyle/>
          <a:p>
            <a:pPr algn="l"/>
            <a:r>
              <a:rPr sz="1100" b="0" i="0">
                <a:solidFill>
                  <a:srgbClr val="6B6690"/>
                </a:solidFill>
                <a:latin typeface="Calibri"/>
              </a:rPr>
              <a:t>Whether the campaign reached the customer.</a:t>
            </a:r>
          </a:p>
        </p:txBody>
      </p:sp>
      <p:sp>
        <p:nvSpPr>
          <p:cNvPr id="26" name="Rounded Rectangle 25"/>
          <p:cNvSpPr/>
          <p:nvPr/>
        </p:nvSpPr>
        <p:spPr>
          <a:xfrm>
            <a:off x="8072932" y="324307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flag_e1b9353c65a1.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FROM TODAY</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Last week's flags</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The falling-spend flag, carried into the table.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Next: the IITGN session W2-3, tentative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afternoon continues with the tentative IITGN faculty session on errors, power and sample size.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W2-3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IITGN SESSION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IITGN faculty session W2-3 (tentative) runs for 120 minutes on Type I and Type II errors, power and the sample size a comparison needs. The tentative session picks up the rule of thumb of thirty observations from Week 1 Thursday.</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2" name="Oval 21"/>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