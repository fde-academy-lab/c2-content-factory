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one minute. Read the head of Retail-Plus's words aloud. The morning built the protect lists,</a:t>
            </a:r>
          </a:p>
          <a:p>
            <a:r>
              <a:t>the falling flag and the plan line; the afternoon decides who Marketing rings first and hands the</a:t>
            </a:r>
          </a:p>
          <a:p>
            <a:r>
              <a:t>room a case to run alone. The trainer's part of the afternoon is 60 minutes: chapter 6 with this</a:t>
            </a:r>
          </a:p>
          <a:p>
            <a:r>
              <a:t>cover and the morning's answers (30), the escalated case's first two parts (20) and the close with</a:t>
            </a:r>
          </a:p>
          <a:p>
            <a:r>
              <a:t>the Kahoot (10). The tentative IITGN block follows. Then what the morning established.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Read the five answers as one story. Q2 is July to September 2026; revenue is</a:t>
            </a:r>
          </a:p>
          <a:p>
            <a:r>
              <a:t>booked revenue, every order at its amount whatever its status, Rs 9,84,00,000 for the quarter.</a:t>
            </a:r>
          </a:p>
          <a:p>
            <a:r>
              <a:t>Then the day's six topics.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under a minute. These are the six topics the morning opened on. Point at the fourth row:</a:t>
            </a:r>
          </a:p>
          <a:p>
            <a:r>
              <a:t>chapter 6 finishes the month-on-month comparison per customer by checking LAG's months against the</a:t>
            </a:r>
          </a:p>
          <a:p>
            <a:r>
              <a:t>calendar, and the escalated case then uses all six. Then chapter 6.</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Twenty-eight minutes after the cover and the morning's answers: the map, the need and the</a:t>
            </a:r>
          </a:p>
          <a:p>
            <a:r>
              <a:t>company (5), the options and the picture (4), the list and the member on holiday (7), the trap, its</a:t>
            </a:r>
          </a:p>
          <a:p>
            <a:r>
              <a:t>check and its fix (6, never cut), the second route (2), the calls (2) and the close (2). Notebook 06</a:t>
            </a:r>
          </a:p>
          <a:p>
            <a:r>
              <a:t>and sql/C2_W02_D03_06_call_first_STUDENT.sql run beside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Read the six questions. Then the need.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member is C-0216 of Retail-Plus. Monthly spend is a member's booked revenue in</a:t>
            </a:r>
          </a:p>
          <a:p>
            <a:r>
              <a:t>one calendar month; a month with no order has no row in the monthly table. Then a data team that</a:t>
            </a:r>
          </a:p>
          <a:p>
            <a:r>
              <a:t>warned about gaps, and hotels that read one.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Cam Davidson-Pilon, "How Shopify Merchants can Measure Retention", Shopify</a:t>
            </a:r>
          </a:p>
          <a:p>
            <a:r>
              <a:t>Engineering, 14 November 2017, checked 1 October 2026. Marriott extended elite status earned in</a:t>
            </a:r>
          </a:p>
          <a:p>
            <a:r>
              <a:t>2019 until February 2022 (release of 14 April 2020), and Hilton extended status to 31 March 2022</a:t>
            </a:r>
          </a:p>
          <a:p>
            <a:r>
              <a:t>for members set to downgrade in 2020 or 2021 (release of 27 October 2020). Then four readings of</a:t>
            </a:r>
          </a:p>
          <a:p>
            <a:r>
              <a:t>"last month".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Members buy in 2.5 of the six months on average, 752 member-months for 301</a:t>
            </a:r>
          </a:p>
          <a:p>
            <a:r>
              <a:t>members, so a month with no order is the usual state. A zero-filled calendar flags 26 members, 17</a:t>
            </a:r>
          </a:p>
          <a:p>
            <a:r>
              <a:t>of whom simply placed no September order. 1,806 is 301 members times six months. Then the picture.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 month before" has two readings: the calendar's, and the row LAG reads. They</a:t>
            </a:r>
          </a:p>
          <a:p>
            <a:r>
              <a:t>agree only when no month is empty. Then the list meets the flag.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Letters in chat. Then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 answer is a. Then the member on holiday.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Read C-0216's row aloud: three months with orders and three without. Letters in chat.</a:t>
            </a:r>
          </a:p>
          <a:p>
            <a:r>
              <a:t>Then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answer is b. Then the hurried reply to the head of Retail-Plus.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notebook 06, section 3. Ask the room whether they would defend the flag as it</a:t>
            </a:r>
          </a:p>
          <a:p>
            <a:r>
              <a:t>stands. Then why it is wrong.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Marketing asked about calendar months, and LAG counts rows. Wherever a member</a:t>
            </a:r>
          </a:p>
          <a:p>
            <a:r>
              <a:t>skipped a month, LAG steps over the gap, so a holiday reads as a fall. C-0216 is one of the seven.</a:t>
            </a:r>
          </a:p>
          <a:p>
            <a:r>
              <a:t>Then the fix.</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Then a second route that shares no window.</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A missing month has no row to join to, so a gap breaks the run here by</a:t>
            </a:r>
          </a:p>
          <a:p>
            <a:r>
              <a:t>construction. The two routes share no window and agree because both read calendar months. Then the</a:t>
            </a:r>
          </a:p>
          <a:p>
            <a:r>
              <a:t>calls.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C-0010 is a fall that holds up: three consecutive months, each lower. The nine are</a:t>
            </a:r>
          </a:p>
          <a:p>
            <a:r>
              <a:t>the room's to read in notebook 06's last your-turn cell: their segments, their places and how far</a:t>
            </a:r>
          </a:p>
          <a:p>
            <a:r>
              <a:t>each fell. Do not read the list aloud. Then the chapter's answers.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One breath: a month with no order breaks the run, checked by reading the months LAG</a:t>
            </a:r>
          </a:p>
          <a:p>
            <a:r>
              <a:t>read; zeros would read a quiet month as a fall, and Kalpa's members buy in 2.5 of six months, so</a:t>
            </a:r>
          </a:p>
          <a:p>
            <a:r>
              <a:t>zeros flag 26 here, 17 of them for a quiet September. Then the case the room runs alone.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Twenty minutes, alone: parts 1 and 2 of the escalated case. Parts 3 to 5 run in the TA-led</a:t>
            </a:r>
          </a:p>
          <a:p>
            <a:r>
              <a:t>practice lab. The notebook is notebooks/C2_W02_D03_ex1_escalated_case_STUDENT.ipynb and the brief</a:t>
            </a:r>
          </a:p>
          <a:p>
            <a:r>
              <a:t>exercises/unguided/C2_W02_D03_escalated_case_STUDENT.md.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Read the marketing lead's message. Each part holds two lettered markers; each</a:t>
            </a:r>
          </a:p>
          <a:p>
            <a:r>
              <a:t>marker is a choice the learner writes into the code, and the check cell after it says whether the</a:t>
            </a:r>
          </a:p>
          <a:p>
            <a:r>
              <a:t>part behaves. Seventeen minutes alone; the support TA answers environment problems only. Then the</a:t>
            </a:r>
          </a:p>
          <a:p>
            <a:r>
              <a:t>rules the case keeps.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 cards repeat the morning's rules and give away none of the case's answers.</a:t>
            </a:r>
          </a:p>
          <a:p>
            <a:r>
              <a:t>Then go: seventeen minutes, parts 1 and 2. After the case, the close.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Ten minutes: the day's answer (2), the six rules (1), the Kahoot (6) and tomorrow (1).</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Ask two learners to read their own sentence first, including the Retail-Plus count</a:t>
            </a:r>
          </a:p>
          <a:p>
            <a:r>
              <a:t>their run gave and its reason; then read this one. Then the six rules worth keeping.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Read them together. The cheat sheet prints these six rules word for word. Then the</a:t>
            </a:r>
          </a:p>
          <a:p>
            <a:r>
              <a:t>Kahoot.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6 minutes, kahoot/C2_W02_D03_quiz_STUDENT.md. None of the eight is graded. Twenty seconds an</a:t>
            </a:r>
          </a:p>
          <a:p>
            <a:r>
              <a:t>item; after each, one learner says why the right answer holds. Item 8 is Tuesday's return question.</a:t>
            </a:r>
          </a:p>
          <a:p>
            <a:r>
              <a:t>Then tomorrow's ask, left open.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ten minutes of the practice lab's fifteen-minute drill. [S] is a staple asked everywhere</a:t>
            </a:r>
          </a:p>
          <a:p>
            <a:r>
              <a:t>and [F] frequent at global capability centres and product companies; D23 carries the three</a:t>
            </a:r>
          </a:p>
          <a:p>
            <a:r>
              <a:t>differentiators. In the lab, pairs ask each other aloud. The answers in one breath, in order:</a:t>
            </a:r>
          </a:p>
          <a:p>
            <a:r>
              <a:t>ROW_NUMBER numbers every row, breaking a tie by the rest of its ORDER BY or arbitrarily; RANK shares</a:t>
            </a:r>
          </a:p>
          <a:p>
            <a:r>
              <a:t>the number and skips, 1, 1, 3; DENSE_RANK shares it and skips nothing, 1, 1, 2. A window partitioned</a:t>
            </a:r>
          </a:p>
          <a:p>
            <a:r>
              <a:t>by the group, numbered in a CTE and filtered outside, since GROUP BY collapses each group and LIMIT</a:t>
            </a:r>
          </a:p>
          <a:p>
            <a:r>
              <a:t>counts across the result. GROUP BY returns one row per group; a window keeps every row and adds a</a:t>
            </a:r>
          </a:p>
          <a:p>
            <a:r>
              <a:t>column. One row per customer per month, lag 1 and lag 2 partitioned by customer and ordered by</a:t>
            </a:r>
          </a:p>
          <a:p>
            <a:r>
              <a:t>month, a check that the lagged months are the calendar months before, and the rows that fall twice.</a:t>
            </a:r>
          </a:p>
          <a:p>
            <a:r>
              <a:t>WHERE filters before the window is computed, so compute it in a CTE and filter outside. It ranked</a:t>
            </a:r>
          </a:p>
          <a:p>
            <a:r>
              <a:t>order rows; check distinct customers against rows and rank customers after adding up their orders.</a:t>
            </a:r>
          </a:p>
          <a:p>
            <a:r>
              <a:t>Find out first: RANK with a tie at tenth is the rule working, DENSE_RANK can run past ten with ties</a:t>
            </a:r>
          </a:p>
          <a:p>
            <a:r>
              <a:t>above, and ROW_NUMBER cannot ship eleven, so a repeated id there is a fanned-out join. Most often the</a:t>
            </a:r>
          </a:p>
          <a:p>
            <a:r>
              <a:t>window has no PARTITION BY; a default argument in lag() or a descending ORDER BY gives the same</a:t>
            </a:r>
          </a:p>
          <a:p>
            <a:r>
              <a:t>symptom. Under the default frame a date-only running total repeats on every run but gives peers one</a:t>
            </a:r>
          </a:p>
          <a:p>
            <a:r>
              <a:t>figure; a ROWS frame over a non-unique order can change between runs; the date plus the order id</a:t>
            </a:r>
          </a:p>
          <a:p>
            <a:r>
              <a:t>gives every row its own step. A cumulative actual beside one week's plan; compare to date with to</a:t>
            </a:r>
          </a:p>
          <a:p>
            <a:r>
              <a:t>date.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the last five minutes of the practice lab's drill. [D] is the tag for a differentiator. The</a:t>
            </a:r>
          </a:p>
          <a:p>
            <a:r>
              <a:t>answers in one breath: RANK, and the report can ship more than N when a tie straddles the line, so it</a:t>
            </a:r>
          </a:p>
          <a:p>
            <a:r>
              <a:t>states the count; DENSE_RANK can ship more even with no tie at the line; ROW_NUMBER always ships N and</a:t>
            </a:r>
          </a:p>
          <a:p>
            <a:r>
              <a:t>hides the tie. A month with no order is no reading, so it breaks the run; a zero would read a quiet</a:t>
            </a:r>
          </a:p>
          <a:p>
            <a:r>
              <a:t>month as a fall, and here zeros flag 26 members, 17 of them for a quiet September alone. Whether</a:t>
            </a:r>
          </a:p>
          <a:p>
            <a:r>
              <a:t>every row made it in: the last cumulative value against the independent total, then rows outside</a:t>
            </a:r>
          </a:p>
          <a:p>
            <a:r>
              <a:t>the join's calendar, here 25 orders of 1 to 5 July, Rs 15,39,820.</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in pairs or alone, about forty minutes. The notebook is</a:t>
            </a:r>
          </a:p>
          <a:p>
            <a:r>
              <a:t>notebooks/C2_W02_D03_ex2_second_case_STUDENT.ipynb and the brief</a:t>
            </a:r>
          </a:p>
          <a:p>
            <a:r>
              <a:t>exercises/unguided/C2_W02_D03_second_case_STUDENT.md.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ten minutes, and the lab's debrief of the room's wrong answers. Each row is a trap the</a:t>
            </a:r>
          </a:p>
          <a:p>
            <a:r>
              <a:t>day staged on purpose, and the room met each wrong number before anyone named the mistake.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Read it and leave it open: today's flag becomes a column of tomorrow's table. The</a:t>
            </a:r>
          </a:p>
          <a:p>
            <a:r>
              <a:t>pre-read for Thursday ships tonight. Then the tentative IITGN block.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xml"/><Relationship Id="rId5"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7.xml"/><Relationship Id="rId5" Type="http://schemas.openxmlformats.org/officeDocument/2006/relationships/image" Target="../media/image10.png"/><Relationship Id="rId6"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9.xml"/><Relationship Id="rId5"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0.xml"/><Relationship Id="rId5"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3.xml"/><Relationship Id="rId5"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5.xml"/><Relationship Id="rId5"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16.png"/><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7.png"/><Relationship Id="rId5" Type="http://schemas.openxmlformats.org/officeDocument/2006/relationships/image" Target="../media/image6.png"/><Relationship Id="rId6" Type="http://schemas.openxmlformats.org/officeDocument/2006/relationships/image" Target="../media/image18.png"/><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5.xml"/><Relationship Id="rId5"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notesSlide" Target="../notesSlides/notesSlide29.xml"/><Relationship Id="rId6" Type="http://schemas.openxmlformats.org/officeDocument/2006/relationships/image" Target="../media/image2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notesSlide" Target="../notesSlides/notesSlide31.xml"/><Relationship Id="rId6" Type="http://schemas.openxmlformats.org/officeDocument/2006/relationships/image" Target="../media/image2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621792" y="566928"/>
            <a:ext cx="1051560" cy="1051560"/>
          </a:xfrm>
          <a:prstGeom prst="rect">
            <a:avLst/>
          </a:prstGeom>
        </p:spPr>
      </p:pic>
      <p:sp>
        <p:nvSpPr>
          <p:cNvPr id="4" name="TextBox 3"/>
          <p:cNvSpPr txBox="1"/>
          <p:nvPr/>
        </p:nvSpPr>
        <p:spPr>
          <a:xfrm>
            <a:off x="1901952" y="804672"/>
            <a:ext cx="6858000" cy="300735"/>
          </a:xfrm>
          <a:prstGeom prst="rect">
            <a:avLst/>
          </a:prstGeom>
          <a:noFill/>
        </p:spPr>
        <p:txBody>
          <a:bodyPr wrap="square" anchor="t" lIns="0" rIns="0" tIns="0" bIns="0">
            <a:spAutoFit/>
          </a:bodyPr>
          <a:lstStyle/>
          <a:p>
            <a:pPr algn="l"/>
            <a:r>
              <a:rPr sz="1600" b="1" i="0">
                <a:solidFill>
                  <a:srgbClr val="FFFFFF"/>
                </a:solidFill>
                <a:latin typeface="Calibri"/>
              </a:rPr>
              <a:t>Indian Institute of Technology Gandhinagar</a:t>
            </a:r>
          </a:p>
        </p:txBody>
      </p:sp>
      <p:sp>
        <p:nvSpPr>
          <p:cNvPr id="5" name="TextBox 4"/>
          <p:cNvSpPr txBox="1"/>
          <p:nvPr/>
        </p:nvSpPr>
        <p:spPr>
          <a:xfrm>
            <a:off x="1901952" y="1133856"/>
            <a:ext cx="7772400" cy="152146"/>
          </a:xfrm>
          <a:prstGeom prst="rect">
            <a:avLst/>
          </a:prstGeom>
          <a:noFill/>
        </p:spPr>
        <p:txBody>
          <a:bodyPr wrap="square" anchor="t" lIns="0" rIns="0" tIns="0" bIns="0">
            <a:spAutoFit/>
          </a:bodyPr>
          <a:lstStyle/>
          <a:p>
            <a:pPr algn="l"/>
            <a:r>
              <a:rPr sz="700" b="1" i="0" spc="300">
                <a:solidFill>
                  <a:srgbClr val="D9A7FF"/>
                </a:solidFill>
                <a:latin typeface="Calibri"/>
              </a:rPr>
              <a:t>ADMINISTERED THROUGH THE COMPETENCY ADVANCEMENT ACADEMY</a:t>
            </a:r>
          </a:p>
        </p:txBody>
      </p:sp>
      <p:sp>
        <p:nvSpPr>
          <p:cNvPr id="6" name="Rectangle 5"/>
          <p:cNvSpPr/>
          <p:nvPr/>
        </p:nvSpPr>
        <p:spPr>
          <a:xfrm>
            <a:off x="621792" y="1938528"/>
            <a:ext cx="10948111" cy="10972"/>
          </a:xfrm>
          <a:prstGeom prst="rect">
            <a:avLst/>
          </a:prstGeom>
          <a:solidFill>
            <a:srgbClr val="A9A3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21792" y="2240280"/>
            <a:ext cx="3668475" cy="329184"/>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900" b="1" spc="250">
                <a:solidFill>
                  <a:srgbClr val="FFFFFF"/>
                </a:solidFill>
                <a:latin typeface="Calibri"/>
              </a:rPr>
              <a:t>WEEK 2  ·  WEDNESDAY  ·  AFTERNOON</a:t>
            </a:r>
          </a:p>
        </p:txBody>
      </p:sp>
      <p:sp>
        <p:nvSpPr>
          <p:cNvPr id="8" name="TextBox 7"/>
          <p:cNvSpPr txBox="1"/>
          <p:nvPr/>
        </p:nvSpPr>
        <p:spPr>
          <a:xfrm>
            <a:off x="621792" y="2807208"/>
            <a:ext cx="10582351" cy="663956"/>
          </a:xfrm>
          <a:prstGeom prst="rect">
            <a:avLst/>
          </a:prstGeom>
          <a:noFill/>
        </p:spPr>
        <p:txBody>
          <a:bodyPr wrap="square" anchor="t" lIns="0" rIns="0" tIns="0" bIns="0">
            <a:spAutoFit/>
          </a:bodyPr>
          <a:lstStyle/>
          <a:p>
            <a:pPr algn="l"/>
            <a:r>
              <a:rPr sz="3800" b="0" i="0">
                <a:solidFill>
                  <a:srgbClr val="FFFFFF"/>
                </a:solidFill>
                <a:latin typeface="Georgia"/>
              </a:rPr>
              <a:t>Who does Marketing call first?</a:t>
            </a:r>
          </a:p>
        </p:txBody>
      </p:sp>
      <p:sp>
        <p:nvSpPr>
          <p:cNvPr id="9" name="TextBox 8"/>
          <p:cNvSpPr txBox="1"/>
          <p:nvPr/>
        </p:nvSpPr>
        <p:spPr>
          <a:xfrm>
            <a:off x="621792" y="3635756"/>
            <a:ext cx="10033711" cy="977645"/>
          </a:xfrm>
          <a:prstGeom prst="rect">
            <a:avLst/>
          </a:prstGeom>
          <a:noFill/>
        </p:spPr>
        <p:txBody>
          <a:bodyPr wrap="square" anchor="t" lIns="0" rIns="0" tIns="0" bIns="0">
            <a:spAutoFit/>
          </a:bodyPr>
          <a:lstStyle/>
          <a:p>
            <a:pPr algn="l"/>
            <a:r>
              <a:rPr sz="1900" b="0" i="1">
                <a:solidFill>
                  <a:srgbClr val="D9A7FF"/>
                </a:solidFill>
                <a:latin typeface="Georgia"/>
              </a:rPr>
              <a:t>“Before we ring anyone: one of your flagged members, C-0216, rang our help line to say they were travelling in August and have not stopped buying. Is your flag wrong about them, and how many others?”</a:t>
            </a:r>
          </a:p>
        </p:txBody>
      </p:sp>
      <p:sp>
        <p:nvSpPr>
          <p:cNvPr id="10" name="TextBox 9"/>
          <p:cNvSpPr txBox="1"/>
          <p:nvPr/>
        </p:nvSpPr>
        <p:spPr>
          <a:xfrm>
            <a:off x="621792" y="4668266"/>
            <a:ext cx="10033711" cy="218186"/>
          </a:xfrm>
          <a:prstGeom prst="rect">
            <a:avLst/>
          </a:prstGeom>
          <a:noFill/>
        </p:spPr>
        <p:txBody>
          <a:bodyPr wrap="square" anchor="t" lIns="0" rIns="0" tIns="0" bIns="0">
            <a:spAutoFit/>
          </a:bodyPr>
          <a:lstStyle/>
          <a:p>
            <a:pPr algn="l"/>
            <a:r>
              <a:rPr sz="1100" b="0" i="0">
                <a:solidFill>
                  <a:srgbClr val="CFC9EE"/>
                </a:solidFill>
                <a:latin typeface="Calibri"/>
              </a:rPr>
              <a:t>The head of Retail-Plus, Kalpa Retail, to the data and AI team at Kalpa's Global Capability Centre</a:t>
            </a:r>
          </a:p>
        </p:txBody>
      </p:sp>
      <p:sp>
        <p:nvSpPr>
          <p:cNvPr id="11" name="TextBox 10"/>
          <p:cNvSpPr txBox="1"/>
          <p:nvPr/>
        </p:nvSpPr>
        <p:spPr>
          <a:xfrm>
            <a:off x="621792"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06</a:t>
            </a:r>
          </a:p>
        </p:txBody>
      </p:sp>
      <p:sp>
        <p:nvSpPr>
          <p:cNvPr id="12" name="TextBox 11"/>
          <p:cNvSpPr txBox="1"/>
          <p:nvPr/>
        </p:nvSpPr>
        <p:spPr>
          <a:xfrm>
            <a:off x="1005839" y="5248656"/>
            <a:ext cx="1602486" cy="185166"/>
          </a:xfrm>
          <a:prstGeom prst="rect">
            <a:avLst/>
          </a:prstGeom>
          <a:noFill/>
        </p:spPr>
        <p:txBody>
          <a:bodyPr wrap="square" anchor="t" lIns="0" rIns="0" tIns="0" bIns="0">
            <a:spAutoFit/>
          </a:bodyPr>
          <a:lstStyle/>
          <a:p>
            <a:pPr algn="l"/>
            <a:r>
              <a:rPr sz="900" b="0" i="0">
                <a:solidFill>
                  <a:srgbClr val="FFFFFF"/>
                </a:solidFill>
                <a:latin typeface="Calibri"/>
              </a:rPr>
              <a:t>Who does Marketing call?</a:t>
            </a:r>
          </a:p>
        </p:txBody>
      </p:sp>
      <p:sp>
        <p:nvSpPr>
          <p:cNvPr id="13" name="TextBox 12"/>
          <p:cNvSpPr txBox="1"/>
          <p:nvPr/>
        </p:nvSpPr>
        <p:spPr>
          <a:xfrm>
            <a:off x="2791206"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07</a:t>
            </a:r>
          </a:p>
        </p:txBody>
      </p:sp>
      <p:sp>
        <p:nvSpPr>
          <p:cNvPr id="14" name="TextBox 13"/>
          <p:cNvSpPr txBox="1"/>
          <p:nvPr/>
        </p:nvSpPr>
        <p:spPr>
          <a:xfrm>
            <a:off x="3175254" y="5248656"/>
            <a:ext cx="1365885" cy="185166"/>
          </a:xfrm>
          <a:prstGeom prst="rect">
            <a:avLst/>
          </a:prstGeom>
          <a:noFill/>
        </p:spPr>
        <p:txBody>
          <a:bodyPr wrap="square" anchor="t" lIns="0" rIns="0" tIns="0" bIns="0">
            <a:spAutoFit/>
          </a:bodyPr>
          <a:lstStyle/>
          <a:p>
            <a:pPr algn="l"/>
            <a:r>
              <a:rPr sz="900" b="0" i="0">
                <a:solidFill>
                  <a:srgbClr val="FFFFFF"/>
                </a:solidFill>
                <a:latin typeface="Calibri"/>
              </a:rPr>
              <a:t>Can you do it alone?</a:t>
            </a:r>
          </a:p>
        </p:txBody>
      </p:sp>
      <p:sp>
        <p:nvSpPr>
          <p:cNvPr id="15" name="TextBox 14"/>
          <p:cNvSpPr txBox="1"/>
          <p:nvPr/>
        </p:nvSpPr>
        <p:spPr>
          <a:xfrm>
            <a:off x="4724019"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08</a:t>
            </a:r>
          </a:p>
        </p:txBody>
      </p:sp>
      <p:sp>
        <p:nvSpPr>
          <p:cNvPr id="16" name="TextBox 15"/>
          <p:cNvSpPr txBox="1"/>
          <p:nvPr/>
        </p:nvSpPr>
        <p:spPr>
          <a:xfrm>
            <a:off x="5108067" y="5248656"/>
            <a:ext cx="1720786" cy="185166"/>
          </a:xfrm>
          <a:prstGeom prst="rect">
            <a:avLst/>
          </a:prstGeom>
          <a:noFill/>
        </p:spPr>
        <p:txBody>
          <a:bodyPr wrap="square" anchor="t" lIns="0" rIns="0" tIns="0" bIns="0">
            <a:spAutoFit/>
          </a:bodyPr>
          <a:lstStyle/>
          <a:p>
            <a:pPr algn="l"/>
            <a:r>
              <a:rPr sz="900" b="0" i="0">
                <a:solidFill>
                  <a:srgbClr val="FFFFFF"/>
                </a:solidFill>
                <a:latin typeface="Calibri"/>
              </a:rPr>
              <a:t>What do we tell Marketing?</a:t>
            </a:r>
          </a:p>
        </p:txBody>
      </p:sp>
      <p:sp>
        <p:nvSpPr>
          <p:cNvPr id="17" name="TextBox 16"/>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2, Day 3. Who does Marketing call first?</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 / 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list per segment, RANK, 16 flags, Q2 on plan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did the morning's five chapters establish, with their numbers?</a:t>
            </a:r>
          </a:p>
        </p:txBody>
      </p:sp>
      <p:graphicFrame>
        <p:nvGraphicFramePr>
          <p:cNvPr id="9" name="Table 8"/>
          <p:cNvGraphicFramePr>
            <a:graphicFrameLocks noGrp="1"/>
          </p:cNvGraphicFramePr>
          <p:nvPr/>
        </p:nvGraphicFramePr>
        <p:xfrm>
          <a:off x="530352" y="1956816"/>
          <a:ext cx="11130990" cy="2460752"/>
        </p:xfrm>
        <a:graphic>
          <a:graphicData uri="http://schemas.openxmlformats.org/drawingml/2006/table">
            <a:tbl>
              <a:tblPr firstRow="0" bandRow="0">
                <a:tableStyleId>{2D5ABB26-0587-4C30-8999-92F81FD0307C}</a:tableStyleId>
              </a:tblPr>
              <a:tblGrid>
                <a:gridCol w="3555158"/>
                <a:gridCol w="7575832"/>
              </a:tblGrid>
              <a:tr h="369824">
                <a:tc>
                  <a:txBody>
                    <a:bodyPr/>
                    <a:lstStyle/>
                    <a:p>
                      <a:r>
                        <a:rPr sz="1450" b="1" i="0">
                          <a:solidFill>
                            <a:srgbClr val="FFFFFF"/>
                          </a:solidFill>
                          <a:latin typeface="Calibri"/>
                        </a:rPr>
                        <a:t>Chapter</a:t>
                      </a:r>
                    </a:p>
                  </a:txBody>
                  <a:tcPr marL="101600" marR="101600" marT="38100" marB="38100" anchor="ctr">
                    <a:solidFill>
                      <a:srgbClr val="1A0F5C"/>
                    </a:solidFill>
                  </a:tcPr>
                </a:tc>
                <a:tc>
                  <a:txBody>
                    <a:bodyPr/>
                    <a:lstStyle/>
                    <a:p>
                      <a:r>
                        <a:rPr sz="1450" b="1" i="0">
                          <a:solidFill>
                            <a:srgbClr val="FFFFFF"/>
                          </a:solidFill>
                          <a:latin typeface="Calibri"/>
                        </a:rPr>
                        <a:t>What it answered</a:t>
                      </a:r>
                    </a:p>
                  </a:txBody>
                  <a:tcPr marL="101600" marR="101600" marT="38100" marB="38100" anchor="ctr">
                    <a:solidFill>
                      <a:srgbClr val="1A0F5C"/>
                    </a:solidFill>
                  </a:tcPr>
                </a:tc>
              </a:tr>
              <a:tr h="611632">
                <a:tc>
                  <a:txBody>
                    <a:bodyPr/>
                    <a:lstStyle/>
                    <a:p>
                      <a:r>
                        <a:rPr sz="1400" b="0" i="0">
                          <a:solidFill>
                            <a:srgbClr val="1A1440"/>
                          </a:solidFill>
                          <a:latin typeface="Calibri"/>
                        </a:rPr>
                        <a:t>1. Who are the top fifty?</a:t>
                      </a:r>
                    </a:p>
                  </a:txBody>
                  <a:tcPr marL="101600" marR="101600" marT="38100" marB="38100" anchor="ctr">
                    <a:solidFill>
                      <a:srgbClr val="FFFFFF"/>
                    </a:solidFill>
                  </a:tcPr>
                </a:tc>
                <a:tc>
                  <a:txBody>
                    <a:bodyPr/>
                    <a:lstStyle/>
                    <a:p>
                      <a:r>
                        <a:rPr sz="1400" b="0" i="0">
                          <a:solidFill>
                            <a:srgbClr val="1A1440"/>
                          </a:solidFill>
                          <a:latin typeface="Calibri"/>
                        </a:rPr>
                        <a:t>One list across the book: 35 Business, 11 Retail-Plus, 4 Retail-Core, no Student</a:t>
                      </a:r>
                    </a:p>
                  </a:txBody>
                  <a:tcPr marL="101600" marR="101600" marT="38100" marB="38100" anchor="ctr">
                    <a:solidFill>
                      <a:srgbClr val="FFFFFF"/>
                    </a:solidFill>
                  </a:tcPr>
                </a:tc>
              </a:tr>
              <a:tr h="369824">
                <a:tc>
                  <a:txBody>
                    <a:bodyPr/>
                    <a:lstStyle/>
                    <a:p>
                      <a:r>
                        <a:rPr sz="1400" b="0" i="0">
                          <a:solidFill>
                            <a:srgbClr val="1A1440"/>
                          </a:solidFill>
                          <a:latin typeface="Calibri"/>
                        </a:rPr>
                        <a:t>2. Top fifty per segment?</a:t>
                      </a:r>
                    </a:p>
                  </a:txBody>
                  <a:tcPr marL="101600" marR="101600" marT="38100" marB="38100" anchor="ctr">
                    <a:solidFill>
                      <a:srgbClr val="F4F2FA"/>
                    </a:solidFill>
                  </a:tcPr>
                </a:tc>
                <a:tc>
                  <a:txBody>
                    <a:bodyPr/>
                    <a:lstStyle/>
                    <a:p>
                      <a:r>
                        <a:rPr sz="1400" b="0" i="0">
                          <a:solidFill>
                            <a:srgbClr val="1A1440"/>
                          </a:solidFill>
                          <a:latin typeface="Calibri"/>
                        </a:rPr>
                        <a:t>PARTITION BY segment: fifty, or every buyer, in each segment</a:t>
                      </a:r>
                    </a:p>
                  </a:txBody>
                  <a:tcPr marL="101600" marR="101600" marT="38100" marB="38100" anchor="ctr">
                    <a:solidFill>
                      <a:srgbClr val="F4F2FA"/>
                    </a:solidFill>
                  </a:tcPr>
                </a:tc>
              </a:tr>
              <a:tr h="369824">
                <a:tc>
                  <a:txBody>
                    <a:bodyPr/>
                    <a:lstStyle/>
                    <a:p>
                      <a:r>
                        <a:rPr sz="1400" b="0" i="0">
                          <a:solidFill>
                            <a:srgbClr val="1A1440"/>
                          </a:solidFill>
                          <a:latin typeface="Calibri"/>
                        </a:rPr>
                        <a:t>3. Who makes it at a tie?</a:t>
                      </a:r>
                    </a:p>
                  </a:txBody>
                  <a:tcPr marL="101600" marR="101600" marT="38100" marB="38100" anchor="ctr">
                    <a:solidFill>
                      <a:srgbClr val="FFFFFF"/>
                    </a:solidFill>
                  </a:tcPr>
                </a:tc>
                <a:tc>
                  <a:txBody>
                    <a:bodyPr/>
                    <a:lstStyle/>
                    <a:p>
                      <a:r>
                        <a:rPr sz="1400" b="0" i="0">
                          <a:solidFill>
                            <a:srgbClr val="1A1440"/>
                          </a:solidFill>
                          <a:latin typeface="Calibri"/>
                        </a:rPr>
                        <a:t>RANK, with the count and its reason; DENSE_RANK can run past fifty</a:t>
                      </a:r>
                    </a:p>
                  </a:txBody>
                  <a:tcPr marL="101600" marR="101600" marT="38100" marB="38100" anchor="ctr">
                    <a:solidFill>
                      <a:srgbClr val="FFFFFF"/>
                    </a:solidFill>
                  </a:tcPr>
                </a:tc>
              </a:tr>
              <a:tr h="369824">
                <a:tc>
                  <a:txBody>
                    <a:bodyPr/>
                    <a:lstStyle/>
                    <a:p>
                      <a:r>
                        <a:rPr sz="1400" b="0" i="0">
                          <a:solidFill>
                            <a:srgbClr val="1A1440"/>
                          </a:solidFill>
                          <a:latin typeface="Calibri"/>
                        </a:rPr>
                        <a:t>4. Whose spend is falling?</a:t>
                      </a:r>
                    </a:p>
                  </a:txBody>
                  <a:tcPr marL="101600" marR="101600" marT="38100" marB="38100" anchor="ctr">
                    <a:solidFill>
                      <a:srgbClr val="F4F2FA"/>
                    </a:solidFill>
                  </a:tcPr>
                </a:tc>
                <a:tc>
                  <a:txBody>
                    <a:bodyPr/>
                    <a:lstStyle/>
                    <a:p>
                      <a:r>
                        <a:rPr sz="1400" b="0" i="0">
                          <a:solidFill>
                            <a:srgbClr val="1A1440"/>
                          </a:solidFill>
                          <a:latin typeface="Calibri"/>
                        </a:rPr>
                        <a:t>16 members, with each member's months kept apart; 20 without</a:t>
                      </a:r>
                    </a:p>
                  </a:txBody>
                  <a:tcPr marL="101600" marR="101600" marT="38100" marB="38100" anchor="ctr">
                    <a:solidFill>
                      <a:srgbClr val="F4F2FA"/>
                    </a:solidFill>
                  </a:tcPr>
                </a:tc>
              </a:tr>
              <a:tr h="369824">
                <a:tc>
                  <a:txBody>
                    <a:bodyPr/>
                    <a:lstStyle/>
                    <a:p>
                      <a:r>
                        <a:rPr sz="1400" b="0" i="0">
                          <a:solidFill>
                            <a:srgbClr val="1A1440"/>
                          </a:solidFill>
                          <a:latin typeface="Calibri"/>
                        </a:rPr>
                        <a:t>5. On track against plan?</a:t>
                      </a:r>
                    </a:p>
                  </a:txBody>
                  <a:tcPr marL="101600" marR="101600" marT="38100" marB="38100" anchor="ctr">
                    <a:solidFill>
                      <a:srgbClr val="FFFFFF"/>
                    </a:solidFill>
                  </a:tcPr>
                </a:tc>
                <a:tc>
                  <a:txBody>
                    <a:bodyPr/>
                    <a:lstStyle/>
                    <a:p>
                      <a:r>
                        <a:rPr sz="1400" b="0" i="0">
                          <a:solidFill>
                            <a:srgbClr val="1A1440"/>
                          </a:solidFill>
                          <a:latin typeface="Calibri"/>
                        </a:rPr>
                        <a:t>Q2 closed Rs 10 ahead; Rs 1.58 crore ahead at mid-quarter, from one July week</a:t>
                      </a:r>
                    </a:p>
                  </a:txBody>
                  <a:tcPr marL="101600" marR="101600" marT="38100" marB="38100" anchor="ctr">
                    <a:solidFill>
                      <a:srgbClr val="FFFFFF"/>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Who does Marketing call?</a:t>
            </a:r>
          </a:p>
        </p:txBody>
      </p:sp>
      <p:sp>
        <p:nvSpPr>
          <p:cNvPr id="12" name="Oval 1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19706"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14" name="Oval 13"/>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615308"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What do we tell Marketing?</a:t>
            </a:r>
          </a:p>
        </p:txBody>
      </p:sp>
      <p:sp>
        <p:nvSpPr>
          <p:cNvPr id="16" name="TextBox 1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  ·  2 / 31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Today teaches SQL window functions in six topics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will today teach?</a:t>
            </a:r>
          </a:p>
        </p:txBody>
      </p:sp>
      <p:pic>
        <p:nvPicPr>
          <p:cNvPr id="9" name="mermaid diagram" descr="e379156194868999.png"/>
          <p:cNvPicPr>
            <a:picLocks noChangeAspect="1"/>
          </p:cNvPicPr>
          <p:nvPr/>
        </p:nvPicPr>
        <p:blipFill>
          <a:blip r:embed="rId5"/>
          <a:stretch>
            <a:fillRect/>
          </a:stretch>
        </p:blipFill>
        <p:spPr>
          <a:xfrm>
            <a:off x="638013" y="1682496"/>
            <a:ext cx="4571003" cy="4517136"/>
          </a:xfrm>
          <a:prstGeom prst="rect">
            <a:avLst/>
          </a:prstGeom>
        </p:spPr>
      </p:pic>
      <p:graphicFrame>
        <p:nvGraphicFramePr>
          <p:cNvPr id="10" name="Table 9"/>
          <p:cNvGraphicFramePr>
            <a:graphicFrameLocks noGrp="1"/>
          </p:cNvGraphicFramePr>
          <p:nvPr/>
        </p:nvGraphicFramePr>
        <p:xfrm>
          <a:off x="5761917" y="1818640"/>
          <a:ext cx="5899424" cy="2663952"/>
        </p:xfrm>
        <a:graphic>
          <a:graphicData uri="http://schemas.openxmlformats.org/drawingml/2006/table">
            <a:tbl>
              <a:tblPr firstRow="0" bandRow="0">
                <a:tableStyleId>{2D5ABB26-0587-4C30-8999-92F81FD0307C}</a:tableStyleId>
              </a:tblPr>
              <a:tblGrid>
                <a:gridCol w="2369139"/>
                <a:gridCol w="1949896"/>
                <a:gridCol w="1580389"/>
              </a:tblGrid>
              <a:tr h="310896">
                <a:tc>
                  <a:txBody>
                    <a:bodyPr/>
                    <a:lstStyle/>
                    <a:p>
                      <a:r>
                        <a:rPr sz="1050" b="1" i="0">
                          <a:solidFill>
                            <a:srgbClr val="FFFFFF"/>
                          </a:solidFill>
                          <a:latin typeface="Calibri"/>
                        </a:rPr>
                        <a:t>Topic, in the curriculum's words</a:t>
                      </a:r>
                    </a:p>
                  </a:txBody>
                  <a:tcPr marL="101600" marR="101600" marT="38100" marB="38100" anchor="ctr">
                    <a:solidFill>
                      <a:srgbClr val="1A0F5C"/>
                    </a:solidFill>
                  </a:tcPr>
                </a:tc>
                <a:tc>
                  <a:txBody>
                    <a:bodyPr/>
                    <a:lstStyle/>
                    <a:p>
                      <a:r>
                        <a:rPr sz="1050" b="1" i="0">
                          <a:solidFill>
                            <a:srgbClr val="FFFFFF"/>
                          </a:solidFill>
                          <a:latin typeface="Calibri"/>
                        </a:rPr>
                        <a:t>Chapter</a:t>
                      </a:r>
                    </a:p>
                  </a:txBody>
                  <a:tcPr marL="101600" marR="101600" marT="38100" marB="38100" anchor="ctr">
                    <a:solidFill>
                      <a:srgbClr val="1A0F5C"/>
                    </a:solidFill>
                  </a:tcPr>
                </a:tc>
                <a:tc>
                  <a:txBody>
                    <a:bodyPr/>
                    <a:lstStyle/>
                    <a:p>
                      <a:r>
                        <a:rPr sz="1050" b="1" i="0">
                          <a:solidFill>
                            <a:srgbClr val="FFFFFF"/>
                          </a:solidFill>
                          <a:latin typeface="Calibri"/>
                        </a:rPr>
                        <a:t>Minutes</a:t>
                      </a:r>
                    </a:p>
                  </a:txBody>
                  <a:tcPr marL="101600" marR="101600" marT="38100" marB="38100" anchor="ctr">
                    <a:solidFill>
                      <a:srgbClr val="1A0F5C"/>
                    </a:solidFill>
                  </a:tcPr>
                </a:tc>
              </a:tr>
              <a:tr h="473456">
                <a:tc>
                  <a:txBody>
                    <a:bodyPr/>
                    <a:lstStyle/>
                    <a:p>
                      <a:r>
                        <a:rPr sz="1000" b="0" i="0">
                          <a:solidFill>
                            <a:srgbClr val="1A1440"/>
                          </a:solidFill>
                          <a:latin typeface="Calibri"/>
                        </a:rPr>
                        <a:t>ROW_NUMBER, RANK and DENSE_RANK, and what a tie does to each</a:t>
                      </a:r>
                    </a:p>
                  </a:txBody>
                  <a:tcPr marL="101600" marR="101600" marT="38100" marB="38100" anchor="ctr">
                    <a:solidFill>
                      <a:srgbClr val="FFFFFF"/>
                    </a:solidFill>
                  </a:tcPr>
                </a:tc>
                <a:tc>
                  <a:txBody>
                    <a:bodyPr/>
                    <a:lstStyle/>
                    <a:p>
                      <a:r>
                        <a:rPr sz="1000" b="0" i="0">
                          <a:solidFill>
                            <a:srgbClr val="1A1440"/>
                          </a:solidFill>
                          <a:latin typeface="Calibri"/>
                        </a:rPr>
                        <a:t>3</a:t>
                      </a:r>
                    </a:p>
                  </a:txBody>
                  <a:tcPr marL="101600" marR="101600" marT="38100" marB="38100" anchor="ctr">
                    <a:solidFill>
                      <a:srgbClr val="FFFFFF"/>
                    </a:solidFill>
                  </a:tcPr>
                </a:tc>
                <a:tc>
                  <a:txBody>
                    <a:bodyPr/>
                    <a:lstStyle/>
                    <a:p>
                      <a:r>
                        <a:rPr sz="1000" b="0" i="0">
                          <a:solidFill>
                            <a:srgbClr val="1A1440"/>
                          </a:solidFill>
                          <a:latin typeface="Calibri"/>
                        </a:rPr>
                        <a:t>30</a:t>
                      </a:r>
                    </a:p>
                  </a:txBody>
                  <a:tcPr marL="101600" marR="101600" marT="38100" marB="38100" anchor="ctr">
                    <a:solidFill>
                      <a:srgbClr val="FFFFFF"/>
                    </a:solidFill>
                  </a:tcPr>
                </a:tc>
              </a:tr>
              <a:tr h="473456">
                <a:tc>
                  <a:txBody>
                    <a:bodyPr/>
                    <a:lstStyle/>
                    <a:p>
                      <a:r>
                        <a:rPr sz="1000" b="0" i="0">
                          <a:solidFill>
                            <a:srgbClr val="1A1440"/>
                          </a:solidFill>
                          <a:latin typeface="Calibri"/>
                        </a:rPr>
                        <a:t>PARTITION BY; ORDER BY inside the window</a:t>
                      </a:r>
                    </a:p>
                  </a:txBody>
                  <a:tcPr marL="101600" marR="101600" marT="38100" marB="38100" anchor="ctr">
                    <a:solidFill>
                      <a:srgbClr val="F4F2FA"/>
                    </a:solidFill>
                  </a:tcPr>
                </a:tc>
                <a:tc>
                  <a:txBody>
                    <a:bodyPr/>
                    <a:lstStyle/>
                    <a:p>
                      <a:r>
                        <a:rPr sz="1000" b="0" i="0">
                          <a:solidFill>
                            <a:srgbClr val="1A1440"/>
                          </a:solidFill>
                          <a:latin typeface="Calibri"/>
                        </a:rPr>
                        <a:t>2, with ORDER BY from 1</a:t>
                      </a:r>
                    </a:p>
                  </a:txBody>
                  <a:tcPr marL="101600" marR="101600" marT="38100" marB="38100" anchor="ctr">
                    <a:solidFill>
                      <a:srgbClr val="F4F2FA"/>
                    </a:solidFill>
                  </a:tcPr>
                </a:tc>
                <a:tc>
                  <a:txBody>
                    <a:bodyPr/>
                    <a:lstStyle/>
                    <a:p>
                      <a:r>
                        <a:rPr sz="1000" b="0" i="0">
                          <a:solidFill>
                            <a:srgbClr val="1A1440"/>
                          </a:solidFill>
                          <a:latin typeface="Calibri"/>
                        </a:rPr>
                        <a:t>30 each</a:t>
                      </a:r>
                    </a:p>
                  </a:txBody>
                  <a:tcPr marL="101600" marR="101600" marT="38100" marB="38100" anchor="ctr">
                    <a:solidFill>
                      <a:srgbClr val="F4F2FA"/>
                    </a:solidFill>
                  </a:tcPr>
                </a:tc>
              </a:tr>
              <a:tr h="310896">
                <a:tc>
                  <a:txBody>
                    <a:bodyPr/>
                    <a:lstStyle/>
                    <a:p>
                      <a:r>
                        <a:rPr sz="1000" b="0" i="0">
                          <a:solidFill>
                            <a:srgbClr val="1A1440"/>
                          </a:solidFill>
                          <a:latin typeface="Calibri"/>
                        </a:rPr>
                        <a:t>Top-N per group</a:t>
                      </a:r>
                    </a:p>
                  </a:txBody>
                  <a:tcPr marL="101600" marR="101600" marT="38100" marB="38100" anchor="ctr">
                    <a:solidFill>
                      <a:srgbClr val="FFFFFF"/>
                    </a:solidFill>
                  </a:tcPr>
                </a:tc>
                <a:tc>
                  <a:txBody>
                    <a:bodyPr/>
                    <a:lstStyle/>
                    <a:p>
                      <a:r>
                        <a:rPr sz="1000" b="0" i="0">
                          <a:solidFill>
                            <a:srgbClr val="1A1440"/>
                          </a:solidFill>
                          <a:latin typeface="Calibri"/>
                        </a:rPr>
                        <a:t>2</a:t>
                      </a:r>
                    </a:p>
                  </a:txBody>
                  <a:tcPr marL="101600" marR="101600" marT="38100" marB="38100" anchor="ctr">
                    <a:solidFill>
                      <a:srgbClr val="FFFFFF"/>
                    </a:solidFill>
                  </a:tcPr>
                </a:tc>
                <a:tc>
                  <a:txBody>
                    <a:bodyPr/>
                    <a:lstStyle/>
                    <a:p>
                      <a:r>
                        <a:rPr sz="1000" b="0" i="0">
                          <a:solidFill>
                            <a:srgbClr val="1A1440"/>
                          </a:solidFill>
                          <a:latin typeface="Calibri"/>
                        </a:rPr>
                        <a:t>the same 30</a:t>
                      </a:r>
                    </a:p>
                  </a:txBody>
                  <a:tcPr marL="101600" marR="101600" marT="38100" marB="38100" anchor="ctr">
                    <a:solidFill>
                      <a:srgbClr val="FFFFFF"/>
                    </a:solidFill>
                  </a:tcPr>
                </a:tc>
              </a:tr>
              <a:tr h="473456">
                <a:tc>
                  <a:txBody>
                    <a:bodyPr/>
                    <a:lstStyle/>
                    <a:p>
                      <a:r>
                        <a:rPr sz="1000" b="0" i="0">
                          <a:solidFill>
                            <a:srgbClr val="1A1440"/>
                          </a:solidFill>
                          <a:latin typeface="Calibri"/>
                        </a:rPr>
                        <a:t>LAG and LEAD; month-on-month comparison per customer</a:t>
                      </a:r>
                    </a:p>
                  </a:txBody>
                  <a:tcPr marL="101600" marR="101600" marT="38100" marB="38100" anchor="ctr">
                    <a:solidFill>
                      <a:srgbClr val="F4F2FA"/>
                    </a:solidFill>
                  </a:tcPr>
                </a:tc>
                <a:tc>
                  <a:txBody>
                    <a:bodyPr/>
                    <a:lstStyle/>
                    <a:p>
                      <a:r>
                        <a:rPr sz="1000" b="0" i="0">
                          <a:solidFill>
                            <a:srgbClr val="1A1440"/>
                          </a:solidFill>
                          <a:latin typeface="Calibri"/>
                        </a:rPr>
                        <a:t>4, and 6 on the calendar</a:t>
                      </a:r>
                    </a:p>
                  </a:txBody>
                  <a:tcPr marL="101600" marR="101600" marT="38100" marB="38100" anchor="ctr">
                    <a:solidFill>
                      <a:srgbClr val="F4F2FA"/>
                    </a:solidFill>
                  </a:tcPr>
                </a:tc>
                <a:tc>
                  <a:txBody>
                    <a:bodyPr/>
                    <a:lstStyle/>
                    <a:p>
                      <a:r>
                        <a:rPr sz="1000" b="0" i="0">
                          <a:solidFill>
                            <a:srgbClr val="1A1440"/>
                          </a:solidFill>
                          <a:latin typeface="Calibri"/>
                        </a:rPr>
                        <a:t>30 each</a:t>
                      </a:r>
                    </a:p>
                  </a:txBody>
                  <a:tcPr marL="101600" marR="101600" marT="38100" marB="38100" anchor="ctr">
                    <a:solidFill>
                      <a:srgbClr val="F4F2FA"/>
                    </a:solidFill>
                  </a:tcPr>
                </a:tc>
              </a:tr>
              <a:tr h="310896">
                <a:tc>
                  <a:txBody>
                    <a:bodyPr/>
                    <a:lstStyle/>
                    <a:p>
                      <a:r>
                        <a:rPr sz="1000" b="0" i="0">
                          <a:solidFill>
                            <a:srgbClr val="1A1440"/>
                          </a:solidFill>
                          <a:latin typeface="Calibri"/>
                        </a:rPr>
                        <a:t>Running totals and determinism</a:t>
                      </a:r>
                    </a:p>
                  </a:txBody>
                  <a:tcPr marL="101600" marR="101600" marT="38100" marB="38100" anchor="ctr">
                    <a:solidFill>
                      <a:srgbClr val="FFFFFF"/>
                    </a:solidFill>
                  </a:tcPr>
                </a:tc>
                <a:tc>
                  <a:txBody>
                    <a:bodyPr/>
                    <a:lstStyle/>
                    <a:p>
                      <a:r>
                        <a:rPr sz="1000" b="0" i="0">
                          <a:solidFill>
                            <a:srgbClr val="1A1440"/>
                          </a:solidFill>
                          <a:latin typeface="Calibri"/>
                        </a:rPr>
                        <a:t>5</a:t>
                      </a:r>
                    </a:p>
                  </a:txBody>
                  <a:tcPr marL="101600" marR="101600" marT="38100" marB="38100" anchor="ctr">
                    <a:solidFill>
                      <a:srgbClr val="FFFFFF"/>
                    </a:solidFill>
                  </a:tcPr>
                </a:tc>
                <a:tc>
                  <a:txBody>
                    <a:bodyPr/>
                    <a:lstStyle/>
                    <a:p>
                      <a:r>
                        <a:rPr sz="1000" b="0" i="0">
                          <a:solidFill>
                            <a:srgbClr val="1A1440"/>
                          </a:solidFill>
                          <a:latin typeface="Calibri"/>
                        </a:rPr>
                        <a:t>30</a:t>
                      </a:r>
                    </a:p>
                  </a:txBody>
                  <a:tcPr marL="101600" marR="101600" marT="38100" marB="38100" anchor="ctr">
                    <a:solidFill>
                      <a:srgbClr val="FFFFFF"/>
                    </a:solidFill>
                  </a:tcPr>
                </a:tc>
              </a:tr>
              <a:tr h="310896">
                <a:tc>
                  <a:txBody>
                    <a:bodyPr/>
                    <a:lstStyle/>
                    <a:p>
                      <a:r>
                        <a:rPr sz="1000" b="0" i="0">
                          <a:solidFill>
                            <a:srgbClr val="1A1440"/>
                          </a:solidFill>
                          <a:latin typeface="Calibri"/>
                        </a:rPr>
                        <a:t>Filtering on a window via a CTE</a:t>
                      </a:r>
                    </a:p>
                  </a:txBody>
                  <a:tcPr marL="101600" marR="101600" marT="38100" marB="38100" anchor="ctr">
                    <a:solidFill>
                      <a:srgbClr val="F4F2FA"/>
                    </a:solidFill>
                  </a:tcPr>
                </a:tc>
                <a:tc>
                  <a:txBody>
                    <a:bodyPr/>
                    <a:lstStyle/>
                    <a:p>
                      <a:r>
                        <a:rPr sz="1000" b="0" i="0">
                          <a:solidFill>
                            <a:srgbClr val="1A1440"/>
                          </a:solidFill>
                          <a:latin typeface="Calibri"/>
                        </a:rPr>
                        <a:t>2, first used in 1</a:t>
                      </a:r>
                    </a:p>
                  </a:txBody>
                  <a:tcPr marL="101600" marR="101600" marT="38100" marB="38100" anchor="ctr">
                    <a:solidFill>
                      <a:srgbClr val="F4F2FA"/>
                    </a:solidFill>
                  </a:tcPr>
                </a:tc>
                <a:tc>
                  <a:txBody>
                    <a:bodyPr/>
                    <a:lstStyle/>
                    <a:p>
                      <a:r>
                        <a:rPr sz="1000" b="0" i="0">
                          <a:solidFill>
                            <a:srgbClr val="1A1440"/>
                          </a:solidFill>
                          <a:latin typeface="Calibri"/>
                        </a:rPr>
                        <a:t>4 of chapter 2's 30</a:t>
                      </a:r>
                    </a:p>
                  </a:txBody>
                  <a:tcPr marL="101600" marR="101600" marT="38100" marB="38100" anchor="ctr">
                    <a:solidFill>
                      <a:srgbClr val="F4F2FA"/>
                    </a:solidFill>
                  </a:tcPr>
                </a:tc>
              </a:tr>
            </a:tbl>
          </a:graphicData>
        </a:graphic>
      </p:graphicFrame>
      <p:sp>
        <p:nvSpPr>
          <p:cNvPr id="11" name="TextBox 10"/>
          <p:cNvSpPr txBox="1"/>
          <p:nvPr/>
        </p:nvSpPr>
        <p:spPr>
          <a:xfrm>
            <a:off x="5761917" y="4738624"/>
            <a:ext cx="5899425" cy="1324864"/>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Monday's GROUP BY collapses the rows a window keeps, and WHERE runs before any window, so a filter on the place waits for a CTE; Tuesday's join check closes chapter 5's running total on the quarter.</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Who does Marketing call?</a:t>
            </a:r>
          </a:p>
        </p:txBody>
      </p:sp>
      <p:sp>
        <p:nvSpPr>
          <p:cNvPr id="14" name="Oval 13"/>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19706"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16" name="Oval 15"/>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615308"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What do we tell Marketing?</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S1a  ·  3 / 31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06</a:t>
            </a:r>
          </a:p>
        </p:txBody>
      </p:sp>
      <p:sp>
        <p:nvSpPr>
          <p:cNvPr id="8" name="TextBox 7"/>
          <p:cNvSpPr txBox="1"/>
          <p:nvPr/>
        </p:nvSpPr>
        <p:spPr>
          <a:xfrm>
            <a:off x="731519" y="2542032"/>
            <a:ext cx="10673791" cy="366776"/>
          </a:xfrm>
          <a:prstGeom prst="rect">
            <a:avLst/>
          </a:prstGeom>
          <a:noFill/>
        </p:spPr>
        <p:txBody>
          <a:bodyPr wrap="square" anchor="t" lIns="0" rIns="0" tIns="0" bIns="0">
            <a:spAutoFit/>
          </a:bodyPr>
          <a:lstStyle/>
          <a:p>
            <a:pPr algn="l"/>
            <a:r>
              <a:rPr sz="2000" b="1" i="0">
                <a:solidFill>
                  <a:srgbClr val="D9A7FF"/>
                </a:solidFill>
                <a:latin typeface="Calibri"/>
              </a:rPr>
              <a:t>Month-on-month comparison per customer</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Who does Marketing call?</a:t>
            </a:r>
          </a:p>
        </p:txBody>
      </p:sp>
      <p:sp>
        <p:nvSpPr>
          <p:cNvPr id="10" name="TextBox 9"/>
          <p:cNvSpPr txBox="1"/>
          <p:nvPr/>
        </p:nvSpPr>
        <p:spPr>
          <a:xfrm>
            <a:off x="731519" y="3931920"/>
            <a:ext cx="9509760" cy="531876"/>
          </a:xfrm>
          <a:prstGeom prst="rect">
            <a:avLst/>
          </a:prstGeom>
          <a:noFill/>
        </p:spPr>
        <p:txBody>
          <a:bodyPr wrap="square" anchor="t" lIns="0" rIns="0" tIns="0" bIns="0">
            <a:spAutoFit/>
          </a:bodyPr>
          <a:lstStyle/>
          <a:p>
            <a:pPr algn="l"/>
            <a:r>
              <a:rPr sz="1500" b="0" i="0">
                <a:solidFill>
                  <a:srgbClr val="E4E1F1"/>
                </a:solidFill>
                <a:latin typeface="Calibri"/>
              </a:rPr>
              <a:t>Which listed members does Marketing call first, and does each flag hold up when a member says they were on holiday?</a:t>
            </a:r>
          </a:p>
        </p:txBody>
      </p:sp>
      <p:sp>
        <p:nvSpPr>
          <p:cNvPr id="11" name="Rounded Rectangle 10"/>
          <p:cNvSpPr/>
          <p:nvPr/>
        </p:nvSpPr>
        <p:spPr>
          <a:xfrm>
            <a:off x="731519" y="5074920"/>
            <a:ext cx="1786943"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Who does Marketing call?</a:t>
            </a:r>
          </a:p>
        </p:txBody>
      </p:sp>
      <p:sp>
        <p:nvSpPr>
          <p:cNvPr id="12" name="Rounded Rectangle 11"/>
          <p:cNvSpPr/>
          <p:nvPr/>
        </p:nvSpPr>
        <p:spPr>
          <a:xfrm>
            <a:off x="2628191" y="5074920"/>
            <a:ext cx="155007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Can you do it alone?</a:t>
            </a:r>
          </a:p>
        </p:txBody>
      </p:sp>
      <p:sp>
        <p:nvSpPr>
          <p:cNvPr id="13" name="Rounded Rectangle 12"/>
          <p:cNvSpPr/>
          <p:nvPr/>
        </p:nvSpPr>
        <p:spPr>
          <a:xfrm>
            <a:off x="4287998" y="5074920"/>
            <a:ext cx="190537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 we tell Marketing?</a:t>
            </a:r>
          </a:p>
        </p:txBody>
      </p:sp>
      <p:sp>
        <p:nvSpPr>
          <p:cNvPr id="14" name="TextBox 13"/>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2, Day 3. Who does Marketing call first?</a:t>
            </a:r>
          </a:p>
        </p:txBody>
      </p:sp>
      <p:sp>
        <p:nvSpPr>
          <p:cNvPr id="15" name="TextBox 1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4 / 31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Answered in six questions, before the first call</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call list, and which questions lead to it?</a:t>
            </a:r>
          </a:p>
        </p:txBody>
      </p:sp>
      <p:sp>
        <p:nvSpPr>
          <p:cNvPr id="9" name="Rounded Rectangle 8"/>
          <p:cNvSpPr/>
          <p:nvPr/>
        </p:nvSpPr>
        <p:spPr>
          <a:xfrm>
            <a:off x="530352" y="1956816"/>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8915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The member team rings the flagged members on the protect lists this week, and the head of Retail-Plus answers to the tier's members for every call. A call that tells a loyal member their spend is falling when they were away costs their goodwill and maybe their renewal.</a:t>
            </a:r>
          </a:p>
        </p:txBody>
      </p:sp>
      <p:sp>
        <p:nvSpPr>
          <p:cNvPr id="12" name="Rectangle 11"/>
          <p:cNvSpPr/>
          <p:nvPr/>
        </p:nvSpPr>
        <p:spPr>
          <a:xfrm>
            <a:off x="1381734" y="3762756"/>
            <a:ext cx="942822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0352" y="31958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1</a:t>
            </a:r>
          </a:p>
        </p:txBody>
      </p:sp>
      <p:sp>
        <p:nvSpPr>
          <p:cNvPr id="14" name="Oval 13"/>
          <p:cNvSpPr/>
          <p:nvPr/>
        </p:nvSpPr>
        <p:spPr>
          <a:xfrm>
            <a:off x="1281150"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530352" y="40827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94944" y="4229100"/>
            <a:ext cx="1373581" cy="465836"/>
          </a:xfrm>
          <a:prstGeom prst="rect">
            <a:avLst/>
          </a:prstGeom>
          <a:noFill/>
        </p:spPr>
        <p:txBody>
          <a:bodyPr wrap="square" anchor="t" lIns="0" rIns="0" tIns="0" bIns="0">
            <a:spAutoFit/>
          </a:bodyPr>
          <a:lstStyle/>
          <a:p>
            <a:pPr algn="l"/>
            <a:r>
              <a:rPr sz="1300" b="1" i="0">
                <a:solidFill>
                  <a:srgbClr val="1A0F5C"/>
                </a:solidFill>
                <a:latin typeface="Calibri"/>
              </a:rPr>
              <a:t>Which reading of last month?</a:t>
            </a:r>
          </a:p>
        </p:txBody>
      </p:sp>
      <p:sp>
        <p:nvSpPr>
          <p:cNvPr id="17" name="TextBox 16"/>
          <p:cNvSpPr txBox="1"/>
          <p:nvPr/>
        </p:nvSpPr>
        <p:spPr>
          <a:xfrm>
            <a:off x="694944" y="4731512"/>
            <a:ext cx="1373581" cy="201676"/>
          </a:xfrm>
          <a:prstGeom prst="rect">
            <a:avLst/>
          </a:prstGeom>
          <a:noFill/>
        </p:spPr>
        <p:txBody>
          <a:bodyPr wrap="square" anchor="t" lIns="0" rIns="0" tIns="0" bIns="0">
            <a:spAutoFit/>
          </a:bodyPr>
          <a:lstStyle/>
          <a:p>
            <a:pPr algn="l"/>
            <a:r>
              <a:rPr sz="1000" b="0" i="0">
                <a:solidFill>
                  <a:srgbClr val="6B6690"/>
                </a:solidFill>
                <a:latin typeface="Calibri"/>
              </a:rPr>
              <a:t>Four ways, sized</a:t>
            </a:r>
          </a:p>
        </p:txBody>
      </p:sp>
      <p:sp>
        <p:nvSpPr>
          <p:cNvPr id="18" name="TextBox 17"/>
          <p:cNvSpPr txBox="1"/>
          <p:nvPr/>
        </p:nvSpPr>
        <p:spPr>
          <a:xfrm>
            <a:off x="2415997" y="31958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2</a:t>
            </a:r>
          </a:p>
        </p:txBody>
      </p:sp>
      <p:sp>
        <p:nvSpPr>
          <p:cNvPr id="19" name="Oval 18"/>
          <p:cNvSpPr/>
          <p:nvPr/>
        </p:nvSpPr>
        <p:spPr>
          <a:xfrm>
            <a:off x="3166795"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2415997" y="40827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580589" y="4229100"/>
            <a:ext cx="1373581" cy="465836"/>
          </a:xfrm>
          <a:prstGeom prst="rect">
            <a:avLst/>
          </a:prstGeom>
          <a:noFill/>
        </p:spPr>
        <p:txBody>
          <a:bodyPr wrap="square" anchor="t" lIns="0" rIns="0" tIns="0" bIns="0">
            <a:spAutoFit/>
          </a:bodyPr>
          <a:lstStyle/>
          <a:p>
            <a:pPr algn="l"/>
            <a:r>
              <a:rPr sz="1300" b="1" i="0">
                <a:solidFill>
                  <a:srgbClr val="1A0F5C"/>
                </a:solidFill>
                <a:latin typeface="Calibri"/>
              </a:rPr>
              <a:t>How many flagged are listed?</a:t>
            </a:r>
          </a:p>
        </p:txBody>
      </p:sp>
      <p:sp>
        <p:nvSpPr>
          <p:cNvPr id="22" name="TextBox 21"/>
          <p:cNvSpPr txBox="1"/>
          <p:nvPr/>
        </p:nvSpPr>
        <p:spPr>
          <a:xfrm>
            <a:off x="2580589" y="4731512"/>
            <a:ext cx="1373581" cy="366776"/>
          </a:xfrm>
          <a:prstGeom prst="rect">
            <a:avLst/>
          </a:prstGeom>
          <a:noFill/>
        </p:spPr>
        <p:txBody>
          <a:bodyPr wrap="square" anchor="t" lIns="0" rIns="0" tIns="0" bIns="0">
            <a:spAutoFit/>
          </a:bodyPr>
          <a:lstStyle/>
          <a:p>
            <a:pPr algn="l"/>
            <a:r>
              <a:rPr sz="1000" b="0" i="0">
                <a:solidFill>
                  <a:srgbClr val="6B6690"/>
                </a:solidFill>
                <a:latin typeface="Calibri"/>
              </a:rPr>
              <a:t>The list meets the flag</a:t>
            </a:r>
          </a:p>
        </p:txBody>
      </p:sp>
      <p:sp>
        <p:nvSpPr>
          <p:cNvPr id="23" name="TextBox 22"/>
          <p:cNvSpPr txBox="1"/>
          <p:nvPr/>
        </p:nvSpPr>
        <p:spPr>
          <a:xfrm>
            <a:off x="4301642" y="31958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3</a:t>
            </a:r>
          </a:p>
        </p:txBody>
      </p:sp>
      <p:sp>
        <p:nvSpPr>
          <p:cNvPr id="24" name="Oval 23"/>
          <p:cNvSpPr/>
          <p:nvPr/>
        </p:nvSpPr>
        <p:spPr>
          <a:xfrm>
            <a:off x="5052441"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4301642" y="40827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466234" y="4229100"/>
            <a:ext cx="1373581" cy="465836"/>
          </a:xfrm>
          <a:prstGeom prst="rect">
            <a:avLst/>
          </a:prstGeom>
          <a:noFill/>
        </p:spPr>
        <p:txBody>
          <a:bodyPr wrap="square" anchor="t" lIns="0" rIns="0" tIns="0" bIns="0">
            <a:spAutoFit/>
          </a:bodyPr>
          <a:lstStyle/>
          <a:p>
            <a:pPr algn="l"/>
            <a:r>
              <a:rPr sz="1300" b="1" i="0">
                <a:solidFill>
                  <a:srgbClr val="1A0F5C"/>
                </a:solidFill>
                <a:latin typeface="Calibri"/>
              </a:rPr>
              <a:t>What did LAG compare?</a:t>
            </a:r>
          </a:p>
        </p:txBody>
      </p:sp>
      <p:sp>
        <p:nvSpPr>
          <p:cNvPr id="27" name="TextBox 26"/>
          <p:cNvSpPr txBox="1"/>
          <p:nvPr/>
        </p:nvSpPr>
        <p:spPr>
          <a:xfrm>
            <a:off x="4466234" y="4731512"/>
            <a:ext cx="1373581" cy="366776"/>
          </a:xfrm>
          <a:prstGeom prst="rect">
            <a:avLst/>
          </a:prstGeom>
          <a:noFill/>
        </p:spPr>
        <p:txBody>
          <a:bodyPr wrap="square" anchor="t" lIns="0" rIns="0" tIns="0" bIns="0">
            <a:spAutoFit/>
          </a:bodyPr>
          <a:lstStyle/>
          <a:p>
            <a:pPr algn="l"/>
            <a:r>
              <a:rPr sz="1000" b="0" i="0">
                <a:solidFill>
                  <a:srgbClr val="6B6690"/>
                </a:solidFill>
                <a:latin typeface="Calibri"/>
              </a:rPr>
              <a:t>The member on holiday</a:t>
            </a:r>
          </a:p>
        </p:txBody>
      </p:sp>
      <p:sp>
        <p:nvSpPr>
          <p:cNvPr id="28" name="TextBox 27"/>
          <p:cNvSpPr txBox="1"/>
          <p:nvPr/>
        </p:nvSpPr>
        <p:spPr>
          <a:xfrm>
            <a:off x="6187287" y="31958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4</a:t>
            </a:r>
          </a:p>
        </p:txBody>
      </p:sp>
      <p:sp>
        <p:nvSpPr>
          <p:cNvPr id="29" name="Oval 28"/>
          <p:cNvSpPr/>
          <p:nvPr/>
        </p:nvSpPr>
        <p:spPr>
          <a:xfrm>
            <a:off x="6938086"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6187287" y="40827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351879" y="4229100"/>
            <a:ext cx="1373581" cy="465836"/>
          </a:xfrm>
          <a:prstGeom prst="rect">
            <a:avLst/>
          </a:prstGeom>
          <a:noFill/>
        </p:spPr>
        <p:txBody>
          <a:bodyPr wrap="square" anchor="t" lIns="0" rIns="0" tIns="0" bIns="0">
            <a:spAutoFit/>
          </a:bodyPr>
          <a:lstStyle/>
          <a:p>
            <a:pPr algn="l"/>
            <a:r>
              <a:rPr sz="1300" b="1" i="0">
                <a:solidFill>
                  <a:srgbClr val="1A0F5C"/>
                </a:solidFill>
                <a:latin typeface="Calibri"/>
              </a:rPr>
              <a:t>How many flags skip a month?</a:t>
            </a:r>
          </a:p>
        </p:txBody>
      </p:sp>
      <p:sp>
        <p:nvSpPr>
          <p:cNvPr id="32" name="TextBox 31"/>
          <p:cNvSpPr txBox="1"/>
          <p:nvPr/>
        </p:nvSpPr>
        <p:spPr>
          <a:xfrm>
            <a:off x="6351879" y="4731512"/>
            <a:ext cx="1373581" cy="366776"/>
          </a:xfrm>
          <a:prstGeom prst="rect">
            <a:avLst/>
          </a:prstGeom>
          <a:noFill/>
        </p:spPr>
        <p:txBody>
          <a:bodyPr wrap="square" anchor="t" lIns="0" rIns="0" tIns="0" bIns="0">
            <a:spAutoFit/>
          </a:bodyPr>
          <a:lstStyle/>
          <a:p>
            <a:pPr algn="l"/>
            <a:r>
              <a:rPr sz="1000" b="0" i="0">
                <a:solidFill>
                  <a:srgbClr val="6B6690"/>
                </a:solidFill>
                <a:latin typeface="Calibri"/>
              </a:rPr>
              <a:t>The check on all sixteen</a:t>
            </a:r>
          </a:p>
        </p:txBody>
      </p:sp>
      <p:sp>
        <p:nvSpPr>
          <p:cNvPr id="33" name="TextBox 32"/>
          <p:cNvSpPr txBox="1"/>
          <p:nvPr/>
        </p:nvSpPr>
        <p:spPr>
          <a:xfrm>
            <a:off x="8072932" y="31958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5</a:t>
            </a:r>
          </a:p>
        </p:txBody>
      </p:sp>
      <p:sp>
        <p:nvSpPr>
          <p:cNvPr id="34" name="Oval 33"/>
          <p:cNvSpPr/>
          <p:nvPr/>
        </p:nvSpPr>
        <p:spPr>
          <a:xfrm>
            <a:off x="8823731"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8072932" y="40827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8237524" y="4229100"/>
            <a:ext cx="1373581" cy="465836"/>
          </a:xfrm>
          <a:prstGeom prst="rect">
            <a:avLst/>
          </a:prstGeom>
          <a:noFill/>
        </p:spPr>
        <p:txBody>
          <a:bodyPr wrap="square" anchor="t" lIns="0" rIns="0" tIns="0" bIns="0">
            <a:spAutoFit/>
          </a:bodyPr>
          <a:lstStyle/>
          <a:p>
            <a:pPr algn="l"/>
            <a:r>
              <a:rPr sz="1300" b="1" i="0">
                <a:solidFill>
                  <a:srgbClr val="1A0F5C"/>
                </a:solidFill>
                <a:latin typeface="Calibri"/>
              </a:rPr>
              <a:t>Does a calendar join agree?</a:t>
            </a:r>
          </a:p>
        </p:txBody>
      </p:sp>
      <p:sp>
        <p:nvSpPr>
          <p:cNvPr id="37" name="TextBox 36"/>
          <p:cNvSpPr txBox="1"/>
          <p:nvPr/>
        </p:nvSpPr>
        <p:spPr>
          <a:xfrm>
            <a:off x="8237524" y="4731512"/>
            <a:ext cx="1373581" cy="201676"/>
          </a:xfrm>
          <a:prstGeom prst="rect">
            <a:avLst/>
          </a:prstGeom>
          <a:noFill/>
        </p:spPr>
        <p:txBody>
          <a:bodyPr wrap="square" anchor="t" lIns="0" rIns="0" tIns="0" bIns="0">
            <a:spAutoFit/>
          </a:bodyPr>
          <a:lstStyle/>
          <a:p>
            <a:pPr algn="l"/>
            <a:r>
              <a:rPr sz="1000" b="0" i="0">
                <a:solidFill>
                  <a:srgbClr val="6B6690"/>
                </a:solidFill>
                <a:latin typeface="Calibri"/>
              </a:rPr>
              <a:t>No window at all</a:t>
            </a:r>
          </a:p>
        </p:txBody>
      </p:sp>
      <p:sp>
        <p:nvSpPr>
          <p:cNvPr id="38" name="TextBox 37"/>
          <p:cNvSpPr txBox="1"/>
          <p:nvPr/>
        </p:nvSpPr>
        <p:spPr>
          <a:xfrm>
            <a:off x="9958578" y="31958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6</a:t>
            </a:r>
          </a:p>
        </p:txBody>
      </p:sp>
      <p:sp>
        <p:nvSpPr>
          <p:cNvPr id="39" name="Oval 38"/>
          <p:cNvSpPr/>
          <p:nvPr/>
        </p:nvSpPr>
        <p:spPr>
          <a:xfrm>
            <a:off x="10709376" y="3671316"/>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ounded Rectangle 39"/>
          <p:cNvSpPr/>
          <p:nvPr/>
        </p:nvSpPr>
        <p:spPr>
          <a:xfrm>
            <a:off x="9958578" y="4082796"/>
            <a:ext cx="1702765" cy="107696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10123170" y="4229100"/>
            <a:ext cx="1373581" cy="251205"/>
          </a:xfrm>
          <a:prstGeom prst="rect">
            <a:avLst/>
          </a:prstGeom>
          <a:noFill/>
        </p:spPr>
        <p:txBody>
          <a:bodyPr wrap="square" anchor="t" lIns="0" rIns="0" tIns="0" bIns="0">
            <a:spAutoFit/>
          </a:bodyPr>
          <a:lstStyle/>
          <a:p>
            <a:pPr algn="l"/>
            <a:r>
              <a:rPr sz="1300" b="1" i="0">
                <a:solidFill>
                  <a:srgbClr val="FFFFFF"/>
                </a:solidFill>
                <a:latin typeface="Calibri"/>
              </a:rPr>
              <a:t>Who goes first?</a:t>
            </a:r>
          </a:p>
        </p:txBody>
      </p:sp>
      <p:sp>
        <p:nvSpPr>
          <p:cNvPr id="42" name="TextBox 41"/>
          <p:cNvSpPr txBox="1"/>
          <p:nvPr/>
        </p:nvSpPr>
        <p:spPr>
          <a:xfrm>
            <a:off x="10123170" y="4516882"/>
            <a:ext cx="1373581" cy="366776"/>
          </a:xfrm>
          <a:prstGeom prst="rect">
            <a:avLst/>
          </a:prstGeom>
          <a:noFill/>
        </p:spPr>
        <p:txBody>
          <a:bodyPr wrap="square" anchor="t" lIns="0" rIns="0" tIns="0" bIns="0">
            <a:spAutoFit/>
          </a:bodyPr>
          <a:lstStyle/>
          <a:p>
            <a:pPr algn="l"/>
            <a:r>
              <a:rPr sz="1000" b="0" i="0">
                <a:solidFill>
                  <a:srgbClr val="CFC9EE"/>
                </a:solidFill>
                <a:latin typeface="Calibri"/>
              </a:rPr>
              <a:t>The calls Marketing makes</a:t>
            </a:r>
          </a:p>
        </p:txBody>
      </p:sp>
      <p:sp>
        <p:nvSpPr>
          <p:cNvPr id="43" name="Oval 4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Who does Marketing call?</a:t>
            </a:r>
          </a:p>
        </p:txBody>
      </p:sp>
      <p:sp>
        <p:nvSpPr>
          <p:cNvPr id="45" name="Oval 4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2219706"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47" name="Oval 46"/>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3615308"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What do we tell Marketing?</a:t>
            </a:r>
          </a:p>
        </p:txBody>
      </p:sp>
      <p:sp>
        <p:nvSpPr>
          <p:cNvPr id="49" name="TextBox 4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  ·  5 / 31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member team rings flagged members this week</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asks, what is measured, and what does a wrong call cost?</a:t>
            </a:r>
          </a:p>
        </p:txBody>
      </p:sp>
      <p:sp>
        <p:nvSpPr>
          <p:cNvPr id="9" name="Rounded Rectangle 8"/>
          <p:cNvSpPr/>
          <p:nvPr/>
        </p:nvSpPr>
        <p:spPr>
          <a:xfrm>
            <a:off x="530352" y="1956816"/>
            <a:ext cx="3588410"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crown_50cb0a914c82.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WHO ASKS</a:t>
            </a:r>
          </a:p>
        </p:txBody>
      </p:sp>
      <p:sp>
        <p:nvSpPr>
          <p:cNvPr id="13" name="TextBox 12"/>
          <p:cNvSpPr txBox="1"/>
          <p:nvPr/>
        </p:nvSpPr>
        <p:spPr>
          <a:xfrm>
            <a:off x="731519"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The head of Retail-Plus</a:t>
            </a:r>
          </a:p>
        </p:txBody>
      </p:sp>
      <p:sp>
        <p:nvSpPr>
          <p:cNvPr id="14" name="TextBox 13"/>
          <p:cNvSpPr txBox="1"/>
          <p:nvPr/>
        </p:nvSpPr>
        <p:spPr>
          <a:xfrm>
            <a:off x="731519" y="3303524"/>
            <a:ext cx="3186074" cy="399796"/>
          </a:xfrm>
          <a:prstGeom prst="rect">
            <a:avLst/>
          </a:prstGeom>
          <a:noFill/>
        </p:spPr>
        <p:txBody>
          <a:bodyPr wrap="square" anchor="t" lIns="0" rIns="0" tIns="0" bIns="0">
            <a:spAutoFit/>
          </a:bodyPr>
          <a:lstStyle/>
          <a:p>
            <a:pPr algn="l"/>
            <a:r>
              <a:rPr sz="1100" b="0" i="0">
                <a:solidFill>
                  <a:srgbClr val="6B6690"/>
                </a:solidFill>
                <a:latin typeface="Calibri"/>
              </a:rPr>
              <a:t>Answers to the tier's members for every call the member team makes.</a:t>
            </a:r>
          </a:p>
        </p:txBody>
      </p:sp>
      <p:sp>
        <p:nvSpPr>
          <p:cNvPr id="15" name="Rounded Rectangle 14"/>
          <p:cNvSpPr/>
          <p:nvPr/>
        </p:nvSpPr>
        <p:spPr>
          <a:xfrm>
            <a:off x="4301642" y="1956816"/>
            <a:ext cx="3588410"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502810"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calendar_52de2a000930.png"/>
          <p:cNvPicPr>
            <a:picLocks noChangeAspect="1"/>
          </p:cNvPicPr>
          <p:nvPr/>
        </p:nvPicPr>
        <p:blipFill>
          <a:blip r:embed="rId5"/>
          <a:stretch>
            <a:fillRect/>
          </a:stretch>
        </p:blipFill>
        <p:spPr>
          <a:xfrm>
            <a:off x="4612538" y="2267712"/>
            <a:ext cx="237744" cy="237744"/>
          </a:xfrm>
          <a:prstGeom prst="rect">
            <a:avLst/>
          </a:prstGeom>
        </p:spPr>
      </p:pic>
      <p:sp>
        <p:nvSpPr>
          <p:cNvPr id="18" name="TextBox 17"/>
          <p:cNvSpPr txBox="1"/>
          <p:nvPr/>
        </p:nvSpPr>
        <p:spPr>
          <a:xfrm>
            <a:off x="4502810"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THE METRIC</a:t>
            </a:r>
          </a:p>
        </p:txBody>
      </p:sp>
      <p:sp>
        <p:nvSpPr>
          <p:cNvPr id="19" name="TextBox 18"/>
          <p:cNvSpPr txBox="1"/>
          <p:nvPr/>
        </p:nvSpPr>
        <p:spPr>
          <a:xfrm>
            <a:off x="4502810"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The falling flag</a:t>
            </a:r>
          </a:p>
        </p:txBody>
      </p:sp>
      <p:sp>
        <p:nvSpPr>
          <p:cNvPr id="20" name="TextBox 19"/>
          <p:cNvSpPr txBox="1"/>
          <p:nvPr/>
        </p:nvSpPr>
        <p:spPr>
          <a:xfrm>
            <a:off x="4502810" y="3303524"/>
            <a:ext cx="3186074" cy="399796"/>
          </a:xfrm>
          <a:prstGeom prst="rect">
            <a:avLst/>
          </a:prstGeom>
          <a:noFill/>
        </p:spPr>
        <p:txBody>
          <a:bodyPr wrap="square" anchor="t" lIns="0" rIns="0" tIns="0" bIns="0">
            <a:spAutoFit/>
          </a:bodyPr>
          <a:lstStyle/>
          <a:p>
            <a:pPr algn="l"/>
            <a:r>
              <a:rPr sz="1100" b="0" i="0">
                <a:solidFill>
                  <a:srgbClr val="6B6690"/>
                </a:solidFill>
                <a:latin typeface="Calibri"/>
              </a:rPr>
              <a:t>September below August, and August below July: three calendar months, each lower.</a:t>
            </a:r>
          </a:p>
        </p:txBody>
      </p:sp>
      <p:sp>
        <p:nvSpPr>
          <p:cNvPr id="21" name="Rounded Rectangle 20"/>
          <p:cNvSpPr/>
          <p:nvPr/>
        </p:nvSpPr>
        <p:spPr>
          <a:xfrm>
            <a:off x="8072932" y="1956816"/>
            <a:ext cx="3588410" cy="1964436"/>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8274100" y="21579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triangle-alert_e79485772e4f.png"/>
          <p:cNvPicPr>
            <a:picLocks noChangeAspect="1"/>
          </p:cNvPicPr>
          <p:nvPr/>
        </p:nvPicPr>
        <p:blipFill>
          <a:blip r:embed="rId6"/>
          <a:stretch>
            <a:fillRect/>
          </a:stretch>
        </p:blipFill>
        <p:spPr>
          <a:xfrm>
            <a:off x="8383828" y="2267712"/>
            <a:ext cx="237744" cy="237744"/>
          </a:xfrm>
          <a:prstGeom prst="rect">
            <a:avLst/>
          </a:prstGeom>
        </p:spPr>
      </p:pic>
      <p:sp>
        <p:nvSpPr>
          <p:cNvPr id="24" name="TextBox 23"/>
          <p:cNvSpPr txBox="1"/>
          <p:nvPr/>
        </p:nvSpPr>
        <p:spPr>
          <a:xfrm>
            <a:off x="8274100" y="2724912"/>
            <a:ext cx="3186074" cy="160401"/>
          </a:xfrm>
          <a:prstGeom prst="rect">
            <a:avLst/>
          </a:prstGeom>
          <a:noFill/>
        </p:spPr>
        <p:txBody>
          <a:bodyPr wrap="square" anchor="t" lIns="0" rIns="0" tIns="0" bIns="0">
            <a:spAutoFit/>
          </a:bodyPr>
          <a:lstStyle/>
          <a:p>
            <a:pPr algn="l"/>
            <a:r>
              <a:rPr sz="750" b="1" i="0" spc="250">
                <a:solidFill>
                  <a:srgbClr val="D9A7FF"/>
                </a:solidFill>
                <a:latin typeface="Calibri"/>
              </a:rPr>
              <a:t>A WRONG CALL COSTS</a:t>
            </a:r>
          </a:p>
        </p:txBody>
      </p:sp>
      <p:sp>
        <p:nvSpPr>
          <p:cNvPr id="25" name="TextBox 24"/>
          <p:cNvSpPr txBox="1"/>
          <p:nvPr/>
        </p:nvSpPr>
        <p:spPr>
          <a:xfrm>
            <a:off x="8274100" y="2962656"/>
            <a:ext cx="3186074" cy="267716"/>
          </a:xfrm>
          <a:prstGeom prst="rect">
            <a:avLst/>
          </a:prstGeom>
          <a:noFill/>
        </p:spPr>
        <p:txBody>
          <a:bodyPr wrap="square" anchor="t" lIns="0" rIns="0" tIns="0" bIns="0">
            <a:spAutoFit/>
          </a:bodyPr>
          <a:lstStyle/>
          <a:p>
            <a:pPr algn="l"/>
            <a:r>
              <a:rPr sz="1400" b="1" i="0">
                <a:solidFill>
                  <a:srgbClr val="FFFFFF"/>
                </a:solidFill>
                <a:latin typeface="Calibri"/>
              </a:rPr>
              <a:t>A loyal member accused</a:t>
            </a:r>
          </a:p>
        </p:txBody>
      </p:sp>
      <p:sp>
        <p:nvSpPr>
          <p:cNvPr id="26" name="TextBox 25"/>
          <p:cNvSpPr txBox="1"/>
          <p:nvPr/>
        </p:nvSpPr>
        <p:spPr>
          <a:xfrm>
            <a:off x="8274100" y="3303524"/>
            <a:ext cx="3186074" cy="399796"/>
          </a:xfrm>
          <a:prstGeom prst="rect">
            <a:avLst/>
          </a:prstGeom>
          <a:noFill/>
        </p:spPr>
        <p:txBody>
          <a:bodyPr wrap="square" anchor="t" lIns="0" rIns="0" tIns="0" bIns="0">
            <a:spAutoFit/>
          </a:bodyPr>
          <a:lstStyle/>
          <a:p>
            <a:pPr algn="l"/>
            <a:r>
              <a:rPr sz="1100" b="0" i="0">
                <a:solidFill>
                  <a:srgbClr val="CFC9EE"/>
                </a:solidFill>
                <a:latin typeface="Calibri"/>
              </a:rPr>
              <a:t>Their goodwill, maybe their renewal, and a week of calls spent on false alarms.</a:t>
            </a:r>
          </a:p>
        </p:txBody>
      </p:sp>
      <p:sp>
        <p:nvSpPr>
          <p:cNvPr id="27" name="Rounded Rectangle 26"/>
          <p:cNvSpPr/>
          <p:nvPr/>
        </p:nvSpPr>
        <p:spPr>
          <a:xfrm>
            <a:off x="530352" y="4104132"/>
            <a:ext cx="11130991" cy="112166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758952" y="443636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9" name="Picture 28" descr="message-square_028dbd132a0a.png"/>
          <p:cNvPicPr>
            <a:picLocks noChangeAspect="1"/>
          </p:cNvPicPr>
          <p:nvPr/>
        </p:nvPicPr>
        <p:blipFill>
          <a:blip r:embed="rId7"/>
          <a:stretch>
            <a:fillRect/>
          </a:stretch>
        </p:blipFill>
        <p:spPr>
          <a:xfrm>
            <a:off x="868680" y="4546092"/>
            <a:ext cx="237744" cy="237744"/>
          </a:xfrm>
          <a:prstGeom prst="rect">
            <a:avLst/>
          </a:prstGeom>
        </p:spPr>
      </p:pic>
      <p:sp>
        <p:nvSpPr>
          <p:cNvPr id="30" name="TextBox 29"/>
          <p:cNvSpPr txBox="1"/>
          <p:nvPr/>
        </p:nvSpPr>
        <p:spPr>
          <a:xfrm>
            <a:off x="1399031" y="4250436"/>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31" name="TextBox 30"/>
          <p:cNvSpPr txBox="1"/>
          <p:nvPr/>
        </p:nvSpPr>
        <p:spPr>
          <a:xfrm>
            <a:off x="1399031" y="4469892"/>
            <a:ext cx="9987991" cy="682752"/>
          </a:xfrm>
          <a:prstGeom prst="rect">
            <a:avLst/>
          </a:prstGeom>
          <a:noFill/>
        </p:spPr>
        <p:txBody>
          <a:bodyPr wrap="square" anchor="t" lIns="0" rIns="0" tIns="0" bIns="0">
            <a:spAutoFit/>
          </a:bodyPr>
          <a:lstStyle/>
          <a:p>
            <a:r>
              <a:rPr sz="1500" b="0" i="0">
                <a:solidFill>
                  <a:srgbClr val="FFFFFF"/>
                </a:solidFill>
                <a:latin typeface="Calibri"/>
              </a:rPr>
              <a:t>"C-0216 rang our help line to say they were travelling in August and have not stopped buying. Is your flag wrong about them, and how many others?"</a:t>
            </a:r>
          </a:p>
        </p:txBody>
      </p:sp>
      <p:sp>
        <p:nvSpPr>
          <p:cNvPr id="32" name="Oval 31"/>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Who does Marketing call?</a:t>
            </a:r>
          </a:p>
        </p:txBody>
      </p:sp>
      <p:sp>
        <p:nvSpPr>
          <p:cNvPr id="34" name="Oval 33"/>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2219706"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36" name="Oval 35"/>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3615308"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What do we tell Marketing?</a:t>
            </a:r>
          </a:p>
        </p:txBody>
      </p:sp>
      <p:sp>
        <p:nvSpPr>
          <p:cNvPr id="38" name="TextBox 3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  ·  6 / 31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Shopify warned against a fixed gap rule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Has a real company had to decide what a gap in a customer's buying means?</a:t>
            </a:r>
          </a:p>
        </p:txBody>
      </p:sp>
      <p:pic>
        <p:nvPicPr>
          <p:cNvPr id="9" name="mermaid diagram" descr="42125c35229b1109.png"/>
          <p:cNvPicPr>
            <a:picLocks noChangeAspect="1"/>
          </p:cNvPicPr>
          <p:nvPr/>
        </p:nvPicPr>
        <p:blipFill>
          <a:blip r:embed="rId6"/>
          <a:stretch>
            <a:fillRect/>
          </a:stretch>
        </p:blipFill>
        <p:spPr>
          <a:xfrm>
            <a:off x="854597" y="1682496"/>
            <a:ext cx="4137834" cy="4517136"/>
          </a:xfrm>
          <a:prstGeom prst="rect">
            <a:avLst/>
          </a:prstGeom>
        </p:spPr>
      </p:pic>
      <p:sp>
        <p:nvSpPr>
          <p:cNvPr id="10" name="Rounded Rectangle 9"/>
          <p:cNvSpPr/>
          <p:nvPr/>
        </p:nvSpPr>
        <p:spPr>
          <a:xfrm>
            <a:off x="5761917" y="1956816"/>
            <a:ext cx="5899425" cy="163982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5990517" y="254812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bug_39ada6eff46d.png"/>
          <p:cNvPicPr>
            <a:picLocks noChangeAspect="1"/>
          </p:cNvPicPr>
          <p:nvPr/>
        </p:nvPicPr>
        <p:blipFill>
          <a:blip r:embed="rId5"/>
          <a:stretch>
            <a:fillRect/>
          </a:stretch>
        </p:blipFill>
        <p:spPr>
          <a:xfrm>
            <a:off x="6100245" y="2657856"/>
            <a:ext cx="237744" cy="237744"/>
          </a:xfrm>
          <a:prstGeom prst="rect">
            <a:avLst/>
          </a:prstGeom>
        </p:spPr>
      </p:pic>
      <p:sp>
        <p:nvSpPr>
          <p:cNvPr id="13" name="TextBox 12"/>
          <p:cNvSpPr txBox="1"/>
          <p:nvPr/>
        </p:nvSpPr>
        <p:spPr>
          <a:xfrm>
            <a:off x="6630597" y="2103120"/>
            <a:ext cx="4756425" cy="160401"/>
          </a:xfrm>
          <a:prstGeom prst="rect">
            <a:avLst/>
          </a:prstGeom>
          <a:noFill/>
        </p:spPr>
        <p:txBody>
          <a:bodyPr wrap="square" anchor="t" lIns="0" rIns="0" tIns="0" bIns="0">
            <a:spAutoFit/>
          </a:bodyPr>
          <a:lstStyle/>
          <a:p>
            <a:pPr algn="l"/>
            <a:r>
              <a:rPr sz="750" b="1" i="0" spc="250">
                <a:solidFill>
                  <a:srgbClr val="5B3FD6"/>
                </a:solidFill>
                <a:latin typeface="Calibri"/>
              </a:rPr>
              <a:t>WHAT BREAKS</a:t>
            </a:r>
          </a:p>
        </p:txBody>
      </p:sp>
      <p:sp>
        <p:nvSpPr>
          <p:cNvPr id="14" name="TextBox 13"/>
          <p:cNvSpPr txBox="1"/>
          <p:nvPr/>
        </p:nvSpPr>
        <p:spPr>
          <a:xfrm>
            <a:off x="6630597" y="2322576"/>
            <a:ext cx="4756425" cy="1200912"/>
          </a:xfrm>
          <a:prstGeom prst="rect">
            <a:avLst/>
          </a:prstGeom>
          <a:noFill/>
        </p:spPr>
        <p:txBody>
          <a:bodyPr wrap="square" anchor="t" lIns="0" rIns="0" tIns="0" bIns="0">
            <a:spAutoFit/>
          </a:bodyPr>
          <a:lstStyle/>
          <a:p>
            <a:r>
              <a:rPr sz="1500" b="0" i="0">
                <a:solidFill>
                  <a:srgbClr val="1A1440"/>
                </a:solidFill>
                <a:latin typeface="Calibri"/>
              </a:rPr>
              <a:t>Shopify's data team wrote that "far too often businesses define churn as no purchases after N days"; a gap has to be read against the customer's own history.</a:t>
            </a:r>
          </a:p>
        </p:txBody>
      </p:sp>
      <p:sp>
        <p:nvSpPr>
          <p:cNvPr id="15" name="Oval 14"/>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Who does Marketing call?</a:t>
            </a:r>
          </a:p>
        </p:txBody>
      </p:sp>
      <p:sp>
        <p:nvSpPr>
          <p:cNvPr id="17" name="Oval 16"/>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219706"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19" name="Oval 18"/>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615308"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What do we tell Marketing?</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  ·  7 / 31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LAG with a calendar check: 752 rows, no zeros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ways could the flag read "last month", and what would each cost?</a:t>
            </a:r>
          </a:p>
        </p:txBody>
      </p:sp>
      <p:graphicFrame>
        <p:nvGraphicFramePr>
          <p:cNvPr id="9" name="Table 8"/>
          <p:cNvGraphicFramePr>
            <a:graphicFrameLocks noGrp="1"/>
          </p:cNvGraphicFramePr>
          <p:nvPr/>
        </p:nvGraphicFramePr>
        <p:xfrm>
          <a:off x="530352" y="1956816"/>
          <a:ext cx="11130989" cy="1676400"/>
        </p:xfrm>
        <a:graphic>
          <a:graphicData uri="http://schemas.openxmlformats.org/drawingml/2006/table">
            <a:tbl>
              <a:tblPr firstRow="0" bandRow="0">
                <a:tableStyleId>{2D5ABB26-0587-4C30-8999-92F81FD0307C}</a:tableStyleId>
              </a:tblPr>
              <a:tblGrid>
                <a:gridCol w="3499509"/>
                <a:gridCol w="3726878"/>
                <a:gridCol w="914400"/>
                <a:gridCol w="2990202"/>
              </a:tblGrid>
              <a:tr h="335280">
                <a:tc>
                  <a:txBody>
                    <a:bodyPr/>
                    <a:lstStyle/>
                    <a:p>
                      <a:r>
                        <a:rPr sz="1250" b="1" i="0">
                          <a:solidFill>
                            <a:srgbClr val="FFFFFF"/>
                          </a:solidFill>
                          <a:latin typeface="Calibri"/>
                        </a:rPr>
                        <a:t>Option</a:t>
                      </a:r>
                    </a:p>
                  </a:txBody>
                  <a:tcPr marL="101600" marR="101600" marT="38100" marB="38100" anchor="ctr">
                    <a:solidFill>
                      <a:srgbClr val="1A0F5C"/>
                    </a:solidFill>
                  </a:tcPr>
                </a:tc>
                <a:tc>
                  <a:txBody>
                    <a:bodyPr/>
                    <a:lstStyle/>
                    <a:p>
                      <a:r>
                        <a:rPr sz="1250" b="1" i="0">
                          <a:solidFill>
                            <a:srgbClr val="FFFFFF"/>
                          </a:solidFill>
                          <a:latin typeface="Calibri"/>
                        </a:rPr>
                        <a:t>"Last month" is</a:t>
                      </a:r>
                    </a:p>
                  </a:txBody>
                  <a:tcPr marL="101600" marR="101600" marT="38100" marB="38100" anchor="ctr">
                    <a:solidFill>
                      <a:srgbClr val="1A0F5C"/>
                    </a:solidFill>
                  </a:tcPr>
                </a:tc>
                <a:tc>
                  <a:txBody>
                    <a:bodyPr/>
                    <a:lstStyle/>
                    <a:p>
                      <a:r>
                        <a:rPr sz="1250" b="1" i="0">
                          <a:solidFill>
                            <a:srgbClr val="FFFFFF"/>
                          </a:solidFill>
                          <a:latin typeface="Calibri"/>
                        </a:rPr>
                        <a:t>Rows</a:t>
                      </a:r>
                    </a:p>
                  </a:txBody>
                  <a:tcPr marL="101600" marR="101600" marT="38100" marB="38100" anchor="ctr">
                    <a:solidFill>
                      <a:srgbClr val="1A0F5C"/>
                    </a:solidFill>
                  </a:tcPr>
                </a:tc>
                <a:tc>
                  <a:txBody>
                    <a:bodyPr/>
                    <a:lstStyle/>
                    <a:p>
                      <a:r>
                        <a:rPr sz="1250" b="1" i="0">
                          <a:solidFill>
                            <a:srgbClr val="FFFFFF"/>
                          </a:solidFill>
                          <a:latin typeface="Calibri"/>
                        </a:rPr>
                        <a:t>A month with no order</a:t>
                      </a:r>
                    </a:p>
                  </a:txBody>
                  <a:tcPr marL="101600" marR="101600" marT="38100" marB="38100" anchor="ctr">
                    <a:solidFill>
                      <a:srgbClr val="1A0F5C"/>
                    </a:solidFill>
                  </a:tcPr>
                </a:tc>
              </a:tr>
              <a:tr h="335280">
                <a:tc>
                  <a:txBody>
                    <a:bodyPr/>
                    <a:lstStyle/>
                    <a:p>
                      <a:r>
                        <a:rPr sz="1200" b="0" i="0">
                          <a:solidFill>
                            <a:srgbClr val="1A1440"/>
                          </a:solidFill>
                          <a:latin typeface="Calibri"/>
                        </a:rPr>
                        <a:t>A. LAG over own months</a:t>
                      </a:r>
                    </a:p>
                  </a:txBody>
                  <a:tcPr marL="101600" marR="101600" marT="38100" marB="38100" anchor="ctr">
                    <a:solidFill>
                      <a:srgbClr val="FFFFFF"/>
                    </a:solidFill>
                  </a:tcPr>
                </a:tc>
                <a:tc>
                  <a:txBody>
                    <a:bodyPr/>
                    <a:lstStyle/>
                    <a:p>
                      <a:r>
                        <a:rPr sz="1200" b="0" i="0">
                          <a:solidFill>
                            <a:srgbClr val="1A1440"/>
                          </a:solidFill>
                          <a:latin typeface="Calibri"/>
                        </a:rPr>
                        <a:t>the member's last buying month</a:t>
                      </a:r>
                    </a:p>
                  </a:txBody>
                  <a:tcPr marL="101600" marR="101600" marT="38100" marB="38100" anchor="ctr">
                    <a:solidFill>
                      <a:srgbClr val="FFFFFF"/>
                    </a:solidFill>
                  </a:tcPr>
                </a:tc>
                <a:tc>
                  <a:txBody>
                    <a:bodyPr/>
                    <a:lstStyle/>
                    <a:p>
                      <a:r>
                        <a:rPr sz="1200" b="0" i="0">
                          <a:solidFill>
                            <a:srgbClr val="1A1440"/>
                          </a:solidFill>
                          <a:latin typeface="Calibri"/>
                        </a:rPr>
                        <a:t>752</a:t>
                      </a:r>
                    </a:p>
                  </a:txBody>
                  <a:tcPr marL="101600" marR="101600" marT="38100" marB="38100" anchor="ctr">
                    <a:solidFill>
                      <a:srgbClr val="FFFFFF"/>
                    </a:solidFill>
                  </a:tcPr>
                </a:tc>
                <a:tc>
                  <a:txBody>
                    <a:bodyPr/>
                    <a:lstStyle/>
                    <a:p>
                      <a:r>
                        <a:rPr sz="1200" b="0" i="0">
                          <a:solidFill>
                            <a:srgbClr val="1A1440"/>
                          </a:solidFill>
                          <a:latin typeface="Calibri"/>
                        </a:rPr>
                        <a:t>stepped over</a:t>
                      </a:r>
                    </a:p>
                  </a:txBody>
                  <a:tcPr marL="101600" marR="101600" marT="38100" marB="38100" anchor="ctr">
                    <a:solidFill>
                      <a:srgbClr val="FFFFFF"/>
                    </a:solidFill>
                  </a:tcPr>
                </a:tc>
              </a:tr>
              <a:tr h="335280">
                <a:tc>
                  <a:txBody>
                    <a:bodyPr/>
                    <a:lstStyle/>
                    <a:p>
                      <a:r>
                        <a:rPr sz="1200" b="0" i="0">
                          <a:solidFill>
                            <a:srgbClr val="1A1440"/>
                          </a:solidFill>
                          <a:latin typeface="Calibri"/>
                        </a:rPr>
                        <a:t>B. LAG with a calendar check</a:t>
                      </a:r>
                    </a:p>
                  </a:txBody>
                  <a:tcPr marL="101600" marR="101600" marT="38100" marB="38100" anchor="ctr">
                    <a:solidFill>
                      <a:srgbClr val="F4F2FA"/>
                    </a:solidFill>
                  </a:tcPr>
                </a:tc>
                <a:tc>
                  <a:txBody>
                    <a:bodyPr/>
                    <a:lstStyle/>
                    <a:p>
                      <a:r>
                        <a:rPr sz="1200" b="0" i="0">
                          <a:solidFill>
                            <a:srgbClr val="1A1440"/>
                          </a:solidFill>
                          <a:latin typeface="Calibri"/>
                        </a:rPr>
                        <a:t>the calendar month before</a:t>
                      </a:r>
                    </a:p>
                  </a:txBody>
                  <a:tcPr marL="101600" marR="101600" marT="38100" marB="38100" anchor="ctr">
                    <a:solidFill>
                      <a:srgbClr val="F4F2FA"/>
                    </a:solidFill>
                  </a:tcPr>
                </a:tc>
                <a:tc>
                  <a:txBody>
                    <a:bodyPr/>
                    <a:lstStyle/>
                    <a:p>
                      <a:r>
                        <a:rPr sz="1200" b="0" i="0">
                          <a:solidFill>
                            <a:srgbClr val="1A1440"/>
                          </a:solidFill>
                          <a:latin typeface="Calibri"/>
                        </a:rPr>
                        <a:t>752</a:t>
                      </a:r>
                    </a:p>
                  </a:txBody>
                  <a:tcPr marL="101600" marR="101600" marT="38100" marB="38100" anchor="ctr">
                    <a:solidFill>
                      <a:srgbClr val="F4F2FA"/>
                    </a:solidFill>
                  </a:tcPr>
                </a:tc>
                <a:tc>
                  <a:txBody>
                    <a:bodyPr/>
                    <a:lstStyle/>
                    <a:p>
                      <a:r>
                        <a:rPr sz="1200" b="0" i="0">
                          <a:solidFill>
                            <a:srgbClr val="1A1440"/>
                          </a:solidFill>
                          <a:latin typeface="Calibri"/>
                        </a:rPr>
                        <a:t>breaks the run</a:t>
                      </a:r>
                    </a:p>
                  </a:txBody>
                  <a:tcPr marL="101600" marR="101600" marT="38100" marB="38100" anchor="ctr">
                    <a:solidFill>
                      <a:srgbClr val="F4F2FA"/>
                    </a:solidFill>
                  </a:tcPr>
                </a:tc>
              </a:tr>
              <a:tr h="335280">
                <a:tc>
                  <a:txBody>
                    <a:bodyPr/>
                    <a:lstStyle/>
                    <a:p>
                      <a:r>
                        <a:rPr sz="1200" b="0" i="0">
                          <a:solidFill>
                            <a:srgbClr val="1A1440"/>
                          </a:solidFill>
                          <a:latin typeface="Calibri"/>
                        </a:rPr>
                        <a:t>C. Calendar, zero-filled</a:t>
                      </a:r>
                    </a:p>
                  </a:txBody>
                  <a:tcPr marL="101600" marR="101600" marT="38100" marB="38100" anchor="ctr">
                    <a:solidFill>
                      <a:srgbClr val="FFFFFF"/>
                    </a:solidFill>
                  </a:tcPr>
                </a:tc>
                <a:tc>
                  <a:txBody>
                    <a:bodyPr/>
                    <a:lstStyle/>
                    <a:p>
                      <a:r>
                        <a:rPr sz="1200" b="0" i="0">
                          <a:solidFill>
                            <a:srgbClr val="1A1440"/>
                          </a:solidFill>
                          <a:latin typeface="Calibri"/>
                        </a:rPr>
                        <a:t>the calendar month before</a:t>
                      </a:r>
                    </a:p>
                  </a:txBody>
                  <a:tcPr marL="101600" marR="101600" marT="38100" marB="38100" anchor="ctr">
                    <a:solidFill>
                      <a:srgbClr val="FFFFFF"/>
                    </a:solidFill>
                  </a:tcPr>
                </a:tc>
                <a:tc>
                  <a:txBody>
                    <a:bodyPr/>
                    <a:lstStyle/>
                    <a:p>
                      <a:r>
                        <a:rPr sz="1200" b="0" i="0">
                          <a:solidFill>
                            <a:srgbClr val="1A1440"/>
                          </a:solidFill>
                          <a:latin typeface="Calibri"/>
                        </a:rPr>
                        <a:t>1,806</a:t>
                      </a:r>
                    </a:p>
                  </a:txBody>
                  <a:tcPr marL="101600" marR="101600" marT="38100" marB="38100" anchor="ctr">
                    <a:solidFill>
                      <a:srgbClr val="FFFFFF"/>
                    </a:solidFill>
                  </a:tcPr>
                </a:tc>
                <a:tc>
                  <a:txBody>
                    <a:bodyPr/>
                    <a:lstStyle/>
                    <a:p>
                      <a:r>
                        <a:rPr sz="1200" b="0" i="0">
                          <a:solidFill>
                            <a:srgbClr val="1A1440"/>
                          </a:solidFill>
                          <a:latin typeface="Calibri"/>
                        </a:rPr>
                        <a:t>a fall to zero</a:t>
                      </a:r>
                    </a:p>
                  </a:txBody>
                  <a:tcPr marL="101600" marR="101600" marT="38100" marB="38100" anchor="ctr">
                    <a:solidFill>
                      <a:srgbClr val="FFFFFF"/>
                    </a:solidFill>
                  </a:tcPr>
                </a:tc>
              </a:tr>
              <a:tr h="335280">
                <a:tc>
                  <a:txBody>
                    <a:bodyPr/>
                    <a:lstStyle/>
                    <a:p>
                      <a:r>
                        <a:rPr sz="1200" b="0" i="0">
                          <a:solidFill>
                            <a:srgbClr val="1A1440"/>
                          </a:solidFill>
                          <a:latin typeface="Calibri"/>
                        </a:rPr>
                        <a:t>D. Calendar, left empty</a:t>
                      </a:r>
                    </a:p>
                  </a:txBody>
                  <a:tcPr marL="101600" marR="101600" marT="38100" marB="38100" anchor="ctr">
                    <a:solidFill>
                      <a:srgbClr val="F4F2FA"/>
                    </a:solidFill>
                  </a:tcPr>
                </a:tc>
                <a:tc>
                  <a:txBody>
                    <a:bodyPr/>
                    <a:lstStyle/>
                    <a:p>
                      <a:r>
                        <a:rPr sz="1200" b="0" i="0">
                          <a:solidFill>
                            <a:srgbClr val="1A1440"/>
                          </a:solidFill>
                          <a:latin typeface="Calibri"/>
                        </a:rPr>
                        <a:t>the calendar month before</a:t>
                      </a:r>
                    </a:p>
                  </a:txBody>
                  <a:tcPr marL="101600" marR="101600" marT="38100" marB="38100" anchor="ctr">
                    <a:solidFill>
                      <a:srgbClr val="F4F2FA"/>
                    </a:solidFill>
                  </a:tcPr>
                </a:tc>
                <a:tc>
                  <a:txBody>
                    <a:bodyPr/>
                    <a:lstStyle/>
                    <a:p>
                      <a:r>
                        <a:rPr sz="1200" b="0" i="0">
                          <a:solidFill>
                            <a:srgbClr val="1A1440"/>
                          </a:solidFill>
                          <a:latin typeface="Calibri"/>
                        </a:rPr>
                        <a:t>1,806</a:t>
                      </a:r>
                    </a:p>
                  </a:txBody>
                  <a:tcPr marL="101600" marR="101600" marT="38100" marB="38100" anchor="ctr">
                    <a:solidFill>
                      <a:srgbClr val="F4F2FA"/>
                    </a:solidFill>
                  </a:tcPr>
                </a:tc>
                <a:tc>
                  <a:txBody>
                    <a:bodyPr/>
                    <a:lstStyle/>
                    <a:p>
                      <a:r>
                        <a:rPr sz="1200" b="0" i="0">
                          <a:solidFill>
                            <a:srgbClr val="1A1440"/>
                          </a:solidFill>
                          <a:latin typeface="Calibri"/>
                        </a:rPr>
                        <a:t>no reading</a:t>
                      </a:r>
                    </a:p>
                  </a:txBody>
                  <a:tcPr marL="101600" marR="101600" marT="38100" marB="38100" anchor="ctr">
                    <a:solidFill>
                      <a:srgbClr val="F4F2FA"/>
                    </a:solidFill>
                  </a:tcPr>
                </a:tc>
              </a:tr>
            </a:tbl>
          </a:graphicData>
        </a:graphic>
      </p:graphicFrame>
      <p:sp>
        <p:nvSpPr>
          <p:cNvPr id="10" name="Rounded Rectangle 9"/>
          <p:cNvSpPr/>
          <p:nvPr/>
        </p:nvSpPr>
        <p:spPr>
          <a:xfrm>
            <a:off x="530352" y="3889248"/>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017263"/>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008119"/>
            <a:ext cx="10564063" cy="891540"/>
          </a:xfrm>
          <a:prstGeom prst="rect">
            <a:avLst/>
          </a:prstGeom>
          <a:noFill/>
        </p:spPr>
        <p:txBody>
          <a:bodyPr wrap="square" anchor="ctr" lIns="0" rIns="0" tIns="0" bIns="0">
            <a:spAutoFit/>
          </a:bodyPr>
          <a:lstStyle/>
          <a:p>
            <a:r>
              <a:rPr sz="1500" b="1">
                <a:solidFill>
                  <a:srgbClr val="5B3FD6"/>
                </a:solidFill>
                <a:latin typeface="Calibri"/>
              </a:rPr>
              <a:t>The call. </a:t>
            </a:r>
            <a:r>
              <a:rPr sz="1500" b="0" i="0">
                <a:solidFill>
                  <a:srgbClr val="1A1440"/>
                </a:solidFill>
                <a:latin typeface="Calibri"/>
              </a:rPr>
              <a:t>B, because it reads only the rows that exist and adds two columns. What would switch it: a monthly dashboard with a row for every member in every month, quiet months shown as blanks, which only D's calendar gives.</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Who does Marketing call?</a:t>
            </a:r>
          </a:p>
        </p:txBody>
      </p:sp>
      <p:sp>
        <p:nvSpPr>
          <p:cNvPr id="15" name="Oval 1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17" name="Oval 16"/>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615308"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What do we tell Marketing?</a:t>
            </a:r>
          </a:p>
        </p:txBody>
      </p:sp>
      <p:sp>
        <p:nvSpPr>
          <p:cNvPr id="19" name="TextBox 1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  ·  8 / 31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two readings agree only with no empty month</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month before" mean for a member who skipped a month?</a:t>
            </a:r>
          </a:p>
        </p:txBody>
      </p:sp>
      <p:pic>
        <p:nvPicPr>
          <p:cNvPr id="9" name="mermaid diagram" descr="9bd98ac1668d421c.png"/>
          <p:cNvPicPr>
            <a:picLocks noChangeAspect="1"/>
          </p:cNvPicPr>
          <p:nvPr/>
        </p:nvPicPr>
        <p:blipFill>
          <a:blip r:embed="rId5"/>
          <a:stretch>
            <a:fillRect/>
          </a:stretch>
        </p:blipFill>
        <p:spPr>
          <a:xfrm>
            <a:off x="2395385" y="1956816"/>
            <a:ext cx="7400925" cy="3043237"/>
          </a:xfrm>
          <a:prstGeom prst="rect">
            <a:avLst/>
          </a:prstGeom>
        </p:spPr>
      </p:pic>
      <p:sp>
        <p:nvSpPr>
          <p:cNvPr id="10" name="Oval 9"/>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Who does Marketing call?</a:t>
            </a:r>
          </a:p>
        </p:txBody>
      </p:sp>
      <p:sp>
        <p:nvSpPr>
          <p:cNvPr id="12" name="Oval 1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19706"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14" name="Oval 13"/>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615308"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What do we tell Marketing?</a:t>
            </a:r>
          </a:p>
        </p:txBody>
      </p:sp>
      <p:sp>
        <p:nvSpPr>
          <p:cNvPr id="16" name="TextBox 1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  ·  9 / 31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how many flagged members are listed?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many of the flagged members are on the protect list?</a:t>
            </a:r>
          </a:p>
        </p:txBody>
      </p:sp>
      <p:pic>
        <p:nvPicPr>
          <p:cNvPr id="9" name="mermaid diagram" descr="8c7b1f5da3100c69.png"/>
          <p:cNvPicPr>
            <a:picLocks noChangeAspect="1"/>
          </p:cNvPicPr>
          <p:nvPr/>
        </p:nvPicPr>
        <p:blipFill>
          <a:blip r:embed="rId5"/>
          <a:stretch>
            <a:fillRect/>
          </a:stretch>
        </p:blipFill>
        <p:spPr>
          <a:xfrm>
            <a:off x="3762689" y="1664208"/>
            <a:ext cx="4666315" cy="3250692"/>
          </a:xfrm>
          <a:prstGeom prst="rect">
            <a:avLst/>
          </a:prstGeom>
        </p:spPr>
      </p:pic>
      <p:sp>
        <p:nvSpPr>
          <p:cNvPr id="10" name="Rounded Rectangle 9"/>
          <p:cNvSpPr/>
          <p:nvPr/>
        </p:nvSpPr>
        <p:spPr>
          <a:xfrm>
            <a:off x="530352" y="4960620"/>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5088636"/>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5079492"/>
            <a:ext cx="10564063" cy="8915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How many of chapter 4's 16 flagged members are on a protect list, as a letter? a) all 16; b) about half; c) none, since the list is about spend and the flag about falls; d) it cannot be known without the tie rule.</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Who does Marketing call?</a:t>
            </a:r>
          </a:p>
        </p:txBody>
      </p:sp>
      <p:sp>
        <p:nvSpPr>
          <p:cNvPr id="15" name="Oval 1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17" name="Oval 16"/>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615308"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What do we tell Marketing?</a:t>
            </a:r>
          </a:p>
        </p:txBody>
      </p:sp>
      <p:sp>
        <p:nvSpPr>
          <p:cNvPr id="19" name="TextBox 1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  ·  10 / 31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all 16, so the call sheet reads 16 names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many of the flagged members are on the protect list?</a:t>
            </a:r>
          </a:p>
        </p:txBody>
      </p:sp>
      <p:sp>
        <p:nvSpPr>
          <p:cNvPr id="9" name="TextBox 8"/>
          <p:cNvSpPr txBox="1"/>
          <p:nvPr/>
        </p:nvSpPr>
        <p:spPr>
          <a:xfrm>
            <a:off x="530352" y="1956816"/>
            <a:ext cx="5428335" cy="698500"/>
          </a:xfrm>
          <a:prstGeom prst="rect">
            <a:avLst/>
          </a:prstGeom>
          <a:noFill/>
        </p:spPr>
        <p:txBody>
          <a:bodyPr wrap="square" anchor="t" lIns="0" rIns="0" tIns="0" bIns="0">
            <a:spAutoFit/>
          </a:bodyPr>
          <a:lstStyle/>
          <a:p>
            <a:pPr algn="l"/>
            <a:r>
              <a:rPr sz="4400" b="0" i="0">
                <a:solidFill>
                  <a:srgbClr val="5B3FD6"/>
                </a:solidFill>
                <a:latin typeface="Georgia"/>
              </a:rPr>
              <a:t>16</a:t>
            </a:r>
          </a:p>
        </p:txBody>
      </p:sp>
      <p:sp>
        <p:nvSpPr>
          <p:cNvPr id="10" name="TextBox 9"/>
          <p:cNvSpPr txBox="1"/>
          <p:nvPr/>
        </p:nvSpPr>
        <p:spPr>
          <a:xfrm>
            <a:off x="530352" y="2691892"/>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MEMBERS FLAGGED</a:t>
            </a:r>
          </a:p>
        </p:txBody>
      </p:sp>
      <p:sp>
        <p:nvSpPr>
          <p:cNvPr id="11" name="TextBox 10"/>
          <p:cNvSpPr txBox="1"/>
          <p:nvPr/>
        </p:nvSpPr>
        <p:spPr>
          <a:xfrm>
            <a:off x="530352" y="2893060"/>
            <a:ext cx="5428335" cy="193421"/>
          </a:xfrm>
          <a:prstGeom prst="rect">
            <a:avLst/>
          </a:prstGeom>
          <a:noFill/>
        </p:spPr>
        <p:txBody>
          <a:bodyPr wrap="square" anchor="t" lIns="0" rIns="0" tIns="0" bIns="0">
            <a:spAutoFit/>
          </a:bodyPr>
          <a:lstStyle/>
          <a:p>
            <a:pPr algn="l"/>
            <a:r>
              <a:rPr sz="950" b="0" i="0">
                <a:solidFill>
                  <a:srgbClr val="6B6690"/>
                </a:solidFill>
                <a:latin typeface="Calibri"/>
              </a:rPr>
              <a:t>chapter 4's partitioned LAG</a:t>
            </a:r>
          </a:p>
        </p:txBody>
      </p:sp>
      <p:sp>
        <p:nvSpPr>
          <p:cNvPr id="12" name="Rectangle 11"/>
          <p:cNvSpPr/>
          <p:nvPr/>
        </p:nvSpPr>
        <p:spPr>
          <a:xfrm>
            <a:off x="530352" y="3145536"/>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233007" y="1956816"/>
            <a:ext cx="5428335" cy="698500"/>
          </a:xfrm>
          <a:prstGeom prst="rect">
            <a:avLst/>
          </a:prstGeom>
          <a:noFill/>
        </p:spPr>
        <p:txBody>
          <a:bodyPr wrap="square" anchor="t" lIns="0" rIns="0" tIns="0" bIns="0">
            <a:spAutoFit/>
          </a:bodyPr>
          <a:lstStyle/>
          <a:p>
            <a:pPr algn="l"/>
            <a:r>
              <a:rPr sz="4400" b="0" i="0">
                <a:solidFill>
                  <a:srgbClr val="5B3FD6"/>
                </a:solidFill>
                <a:latin typeface="Georgia"/>
              </a:rPr>
              <a:t>16</a:t>
            </a:r>
          </a:p>
        </p:txBody>
      </p:sp>
      <p:sp>
        <p:nvSpPr>
          <p:cNvPr id="14" name="TextBox 13"/>
          <p:cNvSpPr txBox="1"/>
          <p:nvPr/>
        </p:nvSpPr>
        <p:spPr>
          <a:xfrm>
            <a:off x="6233007" y="2691892"/>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ON A PROTECT LIST</a:t>
            </a:r>
          </a:p>
        </p:txBody>
      </p:sp>
      <p:sp>
        <p:nvSpPr>
          <p:cNvPr id="15" name="TextBox 14"/>
          <p:cNvSpPr txBox="1"/>
          <p:nvPr/>
        </p:nvSpPr>
        <p:spPr>
          <a:xfrm>
            <a:off x="6233007" y="2893060"/>
            <a:ext cx="5428335" cy="193421"/>
          </a:xfrm>
          <a:prstGeom prst="rect">
            <a:avLst/>
          </a:prstGeom>
          <a:noFill/>
        </p:spPr>
        <p:txBody>
          <a:bodyPr wrap="square" anchor="t" lIns="0" rIns="0" tIns="0" bIns="0">
            <a:spAutoFit/>
          </a:bodyPr>
          <a:lstStyle/>
          <a:p>
            <a:pPr algn="l"/>
            <a:r>
              <a:rPr sz="950" b="0" i="0">
                <a:solidFill>
                  <a:srgbClr val="6B6690"/>
                </a:solidFill>
                <a:latin typeface="Calibri"/>
              </a:rPr>
              <a:t>each segment's top fifty under RANK</a:t>
            </a:r>
          </a:p>
        </p:txBody>
      </p:sp>
      <p:sp>
        <p:nvSpPr>
          <p:cNvPr id="16" name="Rectangle 15"/>
          <p:cNvSpPr/>
          <p:nvPr/>
        </p:nvSpPr>
        <p:spPr>
          <a:xfrm>
            <a:off x="6233007" y="3145536"/>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530352" y="341985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676656" y="354787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77824" y="3538728"/>
            <a:ext cx="10564063" cy="624840"/>
          </a:xfrm>
          <a:prstGeom prst="rect">
            <a:avLst/>
          </a:prstGeom>
          <a:noFill/>
        </p:spPr>
        <p:txBody>
          <a:bodyPr wrap="square" anchor="ctr" lIns="0" rIns="0" tIns="0" bIns="0">
            <a:spAutoFit/>
          </a:bodyPr>
          <a:lstStyle/>
          <a:p>
            <a:r>
              <a:rPr sz="1500" b="1">
                <a:solidFill>
                  <a:srgbClr val="5B3FD6"/>
                </a:solidFill>
                <a:latin typeface="Calibri"/>
              </a:rPr>
              <a:t>The check. </a:t>
            </a:r>
            <a:r>
              <a:rPr sz="1500" b="0" i="0">
                <a:solidFill>
                  <a:srgbClr val="1A1440"/>
                </a:solidFill>
                <a:latin typeface="Calibri"/>
              </a:rPr>
              <a:t>All 16 sit inside the lists this quarter, two of them in the last three places of their list, so the overlap is read from the data every time, never assumed.</a:t>
            </a:r>
          </a:p>
        </p:txBody>
      </p:sp>
      <p:sp>
        <p:nvSpPr>
          <p:cNvPr id="20" name="Oval 19"/>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Who does Marketing call?</a:t>
            </a:r>
          </a:p>
        </p:txBody>
      </p:sp>
      <p:sp>
        <p:nvSpPr>
          <p:cNvPr id="22" name="Oval 2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219706"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24" name="Oval 23"/>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615308"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What do we tell Marketing?</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S8  ·  11 / 31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which month did LAG call last month?</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did LAG compare for the member who says they were on holiday?</a:t>
            </a:r>
          </a:p>
        </p:txBody>
      </p:sp>
      <p:graphicFrame>
        <p:nvGraphicFramePr>
          <p:cNvPr id="9" name="Table 8"/>
          <p:cNvGraphicFramePr>
            <a:graphicFrameLocks noGrp="1"/>
          </p:cNvGraphicFramePr>
          <p:nvPr/>
        </p:nvGraphicFramePr>
        <p:xfrm>
          <a:off x="530352" y="1956816"/>
          <a:ext cx="11130991" cy="670560"/>
        </p:xfrm>
        <a:graphic>
          <a:graphicData uri="http://schemas.openxmlformats.org/drawingml/2006/table">
            <a:tbl>
              <a:tblPr firstRow="0" bandRow="0">
                <a:tableStyleId>{2D5ABB26-0587-4C30-8999-92F81FD0307C}</a:tableStyleId>
              </a:tblPr>
              <a:tblGrid>
                <a:gridCol w="5644591"/>
                <a:gridCol w="914400"/>
                <a:gridCol w="914400"/>
                <a:gridCol w="914400"/>
                <a:gridCol w="914400"/>
                <a:gridCol w="914400"/>
                <a:gridCol w="914400"/>
              </a:tblGrid>
              <a:tr h="335280">
                <a:tc>
                  <a:txBody>
                    <a:bodyPr/>
                    <a:lstStyle/>
                    <a:p>
                      <a:r>
                        <a:rPr sz="1250" b="1" i="0">
                          <a:solidFill>
                            <a:srgbClr val="FFFFFF"/>
                          </a:solidFill>
                          <a:latin typeface="Calibri"/>
                        </a:rPr>
                        <a:t>Month</a:t>
                      </a:r>
                    </a:p>
                  </a:txBody>
                  <a:tcPr marL="101600" marR="101600" marT="38100" marB="38100" anchor="ctr">
                    <a:solidFill>
                      <a:srgbClr val="1A0F5C"/>
                    </a:solidFill>
                  </a:tcPr>
                </a:tc>
                <a:tc>
                  <a:txBody>
                    <a:bodyPr/>
                    <a:lstStyle/>
                    <a:p>
                      <a:r>
                        <a:rPr sz="1250" b="1" i="0">
                          <a:solidFill>
                            <a:srgbClr val="FFFFFF"/>
                          </a:solidFill>
                          <a:latin typeface="Calibri"/>
                        </a:rPr>
                        <a:t>Apr</a:t>
                      </a:r>
                    </a:p>
                  </a:txBody>
                  <a:tcPr marL="101600" marR="101600" marT="38100" marB="38100" anchor="ctr">
                    <a:solidFill>
                      <a:srgbClr val="1A0F5C"/>
                    </a:solidFill>
                  </a:tcPr>
                </a:tc>
                <a:tc>
                  <a:txBody>
                    <a:bodyPr/>
                    <a:lstStyle/>
                    <a:p>
                      <a:r>
                        <a:rPr sz="1250" b="1" i="0">
                          <a:solidFill>
                            <a:srgbClr val="FFFFFF"/>
                          </a:solidFill>
                          <a:latin typeface="Calibri"/>
                        </a:rPr>
                        <a:t>May</a:t>
                      </a:r>
                    </a:p>
                  </a:txBody>
                  <a:tcPr marL="101600" marR="101600" marT="38100" marB="38100" anchor="ctr">
                    <a:solidFill>
                      <a:srgbClr val="1A0F5C"/>
                    </a:solidFill>
                  </a:tcPr>
                </a:tc>
                <a:tc>
                  <a:txBody>
                    <a:bodyPr/>
                    <a:lstStyle/>
                    <a:p>
                      <a:r>
                        <a:rPr sz="1250" b="1" i="0">
                          <a:solidFill>
                            <a:srgbClr val="FFFFFF"/>
                          </a:solidFill>
                          <a:latin typeface="Calibri"/>
                        </a:rPr>
                        <a:t>Jun</a:t>
                      </a:r>
                    </a:p>
                  </a:txBody>
                  <a:tcPr marL="101600" marR="101600" marT="38100" marB="38100" anchor="ctr">
                    <a:solidFill>
                      <a:srgbClr val="1A0F5C"/>
                    </a:solidFill>
                  </a:tcPr>
                </a:tc>
                <a:tc>
                  <a:txBody>
                    <a:bodyPr/>
                    <a:lstStyle/>
                    <a:p>
                      <a:r>
                        <a:rPr sz="1250" b="1" i="0">
                          <a:solidFill>
                            <a:srgbClr val="FFFFFF"/>
                          </a:solidFill>
                          <a:latin typeface="Calibri"/>
                        </a:rPr>
                        <a:t>Jul</a:t>
                      </a:r>
                    </a:p>
                  </a:txBody>
                  <a:tcPr marL="101600" marR="101600" marT="38100" marB="38100" anchor="ctr">
                    <a:solidFill>
                      <a:srgbClr val="1A0F5C"/>
                    </a:solidFill>
                  </a:tcPr>
                </a:tc>
                <a:tc>
                  <a:txBody>
                    <a:bodyPr/>
                    <a:lstStyle/>
                    <a:p>
                      <a:r>
                        <a:rPr sz="1250" b="1" i="0">
                          <a:solidFill>
                            <a:srgbClr val="FFFFFF"/>
                          </a:solidFill>
                          <a:latin typeface="Calibri"/>
                        </a:rPr>
                        <a:t>Aug</a:t>
                      </a:r>
                    </a:p>
                  </a:txBody>
                  <a:tcPr marL="101600" marR="101600" marT="38100" marB="38100" anchor="ctr">
                    <a:solidFill>
                      <a:srgbClr val="1A0F5C"/>
                    </a:solidFill>
                  </a:tcPr>
                </a:tc>
                <a:tc>
                  <a:txBody>
                    <a:bodyPr/>
                    <a:lstStyle/>
                    <a:p>
                      <a:r>
                        <a:rPr sz="1250" b="1" i="0">
                          <a:solidFill>
                            <a:srgbClr val="FFFFFF"/>
                          </a:solidFill>
                          <a:latin typeface="Calibri"/>
                        </a:rPr>
                        <a:t>Sep</a:t>
                      </a:r>
                    </a:p>
                  </a:txBody>
                  <a:tcPr marL="101600" marR="101600" marT="38100" marB="38100" anchor="ctr">
                    <a:solidFill>
                      <a:srgbClr val="1A0F5C"/>
                    </a:solidFill>
                  </a:tcPr>
                </a:tc>
              </a:tr>
              <a:tr h="335280">
                <a:tc>
                  <a:txBody>
                    <a:bodyPr/>
                    <a:lstStyle/>
                    <a:p>
                      <a:r>
                        <a:rPr sz="1200" b="0" i="0">
                          <a:solidFill>
                            <a:srgbClr val="1A1440"/>
                          </a:solidFill>
                          <a:latin typeface="Calibri"/>
                        </a:rPr>
                        <a:t>C-0216, Rs</a:t>
                      </a:r>
                    </a:p>
                  </a:txBody>
                  <a:tcPr marL="101600" marR="101600" marT="38100" marB="38100" anchor="ctr">
                    <a:solidFill>
                      <a:srgbClr val="FFFFFF"/>
                    </a:solidFill>
                  </a:tcPr>
                </a:tc>
                <a:tc>
                  <a:txBody>
                    <a:bodyPr/>
                    <a:lstStyle/>
                    <a:p>
                      <a:r>
                        <a:rPr sz="1200" b="0" i="0">
                          <a:solidFill>
                            <a:srgbClr val="1A1440"/>
                          </a:solidFill>
                          <a:latin typeface="Calibri"/>
                        </a:rPr>
                        <a:t>none</a:t>
                      </a:r>
                    </a:p>
                  </a:txBody>
                  <a:tcPr marL="101600" marR="101600" marT="38100" marB="38100" anchor="ctr">
                    <a:solidFill>
                      <a:srgbClr val="FFFFFF"/>
                    </a:solidFill>
                  </a:tcPr>
                </a:tc>
                <a:tc>
                  <a:txBody>
                    <a:bodyPr/>
                    <a:lstStyle/>
                    <a:p>
                      <a:r>
                        <a:rPr sz="1200" b="0" i="0">
                          <a:solidFill>
                            <a:srgbClr val="1A1440"/>
                          </a:solidFill>
                          <a:latin typeface="Calibri"/>
                        </a:rPr>
                        <a:t>6,440</a:t>
                      </a:r>
                    </a:p>
                  </a:txBody>
                  <a:tcPr marL="101600" marR="101600" marT="38100" marB="38100" anchor="ctr">
                    <a:solidFill>
                      <a:srgbClr val="FFFFFF"/>
                    </a:solidFill>
                  </a:tcPr>
                </a:tc>
                <a:tc>
                  <a:txBody>
                    <a:bodyPr/>
                    <a:lstStyle/>
                    <a:p>
                      <a:r>
                        <a:rPr sz="1200" b="0" i="0">
                          <a:solidFill>
                            <a:srgbClr val="1A1440"/>
                          </a:solidFill>
                          <a:latin typeface="Calibri"/>
                        </a:rPr>
                        <a:t>none</a:t>
                      </a:r>
                    </a:p>
                  </a:txBody>
                  <a:tcPr marL="101600" marR="101600" marT="38100" marB="38100" anchor="ctr">
                    <a:solidFill>
                      <a:srgbClr val="FFFFFF"/>
                    </a:solidFill>
                  </a:tcPr>
                </a:tc>
                <a:tc>
                  <a:txBody>
                    <a:bodyPr/>
                    <a:lstStyle/>
                    <a:p>
                      <a:r>
                        <a:rPr sz="1200" b="0" i="0">
                          <a:solidFill>
                            <a:srgbClr val="1A1440"/>
                          </a:solidFill>
                          <a:latin typeface="Calibri"/>
                        </a:rPr>
                        <a:t>4,300</a:t>
                      </a:r>
                    </a:p>
                  </a:txBody>
                  <a:tcPr marL="101600" marR="101600" marT="38100" marB="38100" anchor="ctr">
                    <a:solidFill>
                      <a:srgbClr val="FFFFFF"/>
                    </a:solidFill>
                  </a:tcPr>
                </a:tc>
                <a:tc>
                  <a:txBody>
                    <a:bodyPr/>
                    <a:lstStyle/>
                    <a:p>
                      <a:r>
                        <a:rPr sz="1200" b="0" i="0">
                          <a:solidFill>
                            <a:srgbClr val="1A1440"/>
                          </a:solidFill>
                          <a:latin typeface="Calibri"/>
                        </a:rPr>
                        <a:t>none</a:t>
                      </a:r>
                    </a:p>
                  </a:txBody>
                  <a:tcPr marL="101600" marR="101600" marT="38100" marB="38100" anchor="ctr">
                    <a:solidFill>
                      <a:srgbClr val="FFFFFF"/>
                    </a:solidFill>
                  </a:tcPr>
                </a:tc>
                <a:tc>
                  <a:txBody>
                    <a:bodyPr/>
                    <a:lstStyle/>
                    <a:p>
                      <a:r>
                        <a:rPr sz="1200" b="0" i="0">
                          <a:solidFill>
                            <a:srgbClr val="1A1440"/>
                          </a:solidFill>
                          <a:latin typeface="Calibri"/>
                        </a:rPr>
                        <a:t>2,540</a:t>
                      </a:r>
                    </a:p>
                  </a:txBody>
                  <a:tcPr marL="101600" marR="101600" marT="38100" marB="38100" anchor="ctr">
                    <a:solidFill>
                      <a:srgbClr val="FFFFFF"/>
                    </a:solidFill>
                  </a:tcPr>
                </a:tc>
              </a:tr>
            </a:tbl>
          </a:graphicData>
        </a:graphic>
      </p:graphicFrame>
      <p:sp>
        <p:nvSpPr>
          <p:cNvPr id="10" name="Rounded Rectangle 9"/>
          <p:cNvSpPr/>
          <p:nvPr/>
        </p:nvSpPr>
        <p:spPr>
          <a:xfrm>
            <a:off x="530352" y="2883408"/>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3011424"/>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002280"/>
            <a:ext cx="10564063" cy="8915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C-0216 of Retail-Plus stands at place 23 on the Retail-Plus list. Which month did LAG treat as "last month" for C-0216's September, as a letter? a) August; b) July; c) June; d) none, since their August is empty.</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Who does Marketing call?</a:t>
            </a:r>
          </a:p>
        </p:txBody>
      </p:sp>
      <p:sp>
        <p:nvSpPr>
          <p:cNvPr id="15" name="Oval 1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17" name="Oval 16"/>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615308"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What do we tell Marketing?</a:t>
            </a:r>
          </a:p>
        </p:txBody>
      </p:sp>
      <p:sp>
        <p:nvSpPr>
          <p:cNvPr id="19" name="TextBox 1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S9  ·  12 / 31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July, four months from May to September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did LAG compare for the member who says they were on holiday?</a:t>
            </a:r>
          </a:p>
        </p:txBody>
      </p:sp>
      <p:pic>
        <p:nvPicPr>
          <p:cNvPr id="9" name="mermaid diagram" descr="d7920b8c8aeac347.png"/>
          <p:cNvPicPr>
            <a:picLocks noChangeAspect="1"/>
          </p:cNvPicPr>
          <p:nvPr/>
        </p:nvPicPr>
        <p:blipFill>
          <a:blip r:embed="rId5"/>
          <a:stretch>
            <a:fillRect/>
          </a:stretch>
        </p:blipFill>
        <p:spPr>
          <a:xfrm>
            <a:off x="1409547" y="1956816"/>
            <a:ext cx="9372600" cy="2000250"/>
          </a:xfrm>
          <a:prstGeom prst="rect">
            <a:avLst/>
          </a:prstGeom>
        </p:spPr>
      </p:pic>
      <p:sp>
        <p:nvSpPr>
          <p:cNvPr id="10" name="Rounded Rectangle 9"/>
          <p:cNvSpPr/>
          <p:nvPr/>
        </p:nvSpPr>
        <p:spPr>
          <a:xfrm>
            <a:off x="530352" y="4103370"/>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231385"/>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222242"/>
            <a:ext cx="10564063" cy="624840"/>
          </a:xfrm>
          <a:prstGeom prst="rect">
            <a:avLst/>
          </a:prstGeom>
          <a:noFill/>
        </p:spPr>
        <p:txBody>
          <a:bodyPr wrap="square" anchor="ctr" lIns="0" rIns="0" tIns="0" bIns="0">
            <a:spAutoFit/>
          </a:bodyPr>
          <a:lstStyle/>
          <a:p>
            <a:r>
              <a:rPr sz="1500" b="1">
                <a:solidFill>
                  <a:srgbClr val="5B3FD6"/>
                </a:solidFill>
                <a:latin typeface="Calibri"/>
              </a:rPr>
              <a:t>The check. </a:t>
            </a:r>
            <a:r>
              <a:rPr sz="1500" b="0" i="0">
                <a:solidFill>
                  <a:srgbClr val="1A1440"/>
                </a:solidFill>
                <a:latin typeface="Calibri"/>
              </a:rPr>
              <a:t>There is no August row, so LAG compared September with July and July with May. Chapter 4's flag called that two months of falls; C-0216's rows say August is simply empty.</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Who does Marketing call?</a:t>
            </a:r>
          </a:p>
        </p:txBody>
      </p:sp>
      <p:sp>
        <p:nvSpPr>
          <p:cNvPr id="15" name="Oval 1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17" name="Oval 16"/>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615308"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What do we tell Marketing?</a:t>
            </a:r>
          </a:p>
        </p:txBody>
      </p:sp>
      <p:sp>
        <p:nvSpPr>
          <p:cNvPr id="19" name="TextBox 1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S10  ·  13 / 31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plausible wrong answer: sixteen calls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Marketing get if chapter 4's flag ships as it stands?</a:t>
            </a:r>
          </a:p>
        </p:txBody>
      </p:sp>
      <p:sp>
        <p:nvSpPr>
          <p:cNvPr id="9" name="TextBox 8"/>
          <p:cNvSpPr txBox="1"/>
          <p:nvPr/>
        </p:nvSpPr>
        <p:spPr>
          <a:xfrm>
            <a:off x="530352" y="1956816"/>
            <a:ext cx="5428335" cy="698500"/>
          </a:xfrm>
          <a:prstGeom prst="rect">
            <a:avLst/>
          </a:prstGeom>
          <a:noFill/>
        </p:spPr>
        <p:txBody>
          <a:bodyPr wrap="square" anchor="t" lIns="0" rIns="0" tIns="0" bIns="0">
            <a:spAutoFit/>
          </a:bodyPr>
          <a:lstStyle/>
          <a:p>
            <a:pPr algn="l"/>
            <a:r>
              <a:rPr sz="4400" b="0" i="0">
                <a:solidFill>
                  <a:srgbClr val="5B3FD6"/>
                </a:solidFill>
                <a:latin typeface="Georgia"/>
              </a:rPr>
              <a:t>16</a:t>
            </a:r>
          </a:p>
        </p:txBody>
      </p:sp>
      <p:sp>
        <p:nvSpPr>
          <p:cNvPr id="10" name="TextBox 9"/>
          <p:cNvSpPr txBox="1"/>
          <p:nvPr/>
        </p:nvSpPr>
        <p:spPr>
          <a:xfrm>
            <a:off x="530352" y="2691892"/>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CALLS</a:t>
            </a:r>
          </a:p>
        </p:txBody>
      </p:sp>
      <p:sp>
        <p:nvSpPr>
          <p:cNvPr id="11" name="TextBox 10"/>
          <p:cNvSpPr txBox="1"/>
          <p:nvPr/>
        </p:nvSpPr>
        <p:spPr>
          <a:xfrm>
            <a:off x="530352" y="2893060"/>
            <a:ext cx="5428335" cy="193421"/>
          </a:xfrm>
          <a:prstGeom prst="rect">
            <a:avLst/>
          </a:prstGeom>
          <a:noFill/>
        </p:spPr>
        <p:txBody>
          <a:bodyPr wrap="square" anchor="t" lIns="0" rIns="0" tIns="0" bIns="0">
            <a:spAutoFit/>
          </a:bodyPr>
          <a:lstStyle/>
          <a:p>
            <a:pPr algn="l"/>
            <a:r>
              <a:rPr sz="950" b="0" i="0">
                <a:solidFill>
                  <a:srgbClr val="6B6690"/>
                </a:solidFill>
                <a:latin typeface="Calibri"/>
              </a:rPr>
              <a:t>each told their spend fell two months running</a:t>
            </a:r>
          </a:p>
        </p:txBody>
      </p:sp>
      <p:sp>
        <p:nvSpPr>
          <p:cNvPr id="12" name="Rectangle 11"/>
          <p:cNvSpPr/>
          <p:nvPr/>
        </p:nvSpPr>
        <p:spPr>
          <a:xfrm>
            <a:off x="530352" y="3145536"/>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233007" y="1956816"/>
            <a:ext cx="5428335" cy="698500"/>
          </a:xfrm>
          <a:prstGeom prst="rect">
            <a:avLst/>
          </a:prstGeom>
          <a:noFill/>
        </p:spPr>
        <p:txBody>
          <a:bodyPr wrap="square" anchor="t" lIns="0" rIns="0" tIns="0" bIns="0">
            <a:spAutoFit/>
          </a:bodyPr>
          <a:lstStyle/>
          <a:p>
            <a:pPr algn="l"/>
            <a:r>
              <a:rPr sz="4400" b="0" i="0">
                <a:solidFill>
                  <a:srgbClr val="5B3FD6"/>
                </a:solidFill>
                <a:latin typeface="Georgia"/>
              </a:rPr>
              <a:t>1</a:t>
            </a:r>
          </a:p>
        </p:txBody>
      </p:sp>
      <p:sp>
        <p:nvSpPr>
          <p:cNvPr id="14" name="TextBox 13"/>
          <p:cNvSpPr txBox="1"/>
          <p:nvPr/>
        </p:nvSpPr>
        <p:spPr>
          <a:xfrm>
            <a:off x="6233007" y="2691892"/>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OF THEM</a:t>
            </a:r>
          </a:p>
        </p:txBody>
      </p:sp>
      <p:sp>
        <p:nvSpPr>
          <p:cNvPr id="15" name="TextBox 14"/>
          <p:cNvSpPr txBox="1"/>
          <p:nvPr/>
        </p:nvSpPr>
        <p:spPr>
          <a:xfrm>
            <a:off x="6233007" y="2893060"/>
            <a:ext cx="5428335" cy="193421"/>
          </a:xfrm>
          <a:prstGeom prst="rect">
            <a:avLst/>
          </a:prstGeom>
          <a:noFill/>
        </p:spPr>
        <p:txBody>
          <a:bodyPr wrap="square" anchor="t" lIns="0" rIns="0" tIns="0" bIns="0">
            <a:spAutoFit/>
          </a:bodyPr>
          <a:lstStyle/>
          <a:p>
            <a:pPr algn="l"/>
            <a:r>
              <a:rPr sz="950" b="0" i="0">
                <a:solidFill>
                  <a:srgbClr val="6B6690"/>
                </a:solidFill>
                <a:latin typeface="Calibri"/>
              </a:rPr>
              <a:t>the member on holiday, among others</a:t>
            </a:r>
          </a:p>
        </p:txBody>
      </p:sp>
      <p:sp>
        <p:nvSpPr>
          <p:cNvPr id="16" name="Rectangle 15"/>
          <p:cNvSpPr/>
          <p:nvPr/>
        </p:nvSpPr>
        <p:spPr>
          <a:xfrm>
            <a:off x="6233007" y="3145536"/>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530352" y="3419856"/>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758952" y="375208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9" name="Picture 18" descr="bug_39ada6eff46d.png"/>
          <p:cNvPicPr>
            <a:picLocks noChangeAspect="1"/>
          </p:cNvPicPr>
          <p:nvPr/>
        </p:nvPicPr>
        <p:blipFill>
          <a:blip r:embed="rId4"/>
          <a:stretch>
            <a:fillRect/>
          </a:stretch>
        </p:blipFill>
        <p:spPr>
          <a:xfrm>
            <a:off x="868680" y="3861816"/>
            <a:ext cx="237744" cy="237744"/>
          </a:xfrm>
          <a:prstGeom prst="rect">
            <a:avLst/>
          </a:prstGeom>
        </p:spPr>
      </p:pic>
      <p:sp>
        <p:nvSpPr>
          <p:cNvPr id="20" name="TextBox 19"/>
          <p:cNvSpPr txBox="1"/>
          <p:nvPr/>
        </p:nvSpPr>
        <p:spPr>
          <a:xfrm>
            <a:off x="1399031" y="3566160"/>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WHAT BREAKS</a:t>
            </a:r>
          </a:p>
        </p:txBody>
      </p:sp>
      <p:sp>
        <p:nvSpPr>
          <p:cNvPr id="21" name="TextBox 20"/>
          <p:cNvSpPr txBox="1"/>
          <p:nvPr/>
        </p:nvSpPr>
        <p:spPr>
          <a:xfrm>
            <a:off x="1399031" y="3785616"/>
            <a:ext cx="9987991" cy="682752"/>
          </a:xfrm>
          <a:prstGeom prst="rect">
            <a:avLst/>
          </a:prstGeom>
          <a:noFill/>
        </p:spPr>
        <p:txBody>
          <a:bodyPr wrap="square" anchor="t" lIns="0" rIns="0" tIns="0" bIns="0">
            <a:spAutoFit/>
          </a:bodyPr>
          <a:lstStyle/>
          <a:p>
            <a:r>
              <a:rPr sz="1500" b="0" i="0">
                <a:solidFill>
                  <a:srgbClr val="1A1440"/>
                </a:solidFill>
                <a:latin typeface="Calibri"/>
              </a:rPr>
              <a:t>The hurried reply to the head of Retail-Plus is that C-0216 did spend less with each order, and every one of the sixteen gets the same call.</a:t>
            </a:r>
          </a:p>
        </p:txBody>
      </p:sp>
      <p:sp>
        <p:nvSpPr>
          <p:cNvPr id="22" name="Oval 21"/>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Who does Marketing call?</a:t>
            </a:r>
          </a:p>
        </p:txBody>
      </p:sp>
      <p:sp>
        <p:nvSpPr>
          <p:cNvPr id="24" name="Oval 23"/>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219706"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26" name="Oval 25"/>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615308"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What do we tell Marketing?</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S11  ·  14 / 31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Why it is wrong: 7 of 16 flags skip a month</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many of the sixteen flags step over a month with no order?</a:t>
            </a:r>
          </a:p>
        </p:txBody>
      </p:sp>
      <p:pic>
        <p:nvPicPr>
          <p:cNvPr id="9" name="mermaid diagram" descr="99986eef7fcc0090.png"/>
          <p:cNvPicPr>
            <a:picLocks noChangeAspect="1"/>
          </p:cNvPicPr>
          <p:nvPr/>
        </p:nvPicPr>
        <p:blipFill>
          <a:blip r:embed="rId5"/>
          <a:stretch>
            <a:fillRect/>
          </a:stretch>
        </p:blipFill>
        <p:spPr>
          <a:xfrm>
            <a:off x="3858637" y="1664208"/>
            <a:ext cx="4474420" cy="3517392"/>
          </a:xfrm>
          <a:prstGeom prst="rect">
            <a:avLst/>
          </a:prstGeom>
        </p:spPr>
      </p:pic>
      <p:sp>
        <p:nvSpPr>
          <p:cNvPr id="10" name="Rounded Rectangle 9"/>
          <p:cNvSpPr/>
          <p:nvPr/>
        </p:nvSpPr>
        <p:spPr>
          <a:xfrm>
            <a:off x="530352" y="5227320"/>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5355336"/>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5346192"/>
            <a:ext cx="10564063" cy="624840"/>
          </a:xfrm>
          <a:prstGeom prst="rect">
            <a:avLst/>
          </a:prstGeom>
          <a:noFill/>
        </p:spPr>
        <p:txBody>
          <a:bodyPr wrap="square" anchor="ctr" lIns="0" rIns="0" tIns="0" bIns="0">
            <a:spAutoFit/>
          </a:bodyPr>
          <a:lstStyle/>
          <a:p>
            <a:r>
              <a:rPr sz="1500" b="1">
                <a:solidFill>
                  <a:srgbClr val="5B3FD6"/>
                </a:solidFill>
                <a:latin typeface="Calibri"/>
              </a:rPr>
              <a:t>The check. </a:t>
            </a:r>
            <a:r>
              <a:rPr sz="1500" b="0" i="0">
                <a:solidFill>
                  <a:srgbClr val="1A1440"/>
                </a:solidFill>
                <a:latin typeface="Calibri"/>
              </a:rPr>
              <a:t>Carry lag(month) beside lag(spend) and count the flags whose two rows before September are not August and July: seven. The member on holiday is one of the seven.</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Who does Marketing call?</a:t>
            </a:r>
          </a:p>
        </p:txBody>
      </p:sp>
      <p:sp>
        <p:nvSpPr>
          <p:cNvPr id="15" name="Oval 1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17" name="Oval 16"/>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615308"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What do we tell Marketing?</a:t>
            </a:r>
          </a:p>
        </p:txBody>
      </p:sp>
      <p:sp>
        <p:nvSpPr>
          <p:cNvPr id="19" name="TextBox 1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S12  ·  15 / 31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fix: nine members, three months each lower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changes when the flag checks the calendar?</a:t>
            </a:r>
          </a:p>
        </p:txBody>
      </p:sp>
      <p:sp>
        <p:nvSpPr>
          <p:cNvPr id="9" name="Rounded Rectangle 8"/>
          <p:cNvSpPr/>
          <p:nvPr/>
        </p:nvSpPr>
        <p:spPr>
          <a:xfrm>
            <a:off x="530352" y="1956816"/>
            <a:ext cx="11130991" cy="962152"/>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559816"/>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AND month_1_back = DATE '2026-08-01'</a:t>
            </a:r>
          </a:p>
          <a:p>
            <a:pPr>
              <a:spcAft>
                <a:spcPts val="200"/>
              </a:spcAft>
            </a:pPr>
            <a:r>
              <a:rPr sz="1400" b="0" i="0">
                <a:solidFill>
                  <a:srgbClr val="E4E1F1"/>
                </a:solidFill>
                <a:latin typeface="Consolas"/>
              </a:rPr>
              <a:t>AND month_2_back = DATE '2026-07-01'</a:t>
            </a:r>
          </a:p>
        </p:txBody>
      </p:sp>
      <p:sp>
        <p:nvSpPr>
          <p:cNvPr id="14" name="TextBox 13"/>
          <p:cNvSpPr txBox="1"/>
          <p:nvPr/>
        </p:nvSpPr>
        <p:spPr>
          <a:xfrm>
            <a:off x="530352" y="3083560"/>
            <a:ext cx="5428335" cy="698500"/>
          </a:xfrm>
          <a:prstGeom prst="rect">
            <a:avLst/>
          </a:prstGeom>
          <a:noFill/>
        </p:spPr>
        <p:txBody>
          <a:bodyPr wrap="square" anchor="t" lIns="0" rIns="0" tIns="0" bIns="0">
            <a:spAutoFit/>
          </a:bodyPr>
          <a:lstStyle/>
          <a:p>
            <a:pPr algn="l"/>
            <a:r>
              <a:rPr sz="4400" b="0" i="0">
                <a:solidFill>
                  <a:srgbClr val="5B3FD6"/>
                </a:solidFill>
                <a:latin typeface="Georgia"/>
              </a:rPr>
              <a:t>9</a:t>
            </a:r>
          </a:p>
        </p:txBody>
      </p:sp>
      <p:sp>
        <p:nvSpPr>
          <p:cNvPr id="15" name="TextBox 14"/>
          <p:cNvSpPr txBox="1"/>
          <p:nvPr/>
        </p:nvSpPr>
        <p:spPr>
          <a:xfrm>
            <a:off x="530352" y="3818636"/>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MEMBERS FLAGGED</a:t>
            </a:r>
          </a:p>
        </p:txBody>
      </p:sp>
      <p:sp>
        <p:nvSpPr>
          <p:cNvPr id="16" name="TextBox 15"/>
          <p:cNvSpPr txBox="1"/>
          <p:nvPr/>
        </p:nvSpPr>
        <p:spPr>
          <a:xfrm>
            <a:off x="530352" y="4019804"/>
            <a:ext cx="5428335" cy="193421"/>
          </a:xfrm>
          <a:prstGeom prst="rect">
            <a:avLst/>
          </a:prstGeom>
          <a:noFill/>
        </p:spPr>
        <p:txBody>
          <a:bodyPr wrap="square" anchor="t" lIns="0" rIns="0" tIns="0" bIns="0">
            <a:spAutoFit/>
          </a:bodyPr>
          <a:lstStyle/>
          <a:p>
            <a:pPr algn="l"/>
            <a:r>
              <a:rPr sz="950" b="0" i="0">
                <a:solidFill>
                  <a:srgbClr val="6B6690"/>
                </a:solidFill>
                <a:latin typeface="Calibri"/>
              </a:rPr>
              <a:t>three consecutive months, each lower</a:t>
            </a:r>
          </a:p>
        </p:txBody>
      </p:sp>
      <p:sp>
        <p:nvSpPr>
          <p:cNvPr id="17" name="Rectangle 16"/>
          <p:cNvSpPr/>
          <p:nvPr/>
        </p:nvSpPr>
        <p:spPr>
          <a:xfrm>
            <a:off x="530352" y="4272280"/>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233007" y="3083560"/>
            <a:ext cx="5428335" cy="698500"/>
          </a:xfrm>
          <a:prstGeom prst="rect">
            <a:avLst/>
          </a:prstGeom>
          <a:noFill/>
        </p:spPr>
        <p:txBody>
          <a:bodyPr wrap="square" anchor="t" lIns="0" rIns="0" tIns="0" bIns="0">
            <a:spAutoFit/>
          </a:bodyPr>
          <a:lstStyle/>
          <a:p>
            <a:pPr algn="l"/>
            <a:r>
              <a:rPr sz="4400" b="0" i="0">
                <a:solidFill>
                  <a:srgbClr val="5B3FD6"/>
                </a:solidFill>
                <a:latin typeface="Georgia"/>
              </a:rPr>
              <a:t>7</a:t>
            </a:r>
          </a:p>
        </p:txBody>
      </p:sp>
      <p:sp>
        <p:nvSpPr>
          <p:cNvPr id="19" name="TextBox 18"/>
          <p:cNvSpPr txBox="1"/>
          <p:nvPr/>
        </p:nvSpPr>
        <p:spPr>
          <a:xfrm>
            <a:off x="6233007" y="3818636"/>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CALLS NOT MADE</a:t>
            </a:r>
          </a:p>
        </p:txBody>
      </p:sp>
      <p:sp>
        <p:nvSpPr>
          <p:cNvPr id="20" name="TextBox 19"/>
          <p:cNvSpPr txBox="1"/>
          <p:nvPr/>
        </p:nvSpPr>
        <p:spPr>
          <a:xfrm>
            <a:off x="6233007" y="4019804"/>
            <a:ext cx="5428335" cy="193421"/>
          </a:xfrm>
          <a:prstGeom prst="rect">
            <a:avLst/>
          </a:prstGeom>
          <a:noFill/>
        </p:spPr>
        <p:txBody>
          <a:bodyPr wrap="square" anchor="t" lIns="0" rIns="0" tIns="0" bIns="0">
            <a:spAutoFit/>
          </a:bodyPr>
          <a:lstStyle/>
          <a:p>
            <a:pPr algn="l"/>
            <a:r>
              <a:rPr sz="950" b="0" i="0">
                <a:solidFill>
                  <a:srgbClr val="6B6690"/>
                </a:solidFill>
                <a:latin typeface="Calibri"/>
              </a:rPr>
              <a:t>the member on holiday among them</a:t>
            </a:r>
          </a:p>
        </p:txBody>
      </p:sp>
      <p:sp>
        <p:nvSpPr>
          <p:cNvPr id="21" name="Rectangle 20"/>
          <p:cNvSpPr/>
          <p:nvPr/>
        </p:nvSpPr>
        <p:spPr>
          <a:xfrm>
            <a:off x="6233007" y="4272280"/>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530352" y="4546600"/>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676656" y="4674616"/>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77824" y="4665472"/>
            <a:ext cx="10564063" cy="624840"/>
          </a:xfrm>
          <a:prstGeom prst="rect">
            <a:avLst/>
          </a:prstGeom>
          <a:noFill/>
        </p:spPr>
        <p:txBody>
          <a:bodyPr wrap="square" anchor="ctr" lIns="0" rIns="0" tIns="0" bIns="0">
            <a:spAutoFit/>
          </a:bodyPr>
          <a:lstStyle/>
          <a:p>
            <a:r>
              <a:rPr sz="1500" b="1">
                <a:solidFill>
                  <a:srgbClr val="5B3FD6"/>
                </a:solidFill>
                <a:latin typeface="Calibri"/>
              </a:rPr>
              <a:t>What changed. </a:t>
            </a:r>
            <a:r>
              <a:rPr sz="1500" b="0" i="0">
                <a:solidFill>
                  <a:srgbClr val="1A1440"/>
                </a:solidFill>
                <a:latin typeface="Calibri"/>
              </a:rPr>
              <a:t>Every call that goes out now describes three consecutive months that each fell, months the member can check on their own statement.</a:t>
            </a:r>
          </a:p>
        </p:txBody>
      </p:sp>
      <p:sp>
        <p:nvSpPr>
          <p:cNvPr id="25" name="Oval 24"/>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Who does Marketing call?</a:t>
            </a:r>
          </a:p>
        </p:txBody>
      </p:sp>
      <p:sp>
        <p:nvSpPr>
          <p:cNvPr id="27" name="Oval 26"/>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2219706"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29" name="Oval 28"/>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3615308"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What do we tell Marketing?</a:t>
            </a:r>
          </a:p>
        </p:txBody>
      </p:sp>
      <p:sp>
        <p:nvSpPr>
          <p:cNvPr id="31" name="TextBox 3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S13  ·  16 / 31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second route: a calendar join keeps the same 9</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Does a join on calendar months find the same members?</a:t>
            </a:r>
          </a:p>
        </p:txBody>
      </p:sp>
      <p:sp>
        <p:nvSpPr>
          <p:cNvPr id="9" name="Rounded Rectangle 8"/>
          <p:cNvSpPr/>
          <p:nvPr/>
        </p:nvSpPr>
        <p:spPr>
          <a:xfrm>
            <a:off x="530352" y="1956816"/>
            <a:ext cx="11130991" cy="1719580"/>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1317244"/>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SELECT sep.customer_id</a:t>
            </a:r>
          </a:p>
          <a:p>
            <a:pPr>
              <a:spcAft>
                <a:spcPts val="200"/>
              </a:spcAft>
            </a:pPr>
            <a:r>
              <a:rPr sz="1400" b="0" i="0">
                <a:solidFill>
                  <a:srgbClr val="E4E1F1"/>
                </a:solidFill>
                <a:latin typeface="Consolas"/>
              </a:rPr>
              <a:t>FROM   monthly sep</a:t>
            </a:r>
          </a:p>
          <a:p>
            <a:pPr>
              <a:spcAft>
                <a:spcPts val="200"/>
              </a:spcAft>
            </a:pPr>
            <a:r>
              <a:rPr sz="1400" b="0" i="0">
                <a:solidFill>
                  <a:srgbClr val="E4E1F1"/>
                </a:solidFill>
                <a:latin typeface="Consolas"/>
              </a:rPr>
              <a:t>JOIN   monthly aug ON aug.customer_id = sep.customer_id AND aug.month = DATE '2026-08-01'</a:t>
            </a:r>
          </a:p>
          <a:p>
            <a:pPr>
              <a:spcAft>
                <a:spcPts val="200"/>
              </a:spcAft>
            </a:pPr>
            <a:r>
              <a:rPr sz="1400" b="0" i="0">
                <a:solidFill>
                  <a:srgbClr val="E4E1F1"/>
                </a:solidFill>
                <a:latin typeface="Consolas"/>
              </a:rPr>
              <a:t>JOIN   monthly jul ON jul.customer_id = sep.customer_id AND jul.month = DATE '2026-07-01'</a:t>
            </a:r>
          </a:p>
          <a:p>
            <a:pPr>
              <a:spcAft>
                <a:spcPts val="200"/>
              </a:spcAft>
            </a:pPr>
            <a:r>
              <a:rPr sz="1400" b="0" i="0">
                <a:solidFill>
                  <a:srgbClr val="E4E1F1"/>
                </a:solidFill>
                <a:latin typeface="Consolas"/>
              </a:rPr>
              <a:t>WHERE  sep.month = DATE '2026-09-01' AND sep.spend &lt; aug.spend AND aug.spend &lt; jul.spend;</a:t>
            </a:r>
          </a:p>
        </p:txBody>
      </p:sp>
      <p:sp>
        <p:nvSpPr>
          <p:cNvPr id="14" name="TextBox 13"/>
          <p:cNvSpPr txBox="1"/>
          <p:nvPr/>
        </p:nvSpPr>
        <p:spPr>
          <a:xfrm>
            <a:off x="530352" y="3840988"/>
            <a:ext cx="11130991" cy="698500"/>
          </a:xfrm>
          <a:prstGeom prst="rect">
            <a:avLst/>
          </a:prstGeom>
          <a:noFill/>
        </p:spPr>
        <p:txBody>
          <a:bodyPr wrap="square" anchor="t" lIns="0" rIns="0" tIns="0" bIns="0">
            <a:spAutoFit/>
          </a:bodyPr>
          <a:lstStyle/>
          <a:p>
            <a:pPr algn="l"/>
            <a:r>
              <a:rPr sz="4400" b="0" i="0">
                <a:solidFill>
                  <a:srgbClr val="5B3FD6"/>
                </a:solidFill>
                <a:latin typeface="Georgia"/>
              </a:rPr>
              <a:t>9 = 9</a:t>
            </a:r>
          </a:p>
        </p:txBody>
      </p:sp>
      <p:sp>
        <p:nvSpPr>
          <p:cNvPr id="15" name="TextBox 14"/>
          <p:cNvSpPr txBox="1"/>
          <p:nvPr/>
        </p:nvSpPr>
        <p:spPr>
          <a:xfrm>
            <a:off x="530352" y="4576064"/>
            <a:ext cx="11130991" cy="168656"/>
          </a:xfrm>
          <a:prstGeom prst="rect">
            <a:avLst/>
          </a:prstGeom>
          <a:noFill/>
        </p:spPr>
        <p:txBody>
          <a:bodyPr wrap="square" anchor="t" lIns="0" rIns="0" tIns="0" bIns="0">
            <a:spAutoFit/>
          </a:bodyPr>
          <a:lstStyle/>
          <a:p>
            <a:pPr algn="l"/>
            <a:r>
              <a:rPr sz="800" b="1" i="0" spc="250">
                <a:solidFill>
                  <a:srgbClr val="1A0F5C"/>
                </a:solidFill>
                <a:latin typeface="Calibri"/>
              </a:rPr>
              <a:t>MEMBERS</a:t>
            </a:r>
          </a:p>
        </p:txBody>
      </p:sp>
      <p:sp>
        <p:nvSpPr>
          <p:cNvPr id="16" name="TextBox 15"/>
          <p:cNvSpPr txBox="1"/>
          <p:nvPr/>
        </p:nvSpPr>
        <p:spPr>
          <a:xfrm>
            <a:off x="530352" y="4777232"/>
            <a:ext cx="11130991" cy="193421"/>
          </a:xfrm>
          <a:prstGeom prst="rect">
            <a:avLst/>
          </a:prstGeom>
          <a:noFill/>
        </p:spPr>
        <p:txBody>
          <a:bodyPr wrap="square" anchor="t" lIns="0" rIns="0" tIns="0" bIns="0">
            <a:spAutoFit/>
          </a:bodyPr>
          <a:lstStyle/>
          <a:p>
            <a:pPr algn="l"/>
            <a:r>
              <a:rPr sz="950" b="0" i="0">
                <a:solidFill>
                  <a:srgbClr val="6B6690"/>
                </a:solidFill>
                <a:latin typeface="Calibri"/>
              </a:rPr>
              <a:t>the same ones as the checked LAG</a:t>
            </a:r>
          </a:p>
        </p:txBody>
      </p:sp>
      <p:sp>
        <p:nvSpPr>
          <p:cNvPr id="17" name="Rectangle 16"/>
          <p:cNvSpPr/>
          <p:nvPr/>
        </p:nvSpPr>
        <p:spPr>
          <a:xfrm>
            <a:off x="530352" y="5029708"/>
            <a:ext cx="11130991"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Who does Marketing call?</a:t>
            </a:r>
          </a:p>
        </p:txBody>
      </p:sp>
      <p:sp>
        <p:nvSpPr>
          <p:cNvPr id="20" name="Oval 19"/>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219706"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22" name="Oval 21"/>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3615308"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What do we tell Marketing?</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S14  ·  17 / 31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Marketing rings the nine; C-0010 shows why</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does Marketing call first?</a:t>
            </a:r>
          </a:p>
        </p:txBody>
      </p:sp>
      <p:graphicFrame>
        <p:nvGraphicFramePr>
          <p:cNvPr id="9" name="Table 8"/>
          <p:cNvGraphicFramePr>
            <a:graphicFrameLocks noGrp="1"/>
          </p:cNvGraphicFramePr>
          <p:nvPr/>
        </p:nvGraphicFramePr>
        <p:xfrm>
          <a:off x="530352" y="1956816"/>
          <a:ext cx="11130990" cy="670560"/>
        </p:xfrm>
        <a:graphic>
          <a:graphicData uri="http://schemas.openxmlformats.org/drawingml/2006/table">
            <a:tbl>
              <a:tblPr firstRow="0" bandRow="0">
                <a:tableStyleId>{2D5ABB26-0587-4C30-8999-92F81FD0307C}</a:tableStyleId>
              </a:tblPr>
              <a:tblGrid>
                <a:gridCol w="6756719"/>
                <a:gridCol w="914400"/>
                <a:gridCol w="914400"/>
                <a:gridCol w="2545471"/>
              </a:tblGrid>
              <a:tr h="335280">
                <a:tc>
                  <a:txBody>
                    <a:bodyPr/>
                    <a:lstStyle/>
                    <a:p>
                      <a:r>
                        <a:rPr sz="1250" b="1" i="0">
                          <a:solidFill>
                            <a:srgbClr val="FFFFFF"/>
                          </a:solidFill>
                          <a:latin typeface="Calibri"/>
                        </a:rPr>
                        <a:t>C-0010, Retail-Core, place 1</a:t>
                      </a:r>
                    </a:p>
                  </a:txBody>
                  <a:tcPr marL="101600" marR="101600" marT="38100" marB="38100" anchor="ctr">
                    <a:solidFill>
                      <a:srgbClr val="1A0F5C"/>
                    </a:solidFill>
                  </a:tcPr>
                </a:tc>
                <a:tc>
                  <a:txBody>
                    <a:bodyPr/>
                    <a:lstStyle/>
                    <a:p>
                      <a:r>
                        <a:rPr sz="1250" b="1" i="0">
                          <a:solidFill>
                            <a:srgbClr val="FFFFFF"/>
                          </a:solidFill>
                          <a:latin typeface="Calibri"/>
                        </a:rPr>
                        <a:t>July</a:t>
                      </a:r>
                    </a:p>
                  </a:txBody>
                  <a:tcPr marL="101600" marR="101600" marT="38100" marB="38100" anchor="ctr">
                    <a:solidFill>
                      <a:srgbClr val="1A0F5C"/>
                    </a:solidFill>
                  </a:tcPr>
                </a:tc>
                <a:tc>
                  <a:txBody>
                    <a:bodyPr/>
                    <a:lstStyle/>
                    <a:p>
                      <a:r>
                        <a:rPr sz="1250" b="1" i="0">
                          <a:solidFill>
                            <a:srgbClr val="FFFFFF"/>
                          </a:solidFill>
                          <a:latin typeface="Calibri"/>
                        </a:rPr>
                        <a:t>August</a:t>
                      </a:r>
                    </a:p>
                  </a:txBody>
                  <a:tcPr marL="101600" marR="101600" marT="38100" marB="38100" anchor="ctr">
                    <a:solidFill>
                      <a:srgbClr val="1A0F5C"/>
                    </a:solidFill>
                  </a:tcPr>
                </a:tc>
                <a:tc>
                  <a:txBody>
                    <a:bodyPr/>
                    <a:lstStyle/>
                    <a:p>
                      <a:r>
                        <a:rPr sz="1250" b="1" i="0">
                          <a:solidFill>
                            <a:srgbClr val="FFFFFF"/>
                          </a:solidFill>
                          <a:latin typeface="Calibri"/>
                        </a:rPr>
                        <a:t>September</a:t>
                      </a:r>
                    </a:p>
                  </a:txBody>
                  <a:tcPr marL="101600" marR="101600" marT="38100" marB="38100" anchor="ctr">
                    <a:solidFill>
                      <a:srgbClr val="1A0F5C"/>
                    </a:solidFill>
                  </a:tcPr>
                </a:tc>
              </a:tr>
              <a:tr h="335280">
                <a:tc>
                  <a:txBody>
                    <a:bodyPr/>
                    <a:lstStyle/>
                    <a:p>
                      <a:r>
                        <a:rPr sz="1200" b="0" i="0">
                          <a:solidFill>
                            <a:srgbClr val="1A1440"/>
                          </a:solidFill>
                          <a:latin typeface="Calibri"/>
                        </a:rPr>
                        <a:t>Monthly spend</a:t>
                      </a:r>
                    </a:p>
                  </a:txBody>
                  <a:tcPr marL="101600" marR="101600" marT="38100" marB="38100" anchor="ctr">
                    <a:solidFill>
                      <a:srgbClr val="FFFFFF"/>
                    </a:solidFill>
                  </a:tcPr>
                </a:tc>
                <a:tc>
                  <a:txBody>
                    <a:bodyPr/>
                    <a:lstStyle/>
                    <a:p>
                      <a:r>
                        <a:rPr sz="1200" b="0" i="0">
                          <a:solidFill>
                            <a:srgbClr val="1A1440"/>
                          </a:solidFill>
                          <a:latin typeface="Calibri"/>
                        </a:rPr>
                        <a:t>Rs 7,840</a:t>
                      </a:r>
                    </a:p>
                  </a:txBody>
                  <a:tcPr marL="101600" marR="101600" marT="38100" marB="38100" anchor="ctr">
                    <a:solidFill>
                      <a:srgbClr val="FFFFFF"/>
                    </a:solidFill>
                  </a:tcPr>
                </a:tc>
                <a:tc>
                  <a:txBody>
                    <a:bodyPr/>
                    <a:lstStyle/>
                    <a:p>
                      <a:r>
                        <a:rPr sz="1200" b="0" i="0">
                          <a:solidFill>
                            <a:srgbClr val="1A1440"/>
                          </a:solidFill>
                          <a:latin typeface="Calibri"/>
                        </a:rPr>
                        <a:t>Rs 4,080</a:t>
                      </a:r>
                    </a:p>
                  </a:txBody>
                  <a:tcPr marL="101600" marR="101600" marT="38100" marB="38100" anchor="ctr">
                    <a:solidFill>
                      <a:srgbClr val="FFFFFF"/>
                    </a:solidFill>
                  </a:tcPr>
                </a:tc>
                <a:tc>
                  <a:txBody>
                    <a:bodyPr/>
                    <a:lstStyle/>
                    <a:p>
                      <a:r>
                        <a:rPr sz="1200" b="0" i="0">
                          <a:solidFill>
                            <a:srgbClr val="1A1440"/>
                          </a:solidFill>
                          <a:latin typeface="Calibri"/>
                        </a:rPr>
                        <a:t>Rs 1,990</a:t>
                      </a:r>
                    </a:p>
                  </a:txBody>
                  <a:tcPr marL="101600" marR="101600" marT="38100" marB="38100" anchor="ctr">
                    <a:solidFill>
                      <a:srgbClr val="FFFFFF"/>
                    </a:solidFill>
                  </a:tcPr>
                </a:tc>
              </a:tr>
            </a:tbl>
          </a:graphicData>
        </a:graphic>
      </p:graphicFrame>
      <p:sp>
        <p:nvSpPr>
          <p:cNvPr id="10" name="Rounded Rectangle 9"/>
          <p:cNvSpPr/>
          <p:nvPr/>
        </p:nvSpPr>
        <p:spPr>
          <a:xfrm>
            <a:off x="530352" y="2883408"/>
            <a:ext cx="11130991" cy="86258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3086100"/>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message-square_028dbd132a0a.png"/>
          <p:cNvPicPr>
            <a:picLocks noChangeAspect="1"/>
          </p:cNvPicPr>
          <p:nvPr/>
        </p:nvPicPr>
        <p:blipFill>
          <a:blip r:embed="rId4"/>
          <a:stretch>
            <a:fillRect/>
          </a:stretch>
        </p:blipFill>
        <p:spPr>
          <a:xfrm>
            <a:off x="868680" y="3195828"/>
            <a:ext cx="237744" cy="237744"/>
          </a:xfrm>
          <a:prstGeom prst="rect">
            <a:avLst/>
          </a:prstGeom>
        </p:spPr>
      </p:pic>
      <p:sp>
        <p:nvSpPr>
          <p:cNvPr id="13" name="TextBox 12"/>
          <p:cNvSpPr txBox="1"/>
          <p:nvPr/>
        </p:nvSpPr>
        <p:spPr>
          <a:xfrm>
            <a:off x="1399031" y="3029712"/>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14" name="TextBox 13"/>
          <p:cNvSpPr txBox="1"/>
          <p:nvPr/>
        </p:nvSpPr>
        <p:spPr>
          <a:xfrm>
            <a:off x="1399031" y="3249168"/>
            <a:ext cx="9987991" cy="423672"/>
          </a:xfrm>
          <a:prstGeom prst="rect">
            <a:avLst/>
          </a:prstGeom>
          <a:noFill/>
        </p:spPr>
        <p:txBody>
          <a:bodyPr wrap="square" anchor="t" lIns="0" rIns="0" tIns="0" bIns="0">
            <a:spAutoFit/>
          </a:bodyPr>
          <a:lstStyle/>
          <a:p>
            <a:r>
              <a:rPr sz="1500" b="0" i="0">
                <a:solidFill>
                  <a:srgbClr val="FFFFFF"/>
                </a:solidFill>
                <a:latin typeface="Calibri"/>
              </a:rPr>
              <a:t>"Who do we ring first?"</a:t>
            </a:r>
          </a:p>
        </p:txBody>
      </p:sp>
      <p:sp>
        <p:nvSpPr>
          <p:cNvPr id="15" name="TextBox 14"/>
          <p:cNvSpPr txBox="1"/>
          <p:nvPr/>
        </p:nvSpPr>
        <p:spPr>
          <a:xfrm>
            <a:off x="530352" y="3910584"/>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All nine flagged members are on a protect list. Run block c6_call_list in your own notebook and read the nine before you write the sentence to Marketing.</a:t>
            </a:r>
          </a:p>
        </p:txBody>
      </p:sp>
      <p:sp>
        <p:nvSpPr>
          <p:cNvPr id="16" name="Oval 15"/>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Who does Marketing call?</a:t>
            </a:r>
          </a:p>
        </p:txBody>
      </p:sp>
      <p:sp>
        <p:nvSpPr>
          <p:cNvPr id="18" name="Oval 17"/>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2219706"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20" name="Oval 19"/>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615308"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What do we tell Marketing?</a:t>
            </a:r>
          </a:p>
        </p:txBody>
      </p:sp>
      <p:sp>
        <p:nvSpPr>
          <p:cNvPr id="22" name="TextBox 2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S15  ·  18 / 31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Nine calls, and a month with no order is no reading</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So which listed members does Marketing call first, and does each flag hold up?</a:t>
            </a:r>
          </a:p>
        </p:txBody>
      </p:sp>
      <p:graphicFrame>
        <p:nvGraphicFramePr>
          <p:cNvPr id="9" name="Table 8"/>
          <p:cNvGraphicFramePr>
            <a:graphicFrameLocks noGrp="1"/>
          </p:cNvGraphicFramePr>
          <p:nvPr/>
        </p:nvGraphicFramePr>
        <p:xfrm>
          <a:off x="530352" y="1819656"/>
          <a:ext cx="11130990" cy="2176272"/>
        </p:xfrm>
        <a:graphic>
          <a:graphicData uri="http://schemas.openxmlformats.org/drawingml/2006/table">
            <a:tbl>
              <a:tblPr firstRow="0" bandRow="0">
                <a:tableStyleId>{2D5ABB26-0587-4C30-8999-92F81FD0307C}</a:tableStyleId>
              </a:tblPr>
              <a:tblGrid>
                <a:gridCol w="4631466"/>
                <a:gridCol w="6499524"/>
              </a:tblGrid>
              <a:tr h="310896">
                <a:tc>
                  <a:txBody>
                    <a:bodyPr/>
                    <a:lstStyle/>
                    <a:p>
                      <a:r>
                        <a:rPr sz="950" b="1" i="0">
                          <a:solidFill>
                            <a:srgbClr val="FFFFFF"/>
                          </a:solidFill>
                          <a:latin typeface="Calibri"/>
                        </a:rPr>
                        <a:t>The question on the way</a:t>
                      </a:r>
                    </a:p>
                  </a:txBody>
                  <a:tcPr marL="101600" marR="101600" marT="38100" marB="38100" anchor="ctr">
                    <a:solidFill>
                      <a:srgbClr val="1A0F5C"/>
                    </a:solidFill>
                  </a:tcPr>
                </a:tc>
                <a:tc>
                  <a:txBody>
                    <a:bodyPr/>
                    <a:lstStyle/>
                    <a:p>
                      <a:r>
                        <a:rPr sz="950" b="1" i="0">
                          <a:solidFill>
                            <a:srgbClr val="FFFFFF"/>
                          </a:solidFill>
                          <a:latin typeface="Calibri"/>
                        </a:rPr>
                        <a:t>The answer</a:t>
                      </a:r>
                    </a:p>
                  </a:txBody>
                  <a:tcPr marL="101600" marR="101600" marT="38100" marB="38100" anchor="ctr">
                    <a:solidFill>
                      <a:srgbClr val="1A0F5C"/>
                    </a:solidFill>
                  </a:tcPr>
                </a:tc>
              </a:tr>
              <a:tr h="310896">
                <a:tc>
                  <a:txBody>
                    <a:bodyPr/>
                    <a:lstStyle/>
                    <a:p>
                      <a:r>
                        <a:rPr sz="900" b="0" i="0">
                          <a:solidFill>
                            <a:srgbClr val="1A1440"/>
                          </a:solidFill>
                          <a:latin typeface="Calibri"/>
                        </a:rPr>
                        <a:t>1. Which reading of last month?</a:t>
                      </a:r>
                    </a:p>
                  </a:txBody>
                  <a:tcPr marL="101600" marR="101600" marT="38100" marB="38100" anchor="ctr">
                    <a:solidFill>
                      <a:srgbClr val="FFFFFF"/>
                    </a:solidFill>
                  </a:tcPr>
                </a:tc>
                <a:tc>
                  <a:txBody>
                    <a:bodyPr/>
                    <a:lstStyle/>
                    <a:p>
                      <a:r>
                        <a:rPr sz="900" b="0" i="0">
                          <a:solidFill>
                            <a:srgbClr val="1A1440"/>
                          </a:solidFill>
                          <a:latin typeface="Calibri"/>
                        </a:rPr>
                        <a:t>LAG with a calendar check: 752 rows, no zeros</a:t>
                      </a:r>
                    </a:p>
                  </a:txBody>
                  <a:tcPr marL="101600" marR="101600" marT="38100" marB="38100" anchor="ctr">
                    <a:solidFill>
                      <a:srgbClr val="FFFFFF"/>
                    </a:solidFill>
                  </a:tcPr>
                </a:tc>
              </a:tr>
              <a:tr h="310896">
                <a:tc>
                  <a:txBody>
                    <a:bodyPr/>
                    <a:lstStyle/>
                    <a:p>
                      <a:r>
                        <a:rPr sz="900" b="0" i="0">
                          <a:solidFill>
                            <a:srgbClr val="1A1440"/>
                          </a:solidFill>
                          <a:latin typeface="Calibri"/>
                        </a:rPr>
                        <a:t>2. How many flagged are listed?</a:t>
                      </a:r>
                    </a:p>
                  </a:txBody>
                  <a:tcPr marL="101600" marR="101600" marT="38100" marB="38100" anchor="ctr">
                    <a:solidFill>
                      <a:srgbClr val="F4F2FA"/>
                    </a:solidFill>
                  </a:tcPr>
                </a:tc>
                <a:tc>
                  <a:txBody>
                    <a:bodyPr/>
                    <a:lstStyle/>
                    <a:p>
                      <a:r>
                        <a:rPr sz="900" b="0" i="0">
                          <a:solidFill>
                            <a:srgbClr val="1A1440"/>
                          </a:solidFill>
                          <a:latin typeface="Calibri"/>
                        </a:rPr>
                        <a:t>All 16 of chapter 4's flag</a:t>
                      </a:r>
                    </a:p>
                  </a:txBody>
                  <a:tcPr marL="101600" marR="101600" marT="38100" marB="38100" anchor="ctr">
                    <a:solidFill>
                      <a:srgbClr val="F4F2FA"/>
                    </a:solidFill>
                  </a:tcPr>
                </a:tc>
              </a:tr>
              <a:tr h="310896">
                <a:tc>
                  <a:txBody>
                    <a:bodyPr/>
                    <a:lstStyle/>
                    <a:p>
                      <a:r>
                        <a:rPr sz="900" b="0" i="0">
                          <a:solidFill>
                            <a:srgbClr val="1A1440"/>
                          </a:solidFill>
                          <a:latin typeface="Calibri"/>
                        </a:rPr>
                        <a:t>3. What did LAG compare?</a:t>
                      </a:r>
                    </a:p>
                  </a:txBody>
                  <a:tcPr marL="101600" marR="101600" marT="38100" marB="38100" anchor="ctr">
                    <a:solidFill>
                      <a:srgbClr val="FFFFFF"/>
                    </a:solidFill>
                  </a:tcPr>
                </a:tc>
                <a:tc>
                  <a:txBody>
                    <a:bodyPr/>
                    <a:lstStyle/>
                    <a:p>
                      <a:r>
                        <a:rPr sz="900" b="0" i="0">
                          <a:solidFill>
                            <a:srgbClr val="1A1440"/>
                          </a:solidFill>
                          <a:latin typeface="Calibri"/>
                        </a:rPr>
                        <a:t>September with July and July with May</a:t>
                      </a:r>
                    </a:p>
                  </a:txBody>
                  <a:tcPr marL="101600" marR="101600" marT="38100" marB="38100" anchor="ctr">
                    <a:solidFill>
                      <a:srgbClr val="FFFFFF"/>
                    </a:solidFill>
                  </a:tcPr>
                </a:tc>
              </a:tr>
              <a:tr h="310896">
                <a:tc>
                  <a:txBody>
                    <a:bodyPr/>
                    <a:lstStyle/>
                    <a:p>
                      <a:r>
                        <a:rPr sz="900" b="0" i="0">
                          <a:solidFill>
                            <a:srgbClr val="1A1440"/>
                          </a:solidFill>
                          <a:latin typeface="Calibri"/>
                        </a:rPr>
                        <a:t>4. How many flags skip a month?</a:t>
                      </a:r>
                    </a:p>
                  </a:txBody>
                  <a:tcPr marL="101600" marR="101600" marT="38100" marB="38100" anchor="ctr">
                    <a:solidFill>
                      <a:srgbClr val="F4F2FA"/>
                    </a:solidFill>
                  </a:tcPr>
                </a:tc>
                <a:tc>
                  <a:txBody>
                    <a:bodyPr/>
                    <a:lstStyle/>
                    <a:p>
                      <a:r>
                        <a:rPr sz="900" b="0" i="0">
                          <a:solidFill>
                            <a:srgbClr val="1A1440"/>
                          </a:solidFill>
                          <a:latin typeface="Calibri"/>
                        </a:rPr>
                        <a:t>7 of 16; the check keeps 9</a:t>
                      </a:r>
                    </a:p>
                  </a:txBody>
                  <a:tcPr marL="101600" marR="101600" marT="38100" marB="38100" anchor="ctr">
                    <a:solidFill>
                      <a:srgbClr val="F4F2FA"/>
                    </a:solidFill>
                  </a:tcPr>
                </a:tc>
              </a:tr>
              <a:tr h="310896">
                <a:tc>
                  <a:txBody>
                    <a:bodyPr/>
                    <a:lstStyle/>
                    <a:p>
                      <a:r>
                        <a:rPr sz="900" b="0" i="0">
                          <a:solidFill>
                            <a:srgbClr val="1A1440"/>
                          </a:solidFill>
                          <a:latin typeface="Calibri"/>
                        </a:rPr>
                        <a:t>5. Does a calendar join agree?</a:t>
                      </a:r>
                    </a:p>
                  </a:txBody>
                  <a:tcPr marL="101600" marR="101600" marT="38100" marB="38100" anchor="ctr">
                    <a:solidFill>
                      <a:srgbClr val="FFFFFF"/>
                    </a:solidFill>
                  </a:tcPr>
                </a:tc>
                <a:tc>
                  <a:txBody>
                    <a:bodyPr/>
                    <a:lstStyle/>
                    <a:p>
                      <a:r>
                        <a:rPr sz="900" b="0" i="0">
                          <a:solidFill>
                            <a:srgbClr val="1A1440"/>
                          </a:solidFill>
                          <a:latin typeface="Calibri"/>
                        </a:rPr>
                        <a:t>Yes, the same nine</a:t>
                      </a:r>
                    </a:p>
                  </a:txBody>
                  <a:tcPr marL="101600" marR="101600" marT="38100" marB="38100" anchor="ctr">
                    <a:solidFill>
                      <a:srgbClr val="FFFFFF"/>
                    </a:solidFill>
                  </a:tcPr>
                </a:tc>
              </a:tr>
              <a:tr h="310896">
                <a:tc>
                  <a:txBody>
                    <a:bodyPr/>
                    <a:lstStyle/>
                    <a:p>
                      <a:r>
                        <a:rPr sz="900" b="0" i="0">
                          <a:solidFill>
                            <a:srgbClr val="1A1440"/>
                          </a:solidFill>
                          <a:latin typeface="Calibri"/>
                        </a:rPr>
                        <a:t>6. Who goes first?</a:t>
                      </a:r>
                    </a:p>
                  </a:txBody>
                  <a:tcPr marL="101600" marR="101600" marT="38100" marB="38100" anchor="ctr">
                    <a:solidFill>
                      <a:srgbClr val="F4F2FA"/>
                    </a:solidFill>
                  </a:tcPr>
                </a:tc>
                <a:tc>
                  <a:txBody>
                    <a:bodyPr/>
                    <a:lstStyle/>
                    <a:p>
                      <a:r>
                        <a:rPr sz="900" b="0" i="0">
                          <a:solidFill>
                            <a:srgbClr val="1A1440"/>
                          </a:solidFill>
                          <a:latin typeface="Calibri"/>
                        </a:rPr>
                        <a:t>The nine; the member on holiday is not one</a:t>
                      </a:r>
                    </a:p>
                  </a:txBody>
                  <a:tcPr marL="101600" marR="101600" marT="38100" marB="38100" anchor="ctr">
                    <a:solidFill>
                      <a:srgbClr val="F4F2FA"/>
                    </a:solidFill>
                  </a:tcPr>
                </a:tc>
              </a:tr>
            </a:tbl>
          </a:graphicData>
        </a:graphic>
      </p:graphicFrame>
      <p:sp>
        <p:nvSpPr>
          <p:cNvPr id="10" name="Rounded Rectangle 9"/>
          <p:cNvSpPr/>
          <p:nvPr/>
        </p:nvSpPr>
        <p:spPr>
          <a:xfrm>
            <a:off x="530352" y="4251960"/>
            <a:ext cx="11130991" cy="822960"/>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434840"/>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earch-check_6571e64a041f.png"/>
          <p:cNvPicPr>
            <a:picLocks noChangeAspect="1"/>
          </p:cNvPicPr>
          <p:nvPr/>
        </p:nvPicPr>
        <p:blipFill>
          <a:blip r:embed="rId4"/>
          <a:stretch>
            <a:fillRect/>
          </a:stretch>
        </p:blipFill>
        <p:spPr>
          <a:xfrm>
            <a:off x="868680" y="4544568"/>
            <a:ext cx="237744" cy="237744"/>
          </a:xfrm>
          <a:prstGeom prst="rect">
            <a:avLst/>
          </a:prstGeom>
        </p:spPr>
      </p:pic>
      <p:sp>
        <p:nvSpPr>
          <p:cNvPr id="13" name="TextBox 12"/>
          <p:cNvSpPr txBox="1"/>
          <p:nvPr/>
        </p:nvSpPr>
        <p:spPr>
          <a:xfrm>
            <a:off x="1399031" y="4398264"/>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14" name="TextBox 13"/>
          <p:cNvSpPr txBox="1"/>
          <p:nvPr/>
        </p:nvSpPr>
        <p:spPr>
          <a:xfrm>
            <a:off x="1399031" y="4617720"/>
            <a:ext cx="9987991" cy="384048"/>
          </a:xfrm>
          <a:prstGeom prst="rect">
            <a:avLst/>
          </a:prstGeom>
          <a:noFill/>
        </p:spPr>
        <p:txBody>
          <a:bodyPr wrap="square" anchor="t" lIns="0" rIns="0" tIns="0" bIns="0">
            <a:spAutoFit/>
          </a:bodyPr>
          <a:lstStyle/>
          <a:p>
            <a:r>
              <a:rPr sz="1000" b="0" i="0">
                <a:solidFill>
                  <a:srgbClr val="1A1440"/>
                </a:solidFill>
                <a:latin typeface="Calibri"/>
              </a:rPr>
              <a:t>"A month with no order is no reading. Write that into the flag's definition, and read the rows behind a flag before a call goes out."</a:t>
            </a:r>
          </a:p>
        </p:txBody>
      </p:sp>
      <p:sp>
        <p:nvSpPr>
          <p:cNvPr id="15" name="Rounded Rectangle 14"/>
          <p:cNvSpPr/>
          <p:nvPr/>
        </p:nvSpPr>
        <p:spPr>
          <a:xfrm>
            <a:off x="530352" y="5239512"/>
            <a:ext cx="11130991" cy="822960"/>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758952" y="5422392"/>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mic_caee7398c80d.png"/>
          <p:cNvPicPr>
            <a:picLocks noChangeAspect="1"/>
          </p:cNvPicPr>
          <p:nvPr/>
        </p:nvPicPr>
        <p:blipFill>
          <a:blip r:embed="rId5"/>
          <a:stretch>
            <a:fillRect/>
          </a:stretch>
        </p:blipFill>
        <p:spPr>
          <a:xfrm>
            <a:off x="868680" y="5532120"/>
            <a:ext cx="237744" cy="237744"/>
          </a:xfrm>
          <a:prstGeom prst="rect">
            <a:avLst/>
          </a:prstGeom>
        </p:spPr>
      </p:pic>
      <p:sp>
        <p:nvSpPr>
          <p:cNvPr id="18" name="TextBox 17"/>
          <p:cNvSpPr txBox="1"/>
          <p:nvPr/>
        </p:nvSpPr>
        <p:spPr>
          <a:xfrm>
            <a:off x="1399031" y="5385816"/>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19" name="TextBox 18"/>
          <p:cNvSpPr txBox="1"/>
          <p:nvPr/>
        </p:nvSpPr>
        <p:spPr>
          <a:xfrm>
            <a:off x="1399031" y="5605272"/>
            <a:ext cx="9987991" cy="384048"/>
          </a:xfrm>
          <a:prstGeom prst="rect">
            <a:avLst/>
          </a:prstGeom>
          <a:noFill/>
        </p:spPr>
        <p:txBody>
          <a:bodyPr wrap="square" anchor="t" lIns="0" rIns="0" tIns="0" bIns="0">
            <a:spAutoFit/>
          </a:bodyPr>
          <a:lstStyle/>
          <a:p>
            <a:r>
              <a:rPr sz="1000" b="0" i="0">
                <a:solidFill>
                  <a:srgbClr val="1A1440"/>
                </a:solidFill>
                <a:latin typeface="Calibri"/>
              </a:rPr>
              <a:t>[D] A member says they were on holiday and should not be flagged: how does your definition treat a month with no orders, and why not fill it with zero?</a:t>
            </a:r>
          </a:p>
        </p:txBody>
      </p:sp>
      <p:sp>
        <p:nvSpPr>
          <p:cNvPr id="20" name="Oval 19"/>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Who does Marketing call?</a:t>
            </a:r>
          </a:p>
        </p:txBody>
      </p:sp>
      <p:sp>
        <p:nvSpPr>
          <p:cNvPr id="22" name="Oval 2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219706"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24" name="Oval 23"/>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615308"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What do we tell Marketing?</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S16  ·  19 / 31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07</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Can you do it alone?</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What does Marketing get on Monday: each segment's list with its count, the members to ring first, the share of revenue the lists carry, and Q2 against plan?</a:t>
            </a:r>
          </a:p>
        </p:txBody>
      </p:sp>
      <p:sp>
        <p:nvSpPr>
          <p:cNvPr id="10" name="Rounded Rectangle 9"/>
          <p:cNvSpPr/>
          <p:nvPr/>
        </p:nvSpPr>
        <p:spPr>
          <a:xfrm>
            <a:off x="731519"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Who does Marketing call?</a:t>
            </a:r>
          </a:p>
        </p:txBody>
      </p:sp>
      <p:sp>
        <p:nvSpPr>
          <p:cNvPr id="11" name="Rounded Rectangle 10"/>
          <p:cNvSpPr/>
          <p:nvPr/>
        </p:nvSpPr>
        <p:spPr>
          <a:xfrm>
            <a:off x="2628191" y="5074920"/>
            <a:ext cx="1550079"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Can you do it alone?</a:t>
            </a:r>
          </a:p>
        </p:txBody>
      </p:sp>
      <p:sp>
        <p:nvSpPr>
          <p:cNvPr id="12" name="Rounded Rectangle 11"/>
          <p:cNvSpPr/>
          <p:nvPr/>
        </p:nvSpPr>
        <p:spPr>
          <a:xfrm>
            <a:off x="4287998" y="5074920"/>
            <a:ext cx="190537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 we tell Marketing?</a:t>
            </a:r>
          </a:p>
        </p:txBody>
      </p:sp>
      <p:sp>
        <p:nvSpPr>
          <p:cNvPr id="13" name="TextBox 12"/>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2, Day 3. Who does Marketing call first?</a:t>
            </a:r>
          </a:p>
        </p:txBody>
      </p:sp>
      <p:sp>
        <p:nvSpPr>
          <p:cNvPr id="14" name="TextBox 1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20 / 31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it in five parts: two now, three in the lab</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parts does the case ask for, and which runs where?</a:t>
            </a:r>
          </a:p>
        </p:txBody>
      </p:sp>
      <p:sp>
        <p:nvSpPr>
          <p:cNvPr id="9" name="Rounded Rectangle 8"/>
          <p:cNvSpPr/>
          <p:nvPr/>
        </p:nvSpPr>
        <p:spPr>
          <a:xfrm>
            <a:off x="530352" y="1956816"/>
            <a:ext cx="11130991" cy="138074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58952" y="241858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message-square_028dbd132a0a.png"/>
          <p:cNvPicPr>
            <a:picLocks noChangeAspect="1"/>
          </p:cNvPicPr>
          <p:nvPr/>
        </p:nvPicPr>
        <p:blipFill>
          <a:blip r:embed="rId4"/>
          <a:stretch>
            <a:fillRect/>
          </a:stretch>
        </p:blipFill>
        <p:spPr>
          <a:xfrm>
            <a:off x="868680" y="2528316"/>
            <a:ext cx="237744" cy="237744"/>
          </a:xfrm>
          <a:prstGeom prst="rect">
            <a:avLst/>
          </a:prstGeom>
        </p:spPr>
      </p:pic>
      <p:sp>
        <p:nvSpPr>
          <p:cNvPr id="12" name="TextBox 11"/>
          <p:cNvSpPr txBox="1"/>
          <p:nvPr/>
        </p:nvSpPr>
        <p:spPr>
          <a:xfrm>
            <a:off x="1399031" y="2103120"/>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13" name="TextBox 12"/>
          <p:cNvSpPr txBox="1"/>
          <p:nvPr/>
        </p:nvSpPr>
        <p:spPr>
          <a:xfrm>
            <a:off x="1399031" y="2322576"/>
            <a:ext cx="9987991" cy="941832"/>
          </a:xfrm>
          <a:prstGeom prst="rect">
            <a:avLst/>
          </a:prstGeom>
          <a:noFill/>
        </p:spPr>
        <p:txBody>
          <a:bodyPr wrap="square" anchor="t" lIns="0" rIns="0" tIns="0" bIns="0">
            <a:spAutoFit/>
          </a:bodyPr>
          <a:lstStyle/>
          <a:p>
            <a:r>
              <a:rPr sz="1500" b="0" i="0">
                <a:solidFill>
                  <a:srgbClr val="FFFFFF"/>
                </a:solidFill>
                <a:latin typeface="Calibri"/>
              </a:rPr>
              <a:t>"We start calling on Monday. Send me each segment's protect list under the head of Retail-Plus's rule, with its count; the members we ring first; how much of each segment's Q2 revenue the lists cover; and one sentence Meera can take into the leadership meeting on whether Q2 is on track."</a:t>
            </a:r>
          </a:p>
        </p:txBody>
      </p:sp>
      <p:sp>
        <p:nvSpPr>
          <p:cNvPr id="14" name="Rectangle 13"/>
          <p:cNvSpPr/>
          <p:nvPr/>
        </p:nvSpPr>
        <p:spPr>
          <a:xfrm>
            <a:off x="1570299" y="4069080"/>
            <a:ext cx="905109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530352" y="3502152"/>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PART 1, NOW</a:t>
            </a:r>
          </a:p>
        </p:txBody>
      </p:sp>
      <p:sp>
        <p:nvSpPr>
          <p:cNvPr id="16" name="Oval 15"/>
          <p:cNvSpPr/>
          <p:nvPr/>
        </p:nvSpPr>
        <p:spPr>
          <a:xfrm>
            <a:off x="1469715" y="3977640"/>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530352" y="4389120"/>
            <a:ext cx="2079894"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94944" y="4535424"/>
            <a:ext cx="1750710" cy="251205"/>
          </a:xfrm>
          <a:prstGeom prst="rect">
            <a:avLst/>
          </a:prstGeom>
          <a:noFill/>
        </p:spPr>
        <p:txBody>
          <a:bodyPr wrap="square" anchor="t" lIns="0" rIns="0" tIns="0" bIns="0">
            <a:spAutoFit/>
          </a:bodyPr>
          <a:lstStyle/>
          <a:p>
            <a:pPr algn="l"/>
            <a:r>
              <a:rPr sz="1300" b="1" i="0">
                <a:solidFill>
                  <a:srgbClr val="1A0F5C"/>
                </a:solidFill>
                <a:latin typeface="Calibri"/>
              </a:rPr>
              <a:t>Each segment's list</a:t>
            </a:r>
          </a:p>
        </p:txBody>
      </p:sp>
      <p:sp>
        <p:nvSpPr>
          <p:cNvPr id="19" name="TextBox 18"/>
          <p:cNvSpPr txBox="1"/>
          <p:nvPr/>
        </p:nvSpPr>
        <p:spPr>
          <a:xfrm>
            <a:off x="694944" y="4823206"/>
            <a:ext cx="1750710" cy="366776"/>
          </a:xfrm>
          <a:prstGeom prst="rect">
            <a:avLst/>
          </a:prstGeom>
          <a:noFill/>
        </p:spPr>
        <p:txBody>
          <a:bodyPr wrap="square" anchor="t" lIns="0" rIns="0" tIns="0" bIns="0">
            <a:spAutoFit/>
          </a:bodyPr>
          <a:lstStyle/>
          <a:p>
            <a:pPr algn="l"/>
            <a:r>
              <a:rPr sz="1000" b="0" i="0">
                <a:solidFill>
                  <a:srgbClr val="6B6690"/>
                </a:solidFill>
                <a:latin typeface="Calibri"/>
              </a:rPr>
              <a:t>The head's rule and each count</a:t>
            </a:r>
          </a:p>
        </p:txBody>
      </p:sp>
      <p:sp>
        <p:nvSpPr>
          <p:cNvPr id="20" name="TextBox 19"/>
          <p:cNvSpPr txBox="1"/>
          <p:nvPr/>
        </p:nvSpPr>
        <p:spPr>
          <a:xfrm>
            <a:off x="2793126" y="3502152"/>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PART 2, NOW</a:t>
            </a:r>
          </a:p>
        </p:txBody>
      </p:sp>
      <p:sp>
        <p:nvSpPr>
          <p:cNvPr id="21" name="Oval 20"/>
          <p:cNvSpPr/>
          <p:nvPr/>
        </p:nvSpPr>
        <p:spPr>
          <a:xfrm>
            <a:off x="3732489" y="3977640"/>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2793126" y="4389120"/>
            <a:ext cx="2079894"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957718" y="4535424"/>
            <a:ext cx="1750710" cy="251205"/>
          </a:xfrm>
          <a:prstGeom prst="rect">
            <a:avLst/>
          </a:prstGeom>
          <a:noFill/>
        </p:spPr>
        <p:txBody>
          <a:bodyPr wrap="square" anchor="t" lIns="0" rIns="0" tIns="0" bIns="0">
            <a:spAutoFit/>
          </a:bodyPr>
          <a:lstStyle/>
          <a:p>
            <a:pPr algn="l"/>
            <a:r>
              <a:rPr sz="1300" b="1" i="0">
                <a:solidFill>
                  <a:srgbClr val="1A0F5C"/>
                </a:solidFill>
                <a:latin typeface="Calibri"/>
              </a:rPr>
              <a:t>The members to ring</a:t>
            </a:r>
          </a:p>
        </p:txBody>
      </p:sp>
      <p:sp>
        <p:nvSpPr>
          <p:cNvPr id="24" name="TextBox 23"/>
          <p:cNvSpPr txBox="1"/>
          <p:nvPr/>
        </p:nvSpPr>
        <p:spPr>
          <a:xfrm>
            <a:off x="2957718" y="4823206"/>
            <a:ext cx="1750710" cy="366776"/>
          </a:xfrm>
          <a:prstGeom prst="rect">
            <a:avLst/>
          </a:prstGeom>
          <a:noFill/>
        </p:spPr>
        <p:txBody>
          <a:bodyPr wrap="square" anchor="t" lIns="0" rIns="0" tIns="0" bIns="0">
            <a:spAutoFit/>
          </a:bodyPr>
          <a:lstStyle/>
          <a:p>
            <a:pPr algn="l"/>
            <a:r>
              <a:rPr sz="1000" b="0" i="0">
                <a:solidFill>
                  <a:srgbClr val="6B6690"/>
                </a:solidFill>
                <a:latin typeface="Calibri"/>
              </a:rPr>
              <a:t>Three calendar months, each lower</a:t>
            </a:r>
          </a:p>
        </p:txBody>
      </p:sp>
      <p:sp>
        <p:nvSpPr>
          <p:cNvPr id="25" name="TextBox 24"/>
          <p:cNvSpPr txBox="1"/>
          <p:nvPr/>
        </p:nvSpPr>
        <p:spPr>
          <a:xfrm>
            <a:off x="5055900" y="3502152"/>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PART 3, LAB</a:t>
            </a:r>
          </a:p>
        </p:txBody>
      </p:sp>
      <p:sp>
        <p:nvSpPr>
          <p:cNvPr id="26" name="Oval 25"/>
          <p:cNvSpPr/>
          <p:nvPr/>
        </p:nvSpPr>
        <p:spPr>
          <a:xfrm>
            <a:off x="5995263" y="3977640"/>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5055900" y="4389120"/>
            <a:ext cx="2079894"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5220492" y="4535424"/>
            <a:ext cx="1750710" cy="465836"/>
          </a:xfrm>
          <a:prstGeom prst="rect">
            <a:avLst/>
          </a:prstGeom>
          <a:noFill/>
        </p:spPr>
        <p:txBody>
          <a:bodyPr wrap="square" anchor="t" lIns="0" rIns="0" tIns="0" bIns="0">
            <a:spAutoFit/>
          </a:bodyPr>
          <a:lstStyle/>
          <a:p>
            <a:pPr algn="l"/>
            <a:r>
              <a:rPr sz="1300" b="1" i="0">
                <a:solidFill>
                  <a:srgbClr val="1A0F5C"/>
                </a:solidFill>
                <a:latin typeface="Calibri"/>
              </a:rPr>
              <a:t>The share each list carries</a:t>
            </a:r>
          </a:p>
        </p:txBody>
      </p:sp>
      <p:sp>
        <p:nvSpPr>
          <p:cNvPr id="29" name="TextBox 28"/>
          <p:cNvSpPr txBox="1"/>
          <p:nvPr/>
        </p:nvSpPr>
        <p:spPr>
          <a:xfrm>
            <a:off x="5220492" y="5037836"/>
            <a:ext cx="1750710" cy="366776"/>
          </a:xfrm>
          <a:prstGeom prst="rect">
            <a:avLst/>
          </a:prstGeom>
          <a:noFill/>
        </p:spPr>
        <p:txBody>
          <a:bodyPr wrap="square" anchor="t" lIns="0" rIns="0" tIns="0" bIns="0">
            <a:spAutoFit/>
          </a:bodyPr>
          <a:lstStyle/>
          <a:p>
            <a:pPr algn="l"/>
            <a:r>
              <a:rPr sz="1000" b="0" i="0">
                <a:solidFill>
                  <a:srgbClr val="6B6690"/>
                </a:solidFill>
                <a:latin typeface="Calibri"/>
              </a:rPr>
              <a:t>Of its own segment's revenue</a:t>
            </a:r>
          </a:p>
        </p:txBody>
      </p:sp>
      <p:sp>
        <p:nvSpPr>
          <p:cNvPr id="30" name="TextBox 29"/>
          <p:cNvSpPr txBox="1"/>
          <p:nvPr/>
        </p:nvSpPr>
        <p:spPr>
          <a:xfrm>
            <a:off x="7318674" y="3502152"/>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PART 4, LAB</a:t>
            </a:r>
          </a:p>
        </p:txBody>
      </p:sp>
      <p:sp>
        <p:nvSpPr>
          <p:cNvPr id="31" name="Oval 30"/>
          <p:cNvSpPr/>
          <p:nvPr/>
        </p:nvSpPr>
        <p:spPr>
          <a:xfrm>
            <a:off x="8258037" y="3977640"/>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7318674" y="4389120"/>
            <a:ext cx="2079894"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483266" y="4535424"/>
            <a:ext cx="1750710" cy="251205"/>
          </a:xfrm>
          <a:prstGeom prst="rect">
            <a:avLst/>
          </a:prstGeom>
          <a:noFill/>
        </p:spPr>
        <p:txBody>
          <a:bodyPr wrap="square" anchor="t" lIns="0" rIns="0" tIns="0" bIns="0">
            <a:spAutoFit/>
          </a:bodyPr>
          <a:lstStyle/>
          <a:p>
            <a:pPr algn="l"/>
            <a:r>
              <a:rPr sz="1300" b="1" i="0">
                <a:solidFill>
                  <a:srgbClr val="1A0F5C"/>
                </a:solidFill>
                <a:latin typeface="Calibri"/>
              </a:rPr>
              <a:t>Q2 against plan</a:t>
            </a:r>
          </a:p>
        </p:txBody>
      </p:sp>
      <p:sp>
        <p:nvSpPr>
          <p:cNvPr id="34" name="TextBox 33"/>
          <p:cNvSpPr txBox="1"/>
          <p:nvPr/>
        </p:nvSpPr>
        <p:spPr>
          <a:xfrm>
            <a:off x="7483266" y="4823206"/>
            <a:ext cx="1750710" cy="366776"/>
          </a:xfrm>
          <a:prstGeom prst="rect">
            <a:avLst/>
          </a:prstGeom>
          <a:noFill/>
        </p:spPr>
        <p:txBody>
          <a:bodyPr wrap="square" anchor="t" lIns="0" rIns="0" tIns="0" bIns="0">
            <a:spAutoFit/>
          </a:bodyPr>
          <a:lstStyle/>
          <a:p>
            <a:pPr algn="l"/>
            <a:r>
              <a:rPr sz="1000" b="0" i="0">
                <a:solidFill>
                  <a:srgbClr val="6B6690"/>
                </a:solidFill>
                <a:latin typeface="Calibri"/>
              </a:rPr>
              <a:t>By the total and week by week</a:t>
            </a:r>
          </a:p>
        </p:txBody>
      </p:sp>
      <p:sp>
        <p:nvSpPr>
          <p:cNvPr id="35" name="TextBox 34"/>
          <p:cNvSpPr txBox="1"/>
          <p:nvPr/>
        </p:nvSpPr>
        <p:spPr>
          <a:xfrm>
            <a:off x="9581448" y="3502152"/>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PART 5, LAB</a:t>
            </a:r>
          </a:p>
        </p:txBody>
      </p:sp>
      <p:sp>
        <p:nvSpPr>
          <p:cNvPr id="36" name="Oval 35"/>
          <p:cNvSpPr/>
          <p:nvPr/>
        </p:nvSpPr>
        <p:spPr>
          <a:xfrm>
            <a:off x="10520812" y="3977640"/>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ounded Rectangle 36"/>
          <p:cNvSpPr/>
          <p:nvPr/>
        </p:nvSpPr>
        <p:spPr>
          <a:xfrm>
            <a:off x="9581448" y="4389120"/>
            <a:ext cx="2079894" cy="107696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9746040" y="4535424"/>
            <a:ext cx="1750710" cy="465836"/>
          </a:xfrm>
          <a:prstGeom prst="rect">
            <a:avLst/>
          </a:prstGeom>
          <a:noFill/>
        </p:spPr>
        <p:txBody>
          <a:bodyPr wrap="square" anchor="t" lIns="0" rIns="0" tIns="0" bIns="0">
            <a:spAutoFit/>
          </a:bodyPr>
          <a:lstStyle/>
          <a:p>
            <a:pPr algn="l"/>
            <a:r>
              <a:rPr sz="1300" b="1" i="0">
                <a:solidFill>
                  <a:srgbClr val="FFFFFF"/>
                </a:solidFill>
                <a:latin typeface="Calibri"/>
              </a:rPr>
              <a:t>The sentences to send</a:t>
            </a:r>
          </a:p>
        </p:txBody>
      </p:sp>
      <p:sp>
        <p:nvSpPr>
          <p:cNvPr id="39" name="TextBox 38"/>
          <p:cNvSpPr txBox="1"/>
          <p:nvPr/>
        </p:nvSpPr>
        <p:spPr>
          <a:xfrm>
            <a:off x="9746040" y="5037836"/>
            <a:ext cx="1750710" cy="201676"/>
          </a:xfrm>
          <a:prstGeom prst="rect">
            <a:avLst/>
          </a:prstGeom>
          <a:noFill/>
        </p:spPr>
        <p:txBody>
          <a:bodyPr wrap="square" anchor="t" lIns="0" rIns="0" tIns="0" bIns="0">
            <a:spAutoFit/>
          </a:bodyPr>
          <a:lstStyle/>
          <a:p>
            <a:pPr algn="l"/>
            <a:r>
              <a:rPr sz="1000" b="0" i="0">
                <a:solidFill>
                  <a:srgbClr val="CFC9EE"/>
                </a:solidFill>
                <a:latin typeface="Calibri"/>
              </a:rPr>
              <a:t>To Marketing and to Meera</a:t>
            </a:r>
          </a:p>
        </p:txBody>
      </p:sp>
      <p:sp>
        <p:nvSpPr>
          <p:cNvPr id="40" name="Oval 3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Who does Marketing call?</a:t>
            </a:r>
          </a:p>
        </p:txBody>
      </p:sp>
      <p:sp>
        <p:nvSpPr>
          <p:cNvPr id="42" name="Oval 41"/>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2219706"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Can you do it alone?</a:t>
            </a:r>
          </a:p>
        </p:txBody>
      </p:sp>
      <p:sp>
        <p:nvSpPr>
          <p:cNvPr id="44" name="Oval 43"/>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3615308"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What do we tell Marketing?</a:t>
            </a:r>
          </a:p>
        </p:txBody>
      </p:sp>
      <p:sp>
        <p:nvSpPr>
          <p:cNvPr id="46" name="TextBox 4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S17  ·  21 / 31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Keep the head's rule, calendar months, closed loops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rules does the case have to keep, whatever the numbers turn out to be?</a:t>
            </a:r>
          </a:p>
        </p:txBody>
      </p:sp>
      <p:sp>
        <p:nvSpPr>
          <p:cNvPr id="9" name="Rounded Rectangle 8"/>
          <p:cNvSpPr/>
          <p:nvPr/>
        </p:nvSpPr>
        <p:spPr>
          <a:xfrm>
            <a:off x="530352" y="1956816"/>
            <a:ext cx="3588410" cy="21544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list-ordered_6bff7db210fa.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PART 1</a:t>
            </a:r>
          </a:p>
        </p:txBody>
      </p:sp>
      <p:sp>
        <p:nvSpPr>
          <p:cNvPr id="13" name="TextBox 12"/>
          <p:cNvSpPr txBox="1"/>
          <p:nvPr/>
        </p:nvSpPr>
        <p:spPr>
          <a:xfrm>
            <a:off x="731519"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The head's rule</a:t>
            </a:r>
          </a:p>
        </p:txBody>
      </p:sp>
      <p:sp>
        <p:nvSpPr>
          <p:cNvPr id="14" name="TextBox 13"/>
          <p:cNvSpPr txBox="1"/>
          <p:nvPr/>
        </p:nvSpPr>
        <p:spPr>
          <a:xfrm>
            <a:off x="731519" y="3303524"/>
            <a:ext cx="3186074" cy="399796"/>
          </a:xfrm>
          <a:prstGeom prst="rect">
            <a:avLst/>
          </a:prstGeom>
          <a:noFill/>
        </p:spPr>
        <p:txBody>
          <a:bodyPr wrap="square" anchor="t" lIns="0" rIns="0" tIns="0" bIns="0">
            <a:spAutoFit/>
          </a:bodyPr>
          <a:lstStyle/>
          <a:p>
            <a:pPr algn="l"/>
            <a:r>
              <a:rPr sz="1100" b="0" i="0">
                <a:solidFill>
                  <a:srgbClr val="6B6690"/>
                </a:solidFill>
                <a:latin typeface="Calibri"/>
              </a:rPr>
              <a:t>Members who spent the same share a place, and each list's count is said with its reason.</a:t>
            </a:r>
          </a:p>
        </p:txBody>
      </p:sp>
      <p:sp>
        <p:nvSpPr>
          <p:cNvPr id="15" name="Rounded Rectangle 14"/>
          <p:cNvSpPr/>
          <p:nvPr/>
        </p:nvSpPr>
        <p:spPr>
          <a:xfrm>
            <a:off x="4301642" y="1956816"/>
            <a:ext cx="3588410" cy="21544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502810"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calendar_52de2a000930.png"/>
          <p:cNvPicPr>
            <a:picLocks noChangeAspect="1"/>
          </p:cNvPicPr>
          <p:nvPr/>
        </p:nvPicPr>
        <p:blipFill>
          <a:blip r:embed="rId5"/>
          <a:stretch>
            <a:fillRect/>
          </a:stretch>
        </p:blipFill>
        <p:spPr>
          <a:xfrm>
            <a:off x="4612538" y="2267712"/>
            <a:ext cx="237744" cy="237744"/>
          </a:xfrm>
          <a:prstGeom prst="rect">
            <a:avLst/>
          </a:prstGeom>
        </p:spPr>
      </p:pic>
      <p:sp>
        <p:nvSpPr>
          <p:cNvPr id="18" name="TextBox 17"/>
          <p:cNvSpPr txBox="1"/>
          <p:nvPr/>
        </p:nvSpPr>
        <p:spPr>
          <a:xfrm>
            <a:off x="4502810"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PART 2</a:t>
            </a:r>
          </a:p>
        </p:txBody>
      </p:sp>
      <p:sp>
        <p:nvSpPr>
          <p:cNvPr id="19" name="TextBox 18"/>
          <p:cNvSpPr txBox="1"/>
          <p:nvPr/>
        </p:nvSpPr>
        <p:spPr>
          <a:xfrm>
            <a:off x="4502810"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Calendar months</a:t>
            </a:r>
          </a:p>
        </p:txBody>
      </p:sp>
      <p:sp>
        <p:nvSpPr>
          <p:cNvPr id="20" name="TextBox 19"/>
          <p:cNvSpPr txBox="1"/>
          <p:nvPr/>
        </p:nvSpPr>
        <p:spPr>
          <a:xfrm>
            <a:off x="4502810" y="3303524"/>
            <a:ext cx="3186074" cy="581406"/>
          </a:xfrm>
          <a:prstGeom prst="rect">
            <a:avLst/>
          </a:prstGeom>
          <a:noFill/>
        </p:spPr>
        <p:txBody>
          <a:bodyPr wrap="square" anchor="t" lIns="0" rIns="0" tIns="0" bIns="0">
            <a:spAutoFit/>
          </a:bodyPr>
          <a:lstStyle/>
          <a:p>
            <a:pPr algn="l"/>
            <a:r>
              <a:rPr sz="1100" b="0" i="0">
                <a:solidFill>
                  <a:srgbClr val="6B6690"/>
                </a:solidFill>
                <a:latin typeface="Calibri"/>
              </a:rPr>
              <a:t>A flag reads July, August and September, each lower; a month with no order breaks the run.</a:t>
            </a:r>
          </a:p>
        </p:txBody>
      </p:sp>
      <p:sp>
        <p:nvSpPr>
          <p:cNvPr id="21" name="Rounded Rectangle 20"/>
          <p:cNvSpPr/>
          <p:nvPr/>
        </p:nvSpPr>
        <p:spPr>
          <a:xfrm>
            <a:off x="8072932" y="1956816"/>
            <a:ext cx="3588410" cy="2154428"/>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8274100" y="21579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circle-check_9dd99c81814d.png"/>
          <p:cNvPicPr>
            <a:picLocks noChangeAspect="1"/>
          </p:cNvPicPr>
          <p:nvPr/>
        </p:nvPicPr>
        <p:blipFill>
          <a:blip r:embed="rId6"/>
          <a:stretch>
            <a:fillRect/>
          </a:stretch>
        </p:blipFill>
        <p:spPr>
          <a:xfrm>
            <a:off x="8383828" y="2267712"/>
            <a:ext cx="237744" cy="237744"/>
          </a:xfrm>
          <a:prstGeom prst="rect">
            <a:avLst/>
          </a:prstGeom>
        </p:spPr>
      </p:pic>
      <p:sp>
        <p:nvSpPr>
          <p:cNvPr id="24" name="TextBox 23"/>
          <p:cNvSpPr txBox="1"/>
          <p:nvPr/>
        </p:nvSpPr>
        <p:spPr>
          <a:xfrm>
            <a:off x="8274100" y="2724912"/>
            <a:ext cx="3186074" cy="160401"/>
          </a:xfrm>
          <a:prstGeom prst="rect">
            <a:avLst/>
          </a:prstGeom>
          <a:noFill/>
        </p:spPr>
        <p:txBody>
          <a:bodyPr wrap="square" anchor="t" lIns="0" rIns="0" tIns="0" bIns="0">
            <a:spAutoFit/>
          </a:bodyPr>
          <a:lstStyle/>
          <a:p>
            <a:pPr algn="l"/>
            <a:r>
              <a:rPr sz="750" b="1" i="0" spc="250">
                <a:solidFill>
                  <a:srgbClr val="D9A7FF"/>
                </a:solidFill>
                <a:latin typeface="Calibri"/>
              </a:rPr>
              <a:t>EVERY PART</a:t>
            </a:r>
          </a:p>
        </p:txBody>
      </p:sp>
      <p:sp>
        <p:nvSpPr>
          <p:cNvPr id="25" name="TextBox 24"/>
          <p:cNvSpPr txBox="1"/>
          <p:nvPr/>
        </p:nvSpPr>
        <p:spPr>
          <a:xfrm>
            <a:off x="8274100" y="2962656"/>
            <a:ext cx="3186074" cy="267716"/>
          </a:xfrm>
          <a:prstGeom prst="rect">
            <a:avLst/>
          </a:prstGeom>
          <a:noFill/>
        </p:spPr>
        <p:txBody>
          <a:bodyPr wrap="square" anchor="t" lIns="0" rIns="0" tIns="0" bIns="0">
            <a:spAutoFit/>
          </a:bodyPr>
          <a:lstStyle/>
          <a:p>
            <a:pPr algn="l"/>
            <a:r>
              <a:rPr sz="1400" b="1" i="0">
                <a:solidFill>
                  <a:srgbClr val="FFFFFF"/>
                </a:solidFill>
                <a:latin typeface="Calibri"/>
              </a:rPr>
              <a:t>Close every loop</a:t>
            </a:r>
          </a:p>
        </p:txBody>
      </p:sp>
      <p:sp>
        <p:nvSpPr>
          <p:cNvPr id="26" name="TextBox 25"/>
          <p:cNvSpPr txBox="1"/>
          <p:nvPr/>
        </p:nvSpPr>
        <p:spPr>
          <a:xfrm>
            <a:off x="8274100" y="3303524"/>
            <a:ext cx="3186074" cy="581406"/>
          </a:xfrm>
          <a:prstGeom prst="rect">
            <a:avLst/>
          </a:prstGeom>
          <a:noFill/>
        </p:spPr>
        <p:txBody>
          <a:bodyPr wrap="square" anchor="t" lIns="0" rIns="0" tIns="0" bIns="0">
            <a:spAutoFit/>
          </a:bodyPr>
          <a:lstStyle/>
          <a:p>
            <a:pPr algn="l"/>
            <a:r>
              <a:rPr sz="1100" b="0" i="0">
                <a:solidFill>
                  <a:srgbClr val="CFC9EE"/>
                </a:solidFill>
                <a:latin typeface="Calibri"/>
              </a:rPr>
              <a:t>Counts against buyers, flags against their own months, the running total against the quarter.</a:t>
            </a:r>
          </a:p>
        </p:txBody>
      </p:sp>
      <p:sp>
        <p:nvSpPr>
          <p:cNvPr id="27" name="Oval 26"/>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Who does Marketing call?</a:t>
            </a:r>
          </a:p>
        </p:txBody>
      </p:sp>
      <p:sp>
        <p:nvSpPr>
          <p:cNvPr id="29" name="Oval 28"/>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2219706"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Can you do it alone?</a:t>
            </a:r>
          </a:p>
        </p:txBody>
      </p:sp>
      <p:sp>
        <p:nvSpPr>
          <p:cNvPr id="31" name="Oval 30"/>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3615308"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What do we tell Marketing?</a:t>
            </a:r>
          </a:p>
        </p:txBody>
      </p:sp>
      <p:sp>
        <p:nvSpPr>
          <p:cNvPr id="33" name="TextBox 3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S18  ·  22 / 31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08</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What do we tell Marketing?</a:t>
            </a:r>
          </a:p>
        </p:txBody>
      </p:sp>
      <p:sp>
        <p:nvSpPr>
          <p:cNvPr id="9" name="TextBox 8"/>
          <p:cNvSpPr txBox="1"/>
          <p:nvPr/>
        </p:nvSpPr>
        <p:spPr>
          <a:xfrm>
            <a:off x="731519" y="3520440"/>
            <a:ext cx="9509760" cy="284226"/>
          </a:xfrm>
          <a:prstGeom prst="rect">
            <a:avLst/>
          </a:prstGeom>
          <a:noFill/>
        </p:spPr>
        <p:txBody>
          <a:bodyPr wrap="square" anchor="t" lIns="0" rIns="0" tIns="0" bIns="0">
            <a:spAutoFit/>
          </a:bodyPr>
          <a:lstStyle/>
          <a:p>
            <a:pPr algn="l"/>
            <a:r>
              <a:rPr sz="1500" b="0" i="0">
                <a:solidFill>
                  <a:srgbClr val="E4E1F1"/>
                </a:solidFill>
                <a:latin typeface="Calibri"/>
              </a:rPr>
              <a:t>What did the day answer, and what does the growth team ask next?</a:t>
            </a:r>
          </a:p>
        </p:txBody>
      </p:sp>
      <p:sp>
        <p:nvSpPr>
          <p:cNvPr id="10" name="Rounded Rectangle 9"/>
          <p:cNvSpPr/>
          <p:nvPr/>
        </p:nvSpPr>
        <p:spPr>
          <a:xfrm>
            <a:off x="731519"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Who does Marketing call?</a:t>
            </a:r>
          </a:p>
        </p:txBody>
      </p:sp>
      <p:sp>
        <p:nvSpPr>
          <p:cNvPr id="11" name="Rounded Rectangle 10"/>
          <p:cNvSpPr/>
          <p:nvPr/>
        </p:nvSpPr>
        <p:spPr>
          <a:xfrm>
            <a:off x="2628191" y="5074920"/>
            <a:ext cx="155007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Can you do it alone?</a:t>
            </a:r>
          </a:p>
        </p:txBody>
      </p:sp>
      <p:sp>
        <p:nvSpPr>
          <p:cNvPr id="12" name="Rounded Rectangle 11"/>
          <p:cNvSpPr/>
          <p:nvPr/>
        </p:nvSpPr>
        <p:spPr>
          <a:xfrm>
            <a:off x="4287998" y="5074920"/>
            <a:ext cx="1905375"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What do we tell Marketing?</a:t>
            </a:r>
          </a:p>
        </p:txBody>
      </p:sp>
      <p:sp>
        <p:nvSpPr>
          <p:cNvPr id="13" name="TextBox 12"/>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2, Day 3. Who does Marketing call first?</a:t>
            </a:r>
          </a:p>
        </p:txBody>
      </p:sp>
      <p:sp>
        <p:nvSpPr>
          <p:cNvPr id="14" name="TextBox 1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23 / 31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RANK lists, nine calls, Q2 on plan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members should Marketing protect before they drift, and is Q2 on track against the plan line?</a:t>
            </a:r>
          </a:p>
        </p:txBody>
      </p:sp>
      <p:sp>
        <p:nvSpPr>
          <p:cNvPr id="9" name="Rounded Rectangle 8"/>
          <p:cNvSpPr/>
          <p:nvPr/>
        </p:nvSpPr>
        <p:spPr>
          <a:xfrm>
            <a:off x="530352" y="1956816"/>
            <a:ext cx="11130991" cy="86258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58952" y="2159507"/>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message-square_028dbd132a0a.png"/>
          <p:cNvPicPr>
            <a:picLocks noChangeAspect="1"/>
          </p:cNvPicPr>
          <p:nvPr/>
        </p:nvPicPr>
        <p:blipFill>
          <a:blip r:embed="rId4"/>
          <a:stretch>
            <a:fillRect/>
          </a:stretch>
        </p:blipFill>
        <p:spPr>
          <a:xfrm>
            <a:off x="868680" y="2269236"/>
            <a:ext cx="237744" cy="237744"/>
          </a:xfrm>
          <a:prstGeom prst="rect">
            <a:avLst/>
          </a:prstGeom>
        </p:spPr>
      </p:pic>
      <p:sp>
        <p:nvSpPr>
          <p:cNvPr id="12" name="TextBox 11"/>
          <p:cNvSpPr txBox="1"/>
          <p:nvPr/>
        </p:nvSpPr>
        <p:spPr>
          <a:xfrm>
            <a:off x="1399031" y="2103120"/>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13" name="TextBox 12"/>
          <p:cNvSpPr txBox="1"/>
          <p:nvPr/>
        </p:nvSpPr>
        <p:spPr>
          <a:xfrm>
            <a:off x="1399031" y="2322576"/>
            <a:ext cx="9987991" cy="423672"/>
          </a:xfrm>
          <a:prstGeom prst="rect">
            <a:avLst/>
          </a:prstGeom>
          <a:noFill/>
        </p:spPr>
        <p:txBody>
          <a:bodyPr wrap="square" anchor="t" lIns="0" rIns="0" tIns="0" bIns="0">
            <a:spAutoFit/>
          </a:bodyPr>
          <a:lstStyle/>
          <a:p>
            <a:r>
              <a:rPr sz="1500" b="0" i="0">
                <a:solidFill>
                  <a:srgbClr val="FFFFFF"/>
                </a:solidFill>
                <a:latin typeface="Calibri"/>
              </a:rPr>
              <a:t>"Who do we protect, who do we ring first, and are we on track?"</a:t>
            </a:r>
          </a:p>
        </p:txBody>
      </p:sp>
      <p:sp>
        <p:nvSpPr>
          <p:cNvPr id="14" name="Rounded Rectangle 13"/>
          <p:cNvSpPr/>
          <p:nvPr/>
        </p:nvSpPr>
        <p:spPr>
          <a:xfrm>
            <a:off x="530352" y="2983992"/>
            <a:ext cx="45720" cy="1605279"/>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86384" y="2983992"/>
            <a:ext cx="10820095" cy="1605279"/>
          </a:xfrm>
          <a:prstGeom prst="rect">
            <a:avLst/>
          </a:prstGeom>
          <a:noFill/>
        </p:spPr>
        <p:txBody>
          <a:bodyPr wrap="square" anchor="t" lIns="0" rIns="0" tIns="0" bIns="0">
            <a:spAutoFit/>
          </a:bodyPr>
          <a:lstStyle/>
          <a:p>
            <a:r>
              <a:rPr sz="1600" b="0" i="1">
                <a:solidFill>
                  <a:srgbClr val="1A0F5C"/>
                </a:solidFill>
                <a:latin typeface="Georgia"/>
              </a:rPr>
              <a:t>"Each segment's list is its top fifty by Q2 revenue under RANK, so members who spent the same share a place, with every list's count and its reason. Ring the nine members whose spend fell in August and again in September first. Q2 closed on plan, Rs 10 ahead, and the Rs 1.58 crore lead at mid-quarter came from one July week; six of the seven full weeks from 10 August booked below plan."</a:t>
            </a:r>
          </a:p>
        </p:txBody>
      </p:sp>
      <p:sp>
        <p:nvSpPr>
          <p:cNvPr id="16" name="Rounded Rectangle 15"/>
          <p:cNvSpPr/>
          <p:nvPr/>
        </p:nvSpPr>
        <p:spPr>
          <a:xfrm>
            <a:off x="530352" y="4735576"/>
            <a:ext cx="45720" cy="467359"/>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86384" y="4735576"/>
            <a:ext cx="10820095" cy="467359"/>
          </a:xfrm>
          <a:prstGeom prst="rect">
            <a:avLst/>
          </a:prstGeom>
          <a:noFill/>
        </p:spPr>
        <p:txBody>
          <a:bodyPr wrap="square" anchor="t" lIns="0" rIns="0" tIns="0" bIns="0">
            <a:spAutoFit/>
          </a:bodyPr>
          <a:lstStyle/>
          <a:p>
            <a:r>
              <a:rPr sz="1600" b="0" i="1">
                <a:solidFill>
                  <a:srgbClr val="1A0F5C"/>
                </a:solidFill>
                <a:latin typeface="Georgia"/>
              </a:rPr>
              <a:t>The day's answer, to Marketing and the head of Retail-Plus</a:t>
            </a:r>
          </a:p>
        </p:txBody>
      </p:sp>
      <p:sp>
        <p:nvSpPr>
          <p:cNvPr id="18" name="Oval 17"/>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Who does Marketing call?</a:t>
            </a:r>
          </a:p>
        </p:txBody>
      </p:sp>
      <p:sp>
        <p:nvSpPr>
          <p:cNvPr id="20" name="Oval 19"/>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219706"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22" name="Oval 21"/>
          <p:cNvSpPr/>
          <p:nvPr/>
        </p:nvSpPr>
        <p:spPr>
          <a:xfrm>
            <a:off x="350558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3615308"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What do we tell Marketing?</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S19  ·  24 / 31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Six rules worth keeping, one per chapter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rule does each chapter leave Marketing's list with?</a:t>
            </a:r>
          </a:p>
        </p:txBody>
      </p:sp>
      <p:pic>
        <p:nvPicPr>
          <p:cNvPr id="9" name="mermaid diagram" descr="a69f3fbfe7bc78a4.png"/>
          <p:cNvPicPr>
            <a:picLocks noChangeAspect="1"/>
          </p:cNvPicPr>
          <p:nvPr/>
        </p:nvPicPr>
        <p:blipFill>
          <a:blip r:embed="rId5"/>
          <a:stretch>
            <a:fillRect/>
          </a:stretch>
        </p:blipFill>
        <p:spPr>
          <a:xfrm>
            <a:off x="530352" y="1896466"/>
            <a:ext cx="11130991" cy="1105204"/>
          </a:xfrm>
          <a:prstGeom prst="rect">
            <a:avLst/>
          </a:prstGeom>
        </p:spPr>
      </p:pic>
      <p:sp>
        <p:nvSpPr>
          <p:cNvPr id="10" name="TextBox 9"/>
          <p:cNvSpPr txBox="1"/>
          <p:nvPr/>
        </p:nvSpPr>
        <p:spPr>
          <a:xfrm>
            <a:off x="530352" y="3111398"/>
            <a:ext cx="502920" cy="333756"/>
          </a:xfrm>
          <a:prstGeom prst="rect">
            <a:avLst/>
          </a:prstGeom>
          <a:noFill/>
        </p:spPr>
        <p:txBody>
          <a:bodyPr wrap="square" anchor="t" lIns="0" rIns="0" tIns="0" bIns="0">
            <a:spAutoFit/>
          </a:bodyPr>
          <a:lstStyle/>
          <a:p>
            <a:pPr algn="l"/>
            <a:r>
              <a:rPr sz="1800" b="0" i="0">
                <a:solidFill>
                  <a:srgbClr val="5B3FD6"/>
                </a:solidFill>
                <a:latin typeface="Georgia"/>
              </a:rPr>
              <a:t>01</a:t>
            </a:r>
          </a:p>
        </p:txBody>
      </p:sp>
      <p:sp>
        <p:nvSpPr>
          <p:cNvPr id="11" name="TextBox 10"/>
          <p:cNvSpPr txBox="1"/>
          <p:nvPr/>
        </p:nvSpPr>
        <p:spPr>
          <a:xfrm>
            <a:off x="1097280" y="3147974"/>
            <a:ext cx="10564063" cy="368808"/>
          </a:xfrm>
          <a:prstGeom prst="rect">
            <a:avLst/>
          </a:prstGeom>
          <a:noFill/>
        </p:spPr>
        <p:txBody>
          <a:bodyPr wrap="square" anchor="t" lIns="0" rIns="0" tIns="0" bIns="0">
            <a:spAutoFit/>
          </a:bodyPr>
          <a:lstStyle/>
          <a:p>
            <a:r>
              <a:rPr sz="1500" b="0" i="0">
                <a:solidFill>
                  <a:srgbClr val="1A1440"/>
                </a:solidFill>
                <a:latin typeface="Calibri"/>
              </a:rPr>
              <a:t>Say what one row of the list is before you rank it: fifty orders named only 28 members.</a:t>
            </a:r>
          </a:p>
        </p:txBody>
      </p:sp>
      <p:sp>
        <p:nvSpPr>
          <p:cNvPr id="12" name="TextBox 11"/>
          <p:cNvSpPr txBox="1"/>
          <p:nvPr/>
        </p:nvSpPr>
        <p:spPr>
          <a:xfrm>
            <a:off x="530352" y="3553358"/>
            <a:ext cx="502920" cy="333756"/>
          </a:xfrm>
          <a:prstGeom prst="rect">
            <a:avLst/>
          </a:prstGeom>
          <a:noFill/>
        </p:spPr>
        <p:txBody>
          <a:bodyPr wrap="square" anchor="t" lIns="0" rIns="0" tIns="0" bIns="0">
            <a:spAutoFit/>
          </a:bodyPr>
          <a:lstStyle/>
          <a:p>
            <a:pPr algn="l"/>
            <a:r>
              <a:rPr sz="1800" b="0" i="0">
                <a:solidFill>
                  <a:srgbClr val="5B3FD6"/>
                </a:solidFill>
                <a:latin typeface="Georgia"/>
              </a:rPr>
              <a:t>02</a:t>
            </a:r>
          </a:p>
        </p:txBody>
      </p:sp>
      <p:sp>
        <p:nvSpPr>
          <p:cNvPr id="13" name="TextBox 12"/>
          <p:cNvSpPr txBox="1"/>
          <p:nvPr/>
        </p:nvSpPr>
        <p:spPr>
          <a:xfrm>
            <a:off x="1097280" y="3589934"/>
            <a:ext cx="10564063" cy="368808"/>
          </a:xfrm>
          <a:prstGeom prst="rect">
            <a:avLst/>
          </a:prstGeom>
          <a:noFill/>
        </p:spPr>
        <p:txBody>
          <a:bodyPr wrap="square" anchor="t" lIns="0" rIns="0" tIns="0" bIns="0">
            <a:spAutoFit/>
          </a:bodyPr>
          <a:lstStyle/>
          <a:p>
            <a:r>
              <a:rPr sz="1500" b="0" i="0">
                <a:solidFill>
                  <a:srgbClr val="1A1440"/>
                </a:solidFill>
                <a:latin typeface="Calibri"/>
              </a:rPr>
              <a:t>"In each segment" is a PARTITION BY: fifty, or every buyer, in each segment.</a:t>
            </a:r>
          </a:p>
        </p:txBody>
      </p:sp>
      <p:sp>
        <p:nvSpPr>
          <p:cNvPr id="14" name="TextBox 13"/>
          <p:cNvSpPr txBox="1"/>
          <p:nvPr/>
        </p:nvSpPr>
        <p:spPr>
          <a:xfrm>
            <a:off x="530352" y="3995318"/>
            <a:ext cx="502920" cy="333756"/>
          </a:xfrm>
          <a:prstGeom prst="rect">
            <a:avLst/>
          </a:prstGeom>
          <a:noFill/>
        </p:spPr>
        <p:txBody>
          <a:bodyPr wrap="square" anchor="t" lIns="0" rIns="0" tIns="0" bIns="0">
            <a:spAutoFit/>
          </a:bodyPr>
          <a:lstStyle/>
          <a:p>
            <a:pPr algn="l"/>
            <a:r>
              <a:rPr sz="1800" b="0" i="0">
                <a:solidFill>
                  <a:srgbClr val="5B3FD6"/>
                </a:solidFill>
                <a:latin typeface="Georgia"/>
              </a:rPr>
              <a:t>03</a:t>
            </a:r>
          </a:p>
        </p:txBody>
      </p:sp>
      <p:sp>
        <p:nvSpPr>
          <p:cNvPr id="15" name="TextBox 14"/>
          <p:cNvSpPr txBox="1"/>
          <p:nvPr/>
        </p:nvSpPr>
        <p:spPr>
          <a:xfrm>
            <a:off x="1097280" y="4031894"/>
            <a:ext cx="10564063" cy="627888"/>
          </a:xfrm>
          <a:prstGeom prst="rect">
            <a:avLst/>
          </a:prstGeom>
          <a:noFill/>
        </p:spPr>
        <p:txBody>
          <a:bodyPr wrap="square" anchor="t" lIns="0" rIns="0" tIns="0" bIns="0">
            <a:spAutoFit/>
          </a:bodyPr>
          <a:lstStyle/>
          <a:p>
            <a:r>
              <a:rPr sz="1500" b="0" i="0">
                <a:solidFill>
                  <a:srgbClr val="1A1440"/>
                </a:solidFill>
                <a:latin typeface="Calibri"/>
              </a:rPr>
              <a:t>RANK keeps a tie at the line, the last place a list keeps, and says the count; DENSE_RANK can run past the line with no tie at it.</a:t>
            </a:r>
          </a:p>
        </p:txBody>
      </p:sp>
      <p:sp>
        <p:nvSpPr>
          <p:cNvPr id="16" name="TextBox 15"/>
          <p:cNvSpPr txBox="1"/>
          <p:nvPr/>
        </p:nvSpPr>
        <p:spPr>
          <a:xfrm>
            <a:off x="530352" y="4696358"/>
            <a:ext cx="502920" cy="333756"/>
          </a:xfrm>
          <a:prstGeom prst="rect">
            <a:avLst/>
          </a:prstGeom>
          <a:noFill/>
        </p:spPr>
        <p:txBody>
          <a:bodyPr wrap="square" anchor="t" lIns="0" rIns="0" tIns="0" bIns="0">
            <a:spAutoFit/>
          </a:bodyPr>
          <a:lstStyle/>
          <a:p>
            <a:pPr algn="l"/>
            <a:r>
              <a:rPr sz="1800" b="0" i="0">
                <a:solidFill>
                  <a:srgbClr val="5B3FD6"/>
                </a:solidFill>
                <a:latin typeface="Georgia"/>
              </a:rPr>
              <a:t>04</a:t>
            </a:r>
          </a:p>
        </p:txBody>
      </p:sp>
      <p:sp>
        <p:nvSpPr>
          <p:cNvPr id="17" name="TextBox 16"/>
          <p:cNvSpPr txBox="1"/>
          <p:nvPr/>
        </p:nvSpPr>
        <p:spPr>
          <a:xfrm>
            <a:off x="1097280" y="4732934"/>
            <a:ext cx="10564063" cy="368808"/>
          </a:xfrm>
          <a:prstGeom prst="rect">
            <a:avLst/>
          </a:prstGeom>
          <a:noFill/>
        </p:spPr>
        <p:txBody>
          <a:bodyPr wrap="square" anchor="t" lIns="0" rIns="0" tIns="0" bIns="0">
            <a:spAutoFit/>
          </a:bodyPr>
          <a:lstStyle/>
          <a:p>
            <a:r>
              <a:rPr sz="1500" b="0" i="0">
                <a:solidFill>
                  <a:srgbClr val="1A1440"/>
                </a:solidFill>
                <a:latin typeface="Calibri"/>
              </a:rPr>
              <a:t>Tell the window whose rows belong together, or LAG reads another member's month.</a:t>
            </a:r>
          </a:p>
        </p:txBody>
      </p:sp>
      <p:sp>
        <p:nvSpPr>
          <p:cNvPr id="18" name="TextBox 17"/>
          <p:cNvSpPr txBox="1"/>
          <p:nvPr/>
        </p:nvSpPr>
        <p:spPr>
          <a:xfrm>
            <a:off x="530352" y="5138318"/>
            <a:ext cx="502920" cy="333756"/>
          </a:xfrm>
          <a:prstGeom prst="rect">
            <a:avLst/>
          </a:prstGeom>
          <a:noFill/>
        </p:spPr>
        <p:txBody>
          <a:bodyPr wrap="square" anchor="t" lIns="0" rIns="0" tIns="0" bIns="0">
            <a:spAutoFit/>
          </a:bodyPr>
          <a:lstStyle/>
          <a:p>
            <a:pPr algn="l"/>
            <a:r>
              <a:rPr sz="1800" b="0" i="0">
                <a:solidFill>
                  <a:srgbClr val="5B3FD6"/>
                </a:solidFill>
                <a:latin typeface="Georgia"/>
              </a:rPr>
              <a:t>05</a:t>
            </a:r>
          </a:p>
        </p:txBody>
      </p:sp>
      <p:sp>
        <p:nvSpPr>
          <p:cNvPr id="19" name="TextBox 18"/>
          <p:cNvSpPr txBox="1"/>
          <p:nvPr/>
        </p:nvSpPr>
        <p:spPr>
          <a:xfrm>
            <a:off x="1097280" y="5174894"/>
            <a:ext cx="10564063" cy="368808"/>
          </a:xfrm>
          <a:prstGeom prst="rect">
            <a:avLst/>
          </a:prstGeom>
          <a:noFill/>
        </p:spPr>
        <p:txBody>
          <a:bodyPr wrap="square" anchor="t" lIns="0" rIns="0" tIns="0" bIns="0">
            <a:spAutoFit/>
          </a:bodyPr>
          <a:lstStyle/>
          <a:p>
            <a:r>
              <a:rPr sz="1500" b="0" i="0">
                <a:solidFill>
                  <a:srgbClr val="1A1440"/>
                </a:solidFill>
                <a:latin typeface="Calibri"/>
              </a:rPr>
              <a:t>A running total is done when its last value equals the quarter's total.</a:t>
            </a:r>
          </a:p>
        </p:txBody>
      </p:sp>
      <p:sp>
        <p:nvSpPr>
          <p:cNvPr id="20" name="TextBox 19"/>
          <p:cNvSpPr txBox="1"/>
          <p:nvPr/>
        </p:nvSpPr>
        <p:spPr>
          <a:xfrm>
            <a:off x="530352" y="5580278"/>
            <a:ext cx="502920" cy="333756"/>
          </a:xfrm>
          <a:prstGeom prst="rect">
            <a:avLst/>
          </a:prstGeom>
          <a:noFill/>
        </p:spPr>
        <p:txBody>
          <a:bodyPr wrap="square" anchor="t" lIns="0" rIns="0" tIns="0" bIns="0">
            <a:spAutoFit/>
          </a:bodyPr>
          <a:lstStyle/>
          <a:p>
            <a:pPr algn="l"/>
            <a:r>
              <a:rPr sz="1800" b="0" i="0">
                <a:solidFill>
                  <a:srgbClr val="5B3FD6"/>
                </a:solidFill>
                <a:latin typeface="Georgia"/>
              </a:rPr>
              <a:t>06</a:t>
            </a:r>
          </a:p>
        </p:txBody>
      </p:sp>
      <p:sp>
        <p:nvSpPr>
          <p:cNvPr id="21" name="TextBox 20"/>
          <p:cNvSpPr txBox="1"/>
          <p:nvPr/>
        </p:nvSpPr>
        <p:spPr>
          <a:xfrm>
            <a:off x="1097280" y="5616854"/>
            <a:ext cx="10564063" cy="368808"/>
          </a:xfrm>
          <a:prstGeom prst="rect">
            <a:avLst/>
          </a:prstGeom>
          <a:noFill/>
        </p:spPr>
        <p:txBody>
          <a:bodyPr wrap="square" anchor="t" lIns="0" rIns="0" tIns="0" bIns="0">
            <a:spAutoFit/>
          </a:bodyPr>
          <a:lstStyle/>
          <a:p>
            <a:r>
              <a:rPr sz="1500" b="0" i="0">
                <a:solidFill>
                  <a:srgbClr val="1A1440"/>
                </a:solidFill>
                <a:latin typeface="Calibri"/>
              </a:rPr>
              <a:t>A month with no order is no reading: check that LAG read the calendar months before.</a:t>
            </a:r>
          </a:p>
        </p:txBody>
      </p:sp>
      <p:sp>
        <p:nvSpPr>
          <p:cNvPr id="22" name="Oval 2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Who does Marketing call?</a:t>
            </a:r>
          </a:p>
        </p:txBody>
      </p:sp>
      <p:sp>
        <p:nvSpPr>
          <p:cNvPr id="24" name="Oval 23"/>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219706"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26" name="Oval 25"/>
          <p:cNvSpPr/>
          <p:nvPr/>
        </p:nvSpPr>
        <p:spPr>
          <a:xfrm>
            <a:off x="350558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615308"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What do we tell Marketing?</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S20  ·  25 / 31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Eight decisions, from tie rules to Tuesday's join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of the day's decisions can the room make in twenty seconds each?</a:t>
            </a:r>
          </a:p>
        </p:txBody>
      </p:sp>
      <p:graphicFrame>
        <p:nvGraphicFramePr>
          <p:cNvPr id="9" name="Table 8"/>
          <p:cNvGraphicFramePr>
            <a:graphicFrameLocks noGrp="1"/>
          </p:cNvGraphicFramePr>
          <p:nvPr/>
        </p:nvGraphicFramePr>
        <p:xfrm>
          <a:off x="530352" y="1956816"/>
          <a:ext cx="11130991" cy="3328416"/>
        </p:xfrm>
        <a:graphic>
          <a:graphicData uri="http://schemas.openxmlformats.org/drawingml/2006/table">
            <a:tbl>
              <a:tblPr firstRow="0" bandRow="0">
                <a:tableStyleId>{2D5ABB26-0587-4C30-8999-92F81FD0307C}</a:tableStyleId>
              </a:tblPr>
              <a:tblGrid>
                <a:gridCol w="914400"/>
                <a:gridCol w="10216591"/>
              </a:tblGrid>
              <a:tr h="369824">
                <a:tc>
                  <a:txBody>
                    <a:bodyPr/>
                    <a:lstStyle/>
                    <a:p>
                      <a:r>
                        <a:rPr sz="1450" b="1" i="0">
                          <a:solidFill>
                            <a:srgbClr val="FFFFFF"/>
                          </a:solidFill>
                          <a:latin typeface="Calibri"/>
                        </a:rPr>
                        <a:t>Item</a:t>
                      </a:r>
                    </a:p>
                  </a:txBody>
                  <a:tcPr marL="101600" marR="101600" marT="38100" marB="38100" anchor="ctr">
                    <a:solidFill>
                      <a:srgbClr val="1A0F5C"/>
                    </a:solidFill>
                  </a:tcPr>
                </a:tc>
                <a:tc>
                  <a:txBody>
                    <a:bodyPr/>
                    <a:lstStyle/>
                    <a:p>
                      <a:r>
                        <a:rPr sz="1450" b="1" i="0">
                          <a:solidFill>
                            <a:srgbClr val="FFFFFF"/>
                          </a:solidFill>
                          <a:latin typeface="Calibri"/>
                        </a:rPr>
                        <a:t>What it asks</a:t>
                      </a:r>
                    </a:p>
                  </a:txBody>
                  <a:tcPr marL="101600" marR="101600" marT="38100" marB="38100" anchor="ctr">
                    <a:solidFill>
                      <a:srgbClr val="1A0F5C"/>
                    </a:solidFill>
                  </a:tcPr>
                </a:tc>
              </a:tr>
              <a:tr h="369824">
                <a:tc>
                  <a:txBody>
                    <a:bodyPr/>
                    <a:lstStyle/>
                    <a:p>
                      <a:r>
                        <a:rPr sz="1400" b="0" i="0">
                          <a:solidFill>
                            <a:srgbClr val="1A1440"/>
                          </a:solidFill>
                          <a:latin typeface="Calibri"/>
                        </a:rPr>
                        <a:t>1</a:t>
                      </a:r>
                    </a:p>
                  </a:txBody>
                  <a:tcPr marL="101600" marR="101600" marT="38100" marB="38100" anchor="ctr">
                    <a:solidFill>
                      <a:srgbClr val="FFFFFF"/>
                    </a:solidFill>
                  </a:tcPr>
                </a:tc>
                <a:tc>
                  <a:txBody>
                    <a:bodyPr/>
                    <a:lstStyle/>
                    <a:p>
                      <a:r>
                        <a:rPr sz="1400" b="0" i="0">
                          <a:solidFill>
                            <a:srgbClr val="1A1440"/>
                          </a:solidFill>
                          <a:latin typeface="Calibri"/>
                        </a:rPr>
                        <a:t>ROW_NUMBER, RANK and DENSE_RANK on a two-way tie</a:t>
                      </a:r>
                    </a:p>
                  </a:txBody>
                  <a:tcPr marL="101600" marR="101600" marT="38100" marB="38100" anchor="ctr">
                    <a:solidFill>
                      <a:srgbClr val="FFFFFF"/>
                    </a:solidFill>
                  </a:tcPr>
                </a:tc>
              </a:tr>
              <a:tr h="369824">
                <a:tc>
                  <a:txBody>
                    <a:bodyPr/>
                    <a:lstStyle/>
                    <a:p>
                      <a:r>
                        <a:rPr sz="1400" b="0" i="0">
                          <a:solidFill>
                            <a:srgbClr val="1A1440"/>
                          </a:solidFill>
                          <a:latin typeface="Calibri"/>
                        </a:rPr>
                        <a:t>2</a:t>
                      </a:r>
                    </a:p>
                  </a:txBody>
                  <a:tcPr marL="101600" marR="101600" marT="38100" marB="38100" anchor="ctr">
                    <a:solidFill>
                      <a:srgbClr val="F4F2FA"/>
                    </a:solidFill>
                  </a:tcPr>
                </a:tc>
                <a:tc>
                  <a:txBody>
                    <a:bodyPr/>
                    <a:lstStyle/>
                    <a:p>
                      <a:r>
                        <a:rPr sz="1400" b="0" i="0">
                          <a:solidFill>
                            <a:srgbClr val="1A1440"/>
                          </a:solidFill>
                          <a:latin typeface="Calibri"/>
                        </a:rPr>
                        <a:t>What PARTITION BY restarts</a:t>
                      </a:r>
                    </a:p>
                  </a:txBody>
                  <a:tcPr marL="101600" marR="101600" marT="38100" marB="38100" anchor="ctr">
                    <a:solidFill>
                      <a:srgbClr val="F4F2FA"/>
                    </a:solidFill>
                  </a:tcPr>
                </a:tc>
              </a:tr>
              <a:tr h="369824">
                <a:tc>
                  <a:txBody>
                    <a:bodyPr/>
                    <a:lstStyle/>
                    <a:p>
                      <a:r>
                        <a:rPr sz="1400" b="0" i="0">
                          <a:solidFill>
                            <a:srgbClr val="1A1440"/>
                          </a:solidFill>
                          <a:latin typeface="Calibri"/>
                        </a:rPr>
                        <a:t>3</a:t>
                      </a:r>
                    </a:p>
                  </a:txBody>
                  <a:tcPr marL="101600" marR="101600" marT="38100" marB="38100" anchor="ctr">
                    <a:solidFill>
                      <a:srgbClr val="FFFFFF"/>
                    </a:solidFill>
                  </a:tcPr>
                </a:tc>
                <a:tc>
                  <a:txBody>
                    <a:bodyPr/>
                    <a:lstStyle/>
                    <a:p>
                      <a:r>
                        <a:rPr sz="1400" b="0" i="0">
                          <a:solidFill>
                            <a:srgbClr val="1A1440"/>
                          </a:solidFill>
                          <a:latin typeface="Calibri"/>
                        </a:rPr>
                        <a:t>What LAG returns on a member's first month</a:t>
                      </a:r>
                    </a:p>
                  </a:txBody>
                  <a:tcPr marL="101600" marR="101600" marT="38100" marB="38100" anchor="ctr">
                    <a:solidFill>
                      <a:srgbClr val="FFFFFF"/>
                    </a:solidFill>
                  </a:tcPr>
                </a:tc>
              </a:tr>
              <a:tr h="369824">
                <a:tc>
                  <a:txBody>
                    <a:bodyPr/>
                    <a:lstStyle/>
                    <a:p>
                      <a:r>
                        <a:rPr sz="1400" b="0" i="0">
                          <a:solidFill>
                            <a:srgbClr val="1A1440"/>
                          </a:solidFill>
                          <a:latin typeface="Calibri"/>
                        </a:rPr>
                        <a:t>4</a:t>
                      </a:r>
                    </a:p>
                  </a:txBody>
                  <a:tcPr marL="101600" marR="101600" marT="38100" marB="38100" anchor="ctr">
                    <a:solidFill>
                      <a:srgbClr val="F4F2FA"/>
                    </a:solidFill>
                  </a:tcPr>
                </a:tc>
                <a:tc>
                  <a:txBody>
                    <a:bodyPr/>
                    <a:lstStyle/>
                    <a:p>
                      <a:r>
                        <a:rPr sz="1400" b="0" i="0">
                          <a:solidFill>
                            <a:srgbClr val="1A1440"/>
                          </a:solidFill>
                          <a:latin typeface="Calibri"/>
                        </a:rPr>
                        <a:t>Which ORDER BY gives a running total one step per order</a:t>
                      </a:r>
                    </a:p>
                  </a:txBody>
                  <a:tcPr marL="101600" marR="101600" marT="38100" marB="38100" anchor="ctr">
                    <a:solidFill>
                      <a:srgbClr val="F4F2FA"/>
                    </a:solidFill>
                  </a:tcPr>
                </a:tc>
              </a:tr>
              <a:tr h="369824">
                <a:tc>
                  <a:txBody>
                    <a:bodyPr/>
                    <a:lstStyle/>
                    <a:p>
                      <a:r>
                        <a:rPr sz="1400" b="0" i="0">
                          <a:solidFill>
                            <a:srgbClr val="1A1440"/>
                          </a:solidFill>
                          <a:latin typeface="Calibri"/>
                        </a:rPr>
                        <a:t>5</a:t>
                      </a:r>
                    </a:p>
                  </a:txBody>
                  <a:tcPr marL="101600" marR="101600" marT="38100" marB="38100" anchor="ctr">
                    <a:solidFill>
                      <a:srgbClr val="FFFFFF"/>
                    </a:solidFill>
                  </a:tcPr>
                </a:tc>
                <a:tc>
                  <a:txBody>
                    <a:bodyPr/>
                    <a:lstStyle/>
                    <a:p>
                      <a:r>
                        <a:rPr sz="1400" b="0" i="0">
                          <a:solidFill>
                            <a:srgbClr val="1A1440"/>
                          </a:solidFill>
                          <a:latin typeface="Calibri"/>
                        </a:rPr>
                        <a:t>What ROW_NUMBER does when the fourth and fifth tie</a:t>
                      </a:r>
                    </a:p>
                  </a:txBody>
                  <a:tcPr marL="101600" marR="101600" marT="38100" marB="38100" anchor="ctr">
                    <a:solidFill>
                      <a:srgbClr val="FFFFFF"/>
                    </a:solidFill>
                  </a:tcPr>
                </a:tc>
              </a:tr>
              <a:tr h="369824">
                <a:tc>
                  <a:txBody>
                    <a:bodyPr/>
                    <a:lstStyle/>
                    <a:p>
                      <a:r>
                        <a:rPr sz="1400" b="0" i="0">
                          <a:solidFill>
                            <a:srgbClr val="1A1440"/>
                          </a:solidFill>
                          <a:latin typeface="Calibri"/>
                        </a:rPr>
                        <a:t>6</a:t>
                      </a:r>
                    </a:p>
                  </a:txBody>
                  <a:tcPr marL="101600" marR="101600" marT="38100" marB="38100" anchor="ctr">
                    <a:solidFill>
                      <a:srgbClr val="F4F2FA"/>
                    </a:solidFill>
                  </a:tcPr>
                </a:tc>
                <a:tc>
                  <a:txBody>
                    <a:bodyPr/>
                    <a:lstStyle/>
                    <a:p>
                      <a:r>
                        <a:rPr sz="1400" b="0" i="0">
                          <a:solidFill>
                            <a:srgbClr val="1A1440"/>
                          </a:solidFill>
                          <a:latin typeface="Calibri"/>
                        </a:rPr>
                        <a:t>The function for "ties ranked the same"</a:t>
                      </a:r>
                    </a:p>
                  </a:txBody>
                  <a:tcPr marL="101600" marR="101600" marT="38100" marB="38100" anchor="ctr">
                    <a:solidFill>
                      <a:srgbClr val="F4F2FA"/>
                    </a:solidFill>
                  </a:tcPr>
                </a:tc>
              </a:tr>
              <a:tr h="369824">
                <a:tc>
                  <a:txBody>
                    <a:bodyPr/>
                    <a:lstStyle/>
                    <a:p>
                      <a:r>
                        <a:rPr sz="1400" b="0" i="0">
                          <a:solidFill>
                            <a:srgbClr val="1A1440"/>
                          </a:solidFill>
                          <a:latin typeface="Calibri"/>
                        </a:rPr>
                        <a:t>7</a:t>
                      </a:r>
                    </a:p>
                  </a:txBody>
                  <a:tcPr marL="101600" marR="101600" marT="38100" marB="38100" anchor="ctr">
                    <a:solidFill>
                      <a:srgbClr val="FFFFFF"/>
                    </a:solidFill>
                  </a:tcPr>
                </a:tc>
                <a:tc>
                  <a:txBody>
                    <a:bodyPr/>
                    <a:lstStyle/>
                    <a:p>
                      <a:r>
                        <a:rPr sz="1400" b="0" i="0">
                          <a:solidFill>
                            <a:srgbClr val="1A1440"/>
                          </a:solidFill>
                          <a:latin typeface="Calibri"/>
                        </a:rPr>
                        <a:t>A month with no order, read by LAG</a:t>
                      </a:r>
                    </a:p>
                  </a:txBody>
                  <a:tcPr marL="101600" marR="101600" marT="38100" marB="38100" anchor="ctr">
                    <a:solidFill>
                      <a:srgbClr val="FFFFFF"/>
                    </a:solidFill>
                  </a:tcPr>
                </a:tc>
              </a:tr>
              <a:tr h="369824">
                <a:tc>
                  <a:txBody>
                    <a:bodyPr/>
                    <a:lstStyle/>
                    <a:p>
                      <a:r>
                        <a:rPr sz="1400" b="0" i="0">
                          <a:solidFill>
                            <a:srgbClr val="1A1440"/>
                          </a:solidFill>
                          <a:latin typeface="Calibri"/>
                        </a:rPr>
                        <a:t>8</a:t>
                      </a:r>
                    </a:p>
                  </a:txBody>
                  <a:tcPr marL="101600" marR="101600" marT="38100" marB="38100" anchor="ctr">
                    <a:solidFill>
                      <a:srgbClr val="F4F2FA"/>
                    </a:solidFill>
                  </a:tcPr>
                </a:tc>
                <a:tc>
                  <a:txBody>
                    <a:bodyPr/>
                    <a:lstStyle/>
                    <a:p>
                      <a:r>
                        <a:rPr sz="1400" b="0" i="0">
                          <a:solidFill>
                            <a:srgbClr val="1A1440"/>
                          </a:solidFill>
                          <a:latin typeface="Calibri"/>
                        </a:rPr>
                        <a:t>Tuesday, one level up: a LEFT join grew the rows</a:t>
                      </a:r>
                    </a:p>
                  </a:txBody>
                  <a:tcPr marL="101600" marR="101600" marT="38100" marB="38100" anchor="ctr">
                    <a:solidFill>
                      <a:srgbClr val="F4F2FA"/>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Who does Marketing call?</a:t>
            </a:r>
          </a:p>
        </p:txBody>
      </p:sp>
      <p:sp>
        <p:nvSpPr>
          <p:cNvPr id="12" name="Oval 1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19706"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14" name="Oval 13"/>
          <p:cNvSpPr/>
          <p:nvPr/>
        </p:nvSpPr>
        <p:spPr>
          <a:xfrm>
            <a:off x="350558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615308"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What do we tell Marketing?</a:t>
            </a:r>
          </a:p>
        </p:txBody>
      </p:sp>
      <p:sp>
        <p:nvSpPr>
          <p:cNvPr id="16" name="TextBox 1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S21  ·  26 / 31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The interview drill, for the lab: ten questions</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staple and frequent interview questions does today equip you to answer?</a:t>
            </a:r>
          </a:p>
        </p:txBody>
      </p:sp>
      <p:graphicFrame>
        <p:nvGraphicFramePr>
          <p:cNvPr id="10" name="Table 9"/>
          <p:cNvGraphicFramePr>
            <a:graphicFrameLocks noGrp="1"/>
          </p:cNvGraphicFramePr>
          <p:nvPr/>
        </p:nvGraphicFramePr>
        <p:xfrm>
          <a:off x="530352" y="1907032"/>
          <a:ext cx="11130991" cy="4068064"/>
        </p:xfrm>
        <a:graphic>
          <a:graphicData uri="http://schemas.openxmlformats.org/drawingml/2006/table">
            <a:tbl>
              <a:tblPr firstRow="0" bandRow="0">
                <a:tableStyleId>{2D5ABB26-0587-4C30-8999-92F81FD0307C}</a:tableStyleId>
              </a:tblPr>
              <a:tblGrid>
                <a:gridCol w="914400"/>
                <a:gridCol w="10216591"/>
              </a:tblGrid>
              <a:tr h="369824">
                <a:tc>
                  <a:txBody>
                    <a:bodyPr/>
                    <a:lstStyle/>
                    <a:p>
                      <a:r>
                        <a:rPr sz="1450" b="1" i="0">
                          <a:solidFill>
                            <a:srgbClr val="FFFFFF"/>
                          </a:solidFill>
                          <a:latin typeface="Calibri"/>
                        </a:rPr>
                        <a:t>Tag</a:t>
                      </a:r>
                    </a:p>
                  </a:txBody>
                  <a:tcPr marL="101600" marR="101600" marT="38100" marB="38100" anchor="ctr">
                    <a:solidFill>
                      <a:srgbClr val="1A0F5C"/>
                    </a:solidFill>
                  </a:tcPr>
                </a:tc>
                <a:tc>
                  <a:txBody>
                    <a:bodyPr/>
                    <a:lstStyle/>
                    <a:p>
                      <a:r>
                        <a:rPr sz="1450" b="1" i="0">
                          <a:solidFill>
                            <a:srgbClr val="FFFFFF"/>
                          </a:solidFill>
                          <a:latin typeface="Calibri"/>
                        </a:rPr>
                        <a:t>Question</a:t>
                      </a:r>
                    </a:p>
                  </a:txBody>
                  <a:tcPr marL="101600" marR="101600" marT="38100" marB="38100" anchor="ctr">
                    <a:solidFill>
                      <a:srgbClr val="1A0F5C"/>
                    </a:solidFill>
                  </a:tcPr>
                </a:tc>
              </a:tr>
              <a:tr h="369824">
                <a:tc>
                  <a:txBody>
                    <a:bodyPr/>
                    <a:lstStyle/>
                    <a:p>
                      <a:r>
                        <a:rPr sz="1400" b="0" i="0">
                          <a:solidFill>
                            <a:srgbClr val="1A1440"/>
                          </a:solidFill>
                          <a:latin typeface="Calibri"/>
                        </a:rPr>
                        <a:t>[S]</a:t>
                      </a:r>
                    </a:p>
                  </a:txBody>
                  <a:tcPr marL="101600" marR="101600" marT="38100" marB="38100" anchor="ctr">
                    <a:solidFill>
                      <a:srgbClr val="FFFFFF"/>
                    </a:solidFill>
                  </a:tcPr>
                </a:tc>
                <a:tc>
                  <a:txBody>
                    <a:bodyPr/>
                    <a:lstStyle/>
                    <a:p>
                      <a:r>
                        <a:rPr sz="1400" b="0" i="0">
                          <a:solidFill>
                            <a:srgbClr val="1A1440"/>
                          </a:solidFill>
                          <a:latin typeface="Calibri"/>
                        </a:rPr>
                        <a:t>What do RANK, DENSE_RANK and ROW_NUMBER give on a tie?</a:t>
                      </a:r>
                    </a:p>
                  </a:txBody>
                  <a:tcPr marL="101600" marR="101600" marT="38100" marB="38100" anchor="ctr">
                    <a:solidFill>
                      <a:srgbClr val="FFFFFF"/>
                    </a:solidFill>
                  </a:tcPr>
                </a:tc>
              </a:tr>
              <a:tr h="369824">
                <a:tc>
                  <a:txBody>
                    <a:bodyPr/>
                    <a:lstStyle/>
                    <a:p>
                      <a:r>
                        <a:rPr sz="1400" b="0" i="0">
                          <a:solidFill>
                            <a:srgbClr val="1A1440"/>
                          </a:solidFill>
                          <a:latin typeface="Calibri"/>
                        </a:rPr>
                        <a:t>[S]</a:t>
                      </a:r>
                    </a:p>
                  </a:txBody>
                  <a:tcPr marL="101600" marR="101600" marT="38100" marB="38100" anchor="ctr">
                    <a:solidFill>
                      <a:srgbClr val="F4F2FA"/>
                    </a:solidFill>
                  </a:tcPr>
                </a:tc>
                <a:tc>
                  <a:txBody>
                    <a:bodyPr/>
                    <a:lstStyle/>
                    <a:p>
                      <a:r>
                        <a:rPr sz="1400" b="0" i="0">
                          <a:solidFill>
                            <a:srgbClr val="1A1440"/>
                          </a:solidFill>
                          <a:latin typeface="Calibri"/>
                        </a:rPr>
                        <a:t>Top-3 per group: GROUP BY or a window, and why?</a:t>
                      </a:r>
                    </a:p>
                  </a:txBody>
                  <a:tcPr marL="101600" marR="101600" marT="38100" marB="38100" anchor="ctr">
                    <a:solidFill>
                      <a:srgbClr val="F4F2FA"/>
                    </a:solidFill>
                  </a:tcPr>
                </a:tc>
              </a:tr>
              <a:tr h="369824">
                <a:tc>
                  <a:txBody>
                    <a:bodyPr/>
                    <a:lstStyle/>
                    <a:p>
                      <a:r>
                        <a:rPr sz="1400" b="0" i="0">
                          <a:solidFill>
                            <a:srgbClr val="1A1440"/>
                          </a:solidFill>
                          <a:latin typeface="Calibri"/>
                        </a:rPr>
                        <a:t>[S]</a:t>
                      </a:r>
                    </a:p>
                  </a:txBody>
                  <a:tcPr marL="101600" marR="101600" marT="38100" marB="38100" anchor="ctr">
                    <a:solidFill>
                      <a:srgbClr val="FFFFFF"/>
                    </a:solidFill>
                  </a:tcPr>
                </a:tc>
                <a:tc>
                  <a:txBody>
                    <a:bodyPr/>
                    <a:lstStyle/>
                    <a:p>
                      <a:r>
                        <a:rPr sz="1400" b="0" i="0">
                          <a:solidFill>
                            <a:srgbClr val="1A1440"/>
                          </a:solidFill>
                          <a:latin typeface="Calibri"/>
                        </a:rPr>
                        <a:t>What is the difference between GROUP BY and a window function?</a:t>
                      </a:r>
                    </a:p>
                  </a:txBody>
                  <a:tcPr marL="101600" marR="101600" marT="38100" marB="38100" anchor="ctr">
                    <a:solidFill>
                      <a:srgbClr val="FFFFFF"/>
                    </a:solidFill>
                  </a:tcPr>
                </a:tc>
              </a:tr>
              <a:tr h="369824">
                <a:tc>
                  <a:txBody>
                    <a:bodyPr/>
                    <a:lstStyle/>
                    <a:p>
                      <a:r>
                        <a:rPr sz="1400" b="0" i="0">
                          <a:solidFill>
                            <a:srgbClr val="1A1440"/>
                          </a:solidFill>
                          <a:latin typeface="Calibri"/>
                        </a:rPr>
                        <a:t>[F]</a:t>
                      </a:r>
                    </a:p>
                  </a:txBody>
                  <a:tcPr marL="101600" marR="101600" marT="38100" marB="38100" anchor="ctr">
                    <a:solidFill>
                      <a:srgbClr val="F4F2FA"/>
                    </a:solidFill>
                  </a:tcPr>
                </a:tc>
                <a:tc>
                  <a:txBody>
                    <a:bodyPr/>
                    <a:lstStyle/>
                    <a:p>
                      <a:r>
                        <a:rPr sz="1400" b="0" i="0">
                          <a:solidFill>
                            <a:srgbClr val="1A1440"/>
                          </a:solidFill>
                          <a:latin typeface="Calibri"/>
                        </a:rPr>
                        <a:t>How would you find customers whose spend fell two months in a row?</a:t>
                      </a:r>
                    </a:p>
                  </a:txBody>
                  <a:tcPr marL="101600" marR="101600" marT="38100" marB="38100" anchor="ctr">
                    <a:solidFill>
                      <a:srgbClr val="F4F2FA"/>
                    </a:solidFill>
                  </a:tcPr>
                </a:tc>
              </a:tr>
              <a:tr h="369824">
                <a:tc>
                  <a:txBody>
                    <a:bodyPr/>
                    <a:lstStyle/>
                    <a:p>
                      <a:r>
                        <a:rPr sz="1400" b="0" i="0">
                          <a:solidFill>
                            <a:srgbClr val="1A1440"/>
                          </a:solidFill>
                          <a:latin typeface="Calibri"/>
                        </a:rPr>
                        <a:t>[F]</a:t>
                      </a:r>
                    </a:p>
                  </a:txBody>
                  <a:tcPr marL="101600" marR="101600" marT="38100" marB="38100" anchor="ctr">
                    <a:solidFill>
                      <a:srgbClr val="FFFFFF"/>
                    </a:solidFill>
                  </a:tcPr>
                </a:tc>
                <a:tc>
                  <a:txBody>
                    <a:bodyPr/>
                    <a:lstStyle/>
                    <a:p>
                      <a:r>
                        <a:rPr sz="1400" b="0" i="0">
                          <a:solidFill>
                            <a:srgbClr val="1A1440"/>
                          </a:solidFill>
                          <a:latin typeface="Calibri"/>
                        </a:rPr>
                        <a:t>Why can a window function not sit inside WHERE, and what do you do instead?</a:t>
                      </a:r>
                    </a:p>
                  </a:txBody>
                  <a:tcPr marL="101600" marR="101600" marT="38100" marB="38100" anchor="ctr">
                    <a:solidFill>
                      <a:srgbClr val="FFFFFF"/>
                    </a:solidFill>
                  </a:tcPr>
                </a:tc>
              </a:tr>
              <a:tr h="369824">
                <a:tc>
                  <a:txBody>
                    <a:bodyPr/>
                    <a:lstStyle/>
                    <a:p>
                      <a:r>
                        <a:rPr sz="1400" b="0" i="0">
                          <a:solidFill>
                            <a:srgbClr val="1A1440"/>
                          </a:solidFill>
                          <a:latin typeface="Calibri"/>
                        </a:rPr>
                        <a:t>[F]</a:t>
                      </a:r>
                    </a:p>
                  </a:txBody>
                  <a:tcPr marL="101600" marR="101600" marT="38100" marB="38100" anchor="ctr">
                    <a:solidFill>
                      <a:srgbClr val="F4F2FA"/>
                    </a:solidFill>
                  </a:tcPr>
                </a:tc>
                <a:tc>
                  <a:txBody>
                    <a:bodyPr/>
                    <a:lstStyle/>
                    <a:p>
                      <a:r>
                        <a:rPr sz="1400" b="0" i="0">
                          <a:solidFill>
                            <a:srgbClr val="1A1440"/>
                          </a:solidFill>
                          <a:latin typeface="Calibri"/>
                        </a:rPr>
                        <a:t>A top-fifty list has fifty rows but twenty-eight names: what happened?</a:t>
                      </a:r>
                    </a:p>
                  </a:txBody>
                  <a:tcPr marL="101600" marR="101600" marT="38100" marB="38100" anchor="ctr">
                    <a:solidFill>
                      <a:srgbClr val="F4F2FA"/>
                    </a:solidFill>
                  </a:tcPr>
                </a:tc>
              </a:tr>
              <a:tr h="369824">
                <a:tc>
                  <a:txBody>
                    <a:bodyPr/>
                    <a:lstStyle/>
                    <a:p>
                      <a:r>
                        <a:rPr sz="1400" b="0" i="0">
                          <a:solidFill>
                            <a:srgbClr val="1A1440"/>
                          </a:solidFill>
                          <a:latin typeface="Calibri"/>
                        </a:rPr>
                        <a:t>[F]</a:t>
                      </a:r>
                    </a:p>
                  </a:txBody>
                  <a:tcPr marL="101600" marR="101600" marT="38100" marB="38100" anchor="ctr">
                    <a:solidFill>
                      <a:srgbClr val="FFFFFF"/>
                    </a:solidFill>
                  </a:tcPr>
                </a:tc>
                <a:tc>
                  <a:txBody>
                    <a:bodyPr/>
                    <a:lstStyle/>
                    <a:p>
                      <a:r>
                        <a:rPr sz="1400" b="0" i="0">
                          <a:solidFill>
                            <a:srgbClr val="1A1440"/>
                          </a:solidFill>
                          <a:latin typeface="Calibri"/>
                        </a:rPr>
                        <a:t>Your top-ten list came back with eleven rows: is it a bug?</a:t>
                      </a:r>
                    </a:p>
                  </a:txBody>
                  <a:tcPr marL="101600" marR="101600" marT="38100" marB="38100" anchor="ctr">
                    <a:solidFill>
                      <a:srgbClr val="FFFFFF"/>
                    </a:solidFill>
                  </a:tcPr>
                </a:tc>
              </a:tr>
              <a:tr h="369824">
                <a:tc>
                  <a:txBody>
                    <a:bodyPr/>
                    <a:lstStyle/>
                    <a:p>
                      <a:r>
                        <a:rPr sz="1400" b="0" i="0">
                          <a:solidFill>
                            <a:srgbClr val="1A1440"/>
                          </a:solidFill>
                          <a:latin typeface="Calibri"/>
                        </a:rPr>
                        <a:t>[F]</a:t>
                      </a:r>
                    </a:p>
                  </a:txBody>
                  <a:tcPr marL="101600" marR="101600" marT="38100" marB="38100" anchor="ctr">
                    <a:solidFill>
                      <a:srgbClr val="F4F2FA"/>
                    </a:solidFill>
                  </a:tcPr>
                </a:tc>
                <a:tc>
                  <a:txBody>
                    <a:bodyPr/>
                    <a:lstStyle/>
                    <a:p>
                      <a:r>
                        <a:rPr sz="1400" b="0" i="0">
                          <a:solidFill>
                            <a:srgbClr val="1A1440"/>
                          </a:solidFill>
                          <a:latin typeface="Calibri"/>
                        </a:rPr>
                        <a:t>LAG returned a value for a customer's very first month: what went wrong?</a:t>
                      </a:r>
                    </a:p>
                  </a:txBody>
                  <a:tcPr marL="101600" marR="101600" marT="38100" marB="38100" anchor="ctr">
                    <a:solidFill>
                      <a:srgbClr val="F4F2FA"/>
                    </a:solidFill>
                  </a:tcPr>
                </a:tc>
              </a:tr>
              <a:tr h="369824">
                <a:tc>
                  <a:txBody>
                    <a:bodyPr/>
                    <a:lstStyle/>
                    <a:p>
                      <a:r>
                        <a:rPr sz="1400" b="0" i="0">
                          <a:solidFill>
                            <a:srgbClr val="1A1440"/>
                          </a:solidFill>
                          <a:latin typeface="Calibri"/>
                        </a:rPr>
                        <a:t>[F]</a:t>
                      </a:r>
                    </a:p>
                  </a:txBody>
                  <a:tcPr marL="101600" marR="101600" marT="38100" marB="38100" anchor="ctr">
                    <a:solidFill>
                      <a:srgbClr val="FFFFFF"/>
                    </a:solidFill>
                  </a:tcPr>
                </a:tc>
                <a:tc>
                  <a:txBody>
                    <a:bodyPr/>
                    <a:lstStyle/>
                    <a:p>
                      <a:r>
                        <a:rPr sz="1400" b="0" i="0">
                          <a:solidFill>
                            <a:srgbClr val="1A1440"/>
                          </a:solidFill>
                          <a:latin typeface="Calibri"/>
                        </a:rPr>
                        <a:t>What makes a running total deterministic, and how would you notice one that was not?</a:t>
                      </a:r>
                    </a:p>
                  </a:txBody>
                  <a:tcPr marL="101600" marR="101600" marT="38100" marB="38100" anchor="ctr">
                    <a:solidFill>
                      <a:srgbClr val="FFFFFF"/>
                    </a:solidFill>
                  </a:tcPr>
                </a:tc>
              </a:tr>
              <a:tr h="369824">
                <a:tc>
                  <a:txBody>
                    <a:bodyPr/>
                    <a:lstStyle/>
                    <a:p>
                      <a:r>
                        <a:rPr sz="1400" b="0" i="0">
                          <a:solidFill>
                            <a:srgbClr val="1A1440"/>
                          </a:solidFill>
                          <a:latin typeface="Calibri"/>
                        </a:rPr>
                        <a:t>[F]</a:t>
                      </a:r>
                    </a:p>
                  </a:txBody>
                  <a:tcPr marL="101600" marR="101600" marT="38100" marB="38100" anchor="ctr">
                    <a:solidFill>
                      <a:srgbClr val="F4F2FA"/>
                    </a:solidFill>
                  </a:tcPr>
                </a:tc>
                <a:tc>
                  <a:txBody>
                    <a:bodyPr/>
                    <a:lstStyle/>
                    <a:p>
                      <a:r>
                        <a:rPr sz="1400" b="0" i="0">
                          <a:solidFill>
                            <a:srgbClr val="1A1440"/>
                          </a:solidFill>
                          <a:latin typeface="Calibri"/>
                        </a:rPr>
                        <a:t>Revenue to date is nine times the plan by week seven: what is the likely mistake?</a:t>
                      </a:r>
                    </a:p>
                  </a:txBody>
                  <a:tcPr marL="101600" marR="101600" marT="38100" marB="38100" anchor="ctr">
                    <a:solidFill>
                      <a:srgbClr val="F4F2FA"/>
                    </a:solidFill>
                  </a:tcPr>
                </a:tc>
              </a:tr>
            </a:tbl>
          </a:graphicData>
        </a:graphic>
      </p:graphicFrame>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Who does Marketing call?</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15" name="Oval 14"/>
          <p:cNvSpPr/>
          <p:nvPr/>
        </p:nvSpPr>
        <p:spPr>
          <a:xfrm>
            <a:off x="350558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615308"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What do we tell Marketing?</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D22  ·  27 / 31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The interview drill, for the lab: three to finish</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differentiator questions close the drill?</a:t>
            </a:r>
          </a:p>
        </p:txBody>
      </p:sp>
      <p:graphicFrame>
        <p:nvGraphicFramePr>
          <p:cNvPr id="10" name="Table 9"/>
          <p:cNvGraphicFramePr>
            <a:graphicFrameLocks noGrp="1"/>
          </p:cNvGraphicFramePr>
          <p:nvPr/>
        </p:nvGraphicFramePr>
        <p:xfrm>
          <a:off x="530352" y="1956816"/>
          <a:ext cx="11130991" cy="1479296"/>
        </p:xfrm>
        <a:graphic>
          <a:graphicData uri="http://schemas.openxmlformats.org/drawingml/2006/table">
            <a:tbl>
              <a:tblPr firstRow="0" bandRow="0">
                <a:tableStyleId>{2D5ABB26-0587-4C30-8999-92F81FD0307C}</a:tableStyleId>
              </a:tblPr>
              <a:tblGrid>
                <a:gridCol w="914400"/>
                <a:gridCol w="10216591"/>
              </a:tblGrid>
              <a:tr h="369824">
                <a:tc>
                  <a:txBody>
                    <a:bodyPr/>
                    <a:lstStyle/>
                    <a:p>
                      <a:r>
                        <a:rPr sz="1450" b="1" i="0">
                          <a:solidFill>
                            <a:srgbClr val="FFFFFF"/>
                          </a:solidFill>
                          <a:latin typeface="Calibri"/>
                        </a:rPr>
                        <a:t>Tag</a:t>
                      </a:r>
                    </a:p>
                  </a:txBody>
                  <a:tcPr marL="101600" marR="101600" marT="38100" marB="38100" anchor="ctr">
                    <a:solidFill>
                      <a:srgbClr val="1A0F5C"/>
                    </a:solidFill>
                  </a:tcPr>
                </a:tc>
                <a:tc>
                  <a:txBody>
                    <a:bodyPr/>
                    <a:lstStyle/>
                    <a:p>
                      <a:r>
                        <a:rPr sz="1450" b="1" i="0">
                          <a:solidFill>
                            <a:srgbClr val="FFFFFF"/>
                          </a:solidFill>
                          <a:latin typeface="Calibri"/>
                        </a:rPr>
                        <a:t>Question</a:t>
                      </a:r>
                    </a:p>
                  </a:txBody>
                  <a:tcPr marL="101600" marR="101600" marT="38100" marB="38100" anchor="ctr">
                    <a:solidFill>
                      <a:srgbClr val="1A0F5C"/>
                    </a:solidFill>
                  </a:tcPr>
                </a:tc>
              </a:tr>
              <a:tr h="369824">
                <a:tc>
                  <a:txBody>
                    <a:bodyPr/>
                    <a:lstStyle/>
                    <a:p>
                      <a:r>
                        <a:rPr sz="1400" b="0" i="0">
                          <a:solidFill>
                            <a:srgbClr val="1A1440"/>
                          </a:solidFill>
                          <a:latin typeface="Calibri"/>
                        </a:rPr>
                        <a:t>[D]</a:t>
                      </a:r>
                    </a:p>
                  </a:txBody>
                  <a:tcPr marL="101600" marR="101600" marT="38100" marB="38100" anchor="ctr">
                    <a:solidFill>
                      <a:srgbClr val="FFFFFF"/>
                    </a:solidFill>
                  </a:tcPr>
                </a:tc>
                <a:tc>
                  <a:txBody>
                    <a:bodyPr/>
                    <a:lstStyle/>
                    <a:p>
                      <a:r>
                        <a:rPr sz="1400" b="0" i="0">
                          <a:solidFill>
                            <a:srgbClr val="1A1440"/>
                          </a:solidFill>
                          <a:latin typeface="Calibri"/>
                        </a:rPr>
                        <a:t>The business says ties rank the same: which function, and how many rows might the top-N report ship?</a:t>
                      </a:r>
                    </a:p>
                  </a:txBody>
                  <a:tcPr marL="101600" marR="101600" marT="38100" marB="38100" anchor="ctr">
                    <a:solidFill>
                      <a:srgbClr val="FFFFFF"/>
                    </a:solidFill>
                  </a:tcPr>
                </a:tc>
              </a:tr>
              <a:tr h="369824">
                <a:tc>
                  <a:txBody>
                    <a:bodyPr/>
                    <a:lstStyle/>
                    <a:p>
                      <a:r>
                        <a:rPr sz="1400" b="0" i="0">
                          <a:solidFill>
                            <a:srgbClr val="1A1440"/>
                          </a:solidFill>
                          <a:latin typeface="Calibri"/>
                        </a:rPr>
                        <a:t>[D]</a:t>
                      </a:r>
                    </a:p>
                  </a:txBody>
                  <a:tcPr marL="101600" marR="101600" marT="38100" marB="38100" anchor="ctr">
                    <a:solidFill>
                      <a:srgbClr val="F4F2FA"/>
                    </a:solidFill>
                  </a:tcPr>
                </a:tc>
                <a:tc>
                  <a:txBody>
                    <a:bodyPr/>
                    <a:lstStyle/>
                    <a:p>
                      <a:r>
                        <a:rPr sz="1400" b="0" i="0">
                          <a:solidFill>
                            <a:srgbClr val="1A1440"/>
                          </a:solidFill>
                          <a:latin typeface="Calibri"/>
                        </a:rPr>
                        <a:t>A member was on holiday: how does your flag treat a month with no orders, and why not zero?</a:t>
                      </a:r>
                    </a:p>
                  </a:txBody>
                  <a:tcPr marL="101600" marR="101600" marT="38100" marB="38100" anchor="ctr">
                    <a:solidFill>
                      <a:srgbClr val="F4F2FA"/>
                    </a:solidFill>
                  </a:tcPr>
                </a:tc>
              </a:tr>
              <a:tr h="369824">
                <a:tc>
                  <a:txBody>
                    <a:bodyPr/>
                    <a:lstStyle/>
                    <a:p>
                      <a:r>
                        <a:rPr sz="1400" b="0" i="0">
                          <a:solidFill>
                            <a:srgbClr val="1A1440"/>
                          </a:solidFill>
                          <a:latin typeface="Calibri"/>
                        </a:rPr>
                        <a:t>[D]</a:t>
                      </a:r>
                    </a:p>
                  </a:txBody>
                  <a:tcPr marL="101600" marR="101600" marT="38100" marB="38100" anchor="ctr">
                    <a:solidFill>
                      <a:srgbClr val="FFFFFF"/>
                    </a:solidFill>
                  </a:tcPr>
                </a:tc>
                <a:tc>
                  <a:txBody>
                    <a:bodyPr/>
                    <a:lstStyle/>
                    <a:p>
                      <a:r>
                        <a:rPr sz="1400" b="0" i="0">
                          <a:solidFill>
                            <a:srgbClr val="1A1440"/>
                          </a:solidFill>
                          <a:latin typeface="Calibri"/>
                        </a:rPr>
                        <a:t>Your running total closes below the quarter's total: what do you check first?</a:t>
                      </a:r>
                    </a:p>
                  </a:txBody>
                  <a:tcPr marL="101600" marR="101600" marT="38100" marB="38100" anchor="ctr">
                    <a:solidFill>
                      <a:srgbClr val="FFFFFF"/>
                    </a:solidFill>
                  </a:tcPr>
                </a:tc>
              </a:tr>
            </a:tbl>
          </a:graphicData>
        </a:graphic>
      </p:graphicFrame>
      <p:sp>
        <p:nvSpPr>
          <p:cNvPr id="11" name="TextBox 10"/>
          <p:cNvSpPr txBox="1"/>
          <p:nvPr/>
        </p:nvSpPr>
        <p:spPr>
          <a:xfrm>
            <a:off x="530352" y="3692144"/>
            <a:ext cx="11130991" cy="881888"/>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Each one asks for a judgment the day's numbers support: the count a tie rule ships, the month with no</a:t>
            </a:r>
          </a:p>
          <a:p>
            <a:pPr>
              <a:spcAft>
                <a:spcPts val="800"/>
              </a:spcAft>
            </a:pPr>
            <a:r>
              <a:rPr sz="1600" b="0" i="0">
                <a:solidFill>
                  <a:srgbClr val="1A1440"/>
                </a:solidFill>
                <a:latin typeface="Calibri"/>
              </a:rPr>
              <a:t>order, and the running total that has to close on the quarter's own total.</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Who does Marketing call?</a:t>
            </a:r>
          </a:p>
        </p:txBody>
      </p:sp>
      <p:sp>
        <p:nvSpPr>
          <p:cNvPr id="14" name="Oval 13"/>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19706"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16" name="Oval 15"/>
          <p:cNvSpPr/>
          <p:nvPr/>
        </p:nvSpPr>
        <p:spPr>
          <a:xfrm>
            <a:off x="350558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615308"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What do we tell Marketing?</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D23  ·  28 / 31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The second case, for the take-home: Retail-Core</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Should Retail-Core's protect list rank members by how often they ordered in Q2, instead of by how much they spent?</a:t>
            </a:r>
          </a:p>
        </p:txBody>
      </p:sp>
      <p:sp>
        <p:nvSpPr>
          <p:cNvPr id="10" name="Rounded Rectangle 9"/>
          <p:cNvSpPr/>
          <p:nvPr/>
        </p:nvSpPr>
        <p:spPr>
          <a:xfrm>
            <a:off x="530352" y="1956816"/>
            <a:ext cx="11130991" cy="138074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241858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message-square_028dbd132a0a.png"/>
          <p:cNvPicPr>
            <a:picLocks noChangeAspect="1"/>
          </p:cNvPicPr>
          <p:nvPr/>
        </p:nvPicPr>
        <p:blipFill>
          <a:blip r:embed="rId4"/>
          <a:stretch>
            <a:fillRect/>
          </a:stretch>
        </p:blipFill>
        <p:spPr>
          <a:xfrm>
            <a:off x="868680" y="2528316"/>
            <a:ext cx="237744" cy="237744"/>
          </a:xfrm>
          <a:prstGeom prst="rect">
            <a:avLst/>
          </a:prstGeom>
        </p:spPr>
      </p:pic>
      <p:sp>
        <p:nvSpPr>
          <p:cNvPr id="13" name="TextBox 12"/>
          <p:cNvSpPr txBox="1"/>
          <p:nvPr/>
        </p:nvSpPr>
        <p:spPr>
          <a:xfrm>
            <a:off x="1399031" y="2103120"/>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14" name="TextBox 13"/>
          <p:cNvSpPr txBox="1"/>
          <p:nvPr/>
        </p:nvSpPr>
        <p:spPr>
          <a:xfrm>
            <a:off x="1399031" y="2322576"/>
            <a:ext cx="9987991" cy="941832"/>
          </a:xfrm>
          <a:prstGeom prst="rect">
            <a:avLst/>
          </a:prstGeom>
          <a:noFill/>
        </p:spPr>
        <p:txBody>
          <a:bodyPr wrap="square" anchor="t" lIns="0" rIns="0" tIns="0" bIns="0">
            <a:spAutoFit/>
          </a:bodyPr>
          <a:lstStyle/>
          <a:p>
            <a:r>
              <a:rPr sz="1500" b="0" i="0">
                <a:solidFill>
                  <a:srgbClr val="FFFFFF"/>
                </a:solidFill>
                <a:latin typeface="Calibri"/>
              </a:rPr>
              <a:t>"Frequency is what fell in Retail-Plus. Before it spreads, I want Retail-Core's top fifty ranked by how often members ordered in Q2. Same rule as the head of Retail-Plus: ties ranked the same, and tell me how many made it."</a:t>
            </a:r>
          </a:p>
        </p:txBody>
      </p:sp>
      <p:pic>
        <p:nvPicPr>
          <p:cNvPr id="15" name="mermaid diagram" descr="74b5f738e2ac4f9c.png"/>
          <p:cNvPicPr>
            <a:picLocks noChangeAspect="1"/>
          </p:cNvPicPr>
          <p:nvPr/>
        </p:nvPicPr>
        <p:blipFill>
          <a:blip r:embed="rId6"/>
          <a:stretch>
            <a:fillRect/>
          </a:stretch>
        </p:blipFill>
        <p:spPr>
          <a:xfrm>
            <a:off x="780897" y="3502152"/>
            <a:ext cx="10629900" cy="1600200"/>
          </a:xfrm>
          <a:prstGeom prst="rect">
            <a:avLst/>
          </a:prstGeom>
        </p:spPr>
      </p:pic>
      <p:sp>
        <p:nvSpPr>
          <p:cNvPr id="16" name="Oval 1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Who does Marketing call?</a:t>
            </a:r>
          </a:p>
        </p:txBody>
      </p:sp>
      <p:sp>
        <p:nvSpPr>
          <p:cNvPr id="18" name="Oval 17"/>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2219706"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20" name="Oval 19"/>
          <p:cNvSpPr/>
          <p:nvPr/>
        </p:nvSpPr>
        <p:spPr>
          <a:xfrm>
            <a:off x="350558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615308"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What do we tell Marketing?</a:t>
            </a:r>
          </a:p>
        </p:txBody>
      </p:sp>
      <p:sp>
        <p:nvSpPr>
          <p:cNvPr id="22" name="TextBox 2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D24  ·  29 / 31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The day's wrong numbers, each with its check</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plausible wrong numbers did the day stage, and what caught each?</a:t>
            </a:r>
          </a:p>
        </p:txBody>
      </p:sp>
      <p:graphicFrame>
        <p:nvGraphicFramePr>
          <p:cNvPr id="10" name="Table 9"/>
          <p:cNvGraphicFramePr>
            <a:graphicFrameLocks noGrp="1"/>
          </p:cNvGraphicFramePr>
          <p:nvPr/>
        </p:nvGraphicFramePr>
        <p:xfrm>
          <a:off x="530352" y="1956816"/>
          <a:ext cx="11130989" cy="2588768"/>
        </p:xfrm>
        <a:graphic>
          <a:graphicData uri="http://schemas.openxmlformats.org/drawingml/2006/table">
            <a:tbl>
              <a:tblPr firstRow="0" bandRow="0">
                <a:tableStyleId>{2D5ABB26-0587-4C30-8999-92F81FD0307C}</a:tableStyleId>
              </a:tblPr>
              <a:tblGrid>
                <a:gridCol w="1278892"/>
                <a:gridCol w="4175605"/>
                <a:gridCol w="5676492"/>
              </a:tblGrid>
              <a:tr h="369824">
                <a:tc>
                  <a:txBody>
                    <a:bodyPr/>
                    <a:lstStyle/>
                    <a:p>
                      <a:r>
                        <a:rPr sz="1450" b="1" i="0">
                          <a:solidFill>
                            <a:srgbClr val="FFFFFF"/>
                          </a:solidFill>
                          <a:latin typeface="Calibri"/>
                        </a:rPr>
                        <a:t>Chapter</a:t>
                      </a:r>
                    </a:p>
                  </a:txBody>
                  <a:tcPr marL="101600" marR="101600" marT="38100" marB="38100" anchor="ctr">
                    <a:solidFill>
                      <a:srgbClr val="1A0F5C"/>
                    </a:solidFill>
                  </a:tcPr>
                </a:tc>
                <a:tc>
                  <a:txBody>
                    <a:bodyPr/>
                    <a:lstStyle/>
                    <a:p>
                      <a:r>
                        <a:rPr sz="1450" b="1" i="0">
                          <a:solidFill>
                            <a:srgbClr val="FFFFFF"/>
                          </a:solidFill>
                          <a:latin typeface="Calibri"/>
                        </a:rPr>
                        <a:t>The wrong number</a:t>
                      </a:r>
                    </a:p>
                  </a:txBody>
                  <a:tcPr marL="101600" marR="101600" marT="38100" marB="38100" anchor="ctr">
                    <a:solidFill>
                      <a:srgbClr val="1A0F5C"/>
                    </a:solidFill>
                  </a:tcPr>
                </a:tc>
                <a:tc>
                  <a:txBody>
                    <a:bodyPr/>
                    <a:lstStyle/>
                    <a:p>
                      <a:r>
                        <a:rPr sz="1450" b="1" i="0">
                          <a:solidFill>
                            <a:srgbClr val="FFFFFF"/>
                          </a:solidFill>
                          <a:latin typeface="Calibri"/>
                        </a:rPr>
                        <a:t>The check that caught it</a:t>
                      </a:r>
                    </a:p>
                  </a:txBody>
                  <a:tcPr marL="101600" marR="101600" marT="38100" marB="38100" anchor="ctr">
                    <a:solidFill>
                      <a:srgbClr val="1A0F5C"/>
                    </a:solidFill>
                  </a:tcPr>
                </a:tc>
              </a:tr>
              <a:tr h="369824">
                <a:tc>
                  <a:txBody>
                    <a:bodyPr/>
                    <a:lstStyle/>
                    <a:p>
                      <a:r>
                        <a:rPr sz="1400" b="0" i="0">
                          <a:solidFill>
                            <a:srgbClr val="1A1440"/>
                          </a:solidFill>
                          <a:latin typeface="Calibri"/>
                        </a:rPr>
                        <a:t>1</a:t>
                      </a:r>
                    </a:p>
                  </a:txBody>
                  <a:tcPr marL="101600" marR="101600" marT="38100" marB="38100" anchor="ctr">
                    <a:solidFill>
                      <a:srgbClr val="FFFFFF"/>
                    </a:solidFill>
                  </a:tcPr>
                </a:tc>
                <a:tc>
                  <a:txBody>
                    <a:bodyPr/>
                    <a:lstStyle/>
                    <a:p>
                      <a:r>
                        <a:rPr sz="1400" b="0" i="0">
                          <a:solidFill>
                            <a:srgbClr val="1A1440"/>
                          </a:solidFill>
                          <a:latin typeface="Calibri"/>
                        </a:rPr>
                        <a:t>50 rows naming 28 members</a:t>
                      </a:r>
                    </a:p>
                  </a:txBody>
                  <a:tcPr marL="101600" marR="101600" marT="38100" marB="38100" anchor="ctr">
                    <a:solidFill>
                      <a:srgbClr val="FFFFFF"/>
                    </a:solidFill>
                  </a:tcPr>
                </a:tc>
                <a:tc>
                  <a:txBody>
                    <a:bodyPr/>
                    <a:lstStyle/>
                    <a:p>
                      <a:r>
                        <a:rPr sz="1400" b="0" i="0">
                          <a:solidFill>
                            <a:srgbClr val="1A1440"/>
                          </a:solidFill>
                          <a:latin typeface="Calibri"/>
                        </a:rPr>
                        <a:t>Count members beside rows</a:t>
                      </a:r>
                    </a:p>
                  </a:txBody>
                  <a:tcPr marL="101600" marR="101600" marT="38100" marB="38100" anchor="ctr">
                    <a:solidFill>
                      <a:srgbClr val="FFFFFF"/>
                    </a:solidFill>
                  </a:tcPr>
                </a:tc>
              </a:tr>
              <a:tr h="369824">
                <a:tc>
                  <a:txBody>
                    <a:bodyPr/>
                    <a:lstStyle/>
                    <a:p>
                      <a:r>
                        <a:rPr sz="1400" b="0" i="0">
                          <a:solidFill>
                            <a:srgbClr val="1A1440"/>
                          </a:solidFill>
                          <a:latin typeface="Calibri"/>
                        </a:rPr>
                        <a:t>2</a:t>
                      </a:r>
                    </a:p>
                  </a:txBody>
                  <a:tcPr marL="101600" marR="101600" marT="38100" marB="38100" anchor="ctr">
                    <a:solidFill>
                      <a:srgbClr val="F4F2FA"/>
                    </a:solidFill>
                  </a:tcPr>
                </a:tc>
                <a:tc>
                  <a:txBody>
                    <a:bodyPr/>
                    <a:lstStyle/>
                    <a:p>
                      <a:r>
                        <a:rPr sz="1400" b="0" i="0">
                          <a:solidFill>
                            <a:srgbClr val="1A1440"/>
                          </a:solidFill>
                          <a:latin typeface="Calibri"/>
                        </a:rPr>
                        <a:t>Retail-Plus 11, Student none</a:t>
                      </a:r>
                    </a:p>
                  </a:txBody>
                  <a:tcPr marL="101600" marR="101600" marT="38100" marB="38100" anchor="ctr">
                    <a:solidFill>
                      <a:srgbClr val="F4F2FA"/>
                    </a:solidFill>
                  </a:tcPr>
                </a:tc>
                <a:tc>
                  <a:txBody>
                    <a:bodyPr/>
                    <a:lstStyle/>
                    <a:p>
                      <a:r>
                        <a:rPr sz="1400" b="0" i="0">
                          <a:solidFill>
                            <a:srgbClr val="1A1440"/>
                          </a:solidFill>
                          <a:latin typeface="Calibri"/>
                        </a:rPr>
                        <a:t>Fifty, or every buyer, per segment</a:t>
                      </a:r>
                    </a:p>
                  </a:txBody>
                  <a:tcPr marL="101600" marR="101600" marT="38100" marB="38100" anchor="ctr">
                    <a:solidFill>
                      <a:srgbClr val="F4F2FA"/>
                    </a:solidFill>
                  </a:tcPr>
                </a:tc>
              </a:tr>
              <a:tr h="369824">
                <a:tc>
                  <a:txBody>
                    <a:bodyPr/>
                    <a:lstStyle/>
                    <a:p>
                      <a:r>
                        <a:rPr sz="1400" b="0" i="0">
                          <a:solidFill>
                            <a:srgbClr val="1A1440"/>
                          </a:solidFill>
                          <a:latin typeface="Calibri"/>
                        </a:rPr>
                        <a:t>3</a:t>
                      </a:r>
                    </a:p>
                  </a:txBody>
                  <a:tcPr marL="101600" marR="101600" marT="38100" marB="38100" anchor="ctr">
                    <a:solidFill>
                      <a:srgbClr val="FFFFFF"/>
                    </a:solidFill>
                  </a:tcPr>
                </a:tc>
                <a:tc>
                  <a:txBody>
                    <a:bodyPr/>
                    <a:lstStyle/>
                    <a:p>
                      <a:r>
                        <a:rPr sz="1400" b="0" i="0">
                          <a:solidFill>
                            <a:srgbClr val="1A1440"/>
                          </a:solidFill>
                          <a:latin typeface="Calibri"/>
                        </a:rPr>
                        <a:t>Retail-Core's "top fifty" of 52</a:t>
                      </a:r>
                    </a:p>
                  </a:txBody>
                  <a:tcPr marL="101600" marR="101600" marT="38100" marB="38100" anchor="ctr">
                    <a:solidFill>
                      <a:srgbClr val="FFFFFF"/>
                    </a:solidFill>
                  </a:tcPr>
                </a:tc>
                <a:tc>
                  <a:txBody>
                    <a:bodyPr/>
                    <a:lstStyle/>
                    <a:p>
                      <a:r>
                        <a:rPr sz="1400" b="0" i="0">
                          <a:solidFill>
                            <a:srgbClr val="1A1440"/>
                          </a:solidFill>
                          <a:latin typeface="Calibri"/>
                        </a:rPr>
                        <a:t>Read the functions side by side at the line</a:t>
                      </a:r>
                    </a:p>
                  </a:txBody>
                  <a:tcPr marL="101600" marR="101600" marT="38100" marB="38100" anchor="ctr">
                    <a:solidFill>
                      <a:srgbClr val="FFFFFF"/>
                    </a:solidFill>
                  </a:tcPr>
                </a:tc>
              </a:tr>
              <a:tr h="369824">
                <a:tc>
                  <a:txBody>
                    <a:bodyPr/>
                    <a:lstStyle/>
                    <a:p>
                      <a:r>
                        <a:rPr sz="1400" b="0" i="0">
                          <a:solidFill>
                            <a:srgbClr val="1A1440"/>
                          </a:solidFill>
                          <a:latin typeface="Calibri"/>
                        </a:rPr>
                        <a:t>4</a:t>
                      </a:r>
                    </a:p>
                  </a:txBody>
                  <a:tcPr marL="101600" marR="101600" marT="38100" marB="38100" anchor="ctr">
                    <a:solidFill>
                      <a:srgbClr val="F4F2FA"/>
                    </a:solidFill>
                  </a:tcPr>
                </a:tc>
                <a:tc>
                  <a:txBody>
                    <a:bodyPr/>
                    <a:lstStyle/>
                    <a:p>
                      <a:r>
                        <a:rPr sz="1400" b="0" i="0">
                          <a:solidFill>
                            <a:srgbClr val="1A1440"/>
                          </a:solidFill>
                          <a:latin typeface="Calibri"/>
                        </a:rPr>
                        <a:t>20 flagged, 4 borrowed</a:t>
                      </a:r>
                    </a:p>
                  </a:txBody>
                  <a:tcPr marL="101600" marR="101600" marT="38100" marB="38100" anchor="ctr">
                    <a:solidFill>
                      <a:srgbClr val="F4F2FA"/>
                    </a:solidFill>
                  </a:tcPr>
                </a:tc>
                <a:tc>
                  <a:txBody>
                    <a:bodyPr/>
                    <a:lstStyle/>
                    <a:p>
                      <a:r>
                        <a:rPr sz="1400" b="0" i="0">
                          <a:solidFill>
                            <a:srgbClr val="1A1440"/>
                          </a:solidFill>
                          <a:latin typeface="Calibri"/>
                        </a:rPr>
                        <a:t>Carry the id LAG read</a:t>
                      </a:r>
                    </a:p>
                  </a:txBody>
                  <a:tcPr marL="101600" marR="101600" marT="38100" marB="38100" anchor="ctr">
                    <a:solidFill>
                      <a:srgbClr val="F4F2FA"/>
                    </a:solidFill>
                  </a:tcPr>
                </a:tc>
              </a:tr>
              <a:tr h="369824">
                <a:tc>
                  <a:txBody>
                    <a:bodyPr/>
                    <a:lstStyle/>
                    <a:p>
                      <a:r>
                        <a:rPr sz="1400" b="0" i="0">
                          <a:solidFill>
                            <a:srgbClr val="1A1440"/>
                          </a:solidFill>
                          <a:latin typeface="Calibri"/>
                        </a:rPr>
                        <a:t>5</a:t>
                      </a:r>
                    </a:p>
                  </a:txBody>
                  <a:tcPr marL="101600" marR="101600" marT="38100" marB="38100" anchor="ctr">
                    <a:solidFill>
                      <a:srgbClr val="FFFFFF"/>
                    </a:solidFill>
                  </a:tcPr>
                </a:tc>
                <a:tc>
                  <a:txBody>
                    <a:bodyPr/>
                    <a:lstStyle/>
                    <a:p>
                      <a:r>
                        <a:rPr sz="1400" b="0" i="0">
                          <a:solidFill>
                            <a:srgbClr val="1A1440"/>
                          </a:solidFill>
                          <a:latin typeface="Calibri"/>
                        </a:rPr>
                        <a:t>Q2 Rs 15,39,810 short of plan</a:t>
                      </a:r>
                    </a:p>
                  </a:txBody>
                  <a:tcPr marL="101600" marR="101600" marT="38100" marB="38100" anchor="ctr">
                    <a:solidFill>
                      <a:srgbClr val="FFFFFF"/>
                    </a:solidFill>
                  </a:tcPr>
                </a:tc>
                <a:tc>
                  <a:txBody>
                    <a:bodyPr/>
                    <a:lstStyle/>
                    <a:p>
                      <a:r>
                        <a:rPr sz="1400" b="0" i="0">
                          <a:solidFill>
                            <a:srgbClr val="1A1440"/>
                          </a:solidFill>
                          <a:latin typeface="Calibri"/>
                        </a:rPr>
                        <a:t>The last to-date against Monday's total</a:t>
                      </a:r>
                    </a:p>
                  </a:txBody>
                  <a:tcPr marL="101600" marR="101600" marT="38100" marB="38100" anchor="ctr">
                    <a:solidFill>
                      <a:srgbClr val="FFFFFF"/>
                    </a:solidFill>
                  </a:tcPr>
                </a:tc>
              </a:tr>
              <a:tr h="369824">
                <a:tc>
                  <a:txBody>
                    <a:bodyPr/>
                    <a:lstStyle/>
                    <a:p>
                      <a:r>
                        <a:rPr sz="1400" b="0" i="0">
                          <a:solidFill>
                            <a:srgbClr val="1A1440"/>
                          </a:solidFill>
                          <a:latin typeface="Calibri"/>
                        </a:rPr>
                        <a:t>6</a:t>
                      </a:r>
                    </a:p>
                  </a:txBody>
                  <a:tcPr marL="101600" marR="101600" marT="38100" marB="38100" anchor="ctr">
                    <a:solidFill>
                      <a:srgbClr val="F4F2FA"/>
                    </a:solidFill>
                  </a:tcPr>
                </a:tc>
                <a:tc>
                  <a:txBody>
                    <a:bodyPr/>
                    <a:lstStyle/>
                    <a:p>
                      <a:r>
                        <a:rPr sz="1400" b="0" i="0">
                          <a:solidFill>
                            <a:srgbClr val="1A1440"/>
                          </a:solidFill>
                          <a:latin typeface="Calibri"/>
                        </a:rPr>
                        <a:t>16 calls, 7 over an empty month</a:t>
                      </a:r>
                    </a:p>
                  </a:txBody>
                  <a:tcPr marL="101600" marR="101600" marT="38100" marB="38100" anchor="ctr">
                    <a:solidFill>
                      <a:srgbClr val="F4F2FA"/>
                    </a:solidFill>
                  </a:tcPr>
                </a:tc>
                <a:tc>
                  <a:txBody>
                    <a:bodyPr/>
                    <a:lstStyle/>
                    <a:p>
                      <a:r>
                        <a:rPr sz="1400" b="0" i="0">
                          <a:solidFill>
                            <a:srgbClr val="1A1440"/>
                          </a:solidFill>
                          <a:latin typeface="Calibri"/>
                        </a:rPr>
                        <a:t>Carry the month LAG read</a:t>
                      </a:r>
                    </a:p>
                  </a:txBody>
                  <a:tcPr marL="101600" marR="101600" marT="38100" marB="38100" anchor="ctr">
                    <a:solidFill>
                      <a:srgbClr val="F4F2FA"/>
                    </a:solidFill>
                  </a:tcPr>
                </a:tc>
              </a:tr>
            </a:tbl>
          </a:graphicData>
        </a:graphic>
      </p:graphicFrame>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Who does Marketing call?</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15" name="Oval 14"/>
          <p:cNvSpPr/>
          <p:nvPr/>
        </p:nvSpPr>
        <p:spPr>
          <a:xfrm>
            <a:off x="350558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615308"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What do we tell Marketing?</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D25  ·  30 / 31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Tomorrow: one table per customer, left open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growth team asks the next question: what does Marketing's own table look like?</a:t>
            </a:r>
          </a:p>
        </p:txBody>
      </p:sp>
      <p:sp>
        <p:nvSpPr>
          <p:cNvPr id="9" name="Rounded Rectangle 8"/>
          <p:cNvSpPr/>
          <p:nvPr/>
        </p:nvSpPr>
        <p:spPr>
          <a:xfrm>
            <a:off x="530352" y="1956816"/>
            <a:ext cx="11130991" cy="112166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58952" y="228904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message-square_028dbd132a0a.png"/>
          <p:cNvPicPr>
            <a:picLocks noChangeAspect="1"/>
          </p:cNvPicPr>
          <p:nvPr/>
        </p:nvPicPr>
        <p:blipFill>
          <a:blip r:embed="rId4"/>
          <a:stretch>
            <a:fillRect/>
          </a:stretch>
        </p:blipFill>
        <p:spPr>
          <a:xfrm>
            <a:off x="868680" y="2398776"/>
            <a:ext cx="237744" cy="237744"/>
          </a:xfrm>
          <a:prstGeom prst="rect">
            <a:avLst/>
          </a:prstGeom>
        </p:spPr>
      </p:pic>
      <p:sp>
        <p:nvSpPr>
          <p:cNvPr id="12" name="TextBox 11"/>
          <p:cNvSpPr txBox="1"/>
          <p:nvPr/>
        </p:nvSpPr>
        <p:spPr>
          <a:xfrm>
            <a:off x="1399031" y="2103120"/>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13" name="TextBox 12"/>
          <p:cNvSpPr txBox="1"/>
          <p:nvPr/>
        </p:nvSpPr>
        <p:spPr>
          <a:xfrm>
            <a:off x="1399031" y="2322576"/>
            <a:ext cx="9987991" cy="682752"/>
          </a:xfrm>
          <a:prstGeom prst="rect">
            <a:avLst/>
          </a:prstGeom>
          <a:noFill/>
        </p:spPr>
        <p:txBody>
          <a:bodyPr wrap="square" anchor="t" lIns="0" rIns="0" tIns="0" bIns="0">
            <a:spAutoFit/>
          </a:bodyPr>
          <a:lstStyle/>
          <a:p>
            <a:r>
              <a:rPr sz="1500" b="0" i="0">
                <a:solidFill>
                  <a:srgbClr val="FFFFFF"/>
                </a:solidFill>
                <a:latin typeface="Calibri"/>
              </a:rPr>
              <a:t>"We want one table with one row per customer, refreshed every Monday: how recently they bought, how often, how much, their segment, whether the monsoon sale reached them, and last week's flags."</a:t>
            </a:r>
          </a:p>
        </p:txBody>
      </p:sp>
      <p:pic>
        <p:nvPicPr>
          <p:cNvPr id="14" name="mermaid diagram" descr="7c7d2ba252e30238.png"/>
          <p:cNvPicPr>
            <a:picLocks noChangeAspect="1"/>
          </p:cNvPicPr>
          <p:nvPr/>
        </p:nvPicPr>
        <p:blipFill>
          <a:blip r:embed="rId6"/>
          <a:stretch>
            <a:fillRect/>
          </a:stretch>
        </p:blipFill>
        <p:spPr>
          <a:xfrm>
            <a:off x="2152497" y="3243072"/>
            <a:ext cx="7886700" cy="1857375"/>
          </a:xfrm>
          <a:prstGeom prst="rect">
            <a:avLst/>
          </a:prstGeom>
        </p:spPr>
      </p:pic>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Who does Marketing call?</a:t>
            </a:r>
          </a:p>
        </p:txBody>
      </p:sp>
      <p:sp>
        <p:nvSpPr>
          <p:cNvPr id="17" name="Oval 16"/>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219706"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19" name="Oval 18"/>
          <p:cNvSpPr/>
          <p:nvPr/>
        </p:nvSpPr>
        <p:spPr>
          <a:xfrm>
            <a:off x="350558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615308"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What do we tell Marketing?</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S26  ·  31 / 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